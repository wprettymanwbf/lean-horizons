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notesSlides/notesSlide121.xml" ContentType="application/vnd.openxmlformats-officedocument.presentationml.notesSlide+xml"/>
  <Override PartName="/ppt/ink/ink4.xml" ContentType="application/inkml+xml"/>
  <Override PartName="/ppt/ink/ink5.xml" ContentType="application/inkml+xml"/>
  <Override PartName="/ppt/ink/ink6.xml" ContentType="application/inkml+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Lst>
  <p:notesMasterIdLst>
    <p:notesMasterId r:id="rId144"/>
  </p:notesMasterIdLst>
  <p:sldIdLst>
    <p:sldId id="258" r:id="rId2"/>
    <p:sldId id="283" r:id="rId3"/>
    <p:sldId id="284" r:id="rId4"/>
    <p:sldId id="285" r:id="rId5"/>
    <p:sldId id="351" r:id="rId6"/>
    <p:sldId id="352" r:id="rId7"/>
    <p:sldId id="353" r:id="rId8"/>
    <p:sldId id="354" r:id="rId9"/>
    <p:sldId id="355" r:id="rId10"/>
    <p:sldId id="356" r:id="rId11"/>
    <p:sldId id="357" r:id="rId12"/>
    <p:sldId id="358" r:id="rId13"/>
    <p:sldId id="359" r:id="rId14"/>
    <p:sldId id="360" r:id="rId15"/>
    <p:sldId id="361" r:id="rId16"/>
    <p:sldId id="362" r:id="rId17"/>
    <p:sldId id="363" r:id="rId18"/>
    <p:sldId id="364" r:id="rId19"/>
    <p:sldId id="365" r:id="rId20"/>
    <p:sldId id="366" r:id="rId21"/>
    <p:sldId id="367" r:id="rId22"/>
    <p:sldId id="368" r:id="rId23"/>
    <p:sldId id="369" r:id="rId24"/>
    <p:sldId id="370" r:id="rId25"/>
    <p:sldId id="371" r:id="rId26"/>
    <p:sldId id="372" r:id="rId27"/>
    <p:sldId id="373" r:id="rId28"/>
    <p:sldId id="374" r:id="rId29"/>
    <p:sldId id="375" r:id="rId30"/>
    <p:sldId id="376" r:id="rId31"/>
    <p:sldId id="377" r:id="rId32"/>
    <p:sldId id="378" r:id="rId33"/>
    <p:sldId id="379" r:id="rId34"/>
    <p:sldId id="380" r:id="rId35"/>
    <p:sldId id="394" r:id="rId36"/>
    <p:sldId id="382" r:id="rId37"/>
    <p:sldId id="383" r:id="rId38"/>
    <p:sldId id="384" r:id="rId39"/>
    <p:sldId id="385" r:id="rId40"/>
    <p:sldId id="386" r:id="rId41"/>
    <p:sldId id="387" r:id="rId42"/>
    <p:sldId id="388" r:id="rId43"/>
    <p:sldId id="389" r:id="rId44"/>
    <p:sldId id="390" r:id="rId45"/>
    <p:sldId id="391" r:id="rId46"/>
    <p:sldId id="392" r:id="rId47"/>
    <p:sldId id="393" r:id="rId48"/>
    <p:sldId id="381" r:id="rId49"/>
    <p:sldId id="395" r:id="rId50"/>
    <p:sldId id="396" r:id="rId51"/>
    <p:sldId id="397" r:id="rId52"/>
    <p:sldId id="398" r:id="rId53"/>
    <p:sldId id="399" r:id="rId54"/>
    <p:sldId id="400" r:id="rId55"/>
    <p:sldId id="401" r:id="rId56"/>
    <p:sldId id="402" r:id="rId57"/>
    <p:sldId id="403" r:id="rId58"/>
    <p:sldId id="404" r:id="rId59"/>
    <p:sldId id="405" r:id="rId60"/>
    <p:sldId id="406" r:id="rId61"/>
    <p:sldId id="407" r:id="rId62"/>
    <p:sldId id="408" r:id="rId63"/>
    <p:sldId id="409" r:id="rId64"/>
    <p:sldId id="410" r:id="rId65"/>
    <p:sldId id="411" r:id="rId66"/>
    <p:sldId id="412" r:id="rId67"/>
    <p:sldId id="413" r:id="rId68"/>
    <p:sldId id="414" r:id="rId69"/>
    <p:sldId id="415" r:id="rId70"/>
    <p:sldId id="416" r:id="rId71"/>
    <p:sldId id="417" r:id="rId72"/>
    <p:sldId id="418" r:id="rId73"/>
    <p:sldId id="419" r:id="rId74"/>
    <p:sldId id="420" r:id="rId75"/>
    <p:sldId id="421" r:id="rId76"/>
    <p:sldId id="422" r:id="rId77"/>
    <p:sldId id="423" r:id="rId78"/>
    <p:sldId id="424" r:id="rId79"/>
    <p:sldId id="425" r:id="rId80"/>
    <p:sldId id="426" r:id="rId81"/>
    <p:sldId id="427" r:id="rId82"/>
    <p:sldId id="428" r:id="rId83"/>
    <p:sldId id="429" r:id="rId84"/>
    <p:sldId id="430" r:id="rId85"/>
    <p:sldId id="431" r:id="rId86"/>
    <p:sldId id="432" r:id="rId87"/>
    <p:sldId id="433" r:id="rId88"/>
    <p:sldId id="434" r:id="rId89"/>
    <p:sldId id="435" r:id="rId90"/>
    <p:sldId id="436" r:id="rId91"/>
    <p:sldId id="437" r:id="rId92"/>
    <p:sldId id="438" r:id="rId93"/>
    <p:sldId id="439" r:id="rId94"/>
    <p:sldId id="440" r:id="rId95"/>
    <p:sldId id="441" r:id="rId96"/>
    <p:sldId id="442" r:id="rId97"/>
    <p:sldId id="443" r:id="rId98"/>
    <p:sldId id="444" r:id="rId99"/>
    <p:sldId id="445" r:id="rId100"/>
    <p:sldId id="446" r:id="rId101"/>
    <p:sldId id="447" r:id="rId102"/>
    <p:sldId id="448" r:id="rId103"/>
    <p:sldId id="449" r:id="rId104"/>
    <p:sldId id="450" r:id="rId105"/>
    <p:sldId id="451" r:id="rId106"/>
    <p:sldId id="452" r:id="rId107"/>
    <p:sldId id="453" r:id="rId108"/>
    <p:sldId id="454" r:id="rId109"/>
    <p:sldId id="455" r:id="rId110"/>
    <p:sldId id="456" r:id="rId111"/>
    <p:sldId id="457" r:id="rId112"/>
    <p:sldId id="458" r:id="rId113"/>
    <p:sldId id="459" r:id="rId114"/>
    <p:sldId id="460" r:id="rId115"/>
    <p:sldId id="461" r:id="rId116"/>
    <p:sldId id="462" r:id="rId117"/>
    <p:sldId id="463" r:id="rId118"/>
    <p:sldId id="464" r:id="rId119"/>
    <p:sldId id="465" r:id="rId120"/>
    <p:sldId id="466" r:id="rId121"/>
    <p:sldId id="467" r:id="rId122"/>
    <p:sldId id="468" r:id="rId123"/>
    <p:sldId id="469" r:id="rId124"/>
    <p:sldId id="470" r:id="rId125"/>
    <p:sldId id="471" r:id="rId126"/>
    <p:sldId id="472" r:id="rId127"/>
    <p:sldId id="473" r:id="rId128"/>
    <p:sldId id="474" r:id="rId129"/>
    <p:sldId id="475" r:id="rId130"/>
    <p:sldId id="476" r:id="rId131"/>
    <p:sldId id="477" r:id="rId132"/>
    <p:sldId id="478" r:id="rId133"/>
    <p:sldId id="479" r:id="rId134"/>
    <p:sldId id="480" r:id="rId135"/>
    <p:sldId id="481" r:id="rId136"/>
    <p:sldId id="482" r:id="rId137"/>
    <p:sldId id="483" r:id="rId138"/>
    <p:sldId id="286" r:id="rId139"/>
    <p:sldId id="484" r:id="rId140"/>
    <p:sldId id="485" r:id="rId141"/>
    <p:sldId id="486" r:id="rId142"/>
    <p:sldId id="487" r:id="rId14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7B6AAEF-3415-5D22-AFDC-F31A005CEED7}" name="Joe Rutz" initials="JR" userId="S::joe.rutz@leancoachingllc.com::74172d3c-f68f-4a41-af3d-37d02d9c966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22222"/>
    <a:srgbClr val="FFB627"/>
    <a:srgbClr val="177E89"/>
    <a:srgbClr val="8EDCE6"/>
    <a:srgbClr val="F1BF98"/>
    <a:srgbClr val="2EC4B6"/>
    <a:srgbClr val="BDDBD0"/>
    <a:srgbClr val="2D7DD2"/>
    <a:srgbClr val="62929E"/>
    <a:srgbClr val="B3DEE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651" autoAdjust="0"/>
    <p:restoredTop sz="77119" autoAdjust="0"/>
  </p:normalViewPr>
  <p:slideViewPr>
    <p:cSldViewPr snapToGrid="0">
      <p:cViewPr varScale="1">
        <p:scale>
          <a:sx n="85" d="100"/>
          <a:sy n="85" d="100"/>
        </p:scale>
        <p:origin x="1026" y="90"/>
      </p:cViewPr>
      <p:guideLst/>
    </p:cSldViewPr>
  </p:slideViewPr>
  <p:notesTextViewPr>
    <p:cViewPr>
      <p:scale>
        <a:sx n="3" d="2"/>
        <a:sy n="3" d="2"/>
      </p:scale>
      <p:origin x="0" y="0"/>
    </p:cViewPr>
  </p:notesTextViewPr>
  <p:sorterViewPr>
    <p:cViewPr>
      <p:scale>
        <a:sx n="125" d="100"/>
        <a:sy n="125" d="100"/>
      </p:scale>
      <p:origin x="0" y="-31330"/>
    </p:cViewPr>
  </p:sorterViewPr>
  <p:notesViewPr>
    <p:cSldViewPr snapToGrid="0">
      <p:cViewPr varScale="1">
        <p:scale>
          <a:sx n="62" d="100"/>
          <a:sy n="62" d="100"/>
        </p:scale>
        <p:origin x="3226" y="77"/>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microsoft.com/office/2018/10/relationships/authors" Target="authors.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notesMaster" Target="notesMasters/notesMaster1.xml"/><Relationship Id="rId90" Type="http://schemas.openxmlformats.org/officeDocument/2006/relationships/slide" Target="slides/slide89.xml"/></Relationship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5:35.304"/>
    </inkml:context>
    <inkml:brush xml:id="br0">
      <inkml:brushProperty name="width" value="0.05" units="cm"/>
      <inkml:brushProperty name="height" value="0.05" units="cm"/>
      <inkml:brushProperty name="color" value="#E71224"/>
    </inkml:brush>
  </inkml:definitions>
  <inkml:trace contextRef="#ctx0" brushRef="#br0">7230 3 24575,'0'0'0,"0"0"0,0 0 0,0 0 0,0 0 0,0 0 0,0 0 0,0 0 0,-73-1 0,7 0 0,-117 12 0,113-4 0,-1-3 0,-77-6 0,32-1 0,42 3 0,15-2 0,0 3 0,-1 2 0,-76 15 0,-328 56 0,411-67 0,-544 62 0,501-61 0,-220 26 0,205-18 0,-181 48 0,-252 75 0,469-121 0,0 4 0,2 3 0,1 3 0,1 3 0,1 4 0,-122 81 0,-173 115 0,246-162 0,-50 27 0,-212 161 0,286-177 0,-116 126 0,-65 111 0,114-116 0,9 7 0,-191 346 0,60-77 0,219-368 0,6 2 0,4 2 0,6 3 0,4 2 0,6 1 0,-36 185 0,46-124 0,-8 254 0,35 184 0,5-509 0,5 1 0,5-1 0,35 144 0,-42-233 0,1 0 0,1-1 0,0 0 0,2 0 0,0-1 0,1 0 0,1-1 0,1 0 0,0-1 0,18 17 0,18 12 0,102 71 0,13 12 0,-23 17 0,-73-72 0,-47-53 0,1-1 0,1 0 0,1-2 0,40 23 0,109 46 0,-163-81 0,385 153 0,-49-73 0,-211-57 0,84 17 0,300 21 0,-232-36 0,81 5 0,100-27 0,11 0 0,-178 6 0,371 9 0,-39-43 0,-348 4 0,168-14 0,-241 11 0,223-28 0,-277 28 0,188 2 0,261-15 0,-152 3 0,-35-3 0,110-4 0,-487 34 0,0-3 0,77-17 0,22-4 0,274-40 0,-397 61 0,1 0 0,-2-2 0,1 0 0,-1-2 0,0 0 0,-1-1 0,33-23 0,-30 16 0,0-1 0,-1-1 0,-2-1 0,1 0 0,20-34 0,27-54 0,-35 55 0,41-53 0,-45 75 0,-2-3 0,-1 0 0,-1-1 0,-2-1 0,30-74 0,118-455 0,-157 513 0,-3-1 0,-1 0 0,-2-74 0,-2 47 0,-1 46 0,4-283 0,-10 281 0,-1 1 0,-2 0 0,-1 1 0,-21-52 0,2 0 0,-58-264 0,34 161 0,4 18 0,-63-234 0,64 230 0,35 130 0,-8-48 0,-10-105 0,7-97 0,17 214 0,4 60 0,-20-190 0,-30-185 0,47 367 0,-1 1 0,-1 0 0,-2 0 0,-20-46 0,-59-100 0,39 93 0,-3 3 0,-4 2 0,-3 2 0,-3 3 0,-126-112 0,74 74 0,-53-44 0,-49 11 0,149 102 0,-117-91 0,144 97 0,-1 1 0,-2 3 0,-1 1 0,-48-24 0,43 34 0,-1 1 0,-1 3 0,-77-12 0,46 10 0,-46-2 0,87 15 0,-72-18 0,59 8 0,15 4 0,-48-19 0,62 20 0,-1 1 0,0 1 0,0 1 0,-40-4 0,-102 2 0,80 6 0,70 0 0,1-1 0,0 0 0,-1-1 0,-28-13 0,8 4 0,21 7 0,0-1 0,1-1 0,0 0 0,0-1 0,-23-19 0,-17-11 0,46 34 0,-1 1 0,0 0 0,-1 1 0,1-1 0,-22-2 0,-7-3 0,-7-3 0,-1 1 0,0 2 0,-1 3 0,-92-1 0,123 7 0,5 1 0,0 0 0,0-1 0,0-1 0,0 0 0,0 0 0,0-1 0,1-1 0,-1 0 0,1 0 0,-1-1 0,-13-8 0,-21-13-1365,-3-1-5461</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5:48.920"/>
    </inkml:context>
    <inkml:brush xml:id="br0">
      <inkml:brushProperty name="width" value="0.05" units="cm"/>
      <inkml:brushProperty name="height" value="0.05" units="cm"/>
      <inkml:brushProperty name="color" value="#E71224"/>
    </inkml:brush>
  </inkml:definitions>
  <inkml:trace contextRef="#ctx0" brushRef="#br0">6333 24 24575,'0'0'0,"0"0"0,0 0 0,-24 19 0,19-15 0,0 0 0,0 0 0,-1-1 0,1 1 0,-1-1 0,0 0 0,0-1 0,0 1 0,0-1 0,0 0 0,0-1 0,-12 2 0,2 1 0,-6-1 0,0 0 0,0-2 0,0 0 0,-33-4 0,-7 1 0,-1269 2 0,692 50 0,415-24 0,118-15 0,-246 18 0,154-21 0,0 8 0,-313 69 0,461-72 0,0 3 0,1 2 0,-83 42 0,-126 93 0,3 30 0,70-48 0,92-73 0,27-19 0,-108 93 0,102-63 0,3 3 0,3 2 0,4 4 0,-69 119 0,104-151 0,1 1 0,-24 71 0,-26 113 0,33-96 0,-109 295 0,-36-18 0,164-366 0,2 1 0,2 1 0,3 1 0,-17 82 0,-11 222 0,39 101 0,8-267 0,-2-190 0,-1 62 0,2 0 0,3 0 0,25 123 0,-4-94 0,64 298 0,-78-339 0,2-1 0,39 96 0,5 12 0,-10-4 0,102 223 0,-138-352 0,-2 1 0,0 0 0,9 54 0,1 85 0,-3-29 0,-13-116 0,8 58 0,38 131 0,-25-126 0,-12-38 0,34 80 0,7 3 0,-42-95 0,2 0 0,1-1 0,1 0 0,2-1 0,41 56 0,-20-46 0,70 58 0,-43-42 0,-41-33 0,-1 1 0,-2 1 0,0 1 0,-1 1 0,23 45 0,64 160 0,-79-168 0,-20-47 0,0 0 0,2 0 0,0-1 0,23 29 0,-25-36 0,0-1 0,1-1 0,1 0 0,-1 0 0,1-1 0,0 0 0,1-1 0,0 0 0,13 5 0,184 60 0,6 4 0,-191-65 0,0-1 0,1-1 0,0-1 0,0-1 0,43 4 0,122 11 0,55 4 0,335-22 0,-305-5 0,4318 2 0,-4211-25 0,-78 2 0,224-15 0,-326 20 0,-35 8 0,56-6 0,-198 11 0,0 0 0,0-2 0,0 0 0,30-15 0,17-5 0,-18 9 0,-1-2 0,98-54 0,-131 63 0,0-1 0,-1-1 0,0-1 0,-1-1 0,0 0 0,-1-1 0,-1-1 0,-1 0 0,0-1 0,15-27 0,-21 29 0,-1-1 0,-1 0 0,0 0 0,6-34 0,4-74 0,-12 80 0,36-565 0,-42-500 0,3 625 0,-4 439 0,-1 0 0,-21-85 0,-4-38 0,23 58 0,-5-43 0,7 131 0,0 0 0,-2 0 0,0 0 0,-15-35 0,-4 5 0,2-2 0,3-1 0,2 0 0,-18-99 0,-19-113 0,-3-19 0,3 11 0,16 95 0,25 79 0,-2-131 0,2 13 0,-3-461 0,18 458 0,-13 46 0,8 62 0,4 78 0,-9-69 0,-33-276 0,36 341 0,-1 0 0,-2 1 0,-20-54 0,10 34 0,-27-56 0,4 13 0,26 50 0,5 16 0,-28-65 0,33 90 0,0 1 0,-1 1 0,0-1 0,0 1 0,-1 0 0,0 1 0,-1 0 0,0 0 0,-18-13 0,-270-171 0,261 169 0,-44-38 0,46 35 0,-49-31 0,52 42 0,-1 2 0,0 2 0,-1 1 0,-65-13 0,53 14 0,-9-2 0,-2 3 0,-64-2 0,-113 7 0,10 0 0,-268 6 0,311 3 0,-161 14 0,86-4 0,110 0 0,3 0 0,16-7 0,-117 1 0,229-10-42,0-1-1,1-1 0,-1-1 0,1 0 1,0 0-1,-21-11 0,7 4-1023,-30-13-5760</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6:00.695"/>
    </inkml:context>
    <inkml:brush xml:id="br0">
      <inkml:brushProperty name="width" value="0.05" units="cm"/>
      <inkml:brushProperty name="height" value="0.05" units="cm"/>
      <inkml:brushProperty name="color" value="#E71224"/>
    </inkml:brush>
  </inkml:definitions>
  <inkml:trace contextRef="#ctx0" brushRef="#br0">3399 339 24575,'0'0'0,"0"0"0,0 0 0,0 0 0,0 0 0,0 0 0,-3-34 0,0 31 0,0 0 0,1 0 0,-1 0 0,0 0 0,0 0 0,-1 1 0,1-1 0,-1 1 0,1 0 0,-1 0 0,0 0 0,-5-2 0,-56-13 0,28 7 0,10 3 0,-1 1 0,-1 2 0,1 0 0,-30 1 0,-118 7 0,160-3 0,-18 3 0,0 0 0,1 3 0,0 0 0,0 3 0,-39 15 0,-153 79 0,220-101 0,-89 45 0,41-18 0,-1-3 0,-2-3 0,-63 20 0,39-22 0,-77 35 0,118-40 0,1 2 0,1 1 0,-66 49 0,-184 193 0,56-45 0,204-195 0,-155 141 0,156-136 0,2 0 0,1 2 0,1 1 0,-30 54 0,1 18 0,-33 58 0,68-133 0,-1-2 0,-2 0 0,-40 43 0,-5-8 0,-47 49 0,97-92 0,1 0 0,0 1 0,1 1 0,1-1 0,-11 27 0,-6 32 0,3 1 0,-13 82 0,16-67 0,3-5 0,-12 147 0,16 89 0,7-92 0,-5 155 0,7-167 0,11 315 0,3-144 0,1-59 0,0-10 0,-7-243 0,4-1 0,25 123 0,59 147 0,-73-300 0,1-2 0,2 0 0,3-1 0,28 43 0,-22-33 0,-2 2 0,-3 1 0,23 84 0,-25-72 0,61 131 0,-63-155 0,-1 0 0,-3 2 0,-2 0 0,15 88 0,-22-100 0,2 7 0,1 0 0,2 0 0,27 61 0,-33-89 0,2-1 0,0 0 0,0-1 0,1 0 0,1 0 0,0-1 0,1 0 0,0 0 0,1-2 0,1 1 0,-1-2 0,1 1 0,18 8 0,24 7 0,98 31 0,-91-35 0,71 33 0,-119-47 0,10 6 0,1-1 0,1-1 0,0-1 0,0-1 0,48 9 0,46 1 0,-36-5 0,95 3 0,190-18 0,-175-15 0,-73 4 0,21-5 0,202-52 0,-207 38 0,-47 12 0,-7 2 0,113-37 0,-115 21 0,-2-3 0,-2-3 0,-1-4 0,111-83 0,111-66 0,-281 181 0,0-1 0,-1 0 0,-1-1 0,0-1 0,0 0 0,-2-2 0,1 1 0,-2-1 0,0-1 0,-2 0 0,12-22 0,4-21 0,-2 0 0,19-75 0,-25 72 0,3 2 0,30-63 0,3 23 0,-15 30 0,45-117 0,-16-6 0,46-128 0,-13-26 0,-7 19 0,-71 256 0,-4-2 0,13-101 0,-7 40 0,0 9 0,62-396 0,-79 429 0,35-293 0,28-230 0,-39 286 0,0-177 0,-26 376 0,-6 34 0,-5 0 0,-31-182 0,-38-23 0,27 120 0,29 114 0,-3 1 0,-35-76 0,35 94 0,10 22 0,-1 0 0,-1 2 0,-28-43 0,2 18 0,-2 1 0,-3 2 0,-1 2 0,-3 3 0,-67-49 0,-37-29 0,-33-24 0,156 127 0,-1 1 0,0 1 0,-2 1 0,-54-17 0,-136-25 0,173 48 0,0 2 0,-62 0 0,-101 9 0,70 1 0,68-2 0,24 1 0,1-2 0,0-2 0,0-3 0,-84-18 0,58-1-1365,4-2-5461</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5:35.304"/>
    </inkml:context>
    <inkml:brush xml:id="br0">
      <inkml:brushProperty name="width" value="0.05" units="cm"/>
      <inkml:brushProperty name="height" value="0.05" units="cm"/>
      <inkml:brushProperty name="color" value="#E71224"/>
    </inkml:brush>
  </inkml:definitions>
  <inkml:trace contextRef="#ctx0" brushRef="#br0">7230 3 24575,'0'0'0,"0"0"0,0 0 0,0 0 0,0 0 0,0 0 0,0 0 0,0 0 0,-73-1 0,7 0 0,-117 12 0,113-4 0,-1-3 0,-77-6 0,32-1 0,42 3 0,15-2 0,0 3 0,-1 2 0,-76 15 0,-328 56 0,411-67 0,-544 62 0,501-61 0,-220 26 0,205-18 0,-181 48 0,-252 75 0,469-121 0,0 4 0,2 3 0,1 3 0,1 3 0,1 4 0,-122 81 0,-173 115 0,246-162 0,-50 27 0,-212 161 0,286-177 0,-116 126 0,-65 111 0,114-116 0,9 7 0,-191 346 0,60-77 0,219-368 0,6 2 0,4 2 0,6 3 0,4 2 0,6 1 0,-36 185 0,46-124 0,-8 254 0,35 184 0,5-509 0,5 1 0,5-1 0,35 144 0,-42-233 0,1 0 0,1-1 0,0 0 0,2 0 0,0-1 0,1 0 0,1-1 0,1 0 0,0-1 0,18 17 0,18 12 0,102 71 0,13 12 0,-23 17 0,-73-72 0,-47-53 0,1-1 0,1 0 0,1-2 0,40 23 0,109 46 0,-163-81 0,385 153 0,-49-73 0,-211-57 0,84 17 0,300 21 0,-232-36 0,81 5 0,100-27 0,11 0 0,-178 6 0,371 9 0,-39-43 0,-348 4 0,168-14 0,-241 11 0,223-28 0,-277 28 0,188 2 0,261-15 0,-152 3 0,-35-3 0,110-4 0,-487 34 0,0-3 0,77-17 0,22-4 0,274-40 0,-397 61 0,1 0 0,-2-2 0,1 0 0,-1-2 0,0 0 0,-1-1 0,33-23 0,-30 16 0,0-1 0,-1-1 0,-2-1 0,1 0 0,20-34 0,27-54 0,-35 55 0,41-53 0,-45 75 0,-2-3 0,-1 0 0,-1-1 0,-2-1 0,30-74 0,118-455 0,-157 513 0,-3-1 0,-1 0 0,-2-74 0,-2 47 0,-1 46 0,4-283 0,-10 281 0,-1 1 0,-2 0 0,-1 1 0,-21-52 0,2 0 0,-58-264 0,34 161 0,4 18 0,-63-234 0,64 230 0,35 130 0,-8-48 0,-10-105 0,7-97 0,17 214 0,4 60 0,-20-190 0,-30-185 0,47 367 0,-1 1 0,-1 0 0,-2 0 0,-20-46 0,-59-100 0,39 93 0,-3 3 0,-4 2 0,-3 2 0,-3 3 0,-126-112 0,74 74 0,-53-44 0,-49 11 0,149 102 0,-117-91 0,144 97 0,-1 1 0,-2 3 0,-1 1 0,-48-24 0,43 34 0,-1 1 0,-1 3 0,-77-12 0,46 10 0,-46-2 0,87 15 0,-72-18 0,59 8 0,15 4 0,-48-19 0,62 20 0,-1 1 0,0 1 0,0 1 0,-40-4 0,-102 2 0,80 6 0,70 0 0,1-1 0,0 0 0,-1-1 0,-28-13 0,8 4 0,21 7 0,0-1 0,1-1 0,0 0 0,0-1 0,-23-19 0,-17-11 0,46 34 0,-1 1 0,0 0 0,-1 1 0,1-1 0,-22-2 0,-7-3 0,-7-3 0,-1 1 0,0 2 0,-1 3 0,-92-1 0,123 7 0,5 1 0,0 0 0,0-1 0,0-1 0,0 0 0,0 0 0,0-1 0,1-1 0,-1 0 0,1 0 0,-1-1 0,-13-8 0,-21-13-1365,-3-1-5461</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5:48.920"/>
    </inkml:context>
    <inkml:brush xml:id="br0">
      <inkml:brushProperty name="width" value="0.05" units="cm"/>
      <inkml:brushProperty name="height" value="0.05" units="cm"/>
      <inkml:brushProperty name="color" value="#E71224"/>
    </inkml:brush>
  </inkml:definitions>
  <inkml:trace contextRef="#ctx0" brushRef="#br0">6333 24 24575,'0'0'0,"0"0"0,0 0 0,-24 19 0,19-15 0,0 0 0,0 0 0,-1-1 0,1 1 0,-1-1 0,0 0 0,0-1 0,0 1 0,0-1 0,0 0 0,0-1 0,-12 2 0,2 1 0,-6-1 0,0 0 0,0-2 0,0 0 0,-33-4 0,-7 1 0,-1269 2 0,692 50 0,415-24 0,118-15 0,-246 18 0,154-21 0,0 8 0,-313 69 0,461-72 0,0 3 0,1 2 0,-83 42 0,-126 93 0,3 30 0,70-48 0,92-73 0,27-19 0,-108 93 0,102-63 0,3 3 0,3 2 0,4 4 0,-69 119 0,104-151 0,1 1 0,-24 71 0,-26 113 0,33-96 0,-109 295 0,-36-18 0,164-366 0,2 1 0,2 1 0,3 1 0,-17 82 0,-11 222 0,39 101 0,8-267 0,-2-190 0,-1 62 0,2 0 0,3 0 0,25 123 0,-4-94 0,64 298 0,-78-339 0,2-1 0,39 96 0,5 12 0,-10-4 0,102 223 0,-138-352 0,-2 1 0,0 0 0,9 54 0,1 85 0,-3-29 0,-13-116 0,8 58 0,38 131 0,-25-126 0,-12-38 0,34 80 0,7 3 0,-42-95 0,2 0 0,1-1 0,1 0 0,2-1 0,41 56 0,-20-46 0,70 58 0,-43-42 0,-41-33 0,-1 1 0,-2 1 0,0 1 0,-1 1 0,23 45 0,64 160 0,-79-168 0,-20-47 0,0 0 0,2 0 0,0-1 0,23 29 0,-25-36 0,0-1 0,1-1 0,1 0 0,-1 0 0,1-1 0,0 0 0,1-1 0,0 0 0,13 5 0,184 60 0,6 4 0,-191-65 0,0-1 0,1-1 0,0-1 0,0-1 0,43 4 0,122 11 0,55 4 0,335-22 0,-305-5 0,4318 2 0,-4211-25 0,-78 2 0,224-15 0,-326 20 0,-35 8 0,56-6 0,-198 11 0,0 0 0,0-2 0,0 0 0,30-15 0,17-5 0,-18 9 0,-1-2 0,98-54 0,-131 63 0,0-1 0,-1-1 0,0-1 0,-1-1 0,0 0 0,-1-1 0,-1-1 0,-1 0 0,0-1 0,15-27 0,-21 29 0,-1-1 0,-1 0 0,0 0 0,6-34 0,4-74 0,-12 80 0,36-565 0,-42-500 0,3 625 0,-4 439 0,-1 0 0,-21-85 0,-4-38 0,23 58 0,-5-43 0,7 131 0,0 0 0,-2 0 0,0 0 0,-15-35 0,-4 5 0,2-2 0,3-1 0,2 0 0,-18-99 0,-19-113 0,-3-19 0,3 11 0,16 95 0,25 79 0,-2-131 0,2 13 0,-3-461 0,18 458 0,-13 46 0,8 62 0,4 78 0,-9-69 0,-33-276 0,36 341 0,-1 0 0,-2 1 0,-20-54 0,10 34 0,-27-56 0,4 13 0,26 50 0,5 16 0,-28-65 0,33 90 0,0 1 0,-1 1 0,0-1 0,0 1 0,-1 0 0,0 1 0,-1 0 0,0 0 0,-18-13 0,-270-171 0,261 169 0,-44-38 0,46 35 0,-49-31 0,52 42 0,-1 2 0,0 2 0,-1 1 0,-65-13 0,53 14 0,-9-2 0,-2 3 0,-64-2 0,-113 7 0,10 0 0,-268 6 0,311 3 0,-161 14 0,86-4 0,110 0 0,3 0 0,16-7 0,-117 1 0,229-10-42,0-1-1,1-1 0,-1-1 0,1 0 1,0 0-1,-21-11 0,7 4-1023,-30-13-5760</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3-09-13T22:06:00.695"/>
    </inkml:context>
    <inkml:brush xml:id="br0">
      <inkml:brushProperty name="width" value="0.05" units="cm"/>
      <inkml:brushProperty name="height" value="0.05" units="cm"/>
      <inkml:brushProperty name="color" value="#E71224"/>
    </inkml:brush>
  </inkml:definitions>
  <inkml:trace contextRef="#ctx0" brushRef="#br0">3399 339 24575,'0'0'0,"0"0"0,0 0 0,0 0 0,0 0 0,0 0 0,-3-34 0,0 31 0,0 0 0,1 0 0,-1 0 0,0 0 0,0 0 0,-1 1 0,1-1 0,-1 1 0,1 0 0,-1 0 0,0 0 0,-5-2 0,-56-13 0,28 7 0,10 3 0,-1 1 0,-1 2 0,1 0 0,-30 1 0,-118 7 0,160-3 0,-18 3 0,0 0 0,1 3 0,0 0 0,0 3 0,-39 15 0,-153 79 0,220-101 0,-89 45 0,41-18 0,-1-3 0,-2-3 0,-63 20 0,39-22 0,-77 35 0,118-40 0,1 2 0,1 1 0,-66 49 0,-184 193 0,56-45 0,204-195 0,-155 141 0,156-136 0,2 0 0,1 2 0,1 1 0,-30 54 0,1 18 0,-33 58 0,68-133 0,-1-2 0,-2 0 0,-40 43 0,-5-8 0,-47 49 0,97-92 0,1 0 0,0 1 0,1 1 0,1-1 0,-11 27 0,-6 32 0,3 1 0,-13 82 0,16-67 0,3-5 0,-12 147 0,16 89 0,7-92 0,-5 155 0,7-167 0,11 315 0,3-144 0,1-59 0,0-10 0,-7-243 0,4-1 0,25 123 0,59 147 0,-73-300 0,1-2 0,2 0 0,3-1 0,28 43 0,-22-33 0,-2 2 0,-3 1 0,23 84 0,-25-72 0,61 131 0,-63-155 0,-1 0 0,-3 2 0,-2 0 0,15 88 0,-22-100 0,2 7 0,1 0 0,2 0 0,27 61 0,-33-89 0,2-1 0,0 0 0,0-1 0,1 0 0,1 0 0,0-1 0,1 0 0,0 0 0,1-2 0,1 1 0,-1-2 0,1 1 0,18 8 0,24 7 0,98 31 0,-91-35 0,71 33 0,-119-47 0,10 6 0,1-1 0,1-1 0,0-1 0,0-1 0,48 9 0,46 1 0,-36-5 0,95 3 0,190-18 0,-175-15 0,-73 4 0,21-5 0,202-52 0,-207 38 0,-47 12 0,-7 2 0,113-37 0,-115 21 0,-2-3 0,-2-3 0,-1-4 0,111-83 0,111-66 0,-281 181 0,0-1 0,-1 0 0,-1-1 0,0-1 0,0 0 0,-2-2 0,1 1 0,-2-1 0,0-1 0,-2 0 0,12-22 0,4-21 0,-2 0 0,19-75 0,-25 72 0,3 2 0,30-63 0,3 23 0,-15 30 0,45-117 0,-16-6 0,46-128 0,-13-26 0,-7 19 0,-71 256 0,-4-2 0,13-101 0,-7 40 0,0 9 0,62-396 0,-79 429 0,35-293 0,28-230 0,-39 286 0,0-177 0,-26 376 0,-6 34 0,-5 0 0,-31-182 0,-38-23 0,27 120 0,29 114 0,-3 1 0,-35-76 0,35 94 0,10 22 0,-1 0 0,-1 2 0,-28-43 0,2 18 0,-2 1 0,-3 2 0,-1 2 0,-3 3 0,-67-49 0,-37-29 0,-33-24 0,156 127 0,-1 1 0,0 1 0,-2 1 0,-54-17 0,-136-25 0,173 48 0,0 2 0,-62 0 0,-101 9 0,70 1 0,68-2 0,24 1 0,1-2 0,0-2 0,0-3 0,-84-18 0,58-1-1365,4-2-5461</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F86C400-5EB2-4620-B71B-A7454A7EC846}" type="datetimeFigureOut">
              <a:rPr lang="en-US" smtClean="0"/>
              <a:t>9/26/2024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ECD8548-F1A2-4EDF-A416-5F2BB6B8F64C}" type="slidenum">
              <a:rPr lang="en-US" smtClean="0"/>
              <a:t>‹#›</a:t>
            </a:fld>
            <a:endParaRPr lang="en-US"/>
          </a:p>
        </p:txBody>
      </p:sp>
    </p:spTree>
    <p:extLst>
      <p:ext uri="{BB962C8B-B14F-4D97-AF65-F5344CB8AC3E}">
        <p14:creationId xmlns:p14="http://schemas.microsoft.com/office/powerpoint/2010/main" val="19732378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Welcome class to the VSMi Event. Introduce yourself as well as the team leader of the event. Have the Process Owner/Team Leader display the event charter for the purpose that everyone has gathered here today. </a:t>
            </a:r>
          </a:p>
          <a:p>
            <a:pPr eaLnBrk="1" hangingPunct="1"/>
            <a:r>
              <a:rPr lang="en-US" altLang="en-US" b="1" dirty="0">
                <a:latin typeface="Arial" panose="020B0604020202020204" pitchFamily="34" charset="0"/>
                <a:cs typeface="Arial" panose="020B0604020202020204" pitchFamily="34" charset="0"/>
              </a:rPr>
              <a:t>SET-UP NOTE</a:t>
            </a:r>
            <a:r>
              <a:rPr lang="en-US" altLang="en-US" dirty="0">
                <a:latin typeface="Arial" panose="020B0604020202020204" pitchFamily="34" charset="0"/>
                <a:cs typeface="Arial" panose="020B0604020202020204" pitchFamily="34" charset="0"/>
              </a:rPr>
              <a:t>: It is a best practice to have a flip-chart of the day</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agenda hanging. Draw open squares next to each item, and check off when complete. You can refer back to this as you start each segment of the training material – it makes it very nice for reviewing what they have already learned/accomplished and where they are headed.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This material is designed for the value stream mapping of </a:t>
            </a:r>
            <a:r>
              <a:rPr lang="en-US" altLang="en-US" b="1" dirty="0">
                <a:latin typeface="Arial" panose="020B0604020202020204" pitchFamily="34" charset="0"/>
                <a:cs typeface="Arial" panose="020B0604020202020204" pitchFamily="34" charset="0"/>
              </a:rPr>
              <a:t>NON- transactional administrative processes.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a:t>
            </a:fld>
            <a:endParaRPr lang="en-US"/>
          </a:p>
        </p:txBody>
      </p:sp>
    </p:spTree>
    <p:extLst>
      <p:ext uri="{BB962C8B-B14F-4D97-AF65-F5344CB8AC3E}">
        <p14:creationId xmlns:p14="http://schemas.microsoft.com/office/powerpoint/2010/main" val="8054686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2</a:t>
            </a:fld>
            <a:endParaRPr lang="en-US"/>
          </a:p>
        </p:txBody>
      </p:sp>
    </p:spTree>
    <p:extLst>
      <p:ext uri="{BB962C8B-B14F-4D97-AF65-F5344CB8AC3E}">
        <p14:creationId xmlns:p14="http://schemas.microsoft.com/office/powerpoint/2010/main" val="22587031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3</a:t>
            </a:fld>
            <a:endParaRPr lang="en-US"/>
          </a:p>
        </p:txBody>
      </p:sp>
    </p:spTree>
    <p:extLst>
      <p:ext uri="{BB962C8B-B14F-4D97-AF65-F5344CB8AC3E}">
        <p14:creationId xmlns:p14="http://schemas.microsoft.com/office/powerpoint/2010/main" val="7645446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 </a:t>
            </a:r>
            <a:r>
              <a:rPr lang="en-US" altLang="en-US" dirty="0">
                <a:latin typeface="Arial" panose="020B0604020202020204" pitchFamily="34" charset="0"/>
                <a:cs typeface="Arial" panose="020B0604020202020204" pitchFamily="34" charset="0"/>
              </a:rPr>
              <a:t>Perform Group Introductions. Pick an ice-breaker or exercise to warm the team up to the event. (Icebreaker Example: Everyone uses their name tent and writes a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Personal License Plate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in which they have 2 minutes to creatively use a total of 7 letters or numbers to tell us something about themselves. Examples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LV2SAIL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OR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DADOV5</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Event Ground Rules. </a:t>
            </a: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Does anyone have any rules they would like to see added?</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Does everyone agree to these?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a:t>
            </a:fld>
            <a:endParaRPr lang="en-US"/>
          </a:p>
        </p:txBody>
      </p:sp>
    </p:spTree>
    <p:extLst>
      <p:ext uri="{BB962C8B-B14F-4D97-AF65-F5344CB8AC3E}">
        <p14:creationId xmlns:p14="http://schemas.microsoft.com/office/powerpoint/2010/main" val="13057167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dirty="0">
                <a:latin typeface="Times New Roman" panose="02020603050405020304" pitchFamily="18" charset="0"/>
              </a:rPr>
              <a:t>DO: Read through important points on the slide and identify the basic components of VSM. </a:t>
            </a:r>
          </a:p>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It is important to note that our event this week will not yield any realized improvements or results. This tool simply gives the picture of what the improved process could be if the business completes the identified actions and kaizen to get there.</a:t>
            </a:r>
            <a:r>
              <a:rPr lang="ja-JP" altLang="en-US" dirty="0">
                <a:latin typeface="Arial" panose="020B0604020202020204" pitchFamily="34" charset="0"/>
              </a:rPr>
              <a:t>”</a:t>
            </a:r>
            <a:r>
              <a:rPr lang="en-US" altLang="ja-JP" dirty="0">
                <a:latin typeface="Times New Roman" panose="02020603050405020304" pitchFamily="18" charset="0"/>
              </a:rPr>
              <a:t> </a:t>
            </a:r>
            <a:endParaRPr lang="en-US" altLang="en-US" dirty="0">
              <a:latin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5</a:t>
            </a:fld>
            <a:endParaRPr lang="en-US"/>
          </a:p>
        </p:txBody>
      </p:sp>
    </p:spTree>
    <p:extLst>
      <p:ext uri="{BB962C8B-B14F-4D97-AF65-F5344CB8AC3E}">
        <p14:creationId xmlns:p14="http://schemas.microsoft.com/office/powerpoint/2010/main" val="35043776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0" dirty="0">
                <a:latin typeface="Times New Roman" panose="02020603050405020304" pitchFamily="18" charset="0"/>
              </a:rPr>
              <a:t>SAY: “With discrete information flow, we still add to, subtract from, interpret and reformat information, but we create information along the way as well.”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0" dirty="0">
                <a:latin typeface="Times New Roman" panose="02020603050405020304" pitchFamily="18" charset="0"/>
              </a:rPr>
              <a:t>SAY: “Processes today are not designed around information flow. Information processes are not designed to flow, department walls, handoffs, in-boxes, multiple information to storage locations…”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en-US" b="0" dirty="0">
              <a:latin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en-US" b="0" dirty="0">
              <a:latin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a:t>
            </a:fld>
            <a:endParaRPr lang="en-US"/>
          </a:p>
        </p:txBody>
      </p:sp>
    </p:spTree>
    <p:extLst>
      <p:ext uri="{BB962C8B-B14F-4D97-AF65-F5344CB8AC3E}">
        <p14:creationId xmlns:p14="http://schemas.microsoft.com/office/powerpoint/2010/main" val="277662504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A Value Stream Map is the </a:t>
            </a:r>
            <a:r>
              <a:rPr lang="ja-JP" altLang="en-US" dirty="0">
                <a:latin typeface="Arial" panose="020B0604020202020204" pitchFamily="34" charset="0"/>
              </a:rPr>
              <a:t>“</a:t>
            </a:r>
            <a:r>
              <a:rPr lang="en-US" altLang="ja-JP" dirty="0">
                <a:latin typeface="Times New Roman" panose="02020603050405020304" pitchFamily="18" charset="0"/>
              </a:rPr>
              <a:t>30,000-foot</a:t>
            </a:r>
            <a:r>
              <a:rPr lang="ja-JP" altLang="en-US" dirty="0">
                <a:latin typeface="Arial" panose="020B0604020202020204" pitchFamily="34" charset="0"/>
              </a:rPr>
              <a:t>”</a:t>
            </a:r>
            <a:r>
              <a:rPr lang="en-US" altLang="ja-JP" dirty="0">
                <a:latin typeface="Times New Roman" panose="02020603050405020304" pitchFamily="18" charset="0"/>
              </a:rPr>
              <a:t> view of the process. A Process Map is a tool that would take just one process box from a Value Stream Map, and explode that process into it</a:t>
            </a:r>
            <a:r>
              <a:rPr lang="ja-JP" altLang="en-US" dirty="0">
                <a:latin typeface="Arial" panose="020B0604020202020204" pitchFamily="34" charset="0"/>
              </a:rPr>
              <a:t>’</a:t>
            </a:r>
            <a:r>
              <a:rPr lang="en-US" altLang="ja-JP" dirty="0">
                <a:latin typeface="Times New Roman" panose="02020603050405020304" pitchFamily="18" charset="0"/>
              </a:rPr>
              <a:t>s detailed steps.</a:t>
            </a:r>
            <a:r>
              <a:rPr lang="ja-JP" altLang="en-US" dirty="0">
                <a:latin typeface="Arial" panose="020B0604020202020204" pitchFamily="34" charset="0"/>
              </a:rPr>
              <a:t>”</a:t>
            </a:r>
            <a:r>
              <a:rPr lang="en-US" altLang="ja-JP" dirty="0">
                <a:latin typeface="Times New Roman" panose="02020603050405020304" pitchFamily="18" charset="0"/>
              </a:rPr>
              <a:t> </a:t>
            </a:r>
            <a:endParaRPr lang="en-US" altLang="en-US" dirty="0">
              <a:latin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a:t>
            </a:fld>
            <a:endParaRPr lang="en-US"/>
          </a:p>
        </p:txBody>
      </p:sp>
    </p:spTree>
    <p:extLst>
      <p:ext uri="{BB962C8B-B14F-4D97-AF65-F5344CB8AC3E}">
        <p14:creationId xmlns:p14="http://schemas.microsoft.com/office/powerpoint/2010/main" val="3505602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So why are we here? What do we want to accomplish?</a:t>
            </a:r>
            <a:r>
              <a:rPr lang="ja-JP" altLang="en-US" dirty="0">
                <a:latin typeface="Arial" panose="020B0604020202020204" pitchFamily="34" charset="0"/>
              </a:rPr>
              <a:t>”</a:t>
            </a:r>
            <a:endParaRPr lang="en-US" altLang="ja-JP" dirty="0">
              <a:latin typeface="Times New Roman" panose="02020603050405020304" pitchFamily="18" charset="0"/>
            </a:endParaRPr>
          </a:p>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If I am going to improve the </a:t>
            </a:r>
            <a:r>
              <a:rPr lang="ja-JP" altLang="en-US" dirty="0">
                <a:latin typeface="Arial" panose="020B0604020202020204" pitchFamily="34" charset="0"/>
              </a:rPr>
              <a:t>“</a:t>
            </a:r>
            <a:r>
              <a:rPr lang="en-US" altLang="ja-JP" dirty="0">
                <a:latin typeface="Times New Roman" panose="02020603050405020304" pitchFamily="18" charset="0"/>
              </a:rPr>
              <a:t>&lt;fill in with your event&gt; Process, what do I do first? VSM gives you the focus.</a:t>
            </a:r>
            <a:r>
              <a:rPr lang="ja-JP" altLang="en-US" dirty="0">
                <a:latin typeface="Arial" panose="020B0604020202020204" pitchFamily="34" charset="0"/>
              </a:rPr>
              <a:t>”</a:t>
            </a:r>
            <a:endParaRPr lang="en-US" altLang="ja-JP" dirty="0">
              <a:latin typeface="Times New Roman" panose="02020603050405020304" pitchFamily="18" charset="0"/>
            </a:endParaRPr>
          </a:p>
          <a:p>
            <a:r>
              <a:rPr lang="en-US" altLang="en-US" b="0" dirty="0">
                <a:latin typeface="Times New Roman" panose="02020603050405020304" pitchFamily="18" charset="0"/>
              </a:rPr>
              <a:t>DO:</a:t>
            </a:r>
            <a:r>
              <a:rPr lang="en-US" altLang="en-US" dirty="0">
                <a:latin typeface="Times New Roman" panose="02020603050405020304" pitchFamily="18" charset="0"/>
              </a:rPr>
              <a:t> Cover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8</a:t>
            </a:fld>
            <a:endParaRPr lang="en-US"/>
          </a:p>
        </p:txBody>
      </p:sp>
    </p:spTree>
    <p:extLst>
      <p:ext uri="{BB962C8B-B14F-4D97-AF65-F5344CB8AC3E}">
        <p14:creationId xmlns:p14="http://schemas.microsoft.com/office/powerpoint/2010/main" val="29454311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It is critical to understand that Value Stream Mapping is a tool that is used to execute our Key Business Imperatives for Business Strategy. VSM helps identify the waste so that improvements can be made to eliminate the waste.</a:t>
            </a:r>
            <a:r>
              <a:rPr lang="ja-JP" altLang="en-US" dirty="0">
                <a:latin typeface="Arial" panose="020B0604020202020204" pitchFamily="34" charset="0"/>
              </a:rPr>
              <a:t>”</a:t>
            </a:r>
            <a:endParaRPr lang="en-US" altLang="en-US" dirty="0">
              <a:latin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a:t>
            </a:fld>
            <a:endParaRPr lang="en-US"/>
          </a:p>
        </p:txBody>
      </p:sp>
    </p:spTree>
    <p:extLst>
      <p:ext uri="{BB962C8B-B14F-4D97-AF65-F5344CB8AC3E}">
        <p14:creationId xmlns:p14="http://schemas.microsoft.com/office/powerpoint/2010/main" val="16542411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These would be examples of business cases that VSMi would support.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a:t>
            </a:fld>
            <a:endParaRPr lang="en-US"/>
          </a:p>
        </p:txBody>
      </p:sp>
    </p:spTree>
    <p:extLst>
      <p:ext uri="{BB962C8B-B14F-4D97-AF65-F5344CB8AC3E}">
        <p14:creationId xmlns:p14="http://schemas.microsoft.com/office/powerpoint/2010/main" val="6917468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VSM Roadmap. Cover what has taken place already, where we are in the process, and where we will go from here.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Stress that this is an iterative process. VSM is typically a 6 month cycle… then when your future state becomes your new current state, you begin again.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Stress that each of these process steps are not equal in length. They are separate, necessary steps. Step 4 is a 6 month cycle that is filled with kaizen events and other improvement activities that target achieving the future state.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The personnel in Step 2 in most cases will be different or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in addition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to those in Step 1, this is why the Intro to Lean will be conducted at both steps. </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a:t>
            </a:fld>
            <a:endParaRPr lang="en-US"/>
          </a:p>
        </p:txBody>
      </p:sp>
    </p:spTree>
    <p:extLst>
      <p:ext uri="{BB962C8B-B14F-4D97-AF65-F5344CB8AC3E}">
        <p14:creationId xmlns:p14="http://schemas.microsoft.com/office/powerpoint/2010/main" val="245943434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This week we are at Process Step 3. The steps to conducting a VSM Event are:</a:t>
            </a:r>
          </a:p>
          <a:p>
            <a:r>
              <a:rPr lang="en-US" altLang="en-US" dirty="0">
                <a:latin typeface="Times New Roman" panose="02020603050405020304" pitchFamily="18" charset="0"/>
              </a:rPr>
              <a:t>1 – Select Product or Service Family (this has been done)</a:t>
            </a:r>
          </a:p>
          <a:p>
            <a:r>
              <a:rPr lang="en-US" altLang="en-US" dirty="0">
                <a:latin typeface="Times New Roman" panose="02020603050405020304" pitchFamily="18" charset="0"/>
              </a:rPr>
              <a:t>2 – Create the Current State Map – again, the snapshot of the process today</a:t>
            </a:r>
          </a:p>
          <a:p>
            <a:r>
              <a:rPr lang="en-US" altLang="en-US" dirty="0">
                <a:latin typeface="Times New Roman" panose="02020603050405020304" pitchFamily="18" charset="0"/>
              </a:rPr>
              <a:t>3 – Interrogate the Current State – here we will analyze the Current State for improvement opportunities</a:t>
            </a:r>
          </a:p>
          <a:p>
            <a:r>
              <a:rPr lang="en-US" altLang="en-US" dirty="0">
                <a:latin typeface="Times New Roman" panose="02020603050405020304" pitchFamily="18" charset="0"/>
              </a:rPr>
              <a:t>4 – Create Future State Map – based on the improvements we want to make – what will the future process look like</a:t>
            </a:r>
          </a:p>
          <a:p>
            <a:r>
              <a:rPr lang="en-US" altLang="en-US" dirty="0">
                <a:latin typeface="Times New Roman" panose="02020603050405020304" pitchFamily="18" charset="0"/>
              </a:rPr>
              <a:t>5 – Develop the Value Stream Plan – here is where we detail what specific objectives need to be accomplished in order for the Future State to be achieved. </a:t>
            </a:r>
          </a:p>
          <a:p>
            <a:r>
              <a:rPr lang="en-US" altLang="en-US" dirty="0">
                <a:latin typeface="Times New Roman" panose="02020603050405020304" pitchFamily="18" charset="0"/>
              </a:rPr>
              <a:t>Realize that when we are complete this week</a:t>
            </a:r>
            <a:r>
              <a:rPr lang="ja-JP" altLang="en-US" dirty="0">
                <a:latin typeface="Arial" panose="020B0604020202020204" pitchFamily="34" charset="0"/>
              </a:rPr>
              <a:t>’</a:t>
            </a:r>
            <a:r>
              <a:rPr lang="en-US" altLang="ja-JP" dirty="0">
                <a:latin typeface="Times New Roman" panose="02020603050405020304" pitchFamily="18" charset="0"/>
              </a:rPr>
              <a:t>s event – no improvements will actually be made… it is not until the action plan gets implemented that we will see results. </a:t>
            </a:r>
            <a:r>
              <a:rPr lang="ja-JP" altLang="en-US" dirty="0">
                <a:latin typeface="Arial" panose="020B0604020202020204" pitchFamily="34" charset="0"/>
              </a:rPr>
              <a:t>“</a:t>
            </a:r>
            <a:endParaRPr lang="en-US" altLang="en-US" dirty="0">
              <a:latin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a:t>
            </a:fld>
            <a:endParaRPr lang="en-US"/>
          </a:p>
        </p:txBody>
      </p:sp>
    </p:spTree>
    <p:extLst>
      <p:ext uri="{BB962C8B-B14F-4D97-AF65-F5344CB8AC3E}">
        <p14:creationId xmlns:p14="http://schemas.microsoft.com/office/powerpoint/2010/main" val="103735127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dirty="0">
                <a:latin typeface="Times New Roman" panose="02020603050405020304" pitchFamily="18" charset="0"/>
              </a:rPr>
              <a:t>SAY:</a:t>
            </a:r>
            <a:r>
              <a:rPr lang="en-US" altLang="en-US" dirty="0">
                <a:latin typeface="Times New Roman" panose="02020603050405020304" pitchFamily="18" charset="0"/>
              </a:rPr>
              <a:t> </a:t>
            </a:r>
            <a:r>
              <a:rPr lang="ja-JP" altLang="en-US" dirty="0">
                <a:latin typeface="Arial" panose="020B0604020202020204" pitchFamily="34" charset="0"/>
              </a:rPr>
              <a:t>“</a:t>
            </a:r>
            <a:r>
              <a:rPr lang="en-US" altLang="ja-JP" dirty="0">
                <a:latin typeface="Times New Roman" panose="02020603050405020304" pitchFamily="18" charset="0"/>
              </a:rPr>
              <a:t>This is the typical 5 day agenda for what we will accomplish this week.</a:t>
            </a:r>
            <a:r>
              <a:rPr lang="ja-JP" altLang="en-US" dirty="0">
                <a:latin typeface="Arial" panose="020B0604020202020204" pitchFamily="34" charset="0"/>
              </a:rPr>
              <a:t>”</a:t>
            </a:r>
            <a:r>
              <a:rPr lang="en-US" altLang="ja-JP" dirty="0">
                <a:latin typeface="Times New Roman" panose="02020603050405020304" pitchFamily="18" charset="0"/>
              </a:rPr>
              <a:t> </a:t>
            </a:r>
          </a:p>
          <a:p>
            <a:r>
              <a:rPr lang="en-US" altLang="en-US" b="0" dirty="0">
                <a:latin typeface="Times New Roman" panose="02020603050405020304" pitchFamily="18" charset="0"/>
              </a:rPr>
              <a:t>NOTE:</a:t>
            </a:r>
            <a:r>
              <a:rPr lang="en-US" altLang="en-US" dirty="0">
                <a:latin typeface="Times New Roman" panose="02020603050405020304" pitchFamily="18" charset="0"/>
              </a:rPr>
              <a:t> Deliverable dates can be adjusted as needed depending on the event.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a:t>
            </a:fld>
            <a:endParaRPr lang="en-US"/>
          </a:p>
        </p:txBody>
      </p:sp>
    </p:spTree>
    <p:extLst>
      <p:ext uri="{BB962C8B-B14F-4D97-AF65-F5344CB8AC3E}">
        <p14:creationId xmlns:p14="http://schemas.microsoft.com/office/powerpoint/2010/main" val="324338336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first step of the VSM process which is to Select the Product or Service Family. Note that although this has actually been done prior to this event, this is an important part to the overall VSM process. The purpose for reviewing this now is so that we can all see where the information for this event originated.</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section objectives. </a:t>
            </a:r>
          </a:p>
        </p:txBody>
      </p:sp>
      <p:sp>
        <p:nvSpPr>
          <p:cNvPr id="4" name="Slide Number Placeholder 3"/>
          <p:cNvSpPr>
            <a:spLocks noGrp="1"/>
          </p:cNvSpPr>
          <p:nvPr>
            <p:ph type="sldNum" sz="quarter" idx="5"/>
          </p:nvPr>
        </p:nvSpPr>
        <p:spPr/>
        <p:txBody>
          <a:bodyPr/>
          <a:lstStyle/>
          <a:p>
            <a:fld id="{AECD8548-F1A2-4EDF-A416-5F2BB6B8F64C}" type="slidenum">
              <a:rPr lang="en-US" smtClean="0"/>
              <a:t>14</a:t>
            </a:fld>
            <a:endParaRPr lang="en-US"/>
          </a:p>
        </p:txBody>
      </p:sp>
    </p:spTree>
    <p:extLst>
      <p:ext uri="{BB962C8B-B14F-4D97-AF65-F5344CB8AC3E}">
        <p14:creationId xmlns:p14="http://schemas.microsoft.com/office/powerpoint/2010/main" val="130997091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all of the points that feed into the overall definition. </a:t>
            </a:r>
          </a:p>
          <a:p>
            <a:pPr eaLnBrk="1" hangingPunct="1"/>
            <a:endParaRPr lang="en-US" altLang="en-US" b="1"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week we will clearly define all of the Value Added </a:t>
            </a:r>
          </a:p>
          <a:p>
            <a:pPr eaLnBrk="1" hangingPunct="1"/>
            <a:r>
              <a:rPr lang="en-US" altLang="en-US" dirty="0">
                <a:latin typeface="Arial" panose="020B0604020202020204" pitchFamily="34" charset="0"/>
                <a:cs typeface="Arial" panose="020B0604020202020204" pitchFamily="34" charset="0"/>
              </a:rPr>
              <a:t>and Non-Value Added Processes, the Product and Information Flow, we</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ll</a:t>
            </a:r>
            <a:r>
              <a:rPr lang="en-US" altLang="ja-JP" dirty="0">
                <a:latin typeface="Arial" panose="020B0604020202020204" pitchFamily="34" charset="0"/>
                <a:cs typeface="Arial" panose="020B0604020202020204" pitchFamily="34" charset="0"/>
              </a:rPr>
              <a:t> identify who are all the functions represented in this project, and we</a:t>
            </a:r>
            <a:r>
              <a:rPr lang="ja-JP" altLang="en-US" dirty="0">
                <a:latin typeface="Arial" panose="020B0604020202020204" pitchFamily="34" charset="0"/>
                <a:cs typeface="Arial" panose="020B0604020202020204" pitchFamily="34" charset="0"/>
              </a:rPr>
              <a:t>’</a:t>
            </a:r>
            <a:r>
              <a:rPr lang="en-US" altLang="ja-JP" dirty="0" err="1">
                <a:latin typeface="Arial" panose="020B0604020202020204" pitchFamily="34" charset="0"/>
                <a:cs typeface="Arial" panose="020B0604020202020204" pitchFamily="34" charset="0"/>
              </a:rPr>
              <a:t>ll</a:t>
            </a:r>
            <a:r>
              <a:rPr lang="en-US" altLang="ja-JP" dirty="0">
                <a:latin typeface="Arial" panose="020B0604020202020204" pitchFamily="34" charset="0"/>
                <a:cs typeface="Arial" panose="020B0604020202020204" pitchFamily="34" charset="0"/>
              </a:rPr>
              <a:t> clearly understand who is the customer.</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For learning audiences that have had experience mapping transactional processes (such as order entry, time cards, payroll, procurement, invoicing, accounts payable, receiving), this module will follow a slightly modified format. This module is designed to support NON-transactional processes (such as product development, test/evaluation, engineering, software development, program </a:t>
            </a:r>
            <a:r>
              <a:rPr lang="en-US" altLang="en-US" dirty="0" err="1">
                <a:latin typeface="Arial" panose="020B0604020202020204" pitchFamily="34" charset="0"/>
                <a:cs typeface="Arial" panose="020B0604020202020204" pitchFamily="34" charset="0"/>
              </a:rPr>
              <a:t>mgmt</a:t>
            </a:r>
            <a:r>
              <a:rPr lang="en-US" altLang="en-US" dirty="0">
                <a:latin typeface="Arial" panose="020B0604020202020204" pitchFamily="34" charset="0"/>
                <a:cs typeface="Arial" panose="020B0604020202020204" pitchFamily="34" charset="0"/>
              </a:rPr>
              <a:t>, and contracts).</a:t>
            </a:r>
          </a:p>
          <a:p>
            <a:pPr eaLnBrk="1" hangingPunct="1"/>
            <a:r>
              <a:rPr lang="en-US" altLang="en-US" dirty="0">
                <a:latin typeface="Arial" panose="020B0604020202020204" pitchFamily="34" charset="0"/>
                <a:cs typeface="Arial" panose="020B0604020202020204" pitchFamily="34" charset="0"/>
              </a:rPr>
              <a:t>If asked, why is there a difference, explain that when mapping transactional processes, information flow is about manipulating information (adding to, subtracting from, interpreting or reformatting and that execution is typically done on an individual basis. When mapping NON-transactional processes, we still manipulate information flow, however we CREATE new information along the way and execution is typically team-based.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15</a:t>
            </a:fld>
            <a:endParaRPr lang="en-US"/>
          </a:p>
        </p:txBody>
      </p:sp>
    </p:spTree>
    <p:extLst>
      <p:ext uri="{BB962C8B-B14F-4D97-AF65-F5344CB8AC3E}">
        <p14:creationId xmlns:p14="http://schemas.microsoft.com/office/powerpoint/2010/main" val="151079518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try to do end-to-end as much as possible.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16</a:t>
            </a:fld>
            <a:endParaRPr lang="en-US"/>
          </a:p>
        </p:txBody>
      </p:sp>
    </p:spTree>
    <p:extLst>
      <p:ext uri="{BB962C8B-B14F-4D97-AF65-F5344CB8AC3E}">
        <p14:creationId xmlns:p14="http://schemas.microsoft.com/office/powerpoint/2010/main" val="30470325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do you think the boundaries are for these 3 examples?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ANSWERS:</a:t>
            </a:r>
          </a:p>
          <a:p>
            <a:pPr eaLnBrk="1" hangingPunct="1"/>
            <a:r>
              <a:rPr lang="en-US" altLang="en-US" b="1" dirty="0">
                <a:latin typeface="Arial" panose="020B0604020202020204" pitchFamily="34" charset="0"/>
                <a:cs typeface="Arial" panose="020B0604020202020204" pitchFamily="34" charset="0"/>
              </a:rPr>
              <a:t>New Product Development:</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Start:  Product Plan</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End:  Design Approved</a:t>
            </a:r>
          </a:p>
          <a:p>
            <a:pPr marL="0" indent="0" eaLnBrk="1" hangingPunct="1">
              <a:buFont typeface="Arial" panose="020B0604020202020204" pitchFamily="34" charset="0"/>
              <a:buNone/>
            </a:pPr>
            <a:r>
              <a:rPr lang="en-US" altLang="en-US" b="1" dirty="0">
                <a:latin typeface="Arial" panose="020B0604020202020204" pitchFamily="34" charset="0"/>
                <a:cs typeface="Arial" panose="020B0604020202020204" pitchFamily="34" charset="0"/>
              </a:rPr>
              <a:t>Power Plant Construction:</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Start:  Project Approval</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End:  Plant Commissioned</a:t>
            </a:r>
          </a:p>
          <a:p>
            <a:pPr eaLnBrk="1" hangingPunct="1"/>
            <a:r>
              <a:rPr lang="en-US" altLang="en-US" b="1" dirty="0">
                <a:latin typeface="Arial" panose="020B0604020202020204" pitchFamily="34" charset="0"/>
                <a:cs typeface="Arial" panose="020B0604020202020204" pitchFamily="34" charset="0"/>
              </a:rPr>
              <a:t>New Product Introduction:</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Start:  Design Approved</a:t>
            </a:r>
          </a:p>
          <a:p>
            <a:pPr marL="171450" indent="-171450" eaLnBrk="1" hangingPunct="1">
              <a:buFont typeface="Arial" panose="020B0604020202020204" pitchFamily="34" charset="0"/>
              <a:buChar char="•"/>
            </a:pPr>
            <a:r>
              <a:rPr lang="en-US" altLang="en-US" b="1" dirty="0">
                <a:latin typeface="Arial" panose="020B0604020202020204" pitchFamily="34" charset="0"/>
                <a:cs typeface="Arial" panose="020B0604020202020204" pitchFamily="34" charset="0"/>
              </a:rPr>
              <a:t>End:  Product Launched</a:t>
            </a:r>
          </a:p>
        </p:txBody>
      </p:sp>
      <p:sp>
        <p:nvSpPr>
          <p:cNvPr id="4" name="Slide Number Placeholder 3"/>
          <p:cNvSpPr>
            <a:spLocks noGrp="1"/>
          </p:cNvSpPr>
          <p:nvPr>
            <p:ph type="sldNum" sz="quarter" idx="5"/>
          </p:nvPr>
        </p:nvSpPr>
        <p:spPr/>
        <p:txBody>
          <a:bodyPr/>
          <a:lstStyle/>
          <a:p>
            <a:fld id="{AECD8548-F1A2-4EDF-A416-5F2BB6B8F64C}" type="slidenum">
              <a:rPr lang="en-US" smtClean="0"/>
              <a:t>17</a:t>
            </a:fld>
            <a:endParaRPr lang="en-US"/>
          </a:p>
        </p:txBody>
      </p:sp>
    </p:spTree>
    <p:extLst>
      <p:ext uri="{BB962C8B-B14F-4D97-AF65-F5344CB8AC3E}">
        <p14:creationId xmlns:p14="http://schemas.microsoft.com/office/powerpoint/2010/main" val="40944664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If the customer </a:t>
            </a:r>
            <a:r>
              <a:rPr lang="en-US" altLang="ja-JP" dirty="0" err="1">
                <a:latin typeface="Arial" panose="020B0604020202020204" pitchFamily="34" charset="0"/>
                <a:cs typeface="Arial" panose="020B0604020202020204" pitchFamily="34" charset="0"/>
              </a:rPr>
              <a:t>isn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benefiting, we want to make sure we identify it.</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Caution people away from thinking the next process is the customer. People can optimize the process that the end customer </a:t>
            </a:r>
            <a:r>
              <a:rPr lang="en-US" altLang="en-US" dirty="0" err="1">
                <a:latin typeface="Arial" panose="020B0604020202020204" pitchFamily="34" charset="0"/>
                <a:cs typeface="Arial" panose="020B0604020202020204" pitchFamily="34" charset="0"/>
              </a:rPr>
              <a:t>doesn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care about.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Introduce the concept customer vs. stakeholders.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18</a:t>
            </a:fld>
            <a:endParaRPr lang="en-US"/>
          </a:p>
        </p:txBody>
      </p:sp>
    </p:spTree>
    <p:extLst>
      <p:ext uri="{BB962C8B-B14F-4D97-AF65-F5344CB8AC3E}">
        <p14:creationId xmlns:p14="http://schemas.microsoft.com/office/powerpoint/2010/main" val="30077711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will complete this chart for our process as group.</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what the chart is asking for and transition to the next slide for the exercise instructions. Complete this chart on flipchart.</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19</a:t>
            </a:fld>
            <a:endParaRPr lang="en-US"/>
          </a:p>
        </p:txBody>
      </p:sp>
    </p:spTree>
    <p:extLst>
      <p:ext uri="{BB962C8B-B14F-4D97-AF65-F5344CB8AC3E}">
        <p14:creationId xmlns:p14="http://schemas.microsoft.com/office/powerpoint/2010/main" val="23791686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Facilitate this as a group discussion. Have one person document answers on a chart paper.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20</a:t>
            </a:fld>
            <a:endParaRPr lang="en-US"/>
          </a:p>
        </p:txBody>
      </p:sp>
    </p:spTree>
    <p:extLst>
      <p:ext uri="{BB962C8B-B14F-4D97-AF65-F5344CB8AC3E}">
        <p14:creationId xmlns:p14="http://schemas.microsoft.com/office/powerpoint/2010/main" val="260442336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Facilitate this as a group discussion. Have the kaizen charter display on the projector for everyone to review.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p:txBody>
      </p:sp>
      <p:sp>
        <p:nvSpPr>
          <p:cNvPr id="4" name="Slide Number Placeholder 3"/>
          <p:cNvSpPr>
            <a:spLocks noGrp="1"/>
          </p:cNvSpPr>
          <p:nvPr>
            <p:ph type="sldNum" sz="quarter" idx="5"/>
          </p:nvPr>
        </p:nvSpPr>
        <p:spPr/>
        <p:txBody>
          <a:bodyPr/>
          <a:lstStyle/>
          <a:p>
            <a:fld id="{AECD8548-F1A2-4EDF-A416-5F2BB6B8F64C}" type="slidenum">
              <a:rPr lang="en-US" smtClean="0"/>
              <a:t>21</a:t>
            </a:fld>
            <a:endParaRPr lang="en-US"/>
          </a:p>
        </p:txBody>
      </p:sp>
    </p:spTree>
    <p:extLst>
      <p:ext uri="{BB962C8B-B14F-4D97-AF65-F5344CB8AC3E}">
        <p14:creationId xmlns:p14="http://schemas.microsoft.com/office/powerpoint/2010/main" val="412501545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about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a value stream</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value stream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and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do we keep in mind when selecting value streams to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creating the Current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Calculators</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11x17 paper – one sheet per participant</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3-4 Packs of Post-It Notes</a:t>
            </a:r>
          </a:p>
        </p:txBody>
      </p:sp>
      <p:sp>
        <p:nvSpPr>
          <p:cNvPr id="4" name="Slide Number Placeholder 3"/>
          <p:cNvSpPr>
            <a:spLocks noGrp="1"/>
          </p:cNvSpPr>
          <p:nvPr>
            <p:ph type="sldNum" sz="quarter" idx="5"/>
          </p:nvPr>
        </p:nvSpPr>
        <p:spPr/>
        <p:txBody>
          <a:bodyPr/>
          <a:lstStyle/>
          <a:p>
            <a:fld id="{AECD8548-F1A2-4EDF-A416-5F2BB6B8F64C}" type="slidenum">
              <a:rPr lang="en-US" smtClean="0"/>
              <a:t>22</a:t>
            </a:fld>
            <a:endParaRPr lang="en-US"/>
          </a:p>
        </p:txBody>
      </p:sp>
    </p:spTree>
    <p:extLst>
      <p:ext uri="{BB962C8B-B14F-4D97-AF65-F5344CB8AC3E}">
        <p14:creationId xmlns:p14="http://schemas.microsoft.com/office/powerpoint/2010/main" val="165553967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There are three major steps to creating the Current State Map, and we will follow these steps when we map our process. First, we document the entire value stream as a team from end to beginning. The purpose here is to get an understanding of the flow of information through the processes. If it is possible to physically walk the process, do so.</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do you think we walk the process backwards?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(answer: we start with the customer and walk backwards so that we always are viewing the current state from the customer</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perspective. Also when you walk backwards you see the waste more clearly. When you walk the process from beginning to end – you run the danger of mapping how the process should be – not how it really is.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Next we create a large map of just the processes. Then we identify what data we will need to get, where the data is, and how we will need to get it. This is the Data Gathering step.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(note: depending on size of the group – the group may need to sub-divide and go collect the data).</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return to our common area and create the full Current State Map with all of our data.</a:t>
            </a:r>
            <a:r>
              <a:rPr lang="ja-JP" altLang="en-US" dirty="0">
                <a:latin typeface="Arial" panose="020B0604020202020204" pitchFamily="34" charset="0"/>
                <a:cs typeface="Arial" panose="020B0604020202020204" pitchFamily="34" charset="0"/>
              </a:rPr>
              <a:t>”</a:t>
            </a:r>
            <a:endParaRPr lang="en-US" altLang="en-US">
              <a:latin typeface="Arial" panose="020B0604020202020204" pitchFamily="34" charset="0"/>
              <a:cs typeface="Arial" panose="020B0604020202020204" pitchFamily="34" charset="0"/>
            </a:endParaRPr>
          </a:p>
          <a:p>
            <a:endParaRPr lang="en-US"/>
          </a:p>
        </p:txBody>
      </p:sp>
      <p:sp>
        <p:nvSpPr>
          <p:cNvPr id="4" name="Slide Number Placeholder 3"/>
          <p:cNvSpPr>
            <a:spLocks noGrp="1"/>
          </p:cNvSpPr>
          <p:nvPr>
            <p:ph type="sldNum" sz="quarter" idx="5"/>
          </p:nvPr>
        </p:nvSpPr>
        <p:spPr/>
        <p:txBody>
          <a:bodyPr/>
          <a:lstStyle/>
          <a:p>
            <a:fld id="{AECD8548-F1A2-4EDF-A416-5F2BB6B8F64C}" type="slidenum">
              <a:rPr lang="en-US" smtClean="0"/>
              <a:t>23</a:t>
            </a:fld>
            <a:endParaRPr lang="en-US"/>
          </a:p>
        </p:txBody>
      </p:sp>
    </p:spTree>
    <p:extLst>
      <p:ext uri="{BB962C8B-B14F-4D97-AF65-F5344CB8AC3E}">
        <p14:creationId xmlns:p14="http://schemas.microsoft.com/office/powerpoint/2010/main" val="42043124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first step in mapping the current value stream is to identify the processes that make up the value stream.  To do this we need to know how to define a process.</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we look at our value stream we need to be careful to remain at the proper level of detail and not let it develop into a process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24</a:t>
            </a:fld>
            <a:endParaRPr lang="en-US"/>
          </a:p>
        </p:txBody>
      </p:sp>
    </p:spTree>
    <p:extLst>
      <p:ext uri="{BB962C8B-B14F-4D97-AF65-F5344CB8AC3E}">
        <p14:creationId xmlns:p14="http://schemas.microsoft.com/office/powerpoint/2010/main" val="3987979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 </a:t>
            </a:r>
            <a:r>
              <a:rPr lang="en-US" altLang="en-US" dirty="0">
                <a:latin typeface="Arial" panose="020B0604020202020204" pitchFamily="34" charset="0"/>
                <a:cs typeface="Arial" panose="020B0604020202020204" pitchFamily="34" charset="0"/>
              </a:rPr>
              <a:t>Review examples on the slide. </a:t>
            </a:r>
          </a:p>
        </p:txBody>
      </p:sp>
      <p:sp>
        <p:nvSpPr>
          <p:cNvPr id="4" name="Slide Number Placeholder 3"/>
          <p:cNvSpPr>
            <a:spLocks noGrp="1"/>
          </p:cNvSpPr>
          <p:nvPr>
            <p:ph type="sldNum" sz="quarter" idx="5"/>
          </p:nvPr>
        </p:nvSpPr>
        <p:spPr/>
        <p:txBody>
          <a:bodyPr/>
          <a:lstStyle/>
          <a:p>
            <a:fld id="{AECD8548-F1A2-4EDF-A416-5F2BB6B8F64C}" type="slidenum">
              <a:rPr lang="en-US" smtClean="0"/>
              <a:t>25</a:t>
            </a:fld>
            <a:endParaRPr lang="en-US"/>
          </a:p>
        </p:txBody>
      </p:sp>
    </p:spTree>
    <p:extLst>
      <p:ext uri="{BB962C8B-B14F-4D97-AF65-F5344CB8AC3E}">
        <p14:creationId xmlns:p14="http://schemas.microsoft.com/office/powerpoint/2010/main" val="52273890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purpose of this slide is to show the general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real estate</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layout of a Value Stream Map. When you create your map – you will need to budget space accordingly.</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general areas and what gets drawn where.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Customer – could be one unique customer benefiting from both the input and the output or it could be a separate supplier and customer.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26</a:t>
            </a:fld>
            <a:endParaRPr lang="en-US"/>
          </a:p>
        </p:txBody>
      </p:sp>
    </p:spTree>
    <p:extLst>
      <p:ext uri="{BB962C8B-B14F-4D97-AF65-F5344CB8AC3E}">
        <p14:creationId xmlns:p14="http://schemas.microsoft.com/office/powerpoint/2010/main" val="28147725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Pass out the 11x17</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paper, markers, calculators. Read the instructions of the exercise. Emphasize that they are to draw exactly what they see during the process. Make sure you tell the class then when they are complete this exercise, they are to hold on to their maps for we will use them again in a later section of the material. </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27</a:t>
            </a:fld>
            <a:endParaRPr lang="en-US"/>
          </a:p>
        </p:txBody>
      </p:sp>
    </p:spTree>
    <p:extLst>
      <p:ext uri="{BB962C8B-B14F-4D97-AF65-F5344CB8AC3E}">
        <p14:creationId xmlns:p14="http://schemas.microsoft.com/office/powerpoint/2010/main" val="373916495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a:latin typeface="Arial" panose="020B0604020202020204" pitchFamily="34" charset="0"/>
                <a:cs typeface="Arial" panose="020B0604020202020204" pitchFamily="34" charset="0"/>
              </a:rPr>
              <a:t>DO:</a:t>
            </a:r>
            <a:r>
              <a:rPr lang="en-US" altLang="en-US">
                <a:latin typeface="Arial" panose="020B0604020202020204" pitchFamily="34" charset="0"/>
                <a:cs typeface="Arial" panose="020B0604020202020204" pitchFamily="34" charset="0"/>
              </a:rPr>
              <a:t> Read the case study aloud to the class</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28</a:t>
            </a:fld>
            <a:endParaRPr lang="en-US"/>
          </a:p>
        </p:txBody>
      </p:sp>
    </p:spTree>
    <p:extLst>
      <p:ext uri="{BB962C8B-B14F-4D97-AF65-F5344CB8AC3E}">
        <p14:creationId xmlns:p14="http://schemas.microsoft.com/office/powerpoint/2010/main" val="341948943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a:latin typeface="Arial" panose="020B0604020202020204" pitchFamily="34" charset="0"/>
                <a:cs typeface="Arial" panose="020B0604020202020204" pitchFamily="34" charset="0"/>
              </a:rPr>
              <a:t>DO:</a:t>
            </a:r>
            <a:r>
              <a:rPr lang="en-US" altLang="en-US">
                <a:latin typeface="Arial" panose="020B0604020202020204" pitchFamily="34" charset="0"/>
                <a:cs typeface="Arial" panose="020B0604020202020204" pitchFamily="34" charset="0"/>
              </a:rPr>
              <a:t> Read the case study aloud to the class</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29</a:t>
            </a:fld>
            <a:endParaRPr lang="en-US"/>
          </a:p>
        </p:txBody>
      </p:sp>
    </p:spTree>
    <p:extLst>
      <p:ext uri="{BB962C8B-B14F-4D97-AF65-F5344CB8AC3E}">
        <p14:creationId xmlns:p14="http://schemas.microsoft.com/office/powerpoint/2010/main" val="272321116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a:latin typeface="Arial" panose="020B0604020202020204" pitchFamily="34" charset="0"/>
                <a:cs typeface="Arial" panose="020B0604020202020204" pitchFamily="34" charset="0"/>
              </a:rPr>
              <a:t>DO:</a:t>
            </a:r>
            <a:r>
              <a:rPr lang="en-US" altLang="en-US">
                <a:latin typeface="Arial" panose="020B0604020202020204" pitchFamily="34" charset="0"/>
                <a:cs typeface="Arial" panose="020B0604020202020204" pitchFamily="34" charset="0"/>
              </a:rPr>
              <a:t> Read the case study aloud to the class</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30</a:t>
            </a:fld>
            <a:endParaRPr lang="en-US"/>
          </a:p>
        </p:txBody>
      </p:sp>
    </p:spTree>
    <p:extLst>
      <p:ext uri="{BB962C8B-B14F-4D97-AF65-F5344CB8AC3E}">
        <p14:creationId xmlns:p14="http://schemas.microsoft.com/office/powerpoint/2010/main" val="148894216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steps to drawing a Value Stream Map on the slide. Click to animate the first step,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Map Customer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31</a:t>
            </a:fld>
            <a:endParaRPr lang="en-US"/>
          </a:p>
        </p:txBody>
      </p:sp>
    </p:spTree>
    <p:extLst>
      <p:ext uri="{BB962C8B-B14F-4D97-AF65-F5344CB8AC3E}">
        <p14:creationId xmlns:p14="http://schemas.microsoft.com/office/powerpoint/2010/main" val="10289996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First we map customer data – so let</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take a look at the customer data for Great America Golf (GAG).</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32</a:t>
            </a:fld>
            <a:endParaRPr lang="en-US"/>
          </a:p>
        </p:txBody>
      </p:sp>
    </p:spTree>
    <p:extLst>
      <p:ext uri="{BB962C8B-B14F-4D97-AF65-F5344CB8AC3E}">
        <p14:creationId xmlns:p14="http://schemas.microsoft.com/office/powerpoint/2010/main" val="377047411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time to draw. Each time you see a slide in this presentation that shows the map on a sheet a paper (as you see here) – that is an indicator of what is to be drawn on your map. </a:t>
            </a:r>
          </a:p>
          <a:p>
            <a:pPr eaLnBrk="1" hangingPunct="1"/>
            <a:r>
              <a:rPr lang="en-US" altLang="en-US" dirty="0">
                <a:latin typeface="Arial" panose="020B0604020202020204" pitchFamily="34" charset="0"/>
                <a:cs typeface="Arial" panose="020B0604020202020204" pitchFamily="34" charset="0"/>
              </a:rPr>
              <a:t>For right now we are going to draw exactly what we see here. The purpose of this is to get you comfortable with mapping, with the layout, with the icons, and with the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33</a:t>
            </a:fld>
            <a:endParaRPr lang="en-US"/>
          </a:p>
        </p:txBody>
      </p:sp>
    </p:spTree>
    <p:extLst>
      <p:ext uri="{BB962C8B-B14F-4D97-AF65-F5344CB8AC3E}">
        <p14:creationId xmlns:p14="http://schemas.microsoft.com/office/powerpoint/2010/main" val="15581455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One of the most important Lean concepts is Takt Time.  Simply stated, Takt Time is customer demand as a function of time.   As you look at your non-transactional value stream, you need to assess the relevance of Takt Time to your particular situation.  We often find that in non-transactional value streams, demand isn’t driven by external customer demand.  Despite this, takt time is still useful in identifying how often we need to have something exit our value stream.  There may be times when Takt Time is not directly relevant to the value stream that is under consideration, but in every case, you need to make a conscious decision to show the Takt Time on the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34</a:t>
            </a:fld>
            <a:endParaRPr lang="en-US"/>
          </a:p>
        </p:txBody>
      </p:sp>
    </p:spTree>
    <p:extLst>
      <p:ext uri="{BB962C8B-B14F-4D97-AF65-F5344CB8AC3E}">
        <p14:creationId xmlns:p14="http://schemas.microsoft.com/office/powerpoint/2010/main" val="315471470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time to draw. Each time you see a slide in this presentation that shows the map on a sheet a paper (as you see here) – that is an indicator of what is to be drawn on your map. </a:t>
            </a:r>
          </a:p>
          <a:p>
            <a:pPr eaLnBrk="1" hangingPunct="1"/>
            <a:r>
              <a:rPr lang="en-US" altLang="en-US" dirty="0">
                <a:latin typeface="Arial" panose="020B0604020202020204" pitchFamily="34" charset="0"/>
                <a:cs typeface="Arial" panose="020B0604020202020204" pitchFamily="34" charset="0"/>
              </a:rPr>
              <a:t>For right now we are going to draw exactly what we see here. The purpose of this is to get you comfortable with mapping, with the layout, with the icons, and with the data.</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35</a:t>
            </a:fld>
            <a:endParaRPr lang="en-US"/>
          </a:p>
        </p:txBody>
      </p:sp>
    </p:spTree>
    <p:extLst>
      <p:ext uri="{BB962C8B-B14F-4D97-AF65-F5344CB8AC3E}">
        <p14:creationId xmlns:p14="http://schemas.microsoft.com/office/powerpoint/2010/main" val="401573937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Next we map process steps.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Who remembers our method for doing this? (answer: From the customer perspective – we walk the process backwards.)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36</a:t>
            </a:fld>
            <a:endParaRPr lang="en-US"/>
          </a:p>
        </p:txBody>
      </p:sp>
    </p:spTree>
    <p:extLst>
      <p:ext uri="{BB962C8B-B14F-4D97-AF65-F5344CB8AC3E}">
        <p14:creationId xmlns:p14="http://schemas.microsoft.com/office/powerpoint/2010/main" val="284054276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definition of Processing Time.</a:t>
            </a:r>
          </a:p>
        </p:txBody>
      </p:sp>
      <p:sp>
        <p:nvSpPr>
          <p:cNvPr id="4" name="Slide Number Placeholder 3"/>
          <p:cNvSpPr>
            <a:spLocks noGrp="1"/>
          </p:cNvSpPr>
          <p:nvPr>
            <p:ph type="sldNum" sz="quarter" idx="5"/>
          </p:nvPr>
        </p:nvSpPr>
        <p:spPr/>
        <p:txBody>
          <a:bodyPr/>
          <a:lstStyle/>
          <a:p>
            <a:fld id="{AECD8548-F1A2-4EDF-A416-5F2BB6B8F64C}" type="slidenum">
              <a:rPr lang="en-US" smtClean="0"/>
              <a:t>37</a:t>
            </a:fld>
            <a:endParaRPr lang="en-US"/>
          </a:p>
        </p:txBody>
      </p:sp>
    </p:spTree>
    <p:extLst>
      <p:ext uri="{BB962C8B-B14F-4D97-AF65-F5344CB8AC3E}">
        <p14:creationId xmlns:p14="http://schemas.microsoft.com/office/powerpoint/2010/main" val="397467886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definition of Process Lead Time.</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b="1" dirty="0">
                <a:latin typeface="Arial" panose="020B0604020202020204" pitchFamily="34" charset="0"/>
                <a:cs typeface="Arial" panose="020B0604020202020204" pitchFamily="34" charset="0"/>
              </a:rPr>
              <a:t>Process Lead Time</a:t>
            </a:r>
            <a:r>
              <a:rPr lang="en-US" altLang="ja-JP" dirty="0">
                <a:latin typeface="Arial" panose="020B0604020202020204" pitchFamily="34" charset="0"/>
                <a:cs typeface="Arial" panose="020B0604020202020204" pitchFamily="34" charset="0"/>
              </a:rPr>
              <a:t> is distinctly different from processing time.  Processing time is how long it takes to actually perform the task.  Process lead time is how long it stays in that particular process.  Another way of looking at it is to determine how long something waits while it is in the process.  This is different from how long it waits to get into the process.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38</a:t>
            </a:fld>
            <a:endParaRPr lang="en-US"/>
          </a:p>
        </p:txBody>
      </p:sp>
    </p:spTree>
    <p:extLst>
      <p:ext uri="{BB962C8B-B14F-4D97-AF65-F5344CB8AC3E}">
        <p14:creationId xmlns:p14="http://schemas.microsoft.com/office/powerpoint/2010/main" val="101730741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examples.</a:t>
            </a:r>
          </a:p>
          <a:p>
            <a:pPr marL="228600" indent="-228600"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Have the group identify the process lead time and processing times.  Perform calculations as needed.</a:t>
            </a:r>
          </a:p>
          <a:p>
            <a:pPr marL="228600" indent="-228600" eaLnBrk="1" hangingPunct="1">
              <a:buFontTx/>
              <a:buAutoNum type="arabicPeriod"/>
            </a:pPr>
            <a:r>
              <a:rPr lang="en-US" altLang="en-US" dirty="0">
                <a:latin typeface="Arial" panose="020B0604020202020204" pitchFamily="34" charset="0"/>
                <a:cs typeface="Arial" panose="020B0604020202020204" pitchFamily="34" charset="0"/>
              </a:rPr>
              <a:t>PLT = 15 days; PT = 5 days</a:t>
            </a:r>
          </a:p>
          <a:p>
            <a:pPr marL="228600" indent="-228600" eaLnBrk="1" hangingPunct="1">
              <a:buFontTx/>
              <a:buAutoNum type="arabicPeriod"/>
            </a:pPr>
            <a:r>
              <a:rPr lang="en-US" altLang="en-US" dirty="0">
                <a:latin typeface="Arial" panose="020B0604020202020204" pitchFamily="34" charset="0"/>
                <a:cs typeface="Arial" panose="020B0604020202020204" pitchFamily="34" charset="0"/>
              </a:rPr>
              <a:t>PLT = 25 days; PT = 15 days</a:t>
            </a:r>
          </a:p>
          <a:p>
            <a:pPr marL="228600" indent="-228600" eaLnBrk="1" hangingPunct="1">
              <a:buFontTx/>
              <a:buAutoNum type="arabicPeriod"/>
            </a:pPr>
            <a:r>
              <a:rPr lang="en-US" altLang="en-US" dirty="0">
                <a:latin typeface="Arial" panose="020B0604020202020204" pitchFamily="34" charset="0"/>
                <a:cs typeface="Arial" panose="020B0604020202020204" pitchFamily="34" charset="0"/>
              </a:rPr>
              <a:t>PLT = 2 months; PT = Time to play 10 rounds of golf</a:t>
            </a:r>
          </a:p>
          <a:p>
            <a:pPr marL="228600" indent="-228600" eaLnBrk="1" hangingPunct="1"/>
            <a:endParaRPr lang="en-US" altLang="en-US" dirty="0">
              <a:latin typeface="Arial" panose="020B0604020202020204" pitchFamily="34" charset="0"/>
              <a:cs typeface="Arial" panose="020B0604020202020204" pitchFamily="34" charset="0"/>
            </a:endParaRPr>
          </a:p>
          <a:p>
            <a:pPr marL="228600" indent="-228600"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39</a:t>
            </a:fld>
            <a:endParaRPr lang="en-US"/>
          </a:p>
        </p:txBody>
      </p:sp>
    </p:spTree>
    <p:extLst>
      <p:ext uri="{BB962C8B-B14F-4D97-AF65-F5344CB8AC3E}">
        <p14:creationId xmlns:p14="http://schemas.microsoft.com/office/powerpoint/2010/main" val="217672239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40</a:t>
            </a:fld>
            <a:endParaRPr lang="en-US"/>
          </a:p>
        </p:txBody>
      </p:sp>
    </p:spTree>
    <p:extLst>
      <p:ext uri="{BB962C8B-B14F-4D97-AF65-F5344CB8AC3E}">
        <p14:creationId xmlns:p14="http://schemas.microsoft.com/office/powerpoint/2010/main" val="24499117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Remind the class not to draw anything just yet.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mapping processes, there are two icons we start with: Process Box and Data Box</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icons on the slide for each.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begin to walk the processes backward. The last process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Prototype Test</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Let’s review what the data is telling us.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data on the slide. Click to animate what gets populated where in the Process and Data Box.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41</a:t>
            </a:fld>
            <a:endParaRPr lang="en-US"/>
          </a:p>
        </p:txBody>
      </p:sp>
    </p:spTree>
    <p:extLst>
      <p:ext uri="{BB962C8B-B14F-4D97-AF65-F5344CB8AC3E}">
        <p14:creationId xmlns:p14="http://schemas.microsoft.com/office/powerpoint/2010/main" val="322742413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Prototype Build.</a:t>
            </a:r>
          </a:p>
        </p:txBody>
      </p:sp>
      <p:sp>
        <p:nvSpPr>
          <p:cNvPr id="4" name="Slide Number Placeholder 3"/>
          <p:cNvSpPr>
            <a:spLocks noGrp="1"/>
          </p:cNvSpPr>
          <p:nvPr>
            <p:ph type="sldNum" sz="quarter" idx="5"/>
          </p:nvPr>
        </p:nvSpPr>
        <p:spPr/>
        <p:txBody>
          <a:bodyPr/>
          <a:lstStyle/>
          <a:p>
            <a:fld id="{AECD8548-F1A2-4EDF-A416-5F2BB6B8F64C}" type="slidenum">
              <a:rPr lang="en-US" smtClean="0"/>
              <a:t>42</a:t>
            </a:fld>
            <a:endParaRPr lang="en-US"/>
          </a:p>
        </p:txBody>
      </p:sp>
    </p:spTree>
    <p:extLst>
      <p:ext uri="{BB962C8B-B14F-4D97-AF65-F5344CB8AC3E}">
        <p14:creationId xmlns:p14="http://schemas.microsoft.com/office/powerpoint/2010/main" val="428988931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Product Design.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43</a:t>
            </a:fld>
            <a:endParaRPr lang="en-US"/>
          </a:p>
        </p:txBody>
      </p:sp>
    </p:spTree>
    <p:extLst>
      <p:ext uri="{BB962C8B-B14F-4D97-AF65-F5344CB8AC3E}">
        <p14:creationId xmlns:p14="http://schemas.microsoft.com/office/powerpoint/2010/main" val="217710826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Product Specification.</a:t>
            </a:r>
          </a:p>
        </p:txBody>
      </p:sp>
      <p:sp>
        <p:nvSpPr>
          <p:cNvPr id="4" name="Slide Number Placeholder 3"/>
          <p:cNvSpPr>
            <a:spLocks noGrp="1"/>
          </p:cNvSpPr>
          <p:nvPr>
            <p:ph type="sldNum" sz="quarter" idx="5"/>
          </p:nvPr>
        </p:nvSpPr>
        <p:spPr/>
        <p:txBody>
          <a:bodyPr/>
          <a:lstStyle/>
          <a:p>
            <a:fld id="{AECD8548-F1A2-4EDF-A416-5F2BB6B8F64C}" type="slidenum">
              <a:rPr lang="en-US" smtClean="0"/>
              <a:t>44</a:t>
            </a:fld>
            <a:endParaRPr lang="en-US"/>
          </a:p>
        </p:txBody>
      </p:sp>
    </p:spTree>
    <p:extLst>
      <p:ext uri="{BB962C8B-B14F-4D97-AF65-F5344CB8AC3E}">
        <p14:creationId xmlns:p14="http://schemas.microsoft.com/office/powerpoint/2010/main" val="196105915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Repeat for Concept Development.</a:t>
            </a:r>
          </a:p>
        </p:txBody>
      </p:sp>
      <p:sp>
        <p:nvSpPr>
          <p:cNvPr id="4" name="Slide Number Placeholder 3"/>
          <p:cNvSpPr>
            <a:spLocks noGrp="1"/>
          </p:cNvSpPr>
          <p:nvPr>
            <p:ph type="sldNum" sz="quarter" idx="5"/>
          </p:nvPr>
        </p:nvSpPr>
        <p:spPr/>
        <p:txBody>
          <a:bodyPr/>
          <a:lstStyle/>
          <a:p>
            <a:fld id="{AECD8548-F1A2-4EDF-A416-5F2BB6B8F64C}" type="slidenum">
              <a:rPr lang="en-US" smtClean="0"/>
              <a:t>45</a:t>
            </a:fld>
            <a:endParaRPr lang="en-US"/>
          </a:p>
        </p:txBody>
      </p:sp>
    </p:spTree>
    <p:extLst>
      <p:ext uri="{BB962C8B-B14F-4D97-AF65-F5344CB8AC3E}">
        <p14:creationId xmlns:p14="http://schemas.microsoft.com/office/powerpoint/2010/main" val="398799891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Emphasize that the process boxes are drawn starting from the customer end. </a:t>
            </a:r>
          </a:p>
        </p:txBody>
      </p:sp>
      <p:sp>
        <p:nvSpPr>
          <p:cNvPr id="4" name="Slide Number Placeholder 3"/>
          <p:cNvSpPr>
            <a:spLocks noGrp="1"/>
          </p:cNvSpPr>
          <p:nvPr>
            <p:ph type="sldNum" sz="quarter" idx="5"/>
          </p:nvPr>
        </p:nvSpPr>
        <p:spPr/>
        <p:txBody>
          <a:bodyPr/>
          <a:lstStyle/>
          <a:p>
            <a:fld id="{AECD8548-F1A2-4EDF-A416-5F2BB6B8F64C}" type="slidenum">
              <a:rPr lang="en-US" smtClean="0"/>
              <a:t>46</a:t>
            </a:fld>
            <a:endParaRPr lang="en-US"/>
          </a:p>
        </p:txBody>
      </p:sp>
    </p:spTree>
    <p:extLst>
      <p:ext uri="{BB962C8B-B14F-4D97-AF65-F5344CB8AC3E}">
        <p14:creationId xmlns:p14="http://schemas.microsoft.com/office/powerpoint/2010/main" val="298445473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mapping non-transactional processes (again, processes that are creating information along the way), it may be difficult to clearly label what the process boxes are. This may be due to overlapping activities that occur within the process box itself. To facilitate this, we can discuss as a team what we think the clear process boxes are and define their boundaries by completing the chart shown on this slide. This will help us later to determine any queue time between processes.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endParaRPr lang="en-US" altLang="en-US" dirty="0">
              <a:latin typeface="Arial" panose="020B0604020202020204" pitchFamily="34" charset="0"/>
              <a:cs typeface="Arial" panose="020B0604020202020204" pitchFamily="34" charset="0"/>
            </a:endParaRPr>
          </a:p>
          <a:p>
            <a:r>
              <a:rPr lang="en-US" altLang="en-US" b="1" dirty="0">
                <a:latin typeface="Arial" panose="020B0604020202020204" pitchFamily="34" charset="0"/>
                <a:cs typeface="Arial" panose="020B0604020202020204" pitchFamily="34" charset="0"/>
              </a:rPr>
              <a:t>EXAMPLE:</a:t>
            </a:r>
          </a:p>
          <a:p>
            <a:endParaRPr lang="en-US" alt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47</a:t>
            </a:fld>
            <a:endParaRPr lang="en-US"/>
          </a:p>
        </p:txBody>
      </p:sp>
      <p:graphicFrame>
        <p:nvGraphicFramePr>
          <p:cNvPr id="9" name="Table 9">
            <a:extLst>
              <a:ext uri="{FF2B5EF4-FFF2-40B4-BE49-F238E27FC236}">
                <a16:creationId xmlns:a16="http://schemas.microsoft.com/office/drawing/2014/main" id="{81F73ED2-F9A9-BF0F-8BDE-02634B1C79AD}"/>
              </a:ext>
            </a:extLst>
          </p:cNvPr>
          <p:cNvGraphicFramePr>
            <a:graphicFrameLocks noGrp="1"/>
          </p:cNvGraphicFramePr>
          <p:nvPr>
            <p:extLst>
              <p:ext uri="{D42A27DB-BD31-4B8C-83A1-F6EECF244321}">
                <p14:modId xmlns:p14="http://schemas.microsoft.com/office/powerpoint/2010/main" val="3190338250"/>
              </p:ext>
            </p:extLst>
          </p:nvPr>
        </p:nvGraphicFramePr>
        <p:xfrm>
          <a:off x="1234440" y="5852160"/>
          <a:ext cx="4572000" cy="3291840"/>
        </p:xfrm>
        <a:graphic>
          <a:graphicData uri="http://schemas.openxmlformats.org/drawingml/2006/table">
            <a:tbl>
              <a:tblPr firstRow="1" bandRow="1">
                <a:tableStyleId>{5C22544A-7EE6-4342-B048-85BDC9FD1C3A}</a:tableStyleId>
              </a:tblPr>
              <a:tblGrid>
                <a:gridCol w="1524000">
                  <a:extLst>
                    <a:ext uri="{9D8B030D-6E8A-4147-A177-3AD203B41FA5}">
                      <a16:colId xmlns:a16="http://schemas.microsoft.com/office/drawing/2014/main" val="2544255353"/>
                    </a:ext>
                  </a:extLst>
                </a:gridCol>
                <a:gridCol w="1524000">
                  <a:extLst>
                    <a:ext uri="{9D8B030D-6E8A-4147-A177-3AD203B41FA5}">
                      <a16:colId xmlns:a16="http://schemas.microsoft.com/office/drawing/2014/main" val="4063394412"/>
                    </a:ext>
                  </a:extLst>
                </a:gridCol>
                <a:gridCol w="1524000">
                  <a:extLst>
                    <a:ext uri="{9D8B030D-6E8A-4147-A177-3AD203B41FA5}">
                      <a16:colId xmlns:a16="http://schemas.microsoft.com/office/drawing/2014/main" val="1197794420"/>
                    </a:ext>
                  </a:extLst>
                </a:gridCol>
              </a:tblGrid>
              <a:tr h="215397">
                <a:tc>
                  <a:txBody>
                    <a:bodyPr/>
                    <a:lstStyle/>
                    <a:p>
                      <a:endParaRPr lang="en-US" sz="1200" dirty="0">
                        <a:solidFill>
                          <a:schemeClr val="tx1"/>
                        </a:solidFill>
                        <a:latin typeface="Roboto" panose="02000000000000000000" pitchFamily="2" charset="0"/>
                        <a:ea typeface="Roboto" panose="02000000000000000000" pitchFamily="2"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Start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Stop</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58292396"/>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RFQ</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1</a:t>
                      </a:r>
                      <a:r>
                        <a:rPr lang="en-US" sz="1200" baseline="30000" dirty="0">
                          <a:solidFill>
                            <a:schemeClr val="tx1"/>
                          </a:solidFill>
                          <a:latin typeface="Roboto" panose="02000000000000000000" pitchFamily="2" charset="0"/>
                          <a:ea typeface="Roboto" panose="02000000000000000000" pitchFamily="2" charset="0"/>
                        </a:rPr>
                        <a:t>st</a:t>
                      </a:r>
                      <a:r>
                        <a:rPr lang="en-US" sz="1200" dirty="0">
                          <a:solidFill>
                            <a:schemeClr val="tx1"/>
                          </a:solidFill>
                          <a:latin typeface="Roboto" panose="02000000000000000000" pitchFamily="2" charset="0"/>
                          <a:ea typeface="Roboto" panose="02000000000000000000" pitchFamily="2" charset="0"/>
                        </a:rPr>
                        <a:t> contact</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RFQ approved</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58878962"/>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RFQ to quote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RFQ approved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RFQ Received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74020974"/>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Quote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RFQ Received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Quote sent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64478692"/>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Quote to Design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PO Received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Design launch</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91454428"/>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Design Eng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err="1">
                          <a:solidFill>
                            <a:schemeClr val="tx1"/>
                          </a:solidFill>
                          <a:latin typeface="Roboto" panose="02000000000000000000" pitchFamily="2" charset="0"/>
                          <a:ea typeface="Roboto" panose="02000000000000000000" pitchFamily="2" charset="0"/>
                        </a:rPr>
                        <a:t>Deisgn</a:t>
                      </a:r>
                      <a:r>
                        <a:rPr lang="en-US" sz="1200" dirty="0">
                          <a:solidFill>
                            <a:schemeClr val="tx1"/>
                          </a:solidFill>
                          <a:latin typeface="Roboto" panose="02000000000000000000" pitchFamily="2" charset="0"/>
                          <a:ea typeface="Roboto" panose="02000000000000000000" pitchFamily="2" charset="0"/>
                        </a:rPr>
                        <a:t> launch</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BOM release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49885829"/>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Design to Ops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BOM release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BOM receive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25614163"/>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Operations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BOM Receive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Parts kit release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3709160"/>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Operations to </a:t>
                      </a:r>
                      <a:r>
                        <a:rPr lang="en-US" sz="1200" dirty="0" err="1">
                          <a:solidFill>
                            <a:schemeClr val="tx1"/>
                          </a:solidFill>
                          <a:latin typeface="Roboto" panose="02000000000000000000" pitchFamily="2" charset="0"/>
                          <a:ea typeface="Roboto" panose="02000000000000000000" pitchFamily="2" charset="0"/>
                        </a:rPr>
                        <a:t>Mfg</a:t>
                      </a:r>
                      <a:endParaRPr lang="en-US" sz="1200" dirty="0">
                        <a:solidFill>
                          <a:schemeClr val="tx1"/>
                        </a:solidFill>
                        <a:latin typeface="Roboto" panose="02000000000000000000" pitchFamily="2" charset="0"/>
                        <a:ea typeface="Roboto" panose="02000000000000000000" pitchFamily="2"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Parts kit release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Parts kit received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68222270"/>
                  </a:ext>
                </a:extLst>
              </a:tr>
              <a:tr h="215397">
                <a:tc>
                  <a:txBody>
                    <a:bodyPr/>
                    <a:lstStyle/>
                    <a:p>
                      <a:r>
                        <a:rPr lang="en-US" sz="1200" dirty="0" err="1">
                          <a:solidFill>
                            <a:schemeClr val="tx1"/>
                          </a:solidFill>
                          <a:latin typeface="Roboto" panose="02000000000000000000" pitchFamily="2" charset="0"/>
                          <a:ea typeface="Roboto" panose="02000000000000000000" pitchFamily="2" charset="0"/>
                        </a:rPr>
                        <a:t>Mfg</a:t>
                      </a:r>
                      <a:endParaRPr lang="en-US" sz="1200" dirty="0">
                        <a:solidFill>
                          <a:schemeClr val="tx1"/>
                        </a:solidFill>
                        <a:latin typeface="Roboto" panose="02000000000000000000" pitchFamily="2" charset="0"/>
                        <a:ea typeface="Roboto" panose="02000000000000000000" pitchFamily="2"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Parts kit received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Release to test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13213583"/>
                  </a:ext>
                </a:extLst>
              </a:tr>
              <a:tr h="215397">
                <a:tc>
                  <a:txBody>
                    <a:bodyPr/>
                    <a:lstStyle/>
                    <a:p>
                      <a:r>
                        <a:rPr lang="en-US" sz="1200" dirty="0" err="1">
                          <a:solidFill>
                            <a:schemeClr val="tx1"/>
                          </a:solidFill>
                          <a:latin typeface="Roboto" panose="02000000000000000000" pitchFamily="2" charset="0"/>
                          <a:ea typeface="Roboto" panose="02000000000000000000" pitchFamily="2" charset="0"/>
                        </a:rPr>
                        <a:t>Mfg</a:t>
                      </a:r>
                      <a:r>
                        <a:rPr lang="en-US" sz="1200" dirty="0">
                          <a:solidFill>
                            <a:schemeClr val="tx1"/>
                          </a:solidFill>
                          <a:latin typeface="Roboto" panose="02000000000000000000" pitchFamily="2" charset="0"/>
                          <a:ea typeface="Roboto" panose="02000000000000000000" pitchFamily="2" charset="0"/>
                        </a:rPr>
                        <a:t> to Ship</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Release to test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Ready to ship</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473299"/>
                  </a:ext>
                </a:extLst>
              </a:tr>
              <a:tr h="215397">
                <a:tc>
                  <a:txBody>
                    <a:bodyPr/>
                    <a:lstStyle/>
                    <a:p>
                      <a:r>
                        <a:rPr lang="en-US" sz="1200" dirty="0">
                          <a:solidFill>
                            <a:schemeClr val="tx1"/>
                          </a:solidFill>
                          <a:latin typeface="Roboto" panose="02000000000000000000" pitchFamily="2" charset="0"/>
                          <a:ea typeface="Roboto" panose="02000000000000000000" pitchFamily="2" charset="0"/>
                        </a:rPr>
                        <a:t>Ship</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Receive ship</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US" sz="1200" dirty="0">
                          <a:solidFill>
                            <a:schemeClr val="tx1"/>
                          </a:solidFill>
                          <a:latin typeface="Roboto" panose="02000000000000000000" pitchFamily="2" charset="0"/>
                          <a:ea typeface="Roboto" panose="02000000000000000000" pitchFamily="2" charset="0"/>
                        </a:rPr>
                        <a:t>Ship</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13638829"/>
                  </a:ext>
                </a:extLst>
              </a:tr>
            </a:tbl>
          </a:graphicData>
        </a:graphic>
      </p:graphicFrame>
    </p:spTree>
    <p:extLst>
      <p:ext uri="{BB962C8B-B14F-4D97-AF65-F5344CB8AC3E}">
        <p14:creationId xmlns:p14="http://schemas.microsoft.com/office/powerpoint/2010/main" val="98516035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it is time to map the Process Boxes and Data Boxes for GAG.</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Drawing the Process Boxes and Data Boxes is the most time consuming part of this exercise. Allow sufficient time for this. </a:t>
            </a:r>
          </a:p>
        </p:txBody>
      </p:sp>
      <p:sp>
        <p:nvSpPr>
          <p:cNvPr id="4" name="Slide Number Placeholder 3"/>
          <p:cNvSpPr>
            <a:spLocks noGrp="1"/>
          </p:cNvSpPr>
          <p:nvPr>
            <p:ph type="sldNum" sz="quarter" idx="5"/>
          </p:nvPr>
        </p:nvSpPr>
        <p:spPr/>
        <p:txBody>
          <a:bodyPr/>
          <a:lstStyle/>
          <a:p>
            <a:fld id="{AECD8548-F1A2-4EDF-A416-5F2BB6B8F64C}" type="slidenum">
              <a:rPr lang="en-US" smtClean="0"/>
              <a:t>48</a:t>
            </a:fld>
            <a:endParaRPr lang="en-US"/>
          </a:p>
        </p:txBody>
      </p:sp>
    </p:spTree>
    <p:extLst>
      <p:ext uri="{BB962C8B-B14F-4D97-AF65-F5344CB8AC3E}">
        <p14:creationId xmlns:p14="http://schemas.microsoft.com/office/powerpoint/2010/main" val="30023107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 Now we will map the inventory that is queued between each process. </a:t>
            </a:r>
          </a:p>
          <a:p>
            <a:pPr eaLnBrk="1" hangingPunct="1"/>
            <a:r>
              <a:rPr lang="en-US" altLang="en-US" b="1" dirty="0">
                <a:latin typeface="Arial" panose="020B0604020202020204" pitchFamily="34" charset="0"/>
                <a:cs typeface="Arial" panose="020B0604020202020204" pitchFamily="34" charset="0"/>
              </a:rPr>
              <a:t>DO: Review the inventory icon (“in-box”) and the push arrow. Note the data that we record about the inventory. </a:t>
            </a:r>
          </a:p>
        </p:txBody>
      </p:sp>
      <p:sp>
        <p:nvSpPr>
          <p:cNvPr id="4" name="Slide Number Placeholder 3"/>
          <p:cNvSpPr>
            <a:spLocks noGrp="1"/>
          </p:cNvSpPr>
          <p:nvPr>
            <p:ph type="sldNum" sz="quarter" idx="5"/>
          </p:nvPr>
        </p:nvSpPr>
        <p:spPr/>
        <p:txBody>
          <a:bodyPr/>
          <a:lstStyle/>
          <a:p>
            <a:fld id="{AECD8548-F1A2-4EDF-A416-5F2BB6B8F64C}" type="slidenum">
              <a:rPr lang="en-US" smtClean="0"/>
              <a:t>49</a:t>
            </a:fld>
            <a:endParaRPr lang="en-US"/>
          </a:p>
        </p:txBody>
      </p:sp>
    </p:spTree>
    <p:extLst>
      <p:ext uri="{BB962C8B-B14F-4D97-AF65-F5344CB8AC3E}">
        <p14:creationId xmlns:p14="http://schemas.microsoft.com/office/powerpoint/2010/main" val="9179271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inventory data for GAG. </a:t>
            </a:r>
          </a:p>
        </p:txBody>
      </p:sp>
      <p:sp>
        <p:nvSpPr>
          <p:cNvPr id="4" name="Slide Number Placeholder 3"/>
          <p:cNvSpPr>
            <a:spLocks noGrp="1"/>
          </p:cNvSpPr>
          <p:nvPr>
            <p:ph type="sldNum" sz="quarter" idx="5"/>
          </p:nvPr>
        </p:nvSpPr>
        <p:spPr/>
        <p:txBody>
          <a:bodyPr/>
          <a:lstStyle/>
          <a:p>
            <a:fld id="{AECD8548-F1A2-4EDF-A416-5F2BB6B8F64C}" type="slidenum">
              <a:rPr lang="en-US" smtClean="0"/>
              <a:t>50</a:t>
            </a:fld>
            <a:endParaRPr lang="en-US"/>
          </a:p>
        </p:txBody>
      </p:sp>
    </p:spTree>
    <p:extLst>
      <p:ext uri="{BB962C8B-B14F-4D97-AF65-F5344CB8AC3E}">
        <p14:creationId xmlns:p14="http://schemas.microsoft.com/office/powerpoint/2010/main" val="24550663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inventory data for GAG. </a:t>
            </a:r>
          </a:p>
        </p:txBody>
      </p:sp>
      <p:sp>
        <p:nvSpPr>
          <p:cNvPr id="4" name="Slide Number Placeholder 3"/>
          <p:cNvSpPr>
            <a:spLocks noGrp="1"/>
          </p:cNvSpPr>
          <p:nvPr>
            <p:ph type="sldNum" sz="quarter" idx="5"/>
          </p:nvPr>
        </p:nvSpPr>
        <p:spPr/>
        <p:txBody>
          <a:bodyPr/>
          <a:lstStyle/>
          <a:p>
            <a:fld id="{AECD8548-F1A2-4EDF-A416-5F2BB6B8F64C}" type="slidenum">
              <a:rPr lang="en-US" smtClean="0"/>
              <a:t>51</a:t>
            </a:fld>
            <a:endParaRPr lang="en-US"/>
          </a:p>
        </p:txBody>
      </p:sp>
    </p:spTree>
    <p:extLst>
      <p:ext uri="{BB962C8B-B14F-4D97-AF65-F5344CB8AC3E}">
        <p14:creationId xmlns:p14="http://schemas.microsoft.com/office/powerpoint/2010/main" val="11584588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inventory queues and inventory information on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52</a:t>
            </a:fld>
            <a:endParaRPr lang="en-US"/>
          </a:p>
        </p:txBody>
      </p:sp>
    </p:spTree>
    <p:extLst>
      <p:ext uri="{BB962C8B-B14F-4D97-AF65-F5344CB8AC3E}">
        <p14:creationId xmlns:p14="http://schemas.microsoft.com/office/powerpoint/2010/main" val="201464841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we keep working upstream, the next step is to map our incoming customer demand.</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53</a:t>
            </a:fld>
            <a:endParaRPr lang="en-US"/>
          </a:p>
        </p:txBody>
      </p:sp>
    </p:spTree>
    <p:extLst>
      <p:ext uri="{BB962C8B-B14F-4D97-AF65-F5344CB8AC3E}">
        <p14:creationId xmlns:p14="http://schemas.microsoft.com/office/powerpoint/2010/main" val="140516020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GAG data and what data is important to extract for our map. </a:t>
            </a:r>
          </a:p>
        </p:txBody>
      </p:sp>
      <p:sp>
        <p:nvSpPr>
          <p:cNvPr id="4" name="Slide Number Placeholder 3"/>
          <p:cNvSpPr>
            <a:spLocks noGrp="1"/>
          </p:cNvSpPr>
          <p:nvPr>
            <p:ph type="sldNum" sz="quarter" idx="5"/>
          </p:nvPr>
        </p:nvSpPr>
        <p:spPr/>
        <p:txBody>
          <a:bodyPr/>
          <a:lstStyle/>
          <a:p>
            <a:fld id="{AECD8548-F1A2-4EDF-A416-5F2BB6B8F64C}" type="slidenum">
              <a:rPr lang="en-US" smtClean="0"/>
              <a:t>54</a:t>
            </a:fld>
            <a:endParaRPr lang="en-US"/>
          </a:p>
        </p:txBody>
      </p:sp>
    </p:spTree>
    <p:extLst>
      <p:ext uri="{BB962C8B-B14F-4D97-AF65-F5344CB8AC3E}">
        <p14:creationId xmlns:p14="http://schemas.microsoft.com/office/powerpoint/2010/main" val="38175712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incoming customer demand on your maps.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55</a:t>
            </a:fld>
            <a:endParaRPr lang="en-US"/>
          </a:p>
        </p:txBody>
      </p:sp>
    </p:spTree>
    <p:extLst>
      <p:ext uri="{BB962C8B-B14F-4D97-AF65-F5344CB8AC3E}">
        <p14:creationId xmlns:p14="http://schemas.microsoft.com/office/powerpoint/2010/main" val="351770842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total up our Processing Time and Lead Time.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56</a:t>
            </a:fld>
            <a:endParaRPr lang="en-US"/>
          </a:p>
        </p:txBody>
      </p:sp>
    </p:spTree>
    <p:extLst>
      <p:ext uri="{BB962C8B-B14F-4D97-AF65-F5344CB8AC3E}">
        <p14:creationId xmlns:p14="http://schemas.microsoft.com/office/powerpoint/2010/main" val="174259591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where to total Processing Time and Lead Time.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this means is that from the start of this process to the end of this process it takes 250 days to complete the entire process, but OF THAT 250 days, we only spend 28 days of time ACTUAL WORKING on this process.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57</a:t>
            </a:fld>
            <a:endParaRPr lang="en-US"/>
          </a:p>
        </p:txBody>
      </p:sp>
    </p:spTree>
    <p:extLst>
      <p:ext uri="{BB962C8B-B14F-4D97-AF65-F5344CB8AC3E}">
        <p14:creationId xmlns:p14="http://schemas.microsoft.com/office/powerpoint/2010/main" val="259002246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draw the square wave with the Processing Time and Lead Time filled in on the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58</a:t>
            </a:fld>
            <a:endParaRPr lang="en-US"/>
          </a:p>
        </p:txBody>
      </p:sp>
    </p:spTree>
    <p:extLst>
      <p:ext uri="{BB962C8B-B14F-4D97-AF65-F5344CB8AC3E}">
        <p14:creationId xmlns:p14="http://schemas.microsoft.com/office/powerpoint/2010/main" val="294940006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Finally, we map our Information Flow.</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59</a:t>
            </a:fld>
            <a:endParaRPr lang="en-US"/>
          </a:p>
        </p:txBody>
      </p:sp>
    </p:spTree>
    <p:extLst>
      <p:ext uri="{BB962C8B-B14F-4D97-AF65-F5344CB8AC3E}">
        <p14:creationId xmlns:p14="http://schemas.microsoft.com/office/powerpoint/2010/main" val="9325970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data set to determine what to extract for information flow.</a:t>
            </a:r>
          </a:p>
        </p:txBody>
      </p:sp>
      <p:sp>
        <p:nvSpPr>
          <p:cNvPr id="4" name="Slide Number Placeholder 3"/>
          <p:cNvSpPr>
            <a:spLocks noGrp="1"/>
          </p:cNvSpPr>
          <p:nvPr>
            <p:ph type="sldNum" sz="quarter" idx="5"/>
          </p:nvPr>
        </p:nvSpPr>
        <p:spPr/>
        <p:txBody>
          <a:bodyPr/>
          <a:lstStyle/>
          <a:p>
            <a:fld id="{AECD8548-F1A2-4EDF-A416-5F2BB6B8F64C}" type="slidenum">
              <a:rPr lang="en-US" smtClean="0"/>
              <a:t>60</a:t>
            </a:fld>
            <a:endParaRPr lang="en-US"/>
          </a:p>
        </p:txBody>
      </p:sp>
    </p:spTree>
    <p:extLst>
      <p:ext uri="{BB962C8B-B14F-4D97-AF65-F5344CB8AC3E}">
        <p14:creationId xmlns:p14="http://schemas.microsoft.com/office/powerpoint/2010/main" val="138695289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Complete your map.</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It is good practice to label your map as the Current State with today</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date.</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p:txBody>
      </p:sp>
      <p:sp>
        <p:nvSpPr>
          <p:cNvPr id="4" name="Slide Number Placeholder 3"/>
          <p:cNvSpPr>
            <a:spLocks noGrp="1"/>
          </p:cNvSpPr>
          <p:nvPr>
            <p:ph type="sldNum" sz="quarter" idx="5"/>
          </p:nvPr>
        </p:nvSpPr>
        <p:spPr/>
        <p:txBody>
          <a:bodyPr/>
          <a:lstStyle/>
          <a:p>
            <a:fld id="{AECD8548-F1A2-4EDF-A416-5F2BB6B8F64C}" type="slidenum">
              <a:rPr lang="en-US" smtClean="0"/>
              <a:t>61</a:t>
            </a:fld>
            <a:endParaRPr lang="en-US"/>
          </a:p>
        </p:txBody>
      </p:sp>
    </p:spTree>
    <p:extLst>
      <p:ext uri="{BB962C8B-B14F-4D97-AF65-F5344CB8AC3E}">
        <p14:creationId xmlns:p14="http://schemas.microsoft.com/office/powerpoint/2010/main" val="137113614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62</a:t>
            </a:fld>
            <a:endParaRPr lang="en-US"/>
          </a:p>
        </p:txBody>
      </p:sp>
    </p:spTree>
    <p:extLst>
      <p:ext uri="{BB962C8B-B14F-4D97-AF65-F5344CB8AC3E}">
        <p14:creationId xmlns:p14="http://schemas.microsoft.com/office/powerpoint/2010/main" val="324600271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Pass out flip chart paper, markers, calculators, and post-it notes. Pass out the Data Sheet Handout for Carl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Credit Cards. Read the instructions of the exercise. They are to complete the Current State Map in small groups.</a:t>
            </a:r>
          </a:p>
          <a:p>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Emphasize after the exercise that they will need these maps for a later exercise – do not discard or erase.  </a:t>
            </a:r>
          </a:p>
          <a:p>
            <a:endParaRPr lang="en-US" altLang="en-US" dirty="0">
              <a:latin typeface="Arial" panose="020B0604020202020204" pitchFamily="34" charset="0"/>
              <a:cs typeface="Arial" panose="020B0604020202020204" pitchFamily="34" charset="0"/>
            </a:endParaRPr>
          </a:p>
          <a:p>
            <a:endParaRPr lang="en-US" alt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63</a:t>
            </a:fld>
            <a:endParaRPr lang="en-US"/>
          </a:p>
        </p:txBody>
      </p:sp>
    </p:spTree>
    <p:extLst>
      <p:ext uri="{BB962C8B-B14F-4D97-AF65-F5344CB8AC3E}">
        <p14:creationId xmlns:p14="http://schemas.microsoft.com/office/powerpoint/2010/main" val="152181735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This review is meant to be fast-paced. Best practice is to set a timer for 2 minutes so the time does not run long. Be sure to only have one member from each pair or small group report back only one thing that they discussed. If any of the groups miss something that was very important, be sure to cover it at this time.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(if the group is experienced with utilizing VSM in manufacturing)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differences do you see so far between VSM and VSMi?</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BREAK – 10 minutes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64</a:t>
            </a:fld>
            <a:endParaRPr lang="en-US"/>
          </a:p>
        </p:txBody>
      </p:sp>
    </p:spTree>
    <p:extLst>
      <p:ext uri="{BB962C8B-B14F-4D97-AF65-F5344CB8AC3E}">
        <p14:creationId xmlns:p14="http://schemas.microsoft.com/office/powerpoint/2010/main" val="416434645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65</a:t>
            </a:fld>
            <a:endParaRPr lang="en-US"/>
          </a:p>
        </p:txBody>
      </p:sp>
    </p:spTree>
    <p:extLst>
      <p:ext uri="{BB962C8B-B14F-4D97-AF65-F5344CB8AC3E}">
        <p14:creationId xmlns:p14="http://schemas.microsoft.com/office/powerpoint/2010/main" val="176892144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There are slides that explain each process step. They are not intended to be reviewed all at once, but rather as each team is just about to complete that step. </a:t>
            </a:r>
          </a:p>
          <a:p>
            <a:pPr eaLnBrk="1" hangingPunct="1"/>
            <a:r>
              <a:rPr lang="en-US" altLang="en-US" dirty="0">
                <a:latin typeface="Arial" panose="020B0604020202020204" pitchFamily="34" charset="0"/>
                <a:cs typeface="Arial" panose="020B0604020202020204" pitchFamily="34" charset="0"/>
              </a:rPr>
              <a:t>If it is not feasible to have the projector running for each of these short segments, you may have the participants refer only to their workbooks as you review the method for mapping.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66</a:t>
            </a:fld>
            <a:endParaRPr lang="en-US"/>
          </a:p>
        </p:txBody>
      </p:sp>
    </p:spTree>
    <p:extLst>
      <p:ext uri="{BB962C8B-B14F-4D97-AF65-F5344CB8AC3E}">
        <p14:creationId xmlns:p14="http://schemas.microsoft.com/office/powerpoint/2010/main" val="226318261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return from this exercise so that they budget their time wisely. </a:t>
            </a:r>
          </a:p>
        </p:txBody>
      </p:sp>
      <p:sp>
        <p:nvSpPr>
          <p:cNvPr id="4" name="Slide Number Placeholder 3"/>
          <p:cNvSpPr>
            <a:spLocks noGrp="1"/>
          </p:cNvSpPr>
          <p:nvPr>
            <p:ph type="sldNum" sz="quarter" idx="5"/>
          </p:nvPr>
        </p:nvSpPr>
        <p:spPr/>
        <p:txBody>
          <a:bodyPr/>
          <a:lstStyle/>
          <a:p>
            <a:fld id="{AECD8548-F1A2-4EDF-A416-5F2BB6B8F64C}" type="slidenum">
              <a:rPr lang="en-US" smtClean="0"/>
              <a:t>67</a:t>
            </a:fld>
            <a:endParaRPr lang="en-US"/>
          </a:p>
        </p:txBody>
      </p:sp>
    </p:spTree>
    <p:extLst>
      <p:ext uri="{BB962C8B-B14F-4D97-AF65-F5344CB8AC3E}">
        <p14:creationId xmlns:p14="http://schemas.microsoft.com/office/powerpoint/2010/main" val="40146407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68</a:t>
            </a:fld>
            <a:endParaRPr lang="en-US"/>
          </a:p>
        </p:txBody>
      </p:sp>
    </p:spTree>
    <p:extLst>
      <p:ext uri="{BB962C8B-B14F-4D97-AF65-F5344CB8AC3E}">
        <p14:creationId xmlns:p14="http://schemas.microsoft.com/office/powerpoint/2010/main" val="305946450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buSzPct val="90000"/>
              <a:buFont typeface="Wingdings" panose="05000000000000000000" pitchFamily="2" charset="2"/>
              <a:buNone/>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gathering data, your first preference is to go to the workplace (Gemba) and observe the process directly.</a:t>
            </a:r>
          </a:p>
          <a:p>
            <a:pPr eaLnBrk="1" hangingPunct="1">
              <a:buSzPct val="90000"/>
              <a:buFont typeface="Wingdings" panose="05000000000000000000" pitchFamily="2" charset="2"/>
              <a:buNone/>
            </a:pPr>
            <a:r>
              <a:rPr lang="en-US" altLang="en-US" dirty="0">
                <a:latin typeface="Arial" panose="020B0604020202020204" pitchFamily="34" charset="0"/>
                <a:cs typeface="Arial" panose="020B0604020202020204" pitchFamily="34" charset="0"/>
              </a:rPr>
              <a:t>When it is not possible to go to the workplace, you should use the following data sources in the following order.</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System Generated Report or Workflow Documents</a:t>
            </a:r>
            <a:r>
              <a:rPr lang="en-US" altLang="en-US" dirty="0">
                <a:latin typeface="Arial" panose="020B0604020202020204" pitchFamily="34" charset="0"/>
                <a:ea typeface="Arial" panose="020B0604020202020204" pitchFamily="34" charset="0"/>
                <a:cs typeface="Arial" panose="020B0604020202020204" pitchFamily="34" charset="0"/>
              </a:rPr>
              <a:t> - These may be used to identify activities, frequency of occurrence, and volumes</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Historical Performance Reports</a:t>
            </a:r>
            <a:r>
              <a:rPr lang="en-US" altLang="en-US" dirty="0">
                <a:latin typeface="Arial" panose="020B0604020202020204" pitchFamily="34" charset="0"/>
                <a:ea typeface="Arial" panose="020B0604020202020204" pitchFamily="34" charset="0"/>
                <a:cs typeface="Arial" panose="020B0604020202020204" pitchFamily="34" charset="0"/>
              </a:rPr>
              <a:t> - These can be either system or manually generated and serve to provide the same data as above</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Staff Interviews</a:t>
            </a:r>
            <a:r>
              <a:rPr lang="en-US" altLang="en-US" dirty="0">
                <a:latin typeface="Arial" panose="020B0604020202020204" pitchFamily="34" charset="0"/>
                <a:ea typeface="Arial" panose="020B0604020202020204" pitchFamily="34" charset="0"/>
                <a:cs typeface="Arial" panose="020B0604020202020204" pitchFamily="34" charset="0"/>
              </a:rPr>
              <a:t> - These should be conducted carefully, starting at the end of the value stream and working to the front.  They should be posed in such a manner that identifies how the thing of value arrives, from where, who provides it, how many arrive, how often, and in what condition.  Be cautious when using this data, as it tends to be highly inaccurate in terms of process time, inventory, and quality yield.</a:t>
            </a:r>
          </a:p>
          <a:p>
            <a:pPr lvl="1" eaLnBrk="1" hangingPunct="1">
              <a:buSzPct val="90000"/>
              <a:buFont typeface="Wingdings" panose="05000000000000000000" pitchFamily="2" charset="2"/>
              <a:buChar char="§"/>
            </a:pPr>
            <a:r>
              <a:rPr lang="en-US" altLang="en-US" b="1" dirty="0">
                <a:latin typeface="Arial" panose="020B0604020202020204" pitchFamily="34" charset="0"/>
                <a:ea typeface="Arial" panose="020B0604020202020204" pitchFamily="34" charset="0"/>
                <a:cs typeface="Arial" panose="020B0604020202020204" pitchFamily="34" charset="0"/>
              </a:rPr>
              <a:t>Management Interviews</a:t>
            </a:r>
            <a:r>
              <a:rPr lang="en-US" altLang="en-US" dirty="0">
                <a:latin typeface="Arial" panose="020B0604020202020204" pitchFamily="34" charset="0"/>
                <a:ea typeface="Arial" panose="020B0604020202020204" pitchFamily="34" charset="0"/>
                <a:cs typeface="Arial" panose="020B0604020202020204" pitchFamily="34" charset="0"/>
              </a:rPr>
              <a:t> – These can be the least accurate as they will generally tell you what is supposed to happen, not what really takes place.</a:t>
            </a:r>
          </a:p>
          <a:p>
            <a:pPr eaLnBrk="1" hangingPunct="1"/>
            <a:endParaRPr lang="en-US" altLang="en-US" sz="1000"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69</a:t>
            </a:fld>
            <a:endParaRPr lang="en-US"/>
          </a:p>
        </p:txBody>
      </p:sp>
    </p:spTree>
    <p:extLst>
      <p:ext uri="{BB962C8B-B14F-4D97-AF65-F5344CB8AC3E}">
        <p14:creationId xmlns:p14="http://schemas.microsoft.com/office/powerpoint/2010/main" val="60706490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 Work with the interviewer and lean coordinator on the fine points of interviewing and extracting information from operators in shop floor-relevant terminology.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does this step in the process do?</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do you know what to work on?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Where do you get your schedule from, and how often?</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long does this process typically take? (ask only if can</a:t>
            </a:r>
            <a:r>
              <a:rPr lang="ja-JP" altLang="en-US" dirty="0">
                <a:latin typeface="Arial" panose="020B0604020202020204" pitchFamily="34" charset="0"/>
                <a:ea typeface="MS PGothic" panose="020B0600070205080204" pitchFamily="34" charset="-128"/>
                <a:cs typeface="Arial" panose="020B0604020202020204" pitchFamily="34" charset="0"/>
              </a:rPr>
              <a:t>’</a:t>
            </a:r>
            <a:r>
              <a:rPr lang="en-US" altLang="ja-JP" dirty="0">
                <a:latin typeface="Arial" panose="020B0604020202020204" pitchFamily="34" charset="0"/>
                <a:ea typeface="MS PGothic" panose="020B0600070205080204" pitchFamily="34" charset="-128"/>
                <a:cs typeface="Arial" panose="020B0604020202020204" pitchFamily="34" charset="0"/>
              </a:rPr>
              <a:t>t be observed)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many times does this step need to be reworked?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How many times do you receive inaccurate or incorrect information?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What else would cause a delay in this process? </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If you could make any improvements to this process, what would they be?</a:t>
            </a:r>
          </a:p>
          <a:p>
            <a:pPr lvl="1" eaLnBrk="1" hangingPunct="1">
              <a:buFontTx/>
              <a:buNone/>
            </a:pPr>
            <a:r>
              <a:rPr lang="en-US" altLang="en-US" b="1" dirty="0">
                <a:latin typeface="Arial" panose="020B0604020202020204" pitchFamily="34" charset="0"/>
                <a:ea typeface="Arial" panose="020B0604020202020204" pitchFamily="34" charset="0"/>
                <a:cs typeface="Arial" panose="020B0604020202020204" pitchFamily="34" charset="0"/>
              </a:rPr>
              <a:t>Not an exhaustive list… not every question has to be asked.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70</a:t>
            </a:fld>
            <a:endParaRPr lang="en-US"/>
          </a:p>
        </p:txBody>
      </p:sp>
    </p:spTree>
    <p:extLst>
      <p:ext uri="{BB962C8B-B14F-4D97-AF65-F5344CB8AC3E}">
        <p14:creationId xmlns:p14="http://schemas.microsoft.com/office/powerpoint/2010/main" val="399039110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Here are some best practices for map drawing:</a:t>
            </a:r>
            <a:br>
              <a:rPr lang="en-US" altLang="en-US" dirty="0">
                <a:latin typeface="Arial" panose="020B0604020202020204" pitchFamily="34" charset="0"/>
                <a:cs typeface="Arial" panose="020B0604020202020204" pitchFamily="34" charset="0"/>
              </a:rPr>
            </a:br>
            <a:endParaRPr lang="en-US" altLang="en-US" dirty="0">
              <a:latin typeface="Arial" panose="020B0604020202020204" pitchFamily="34" charset="0"/>
              <a:cs typeface="Arial" panose="020B0604020202020204" pitchFamily="34" charset="0"/>
            </a:endParaRPr>
          </a:p>
          <a:p>
            <a:pPr eaLnBrk="1" hangingPunct="1"/>
            <a:r>
              <a:rPr lang="en-US" altLang="en-US" dirty="0">
                <a:latin typeface="Arial" panose="020B0604020202020204" pitchFamily="34" charset="0"/>
                <a:cs typeface="Arial" panose="020B0604020202020204" pitchFamily="34" charset="0"/>
              </a:rPr>
              <a:t>When writing data on post-it notes, it is best to start in pencil and then trace with black marker</a:t>
            </a:r>
          </a:p>
          <a:p>
            <a:pPr eaLnBrk="1" hangingPunct="1"/>
            <a:r>
              <a:rPr lang="en-US" altLang="en-US" dirty="0">
                <a:latin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cs typeface="Arial" panose="020B0604020202020204" pitchFamily="34" charset="0"/>
              </a:rPr>
            </a:br>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71</a:t>
            </a:fld>
            <a:endParaRPr lang="en-US"/>
          </a:p>
        </p:txBody>
      </p:sp>
    </p:spTree>
    <p:extLst>
      <p:ext uri="{BB962C8B-B14F-4D97-AF65-F5344CB8AC3E}">
        <p14:creationId xmlns:p14="http://schemas.microsoft.com/office/powerpoint/2010/main" val="126870934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return from this exercise so that they budget their time wisely.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72</a:t>
            </a:fld>
            <a:endParaRPr lang="en-US"/>
          </a:p>
        </p:txBody>
      </p:sp>
    </p:spTree>
    <p:extLst>
      <p:ext uri="{BB962C8B-B14F-4D97-AF65-F5344CB8AC3E}">
        <p14:creationId xmlns:p14="http://schemas.microsoft.com/office/powerpoint/2010/main" val="261678922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73</a:t>
            </a:fld>
            <a:endParaRPr lang="en-US"/>
          </a:p>
        </p:txBody>
      </p:sp>
    </p:spTree>
    <p:extLst>
      <p:ext uri="{BB962C8B-B14F-4D97-AF65-F5344CB8AC3E}">
        <p14:creationId xmlns:p14="http://schemas.microsoft.com/office/powerpoint/2010/main" val="120095567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an idea of what time they should have this exercise complete so that they budget their time wisely. </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74</a:t>
            </a:fld>
            <a:endParaRPr lang="en-US"/>
          </a:p>
        </p:txBody>
      </p:sp>
    </p:spTree>
    <p:extLst>
      <p:ext uri="{BB962C8B-B14F-4D97-AF65-F5344CB8AC3E}">
        <p14:creationId xmlns:p14="http://schemas.microsoft.com/office/powerpoint/2010/main" val="192386191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agenda on flip-chart and review what has been covered already.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about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a value stream</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why value stream map,</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and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what is our method for Current State Mapping?</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Interrogating the Current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GAG Current State Maps from previous exercise</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Red thin markers</a:t>
            </a:r>
          </a:p>
          <a:p>
            <a:pPr eaLnBrk="1" hangingPunct="1"/>
            <a:r>
              <a:rPr lang="en-US" altLang="en-US" dirty="0">
                <a:latin typeface="Arial" panose="020B0604020202020204" pitchFamily="34" charset="0"/>
                <a:cs typeface="Arial" panose="020B0604020202020204" pitchFamily="34" charset="0"/>
              </a:rPr>
              <a:t>3-4 Packs of Post-It Notes</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75</a:t>
            </a:fld>
            <a:endParaRPr lang="en-US"/>
          </a:p>
        </p:txBody>
      </p:sp>
    </p:spTree>
    <p:extLst>
      <p:ext uri="{BB962C8B-B14F-4D97-AF65-F5344CB8AC3E}">
        <p14:creationId xmlns:p14="http://schemas.microsoft.com/office/powerpoint/2010/main" val="177301798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You will need to pull out your GAG Current State Maps from the previous exercise. Please also take a red marker for we will be marking up our Current State Maps during our analysis.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76</a:t>
            </a:fld>
            <a:endParaRPr lang="en-US"/>
          </a:p>
        </p:txBody>
      </p:sp>
    </p:spTree>
    <p:extLst>
      <p:ext uri="{BB962C8B-B14F-4D97-AF65-F5344CB8AC3E}">
        <p14:creationId xmlns:p14="http://schemas.microsoft.com/office/powerpoint/2010/main" val="331744902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questions that we use to interrogate or analyze the Current State.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We will answer each one in more detail on the upcoming slides.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77</a:t>
            </a:fld>
            <a:endParaRPr lang="en-US"/>
          </a:p>
        </p:txBody>
      </p:sp>
    </p:spTree>
    <p:extLst>
      <p:ext uri="{BB962C8B-B14F-4D97-AF65-F5344CB8AC3E}">
        <p14:creationId xmlns:p14="http://schemas.microsoft.com/office/powerpoint/2010/main" val="12525280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78</a:t>
            </a:fld>
            <a:endParaRPr lang="en-US"/>
          </a:p>
        </p:txBody>
      </p:sp>
    </p:spTree>
    <p:extLst>
      <p:ext uri="{BB962C8B-B14F-4D97-AF65-F5344CB8AC3E}">
        <p14:creationId xmlns:p14="http://schemas.microsoft.com/office/powerpoint/2010/main" val="42476130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Where is flow through the value stream inhibited by the flow of information?  Where are processes waiting for decisions of the availability of information in order to proceed?  How can flow be promoted by the more timely availability of information or decisions?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79</a:t>
            </a:fld>
            <a:endParaRPr lang="en-US"/>
          </a:p>
        </p:txBody>
      </p:sp>
    </p:spTree>
    <p:extLst>
      <p:ext uri="{BB962C8B-B14F-4D97-AF65-F5344CB8AC3E}">
        <p14:creationId xmlns:p14="http://schemas.microsoft.com/office/powerpoint/2010/main" val="188287380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Take your red marker and add these changes to the map. It is a best practice to label each burst with one word or a short phrase that refers to the improvement to be made there.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80</a:t>
            </a:fld>
            <a:endParaRPr lang="en-US"/>
          </a:p>
        </p:txBody>
      </p:sp>
    </p:spTree>
    <p:extLst>
      <p:ext uri="{BB962C8B-B14F-4D97-AF65-F5344CB8AC3E}">
        <p14:creationId xmlns:p14="http://schemas.microsoft.com/office/powerpoint/2010/main" val="408480663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81</a:t>
            </a:fld>
            <a:endParaRPr lang="en-US"/>
          </a:p>
        </p:txBody>
      </p:sp>
    </p:spTree>
    <p:extLst>
      <p:ext uri="{BB962C8B-B14F-4D97-AF65-F5344CB8AC3E}">
        <p14:creationId xmlns:p14="http://schemas.microsoft.com/office/powerpoint/2010/main" val="417308338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Define first pass quality yield.</a:t>
            </a:r>
          </a:p>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Where are there low-quality yields that are inhibiting flow through the value stream?  Where are low yields causing high levels of rework or causing delays in processing?</a:t>
            </a:r>
          </a:p>
        </p:txBody>
      </p:sp>
      <p:sp>
        <p:nvSpPr>
          <p:cNvPr id="4" name="Slide Number Placeholder 3"/>
          <p:cNvSpPr>
            <a:spLocks noGrp="1"/>
          </p:cNvSpPr>
          <p:nvPr>
            <p:ph type="sldNum" sz="quarter" idx="5"/>
          </p:nvPr>
        </p:nvSpPr>
        <p:spPr/>
        <p:txBody>
          <a:bodyPr/>
          <a:lstStyle/>
          <a:p>
            <a:fld id="{AECD8548-F1A2-4EDF-A416-5F2BB6B8F64C}" type="slidenum">
              <a:rPr lang="en-US" smtClean="0"/>
              <a:t>82</a:t>
            </a:fld>
            <a:endParaRPr lang="en-US"/>
          </a:p>
        </p:txBody>
      </p:sp>
    </p:spTree>
    <p:extLst>
      <p:ext uri="{BB962C8B-B14F-4D97-AF65-F5344CB8AC3E}">
        <p14:creationId xmlns:p14="http://schemas.microsoft.com/office/powerpoint/2010/main" val="189299330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83</a:t>
            </a:fld>
            <a:endParaRPr lang="en-US"/>
          </a:p>
        </p:txBody>
      </p:sp>
    </p:spTree>
    <p:extLst>
      <p:ext uri="{BB962C8B-B14F-4D97-AF65-F5344CB8AC3E}">
        <p14:creationId xmlns:p14="http://schemas.microsoft.com/office/powerpoint/2010/main" val="51323684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84</a:t>
            </a:fld>
            <a:endParaRPr lang="en-US"/>
          </a:p>
        </p:txBody>
      </p:sp>
    </p:spTree>
    <p:extLst>
      <p:ext uri="{BB962C8B-B14F-4D97-AF65-F5344CB8AC3E}">
        <p14:creationId xmlns:p14="http://schemas.microsoft.com/office/powerpoint/2010/main" val="190368061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Where are there process lead times that are greater than the processing time required to complete the task?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Highlight areas on the map where this condition exists.</a:t>
            </a:r>
          </a:p>
        </p:txBody>
      </p:sp>
      <p:sp>
        <p:nvSpPr>
          <p:cNvPr id="4" name="Slide Number Placeholder 3"/>
          <p:cNvSpPr>
            <a:spLocks noGrp="1"/>
          </p:cNvSpPr>
          <p:nvPr>
            <p:ph type="sldNum" sz="quarter" idx="5"/>
          </p:nvPr>
        </p:nvSpPr>
        <p:spPr/>
        <p:txBody>
          <a:bodyPr/>
          <a:lstStyle/>
          <a:p>
            <a:fld id="{AECD8548-F1A2-4EDF-A416-5F2BB6B8F64C}" type="slidenum">
              <a:rPr lang="en-US" smtClean="0"/>
              <a:t>85</a:t>
            </a:fld>
            <a:endParaRPr lang="en-US"/>
          </a:p>
        </p:txBody>
      </p:sp>
    </p:spTree>
    <p:extLst>
      <p:ext uri="{BB962C8B-B14F-4D97-AF65-F5344CB8AC3E}">
        <p14:creationId xmlns:p14="http://schemas.microsoft.com/office/powerpoint/2010/main" val="71768029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Identify the method that will be used to address the high process lead times.</a:t>
            </a:r>
          </a:p>
        </p:txBody>
      </p:sp>
      <p:sp>
        <p:nvSpPr>
          <p:cNvPr id="4" name="Slide Number Placeholder 3"/>
          <p:cNvSpPr>
            <a:spLocks noGrp="1"/>
          </p:cNvSpPr>
          <p:nvPr>
            <p:ph type="sldNum" sz="quarter" idx="5"/>
          </p:nvPr>
        </p:nvSpPr>
        <p:spPr/>
        <p:txBody>
          <a:bodyPr/>
          <a:lstStyle/>
          <a:p>
            <a:fld id="{AECD8548-F1A2-4EDF-A416-5F2BB6B8F64C}" type="slidenum">
              <a:rPr lang="en-US" smtClean="0"/>
              <a:t>86</a:t>
            </a:fld>
            <a:endParaRPr lang="en-US"/>
          </a:p>
        </p:txBody>
      </p:sp>
    </p:spTree>
    <p:extLst>
      <p:ext uri="{BB962C8B-B14F-4D97-AF65-F5344CB8AC3E}">
        <p14:creationId xmlns:p14="http://schemas.microsoft.com/office/powerpoint/2010/main" val="89039583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87</a:t>
            </a:fld>
            <a:endParaRPr lang="en-US"/>
          </a:p>
        </p:txBody>
      </p:sp>
    </p:spTree>
    <p:extLst>
      <p:ext uri="{BB962C8B-B14F-4D97-AF65-F5344CB8AC3E}">
        <p14:creationId xmlns:p14="http://schemas.microsoft.com/office/powerpoint/2010/main" val="284688118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In situations where you can couple or combine processes to support continuous flow draw a dashed line around the processes to be merged so that they can be shown as a single process box in the future state.</a:t>
            </a:r>
          </a:p>
        </p:txBody>
      </p:sp>
      <p:sp>
        <p:nvSpPr>
          <p:cNvPr id="4" name="Slide Number Placeholder 3"/>
          <p:cNvSpPr>
            <a:spLocks noGrp="1"/>
          </p:cNvSpPr>
          <p:nvPr>
            <p:ph type="sldNum" sz="quarter" idx="5"/>
          </p:nvPr>
        </p:nvSpPr>
        <p:spPr/>
        <p:txBody>
          <a:bodyPr/>
          <a:lstStyle/>
          <a:p>
            <a:fld id="{AECD8548-F1A2-4EDF-A416-5F2BB6B8F64C}" type="slidenum">
              <a:rPr lang="en-US" smtClean="0"/>
              <a:t>89</a:t>
            </a:fld>
            <a:endParaRPr lang="en-US"/>
          </a:p>
        </p:txBody>
      </p:sp>
    </p:spTree>
    <p:extLst>
      <p:ext uri="{BB962C8B-B14F-4D97-AF65-F5344CB8AC3E}">
        <p14:creationId xmlns:p14="http://schemas.microsoft.com/office/powerpoint/2010/main" val="30673462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90</a:t>
            </a:fld>
            <a:endParaRPr lang="en-US"/>
          </a:p>
        </p:txBody>
      </p:sp>
    </p:spTree>
    <p:extLst>
      <p:ext uri="{BB962C8B-B14F-4D97-AF65-F5344CB8AC3E}">
        <p14:creationId xmlns:p14="http://schemas.microsoft.com/office/powerpoint/2010/main" val="292101240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Follow this sequence:</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dirty="0">
                <a:latin typeface="Arial" panose="020B0604020202020204" pitchFamily="34" charset="0"/>
                <a:cs typeface="Arial" panose="020B0604020202020204" pitchFamily="34" charset="0"/>
              </a:rPr>
              <a:t>1 - Flow in administrative processes – flow through sequential process steps without the opportunity to accumulate a queue in between</a:t>
            </a:r>
          </a:p>
          <a:p>
            <a:pPr eaLnBrk="1" hangingPunct="1"/>
            <a:r>
              <a:rPr lang="en-US" altLang="en-US" dirty="0">
                <a:latin typeface="Arial" panose="020B0604020202020204" pitchFamily="34" charset="0"/>
                <a:cs typeface="Arial" panose="020B0604020202020204" pitchFamily="34" charset="0"/>
              </a:rPr>
              <a:t>2 - Where you can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flow – pull </a:t>
            </a:r>
          </a:p>
          <a:p>
            <a:pPr eaLnBrk="1" hangingPunct="1"/>
            <a:r>
              <a:rPr lang="en-US" altLang="en-US" dirty="0">
                <a:latin typeface="Arial" panose="020B0604020202020204" pitchFamily="34" charset="0"/>
                <a:cs typeface="Arial" panose="020B0604020202020204" pitchFamily="34" charset="0"/>
              </a:rPr>
              <a:t>3 – When pull isn’</a:t>
            </a:r>
            <a:r>
              <a:rPr lang="en-US" altLang="ja-JP" dirty="0">
                <a:latin typeface="Arial" panose="020B0604020202020204" pitchFamily="34" charset="0"/>
                <a:cs typeface="Arial" panose="020B0604020202020204" pitchFamily="34" charset="0"/>
              </a:rPr>
              <a:t>t possible, we talk about batch – what is our objective? We want to push as fast and as hard as we can and do queue management. If I have visual queue management for all the queues in the process, I can accelerate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br>
              <a:rPr lang="en-US" altLang="en-US" dirty="0">
                <a:latin typeface="Arial" panose="020B0604020202020204" pitchFamily="34" charset="0"/>
                <a:cs typeface="Arial" panose="020B0604020202020204" pitchFamily="34" charset="0"/>
              </a:rPr>
            </a:b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Then talk about techniques to manage queues (adding resources, etc.)</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91</a:t>
            </a:fld>
            <a:endParaRPr lang="en-US"/>
          </a:p>
        </p:txBody>
      </p:sp>
    </p:spTree>
    <p:extLst>
      <p:ext uri="{BB962C8B-B14F-4D97-AF65-F5344CB8AC3E}">
        <p14:creationId xmlns:p14="http://schemas.microsoft.com/office/powerpoint/2010/main" val="268503038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Where do uncontrolled queues exist?</a:t>
            </a:r>
          </a:p>
        </p:txBody>
      </p:sp>
      <p:sp>
        <p:nvSpPr>
          <p:cNvPr id="4" name="Slide Number Placeholder 3"/>
          <p:cNvSpPr>
            <a:spLocks noGrp="1"/>
          </p:cNvSpPr>
          <p:nvPr>
            <p:ph type="sldNum" sz="quarter" idx="5"/>
          </p:nvPr>
        </p:nvSpPr>
        <p:spPr/>
        <p:txBody>
          <a:bodyPr/>
          <a:lstStyle/>
          <a:p>
            <a:fld id="{AECD8548-F1A2-4EDF-A416-5F2BB6B8F64C}" type="slidenum">
              <a:rPr lang="en-US" smtClean="0"/>
              <a:t>92</a:t>
            </a:fld>
            <a:endParaRPr lang="en-US"/>
          </a:p>
        </p:txBody>
      </p:sp>
    </p:spTree>
    <p:extLst>
      <p:ext uri="{BB962C8B-B14F-4D97-AF65-F5344CB8AC3E}">
        <p14:creationId xmlns:p14="http://schemas.microsoft.com/office/powerpoint/2010/main" val="310171404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Where do uncontrolled queues exist?</a:t>
            </a:r>
          </a:p>
        </p:txBody>
      </p:sp>
      <p:sp>
        <p:nvSpPr>
          <p:cNvPr id="4" name="Slide Number Placeholder 3"/>
          <p:cNvSpPr>
            <a:spLocks noGrp="1"/>
          </p:cNvSpPr>
          <p:nvPr>
            <p:ph type="sldNum" sz="quarter" idx="5"/>
          </p:nvPr>
        </p:nvSpPr>
        <p:spPr/>
        <p:txBody>
          <a:bodyPr/>
          <a:lstStyle/>
          <a:p>
            <a:fld id="{AECD8548-F1A2-4EDF-A416-5F2BB6B8F64C}" type="slidenum">
              <a:rPr lang="en-US" smtClean="0"/>
              <a:t>93</a:t>
            </a:fld>
            <a:endParaRPr lang="en-US"/>
          </a:p>
        </p:txBody>
      </p:sp>
    </p:spTree>
    <p:extLst>
      <p:ext uri="{BB962C8B-B14F-4D97-AF65-F5344CB8AC3E}">
        <p14:creationId xmlns:p14="http://schemas.microsoft.com/office/powerpoint/2010/main" val="391958715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94</a:t>
            </a:fld>
            <a:endParaRPr lang="en-US"/>
          </a:p>
        </p:txBody>
      </p:sp>
    </p:spTree>
    <p:extLst>
      <p:ext uri="{BB962C8B-B14F-4D97-AF65-F5344CB8AC3E}">
        <p14:creationId xmlns:p14="http://schemas.microsoft.com/office/powerpoint/2010/main" val="213773669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95</a:t>
            </a:fld>
            <a:endParaRPr lang="en-US"/>
          </a:p>
        </p:txBody>
      </p:sp>
    </p:spTree>
    <p:extLst>
      <p:ext uri="{BB962C8B-B14F-4D97-AF65-F5344CB8AC3E}">
        <p14:creationId xmlns:p14="http://schemas.microsoft.com/office/powerpoint/2010/main" val="300004537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96</a:t>
            </a:fld>
            <a:endParaRPr lang="en-US"/>
          </a:p>
        </p:txBody>
      </p:sp>
    </p:spTree>
    <p:extLst>
      <p:ext uri="{BB962C8B-B14F-4D97-AF65-F5344CB8AC3E}">
        <p14:creationId xmlns:p14="http://schemas.microsoft.com/office/powerpoint/2010/main" val="313678746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Look at the current state map and identify any additional improvements that are not represented on the map.  These may include the elimination of processes, the introduction of new processes, information flows or technologies.</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97</a:t>
            </a:fld>
            <a:endParaRPr lang="en-US"/>
          </a:p>
        </p:txBody>
      </p:sp>
    </p:spTree>
    <p:extLst>
      <p:ext uri="{BB962C8B-B14F-4D97-AF65-F5344CB8AC3E}">
        <p14:creationId xmlns:p14="http://schemas.microsoft.com/office/powerpoint/2010/main" val="279287155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98</a:t>
            </a:fld>
            <a:endParaRPr lang="en-US"/>
          </a:p>
        </p:txBody>
      </p:sp>
    </p:spTree>
    <p:extLst>
      <p:ext uri="{BB962C8B-B14F-4D97-AF65-F5344CB8AC3E}">
        <p14:creationId xmlns:p14="http://schemas.microsoft.com/office/powerpoint/2010/main" val="42403054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Are there any other improvements that we can identify in the current state?</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Walk through the improvements identified in the current state to validate that they have all been captured.  </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Test for understanding and agreement on the identified improvements.</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99</a:t>
            </a:fld>
            <a:endParaRPr lang="en-US"/>
          </a:p>
        </p:txBody>
      </p:sp>
    </p:spTree>
    <p:extLst>
      <p:ext uri="{BB962C8B-B14F-4D97-AF65-F5344CB8AC3E}">
        <p14:creationId xmlns:p14="http://schemas.microsoft.com/office/powerpoint/2010/main" val="413768871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When mapping long value streams, it is also acceptable to label each burst with a number and then separately detail on a </a:t>
            </a:r>
            <a:r>
              <a:rPr lang="en-US" altLang="ja-JP" dirty="0" err="1">
                <a:latin typeface="Arial" panose="020B0604020202020204" pitchFamily="34" charset="0"/>
                <a:cs typeface="Arial" panose="020B0604020202020204" pitchFamily="34" charset="0"/>
              </a:rPr>
              <a:t>chartpaper</a:t>
            </a:r>
            <a:r>
              <a:rPr lang="en-US" altLang="ja-JP" dirty="0">
                <a:latin typeface="Arial" panose="020B0604020202020204" pitchFamily="34" charset="0"/>
                <a:cs typeface="Arial" panose="020B0604020202020204" pitchFamily="34" charset="0"/>
              </a:rPr>
              <a:t> or poster each number with its description. You can later transfer this to your Value Stream Plan.</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100</a:t>
            </a:fld>
            <a:endParaRPr lang="en-US"/>
          </a:p>
        </p:txBody>
      </p:sp>
    </p:spTree>
    <p:extLst>
      <p:ext uri="{BB962C8B-B14F-4D97-AF65-F5344CB8AC3E}">
        <p14:creationId xmlns:p14="http://schemas.microsoft.com/office/powerpoint/2010/main" val="90734511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repeat this exercise again in your small groups for Carl</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s Credit Cards. Please take 10 minutes to review your current state maps and mark them up with improvement opportunities. Use the Interrogation Questions (in order) on the slide as your guide.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101</a:t>
            </a:fld>
            <a:endParaRPr lang="en-US"/>
          </a:p>
        </p:txBody>
      </p:sp>
    </p:spTree>
    <p:extLst>
      <p:ext uri="{BB962C8B-B14F-4D97-AF65-F5344CB8AC3E}">
        <p14:creationId xmlns:p14="http://schemas.microsoft.com/office/powerpoint/2010/main" val="93497918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Some best practices include:</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When writing data on post-it notes, it is best to start in pencil and then trace with black marker</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Wait until the very end to draw any information flow or material flow arrows in marker</a:t>
            </a:r>
            <a:br>
              <a:rPr lang="en-US" altLang="en-US" dirty="0">
                <a:latin typeface="Arial" panose="020B0604020202020204" pitchFamily="34" charset="0"/>
                <a:ea typeface="Arial" panose="020B0604020202020204" pitchFamily="34" charset="0"/>
                <a:cs typeface="Arial" panose="020B0604020202020204" pitchFamily="34" charset="0"/>
              </a:rPr>
            </a:br>
            <a:endParaRPr lang="en-US" altLang="en-US" dirty="0">
              <a:latin typeface="Arial" panose="020B0604020202020204" pitchFamily="34" charset="0"/>
              <a:ea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102</a:t>
            </a:fld>
            <a:endParaRPr lang="en-US"/>
          </a:p>
        </p:txBody>
      </p:sp>
    </p:spTree>
    <p:extLst>
      <p:ext uri="{BB962C8B-B14F-4D97-AF65-F5344CB8AC3E}">
        <p14:creationId xmlns:p14="http://schemas.microsoft.com/office/powerpoint/2010/main" val="102774831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the slide.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After the Marked-up Current State is drawn, it can be a good practice to convert the drawing to an electronic file for ease of post-event communication and documentation. This should not be done by the entire team, but rather by one person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off line.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103</a:t>
            </a:fld>
            <a:endParaRPr lang="en-US"/>
          </a:p>
        </p:txBody>
      </p:sp>
    </p:spTree>
    <p:extLst>
      <p:ext uri="{BB962C8B-B14F-4D97-AF65-F5344CB8AC3E}">
        <p14:creationId xmlns:p14="http://schemas.microsoft.com/office/powerpoint/2010/main" val="159778323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points on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104</a:t>
            </a:fld>
            <a:endParaRPr lang="en-US"/>
          </a:p>
        </p:txBody>
      </p:sp>
    </p:spTree>
    <p:extLst>
      <p:ext uri="{BB962C8B-B14F-4D97-AF65-F5344CB8AC3E}">
        <p14:creationId xmlns:p14="http://schemas.microsoft.com/office/powerpoint/2010/main" val="165135501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the agenda on the flip chart and review what has been covered already. The suggested method is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questioning</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Ask a few questions as you refer to the agenda: “So what is the value in identifying improvements in the manner that we have – with Value Stream Mapping?</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Creating the Future State Map of the process.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Flip-chart paper</a:t>
            </a:r>
          </a:p>
          <a:p>
            <a:pPr eaLnBrk="1" hangingPunct="1"/>
            <a:r>
              <a:rPr lang="en-US" altLang="en-US" dirty="0">
                <a:latin typeface="Arial" panose="020B0604020202020204" pitchFamily="34" charset="0"/>
                <a:cs typeface="Arial" panose="020B0604020202020204" pitchFamily="34" charset="0"/>
              </a:rPr>
              <a:t>Black thin markers</a:t>
            </a:r>
          </a:p>
          <a:p>
            <a:pPr eaLnBrk="1" hangingPunct="1"/>
            <a:r>
              <a:rPr lang="en-US" altLang="en-US" dirty="0">
                <a:latin typeface="Arial" panose="020B0604020202020204" pitchFamily="34" charset="0"/>
                <a:cs typeface="Arial" panose="020B0604020202020204" pitchFamily="34" charset="0"/>
              </a:rPr>
              <a:t>3-4 Packs of Post-It Notes</a:t>
            </a: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105</a:t>
            </a:fld>
            <a:endParaRPr lang="en-US"/>
          </a:p>
        </p:txBody>
      </p:sp>
    </p:spTree>
    <p:extLst>
      <p:ext uri="{BB962C8B-B14F-4D97-AF65-F5344CB8AC3E}">
        <p14:creationId xmlns:p14="http://schemas.microsoft.com/office/powerpoint/2010/main" val="76519902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all of the steps to creating the Future State Map.</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participants will NOT continue the drawing exercise for GAG on 11x17</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paper.</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106</a:t>
            </a:fld>
            <a:endParaRPr lang="en-US"/>
          </a:p>
        </p:txBody>
      </p:sp>
    </p:spTree>
    <p:extLst>
      <p:ext uri="{BB962C8B-B14F-4D97-AF65-F5344CB8AC3E}">
        <p14:creationId xmlns:p14="http://schemas.microsoft.com/office/powerpoint/2010/main" val="427540099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107</a:t>
            </a:fld>
            <a:endParaRPr lang="en-US"/>
          </a:p>
        </p:txBody>
      </p:sp>
    </p:spTree>
    <p:extLst>
      <p:ext uri="{BB962C8B-B14F-4D97-AF65-F5344CB8AC3E}">
        <p14:creationId xmlns:p14="http://schemas.microsoft.com/office/powerpoint/2010/main" val="413322357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108</a:t>
            </a:fld>
            <a:endParaRPr lang="en-US"/>
          </a:p>
        </p:txBody>
      </p:sp>
    </p:spTree>
    <p:extLst>
      <p:ext uri="{BB962C8B-B14F-4D97-AF65-F5344CB8AC3E}">
        <p14:creationId xmlns:p14="http://schemas.microsoft.com/office/powerpoint/2010/main" val="40407348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109</a:t>
            </a:fld>
            <a:endParaRPr lang="en-US"/>
          </a:p>
        </p:txBody>
      </p:sp>
    </p:spTree>
    <p:extLst>
      <p:ext uri="{BB962C8B-B14F-4D97-AF65-F5344CB8AC3E}">
        <p14:creationId xmlns:p14="http://schemas.microsoft.com/office/powerpoint/2010/main" val="204708090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ASK</a:t>
            </a:r>
            <a:r>
              <a:rPr lang="en-US" altLang="en-US" dirty="0">
                <a:latin typeface="Arial" panose="020B0604020202020204" pitchFamily="34" charset="0"/>
                <a:cs typeface="Arial" panose="020B0604020202020204" pitchFamily="34" charset="0"/>
              </a:rPr>
              <a:t>:  What are the sections of the Value Stream that haven</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 changed?</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110</a:t>
            </a:fld>
            <a:endParaRPr lang="en-US"/>
          </a:p>
        </p:txBody>
      </p:sp>
    </p:spTree>
    <p:extLst>
      <p:ext uri="{BB962C8B-B14F-4D97-AF65-F5344CB8AC3E}">
        <p14:creationId xmlns:p14="http://schemas.microsoft.com/office/powerpoint/2010/main" val="72349462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111</a:t>
            </a:fld>
            <a:endParaRPr lang="en-US"/>
          </a:p>
        </p:txBody>
      </p:sp>
    </p:spTree>
    <p:extLst>
      <p:ext uri="{BB962C8B-B14F-4D97-AF65-F5344CB8AC3E}">
        <p14:creationId xmlns:p14="http://schemas.microsoft.com/office/powerpoint/2010/main" val="353579000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15000"/>
              </a:lnSpc>
              <a:spcBef>
                <a:spcPct val="50000"/>
              </a:spcBef>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Combining processes will allow uninterrupted flow through the value stream.  Represent processes to be combined as a single process box.  Include the description of all combined processes in the name of the process box.  Add together the processing and process lead times and multiply the first pass quality yields.</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112</a:t>
            </a:fld>
            <a:endParaRPr lang="en-US"/>
          </a:p>
        </p:txBody>
      </p:sp>
    </p:spTree>
    <p:extLst>
      <p:ext uri="{BB962C8B-B14F-4D97-AF65-F5344CB8AC3E}">
        <p14:creationId xmlns:p14="http://schemas.microsoft.com/office/powerpoint/2010/main" val="222650837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113</a:t>
            </a:fld>
            <a:endParaRPr lang="en-US"/>
          </a:p>
        </p:txBody>
      </p:sp>
    </p:spTree>
    <p:extLst>
      <p:ext uri="{BB962C8B-B14F-4D97-AF65-F5344CB8AC3E}">
        <p14:creationId xmlns:p14="http://schemas.microsoft.com/office/powerpoint/2010/main" val="190034976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Information Flow that is represented here depicts the decision-making process (to be proportionate with the level that is being mapped here). </a:t>
            </a:r>
          </a:p>
        </p:txBody>
      </p:sp>
      <p:sp>
        <p:nvSpPr>
          <p:cNvPr id="4" name="Slide Number Placeholder 3"/>
          <p:cNvSpPr>
            <a:spLocks noGrp="1"/>
          </p:cNvSpPr>
          <p:nvPr>
            <p:ph type="sldNum" sz="quarter" idx="5"/>
          </p:nvPr>
        </p:nvSpPr>
        <p:spPr/>
        <p:txBody>
          <a:bodyPr/>
          <a:lstStyle/>
          <a:p>
            <a:fld id="{AECD8548-F1A2-4EDF-A416-5F2BB6B8F64C}" type="slidenum">
              <a:rPr lang="en-US" smtClean="0"/>
              <a:t>114</a:t>
            </a:fld>
            <a:endParaRPr lang="en-US"/>
          </a:p>
        </p:txBody>
      </p:sp>
    </p:spTree>
    <p:extLst>
      <p:ext uri="{BB962C8B-B14F-4D97-AF65-F5344CB8AC3E}">
        <p14:creationId xmlns:p14="http://schemas.microsoft.com/office/powerpoint/2010/main" val="75125231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115</a:t>
            </a:fld>
            <a:endParaRPr lang="en-US"/>
          </a:p>
        </p:txBody>
      </p:sp>
    </p:spTree>
    <p:extLst>
      <p:ext uri="{BB962C8B-B14F-4D97-AF65-F5344CB8AC3E}">
        <p14:creationId xmlns:p14="http://schemas.microsoft.com/office/powerpoint/2010/main" val="81870623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Point out to the class the changes in lead time by adding the Visual Management queue areas as well as explain where the set numbers in the queue came from. </a:t>
            </a:r>
          </a:p>
        </p:txBody>
      </p:sp>
      <p:sp>
        <p:nvSpPr>
          <p:cNvPr id="4" name="Slide Number Placeholder 3"/>
          <p:cNvSpPr>
            <a:spLocks noGrp="1"/>
          </p:cNvSpPr>
          <p:nvPr>
            <p:ph type="sldNum" sz="quarter" idx="5"/>
          </p:nvPr>
        </p:nvSpPr>
        <p:spPr/>
        <p:txBody>
          <a:bodyPr/>
          <a:lstStyle/>
          <a:p>
            <a:fld id="{AECD8548-F1A2-4EDF-A416-5F2BB6B8F64C}" type="slidenum">
              <a:rPr lang="en-US" smtClean="0"/>
              <a:t>116</a:t>
            </a:fld>
            <a:endParaRPr lang="en-US"/>
          </a:p>
        </p:txBody>
      </p:sp>
    </p:spTree>
    <p:extLst>
      <p:ext uri="{BB962C8B-B14F-4D97-AF65-F5344CB8AC3E}">
        <p14:creationId xmlns:p14="http://schemas.microsoft.com/office/powerpoint/2010/main" val="387972906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117</a:t>
            </a:fld>
            <a:endParaRPr lang="en-US"/>
          </a:p>
        </p:txBody>
      </p:sp>
    </p:spTree>
    <p:extLst>
      <p:ext uri="{BB962C8B-B14F-4D97-AF65-F5344CB8AC3E}">
        <p14:creationId xmlns:p14="http://schemas.microsoft.com/office/powerpoint/2010/main" val="302782025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118</a:t>
            </a:fld>
            <a:endParaRPr lang="en-US"/>
          </a:p>
        </p:txBody>
      </p:sp>
    </p:spTree>
    <p:extLst>
      <p:ext uri="{BB962C8B-B14F-4D97-AF65-F5344CB8AC3E}">
        <p14:creationId xmlns:p14="http://schemas.microsoft.com/office/powerpoint/2010/main" val="19055143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119</a:t>
            </a:fld>
            <a:endParaRPr lang="en-US"/>
          </a:p>
        </p:txBody>
      </p:sp>
    </p:spTree>
    <p:extLst>
      <p:ext uri="{BB962C8B-B14F-4D97-AF65-F5344CB8AC3E}">
        <p14:creationId xmlns:p14="http://schemas.microsoft.com/office/powerpoint/2010/main" val="411183264"/>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points on the slide defining loops.</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120</a:t>
            </a:fld>
            <a:endParaRPr lang="en-US"/>
          </a:p>
        </p:txBody>
      </p:sp>
    </p:spTree>
    <p:extLst>
      <p:ext uri="{BB962C8B-B14F-4D97-AF65-F5344CB8AC3E}">
        <p14:creationId xmlns:p14="http://schemas.microsoft.com/office/powerpoint/2010/main" val="217705903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Identify sections of the map that are logically grouped into a common set of activities for a clearly identifiable output.</a:t>
            </a: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Have the participants name the loops.</a:t>
            </a: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121</a:t>
            </a:fld>
            <a:endParaRPr lang="en-US"/>
          </a:p>
        </p:txBody>
      </p:sp>
    </p:spTree>
    <p:extLst>
      <p:ext uri="{BB962C8B-B14F-4D97-AF65-F5344CB8AC3E}">
        <p14:creationId xmlns:p14="http://schemas.microsoft.com/office/powerpoint/2010/main" val="184789002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And now you have a completed Future State Map.</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122</a:t>
            </a:fld>
            <a:endParaRPr lang="en-US"/>
          </a:p>
        </p:txBody>
      </p:sp>
    </p:spTree>
    <p:extLst>
      <p:ext uri="{BB962C8B-B14F-4D97-AF65-F5344CB8AC3E}">
        <p14:creationId xmlns:p14="http://schemas.microsoft.com/office/powerpoint/2010/main" val="186129965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Refer to the agenda on the flip chart and review what has been covered already. </a:t>
            </a: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Now we will begin the next step in the process of Value Stream Mapping – and that is Developing the Value Stream Plan.</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objectives on the slide.  </a:t>
            </a:r>
          </a:p>
          <a:p>
            <a:pPr eaLnBrk="1" hangingPunct="1"/>
            <a:endParaRPr lang="en-US" altLang="en-US"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SUPPLIES NEEDED FOR THIS SECTION:</a:t>
            </a:r>
          </a:p>
          <a:p>
            <a:pPr eaLnBrk="1" hangingPunct="1"/>
            <a:r>
              <a:rPr lang="en-US" altLang="en-US" dirty="0">
                <a:latin typeface="Arial" panose="020B0604020202020204" pitchFamily="34" charset="0"/>
                <a:cs typeface="Arial" panose="020B0604020202020204" pitchFamily="34" charset="0"/>
              </a:rPr>
              <a:t>Value Stream Plan Excel File</a:t>
            </a: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a:p>
            <a:pPr eaLnBrk="1" hangingPunct="1"/>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123</a:t>
            </a:fld>
            <a:endParaRPr lang="en-US"/>
          </a:p>
        </p:txBody>
      </p:sp>
    </p:spTree>
    <p:extLst>
      <p:ext uri="{BB962C8B-B14F-4D97-AF65-F5344CB8AC3E}">
        <p14:creationId xmlns:p14="http://schemas.microsoft.com/office/powerpoint/2010/main" val="267313739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Without the Value Stream Plan there is no improvement to the business. The Future State Map is only a guide… it is with the fulfillment of the Value Stream Plan that actual business improvements are realized.</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 </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124</a:t>
            </a:fld>
            <a:endParaRPr lang="en-US"/>
          </a:p>
        </p:txBody>
      </p:sp>
    </p:spTree>
    <p:extLst>
      <p:ext uri="{BB962C8B-B14F-4D97-AF65-F5344CB8AC3E}">
        <p14:creationId xmlns:p14="http://schemas.microsoft.com/office/powerpoint/2010/main" val="332613537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Typically Value Stream Plans are for a 6-month time period. If there is a particular reason why your plan should be longer or shorter, the timing of the plan can be negotiated. However, six months is the standard.</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125</a:t>
            </a:fld>
            <a:endParaRPr lang="en-US"/>
          </a:p>
        </p:txBody>
      </p:sp>
    </p:spTree>
    <p:extLst>
      <p:ext uri="{BB962C8B-B14F-4D97-AF65-F5344CB8AC3E}">
        <p14:creationId xmlns:p14="http://schemas.microsoft.com/office/powerpoint/2010/main" val="39409330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b="1" dirty="0">
                <a:latin typeface="Arial" panose="020B0604020202020204" pitchFamily="34" charset="0"/>
                <a:cs typeface="Arial" panose="020B0604020202020204" pitchFamily="34" charset="0"/>
              </a:rPr>
              <a:t>SAY: </a:t>
            </a:r>
            <a:r>
              <a:rPr lang="ja-JP" altLang="en-US" b="1"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Here is where we take both our Future State Map and our Marked Up Current State Map and identify the priority and sequence of Loops to be worked on as well as the specific activities inside each loop. Note that there may not always be a one-to-one correspondence for each burst. One burst may have several objectives.</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126</a:t>
            </a:fld>
            <a:endParaRPr lang="en-US"/>
          </a:p>
        </p:txBody>
      </p:sp>
    </p:spTree>
    <p:extLst>
      <p:ext uri="{BB962C8B-B14F-4D97-AF65-F5344CB8AC3E}">
        <p14:creationId xmlns:p14="http://schemas.microsoft.com/office/powerpoint/2010/main" val="168587546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80000"/>
              </a:lnSpc>
            </a:pPr>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the fields of the Value Stream Plan.</a:t>
            </a:r>
          </a:p>
          <a:p>
            <a:pPr eaLnBrk="1" hangingPunct="1">
              <a:lnSpc>
                <a:spcPct val="80000"/>
              </a:lnSpc>
            </a:pPr>
            <a:r>
              <a:rPr lang="en-US" altLang="en-US" sz="1200" dirty="0">
                <a:latin typeface="Arial" panose="020B0604020202020204" pitchFamily="34" charset="0"/>
                <a:cs typeface="Arial" panose="020B0604020202020204" pitchFamily="34" charset="0"/>
              </a:rPr>
              <a:t>Document Product Family and Value Stream – this clearly identifies which products are included in the VS Plan and specifies the scope.</a:t>
            </a:r>
          </a:p>
          <a:p>
            <a:pPr eaLnBrk="1" hangingPunct="1">
              <a:lnSpc>
                <a:spcPct val="80000"/>
              </a:lnSpc>
            </a:pPr>
            <a:r>
              <a:rPr lang="en-US" altLang="en-US" sz="1200" dirty="0">
                <a:latin typeface="Arial" panose="020B0604020202020204" pitchFamily="34" charset="0"/>
                <a:cs typeface="Arial" panose="020B0604020202020204" pitchFamily="34" charset="0"/>
              </a:rPr>
              <a:t>Dates: Identify the date the plan was established and the date the improvement efforts will kick off.</a:t>
            </a:r>
          </a:p>
          <a:p>
            <a:pPr eaLnBrk="1" hangingPunct="1">
              <a:lnSpc>
                <a:spcPct val="80000"/>
              </a:lnSpc>
            </a:pPr>
            <a:r>
              <a:rPr lang="en-US" altLang="en-US" sz="1200" dirty="0">
                <a:latin typeface="Arial" panose="020B0604020202020204" pitchFamily="34" charset="0"/>
                <a:cs typeface="Arial" panose="020B0604020202020204" pitchFamily="34" charset="0"/>
              </a:rPr>
              <a:t>Business Objective: Succinctly state the objective of moving to the Future State</a:t>
            </a:r>
          </a:p>
          <a:p>
            <a:pPr eaLnBrk="1" hangingPunct="1">
              <a:lnSpc>
                <a:spcPct val="80000"/>
              </a:lnSpc>
            </a:pPr>
            <a:r>
              <a:rPr lang="en-US" altLang="en-US" sz="1200" dirty="0">
                <a:latin typeface="Arial" panose="020B0604020202020204" pitchFamily="34" charset="0"/>
                <a:cs typeface="Arial" panose="020B0604020202020204" pitchFamily="34" charset="0"/>
              </a:rPr>
              <a:t>Value Stream Manager and Business Unit Owner – The VS Manager is responsible for the value stream and ensuring that the necessary improvements are made in accordance with the schedule.</a:t>
            </a:r>
          </a:p>
          <a:p>
            <a:pPr eaLnBrk="1" hangingPunct="1">
              <a:lnSpc>
                <a:spcPct val="80000"/>
              </a:lnSpc>
            </a:pPr>
            <a:r>
              <a:rPr lang="en-US" altLang="en-US" sz="1200" dirty="0">
                <a:latin typeface="Arial" panose="020B0604020202020204" pitchFamily="34" charset="0"/>
                <a:cs typeface="Arial" panose="020B0604020202020204" pitchFamily="34" charset="0"/>
              </a:rPr>
              <a:t>The Business Unit Owner – Is the person responsible for the overall business unit that contains the value stream.</a:t>
            </a:r>
          </a:p>
          <a:p>
            <a:pPr eaLnBrk="1" hangingPunct="1">
              <a:lnSpc>
                <a:spcPct val="80000"/>
              </a:lnSpc>
            </a:pPr>
            <a:r>
              <a:rPr lang="en-US" altLang="en-US" sz="1200" dirty="0">
                <a:latin typeface="Arial" panose="020B0604020202020204" pitchFamily="34" charset="0"/>
                <a:cs typeface="Arial" panose="020B0604020202020204" pitchFamily="34" charset="0"/>
              </a:rPr>
              <a:t>VS Loop- Specify loops on the Value Stream Plan – this should come directly from the Future State Map. </a:t>
            </a:r>
          </a:p>
          <a:p>
            <a:pPr eaLnBrk="1" hangingPunct="1">
              <a:lnSpc>
                <a:spcPct val="80000"/>
              </a:lnSpc>
            </a:pPr>
            <a:r>
              <a:rPr lang="en-US" altLang="en-US" sz="1200" dirty="0">
                <a:latin typeface="Arial" panose="020B0604020202020204" pitchFamily="34" charset="0"/>
                <a:cs typeface="Arial" panose="020B0604020202020204" pitchFamily="34" charset="0"/>
              </a:rPr>
              <a:t>Value Stream Objective – Identify what needs to be done to move from the current state to the future state. The emphasis should be on what, not how, this will be accomplished. The objective should describe what the end state looks like</a:t>
            </a:r>
          </a:p>
          <a:p>
            <a:pPr eaLnBrk="1" hangingPunct="1">
              <a:lnSpc>
                <a:spcPct val="80000"/>
              </a:lnSpc>
            </a:pPr>
            <a:r>
              <a:rPr lang="en-US" altLang="en-US" sz="1200" dirty="0">
                <a:latin typeface="Arial" panose="020B0604020202020204" pitchFamily="34" charset="0"/>
                <a:cs typeface="Arial" panose="020B0604020202020204" pitchFamily="34" charset="0"/>
              </a:rPr>
              <a:t>Goal – Develop goals that will allow you to identify when the VS Objective has been achieved. Consistent performance at the goal level indicates that the objective has been satisfied.</a:t>
            </a:r>
          </a:p>
          <a:p>
            <a:pPr eaLnBrk="1" hangingPunct="1">
              <a:lnSpc>
                <a:spcPct val="80000"/>
              </a:lnSpc>
            </a:pPr>
            <a:r>
              <a:rPr lang="en-US" altLang="en-US" sz="1200" dirty="0">
                <a:latin typeface="Arial" panose="020B0604020202020204" pitchFamily="34" charset="0"/>
                <a:cs typeface="Arial" panose="020B0604020202020204" pitchFamily="34" charset="0"/>
              </a:rPr>
              <a:t>Target Completion Dates – Identify the date to achieve the VS Objective/Goal. Keep in mind the interrelationships that exist between the objectives and prioritize appropriately. There is not always a 1 to 1 relationship between kaizen activities and objectives. A single objective may require multiple kaizens to reach the goal. </a:t>
            </a:r>
          </a:p>
          <a:p>
            <a:pPr eaLnBrk="1" hangingPunct="1">
              <a:lnSpc>
                <a:spcPct val="80000"/>
              </a:lnSpc>
            </a:pPr>
            <a:r>
              <a:rPr lang="en-US" altLang="en-US" sz="1200" dirty="0">
                <a:latin typeface="Arial" panose="020B0604020202020204" pitchFamily="34" charset="0"/>
                <a:cs typeface="Arial" panose="020B0604020202020204" pitchFamily="34" charset="0"/>
              </a:rPr>
              <a:t>Owners of the Value Stream – High enough in the organization to effectively prioritize the objective. Ensures that sufficient resources are invested to reach the goal. Eliminates any obstacles and follows up with the team to ensure the timeline is maintained.</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127</a:t>
            </a:fld>
            <a:endParaRPr lang="en-US"/>
          </a:p>
        </p:txBody>
      </p:sp>
    </p:spTree>
    <p:extLst>
      <p:ext uri="{BB962C8B-B14F-4D97-AF65-F5344CB8AC3E}">
        <p14:creationId xmlns:p14="http://schemas.microsoft.com/office/powerpoint/2010/main" val="238427933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The background for Value Stream Loops will turn green when a date is applied to any one of the objectives.</a:t>
            </a:r>
          </a:p>
          <a:p>
            <a:pPr eaLnBrk="1" hangingPunct="1"/>
            <a:r>
              <a:rPr lang="en-US" altLang="en-US" dirty="0">
                <a:latin typeface="Arial" panose="020B0604020202020204" pitchFamily="34" charset="0"/>
                <a:cs typeface="Arial" panose="020B0604020202020204" pitchFamily="34" charset="0"/>
              </a:rPr>
              <a:t>Applying a date will automatically create a Gantt chart for the objective.</a:t>
            </a:r>
          </a:p>
          <a:p>
            <a:pPr eaLnBrk="1" hangingPunct="1"/>
            <a:r>
              <a:rPr lang="en-US" altLang="en-US" dirty="0">
                <a:latin typeface="Arial" panose="020B0604020202020204" pitchFamily="34" charset="0"/>
                <a:cs typeface="Arial" panose="020B0604020202020204" pitchFamily="34" charset="0"/>
              </a:rPr>
              <a:t>The current month will be highlighted in red.</a:t>
            </a:r>
          </a:p>
          <a:p>
            <a:pPr eaLnBrk="1" hangingPunct="1"/>
            <a:r>
              <a:rPr lang="en-US" altLang="en-US" dirty="0">
                <a:latin typeface="Arial" panose="020B0604020202020204" pitchFamily="34" charset="0"/>
                <a:cs typeface="Arial" panose="020B0604020202020204" pitchFamily="34" charset="0"/>
              </a:rPr>
              <a:t>When the date for any objective has passed, the background will turn orange.</a:t>
            </a:r>
          </a:p>
        </p:txBody>
      </p:sp>
      <p:sp>
        <p:nvSpPr>
          <p:cNvPr id="4" name="Slide Number Placeholder 3"/>
          <p:cNvSpPr>
            <a:spLocks noGrp="1"/>
          </p:cNvSpPr>
          <p:nvPr>
            <p:ph type="sldNum" sz="quarter" idx="5"/>
          </p:nvPr>
        </p:nvSpPr>
        <p:spPr/>
        <p:txBody>
          <a:bodyPr/>
          <a:lstStyle/>
          <a:p>
            <a:fld id="{AECD8548-F1A2-4EDF-A416-5F2BB6B8F64C}" type="slidenum">
              <a:rPr lang="en-US" smtClean="0"/>
              <a:t>128</a:t>
            </a:fld>
            <a:endParaRPr lang="en-US"/>
          </a:p>
        </p:txBody>
      </p:sp>
    </p:spTree>
    <p:extLst>
      <p:ext uri="{BB962C8B-B14F-4D97-AF65-F5344CB8AC3E}">
        <p14:creationId xmlns:p14="http://schemas.microsoft.com/office/powerpoint/2010/main" val="180641757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Monitoring of progress on the Value Stream Plan is crucial to success.  If the plan isn’t monitored and followed up on it will not get done.</a:t>
            </a:r>
          </a:p>
          <a:p>
            <a:pPr eaLnBrk="1" hangingPunct="1"/>
            <a:r>
              <a:rPr lang="en-US" altLang="en-US" dirty="0">
                <a:latin typeface="Arial" panose="020B0604020202020204" pitchFamily="34" charset="0"/>
                <a:cs typeface="Arial" panose="020B0604020202020204" pitchFamily="34" charset="0"/>
              </a:rPr>
              <a:t>The Value Stream Objective Owner (person in charge) should meet with the team and review the status of the objective weekly</a:t>
            </a:r>
          </a:p>
          <a:p>
            <a:pPr eaLnBrk="1" hangingPunct="1"/>
            <a:r>
              <a:rPr lang="en-US" altLang="en-US" dirty="0">
                <a:latin typeface="Arial" panose="020B0604020202020204" pitchFamily="34" charset="0"/>
                <a:cs typeface="Arial" panose="020B0604020202020204" pitchFamily="34" charset="0"/>
              </a:rPr>
              <a:t>The Value Stream Manager should review the progress of each of the objectives at least every two weeks</a:t>
            </a:r>
          </a:p>
          <a:p>
            <a:pPr eaLnBrk="1" hangingPunct="1"/>
            <a:r>
              <a:rPr lang="en-US" altLang="en-US" dirty="0">
                <a:latin typeface="Arial" panose="020B0604020202020204" pitchFamily="34" charset="0"/>
                <a:cs typeface="Arial" panose="020B0604020202020204" pitchFamily="34" charset="0"/>
              </a:rPr>
              <a:t>The Value Stream Manager reviews should be conducted by walking through the flow of the value stream plan</a:t>
            </a:r>
          </a:p>
          <a:p>
            <a:pPr eaLnBrk="1" hangingPunct="1"/>
            <a:r>
              <a:rPr lang="en-US" altLang="en-US" dirty="0">
                <a:latin typeface="Arial" panose="020B0604020202020204" pitchFamily="34" charset="0"/>
                <a:cs typeface="Arial" panose="020B0604020202020204" pitchFamily="34" charset="0"/>
              </a:rPr>
              <a:t>Reviews should be conducted on-site in the workplace, and the focus needs to be on items not yet completed</a:t>
            </a:r>
          </a:p>
          <a:p>
            <a:pPr eaLnBrk="1" hangingPunct="1"/>
            <a:r>
              <a:rPr lang="en-US" altLang="en-US" dirty="0">
                <a:latin typeface="Arial" panose="020B0604020202020204" pitchFamily="34" charset="0"/>
                <a:cs typeface="Arial" panose="020B0604020202020204" pitchFamily="34" charset="0"/>
              </a:rPr>
              <a:t>Progress should be reviewed with the business unit owner at least monthly</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These reviews should be informational in nature and not problem-solving meetings</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The focus needs to remain on items not yet completed</a:t>
            </a:r>
          </a:p>
          <a:p>
            <a:pPr lvl="1" eaLnBrk="1" hangingPunct="1"/>
            <a:r>
              <a:rPr lang="en-US" altLang="en-US" dirty="0">
                <a:latin typeface="Arial" panose="020B0604020202020204" pitchFamily="34" charset="0"/>
                <a:ea typeface="Arial" panose="020B0604020202020204" pitchFamily="34" charset="0"/>
                <a:cs typeface="Arial" panose="020B0604020202020204" pitchFamily="34" charset="0"/>
              </a:rPr>
              <a:t>Senior management should be made aware of any obstacles and be given the opportunity to provide additional resources to overcome the obstacles.</a:t>
            </a:r>
            <a:r>
              <a:rPr lang="ja-JP" altLang="en-US" dirty="0">
                <a:latin typeface="Arial" panose="020B0604020202020204" pitchFamily="34" charset="0"/>
                <a:ea typeface="MS PGothic" panose="020B0600070205080204" pitchFamily="34" charset="-128"/>
                <a:cs typeface="Arial" panose="020B0604020202020204" pitchFamily="34" charset="0"/>
              </a:rPr>
              <a:t>”</a:t>
            </a:r>
            <a:endParaRPr lang="en-US" altLang="en-US" dirty="0">
              <a:latin typeface="Arial" panose="020B0604020202020204" pitchFamily="34" charset="0"/>
              <a:ea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129</a:t>
            </a:fld>
            <a:endParaRPr lang="en-US"/>
          </a:p>
        </p:txBody>
      </p:sp>
    </p:spTree>
    <p:extLst>
      <p:ext uri="{BB962C8B-B14F-4D97-AF65-F5344CB8AC3E}">
        <p14:creationId xmlns:p14="http://schemas.microsoft.com/office/powerpoint/2010/main" val="186232331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VSM is an incremental and repeatable cycle. Full optimization of the value stream sometimes isn’t realized until the third or fourth iteration.</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130</a:t>
            </a:fld>
            <a:endParaRPr lang="en-US"/>
          </a:p>
        </p:txBody>
      </p:sp>
    </p:spTree>
    <p:extLst>
      <p:ext uri="{BB962C8B-B14F-4D97-AF65-F5344CB8AC3E}">
        <p14:creationId xmlns:p14="http://schemas.microsoft.com/office/powerpoint/2010/main" val="215425621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131</a:t>
            </a:fld>
            <a:endParaRPr lang="en-US"/>
          </a:p>
        </p:txBody>
      </p:sp>
    </p:spTree>
    <p:extLst>
      <p:ext uri="{BB962C8B-B14F-4D97-AF65-F5344CB8AC3E}">
        <p14:creationId xmlns:p14="http://schemas.microsoft.com/office/powerpoint/2010/main" val="19408973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132</a:t>
            </a:fld>
            <a:endParaRPr lang="en-US"/>
          </a:p>
        </p:txBody>
      </p:sp>
    </p:spTree>
    <p:extLst>
      <p:ext uri="{BB962C8B-B14F-4D97-AF65-F5344CB8AC3E}">
        <p14:creationId xmlns:p14="http://schemas.microsoft.com/office/powerpoint/2010/main" val="152543648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Review points on the slide.</a:t>
            </a:r>
          </a:p>
        </p:txBody>
      </p:sp>
      <p:sp>
        <p:nvSpPr>
          <p:cNvPr id="4" name="Slide Number Placeholder 3"/>
          <p:cNvSpPr>
            <a:spLocks noGrp="1"/>
          </p:cNvSpPr>
          <p:nvPr>
            <p:ph type="sldNum" sz="quarter" idx="5"/>
          </p:nvPr>
        </p:nvSpPr>
        <p:spPr/>
        <p:txBody>
          <a:bodyPr/>
          <a:lstStyle/>
          <a:p>
            <a:fld id="{AECD8548-F1A2-4EDF-A416-5F2BB6B8F64C}" type="slidenum">
              <a:rPr lang="en-US" smtClean="0"/>
              <a:t>133</a:t>
            </a:fld>
            <a:endParaRPr lang="en-US"/>
          </a:p>
        </p:txBody>
      </p:sp>
    </p:spTree>
    <p:extLst>
      <p:ext uri="{BB962C8B-B14F-4D97-AF65-F5344CB8AC3E}">
        <p14:creationId xmlns:p14="http://schemas.microsoft.com/office/powerpoint/2010/main" val="272584747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As you will recall from the introduction to the session, the final deliverable from this event will be an updated Site Plan.</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Click to transition to the next slide. </a:t>
            </a:r>
          </a:p>
        </p:txBody>
      </p:sp>
      <p:sp>
        <p:nvSpPr>
          <p:cNvPr id="4" name="Slide Number Placeholder 3"/>
          <p:cNvSpPr>
            <a:spLocks noGrp="1"/>
          </p:cNvSpPr>
          <p:nvPr>
            <p:ph type="sldNum" sz="quarter" idx="5"/>
          </p:nvPr>
        </p:nvSpPr>
        <p:spPr/>
        <p:txBody>
          <a:bodyPr/>
          <a:lstStyle/>
          <a:p>
            <a:fld id="{AECD8548-F1A2-4EDF-A416-5F2BB6B8F64C}" type="slidenum">
              <a:rPr lang="en-US" smtClean="0"/>
              <a:t>134</a:t>
            </a:fld>
            <a:endParaRPr lang="en-US"/>
          </a:p>
        </p:txBody>
      </p:sp>
    </p:spTree>
    <p:extLst>
      <p:ext uri="{BB962C8B-B14F-4D97-AF65-F5344CB8AC3E}">
        <p14:creationId xmlns:p14="http://schemas.microsoft.com/office/powerpoint/2010/main" val="51211584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This is a sample of an excerpt from a site plan showing scheduled events for the product development Value Stream.</a:t>
            </a:r>
            <a:r>
              <a:rPr lang="ja-JP" altLang="en-US" dirty="0">
                <a:latin typeface="Arial" panose="020B0604020202020204" pitchFamily="34" charset="0"/>
                <a:cs typeface="Arial" panose="020B0604020202020204" pitchFamily="34" charset="0"/>
              </a:rPr>
              <a:t>”</a:t>
            </a:r>
            <a:endParaRPr lang="en-US" altLang="ja-JP" dirty="0">
              <a:latin typeface="Arial" panose="020B0604020202020204" pitchFamily="34" charset="0"/>
              <a:cs typeface="Arial" panose="020B0604020202020204" pitchFamily="34" charset="0"/>
            </a:endParaRPr>
          </a:p>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a:t>
            </a:r>
            <a:r>
              <a:rPr lang="ja-JP" altLang="en-US" dirty="0">
                <a:latin typeface="Arial" panose="020B0604020202020204" pitchFamily="34" charset="0"/>
                <a:cs typeface="Arial" panose="020B0604020202020204" pitchFamily="34" charset="0"/>
              </a:rPr>
              <a:t>“</a:t>
            </a:r>
            <a:r>
              <a:rPr lang="en-US" altLang="ja-JP" dirty="0">
                <a:latin typeface="Arial" panose="020B0604020202020204" pitchFamily="34" charset="0"/>
                <a:cs typeface="Arial" panose="020B0604020202020204" pitchFamily="34" charset="0"/>
              </a:rPr>
              <a:t>The site plan is intended to help the organization move from the higher level Value Stream Implementation Plan into the discrete activities that will be required to achieve the future state.</a:t>
            </a:r>
            <a:r>
              <a:rPr lang="ja-JP" altLang="en-US" dirty="0">
                <a:latin typeface="Arial" panose="020B0604020202020204" pitchFamily="34" charset="0"/>
                <a:cs typeface="Arial" panose="020B0604020202020204" pitchFamily="34" charset="0"/>
              </a:rPr>
              <a:t>”</a:t>
            </a:r>
            <a:endParaRPr lang="en-US" alt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AECD8548-F1A2-4EDF-A416-5F2BB6B8F64C}" type="slidenum">
              <a:rPr lang="en-US" smtClean="0"/>
              <a:t>135</a:t>
            </a:fld>
            <a:endParaRPr lang="en-US"/>
          </a:p>
        </p:txBody>
      </p:sp>
    </p:spTree>
    <p:extLst>
      <p:ext uri="{BB962C8B-B14F-4D97-AF65-F5344CB8AC3E}">
        <p14:creationId xmlns:p14="http://schemas.microsoft.com/office/powerpoint/2010/main" val="37981967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SAY</a:t>
            </a:r>
            <a:r>
              <a:rPr lang="en-US" altLang="en-US" dirty="0">
                <a:latin typeface="Arial" panose="020B0604020202020204" pitchFamily="34" charset="0"/>
                <a:cs typeface="Arial" panose="020B0604020202020204" pitchFamily="34" charset="0"/>
              </a:rPr>
              <a:t>: Now we will break and the team will create their Future State Map and Value Stream Plan. </a:t>
            </a:r>
          </a:p>
          <a:p>
            <a:pPr eaLnBrk="1" hangingPunct="1"/>
            <a:r>
              <a:rPr lang="en-US" altLang="en-US" b="1" dirty="0">
                <a:latin typeface="Arial" panose="020B0604020202020204" pitchFamily="34" charset="0"/>
                <a:cs typeface="Arial" panose="020B0604020202020204" pitchFamily="34" charset="0"/>
              </a:rPr>
              <a:t>NOTE:</a:t>
            </a:r>
            <a:r>
              <a:rPr lang="en-US" altLang="en-US" dirty="0">
                <a:latin typeface="Arial" panose="020B0604020202020204" pitchFamily="34" charset="0"/>
                <a:cs typeface="Arial" panose="020B0604020202020204" pitchFamily="34" charset="0"/>
              </a:rPr>
              <a:t> Give the team a time deadline for when this should be complete. </a:t>
            </a:r>
          </a:p>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136</a:t>
            </a:fld>
            <a:endParaRPr lang="en-US"/>
          </a:p>
        </p:txBody>
      </p:sp>
    </p:spTree>
    <p:extLst>
      <p:ext uri="{BB962C8B-B14F-4D97-AF65-F5344CB8AC3E}">
        <p14:creationId xmlns:p14="http://schemas.microsoft.com/office/powerpoint/2010/main" val="105159781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tLang="en-US" b="1" dirty="0">
                <a:latin typeface="Arial" panose="020B0604020202020204" pitchFamily="34" charset="0"/>
                <a:cs typeface="Arial" panose="020B0604020202020204" pitchFamily="34" charset="0"/>
              </a:rPr>
              <a:t>DO:</a:t>
            </a:r>
            <a:r>
              <a:rPr lang="en-US" altLang="en-US" dirty="0">
                <a:latin typeface="Arial" panose="020B0604020202020204" pitchFamily="34" charset="0"/>
                <a:cs typeface="Arial" panose="020B0604020202020204" pitchFamily="34" charset="0"/>
              </a:rPr>
              <a:t> Cover report-out guidelines.</a:t>
            </a:r>
          </a:p>
        </p:txBody>
      </p:sp>
      <p:sp>
        <p:nvSpPr>
          <p:cNvPr id="4" name="Slide Number Placeholder 3"/>
          <p:cNvSpPr>
            <a:spLocks noGrp="1"/>
          </p:cNvSpPr>
          <p:nvPr>
            <p:ph type="sldNum" sz="quarter" idx="5"/>
          </p:nvPr>
        </p:nvSpPr>
        <p:spPr/>
        <p:txBody>
          <a:bodyPr/>
          <a:lstStyle/>
          <a:p>
            <a:fld id="{AECD8548-F1A2-4EDF-A416-5F2BB6B8F64C}" type="slidenum">
              <a:rPr lang="en-US" smtClean="0"/>
              <a:t>137</a:t>
            </a:fld>
            <a:endParaRPr lang="en-US"/>
          </a:p>
        </p:txBody>
      </p:sp>
    </p:spTree>
    <p:extLst>
      <p:ext uri="{BB962C8B-B14F-4D97-AF65-F5344CB8AC3E}">
        <p14:creationId xmlns:p14="http://schemas.microsoft.com/office/powerpoint/2010/main" val="380659937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ECD8548-F1A2-4EDF-A416-5F2BB6B8F64C}" type="slidenum">
              <a:rPr lang="en-US" smtClean="0"/>
              <a:t>138</a:t>
            </a:fld>
            <a:endParaRPr lang="en-US"/>
          </a:p>
        </p:txBody>
      </p:sp>
    </p:spTree>
    <p:extLst>
      <p:ext uri="{BB962C8B-B14F-4D97-AF65-F5344CB8AC3E}">
        <p14:creationId xmlns:p14="http://schemas.microsoft.com/office/powerpoint/2010/main" val="343897967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7B85E90D-7DD7-92B5-E387-8C0441E41AC3}"/>
              </a:ext>
            </a:extLst>
          </p:cNvPr>
          <p:cNvPicPr>
            <a:picLocks noChangeAspect="1"/>
          </p:cNvPicPr>
          <p:nvPr userDrawn="1"/>
        </p:nvPicPr>
        <p:blipFill>
          <a:blip r:embed="rId2"/>
          <a:stretch>
            <a:fillRect/>
          </a:stretch>
        </p:blipFill>
        <p:spPr>
          <a:xfrm>
            <a:off x="2385391" y="1950112"/>
            <a:ext cx="7772400" cy="2590800"/>
          </a:xfrm>
          <a:prstGeom prst="rect">
            <a:avLst/>
          </a:prstGeom>
        </p:spPr>
      </p:pic>
    </p:spTree>
    <p:extLst>
      <p:ext uri="{BB962C8B-B14F-4D97-AF65-F5344CB8AC3E}">
        <p14:creationId xmlns:p14="http://schemas.microsoft.com/office/powerpoint/2010/main" val="1856233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68536043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2" name="Picture 1" descr="Logo&#10;&#10;Description automatically generated">
            <a:extLst>
              <a:ext uri="{FF2B5EF4-FFF2-40B4-BE49-F238E27FC236}">
                <a16:creationId xmlns:a16="http://schemas.microsoft.com/office/drawing/2014/main" id="{DFA04139-8C44-65B7-CCE0-3C7273396743}"/>
              </a:ext>
            </a:extLst>
          </p:cNvPr>
          <p:cNvPicPr>
            <a:picLocks noChangeAspect="1"/>
          </p:cNvPicPr>
          <p:nvPr userDrawn="1"/>
        </p:nvPicPr>
        <p:blipFill>
          <a:blip r:embed="rId2"/>
          <a:stretch>
            <a:fillRect/>
          </a:stretch>
        </p:blipFill>
        <p:spPr>
          <a:xfrm>
            <a:off x="10041954" y="6012921"/>
            <a:ext cx="1825625" cy="365125"/>
          </a:xfrm>
          <a:prstGeom prst="rect">
            <a:avLst/>
          </a:prstGeom>
        </p:spPr>
      </p:pic>
    </p:spTree>
    <p:extLst>
      <p:ext uri="{BB962C8B-B14F-4D97-AF65-F5344CB8AC3E}">
        <p14:creationId xmlns:p14="http://schemas.microsoft.com/office/powerpoint/2010/main" val="13405463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B640B0-16F5-BFBE-E22F-812ED893EE4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A30DE2FD-1979-A3D6-90A4-45D744A02739}"/>
              </a:ext>
            </a:extLst>
          </p:cNvPr>
          <p:cNvSpPr>
            <a:spLocks noGrp="1"/>
          </p:cNvSpPr>
          <p:nvPr>
            <p:ph type="subTitle" idx="1"/>
          </p:nvPr>
        </p:nvSpPr>
        <p:spPr>
          <a:xfrm>
            <a:off x="1524000" y="3800722"/>
            <a:ext cx="9144000" cy="1457077"/>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pic>
        <p:nvPicPr>
          <p:cNvPr id="7" name="Picture 6">
            <a:extLst>
              <a:ext uri="{FF2B5EF4-FFF2-40B4-BE49-F238E27FC236}">
                <a16:creationId xmlns:a16="http://schemas.microsoft.com/office/drawing/2014/main" id="{79394B0F-E5B4-CFAF-7473-46BB2646C463}"/>
              </a:ext>
            </a:extLst>
          </p:cNvPr>
          <p:cNvPicPr>
            <a:picLocks noChangeAspect="1"/>
          </p:cNvPicPr>
          <p:nvPr userDrawn="1"/>
        </p:nvPicPr>
        <p:blipFill>
          <a:blip r:embed="rId2"/>
          <a:stretch>
            <a:fillRect/>
          </a:stretch>
        </p:blipFill>
        <p:spPr>
          <a:xfrm>
            <a:off x="4126380" y="3556319"/>
            <a:ext cx="3939240" cy="45719"/>
          </a:xfrm>
          <a:prstGeom prst="rect">
            <a:avLst/>
          </a:prstGeom>
        </p:spPr>
      </p:pic>
    </p:spTree>
    <p:extLst>
      <p:ext uri="{BB962C8B-B14F-4D97-AF65-F5344CB8AC3E}">
        <p14:creationId xmlns:p14="http://schemas.microsoft.com/office/powerpoint/2010/main" val="26260657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E36242-F70A-0032-2B4B-BCCF0734FAF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D039E81F-378B-8CF2-E1C3-1D9054EF712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8" name="Straight Connector 7">
            <a:extLst>
              <a:ext uri="{FF2B5EF4-FFF2-40B4-BE49-F238E27FC236}">
                <a16:creationId xmlns:a16="http://schemas.microsoft.com/office/drawing/2014/main" id="{EDBCBB7B-054A-FE83-5F7C-FE4A1CDFEEBA}"/>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161152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EA9C9-FDCA-934D-785B-BFD907843AD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7695437-1877-C6A2-EE04-3EF98092E16F}"/>
              </a:ext>
            </a:extLst>
          </p:cNvPr>
          <p:cNvSpPr>
            <a:spLocks noGrp="1"/>
          </p:cNvSpPr>
          <p:nvPr>
            <p:ph type="body" idx="1"/>
          </p:nvPr>
        </p:nvSpPr>
        <p:spPr>
          <a:xfrm>
            <a:off x="831850" y="4715123"/>
            <a:ext cx="10515600" cy="137452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142872085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A8C054-8592-E116-8DB0-D7814A8CDB6B}"/>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B35C802A-EC64-E4D9-44D3-54E728E3E9B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1EA5B75-CA16-4AC3-A34C-C3C4FF82FD7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23186D81-5D29-FE58-C442-6A6A0689DB5B}"/>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05941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362F87-A7AE-9269-55EC-7B1C8A4D2FA0}"/>
              </a:ext>
            </a:extLst>
          </p:cNvPr>
          <p:cNvSpPr>
            <a:spLocks noGrp="1"/>
          </p:cNvSpPr>
          <p:nvPr>
            <p:ph type="title"/>
          </p:nvPr>
        </p:nvSpPr>
        <p:spPr>
          <a:xfrm>
            <a:off x="839788" y="668337"/>
            <a:ext cx="10515600" cy="1022351"/>
          </a:xfrm>
        </p:spPr>
        <p:txBody>
          <a:bodyPr/>
          <a:lstStyle/>
          <a:p>
            <a:r>
              <a:rPr lang="en-US" dirty="0"/>
              <a:t>Click to edit Master title style</a:t>
            </a:r>
          </a:p>
        </p:txBody>
      </p:sp>
      <p:sp>
        <p:nvSpPr>
          <p:cNvPr id="3" name="Text Placeholder 2">
            <a:extLst>
              <a:ext uri="{FF2B5EF4-FFF2-40B4-BE49-F238E27FC236}">
                <a16:creationId xmlns:a16="http://schemas.microsoft.com/office/drawing/2014/main" id="{23727D69-EB01-A889-0CC3-A64B4F7DAB1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1F1EC85-625B-CEAA-F97D-EF024B15F27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3D5D1D7-7D1D-2F5D-8D5E-152CC8269A9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9D830EE-92A6-15ED-D99F-35788F37AD9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CBFE9C-CE1B-ED6E-1745-391F9496BE1D}"/>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35150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CD9D87-BBC7-C5DC-191E-E5E1CA2BC2BE}"/>
              </a:ext>
            </a:extLst>
          </p:cNvPr>
          <p:cNvSpPr>
            <a:spLocks noGrp="1"/>
          </p:cNvSpPr>
          <p:nvPr>
            <p:ph type="title"/>
          </p:nvPr>
        </p:nvSpPr>
        <p:spPr/>
        <p:txBody>
          <a:bodyPr/>
          <a:lstStyle/>
          <a:p>
            <a:r>
              <a:rPr lang="en-US" dirty="0"/>
              <a:t>Click to edit Master title style</a:t>
            </a:r>
          </a:p>
        </p:txBody>
      </p:sp>
      <p:cxnSp>
        <p:nvCxnSpPr>
          <p:cNvPr id="6" name="Straight Connector 5">
            <a:extLst>
              <a:ext uri="{FF2B5EF4-FFF2-40B4-BE49-F238E27FC236}">
                <a16:creationId xmlns:a16="http://schemas.microsoft.com/office/drawing/2014/main" id="{7E55C65A-BA96-51C7-B6FE-07AB4FB9C96C}"/>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53027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FC6C847F-0B94-F947-B172-F99DB133759E}"/>
              </a:ext>
            </a:extLst>
          </p:cNvPr>
          <p:cNvSpPr>
            <a:spLocks noGrp="1"/>
          </p:cNvSpPr>
          <p:nvPr>
            <p:ph type="sldNum" sz="quarter" idx="11"/>
          </p:nvPr>
        </p:nvSpPr>
        <p:spPr/>
        <p:txBody>
          <a:bodyPr/>
          <a:lstStyle/>
          <a:p>
            <a:fld id="{CC6D4273-7FC1-0947-B9FE-19CB3C0D1FB6}" type="slidenum">
              <a:rPr lang="en-US" smtClean="0"/>
              <a:pPr/>
              <a:t>‹#›</a:t>
            </a:fld>
            <a:endParaRPr lang="en-US" dirty="0"/>
          </a:p>
        </p:txBody>
      </p:sp>
      <p:sp>
        <p:nvSpPr>
          <p:cNvPr id="7" name="TextBox 6">
            <a:extLst>
              <a:ext uri="{FF2B5EF4-FFF2-40B4-BE49-F238E27FC236}">
                <a16:creationId xmlns:a16="http://schemas.microsoft.com/office/drawing/2014/main" id="{5C21B1ED-B2E3-19AE-DDFC-B157A0140513}"/>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2023.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0677971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5009C-FECA-9E9B-9F45-5710762AEB4B}"/>
              </a:ext>
            </a:extLst>
          </p:cNvPr>
          <p:cNvSpPr>
            <a:spLocks noGrp="1"/>
          </p:cNvSpPr>
          <p:nvPr>
            <p:ph type="title"/>
          </p:nvPr>
        </p:nvSpPr>
        <p:spPr>
          <a:xfrm>
            <a:off x="839788" y="457200"/>
            <a:ext cx="3932237" cy="1465029"/>
          </a:xfrm>
        </p:spPr>
        <p:txBody>
          <a:bodyPr anchor="b"/>
          <a:lstStyle>
            <a:lvl1pPr>
              <a:defRPr sz="3200"/>
            </a:lvl1pPr>
          </a:lstStyle>
          <a:p>
            <a:r>
              <a:rPr lang="en-US" dirty="0"/>
              <a:t>Click to edit Master title style</a:t>
            </a:r>
          </a:p>
        </p:txBody>
      </p:sp>
      <p:sp>
        <p:nvSpPr>
          <p:cNvPr id="3" name="Content Placeholder 2">
            <a:extLst>
              <a:ext uri="{FF2B5EF4-FFF2-40B4-BE49-F238E27FC236}">
                <a16:creationId xmlns:a16="http://schemas.microsoft.com/office/drawing/2014/main" id="{925B4662-A656-519F-E5DC-FEF8051A04B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C555F82-CA62-EC30-181A-37223E01FDD3}"/>
              </a:ext>
            </a:extLst>
          </p:cNvPr>
          <p:cNvSpPr>
            <a:spLocks noGrp="1"/>
          </p:cNvSpPr>
          <p:nvPr>
            <p:ph type="body" sz="half" idx="2"/>
          </p:nvPr>
        </p:nvSpPr>
        <p:spPr>
          <a:xfrm>
            <a:off x="839788" y="2146852"/>
            <a:ext cx="3932237" cy="3722136"/>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EB026B9A-5C7E-C150-5C07-A68A167F0F67}"/>
              </a:ext>
            </a:extLst>
          </p:cNvPr>
          <p:cNvCxnSpPr>
            <a:cxnSpLocks/>
          </p:cNvCxnSpPr>
          <p:nvPr userDrawn="1"/>
        </p:nvCxnSpPr>
        <p:spPr>
          <a:xfrm>
            <a:off x="838200" y="1922229"/>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922591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C35D53-C186-1B2C-FD72-2AC470B82098}"/>
              </a:ext>
            </a:extLst>
          </p:cNvPr>
          <p:cNvSpPr>
            <a:spLocks noGrp="1"/>
          </p:cNvSpPr>
          <p:nvPr>
            <p:ph type="title"/>
          </p:nvPr>
        </p:nvSpPr>
        <p:spPr>
          <a:xfrm>
            <a:off x="839788" y="457200"/>
            <a:ext cx="3932237" cy="1463045"/>
          </a:xfrm>
        </p:spPr>
        <p:txBody>
          <a:bodyPr anchor="b"/>
          <a:lstStyle>
            <a:lvl1pPr>
              <a:defRPr sz="3200"/>
            </a:lvl1pPr>
          </a:lstStyle>
          <a:p>
            <a:r>
              <a:rPr lang="en-US" dirty="0"/>
              <a:t>Click to edit Master title style</a:t>
            </a:r>
          </a:p>
        </p:txBody>
      </p:sp>
      <p:sp>
        <p:nvSpPr>
          <p:cNvPr id="3" name="Picture Placeholder 2">
            <a:extLst>
              <a:ext uri="{FF2B5EF4-FFF2-40B4-BE49-F238E27FC236}">
                <a16:creationId xmlns:a16="http://schemas.microsoft.com/office/drawing/2014/main" id="{8C7372F6-C6B1-D2F4-8DED-EF3C3DBEAA4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566E1FE-9DAE-4781-C70A-CF8F68AAFDD6}"/>
              </a:ext>
            </a:extLst>
          </p:cNvPr>
          <p:cNvSpPr>
            <a:spLocks noGrp="1"/>
          </p:cNvSpPr>
          <p:nvPr>
            <p:ph type="body" sz="half" idx="2"/>
          </p:nvPr>
        </p:nvSpPr>
        <p:spPr>
          <a:xfrm>
            <a:off x="839788" y="2148836"/>
            <a:ext cx="3932237" cy="372015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cxnSp>
        <p:nvCxnSpPr>
          <p:cNvPr id="8" name="Straight Connector 7">
            <a:extLst>
              <a:ext uri="{FF2B5EF4-FFF2-40B4-BE49-F238E27FC236}">
                <a16:creationId xmlns:a16="http://schemas.microsoft.com/office/drawing/2014/main" id="{6BBD52B6-C25E-E933-F2B7-D40B2BFDF83D}"/>
              </a:ext>
            </a:extLst>
          </p:cNvPr>
          <p:cNvCxnSpPr>
            <a:cxnSpLocks/>
          </p:cNvCxnSpPr>
          <p:nvPr userDrawn="1"/>
        </p:nvCxnSpPr>
        <p:spPr>
          <a:xfrm>
            <a:off x="838200" y="1920245"/>
            <a:ext cx="3933825"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19482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F5CEA-F0B2-6EAB-4435-59D188AF388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32B515F-CCC6-5F3D-26FA-AF419F9D87C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7" name="Straight Connector 6">
            <a:extLst>
              <a:ext uri="{FF2B5EF4-FFF2-40B4-BE49-F238E27FC236}">
                <a16:creationId xmlns:a16="http://schemas.microsoft.com/office/drawing/2014/main" id="{E155FD7A-35A4-E3BB-30E7-93993A9F2FCF}"/>
              </a:ext>
            </a:extLst>
          </p:cNvPr>
          <p:cNvCxnSpPr>
            <a:cxnSpLocks/>
          </p:cNvCxnSpPr>
          <p:nvPr userDrawn="1"/>
        </p:nvCxnSpPr>
        <p:spPr>
          <a:xfrm>
            <a:off x="838200" y="1690688"/>
            <a:ext cx="6656109" cy="0"/>
          </a:xfrm>
          <a:prstGeom prst="line">
            <a:avLst/>
          </a:prstGeom>
          <a:ln w="38100">
            <a:solidFill>
              <a:srgbClr val="EE322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28601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6EEA24E-3139-367F-63CD-6BE14639C42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2D504B8-9AC5-F3B2-2873-A2C23446016F}"/>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732899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jp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FC7573B6-84E2-B075-59F6-13B735C1EA0C}"/>
              </a:ext>
            </a:extLst>
          </p:cNvPr>
          <p:cNvPicPr>
            <a:picLocks noChangeAspect="1"/>
          </p:cNvPicPr>
          <p:nvPr userDrawn="1"/>
        </p:nvPicPr>
        <p:blipFill>
          <a:blip r:embed="rId16"/>
          <a:srcRect/>
          <a:stretch/>
        </p:blipFill>
        <p:spPr>
          <a:xfrm>
            <a:off x="0" y="0"/>
            <a:ext cx="12192000" cy="6858000"/>
          </a:xfrm>
          <a:prstGeom prst="rect">
            <a:avLst/>
          </a:prstGeom>
        </p:spPr>
      </p:pic>
      <p:sp>
        <p:nvSpPr>
          <p:cNvPr id="2" name="Title Placeholder 1">
            <a:extLst>
              <a:ext uri="{FF2B5EF4-FFF2-40B4-BE49-F238E27FC236}">
                <a16:creationId xmlns:a16="http://schemas.microsoft.com/office/drawing/2014/main" id="{AF899C9A-A2FC-CD4A-1E66-538BA9DCD182}"/>
              </a:ext>
            </a:extLst>
          </p:cNvPr>
          <p:cNvSpPr>
            <a:spLocks noGrp="1"/>
          </p:cNvSpPr>
          <p:nvPr>
            <p:ph type="title"/>
          </p:nvPr>
        </p:nvSpPr>
        <p:spPr>
          <a:xfrm>
            <a:off x="838200" y="681037"/>
            <a:ext cx="10515600" cy="1009651"/>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5BEC040-D756-ECEA-9BEA-816A77F6A3E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0655B500-689F-3416-FFFA-6EFE369BF707}"/>
              </a:ext>
            </a:extLst>
          </p:cNvPr>
          <p:cNvSpPr>
            <a:spLocks noGrp="1"/>
          </p:cNvSpPr>
          <p:nvPr>
            <p:ph type="sldNum" sz="quarter" idx="4"/>
          </p:nvPr>
        </p:nvSpPr>
        <p:spPr>
          <a:xfrm>
            <a:off x="8595078" y="6333148"/>
            <a:ext cx="2743200" cy="365125"/>
          </a:xfrm>
          <a:prstGeom prst="rect">
            <a:avLst/>
          </a:prstGeom>
        </p:spPr>
        <p:txBody>
          <a:bodyPr vert="horz" lIns="91440" tIns="45720" rIns="91440" bIns="45720" rtlCol="0" anchor="ctr"/>
          <a:lstStyle>
            <a:lvl1pPr algn="r">
              <a:defRPr sz="1200">
                <a:solidFill>
                  <a:schemeClr val="tx1"/>
                </a:solidFill>
              </a:defRPr>
            </a:lvl1pPr>
          </a:lstStyle>
          <a:p>
            <a:fld id="{CC6D4273-7FC1-0947-B9FE-19CB3C0D1FB6}" type="slidenum">
              <a:rPr lang="en-US" smtClean="0"/>
              <a:pPr/>
              <a:t>‹#›</a:t>
            </a:fld>
            <a:endParaRPr lang="en-US" dirty="0"/>
          </a:p>
        </p:txBody>
      </p:sp>
      <p:pic>
        <p:nvPicPr>
          <p:cNvPr id="10" name="Picture 9" descr="Logo&#10;&#10;Description automatically generated">
            <a:extLst>
              <a:ext uri="{FF2B5EF4-FFF2-40B4-BE49-F238E27FC236}">
                <a16:creationId xmlns:a16="http://schemas.microsoft.com/office/drawing/2014/main" id="{83AB58F5-18C5-C368-94F4-CC4D543C8982}"/>
              </a:ext>
            </a:extLst>
          </p:cNvPr>
          <p:cNvPicPr>
            <a:picLocks noChangeAspect="1"/>
          </p:cNvPicPr>
          <p:nvPr userDrawn="1"/>
        </p:nvPicPr>
        <p:blipFill>
          <a:blip r:embed="rId17"/>
          <a:stretch>
            <a:fillRect/>
          </a:stretch>
        </p:blipFill>
        <p:spPr>
          <a:xfrm>
            <a:off x="10650147" y="311856"/>
            <a:ext cx="1376262" cy="275252"/>
          </a:xfrm>
          <a:prstGeom prst="rect">
            <a:avLst/>
          </a:prstGeom>
        </p:spPr>
      </p:pic>
      <p:cxnSp>
        <p:nvCxnSpPr>
          <p:cNvPr id="16" name="Straight Connector 15">
            <a:extLst>
              <a:ext uri="{FF2B5EF4-FFF2-40B4-BE49-F238E27FC236}">
                <a16:creationId xmlns:a16="http://schemas.microsoft.com/office/drawing/2014/main" id="{BFFEF531-ADF4-AB70-CB0F-227DD4FA1B4F}"/>
              </a:ext>
            </a:extLst>
          </p:cNvPr>
          <p:cNvCxnSpPr/>
          <p:nvPr userDrawn="1"/>
        </p:nvCxnSpPr>
        <p:spPr>
          <a:xfrm>
            <a:off x="838200" y="6382347"/>
            <a:ext cx="10515599"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47AF5F83-88DF-460F-82C5-C2709D4DF5D2}"/>
              </a:ext>
            </a:extLst>
          </p:cNvPr>
          <p:cNvSpPr txBox="1"/>
          <p:nvPr userDrawn="1"/>
        </p:nvSpPr>
        <p:spPr>
          <a:xfrm>
            <a:off x="838200" y="6389310"/>
            <a:ext cx="4171934" cy="246221"/>
          </a:xfrm>
          <a:prstGeom prst="rect">
            <a:avLst/>
          </a:prstGeom>
          <a:noFill/>
        </p:spPr>
        <p:txBody>
          <a:bodyPr wrap="square" rtlCol="0">
            <a:spAutoFit/>
          </a:bodyPr>
          <a:lstStyle/>
          <a:p>
            <a:r>
              <a:rPr lang="fr-FR" sz="1000" dirty="0" err="1"/>
              <a:t>VSMi_NONTRANSACTIONAL</a:t>
            </a:r>
            <a:r>
              <a:rPr lang="fr-FR" sz="1000" dirty="0"/>
              <a:t> PRESENTATION ENG REV4</a:t>
            </a: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
        <p:nvSpPr>
          <p:cNvPr id="8" name="TextBox 7">
            <a:extLst>
              <a:ext uri="{FF2B5EF4-FFF2-40B4-BE49-F238E27FC236}">
                <a16:creationId xmlns:a16="http://schemas.microsoft.com/office/drawing/2014/main" id="{76B0F1ED-1C44-DFD6-E7DA-038409D9167D}"/>
              </a:ext>
            </a:extLst>
          </p:cNvPr>
          <p:cNvSpPr txBox="1"/>
          <p:nvPr userDrawn="1"/>
        </p:nvSpPr>
        <p:spPr>
          <a:xfrm>
            <a:off x="4205176" y="6384780"/>
            <a:ext cx="417193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dirty="0">
                <a:latin typeface="Roboto" panose="02000000000000000000" pitchFamily="2" charset="0"/>
                <a:ea typeface="Roboto" panose="02000000000000000000" pitchFamily="2" charset="0"/>
                <a:cs typeface="Roboto" panose="02000000000000000000" pitchFamily="2" charset="0"/>
              </a:rPr>
              <a:t>© Lean Horizons Consulting, LLC 2024. All Rights Reserved</a:t>
            </a:r>
          </a:p>
          <a:p>
            <a:pPr algn="ctr"/>
            <a:endParaRPr lang="en-US" sz="1000" b="0" i="0" dirty="0">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092232385"/>
      </p:ext>
    </p:extLst>
  </p:cSld>
  <p:clrMap bg1="lt1" tx1="dk1" bg2="lt2" tx2="dk2" accent1="accent1" accent2="accent2" accent3="accent3" accent4="accent4" accent5="accent5" accent6="accent6" hlink="hlink" folHlink="folHlink"/>
  <p:sldLayoutIdLst>
    <p:sldLayoutId id="2147483660" r:id="rId1"/>
    <p:sldLayoutId id="2147483661" r:id="rId2"/>
    <p:sldLayoutId id="2147483662" r:id="rId3"/>
    <p:sldLayoutId id="2147483649" r:id="rId4"/>
    <p:sldLayoutId id="2147483650" r:id="rId5"/>
    <p:sldLayoutId id="2147483651" r:id="rId6"/>
    <p:sldLayoutId id="2147483652" r:id="rId7"/>
    <p:sldLayoutId id="2147483653" r:id="rId8"/>
    <p:sldLayoutId id="2147483654" r:id="rId9"/>
    <p:sldLayoutId id="2147483655" r:id="rId10"/>
    <p:sldLayoutId id="2147483656" r:id="rId11"/>
    <p:sldLayoutId id="2147483657" r:id="rId12"/>
    <p:sldLayoutId id="2147483658" r:id="rId13"/>
    <p:sldLayoutId id="2147483659" r:id="rId14"/>
  </p:sldLayoutIdLst>
  <p:hf hdr="0" ftr="0" dt="0"/>
  <p:txStyles>
    <p:titleStyle>
      <a:lvl1pPr algn="l" defTabSz="914400" rtl="0" eaLnBrk="1" latinLnBrk="0" hangingPunct="1">
        <a:lnSpc>
          <a:spcPct val="90000"/>
        </a:lnSpc>
        <a:spcBef>
          <a:spcPct val="0"/>
        </a:spcBef>
        <a:buNone/>
        <a:defRPr sz="4400" b="0" i="0" kern="1200">
          <a:solidFill>
            <a:schemeClr val="tx1"/>
          </a:solidFill>
          <a:latin typeface="Roboto Medium" panose="02000000000000000000" pitchFamily="2" charset="0"/>
          <a:ea typeface="Roboto Medium" panose="02000000000000000000" pitchFamily="2" charset="0"/>
          <a:cs typeface="Roboto Medium" panose="02000000000000000000"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2.xml"/><Relationship Id="rId1" Type="http://schemas.openxmlformats.org/officeDocument/2006/relationships/slideLayout" Target="../slideLayouts/slideLayout10.xml"/><Relationship Id="rId4" Type="http://schemas.openxmlformats.org/officeDocument/2006/relationships/image" Target="../media/image5.gif"/></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9.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9.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9.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9.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9.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9.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9.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9.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customXml" Target="../ink/ink1.xml"/><Relationship Id="rId7" Type="http://schemas.openxmlformats.org/officeDocument/2006/relationships/customXml" Target="../ink/ink3.xml"/><Relationship Id="rId2" Type="http://schemas.openxmlformats.org/officeDocument/2006/relationships/notesSlide" Target="../notesSlides/notesSlide120.xml"/><Relationship Id="rId1" Type="http://schemas.openxmlformats.org/officeDocument/2006/relationships/slideLayout" Target="../slideLayouts/slideLayout9.xml"/><Relationship Id="rId6" Type="http://schemas.openxmlformats.org/officeDocument/2006/relationships/image" Target="../media/image10.png"/><Relationship Id="rId5" Type="http://schemas.openxmlformats.org/officeDocument/2006/relationships/customXml" Target="../ink/ink2.xml"/><Relationship Id="rId4" Type="http://schemas.openxmlformats.org/officeDocument/2006/relationships/image" Target="../media/image9.png"/></Relationships>
</file>

<file path=ppt/slides/_rels/slide122.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customXml" Target="../ink/ink4.xml"/><Relationship Id="rId7" Type="http://schemas.openxmlformats.org/officeDocument/2006/relationships/customXml" Target="../ink/ink6.xml"/><Relationship Id="rId2" Type="http://schemas.openxmlformats.org/officeDocument/2006/relationships/notesSlide" Target="../notesSlides/notesSlide121.xml"/><Relationship Id="rId1" Type="http://schemas.openxmlformats.org/officeDocument/2006/relationships/slideLayout" Target="../slideLayouts/slideLayout9.xml"/><Relationship Id="rId6" Type="http://schemas.openxmlformats.org/officeDocument/2006/relationships/image" Target="../media/image13.png"/><Relationship Id="rId5" Type="http://schemas.openxmlformats.org/officeDocument/2006/relationships/customXml" Target="../ink/ink5.xml"/><Relationship Id="rId4" Type="http://schemas.openxmlformats.org/officeDocument/2006/relationships/image" Target="../media/image12.png"/></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9.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25.xml"/><Relationship Id="rId1" Type="http://schemas.openxmlformats.org/officeDocument/2006/relationships/slideLayout" Target="../slideLayouts/slideLayout9.xml"/><Relationship Id="rId4" Type="http://schemas.openxmlformats.org/officeDocument/2006/relationships/image" Target="../media/image10.jpeg"/></Relationships>
</file>

<file path=ppt/slides/_rels/slide127.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26.xml"/><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27.xml"/><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5.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42.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4.emf"/><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9B60FA6-6E24-C6E2-C35D-A4139BCE2E8B}"/>
              </a:ext>
            </a:extLst>
          </p:cNvPr>
          <p:cNvPicPr>
            <a:picLocks noChangeAspect="1"/>
          </p:cNvPicPr>
          <p:nvPr/>
        </p:nvPicPr>
        <p:blipFill>
          <a:blip r:embed="rId3"/>
          <a:stretch>
            <a:fillRect/>
          </a:stretch>
        </p:blipFill>
        <p:spPr>
          <a:xfrm>
            <a:off x="4747929" y="4846192"/>
            <a:ext cx="2696138" cy="45719"/>
          </a:xfrm>
          <a:prstGeom prst="rect">
            <a:avLst/>
          </a:prstGeom>
        </p:spPr>
      </p:pic>
      <p:sp>
        <p:nvSpPr>
          <p:cNvPr id="5" name="TextBox 4">
            <a:extLst>
              <a:ext uri="{FF2B5EF4-FFF2-40B4-BE49-F238E27FC236}">
                <a16:creationId xmlns:a16="http://schemas.microsoft.com/office/drawing/2014/main" id="{0BF4BEED-3D12-D343-768A-9E83F9558AE0}"/>
              </a:ext>
            </a:extLst>
          </p:cNvPr>
          <p:cNvSpPr txBox="1"/>
          <p:nvPr/>
        </p:nvSpPr>
        <p:spPr>
          <a:xfrm>
            <a:off x="668594" y="4138306"/>
            <a:ext cx="10746658" cy="646331"/>
          </a:xfrm>
          <a:prstGeom prst="rect">
            <a:avLst/>
          </a:prstGeom>
          <a:noFill/>
        </p:spPr>
        <p:txBody>
          <a:bodyPr wrap="square" rtlCol="0">
            <a:spAutoFit/>
          </a:bodyPr>
          <a:lstStyle/>
          <a:p>
            <a:pPr algn="ctr"/>
            <a:r>
              <a:rPr lang="en-US" sz="3600" dirty="0">
                <a:latin typeface="Roboto" panose="02000000000000000000" pitchFamily="2" charset="0"/>
                <a:ea typeface="Roboto" panose="02000000000000000000" pitchFamily="2" charset="0"/>
                <a:cs typeface="Roboto" panose="02000000000000000000" pitchFamily="2" charset="0"/>
              </a:rPr>
              <a:t>Value Stream Mapping of Information Flow VSMi®</a:t>
            </a:r>
          </a:p>
        </p:txBody>
      </p:sp>
      <p:sp>
        <p:nvSpPr>
          <p:cNvPr id="3" name="Slide Number Placeholder 2">
            <a:extLst>
              <a:ext uri="{FF2B5EF4-FFF2-40B4-BE49-F238E27FC236}">
                <a16:creationId xmlns:a16="http://schemas.microsoft.com/office/drawing/2014/main" id="{DCEF716D-CC64-6765-89C4-B03733484518}"/>
              </a:ext>
            </a:extLst>
          </p:cNvPr>
          <p:cNvSpPr>
            <a:spLocks noGrp="1"/>
          </p:cNvSpPr>
          <p:nvPr>
            <p:ph type="sldNum" sz="quarter" idx="4"/>
          </p:nvPr>
        </p:nvSpPr>
        <p:spPr>
          <a:xfrm>
            <a:off x="8595078" y="6386632"/>
            <a:ext cx="2743200" cy="331932"/>
          </a:xfrm>
          <a:prstGeom prst="rect">
            <a:avLst/>
          </a:prstGeom>
        </p:spPr>
        <p:txBody>
          <a:bodyPr vert="horz" lIns="91440" tIns="45720" rIns="91440" bIns="45720" rtlCol="0" anchor="ctr"/>
          <a:lstStyle>
            <a:defPPr>
              <a:defRPr lang="en-US"/>
            </a:defPPr>
            <a:lvl1pPr marL="0" algn="r" defTabSz="914400" rtl="0" eaLnBrk="1" latinLnBrk="0" hangingPunct="1">
              <a:defRPr sz="10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6D4273-7FC1-0947-B9FE-19CB3C0D1FB6}" type="slidenum">
              <a:rPr lang="en-US" smtClean="0"/>
              <a:pPr/>
              <a:t>1</a:t>
            </a:fld>
            <a:endParaRPr lang="en-US"/>
          </a:p>
        </p:txBody>
      </p:sp>
      <p:sp>
        <p:nvSpPr>
          <p:cNvPr id="2" name="Subtitle 2">
            <a:extLst>
              <a:ext uri="{FF2B5EF4-FFF2-40B4-BE49-F238E27FC236}">
                <a16:creationId xmlns:a16="http://schemas.microsoft.com/office/drawing/2014/main" id="{7CA7BC00-F93C-65C4-CFFF-FB12FBD6E077}"/>
              </a:ext>
            </a:extLst>
          </p:cNvPr>
          <p:cNvSpPr txBox="1">
            <a:spLocks/>
          </p:cNvSpPr>
          <p:nvPr/>
        </p:nvSpPr>
        <p:spPr>
          <a:xfrm>
            <a:off x="1523998" y="4953466"/>
            <a:ext cx="9144000" cy="47316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dirty="0"/>
              <a:t>VSMi for Non-transactional Processes</a:t>
            </a:r>
          </a:p>
        </p:txBody>
      </p:sp>
    </p:spTree>
    <p:extLst>
      <p:ext uri="{BB962C8B-B14F-4D97-AF65-F5344CB8AC3E}">
        <p14:creationId xmlns:p14="http://schemas.microsoft.com/office/powerpoint/2010/main" val="5527953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705" y="793843"/>
            <a:ext cx="10515600" cy="1022351"/>
          </a:xfrm>
          <a:prstGeom prst="rect">
            <a:avLst/>
          </a:prstGeom>
        </p:spPr>
        <p:txBody>
          <a:bodyPr lIns="91440" tIns="45720" rIns="91440" bIns="45720" anchor="t"/>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dirty="0">
                <a:solidFill>
                  <a:schemeClr val="tx1"/>
                </a:solidFill>
                <a:latin typeface="Roboto Medium"/>
                <a:cs typeface="Roboto"/>
              </a:rPr>
              <a:t>Other</a:t>
            </a:r>
            <a:r>
              <a:rPr lang="en-US" dirty="0">
                <a:solidFill>
                  <a:schemeClr val="tx1"/>
                </a:solidFill>
                <a:latin typeface="Roboto Medium"/>
                <a:cs typeface="Roboto Medium"/>
              </a:rPr>
              <a:t>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3"/>
          <a:stretch>
            <a:fillRect/>
          </a:stretch>
        </p:blipFill>
        <p:spPr>
          <a:xfrm>
            <a:off x="605117" y="1638489"/>
            <a:ext cx="3939240" cy="45719"/>
          </a:xfrm>
          <a:prstGeom prst="rect">
            <a:avLst/>
          </a:prstGeom>
        </p:spPr>
      </p:pic>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5839258" y="1166648"/>
            <a:ext cx="5157787" cy="3684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Administrative Lean</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Cause &amp; Effect Diagram with the Additions of Cards (CEDAC)</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Value Stream Mapping (VSMi®)</a:t>
            </a:r>
          </a:p>
          <a:p>
            <a:pPr marL="0" indent="0" algn="r">
              <a:buNone/>
            </a:pPr>
            <a:r>
              <a:rPr lang="en-US" sz="1400" dirty="0">
                <a:solidFill>
                  <a:schemeClr val="tx1"/>
                </a:solidFill>
              </a:rPr>
              <a:t>Visual Management</a:t>
            </a:r>
          </a:p>
          <a:p>
            <a:pPr marL="0" indent="0" algn="r">
              <a:buNone/>
            </a:pPr>
            <a:r>
              <a:rPr lang="en-US" sz="1400" dirty="0">
                <a:solidFill>
                  <a:schemeClr val="tx1"/>
                </a:solidFill>
              </a:rPr>
              <a:t>Managing Daily Process Excellence</a:t>
            </a:r>
          </a:p>
        </p:txBody>
      </p:sp>
      <p:pic>
        <p:nvPicPr>
          <p:cNvPr id="11" name="Picture 10">
            <a:extLst>
              <a:ext uri="{FF2B5EF4-FFF2-40B4-BE49-F238E27FC236}">
                <a16:creationId xmlns:a16="http://schemas.microsoft.com/office/drawing/2014/main" id="{11F73560-3A07-DDBC-A93D-9C2969C3C8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1069695" y="4201690"/>
            <a:ext cx="3475310" cy="19902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375" y="4590893"/>
            <a:ext cx="2879948" cy="838178"/>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sp>
        <p:nvSpPr>
          <p:cNvPr id="18" name="Slide Number Placeholder 17">
            <a:extLst>
              <a:ext uri="{FF2B5EF4-FFF2-40B4-BE49-F238E27FC236}">
                <a16:creationId xmlns:a16="http://schemas.microsoft.com/office/drawing/2014/main" id="{F71C8E8F-D781-AA13-E1D1-E5284A242753}"/>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a:t>
            </a:fld>
            <a:endParaRPr lang="en-US" dirty="0"/>
          </a:p>
        </p:txBody>
      </p:sp>
    </p:spTree>
    <p:extLst>
      <p:ext uri="{BB962C8B-B14F-4D97-AF65-F5344CB8AC3E}">
        <p14:creationId xmlns:p14="http://schemas.microsoft.com/office/powerpoint/2010/main" val="81102938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3517106" y="2278809"/>
            <a:ext cx="5157787" cy="230038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000" dirty="0">
                <a:solidFill>
                  <a:schemeClr val="tx1"/>
                </a:solidFill>
              </a:rPr>
              <a:t>This document contains confidential</a:t>
            </a:r>
            <a:br>
              <a:rPr lang="en-US" sz="2000" dirty="0">
                <a:solidFill>
                  <a:schemeClr val="tx1"/>
                </a:solidFill>
              </a:rPr>
            </a:br>
            <a:r>
              <a:rPr lang="en-US" sz="2000" dirty="0">
                <a:solidFill>
                  <a:schemeClr val="tx1"/>
                </a:solidFill>
              </a:rPr>
              <a:t>and proprietary information owned</a:t>
            </a:r>
            <a:br>
              <a:rPr lang="en-US" sz="2000" dirty="0">
                <a:solidFill>
                  <a:schemeClr val="tx1"/>
                </a:solidFill>
              </a:rPr>
            </a:br>
            <a:r>
              <a:rPr lang="en-US" sz="2000" dirty="0">
                <a:solidFill>
                  <a:schemeClr val="tx1"/>
                </a:solidFill>
              </a:rPr>
              <a:t> by Lean Horizons Consulting, LLC.</a:t>
            </a:r>
            <a:br>
              <a:rPr lang="en-US" sz="2000" dirty="0">
                <a:solidFill>
                  <a:schemeClr val="tx1"/>
                </a:solidFill>
              </a:rPr>
            </a:br>
            <a:br>
              <a:rPr lang="en-US" sz="2000" dirty="0">
                <a:solidFill>
                  <a:schemeClr val="tx1"/>
                </a:solidFill>
              </a:rPr>
            </a:br>
            <a:r>
              <a:rPr lang="en-US" sz="2000" dirty="0">
                <a:solidFill>
                  <a:schemeClr val="tx1"/>
                </a:solidFill>
              </a:rPr>
              <a:t>Any disclosure, use, copying or</a:t>
            </a:r>
            <a:br>
              <a:rPr lang="en-US" sz="2000" dirty="0">
                <a:solidFill>
                  <a:schemeClr val="tx1"/>
                </a:solidFill>
              </a:rPr>
            </a:br>
            <a:r>
              <a:rPr lang="en-US" sz="2000" dirty="0">
                <a:solidFill>
                  <a:schemeClr val="tx1"/>
                </a:solidFill>
              </a:rPr>
              <a:t>distribution of this information without the express written consent of Lean Horizons Consulting is strictly prohibited.</a:t>
            </a:r>
          </a:p>
        </p:txBody>
      </p:sp>
      <p:sp>
        <p:nvSpPr>
          <p:cNvPr id="12" name="Slide Number Placeholder 11">
            <a:extLst>
              <a:ext uri="{FF2B5EF4-FFF2-40B4-BE49-F238E27FC236}">
                <a16:creationId xmlns:a16="http://schemas.microsoft.com/office/drawing/2014/main" id="{C8A6FCFA-DB7B-71C3-70EC-F677EBA239A7}"/>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a:t>
            </a:fld>
            <a:endParaRPr lang="en-US"/>
          </a:p>
        </p:txBody>
      </p:sp>
    </p:spTree>
    <p:extLst>
      <p:ext uri="{BB962C8B-B14F-4D97-AF65-F5344CB8AC3E}">
        <p14:creationId xmlns:p14="http://schemas.microsoft.com/office/powerpoint/2010/main" val="378529601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761B1F-82BB-20AA-556E-27FE22CCD7A0}"/>
              </a:ext>
            </a:extLst>
          </p:cNvPr>
          <p:cNvSpPr>
            <a:spLocks noGrp="1"/>
          </p:cNvSpPr>
          <p:nvPr>
            <p:ph type="title"/>
          </p:nvPr>
        </p:nvSpPr>
        <p:spPr/>
        <p:txBody>
          <a:bodyPr>
            <a:normAutofit/>
          </a:bodyPr>
          <a:lstStyle/>
          <a:p>
            <a:r>
              <a:rPr lang="en-US" sz="4000" dirty="0">
                <a:latin typeface="Roboto Medium"/>
                <a:ea typeface="Roboto Medium"/>
                <a:cs typeface="Roboto Medium"/>
              </a:rPr>
              <a:t>Ground Rules for Event</a:t>
            </a:r>
          </a:p>
        </p:txBody>
      </p:sp>
      <p:sp>
        <p:nvSpPr>
          <p:cNvPr id="3" name="Content Placeholder 2">
            <a:extLst>
              <a:ext uri="{FF2B5EF4-FFF2-40B4-BE49-F238E27FC236}">
                <a16:creationId xmlns:a16="http://schemas.microsoft.com/office/drawing/2014/main" id="{D1CAA202-895A-70BD-7319-C214C2BDD1B2}"/>
              </a:ext>
            </a:extLst>
          </p:cNvPr>
          <p:cNvSpPr>
            <a:spLocks noGrp="1"/>
          </p:cNvSpPr>
          <p:nvPr>
            <p:ph idx="1"/>
          </p:nvPr>
        </p:nvSpPr>
        <p:spPr/>
        <p:txBody>
          <a:bodyPr/>
          <a:lstStyle/>
          <a:p>
            <a:r>
              <a:rPr lang="en-US" dirty="0"/>
              <a:t>Active participation by all</a:t>
            </a:r>
          </a:p>
          <a:p>
            <a:r>
              <a:rPr lang="en-US" dirty="0"/>
              <a:t>Start and end on time</a:t>
            </a:r>
          </a:p>
          <a:p>
            <a:r>
              <a:rPr lang="en-US" dirty="0"/>
              <a:t>All electronic gadgets (phones, pagers, </a:t>
            </a:r>
            <a:r>
              <a:rPr lang="en-US" dirty="0" err="1"/>
              <a:t>etc</a:t>
            </a:r>
            <a:r>
              <a:rPr lang="en-US" dirty="0"/>
              <a:t>) turned to “off” or “silent”</a:t>
            </a:r>
          </a:p>
          <a:p>
            <a:r>
              <a:rPr lang="en-US" dirty="0"/>
              <a:t>Computers to be used only when instructed</a:t>
            </a:r>
          </a:p>
          <a:p>
            <a:r>
              <a:rPr lang="en-US" dirty="0"/>
              <a:t>Keep an open mind to change</a:t>
            </a:r>
          </a:p>
          <a:p>
            <a:r>
              <a:rPr lang="en-US" dirty="0"/>
              <a:t>Don’t let “perfect” get in the way of “better”</a:t>
            </a:r>
          </a:p>
        </p:txBody>
      </p:sp>
      <p:sp>
        <p:nvSpPr>
          <p:cNvPr id="8" name="Slide Number Placeholder 7">
            <a:extLst>
              <a:ext uri="{FF2B5EF4-FFF2-40B4-BE49-F238E27FC236}">
                <a16:creationId xmlns:a16="http://schemas.microsoft.com/office/drawing/2014/main" id="{42705716-A551-625A-37E2-96047D07B497}"/>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4</a:t>
            </a:fld>
            <a:endParaRPr lang="en-US"/>
          </a:p>
        </p:txBody>
      </p:sp>
    </p:spTree>
    <p:extLst>
      <p:ext uri="{BB962C8B-B14F-4D97-AF65-F5344CB8AC3E}">
        <p14:creationId xmlns:p14="http://schemas.microsoft.com/office/powerpoint/2010/main" val="272618864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9AF1BE-FC74-D20F-6189-931578F7FF58}"/>
              </a:ext>
            </a:extLst>
          </p:cNvPr>
          <p:cNvSpPr>
            <a:spLocks noGrp="1"/>
          </p:cNvSpPr>
          <p:nvPr>
            <p:ph type="title"/>
          </p:nvPr>
        </p:nvSpPr>
        <p:spPr/>
        <p:txBody>
          <a:bodyPr/>
          <a:lstStyle/>
          <a:p>
            <a:r>
              <a:rPr lang="en-US" dirty="0"/>
              <a:t>Value Stream Mapping Defined</a:t>
            </a:r>
          </a:p>
        </p:txBody>
      </p:sp>
      <p:sp>
        <p:nvSpPr>
          <p:cNvPr id="3" name="Text Placeholder 2">
            <a:extLst>
              <a:ext uri="{FF2B5EF4-FFF2-40B4-BE49-F238E27FC236}">
                <a16:creationId xmlns:a16="http://schemas.microsoft.com/office/drawing/2014/main" id="{BF2D1452-04BC-1846-9D2B-D064B736ED43}"/>
              </a:ext>
            </a:extLst>
          </p:cNvPr>
          <p:cNvSpPr>
            <a:spLocks noGrp="1"/>
          </p:cNvSpPr>
          <p:nvPr>
            <p:ph type="body" idx="1"/>
          </p:nvPr>
        </p:nvSpPr>
        <p:spPr>
          <a:xfrm>
            <a:off x="822678" y="3428524"/>
            <a:ext cx="5157787" cy="823912"/>
          </a:xfrm>
        </p:spPr>
        <p:txBody>
          <a:bodyPr/>
          <a:lstStyle/>
          <a:p>
            <a:r>
              <a:rPr lang="en-US" dirty="0"/>
              <a:t>Key Characteristics</a:t>
            </a:r>
          </a:p>
        </p:txBody>
      </p:sp>
      <p:sp>
        <p:nvSpPr>
          <p:cNvPr id="4" name="Content Placeholder 3">
            <a:extLst>
              <a:ext uri="{FF2B5EF4-FFF2-40B4-BE49-F238E27FC236}">
                <a16:creationId xmlns:a16="http://schemas.microsoft.com/office/drawing/2014/main" id="{2E3BC3A4-C860-76B2-2DD3-B03AB882C853}"/>
              </a:ext>
            </a:extLst>
          </p:cNvPr>
          <p:cNvSpPr>
            <a:spLocks noGrp="1"/>
          </p:cNvSpPr>
          <p:nvPr>
            <p:ph sz="half" idx="2"/>
          </p:nvPr>
        </p:nvSpPr>
        <p:spPr>
          <a:xfrm>
            <a:off x="839788" y="4423409"/>
            <a:ext cx="5157787" cy="2177733"/>
          </a:xfrm>
        </p:spPr>
        <p:txBody>
          <a:bodyPr>
            <a:normAutofit fontScale="70000" lnSpcReduction="20000"/>
          </a:bodyPr>
          <a:lstStyle/>
          <a:p>
            <a:r>
              <a:rPr lang="en-US" dirty="0"/>
              <a:t>VSM is a graphical representation that uses a common mapping language</a:t>
            </a:r>
          </a:p>
          <a:p>
            <a:r>
              <a:rPr lang="en-US" dirty="0"/>
              <a:t>VSM provides the basis and direction for identifying improvement opportunities</a:t>
            </a:r>
          </a:p>
          <a:p>
            <a:r>
              <a:rPr lang="en-US" dirty="0"/>
              <a:t>Conducting VSM does not in and of itself yield any improvements… the power is in the plan! </a:t>
            </a:r>
          </a:p>
          <a:p>
            <a:endParaRPr lang="en-US" dirty="0"/>
          </a:p>
        </p:txBody>
      </p:sp>
      <p:sp>
        <p:nvSpPr>
          <p:cNvPr id="5" name="Text Placeholder 4">
            <a:extLst>
              <a:ext uri="{FF2B5EF4-FFF2-40B4-BE49-F238E27FC236}">
                <a16:creationId xmlns:a16="http://schemas.microsoft.com/office/drawing/2014/main" id="{D97C3043-C5C3-113A-8520-6B843B812614}"/>
              </a:ext>
            </a:extLst>
          </p:cNvPr>
          <p:cNvSpPr>
            <a:spLocks noGrp="1"/>
          </p:cNvSpPr>
          <p:nvPr>
            <p:ph type="body" sz="quarter" idx="3"/>
          </p:nvPr>
        </p:nvSpPr>
        <p:spPr>
          <a:xfrm>
            <a:off x="6155090" y="3428524"/>
            <a:ext cx="5183188" cy="823912"/>
          </a:xfrm>
        </p:spPr>
        <p:txBody>
          <a:bodyPr/>
          <a:lstStyle/>
          <a:p>
            <a:r>
              <a:rPr lang="en-US" dirty="0"/>
              <a:t>Components of VSM</a:t>
            </a:r>
          </a:p>
        </p:txBody>
      </p:sp>
      <p:sp>
        <p:nvSpPr>
          <p:cNvPr id="6" name="Content Placeholder 5">
            <a:extLst>
              <a:ext uri="{FF2B5EF4-FFF2-40B4-BE49-F238E27FC236}">
                <a16:creationId xmlns:a16="http://schemas.microsoft.com/office/drawing/2014/main" id="{705B0951-5D5C-15E9-2447-60234BD31A60}"/>
              </a:ext>
            </a:extLst>
          </p:cNvPr>
          <p:cNvSpPr>
            <a:spLocks noGrp="1"/>
          </p:cNvSpPr>
          <p:nvPr>
            <p:ph sz="quarter" idx="4"/>
          </p:nvPr>
        </p:nvSpPr>
        <p:spPr>
          <a:xfrm>
            <a:off x="6172200" y="4423409"/>
            <a:ext cx="5183188" cy="2177733"/>
          </a:xfrm>
        </p:spPr>
        <p:txBody>
          <a:bodyPr>
            <a:normAutofit fontScale="70000" lnSpcReduction="20000"/>
          </a:bodyPr>
          <a:lstStyle/>
          <a:p>
            <a:r>
              <a:rPr lang="en-US" dirty="0"/>
              <a:t>Current State Value Stream Map</a:t>
            </a:r>
          </a:p>
          <a:p>
            <a:r>
              <a:rPr lang="en-US" dirty="0"/>
              <a:t>Mark-Up of Current State </a:t>
            </a:r>
            <a:br>
              <a:rPr lang="en-US" dirty="0"/>
            </a:br>
            <a:r>
              <a:rPr lang="en-US" dirty="0"/>
              <a:t>Value Stream Map</a:t>
            </a:r>
          </a:p>
          <a:p>
            <a:r>
              <a:rPr lang="en-US" dirty="0"/>
              <a:t>Future State Value Stream Map</a:t>
            </a:r>
          </a:p>
          <a:p>
            <a:r>
              <a:rPr lang="en-US" dirty="0"/>
              <a:t>Value Stream Plan</a:t>
            </a:r>
          </a:p>
          <a:p>
            <a:endParaRPr lang="en-US" dirty="0"/>
          </a:p>
        </p:txBody>
      </p:sp>
      <p:sp>
        <p:nvSpPr>
          <p:cNvPr id="8" name="Slide Number Placeholder 7">
            <a:extLst>
              <a:ext uri="{FF2B5EF4-FFF2-40B4-BE49-F238E27FC236}">
                <a16:creationId xmlns:a16="http://schemas.microsoft.com/office/drawing/2014/main" id="{408954DA-A1B0-C7B8-680E-6D1AB2D2B67A}"/>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a:t>
            </a:fld>
            <a:endParaRPr lang="en-US"/>
          </a:p>
        </p:txBody>
      </p:sp>
      <p:grpSp>
        <p:nvGrpSpPr>
          <p:cNvPr id="10" name="Group 9">
            <a:extLst>
              <a:ext uri="{FF2B5EF4-FFF2-40B4-BE49-F238E27FC236}">
                <a16:creationId xmlns:a16="http://schemas.microsoft.com/office/drawing/2014/main" id="{B47AFE3C-B125-AEEF-3EA8-2E459BAA768D}"/>
              </a:ext>
            </a:extLst>
          </p:cNvPr>
          <p:cNvGrpSpPr/>
          <p:nvPr/>
        </p:nvGrpSpPr>
        <p:grpSpPr>
          <a:xfrm>
            <a:off x="2095594" y="1929052"/>
            <a:ext cx="8212138" cy="1614487"/>
            <a:chOff x="1439545" y="1711882"/>
            <a:chExt cx="8212138" cy="1614487"/>
          </a:xfrm>
        </p:grpSpPr>
        <p:sp>
          <p:nvSpPr>
            <p:cNvPr id="7" name="Rectangle 3">
              <a:extLst>
                <a:ext uri="{FF2B5EF4-FFF2-40B4-BE49-F238E27FC236}">
                  <a16:creationId xmlns:a16="http://schemas.microsoft.com/office/drawing/2014/main" id="{3EDF77A4-B056-33BF-1E15-CEF4AB2A5880}"/>
                </a:ext>
              </a:extLst>
            </p:cNvPr>
            <p:cNvSpPr>
              <a:spLocks noChangeArrowheads="1"/>
            </p:cNvSpPr>
            <p:nvPr/>
          </p:nvSpPr>
          <p:spPr bwMode="auto">
            <a:xfrm>
              <a:off x="1439545" y="1891269"/>
              <a:ext cx="8212138" cy="1435100"/>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15000"/>
                </a:lnSpc>
                <a:spcBef>
                  <a:spcPct val="50000"/>
                </a:spcBef>
                <a:spcAft>
                  <a:spcPct val="50000"/>
                </a:spcAft>
                <a:buClr>
                  <a:srgbClr val="006699"/>
                </a:buClr>
                <a:buSzPct val="40000"/>
                <a:buFont typeface="Wingdings" panose="05000000000000000000" pitchFamily="2" charset="2"/>
                <a:buNone/>
              </a:pPr>
              <a:r>
                <a:rPr lang="en-US" altLang="en-US" sz="2000" b="0" dirty="0">
                  <a:solidFill>
                    <a:schemeClr val="tx1"/>
                  </a:solidFill>
                  <a:latin typeface="Roboto" panose="02000000000000000000" pitchFamily="2" charset="0"/>
                  <a:ea typeface="Roboto" panose="02000000000000000000" pitchFamily="2" charset="0"/>
                </a:rPr>
                <a:t>VSM is a snapshot of all actions both value added, and non-value added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required to bring a product or service through the main material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and information flows</a:t>
              </a:r>
            </a:p>
          </p:txBody>
        </p:sp>
        <p:sp>
          <p:nvSpPr>
            <p:cNvPr id="9" name="Text Box 4">
              <a:extLst>
                <a:ext uri="{FF2B5EF4-FFF2-40B4-BE49-F238E27FC236}">
                  <a16:creationId xmlns:a16="http://schemas.microsoft.com/office/drawing/2014/main" id="{E535AC7D-6648-9018-8FA0-6636C57ABA71}"/>
                </a:ext>
              </a:extLst>
            </p:cNvPr>
            <p:cNvSpPr txBox="1">
              <a:spLocks noChangeArrowheads="1"/>
            </p:cNvSpPr>
            <p:nvPr/>
          </p:nvSpPr>
          <p:spPr bwMode="auto">
            <a:xfrm>
              <a:off x="1548259" y="1711882"/>
              <a:ext cx="2632452" cy="39087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400" dirty="0">
                  <a:solidFill>
                    <a:schemeClr val="tx1"/>
                  </a:solidFill>
                  <a:latin typeface="Roboto" panose="02000000000000000000" pitchFamily="2" charset="0"/>
                  <a:ea typeface="Roboto" panose="02000000000000000000" pitchFamily="2" charset="0"/>
                </a:rPr>
                <a:t>Definition of VSM</a:t>
              </a:r>
            </a:p>
          </p:txBody>
        </p:sp>
      </p:grpSp>
    </p:spTree>
    <p:extLst>
      <p:ext uri="{BB962C8B-B14F-4D97-AF65-F5344CB8AC3E}">
        <p14:creationId xmlns:p14="http://schemas.microsoft.com/office/powerpoint/2010/main" val="33887897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The “</a:t>
            </a:r>
            <a:r>
              <a:rPr lang="en-US" dirty="0" err="1"/>
              <a:t>i</a:t>
            </a:r>
            <a:r>
              <a:rPr lang="en-US" dirty="0"/>
              <a:t>” in VSMi </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VSMi is about identifying and eliminating waste associated with the flow of information</a:t>
            </a:r>
          </a:p>
          <a:p>
            <a:r>
              <a:rPr lang="en-US" dirty="0"/>
              <a:t>Information flow is defined as adding to, subtracting from, interpreting, or reformatting information</a:t>
            </a:r>
          </a:p>
          <a:p>
            <a:r>
              <a:rPr lang="en-US" dirty="0"/>
              <a:t>Information must arrive at the to the right place, at the right time, and to the right person</a:t>
            </a:r>
          </a:p>
          <a:p>
            <a:r>
              <a:rPr lang="en-US" dirty="0"/>
              <a:t>Processes today are not designed around information flow</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a:t>
            </a:fld>
            <a:endParaRPr lang="en-US"/>
          </a:p>
        </p:txBody>
      </p:sp>
    </p:spTree>
    <p:extLst>
      <p:ext uri="{BB962C8B-B14F-4D97-AF65-F5344CB8AC3E}">
        <p14:creationId xmlns:p14="http://schemas.microsoft.com/office/powerpoint/2010/main" val="287701348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 and Process Map Distinction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a:t>
            </a:fld>
            <a:endParaRPr lang="en-US"/>
          </a:p>
        </p:txBody>
      </p:sp>
      <p:grpSp>
        <p:nvGrpSpPr>
          <p:cNvPr id="72" name="Group 71">
            <a:extLst>
              <a:ext uri="{FF2B5EF4-FFF2-40B4-BE49-F238E27FC236}">
                <a16:creationId xmlns:a16="http://schemas.microsoft.com/office/drawing/2014/main" id="{EF01F14C-FD01-E435-9637-9ADD356FA8BB}"/>
              </a:ext>
            </a:extLst>
          </p:cNvPr>
          <p:cNvGrpSpPr/>
          <p:nvPr/>
        </p:nvGrpSpPr>
        <p:grpSpPr>
          <a:xfrm>
            <a:off x="791098" y="1786242"/>
            <a:ext cx="10471323" cy="4385958"/>
            <a:chOff x="267566" y="1439863"/>
            <a:chExt cx="8457335" cy="4732337"/>
          </a:xfrm>
        </p:grpSpPr>
        <p:sp>
          <p:nvSpPr>
            <p:cNvPr id="3" name="AutoShape 2">
              <a:extLst>
                <a:ext uri="{FF2B5EF4-FFF2-40B4-BE49-F238E27FC236}">
                  <a16:creationId xmlns:a16="http://schemas.microsoft.com/office/drawing/2014/main" id="{2C16AACA-F229-6258-66B9-5A8868FF9D02}"/>
                </a:ext>
              </a:extLst>
            </p:cNvPr>
            <p:cNvSpPr>
              <a:spLocks noChangeArrowheads="1"/>
            </p:cNvSpPr>
            <p:nvPr/>
          </p:nvSpPr>
          <p:spPr bwMode="auto">
            <a:xfrm>
              <a:off x="267566" y="4508500"/>
              <a:ext cx="4432300" cy="1663700"/>
            </a:xfrm>
            <a:prstGeom prst="upArrow">
              <a:avLst>
                <a:gd name="adj1" fmla="val 83704"/>
                <a:gd name="adj2" fmla="val 30343"/>
              </a:avLst>
            </a:prstGeom>
            <a:solidFill>
              <a:schemeClr val="accent3"/>
            </a:solidFill>
            <a:ln w="12700" cap="sq">
              <a:solidFill>
                <a:schemeClr val="tx1"/>
              </a:solidFill>
              <a:miter lim="800000"/>
              <a:headEnd/>
              <a:tailEnd/>
            </a:ln>
          </p:spPr>
          <p:txBody>
            <a:bodyPr wrap="non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a:latin typeface="Roboto" panose="02000000000000000000" pitchFamily="2" charset="0"/>
                  <a:ea typeface="Roboto" panose="02000000000000000000" pitchFamily="2" charset="0"/>
                </a:rPr>
                <a:t>High-level snapshot of end-to-end business</a:t>
              </a:r>
              <a:br>
                <a:rPr lang="en-US" altLang="en-US" sz="1200">
                  <a:latin typeface="Roboto" panose="02000000000000000000" pitchFamily="2" charset="0"/>
                  <a:ea typeface="Roboto" panose="02000000000000000000" pitchFamily="2" charset="0"/>
                </a:rPr>
              </a:br>
              <a:endParaRPr lang="en-US" altLang="en-US" sz="1200">
                <a:latin typeface="Roboto" panose="02000000000000000000" pitchFamily="2" charset="0"/>
                <a:ea typeface="Roboto" panose="02000000000000000000" pitchFamily="2" charset="0"/>
              </a:endParaRPr>
            </a:p>
            <a:p>
              <a:pPr algn="l">
                <a:buFontTx/>
                <a:buChar char="•"/>
              </a:pPr>
              <a:r>
                <a:rPr lang="en-US" altLang="en-US" sz="1200">
                  <a:latin typeface="Roboto" panose="02000000000000000000" pitchFamily="2" charset="0"/>
                  <a:ea typeface="Roboto" panose="02000000000000000000" pitchFamily="2" charset="0"/>
                </a:rPr>
                <a:t>Used to identify where opportunities for </a:t>
              </a:r>
              <a:br>
                <a:rPr lang="en-US" altLang="en-US" sz="1200">
                  <a:latin typeface="Roboto" panose="02000000000000000000" pitchFamily="2" charset="0"/>
                  <a:ea typeface="Roboto" panose="02000000000000000000" pitchFamily="2" charset="0"/>
                </a:rPr>
              </a:br>
              <a:r>
                <a:rPr lang="en-US" altLang="en-US" sz="1200">
                  <a:latin typeface="Roboto" panose="02000000000000000000" pitchFamily="2" charset="0"/>
                  <a:ea typeface="Roboto" panose="02000000000000000000" pitchFamily="2" charset="0"/>
                </a:rPr>
                <a:t>improvement exist</a:t>
              </a:r>
              <a:br>
                <a:rPr lang="en-US" altLang="en-US" sz="1200">
                  <a:latin typeface="Roboto" panose="02000000000000000000" pitchFamily="2" charset="0"/>
                  <a:ea typeface="Roboto" panose="02000000000000000000" pitchFamily="2" charset="0"/>
                </a:rPr>
              </a:br>
              <a:endParaRPr lang="en-US" altLang="en-US" sz="1200">
                <a:latin typeface="Roboto" panose="02000000000000000000" pitchFamily="2" charset="0"/>
                <a:ea typeface="Roboto" panose="02000000000000000000" pitchFamily="2" charset="0"/>
              </a:endParaRPr>
            </a:p>
            <a:p>
              <a:pPr algn="l">
                <a:buFontTx/>
                <a:buChar char="•"/>
              </a:pPr>
              <a:r>
                <a:rPr lang="en-US" altLang="en-US" sz="1200">
                  <a:latin typeface="Roboto" panose="02000000000000000000" pitchFamily="2" charset="0"/>
                  <a:ea typeface="Roboto" panose="02000000000000000000" pitchFamily="2" charset="0"/>
                </a:rPr>
                <a:t>Does not incorporate decision loops</a:t>
              </a:r>
            </a:p>
          </p:txBody>
        </p:sp>
        <p:grpSp>
          <p:nvGrpSpPr>
            <p:cNvPr id="5" name="Group 3">
              <a:extLst>
                <a:ext uri="{FF2B5EF4-FFF2-40B4-BE49-F238E27FC236}">
                  <a16:creationId xmlns:a16="http://schemas.microsoft.com/office/drawing/2014/main" id="{A2E66ABE-96B7-373B-446D-B02BD090CF39}"/>
                </a:ext>
              </a:extLst>
            </p:cNvPr>
            <p:cNvGrpSpPr>
              <a:grpSpLocks/>
            </p:cNvGrpSpPr>
            <p:nvPr/>
          </p:nvGrpSpPr>
          <p:grpSpPr bwMode="auto">
            <a:xfrm>
              <a:off x="485775" y="1535113"/>
              <a:ext cx="4264025" cy="2870200"/>
              <a:chOff x="68" y="876"/>
              <a:chExt cx="3244" cy="1908"/>
            </a:xfrm>
          </p:grpSpPr>
          <p:sp>
            <p:nvSpPr>
              <p:cNvPr id="6" name="Rectangle 4">
                <a:extLst>
                  <a:ext uri="{FF2B5EF4-FFF2-40B4-BE49-F238E27FC236}">
                    <a16:creationId xmlns:a16="http://schemas.microsoft.com/office/drawing/2014/main" id="{11A097DD-4FB5-7141-55BE-8335BA72BBE4}"/>
                  </a:ext>
                </a:extLst>
              </p:cNvPr>
              <p:cNvSpPr>
                <a:spLocks noChangeArrowheads="1"/>
              </p:cNvSpPr>
              <p:nvPr/>
            </p:nvSpPr>
            <p:spPr bwMode="auto">
              <a:xfrm>
                <a:off x="68" y="876"/>
                <a:ext cx="3244" cy="1908"/>
              </a:xfrm>
              <a:prstGeom prst="rect">
                <a:avLst/>
              </a:prstGeom>
              <a:solidFill>
                <a:schemeClr val="bg2"/>
              </a:solidFill>
              <a:ln w="12700" cap="sq">
                <a:solidFill>
                  <a:schemeClr val="tx1"/>
                </a:solidFill>
                <a:miter lim="800000"/>
                <a:headEnd type="none" w="sm" len="sm"/>
                <a:tailEnd type="none" w="sm" len="sm"/>
              </a:ln>
              <a:effectLst>
                <a:outerShdw blurRad="63500" dist="63500" dir="3187806" algn="ctr" rotWithShape="0">
                  <a:schemeClr val="tx1">
                    <a:alpha val="74998"/>
                  </a:schemeClr>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grpSp>
            <p:nvGrpSpPr>
              <p:cNvPr id="7" name="Group 5">
                <a:extLst>
                  <a:ext uri="{FF2B5EF4-FFF2-40B4-BE49-F238E27FC236}">
                    <a16:creationId xmlns:a16="http://schemas.microsoft.com/office/drawing/2014/main" id="{564C8143-5347-120C-26C7-A21E55470ACD}"/>
                  </a:ext>
                </a:extLst>
              </p:cNvPr>
              <p:cNvGrpSpPr>
                <a:grpSpLocks/>
              </p:cNvGrpSpPr>
              <p:nvPr/>
            </p:nvGrpSpPr>
            <p:grpSpPr bwMode="auto">
              <a:xfrm>
                <a:off x="144" y="1008"/>
                <a:ext cx="581" cy="367"/>
                <a:chOff x="933" y="2179"/>
                <a:chExt cx="658" cy="463"/>
              </a:xfrm>
            </p:grpSpPr>
            <p:sp>
              <p:nvSpPr>
                <p:cNvPr id="56" name="Rectangle 6">
                  <a:extLst>
                    <a:ext uri="{FF2B5EF4-FFF2-40B4-BE49-F238E27FC236}">
                      <a16:creationId xmlns:a16="http://schemas.microsoft.com/office/drawing/2014/main" id="{E5A79A5E-2E5D-BE36-72E6-02A37387087B}"/>
                    </a:ext>
                  </a:extLst>
                </p:cNvPr>
                <p:cNvSpPr>
                  <a:spLocks noChangeArrowheads="1"/>
                </p:cNvSpPr>
                <p:nvPr/>
              </p:nvSpPr>
              <p:spPr bwMode="auto">
                <a:xfrm>
                  <a:off x="1545" y="2179"/>
                  <a:ext cx="41"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7" name="Rectangle 7">
                  <a:extLst>
                    <a:ext uri="{FF2B5EF4-FFF2-40B4-BE49-F238E27FC236}">
                      <a16:creationId xmlns:a16="http://schemas.microsoft.com/office/drawing/2014/main" id="{0504077E-971C-6BD7-A5BB-7CC95DE99450}"/>
                    </a:ext>
                  </a:extLst>
                </p:cNvPr>
                <p:cNvSpPr>
                  <a:spLocks noChangeArrowheads="1"/>
                </p:cNvSpPr>
                <p:nvPr/>
              </p:nvSpPr>
              <p:spPr bwMode="auto">
                <a:xfrm>
                  <a:off x="933" y="2435"/>
                  <a:ext cx="658" cy="208"/>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8" name="AutoShape 8">
                  <a:extLst>
                    <a:ext uri="{FF2B5EF4-FFF2-40B4-BE49-F238E27FC236}">
                      <a16:creationId xmlns:a16="http://schemas.microsoft.com/office/drawing/2014/main" id="{E2D5AB62-5223-6C91-F8D8-B4DC40544D3F}"/>
                    </a:ext>
                  </a:extLst>
                </p:cNvPr>
                <p:cNvSpPr>
                  <a:spLocks noChangeArrowheads="1"/>
                </p:cNvSpPr>
                <p:nvPr/>
              </p:nvSpPr>
              <p:spPr bwMode="auto">
                <a:xfrm>
                  <a:off x="1342"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9" name="AutoShape 9">
                  <a:extLst>
                    <a:ext uri="{FF2B5EF4-FFF2-40B4-BE49-F238E27FC236}">
                      <a16:creationId xmlns:a16="http://schemas.microsoft.com/office/drawing/2014/main" id="{6535A95A-890A-0082-A7C5-A3C62D122F65}"/>
                    </a:ext>
                  </a:extLst>
                </p:cNvPr>
                <p:cNvSpPr>
                  <a:spLocks noChangeArrowheads="1"/>
                </p:cNvSpPr>
                <p:nvPr/>
              </p:nvSpPr>
              <p:spPr bwMode="auto">
                <a:xfrm>
                  <a:off x="1138"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0" name="AutoShape 10">
                  <a:extLst>
                    <a:ext uri="{FF2B5EF4-FFF2-40B4-BE49-F238E27FC236}">
                      <a16:creationId xmlns:a16="http://schemas.microsoft.com/office/drawing/2014/main" id="{71CECD7C-5536-E054-BF37-D69829BA797A}"/>
                    </a:ext>
                  </a:extLst>
                </p:cNvPr>
                <p:cNvSpPr>
                  <a:spLocks noChangeArrowheads="1"/>
                </p:cNvSpPr>
                <p:nvPr/>
              </p:nvSpPr>
              <p:spPr bwMode="auto">
                <a:xfrm>
                  <a:off x="934" y="2245"/>
                  <a:ext cx="201"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1" name="Rectangle 11">
                  <a:extLst>
                    <a:ext uri="{FF2B5EF4-FFF2-40B4-BE49-F238E27FC236}">
                      <a16:creationId xmlns:a16="http://schemas.microsoft.com/office/drawing/2014/main" id="{0D5702EA-290C-8A6C-1F83-3963FD3C0C54}"/>
                    </a:ext>
                  </a:extLst>
                </p:cNvPr>
                <p:cNvSpPr>
                  <a:spLocks noChangeArrowheads="1"/>
                </p:cNvSpPr>
                <p:nvPr/>
              </p:nvSpPr>
              <p:spPr bwMode="auto">
                <a:xfrm>
                  <a:off x="974"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2" name="Rectangle 12">
                  <a:extLst>
                    <a:ext uri="{FF2B5EF4-FFF2-40B4-BE49-F238E27FC236}">
                      <a16:creationId xmlns:a16="http://schemas.microsoft.com/office/drawing/2014/main" id="{B9147FD4-3DBA-CF0F-974A-4167C56D4D2C}"/>
                    </a:ext>
                  </a:extLst>
                </p:cNvPr>
                <p:cNvSpPr>
                  <a:spLocks noChangeArrowheads="1"/>
                </p:cNvSpPr>
                <p:nvPr/>
              </p:nvSpPr>
              <p:spPr bwMode="auto">
                <a:xfrm>
                  <a:off x="118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3" name="Rectangle 13">
                  <a:extLst>
                    <a:ext uri="{FF2B5EF4-FFF2-40B4-BE49-F238E27FC236}">
                      <a16:creationId xmlns:a16="http://schemas.microsoft.com/office/drawing/2014/main" id="{5407EF25-CA80-99AA-43A5-22D55492D9C6}"/>
                    </a:ext>
                  </a:extLst>
                </p:cNvPr>
                <p:cNvSpPr>
                  <a:spLocks noChangeArrowheads="1"/>
                </p:cNvSpPr>
                <p:nvPr/>
              </p:nvSpPr>
              <p:spPr bwMode="auto">
                <a:xfrm>
                  <a:off x="139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grpSp>
            <p:nvGrpSpPr>
              <p:cNvPr id="8" name="Group 14">
                <a:extLst>
                  <a:ext uri="{FF2B5EF4-FFF2-40B4-BE49-F238E27FC236}">
                    <a16:creationId xmlns:a16="http://schemas.microsoft.com/office/drawing/2014/main" id="{31E8548D-F045-9514-792E-AD9BF907947F}"/>
                  </a:ext>
                </a:extLst>
              </p:cNvPr>
              <p:cNvGrpSpPr>
                <a:grpSpLocks/>
              </p:cNvGrpSpPr>
              <p:nvPr/>
            </p:nvGrpSpPr>
            <p:grpSpPr bwMode="auto">
              <a:xfrm>
                <a:off x="2592" y="1008"/>
                <a:ext cx="581" cy="367"/>
                <a:chOff x="933" y="2179"/>
                <a:chExt cx="658" cy="463"/>
              </a:xfrm>
            </p:grpSpPr>
            <p:sp>
              <p:nvSpPr>
                <p:cNvPr id="48" name="Rectangle 15">
                  <a:extLst>
                    <a:ext uri="{FF2B5EF4-FFF2-40B4-BE49-F238E27FC236}">
                      <a16:creationId xmlns:a16="http://schemas.microsoft.com/office/drawing/2014/main" id="{8F57F6AC-EBE3-56EF-30A7-4681869E792C}"/>
                    </a:ext>
                  </a:extLst>
                </p:cNvPr>
                <p:cNvSpPr>
                  <a:spLocks noChangeArrowheads="1"/>
                </p:cNvSpPr>
                <p:nvPr/>
              </p:nvSpPr>
              <p:spPr bwMode="auto">
                <a:xfrm>
                  <a:off x="1545" y="2179"/>
                  <a:ext cx="41" cy="250"/>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9" name="Rectangle 16">
                  <a:extLst>
                    <a:ext uri="{FF2B5EF4-FFF2-40B4-BE49-F238E27FC236}">
                      <a16:creationId xmlns:a16="http://schemas.microsoft.com/office/drawing/2014/main" id="{7DF7DEA5-9F80-E7B6-8997-3B948F9CC27C}"/>
                    </a:ext>
                  </a:extLst>
                </p:cNvPr>
                <p:cNvSpPr>
                  <a:spLocks noChangeArrowheads="1"/>
                </p:cNvSpPr>
                <p:nvPr/>
              </p:nvSpPr>
              <p:spPr bwMode="auto">
                <a:xfrm>
                  <a:off x="933" y="2435"/>
                  <a:ext cx="658" cy="208"/>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0" name="AutoShape 17">
                  <a:extLst>
                    <a:ext uri="{FF2B5EF4-FFF2-40B4-BE49-F238E27FC236}">
                      <a16:creationId xmlns:a16="http://schemas.microsoft.com/office/drawing/2014/main" id="{F540BFE2-DE37-FAB1-47C5-F98CD908FAC7}"/>
                    </a:ext>
                  </a:extLst>
                </p:cNvPr>
                <p:cNvSpPr>
                  <a:spLocks noChangeArrowheads="1"/>
                </p:cNvSpPr>
                <p:nvPr/>
              </p:nvSpPr>
              <p:spPr bwMode="auto">
                <a:xfrm>
                  <a:off x="1342"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1" name="AutoShape 18">
                  <a:extLst>
                    <a:ext uri="{FF2B5EF4-FFF2-40B4-BE49-F238E27FC236}">
                      <a16:creationId xmlns:a16="http://schemas.microsoft.com/office/drawing/2014/main" id="{BB9DBB5A-FD22-17BB-4550-557E50E42C44}"/>
                    </a:ext>
                  </a:extLst>
                </p:cNvPr>
                <p:cNvSpPr>
                  <a:spLocks noChangeArrowheads="1"/>
                </p:cNvSpPr>
                <p:nvPr/>
              </p:nvSpPr>
              <p:spPr bwMode="auto">
                <a:xfrm>
                  <a:off x="1138" y="2245"/>
                  <a:ext cx="202"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2" name="AutoShape 19">
                  <a:extLst>
                    <a:ext uri="{FF2B5EF4-FFF2-40B4-BE49-F238E27FC236}">
                      <a16:creationId xmlns:a16="http://schemas.microsoft.com/office/drawing/2014/main" id="{B505DA99-6BAE-6ADB-4283-F53C95DF5512}"/>
                    </a:ext>
                  </a:extLst>
                </p:cNvPr>
                <p:cNvSpPr>
                  <a:spLocks noChangeArrowheads="1"/>
                </p:cNvSpPr>
                <p:nvPr/>
              </p:nvSpPr>
              <p:spPr bwMode="auto">
                <a:xfrm>
                  <a:off x="935" y="2245"/>
                  <a:ext cx="201" cy="189"/>
                </a:xfrm>
                <a:prstGeom prst="rtTriangle">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3" name="Rectangle 20">
                  <a:extLst>
                    <a:ext uri="{FF2B5EF4-FFF2-40B4-BE49-F238E27FC236}">
                      <a16:creationId xmlns:a16="http://schemas.microsoft.com/office/drawing/2014/main" id="{BC1B55C6-93DD-4CE3-E975-B51AB7E428C9}"/>
                    </a:ext>
                  </a:extLst>
                </p:cNvPr>
                <p:cNvSpPr>
                  <a:spLocks noChangeArrowheads="1"/>
                </p:cNvSpPr>
                <p:nvPr/>
              </p:nvSpPr>
              <p:spPr bwMode="auto">
                <a:xfrm>
                  <a:off x="974"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4" name="Rectangle 21">
                  <a:extLst>
                    <a:ext uri="{FF2B5EF4-FFF2-40B4-BE49-F238E27FC236}">
                      <a16:creationId xmlns:a16="http://schemas.microsoft.com/office/drawing/2014/main" id="{43958262-B9CC-3CCB-721E-8E1EBA64A9F4}"/>
                    </a:ext>
                  </a:extLst>
                </p:cNvPr>
                <p:cNvSpPr>
                  <a:spLocks noChangeArrowheads="1"/>
                </p:cNvSpPr>
                <p:nvPr/>
              </p:nvSpPr>
              <p:spPr bwMode="auto">
                <a:xfrm>
                  <a:off x="1185"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55" name="Rectangle 22">
                  <a:extLst>
                    <a:ext uri="{FF2B5EF4-FFF2-40B4-BE49-F238E27FC236}">
                      <a16:creationId xmlns:a16="http://schemas.microsoft.com/office/drawing/2014/main" id="{F14D5A54-F707-E64D-6CA2-08E7F51A74FD}"/>
                    </a:ext>
                  </a:extLst>
                </p:cNvPr>
                <p:cNvSpPr>
                  <a:spLocks noChangeArrowheads="1"/>
                </p:cNvSpPr>
                <p:nvPr/>
              </p:nvSpPr>
              <p:spPr bwMode="auto">
                <a:xfrm>
                  <a:off x="1396" y="2355"/>
                  <a:ext cx="27" cy="51"/>
                </a:xfrm>
                <a:prstGeom prst="rect">
                  <a:avLst/>
                </a:prstGeom>
                <a:solidFill>
                  <a:schemeClr val="tx2"/>
                </a:solidFill>
                <a:ln w="1905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9" name="Rectangle 23">
                <a:extLst>
                  <a:ext uri="{FF2B5EF4-FFF2-40B4-BE49-F238E27FC236}">
                    <a16:creationId xmlns:a16="http://schemas.microsoft.com/office/drawing/2014/main" id="{7FF13EF5-1081-CE79-8D0A-55714C12E9BA}"/>
                  </a:ext>
                </a:extLst>
              </p:cNvPr>
              <p:cNvSpPr>
                <a:spLocks noChangeArrowheads="1"/>
              </p:cNvSpPr>
              <p:nvPr/>
            </p:nvSpPr>
            <p:spPr bwMode="auto">
              <a:xfrm>
                <a:off x="720" y="1818"/>
                <a:ext cx="269"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0" name="Rectangle 24">
                <a:extLst>
                  <a:ext uri="{FF2B5EF4-FFF2-40B4-BE49-F238E27FC236}">
                    <a16:creationId xmlns:a16="http://schemas.microsoft.com/office/drawing/2014/main" id="{B89431D1-314C-09B5-6093-9FDA47D54C77}"/>
                  </a:ext>
                </a:extLst>
              </p:cNvPr>
              <p:cNvSpPr>
                <a:spLocks noChangeArrowheads="1"/>
              </p:cNvSpPr>
              <p:nvPr/>
            </p:nvSpPr>
            <p:spPr bwMode="auto">
              <a:xfrm>
                <a:off x="1454" y="1818"/>
                <a:ext cx="268"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1" name="Rectangle 25">
                <a:extLst>
                  <a:ext uri="{FF2B5EF4-FFF2-40B4-BE49-F238E27FC236}">
                    <a16:creationId xmlns:a16="http://schemas.microsoft.com/office/drawing/2014/main" id="{F9D4239C-9DFE-C0A6-E3AD-21BEDFE40AA1}"/>
                  </a:ext>
                </a:extLst>
              </p:cNvPr>
              <p:cNvSpPr>
                <a:spLocks noChangeArrowheads="1"/>
              </p:cNvSpPr>
              <p:nvPr/>
            </p:nvSpPr>
            <p:spPr bwMode="auto">
              <a:xfrm>
                <a:off x="2169" y="1818"/>
                <a:ext cx="269" cy="364"/>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12" name="Line 26">
                <a:extLst>
                  <a:ext uri="{FF2B5EF4-FFF2-40B4-BE49-F238E27FC236}">
                    <a16:creationId xmlns:a16="http://schemas.microsoft.com/office/drawing/2014/main" id="{45775A94-75D3-4367-996B-1896F0BCA6D0}"/>
                  </a:ext>
                </a:extLst>
              </p:cNvPr>
              <p:cNvSpPr>
                <a:spLocks noChangeShapeType="1"/>
              </p:cNvSpPr>
              <p:nvPr/>
            </p:nvSpPr>
            <p:spPr bwMode="auto">
              <a:xfrm>
                <a:off x="726" y="1914"/>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 name="Line 27">
                <a:extLst>
                  <a:ext uri="{FF2B5EF4-FFF2-40B4-BE49-F238E27FC236}">
                    <a16:creationId xmlns:a16="http://schemas.microsoft.com/office/drawing/2014/main" id="{A6936DAC-9974-B89D-8A6D-DC77D6276BE9}"/>
                  </a:ext>
                </a:extLst>
              </p:cNvPr>
              <p:cNvSpPr>
                <a:spLocks noChangeShapeType="1"/>
              </p:cNvSpPr>
              <p:nvPr/>
            </p:nvSpPr>
            <p:spPr bwMode="auto">
              <a:xfrm>
                <a:off x="1452" y="1908"/>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 name="Line 28">
                <a:extLst>
                  <a:ext uri="{FF2B5EF4-FFF2-40B4-BE49-F238E27FC236}">
                    <a16:creationId xmlns:a16="http://schemas.microsoft.com/office/drawing/2014/main" id="{E46B518B-BCF2-8E04-4DAD-0D18A94061C2}"/>
                  </a:ext>
                </a:extLst>
              </p:cNvPr>
              <p:cNvSpPr>
                <a:spLocks noChangeShapeType="1"/>
              </p:cNvSpPr>
              <p:nvPr/>
            </p:nvSpPr>
            <p:spPr bwMode="auto">
              <a:xfrm>
                <a:off x="2172" y="1902"/>
                <a:ext cx="26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15" name="Group 29">
                <a:extLst>
                  <a:ext uri="{FF2B5EF4-FFF2-40B4-BE49-F238E27FC236}">
                    <a16:creationId xmlns:a16="http://schemas.microsoft.com/office/drawing/2014/main" id="{63729E60-C657-CC24-EE2B-B0D16C440664}"/>
                  </a:ext>
                </a:extLst>
              </p:cNvPr>
              <p:cNvGrpSpPr>
                <a:grpSpLocks/>
              </p:cNvGrpSpPr>
              <p:nvPr/>
            </p:nvGrpSpPr>
            <p:grpSpPr bwMode="auto">
              <a:xfrm>
                <a:off x="726" y="2271"/>
                <a:ext cx="269" cy="301"/>
                <a:chOff x="1702" y="2990"/>
                <a:chExt cx="269" cy="301"/>
              </a:xfrm>
            </p:grpSpPr>
            <p:sp>
              <p:nvSpPr>
                <p:cNvPr id="41" name="Rectangle 30">
                  <a:extLst>
                    <a:ext uri="{FF2B5EF4-FFF2-40B4-BE49-F238E27FC236}">
                      <a16:creationId xmlns:a16="http://schemas.microsoft.com/office/drawing/2014/main" id="{6D5C0FA3-2C44-9251-33AB-D62AE951484E}"/>
                    </a:ext>
                  </a:extLst>
                </p:cNvPr>
                <p:cNvSpPr>
                  <a:spLocks noChangeArrowheads="1"/>
                </p:cNvSpPr>
                <p:nvPr/>
              </p:nvSpPr>
              <p:spPr bwMode="auto">
                <a:xfrm>
                  <a:off x="1702" y="2990"/>
                  <a:ext cx="269"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42" name="Line 31">
                  <a:extLst>
                    <a:ext uri="{FF2B5EF4-FFF2-40B4-BE49-F238E27FC236}">
                      <a16:creationId xmlns:a16="http://schemas.microsoft.com/office/drawing/2014/main" id="{3412584B-31C3-0A78-A7EC-38E05546568D}"/>
                    </a:ext>
                  </a:extLst>
                </p:cNvPr>
                <p:cNvSpPr>
                  <a:spLocks noChangeShapeType="1"/>
                </p:cNvSpPr>
                <p:nvPr/>
              </p:nvSpPr>
              <p:spPr bwMode="auto">
                <a:xfrm>
                  <a:off x="1741" y="3046"/>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3" name="Line 32">
                  <a:extLst>
                    <a:ext uri="{FF2B5EF4-FFF2-40B4-BE49-F238E27FC236}">
                      <a16:creationId xmlns:a16="http://schemas.microsoft.com/office/drawing/2014/main" id="{F5C3C822-A2AF-1410-2115-B2EB0D74E737}"/>
                    </a:ext>
                  </a:extLst>
                </p:cNvPr>
                <p:cNvSpPr>
                  <a:spLocks noChangeShapeType="1"/>
                </p:cNvSpPr>
                <p:nvPr/>
              </p:nvSpPr>
              <p:spPr bwMode="auto">
                <a:xfrm>
                  <a:off x="1741"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4" name="Line 33">
                  <a:extLst>
                    <a:ext uri="{FF2B5EF4-FFF2-40B4-BE49-F238E27FC236}">
                      <a16:creationId xmlns:a16="http://schemas.microsoft.com/office/drawing/2014/main" id="{DED497FC-7DF4-F42B-C462-5A1948E07C9E}"/>
                    </a:ext>
                  </a:extLst>
                </p:cNvPr>
                <p:cNvSpPr>
                  <a:spLocks noChangeShapeType="1"/>
                </p:cNvSpPr>
                <p:nvPr/>
              </p:nvSpPr>
              <p:spPr bwMode="auto">
                <a:xfrm>
                  <a:off x="1741"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5" name="Line 34">
                  <a:extLst>
                    <a:ext uri="{FF2B5EF4-FFF2-40B4-BE49-F238E27FC236}">
                      <a16:creationId xmlns:a16="http://schemas.microsoft.com/office/drawing/2014/main" id="{6088FF97-B17B-CCEA-CB7B-60BF368FB23B}"/>
                    </a:ext>
                  </a:extLst>
                </p:cNvPr>
                <p:cNvSpPr>
                  <a:spLocks noChangeShapeType="1"/>
                </p:cNvSpPr>
                <p:nvPr/>
              </p:nvSpPr>
              <p:spPr bwMode="auto">
                <a:xfrm>
                  <a:off x="1741"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6" name="Line 35">
                  <a:extLst>
                    <a:ext uri="{FF2B5EF4-FFF2-40B4-BE49-F238E27FC236}">
                      <a16:creationId xmlns:a16="http://schemas.microsoft.com/office/drawing/2014/main" id="{9A1E9AA8-8961-A569-AF54-D071A18D9033}"/>
                    </a:ext>
                  </a:extLst>
                </p:cNvPr>
                <p:cNvSpPr>
                  <a:spLocks noChangeShapeType="1"/>
                </p:cNvSpPr>
                <p:nvPr/>
              </p:nvSpPr>
              <p:spPr bwMode="auto">
                <a:xfrm>
                  <a:off x="1741"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7" name="Line 36">
                  <a:extLst>
                    <a:ext uri="{FF2B5EF4-FFF2-40B4-BE49-F238E27FC236}">
                      <a16:creationId xmlns:a16="http://schemas.microsoft.com/office/drawing/2014/main" id="{5D6F15C8-2B86-E037-E532-420044F823F5}"/>
                    </a:ext>
                  </a:extLst>
                </p:cNvPr>
                <p:cNvSpPr>
                  <a:spLocks noChangeShapeType="1"/>
                </p:cNvSpPr>
                <p:nvPr/>
              </p:nvSpPr>
              <p:spPr bwMode="auto">
                <a:xfrm>
                  <a:off x="1741" y="3256"/>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6" name="Group 37">
                <a:extLst>
                  <a:ext uri="{FF2B5EF4-FFF2-40B4-BE49-F238E27FC236}">
                    <a16:creationId xmlns:a16="http://schemas.microsoft.com/office/drawing/2014/main" id="{70ABFE9C-898B-097A-B99B-DF5F43DC3D1D}"/>
                  </a:ext>
                </a:extLst>
              </p:cNvPr>
              <p:cNvGrpSpPr>
                <a:grpSpLocks/>
              </p:cNvGrpSpPr>
              <p:nvPr/>
            </p:nvGrpSpPr>
            <p:grpSpPr bwMode="auto">
              <a:xfrm>
                <a:off x="1454" y="2291"/>
                <a:ext cx="269" cy="301"/>
                <a:chOff x="1702" y="2990"/>
                <a:chExt cx="269" cy="301"/>
              </a:xfrm>
            </p:grpSpPr>
            <p:sp>
              <p:nvSpPr>
                <p:cNvPr id="34" name="Rectangle 38">
                  <a:extLst>
                    <a:ext uri="{FF2B5EF4-FFF2-40B4-BE49-F238E27FC236}">
                      <a16:creationId xmlns:a16="http://schemas.microsoft.com/office/drawing/2014/main" id="{1AB41A95-1479-676C-D01D-C43DF9A8A5F5}"/>
                    </a:ext>
                  </a:extLst>
                </p:cNvPr>
                <p:cNvSpPr>
                  <a:spLocks noChangeArrowheads="1"/>
                </p:cNvSpPr>
                <p:nvPr/>
              </p:nvSpPr>
              <p:spPr bwMode="auto">
                <a:xfrm>
                  <a:off x="1702" y="2990"/>
                  <a:ext cx="268" cy="301"/>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35" name="Line 39">
                  <a:extLst>
                    <a:ext uri="{FF2B5EF4-FFF2-40B4-BE49-F238E27FC236}">
                      <a16:creationId xmlns:a16="http://schemas.microsoft.com/office/drawing/2014/main" id="{6E76D850-A6DA-5A4B-51DB-16DC682C280A}"/>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6" name="Line 40">
                  <a:extLst>
                    <a:ext uri="{FF2B5EF4-FFF2-40B4-BE49-F238E27FC236}">
                      <a16:creationId xmlns:a16="http://schemas.microsoft.com/office/drawing/2014/main" id="{C687F9F6-534A-7802-42FC-2FAD95F4366C}"/>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Line 41">
                  <a:extLst>
                    <a:ext uri="{FF2B5EF4-FFF2-40B4-BE49-F238E27FC236}">
                      <a16:creationId xmlns:a16="http://schemas.microsoft.com/office/drawing/2014/main" id="{C8CE85AF-52D7-111F-C9BB-1B80BD3A976B}"/>
                    </a:ext>
                  </a:extLst>
                </p:cNvPr>
                <p:cNvSpPr>
                  <a:spLocks noChangeShapeType="1"/>
                </p:cNvSpPr>
                <p:nvPr/>
              </p:nvSpPr>
              <p:spPr bwMode="auto">
                <a:xfrm>
                  <a:off x="1741" y="3131"/>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42">
                  <a:extLst>
                    <a:ext uri="{FF2B5EF4-FFF2-40B4-BE49-F238E27FC236}">
                      <a16:creationId xmlns:a16="http://schemas.microsoft.com/office/drawing/2014/main" id="{075043B2-B03E-B8A0-D99E-7C3730F426C2}"/>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9" name="Line 43">
                  <a:extLst>
                    <a:ext uri="{FF2B5EF4-FFF2-40B4-BE49-F238E27FC236}">
                      <a16:creationId xmlns:a16="http://schemas.microsoft.com/office/drawing/2014/main" id="{4ABB85D6-DA80-8114-117B-04C2E29F4320}"/>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44">
                  <a:extLst>
                    <a:ext uri="{FF2B5EF4-FFF2-40B4-BE49-F238E27FC236}">
                      <a16:creationId xmlns:a16="http://schemas.microsoft.com/office/drawing/2014/main" id="{4EBBC744-DE7A-ACAE-948E-3060EF40320A}"/>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7" name="Group 45">
                <a:extLst>
                  <a:ext uri="{FF2B5EF4-FFF2-40B4-BE49-F238E27FC236}">
                    <a16:creationId xmlns:a16="http://schemas.microsoft.com/office/drawing/2014/main" id="{FB023B24-C3C7-1FCB-1ADE-CC7A06D8F987}"/>
                  </a:ext>
                </a:extLst>
              </p:cNvPr>
              <p:cNvGrpSpPr>
                <a:grpSpLocks/>
              </p:cNvGrpSpPr>
              <p:nvPr/>
            </p:nvGrpSpPr>
            <p:grpSpPr bwMode="auto">
              <a:xfrm>
                <a:off x="2171" y="2280"/>
                <a:ext cx="269" cy="301"/>
                <a:chOff x="1702" y="2990"/>
                <a:chExt cx="269" cy="301"/>
              </a:xfrm>
            </p:grpSpPr>
            <p:sp>
              <p:nvSpPr>
                <p:cNvPr id="27" name="Rectangle 46">
                  <a:extLst>
                    <a:ext uri="{FF2B5EF4-FFF2-40B4-BE49-F238E27FC236}">
                      <a16:creationId xmlns:a16="http://schemas.microsoft.com/office/drawing/2014/main" id="{035AE14F-F509-663A-C5BB-81CC16C97B1C}"/>
                    </a:ext>
                  </a:extLst>
                </p:cNvPr>
                <p:cNvSpPr>
                  <a:spLocks noChangeArrowheads="1"/>
                </p:cNvSpPr>
                <p:nvPr/>
              </p:nvSpPr>
              <p:spPr bwMode="auto">
                <a:xfrm>
                  <a:off x="1702" y="2990"/>
                  <a:ext cx="269" cy="302"/>
                </a:xfrm>
                <a:prstGeom prst="rect">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8" name="Line 47">
                  <a:extLst>
                    <a:ext uri="{FF2B5EF4-FFF2-40B4-BE49-F238E27FC236}">
                      <a16:creationId xmlns:a16="http://schemas.microsoft.com/office/drawing/2014/main" id="{84284AAE-E8BF-7DC4-3868-E8CE05D1703D}"/>
                    </a:ext>
                  </a:extLst>
                </p:cNvPr>
                <p:cNvSpPr>
                  <a:spLocks noChangeShapeType="1"/>
                </p:cNvSpPr>
                <p:nvPr/>
              </p:nvSpPr>
              <p:spPr bwMode="auto">
                <a:xfrm>
                  <a:off x="1740" y="3045"/>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9" name="Line 48">
                  <a:extLst>
                    <a:ext uri="{FF2B5EF4-FFF2-40B4-BE49-F238E27FC236}">
                      <a16:creationId xmlns:a16="http://schemas.microsoft.com/office/drawing/2014/main" id="{C9CB5CEF-072D-16E8-0154-663FB86EC23A}"/>
                    </a:ext>
                  </a:extLst>
                </p:cNvPr>
                <p:cNvSpPr>
                  <a:spLocks noChangeShapeType="1"/>
                </p:cNvSpPr>
                <p:nvPr/>
              </p:nvSpPr>
              <p:spPr bwMode="auto">
                <a:xfrm>
                  <a:off x="1740" y="3088"/>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0" name="Line 49">
                  <a:extLst>
                    <a:ext uri="{FF2B5EF4-FFF2-40B4-BE49-F238E27FC236}">
                      <a16:creationId xmlns:a16="http://schemas.microsoft.com/office/drawing/2014/main" id="{612A0E9F-6157-2357-1D7C-0364FCE70633}"/>
                    </a:ext>
                  </a:extLst>
                </p:cNvPr>
                <p:cNvSpPr>
                  <a:spLocks noChangeShapeType="1"/>
                </p:cNvSpPr>
                <p:nvPr/>
              </p:nvSpPr>
              <p:spPr bwMode="auto">
                <a:xfrm>
                  <a:off x="1740" y="3130"/>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1" name="Line 50">
                  <a:extLst>
                    <a:ext uri="{FF2B5EF4-FFF2-40B4-BE49-F238E27FC236}">
                      <a16:creationId xmlns:a16="http://schemas.microsoft.com/office/drawing/2014/main" id="{5695A728-A863-0E72-C9F6-B67476A32EB0}"/>
                    </a:ext>
                  </a:extLst>
                </p:cNvPr>
                <p:cNvSpPr>
                  <a:spLocks noChangeShapeType="1"/>
                </p:cNvSpPr>
                <p:nvPr/>
              </p:nvSpPr>
              <p:spPr bwMode="auto">
                <a:xfrm>
                  <a:off x="1740" y="3172"/>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2" name="Line 51">
                  <a:extLst>
                    <a:ext uri="{FF2B5EF4-FFF2-40B4-BE49-F238E27FC236}">
                      <a16:creationId xmlns:a16="http://schemas.microsoft.com/office/drawing/2014/main" id="{7A3E4E80-145B-0486-0FED-DF0E3EC0D142}"/>
                    </a:ext>
                  </a:extLst>
                </p:cNvPr>
                <p:cNvSpPr>
                  <a:spLocks noChangeShapeType="1"/>
                </p:cNvSpPr>
                <p:nvPr/>
              </p:nvSpPr>
              <p:spPr bwMode="auto">
                <a:xfrm>
                  <a:off x="1740" y="3214"/>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3" name="Line 52">
                  <a:extLst>
                    <a:ext uri="{FF2B5EF4-FFF2-40B4-BE49-F238E27FC236}">
                      <a16:creationId xmlns:a16="http://schemas.microsoft.com/office/drawing/2014/main" id="{77A72D01-EBA6-49FB-31B3-5965461B53EC}"/>
                    </a:ext>
                  </a:extLst>
                </p:cNvPr>
                <p:cNvSpPr>
                  <a:spLocks noChangeShapeType="1"/>
                </p:cNvSpPr>
                <p:nvPr/>
              </p:nvSpPr>
              <p:spPr bwMode="auto">
                <a:xfrm>
                  <a:off x="1740" y="3257"/>
                  <a:ext cx="18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8" name="Line 53">
                <a:extLst>
                  <a:ext uri="{FF2B5EF4-FFF2-40B4-BE49-F238E27FC236}">
                    <a16:creationId xmlns:a16="http://schemas.microsoft.com/office/drawing/2014/main" id="{3AA34B78-9F92-07DF-714F-AC2629507458}"/>
                  </a:ext>
                </a:extLst>
              </p:cNvPr>
              <p:cNvSpPr>
                <a:spLocks noChangeShapeType="1"/>
              </p:cNvSpPr>
              <p:nvPr/>
            </p:nvSpPr>
            <p:spPr bwMode="auto">
              <a:xfrm flipV="1">
                <a:off x="996" y="2001"/>
                <a:ext cx="459" cy="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 name="AutoShape 54">
                <a:extLst>
                  <a:ext uri="{FF2B5EF4-FFF2-40B4-BE49-F238E27FC236}">
                    <a16:creationId xmlns:a16="http://schemas.microsoft.com/office/drawing/2014/main" id="{11BAD4AC-8D98-7112-9BA1-AE11F065F75F}"/>
                  </a:ext>
                </a:extLst>
              </p:cNvPr>
              <p:cNvSpPr>
                <a:spLocks noChangeArrowheads="1"/>
              </p:cNvSpPr>
              <p:nvPr/>
            </p:nvSpPr>
            <p:spPr bwMode="auto">
              <a:xfrm>
                <a:off x="1142" y="1919"/>
                <a:ext cx="147" cy="160"/>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20" name="Line 55">
                <a:extLst>
                  <a:ext uri="{FF2B5EF4-FFF2-40B4-BE49-F238E27FC236}">
                    <a16:creationId xmlns:a16="http://schemas.microsoft.com/office/drawing/2014/main" id="{D639BAB7-472E-46FE-CF04-D43A9D4F32E3}"/>
                  </a:ext>
                </a:extLst>
              </p:cNvPr>
              <p:cNvSpPr>
                <a:spLocks noChangeShapeType="1"/>
              </p:cNvSpPr>
              <p:nvPr/>
            </p:nvSpPr>
            <p:spPr bwMode="auto">
              <a:xfrm flipV="1">
                <a:off x="1743" y="2001"/>
                <a:ext cx="460" cy="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AutoShape 56">
                <a:extLst>
                  <a:ext uri="{FF2B5EF4-FFF2-40B4-BE49-F238E27FC236}">
                    <a16:creationId xmlns:a16="http://schemas.microsoft.com/office/drawing/2014/main" id="{7134A658-514E-E93C-643F-704DE4063927}"/>
                  </a:ext>
                </a:extLst>
              </p:cNvPr>
              <p:cNvSpPr>
                <a:spLocks noChangeArrowheads="1"/>
              </p:cNvSpPr>
              <p:nvPr/>
            </p:nvSpPr>
            <p:spPr bwMode="auto">
              <a:xfrm>
                <a:off x="1872" y="1919"/>
                <a:ext cx="146" cy="160"/>
              </a:xfrm>
              <a:prstGeom prst="triangle">
                <a:avLst>
                  <a:gd name="adj" fmla="val 5000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200">
                    <a:solidFill>
                      <a:schemeClr val="tx1"/>
                    </a:solidFill>
                    <a:latin typeface="Roboto" panose="02000000000000000000" pitchFamily="2" charset="0"/>
                    <a:ea typeface="Roboto" panose="02000000000000000000" pitchFamily="2" charset="0"/>
                  </a:rPr>
                  <a:t>I</a:t>
                </a:r>
              </a:p>
            </p:txBody>
          </p:sp>
          <p:sp>
            <p:nvSpPr>
              <p:cNvPr id="22" name="AutoShape 57">
                <a:extLst>
                  <a:ext uri="{FF2B5EF4-FFF2-40B4-BE49-F238E27FC236}">
                    <a16:creationId xmlns:a16="http://schemas.microsoft.com/office/drawing/2014/main" id="{F65A7A05-5267-A900-C45C-0C1312630A5A}"/>
                  </a:ext>
                </a:extLst>
              </p:cNvPr>
              <p:cNvSpPr>
                <a:spLocks noChangeArrowheads="1"/>
              </p:cNvSpPr>
              <p:nvPr/>
            </p:nvSpPr>
            <p:spPr bwMode="auto">
              <a:xfrm rot="-2700000">
                <a:off x="2400" y="1536"/>
                <a:ext cx="624" cy="192"/>
              </a:xfrm>
              <a:prstGeom prst="rightArrow">
                <a:avLst>
                  <a:gd name="adj1" fmla="val 50000"/>
                  <a:gd name="adj2" fmla="val 81250"/>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3" name="AutoShape 58">
                <a:extLst>
                  <a:ext uri="{FF2B5EF4-FFF2-40B4-BE49-F238E27FC236}">
                    <a16:creationId xmlns:a16="http://schemas.microsoft.com/office/drawing/2014/main" id="{1C75E71A-C23B-12CB-C333-45CDC88D0CB3}"/>
                  </a:ext>
                </a:extLst>
              </p:cNvPr>
              <p:cNvSpPr>
                <a:spLocks noChangeArrowheads="1"/>
              </p:cNvSpPr>
              <p:nvPr/>
            </p:nvSpPr>
            <p:spPr bwMode="auto">
              <a:xfrm rot="2772363">
                <a:off x="168" y="1560"/>
                <a:ext cx="625" cy="192"/>
              </a:xfrm>
              <a:prstGeom prst="rightArrow">
                <a:avLst>
                  <a:gd name="adj1" fmla="val 50000"/>
                  <a:gd name="adj2" fmla="val 81245"/>
                </a:avLst>
              </a:prstGeom>
              <a:solidFill>
                <a:schemeClr val="tx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4" name="AutoShape 59">
                <a:extLst>
                  <a:ext uri="{FF2B5EF4-FFF2-40B4-BE49-F238E27FC236}">
                    <a16:creationId xmlns:a16="http://schemas.microsoft.com/office/drawing/2014/main" id="{C5F89813-BE5E-48F9-AF03-96DDA5C0D7A0}"/>
                  </a:ext>
                </a:extLst>
              </p:cNvPr>
              <p:cNvSpPr>
                <a:spLocks noChangeArrowheads="1"/>
              </p:cNvSpPr>
              <p:nvPr/>
            </p:nvSpPr>
            <p:spPr bwMode="auto">
              <a:xfrm>
                <a:off x="576" y="2208"/>
                <a:ext cx="479" cy="337"/>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5" name="AutoShape 60">
                <a:extLst>
                  <a:ext uri="{FF2B5EF4-FFF2-40B4-BE49-F238E27FC236}">
                    <a16:creationId xmlns:a16="http://schemas.microsoft.com/office/drawing/2014/main" id="{04E9EBD2-0EEC-F439-81B5-3EFBC7561A40}"/>
                  </a:ext>
                </a:extLst>
              </p:cNvPr>
              <p:cNvSpPr>
                <a:spLocks noChangeArrowheads="1"/>
              </p:cNvSpPr>
              <p:nvPr/>
            </p:nvSpPr>
            <p:spPr bwMode="auto">
              <a:xfrm>
                <a:off x="1200" y="1680"/>
                <a:ext cx="481" cy="336"/>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26" name="AutoShape 61">
                <a:extLst>
                  <a:ext uri="{FF2B5EF4-FFF2-40B4-BE49-F238E27FC236}">
                    <a16:creationId xmlns:a16="http://schemas.microsoft.com/office/drawing/2014/main" id="{D25EAB2C-6520-47D5-17FF-A6AFD5EA6930}"/>
                  </a:ext>
                </a:extLst>
              </p:cNvPr>
              <p:cNvSpPr>
                <a:spLocks noChangeArrowheads="1"/>
              </p:cNvSpPr>
              <p:nvPr/>
            </p:nvSpPr>
            <p:spPr bwMode="auto">
              <a:xfrm>
                <a:off x="1968" y="2016"/>
                <a:ext cx="481" cy="337"/>
              </a:xfrm>
              <a:prstGeom prst="irregularSeal1">
                <a:avLst/>
              </a:prstGeom>
              <a:solidFill>
                <a:srgbClr val="FFFF00"/>
              </a:solidFill>
              <a:ln w="38100" cap="sq">
                <a:solidFill>
                  <a:srgbClr val="FF0000"/>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grpSp>
        <p:sp>
          <p:nvSpPr>
            <p:cNvPr id="64" name="Text Box 64">
              <a:extLst>
                <a:ext uri="{FF2B5EF4-FFF2-40B4-BE49-F238E27FC236}">
                  <a16:creationId xmlns:a16="http://schemas.microsoft.com/office/drawing/2014/main" id="{3EE1FAFC-87FC-8F41-4983-BD01FFAB4042}"/>
                </a:ext>
              </a:extLst>
            </p:cNvPr>
            <p:cNvSpPr txBox="1">
              <a:spLocks noChangeArrowheads="1"/>
            </p:cNvSpPr>
            <p:nvPr/>
          </p:nvSpPr>
          <p:spPr bwMode="auto">
            <a:xfrm>
              <a:off x="1846309" y="1638300"/>
              <a:ext cx="1363569" cy="26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solidFill>
                    <a:schemeClr val="tx1"/>
                  </a:solidFill>
                  <a:latin typeface="Roboto" panose="02000000000000000000" pitchFamily="2" charset="0"/>
                  <a:ea typeface="Roboto" panose="02000000000000000000" pitchFamily="2" charset="0"/>
                </a:rPr>
                <a:t>VALUE STREAM MAP</a:t>
              </a:r>
            </a:p>
          </p:txBody>
        </p:sp>
        <p:grpSp>
          <p:nvGrpSpPr>
            <p:cNvPr id="65" name="Group 65">
              <a:extLst>
                <a:ext uri="{FF2B5EF4-FFF2-40B4-BE49-F238E27FC236}">
                  <a16:creationId xmlns:a16="http://schemas.microsoft.com/office/drawing/2014/main" id="{A01351F3-2E98-94F9-2C0E-ABEC9957AAFD}"/>
                </a:ext>
              </a:extLst>
            </p:cNvPr>
            <p:cNvGrpSpPr>
              <a:grpSpLocks/>
            </p:cNvGrpSpPr>
            <p:nvPr/>
          </p:nvGrpSpPr>
          <p:grpSpPr bwMode="auto">
            <a:xfrm>
              <a:off x="2846388" y="1439863"/>
              <a:ext cx="5878513" cy="4581526"/>
              <a:chOff x="1793" y="907"/>
              <a:chExt cx="3703" cy="2886"/>
            </a:xfrm>
          </p:grpSpPr>
          <p:pic>
            <p:nvPicPr>
              <p:cNvPr id="66" name="Picture 66" descr="image001">
                <a:extLst>
                  <a:ext uri="{FF2B5EF4-FFF2-40B4-BE49-F238E27FC236}">
                    <a16:creationId xmlns:a16="http://schemas.microsoft.com/office/drawing/2014/main" id="{33CC6D7B-4919-96D6-370D-81EB07AB24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1" y="1970"/>
                <a:ext cx="2682" cy="1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7" name="Group 67">
                <a:extLst>
                  <a:ext uri="{FF2B5EF4-FFF2-40B4-BE49-F238E27FC236}">
                    <a16:creationId xmlns:a16="http://schemas.microsoft.com/office/drawing/2014/main" id="{E999105B-1D43-75D7-FFBF-0E33604CE975}"/>
                  </a:ext>
                </a:extLst>
              </p:cNvPr>
              <p:cNvGrpSpPr>
                <a:grpSpLocks/>
              </p:cNvGrpSpPr>
              <p:nvPr/>
            </p:nvGrpSpPr>
            <p:grpSpPr bwMode="auto">
              <a:xfrm>
                <a:off x="1793" y="1807"/>
                <a:ext cx="672" cy="1584"/>
                <a:chOff x="1968" y="1728"/>
                <a:chExt cx="672" cy="1584"/>
              </a:xfrm>
            </p:grpSpPr>
            <p:sp>
              <p:nvSpPr>
                <p:cNvPr id="70" name="Rectangle 68">
                  <a:extLst>
                    <a:ext uri="{FF2B5EF4-FFF2-40B4-BE49-F238E27FC236}">
                      <a16:creationId xmlns:a16="http://schemas.microsoft.com/office/drawing/2014/main" id="{EBC1FFA3-BB8E-F68D-7416-B46FAE262780}"/>
                    </a:ext>
                  </a:extLst>
                </p:cNvPr>
                <p:cNvSpPr>
                  <a:spLocks noChangeArrowheads="1"/>
                </p:cNvSpPr>
                <p:nvPr/>
              </p:nvSpPr>
              <p:spPr bwMode="auto">
                <a:xfrm>
                  <a:off x="1968" y="1728"/>
                  <a:ext cx="672" cy="864"/>
                </a:xfrm>
                <a:prstGeom prst="rect">
                  <a:avLst/>
                </a:prstGeom>
                <a:noFill/>
                <a:ln w="762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1" name="Line 69">
                  <a:extLst>
                    <a:ext uri="{FF2B5EF4-FFF2-40B4-BE49-F238E27FC236}">
                      <a16:creationId xmlns:a16="http://schemas.microsoft.com/office/drawing/2014/main" id="{78392276-FA3C-C607-0E99-7AD8D41ACE94}"/>
                    </a:ext>
                  </a:extLst>
                </p:cNvPr>
                <p:cNvSpPr>
                  <a:spLocks noChangeShapeType="1"/>
                </p:cNvSpPr>
                <p:nvPr/>
              </p:nvSpPr>
              <p:spPr bwMode="auto">
                <a:xfrm>
                  <a:off x="2304" y="2592"/>
                  <a:ext cx="0" cy="720"/>
                </a:xfrm>
                <a:prstGeom prst="line">
                  <a:avLst/>
                </a:prstGeom>
                <a:noFill/>
                <a:ln w="762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68" name="Line 70">
                <a:extLst>
                  <a:ext uri="{FF2B5EF4-FFF2-40B4-BE49-F238E27FC236}">
                    <a16:creationId xmlns:a16="http://schemas.microsoft.com/office/drawing/2014/main" id="{32D64081-9153-B655-A4E5-94379960049E}"/>
                  </a:ext>
                </a:extLst>
              </p:cNvPr>
              <p:cNvSpPr>
                <a:spLocks noChangeShapeType="1"/>
              </p:cNvSpPr>
              <p:nvPr/>
            </p:nvSpPr>
            <p:spPr bwMode="auto">
              <a:xfrm>
                <a:off x="2129" y="3391"/>
                <a:ext cx="953" cy="0"/>
              </a:xfrm>
              <a:prstGeom prst="line">
                <a:avLst/>
              </a:prstGeom>
              <a:noFill/>
              <a:ln w="76200" cap="sq">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9" name="AutoShape 71">
                <a:extLst>
                  <a:ext uri="{FF2B5EF4-FFF2-40B4-BE49-F238E27FC236}">
                    <a16:creationId xmlns:a16="http://schemas.microsoft.com/office/drawing/2014/main" id="{AE948074-B3F0-A309-647A-A70AFC8248AF}"/>
                  </a:ext>
                </a:extLst>
              </p:cNvPr>
              <p:cNvSpPr>
                <a:spLocks noChangeArrowheads="1"/>
              </p:cNvSpPr>
              <p:nvPr/>
            </p:nvSpPr>
            <p:spPr bwMode="auto">
              <a:xfrm rot="16200000">
                <a:off x="3687" y="148"/>
                <a:ext cx="1049" cy="2568"/>
              </a:xfrm>
              <a:prstGeom prst="leftArrow">
                <a:avLst>
                  <a:gd name="adj1" fmla="val 78509"/>
                  <a:gd name="adj2" fmla="val 30565"/>
                </a:avLst>
              </a:prstGeom>
              <a:solidFill>
                <a:schemeClr val="accent3"/>
              </a:solidFill>
              <a:ln w="12700" cap="sq">
                <a:solidFill>
                  <a:schemeClr val="tx1"/>
                </a:solidFill>
                <a:miter lim="800000"/>
                <a:headEnd/>
                <a:tailEnd/>
              </a:ln>
            </p:spPr>
            <p:txBody>
              <a:bodyPr vert="eaVert" wrap="none" anchor="ctr"/>
              <a:lstStyle>
                <a:lvl1pPr marL="2286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buFontTx/>
                  <a:buChar char="•"/>
                </a:pPr>
                <a:r>
                  <a:rPr lang="en-US" altLang="en-US" sz="1200" dirty="0">
                    <a:latin typeface="Roboto" panose="02000000000000000000" pitchFamily="2" charset="0"/>
                    <a:ea typeface="Roboto" panose="02000000000000000000" pitchFamily="2" charset="0"/>
                  </a:rPr>
                  <a:t>Detailed graphical depiction of a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manufacturing or business process</a:t>
                </a:r>
                <a:br>
                  <a:rPr lang="en-US" altLang="en-US" sz="1200" dirty="0">
                    <a:latin typeface="Roboto" panose="02000000000000000000" pitchFamily="2" charset="0"/>
                    <a:ea typeface="Roboto" panose="02000000000000000000" pitchFamily="2" charset="0"/>
                  </a:rPr>
                </a:br>
                <a:endParaRPr lang="en-US" altLang="en-US" sz="1200" dirty="0">
                  <a:latin typeface="Roboto" panose="02000000000000000000" pitchFamily="2" charset="0"/>
                  <a:ea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rPr>
                  <a:t>Used to identify specific improvements</a:t>
                </a:r>
                <a:br>
                  <a:rPr lang="en-US" altLang="en-US" sz="1200" dirty="0">
                    <a:latin typeface="Roboto" panose="02000000000000000000" pitchFamily="2" charset="0"/>
                    <a:ea typeface="Roboto" panose="02000000000000000000" pitchFamily="2" charset="0"/>
                  </a:rPr>
                </a:br>
                <a:endParaRPr lang="en-US" altLang="en-US" sz="1200" dirty="0">
                  <a:latin typeface="Roboto" panose="02000000000000000000" pitchFamily="2" charset="0"/>
                  <a:ea typeface="Roboto" panose="02000000000000000000" pitchFamily="2" charset="0"/>
                </a:endParaRPr>
              </a:p>
              <a:p>
                <a:pPr algn="l">
                  <a:buFontTx/>
                  <a:buChar char="•"/>
                </a:pPr>
                <a:r>
                  <a:rPr lang="en-US" altLang="en-US" sz="1200" dirty="0">
                    <a:latin typeface="Roboto" panose="02000000000000000000" pitchFamily="2" charset="0"/>
                    <a:ea typeface="Roboto" panose="02000000000000000000" pitchFamily="2" charset="0"/>
                  </a:rPr>
                  <a:t>Incorporates decision loops within the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process </a:t>
                </a:r>
              </a:p>
            </p:txBody>
          </p:sp>
        </p:grpSp>
      </p:grpSp>
    </p:spTree>
    <p:extLst>
      <p:ext uri="{BB962C8B-B14F-4D97-AF65-F5344CB8AC3E}">
        <p14:creationId xmlns:p14="http://schemas.microsoft.com/office/powerpoint/2010/main" val="95265245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9AF1BE-FC74-D20F-6189-931578F7FF58}"/>
              </a:ext>
            </a:extLst>
          </p:cNvPr>
          <p:cNvSpPr>
            <a:spLocks noGrp="1"/>
          </p:cNvSpPr>
          <p:nvPr>
            <p:ph type="title"/>
          </p:nvPr>
        </p:nvSpPr>
        <p:spPr/>
        <p:txBody>
          <a:bodyPr/>
          <a:lstStyle/>
          <a:p>
            <a:r>
              <a:rPr lang="en-US" dirty="0"/>
              <a:t>When to Use Value Stream Mapping</a:t>
            </a:r>
          </a:p>
        </p:txBody>
      </p:sp>
      <p:sp>
        <p:nvSpPr>
          <p:cNvPr id="3" name="Text Placeholder 2">
            <a:extLst>
              <a:ext uri="{FF2B5EF4-FFF2-40B4-BE49-F238E27FC236}">
                <a16:creationId xmlns:a16="http://schemas.microsoft.com/office/drawing/2014/main" id="{BF2D1452-04BC-1846-9D2B-D064B736ED43}"/>
              </a:ext>
            </a:extLst>
          </p:cNvPr>
          <p:cNvSpPr>
            <a:spLocks noGrp="1"/>
          </p:cNvSpPr>
          <p:nvPr>
            <p:ph type="body" idx="1"/>
          </p:nvPr>
        </p:nvSpPr>
        <p:spPr>
          <a:xfrm>
            <a:off x="822678" y="3428524"/>
            <a:ext cx="5157787" cy="823912"/>
          </a:xfrm>
        </p:spPr>
        <p:txBody>
          <a:bodyPr/>
          <a:lstStyle/>
          <a:p>
            <a:r>
              <a:rPr lang="en-US" dirty="0"/>
              <a:t>Benefits</a:t>
            </a:r>
          </a:p>
        </p:txBody>
      </p:sp>
      <p:sp>
        <p:nvSpPr>
          <p:cNvPr id="4" name="Content Placeholder 3">
            <a:extLst>
              <a:ext uri="{FF2B5EF4-FFF2-40B4-BE49-F238E27FC236}">
                <a16:creationId xmlns:a16="http://schemas.microsoft.com/office/drawing/2014/main" id="{2E3BC3A4-C860-76B2-2DD3-B03AB882C853}"/>
              </a:ext>
            </a:extLst>
          </p:cNvPr>
          <p:cNvSpPr>
            <a:spLocks noGrp="1"/>
          </p:cNvSpPr>
          <p:nvPr>
            <p:ph sz="half" idx="2"/>
          </p:nvPr>
        </p:nvSpPr>
        <p:spPr>
          <a:xfrm>
            <a:off x="839788" y="4320539"/>
            <a:ext cx="5157787" cy="2177733"/>
          </a:xfrm>
        </p:spPr>
        <p:txBody>
          <a:bodyPr>
            <a:normAutofit fontScale="62500" lnSpcReduction="20000"/>
          </a:bodyPr>
          <a:lstStyle/>
          <a:p>
            <a:r>
              <a:rPr lang="en-US" dirty="0"/>
              <a:t>Focuses limited resources</a:t>
            </a:r>
          </a:p>
          <a:p>
            <a:r>
              <a:rPr lang="en-US" dirty="0"/>
              <a:t>Establishes timeline for expected performance improvements </a:t>
            </a:r>
          </a:p>
          <a:p>
            <a:r>
              <a:rPr lang="en-US" dirty="0"/>
              <a:t>Avoids creating islands of success in a sea of waste</a:t>
            </a:r>
          </a:p>
          <a:p>
            <a:r>
              <a:rPr lang="en-US" dirty="0"/>
              <a:t>Allows everyone gain a common understanding of the current state and the future vision </a:t>
            </a:r>
          </a:p>
        </p:txBody>
      </p:sp>
      <p:sp>
        <p:nvSpPr>
          <p:cNvPr id="5" name="Text Placeholder 4">
            <a:extLst>
              <a:ext uri="{FF2B5EF4-FFF2-40B4-BE49-F238E27FC236}">
                <a16:creationId xmlns:a16="http://schemas.microsoft.com/office/drawing/2014/main" id="{D97C3043-C5C3-113A-8520-6B843B812614}"/>
              </a:ext>
            </a:extLst>
          </p:cNvPr>
          <p:cNvSpPr>
            <a:spLocks noGrp="1"/>
          </p:cNvSpPr>
          <p:nvPr>
            <p:ph type="body" sz="quarter" idx="3"/>
          </p:nvPr>
        </p:nvSpPr>
        <p:spPr>
          <a:xfrm>
            <a:off x="6155090" y="3428524"/>
            <a:ext cx="5183188" cy="823912"/>
          </a:xfrm>
        </p:spPr>
        <p:txBody>
          <a:bodyPr/>
          <a:lstStyle/>
          <a:p>
            <a:r>
              <a:rPr lang="en-US" dirty="0"/>
              <a:t>When to Use</a:t>
            </a:r>
          </a:p>
        </p:txBody>
      </p:sp>
      <p:sp>
        <p:nvSpPr>
          <p:cNvPr id="6" name="Content Placeholder 5">
            <a:extLst>
              <a:ext uri="{FF2B5EF4-FFF2-40B4-BE49-F238E27FC236}">
                <a16:creationId xmlns:a16="http://schemas.microsoft.com/office/drawing/2014/main" id="{705B0951-5D5C-15E9-2447-60234BD31A60}"/>
              </a:ext>
            </a:extLst>
          </p:cNvPr>
          <p:cNvSpPr>
            <a:spLocks noGrp="1"/>
          </p:cNvSpPr>
          <p:nvPr>
            <p:ph sz="quarter" idx="4"/>
          </p:nvPr>
        </p:nvSpPr>
        <p:spPr>
          <a:xfrm>
            <a:off x="6172200" y="4320539"/>
            <a:ext cx="5183188" cy="2177733"/>
          </a:xfrm>
        </p:spPr>
        <p:txBody>
          <a:bodyPr>
            <a:normAutofit fontScale="62500" lnSpcReduction="20000"/>
          </a:bodyPr>
          <a:lstStyle/>
          <a:p>
            <a:r>
              <a:rPr lang="en-US" dirty="0"/>
              <a:t>To provide direction for getting started on the Lean journey</a:t>
            </a:r>
          </a:p>
          <a:p>
            <a:r>
              <a:rPr lang="en-US" dirty="0"/>
              <a:t>To execute improvements driven by Strategy Deployment and Key Business Imperatives</a:t>
            </a:r>
          </a:p>
          <a:p>
            <a:r>
              <a:rPr lang="en-US" dirty="0"/>
              <a:t>To gain true cross-functional understanding the end-to-end process</a:t>
            </a:r>
          </a:p>
        </p:txBody>
      </p:sp>
      <p:sp>
        <p:nvSpPr>
          <p:cNvPr id="8" name="Slide Number Placeholder 7">
            <a:extLst>
              <a:ext uri="{FF2B5EF4-FFF2-40B4-BE49-F238E27FC236}">
                <a16:creationId xmlns:a16="http://schemas.microsoft.com/office/drawing/2014/main" id="{408954DA-A1B0-C7B8-680E-6D1AB2D2B67A}"/>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a:t>
            </a:fld>
            <a:endParaRPr lang="en-US"/>
          </a:p>
        </p:txBody>
      </p:sp>
      <p:grpSp>
        <p:nvGrpSpPr>
          <p:cNvPr id="10" name="Group 9">
            <a:extLst>
              <a:ext uri="{FF2B5EF4-FFF2-40B4-BE49-F238E27FC236}">
                <a16:creationId xmlns:a16="http://schemas.microsoft.com/office/drawing/2014/main" id="{B47AFE3C-B125-AEEF-3EA8-2E459BAA768D}"/>
              </a:ext>
            </a:extLst>
          </p:cNvPr>
          <p:cNvGrpSpPr/>
          <p:nvPr/>
        </p:nvGrpSpPr>
        <p:grpSpPr>
          <a:xfrm>
            <a:off x="1769039" y="1929052"/>
            <a:ext cx="8653922" cy="1614487"/>
            <a:chOff x="1439545" y="1711882"/>
            <a:chExt cx="8653922" cy="1614487"/>
          </a:xfrm>
        </p:grpSpPr>
        <p:sp>
          <p:nvSpPr>
            <p:cNvPr id="7" name="Rectangle 3">
              <a:extLst>
                <a:ext uri="{FF2B5EF4-FFF2-40B4-BE49-F238E27FC236}">
                  <a16:creationId xmlns:a16="http://schemas.microsoft.com/office/drawing/2014/main" id="{3EDF77A4-B056-33BF-1E15-CEF4AB2A5880}"/>
                </a:ext>
              </a:extLst>
            </p:cNvPr>
            <p:cNvSpPr>
              <a:spLocks noChangeArrowheads="1"/>
            </p:cNvSpPr>
            <p:nvPr/>
          </p:nvSpPr>
          <p:spPr bwMode="auto">
            <a:xfrm>
              <a:off x="1439545" y="1891269"/>
              <a:ext cx="8653922" cy="1435100"/>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l">
                <a:lnSpc>
                  <a:spcPct val="115000"/>
                </a:lnSpc>
                <a:spcBef>
                  <a:spcPct val="50000"/>
                </a:spcBef>
                <a:spcAft>
                  <a:spcPct val="50000"/>
                </a:spcAft>
                <a:buClr>
                  <a:srgbClr val="006699"/>
                </a:buClr>
                <a:buSzPct val="40000"/>
                <a:buFont typeface="Wingdings" panose="05000000000000000000" pitchFamily="2" charset="2"/>
                <a:buNone/>
              </a:pPr>
              <a:r>
                <a:rPr lang="en-US" altLang="en-US" sz="2000" b="0" dirty="0">
                  <a:solidFill>
                    <a:schemeClr val="tx1"/>
                  </a:solidFill>
                  <a:latin typeface="Roboto" panose="02000000000000000000" pitchFamily="2" charset="0"/>
                  <a:ea typeface="Roboto" panose="02000000000000000000" pitchFamily="2" charset="0"/>
                </a:rPr>
                <a:t>To effectively use of the Value Stream Mapping Tool and Method to clearly </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identify waste in key end-to-end manufacturing and business processes,</a:t>
              </a:r>
              <a:br>
                <a:rPr lang="en-US" altLang="en-US" sz="2000" b="0" dirty="0">
                  <a:solidFill>
                    <a:schemeClr val="tx1"/>
                  </a:solidFill>
                  <a:latin typeface="Roboto" panose="02000000000000000000" pitchFamily="2" charset="0"/>
                  <a:ea typeface="Roboto" panose="02000000000000000000" pitchFamily="2" charset="0"/>
                </a:rPr>
              </a:br>
              <a:r>
                <a:rPr lang="en-US" altLang="en-US" sz="2000" b="0" dirty="0">
                  <a:solidFill>
                    <a:schemeClr val="tx1"/>
                  </a:solidFill>
                  <a:latin typeface="Roboto" panose="02000000000000000000" pitchFamily="2" charset="0"/>
                  <a:ea typeface="Roboto" panose="02000000000000000000" pitchFamily="2" charset="0"/>
                </a:rPr>
                <a:t>and create an executable transformation plan</a:t>
              </a:r>
            </a:p>
          </p:txBody>
        </p:sp>
        <p:sp>
          <p:nvSpPr>
            <p:cNvPr id="9" name="Text Box 4">
              <a:extLst>
                <a:ext uri="{FF2B5EF4-FFF2-40B4-BE49-F238E27FC236}">
                  <a16:creationId xmlns:a16="http://schemas.microsoft.com/office/drawing/2014/main" id="{E535AC7D-6648-9018-8FA0-6636C57ABA71}"/>
                </a:ext>
              </a:extLst>
            </p:cNvPr>
            <p:cNvSpPr txBox="1">
              <a:spLocks noChangeArrowheads="1"/>
            </p:cNvSpPr>
            <p:nvPr/>
          </p:nvSpPr>
          <p:spPr bwMode="auto">
            <a:xfrm>
              <a:off x="1632210" y="1711882"/>
              <a:ext cx="1915909" cy="39087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2400" dirty="0">
                  <a:solidFill>
                    <a:schemeClr val="tx1"/>
                  </a:solidFill>
                  <a:latin typeface="Roboto" panose="02000000000000000000" pitchFamily="2" charset="0"/>
                  <a:ea typeface="Roboto" panose="02000000000000000000" pitchFamily="2" charset="0"/>
                </a:rPr>
                <a:t>Goal of VSM</a:t>
              </a:r>
            </a:p>
          </p:txBody>
        </p:sp>
      </p:grpSp>
    </p:spTree>
    <p:extLst>
      <p:ext uri="{BB962C8B-B14F-4D97-AF65-F5344CB8AC3E}">
        <p14:creationId xmlns:p14="http://schemas.microsoft.com/office/powerpoint/2010/main" val="128378154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Linkage to Strategy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a:t>
            </a:fld>
            <a:endParaRPr lang="en-US"/>
          </a:p>
        </p:txBody>
      </p:sp>
      <p:grpSp>
        <p:nvGrpSpPr>
          <p:cNvPr id="80" name="Group 79">
            <a:extLst>
              <a:ext uri="{FF2B5EF4-FFF2-40B4-BE49-F238E27FC236}">
                <a16:creationId xmlns:a16="http://schemas.microsoft.com/office/drawing/2014/main" id="{9884FE7B-C7AF-190A-DDEB-0CA5CE2F4743}"/>
              </a:ext>
            </a:extLst>
          </p:cNvPr>
          <p:cNvGrpSpPr/>
          <p:nvPr/>
        </p:nvGrpSpPr>
        <p:grpSpPr>
          <a:xfrm>
            <a:off x="1997869" y="1805940"/>
            <a:ext cx="8196262" cy="4323398"/>
            <a:chOff x="522288" y="1438275"/>
            <a:chExt cx="8196262" cy="4691063"/>
          </a:xfrm>
        </p:grpSpPr>
        <p:sp>
          <p:nvSpPr>
            <p:cNvPr id="73" name="Oval 2">
              <a:extLst>
                <a:ext uri="{FF2B5EF4-FFF2-40B4-BE49-F238E27FC236}">
                  <a16:creationId xmlns:a16="http://schemas.microsoft.com/office/drawing/2014/main" id="{23E51728-8194-1C56-6468-CB53EF383D0D}"/>
                </a:ext>
              </a:extLst>
            </p:cNvPr>
            <p:cNvSpPr>
              <a:spLocks noChangeArrowheads="1"/>
            </p:cNvSpPr>
            <p:nvPr/>
          </p:nvSpPr>
          <p:spPr bwMode="auto">
            <a:xfrm>
              <a:off x="522288" y="2517775"/>
              <a:ext cx="2220912" cy="2189163"/>
            </a:xfrm>
            <a:prstGeom prst="ellipse">
              <a:avLst/>
            </a:prstGeom>
            <a:solidFill>
              <a:schemeClr val="accent4"/>
            </a:solidFill>
            <a:ln w="6350">
              <a:solidFill>
                <a:schemeClr val="tx1"/>
              </a:solidFill>
              <a:round/>
              <a:headEnd/>
              <a:tailEnd/>
            </a:ln>
            <a:effectLst/>
          </p:spPr>
          <p:txBody>
            <a:bodyPr wrap="none" lIns="45720" rIns="45720" anchor="ctr"/>
            <a:lstStyle/>
            <a:p>
              <a:pPr marL="101600" indent="-101600" algn="ctr">
                <a:spcBef>
                  <a:spcPct val="30000"/>
                </a:spcBef>
                <a:buClr>
                  <a:schemeClr val="folHlink"/>
                </a:buClr>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Key</a:t>
              </a:r>
            </a:p>
            <a:p>
              <a:pPr marL="101600" indent="-101600" algn="ctr">
                <a:spcBef>
                  <a:spcPct val="30000"/>
                </a:spcBef>
                <a:buClr>
                  <a:schemeClr val="folHlink"/>
                </a:buClr>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Business</a:t>
              </a:r>
            </a:p>
            <a:p>
              <a:pPr marL="101600" indent="-101600" algn="ctr">
                <a:spcBef>
                  <a:spcPct val="30000"/>
                </a:spcBef>
                <a:buClr>
                  <a:schemeClr val="folHlink"/>
                </a:buClr>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Imperatives</a:t>
              </a:r>
              <a:endParaRPr lang="en-GB" sz="1800" b="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endParaRPr>
            </a:p>
          </p:txBody>
        </p:sp>
        <p:sp>
          <p:nvSpPr>
            <p:cNvPr id="74" name="Rectangle 4">
              <a:extLst>
                <a:ext uri="{FF2B5EF4-FFF2-40B4-BE49-F238E27FC236}">
                  <a16:creationId xmlns:a16="http://schemas.microsoft.com/office/drawing/2014/main" id="{FCBBFFA0-752F-0F06-A0DF-0E69F7F17051}"/>
                </a:ext>
              </a:extLst>
            </p:cNvPr>
            <p:cNvSpPr>
              <a:spLocks noChangeArrowheads="1"/>
            </p:cNvSpPr>
            <p:nvPr/>
          </p:nvSpPr>
          <p:spPr bwMode="auto">
            <a:xfrm>
              <a:off x="2914650" y="2590800"/>
              <a:ext cx="2686050" cy="2208213"/>
            </a:xfrm>
            <a:prstGeom prst="rect">
              <a:avLst/>
            </a:prstGeom>
            <a:solidFill>
              <a:schemeClr val="accent5"/>
            </a:solidFill>
            <a:ln w="6350">
              <a:solidFill>
                <a:schemeClr val="tx1"/>
              </a:solidFill>
              <a:miter lim="800000"/>
              <a:headEnd/>
              <a:tailEnd/>
            </a:ln>
            <a:effectLst/>
          </p:spPr>
          <p:txBody>
            <a:bodyPr wrap="none" lIns="45720" rIns="45720" anchor="ctr"/>
            <a:lstStyle/>
            <a:p>
              <a:pPr algn="ctr">
                <a:spcBef>
                  <a:spcPct val="30000"/>
                </a:spcBef>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Identify</a:t>
              </a:r>
            </a:p>
            <a:p>
              <a:pPr algn="ctr">
                <a:spcBef>
                  <a:spcPct val="30000"/>
                </a:spcBef>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and Map</a:t>
              </a:r>
            </a:p>
            <a:p>
              <a:pPr algn="ctr">
                <a:spcBef>
                  <a:spcPct val="30000"/>
                </a:spcBef>
                <a:defRPr/>
              </a:pPr>
              <a:r>
                <a:rPr lang="en-GB" sz="180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Value Streams</a:t>
              </a:r>
            </a:p>
            <a:p>
              <a:pPr algn="ctr">
                <a:spcBef>
                  <a:spcPct val="30000"/>
                </a:spcBef>
                <a:buClr>
                  <a:schemeClr val="folHlink"/>
                </a:buClr>
                <a:defRPr/>
              </a:pPr>
              <a:endParaRPr lang="en-GB" sz="1800" b="0" dirty="0">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endParaRPr>
            </a:p>
          </p:txBody>
        </p:sp>
        <p:sp>
          <p:nvSpPr>
            <p:cNvPr id="75" name="AutoShape 5">
              <a:extLst>
                <a:ext uri="{FF2B5EF4-FFF2-40B4-BE49-F238E27FC236}">
                  <a16:creationId xmlns:a16="http://schemas.microsoft.com/office/drawing/2014/main" id="{39589DB1-2ABE-C178-7B2D-BE3ACC7E83F9}"/>
                </a:ext>
              </a:extLst>
            </p:cNvPr>
            <p:cNvSpPr>
              <a:spLocks noChangeArrowheads="1"/>
            </p:cNvSpPr>
            <p:nvPr/>
          </p:nvSpPr>
          <p:spPr bwMode="auto">
            <a:xfrm>
              <a:off x="5614988" y="1438275"/>
              <a:ext cx="792162" cy="4276725"/>
            </a:xfrm>
            <a:prstGeom prst="cube">
              <a:avLst>
                <a:gd name="adj" fmla="val 78426"/>
              </a:avLst>
            </a:prstGeom>
            <a:solidFill>
              <a:srgbClr val="DDDDDD"/>
            </a:solidFill>
            <a:ln w="6350">
              <a:solidFill>
                <a:schemeClr val="tx1"/>
              </a:solidFill>
              <a:miter lim="800000"/>
              <a:headEnd/>
              <a:tailEnd/>
            </a:ln>
          </p:spPr>
          <p:txBody>
            <a:bodyPr wrap="none"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76" name="Freeform 6">
              <a:extLst>
                <a:ext uri="{FF2B5EF4-FFF2-40B4-BE49-F238E27FC236}">
                  <a16:creationId xmlns:a16="http://schemas.microsoft.com/office/drawing/2014/main" id="{76F56516-3DA6-F9A1-CCA3-A1F1AAB8EF26}"/>
                </a:ext>
              </a:extLst>
            </p:cNvPr>
            <p:cNvSpPr>
              <a:spLocks/>
            </p:cNvSpPr>
            <p:nvPr/>
          </p:nvSpPr>
          <p:spPr bwMode="auto">
            <a:xfrm>
              <a:off x="6111875" y="1533525"/>
              <a:ext cx="2606675" cy="4327525"/>
            </a:xfrm>
            <a:custGeom>
              <a:avLst/>
              <a:gdLst>
                <a:gd name="T0" fmla="*/ 12865 w 1621"/>
                <a:gd name="T1" fmla="*/ 1061790 h 1777"/>
                <a:gd name="T2" fmla="*/ 1498718 w 1621"/>
                <a:gd name="T3" fmla="*/ 1061790 h 1777"/>
                <a:gd name="T4" fmla="*/ 1498718 w 1621"/>
                <a:gd name="T5" fmla="*/ 0 h 1777"/>
                <a:gd name="T6" fmla="*/ 2605067 w 1621"/>
                <a:gd name="T7" fmla="*/ 2172286 h 1777"/>
                <a:gd name="T8" fmla="*/ 1505150 w 1621"/>
                <a:gd name="T9" fmla="*/ 4325090 h 1777"/>
                <a:gd name="T10" fmla="*/ 1505150 w 1621"/>
                <a:gd name="T11" fmla="*/ 3273041 h 1777"/>
                <a:gd name="T12" fmla="*/ 6432 w 1621"/>
                <a:gd name="T13" fmla="*/ 3273041 h 1777"/>
                <a:gd name="T14" fmla="*/ 32161 w 1621"/>
                <a:gd name="T15" fmla="*/ 3107441 h 1777"/>
                <a:gd name="T16" fmla="*/ 0 w 1621"/>
                <a:gd name="T17" fmla="*/ 2932099 h 1777"/>
                <a:gd name="T18" fmla="*/ 64323 w 1621"/>
                <a:gd name="T19" fmla="*/ 2747016 h 1777"/>
                <a:gd name="T20" fmla="*/ 19297 w 1621"/>
                <a:gd name="T21" fmla="*/ 2630122 h 1777"/>
                <a:gd name="T22" fmla="*/ 51458 w 1621"/>
                <a:gd name="T23" fmla="*/ 2357369 h 1777"/>
                <a:gd name="T24" fmla="*/ 12865 w 1621"/>
                <a:gd name="T25" fmla="*/ 2220992 h 1777"/>
                <a:gd name="T26" fmla="*/ 45026 w 1621"/>
                <a:gd name="T27" fmla="*/ 2045651 h 1777"/>
                <a:gd name="T28" fmla="*/ 12865 w 1621"/>
                <a:gd name="T29" fmla="*/ 1850827 h 1777"/>
                <a:gd name="T30" fmla="*/ 51458 w 1621"/>
                <a:gd name="T31" fmla="*/ 1733932 h 1777"/>
                <a:gd name="T32" fmla="*/ 12865 w 1621"/>
                <a:gd name="T33" fmla="*/ 1568332 h 1777"/>
                <a:gd name="T34" fmla="*/ 45026 w 1621"/>
                <a:gd name="T35" fmla="*/ 1246873 h 1777"/>
                <a:gd name="T36" fmla="*/ 12865 w 1621"/>
                <a:gd name="T37" fmla="*/ 1168943 h 1777"/>
                <a:gd name="T38" fmla="*/ 12865 w 1621"/>
                <a:gd name="T39" fmla="*/ 1061790 h 17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21" h="1777">
                  <a:moveTo>
                    <a:pt x="8" y="436"/>
                  </a:moveTo>
                  <a:lnTo>
                    <a:pt x="932" y="436"/>
                  </a:lnTo>
                  <a:lnTo>
                    <a:pt x="932" y="0"/>
                  </a:lnTo>
                  <a:lnTo>
                    <a:pt x="1620" y="892"/>
                  </a:lnTo>
                  <a:lnTo>
                    <a:pt x="936" y="1776"/>
                  </a:lnTo>
                  <a:lnTo>
                    <a:pt x="936" y="1344"/>
                  </a:lnTo>
                  <a:lnTo>
                    <a:pt x="4" y="1344"/>
                  </a:lnTo>
                  <a:lnTo>
                    <a:pt x="20" y="1276"/>
                  </a:lnTo>
                  <a:lnTo>
                    <a:pt x="0" y="1204"/>
                  </a:lnTo>
                  <a:lnTo>
                    <a:pt x="40" y="1128"/>
                  </a:lnTo>
                  <a:lnTo>
                    <a:pt x="12" y="1080"/>
                  </a:lnTo>
                  <a:lnTo>
                    <a:pt x="32" y="968"/>
                  </a:lnTo>
                  <a:lnTo>
                    <a:pt x="8" y="912"/>
                  </a:lnTo>
                  <a:lnTo>
                    <a:pt x="28" y="840"/>
                  </a:lnTo>
                  <a:lnTo>
                    <a:pt x="8" y="760"/>
                  </a:lnTo>
                  <a:lnTo>
                    <a:pt x="32" y="712"/>
                  </a:lnTo>
                  <a:lnTo>
                    <a:pt x="8" y="644"/>
                  </a:lnTo>
                  <a:lnTo>
                    <a:pt x="28" y="512"/>
                  </a:lnTo>
                  <a:lnTo>
                    <a:pt x="8" y="480"/>
                  </a:lnTo>
                  <a:lnTo>
                    <a:pt x="8" y="436"/>
                  </a:lnTo>
                </a:path>
              </a:pathLst>
            </a:custGeom>
            <a:solidFill>
              <a:schemeClr val="accent5"/>
            </a:solidFill>
            <a:ln w="6350" cap="rnd" cmpd="sng">
              <a:solidFill>
                <a:schemeClr val="tx1"/>
              </a:solidFill>
              <a:prstDash val="solid"/>
              <a:round/>
              <a:headEnd type="none" w="med" len="med"/>
              <a:tailEnd type="none" w="med" len="med"/>
            </a:ln>
            <a:effectLst/>
          </p:spPr>
          <p:txBody>
            <a:bodyPr lIns="45720" rIns="45720"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77" name="Text Box 7">
              <a:extLst>
                <a:ext uri="{FF2B5EF4-FFF2-40B4-BE49-F238E27FC236}">
                  <a16:creationId xmlns:a16="http://schemas.microsoft.com/office/drawing/2014/main" id="{2C75FE16-1CCB-E3A1-400C-81F4F0446EF4}"/>
                </a:ext>
              </a:extLst>
            </p:cNvPr>
            <p:cNvSpPr txBox="1">
              <a:spLocks noChangeArrowheads="1"/>
            </p:cNvSpPr>
            <p:nvPr/>
          </p:nvSpPr>
          <p:spPr bwMode="auto">
            <a:xfrm>
              <a:off x="5272088" y="5835650"/>
              <a:ext cx="1128712" cy="29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20" rIns="45720"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50000"/>
                </a:spcBef>
              </a:pPr>
              <a:r>
                <a:rPr lang="en-GB" altLang="en-US" sz="1800" dirty="0">
                  <a:solidFill>
                    <a:schemeClr val="tx1"/>
                  </a:solidFill>
                  <a:latin typeface="Roboto" panose="02000000000000000000" pitchFamily="2" charset="0"/>
                  <a:ea typeface="Roboto" panose="02000000000000000000" pitchFamily="2" charset="0"/>
                </a:rPr>
                <a:t>WASTE</a:t>
              </a:r>
            </a:p>
          </p:txBody>
        </p:sp>
        <p:sp>
          <p:nvSpPr>
            <p:cNvPr id="78" name="Rectangle 8">
              <a:extLst>
                <a:ext uri="{FF2B5EF4-FFF2-40B4-BE49-F238E27FC236}">
                  <a16:creationId xmlns:a16="http://schemas.microsoft.com/office/drawing/2014/main" id="{9E911E8F-AC00-9331-E472-3CB0A9DF2A49}"/>
                </a:ext>
              </a:extLst>
            </p:cNvPr>
            <p:cNvSpPr>
              <a:spLocks noChangeArrowheads="1"/>
            </p:cNvSpPr>
            <p:nvPr/>
          </p:nvSpPr>
          <p:spPr bwMode="auto">
            <a:xfrm>
              <a:off x="6167438" y="2849563"/>
              <a:ext cx="2454275" cy="1302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0"/>
                </a:spcBef>
              </a:pPr>
              <a: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t>Make </a:t>
              </a:r>
              <a:b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br>
              <a: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t>Improvements</a:t>
              </a:r>
            </a:p>
            <a:p>
              <a:pPr>
                <a:lnSpc>
                  <a:spcPct val="100000"/>
                </a:lnSpc>
                <a:spcBef>
                  <a:spcPct val="0"/>
                </a:spcBef>
              </a:pPr>
              <a: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t>that </a:t>
              </a:r>
              <a:b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br>
              <a:r>
                <a:rPr lang="en-GB" altLang="en-US" sz="1800" dirty="0">
                  <a:effectLst>
                    <a:outerShdw blurRad="38100" dist="38100" dir="2700000" algn="tl">
                      <a:srgbClr val="000000"/>
                    </a:outerShdw>
                  </a:effectLst>
                  <a:latin typeface="Roboto" panose="02000000000000000000" pitchFamily="2" charset="0"/>
                  <a:ea typeface="Roboto" panose="02000000000000000000" pitchFamily="2" charset="0"/>
                </a:rPr>
                <a:t>Eliminate Waste</a:t>
              </a:r>
            </a:p>
          </p:txBody>
        </p:sp>
        <p:sp>
          <p:nvSpPr>
            <p:cNvPr id="79" name="Rectangle 9">
              <a:extLst>
                <a:ext uri="{FF2B5EF4-FFF2-40B4-BE49-F238E27FC236}">
                  <a16:creationId xmlns:a16="http://schemas.microsoft.com/office/drawing/2014/main" id="{E93612DC-0712-9E21-53A0-FC15B4132D74}"/>
                </a:ext>
              </a:extLst>
            </p:cNvPr>
            <p:cNvSpPr>
              <a:spLocks noChangeArrowheads="1"/>
            </p:cNvSpPr>
            <p:nvPr/>
          </p:nvSpPr>
          <p:spPr bwMode="auto">
            <a:xfrm>
              <a:off x="560388" y="4848225"/>
              <a:ext cx="2103437" cy="1169988"/>
            </a:xfrm>
            <a:prstGeom prst="rect">
              <a:avLst/>
            </a:prstGeom>
            <a:solidFill>
              <a:schemeClr val="accent4"/>
            </a:solidFill>
            <a:ln w="6350">
              <a:solidFill>
                <a:schemeClr val="tx1"/>
              </a:solidFill>
              <a:miter lim="800000"/>
              <a:headEnd/>
              <a:tailEnd/>
            </a:ln>
            <a:effectLst/>
          </p:spPr>
          <p:txBody>
            <a:bodyPr wrap="none" lIns="45720" rIns="45720" anchor="ctr"/>
            <a:lstStyle>
              <a:lvl1pPr marL="101600" indent="-101600">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buClr>
                  <a:schemeClr val="folHlink"/>
                </a:buClr>
                <a:defRPr/>
              </a:pPr>
              <a: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t>Identify strategic</a:t>
              </a:r>
            </a:p>
            <a:p>
              <a:pPr algn="ctr">
                <a:buClr>
                  <a:schemeClr val="folHlink"/>
                </a:buClr>
                <a:defRPr/>
              </a:pPr>
              <a: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t>objectives and major</a:t>
              </a:r>
              <a:b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br>
              <a: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t>business improvement</a:t>
              </a:r>
              <a:b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br>
              <a:r>
                <a:rPr lang="en-US" altLang="en-US" sz="1400" dirty="0">
                  <a:effectLst>
                    <a:outerShdw blurRad="38100" dist="38100" dir="2700000" algn="tl">
                      <a:srgbClr val="000000"/>
                    </a:outerShdw>
                  </a:effectLst>
                  <a:latin typeface="Roboto" panose="02000000000000000000" pitchFamily="2" charset="0"/>
                  <a:ea typeface="Roboto" panose="02000000000000000000" pitchFamily="2" charset="0"/>
                </a:rPr>
                <a:t>opportunities</a:t>
              </a:r>
            </a:p>
          </p:txBody>
        </p:sp>
      </p:grpSp>
    </p:spTree>
    <p:extLst>
      <p:ext uri="{BB962C8B-B14F-4D97-AF65-F5344CB8AC3E}">
        <p14:creationId xmlns:p14="http://schemas.microsoft.com/office/powerpoint/2010/main" val="22502765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Business Case Examples that support Key Business Imperatives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a:t>
            </a:fld>
            <a:endParaRPr lang="en-US"/>
          </a:p>
        </p:txBody>
      </p:sp>
      <p:graphicFrame>
        <p:nvGraphicFramePr>
          <p:cNvPr id="3" name="Group 35">
            <a:extLst>
              <a:ext uri="{FF2B5EF4-FFF2-40B4-BE49-F238E27FC236}">
                <a16:creationId xmlns:a16="http://schemas.microsoft.com/office/drawing/2014/main" id="{3E0AA74B-A680-547F-FC5A-64A02B442505}"/>
              </a:ext>
            </a:extLst>
          </p:cNvPr>
          <p:cNvGraphicFramePr>
            <a:graphicFrameLocks noGrp="1"/>
          </p:cNvGraphicFramePr>
          <p:nvPr>
            <p:extLst>
              <p:ext uri="{D42A27DB-BD31-4B8C-83A1-F6EECF244321}">
                <p14:modId xmlns:p14="http://schemas.microsoft.com/office/powerpoint/2010/main" val="2036031676"/>
              </p:ext>
            </p:extLst>
          </p:nvPr>
        </p:nvGraphicFramePr>
        <p:xfrm>
          <a:off x="1993900" y="2065885"/>
          <a:ext cx="8204200" cy="3994173"/>
        </p:xfrm>
        <a:graphic>
          <a:graphicData uri="http://schemas.openxmlformats.org/drawingml/2006/table">
            <a:tbl>
              <a:tblPr/>
              <a:tblGrid>
                <a:gridCol w="1681163">
                  <a:extLst>
                    <a:ext uri="{9D8B030D-6E8A-4147-A177-3AD203B41FA5}">
                      <a16:colId xmlns:a16="http://schemas.microsoft.com/office/drawing/2014/main" val="20000"/>
                    </a:ext>
                  </a:extLst>
                </a:gridCol>
                <a:gridCol w="6523037">
                  <a:extLst>
                    <a:ext uri="{9D8B030D-6E8A-4147-A177-3AD203B41FA5}">
                      <a16:colId xmlns:a16="http://schemas.microsoft.com/office/drawing/2014/main" val="20001"/>
                    </a:ext>
                  </a:extLst>
                </a:gridCol>
              </a:tblGrid>
              <a:tr h="34793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Problem</a:t>
                      </a:r>
                    </a:p>
                  </a:txBody>
                  <a:tcPr marT="45714" marB="45714"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Description</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612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Capacity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Overtime problem, Employee frustration, Need more people/ equipment/offices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523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Response Time</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Too much time statusing orders, too many meetings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12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Quality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First Pass Yield of Information, Product Launch ineffectiveness, </a:t>
                      </a:r>
                      <a:b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b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chasing information</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Inventory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In boxes, In process orders, Waiting rooms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507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Lead Time</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Information </a:t>
                      </a:r>
                      <a:r>
                        <a:rPr kumimoji="0" lang="ja-JP" altLang="en-US" sz="1400" b="1" i="0" u="none" strike="noStrike" cap="none" normalizeH="0" baseline="0">
                          <a:ln>
                            <a:noFill/>
                          </a:ln>
                          <a:solidFill>
                            <a:schemeClr val="tx1"/>
                          </a:solidFill>
                          <a:effectLst/>
                          <a:latin typeface="Roboto" panose="02000000000000000000" pitchFamily="2" charset="0"/>
                          <a:ea typeface="MS PGothic" panose="020B0600070205080204" pitchFamily="34" charset="-128"/>
                        </a:rPr>
                        <a:t>“</a:t>
                      </a:r>
                      <a:r>
                        <a:rPr kumimoji="0" lang="en-US" altLang="ja-JP" sz="1400" b="1" i="0" u="none" strike="noStrike" cap="none" normalizeH="0" baseline="0">
                          <a:ln>
                            <a:noFill/>
                          </a:ln>
                          <a:solidFill>
                            <a:schemeClr val="tx1"/>
                          </a:solidFill>
                          <a:effectLst/>
                          <a:latin typeface="Roboto" panose="02000000000000000000" pitchFamily="2" charset="0"/>
                          <a:ea typeface="Roboto" panose="02000000000000000000" pitchFamily="2" charset="0"/>
                        </a:rPr>
                        <a:t>throughput</a:t>
                      </a:r>
                      <a:r>
                        <a:rPr kumimoji="0" lang="ja-JP" altLang="en-US" sz="1400" b="1" i="0" u="none" strike="noStrike" cap="none" normalizeH="0" baseline="0">
                          <a:ln>
                            <a:noFill/>
                          </a:ln>
                          <a:solidFill>
                            <a:schemeClr val="tx1"/>
                          </a:solidFill>
                          <a:effectLst/>
                          <a:latin typeface="Roboto" panose="02000000000000000000" pitchFamily="2" charset="0"/>
                          <a:ea typeface="MS PGothic" panose="020B0600070205080204" pitchFamily="34" charset="-128"/>
                        </a:rPr>
                        <a:t>”</a:t>
                      </a:r>
                      <a:r>
                        <a:rPr kumimoji="0" lang="en-US" altLang="ja-JP" sz="1400" b="1" i="0" u="none" strike="noStrike" cap="none" normalizeH="0" baseline="0">
                          <a:ln>
                            <a:noFill/>
                          </a:ln>
                          <a:solidFill>
                            <a:schemeClr val="tx1"/>
                          </a:solidFill>
                          <a:effectLst/>
                          <a:latin typeface="Roboto" panose="02000000000000000000" pitchFamily="2" charset="0"/>
                          <a:ea typeface="Roboto" panose="02000000000000000000" pitchFamily="2" charset="0"/>
                        </a:rPr>
                        <a:t> time</a:t>
                      </a: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Productivity</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Costs are too high, they keep throwing more onto our department</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Technology Shift</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rPr>
                        <a:t>New Client Relationship Mgmt system, Integration of New Technology</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1269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Cash Flow</a:t>
                      </a:r>
                    </a:p>
                  </a:txBody>
                  <a:tcPr marT="45714" marB="45714" anchor="ctr"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Receivables are too high, over-budget, not enough resources</a:t>
                      </a:r>
                    </a:p>
                  </a:txBody>
                  <a:tcPr marT="45714" marB="45714"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45200664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Roadmap to Success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620078" y="1864043"/>
            <a:ext cx="10718200" cy="3970337"/>
            <a:chOff x="414338" y="1624013"/>
            <a:chExt cx="8324850" cy="39703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21">
              <a:extLst>
                <a:ext uri="{FF2B5EF4-FFF2-40B4-BE49-F238E27FC236}">
                  <a16:creationId xmlns:a16="http://schemas.microsoft.com/office/drawing/2014/main" id="{4C18F2A8-1A6C-FCFC-7350-D3290D431D89}"/>
                </a:ext>
              </a:extLst>
            </p:cNvPr>
            <p:cNvSpPr>
              <a:spLocks noChangeArrowheads="1"/>
            </p:cNvSpPr>
            <p:nvPr/>
          </p:nvSpPr>
          <p:spPr bwMode="auto">
            <a:xfrm>
              <a:off x="414338" y="4378325"/>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Identify Strategic Value Streams and Product Families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Plan VSM Events</a:t>
              </a:r>
            </a:p>
          </p:txBody>
        </p:sp>
        <p:sp>
          <p:nvSpPr>
            <p:cNvPr id="22" name="Rectangle 22">
              <a:extLst>
                <a:ext uri="{FF2B5EF4-FFF2-40B4-BE49-F238E27FC236}">
                  <a16:creationId xmlns:a16="http://schemas.microsoft.com/office/drawing/2014/main" id="{CD99205B-5016-E5E8-AB9F-D1579A8804B2}"/>
                </a:ext>
              </a:extLst>
            </p:cNvPr>
            <p:cNvSpPr>
              <a:spLocks noChangeArrowheads="1"/>
            </p:cNvSpPr>
            <p:nvPr/>
          </p:nvSpPr>
          <p:spPr bwMode="auto">
            <a:xfrm>
              <a:off x="22431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Select Value Stream and Product Family</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Confirm VSM Team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logistics for VSM Event</a:t>
              </a:r>
            </a:p>
          </p:txBody>
        </p:sp>
        <p:sp>
          <p:nvSpPr>
            <p:cNvPr id="23" name="Rectangle 23">
              <a:extLst>
                <a:ext uri="{FF2B5EF4-FFF2-40B4-BE49-F238E27FC236}">
                  <a16:creationId xmlns:a16="http://schemas.microsoft.com/office/drawing/2014/main" id="{D23B864D-50F5-AD32-6216-E40F1031B99D}"/>
                </a:ext>
              </a:extLst>
            </p:cNvPr>
            <p:cNvSpPr>
              <a:spLocks noChangeArrowheads="1"/>
            </p:cNvSpPr>
            <p:nvPr/>
          </p:nvSpPr>
          <p:spPr bwMode="auto">
            <a:xfrm>
              <a:off x="40084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Current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Future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Value stream Plan complete</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Site Plan updated</a:t>
              </a:r>
            </a:p>
          </p:txBody>
        </p:sp>
        <p:sp>
          <p:nvSpPr>
            <p:cNvPr id="24" name="Rectangle 24">
              <a:extLst>
                <a:ext uri="{FF2B5EF4-FFF2-40B4-BE49-F238E27FC236}">
                  <a16:creationId xmlns:a16="http://schemas.microsoft.com/office/drawing/2014/main" id="{072E3FDB-6C39-F8AB-154C-E5D525AE7DAF}"/>
                </a:ext>
              </a:extLst>
            </p:cNvPr>
            <p:cNvSpPr>
              <a:spLocks noChangeArrowheads="1"/>
            </p:cNvSpPr>
            <p:nvPr/>
          </p:nvSpPr>
          <p:spPr bwMode="auto">
            <a:xfrm>
              <a:off x="5849938" y="4378325"/>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kaizen events that link to VS Plan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Train Kaizen Teams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Conduct kaizen events and measure results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Manage VS Plan to completion</a:t>
              </a:r>
            </a:p>
          </p:txBody>
        </p:sp>
      </p:grpSp>
    </p:spTree>
    <p:extLst>
      <p:ext uri="{BB962C8B-B14F-4D97-AF65-F5344CB8AC3E}">
        <p14:creationId xmlns:p14="http://schemas.microsoft.com/office/powerpoint/2010/main" val="134849178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Value Stream Mapping Process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746800" y="1864043"/>
            <a:ext cx="10591478" cy="2776537"/>
            <a:chOff x="512763" y="1624013"/>
            <a:chExt cx="8226425" cy="27765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chemeClr val="tx1"/>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26" name="Group 21">
            <a:extLst>
              <a:ext uri="{FF2B5EF4-FFF2-40B4-BE49-F238E27FC236}">
                <a16:creationId xmlns:a16="http://schemas.microsoft.com/office/drawing/2014/main" id="{FAD26B83-D920-7AF5-CB49-0888B74A1FFF}"/>
              </a:ext>
            </a:extLst>
          </p:cNvPr>
          <p:cNvGrpSpPr>
            <a:grpSpLocks/>
          </p:cNvGrpSpPr>
          <p:nvPr/>
        </p:nvGrpSpPr>
        <p:grpSpPr bwMode="auto">
          <a:xfrm>
            <a:off x="982489" y="4362768"/>
            <a:ext cx="10355789" cy="1949450"/>
            <a:chOff x="265" y="2627"/>
            <a:chExt cx="5266" cy="1228"/>
          </a:xfrm>
        </p:grpSpPr>
        <p:grpSp>
          <p:nvGrpSpPr>
            <p:cNvPr id="27" name="Group 22">
              <a:extLst>
                <a:ext uri="{FF2B5EF4-FFF2-40B4-BE49-F238E27FC236}">
                  <a16:creationId xmlns:a16="http://schemas.microsoft.com/office/drawing/2014/main" id="{EB5DA7B6-9A2B-EF9B-CFFE-9A77EB1EE5DE}"/>
                </a:ext>
              </a:extLst>
            </p:cNvPr>
            <p:cNvGrpSpPr>
              <a:grpSpLocks/>
            </p:cNvGrpSpPr>
            <p:nvPr/>
          </p:nvGrpSpPr>
          <p:grpSpPr bwMode="auto">
            <a:xfrm>
              <a:off x="308" y="2969"/>
              <a:ext cx="5223" cy="886"/>
              <a:chOff x="1350" y="2060"/>
              <a:chExt cx="3035" cy="208"/>
            </a:xfrm>
          </p:grpSpPr>
          <p:sp>
            <p:nvSpPr>
              <p:cNvPr id="30" name="AutoShape 23">
                <a:extLst>
                  <a:ext uri="{FF2B5EF4-FFF2-40B4-BE49-F238E27FC236}">
                    <a16:creationId xmlns:a16="http://schemas.microsoft.com/office/drawing/2014/main" id="{7E0E9E85-012A-ED58-3AA0-B16F4C4B0E64}"/>
                  </a:ext>
                </a:extLst>
              </p:cNvPr>
              <p:cNvSpPr>
                <a:spLocks noChangeArrowheads="1"/>
              </p:cNvSpPr>
              <p:nvPr/>
            </p:nvSpPr>
            <p:spPr bwMode="auto">
              <a:xfrm>
                <a:off x="3722"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Develop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Value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Stream Plan</a:t>
                </a:r>
              </a:p>
            </p:txBody>
          </p:sp>
          <p:sp>
            <p:nvSpPr>
              <p:cNvPr id="31" name="AutoShape 24">
                <a:extLst>
                  <a:ext uri="{FF2B5EF4-FFF2-40B4-BE49-F238E27FC236}">
                    <a16:creationId xmlns:a16="http://schemas.microsoft.com/office/drawing/2014/main" id="{244EB58C-FE51-B873-51D8-5C21959D04B0}"/>
                  </a:ext>
                </a:extLst>
              </p:cNvPr>
              <p:cNvSpPr>
                <a:spLocks noChangeArrowheads="1"/>
              </p:cNvSpPr>
              <p:nvPr/>
            </p:nvSpPr>
            <p:spPr bwMode="auto">
              <a:xfrm>
                <a:off x="3128"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Create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Future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 Map</a:t>
                </a:r>
              </a:p>
            </p:txBody>
          </p:sp>
          <p:sp>
            <p:nvSpPr>
              <p:cNvPr id="32" name="AutoShape 25">
                <a:extLst>
                  <a:ext uri="{FF2B5EF4-FFF2-40B4-BE49-F238E27FC236}">
                    <a16:creationId xmlns:a16="http://schemas.microsoft.com/office/drawing/2014/main" id="{94CB1512-8156-377E-6C5B-B3CAC77C347C}"/>
                  </a:ext>
                </a:extLst>
              </p:cNvPr>
              <p:cNvSpPr>
                <a:spLocks noChangeArrowheads="1"/>
              </p:cNvSpPr>
              <p:nvPr/>
            </p:nvSpPr>
            <p:spPr bwMode="auto">
              <a:xfrm>
                <a:off x="254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Interrogate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the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Current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a:t>
                </a:r>
              </a:p>
            </p:txBody>
          </p:sp>
          <p:sp>
            <p:nvSpPr>
              <p:cNvPr id="33" name="AutoShape 26">
                <a:extLst>
                  <a:ext uri="{FF2B5EF4-FFF2-40B4-BE49-F238E27FC236}">
                    <a16:creationId xmlns:a16="http://schemas.microsoft.com/office/drawing/2014/main" id="{C6E1C84A-A677-7DE6-A82D-3195DED65330}"/>
                  </a:ext>
                </a:extLst>
              </p:cNvPr>
              <p:cNvSpPr>
                <a:spLocks noChangeArrowheads="1"/>
              </p:cNvSpPr>
              <p:nvPr/>
            </p:nvSpPr>
            <p:spPr bwMode="auto">
              <a:xfrm>
                <a:off x="1951"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Create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Current</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State Map </a:t>
                </a:r>
              </a:p>
            </p:txBody>
          </p:sp>
          <p:sp>
            <p:nvSpPr>
              <p:cNvPr id="34" name="AutoShape 27">
                <a:extLst>
                  <a:ext uri="{FF2B5EF4-FFF2-40B4-BE49-F238E27FC236}">
                    <a16:creationId xmlns:a16="http://schemas.microsoft.com/office/drawing/2014/main" id="{8CF64827-E56F-8026-9999-F24CB1F15AE7}"/>
                  </a:ext>
                </a:extLst>
              </p:cNvPr>
              <p:cNvSpPr>
                <a:spLocks noChangeArrowheads="1"/>
              </p:cNvSpPr>
              <p:nvPr/>
            </p:nvSpPr>
            <p:spPr bwMode="auto">
              <a:xfrm>
                <a:off x="1350" y="2060"/>
                <a:ext cx="663" cy="208"/>
              </a:xfrm>
              <a:prstGeom prst="homePlate">
                <a:avLst>
                  <a:gd name="adj" fmla="val 29912"/>
                </a:avLst>
              </a:prstGeom>
              <a:solidFill>
                <a:schemeClr val="accent1"/>
              </a:solidFill>
              <a:ln w="12700" cap="sq">
                <a:solidFill>
                  <a:schemeClr val="tx1"/>
                </a:solidFill>
                <a:miter lim="800000"/>
                <a:headEnd/>
                <a:tailEnd/>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600">
                    <a:latin typeface="Roboto" panose="02000000000000000000" pitchFamily="2" charset="0"/>
                    <a:ea typeface="Roboto" panose="02000000000000000000" pitchFamily="2" charset="0"/>
                  </a:rPr>
                  <a:t>Select Product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or</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Service Family</a:t>
                </a:r>
              </a:p>
            </p:txBody>
          </p:sp>
        </p:grpSp>
        <p:sp>
          <p:nvSpPr>
            <p:cNvPr id="28" name="Line 28">
              <a:extLst>
                <a:ext uri="{FF2B5EF4-FFF2-40B4-BE49-F238E27FC236}">
                  <a16:creationId xmlns:a16="http://schemas.microsoft.com/office/drawing/2014/main" id="{3DB86DC1-0A2B-3DDA-2B28-1E00BBC4E09B}"/>
                </a:ext>
              </a:extLst>
            </p:cNvPr>
            <p:cNvSpPr>
              <a:spLocks noChangeShapeType="1"/>
            </p:cNvSpPr>
            <p:nvPr/>
          </p:nvSpPr>
          <p:spPr bwMode="auto">
            <a:xfrm flipH="1">
              <a:off x="265" y="2641"/>
              <a:ext cx="2244" cy="321"/>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9" name="Line 29">
              <a:extLst>
                <a:ext uri="{FF2B5EF4-FFF2-40B4-BE49-F238E27FC236}">
                  <a16:creationId xmlns:a16="http://schemas.microsoft.com/office/drawing/2014/main" id="{38910487-B80B-4B50-93F1-FC25C1186092}"/>
                </a:ext>
              </a:extLst>
            </p:cNvPr>
            <p:cNvSpPr>
              <a:spLocks noChangeShapeType="1"/>
            </p:cNvSpPr>
            <p:nvPr/>
          </p:nvSpPr>
          <p:spPr bwMode="auto">
            <a:xfrm>
              <a:off x="3504" y="2627"/>
              <a:ext cx="1899" cy="308"/>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Tree>
    <p:extLst>
      <p:ext uri="{BB962C8B-B14F-4D97-AF65-F5344CB8AC3E}">
        <p14:creationId xmlns:p14="http://schemas.microsoft.com/office/powerpoint/2010/main" val="2676092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Value Stream Mapping Session Agenda</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a:t>
            </a:fld>
            <a:endParaRPr lang="en-US"/>
          </a:p>
        </p:txBody>
      </p:sp>
      <p:graphicFrame>
        <p:nvGraphicFramePr>
          <p:cNvPr id="3" name="Group 2">
            <a:extLst>
              <a:ext uri="{FF2B5EF4-FFF2-40B4-BE49-F238E27FC236}">
                <a16:creationId xmlns:a16="http://schemas.microsoft.com/office/drawing/2014/main" id="{B8269769-7C4E-F8DC-EE34-092A3114232A}"/>
              </a:ext>
            </a:extLst>
          </p:cNvPr>
          <p:cNvGraphicFramePr>
            <a:graphicFrameLocks noGrp="1"/>
          </p:cNvGraphicFramePr>
          <p:nvPr/>
        </p:nvGraphicFramePr>
        <p:xfrm>
          <a:off x="581025" y="1856398"/>
          <a:ext cx="11029950" cy="4426939"/>
        </p:xfrm>
        <a:graphic>
          <a:graphicData uri="http://schemas.openxmlformats.org/drawingml/2006/table">
            <a:tbl>
              <a:tblPr/>
              <a:tblGrid>
                <a:gridCol w="1183298">
                  <a:extLst>
                    <a:ext uri="{9D8B030D-6E8A-4147-A177-3AD203B41FA5}">
                      <a16:colId xmlns:a16="http://schemas.microsoft.com/office/drawing/2014/main" val="20000"/>
                    </a:ext>
                  </a:extLst>
                </a:gridCol>
                <a:gridCol w="4565362">
                  <a:extLst>
                    <a:ext uri="{9D8B030D-6E8A-4147-A177-3AD203B41FA5}">
                      <a16:colId xmlns:a16="http://schemas.microsoft.com/office/drawing/2014/main" val="20001"/>
                    </a:ext>
                  </a:extLst>
                </a:gridCol>
                <a:gridCol w="5281290">
                  <a:extLst>
                    <a:ext uri="{9D8B030D-6E8A-4147-A177-3AD203B41FA5}">
                      <a16:colId xmlns:a16="http://schemas.microsoft.com/office/drawing/2014/main" val="20002"/>
                    </a:ext>
                  </a:extLst>
                </a:gridCol>
              </a:tblGrid>
              <a:tr h="355175">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Day</a:t>
                      </a:r>
                    </a:p>
                  </a:txBody>
                  <a:tcPr marT="45856" marB="45856" anchor="b"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Key Learnings</a:t>
                      </a:r>
                    </a:p>
                  </a:txBody>
                  <a:tcPr marT="45856" marB="45856" anchor="b"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Daily Deliverables</a:t>
                      </a:r>
                    </a:p>
                  </a:txBody>
                  <a:tcPr marT="45856" marB="45856" anchor="b"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938290">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1</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Introduction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Identifying Value Streams</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Current State Mapping</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Current State Process Walk</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Labeling of Process Boxes on Current State Map</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6327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2</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Conduct Data Gathering for Current State Map for Business</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Current State Map with Complete Data</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64668">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3</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90513" marR="0" lvl="0" indent="-290513"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Interrogate the Current State</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Current State Report-Out to Management</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Completed Marked-Up Current State Map</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38290">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4</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Future State Mapping</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Completing the Value Stream Plan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Beyond the Future State</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Completed Future State Map and Value Stream Plan</a:t>
                      </a:r>
                    </a:p>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64668">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charset="0"/>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Day 5</a:t>
                      </a:r>
                    </a:p>
                  </a:txBody>
                  <a:tcPr marT="45856" marB="4585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Prepare for Team Final Report-Out</a:t>
                      </a:r>
                    </a:p>
                  </a:txBody>
                  <a:tcPr marT="45856" marB="4585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285750" marR="0" lvl="0" indent="-285750" algn="l" defTabSz="914400" rtl="0" eaLnBrk="0" fontAlgn="base" latinLnBrk="0" hangingPunct="0">
                        <a:lnSpc>
                          <a:spcPct val="100000"/>
                        </a:lnSpc>
                        <a:spcBef>
                          <a:spcPct val="20000"/>
                        </a:spcBef>
                        <a:spcAft>
                          <a:spcPct val="20000"/>
                        </a:spcAft>
                        <a:buClr>
                          <a:schemeClr val="tx1"/>
                        </a:buClr>
                        <a:buSzPct val="90000"/>
                        <a:buFont typeface="Arial" panose="020B0604020202020204" pitchFamily="34" charset="0"/>
                        <a:buChar char="•"/>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Final Report-Out to Management</a:t>
                      </a:r>
                    </a:p>
                  </a:txBody>
                  <a:tcPr marT="45856" marB="4585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26609593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14</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a:bodyPr>
          <a:lstStyle/>
          <a:p>
            <a:r>
              <a:rPr lang="en-US" sz="4000" dirty="0">
                <a:latin typeface="Roboto Medium"/>
                <a:ea typeface="Roboto Medium"/>
                <a:cs typeface="Roboto Medium"/>
              </a:rPr>
              <a:t>Select Product or Service Family</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Define “value stream”</a:t>
            </a:r>
          </a:p>
          <a:p>
            <a:r>
              <a:rPr lang="en-US" dirty="0"/>
              <a:t>Determine Value Stream Map boundaries</a:t>
            </a:r>
          </a:p>
          <a:p>
            <a:r>
              <a:rPr lang="en-US" dirty="0"/>
              <a:t>Identify the customer</a:t>
            </a:r>
          </a:p>
          <a:p>
            <a:r>
              <a:rPr lang="en-US" dirty="0"/>
              <a:t>Collect relevant information to begin VSM process</a:t>
            </a:r>
          </a:p>
          <a:p>
            <a:r>
              <a:rPr lang="en-US" dirty="0"/>
              <a:t>Validate VSM Charter for process and scope</a:t>
            </a:r>
          </a:p>
          <a:p>
            <a:endParaRPr lang="en-US" dirty="0"/>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latin typeface="Roboto" panose="02000000000000000000" pitchFamily="2" charset="0"/>
                    <a:ea typeface="Roboto" panose="02000000000000000000" pitchFamily="2" charset="0"/>
                    <a:cs typeface="Roboto" panose="02000000000000000000" pitchFamily="2" charset="0"/>
                  </a:rPr>
                  <a:t>Select Product or</a:t>
                </a:r>
                <a:br>
                  <a:rPr lang="en-US" altLang="en-US" sz="1200" dirty="0">
                    <a:latin typeface="Roboto" panose="02000000000000000000" pitchFamily="2" charset="0"/>
                    <a:ea typeface="Roboto" panose="02000000000000000000" pitchFamily="2" charset="0"/>
                    <a:cs typeface="Roboto" panose="02000000000000000000" pitchFamily="2" charset="0"/>
                  </a:rPr>
                </a:br>
                <a:r>
                  <a:rPr lang="en-US" altLang="en-US" sz="1200" dirty="0">
                    <a:latin typeface="Roboto" panose="02000000000000000000" pitchFamily="2" charset="0"/>
                    <a:ea typeface="Roboto" panose="02000000000000000000" pitchFamily="2" charset="0"/>
                    <a:cs typeface="Roboto" panose="02000000000000000000" pitchFamily="2" charset="0"/>
                  </a:rPr>
                  <a:t>Service Family</a:t>
                </a:r>
              </a:p>
            </p:txBody>
          </p:sp>
        </p:grpSp>
      </p:grpSp>
    </p:spTree>
    <p:extLst>
      <p:ext uri="{BB962C8B-B14F-4D97-AF65-F5344CB8AC3E}">
        <p14:creationId xmlns:p14="http://schemas.microsoft.com/office/powerpoint/2010/main" val="5393392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The Administrative Value Stream Defined</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15</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23" name="Group 22">
            <a:extLst>
              <a:ext uri="{FF2B5EF4-FFF2-40B4-BE49-F238E27FC236}">
                <a16:creationId xmlns:a16="http://schemas.microsoft.com/office/drawing/2014/main" id="{852F7C95-15AE-0019-D882-3B97698139EA}"/>
              </a:ext>
            </a:extLst>
          </p:cNvPr>
          <p:cNvGrpSpPr/>
          <p:nvPr/>
        </p:nvGrpSpPr>
        <p:grpSpPr>
          <a:xfrm>
            <a:off x="2212042" y="2152955"/>
            <a:ext cx="7772400" cy="3717925"/>
            <a:chOff x="727075" y="1584325"/>
            <a:chExt cx="7772400" cy="3717925"/>
          </a:xfrm>
        </p:grpSpPr>
        <p:sp>
          <p:nvSpPr>
            <p:cNvPr id="13" name="Rectangle 2">
              <a:extLst>
                <a:ext uri="{FF2B5EF4-FFF2-40B4-BE49-F238E27FC236}">
                  <a16:creationId xmlns:a16="http://schemas.microsoft.com/office/drawing/2014/main" id="{938F5428-5CC9-5108-D472-A708F748C5C5}"/>
                </a:ext>
              </a:extLst>
            </p:cNvPr>
            <p:cNvSpPr>
              <a:spLocks noChangeArrowheads="1"/>
            </p:cNvSpPr>
            <p:nvPr/>
          </p:nvSpPr>
          <p:spPr bwMode="auto">
            <a:xfrm>
              <a:off x="1512888" y="4337050"/>
              <a:ext cx="6303962" cy="965200"/>
            </a:xfrm>
            <a:prstGeom prst="rect">
              <a:avLst/>
            </a:prstGeom>
            <a:solidFill>
              <a:srgbClr val="EAEAEA"/>
            </a:solidFill>
            <a:ln w="19050">
              <a:solidFill>
                <a:schemeClr val="tx1"/>
              </a:solidFill>
              <a:prstDash val="sysDot"/>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600">
                  <a:latin typeface="Roboto" panose="02000000000000000000" pitchFamily="2" charset="0"/>
                  <a:ea typeface="Roboto" panose="02000000000000000000" pitchFamily="2" charset="0"/>
                </a:rPr>
                <a:t>All of the actions required to bring a product or service</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through the main flows essential to providing that product </a:t>
              </a:r>
              <a:br>
                <a:rPr lang="en-US" altLang="en-US" sz="1600">
                  <a:latin typeface="Roboto" panose="02000000000000000000" pitchFamily="2" charset="0"/>
                  <a:ea typeface="Roboto" panose="02000000000000000000" pitchFamily="2" charset="0"/>
                </a:rPr>
              </a:br>
              <a:r>
                <a:rPr lang="en-US" altLang="en-US" sz="1600">
                  <a:latin typeface="Roboto" panose="02000000000000000000" pitchFamily="2" charset="0"/>
                  <a:ea typeface="Roboto" panose="02000000000000000000" pitchFamily="2" charset="0"/>
                </a:rPr>
                <a:t>or service from inception point to receipt by customer</a:t>
              </a:r>
            </a:p>
          </p:txBody>
        </p:sp>
        <p:sp>
          <p:nvSpPr>
            <p:cNvPr id="14" name="Rectangle 3">
              <a:extLst>
                <a:ext uri="{FF2B5EF4-FFF2-40B4-BE49-F238E27FC236}">
                  <a16:creationId xmlns:a16="http://schemas.microsoft.com/office/drawing/2014/main" id="{7E631358-ED2E-BA40-C8A1-66A4FABEC118}"/>
                </a:ext>
              </a:extLst>
            </p:cNvPr>
            <p:cNvSpPr>
              <a:spLocks noChangeArrowheads="1"/>
            </p:cNvSpPr>
            <p:nvPr/>
          </p:nvSpPr>
          <p:spPr bwMode="auto">
            <a:xfrm>
              <a:off x="727075" y="1584325"/>
              <a:ext cx="1719263" cy="66992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Value Added</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and Non-Value</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Added Processes</a:t>
              </a:r>
            </a:p>
          </p:txBody>
        </p:sp>
        <p:sp>
          <p:nvSpPr>
            <p:cNvPr id="15" name="Rectangle 4">
              <a:extLst>
                <a:ext uri="{FF2B5EF4-FFF2-40B4-BE49-F238E27FC236}">
                  <a16:creationId xmlns:a16="http://schemas.microsoft.com/office/drawing/2014/main" id="{79E92D24-93E8-03F0-B983-9FBB53817F6B}"/>
                </a:ext>
              </a:extLst>
            </p:cNvPr>
            <p:cNvSpPr>
              <a:spLocks noChangeArrowheads="1"/>
            </p:cNvSpPr>
            <p:nvPr/>
          </p:nvSpPr>
          <p:spPr bwMode="auto">
            <a:xfrm>
              <a:off x="2714625" y="1598613"/>
              <a:ext cx="1719263"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Activity and</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Information</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Flow</a:t>
              </a:r>
            </a:p>
          </p:txBody>
        </p:sp>
        <p:sp>
          <p:nvSpPr>
            <p:cNvPr id="16" name="Rectangle 5">
              <a:extLst>
                <a:ext uri="{FF2B5EF4-FFF2-40B4-BE49-F238E27FC236}">
                  <a16:creationId xmlns:a16="http://schemas.microsoft.com/office/drawing/2014/main" id="{3555E2A2-9DAC-B81E-7A50-104975118C60}"/>
                </a:ext>
              </a:extLst>
            </p:cNvPr>
            <p:cNvSpPr>
              <a:spLocks noChangeArrowheads="1"/>
            </p:cNvSpPr>
            <p:nvPr/>
          </p:nvSpPr>
          <p:spPr bwMode="auto">
            <a:xfrm>
              <a:off x="4760913" y="1598613"/>
              <a:ext cx="1719262" cy="655637"/>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Cross function</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and organization</a:t>
              </a:r>
              <a:br>
                <a:rPr lang="en-US" altLang="en-US" sz="1600">
                  <a:solidFill>
                    <a:schemeClr val="bg1"/>
                  </a:solidFill>
                  <a:latin typeface="Roboto" panose="02000000000000000000" pitchFamily="2" charset="0"/>
                  <a:ea typeface="Roboto" panose="02000000000000000000" pitchFamily="2" charset="0"/>
                </a:rPr>
              </a:br>
              <a:r>
                <a:rPr lang="en-US" altLang="en-US" sz="1600">
                  <a:solidFill>
                    <a:schemeClr val="bg1"/>
                  </a:solidFill>
                  <a:latin typeface="Roboto" panose="02000000000000000000" pitchFamily="2" charset="0"/>
                  <a:ea typeface="Roboto" panose="02000000000000000000" pitchFamily="2" charset="0"/>
                </a:rPr>
                <a:t>boundaries</a:t>
              </a:r>
            </a:p>
          </p:txBody>
        </p:sp>
        <p:sp>
          <p:nvSpPr>
            <p:cNvPr id="17" name="Rectangle 6">
              <a:extLst>
                <a:ext uri="{FF2B5EF4-FFF2-40B4-BE49-F238E27FC236}">
                  <a16:creationId xmlns:a16="http://schemas.microsoft.com/office/drawing/2014/main" id="{C14270B8-C814-27CE-20F0-257362B20166}"/>
                </a:ext>
              </a:extLst>
            </p:cNvPr>
            <p:cNvSpPr>
              <a:spLocks noChangeArrowheads="1"/>
            </p:cNvSpPr>
            <p:nvPr/>
          </p:nvSpPr>
          <p:spPr bwMode="auto">
            <a:xfrm>
              <a:off x="6780213" y="1612900"/>
              <a:ext cx="1719262" cy="641350"/>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From Initiation to </a:t>
              </a:r>
            </a:p>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the Customer</a:t>
              </a:r>
            </a:p>
          </p:txBody>
        </p:sp>
        <p:cxnSp>
          <p:nvCxnSpPr>
            <p:cNvPr id="18" name="AutoShape 7">
              <a:extLst>
                <a:ext uri="{FF2B5EF4-FFF2-40B4-BE49-F238E27FC236}">
                  <a16:creationId xmlns:a16="http://schemas.microsoft.com/office/drawing/2014/main" id="{66B56E4E-BCD6-97C0-22C0-8C3D972A6B9C}"/>
                </a:ext>
              </a:extLst>
            </p:cNvPr>
            <p:cNvCxnSpPr>
              <a:cxnSpLocks noChangeShapeType="1"/>
              <a:stCxn id="14" idx="3"/>
              <a:endCxn id="15" idx="1"/>
            </p:cNvCxnSpPr>
            <p:nvPr/>
          </p:nvCxnSpPr>
          <p:spPr bwMode="auto">
            <a:xfrm>
              <a:off x="2446338" y="1919288"/>
              <a:ext cx="268287" cy="79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9" name="AutoShape 8">
              <a:extLst>
                <a:ext uri="{FF2B5EF4-FFF2-40B4-BE49-F238E27FC236}">
                  <a16:creationId xmlns:a16="http://schemas.microsoft.com/office/drawing/2014/main" id="{394C646E-C5D1-1604-4583-791A0604A341}"/>
                </a:ext>
              </a:extLst>
            </p:cNvPr>
            <p:cNvCxnSpPr>
              <a:cxnSpLocks noChangeShapeType="1"/>
              <a:stCxn id="15" idx="3"/>
              <a:endCxn id="16" idx="1"/>
            </p:cNvCxnSpPr>
            <p:nvPr/>
          </p:nvCxnSpPr>
          <p:spPr bwMode="auto">
            <a:xfrm>
              <a:off x="4433888" y="1927225"/>
              <a:ext cx="327025" cy="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0" name="AutoShape 9">
              <a:extLst>
                <a:ext uri="{FF2B5EF4-FFF2-40B4-BE49-F238E27FC236}">
                  <a16:creationId xmlns:a16="http://schemas.microsoft.com/office/drawing/2014/main" id="{A4277EC1-A1ED-1A3C-6252-F03688D8F149}"/>
                </a:ext>
              </a:extLst>
            </p:cNvPr>
            <p:cNvCxnSpPr>
              <a:cxnSpLocks noChangeShapeType="1"/>
              <a:stCxn id="16" idx="3"/>
              <a:endCxn id="17" idx="1"/>
            </p:cNvCxnSpPr>
            <p:nvPr/>
          </p:nvCxnSpPr>
          <p:spPr bwMode="auto">
            <a:xfrm>
              <a:off x="6480175" y="1927225"/>
              <a:ext cx="300038" cy="635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21" name="AutoShape 10">
              <a:extLst>
                <a:ext uri="{FF2B5EF4-FFF2-40B4-BE49-F238E27FC236}">
                  <a16:creationId xmlns:a16="http://schemas.microsoft.com/office/drawing/2014/main" id="{37DF1BD7-8427-E0FC-9734-AB80022DDA61}"/>
                </a:ext>
              </a:extLst>
            </p:cNvPr>
            <p:cNvCxnSpPr>
              <a:cxnSpLocks noChangeShapeType="1"/>
              <a:stCxn id="14" idx="1"/>
              <a:endCxn id="13" idx="1"/>
            </p:cNvCxnSpPr>
            <p:nvPr/>
          </p:nvCxnSpPr>
          <p:spPr bwMode="auto">
            <a:xfrm rot="10800000" flipH="1" flipV="1">
              <a:off x="727075" y="1919288"/>
              <a:ext cx="776288" cy="2900362"/>
            </a:xfrm>
            <a:prstGeom prst="bentConnector3">
              <a:avLst>
                <a:gd name="adj1" fmla="val -2944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2" name="AutoShape 11">
              <a:extLst>
                <a:ext uri="{FF2B5EF4-FFF2-40B4-BE49-F238E27FC236}">
                  <a16:creationId xmlns:a16="http://schemas.microsoft.com/office/drawing/2014/main" id="{C35C4560-6ACE-6638-43C3-956CA21E4477}"/>
                </a:ext>
              </a:extLst>
            </p:cNvPr>
            <p:cNvCxnSpPr>
              <a:cxnSpLocks noChangeShapeType="1"/>
              <a:stCxn id="17" idx="3"/>
              <a:endCxn id="13" idx="3"/>
            </p:cNvCxnSpPr>
            <p:nvPr/>
          </p:nvCxnSpPr>
          <p:spPr bwMode="auto">
            <a:xfrm flipH="1">
              <a:off x="7826375" y="1933575"/>
              <a:ext cx="673100" cy="2886075"/>
            </a:xfrm>
            <a:prstGeom prst="bentConnector3">
              <a:avLst>
                <a:gd name="adj1" fmla="val -3372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58557995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sz="4000" dirty="0"/>
              <a:t>Determine the Boundaries of the Value Stream</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16</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pSp>
        <p:nvGrpSpPr>
          <p:cNvPr id="29" name="Group 28">
            <a:extLst>
              <a:ext uri="{FF2B5EF4-FFF2-40B4-BE49-F238E27FC236}">
                <a16:creationId xmlns:a16="http://schemas.microsoft.com/office/drawing/2014/main" id="{ECA727FA-4B52-8C62-2B11-B256F6CF7D70}"/>
              </a:ext>
            </a:extLst>
          </p:cNvPr>
          <p:cNvGrpSpPr/>
          <p:nvPr/>
        </p:nvGrpSpPr>
        <p:grpSpPr>
          <a:xfrm>
            <a:off x="1956435" y="1998663"/>
            <a:ext cx="8279130" cy="3807777"/>
            <a:chOff x="1447800" y="1998663"/>
            <a:chExt cx="6248400" cy="3030537"/>
          </a:xfrm>
        </p:grpSpPr>
        <p:sp>
          <p:nvSpPr>
            <p:cNvPr id="24" name="Freeform 3">
              <a:extLst>
                <a:ext uri="{FF2B5EF4-FFF2-40B4-BE49-F238E27FC236}">
                  <a16:creationId xmlns:a16="http://schemas.microsoft.com/office/drawing/2014/main" id="{586F2EFF-B27D-D696-44A0-494915811C25}"/>
                </a:ext>
              </a:extLst>
            </p:cNvPr>
            <p:cNvSpPr>
              <a:spLocks/>
            </p:cNvSpPr>
            <p:nvPr/>
          </p:nvSpPr>
          <p:spPr bwMode="auto">
            <a:xfrm>
              <a:off x="2755900" y="1998663"/>
              <a:ext cx="4940300" cy="3030537"/>
            </a:xfrm>
            <a:custGeom>
              <a:avLst/>
              <a:gdLst>
                <a:gd name="T0" fmla="*/ 2147483646 w 2092"/>
                <a:gd name="T1" fmla="*/ 2147483646 h 1668"/>
                <a:gd name="T2" fmla="*/ 2147483646 w 2092"/>
                <a:gd name="T3" fmla="*/ 2147483646 h 1668"/>
                <a:gd name="T4" fmla="*/ 2147483646 w 2092"/>
                <a:gd name="T5" fmla="*/ 2135754599 h 1668"/>
                <a:gd name="T6" fmla="*/ 2147483646 w 2092"/>
                <a:gd name="T7" fmla="*/ 1944296609 h 1668"/>
                <a:gd name="T8" fmla="*/ 2147483646 w 2092"/>
                <a:gd name="T9" fmla="*/ 1723127364 h 1668"/>
                <a:gd name="T10" fmla="*/ 2147483646 w 2092"/>
                <a:gd name="T11" fmla="*/ 1495359253 h 1668"/>
                <a:gd name="T12" fmla="*/ 2147483646 w 2092"/>
                <a:gd name="T13" fmla="*/ 1320403881 h 1668"/>
                <a:gd name="T14" fmla="*/ 2147483646 w 2092"/>
                <a:gd name="T15" fmla="*/ 1092635769 h 1668"/>
                <a:gd name="T16" fmla="*/ 2147483646 w 2092"/>
                <a:gd name="T17" fmla="*/ 953992335 h 1668"/>
                <a:gd name="T18" fmla="*/ 2147483646 w 2092"/>
                <a:gd name="T19" fmla="*/ 792241965 h 1668"/>
                <a:gd name="T20" fmla="*/ 2147483646 w 2092"/>
                <a:gd name="T21" fmla="*/ 673406034 h 1668"/>
                <a:gd name="T22" fmla="*/ 2147483646 w 2092"/>
                <a:gd name="T23" fmla="*/ 557871353 h 1668"/>
                <a:gd name="T24" fmla="*/ 2147483646 w 2092"/>
                <a:gd name="T25" fmla="*/ 485249294 h 1668"/>
                <a:gd name="T26" fmla="*/ 2147483646 w 2092"/>
                <a:gd name="T27" fmla="*/ 392819732 h 1668"/>
                <a:gd name="T28" fmla="*/ 2147483646 w 2092"/>
                <a:gd name="T29" fmla="*/ 326800174 h 1668"/>
                <a:gd name="T30" fmla="*/ 2147483646 w 2092"/>
                <a:gd name="T31" fmla="*/ 267381300 h 1668"/>
                <a:gd name="T32" fmla="*/ 2147483646 w 2092"/>
                <a:gd name="T33" fmla="*/ 221167427 h 1668"/>
                <a:gd name="T34" fmla="*/ 2147483646 w 2092"/>
                <a:gd name="T35" fmla="*/ 171652305 h 1668"/>
                <a:gd name="T36" fmla="*/ 2147483646 w 2092"/>
                <a:gd name="T37" fmla="*/ 128739683 h 1668"/>
                <a:gd name="T38" fmla="*/ 2147483646 w 2092"/>
                <a:gd name="T39" fmla="*/ 92427745 h 1668"/>
                <a:gd name="T40" fmla="*/ 2147483646 w 2092"/>
                <a:gd name="T41" fmla="*/ 59418874 h 1668"/>
                <a:gd name="T42" fmla="*/ 2147483646 w 2092"/>
                <a:gd name="T43" fmla="*/ 42912622 h 1668"/>
                <a:gd name="T44" fmla="*/ 2147483646 w 2092"/>
                <a:gd name="T45" fmla="*/ 23106936 h 1668"/>
                <a:gd name="T46" fmla="*/ 2147483646 w 2092"/>
                <a:gd name="T47" fmla="*/ 13203185 h 1668"/>
                <a:gd name="T48" fmla="*/ 2147483646 w 2092"/>
                <a:gd name="T49" fmla="*/ 9903751 h 1668"/>
                <a:gd name="T50" fmla="*/ 2147483646 w 2092"/>
                <a:gd name="T51" fmla="*/ 3301250 h 1668"/>
                <a:gd name="T52" fmla="*/ 2147483646 w 2092"/>
                <a:gd name="T53" fmla="*/ 0 h 1668"/>
                <a:gd name="T54" fmla="*/ 2147483646 w 2092"/>
                <a:gd name="T55" fmla="*/ 0 h 1668"/>
                <a:gd name="T56" fmla="*/ 0 w 2092"/>
                <a:gd name="T57" fmla="*/ 0 h 1668"/>
                <a:gd name="T58" fmla="*/ 2035524038 w 2092"/>
                <a:gd name="T59" fmla="*/ 1165257828 h 1668"/>
                <a:gd name="T60" fmla="*/ 2147483646 w 2092"/>
                <a:gd name="T61" fmla="*/ 1168559079 h 1668"/>
                <a:gd name="T62" fmla="*/ 2147483646 w 2092"/>
                <a:gd name="T63" fmla="*/ 1175159763 h 1668"/>
                <a:gd name="T64" fmla="*/ 2147483646 w 2092"/>
                <a:gd name="T65" fmla="*/ 1188364765 h 1668"/>
                <a:gd name="T66" fmla="*/ 2147483646 w 2092"/>
                <a:gd name="T67" fmla="*/ 1214772951 h 1668"/>
                <a:gd name="T68" fmla="*/ 2147483646 w 2092"/>
                <a:gd name="T69" fmla="*/ 1254384323 h 1668"/>
                <a:gd name="T70" fmla="*/ 2147483646 w 2092"/>
                <a:gd name="T71" fmla="*/ 1307200696 h 1668"/>
                <a:gd name="T72" fmla="*/ 2147483646 w 2092"/>
                <a:gd name="T73" fmla="*/ 1376521504 h 1668"/>
                <a:gd name="T74" fmla="*/ 2147483646 w 2092"/>
                <a:gd name="T75" fmla="*/ 1459047315 h 1668"/>
                <a:gd name="T76" fmla="*/ 2147483646 w 2092"/>
                <a:gd name="T77" fmla="*/ 1551475060 h 1668"/>
                <a:gd name="T78" fmla="*/ 2147483646 w 2092"/>
                <a:gd name="T79" fmla="*/ 1653806556 h 1668"/>
                <a:gd name="T80" fmla="*/ 2147483646 w 2092"/>
                <a:gd name="T81" fmla="*/ 1766041803 h 1668"/>
                <a:gd name="T82" fmla="*/ 2147483646 w 2092"/>
                <a:gd name="T83" fmla="*/ 1881576484 h 1668"/>
                <a:gd name="T84" fmla="*/ 2147483646 w 2092"/>
                <a:gd name="T85" fmla="*/ 2007014916 h 1668"/>
                <a:gd name="T86" fmla="*/ 2147483646 w 2092"/>
                <a:gd name="T87" fmla="*/ 2135754599 h 1668"/>
                <a:gd name="T88" fmla="*/ 2147483646 w 2092"/>
                <a:gd name="T89" fmla="*/ 2147483646 h 1668"/>
                <a:gd name="T90" fmla="*/ 2147483646 w 2092"/>
                <a:gd name="T91" fmla="*/ 2147483646 h 1668"/>
                <a:gd name="T92" fmla="*/ 2147483646 w 2092"/>
                <a:gd name="T93" fmla="*/ 2147483646 h 1668"/>
                <a:gd name="T94" fmla="*/ 2147483646 w 2092"/>
                <a:gd name="T95" fmla="*/ 2147483646 h 1668"/>
                <a:gd name="T96" fmla="*/ 2147483646 w 2092"/>
                <a:gd name="T97" fmla="*/ 2147483646 h 1668"/>
                <a:gd name="T98" fmla="*/ 2147483646 w 2092"/>
                <a:gd name="T99" fmla="*/ 2147483646 h 1668"/>
                <a:gd name="T100" fmla="*/ 2147483646 w 2092"/>
                <a:gd name="T101" fmla="*/ 2147483646 h 16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2"/>
                <a:gd name="T154" fmla="*/ 0 h 1668"/>
                <a:gd name="T155" fmla="*/ 2092 w 2092"/>
                <a:gd name="T156" fmla="*/ 1668 h 16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2" h="1668">
                  <a:moveTo>
                    <a:pt x="1892" y="1296"/>
                  </a:moveTo>
                  <a:lnTo>
                    <a:pt x="1892" y="705"/>
                  </a:lnTo>
                  <a:lnTo>
                    <a:pt x="1889" y="647"/>
                  </a:lnTo>
                  <a:lnTo>
                    <a:pt x="1881" y="589"/>
                  </a:lnTo>
                  <a:lnTo>
                    <a:pt x="1867" y="522"/>
                  </a:lnTo>
                  <a:lnTo>
                    <a:pt x="1843" y="453"/>
                  </a:lnTo>
                  <a:lnTo>
                    <a:pt x="1824" y="400"/>
                  </a:lnTo>
                  <a:lnTo>
                    <a:pt x="1790" y="331"/>
                  </a:lnTo>
                  <a:lnTo>
                    <a:pt x="1764" y="289"/>
                  </a:lnTo>
                  <a:lnTo>
                    <a:pt x="1727" y="240"/>
                  </a:lnTo>
                  <a:lnTo>
                    <a:pt x="1694" y="204"/>
                  </a:lnTo>
                  <a:lnTo>
                    <a:pt x="1656" y="169"/>
                  </a:lnTo>
                  <a:lnTo>
                    <a:pt x="1627" y="147"/>
                  </a:lnTo>
                  <a:lnTo>
                    <a:pt x="1590" y="119"/>
                  </a:lnTo>
                  <a:lnTo>
                    <a:pt x="1558" y="99"/>
                  </a:lnTo>
                  <a:lnTo>
                    <a:pt x="1525" y="81"/>
                  </a:lnTo>
                  <a:lnTo>
                    <a:pt x="1496" y="67"/>
                  </a:lnTo>
                  <a:lnTo>
                    <a:pt x="1457" y="52"/>
                  </a:lnTo>
                  <a:lnTo>
                    <a:pt x="1425" y="39"/>
                  </a:lnTo>
                  <a:lnTo>
                    <a:pt x="1384" y="28"/>
                  </a:lnTo>
                  <a:lnTo>
                    <a:pt x="1346" y="18"/>
                  </a:lnTo>
                  <a:lnTo>
                    <a:pt x="1306" y="13"/>
                  </a:lnTo>
                  <a:lnTo>
                    <a:pt x="1266" y="7"/>
                  </a:lnTo>
                  <a:lnTo>
                    <a:pt x="1216" y="4"/>
                  </a:lnTo>
                  <a:lnTo>
                    <a:pt x="1177" y="3"/>
                  </a:lnTo>
                  <a:lnTo>
                    <a:pt x="1133" y="1"/>
                  </a:lnTo>
                  <a:lnTo>
                    <a:pt x="1091" y="0"/>
                  </a:lnTo>
                  <a:lnTo>
                    <a:pt x="1046" y="0"/>
                  </a:lnTo>
                  <a:lnTo>
                    <a:pt x="0" y="0"/>
                  </a:lnTo>
                  <a:lnTo>
                    <a:pt x="365" y="353"/>
                  </a:lnTo>
                  <a:lnTo>
                    <a:pt x="1049" y="354"/>
                  </a:lnTo>
                  <a:lnTo>
                    <a:pt x="1091" y="356"/>
                  </a:lnTo>
                  <a:lnTo>
                    <a:pt x="1135" y="360"/>
                  </a:lnTo>
                  <a:lnTo>
                    <a:pt x="1179" y="368"/>
                  </a:lnTo>
                  <a:lnTo>
                    <a:pt x="1221" y="380"/>
                  </a:lnTo>
                  <a:lnTo>
                    <a:pt x="1261" y="396"/>
                  </a:lnTo>
                  <a:lnTo>
                    <a:pt x="1300" y="417"/>
                  </a:lnTo>
                  <a:lnTo>
                    <a:pt x="1334" y="442"/>
                  </a:lnTo>
                  <a:lnTo>
                    <a:pt x="1367" y="470"/>
                  </a:lnTo>
                  <a:lnTo>
                    <a:pt x="1394" y="501"/>
                  </a:lnTo>
                  <a:lnTo>
                    <a:pt x="1418" y="535"/>
                  </a:lnTo>
                  <a:lnTo>
                    <a:pt x="1437" y="570"/>
                  </a:lnTo>
                  <a:lnTo>
                    <a:pt x="1450" y="608"/>
                  </a:lnTo>
                  <a:lnTo>
                    <a:pt x="1459" y="647"/>
                  </a:lnTo>
                  <a:lnTo>
                    <a:pt x="1464" y="687"/>
                  </a:lnTo>
                  <a:lnTo>
                    <a:pt x="1464" y="729"/>
                  </a:lnTo>
                  <a:lnTo>
                    <a:pt x="1464" y="1298"/>
                  </a:lnTo>
                  <a:lnTo>
                    <a:pt x="1275" y="1298"/>
                  </a:lnTo>
                  <a:lnTo>
                    <a:pt x="1671" y="1667"/>
                  </a:lnTo>
                  <a:lnTo>
                    <a:pt x="2091" y="1296"/>
                  </a:lnTo>
                  <a:lnTo>
                    <a:pt x="1892" y="1296"/>
                  </a:lnTo>
                </a:path>
              </a:pathLst>
            </a:custGeom>
            <a:solidFill>
              <a:schemeClr val="accent1"/>
            </a:solidFill>
            <a:ln w="6350" cap="rnd">
              <a:solidFill>
                <a:schemeClr val="folHlink"/>
              </a:solidFill>
              <a:round/>
              <a:headEnd/>
              <a:tailEnd/>
            </a:ln>
          </p:spPr>
          <p:txBody>
            <a:bodyPr/>
            <a:lstStyle/>
            <a:p>
              <a:endParaRPr lang="en-US">
                <a:latin typeface="Roboto" panose="02000000000000000000" pitchFamily="2" charset="0"/>
                <a:ea typeface="Roboto" panose="02000000000000000000" pitchFamily="2" charset="0"/>
              </a:endParaRPr>
            </a:p>
          </p:txBody>
        </p:sp>
        <p:sp>
          <p:nvSpPr>
            <p:cNvPr id="25" name="Freeform 4">
              <a:extLst>
                <a:ext uri="{FF2B5EF4-FFF2-40B4-BE49-F238E27FC236}">
                  <a16:creationId xmlns:a16="http://schemas.microsoft.com/office/drawing/2014/main" id="{B5EEEE71-9B53-C319-A34A-DAC5CCBD289B}"/>
                </a:ext>
              </a:extLst>
            </p:cNvPr>
            <p:cNvSpPr>
              <a:spLocks/>
            </p:cNvSpPr>
            <p:nvPr/>
          </p:nvSpPr>
          <p:spPr bwMode="auto">
            <a:xfrm>
              <a:off x="1447800" y="1998663"/>
              <a:ext cx="4894263" cy="3022600"/>
            </a:xfrm>
            <a:custGeom>
              <a:avLst/>
              <a:gdLst>
                <a:gd name="T0" fmla="*/ 998729638 w 2072"/>
                <a:gd name="T1" fmla="*/ 1199177927 h 1663"/>
                <a:gd name="T2" fmla="*/ 998729638 w 2072"/>
                <a:gd name="T3" fmla="*/ 2147483646 h 1663"/>
                <a:gd name="T4" fmla="*/ 1004308909 w 2072"/>
                <a:gd name="T5" fmla="*/ 2147483646 h 1663"/>
                <a:gd name="T6" fmla="*/ 1048945438 w 2072"/>
                <a:gd name="T7" fmla="*/ 2147483646 h 1663"/>
                <a:gd name="T8" fmla="*/ 1115899050 w 2072"/>
                <a:gd name="T9" fmla="*/ 2147483646 h 1663"/>
                <a:gd name="T10" fmla="*/ 1210751379 w 2072"/>
                <a:gd name="T11" fmla="*/ 2147483646 h 1663"/>
                <a:gd name="T12" fmla="*/ 1333500062 w 2072"/>
                <a:gd name="T13" fmla="*/ 2147483646 h 1663"/>
                <a:gd name="T14" fmla="*/ 1478565828 w 2072"/>
                <a:gd name="T15" fmla="*/ 2147483646 h 1663"/>
                <a:gd name="T16" fmla="*/ 1651530311 w 2072"/>
                <a:gd name="T17" fmla="*/ 2147483646 h 1663"/>
                <a:gd name="T18" fmla="*/ 1857972781 w 2072"/>
                <a:gd name="T19" fmla="*/ 2147483646 h 1663"/>
                <a:gd name="T20" fmla="*/ 2075573793 w 2072"/>
                <a:gd name="T21" fmla="*/ 2147483646 h 1663"/>
                <a:gd name="T22" fmla="*/ 2147483646 w 2072"/>
                <a:gd name="T23" fmla="*/ 2147483646 h 1663"/>
                <a:gd name="T24" fmla="*/ 2147483646 w 2072"/>
                <a:gd name="T25" fmla="*/ 2147483646 h 1663"/>
                <a:gd name="T26" fmla="*/ 2147483646 w 2072"/>
                <a:gd name="T27" fmla="*/ 2147483646 h 1663"/>
                <a:gd name="T28" fmla="*/ 2147483646 w 2072"/>
                <a:gd name="T29" fmla="*/ 2147483646 h 1663"/>
                <a:gd name="T30" fmla="*/ 2147483646 w 2072"/>
                <a:gd name="T31" fmla="*/ 2147483646 h 1663"/>
                <a:gd name="T32" fmla="*/ 2147483646 w 2072"/>
                <a:gd name="T33" fmla="*/ 2147483646 h 1663"/>
                <a:gd name="T34" fmla="*/ 2147483646 w 2072"/>
                <a:gd name="T35" fmla="*/ 2147483646 h 1663"/>
                <a:gd name="T36" fmla="*/ 2147483646 w 2072"/>
                <a:gd name="T37" fmla="*/ 2147483646 h 1663"/>
                <a:gd name="T38" fmla="*/ 2147483646 w 2072"/>
                <a:gd name="T39" fmla="*/ 2147483646 h 1663"/>
                <a:gd name="T40" fmla="*/ 2147483646 w 2072"/>
                <a:gd name="T41" fmla="*/ 2147483646 h 1663"/>
                <a:gd name="T42" fmla="*/ 2147483646 w 2072"/>
                <a:gd name="T43" fmla="*/ 2147483646 h 1663"/>
                <a:gd name="T44" fmla="*/ 2147483646 w 2072"/>
                <a:gd name="T45" fmla="*/ 2147483646 h 1663"/>
                <a:gd name="T46" fmla="*/ 2147483646 w 2072"/>
                <a:gd name="T47" fmla="*/ 2147483646 h 1663"/>
                <a:gd name="T48" fmla="*/ 2147483646 w 2072"/>
                <a:gd name="T49" fmla="*/ 2147483646 h 1663"/>
                <a:gd name="T50" fmla="*/ 2147483646 w 2072"/>
                <a:gd name="T51" fmla="*/ 2147483646 h 1663"/>
                <a:gd name="T52" fmla="*/ 2147483646 w 2072"/>
                <a:gd name="T53" fmla="*/ 2147483646 h 1663"/>
                <a:gd name="T54" fmla="*/ 2147483646 w 2072"/>
                <a:gd name="T55" fmla="*/ 2147483646 h 1663"/>
                <a:gd name="T56" fmla="*/ 2147483646 w 2072"/>
                <a:gd name="T57" fmla="*/ 2147483646 h 1663"/>
                <a:gd name="T58" fmla="*/ 2147483646 w 2072"/>
                <a:gd name="T59" fmla="*/ 2147483646 h 1663"/>
                <a:gd name="T60" fmla="*/ 2147483646 w 2072"/>
                <a:gd name="T61" fmla="*/ 2147483646 h 1663"/>
                <a:gd name="T62" fmla="*/ 2147483646 w 2072"/>
                <a:gd name="T63" fmla="*/ 2147483646 h 1663"/>
                <a:gd name="T64" fmla="*/ 2147483646 w 2072"/>
                <a:gd name="T65" fmla="*/ 2147483646 h 1663"/>
                <a:gd name="T66" fmla="*/ 2147483646 w 2072"/>
                <a:gd name="T67" fmla="*/ 2147483646 h 1663"/>
                <a:gd name="T68" fmla="*/ 2147483646 w 2072"/>
                <a:gd name="T69" fmla="*/ 2147483646 h 1663"/>
                <a:gd name="T70" fmla="*/ 2147483646 w 2072"/>
                <a:gd name="T71" fmla="*/ 2147483646 h 1663"/>
                <a:gd name="T72" fmla="*/ 2147483646 w 2072"/>
                <a:gd name="T73" fmla="*/ 2147483646 h 1663"/>
                <a:gd name="T74" fmla="*/ 2147483646 w 2072"/>
                <a:gd name="T75" fmla="*/ 2147483646 h 1663"/>
                <a:gd name="T76" fmla="*/ 2147483646 w 2072"/>
                <a:gd name="T77" fmla="*/ 2147483646 h 1663"/>
                <a:gd name="T78" fmla="*/ 2147483646 w 2072"/>
                <a:gd name="T79" fmla="*/ 2147483646 h 1663"/>
                <a:gd name="T80" fmla="*/ 2147483646 w 2072"/>
                <a:gd name="T81" fmla="*/ 2147483646 h 1663"/>
                <a:gd name="T82" fmla="*/ 2147483646 w 2072"/>
                <a:gd name="T83" fmla="*/ 2147483646 h 1663"/>
                <a:gd name="T84" fmla="*/ 2147483646 w 2072"/>
                <a:gd name="T85" fmla="*/ 2147483646 h 1663"/>
                <a:gd name="T86" fmla="*/ 2147483646 w 2072"/>
                <a:gd name="T87" fmla="*/ 2147483646 h 1663"/>
                <a:gd name="T88" fmla="*/ 2147483646 w 2072"/>
                <a:gd name="T89" fmla="*/ 2147483646 h 1663"/>
                <a:gd name="T90" fmla="*/ 2147483646 w 2072"/>
                <a:gd name="T91" fmla="*/ 2147483646 h 1663"/>
                <a:gd name="T92" fmla="*/ 2147483646 w 2072"/>
                <a:gd name="T93" fmla="*/ 1199177927 h 1663"/>
                <a:gd name="T94" fmla="*/ 2147483646 w 2072"/>
                <a:gd name="T95" fmla="*/ 1199177927 h 1663"/>
                <a:gd name="T96" fmla="*/ 2147483646 w 2072"/>
                <a:gd name="T97" fmla="*/ 0 h 1663"/>
                <a:gd name="T98" fmla="*/ 0 w 2072"/>
                <a:gd name="T99" fmla="*/ 1199177927 h 1663"/>
                <a:gd name="T100" fmla="*/ 998729638 w 2072"/>
                <a:gd name="T101" fmla="*/ 1199177927 h 16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72"/>
                <a:gd name="T154" fmla="*/ 0 h 1663"/>
                <a:gd name="T155" fmla="*/ 2072 w 2072"/>
                <a:gd name="T156" fmla="*/ 1663 h 16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72" h="1663">
                  <a:moveTo>
                    <a:pt x="179" y="363"/>
                  </a:moveTo>
                  <a:lnTo>
                    <a:pt x="179" y="957"/>
                  </a:lnTo>
                  <a:lnTo>
                    <a:pt x="180" y="1016"/>
                  </a:lnTo>
                  <a:lnTo>
                    <a:pt x="188" y="1072"/>
                  </a:lnTo>
                  <a:lnTo>
                    <a:pt x="200" y="1130"/>
                  </a:lnTo>
                  <a:lnTo>
                    <a:pt x="217" y="1186"/>
                  </a:lnTo>
                  <a:lnTo>
                    <a:pt x="239" y="1241"/>
                  </a:lnTo>
                  <a:lnTo>
                    <a:pt x="265" y="1294"/>
                  </a:lnTo>
                  <a:lnTo>
                    <a:pt x="296" y="1345"/>
                  </a:lnTo>
                  <a:lnTo>
                    <a:pt x="333" y="1392"/>
                  </a:lnTo>
                  <a:lnTo>
                    <a:pt x="372" y="1439"/>
                  </a:lnTo>
                  <a:lnTo>
                    <a:pt x="416" y="1482"/>
                  </a:lnTo>
                  <a:lnTo>
                    <a:pt x="464" y="1521"/>
                  </a:lnTo>
                  <a:lnTo>
                    <a:pt x="509" y="1553"/>
                  </a:lnTo>
                  <a:lnTo>
                    <a:pt x="552" y="1579"/>
                  </a:lnTo>
                  <a:lnTo>
                    <a:pt x="589" y="1597"/>
                  </a:lnTo>
                  <a:lnTo>
                    <a:pt x="618" y="1609"/>
                  </a:lnTo>
                  <a:lnTo>
                    <a:pt x="657" y="1624"/>
                  </a:lnTo>
                  <a:lnTo>
                    <a:pt x="691" y="1632"/>
                  </a:lnTo>
                  <a:lnTo>
                    <a:pt x="730" y="1642"/>
                  </a:lnTo>
                  <a:lnTo>
                    <a:pt x="772" y="1650"/>
                  </a:lnTo>
                  <a:lnTo>
                    <a:pt x="813" y="1655"/>
                  </a:lnTo>
                  <a:lnTo>
                    <a:pt x="852" y="1658"/>
                  </a:lnTo>
                  <a:lnTo>
                    <a:pt x="893" y="1661"/>
                  </a:lnTo>
                  <a:lnTo>
                    <a:pt x="935" y="1660"/>
                  </a:lnTo>
                  <a:lnTo>
                    <a:pt x="980" y="1662"/>
                  </a:lnTo>
                  <a:lnTo>
                    <a:pt x="1023" y="1662"/>
                  </a:lnTo>
                  <a:lnTo>
                    <a:pt x="2071" y="1662"/>
                  </a:lnTo>
                  <a:lnTo>
                    <a:pt x="1704" y="1306"/>
                  </a:lnTo>
                  <a:lnTo>
                    <a:pt x="1008" y="1306"/>
                  </a:lnTo>
                  <a:lnTo>
                    <a:pt x="966" y="1306"/>
                  </a:lnTo>
                  <a:lnTo>
                    <a:pt x="935" y="1302"/>
                  </a:lnTo>
                  <a:lnTo>
                    <a:pt x="891" y="1294"/>
                  </a:lnTo>
                  <a:lnTo>
                    <a:pt x="849" y="1282"/>
                  </a:lnTo>
                  <a:lnTo>
                    <a:pt x="808" y="1265"/>
                  </a:lnTo>
                  <a:lnTo>
                    <a:pt x="770" y="1244"/>
                  </a:lnTo>
                  <a:lnTo>
                    <a:pt x="734" y="1220"/>
                  </a:lnTo>
                  <a:lnTo>
                    <a:pt x="704" y="1192"/>
                  </a:lnTo>
                  <a:lnTo>
                    <a:pt x="674" y="1161"/>
                  </a:lnTo>
                  <a:lnTo>
                    <a:pt x="652" y="1128"/>
                  </a:lnTo>
                  <a:lnTo>
                    <a:pt x="638" y="1105"/>
                  </a:lnTo>
                  <a:lnTo>
                    <a:pt x="626" y="1077"/>
                  </a:lnTo>
                  <a:lnTo>
                    <a:pt x="615" y="1045"/>
                  </a:lnTo>
                  <a:lnTo>
                    <a:pt x="609" y="1014"/>
                  </a:lnTo>
                  <a:lnTo>
                    <a:pt x="605" y="974"/>
                  </a:lnTo>
                  <a:lnTo>
                    <a:pt x="602" y="936"/>
                  </a:lnTo>
                  <a:lnTo>
                    <a:pt x="602" y="363"/>
                  </a:lnTo>
                  <a:lnTo>
                    <a:pt x="793" y="363"/>
                  </a:lnTo>
                  <a:lnTo>
                    <a:pt x="404" y="0"/>
                  </a:lnTo>
                  <a:lnTo>
                    <a:pt x="0" y="363"/>
                  </a:lnTo>
                  <a:lnTo>
                    <a:pt x="179" y="363"/>
                  </a:lnTo>
                </a:path>
              </a:pathLst>
            </a:custGeom>
            <a:solidFill>
              <a:schemeClr val="accent1"/>
            </a:solidFill>
            <a:ln w="6350" cap="rnd">
              <a:solidFill>
                <a:schemeClr val="folHlink"/>
              </a:solidFill>
              <a:round/>
              <a:headEnd/>
              <a:tailEnd/>
            </a:ln>
          </p:spPr>
          <p:txBody>
            <a:bodyPr/>
            <a:lstStyle/>
            <a:p>
              <a:endParaRPr lang="en-US">
                <a:latin typeface="Roboto" panose="02000000000000000000" pitchFamily="2" charset="0"/>
                <a:ea typeface="Roboto" panose="02000000000000000000" pitchFamily="2" charset="0"/>
              </a:endParaRPr>
            </a:p>
          </p:txBody>
        </p:sp>
        <p:sp>
          <p:nvSpPr>
            <p:cNvPr id="26" name="Text Box 5">
              <a:extLst>
                <a:ext uri="{FF2B5EF4-FFF2-40B4-BE49-F238E27FC236}">
                  <a16:creationId xmlns:a16="http://schemas.microsoft.com/office/drawing/2014/main" id="{881B2A08-5287-B72D-DD2A-6924661128C8}"/>
                </a:ext>
              </a:extLst>
            </p:cNvPr>
            <p:cNvSpPr txBox="1">
              <a:spLocks noChangeArrowheads="1"/>
            </p:cNvSpPr>
            <p:nvPr/>
          </p:nvSpPr>
          <p:spPr bwMode="auto">
            <a:xfrm>
              <a:off x="2971800" y="4572000"/>
              <a:ext cx="2016125" cy="228600"/>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a:effectLst>
                    <a:outerShdw blurRad="38100" dist="38100" dir="2700000" algn="tl">
                      <a:srgbClr val="C0C0C0"/>
                    </a:outerShdw>
                  </a:effectLst>
                  <a:latin typeface="Roboto" panose="02000000000000000000" pitchFamily="2" charset="0"/>
                  <a:ea typeface="Roboto" panose="02000000000000000000" pitchFamily="2" charset="0"/>
                </a:rPr>
                <a:t>Receipt by Customer</a:t>
              </a:r>
            </a:p>
          </p:txBody>
        </p:sp>
        <p:sp>
          <p:nvSpPr>
            <p:cNvPr id="27" name="Text Box 6">
              <a:extLst>
                <a:ext uri="{FF2B5EF4-FFF2-40B4-BE49-F238E27FC236}">
                  <a16:creationId xmlns:a16="http://schemas.microsoft.com/office/drawing/2014/main" id="{21E7BB8D-6AAA-B99E-CE9C-18507EEBDB94}"/>
                </a:ext>
              </a:extLst>
            </p:cNvPr>
            <p:cNvSpPr txBox="1">
              <a:spLocks noChangeArrowheads="1"/>
            </p:cNvSpPr>
            <p:nvPr/>
          </p:nvSpPr>
          <p:spPr bwMode="auto">
            <a:xfrm>
              <a:off x="4191000" y="2190750"/>
              <a:ext cx="1828800" cy="312738"/>
            </a:xfrm>
            <a:prstGeom prst="rect">
              <a:avLst/>
            </a:prstGeom>
            <a:noFill/>
            <a:ln w="6350">
              <a:noFill/>
              <a:miter lim="800000"/>
              <a:headEnd/>
              <a:tailEnd/>
            </a:ln>
            <a:effectLst/>
          </p:spPr>
          <p:txBody>
            <a:bodyPr lIns="45720" rIns="45720" anchor="ctr" anchorCtr="1"/>
            <a:lstStyle>
              <a:lvl1pPr>
                <a:defRPr sz="900" b="1">
                  <a:solidFill>
                    <a:schemeClr val="bg1"/>
                  </a:solidFill>
                  <a:latin typeface="Arial" panose="020B0604020202020204" pitchFamily="34" charset="0"/>
                  <a:ea typeface="MS PGothic" panose="020B0600070205080204" pitchFamily="34" charset="-128"/>
                </a:defRPr>
              </a:lvl1pPr>
              <a:lvl2pPr marL="742950" indent="-285750">
                <a:defRPr sz="900" b="1">
                  <a:solidFill>
                    <a:schemeClr val="bg1"/>
                  </a:solidFill>
                  <a:latin typeface="Arial" panose="020B0604020202020204" pitchFamily="34" charset="0"/>
                  <a:ea typeface="MS PGothic" panose="020B0600070205080204" pitchFamily="34" charset="-128"/>
                </a:defRPr>
              </a:lvl2pPr>
              <a:lvl3pPr marL="1143000" indent="-228600">
                <a:defRPr sz="900" b="1">
                  <a:solidFill>
                    <a:schemeClr val="bg1"/>
                  </a:solidFill>
                  <a:latin typeface="Arial" panose="020B0604020202020204" pitchFamily="34" charset="0"/>
                  <a:ea typeface="MS PGothic" panose="020B0600070205080204" pitchFamily="34" charset="-128"/>
                </a:defRPr>
              </a:lvl3pPr>
              <a:lvl4pPr marL="1600200" indent="-228600">
                <a:defRPr sz="900" b="1">
                  <a:solidFill>
                    <a:schemeClr val="bg1"/>
                  </a:solidFill>
                  <a:latin typeface="Arial" panose="020B0604020202020204" pitchFamily="34" charset="0"/>
                  <a:ea typeface="MS PGothic" panose="020B0600070205080204" pitchFamily="34" charset="-128"/>
                </a:defRPr>
              </a:lvl4pPr>
              <a:lvl5pPr marL="2057400" indent="-228600">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gn="ctr">
                <a:defRPr/>
              </a:pPr>
              <a:r>
                <a:rPr lang="en-US" altLang="en-US" sz="2000" b="0" dirty="0">
                  <a:effectLst>
                    <a:outerShdw blurRad="38100" dist="38100" dir="2700000" algn="tl">
                      <a:srgbClr val="C0C0C0"/>
                    </a:outerShdw>
                  </a:effectLst>
                  <a:latin typeface="Roboto" panose="02000000000000000000" pitchFamily="2" charset="0"/>
                  <a:ea typeface="Roboto" panose="02000000000000000000" pitchFamily="2" charset="0"/>
                </a:rPr>
                <a:t>Inception Point</a:t>
              </a:r>
            </a:p>
          </p:txBody>
        </p:sp>
        <p:sp>
          <p:nvSpPr>
            <p:cNvPr id="28" name="Text Box 7">
              <a:extLst>
                <a:ext uri="{FF2B5EF4-FFF2-40B4-BE49-F238E27FC236}">
                  <a16:creationId xmlns:a16="http://schemas.microsoft.com/office/drawing/2014/main" id="{6963BEA2-84A6-B070-C083-F661EDF3E7F1}"/>
                </a:ext>
              </a:extLst>
            </p:cNvPr>
            <p:cNvSpPr txBox="1">
              <a:spLocks noChangeArrowheads="1"/>
            </p:cNvSpPr>
            <p:nvPr/>
          </p:nvSpPr>
          <p:spPr bwMode="auto">
            <a:xfrm>
              <a:off x="2984500" y="3057525"/>
              <a:ext cx="3162300"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600" dirty="0">
                  <a:latin typeface="Roboto" panose="02000000000000000000" pitchFamily="2" charset="0"/>
                  <a:ea typeface="Roboto" panose="02000000000000000000" pitchFamily="2" charset="0"/>
                </a:rPr>
                <a:t>Typically the boundaries span the processes over which the team can influence</a:t>
              </a:r>
            </a:p>
          </p:txBody>
        </p:sp>
      </p:grpSp>
    </p:spTree>
    <p:extLst>
      <p:ext uri="{BB962C8B-B14F-4D97-AF65-F5344CB8AC3E}">
        <p14:creationId xmlns:p14="http://schemas.microsoft.com/office/powerpoint/2010/main" val="32589305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VSM Boundary Examples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17</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aphicFrame>
        <p:nvGraphicFramePr>
          <p:cNvPr id="13" name="Group 3">
            <a:extLst>
              <a:ext uri="{FF2B5EF4-FFF2-40B4-BE49-F238E27FC236}">
                <a16:creationId xmlns:a16="http://schemas.microsoft.com/office/drawing/2014/main" id="{26E8B57C-13C5-5DF6-090E-63311CF7331E}"/>
              </a:ext>
            </a:extLst>
          </p:cNvPr>
          <p:cNvGraphicFramePr>
            <a:graphicFrameLocks noGrp="1"/>
          </p:cNvGraphicFramePr>
          <p:nvPr>
            <p:extLst>
              <p:ext uri="{D42A27DB-BD31-4B8C-83A1-F6EECF244321}">
                <p14:modId xmlns:p14="http://schemas.microsoft.com/office/powerpoint/2010/main" val="2535217530"/>
              </p:ext>
            </p:extLst>
          </p:nvPr>
        </p:nvGraphicFramePr>
        <p:xfrm>
          <a:off x="1340802" y="2449513"/>
          <a:ext cx="9510396" cy="3002596"/>
        </p:xfrm>
        <a:graphic>
          <a:graphicData uri="http://schemas.openxmlformats.org/drawingml/2006/table">
            <a:tbl>
              <a:tblPr/>
              <a:tblGrid>
                <a:gridCol w="3466681">
                  <a:extLst>
                    <a:ext uri="{9D8B030D-6E8A-4147-A177-3AD203B41FA5}">
                      <a16:colId xmlns:a16="http://schemas.microsoft.com/office/drawing/2014/main" val="20000"/>
                    </a:ext>
                  </a:extLst>
                </a:gridCol>
                <a:gridCol w="2972229">
                  <a:extLst>
                    <a:ext uri="{9D8B030D-6E8A-4147-A177-3AD203B41FA5}">
                      <a16:colId xmlns:a16="http://schemas.microsoft.com/office/drawing/2014/main" val="20001"/>
                    </a:ext>
                  </a:extLst>
                </a:gridCol>
                <a:gridCol w="3071486">
                  <a:extLst>
                    <a:ext uri="{9D8B030D-6E8A-4147-A177-3AD203B41FA5}">
                      <a16:colId xmlns:a16="http://schemas.microsoft.com/office/drawing/2014/main" val="20002"/>
                    </a:ext>
                  </a:extLst>
                </a:gridCol>
              </a:tblGrid>
              <a:tr h="75116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Process</a:t>
                      </a:r>
                    </a:p>
                  </a:txBody>
                  <a:tcPr anchor="ctr" anchorCtr="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2"/>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VSM Starting Point</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VSM Ending Point</a:t>
                      </a: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0"/>
                  </a:ext>
                </a:extLst>
              </a:tr>
              <a:tr h="749110">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New Product Development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75116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Power Plant Construction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75116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New Product Introduction</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accent4"/>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425468990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Identify “Who is the Customer”</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When mapping non-transactional processes there are many times that the end customer is not the actual “purchaser” of the final product or service</a:t>
            </a:r>
          </a:p>
          <a:p>
            <a:r>
              <a:rPr lang="en-US" dirty="0"/>
              <a:t>The customer would be defined in this case as the individual, function, team, or organization “receiving or getting the benefit from” the output of the process to be mapped</a:t>
            </a:r>
          </a:p>
          <a:p>
            <a:r>
              <a:rPr lang="en-US" dirty="0"/>
              <a:t>It is important to know who our customer is so that we can identify what </a:t>
            </a:r>
            <a:r>
              <a:rPr lang="en-US" u="sng" dirty="0"/>
              <a:t>they</a:t>
            </a:r>
            <a:r>
              <a:rPr lang="en-US" dirty="0"/>
              <a:t> consider to be value-added activity in this process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18</a:t>
            </a:fld>
            <a:endParaRPr lang="en-US"/>
          </a:p>
        </p:txBody>
      </p:sp>
      <p:grpSp>
        <p:nvGrpSpPr>
          <p:cNvPr id="4" name="Group 3">
            <a:extLst>
              <a:ext uri="{FF2B5EF4-FFF2-40B4-BE49-F238E27FC236}">
                <a16:creationId xmlns:a16="http://schemas.microsoft.com/office/drawing/2014/main" id="{EF50CE79-583F-4515-3F6C-6A15E6A07757}"/>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7AA0ECBE-65D5-3E1E-A427-FF4E13F393F4}"/>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E9F457F-DE00-AA7C-6E93-B022ACB31247}"/>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FE72489-9C41-B844-24D7-C5C574AE1C7D}"/>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0A70B8F-A509-0655-B253-ECCE5380E95A}"/>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025C212-1004-DD3C-D19A-B5E9DB9190A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CE38A970-7982-D21D-3935-37F3D9ADC61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0">
                  <a:extLst>
                    <a:ext uri="{FF2B5EF4-FFF2-40B4-BE49-F238E27FC236}">
                      <a16:creationId xmlns:a16="http://schemas.microsoft.com/office/drawing/2014/main" id="{796A464F-328B-9C31-E231-3DBF2BB0781E}"/>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7" name="TextBox 6">
              <a:extLst>
                <a:ext uri="{FF2B5EF4-FFF2-40B4-BE49-F238E27FC236}">
                  <a16:creationId xmlns:a16="http://schemas.microsoft.com/office/drawing/2014/main" id="{D242B8D0-B265-C605-6432-0E3C211B15AC}"/>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371378272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Completing Customer Analysis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19</a:t>
            </a:fld>
            <a:endParaRPr lang="en-US"/>
          </a:p>
        </p:txBody>
      </p:sp>
      <p:grpSp>
        <p:nvGrpSpPr>
          <p:cNvPr id="3" name="Group 2">
            <a:extLst>
              <a:ext uri="{FF2B5EF4-FFF2-40B4-BE49-F238E27FC236}">
                <a16:creationId xmlns:a16="http://schemas.microsoft.com/office/drawing/2014/main" id="{7E575E1B-E1BA-AF0C-4F6E-6503D59E01CF}"/>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C8F6A3C-3279-13A0-5D75-27DA016070F0}"/>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8176932-0FB7-D77F-8413-1EA0E3D4480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1A25C0EF-3CA5-58CC-8E11-9C91E783B4C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608CF37C-4F4B-809B-CA9A-9C638BBE59E7}"/>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82A30B0-D20A-1598-5E17-C003B2491C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3C4915FA-8925-0BD9-8FC4-BE9D31BF30E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0">
                  <a:extLst>
                    <a:ext uri="{FF2B5EF4-FFF2-40B4-BE49-F238E27FC236}">
                      <a16:creationId xmlns:a16="http://schemas.microsoft.com/office/drawing/2014/main" id="{471E9348-1F4A-8082-C25E-9C2AD4A577B6}"/>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15CBD98F-E60F-2243-AD08-AB2AF03FF91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graphicFrame>
        <p:nvGraphicFramePr>
          <p:cNvPr id="14" name="Group 11">
            <a:extLst>
              <a:ext uri="{FF2B5EF4-FFF2-40B4-BE49-F238E27FC236}">
                <a16:creationId xmlns:a16="http://schemas.microsoft.com/office/drawing/2014/main" id="{09BB3780-E582-4C5A-F234-27E7335F9B2D}"/>
              </a:ext>
            </a:extLst>
          </p:cNvPr>
          <p:cNvGraphicFramePr>
            <a:graphicFrameLocks noGrp="1"/>
          </p:cNvGraphicFramePr>
          <p:nvPr>
            <p:extLst>
              <p:ext uri="{D42A27DB-BD31-4B8C-83A1-F6EECF244321}">
                <p14:modId xmlns:p14="http://schemas.microsoft.com/office/powerpoint/2010/main" val="2230342343"/>
              </p:ext>
            </p:extLst>
          </p:nvPr>
        </p:nvGraphicFramePr>
        <p:xfrm>
          <a:off x="1547495" y="2080259"/>
          <a:ext cx="9097010" cy="3990341"/>
        </p:xfrm>
        <a:graphic>
          <a:graphicData uri="http://schemas.openxmlformats.org/drawingml/2006/table">
            <a:tbl>
              <a:tblPr/>
              <a:tblGrid>
                <a:gridCol w="3857794">
                  <a:extLst>
                    <a:ext uri="{9D8B030D-6E8A-4147-A177-3AD203B41FA5}">
                      <a16:colId xmlns:a16="http://schemas.microsoft.com/office/drawing/2014/main" val="20000"/>
                    </a:ext>
                  </a:extLst>
                </a:gridCol>
                <a:gridCol w="3520345">
                  <a:extLst>
                    <a:ext uri="{9D8B030D-6E8A-4147-A177-3AD203B41FA5}">
                      <a16:colId xmlns:a16="http://schemas.microsoft.com/office/drawing/2014/main" val="20001"/>
                    </a:ext>
                  </a:extLst>
                </a:gridCol>
                <a:gridCol w="1718871">
                  <a:extLst>
                    <a:ext uri="{9D8B030D-6E8A-4147-A177-3AD203B41FA5}">
                      <a16:colId xmlns:a16="http://schemas.microsoft.com/office/drawing/2014/main" val="20002"/>
                    </a:ext>
                  </a:extLst>
                </a:gridCol>
              </a:tblGrid>
              <a:tr h="840827">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Customer(s)</a:t>
                      </a: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What they value from the process</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 Primary Customer </a:t>
                      </a:r>
                      <a:r>
                        <a:rPr kumimoji="0" lang="ja-JP" altLang="en-US"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MS PGothic" panose="020B0600070205080204" pitchFamily="34" charset="-128"/>
                        </a:rPr>
                        <a:t>“</a:t>
                      </a:r>
                      <a:r>
                        <a:rPr kumimoji="0" lang="en-US" altLang="ja-JP"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rPr>
                        <a:t>X</a:t>
                      </a:r>
                      <a:r>
                        <a:rPr kumimoji="0" lang="ja-JP" altLang="en-US"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MS PGothic" panose="020B0600070205080204" pitchFamily="34" charset="-128"/>
                        </a:rPr>
                        <a:t>”</a:t>
                      </a:r>
                      <a:endParaRPr kumimoji="0" lang="en-US" altLang="en-US" sz="1400" b="1" i="0" u="none" strike="noStrike" cap="none" normalizeH="0" baseline="0" dirty="0">
                        <a:ln>
                          <a:noFill/>
                        </a:ln>
                        <a:solidFill>
                          <a:schemeClr val="bg1"/>
                        </a:solidFill>
                        <a:effectLst>
                          <a:outerShdw blurRad="38100" dist="38100" dir="2700000" algn="tl">
                            <a:srgbClr val="000000"/>
                          </a:outerShdw>
                        </a:effectLst>
                        <a:latin typeface="Roboto" panose="02000000000000000000" pitchFamily="2" charset="0"/>
                        <a:ea typeface="Roboto" panose="02000000000000000000" pitchFamily="2"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0"/>
                  </a:ext>
                </a:extLst>
              </a:tr>
              <a:tr h="523724">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2515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bg1"/>
                        </a:solidFill>
                        <a:effectLst/>
                        <a:latin typeface="Arial" panose="020B0604020202020204" pitchFamily="34" charset="0"/>
                        <a:ea typeface="MS PGothic" panose="020B0600070205080204" pitchFamily="34" charset="-128"/>
                      </a:endParaRPr>
                    </a:p>
                  </a:txBody>
                  <a:tcPr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endParaRPr kumimoji="0" lang="en-US" altLang="en-US" sz="1400" b="1" i="0" u="none" strike="noStrike" cap="none" normalizeH="0" baseline="0" dirty="0">
                        <a:ln>
                          <a:noFill/>
                        </a:ln>
                        <a:solidFill>
                          <a:schemeClr val="tx1"/>
                        </a:solidFill>
                        <a:effectLst/>
                        <a:latin typeface="Arial" panose="020B0604020202020204" pitchFamily="34" charset="0"/>
                        <a:ea typeface="MS PGothic" panose="020B0600070205080204" pitchFamily="34" charset="-12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5844482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Complete Customer/Stakeholder Analysis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20</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customer/stakeholder analysis of the process to be mapped.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use the chart on the previous slide to make a list of :</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customers of this process</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Why they are a customer </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value they are looking for</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Determine who is the primary customer</a:t>
            </a: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Put answers on a flip chart</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702991"/>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listing. </a:t>
            </a:r>
          </a:p>
        </p:txBody>
      </p:sp>
      <p:grpSp>
        <p:nvGrpSpPr>
          <p:cNvPr id="3" name="Group 2">
            <a:extLst>
              <a:ext uri="{FF2B5EF4-FFF2-40B4-BE49-F238E27FC236}">
                <a16:creationId xmlns:a16="http://schemas.microsoft.com/office/drawing/2014/main" id="{79F1945D-449F-C591-D50C-EDBABF0BBDE7}"/>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63E9334A-8E5B-29AB-1FA4-A510809856C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6E6A80D-61C1-04F5-F1EC-398814DEFFE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ADD4561-0412-BFB7-53DF-09F352D65BA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A514B47F-369D-EB63-1591-71A158319471}"/>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6B6F23B-9627-2E5B-DC49-556E92964262}"/>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4A7B36C4-4E0C-EE5D-641D-33BF08D32871}"/>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10">
                  <a:extLst>
                    <a:ext uri="{FF2B5EF4-FFF2-40B4-BE49-F238E27FC236}">
                      <a16:creationId xmlns:a16="http://schemas.microsoft.com/office/drawing/2014/main" id="{DE19B47B-AE5C-7D6A-1944-341DD6DB5882}"/>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C7529600-195C-2D28-583C-B3641A4649F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177928418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Kaizen Charter Validation</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21</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Evaluate the Event Charter.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answer on chart paper:  </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Why are we doing this event?</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Has the product or service family been clearly identified?</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Have the boundaries been validated?</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are the sources of information for the value stream?</a:t>
            </a:r>
          </a:p>
          <a:p>
            <a:pPr marL="342900" marR="0" indent="-342900" algn="l" defTabSz="584200" rtl="0" fontAlgn="auto" latinLnBrk="0" hangingPunct="0">
              <a:lnSpc>
                <a:spcPct val="100000"/>
              </a:lnSpc>
              <a:spcBef>
                <a:spcPts val="0"/>
              </a:spcBef>
              <a:spcAft>
                <a:spcPts val="0"/>
              </a:spcAft>
              <a:buClrTx/>
              <a:buSzTx/>
              <a:buFont typeface="Arial" panose="020B0604020202020204" pitchFamily="34" charset="0"/>
              <a:buChar char="•"/>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initiates the demand for the value stream?</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30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56"/>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Presentation of any revisions made to the charter as a result of exercise.</a:t>
            </a:r>
          </a:p>
        </p:txBody>
      </p:sp>
      <p:grpSp>
        <p:nvGrpSpPr>
          <p:cNvPr id="3" name="Group 2">
            <a:extLst>
              <a:ext uri="{FF2B5EF4-FFF2-40B4-BE49-F238E27FC236}">
                <a16:creationId xmlns:a16="http://schemas.microsoft.com/office/drawing/2014/main" id="{E33014C1-9B8F-5CF5-899B-FF39A52FF01E}"/>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52A0885C-AC4C-ADC1-BC96-7B4F601434E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B0F00E3F-CA2A-7B5D-2C1B-BF4DFCCC430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044D6EE-B10A-3E59-9FAE-A1B0D1880B8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80E9E131-960C-D4AB-86E9-83D6EA56E95B}"/>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868C2E5B-94EF-C6FC-E4C2-C9163CE9312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77851444-B62F-B915-2DBC-3A2294AA591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0" name="AutoShape 10">
                  <a:extLst>
                    <a:ext uri="{FF2B5EF4-FFF2-40B4-BE49-F238E27FC236}">
                      <a16:creationId xmlns:a16="http://schemas.microsoft.com/office/drawing/2014/main" id="{C49482C6-C970-BF5C-228D-4B2451CDBAF9}"/>
                    </a:ext>
                  </a:extLst>
                </p:cNvPr>
                <p:cNvSpPr>
                  <a:spLocks noChangeArrowheads="1"/>
                </p:cNvSpPr>
                <p:nvPr/>
              </p:nvSpPr>
              <p:spPr bwMode="auto">
                <a:xfrm>
                  <a:off x="82642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grpSp>
        <p:sp>
          <p:nvSpPr>
            <p:cNvPr id="6" name="TextBox 5">
              <a:extLst>
                <a:ext uri="{FF2B5EF4-FFF2-40B4-BE49-F238E27FC236}">
                  <a16:creationId xmlns:a16="http://schemas.microsoft.com/office/drawing/2014/main" id="{2C01D80C-EAAA-D87D-950F-ED193361404B}"/>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Select Product or Service Family</a:t>
              </a:r>
            </a:p>
          </p:txBody>
        </p:sp>
      </p:grpSp>
    </p:spTree>
    <p:extLst>
      <p:ext uri="{BB962C8B-B14F-4D97-AF65-F5344CB8AC3E}">
        <p14:creationId xmlns:p14="http://schemas.microsoft.com/office/powerpoint/2010/main" val="404127832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22</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rmAutofit fontScale="90000"/>
          </a:bodyPr>
          <a:lstStyle/>
          <a:p>
            <a:r>
              <a:rPr lang="en-US" sz="4000" dirty="0">
                <a:latin typeface="Roboto Medium"/>
                <a:ea typeface="Roboto Medium"/>
                <a:cs typeface="Roboto Medium"/>
              </a:rPr>
              <a:t>Creating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method to create the Current State Map</a:t>
            </a:r>
          </a:p>
          <a:p>
            <a:r>
              <a:rPr lang="en-US" dirty="0"/>
              <a:t>Define general layout of a Value Stream Map</a:t>
            </a:r>
          </a:p>
          <a:p>
            <a:r>
              <a:rPr lang="en-US" dirty="0"/>
              <a:t>Review Case Study Example</a:t>
            </a:r>
          </a:p>
          <a:p>
            <a:r>
              <a:rPr lang="en-US" dirty="0"/>
              <a:t>Complete the steps to draw a Current State Map</a:t>
            </a:r>
          </a:p>
          <a:p>
            <a:r>
              <a:rPr lang="en-US" dirty="0"/>
              <a:t>Perform Current State Map Exercise</a:t>
            </a:r>
          </a:p>
          <a:p>
            <a:r>
              <a:rPr lang="en-US" dirty="0"/>
              <a:t>Complete Current State Map for Business</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Current</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59327202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668A9-873A-57D2-016B-C3B5AEEC0C72}"/>
              </a:ext>
            </a:extLst>
          </p:cNvPr>
          <p:cNvSpPr>
            <a:spLocks noGrp="1"/>
          </p:cNvSpPr>
          <p:nvPr>
            <p:ph type="title"/>
          </p:nvPr>
        </p:nvSpPr>
        <p:spPr/>
        <p:txBody>
          <a:bodyPr/>
          <a:lstStyle/>
          <a:p>
            <a:r>
              <a:rPr lang="en-US" dirty="0"/>
              <a:t>Method to Create the Current State Map</a:t>
            </a:r>
          </a:p>
        </p:txBody>
      </p:sp>
      <p:sp>
        <p:nvSpPr>
          <p:cNvPr id="6" name="Slide Number Placeholder 5">
            <a:extLst>
              <a:ext uri="{FF2B5EF4-FFF2-40B4-BE49-F238E27FC236}">
                <a16:creationId xmlns:a16="http://schemas.microsoft.com/office/drawing/2014/main" id="{513532D1-AE2A-ADCD-94E6-52E41022128B}"/>
              </a:ext>
            </a:extLst>
          </p:cNvPr>
          <p:cNvSpPr>
            <a:spLocks noGrp="1"/>
          </p:cNvSpPr>
          <p:nvPr>
            <p:ph type="sldNum" sz="quarter" idx="4294967295"/>
          </p:nvPr>
        </p:nvSpPr>
        <p:spPr>
          <a:xfrm>
            <a:off x="9448800" y="6332538"/>
            <a:ext cx="2743200" cy="365125"/>
          </a:xfrm>
        </p:spPr>
        <p:txBody>
          <a:bodyPr/>
          <a:lstStyle/>
          <a:p>
            <a:fld id="{CC6D4273-7FC1-0947-B9FE-19CB3C0D1FB6}" type="slidenum">
              <a:rPr lang="en-US" smtClean="0"/>
              <a:t>23</a:t>
            </a:fld>
            <a:endParaRPr lang="en-US"/>
          </a:p>
        </p:txBody>
      </p:sp>
      <p:grpSp>
        <p:nvGrpSpPr>
          <p:cNvPr id="5" name="Group 4">
            <a:extLst>
              <a:ext uri="{FF2B5EF4-FFF2-40B4-BE49-F238E27FC236}">
                <a16:creationId xmlns:a16="http://schemas.microsoft.com/office/drawing/2014/main" id="{DE35709B-72C9-6B92-D788-D983FC21C92F}"/>
              </a:ext>
            </a:extLst>
          </p:cNvPr>
          <p:cNvGrpSpPr/>
          <p:nvPr/>
        </p:nvGrpSpPr>
        <p:grpSpPr>
          <a:xfrm>
            <a:off x="838200" y="297639"/>
            <a:ext cx="5391150" cy="307138"/>
            <a:chOff x="838200" y="297639"/>
            <a:chExt cx="5391150" cy="307138"/>
          </a:xfrm>
        </p:grpSpPr>
        <p:grpSp>
          <p:nvGrpSpPr>
            <p:cNvPr id="7" name="Group 6">
              <a:extLst>
                <a:ext uri="{FF2B5EF4-FFF2-40B4-BE49-F238E27FC236}">
                  <a16:creationId xmlns:a16="http://schemas.microsoft.com/office/drawing/2014/main" id="{0D2BDAE3-2B5E-D305-8D5F-D8019F93281F}"/>
                </a:ext>
              </a:extLst>
            </p:cNvPr>
            <p:cNvGrpSpPr/>
            <p:nvPr/>
          </p:nvGrpSpPr>
          <p:grpSpPr>
            <a:xfrm>
              <a:off x="838200" y="297639"/>
              <a:ext cx="1687517" cy="290657"/>
              <a:chOff x="838200" y="297639"/>
              <a:chExt cx="1687517" cy="290657"/>
            </a:xfrm>
          </p:grpSpPr>
          <p:sp>
            <p:nvSpPr>
              <p:cNvPr id="9" name="AutoShape 9">
                <a:extLst>
                  <a:ext uri="{FF2B5EF4-FFF2-40B4-BE49-F238E27FC236}">
                    <a16:creationId xmlns:a16="http://schemas.microsoft.com/office/drawing/2014/main" id="{EFFC2EDC-1783-AA9A-B0CD-6CE617AC1F2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0A835AE4-E892-D6EB-46EA-C65AB76783F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 name="Group 10">
                <a:extLst>
                  <a:ext uri="{FF2B5EF4-FFF2-40B4-BE49-F238E27FC236}">
                    <a16:creationId xmlns:a16="http://schemas.microsoft.com/office/drawing/2014/main" id="{5498620D-3E7E-00A2-F9E7-81BB4AA31F0C}"/>
                  </a:ext>
                </a:extLst>
              </p:cNvPr>
              <p:cNvGrpSpPr/>
              <p:nvPr/>
            </p:nvGrpSpPr>
            <p:grpSpPr>
              <a:xfrm>
                <a:off x="838200" y="297639"/>
                <a:ext cx="1060167" cy="290657"/>
                <a:chOff x="826426" y="4041857"/>
                <a:chExt cx="1060167" cy="290657"/>
              </a:xfrm>
            </p:grpSpPr>
            <p:sp>
              <p:nvSpPr>
                <p:cNvPr id="12" name="AutoShape 9">
                  <a:extLst>
                    <a:ext uri="{FF2B5EF4-FFF2-40B4-BE49-F238E27FC236}">
                      <a16:creationId xmlns:a16="http://schemas.microsoft.com/office/drawing/2014/main" id="{4DD944EB-2B26-3CAB-DB7E-D2EC1BBAA2C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1">
                  <a:extLst>
                    <a:ext uri="{FF2B5EF4-FFF2-40B4-BE49-F238E27FC236}">
                      <a16:creationId xmlns:a16="http://schemas.microsoft.com/office/drawing/2014/main" id="{9D16A83C-1C27-C240-55AC-B0A7FEAD1B24}"/>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 name="AutoShape 10">
                  <a:extLst>
                    <a:ext uri="{FF2B5EF4-FFF2-40B4-BE49-F238E27FC236}">
                      <a16:creationId xmlns:a16="http://schemas.microsoft.com/office/drawing/2014/main" id="{90E3585B-960A-2C28-3F33-89ED08FA9B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8" name="TextBox 7">
              <a:extLst>
                <a:ext uri="{FF2B5EF4-FFF2-40B4-BE49-F238E27FC236}">
                  <a16:creationId xmlns:a16="http://schemas.microsoft.com/office/drawing/2014/main" id="{CE6099A9-544D-D4D1-8652-EFA1274A58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8" name="Group 27">
            <a:extLst>
              <a:ext uri="{FF2B5EF4-FFF2-40B4-BE49-F238E27FC236}">
                <a16:creationId xmlns:a16="http://schemas.microsoft.com/office/drawing/2014/main" id="{13B5C6DD-4AB0-9075-456B-326FDAB1E9DD}"/>
              </a:ext>
            </a:extLst>
          </p:cNvPr>
          <p:cNvGrpSpPr/>
          <p:nvPr/>
        </p:nvGrpSpPr>
        <p:grpSpPr>
          <a:xfrm>
            <a:off x="1868488" y="1783428"/>
            <a:ext cx="8455025" cy="4314159"/>
            <a:chOff x="492125" y="1500188"/>
            <a:chExt cx="8455025" cy="4597400"/>
          </a:xfrm>
        </p:grpSpPr>
        <p:sp>
          <p:nvSpPr>
            <p:cNvPr id="15" name="Rectangle 2">
              <a:extLst>
                <a:ext uri="{FF2B5EF4-FFF2-40B4-BE49-F238E27FC236}">
                  <a16:creationId xmlns:a16="http://schemas.microsoft.com/office/drawing/2014/main" id="{55938018-C6F8-8852-591F-2FA05B3DFE99}"/>
                </a:ext>
              </a:extLst>
            </p:cNvPr>
            <p:cNvSpPr>
              <a:spLocks noChangeArrowheads="1"/>
            </p:cNvSpPr>
            <p:nvPr/>
          </p:nvSpPr>
          <p:spPr bwMode="auto">
            <a:xfrm>
              <a:off x="492125" y="18970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6" name="Rectangle 3">
              <a:extLst>
                <a:ext uri="{FF2B5EF4-FFF2-40B4-BE49-F238E27FC236}">
                  <a16:creationId xmlns:a16="http://schemas.microsoft.com/office/drawing/2014/main" id="{AD06063C-6596-5FC2-99C8-CF7921980C70}"/>
                </a:ext>
              </a:extLst>
            </p:cNvPr>
            <p:cNvSpPr>
              <a:spLocks noChangeArrowheads="1"/>
            </p:cNvSpPr>
            <p:nvPr/>
          </p:nvSpPr>
          <p:spPr bwMode="auto">
            <a:xfrm>
              <a:off x="492125" y="36306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latin typeface="Roboto" panose="02000000000000000000" pitchFamily="2" charset="0"/>
                  <a:ea typeface="Roboto" panose="02000000000000000000" pitchFamily="2" charset="0"/>
                </a:rPr>
                <a:t>Data Gathering</a:t>
              </a:r>
            </a:p>
          </p:txBody>
        </p:sp>
        <p:sp>
          <p:nvSpPr>
            <p:cNvPr id="17" name="Rectangle 4">
              <a:extLst>
                <a:ext uri="{FF2B5EF4-FFF2-40B4-BE49-F238E27FC236}">
                  <a16:creationId xmlns:a16="http://schemas.microsoft.com/office/drawing/2014/main" id="{2BBDAE9C-1821-AD22-93E3-5B39301A77A4}"/>
                </a:ext>
              </a:extLst>
            </p:cNvPr>
            <p:cNvSpPr>
              <a:spLocks noChangeArrowheads="1"/>
            </p:cNvSpPr>
            <p:nvPr/>
          </p:nvSpPr>
          <p:spPr bwMode="auto">
            <a:xfrm>
              <a:off x="492125" y="52403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rPr>
                <a:t>Map Creation</a:t>
              </a:r>
            </a:p>
          </p:txBody>
        </p:sp>
        <p:cxnSp>
          <p:nvCxnSpPr>
            <p:cNvPr id="18" name="AutoShape 5">
              <a:extLst>
                <a:ext uri="{FF2B5EF4-FFF2-40B4-BE49-F238E27FC236}">
                  <a16:creationId xmlns:a16="http://schemas.microsoft.com/office/drawing/2014/main" id="{B4088A70-DB9E-124F-B695-C78C40A287FA}"/>
                </a:ext>
              </a:extLst>
            </p:cNvPr>
            <p:cNvCxnSpPr>
              <a:cxnSpLocks noChangeShapeType="1"/>
              <a:stCxn id="15" idx="2"/>
              <a:endCxn id="16" idx="0"/>
            </p:cNvCxnSpPr>
            <p:nvPr/>
          </p:nvCxnSpPr>
          <p:spPr bwMode="auto">
            <a:xfrm>
              <a:off x="1951038" y="27352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9" name="AutoShape 6">
              <a:extLst>
                <a:ext uri="{FF2B5EF4-FFF2-40B4-BE49-F238E27FC236}">
                  <a16:creationId xmlns:a16="http://schemas.microsoft.com/office/drawing/2014/main" id="{45140D24-F58A-9179-CB29-935D242DD5ED}"/>
                </a:ext>
              </a:extLst>
            </p:cNvPr>
            <p:cNvCxnSpPr>
              <a:cxnSpLocks noChangeShapeType="1"/>
              <a:stCxn id="16" idx="2"/>
              <a:endCxn id="17" idx="0"/>
            </p:cNvCxnSpPr>
            <p:nvPr/>
          </p:nvCxnSpPr>
          <p:spPr bwMode="auto">
            <a:xfrm>
              <a:off x="1951038" y="44719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20" name="AutoShape 7">
              <a:extLst>
                <a:ext uri="{FF2B5EF4-FFF2-40B4-BE49-F238E27FC236}">
                  <a16:creationId xmlns:a16="http://schemas.microsoft.com/office/drawing/2014/main" id="{9BED093A-C902-E756-BE66-8F34945999F5}"/>
                </a:ext>
              </a:extLst>
            </p:cNvPr>
            <p:cNvSpPr>
              <a:spLocks noChangeArrowheads="1"/>
            </p:cNvSpPr>
            <p:nvPr/>
          </p:nvSpPr>
          <p:spPr bwMode="auto">
            <a:xfrm>
              <a:off x="3573463" y="2143125"/>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AutoShape 8">
              <a:extLst>
                <a:ext uri="{FF2B5EF4-FFF2-40B4-BE49-F238E27FC236}">
                  <a16:creationId xmlns:a16="http://schemas.microsoft.com/office/drawing/2014/main" id="{1A367DCD-C543-1B11-2223-E542F3CFB4AC}"/>
                </a:ext>
              </a:extLst>
            </p:cNvPr>
            <p:cNvSpPr>
              <a:spLocks noChangeArrowheads="1"/>
            </p:cNvSpPr>
            <p:nvPr/>
          </p:nvSpPr>
          <p:spPr bwMode="auto">
            <a:xfrm>
              <a:off x="3573463" y="3763963"/>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AutoShape 9">
              <a:extLst>
                <a:ext uri="{FF2B5EF4-FFF2-40B4-BE49-F238E27FC236}">
                  <a16:creationId xmlns:a16="http://schemas.microsoft.com/office/drawing/2014/main" id="{031B05E6-95B7-39F6-8823-015B44A5A6D4}"/>
                </a:ext>
              </a:extLst>
            </p:cNvPr>
            <p:cNvSpPr>
              <a:spLocks noChangeArrowheads="1"/>
            </p:cNvSpPr>
            <p:nvPr/>
          </p:nvSpPr>
          <p:spPr bwMode="auto">
            <a:xfrm>
              <a:off x="3573463" y="5302250"/>
              <a:ext cx="401637" cy="498475"/>
            </a:xfrm>
            <a:prstGeom prst="rightArrow">
              <a:avLst>
                <a:gd name="adj1" fmla="val 58185"/>
                <a:gd name="adj2" fmla="val 60870"/>
              </a:avLst>
            </a:prstGeom>
            <a:solidFill>
              <a:schemeClr val="accent1"/>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 name="Line 10">
              <a:extLst>
                <a:ext uri="{FF2B5EF4-FFF2-40B4-BE49-F238E27FC236}">
                  <a16:creationId xmlns:a16="http://schemas.microsoft.com/office/drawing/2014/main" id="{6E935A94-1753-86C1-A80B-9900DF595BAE}"/>
                </a:ext>
              </a:extLst>
            </p:cNvPr>
            <p:cNvSpPr>
              <a:spLocks noChangeShapeType="1"/>
            </p:cNvSpPr>
            <p:nvPr/>
          </p:nvSpPr>
          <p:spPr bwMode="auto">
            <a:xfrm>
              <a:off x="4090988" y="1849438"/>
              <a:ext cx="461645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4" name="Text Box 11">
              <a:extLst>
                <a:ext uri="{FF2B5EF4-FFF2-40B4-BE49-F238E27FC236}">
                  <a16:creationId xmlns:a16="http://schemas.microsoft.com/office/drawing/2014/main" id="{47B704C6-0987-5368-1D3C-AB37DEBDA0B4}"/>
                </a:ext>
              </a:extLst>
            </p:cNvPr>
            <p:cNvSpPr txBox="1">
              <a:spLocks noChangeArrowheads="1"/>
            </p:cNvSpPr>
            <p:nvPr/>
          </p:nvSpPr>
          <p:spPr bwMode="auto">
            <a:xfrm>
              <a:off x="3987800" y="1500188"/>
              <a:ext cx="3536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5" name="AutoShape 20">
              <a:extLst>
                <a:ext uri="{FF2B5EF4-FFF2-40B4-BE49-F238E27FC236}">
                  <a16:creationId xmlns:a16="http://schemas.microsoft.com/office/drawing/2014/main" id="{6A48F752-85BC-D471-ED59-35B5F52644B6}"/>
                </a:ext>
              </a:extLst>
            </p:cNvPr>
            <p:cNvSpPr>
              <a:spLocks noChangeArrowheads="1"/>
            </p:cNvSpPr>
            <p:nvPr/>
          </p:nvSpPr>
          <p:spPr bwMode="auto">
            <a:xfrm>
              <a:off x="3946525" y="1857375"/>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 a team, starting at the end of the value stream, identify the major processes involved</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Ask the question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how did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it</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get to this point</a:t>
              </a:r>
              <a:r>
                <a:rPr lang="ja-JP" altLang="en-US" sz="1400" dirty="0">
                  <a:latin typeface="Roboto" panose="02000000000000000000" pitchFamily="2" charset="0"/>
                </a:rPr>
                <a:t>”</a:t>
              </a:r>
              <a:endParaRPr lang="en-US" altLang="ja-JP" sz="1400" dirty="0">
                <a:latin typeface="Roboto" panose="02000000000000000000" pitchFamily="2" charset="0"/>
                <a:ea typeface="Roboto" panose="02000000000000000000" pitchFamily="2" charset="0"/>
              </a:endParaRP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Identify the major process on yellow 3</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x 5</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post-it notes</a:t>
              </a:r>
              <a:endParaRPr lang="en-US" altLang="en-US" sz="1400" dirty="0">
                <a:latin typeface="Roboto" panose="02000000000000000000" pitchFamily="2" charset="0"/>
                <a:ea typeface="Roboto" panose="02000000000000000000" pitchFamily="2" charset="0"/>
              </a:endParaRPr>
            </a:p>
          </p:txBody>
        </p:sp>
        <p:sp>
          <p:nvSpPr>
            <p:cNvPr id="26" name="AutoShape 21">
              <a:extLst>
                <a:ext uri="{FF2B5EF4-FFF2-40B4-BE49-F238E27FC236}">
                  <a16:creationId xmlns:a16="http://schemas.microsoft.com/office/drawing/2014/main" id="{97B4A004-3D93-A1D0-24CD-A93430A493D7}"/>
                </a:ext>
              </a:extLst>
            </p:cNvPr>
            <p:cNvSpPr>
              <a:spLocks noChangeArrowheads="1"/>
            </p:cNvSpPr>
            <p:nvPr/>
          </p:nvSpPr>
          <p:spPr bwMode="auto">
            <a:xfrm>
              <a:off x="3944938" y="3273425"/>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Decide what data will be collected for each process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Break the initial Value Stream map into logical sections and assign to small groups within the team</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Use actual, observed data wherever possible</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Use smallest time units whenever possible – </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be consistent</a:t>
              </a:r>
            </a:p>
          </p:txBody>
        </p:sp>
        <p:sp>
          <p:nvSpPr>
            <p:cNvPr id="27" name="AutoShape 22">
              <a:extLst>
                <a:ext uri="{FF2B5EF4-FFF2-40B4-BE49-F238E27FC236}">
                  <a16:creationId xmlns:a16="http://schemas.microsoft.com/office/drawing/2014/main" id="{F3C533A4-D8C0-EF35-740E-767FEC86EFFE}"/>
                </a:ext>
              </a:extLst>
            </p:cNvPr>
            <p:cNvSpPr>
              <a:spLocks noChangeArrowheads="1"/>
            </p:cNvSpPr>
            <p:nvPr/>
          </p:nvSpPr>
          <p:spPr bwMode="auto">
            <a:xfrm>
              <a:off x="3944938" y="4818063"/>
              <a:ext cx="4986337"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Update the map with any additional process boxes identified based on the observations of the team made during the data gathering</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Create a data box for each of the process boxes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Use post-it notes to facilitate any necessary changes</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a:latin typeface="Roboto" panose="02000000000000000000" pitchFamily="2" charset="0"/>
                  <a:ea typeface="Roboto" panose="02000000000000000000" pitchFamily="2" charset="0"/>
                </a:rPr>
                <a:t>Review map as a team to ensure accuracy and </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validate flow</a:t>
              </a:r>
            </a:p>
          </p:txBody>
        </p:sp>
      </p:grpSp>
    </p:spTree>
    <p:extLst>
      <p:ext uri="{BB962C8B-B14F-4D97-AF65-F5344CB8AC3E}">
        <p14:creationId xmlns:p14="http://schemas.microsoft.com/office/powerpoint/2010/main" val="296804428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Defining a Process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A process is the sum total of all activities performed by a specific function to complete a specific task.</a:t>
            </a:r>
          </a:p>
          <a:p>
            <a:r>
              <a:rPr lang="en-US" dirty="0"/>
              <a:t>A process starts when a set of activities is initiated and ends when the flow of that activity stops or it is passed to another group for control or another activity is initiated.</a:t>
            </a:r>
          </a:p>
          <a:p>
            <a:r>
              <a:rPr lang="en-US" dirty="0"/>
              <a:t>Care must be take to maintain the proper level of detail and NOT allow the Value Stream Map to become a process map.</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24</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0938293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668A9-873A-57D2-016B-C3B5AEEC0C72}"/>
              </a:ext>
            </a:extLst>
          </p:cNvPr>
          <p:cNvSpPr>
            <a:spLocks noGrp="1"/>
          </p:cNvSpPr>
          <p:nvPr>
            <p:ph type="title"/>
          </p:nvPr>
        </p:nvSpPr>
        <p:spPr/>
        <p:txBody>
          <a:bodyPr/>
          <a:lstStyle/>
          <a:p>
            <a:r>
              <a:rPr lang="en-US" dirty="0"/>
              <a:t>Process Examples</a:t>
            </a:r>
          </a:p>
        </p:txBody>
      </p:sp>
      <p:sp>
        <p:nvSpPr>
          <p:cNvPr id="6" name="Slide Number Placeholder 5">
            <a:extLst>
              <a:ext uri="{FF2B5EF4-FFF2-40B4-BE49-F238E27FC236}">
                <a16:creationId xmlns:a16="http://schemas.microsoft.com/office/drawing/2014/main" id="{513532D1-AE2A-ADCD-94E6-52E41022128B}"/>
              </a:ext>
            </a:extLst>
          </p:cNvPr>
          <p:cNvSpPr>
            <a:spLocks noGrp="1"/>
          </p:cNvSpPr>
          <p:nvPr>
            <p:ph type="sldNum" sz="quarter" idx="4294967295"/>
          </p:nvPr>
        </p:nvSpPr>
        <p:spPr>
          <a:xfrm>
            <a:off x="9448800" y="6332538"/>
            <a:ext cx="2743200" cy="365125"/>
          </a:xfrm>
        </p:spPr>
        <p:txBody>
          <a:bodyPr/>
          <a:lstStyle/>
          <a:p>
            <a:fld id="{CC6D4273-7FC1-0947-B9FE-19CB3C0D1FB6}" type="slidenum">
              <a:rPr lang="en-US" smtClean="0"/>
              <a:t>25</a:t>
            </a:fld>
            <a:endParaRPr lang="en-US"/>
          </a:p>
        </p:txBody>
      </p:sp>
      <p:grpSp>
        <p:nvGrpSpPr>
          <p:cNvPr id="5" name="Group 4">
            <a:extLst>
              <a:ext uri="{FF2B5EF4-FFF2-40B4-BE49-F238E27FC236}">
                <a16:creationId xmlns:a16="http://schemas.microsoft.com/office/drawing/2014/main" id="{DE35709B-72C9-6B92-D788-D983FC21C92F}"/>
              </a:ext>
            </a:extLst>
          </p:cNvPr>
          <p:cNvGrpSpPr/>
          <p:nvPr/>
        </p:nvGrpSpPr>
        <p:grpSpPr>
          <a:xfrm>
            <a:off x="838200" y="297639"/>
            <a:ext cx="5391150" cy="307138"/>
            <a:chOff x="838200" y="297639"/>
            <a:chExt cx="5391150" cy="307138"/>
          </a:xfrm>
        </p:grpSpPr>
        <p:grpSp>
          <p:nvGrpSpPr>
            <p:cNvPr id="7" name="Group 6">
              <a:extLst>
                <a:ext uri="{FF2B5EF4-FFF2-40B4-BE49-F238E27FC236}">
                  <a16:creationId xmlns:a16="http://schemas.microsoft.com/office/drawing/2014/main" id="{0D2BDAE3-2B5E-D305-8D5F-D8019F93281F}"/>
                </a:ext>
              </a:extLst>
            </p:cNvPr>
            <p:cNvGrpSpPr/>
            <p:nvPr/>
          </p:nvGrpSpPr>
          <p:grpSpPr>
            <a:xfrm>
              <a:off x="838200" y="297639"/>
              <a:ext cx="1687517" cy="290657"/>
              <a:chOff x="838200" y="297639"/>
              <a:chExt cx="1687517" cy="290657"/>
            </a:xfrm>
          </p:grpSpPr>
          <p:sp>
            <p:nvSpPr>
              <p:cNvPr id="9" name="AutoShape 9">
                <a:extLst>
                  <a:ext uri="{FF2B5EF4-FFF2-40B4-BE49-F238E27FC236}">
                    <a16:creationId xmlns:a16="http://schemas.microsoft.com/office/drawing/2014/main" id="{EFFC2EDC-1783-AA9A-B0CD-6CE617AC1F2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9">
                <a:extLst>
                  <a:ext uri="{FF2B5EF4-FFF2-40B4-BE49-F238E27FC236}">
                    <a16:creationId xmlns:a16="http://schemas.microsoft.com/office/drawing/2014/main" id="{0A835AE4-E892-D6EB-46EA-C65AB76783F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1" name="Group 10">
                <a:extLst>
                  <a:ext uri="{FF2B5EF4-FFF2-40B4-BE49-F238E27FC236}">
                    <a16:creationId xmlns:a16="http://schemas.microsoft.com/office/drawing/2014/main" id="{5498620D-3E7E-00A2-F9E7-81BB4AA31F0C}"/>
                  </a:ext>
                </a:extLst>
              </p:cNvPr>
              <p:cNvGrpSpPr/>
              <p:nvPr/>
            </p:nvGrpSpPr>
            <p:grpSpPr>
              <a:xfrm>
                <a:off x="838200" y="297639"/>
                <a:ext cx="1060167" cy="290657"/>
                <a:chOff x="826426" y="4041857"/>
                <a:chExt cx="1060167" cy="290657"/>
              </a:xfrm>
            </p:grpSpPr>
            <p:sp>
              <p:nvSpPr>
                <p:cNvPr id="12" name="AutoShape 9">
                  <a:extLst>
                    <a:ext uri="{FF2B5EF4-FFF2-40B4-BE49-F238E27FC236}">
                      <a16:creationId xmlns:a16="http://schemas.microsoft.com/office/drawing/2014/main" id="{4DD944EB-2B26-3CAB-DB7E-D2EC1BBAA2C0}"/>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3" name="AutoShape 11">
                  <a:extLst>
                    <a:ext uri="{FF2B5EF4-FFF2-40B4-BE49-F238E27FC236}">
                      <a16:creationId xmlns:a16="http://schemas.microsoft.com/office/drawing/2014/main" id="{9D16A83C-1C27-C240-55AC-B0A7FEAD1B24}"/>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4" name="AutoShape 10">
                  <a:extLst>
                    <a:ext uri="{FF2B5EF4-FFF2-40B4-BE49-F238E27FC236}">
                      <a16:creationId xmlns:a16="http://schemas.microsoft.com/office/drawing/2014/main" id="{90E3585B-960A-2C28-3F33-89ED08FA9B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8" name="TextBox 7">
              <a:extLst>
                <a:ext uri="{FF2B5EF4-FFF2-40B4-BE49-F238E27FC236}">
                  <a16:creationId xmlns:a16="http://schemas.microsoft.com/office/drawing/2014/main" id="{CE6099A9-544D-D4D1-8652-EFA1274A58F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3" name="Group 32">
            <a:extLst>
              <a:ext uri="{FF2B5EF4-FFF2-40B4-BE49-F238E27FC236}">
                <a16:creationId xmlns:a16="http://schemas.microsoft.com/office/drawing/2014/main" id="{3B581477-4D2A-440B-D328-6181EA13369D}"/>
              </a:ext>
            </a:extLst>
          </p:cNvPr>
          <p:cNvGrpSpPr/>
          <p:nvPr/>
        </p:nvGrpSpPr>
        <p:grpSpPr>
          <a:xfrm>
            <a:off x="1970087" y="2365375"/>
            <a:ext cx="8251825" cy="3292475"/>
            <a:chOff x="593725" y="1787525"/>
            <a:chExt cx="8251825" cy="3292475"/>
          </a:xfrm>
        </p:grpSpPr>
        <p:sp>
          <p:nvSpPr>
            <p:cNvPr id="3" name="Rectangle 2">
              <a:extLst>
                <a:ext uri="{FF2B5EF4-FFF2-40B4-BE49-F238E27FC236}">
                  <a16:creationId xmlns:a16="http://schemas.microsoft.com/office/drawing/2014/main" id="{5EBD0566-53C4-94C0-7F53-1D7A4E349423}"/>
                </a:ext>
              </a:extLst>
            </p:cNvPr>
            <p:cNvSpPr>
              <a:spLocks noChangeArrowheads="1"/>
            </p:cNvSpPr>
            <p:nvPr/>
          </p:nvSpPr>
          <p:spPr bwMode="auto">
            <a:xfrm>
              <a:off x="593725" y="1787525"/>
              <a:ext cx="1666875" cy="838200"/>
            </a:xfrm>
            <a:prstGeom prst="rect">
              <a:avLst/>
            </a:prstGeom>
            <a:solidFill>
              <a:schemeClr val="accent4"/>
            </a:solidFill>
            <a:ln w="9525">
              <a:solidFill>
                <a:srgbClr val="000054"/>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Develop Specifications</a:t>
              </a:r>
            </a:p>
          </p:txBody>
        </p:sp>
        <p:sp>
          <p:nvSpPr>
            <p:cNvPr id="4" name="Rectangle 3">
              <a:extLst>
                <a:ext uri="{FF2B5EF4-FFF2-40B4-BE49-F238E27FC236}">
                  <a16:creationId xmlns:a16="http://schemas.microsoft.com/office/drawing/2014/main" id="{04A9BC74-FB78-C9D3-B078-71BB9FB4E375}"/>
                </a:ext>
              </a:extLst>
            </p:cNvPr>
            <p:cNvSpPr>
              <a:spLocks noChangeArrowheads="1"/>
            </p:cNvSpPr>
            <p:nvPr/>
          </p:nvSpPr>
          <p:spPr bwMode="auto">
            <a:xfrm>
              <a:off x="593725" y="3013075"/>
              <a:ext cx="1649413" cy="841375"/>
            </a:xfrm>
            <a:prstGeom prst="rect">
              <a:avLst/>
            </a:prstGeom>
            <a:solidFill>
              <a:schemeClr val="accent4"/>
            </a:solidFill>
            <a:ln w="9525">
              <a:solidFill>
                <a:srgbClr val="000054"/>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Create Grand Opening Collateral</a:t>
              </a:r>
            </a:p>
          </p:txBody>
        </p:sp>
        <p:sp>
          <p:nvSpPr>
            <p:cNvPr id="29" name="Rectangle 4">
              <a:extLst>
                <a:ext uri="{FF2B5EF4-FFF2-40B4-BE49-F238E27FC236}">
                  <a16:creationId xmlns:a16="http://schemas.microsoft.com/office/drawing/2014/main" id="{88A00A9E-DBBE-3D0C-3157-3DFAAB5D8F70}"/>
                </a:ext>
              </a:extLst>
            </p:cNvPr>
            <p:cNvSpPr>
              <a:spLocks noChangeArrowheads="1"/>
            </p:cNvSpPr>
            <p:nvPr/>
          </p:nvSpPr>
          <p:spPr bwMode="auto">
            <a:xfrm>
              <a:off x="593725" y="4241800"/>
              <a:ext cx="1662113" cy="838200"/>
            </a:xfrm>
            <a:prstGeom prst="rect">
              <a:avLst/>
            </a:prstGeom>
            <a:solidFill>
              <a:schemeClr val="accent4"/>
            </a:solidFill>
            <a:ln w="9525">
              <a:solidFill>
                <a:srgbClr val="000054"/>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800">
                  <a:solidFill>
                    <a:schemeClr val="bg1"/>
                  </a:solidFill>
                  <a:latin typeface="Roboto" panose="02000000000000000000" pitchFamily="2" charset="0"/>
                  <a:ea typeface="Roboto" panose="02000000000000000000" pitchFamily="2" charset="0"/>
                </a:rPr>
                <a:t>Screen Job Applicants</a:t>
              </a:r>
            </a:p>
          </p:txBody>
        </p:sp>
        <p:sp>
          <p:nvSpPr>
            <p:cNvPr id="30" name="AutoShape 14">
              <a:extLst>
                <a:ext uri="{FF2B5EF4-FFF2-40B4-BE49-F238E27FC236}">
                  <a16:creationId xmlns:a16="http://schemas.microsoft.com/office/drawing/2014/main" id="{1AF28FE9-3CA3-7862-B90C-9E2EF24C037F}"/>
                </a:ext>
              </a:extLst>
            </p:cNvPr>
            <p:cNvSpPr>
              <a:spLocks noChangeArrowheads="1"/>
            </p:cNvSpPr>
            <p:nvPr/>
          </p:nvSpPr>
          <p:spPr bwMode="auto">
            <a:xfrm>
              <a:off x="2828925" y="3127375"/>
              <a:ext cx="6016625" cy="61277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buClr>
                  <a:schemeClr val="tx1"/>
                </a:buClr>
                <a:buSzPct val="90000"/>
                <a:buFont typeface="Arial" panose="020B0604020202020204" pitchFamily="34" charset="0"/>
                <a:buChar char="•"/>
              </a:pPr>
              <a:r>
                <a:rPr lang="en-US" altLang="en-US" sz="1600">
                  <a:latin typeface="Roboto" panose="02000000000000000000" pitchFamily="2" charset="0"/>
                  <a:ea typeface="Roboto" panose="02000000000000000000" pitchFamily="2" charset="0"/>
                </a:rPr>
                <a:t>This example would include all of the activities involving a single group, department, or discipline in creating the collateral required to support a grand opening event.</a:t>
              </a:r>
            </a:p>
          </p:txBody>
        </p:sp>
        <p:sp>
          <p:nvSpPr>
            <p:cNvPr id="31" name="AutoShape 17">
              <a:extLst>
                <a:ext uri="{FF2B5EF4-FFF2-40B4-BE49-F238E27FC236}">
                  <a16:creationId xmlns:a16="http://schemas.microsoft.com/office/drawing/2014/main" id="{E91BA9B7-353F-DB8A-AA6C-309C4E98C6AA}"/>
                </a:ext>
              </a:extLst>
            </p:cNvPr>
            <p:cNvSpPr>
              <a:spLocks noChangeArrowheads="1"/>
            </p:cNvSpPr>
            <p:nvPr/>
          </p:nvSpPr>
          <p:spPr bwMode="auto">
            <a:xfrm>
              <a:off x="2828925" y="1908175"/>
              <a:ext cx="6016625" cy="61277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This example would include all of the activities involving a single group, department, or discipline in developing specifications.</a:t>
              </a:r>
            </a:p>
          </p:txBody>
        </p:sp>
        <p:sp>
          <p:nvSpPr>
            <p:cNvPr id="32" name="AutoShape 18">
              <a:extLst>
                <a:ext uri="{FF2B5EF4-FFF2-40B4-BE49-F238E27FC236}">
                  <a16:creationId xmlns:a16="http://schemas.microsoft.com/office/drawing/2014/main" id="{8032B4B2-BF9A-5005-F036-3246A2C10A54}"/>
                </a:ext>
              </a:extLst>
            </p:cNvPr>
            <p:cNvSpPr>
              <a:spLocks noChangeArrowheads="1"/>
            </p:cNvSpPr>
            <p:nvPr/>
          </p:nvSpPr>
          <p:spPr bwMode="auto">
            <a:xfrm>
              <a:off x="2828925" y="4354513"/>
              <a:ext cx="6016625" cy="61277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buClr>
                  <a:schemeClr val="tx1"/>
                </a:buClr>
                <a:buSzPct val="90000"/>
                <a:buFont typeface="Arial" panose="020B0604020202020204" pitchFamily="34" charset="0"/>
                <a:buChar char="•"/>
              </a:pPr>
              <a:r>
                <a:rPr lang="en-US" altLang="en-US" sz="1600">
                  <a:latin typeface="Roboto" panose="02000000000000000000" pitchFamily="2" charset="0"/>
                  <a:ea typeface="Roboto" panose="02000000000000000000" pitchFamily="2" charset="0"/>
                </a:rPr>
                <a:t>This example would include all of the activities involving a single group, department, or discipline in screening job applicants for an organization.</a:t>
              </a:r>
            </a:p>
          </p:txBody>
        </p:sp>
      </p:grpSp>
    </p:spTree>
    <p:extLst>
      <p:ext uri="{BB962C8B-B14F-4D97-AF65-F5344CB8AC3E}">
        <p14:creationId xmlns:p14="http://schemas.microsoft.com/office/powerpoint/2010/main" val="311441553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Layout of Current State Map for Transactional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26</a:t>
            </a:fld>
            <a:endParaRPr lang="en-US"/>
          </a:p>
        </p:txBody>
      </p:sp>
      <p:grpSp>
        <p:nvGrpSpPr>
          <p:cNvPr id="3" name="Group 2">
            <a:extLst>
              <a:ext uri="{FF2B5EF4-FFF2-40B4-BE49-F238E27FC236}">
                <a16:creationId xmlns:a16="http://schemas.microsoft.com/office/drawing/2014/main" id="{862877C4-85CE-17BC-5DBB-724B3E40ECB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55AF478E-89D7-8936-5899-49027BBA6E1A}"/>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A86D7C2-8E80-0DFB-415E-0B01F46FE989}"/>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5B136AA0-3F89-54D0-8518-691EBD1E404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F5792C20-F590-95BE-58D1-02099A611952}"/>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42847E8-3ABC-B26B-B3D1-667C61F4AB1E}"/>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42450A58-BD1D-73D9-2610-6EC3EF93AB9F}"/>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2CAAA2D5-B3A8-DED1-7FAB-361D31679C3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EA92486-797A-6C27-3243-BA586991D752}"/>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198" name="Group 197">
            <a:extLst>
              <a:ext uri="{FF2B5EF4-FFF2-40B4-BE49-F238E27FC236}">
                <a16:creationId xmlns:a16="http://schemas.microsoft.com/office/drawing/2014/main" id="{543EE494-677E-3842-9FF3-9F95A2A6F394}"/>
              </a:ext>
            </a:extLst>
          </p:cNvPr>
          <p:cNvGrpSpPr/>
          <p:nvPr/>
        </p:nvGrpSpPr>
        <p:grpSpPr>
          <a:xfrm>
            <a:off x="1992313" y="1749139"/>
            <a:ext cx="8207375" cy="4549719"/>
            <a:chOff x="493713" y="1387475"/>
            <a:chExt cx="8207375" cy="4632325"/>
          </a:xfrm>
        </p:grpSpPr>
        <p:sp>
          <p:nvSpPr>
            <p:cNvPr id="13" name="Rectangle 2">
              <a:extLst>
                <a:ext uri="{FF2B5EF4-FFF2-40B4-BE49-F238E27FC236}">
                  <a16:creationId xmlns:a16="http://schemas.microsoft.com/office/drawing/2014/main" id="{7F20F22A-FCDE-70AD-C286-FA27E679DA3A}"/>
                </a:ext>
              </a:extLst>
            </p:cNvPr>
            <p:cNvSpPr>
              <a:spLocks noChangeArrowheads="1"/>
            </p:cNvSpPr>
            <p:nvPr/>
          </p:nvSpPr>
          <p:spPr bwMode="auto">
            <a:xfrm>
              <a:off x="493713" y="1387475"/>
              <a:ext cx="8207375" cy="4632325"/>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14" name="AutoShape 3">
              <a:extLst>
                <a:ext uri="{FF2B5EF4-FFF2-40B4-BE49-F238E27FC236}">
                  <a16:creationId xmlns:a16="http://schemas.microsoft.com/office/drawing/2014/main" id="{A0A840D9-0DC2-C1CD-157F-7FDB0AE0DAA5}"/>
                </a:ext>
              </a:extLst>
            </p:cNvPr>
            <p:cNvSpPr>
              <a:spLocks noChangeArrowheads="1"/>
            </p:cNvSpPr>
            <p:nvPr/>
          </p:nvSpPr>
          <p:spPr bwMode="auto">
            <a:xfrm>
              <a:off x="1133475" y="3733800"/>
              <a:ext cx="6630988" cy="1485900"/>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5" name="Group 4">
              <a:extLst>
                <a:ext uri="{FF2B5EF4-FFF2-40B4-BE49-F238E27FC236}">
                  <a16:creationId xmlns:a16="http://schemas.microsoft.com/office/drawing/2014/main" id="{1A929827-9EF5-0F0B-7045-41056266E703}"/>
                </a:ext>
              </a:extLst>
            </p:cNvPr>
            <p:cNvGrpSpPr>
              <a:grpSpLocks/>
            </p:cNvGrpSpPr>
            <p:nvPr/>
          </p:nvGrpSpPr>
          <p:grpSpPr bwMode="auto">
            <a:xfrm>
              <a:off x="1254125" y="5426075"/>
              <a:ext cx="5945188" cy="214313"/>
              <a:chOff x="788" y="3649"/>
              <a:chExt cx="3845" cy="146"/>
            </a:xfrm>
          </p:grpSpPr>
          <p:sp>
            <p:nvSpPr>
              <p:cNvPr id="16" name="Line 5">
                <a:extLst>
                  <a:ext uri="{FF2B5EF4-FFF2-40B4-BE49-F238E27FC236}">
                    <a16:creationId xmlns:a16="http://schemas.microsoft.com/office/drawing/2014/main" id="{4E348E15-5C29-107D-5E7E-36C5A627F731}"/>
                  </a:ext>
                </a:extLst>
              </p:cNvPr>
              <p:cNvSpPr>
                <a:spLocks noChangeShapeType="1"/>
              </p:cNvSpPr>
              <p:nvPr/>
            </p:nvSpPr>
            <p:spPr bwMode="auto">
              <a:xfrm>
                <a:off x="788" y="3658"/>
                <a:ext cx="701" cy="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7" name="Line 6">
                <a:extLst>
                  <a:ext uri="{FF2B5EF4-FFF2-40B4-BE49-F238E27FC236}">
                    <a16:creationId xmlns:a16="http://schemas.microsoft.com/office/drawing/2014/main" id="{4A694030-F4C1-E035-E1FE-2ECFB8E55D7E}"/>
                  </a:ext>
                </a:extLst>
              </p:cNvPr>
              <p:cNvSpPr>
                <a:spLocks noChangeShapeType="1"/>
              </p:cNvSpPr>
              <p:nvPr/>
            </p:nvSpPr>
            <p:spPr bwMode="auto">
              <a:xfrm>
                <a:off x="1486"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8" name="Line 7">
                <a:extLst>
                  <a:ext uri="{FF2B5EF4-FFF2-40B4-BE49-F238E27FC236}">
                    <a16:creationId xmlns:a16="http://schemas.microsoft.com/office/drawing/2014/main" id="{76694447-C534-D69D-0C5B-A5B212A3395A}"/>
                  </a:ext>
                </a:extLst>
              </p:cNvPr>
              <p:cNvSpPr>
                <a:spLocks noChangeShapeType="1"/>
              </p:cNvSpPr>
              <p:nvPr/>
            </p:nvSpPr>
            <p:spPr bwMode="auto">
              <a:xfrm>
                <a:off x="1479"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 name="Line 8">
                <a:extLst>
                  <a:ext uri="{FF2B5EF4-FFF2-40B4-BE49-F238E27FC236}">
                    <a16:creationId xmlns:a16="http://schemas.microsoft.com/office/drawing/2014/main" id="{B2D6430A-8D1E-7417-8E8D-51C48E79DC9A}"/>
                  </a:ext>
                </a:extLst>
              </p:cNvPr>
              <p:cNvSpPr>
                <a:spLocks noChangeShapeType="1"/>
              </p:cNvSpPr>
              <p:nvPr/>
            </p:nvSpPr>
            <p:spPr bwMode="auto">
              <a:xfrm>
                <a:off x="1795"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0" name="Line 9">
                <a:extLst>
                  <a:ext uri="{FF2B5EF4-FFF2-40B4-BE49-F238E27FC236}">
                    <a16:creationId xmlns:a16="http://schemas.microsoft.com/office/drawing/2014/main" id="{46B13BF8-67D4-FEE1-A22E-DAA46A89CA2A}"/>
                  </a:ext>
                </a:extLst>
              </p:cNvPr>
              <p:cNvSpPr>
                <a:spLocks noChangeShapeType="1"/>
              </p:cNvSpPr>
              <p:nvPr/>
            </p:nvSpPr>
            <p:spPr bwMode="auto">
              <a:xfrm>
                <a:off x="1795"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1" name="Line 10">
                <a:extLst>
                  <a:ext uri="{FF2B5EF4-FFF2-40B4-BE49-F238E27FC236}">
                    <a16:creationId xmlns:a16="http://schemas.microsoft.com/office/drawing/2014/main" id="{0B471233-4568-7AC4-EF02-23774BB1C636}"/>
                  </a:ext>
                </a:extLst>
              </p:cNvPr>
              <p:cNvSpPr>
                <a:spLocks noChangeShapeType="1"/>
              </p:cNvSpPr>
              <p:nvPr/>
            </p:nvSpPr>
            <p:spPr bwMode="auto">
              <a:xfrm>
                <a:off x="2234"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2" name="Line 11">
                <a:extLst>
                  <a:ext uri="{FF2B5EF4-FFF2-40B4-BE49-F238E27FC236}">
                    <a16:creationId xmlns:a16="http://schemas.microsoft.com/office/drawing/2014/main" id="{F66E2A7D-5CB0-09DC-32A5-7EF44D2F2930}"/>
                  </a:ext>
                </a:extLst>
              </p:cNvPr>
              <p:cNvSpPr>
                <a:spLocks noChangeShapeType="1"/>
              </p:cNvSpPr>
              <p:nvPr/>
            </p:nvSpPr>
            <p:spPr bwMode="auto">
              <a:xfrm>
                <a:off x="250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3" name="Line 12">
                <a:extLst>
                  <a:ext uri="{FF2B5EF4-FFF2-40B4-BE49-F238E27FC236}">
                    <a16:creationId xmlns:a16="http://schemas.microsoft.com/office/drawing/2014/main" id="{A1CA056B-785E-F054-3E09-93502BB2DB1F}"/>
                  </a:ext>
                </a:extLst>
              </p:cNvPr>
              <p:cNvSpPr>
                <a:spLocks noChangeShapeType="1"/>
              </p:cNvSpPr>
              <p:nvPr/>
            </p:nvSpPr>
            <p:spPr bwMode="auto">
              <a:xfrm>
                <a:off x="2503" y="3652"/>
                <a:ext cx="443"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4" name="Line 13">
                <a:extLst>
                  <a:ext uri="{FF2B5EF4-FFF2-40B4-BE49-F238E27FC236}">
                    <a16:creationId xmlns:a16="http://schemas.microsoft.com/office/drawing/2014/main" id="{100FAB58-A919-93E9-0351-3B139B788F15}"/>
                  </a:ext>
                </a:extLst>
              </p:cNvPr>
              <p:cNvSpPr>
                <a:spLocks noChangeShapeType="1"/>
              </p:cNvSpPr>
              <p:nvPr/>
            </p:nvSpPr>
            <p:spPr bwMode="auto">
              <a:xfrm>
                <a:off x="2943"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5" name="Line 14">
                <a:extLst>
                  <a:ext uri="{FF2B5EF4-FFF2-40B4-BE49-F238E27FC236}">
                    <a16:creationId xmlns:a16="http://schemas.microsoft.com/office/drawing/2014/main" id="{77E355E6-8159-B7DA-7907-019AD916E273}"/>
                  </a:ext>
                </a:extLst>
              </p:cNvPr>
              <p:cNvSpPr>
                <a:spLocks noChangeShapeType="1"/>
              </p:cNvSpPr>
              <p:nvPr/>
            </p:nvSpPr>
            <p:spPr bwMode="auto">
              <a:xfrm>
                <a:off x="2238" y="3792"/>
                <a:ext cx="2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6" name="Line 15">
                <a:extLst>
                  <a:ext uri="{FF2B5EF4-FFF2-40B4-BE49-F238E27FC236}">
                    <a16:creationId xmlns:a16="http://schemas.microsoft.com/office/drawing/2014/main" id="{A9839070-E939-88CE-6961-F6C140ECE93F}"/>
                  </a:ext>
                </a:extLst>
              </p:cNvPr>
              <p:cNvSpPr>
                <a:spLocks noChangeShapeType="1"/>
              </p:cNvSpPr>
              <p:nvPr/>
            </p:nvSpPr>
            <p:spPr bwMode="auto">
              <a:xfrm>
                <a:off x="2943"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16">
                <a:extLst>
                  <a:ext uri="{FF2B5EF4-FFF2-40B4-BE49-F238E27FC236}">
                    <a16:creationId xmlns:a16="http://schemas.microsoft.com/office/drawing/2014/main" id="{B97CF6B1-0B44-1E25-4622-A1C221A7D8ED}"/>
                  </a:ext>
                </a:extLst>
              </p:cNvPr>
              <p:cNvSpPr>
                <a:spLocks noChangeShapeType="1"/>
              </p:cNvSpPr>
              <p:nvPr/>
            </p:nvSpPr>
            <p:spPr bwMode="auto">
              <a:xfrm>
                <a:off x="3258"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8" name="Line 17">
                <a:extLst>
                  <a:ext uri="{FF2B5EF4-FFF2-40B4-BE49-F238E27FC236}">
                    <a16:creationId xmlns:a16="http://schemas.microsoft.com/office/drawing/2014/main" id="{AB3C1786-E01D-DC97-0645-F2A954CD6543}"/>
                  </a:ext>
                </a:extLst>
              </p:cNvPr>
              <p:cNvSpPr>
                <a:spLocks noChangeShapeType="1"/>
              </p:cNvSpPr>
              <p:nvPr/>
            </p:nvSpPr>
            <p:spPr bwMode="auto">
              <a:xfrm>
                <a:off x="3258" y="3652"/>
                <a:ext cx="386" cy="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9" name="Line 18">
                <a:extLst>
                  <a:ext uri="{FF2B5EF4-FFF2-40B4-BE49-F238E27FC236}">
                    <a16:creationId xmlns:a16="http://schemas.microsoft.com/office/drawing/2014/main" id="{3F5770F2-2AB9-176F-4FA2-6E0BB78F5158}"/>
                  </a:ext>
                </a:extLst>
              </p:cNvPr>
              <p:cNvSpPr>
                <a:spLocks noChangeShapeType="1"/>
              </p:cNvSpPr>
              <p:nvPr/>
            </p:nvSpPr>
            <p:spPr bwMode="auto">
              <a:xfrm>
                <a:off x="3638" y="3649"/>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0" name="Line 19">
                <a:extLst>
                  <a:ext uri="{FF2B5EF4-FFF2-40B4-BE49-F238E27FC236}">
                    <a16:creationId xmlns:a16="http://schemas.microsoft.com/office/drawing/2014/main" id="{507E5971-E126-2274-43AE-7FBB9954E123}"/>
                  </a:ext>
                </a:extLst>
              </p:cNvPr>
              <p:cNvSpPr>
                <a:spLocks noChangeShapeType="1"/>
              </p:cNvSpPr>
              <p:nvPr/>
            </p:nvSpPr>
            <p:spPr bwMode="auto">
              <a:xfrm>
                <a:off x="3638" y="3792"/>
                <a:ext cx="32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1" name="Line 20">
                <a:extLst>
                  <a:ext uri="{FF2B5EF4-FFF2-40B4-BE49-F238E27FC236}">
                    <a16:creationId xmlns:a16="http://schemas.microsoft.com/office/drawing/2014/main" id="{E61ACBE6-59D4-53A8-1D88-E75F7C0DABF9}"/>
                  </a:ext>
                </a:extLst>
              </p:cNvPr>
              <p:cNvSpPr>
                <a:spLocks noChangeShapeType="1"/>
              </p:cNvSpPr>
              <p:nvPr/>
            </p:nvSpPr>
            <p:spPr bwMode="auto">
              <a:xfrm>
                <a:off x="3953" y="3654"/>
                <a:ext cx="0" cy="1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2" name="Line 21">
                <a:extLst>
                  <a:ext uri="{FF2B5EF4-FFF2-40B4-BE49-F238E27FC236}">
                    <a16:creationId xmlns:a16="http://schemas.microsoft.com/office/drawing/2014/main" id="{452D03AE-84A7-885D-2A9B-FACDB2A5153E}"/>
                  </a:ext>
                </a:extLst>
              </p:cNvPr>
              <p:cNvSpPr>
                <a:spLocks noChangeShapeType="1"/>
              </p:cNvSpPr>
              <p:nvPr/>
            </p:nvSpPr>
            <p:spPr bwMode="auto">
              <a:xfrm flipV="1">
                <a:off x="3953" y="3651"/>
                <a:ext cx="680"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33" name="Rectangle 22">
              <a:extLst>
                <a:ext uri="{FF2B5EF4-FFF2-40B4-BE49-F238E27FC236}">
                  <a16:creationId xmlns:a16="http://schemas.microsoft.com/office/drawing/2014/main" id="{DF5486B0-CC2F-13FB-0156-5BCFF98FC19C}"/>
                </a:ext>
              </a:extLst>
            </p:cNvPr>
            <p:cNvSpPr>
              <a:spLocks noChangeArrowheads="1"/>
            </p:cNvSpPr>
            <p:nvPr/>
          </p:nvSpPr>
          <p:spPr bwMode="auto">
            <a:xfrm>
              <a:off x="2370138" y="3811588"/>
              <a:ext cx="415925" cy="5365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Rectangle 23">
              <a:extLst>
                <a:ext uri="{FF2B5EF4-FFF2-40B4-BE49-F238E27FC236}">
                  <a16:creationId xmlns:a16="http://schemas.microsoft.com/office/drawing/2014/main" id="{9AAB821C-6BD4-2A64-467E-E4576B9185D1}"/>
                </a:ext>
              </a:extLst>
            </p:cNvPr>
            <p:cNvSpPr>
              <a:spLocks noChangeArrowheads="1"/>
            </p:cNvSpPr>
            <p:nvPr/>
          </p:nvSpPr>
          <p:spPr bwMode="auto">
            <a:xfrm>
              <a:off x="3505200" y="3811588"/>
              <a:ext cx="415925" cy="5365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5" name="Rectangle 24">
              <a:extLst>
                <a:ext uri="{FF2B5EF4-FFF2-40B4-BE49-F238E27FC236}">
                  <a16:creationId xmlns:a16="http://schemas.microsoft.com/office/drawing/2014/main" id="{6FDDAA0D-ADF9-97FE-5D99-D3B0C1A67FC0}"/>
                </a:ext>
              </a:extLst>
            </p:cNvPr>
            <p:cNvSpPr>
              <a:spLocks noChangeArrowheads="1"/>
            </p:cNvSpPr>
            <p:nvPr/>
          </p:nvSpPr>
          <p:spPr bwMode="auto">
            <a:xfrm>
              <a:off x="4613275" y="3811588"/>
              <a:ext cx="415925" cy="5365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6" name="Rectangle 25">
              <a:extLst>
                <a:ext uri="{FF2B5EF4-FFF2-40B4-BE49-F238E27FC236}">
                  <a16:creationId xmlns:a16="http://schemas.microsoft.com/office/drawing/2014/main" id="{95B88EA1-0118-33C9-F7CD-5701B8D5FEED}"/>
                </a:ext>
              </a:extLst>
            </p:cNvPr>
            <p:cNvSpPr>
              <a:spLocks noChangeArrowheads="1"/>
            </p:cNvSpPr>
            <p:nvPr/>
          </p:nvSpPr>
          <p:spPr bwMode="auto">
            <a:xfrm>
              <a:off x="5692775" y="3811588"/>
              <a:ext cx="415925" cy="53657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Line 26">
              <a:extLst>
                <a:ext uri="{FF2B5EF4-FFF2-40B4-BE49-F238E27FC236}">
                  <a16:creationId xmlns:a16="http://schemas.microsoft.com/office/drawing/2014/main" id="{199A84E2-9357-C6FD-1600-2F17E0F67E55}"/>
                </a:ext>
              </a:extLst>
            </p:cNvPr>
            <p:cNvSpPr>
              <a:spLocks noChangeShapeType="1"/>
            </p:cNvSpPr>
            <p:nvPr/>
          </p:nvSpPr>
          <p:spPr bwMode="auto">
            <a:xfrm>
              <a:off x="2379663" y="3952875"/>
              <a:ext cx="414337"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27">
              <a:extLst>
                <a:ext uri="{FF2B5EF4-FFF2-40B4-BE49-F238E27FC236}">
                  <a16:creationId xmlns:a16="http://schemas.microsoft.com/office/drawing/2014/main" id="{CF2F656A-0BCB-9290-6F64-58919BDA5B9F}"/>
                </a:ext>
              </a:extLst>
            </p:cNvPr>
            <p:cNvSpPr>
              <a:spLocks noChangeShapeType="1"/>
            </p:cNvSpPr>
            <p:nvPr/>
          </p:nvSpPr>
          <p:spPr bwMode="auto">
            <a:xfrm>
              <a:off x="3502025" y="3944938"/>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9" name="Line 28">
              <a:extLst>
                <a:ext uri="{FF2B5EF4-FFF2-40B4-BE49-F238E27FC236}">
                  <a16:creationId xmlns:a16="http://schemas.microsoft.com/office/drawing/2014/main" id="{3A03966C-F181-B172-C77B-79657BAD7EFA}"/>
                </a:ext>
              </a:extLst>
            </p:cNvPr>
            <p:cNvSpPr>
              <a:spLocks noChangeShapeType="1"/>
            </p:cNvSpPr>
            <p:nvPr/>
          </p:nvSpPr>
          <p:spPr bwMode="auto">
            <a:xfrm>
              <a:off x="4616450" y="3935413"/>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29">
              <a:extLst>
                <a:ext uri="{FF2B5EF4-FFF2-40B4-BE49-F238E27FC236}">
                  <a16:creationId xmlns:a16="http://schemas.microsoft.com/office/drawing/2014/main" id="{DF1294E9-68B8-E070-3700-C013D6D63612}"/>
                </a:ext>
              </a:extLst>
            </p:cNvPr>
            <p:cNvSpPr>
              <a:spLocks noChangeShapeType="1"/>
            </p:cNvSpPr>
            <p:nvPr/>
          </p:nvSpPr>
          <p:spPr bwMode="auto">
            <a:xfrm>
              <a:off x="5683250" y="3927475"/>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41" name="Group 30">
              <a:extLst>
                <a:ext uri="{FF2B5EF4-FFF2-40B4-BE49-F238E27FC236}">
                  <a16:creationId xmlns:a16="http://schemas.microsoft.com/office/drawing/2014/main" id="{C2E39C80-8C98-2BD2-AE26-14496A23D24A}"/>
                </a:ext>
              </a:extLst>
            </p:cNvPr>
            <p:cNvGrpSpPr>
              <a:grpSpLocks/>
            </p:cNvGrpSpPr>
            <p:nvPr/>
          </p:nvGrpSpPr>
          <p:grpSpPr bwMode="auto">
            <a:xfrm>
              <a:off x="2379663" y="4476750"/>
              <a:ext cx="415925" cy="442913"/>
              <a:chOff x="1702" y="2990"/>
              <a:chExt cx="269" cy="301"/>
            </a:xfrm>
          </p:grpSpPr>
          <p:sp>
            <p:nvSpPr>
              <p:cNvPr id="42" name="Rectangle 31">
                <a:extLst>
                  <a:ext uri="{FF2B5EF4-FFF2-40B4-BE49-F238E27FC236}">
                    <a16:creationId xmlns:a16="http://schemas.microsoft.com/office/drawing/2014/main" id="{ADFA279A-AF3D-426D-BDCF-DB53403842A1}"/>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Line 32">
                <a:extLst>
                  <a:ext uri="{FF2B5EF4-FFF2-40B4-BE49-F238E27FC236}">
                    <a16:creationId xmlns:a16="http://schemas.microsoft.com/office/drawing/2014/main" id="{886E2500-9806-28EE-ECCE-E21BEF538F06}"/>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4" name="Line 33">
                <a:extLst>
                  <a:ext uri="{FF2B5EF4-FFF2-40B4-BE49-F238E27FC236}">
                    <a16:creationId xmlns:a16="http://schemas.microsoft.com/office/drawing/2014/main" id="{0DB6B007-35A6-6A2B-C07C-E8AF88D4C8AE}"/>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5" name="Line 34">
                <a:extLst>
                  <a:ext uri="{FF2B5EF4-FFF2-40B4-BE49-F238E27FC236}">
                    <a16:creationId xmlns:a16="http://schemas.microsoft.com/office/drawing/2014/main" id="{9FEE3919-C430-F6D9-4496-8711FC850173}"/>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6" name="Line 35">
                <a:extLst>
                  <a:ext uri="{FF2B5EF4-FFF2-40B4-BE49-F238E27FC236}">
                    <a16:creationId xmlns:a16="http://schemas.microsoft.com/office/drawing/2014/main" id="{FF9AC4D2-D289-8506-12E0-94F0CB8CBA68}"/>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7" name="Line 36">
                <a:extLst>
                  <a:ext uri="{FF2B5EF4-FFF2-40B4-BE49-F238E27FC236}">
                    <a16:creationId xmlns:a16="http://schemas.microsoft.com/office/drawing/2014/main" id="{62928EDE-9017-376E-B80F-10F29D2AB439}"/>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8" name="Line 37">
                <a:extLst>
                  <a:ext uri="{FF2B5EF4-FFF2-40B4-BE49-F238E27FC236}">
                    <a16:creationId xmlns:a16="http://schemas.microsoft.com/office/drawing/2014/main" id="{C3C75C16-3C36-4789-1445-6C0F56316E41}"/>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49" name="Group 38">
              <a:extLst>
                <a:ext uri="{FF2B5EF4-FFF2-40B4-BE49-F238E27FC236}">
                  <a16:creationId xmlns:a16="http://schemas.microsoft.com/office/drawing/2014/main" id="{E41DA3FD-DE40-B938-A6B0-DCF405CBA792}"/>
                </a:ext>
              </a:extLst>
            </p:cNvPr>
            <p:cNvGrpSpPr>
              <a:grpSpLocks/>
            </p:cNvGrpSpPr>
            <p:nvPr/>
          </p:nvGrpSpPr>
          <p:grpSpPr bwMode="auto">
            <a:xfrm>
              <a:off x="3505200" y="4506913"/>
              <a:ext cx="415925" cy="441325"/>
              <a:chOff x="1702" y="2990"/>
              <a:chExt cx="269" cy="301"/>
            </a:xfrm>
          </p:grpSpPr>
          <p:sp>
            <p:nvSpPr>
              <p:cNvPr id="50" name="Rectangle 39">
                <a:extLst>
                  <a:ext uri="{FF2B5EF4-FFF2-40B4-BE49-F238E27FC236}">
                    <a16:creationId xmlns:a16="http://schemas.microsoft.com/office/drawing/2014/main" id="{0414AEBA-FF05-C6DA-7271-B36B368765F4}"/>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1" name="Line 40">
                <a:extLst>
                  <a:ext uri="{FF2B5EF4-FFF2-40B4-BE49-F238E27FC236}">
                    <a16:creationId xmlns:a16="http://schemas.microsoft.com/office/drawing/2014/main" id="{F2121D5C-5ABC-100E-9313-3B9CE43F3206}"/>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2" name="Line 41">
                <a:extLst>
                  <a:ext uri="{FF2B5EF4-FFF2-40B4-BE49-F238E27FC236}">
                    <a16:creationId xmlns:a16="http://schemas.microsoft.com/office/drawing/2014/main" id="{6D6FAE03-CAEA-2E5C-F012-A0C3490976E9}"/>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3" name="Line 42">
                <a:extLst>
                  <a:ext uri="{FF2B5EF4-FFF2-40B4-BE49-F238E27FC236}">
                    <a16:creationId xmlns:a16="http://schemas.microsoft.com/office/drawing/2014/main" id="{B86C39AF-CB1A-963F-D8E1-53C6938A9F21}"/>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Line 43">
                <a:extLst>
                  <a:ext uri="{FF2B5EF4-FFF2-40B4-BE49-F238E27FC236}">
                    <a16:creationId xmlns:a16="http://schemas.microsoft.com/office/drawing/2014/main" id="{28FB91CA-9F83-B919-92ED-FA6B1B364645}"/>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5" name="Line 44">
                <a:extLst>
                  <a:ext uri="{FF2B5EF4-FFF2-40B4-BE49-F238E27FC236}">
                    <a16:creationId xmlns:a16="http://schemas.microsoft.com/office/drawing/2014/main" id="{8AC3CC4C-DF35-2E41-7DE2-5E38AEF235F9}"/>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6" name="Line 45">
                <a:extLst>
                  <a:ext uri="{FF2B5EF4-FFF2-40B4-BE49-F238E27FC236}">
                    <a16:creationId xmlns:a16="http://schemas.microsoft.com/office/drawing/2014/main" id="{A91E9FA6-FEF6-E3CD-7D6A-C3EEC1A69C18}"/>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57" name="Group 46">
              <a:extLst>
                <a:ext uri="{FF2B5EF4-FFF2-40B4-BE49-F238E27FC236}">
                  <a16:creationId xmlns:a16="http://schemas.microsoft.com/office/drawing/2014/main" id="{50BFDD2A-CD43-477F-3312-C5FBF3B9516F}"/>
                </a:ext>
              </a:extLst>
            </p:cNvPr>
            <p:cNvGrpSpPr>
              <a:grpSpLocks/>
            </p:cNvGrpSpPr>
            <p:nvPr/>
          </p:nvGrpSpPr>
          <p:grpSpPr bwMode="auto">
            <a:xfrm>
              <a:off x="4614863" y="4491038"/>
              <a:ext cx="415925" cy="441325"/>
              <a:chOff x="1702" y="2990"/>
              <a:chExt cx="269" cy="301"/>
            </a:xfrm>
          </p:grpSpPr>
          <p:sp>
            <p:nvSpPr>
              <p:cNvPr id="58" name="Rectangle 47">
                <a:extLst>
                  <a:ext uri="{FF2B5EF4-FFF2-40B4-BE49-F238E27FC236}">
                    <a16:creationId xmlns:a16="http://schemas.microsoft.com/office/drawing/2014/main" id="{9938649A-774D-AD86-8477-3C27241A4790}"/>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Line 48">
                <a:extLst>
                  <a:ext uri="{FF2B5EF4-FFF2-40B4-BE49-F238E27FC236}">
                    <a16:creationId xmlns:a16="http://schemas.microsoft.com/office/drawing/2014/main" id="{833D42E3-871F-0FF9-8222-EC4FF71E4AB7}"/>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0" name="Line 49">
                <a:extLst>
                  <a:ext uri="{FF2B5EF4-FFF2-40B4-BE49-F238E27FC236}">
                    <a16:creationId xmlns:a16="http://schemas.microsoft.com/office/drawing/2014/main" id="{3A22FCDC-54B7-6103-482C-3BC8A510FD9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1" name="Line 50">
                <a:extLst>
                  <a:ext uri="{FF2B5EF4-FFF2-40B4-BE49-F238E27FC236}">
                    <a16:creationId xmlns:a16="http://schemas.microsoft.com/office/drawing/2014/main" id="{A3A0D227-A55C-C528-BD36-9250C585189C}"/>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2" name="Line 51">
                <a:extLst>
                  <a:ext uri="{FF2B5EF4-FFF2-40B4-BE49-F238E27FC236}">
                    <a16:creationId xmlns:a16="http://schemas.microsoft.com/office/drawing/2014/main" id="{44850CEC-EE37-8C9C-547A-0BFC50754116}"/>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3" name="Line 52">
                <a:extLst>
                  <a:ext uri="{FF2B5EF4-FFF2-40B4-BE49-F238E27FC236}">
                    <a16:creationId xmlns:a16="http://schemas.microsoft.com/office/drawing/2014/main" id="{94F394C8-E239-97DC-E927-A29AB8D8FFC6}"/>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Line 53">
                <a:extLst>
                  <a:ext uri="{FF2B5EF4-FFF2-40B4-BE49-F238E27FC236}">
                    <a16:creationId xmlns:a16="http://schemas.microsoft.com/office/drawing/2014/main" id="{218E80E4-7383-F81A-C69A-9C5733623A20}"/>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65" name="Group 54">
              <a:extLst>
                <a:ext uri="{FF2B5EF4-FFF2-40B4-BE49-F238E27FC236}">
                  <a16:creationId xmlns:a16="http://schemas.microsoft.com/office/drawing/2014/main" id="{DAF8D296-DBF3-5F4D-CACA-E12F4683799E}"/>
                </a:ext>
              </a:extLst>
            </p:cNvPr>
            <p:cNvGrpSpPr>
              <a:grpSpLocks/>
            </p:cNvGrpSpPr>
            <p:nvPr/>
          </p:nvGrpSpPr>
          <p:grpSpPr bwMode="auto">
            <a:xfrm>
              <a:off x="5662613" y="4510088"/>
              <a:ext cx="415925" cy="441325"/>
              <a:chOff x="1702" y="2990"/>
              <a:chExt cx="269" cy="301"/>
            </a:xfrm>
          </p:grpSpPr>
          <p:sp>
            <p:nvSpPr>
              <p:cNvPr id="66" name="Rectangle 55">
                <a:extLst>
                  <a:ext uri="{FF2B5EF4-FFF2-40B4-BE49-F238E27FC236}">
                    <a16:creationId xmlns:a16="http://schemas.microsoft.com/office/drawing/2014/main" id="{77DD95CD-3DC8-5FDA-2A8E-BD5993A4B597}"/>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Line 56">
                <a:extLst>
                  <a:ext uri="{FF2B5EF4-FFF2-40B4-BE49-F238E27FC236}">
                    <a16:creationId xmlns:a16="http://schemas.microsoft.com/office/drawing/2014/main" id="{1341F71E-F4E6-57F1-F8CC-E833D6CF81AC}"/>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Line 57">
                <a:extLst>
                  <a:ext uri="{FF2B5EF4-FFF2-40B4-BE49-F238E27FC236}">
                    <a16:creationId xmlns:a16="http://schemas.microsoft.com/office/drawing/2014/main" id="{CFEF4625-5388-CF7C-7DAC-87D49056B8B4}"/>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9" name="Line 58">
                <a:extLst>
                  <a:ext uri="{FF2B5EF4-FFF2-40B4-BE49-F238E27FC236}">
                    <a16:creationId xmlns:a16="http://schemas.microsoft.com/office/drawing/2014/main" id="{D23CC7D1-2893-C48F-CA21-CDBECBDA6617}"/>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0" name="Line 59">
                <a:extLst>
                  <a:ext uri="{FF2B5EF4-FFF2-40B4-BE49-F238E27FC236}">
                    <a16:creationId xmlns:a16="http://schemas.microsoft.com/office/drawing/2014/main" id="{7D900AE2-B984-F34D-B8A4-BF725732D5C4}"/>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1" name="Line 60">
                <a:extLst>
                  <a:ext uri="{FF2B5EF4-FFF2-40B4-BE49-F238E27FC236}">
                    <a16:creationId xmlns:a16="http://schemas.microsoft.com/office/drawing/2014/main" id="{A5A4EAD5-5809-E98A-C0A7-B3D5EC06787D}"/>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2" name="Line 61">
                <a:extLst>
                  <a:ext uri="{FF2B5EF4-FFF2-40B4-BE49-F238E27FC236}">
                    <a16:creationId xmlns:a16="http://schemas.microsoft.com/office/drawing/2014/main" id="{57B660C3-79CC-0CA6-6A1C-54EFCE997662}"/>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73" name="Line 62">
              <a:extLst>
                <a:ext uri="{FF2B5EF4-FFF2-40B4-BE49-F238E27FC236}">
                  <a16:creationId xmlns:a16="http://schemas.microsoft.com/office/drawing/2014/main" id="{B5DD26F8-F883-BF47-DEC0-AC1415587014}"/>
                </a:ext>
              </a:extLst>
            </p:cNvPr>
            <p:cNvSpPr>
              <a:spLocks noChangeShapeType="1"/>
            </p:cNvSpPr>
            <p:nvPr/>
          </p:nvSpPr>
          <p:spPr bwMode="auto">
            <a:xfrm flipV="1">
              <a:off x="2795588" y="4081463"/>
              <a:ext cx="711200" cy="1905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4" name="Line 64">
              <a:extLst>
                <a:ext uri="{FF2B5EF4-FFF2-40B4-BE49-F238E27FC236}">
                  <a16:creationId xmlns:a16="http://schemas.microsoft.com/office/drawing/2014/main" id="{7024BE97-6C09-9426-7F3D-45E88EB05215}"/>
                </a:ext>
              </a:extLst>
            </p:cNvPr>
            <p:cNvSpPr>
              <a:spLocks noChangeShapeType="1"/>
            </p:cNvSpPr>
            <p:nvPr/>
          </p:nvSpPr>
          <p:spPr bwMode="auto">
            <a:xfrm flipV="1">
              <a:off x="3952875" y="4081463"/>
              <a:ext cx="711200" cy="1905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5" name="Line 66">
              <a:extLst>
                <a:ext uri="{FF2B5EF4-FFF2-40B4-BE49-F238E27FC236}">
                  <a16:creationId xmlns:a16="http://schemas.microsoft.com/office/drawing/2014/main" id="{9395754B-4B0A-64F1-49C0-B237E1983CFC}"/>
                </a:ext>
              </a:extLst>
            </p:cNvPr>
            <p:cNvSpPr>
              <a:spLocks noChangeShapeType="1"/>
            </p:cNvSpPr>
            <p:nvPr/>
          </p:nvSpPr>
          <p:spPr bwMode="auto">
            <a:xfrm flipV="1">
              <a:off x="5043488" y="4089400"/>
              <a:ext cx="633412" cy="11113"/>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76" name="Rectangle 68">
              <a:extLst>
                <a:ext uri="{FF2B5EF4-FFF2-40B4-BE49-F238E27FC236}">
                  <a16:creationId xmlns:a16="http://schemas.microsoft.com/office/drawing/2014/main" id="{2B5A7772-BAC6-C513-0DCD-C4E4CD62F0A7}"/>
                </a:ext>
              </a:extLst>
            </p:cNvPr>
            <p:cNvSpPr>
              <a:spLocks noChangeArrowheads="1"/>
            </p:cNvSpPr>
            <p:nvPr/>
          </p:nvSpPr>
          <p:spPr bwMode="auto">
            <a:xfrm>
              <a:off x="6759575" y="3803650"/>
              <a:ext cx="415925" cy="534988"/>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Line 69">
              <a:extLst>
                <a:ext uri="{FF2B5EF4-FFF2-40B4-BE49-F238E27FC236}">
                  <a16:creationId xmlns:a16="http://schemas.microsoft.com/office/drawing/2014/main" id="{58BADB40-9315-C75D-78F6-BB8744886448}"/>
                </a:ext>
              </a:extLst>
            </p:cNvPr>
            <p:cNvSpPr>
              <a:spLocks noChangeShapeType="1"/>
            </p:cNvSpPr>
            <p:nvPr/>
          </p:nvSpPr>
          <p:spPr bwMode="auto">
            <a:xfrm>
              <a:off x="6750050" y="3917950"/>
              <a:ext cx="414338"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78" name="Group 70">
              <a:extLst>
                <a:ext uri="{FF2B5EF4-FFF2-40B4-BE49-F238E27FC236}">
                  <a16:creationId xmlns:a16="http://schemas.microsoft.com/office/drawing/2014/main" id="{22113C44-4801-7D15-EC26-9EF8F3C211A9}"/>
                </a:ext>
              </a:extLst>
            </p:cNvPr>
            <p:cNvGrpSpPr>
              <a:grpSpLocks/>
            </p:cNvGrpSpPr>
            <p:nvPr/>
          </p:nvGrpSpPr>
          <p:grpSpPr bwMode="auto">
            <a:xfrm>
              <a:off x="6729413" y="4500563"/>
              <a:ext cx="415925" cy="441325"/>
              <a:chOff x="1702" y="2990"/>
              <a:chExt cx="269" cy="301"/>
            </a:xfrm>
          </p:grpSpPr>
          <p:sp>
            <p:nvSpPr>
              <p:cNvPr id="79" name="Rectangle 71">
                <a:extLst>
                  <a:ext uri="{FF2B5EF4-FFF2-40B4-BE49-F238E27FC236}">
                    <a16:creationId xmlns:a16="http://schemas.microsoft.com/office/drawing/2014/main" id="{3419B6AF-E74A-15A9-E859-18FD7A714800}"/>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Line 72">
                <a:extLst>
                  <a:ext uri="{FF2B5EF4-FFF2-40B4-BE49-F238E27FC236}">
                    <a16:creationId xmlns:a16="http://schemas.microsoft.com/office/drawing/2014/main" id="{2C61648B-4719-EB35-D8B8-21509AE9C1BD}"/>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1" name="Line 73">
                <a:extLst>
                  <a:ext uri="{FF2B5EF4-FFF2-40B4-BE49-F238E27FC236}">
                    <a16:creationId xmlns:a16="http://schemas.microsoft.com/office/drawing/2014/main" id="{B9F98A75-FA73-9F69-E288-307B912AA3A9}"/>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2" name="Line 74">
                <a:extLst>
                  <a:ext uri="{FF2B5EF4-FFF2-40B4-BE49-F238E27FC236}">
                    <a16:creationId xmlns:a16="http://schemas.microsoft.com/office/drawing/2014/main" id="{FAD2754D-D6EC-720F-DF33-024108C681A1}"/>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3" name="Line 75">
                <a:extLst>
                  <a:ext uri="{FF2B5EF4-FFF2-40B4-BE49-F238E27FC236}">
                    <a16:creationId xmlns:a16="http://schemas.microsoft.com/office/drawing/2014/main" id="{65F7D48F-843D-0DE0-6DA5-27CA6EC9C081}"/>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4" name="Line 76">
                <a:extLst>
                  <a:ext uri="{FF2B5EF4-FFF2-40B4-BE49-F238E27FC236}">
                    <a16:creationId xmlns:a16="http://schemas.microsoft.com/office/drawing/2014/main" id="{815F076E-9047-9E23-677C-C788E09DBD33}"/>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5" name="Line 77">
                <a:extLst>
                  <a:ext uri="{FF2B5EF4-FFF2-40B4-BE49-F238E27FC236}">
                    <a16:creationId xmlns:a16="http://schemas.microsoft.com/office/drawing/2014/main" id="{7656EDFB-1292-0BFE-26CA-D71E6D26BAAF}"/>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86" name="Line 78">
              <a:extLst>
                <a:ext uri="{FF2B5EF4-FFF2-40B4-BE49-F238E27FC236}">
                  <a16:creationId xmlns:a16="http://schemas.microsoft.com/office/drawing/2014/main" id="{B0803870-1AC7-E3A0-D161-1069C93A652D}"/>
                </a:ext>
              </a:extLst>
            </p:cNvPr>
            <p:cNvSpPr>
              <a:spLocks noChangeShapeType="1"/>
            </p:cNvSpPr>
            <p:nvPr/>
          </p:nvSpPr>
          <p:spPr bwMode="auto">
            <a:xfrm flipV="1">
              <a:off x="6111875" y="4081463"/>
              <a:ext cx="631825" cy="9525"/>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7" name="Line 80">
              <a:extLst>
                <a:ext uri="{FF2B5EF4-FFF2-40B4-BE49-F238E27FC236}">
                  <a16:creationId xmlns:a16="http://schemas.microsoft.com/office/drawing/2014/main" id="{1EB66DFE-0A9C-02D5-E5CA-62CDC8C3D621}"/>
                </a:ext>
              </a:extLst>
            </p:cNvPr>
            <p:cNvSpPr>
              <a:spLocks noChangeShapeType="1"/>
            </p:cNvSpPr>
            <p:nvPr/>
          </p:nvSpPr>
          <p:spPr bwMode="auto">
            <a:xfrm flipV="1">
              <a:off x="1549400" y="4098925"/>
              <a:ext cx="869950" cy="1588"/>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88" name="Text Box 81">
              <a:extLst>
                <a:ext uri="{FF2B5EF4-FFF2-40B4-BE49-F238E27FC236}">
                  <a16:creationId xmlns:a16="http://schemas.microsoft.com/office/drawing/2014/main" id="{821024E9-0F8B-0F67-CE48-B8AAC7BFAF4C}"/>
                </a:ext>
              </a:extLst>
            </p:cNvPr>
            <p:cNvSpPr txBox="1">
              <a:spLocks noChangeArrowheads="1"/>
            </p:cNvSpPr>
            <p:nvPr/>
          </p:nvSpPr>
          <p:spPr bwMode="auto">
            <a:xfrm>
              <a:off x="3994864" y="1601788"/>
              <a:ext cx="9685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latin typeface="Roboto" panose="02000000000000000000" pitchFamily="2" charset="0"/>
                  <a:ea typeface="Roboto" panose="02000000000000000000" pitchFamily="2" charset="0"/>
                </a:rPr>
                <a:t>Customer</a:t>
              </a:r>
            </a:p>
          </p:txBody>
        </p:sp>
        <p:sp>
          <p:nvSpPr>
            <p:cNvPr id="89" name="Text Box 82">
              <a:extLst>
                <a:ext uri="{FF2B5EF4-FFF2-40B4-BE49-F238E27FC236}">
                  <a16:creationId xmlns:a16="http://schemas.microsoft.com/office/drawing/2014/main" id="{D7CEFD17-8A07-DB59-76F5-4D6928D4C95F}"/>
                </a:ext>
              </a:extLst>
            </p:cNvPr>
            <p:cNvSpPr txBox="1">
              <a:spLocks noChangeArrowheads="1"/>
            </p:cNvSpPr>
            <p:nvPr/>
          </p:nvSpPr>
          <p:spPr bwMode="auto">
            <a:xfrm>
              <a:off x="3547689" y="3008313"/>
              <a:ext cx="18501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b="0">
                  <a:solidFill>
                    <a:srgbClr val="FF0000"/>
                  </a:solidFill>
                  <a:latin typeface="Roboto" panose="02000000000000000000" pitchFamily="2" charset="0"/>
                  <a:ea typeface="Roboto" panose="02000000000000000000" pitchFamily="2" charset="0"/>
                </a:rPr>
                <a:t>Information Systems</a:t>
              </a:r>
            </a:p>
            <a:p>
              <a:pPr algn="ctr">
                <a:lnSpc>
                  <a:spcPct val="100000"/>
                </a:lnSpc>
                <a:spcBef>
                  <a:spcPct val="0"/>
                </a:spcBef>
                <a:spcAft>
                  <a:spcPct val="0"/>
                </a:spcAft>
                <a:buClrTx/>
                <a:buSzTx/>
                <a:buFontTx/>
                <a:buNone/>
              </a:pPr>
              <a:r>
                <a:rPr lang="en-US" altLang="en-US" sz="1400" b="0">
                  <a:solidFill>
                    <a:srgbClr val="FF0000"/>
                  </a:solidFill>
                  <a:latin typeface="Roboto" panose="02000000000000000000" pitchFamily="2" charset="0"/>
                  <a:ea typeface="Roboto" panose="02000000000000000000" pitchFamily="2" charset="0"/>
                </a:rPr>
                <a:t>&amp; Flow</a:t>
              </a:r>
            </a:p>
          </p:txBody>
        </p:sp>
        <p:sp>
          <p:nvSpPr>
            <p:cNvPr id="90" name="AutoShape 83">
              <a:extLst>
                <a:ext uri="{FF2B5EF4-FFF2-40B4-BE49-F238E27FC236}">
                  <a16:creationId xmlns:a16="http://schemas.microsoft.com/office/drawing/2014/main" id="{C5536687-FF59-80D0-412C-97891E90C9CE}"/>
                </a:ext>
              </a:extLst>
            </p:cNvPr>
            <p:cNvSpPr>
              <a:spLocks noChangeArrowheads="1"/>
            </p:cNvSpPr>
            <p:nvPr/>
          </p:nvSpPr>
          <p:spPr bwMode="auto">
            <a:xfrm>
              <a:off x="889000" y="1630363"/>
              <a:ext cx="7551738" cy="1228725"/>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AutoShape 84">
              <a:extLst>
                <a:ext uri="{FF2B5EF4-FFF2-40B4-BE49-F238E27FC236}">
                  <a16:creationId xmlns:a16="http://schemas.microsoft.com/office/drawing/2014/main" id="{EF4446FF-1CE5-26E7-A6B5-9BAF58B96865}"/>
                </a:ext>
              </a:extLst>
            </p:cNvPr>
            <p:cNvSpPr>
              <a:spLocks noChangeArrowheads="1"/>
            </p:cNvSpPr>
            <p:nvPr/>
          </p:nvSpPr>
          <p:spPr bwMode="auto">
            <a:xfrm>
              <a:off x="3276600" y="3041650"/>
              <a:ext cx="2406650" cy="533400"/>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2" name="Group 85">
              <a:extLst>
                <a:ext uri="{FF2B5EF4-FFF2-40B4-BE49-F238E27FC236}">
                  <a16:creationId xmlns:a16="http://schemas.microsoft.com/office/drawing/2014/main" id="{F2189747-B4BA-E640-CD58-918BB554DF2B}"/>
                </a:ext>
              </a:extLst>
            </p:cNvPr>
            <p:cNvGrpSpPr>
              <a:grpSpLocks/>
            </p:cNvGrpSpPr>
            <p:nvPr/>
          </p:nvGrpSpPr>
          <p:grpSpPr bwMode="auto">
            <a:xfrm>
              <a:off x="7327900" y="5392738"/>
              <a:ext cx="1130300" cy="442912"/>
              <a:chOff x="4992" y="3566"/>
              <a:chExt cx="731" cy="302"/>
            </a:xfrm>
          </p:grpSpPr>
          <p:sp>
            <p:nvSpPr>
              <p:cNvPr id="93" name="Text Box 86">
                <a:extLst>
                  <a:ext uri="{FF2B5EF4-FFF2-40B4-BE49-F238E27FC236}">
                    <a16:creationId xmlns:a16="http://schemas.microsoft.com/office/drawing/2014/main" id="{78D61BB2-7455-717E-5FDA-15294DC421E5}"/>
                  </a:ext>
                </a:extLst>
              </p:cNvPr>
              <p:cNvSpPr txBox="1">
                <a:spLocks noChangeArrowheads="1"/>
              </p:cNvSpPr>
              <p:nvPr/>
            </p:nvSpPr>
            <p:spPr bwMode="auto">
              <a:xfrm>
                <a:off x="4992" y="3566"/>
                <a:ext cx="731"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b="0">
                    <a:latin typeface="Roboto" panose="02000000000000000000" pitchFamily="2" charset="0"/>
                    <a:ea typeface="Roboto" panose="02000000000000000000" pitchFamily="2" charset="0"/>
                  </a:rPr>
                  <a:t> L.T.</a:t>
                </a:r>
              </a:p>
              <a:p>
                <a:pPr algn="ctr">
                  <a:lnSpc>
                    <a:spcPct val="100000"/>
                  </a:lnSpc>
                  <a:spcBef>
                    <a:spcPct val="30000"/>
                  </a:spcBef>
                  <a:spcAft>
                    <a:spcPct val="0"/>
                  </a:spcAft>
                  <a:buClrTx/>
                  <a:buSzTx/>
                  <a:buFontTx/>
                  <a:buNone/>
                </a:pPr>
                <a:r>
                  <a:rPr lang="en-US" altLang="en-US" sz="1000" b="0">
                    <a:latin typeface="Roboto" panose="02000000000000000000" pitchFamily="2" charset="0"/>
                    <a:ea typeface="Roboto" panose="02000000000000000000" pitchFamily="2" charset="0"/>
                  </a:rPr>
                  <a:t>Processing Time</a:t>
                </a:r>
              </a:p>
            </p:txBody>
          </p:sp>
          <p:sp>
            <p:nvSpPr>
              <p:cNvPr id="94" name="Line 87">
                <a:extLst>
                  <a:ext uri="{FF2B5EF4-FFF2-40B4-BE49-F238E27FC236}">
                    <a16:creationId xmlns:a16="http://schemas.microsoft.com/office/drawing/2014/main" id="{FE6E27ED-105B-92AF-8353-4EFD8E594668}"/>
                  </a:ext>
                </a:extLst>
              </p:cNvPr>
              <p:cNvSpPr>
                <a:spLocks noChangeShapeType="1"/>
              </p:cNvSpPr>
              <p:nvPr/>
            </p:nvSpPr>
            <p:spPr bwMode="auto">
              <a:xfrm>
                <a:off x="5072" y="3693"/>
                <a:ext cx="544" cy="6"/>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95" name="AutoShape 88">
              <a:extLst>
                <a:ext uri="{FF2B5EF4-FFF2-40B4-BE49-F238E27FC236}">
                  <a16:creationId xmlns:a16="http://schemas.microsoft.com/office/drawing/2014/main" id="{7DD1BBB9-69E9-ED2E-73FB-B0DEEB62C2F2}"/>
                </a:ext>
              </a:extLst>
            </p:cNvPr>
            <p:cNvSpPr>
              <a:spLocks noChangeArrowheads="1"/>
            </p:cNvSpPr>
            <p:nvPr/>
          </p:nvSpPr>
          <p:spPr bwMode="auto">
            <a:xfrm>
              <a:off x="903288" y="5305425"/>
              <a:ext cx="7664450" cy="600075"/>
            </a:xfrm>
            <a:prstGeom prst="roundRect">
              <a:avLst>
                <a:gd name="adj" fmla="val 16667"/>
              </a:avLst>
            </a:prstGeom>
            <a:noFill/>
            <a:ln w="12700">
              <a:solidFill>
                <a:srgbClr val="FF0000"/>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Text Box 89">
              <a:extLst>
                <a:ext uri="{FF2B5EF4-FFF2-40B4-BE49-F238E27FC236}">
                  <a16:creationId xmlns:a16="http://schemas.microsoft.com/office/drawing/2014/main" id="{CC3EC4FB-74FB-A169-8341-27A44613A887}"/>
                </a:ext>
              </a:extLst>
            </p:cNvPr>
            <p:cNvSpPr txBox="1">
              <a:spLocks noChangeArrowheads="1"/>
            </p:cNvSpPr>
            <p:nvPr/>
          </p:nvSpPr>
          <p:spPr bwMode="auto">
            <a:xfrm>
              <a:off x="3168650" y="4940300"/>
              <a:ext cx="23590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latin typeface="Roboto" panose="02000000000000000000" pitchFamily="2" charset="0"/>
                  <a:ea typeface="Roboto" panose="02000000000000000000" pitchFamily="2" charset="0"/>
                </a:rPr>
                <a:t>Processes and Data Blocks</a:t>
              </a:r>
            </a:p>
          </p:txBody>
        </p:sp>
        <p:sp>
          <p:nvSpPr>
            <p:cNvPr id="97" name="Text Box 90">
              <a:extLst>
                <a:ext uri="{FF2B5EF4-FFF2-40B4-BE49-F238E27FC236}">
                  <a16:creationId xmlns:a16="http://schemas.microsoft.com/office/drawing/2014/main" id="{17DB1D39-C029-BC66-EAB8-19508EF41B3F}"/>
                </a:ext>
              </a:extLst>
            </p:cNvPr>
            <p:cNvSpPr txBox="1">
              <a:spLocks noChangeArrowheads="1"/>
            </p:cNvSpPr>
            <p:nvPr/>
          </p:nvSpPr>
          <p:spPr bwMode="auto">
            <a:xfrm>
              <a:off x="2743200" y="5611813"/>
              <a:ext cx="3762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b="0">
                  <a:solidFill>
                    <a:srgbClr val="FF0000"/>
                  </a:solidFill>
                  <a:latin typeface="Roboto" panose="02000000000000000000" pitchFamily="2" charset="0"/>
                  <a:ea typeface="Roboto" panose="02000000000000000000" pitchFamily="2" charset="0"/>
                </a:rPr>
                <a:t>Lead Time and Processing Time Calculations</a:t>
              </a:r>
            </a:p>
          </p:txBody>
        </p:sp>
        <p:grpSp>
          <p:nvGrpSpPr>
            <p:cNvPr id="98" name="Group 91">
              <a:extLst>
                <a:ext uri="{FF2B5EF4-FFF2-40B4-BE49-F238E27FC236}">
                  <a16:creationId xmlns:a16="http://schemas.microsoft.com/office/drawing/2014/main" id="{0BC2DC74-CC99-CF5B-60E7-D391132FA6FF}"/>
                </a:ext>
              </a:extLst>
            </p:cNvPr>
            <p:cNvGrpSpPr>
              <a:grpSpLocks/>
            </p:cNvGrpSpPr>
            <p:nvPr/>
          </p:nvGrpSpPr>
          <p:grpSpPr bwMode="auto">
            <a:xfrm>
              <a:off x="4906963" y="2373313"/>
              <a:ext cx="415925" cy="442912"/>
              <a:chOff x="1702" y="2990"/>
              <a:chExt cx="269" cy="301"/>
            </a:xfrm>
          </p:grpSpPr>
          <p:sp>
            <p:nvSpPr>
              <p:cNvPr id="99" name="Rectangle 92">
                <a:extLst>
                  <a:ext uri="{FF2B5EF4-FFF2-40B4-BE49-F238E27FC236}">
                    <a16:creationId xmlns:a16="http://schemas.microsoft.com/office/drawing/2014/main" id="{3E342BC4-D260-C651-A345-9D7175B3BC91}"/>
                  </a:ext>
                </a:extLst>
              </p:cNvPr>
              <p:cNvSpPr>
                <a:spLocks noChangeArrowheads="1"/>
              </p:cNvSpPr>
              <p:nvPr/>
            </p:nvSpPr>
            <p:spPr bwMode="auto">
              <a:xfrm>
                <a:off x="1702" y="2990"/>
                <a:ext cx="269" cy="301"/>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0" name="Line 93">
                <a:extLst>
                  <a:ext uri="{FF2B5EF4-FFF2-40B4-BE49-F238E27FC236}">
                    <a16:creationId xmlns:a16="http://schemas.microsoft.com/office/drawing/2014/main" id="{75C8FB38-D89F-7436-4544-C2E870A9B3F7}"/>
                  </a:ext>
                </a:extLst>
              </p:cNvPr>
              <p:cNvSpPr>
                <a:spLocks noChangeShapeType="1"/>
              </p:cNvSpPr>
              <p:nvPr/>
            </p:nvSpPr>
            <p:spPr bwMode="auto">
              <a:xfrm>
                <a:off x="1741" y="304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1" name="Line 94">
                <a:extLst>
                  <a:ext uri="{FF2B5EF4-FFF2-40B4-BE49-F238E27FC236}">
                    <a16:creationId xmlns:a16="http://schemas.microsoft.com/office/drawing/2014/main" id="{0C3F1057-BAB2-8E85-1F4B-F42BF5184375}"/>
                  </a:ext>
                </a:extLst>
              </p:cNvPr>
              <p:cNvSpPr>
                <a:spLocks noChangeShapeType="1"/>
              </p:cNvSpPr>
              <p:nvPr/>
            </p:nvSpPr>
            <p:spPr bwMode="auto">
              <a:xfrm>
                <a:off x="1741" y="3088"/>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2" name="Line 95">
                <a:extLst>
                  <a:ext uri="{FF2B5EF4-FFF2-40B4-BE49-F238E27FC236}">
                    <a16:creationId xmlns:a16="http://schemas.microsoft.com/office/drawing/2014/main" id="{4736B802-69EF-16FA-99EE-7E3A82F82501}"/>
                  </a:ext>
                </a:extLst>
              </p:cNvPr>
              <p:cNvSpPr>
                <a:spLocks noChangeShapeType="1"/>
              </p:cNvSpPr>
              <p:nvPr/>
            </p:nvSpPr>
            <p:spPr bwMode="auto">
              <a:xfrm>
                <a:off x="1741" y="3130"/>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3" name="Line 96">
                <a:extLst>
                  <a:ext uri="{FF2B5EF4-FFF2-40B4-BE49-F238E27FC236}">
                    <a16:creationId xmlns:a16="http://schemas.microsoft.com/office/drawing/2014/main" id="{BE189455-1244-14E9-6262-54D2EB1C1A9A}"/>
                  </a:ext>
                </a:extLst>
              </p:cNvPr>
              <p:cNvSpPr>
                <a:spLocks noChangeShapeType="1"/>
              </p:cNvSpPr>
              <p:nvPr/>
            </p:nvSpPr>
            <p:spPr bwMode="auto">
              <a:xfrm>
                <a:off x="1741" y="3172"/>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4" name="Line 97">
                <a:extLst>
                  <a:ext uri="{FF2B5EF4-FFF2-40B4-BE49-F238E27FC236}">
                    <a16:creationId xmlns:a16="http://schemas.microsoft.com/office/drawing/2014/main" id="{57ECEF72-7E81-D9A9-DC03-EB5108DAEF65}"/>
                  </a:ext>
                </a:extLst>
              </p:cNvPr>
              <p:cNvSpPr>
                <a:spLocks noChangeShapeType="1"/>
              </p:cNvSpPr>
              <p:nvPr/>
            </p:nvSpPr>
            <p:spPr bwMode="auto">
              <a:xfrm>
                <a:off x="1741" y="3214"/>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05" name="Line 98">
                <a:extLst>
                  <a:ext uri="{FF2B5EF4-FFF2-40B4-BE49-F238E27FC236}">
                    <a16:creationId xmlns:a16="http://schemas.microsoft.com/office/drawing/2014/main" id="{916254D0-B51F-2CA2-7C63-B3020D1B4E68}"/>
                  </a:ext>
                </a:extLst>
              </p:cNvPr>
              <p:cNvSpPr>
                <a:spLocks noChangeShapeType="1"/>
              </p:cNvSpPr>
              <p:nvPr/>
            </p:nvSpPr>
            <p:spPr bwMode="auto">
              <a:xfrm>
                <a:off x="1741" y="3256"/>
                <a:ext cx="179"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cxnSp>
          <p:nvCxnSpPr>
            <p:cNvPr id="106" name="AutoShape 99">
              <a:extLst>
                <a:ext uri="{FF2B5EF4-FFF2-40B4-BE49-F238E27FC236}">
                  <a16:creationId xmlns:a16="http://schemas.microsoft.com/office/drawing/2014/main" id="{0189F08F-0081-B54F-8E5D-093536861118}"/>
                </a:ext>
              </a:extLst>
            </p:cNvPr>
            <p:cNvCxnSpPr>
              <a:cxnSpLocks noChangeShapeType="1"/>
              <a:stCxn id="76" idx="0"/>
            </p:cNvCxnSpPr>
            <p:nvPr/>
          </p:nvCxnSpPr>
          <p:spPr bwMode="auto">
            <a:xfrm rot="5400000" flipH="1">
              <a:off x="5188744" y="2024856"/>
              <a:ext cx="1616075" cy="1941513"/>
            </a:xfrm>
            <a:prstGeom prst="bentConnector2">
              <a:avLst/>
            </a:prstGeom>
            <a:noFill/>
            <a:ln w="381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107" name="AutoShape 101">
              <a:extLst>
                <a:ext uri="{FF2B5EF4-FFF2-40B4-BE49-F238E27FC236}">
                  <a16:creationId xmlns:a16="http://schemas.microsoft.com/office/drawing/2014/main" id="{AA1700F2-6C0B-0116-BE8A-C6FD433BC86E}"/>
                </a:ext>
              </a:extLst>
            </p:cNvPr>
            <p:cNvCxnSpPr>
              <a:cxnSpLocks noChangeShapeType="1"/>
            </p:cNvCxnSpPr>
            <p:nvPr/>
          </p:nvCxnSpPr>
          <p:spPr bwMode="auto">
            <a:xfrm rot="10800000" flipV="1">
              <a:off x="1520825" y="2187575"/>
              <a:ext cx="2587625" cy="1784350"/>
            </a:xfrm>
            <a:prstGeom prst="bentConnector3">
              <a:avLst>
                <a:gd name="adj1" fmla="val 100713"/>
              </a:avLst>
            </a:prstGeom>
            <a:noFill/>
            <a:ln w="381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grpSp>
          <p:nvGrpSpPr>
            <p:cNvPr id="108" name="Group 102">
              <a:extLst>
                <a:ext uri="{FF2B5EF4-FFF2-40B4-BE49-F238E27FC236}">
                  <a16:creationId xmlns:a16="http://schemas.microsoft.com/office/drawing/2014/main" id="{45F7D29C-5F6C-7F83-A8CC-3D1F1FD1654D}"/>
                </a:ext>
              </a:extLst>
            </p:cNvPr>
            <p:cNvGrpSpPr>
              <a:grpSpLocks/>
            </p:cNvGrpSpPr>
            <p:nvPr/>
          </p:nvGrpSpPr>
          <p:grpSpPr bwMode="auto">
            <a:xfrm flipV="1">
              <a:off x="4368800" y="3484563"/>
              <a:ext cx="261938" cy="428625"/>
              <a:chOff x="636" y="2054"/>
              <a:chExt cx="200" cy="298"/>
            </a:xfrm>
          </p:grpSpPr>
          <p:sp>
            <p:nvSpPr>
              <p:cNvPr id="109" name="Line 103">
                <a:extLst>
                  <a:ext uri="{FF2B5EF4-FFF2-40B4-BE49-F238E27FC236}">
                    <a16:creationId xmlns:a16="http://schemas.microsoft.com/office/drawing/2014/main" id="{689C6A7E-E8D1-93E8-EED1-DC2BE149CABA}"/>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0" name="Line 104">
                <a:extLst>
                  <a:ext uri="{FF2B5EF4-FFF2-40B4-BE49-F238E27FC236}">
                    <a16:creationId xmlns:a16="http://schemas.microsoft.com/office/drawing/2014/main" id="{9A5E8AB0-0F1F-9FFF-14BA-306282BD346B}"/>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1" name="Line 105">
                <a:extLst>
                  <a:ext uri="{FF2B5EF4-FFF2-40B4-BE49-F238E27FC236}">
                    <a16:creationId xmlns:a16="http://schemas.microsoft.com/office/drawing/2014/main" id="{EF2865C3-027D-FDC5-7C73-B5B028ACE748}"/>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12" name="Group 106">
              <a:extLst>
                <a:ext uri="{FF2B5EF4-FFF2-40B4-BE49-F238E27FC236}">
                  <a16:creationId xmlns:a16="http://schemas.microsoft.com/office/drawing/2014/main" id="{00827833-D208-D80E-AA0A-890251F89430}"/>
                </a:ext>
              </a:extLst>
            </p:cNvPr>
            <p:cNvGrpSpPr>
              <a:grpSpLocks/>
            </p:cNvGrpSpPr>
            <p:nvPr/>
          </p:nvGrpSpPr>
          <p:grpSpPr bwMode="auto">
            <a:xfrm>
              <a:off x="2787650" y="3459163"/>
              <a:ext cx="652463" cy="428625"/>
              <a:chOff x="636" y="2054"/>
              <a:chExt cx="200" cy="298"/>
            </a:xfrm>
          </p:grpSpPr>
          <p:sp>
            <p:nvSpPr>
              <p:cNvPr id="113" name="Line 107">
                <a:extLst>
                  <a:ext uri="{FF2B5EF4-FFF2-40B4-BE49-F238E27FC236}">
                    <a16:creationId xmlns:a16="http://schemas.microsoft.com/office/drawing/2014/main" id="{090925FC-E2CD-D679-9B2A-974C0E6E9F93}"/>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4" name="Line 108">
                <a:extLst>
                  <a:ext uri="{FF2B5EF4-FFF2-40B4-BE49-F238E27FC236}">
                    <a16:creationId xmlns:a16="http://schemas.microsoft.com/office/drawing/2014/main" id="{52C33767-5969-7F5C-CC54-334D395F3E4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5" name="Line 109">
                <a:extLst>
                  <a:ext uri="{FF2B5EF4-FFF2-40B4-BE49-F238E27FC236}">
                    <a16:creationId xmlns:a16="http://schemas.microsoft.com/office/drawing/2014/main" id="{5FD1241A-5CE1-133E-B6B4-F57731DC9D47}"/>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16" name="Group 110">
              <a:extLst>
                <a:ext uri="{FF2B5EF4-FFF2-40B4-BE49-F238E27FC236}">
                  <a16:creationId xmlns:a16="http://schemas.microsoft.com/office/drawing/2014/main" id="{674C8C89-A99D-BE51-0E55-19319EE33ED7}"/>
                </a:ext>
              </a:extLst>
            </p:cNvPr>
            <p:cNvGrpSpPr>
              <a:grpSpLocks/>
            </p:cNvGrpSpPr>
            <p:nvPr/>
          </p:nvGrpSpPr>
          <p:grpSpPr bwMode="auto">
            <a:xfrm flipH="1">
              <a:off x="5441950" y="3449638"/>
              <a:ext cx="661988" cy="438150"/>
              <a:chOff x="636" y="2054"/>
              <a:chExt cx="200" cy="298"/>
            </a:xfrm>
          </p:grpSpPr>
          <p:sp>
            <p:nvSpPr>
              <p:cNvPr id="117" name="Line 111">
                <a:extLst>
                  <a:ext uri="{FF2B5EF4-FFF2-40B4-BE49-F238E27FC236}">
                    <a16:creationId xmlns:a16="http://schemas.microsoft.com/office/drawing/2014/main" id="{41E0FBA6-DF65-8C00-8DFC-537E71A873BA}"/>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8" name="Line 112">
                <a:extLst>
                  <a:ext uri="{FF2B5EF4-FFF2-40B4-BE49-F238E27FC236}">
                    <a16:creationId xmlns:a16="http://schemas.microsoft.com/office/drawing/2014/main" id="{13EC82D9-02D7-ADF6-03F1-A4D1D1796EA2}"/>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19" name="Line 113">
                <a:extLst>
                  <a:ext uri="{FF2B5EF4-FFF2-40B4-BE49-F238E27FC236}">
                    <a16:creationId xmlns:a16="http://schemas.microsoft.com/office/drawing/2014/main" id="{261ADA83-6B04-67F9-1AED-5CFE7D6B00A4}"/>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20" name="Group 114">
              <a:extLst>
                <a:ext uri="{FF2B5EF4-FFF2-40B4-BE49-F238E27FC236}">
                  <a16:creationId xmlns:a16="http://schemas.microsoft.com/office/drawing/2014/main" id="{359DFA7F-9004-752A-9A28-145D41A6ABD4}"/>
                </a:ext>
              </a:extLst>
            </p:cNvPr>
            <p:cNvGrpSpPr>
              <a:grpSpLocks/>
            </p:cNvGrpSpPr>
            <p:nvPr/>
          </p:nvGrpSpPr>
          <p:grpSpPr bwMode="auto">
            <a:xfrm flipH="1">
              <a:off x="4737100" y="3449638"/>
              <a:ext cx="307975" cy="438150"/>
              <a:chOff x="636" y="2054"/>
              <a:chExt cx="200" cy="298"/>
            </a:xfrm>
          </p:grpSpPr>
          <p:sp>
            <p:nvSpPr>
              <p:cNvPr id="121" name="Line 115">
                <a:extLst>
                  <a:ext uri="{FF2B5EF4-FFF2-40B4-BE49-F238E27FC236}">
                    <a16:creationId xmlns:a16="http://schemas.microsoft.com/office/drawing/2014/main" id="{14E64D36-A92B-58B2-997D-76227F39D257}"/>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2" name="Line 116">
                <a:extLst>
                  <a:ext uri="{FF2B5EF4-FFF2-40B4-BE49-F238E27FC236}">
                    <a16:creationId xmlns:a16="http://schemas.microsoft.com/office/drawing/2014/main" id="{DD5B345E-6ABE-5346-11D9-3DB445722485}"/>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3" name="Line 117">
                <a:extLst>
                  <a:ext uri="{FF2B5EF4-FFF2-40B4-BE49-F238E27FC236}">
                    <a16:creationId xmlns:a16="http://schemas.microsoft.com/office/drawing/2014/main" id="{6C0BBE08-0DBD-3C9C-3DD3-81BD9B954828}"/>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24" name="Group 118">
              <a:extLst>
                <a:ext uri="{FF2B5EF4-FFF2-40B4-BE49-F238E27FC236}">
                  <a16:creationId xmlns:a16="http://schemas.microsoft.com/office/drawing/2014/main" id="{996D4C87-7A80-0909-E32F-80956B85F7E7}"/>
                </a:ext>
              </a:extLst>
            </p:cNvPr>
            <p:cNvGrpSpPr>
              <a:grpSpLocks/>
            </p:cNvGrpSpPr>
            <p:nvPr/>
          </p:nvGrpSpPr>
          <p:grpSpPr bwMode="auto">
            <a:xfrm>
              <a:off x="3932238" y="3449638"/>
              <a:ext cx="309562" cy="438150"/>
              <a:chOff x="636" y="2054"/>
              <a:chExt cx="200" cy="298"/>
            </a:xfrm>
          </p:grpSpPr>
          <p:sp>
            <p:nvSpPr>
              <p:cNvPr id="125" name="Line 119">
                <a:extLst>
                  <a:ext uri="{FF2B5EF4-FFF2-40B4-BE49-F238E27FC236}">
                    <a16:creationId xmlns:a16="http://schemas.microsoft.com/office/drawing/2014/main" id="{DEB3B5F2-28F6-CCB1-0EBE-703618E3380A}"/>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6" name="Line 120">
                <a:extLst>
                  <a:ext uri="{FF2B5EF4-FFF2-40B4-BE49-F238E27FC236}">
                    <a16:creationId xmlns:a16="http://schemas.microsoft.com/office/drawing/2014/main" id="{170B19EE-4367-D12F-EF06-9BC95298D869}"/>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27" name="Line 121">
                <a:extLst>
                  <a:ext uri="{FF2B5EF4-FFF2-40B4-BE49-F238E27FC236}">
                    <a16:creationId xmlns:a16="http://schemas.microsoft.com/office/drawing/2014/main" id="{3C262DBB-A4C6-B846-0164-DD866C03441E}"/>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28" name="Group 122">
              <a:extLst>
                <a:ext uri="{FF2B5EF4-FFF2-40B4-BE49-F238E27FC236}">
                  <a16:creationId xmlns:a16="http://schemas.microsoft.com/office/drawing/2014/main" id="{D29B593D-09D3-F04C-231F-95BB4FBA6954}"/>
                </a:ext>
              </a:extLst>
            </p:cNvPr>
            <p:cNvGrpSpPr>
              <a:grpSpLocks/>
            </p:cNvGrpSpPr>
            <p:nvPr/>
          </p:nvGrpSpPr>
          <p:grpSpPr bwMode="auto">
            <a:xfrm flipH="1" flipV="1">
              <a:off x="3498850" y="3440113"/>
              <a:ext cx="276225" cy="473075"/>
              <a:chOff x="636" y="2054"/>
              <a:chExt cx="200" cy="298"/>
            </a:xfrm>
          </p:grpSpPr>
          <p:sp>
            <p:nvSpPr>
              <p:cNvPr id="129" name="Line 123">
                <a:extLst>
                  <a:ext uri="{FF2B5EF4-FFF2-40B4-BE49-F238E27FC236}">
                    <a16:creationId xmlns:a16="http://schemas.microsoft.com/office/drawing/2014/main" id="{724E74EF-88B7-BA7B-AF50-D01DD44AD84B}"/>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0" name="Line 124">
                <a:extLst>
                  <a:ext uri="{FF2B5EF4-FFF2-40B4-BE49-F238E27FC236}">
                    <a16:creationId xmlns:a16="http://schemas.microsoft.com/office/drawing/2014/main" id="{B7FDC3A7-B0C3-59AA-AF20-2DCBC706843F}"/>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1" name="Line 125">
                <a:extLst>
                  <a:ext uri="{FF2B5EF4-FFF2-40B4-BE49-F238E27FC236}">
                    <a16:creationId xmlns:a16="http://schemas.microsoft.com/office/drawing/2014/main" id="{B81AA073-C726-8913-BA38-35C9709FE34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2" name="Group 126">
              <a:extLst>
                <a:ext uri="{FF2B5EF4-FFF2-40B4-BE49-F238E27FC236}">
                  <a16:creationId xmlns:a16="http://schemas.microsoft.com/office/drawing/2014/main" id="{83CEA7D0-D8A6-66E6-4C2E-63044A227904}"/>
                </a:ext>
              </a:extLst>
            </p:cNvPr>
            <p:cNvGrpSpPr>
              <a:grpSpLocks/>
            </p:cNvGrpSpPr>
            <p:nvPr/>
          </p:nvGrpSpPr>
          <p:grpSpPr bwMode="auto">
            <a:xfrm flipV="1">
              <a:off x="5197475" y="3476625"/>
              <a:ext cx="544513" cy="428625"/>
              <a:chOff x="636" y="2054"/>
              <a:chExt cx="200" cy="298"/>
            </a:xfrm>
          </p:grpSpPr>
          <p:sp>
            <p:nvSpPr>
              <p:cNvPr id="133" name="Line 127">
                <a:extLst>
                  <a:ext uri="{FF2B5EF4-FFF2-40B4-BE49-F238E27FC236}">
                    <a16:creationId xmlns:a16="http://schemas.microsoft.com/office/drawing/2014/main" id="{4E79393E-3A3C-9580-10A4-E3A7FE6B42CA}"/>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4" name="Line 128">
                <a:extLst>
                  <a:ext uri="{FF2B5EF4-FFF2-40B4-BE49-F238E27FC236}">
                    <a16:creationId xmlns:a16="http://schemas.microsoft.com/office/drawing/2014/main" id="{B7B01725-2B4A-7C54-4A52-9EB65F12BDC3}"/>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5" name="Line 129">
                <a:extLst>
                  <a:ext uri="{FF2B5EF4-FFF2-40B4-BE49-F238E27FC236}">
                    <a16:creationId xmlns:a16="http://schemas.microsoft.com/office/drawing/2014/main" id="{791E5799-C64E-C077-A73A-38C2DFB0FED4}"/>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6" name="Group 130">
              <a:extLst>
                <a:ext uri="{FF2B5EF4-FFF2-40B4-BE49-F238E27FC236}">
                  <a16:creationId xmlns:a16="http://schemas.microsoft.com/office/drawing/2014/main" id="{78EE2472-A8C0-C351-CA37-B061E903B286}"/>
                </a:ext>
              </a:extLst>
            </p:cNvPr>
            <p:cNvGrpSpPr>
              <a:grpSpLocks/>
            </p:cNvGrpSpPr>
            <p:nvPr/>
          </p:nvGrpSpPr>
          <p:grpSpPr bwMode="auto">
            <a:xfrm flipV="1">
              <a:off x="5648325" y="3422650"/>
              <a:ext cx="1125538" cy="438150"/>
              <a:chOff x="636" y="2054"/>
              <a:chExt cx="200" cy="298"/>
            </a:xfrm>
          </p:grpSpPr>
          <p:sp>
            <p:nvSpPr>
              <p:cNvPr id="137" name="Line 131">
                <a:extLst>
                  <a:ext uri="{FF2B5EF4-FFF2-40B4-BE49-F238E27FC236}">
                    <a16:creationId xmlns:a16="http://schemas.microsoft.com/office/drawing/2014/main" id="{7FDDF1F0-4374-4E2A-76A4-B1077631FD0D}"/>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8" name="Line 132">
                <a:extLst>
                  <a:ext uri="{FF2B5EF4-FFF2-40B4-BE49-F238E27FC236}">
                    <a16:creationId xmlns:a16="http://schemas.microsoft.com/office/drawing/2014/main" id="{E9E87BFC-0670-0564-CCED-52AB20AB79B0}"/>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9" name="Line 133">
                <a:extLst>
                  <a:ext uri="{FF2B5EF4-FFF2-40B4-BE49-F238E27FC236}">
                    <a16:creationId xmlns:a16="http://schemas.microsoft.com/office/drawing/2014/main" id="{E7C2FB18-687B-AEB9-533C-7880E676226F}"/>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40" name="Group 143">
              <a:extLst>
                <a:ext uri="{FF2B5EF4-FFF2-40B4-BE49-F238E27FC236}">
                  <a16:creationId xmlns:a16="http://schemas.microsoft.com/office/drawing/2014/main" id="{80D90E87-A074-AC2D-5310-44CABCB6AE4A}"/>
                </a:ext>
              </a:extLst>
            </p:cNvPr>
            <p:cNvGrpSpPr>
              <a:grpSpLocks/>
            </p:cNvGrpSpPr>
            <p:nvPr/>
          </p:nvGrpSpPr>
          <p:grpSpPr bwMode="auto">
            <a:xfrm>
              <a:off x="4254500" y="1879600"/>
              <a:ext cx="609600" cy="755650"/>
              <a:chOff x="2880" y="1152"/>
              <a:chExt cx="720" cy="1008"/>
            </a:xfrm>
          </p:grpSpPr>
          <p:sp>
            <p:nvSpPr>
              <p:cNvPr id="141" name="Rectangle 144">
                <a:extLst>
                  <a:ext uri="{FF2B5EF4-FFF2-40B4-BE49-F238E27FC236}">
                    <a16:creationId xmlns:a16="http://schemas.microsoft.com/office/drawing/2014/main" id="{E5A0E394-2ABA-9141-EAF2-0241590AEB6A}"/>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2" name="Rectangle 145">
                <a:extLst>
                  <a:ext uri="{FF2B5EF4-FFF2-40B4-BE49-F238E27FC236}">
                    <a16:creationId xmlns:a16="http://schemas.microsoft.com/office/drawing/2014/main" id="{3EC2C931-D30C-4C51-EA50-A7EEE69B8EB7}"/>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3" name="Rectangle 146">
                <a:extLst>
                  <a:ext uri="{FF2B5EF4-FFF2-40B4-BE49-F238E27FC236}">
                    <a16:creationId xmlns:a16="http://schemas.microsoft.com/office/drawing/2014/main" id="{76A7D1E8-34B1-7246-C5ED-770236116CFD}"/>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4" name="Rectangle 147">
                <a:extLst>
                  <a:ext uri="{FF2B5EF4-FFF2-40B4-BE49-F238E27FC236}">
                    <a16:creationId xmlns:a16="http://schemas.microsoft.com/office/drawing/2014/main" id="{DA84D3DB-5023-5198-B6B0-05CE1D753E35}"/>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5" name="Rectangle 148">
                <a:extLst>
                  <a:ext uri="{FF2B5EF4-FFF2-40B4-BE49-F238E27FC236}">
                    <a16:creationId xmlns:a16="http://schemas.microsoft.com/office/drawing/2014/main" id="{841943DD-2862-E482-5D7A-C0E9A168283E}"/>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6" name="Rectangle 149">
                <a:extLst>
                  <a:ext uri="{FF2B5EF4-FFF2-40B4-BE49-F238E27FC236}">
                    <a16:creationId xmlns:a16="http://schemas.microsoft.com/office/drawing/2014/main" id="{75A52EF6-8D75-4DB0-A472-4B2C5CBE9707}"/>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7" name="Rectangle 150">
                <a:extLst>
                  <a:ext uri="{FF2B5EF4-FFF2-40B4-BE49-F238E27FC236}">
                    <a16:creationId xmlns:a16="http://schemas.microsoft.com/office/drawing/2014/main" id="{3C432B5C-C894-E888-DF0D-BE2B3B4FE2BF}"/>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8" name="Rectangle 151">
                <a:extLst>
                  <a:ext uri="{FF2B5EF4-FFF2-40B4-BE49-F238E27FC236}">
                    <a16:creationId xmlns:a16="http://schemas.microsoft.com/office/drawing/2014/main" id="{822581A4-31B0-8AF6-B47D-2662B398C562}"/>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9" name="Rectangle 152">
                <a:extLst>
                  <a:ext uri="{FF2B5EF4-FFF2-40B4-BE49-F238E27FC236}">
                    <a16:creationId xmlns:a16="http://schemas.microsoft.com/office/drawing/2014/main" id="{8068224E-C380-F111-CDD2-DF0EFFC7926E}"/>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0" name="Rectangle 153">
                <a:extLst>
                  <a:ext uri="{FF2B5EF4-FFF2-40B4-BE49-F238E27FC236}">
                    <a16:creationId xmlns:a16="http://schemas.microsoft.com/office/drawing/2014/main" id="{6498F7DB-9AB1-F8CB-D18B-24C8F5911DF5}"/>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1" name="Rectangle 154">
                <a:extLst>
                  <a:ext uri="{FF2B5EF4-FFF2-40B4-BE49-F238E27FC236}">
                    <a16:creationId xmlns:a16="http://schemas.microsoft.com/office/drawing/2014/main" id="{F780AC42-2693-AE19-91D0-A1FC54BD9D71}"/>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2" name="Rectangle 155">
                <a:extLst>
                  <a:ext uri="{FF2B5EF4-FFF2-40B4-BE49-F238E27FC236}">
                    <a16:creationId xmlns:a16="http://schemas.microsoft.com/office/drawing/2014/main" id="{4A236E99-CF88-F9DD-985C-4ACCABB7F0E0}"/>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3" name="Rectangle 156">
                <a:extLst>
                  <a:ext uri="{FF2B5EF4-FFF2-40B4-BE49-F238E27FC236}">
                    <a16:creationId xmlns:a16="http://schemas.microsoft.com/office/drawing/2014/main" id="{B18C9AA6-7164-205A-7A2F-1652BA964941}"/>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4" name="Rectangle 157">
                <a:extLst>
                  <a:ext uri="{FF2B5EF4-FFF2-40B4-BE49-F238E27FC236}">
                    <a16:creationId xmlns:a16="http://schemas.microsoft.com/office/drawing/2014/main" id="{934CBE7C-16B9-4FDB-E2E1-3F3E97DFDC61}"/>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5" name="Rectangle 158">
                <a:extLst>
                  <a:ext uri="{FF2B5EF4-FFF2-40B4-BE49-F238E27FC236}">
                    <a16:creationId xmlns:a16="http://schemas.microsoft.com/office/drawing/2014/main" id="{CE863034-5031-F094-CFBC-F793B836A5E3}"/>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6" name="Rectangle 159">
                <a:extLst>
                  <a:ext uri="{FF2B5EF4-FFF2-40B4-BE49-F238E27FC236}">
                    <a16:creationId xmlns:a16="http://schemas.microsoft.com/office/drawing/2014/main" id="{5F447184-1986-76B6-9133-8B569F5CE2D6}"/>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7" name="Rectangle 160">
                <a:extLst>
                  <a:ext uri="{FF2B5EF4-FFF2-40B4-BE49-F238E27FC236}">
                    <a16:creationId xmlns:a16="http://schemas.microsoft.com/office/drawing/2014/main" id="{B4EA4A27-4D1B-B2F3-6496-8626B3C84DA8}"/>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8" name="Rectangle 161">
                <a:extLst>
                  <a:ext uri="{FF2B5EF4-FFF2-40B4-BE49-F238E27FC236}">
                    <a16:creationId xmlns:a16="http://schemas.microsoft.com/office/drawing/2014/main" id="{555D690E-5971-3B64-63CA-E76364D4EE8F}"/>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9" name="Rectangle 162">
                <a:extLst>
                  <a:ext uri="{FF2B5EF4-FFF2-40B4-BE49-F238E27FC236}">
                    <a16:creationId xmlns:a16="http://schemas.microsoft.com/office/drawing/2014/main" id="{D2161D5F-B7AC-BF58-55DE-29B7813F6CCA}"/>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0" name="Rectangle 163">
                <a:extLst>
                  <a:ext uri="{FF2B5EF4-FFF2-40B4-BE49-F238E27FC236}">
                    <a16:creationId xmlns:a16="http://schemas.microsoft.com/office/drawing/2014/main" id="{F46B3C74-A401-C6A1-A82D-248021811A9A}"/>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1" name="Rectangle 164">
                <a:extLst>
                  <a:ext uri="{FF2B5EF4-FFF2-40B4-BE49-F238E27FC236}">
                    <a16:creationId xmlns:a16="http://schemas.microsoft.com/office/drawing/2014/main" id="{44415267-1461-719D-1249-FEBA0B3A0F6D}"/>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2" name="Rectangle 165">
                <a:extLst>
                  <a:ext uri="{FF2B5EF4-FFF2-40B4-BE49-F238E27FC236}">
                    <a16:creationId xmlns:a16="http://schemas.microsoft.com/office/drawing/2014/main" id="{430F1029-28CE-4791-19EA-EDA5AAF426EF}"/>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3" name="Rectangle 166">
                <a:extLst>
                  <a:ext uri="{FF2B5EF4-FFF2-40B4-BE49-F238E27FC236}">
                    <a16:creationId xmlns:a16="http://schemas.microsoft.com/office/drawing/2014/main" id="{7005F4FC-C835-3B3E-B0F7-34AC53726175}"/>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4" name="Rectangle 167">
                <a:extLst>
                  <a:ext uri="{FF2B5EF4-FFF2-40B4-BE49-F238E27FC236}">
                    <a16:creationId xmlns:a16="http://schemas.microsoft.com/office/drawing/2014/main" id="{B1C96F04-C320-8671-5A1A-061E4A9F1AF2}"/>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5" name="Rectangle 168">
                <a:extLst>
                  <a:ext uri="{FF2B5EF4-FFF2-40B4-BE49-F238E27FC236}">
                    <a16:creationId xmlns:a16="http://schemas.microsoft.com/office/drawing/2014/main" id="{D3D8C4DE-DD96-459C-3E2A-11FD3DC34BEC}"/>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6" name="Rectangle 169">
                <a:extLst>
                  <a:ext uri="{FF2B5EF4-FFF2-40B4-BE49-F238E27FC236}">
                    <a16:creationId xmlns:a16="http://schemas.microsoft.com/office/drawing/2014/main" id="{BBBEBFE2-494B-C6BA-EA84-B76C3E696B78}"/>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7" name="Rectangle 170">
                <a:extLst>
                  <a:ext uri="{FF2B5EF4-FFF2-40B4-BE49-F238E27FC236}">
                    <a16:creationId xmlns:a16="http://schemas.microsoft.com/office/drawing/2014/main" id="{F567178A-50C7-A914-EA98-7A52FE134D5E}"/>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168" name="Group 171">
              <a:extLst>
                <a:ext uri="{FF2B5EF4-FFF2-40B4-BE49-F238E27FC236}">
                  <a16:creationId xmlns:a16="http://schemas.microsoft.com/office/drawing/2014/main" id="{DABEA47B-B097-4446-6DD3-8B26550AE1B4}"/>
                </a:ext>
              </a:extLst>
            </p:cNvPr>
            <p:cNvGrpSpPr>
              <a:grpSpLocks/>
            </p:cNvGrpSpPr>
            <p:nvPr/>
          </p:nvGrpSpPr>
          <p:grpSpPr bwMode="auto">
            <a:xfrm>
              <a:off x="1338263" y="3935413"/>
              <a:ext cx="381000" cy="336550"/>
              <a:chOff x="4122" y="1171"/>
              <a:chExt cx="240" cy="212"/>
            </a:xfrm>
          </p:grpSpPr>
          <p:sp>
            <p:nvSpPr>
              <p:cNvPr id="169" name="Rectangle 172">
                <a:extLst>
                  <a:ext uri="{FF2B5EF4-FFF2-40B4-BE49-F238E27FC236}">
                    <a16:creationId xmlns:a16="http://schemas.microsoft.com/office/drawing/2014/main" id="{0F61233F-31DF-671A-291A-CF4B235C20AE}"/>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0" name="Text Box 173">
                <a:extLst>
                  <a:ext uri="{FF2B5EF4-FFF2-40B4-BE49-F238E27FC236}">
                    <a16:creationId xmlns:a16="http://schemas.microsoft.com/office/drawing/2014/main" id="{E6B66B73-E313-9C1A-143A-D144C5A8F3B4}"/>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171" name="AutoShape 174">
                <a:extLst>
                  <a:ext uri="{FF2B5EF4-FFF2-40B4-BE49-F238E27FC236}">
                    <a16:creationId xmlns:a16="http://schemas.microsoft.com/office/drawing/2014/main" id="{57FE4F7C-EA99-8D49-D405-631CF6840B0D}"/>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2" name="AutoShape 175">
                <a:extLst>
                  <a:ext uri="{FF2B5EF4-FFF2-40B4-BE49-F238E27FC236}">
                    <a16:creationId xmlns:a16="http://schemas.microsoft.com/office/drawing/2014/main" id="{71068652-F8EF-6E37-E957-EF680812AD8D}"/>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3" name="AutoShape 176">
                <a:extLst>
                  <a:ext uri="{FF2B5EF4-FFF2-40B4-BE49-F238E27FC236}">
                    <a16:creationId xmlns:a16="http://schemas.microsoft.com/office/drawing/2014/main" id="{1CE59F6A-A94D-308C-AB1E-B4FAAFABAD8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174" name="Group 177">
              <a:extLst>
                <a:ext uri="{FF2B5EF4-FFF2-40B4-BE49-F238E27FC236}">
                  <a16:creationId xmlns:a16="http://schemas.microsoft.com/office/drawing/2014/main" id="{1DCF836E-73ED-E2D6-69EA-C90DCBA24502}"/>
                </a:ext>
              </a:extLst>
            </p:cNvPr>
            <p:cNvGrpSpPr>
              <a:grpSpLocks/>
            </p:cNvGrpSpPr>
            <p:nvPr/>
          </p:nvGrpSpPr>
          <p:grpSpPr bwMode="auto">
            <a:xfrm>
              <a:off x="2938463" y="3935413"/>
              <a:ext cx="381000" cy="336550"/>
              <a:chOff x="4122" y="1171"/>
              <a:chExt cx="240" cy="212"/>
            </a:xfrm>
          </p:grpSpPr>
          <p:sp>
            <p:nvSpPr>
              <p:cNvPr id="175" name="Rectangle 178">
                <a:extLst>
                  <a:ext uri="{FF2B5EF4-FFF2-40B4-BE49-F238E27FC236}">
                    <a16:creationId xmlns:a16="http://schemas.microsoft.com/office/drawing/2014/main" id="{01E21499-D4C7-4835-6F26-CAAB4FE814A1}"/>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6" name="Text Box 179">
                <a:extLst>
                  <a:ext uri="{FF2B5EF4-FFF2-40B4-BE49-F238E27FC236}">
                    <a16:creationId xmlns:a16="http://schemas.microsoft.com/office/drawing/2014/main" id="{1C8AB340-8D21-8DA2-C1E3-0BB6159DB5BD}"/>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177" name="AutoShape 180">
                <a:extLst>
                  <a:ext uri="{FF2B5EF4-FFF2-40B4-BE49-F238E27FC236}">
                    <a16:creationId xmlns:a16="http://schemas.microsoft.com/office/drawing/2014/main" id="{25115846-697C-9F3B-8D23-756586919F73}"/>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8" name="AutoShape 181">
                <a:extLst>
                  <a:ext uri="{FF2B5EF4-FFF2-40B4-BE49-F238E27FC236}">
                    <a16:creationId xmlns:a16="http://schemas.microsoft.com/office/drawing/2014/main" id="{6E9718C4-3732-4C93-3C67-68EB85729196}"/>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9" name="AutoShape 182">
                <a:extLst>
                  <a:ext uri="{FF2B5EF4-FFF2-40B4-BE49-F238E27FC236}">
                    <a16:creationId xmlns:a16="http://schemas.microsoft.com/office/drawing/2014/main" id="{CEE48857-E69D-E67B-948F-D4D1444BD7BE}"/>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180" name="Group 183">
              <a:extLst>
                <a:ext uri="{FF2B5EF4-FFF2-40B4-BE49-F238E27FC236}">
                  <a16:creationId xmlns:a16="http://schemas.microsoft.com/office/drawing/2014/main" id="{E65A194C-DC6E-F349-6765-7F10EFE2001A}"/>
                </a:ext>
              </a:extLst>
            </p:cNvPr>
            <p:cNvGrpSpPr>
              <a:grpSpLocks/>
            </p:cNvGrpSpPr>
            <p:nvPr/>
          </p:nvGrpSpPr>
          <p:grpSpPr bwMode="auto">
            <a:xfrm>
              <a:off x="4068763" y="3935413"/>
              <a:ext cx="381000" cy="336550"/>
              <a:chOff x="4122" y="1171"/>
              <a:chExt cx="240" cy="212"/>
            </a:xfrm>
          </p:grpSpPr>
          <p:sp>
            <p:nvSpPr>
              <p:cNvPr id="181" name="Rectangle 184">
                <a:extLst>
                  <a:ext uri="{FF2B5EF4-FFF2-40B4-BE49-F238E27FC236}">
                    <a16:creationId xmlns:a16="http://schemas.microsoft.com/office/drawing/2014/main" id="{E377320C-9C13-F14D-AA51-BF0DAB6116EC}"/>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2" name="Text Box 185">
                <a:extLst>
                  <a:ext uri="{FF2B5EF4-FFF2-40B4-BE49-F238E27FC236}">
                    <a16:creationId xmlns:a16="http://schemas.microsoft.com/office/drawing/2014/main" id="{3546183A-640D-7FF1-E325-6A3939EB6953}"/>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183" name="AutoShape 186">
                <a:extLst>
                  <a:ext uri="{FF2B5EF4-FFF2-40B4-BE49-F238E27FC236}">
                    <a16:creationId xmlns:a16="http://schemas.microsoft.com/office/drawing/2014/main" id="{CDDBC943-656E-F3BE-723A-7871811582EE}"/>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4" name="AutoShape 187">
                <a:extLst>
                  <a:ext uri="{FF2B5EF4-FFF2-40B4-BE49-F238E27FC236}">
                    <a16:creationId xmlns:a16="http://schemas.microsoft.com/office/drawing/2014/main" id="{905B664B-580A-D7B6-EA7A-55BD5DF41CB4}"/>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5" name="AutoShape 188">
                <a:extLst>
                  <a:ext uri="{FF2B5EF4-FFF2-40B4-BE49-F238E27FC236}">
                    <a16:creationId xmlns:a16="http://schemas.microsoft.com/office/drawing/2014/main" id="{EE27B884-C989-A6FC-5FF9-CAE1165CD73B}"/>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186" name="Group 189">
              <a:extLst>
                <a:ext uri="{FF2B5EF4-FFF2-40B4-BE49-F238E27FC236}">
                  <a16:creationId xmlns:a16="http://schemas.microsoft.com/office/drawing/2014/main" id="{F4D58A3F-0351-3DBE-3B62-843110D8B47E}"/>
                </a:ext>
              </a:extLst>
            </p:cNvPr>
            <p:cNvGrpSpPr>
              <a:grpSpLocks/>
            </p:cNvGrpSpPr>
            <p:nvPr/>
          </p:nvGrpSpPr>
          <p:grpSpPr bwMode="auto">
            <a:xfrm>
              <a:off x="5148263" y="3935413"/>
              <a:ext cx="381000" cy="336550"/>
              <a:chOff x="4122" y="1171"/>
              <a:chExt cx="240" cy="212"/>
            </a:xfrm>
          </p:grpSpPr>
          <p:sp>
            <p:nvSpPr>
              <p:cNvPr id="187" name="Rectangle 190">
                <a:extLst>
                  <a:ext uri="{FF2B5EF4-FFF2-40B4-BE49-F238E27FC236}">
                    <a16:creationId xmlns:a16="http://schemas.microsoft.com/office/drawing/2014/main" id="{9794B7E0-8C3C-53E0-2DFD-6A9DA5EC048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8" name="Text Box 191">
                <a:extLst>
                  <a:ext uri="{FF2B5EF4-FFF2-40B4-BE49-F238E27FC236}">
                    <a16:creationId xmlns:a16="http://schemas.microsoft.com/office/drawing/2014/main" id="{FCA92A54-408F-096C-2BB8-112B041911CF}"/>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189" name="AutoShape 192">
                <a:extLst>
                  <a:ext uri="{FF2B5EF4-FFF2-40B4-BE49-F238E27FC236}">
                    <a16:creationId xmlns:a16="http://schemas.microsoft.com/office/drawing/2014/main" id="{4DD2E6DB-0F74-E39C-E68A-904B3CCF7435}"/>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0" name="AutoShape 193">
                <a:extLst>
                  <a:ext uri="{FF2B5EF4-FFF2-40B4-BE49-F238E27FC236}">
                    <a16:creationId xmlns:a16="http://schemas.microsoft.com/office/drawing/2014/main" id="{18DAA3EE-5EFF-8851-8D9C-55174092A6A5}"/>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1" name="AutoShape 194">
                <a:extLst>
                  <a:ext uri="{FF2B5EF4-FFF2-40B4-BE49-F238E27FC236}">
                    <a16:creationId xmlns:a16="http://schemas.microsoft.com/office/drawing/2014/main" id="{350EC25A-65ED-525A-9838-F938D153E751}"/>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192" name="Group 195">
              <a:extLst>
                <a:ext uri="{FF2B5EF4-FFF2-40B4-BE49-F238E27FC236}">
                  <a16:creationId xmlns:a16="http://schemas.microsoft.com/office/drawing/2014/main" id="{F0A29D54-E51B-2C22-5678-29681C8E6745}"/>
                </a:ext>
              </a:extLst>
            </p:cNvPr>
            <p:cNvGrpSpPr>
              <a:grpSpLocks/>
            </p:cNvGrpSpPr>
            <p:nvPr/>
          </p:nvGrpSpPr>
          <p:grpSpPr bwMode="auto">
            <a:xfrm>
              <a:off x="6253163" y="3935413"/>
              <a:ext cx="381000" cy="336550"/>
              <a:chOff x="4122" y="1171"/>
              <a:chExt cx="240" cy="212"/>
            </a:xfrm>
          </p:grpSpPr>
          <p:sp>
            <p:nvSpPr>
              <p:cNvPr id="193" name="Rectangle 196">
                <a:extLst>
                  <a:ext uri="{FF2B5EF4-FFF2-40B4-BE49-F238E27FC236}">
                    <a16:creationId xmlns:a16="http://schemas.microsoft.com/office/drawing/2014/main" id="{98FB66F4-C243-8423-D018-2DB75495B90C}"/>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4" name="Text Box 197">
                <a:extLst>
                  <a:ext uri="{FF2B5EF4-FFF2-40B4-BE49-F238E27FC236}">
                    <a16:creationId xmlns:a16="http://schemas.microsoft.com/office/drawing/2014/main" id="{69EDD226-6BB7-DFB7-2473-8B80A8416A0A}"/>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195" name="AutoShape 198">
                <a:extLst>
                  <a:ext uri="{FF2B5EF4-FFF2-40B4-BE49-F238E27FC236}">
                    <a16:creationId xmlns:a16="http://schemas.microsoft.com/office/drawing/2014/main" id="{2D2C4186-8CA4-E975-B0D0-7357AF97C6D9}"/>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6" name="AutoShape 199">
                <a:extLst>
                  <a:ext uri="{FF2B5EF4-FFF2-40B4-BE49-F238E27FC236}">
                    <a16:creationId xmlns:a16="http://schemas.microsoft.com/office/drawing/2014/main" id="{8F419F3D-39F8-23BE-4A28-30EE94142B28}"/>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7" name="AutoShape 200">
                <a:extLst>
                  <a:ext uri="{FF2B5EF4-FFF2-40B4-BE49-F238E27FC236}">
                    <a16:creationId xmlns:a16="http://schemas.microsoft.com/office/drawing/2014/main" id="{C2837C1C-ABE0-DDAE-0660-3DD806D60018}"/>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spTree>
    <p:extLst>
      <p:ext uri="{BB962C8B-B14F-4D97-AF65-F5344CB8AC3E}">
        <p14:creationId xmlns:p14="http://schemas.microsoft.com/office/powerpoint/2010/main" val="233031289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Current State Map Drawing 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27</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an accurate Current State Value Stream Map from case study example data.</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Read through the case study data handout for </a:t>
            </a:r>
            <a:b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Great American Golf. Make notes where needed.</a:t>
            </a:r>
          </a:p>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instructor will lead a step-by-step discussion of translating the case study data into a Current State Map.</a:t>
            </a:r>
          </a:p>
          <a:p>
            <a:pPr marL="0" marR="0" indent="0" algn="l" defTabSz="584200" rtl="0" fontAlgn="auto" latinLnBrk="0" hangingPunct="0">
              <a:lnSpc>
                <a:spcPct val="100000"/>
              </a:lnSpc>
              <a:spcBef>
                <a:spcPts val="0"/>
              </a:spcBef>
              <a:spcAft>
                <a:spcPts val="0"/>
              </a:spcAft>
              <a:buClrTx/>
              <a:buSzTx/>
              <a:buFontTx/>
              <a:buNone/>
              <a:tabLst/>
            </a:pPr>
            <a:r>
              <a:rPr kumimoji="0" lang="en-US" sz="15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11x17” paper and pencil to draw the Current State Map along with the instructor. </a:t>
            </a:r>
          </a:p>
          <a:p>
            <a:pPr marL="0" marR="0" indent="0" algn="l" defTabSz="584200" rtl="0" fontAlgn="auto" latinLnBrk="0" hangingPunct="0">
              <a:lnSpc>
                <a:spcPct val="100000"/>
              </a:lnSpc>
              <a:spcBef>
                <a:spcPts val="0"/>
              </a:spcBef>
              <a:spcAft>
                <a:spcPts val="0"/>
              </a:spcAft>
              <a:buClrTx/>
              <a:buSzTx/>
              <a:buFontTx/>
              <a:buNone/>
              <a:tabLst/>
            </a:pPr>
            <a:r>
              <a:rPr kumimoji="0" lang="en-US" sz="15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NOTE: KEEP YOUR COMPLETED MAP FOR</a:t>
            </a:r>
            <a:br>
              <a:rPr kumimoji="0" lang="en-US" sz="15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5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LATER EXERCISE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45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map for completeness, </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proper form and use of icons, placement and layout, and accuracy of numbers.</a:t>
            </a:r>
          </a:p>
        </p:txBody>
      </p:sp>
      <p:grpSp>
        <p:nvGrpSpPr>
          <p:cNvPr id="21" name="Group 20">
            <a:extLst>
              <a:ext uri="{FF2B5EF4-FFF2-40B4-BE49-F238E27FC236}">
                <a16:creationId xmlns:a16="http://schemas.microsoft.com/office/drawing/2014/main" id="{49CBBB41-EA32-7F2B-5860-A278A42125C2}"/>
              </a:ext>
            </a:extLst>
          </p:cNvPr>
          <p:cNvGrpSpPr/>
          <p:nvPr/>
        </p:nvGrpSpPr>
        <p:grpSpPr>
          <a:xfrm>
            <a:off x="838200" y="297639"/>
            <a:ext cx="5391150" cy="307138"/>
            <a:chOff x="838200" y="297639"/>
            <a:chExt cx="5391150" cy="307138"/>
          </a:xfrm>
        </p:grpSpPr>
        <p:grpSp>
          <p:nvGrpSpPr>
            <p:cNvPr id="22" name="Group 21">
              <a:extLst>
                <a:ext uri="{FF2B5EF4-FFF2-40B4-BE49-F238E27FC236}">
                  <a16:creationId xmlns:a16="http://schemas.microsoft.com/office/drawing/2014/main" id="{5194602A-14D2-5D7D-C89F-DA3C51659722}"/>
                </a:ext>
              </a:extLst>
            </p:cNvPr>
            <p:cNvGrpSpPr/>
            <p:nvPr/>
          </p:nvGrpSpPr>
          <p:grpSpPr>
            <a:xfrm>
              <a:off x="838200" y="297639"/>
              <a:ext cx="1687517" cy="290657"/>
              <a:chOff x="838200" y="297639"/>
              <a:chExt cx="1687517" cy="290657"/>
            </a:xfrm>
          </p:grpSpPr>
          <p:sp>
            <p:nvSpPr>
              <p:cNvPr id="24" name="AutoShape 9">
                <a:extLst>
                  <a:ext uri="{FF2B5EF4-FFF2-40B4-BE49-F238E27FC236}">
                    <a16:creationId xmlns:a16="http://schemas.microsoft.com/office/drawing/2014/main" id="{CE34A77E-6676-42ED-DBCC-97E73DA258D2}"/>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5" name="AutoShape 9">
                <a:extLst>
                  <a:ext uri="{FF2B5EF4-FFF2-40B4-BE49-F238E27FC236}">
                    <a16:creationId xmlns:a16="http://schemas.microsoft.com/office/drawing/2014/main" id="{F6C76FE0-209B-8378-28D3-65DEBBA429BD}"/>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26" name="Group 25">
                <a:extLst>
                  <a:ext uri="{FF2B5EF4-FFF2-40B4-BE49-F238E27FC236}">
                    <a16:creationId xmlns:a16="http://schemas.microsoft.com/office/drawing/2014/main" id="{49607D19-8C22-A68D-6757-2C92EC7E1508}"/>
                  </a:ext>
                </a:extLst>
              </p:cNvPr>
              <p:cNvGrpSpPr/>
              <p:nvPr/>
            </p:nvGrpSpPr>
            <p:grpSpPr>
              <a:xfrm>
                <a:off x="838200" y="297639"/>
                <a:ext cx="1060167" cy="290657"/>
                <a:chOff x="826426" y="4041857"/>
                <a:chExt cx="1060167" cy="290657"/>
              </a:xfrm>
            </p:grpSpPr>
            <p:sp>
              <p:nvSpPr>
                <p:cNvPr id="27" name="AutoShape 9">
                  <a:extLst>
                    <a:ext uri="{FF2B5EF4-FFF2-40B4-BE49-F238E27FC236}">
                      <a16:creationId xmlns:a16="http://schemas.microsoft.com/office/drawing/2014/main" id="{3966066E-C1F9-E7FF-4FEF-A08BC5033CF2}"/>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28" name="AutoShape 11">
                  <a:extLst>
                    <a:ext uri="{FF2B5EF4-FFF2-40B4-BE49-F238E27FC236}">
                      <a16:creationId xmlns:a16="http://schemas.microsoft.com/office/drawing/2014/main" id="{0C4B537A-8305-307E-80C7-77E29D0C61E6}"/>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9" name="AutoShape 10">
                  <a:extLst>
                    <a:ext uri="{FF2B5EF4-FFF2-40B4-BE49-F238E27FC236}">
                      <a16:creationId xmlns:a16="http://schemas.microsoft.com/office/drawing/2014/main" id="{BCBEA076-F85D-7568-40A8-04232E7972E7}"/>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23" name="TextBox 22">
              <a:extLst>
                <a:ext uri="{FF2B5EF4-FFF2-40B4-BE49-F238E27FC236}">
                  <a16:creationId xmlns:a16="http://schemas.microsoft.com/office/drawing/2014/main" id="{8BCE9636-9CF5-D602-3224-00A294BD665C}"/>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74407295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Great America Golf (GAG)</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sz="2000" dirty="0"/>
              <a:t>Great America Golf (GAG) is seeking to develop and market a new line of drivers targeted to the casual golfer.  These products are intended to be easier to hit with a larger ‘sweet spot’ and priced below the traditional high-end clubs by Callaway and Ping.  The product concept is derived from the product roadmap, which dictates the introduction of ten new clubs, as laid out in the strategic plan.</a:t>
            </a:r>
          </a:p>
          <a:p>
            <a:r>
              <a:rPr lang="en-US" sz="2000" dirty="0"/>
              <a:t>Concept Development</a:t>
            </a:r>
          </a:p>
          <a:p>
            <a:pPr lvl="1"/>
            <a:r>
              <a:rPr lang="en-US" sz="1600" dirty="0"/>
              <a:t>Concept development is carried out by the marketing group and involves comparing existing products within the competitive space and identifying desirable attributes of these products.  </a:t>
            </a:r>
          </a:p>
          <a:p>
            <a:pPr lvl="1"/>
            <a:r>
              <a:rPr lang="en-US" sz="1600" dirty="0"/>
              <a:t>A three-person team accumulates product information and develops a product attributes matrix.  Development of the matrix takes about 5 days to complete over a 15-day period based on the availability of required personnel.  </a:t>
            </a:r>
          </a:p>
          <a:p>
            <a:pPr lvl="1"/>
            <a:r>
              <a:rPr lang="en-US" sz="1600" dirty="0"/>
              <a:t>The completed attribute matrix is presented to the Product Steering Committee for review and approval at their monthly review meeting. The Product Steering Committee decides to either move the product concept forward or return it to the concept development team for refinement.  </a:t>
            </a:r>
          </a:p>
          <a:p>
            <a:pPr lvl="1"/>
            <a:r>
              <a:rPr lang="en-US" sz="1600" dirty="0"/>
              <a:t>In 75% of the instances, the Product Steering Committee will approve the concept as presented.  For the remaining 25% of cases, the concept development team will rework the concept an average of two times to gain approval.  </a:t>
            </a:r>
          </a:p>
          <a:p>
            <a:pPr lvl="1"/>
            <a:r>
              <a:rPr lang="en-US" sz="1600" dirty="0"/>
              <a:t>If approved, this matrix is then reviewed with a focus group comprised of non-touring professional golfers (primarily club and instructional professionals) who help to narrow and focus the attributes to be contained in the new product offering.</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28</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115143958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Great America Golf (GAG)</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sz="2000" dirty="0"/>
              <a:t>Product Specification  </a:t>
            </a:r>
          </a:p>
          <a:p>
            <a:pPr lvl="1"/>
            <a:r>
              <a:rPr lang="en-US" sz="1600" dirty="0"/>
              <a:t>The approved attribute matrix with input from the focus group is delivered in electronic format to the program management group comprised primarily of four senior engineers.  These engineers will develop a comprehensive specification for the product based on the attribute matrix.  This will generally take place over a one-week period with about 2 days actually dedicated to the process.  The completed specifications are submitted to the Product Steering Committee for review and approval at their monthly meeting.  In 30% of the instances, the specifications are approved on the first submission.  In the remaining 70% of the instances, the program management group has to go back to the concept development team for clarification of the meaning of the attributes.  Because this group is also responsible for administering the implementation of all major projects within GAG, the attribute matrix will typically wait for 20 days before being addressed by the program management group.</a:t>
            </a:r>
          </a:p>
          <a:p>
            <a:r>
              <a:rPr lang="en-US" sz="2000" dirty="0"/>
              <a:t>Product Design</a:t>
            </a:r>
          </a:p>
          <a:p>
            <a:pPr lvl="1"/>
            <a:r>
              <a:rPr lang="en-US" sz="1600" dirty="0"/>
              <a:t>After the product specifications are approved, they are transferred to the product design department, where all product component and assembly drawings are developed by all 12 of the product designers.  It normally takes 15 days to complete the full drawing package, though the total duration of time typically gets extended because of work interruptions by an additional 10 days.  In 20% of the instances the design group is able to complete the package without gaining clarifications on the specs from the program management group.  If the specifications are unclear, the design group will usually have to go through 5 iterations of design before getting approval from the Product Steering Committee.  Because the design department is a shared resource responsible for product maintenance, it is not uncommon for new design requests to wait for a month and a half prior to entering the design process.</a:t>
            </a:r>
            <a:endParaRPr lang="en-US" sz="2000"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29</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2009429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Case Study Example: Great America Golf (GAG)</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10000"/>
          </a:bodyPr>
          <a:lstStyle/>
          <a:p>
            <a:r>
              <a:rPr lang="en-US" sz="2000" dirty="0"/>
              <a:t>Prototype Build   </a:t>
            </a:r>
          </a:p>
          <a:p>
            <a:pPr lvl="1"/>
            <a:r>
              <a:rPr lang="en-US" sz="1600" dirty="0"/>
              <a:t>The approved designs are transferred to the “Skunk Works” for prototype build.  In this process, an elite team of manufacturing engineers and technicians will procure the necessary materials and, using a series of multi-axis CNC machines, fabricate the requested number of sample products based on the designs submitted.  The material procurement process begins as soon as the design is approved and, in most cases, are available for production in about 10 days.  Samples typically wait an additional 2 weeks before entering the manufacturing process. Once in the manufacturing process it takes about a day to make the samples.  Upon completion, the samples are submitted to the Product Steering Committee for approval.  70% of the time, the Steering Committee rejects the prototypes and requests modifications.  If the prototypes are not accepted upon first submission, experience shows that it will require an average of 4 submissions to gain final approval.</a:t>
            </a:r>
          </a:p>
          <a:p>
            <a:r>
              <a:rPr lang="en-US" sz="2000" dirty="0"/>
              <a:t>Prototype Test</a:t>
            </a:r>
          </a:p>
          <a:p>
            <a:pPr lvl="1"/>
            <a:r>
              <a:rPr lang="en-US" sz="1600" dirty="0"/>
              <a:t>Upon approval, the prototypes are sent to the program management group, which distributes them to selected professionals from the focus group for evaluation.  It typically takes a month to get the clubs distributed by Fed Ex for evaluation.  The test group is asked to use the product to play 10 rounds of golf over a two-month period in a variety of conditions and on a variety of courses.  At the end of the evaluation period, the program management group will collect the prototype products and complete a customer survey.  Discipline is typically poor around this portion of the process, with only about 20% of the prototypes and surveys being collected.  It is generally felt that the clubs are provided as perks to the focus group.  Based on the response from the field test, the marketing group will make the decision to go into full-scale distribution.  There has never been an instance where a product did not launch after field testing. </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30</a:t>
            </a:fld>
            <a:endParaRPr lang="en-US"/>
          </a:p>
        </p:txBody>
      </p:sp>
      <p:grpSp>
        <p:nvGrpSpPr>
          <p:cNvPr id="4" name="Group 3">
            <a:extLst>
              <a:ext uri="{FF2B5EF4-FFF2-40B4-BE49-F238E27FC236}">
                <a16:creationId xmlns:a16="http://schemas.microsoft.com/office/drawing/2014/main" id="{4DBF842F-C8D5-7C2A-6829-55D700C63071}"/>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FCB4F502-5C70-35A6-14C3-94F026A98853}"/>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F039EED3-2D10-F330-C44E-B19BBA76179F}"/>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5A83B90-0517-E946-2B2E-DC5BA074577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4ABA8942-8405-6101-F4CC-85DE145A2DC8}"/>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4FD7367-71B1-2823-E53B-434454988D8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71F7BEE-9B13-1D2B-DFC9-D959980E618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CC458AC5-40CB-37BB-FC12-0A62097F996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0DC6B259-944D-7081-5F99-16D1E612A10A}"/>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6429800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31</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406637439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32</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32449894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Customer Data</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33</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8" name="Group 47">
            <a:extLst>
              <a:ext uri="{FF2B5EF4-FFF2-40B4-BE49-F238E27FC236}">
                <a16:creationId xmlns:a16="http://schemas.microsoft.com/office/drawing/2014/main" id="{C0EC1873-F3DE-9F92-3894-C079AFB943D4}"/>
              </a:ext>
            </a:extLst>
          </p:cNvPr>
          <p:cNvGrpSpPr/>
          <p:nvPr/>
        </p:nvGrpSpPr>
        <p:grpSpPr>
          <a:xfrm>
            <a:off x="203200" y="1731888"/>
            <a:ext cx="11694159" cy="4566200"/>
            <a:chOff x="203200" y="1731888"/>
            <a:chExt cx="11694159" cy="4566200"/>
          </a:xfrm>
        </p:grpSpPr>
        <p:sp>
          <p:nvSpPr>
            <p:cNvPr id="13" name="Rectangle 2">
              <a:extLst>
                <a:ext uri="{FF2B5EF4-FFF2-40B4-BE49-F238E27FC236}">
                  <a16:creationId xmlns:a16="http://schemas.microsoft.com/office/drawing/2014/main" id="{E636CF79-6DDA-82E8-1F13-0CFA24201ED0}"/>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14" name="Text Box 11">
              <a:extLst>
                <a:ext uri="{FF2B5EF4-FFF2-40B4-BE49-F238E27FC236}">
                  <a16:creationId xmlns:a16="http://schemas.microsoft.com/office/drawing/2014/main" id="{7D04CF95-7A92-9471-CE60-96A497F6AF0A}"/>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47" name="Group 46">
              <a:extLst>
                <a:ext uri="{FF2B5EF4-FFF2-40B4-BE49-F238E27FC236}">
                  <a16:creationId xmlns:a16="http://schemas.microsoft.com/office/drawing/2014/main" id="{2B2031E8-0750-B88B-8B65-33B466FE4E30}"/>
                </a:ext>
              </a:extLst>
            </p:cNvPr>
            <p:cNvGrpSpPr/>
            <p:nvPr/>
          </p:nvGrpSpPr>
          <p:grpSpPr>
            <a:xfrm>
              <a:off x="10367408" y="2035271"/>
              <a:ext cx="1284053" cy="842320"/>
              <a:chOff x="9371728" y="2008329"/>
              <a:chExt cx="1284053" cy="842320"/>
            </a:xfrm>
          </p:grpSpPr>
          <p:sp>
            <p:nvSpPr>
              <p:cNvPr id="16" name="Rectangle 13">
                <a:extLst>
                  <a:ext uri="{FF2B5EF4-FFF2-40B4-BE49-F238E27FC236}">
                    <a16:creationId xmlns:a16="http://schemas.microsoft.com/office/drawing/2014/main" id="{E2375404-0453-29F4-57B6-ECE98191E189}"/>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Rectangle 14">
                <a:extLst>
                  <a:ext uri="{FF2B5EF4-FFF2-40B4-BE49-F238E27FC236}">
                    <a16:creationId xmlns:a16="http://schemas.microsoft.com/office/drawing/2014/main" id="{E7568972-5E82-23B0-CEC5-DD2029E80A4B}"/>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 name="Rectangle 15">
                <a:extLst>
                  <a:ext uri="{FF2B5EF4-FFF2-40B4-BE49-F238E27FC236}">
                    <a16:creationId xmlns:a16="http://schemas.microsoft.com/office/drawing/2014/main" id="{BD55249D-D23D-F752-F9FB-74C3D2DE5D11}"/>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Rectangle 16">
                <a:extLst>
                  <a:ext uri="{FF2B5EF4-FFF2-40B4-BE49-F238E27FC236}">
                    <a16:creationId xmlns:a16="http://schemas.microsoft.com/office/drawing/2014/main" id="{63E00BD7-78FA-2EA9-4E7C-B8D88F1BAB3D}"/>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Rectangle 17">
                <a:extLst>
                  <a:ext uri="{FF2B5EF4-FFF2-40B4-BE49-F238E27FC236}">
                    <a16:creationId xmlns:a16="http://schemas.microsoft.com/office/drawing/2014/main" id="{4509D26D-A20B-25CF-A46C-4A76FEDC0380}"/>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Rectangle 18">
                <a:extLst>
                  <a:ext uri="{FF2B5EF4-FFF2-40B4-BE49-F238E27FC236}">
                    <a16:creationId xmlns:a16="http://schemas.microsoft.com/office/drawing/2014/main" id="{C59A613D-EC48-8D3B-DFFB-AC4D3B6670F6}"/>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Rectangle 19">
                <a:extLst>
                  <a:ext uri="{FF2B5EF4-FFF2-40B4-BE49-F238E27FC236}">
                    <a16:creationId xmlns:a16="http://schemas.microsoft.com/office/drawing/2014/main" id="{48E17F1F-5AAA-195E-7EFF-01C53546C787}"/>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 name="Rectangle 20">
                <a:extLst>
                  <a:ext uri="{FF2B5EF4-FFF2-40B4-BE49-F238E27FC236}">
                    <a16:creationId xmlns:a16="http://schemas.microsoft.com/office/drawing/2014/main" id="{EDF31A63-6E05-34A1-E352-2577E5A66973}"/>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Rectangle 21">
                <a:extLst>
                  <a:ext uri="{FF2B5EF4-FFF2-40B4-BE49-F238E27FC236}">
                    <a16:creationId xmlns:a16="http://schemas.microsoft.com/office/drawing/2014/main" id="{C5CB5CDD-D432-9AA1-604B-130F55F74DFA}"/>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5" name="Rectangle 22">
                <a:extLst>
                  <a:ext uri="{FF2B5EF4-FFF2-40B4-BE49-F238E27FC236}">
                    <a16:creationId xmlns:a16="http://schemas.microsoft.com/office/drawing/2014/main" id="{ABEBA242-A6B3-7D0D-8F06-ED912FBA49B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6" name="Rectangle 23">
                <a:extLst>
                  <a:ext uri="{FF2B5EF4-FFF2-40B4-BE49-F238E27FC236}">
                    <a16:creationId xmlns:a16="http://schemas.microsoft.com/office/drawing/2014/main" id="{60473F1D-B323-2AFF-12D6-7119A8447B7B}"/>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7" name="Rectangle 24">
                <a:extLst>
                  <a:ext uri="{FF2B5EF4-FFF2-40B4-BE49-F238E27FC236}">
                    <a16:creationId xmlns:a16="http://schemas.microsoft.com/office/drawing/2014/main" id="{DB55CB0C-39D6-F85A-B032-C0495488BC46}"/>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8" name="Rectangle 25">
                <a:extLst>
                  <a:ext uri="{FF2B5EF4-FFF2-40B4-BE49-F238E27FC236}">
                    <a16:creationId xmlns:a16="http://schemas.microsoft.com/office/drawing/2014/main" id="{0368D715-15DB-5215-B692-926AB7F5838C}"/>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9" name="Rectangle 26">
                <a:extLst>
                  <a:ext uri="{FF2B5EF4-FFF2-40B4-BE49-F238E27FC236}">
                    <a16:creationId xmlns:a16="http://schemas.microsoft.com/office/drawing/2014/main" id="{B5738D4E-0850-FAB8-C6E2-693B6869027E}"/>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0" name="Rectangle 27">
                <a:extLst>
                  <a:ext uri="{FF2B5EF4-FFF2-40B4-BE49-F238E27FC236}">
                    <a16:creationId xmlns:a16="http://schemas.microsoft.com/office/drawing/2014/main" id="{C83083EE-91E2-B2F1-361E-3FA30B6D1132}"/>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1" name="Rectangle 28">
                <a:extLst>
                  <a:ext uri="{FF2B5EF4-FFF2-40B4-BE49-F238E27FC236}">
                    <a16:creationId xmlns:a16="http://schemas.microsoft.com/office/drawing/2014/main" id="{C46C7B97-B5D3-65C7-D067-B2894DD1DE2C}"/>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 name="Rectangle 29">
                <a:extLst>
                  <a:ext uri="{FF2B5EF4-FFF2-40B4-BE49-F238E27FC236}">
                    <a16:creationId xmlns:a16="http://schemas.microsoft.com/office/drawing/2014/main" id="{B3F6128E-7FE8-78CF-3A8D-1647D5BDA90E}"/>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Rectangle 30">
                <a:extLst>
                  <a:ext uri="{FF2B5EF4-FFF2-40B4-BE49-F238E27FC236}">
                    <a16:creationId xmlns:a16="http://schemas.microsoft.com/office/drawing/2014/main" id="{13F19568-FE4D-57A9-8D1F-F626CCC0BA09}"/>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Rectangle 31">
                <a:extLst>
                  <a:ext uri="{FF2B5EF4-FFF2-40B4-BE49-F238E27FC236}">
                    <a16:creationId xmlns:a16="http://schemas.microsoft.com/office/drawing/2014/main" id="{2611A6D6-2E1C-2056-31A2-D6B8C87B1656}"/>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5" name="Rectangle 32">
                <a:extLst>
                  <a:ext uri="{FF2B5EF4-FFF2-40B4-BE49-F238E27FC236}">
                    <a16:creationId xmlns:a16="http://schemas.microsoft.com/office/drawing/2014/main" id="{61F0D237-50F9-E89B-185F-1E8979EABD88}"/>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6" name="Rectangle 33">
                <a:extLst>
                  <a:ext uri="{FF2B5EF4-FFF2-40B4-BE49-F238E27FC236}">
                    <a16:creationId xmlns:a16="http://schemas.microsoft.com/office/drawing/2014/main" id="{AE9C15B8-F5D2-3C4F-519F-58FA72EEABF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Rectangle 34">
                <a:extLst>
                  <a:ext uri="{FF2B5EF4-FFF2-40B4-BE49-F238E27FC236}">
                    <a16:creationId xmlns:a16="http://schemas.microsoft.com/office/drawing/2014/main" id="{2650B914-2D0D-5DE1-15DC-92B52173BBF0}"/>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8" name="Rectangle 35">
                <a:extLst>
                  <a:ext uri="{FF2B5EF4-FFF2-40B4-BE49-F238E27FC236}">
                    <a16:creationId xmlns:a16="http://schemas.microsoft.com/office/drawing/2014/main" id="{9CFF8047-A0B7-CE89-5478-C201DEC633C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 name="Rectangle 36">
                <a:extLst>
                  <a:ext uri="{FF2B5EF4-FFF2-40B4-BE49-F238E27FC236}">
                    <a16:creationId xmlns:a16="http://schemas.microsoft.com/office/drawing/2014/main" id="{6E95FA5A-32B1-8888-01B9-2F4E23E00351}"/>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 name="Rectangle 37">
                <a:extLst>
                  <a:ext uri="{FF2B5EF4-FFF2-40B4-BE49-F238E27FC236}">
                    <a16:creationId xmlns:a16="http://schemas.microsoft.com/office/drawing/2014/main" id="{56F17FDB-D4AE-B245-6B07-2218AFA6C982}"/>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 name="Rectangle 38">
                <a:extLst>
                  <a:ext uri="{FF2B5EF4-FFF2-40B4-BE49-F238E27FC236}">
                    <a16:creationId xmlns:a16="http://schemas.microsoft.com/office/drawing/2014/main" id="{283D35BE-11DD-7E42-6D89-DDFDCF5B2C6E}"/>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Rectangle 39">
                <a:extLst>
                  <a:ext uri="{FF2B5EF4-FFF2-40B4-BE49-F238E27FC236}">
                    <a16:creationId xmlns:a16="http://schemas.microsoft.com/office/drawing/2014/main" id="{104CC3B2-3925-A679-0841-86A207E15B52}"/>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Text Box 40">
                <a:extLst>
                  <a:ext uri="{FF2B5EF4-FFF2-40B4-BE49-F238E27FC236}">
                    <a16:creationId xmlns:a16="http://schemas.microsoft.com/office/drawing/2014/main" id="{2A0C3D87-E268-745F-D01C-7CAC40498082}"/>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Tree>
    <p:extLst>
      <p:ext uri="{BB962C8B-B14F-4D97-AF65-F5344CB8AC3E}">
        <p14:creationId xmlns:p14="http://schemas.microsoft.com/office/powerpoint/2010/main" val="316777374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Takt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34</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56" name="Group 55">
            <a:extLst>
              <a:ext uri="{FF2B5EF4-FFF2-40B4-BE49-F238E27FC236}">
                <a16:creationId xmlns:a16="http://schemas.microsoft.com/office/drawing/2014/main" id="{858ABF6C-4876-C0F3-6FF9-B3D6E6778599}"/>
              </a:ext>
            </a:extLst>
          </p:cNvPr>
          <p:cNvGrpSpPr/>
          <p:nvPr/>
        </p:nvGrpSpPr>
        <p:grpSpPr>
          <a:xfrm>
            <a:off x="1846262" y="2091465"/>
            <a:ext cx="8499475" cy="3835771"/>
            <a:chOff x="479425" y="1568079"/>
            <a:chExt cx="8499475" cy="3835771"/>
          </a:xfrm>
        </p:grpSpPr>
        <p:sp>
          <p:nvSpPr>
            <p:cNvPr id="45" name="Text Box 41">
              <a:extLst>
                <a:ext uri="{FF2B5EF4-FFF2-40B4-BE49-F238E27FC236}">
                  <a16:creationId xmlns:a16="http://schemas.microsoft.com/office/drawing/2014/main" id="{AE14DB08-2F1F-1968-745E-4D6B264B0301}"/>
                </a:ext>
              </a:extLst>
            </p:cNvPr>
            <p:cNvSpPr txBox="1">
              <a:spLocks noChangeArrowheads="1"/>
            </p:cNvSpPr>
            <p:nvPr/>
          </p:nvSpPr>
          <p:spPr bwMode="auto">
            <a:xfrm>
              <a:off x="2283680" y="2482850"/>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Cure </a:t>
              </a:r>
            </a:p>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Oven</a:t>
              </a:r>
            </a:p>
          </p:txBody>
        </p:sp>
        <p:sp>
          <p:nvSpPr>
            <p:cNvPr id="46" name="Rectangle 44">
              <a:extLst>
                <a:ext uri="{FF2B5EF4-FFF2-40B4-BE49-F238E27FC236}">
                  <a16:creationId xmlns:a16="http://schemas.microsoft.com/office/drawing/2014/main" id="{4A6D61C3-929D-541A-80ED-2BE8C77E1BD7}"/>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7" name="Text Box 45">
              <a:extLst>
                <a:ext uri="{FF2B5EF4-FFF2-40B4-BE49-F238E27FC236}">
                  <a16:creationId xmlns:a16="http://schemas.microsoft.com/office/drawing/2014/main" id="{BEAF0EAA-188C-802A-3901-606E9811AC50}"/>
                </a:ext>
              </a:extLst>
            </p:cNvPr>
            <p:cNvSpPr txBox="1">
              <a:spLocks noChangeArrowheads="1"/>
            </p:cNvSpPr>
            <p:nvPr/>
          </p:nvSpPr>
          <p:spPr bwMode="auto">
            <a:xfrm>
              <a:off x="703654" y="1568079"/>
              <a:ext cx="2307042"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Takt Time Definition</a:t>
              </a:r>
            </a:p>
          </p:txBody>
        </p:sp>
        <p:sp>
          <p:nvSpPr>
            <p:cNvPr id="48" name="Rectangle 46">
              <a:extLst>
                <a:ext uri="{FF2B5EF4-FFF2-40B4-BE49-F238E27FC236}">
                  <a16:creationId xmlns:a16="http://schemas.microsoft.com/office/drawing/2014/main" id="{A22AEFCA-D7F5-B5E3-3352-6858461BA424}"/>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Takt Time Calculation</a:t>
              </a:r>
            </a:p>
          </p:txBody>
        </p:sp>
        <p:sp>
          <p:nvSpPr>
            <p:cNvPr id="49" name="Rectangle 47">
              <a:extLst>
                <a:ext uri="{FF2B5EF4-FFF2-40B4-BE49-F238E27FC236}">
                  <a16:creationId xmlns:a16="http://schemas.microsoft.com/office/drawing/2014/main" id="{999FDE5A-00AA-9749-E254-2A3A4481ADBC}"/>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Note on Takt Time</a:t>
              </a:r>
            </a:p>
          </p:txBody>
        </p:sp>
        <p:sp>
          <p:nvSpPr>
            <p:cNvPr id="50" name="Rectangle 48">
              <a:extLst>
                <a:ext uri="{FF2B5EF4-FFF2-40B4-BE49-F238E27FC236}">
                  <a16:creationId xmlns:a16="http://schemas.microsoft.com/office/drawing/2014/main" id="{8DA87BAE-5D16-3E63-B77E-7E09BBCC5B74}"/>
                </a:ext>
              </a:extLst>
            </p:cNvPr>
            <p:cNvSpPr>
              <a:spLocks noChangeArrowheads="1"/>
            </p:cNvSpPr>
            <p:nvPr/>
          </p:nvSpPr>
          <p:spPr bwMode="auto">
            <a:xfrm>
              <a:off x="5276850" y="3070225"/>
              <a:ext cx="3702050"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1600" dirty="0">
                  <a:solidFill>
                    <a:srgbClr val="FF0000"/>
                  </a:solidFill>
                  <a:latin typeface="Roboto" panose="02000000000000000000" pitchFamily="2" charset="0"/>
                  <a:ea typeface="Roboto" panose="02000000000000000000" pitchFamily="2" charset="0"/>
                </a:rPr>
                <a:t>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baseline="30000" dirty="0">
                  <a:solidFill>
                    <a:srgbClr val="FF0000"/>
                  </a:solidFill>
                  <a:latin typeface="Roboto" panose="02000000000000000000" pitchFamily="2" charset="0"/>
                  <a:ea typeface="Roboto" panose="02000000000000000000" pitchFamily="2" charset="0"/>
                </a:rPr>
                <a:t>_________________________________</a:t>
              </a:r>
              <a:r>
                <a:rPr lang="en-US" altLang="en-US" sz="1600" dirty="0">
                  <a:solidFill>
                    <a:srgbClr val="FF0000"/>
                  </a:solidFill>
                  <a:latin typeface="Roboto" panose="02000000000000000000" pitchFamily="2" charset="0"/>
                  <a:ea typeface="Roboto" panose="02000000000000000000" pitchFamily="2" charset="0"/>
                </a:rPr>
                <a:t>= 24 work days</a:t>
              </a:r>
              <a:endParaRPr lang="en-US" altLang="en-US" sz="16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dirty="0">
                  <a:solidFill>
                    <a:srgbClr val="FF0000"/>
                  </a:solidFill>
                  <a:latin typeface="Roboto" panose="02000000000000000000" pitchFamily="2" charset="0"/>
                  <a:ea typeface="Roboto" panose="02000000000000000000" pitchFamily="2" charset="0"/>
                </a:rPr>
                <a:t>     10 clubs / year</a:t>
              </a:r>
            </a:p>
          </p:txBody>
        </p:sp>
        <p:cxnSp>
          <p:nvCxnSpPr>
            <p:cNvPr id="51" name="AutoShape 49">
              <a:extLst>
                <a:ext uri="{FF2B5EF4-FFF2-40B4-BE49-F238E27FC236}">
                  <a16:creationId xmlns:a16="http://schemas.microsoft.com/office/drawing/2014/main" id="{9E7D051F-17F6-6ECA-C674-924F020C2578}"/>
                </a:ext>
              </a:extLst>
            </p:cNvPr>
            <p:cNvCxnSpPr>
              <a:cxnSpLocks noChangeShapeType="1"/>
              <a:stCxn id="46" idx="3"/>
              <a:endCxn id="48"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52" name="AutoShape 50">
              <a:extLst>
                <a:ext uri="{FF2B5EF4-FFF2-40B4-BE49-F238E27FC236}">
                  <a16:creationId xmlns:a16="http://schemas.microsoft.com/office/drawing/2014/main" id="{F733EDBC-9DA3-7CA5-0F41-DF66D230C33A}"/>
                </a:ext>
              </a:extLst>
            </p:cNvPr>
            <p:cNvCxnSpPr>
              <a:cxnSpLocks noChangeShapeType="1"/>
              <a:stCxn id="46" idx="3"/>
              <a:endCxn id="49"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53" name="Rectangle 51">
              <a:extLst>
                <a:ext uri="{FF2B5EF4-FFF2-40B4-BE49-F238E27FC236}">
                  <a16:creationId xmlns:a16="http://schemas.microsoft.com/office/drawing/2014/main" id="{FE6EB1C3-1FA9-C2AF-1749-1DC00A20C398}"/>
                </a:ext>
              </a:extLst>
            </p:cNvPr>
            <p:cNvSpPr>
              <a:spLocks noChangeArrowheads="1"/>
            </p:cNvSpPr>
            <p:nvPr/>
          </p:nvSpPr>
          <p:spPr bwMode="auto">
            <a:xfrm>
              <a:off x="5341938" y="4187825"/>
              <a:ext cx="33766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Takt Time can be very beneficial in determining the approximate level of staffing required to support demand.</a:t>
              </a:r>
            </a:p>
          </p:txBody>
        </p:sp>
        <p:sp>
          <p:nvSpPr>
            <p:cNvPr id="54" name="Text Box 53">
              <a:extLst>
                <a:ext uri="{FF2B5EF4-FFF2-40B4-BE49-F238E27FC236}">
                  <a16:creationId xmlns:a16="http://schemas.microsoft.com/office/drawing/2014/main" id="{60ACF22E-C0FD-1810-8E60-91C53E31E5AD}"/>
                </a:ext>
              </a:extLst>
            </p:cNvPr>
            <p:cNvSpPr txBox="1">
              <a:spLocks noChangeArrowheads="1"/>
            </p:cNvSpPr>
            <p:nvPr/>
          </p:nvSpPr>
          <p:spPr bwMode="auto">
            <a:xfrm>
              <a:off x="791369" y="2726581"/>
              <a:ext cx="37909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How often does </a:t>
              </a:r>
              <a:r>
                <a:rPr lang="ja-JP" altLang="en-US" sz="1800" dirty="0">
                  <a:latin typeface="Roboto" panose="02000000000000000000" pitchFamily="2" charset="0"/>
                </a:rPr>
                <a:t>“</a:t>
              </a:r>
              <a:r>
                <a:rPr lang="en-US" altLang="ja-JP" sz="1800" dirty="0">
                  <a:latin typeface="Roboto" panose="02000000000000000000" pitchFamily="2" charset="0"/>
                  <a:ea typeface="Roboto" panose="02000000000000000000" pitchFamily="2" charset="0"/>
                </a:rPr>
                <a:t>something</a:t>
              </a:r>
              <a:r>
                <a:rPr lang="ja-JP" altLang="en-US" sz="1800" dirty="0">
                  <a:latin typeface="Roboto" panose="02000000000000000000" pitchFamily="2" charset="0"/>
                </a:rPr>
                <a:t>”</a:t>
              </a:r>
              <a:r>
                <a:rPr lang="en-US" altLang="ja-JP" sz="1800" dirty="0">
                  <a:latin typeface="Roboto" panose="02000000000000000000" pitchFamily="2" charset="0"/>
                  <a:ea typeface="Roboto" panose="02000000000000000000" pitchFamily="2" charset="0"/>
                </a:rPr>
                <a:t> need to exit the value stream in order to support the overall demand for the product of service. </a:t>
              </a:r>
              <a:endParaRPr lang="en-US" altLang="en-US" sz="1800" dirty="0">
                <a:latin typeface="Roboto" panose="02000000000000000000" pitchFamily="2" charset="0"/>
                <a:ea typeface="Roboto" panose="02000000000000000000" pitchFamily="2" charset="0"/>
              </a:endParaRPr>
            </a:p>
          </p:txBody>
        </p:sp>
        <p:sp>
          <p:nvSpPr>
            <p:cNvPr id="55" name="Rectangle 62">
              <a:extLst>
                <a:ext uri="{FF2B5EF4-FFF2-40B4-BE49-F238E27FC236}">
                  <a16:creationId xmlns:a16="http://schemas.microsoft.com/office/drawing/2014/main" id="{7B37F3AA-24C8-8505-F90F-223D7F538A05}"/>
                </a:ext>
              </a:extLst>
            </p:cNvPr>
            <p:cNvSpPr>
              <a:spLocks noChangeArrowheads="1"/>
            </p:cNvSpPr>
            <p:nvPr/>
          </p:nvSpPr>
          <p:spPr bwMode="auto">
            <a:xfrm>
              <a:off x="5340350" y="2117725"/>
              <a:ext cx="3376613"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Available Working Time</a:t>
              </a:r>
            </a:p>
            <a:p>
              <a:pPr algn="ct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baseline="30000">
                  <a:latin typeface="Roboto" panose="02000000000000000000" pitchFamily="2" charset="0"/>
                  <a:ea typeface="Roboto" panose="02000000000000000000" pitchFamily="2" charset="0"/>
                </a:rPr>
                <a:t>_____________________________</a:t>
              </a:r>
              <a:endParaRPr lang="en-US" altLang="en-US" sz="1600" u="sng">
                <a:latin typeface="Roboto" panose="02000000000000000000" pitchFamily="2" charset="0"/>
                <a:ea typeface="Roboto" panose="02000000000000000000" pitchFamily="2" charset="0"/>
              </a:endParaRPr>
            </a:p>
            <a:p>
              <a:pPr algn="ct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Customer Demand</a:t>
              </a:r>
            </a:p>
          </p:txBody>
        </p:sp>
      </p:grpSp>
    </p:spTree>
    <p:extLst>
      <p:ext uri="{BB962C8B-B14F-4D97-AF65-F5344CB8AC3E}">
        <p14:creationId xmlns:p14="http://schemas.microsoft.com/office/powerpoint/2010/main" val="357324068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Customer Data</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35</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78" name="Group 77">
            <a:extLst>
              <a:ext uri="{FF2B5EF4-FFF2-40B4-BE49-F238E27FC236}">
                <a16:creationId xmlns:a16="http://schemas.microsoft.com/office/drawing/2014/main" id="{A025FBC2-55D6-28F2-9267-44727D2A9512}"/>
              </a:ext>
            </a:extLst>
          </p:cNvPr>
          <p:cNvGrpSpPr/>
          <p:nvPr/>
        </p:nvGrpSpPr>
        <p:grpSpPr>
          <a:xfrm>
            <a:off x="203200" y="1731888"/>
            <a:ext cx="11694159" cy="4566200"/>
            <a:chOff x="203200" y="1731888"/>
            <a:chExt cx="11694159" cy="4566200"/>
          </a:xfrm>
        </p:grpSpPr>
        <p:grpSp>
          <p:nvGrpSpPr>
            <p:cNvPr id="46" name="Group 45">
              <a:extLst>
                <a:ext uri="{FF2B5EF4-FFF2-40B4-BE49-F238E27FC236}">
                  <a16:creationId xmlns:a16="http://schemas.microsoft.com/office/drawing/2014/main" id="{4729DC0D-73C6-E7EB-3711-E94AFBF38633}"/>
                </a:ext>
              </a:extLst>
            </p:cNvPr>
            <p:cNvGrpSpPr/>
            <p:nvPr/>
          </p:nvGrpSpPr>
          <p:grpSpPr>
            <a:xfrm>
              <a:off x="203200" y="1731888"/>
              <a:ext cx="11694159" cy="4566200"/>
              <a:chOff x="203200" y="1731888"/>
              <a:chExt cx="11694159" cy="4566200"/>
            </a:xfrm>
          </p:grpSpPr>
          <p:sp>
            <p:nvSpPr>
              <p:cNvPr id="47" name="Rectangle 2">
                <a:extLst>
                  <a:ext uri="{FF2B5EF4-FFF2-40B4-BE49-F238E27FC236}">
                    <a16:creationId xmlns:a16="http://schemas.microsoft.com/office/drawing/2014/main" id="{91AD3FF3-BD60-D777-4DA3-1965ACB05B1A}"/>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48" name="Text Box 11">
                <a:extLst>
                  <a:ext uri="{FF2B5EF4-FFF2-40B4-BE49-F238E27FC236}">
                    <a16:creationId xmlns:a16="http://schemas.microsoft.com/office/drawing/2014/main" id="{25426508-98D7-081D-AC7A-66532F7AA01E}"/>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49" name="Group 48">
                <a:extLst>
                  <a:ext uri="{FF2B5EF4-FFF2-40B4-BE49-F238E27FC236}">
                    <a16:creationId xmlns:a16="http://schemas.microsoft.com/office/drawing/2014/main" id="{5A911046-888D-F5D8-F3DE-7E9253A62E9E}"/>
                  </a:ext>
                </a:extLst>
              </p:cNvPr>
              <p:cNvGrpSpPr/>
              <p:nvPr/>
            </p:nvGrpSpPr>
            <p:grpSpPr>
              <a:xfrm>
                <a:off x="10367408" y="2035271"/>
                <a:ext cx="1284053" cy="842320"/>
                <a:chOff x="9371728" y="2008329"/>
                <a:chExt cx="1284053" cy="842320"/>
              </a:xfrm>
            </p:grpSpPr>
            <p:sp>
              <p:nvSpPr>
                <p:cNvPr id="50" name="Rectangle 13">
                  <a:extLst>
                    <a:ext uri="{FF2B5EF4-FFF2-40B4-BE49-F238E27FC236}">
                      <a16:creationId xmlns:a16="http://schemas.microsoft.com/office/drawing/2014/main" id="{7AA08F79-1291-0A62-3FB2-E713ACC2CA79}"/>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1" name="Rectangle 14">
                  <a:extLst>
                    <a:ext uri="{FF2B5EF4-FFF2-40B4-BE49-F238E27FC236}">
                      <a16:creationId xmlns:a16="http://schemas.microsoft.com/office/drawing/2014/main" id="{5D59ECA9-886A-967A-977E-BDDC2B611428}"/>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2" name="Rectangle 15">
                  <a:extLst>
                    <a:ext uri="{FF2B5EF4-FFF2-40B4-BE49-F238E27FC236}">
                      <a16:creationId xmlns:a16="http://schemas.microsoft.com/office/drawing/2014/main" id="{470C055A-8E4E-80FE-76EC-7CB022AA20C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3" name="Rectangle 16">
                  <a:extLst>
                    <a:ext uri="{FF2B5EF4-FFF2-40B4-BE49-F238E27FC236}">
                      <a16:creationId xmlns:a16="http://schemas.microsoft.com/office/drawing/2014/main" id="{376764F5-443D-2230-4BD7-B70118C90CE2}"/>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4" name="Rectangle 17">
                  <a:extLst>
                    <a:ext uri="{FF2B5EF4-FFF2-40B4-BE49-F238E27FC236}">
                      <a16:creationId xmlns:a16="http://schemas.microsoft.com/office/drawing/2014/main" id="{94AF394F-3E1B-B4A2-3EA9-19C05C486D40}"/>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5" name="Rectangle 18">
                  <a:extLst>
                    <a:ext uri="{FF2B5EF4-FFF2-40B4-BE49-F238E27FC236}">
                      <a16:creationId xmlns:a16="http://schemas.microsoft.com/office/drawing/2014/main" id="{86C0EA98-58AC-63B9-95E9-400BF5928E7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6" name="Rectangle 19">
                  <a:extLst>
                    <a:ext uri="{FF2B5EF4-FFF2-40B4-BE49-F238E27FC236}">
                      <a16:creationId xmlns:a16="http://schemas.microsoft.com/office/drawing/2014/main" id="{34F47FCB-F60D-8C25-C968-BCA45928E2C7}"/>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20">
                  <a:extLst>
                    <a:ext uri="{FF2B5EF4-FFF2-40B4-BE49-F238E27FC236}">
                      <a16:creationId xmlns:a16="http://schemas.microsoft.com/office/drawing/2014/main" id="{36049DDE-5530-1518-B2D4-6E7DBCFFFF7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21">
                  <a:extLst>
                    <a:ext uri="{FF2B5EF4-FFF2-40B4-BE49-F238E27FC236}">
                      <a16:creationId xmlns:a16="http://schemas.microsoft.com/office/drawing/2014/main" id="{B0AED8C9-E7F2-C277-762A-8B62CEE23FF3}"/>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22">
                  <a:extLst>
                    <a:ext uri="{FF2B5EF4-FFF2-40B4-BE49-F238E27FC236}">
                      <a16:creationId xmlns:a16="http://schemas.microsoft.com/office/drawing/2014/main" id="{DC92236A-97E7-93B1-1579-30A789D143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23">
                  <a:extLst>
                    <a:ext uri="{FF2B5EF4-FFF2-40B4-BE49-F238E27FC236}">
                      <a16:creationId xmlns:a16="http://schemas.microsoft.com/office/drawing/2014/main" id="{61520209-D68A-D34A-DEDE-263AC9E83ABD}"/>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24">
                  <a:extLst>
                    <a:ext uri="{FF2B5EF4-FFF2-40B4-BE49-F238E27FC236}">
                      <a16:creationId xmlns:a16="http://schemas.microsoft.com/office/drawing/2014/main" id="{C7E896E2-196E-DE2D-A11A-5E47CD0FEFB3}"/>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25">
                  <a:extLst>
                    <a:ext uri="{FF2B5EF4-FFF2-40B4-BE49-F238E27FC236}">
                      <a16:creationId xmlns:a16="http://schemas.microsoft.com/office/drawing/2014/main" id="{9B94F811-ACF4-D512-27AE-C604D026D37C}"/>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6">
                  <a:extLst>
                    <a:ext uri="{FF2B5EF4-FFF2-40B4-BE49-F238E27FC236}">
                      <a16:creationId xmlns:a16="http://schemas.microsoft.com/office/drawing/2014/main" id="{30E20CD0-6B59-1BE9-B8F1-4C761F9B7885}"/>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7">
                  <a:extLst>
                    <a:ext uri="{FF2B5EF4-FFF2-40B4-BE49-F238E27FC236}">
                      <a16:creationId xmlns:a16="http://schemas.microsoft.com/office/drawing/2014/main" id="{2CDDB5EF-D6F0-C3C1-6BA6-0C32DDBD461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8">
                  <a:extLst>
                    <a:ext uri="{FF2B5EF4-FFF2-40B4-BE49-F238E27FC236}">
                      <a16:creationId xmlns:a16="http://schemas.microsoft.com/office/drawing/2014/main" id="{D945F607-00AC-6EF8-1351-5B906A6BD113}"/>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9">
                  <a:extLst>
                    <a:ext uri="{FF2B5EF4-FFF2-40B4-BE49-F238E27FC236}">
                      <a16:creationId xmlns:a16="http://schemas.microsoft.com/office/drawing/2014/main" id="{EFC8ED01-9A6C-DDF0-1BAA-F12E3DB7BFBF}"/>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30">
                  <a:extLst>
                    <a:ext uri="{FF2B5EF4-FFF2-40B4-BE49-F238E27FC236}">
                      <a16:creationId xmlns:a16="http://schemas.microsoft.com/office/drawing/2014/main" id="{39F84C4E-6CCE-854D-6982-0B63464A4CA7}"/>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31">
                  <a:extLst>
                    <a:ext uri="{FF2B5EF4-FFF2-40B4-BE49-F238E27FC236}">
                      <a16:creationId xmlns:a16="http://schemas.microsoft.com/office/drawing/2014/main" id="{398CFF02-AA1F-2E06-D262-E2B7DC1DCB83}"/>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32">
                  <a:extLst>
                    <a:ext uri="{FF2B5EF4-FFF2-40B4-BE49-F238E27FC236}">
                      <a16:creationId xmlns:a16="http://schemas.microsoft.com/office/drawing/2014/main" id="{0F158D69-66F0-775A-E65A-91394ECF6C5D}"/>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33">
                  <a:extLst>
                    <a:ext uri="{FF2B5EF4-FFF2-40B4-BE49-F238E27FC236}">
                      <a16:creationId xmlns:a16="http://schemas.microsoft.com/office/drawing/2014/main" id="{483013D6-0A8C-5643-5D75-B155286D1B8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34">
                  <a:extLst>
                    <a:ext uri="{FF2B5EF4-FFF2-40B4-BE49-F238E27FC236}">
                      <a16:creationId xmlns:a16="http://schemas.microsoft.com/office/drawing/2014/main" id="{AD297AA0-2491-73C4-A33E-4D8F513B2E73}"/>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35">
                  <a:extLst>
                    <a:ext uri="{FF2B5EF4-FFF2-40B4-BE49-F238E27FC236}">
                      <a16:creationId xmlns:a16="http://schemas.microsoft.com/office/drawing/2014/main" id="{16339CE5-35E2-D592-3349-9B40692B075D}"/>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6">
                  <a:extLst>
                    <a:ext uri="{FF2B5EF4-FFF2-40B4-BE49-F238E27FC236}">
                      <a16:creationId xmlns:a16="http://schemas.microsoft.com/office/drawing/2014/main" id="{6C422625-923C-E43D-E496-945FC7FF7698}"/>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7">
                  <a:extLst>
                    <a:ext uri="{FF2B5EF4-FFF2-40B4-BE49-F238E27FC236}">
                      <a16:creationId xmlns:a16="http://schemas.microsoft.com/office/drawing/2014/main" id="{25872A04-E37A-69DF-E737-61633E66285B}"/>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8">
                  <a:extLst>
                    <a:ext uri="{FF2B5EF4-FFF2-40B4-BE49-F238E27FC236}">
                      <a16:creationId xmlns:a16="http://schemas.microsoft.com/office/drawing/2014/main" id="{0CC4A664-5764-C6E7-F9F5-DA7C9015C221}"/>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9">
                  <a:extLst>
                    <a:ext uri="{FF2B5EF4-FFF2-40B4-BE49-F238E27FC236}">
                      <a16:creationId xmlns:a16="http://schemas.microsoft.com/office/drawing/2014/main" id="{570D6514-757C-E951-E59C-61E30D2EC32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Text Box 40">
                  <a:extLst>
                    <a:ext uri="{FF2B5EF4-FFF2-40B4-BE49-F238E27FC236}">
                      <a16:creationId xmlns:a16="http://schemas.microsoft.com/office/drawing/2014/main" id="{82B31F1D-CE83-A843-CB17-BB3B53BD4B1A}"/>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45" name="Rectangle 41">
              <a:extLst>
                <a:ext uri="{FF2B5EF4-FFF2-40B4-BE49-F238E27FC236}">
                  <a16:creationId xmlns:a16="http://schemas.microsoft.com/office/drawing/2014/main" id="{B8AEC5F9-0470-DE29-31D0-4327F2F7F50A}"/>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Tree>
    <p:extLst>
      <p:ext uri="{BB962C8B-B14F-4D97-AF65-F5344CB8AC3E}">
        <p14:creationId xmlns:p14="http://schemas.microsoft.com/office/powerpoint/2010/main" val="161711714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36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320854389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Processing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37</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63" name="Group 62">
            <a:extLst>
              <a:ext uri="{FF2B5EF4-FFF2-40B4-BE49-F238E27FC236}">
                <a16:creationId xmlns:a16="http://schemas.microsoft.com/office/drawing/2014/main" id="{777F0D38-DB73-427A-706E-181DE76E652E}"/>
              </a:ext>
            </a:extLst>
          </p:cNvPr>
          <p:cNvGrpSpPr/>
          <p:nvPr/>
        </p:nvGrpSpPr>
        <p:grpSpPr>
          <a:xfrm>
            <a:off x="1913951" y="1783429"/>
            <a:ext cx="8364097" cy="3855733"/>
            <a:chOff x="1977231" y="2321230"/>
            <a:chExt cx="8364097" cy="3855733"/>
          </a:xfrm>
        </p:grpSpPr>
        <p:grpSp>
          <p:nvGrpSpPr>
            <p:cNvPr id="31" name="Group 30">
              <a:extLst>
                <a:ext uri="{FF2B5EF4-FFF2-40B4-BE49-F238E27FC236}">
                  <a16:creationId xmlns:a16="http://schemas.microsoft.com/office/drawing/2014/main" id="{F10D649D-DBF0-6C01-39D9-519D2DDC8698}"/>
                </a:ext>
              </a:extLst>
            </p:cNvPr>
            <p:cNvGrpSpPr/>
            <p:nvPr/>
          </p:nvGrpSpPr>
          <p:grpSpPr>
            <a:xfrm>
              <a:off x="1977231" y="2321230"/>
              <a:ext cx="8237538" cy="3381375"/>
              <a:chOff x="479425" y="1573213"/>
              <a:chExt cx="8237538" cy="3381375"/>
            </a:xfrm>
          </p:grpSpPr>
          <p:sp>
            <p:nvSpPr>
              <p:cNvPr id="13" name="Text Box 2">
                <a:extLst>
                  <a:ext uri="{FF2B5EF4-FFF2-40B4-BE49-F238E27FC236}">
                    <a16:creationId xmlns:a16="http://schemas.microsoft.com/office/drawing/2014/main" id="{AA14462E-A2E1-746A-5DDF-D42BDC575EE5}"/>
                  </a:ext>
                </a:extLst>
              </p:cNvPr>
              <p:cNvSpPr txBox="1">
                <a:spLocks noChangeArrowheads="1"/>
              </p:cNvSpPr>
              <p:nvPr/>
            </p:nvSpPr>
            <p:spPr bwMode="auto">
              <a:xfrm>
                <a:off x="2283680" y="2482850"/>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Cure </a:t>
                </a:r>
              </a:p>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Oven</a:t>
                </a:r>
              </a:p>
            </p:txBody>
          </p:sp>
          <p:sp>
            <p:nvSpPr>
              <p:cNvPr id="14" name="AutoShape 3">
                <a:extLst>
                  <a:ext uri="{FF2B5EF4-FFF2-40B4-BE49-F238E27FC236}">
                    <a16:creationId xmlns:a16="http://schemas.microsoft.com/office/drawing/2014/main" id="{1452430F-EE51-EC72-8A42-A78C5C0E8E3F}"/>
                  </a:ext>
                </a:extLst>
              </p:cNvPr>
              <p:cNvSpPr>
                <a:spLocks noChangeArrowheads="1"/>
              </p:cNvSpPr>
              <p:nvPr/>
            </p:nvSpPr>
            <p:spPr bwMode="auto">
              <a:xfrm>
                <a:off x="1719263" y="2586038"/>
                <a:ext cx="276225" cy="273050"/>
              </a:xfrm>
              <a:custGeom>
                <a:avLst/>
                <a:gdLst>
                  <a:gd name="T0" fmla="*/ 33879981 w 21600"/>
                  <a:gd name="T1" fmla="*/ 0 h 21600"/>
                  <a:gd name="T2" fmla="*/ 0 w 21600"/>
                  <a:gd name="T3" fmla="*/ 21816695 h 21600"/>
                  <a:gd name="T4" fmla="*/ 33879981 w 21600"/>
                  <a:gd name="T5" fmla="*/ 43633403 h 21600"/>
                  <a:gd name="T6" fmla="*/ 45173261 w 21600"/>
                  <a:gd name="T7" fmla="*/ 21816695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15" name="AutoShape 4">
                <a:extLst>
                  <a:ext uri="{FF2B5EF4-FFF2-40B4-BE49-F238E27FC236}">
                    <a16:creationId xmlns:a16="http://schemas.microsoft.com/office/drawing/2014/main" id="{19BA461D-2E8A-07EA-750C-18069467B69C}"/>
                  </a:ext>
                </a:extLst>
              </p:cNvPr>
              <p:cNvSpPr>
                <a:spLocks noChangeArrowheads="1"/>
              </p:cNvSpPr>
              <p:nvPr/>
            </p:nvSpPr>
            <p:spPr bwMode="auto">
              <a:xfrm>
                <a:off x="3235325" y="2578100"/>
                <a:ext cx="276225" cy="273050"/>
              </a:xfrm>
              <a:custGeom>
                <a:avLst/>
                <a:gdLst>
                  <a:gd name="T0" fmla="*/ 33879981 w 21600"/>
                  <a:gd name="T1" fmla="*/ 0 h 21600"/>
                  <a:gd name="T2" fmla="*/ 0 w 21600"/>
                  <a:gd name="T3" fmla="*/ 21816695 h 21600"/>
                  <a:gd name="T4" fmla="*/ 33879981 w 21600"/>
                  <a:gd name="T5" fmla="*/ 43633403 h 21600"/>
                  <a:gd name="T6" fmla="*/ 45173261 w 21600"/>
                  <a:gd name="T7" fmla="*/ 21816695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16" name="Rectangle 5">
                <a:extLst>
                  <a:ext uri="{FF2B5EF4-FFF2-40B4-BE49-F238E27FC236}">
                    <a16:creationId xmlns:a16="http://schemas.microsoft.com/office/drawing/2014/main" id="{3B2919F4-88D9-493A-932C-47FE270981D2}"/>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Text Box 6">
                <a:extLst>
                  <a:ext uri="{FF2B5EF4-FFF2-40B4-BE49-F238E27FC236}">
                    <a16:creationId xmlns:a16="http://schemas.microsoft.com/office/drawing/2014/main" id="{7CC7E5E7-47EF-3CDB-B8FC-4B78F70A2C8B}"/>
                  </a:ext>
                </a:extLst>
              </p:cNvPr>
              <p:cNvSpPr txBox="1">
                <a:spLocks noChangeArrowheads="1"/>
              </p:cNvSpPr>
              <p:nvPr/>
            </p:nvSpPr>
            <p:spPr bwMode="auto">
              <a:xfrm>
                <a:off x="673506" y="1573213"/>
                <a:ext cx="3166251"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a:latin typeface="Roboto" panose="02000000000000000000" pitchFamily="2" charset="0"/>
                    <a:ea typeface="Roboto" panose="02000000000000000000" pitchFamily="2" charset="0"/>
                  </a:rPr>
                  <a:t>Processing Time Calculation</a:t>
                </a:r>
              </a:p>
            </p:txBody>
          </p:sp>
          <p:sp>
            <p:nvSpPr>
              <p:cNvPr id="18" name="Rectangle 7">
                <a:extLst>
                  <a:ext uri="{FF2B5EF4-FFF2-40B4-BE49-F238E27FC236}">
                    <a16:creationId xmlns:a16="http://schemas.microsoft.com/office/drawing/2014/main" id="{ED436FD4-37F6-CF4E-C52F-EBA7F8684693}"/>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Processing Time Definition</a:t>
                </a:r>
              </a:p>
            </p:txBody>
          </p:sp>
          <p:sp>
            <p:nvSpPr>
              <p:cNvPr id="19" name="Rectangle 8">
                <a:extLst>
                  <a:ext uri="{FF2B5EF4-FFF2-40B4-BE49-F238E27FC236}">
                    <a16:creationId xmlns:a16="http://schemas.microsoft.com/office/drawing/2014/main" id="{3E378DE4-7911-2990-8054-272A22949573}"/>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Note on Processing Time</a:t>
                </a:r>
              </a:p>
            </p:txBody>
          </p:sp>
          <p:sp>
            <p:nvSpPr>
              <p:cNvPr id="20" name="Rectangle 9">
                <a:extLst>
                  <a:ext uri="{FF2B5EF4-FFF2-40B4-BE49-F238E27FC236}">
                    <a16:creationId xmlns:a16="http://schemas.microsoft.com/office/drawing/2014/main" id="{9B3C8E18-D210-19F6-ACC6-46DBB4957E15}"/>
                  </a:ext>
                </a:extLst>
              </p:cNvPr>
              <p:cNvSpPr>
                <a:spLocks noChangeArrowheads="1"/>
              </p:cNvSpPr>
              <p:nvPr/>
            </p:nvSpPr>
            <p:spPr bwMode="auto">
              <a:xfrm>
                <a:off x="5340350" y="2058988"/>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The time in a process when work is actually being performed to transform a product or service to a </a:t>
                </a:r>
                <a:br>
                  <a:rPr lang="en-US" altLang="en-US" sz="1600" dirty="0">
                    <a:latin typeface="Roboto" panose="02000000000000000000" pitchFamily="2" charset="0"/>
                    <a:ea typeface="Roboto" panose="02000000000000000000" pitchFamily="2" charset="0"/>
                  </a:rPr>
                </a:br>
                <a:r>
                  <a:rPr lang="en-US" altLang="en-US" sz="1600" dirty="0">
                    <a:latin typeface="Roboto" panose="02000000000000000000" pitchFamily="2" charset="0"/>
                    <a:ea typeface="Roboto" panose="02000000000000000000" pitchFamily="2" charset="0"/>
                  </a:rPr>
                  <a:t>new state.</a:t>
                </a:r>
              </a:p>
              <a:p>
                <a:pPr eaLnBrk="1" hangingPunct="1">
                  <a:lnSpc>
                    <a:spcPct val="100000"/>
                  </a:lnSpc>
                  <a:spcBef>
                    <a:spcPct val="30000"/>
                  </a:spcBef>
                  <a:spcAft>
                    <a:spcPct val="0"/>
                  </a:spcAft>
                  <a:buClr>
                    <a:schemeClr val="tx1"/>
                  </a:buClr>
                  <a:buSzPct val="90000"/>
                  <a:buFont typeface="Arial" panose="020B0604020202020204" pitchFamily="34" charset="0"/>
                  <a:buChar char="•"/>
                </a:pPr>
                <a:endParaRPr lang="en-US" altLang="en-US" sz="1600" dirty="0">
                  <a:latin typeface="Roboto" panose="02000000000000000000" pitchFamily="2" charset="0"/>
                  <a:ea typeface="Roboto" panose="02000000000000000000" pitchFamily="2" charset="0"/>
                </a:endParaRPr>
              </a:p>
            </p:txBody>
          </p:sp>
          <p:cxnSp>
            <p:nvCxnSpPr>
              <p:cNvPr id="21" name="AutoShape 10">
                <a:extLst>
                  <a:ext uri="{FF2B5EF4-FFF2-40B4-BE49-F238E27FC236}">
                    <a16:creationId xmlns:a16="http://schemas.microsoft.com/office/drawing/2014/main" id="{13318031-BF53-975F-7DAA-C05F6012C53F}"/>
                  </a:ext>
                </a:extLst>
              </p:cNvPr>
              <p:cNvCxnSpPr>
                <a:cxnSpLocks noChangeShapeType="1"/>
                <a:stCxn id="16" idx="3"/>
                <a:endCxn id="18"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2" name="AutoShape 11">
                <a:extLst>
                  <a:ext uri="{FF2B5EF4-FFF2-40B4-BE49-F238E27FC236}">
                    <a16:creationId xmlns:a16="http://schemas.microsoft.com/office/drawing/2014/main" id="{0883575E-EC85-5D81-763A-27F1618B750C}"/>
                  </a:ext>
                </a:extLst>
              </p:cNvPr>
              <p:cNvCxnSpPr>
                <a:cxnSpLocks noChangeShapeType="1"/>
                <a:stCxn id="16" idx="3"/>
                <a:endCxn id="19"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3" name="Text Box 14">
                <a:extLst>
                  <a:ext uri="{FF2B5EF4-FFF2-40B4-BE49-F238E27FC236}">
                    <a16:creationId xmlns:a16="http://schemas.microsoft.com/office/drawing/2014/main" id="{38B22898-71EB-99D3-9E76-EA51C6AD0162}"/>
                  </a:ext>
                </a:extLst>
              </p:cNvPr>
              <p:cNvSpPr txBox="1">
                <a:spLocks noChangeArrowheads="1"/>
              </p:cNvSpPr>
              <p:nvPr/>
            </p:nvSpPr>
            <p:spPr bwMode="auto">
              <a:xfrm>
                <a:off x="547688" y="4389438"/>
                <a:ext cx="42386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solidFill>
                      <a:srgbClr val="FF0000"/>
                    </a:solidFill>
                    <a:latin typeface="Roboto" panose="02000000000000000000" pitchFamily="2" charset="0"/>
                    <a:ea typeface="Roboto" panose="02000000000000000000" pitchFamily="2" charset="0"/>
                  </a:rPr>
                  <a:t>Processing Time = 2 days x 8 hrs. x 60 min. = 960 min. / Cycle</a:t>
                </a:r>
                <a:endParaRPr lang="en-US" altLang="en-US" sz="1400">
                  <a:solidFill>
                    <a:srgbClr val="FF0000"/>
                  </a:solidFill>
                  <a:latin typeface="Roboto" panose="02000000000000000000" pitchFamily="2" charset="0"/>
                  <a:ea typeface="Roboto" panose="02000000000000000000" pitchFamily="2" charset="0"/>
                  <a:cs typeface="Arial" panose="020B0604020202020204" pitchFamily="34" charset="0"/>
                </a:endParaRPr>
              </a:p>
            </p:txBody>
          </p:sp>
          <p:sp>
            <p:nvSpPr>
              <p:cNvPr id="24" name="Text Box 15">
                <a:extLst>
                  <a:ext uri="{FF2B5EF4-FFF2-40B4-BE49-F238E27FC236}">
                    <a16:creationId xmlns:a16="http://schemas.microsoft.com/office/drawing/2014/main" id="{28B51382-4991-9829-0623-B1402EA63FE5}"/>
                  </a:ext>
                </a:extLst>
              </p:cNvPr>
              <p:cNvSpPr txBox="1">
                <a:spLocks noChangeArrowheads="1"/>
              </p:cNvSpPr>
              <p:nvPr/>
            </p:nvSpPr>
            <p:spPr bwMode="auto">
              <a:xfrm>
                <a:off x="646918" y="3376613"/>
                <a:ext cx="374012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Product Specification = 4 Sr. </a:t>
                </a:r>
                <a:r>
                  <a:rPr lang="en-US" altLang="en-US" sz="1800" dirty="0" err="1">
                    <a:latin typeface="Roboto" panose="02000000000000000000" pitchFamily="2" charset="0"/>
                    <a:ea typeface="Roboto" panose="02000000000000000000" pitchFamily="2" charset="0"/>
                  </a:rPr>
                  <a:t>Engi</a:t>
                </a:r>
                <a:r>
                  <a:rPr lang="en-US" altLang="en-US" sz="1800" dirty="0">
                    <a:latin typeface="Roboto" panose="02000000000000000000" pitchFamily="2" charset="0"/>
                    <a:ea typeface="Roboto" panose="02000000000000000000" pitchFamily="2" charset="0"/>
                  </a:rPr>
                  <a:t>.</a:t>
                </a:r>
              </a:p>
              <a:p>
                <a:pPr algn="ct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Process Time = 2 Days</a:t>
                </a:r>
              </a:p>
            </p:txBody>
          </p:sp>
          <p:sp>
            <p:nvSpPr>
              <p:cNvPr id="25" name="Document">
                <a:extLst>
                  <a:ext uri="{FF2B5EF4-FFF2-40B4-BE49-F238E27FC236}">
                    <a16:creationId xmlns:a16="http://schemas.microsoft.com/office/drawing/2014/main" id="{224CEA45-1E1A-6630-0B93-8C89417524CB}"/>
                  </a:ext>
                </a:extLst>
              </p:cNvPr>
              <p:cNvSpPr>
                <a:spLocks noEditPoints="1" noChangeArrowheads="1"/>
              </p:cNvSpPr>
              <p:nvPr/>
            </p:nvSpPr>
            <p:spPr bwMode="auto">
              <a:xfrm>
                <a:off x="949325" y="2452688"/>
                <a:ext cx="568325" cy="661987"/>
              </a:xfrm>
              <a:custGeom>
                <a:avLst/>
                <a:gdLst>
                  <a:gd name="T0" fmla="*/ 7446926 w 21600"/>
                  <a:gd name="T1" fmla="*/ 20318342 h 21600"/>
                  <a:gd name="T2" fmla="*/ 58832 w 21600"/>
                  <a:gd name="T3" fmla="*/ 10190156 h 21600"/>
                  <a:gd name="T4" fmla="*/ 7446926 w 21600"/>
                  <a:gd name="T5" fmla="*/ 76067 h 21600"/>
                  <a:gd name="T6" fmla="*/ 15026776 w 21600"/>
                  <a:gd name="T7" fmla="*/ 10005137 h 21600"/>
                  <a:gd name="T8" fmla="*/ 7446926 w 21600"/>
                  <a:gd name="T9" fmla="*/ 20318342 h 21600"/>
                  <a:gd name="T10" fmla="*/ 0 w 21600"/>
                  <a:gd name="T11" fmla="*/ 0 h 21600"/>
                  <a:gd name="T12" fmla="*/ 14953394 w 21600"/>
                  <a:gd name="T13" fmla="*/ 0 h 21600"/>
                  <a:gd name="T14" fmla="*/ 14953394 w 21600"/>
                  <a:gd name="T15" fmla="*/ 20288277 h 21600"/>
                  <a:gd name="T16" fmla="*/ 0 60000 65536"/>
                  <a:gd name="T17" fmla="*/ 0 60000 65536"/>
                  <a:gd name="T18" fmla="*/ 0 60000 65536"/>
                  <a:gd name="T19" fmla="*/ 0 60000 65536"/>
                  <a:gd name="T20" fmla="*/ 0 60000 65536"/>
                  <a:gd name="T21" fmla="*/ 0 60000 65536"/>
                  <a:gd name="T22" fmla="*/ 0 60000 65536"/>
                  <a:gd name="T23" fmla="*/ 0 60000 65536"/>
                  <a:gd name="T24" fmla="*/ 977 w 21600"/>
                  <a:gd name="T25" fmla="*/ 818 h 21600"/>
                  <a:gd name="T26" fmla="*/ 20622 w 21600"/>
                  <a:gd name="T27" fmla="*/ 16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0757" y="21632"/>
                    </a:moveTo>
                    <a:lnTo>
                      <a:pt x="5187" y="21632"/>
                    </a:lnTo>
                    <a:lnTo>
                      <a:pt x="85" y="17509"/>
                    </a:lnTo>
                    <a:lnTo>
                      <a:pt x="85" y="10849"/>
                    </a:lnTo>
                    <a:lnTo>
                      <a:pt x="85" y="81"/>
                    </a:lnTo>
                    <a:lnTo>
                      <a:pt x="10757" y="81"/>
                    </a:lnTo>
                    <a:lnTo>
                      <a:pt x="21706" y="81"/>
                    </a:lnTo>
                    <a:lnTo>
                      <a:pt x="21706" y="10652"/>
                    </a:lnTo>
                    <a:lnTo>
                      <a:pt x="21706" y="21632"/>
                    </a:lnTo>
                    <a:lnTo>
                      <a:pt x="10757" y="21632"/>
                    </a:lnTo>
                    <a:close/>
                  </a:path>
                  <a:path w="21600" h="21600">
                    <a:moveTo>
                      <a:pt x="85" y="17509"/>
                    </a:moveTo>
                    <a:lnTo>
                      <a:pt x="5187" y="17509"/>
                    </a:lnTo>
                    <a:lnTo>
                      <a:pt x="5187" y="21632"/>
                    </a:lnTo>
                    <a:lnTo>
                      <a:pt x="85" y="17509"/>
                    </a:lnTo>
                    <a:close/>
                  </a:path>
                </a:pathLst>
              </a:custGeom>
              <a:solidFill>
                <a:srgbClr val="D8EBB3"/>
              </a:solidFill>
              <a:ln w="9525">
                <a:solidFill>
                  <a:srgbClr val="000000"/>
                </a:solidFill>
                <a:miter lim="800000"/>
                <a:headEnd/>
                <a:tailEnd/>
              </a:ln>
              <a:effectLst>
                <a:outerShdw dist="107763" dir="2700000" algn="ctr" rotWithShape="0">
                  <a:srgbClr val="808080"/>
                </a:outerShdw>
              </a:effectLst>
            </p:spPr>
            <p:txBody>
              <a:bodyPr/>
              <a:lstStyle/>
              <a:p>
                <a:endParaRPr lang="en-US">
                  <a:latin typeface="Roboto" panose="02000000000000000000" pitchFamily="2" charset="0"/>
                  <a:ea typeface="Roboto" panose="02000000000000000000" pitchFamily="2" charset="0"/>
                </a:endParaRPr>
              </a:p>
            </p:txBody>
          </p:sp>
          <p:sp>
            <p:nvSpPr>
              <p:cNvPr id="26" name="Documents">
                <a:extLst>
                  <a:ext uri="{FF2B5EF4-FFF2-40B4-BE49-F238E27FC236}">
                    <a16:creationId xmlns:a16="http://schemas.microsoft.com/office/drawing/2014/main" id="{9F69FE50-3C86-EF7F-BEA2-6BECF7FD1428}"/>
                  </a:ext>
                </a:extLst>
              </p:cNvPr>
              <p:cNvSpPr>
                <a:spLocks noEditPoints="1" noChangeArrowheads="1"/>
              </p:cNvSpPr>
              <p:nvPr/>
            </p:nvSpPr>
            <p:spPr bwMode="auto">
              <a:xfrm>
                <a:off x="3765550" y="2325688"/>
                <a:ext cx="712788" cy="911225"/>
              </a:xfrm>
              <a:custGeom>
                <a:avLst/>
                <a:gdLst>
                  <a:gd name="T0" fmla="*/ 0 w 21600"/>
                  <a:gd name="T1" fmla="*/ 4983135 h 21600"/>
                  <a:gd name="T2" fmla="*/ 3776522 w 21600"/>
                  <a:gd name="T3" fmla="*/ 0 h 21600"/>
                  <a:gd name="T4" fmla="*/ 23579324 w 21600"/>
                  <a:gd name="T5" fmla="*/ 33507937 h 21600"/>
                  <a:gd name="T6" fmla="*/ 21729177 w 21600"/>
                  <a:gd name="T7" fmla="*/ 35974615 h 21600"/>
                  <a:gd name="T8" fmla="*/ 19880119 w 21600"/>
                  <a:gd name="T9" fmla="*/ 38491072 h 21600"/>
                  <a:gd name="T10" fmla="*/ 21729177 w 21600"/>
                  <a:gd name="T11" fmla="*/ 2541390 h 21600"/>
                  <a:gd name="T12" fmla="*/ 19880119 w 21600"/>
                  <a:gd name="T13" fmla="*/ 4983135 h 21600"/>
                  <a:gd name="T14" fmla="*/ 1791342 w 21600"/>
                  <a:gd name="T15" fmla="*/ 2541390 h 21600"/>
                  <a:gd name="T16" fmla="*/ 23521608 w 21600"/>
                  <a:gd name="T17" fmla="*/ 0 h 21600"/>
                  <a:gd name="T18" fmla="*/ 11760804 w 21600"/>
                  <a:gd name="T19" fmla="*/ 0 h 21600"/>
                  <a:gd name="T20" fmla="*/ 0 w 21600"/>
                  <a:gd name="T21" fmla="*/ 19220646 h 21600"/>
                  <a:gd name="T22" fmla="*/ 23521608 w 21600"/>
                  <a:gd name="T23" fmla="*/ 19220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D8EBB3"/>
              </a:solidFill>
              <a:ln w="9525">
                <a:solidFill>
                  <a:srgbClr val="000000"/>
                </a:solidFill>
                <a:miter lim="800000"/>
                <a:headEnd/>
                <a:tailEnd/>
              </a:ln>
              <a:effectLst>
                <a:outerShdw dist="107763" dir="2700000" algn="ctr" rotWithShape="0">
                  <a:srgbClr val="808080"/>
                </a:outerShdw>
              </a:effectLst>
            </p:spPr>
            <p:txBody>
              <a:bodyPr/>
              <a:lstStyle/>
              <a:p>
                <a:endParaRPr lang="en-US">
                  <a:latin typeface="Roboto" panose="02000000000000000000" pitchFamily="2" charset="0"/>
                  <a:ea typeface="Roboto" panose="02000000000000000000" pitchFamily="2" charset="0"/>
                </a:endParaRPr>
              </a:p>
            </p:txBody>
          </p:sp>
          <p:pic>
            <p:nvPicPr>
              <p:cNvPr id="27" name="Object 27">
                <a:extLst>
                  <a:ext uri="{FF2B5EF4-FFF2-40B4-BE49-F238E27FC236}">
                    <a16:creationId xmlns:a16="http://schemas.microsoft.com/office/drawing/2014/main" id="{3E6BDE72-9441-2F3B-8BF7-5484EBAE2AE3}"/>
                  </a:ext>
                </a:extLst>
              </p:cNvPr>
              <p:cNvPicPr>
                <a:picLocks noChangeAspect="1" noChangeArrowheads="1"/>
              </p:cNvPicPr>
              <p:nvPr/>
            </p:nvPicPr>
            <p:blipFill>
              <a:blip r:embed="rId3"/>
              <a:srcRect/>
              <a:stretch>
                <a:fillRect/>
              </a:stretch>
            </p:blipFill>
            <p:spPr>
              <a:xfrm>
                <a:off x="2609850" y="2828925"/>
                <a:ext cx="687388" cy="781050"/>
              </a:xfrm>
              <a:prstGeom prst="rect">
                <a:avLst/>
              </a:prstGeom>
            </p:spPr>
          </p:pic>
          <p:pic>
            <p:nvPicPr>
              <p:cNvPr id="28" name="Object 28">
                <a:extLst>
                  <a:ext uri="{FF2B5EF4-FFF2-40B4-BE49-F238E27FC236}">
                    <a16:creationId xmlns:a16="http://schemas.microsoft.com/office/drawing/2014/main" id="{29DE4765-FB59-9883-6B88-13A15A109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3550" y="2828925"/>
                <a:ext cx="687388" cy="781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Object 29">
                <a:extLst>
                  <a:ext uri="{FF2B5EF4-FFF2-40B4-BE49-F238E27FC236}">
                    <a16:creationId xmlns:a16="http://schemas.microsoft.com/office/drawing/2014/main" id="{83B864F9-6D14-66A2-2E0F-0EF1EAE762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09850" y="1990725"/>
                <a:ext cx="687388" cy="781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Object 30">
                <a:extLst>
                  <a:ext uri="{FF2B5EF4-FFF2-40B4-BE49-F238E27FC236}">
                    <a16:creationId xmlns:a16="http://schemas.microsoft.com/office/drawing/2014/main" id="{C10F5997-BB56-13D2-76E1-BE438AFD66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3550" y="1990725"/>
                <a:ext cx="687388" cy="781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2" name="Rectangle 12">
              <a:extLst>
                <a:ext uri="{FF2B5EF4-FFF2-40B4-BE49-F238E27FC236}">
                  <a16:creationId xmlns:a16="http://schemas.microsoft.com/office/drawing/2014/main" id="{6250E97D-57CD-F945-E5D6-13C58714EDA2}"/>
                </a:ext>
              </a:extLst>
            </p:cNvPr>
            <p:cNvSpPr>
              <a:spLocks noChangeArrowheads="1"/>
            </p:cNvSpPr>
            <p:nvPr/>
          </p:nvSpPr>
          <p:spPr bwMode="auto">
            <a:xfrm>
              <a:off x="6848828" y="4960938"/>
              <a:ext cx="3492500"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For each process in the value stream processing time is observed.</a:t>
              </a:r>
            </a:p>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If processing time cannot be directly observed, it should be estimated by the individuals actually performing the task.</a:t>
              </a:r>
            </a:p>
          </p:txBody>
        </p:sp>
      </p:grpSp>
    </p:spTree>
    <p:extLst>
      <p:ext uri="{BB962C8B-B14F-4D97-AF65-F5344CB8AC3E}">
        <p14:creationId xmlns:p14="http://schemas.microsoft.com/office/powerpoint/2010/main" val="214496932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Process Lead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38</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3" name="Group 42">
            <a:extLst>
              <a:ext uri="{FF2B5EF4-FFF2-40B4-BE49-F238E27FC236}">
                <a16:creationId xmlns:a16="http://schemas.microsoft.com/office/drawing/2014/main" id="{76EABFAE-7F50-7255-3546-D84357E6D592}"/>
              </a:ext>
            </a:extLst>
          </p:cNvPr>
          <p:cNvGrpSpPr/>
          <p:nvPr/>
        </p:nvGrpSpPr>
        <p:grpSpPr>
          <a:xfrm>
            <a:off x="1584692" y="1876426"/>
            <a:ext cx="8238332" cy="4300537"/>
            <a:chOff x="479425" y="1573213"/>
            <a:chExt cx="8238332" cy="4300537"/>
          </a:xfrm>
        </p:grpSpPr>
        <p:sp>
          <p:nvSpPr>
            <p:cNvPr id="32" name="Text Box 2">
              <a:extLst>
                <a:ext uri="{FF2B5EF4-FFF2-40B4-BE49-F238E27FC236}">
                  <a16:creationId xmlns:a16="http://schemas.microsoft.com/office/drawing/2014/main" id="{588BA392-F780-47A0-24B4-ED7DCA28191F}"/>
                </a:ext>
              </a:extLst>
            </p:cNvPr>
            <p:cNvSpPr txBox="1">
              <a:spLocks noChangeArrowheads="1"/>
            </p:cNvSpPr>
            <p:nvPr/>
          </p:nvSpPr>
          <p:spPr bwMode="auto">
            <a:xfrm>
              <a:off x="2283680" y="2482850"/>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Cure </a:t>
              </a:r>
            </a:p>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Oven</a:t>
              </a:r>
            </a:p>
          </p:txBody>
        </p:sp>
        <p:sp>
          <p:nvSpPr>
            <p:cNvPr id="33" name="Rectangle 5">
              <a:extLst>
                <a:ext uri="{FF2B5EF4-FFF2-40B4-BE49-F238E27FC236}">
                  <a16:creationId xmlns:a16="http://schemas.microsoft.com/office/drawing/2014/main" id="{9790F8D4-2101-D46F-1940-70EFDA0A1604}"/>
                </a:ext>
              </a:extLst>
            </p:cNvPr>
            <p:cNvSpPr>
              <a:spLocks noChangeArrowheads="1"/>
            </p:cNvSpPr>
            <p:nvPr/>
          </p:nvSpPr>
          <p:spPr bwMode="auto">
            <a:xfrm>
              <a:off x="479425" y="1752600"/>
              <a:ext cx="4414838" cy="32019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Text Box 6">
              <a:extLst>
                <a:ext uri="{FF2B5EF4-FFF2-40B4-BE49-F238E27FC236}">
                  <a16:creationId xmlns:a16="http://schemas.microsoft.com/office/drawing/2014/main" id="{E28B97A4-BA32-F8A7-FC8D-6B829EE585F3}"/>
                </a:ext>
              </a:extLst>
            </p:cNvPr>
            <p:cNvSpPr txBox="1">
              <a:spLocks noChangeArrowheads="1"/>
            </p:cNvSpPr>
            <p:nvPr/>
          </p:nvSpPr>
          <p:spPr bwMode="auto">
            <a:xfrm>
              <a:off x="554082" y="1573213"/>
              <a:ext cx="3405099"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a:latin typeface="Roboto" panose="02000000000000000000" pitchFamily="2" charset="0"/>
                  <a:ea typeface="Roboto" panose="02000000000000000000" pitchFamily="2" charset="0"/>
                </a:rPr>
                <a:t>Process Lead Time Calculation</a:t>
              </a:r>
            </a:p>
          </p:txBody>
        </p:sp>
        <p:sp>
          <p:nvSpPr>
            <p:cNvPr id="35" name="Rectangle 7">
              <a:extLst>
                <a:ext uri="{FF2B5EF4-FFF2-40B4-BE49-F238E27FC236}">
                  <a16:creationId xmlns:a16="http://schemas.microsoft.com/office/drawing/2014/main" id="{E8EAE186-5F94-D29E-B8BE-66B3A51EFA22}"/>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Process Lead Time Definition</a:t>
              </a:r>
            </a:p>
          </p:txBody>
        </p:sp>
        <p:sp>
          <p:nvSpPr>
            <p:cNvPr id="36" name="Rectangle 8">
              <a:extLst>
                <a:ext uri="{FF2B5EF4-FFF2-40B4-BE49-F238E27FC236}">
                  <a16:creationId xmlns:a16="http://schemas.microsoft.com/office/drawing/2014/main" id="{2F9E416E-2DD5-27EE-6A8B-9D6788AE666E}"/>
                </a:ext>
              </a:extLst>
            </p:cNvPr>
            <p:cNvSpPr>
              <a:spLocks noChangeArrowheads="1"/>
            </p:cNvSpPr>
            <p:nvPr/>
          </p:nvSpPr>
          <p:spPr bwMode="auto">
            <a:xfrm>
              <a:off x="5434013" y="3852863"/>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Note on Process Lead Time</a:t>
              </a:r>
            </a:p>
          </p:txBody>
        </p:sp>
        <p:sp>
          <p:nvSpPr>
            <p:cNvPr id="37" name="Rectangle 9">
              <a:extLst>
                <a:ext uri="{FF2B5EF4-FFF2-40B4-BE49-F238E27FC236}">
                  <a16:creationId xmlns:a16="http://schemas.microsoft.com/office/drawing/2014/main" id="{9CAAD1EA-03D4-DD1F-DD83-7643B2DFE84B}"/>
                </a:ext>
              </a:extLst>
            </p:cNvPr>
            <p:cNvSpPr>
              <a:spLocks noChangeArrowheads="1"/>
            </p:cNvSpPr>
            <p:nvPr/>
          </p:nvSpPr>
          <p:spPr bwMode="auto">
            <a:xfrm>
              <a:off x="5341144" y="2058988"/>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a:latin typeface="Roboto" panose="02000000000000000000" pitchFamily="2" charset="0"/>
                  <a:ea typeface="Roboto" panose="02000000000000000000" pitchFamily="2" charset="0"/>
                </a:rPr>
                <a:t>The total elapsed time that a single product or service remains in a process</a:t>
              </a:r>
            </a:p>
            <a:p>
              <a:pPr eaLnBrk="1" hangingPunct="1">
                <a:lnSpc>
                  <a:spcPct val="100000"/>
                </a:lnSpc>
                <a:spcBef>
                  <a:spcPct val="30000"/>
                </a:spcBef>
                <a:spcAft>
                  <a:spcPct val="0"/>
                </a:spcAft>
                <a:buClr>
                  <a:schemeClr val="tx1"/>
                </a:buClr>
                <a:buSzPct val="90000"/>
                <a:buFont typeface="Arial" panose="020B0604020202020204" pitchFamily="34" charset="0"/>
                <a:buChar char="•"/>
              </a:pPr>
              <a:endParaRPr lang="en-US" altLang="en-US" sz="1600">
                <a:latin typeface="Roboto" panose="02000000000000000000" pitchFamily="2" charset="0"/>
                <a:ea typeface="Roboto" panose="02000000000000000000" pitchFamily="2" charset="0"/>
              </a:endParaRPr>
            </a:p>
          </p:txBody>
        </p:sp>
        <p:cxnSp>
          <p:nvCxnSpPr>
            <p:cNvPr id="38" name="AutoShape 10">
              <a:extLst>
                <a:ext uri="{FF2B5EF4-FFF2-40B4-BE49-F238E27FC236}">
                  <a16:creationId xmlns:a16="http://schemas.microsoft.com/office/drawing/2014/main" id="{887CA7C1-4B3B-BA48-6FE6-E01AAC894EAA}"/>
                </a:ext>
              </a:extLst>
            </p:cNvPr>
            <p:cNvCxnSpPr>
              <a:cxnSpLocks noChangeShapeType="1"/>
              <a:stCxn id="33" idx="3"/>
              <a:endCxn id="35" idx="1"/>
            </p:cNvCxnSpPr>
            <p:nvPr/>
          </p:nvCxnSpPr>
          <p:spPr bwMode="auto">
            <a:xfrm flipV="1">
              <a:off x="4903788" y="1858963"/>
              <a:ext cx="530225" cy="1495425"/>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9" name="AutoShape 11">
              <a:extLst>
                <a:ext uri="{FF2B5EF4-FFF2-40B4-BE49-F238E27FC236}">
                  <a16:creationId xmlns:a16="http://schemas.microsoft.com/office/drawing/2014/main" id="{407C953C-7847-1A52-A8B4-6BCE467A12F4}"/>
                </a:ext>
              </a:extLst>
            </p:cNvPr>
            <p:cNvCxnSpPr>
              <a:cxnSpLocks noChangeShapeType="1"/>
              <a:stCxn id="33" idx="3"/>
              <a:endCxn id="36" idx="1"/>
            </p:cNvCxnSpPr>
            <p:nvPr/>
          </p:nvCxnSpPr>
          <p:spPr bwMode="auto">
            <a:xfrm>
              <a:off x="4903788" y="3354388"/>
              <a:ext cx="530225" cy="65246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40" name="Rectangle 12">
              <a:extLst>
                <a:ext uri="{FF2B5EF4-FFF2-40B4-BE49-F238E27FC236}">
                  <a16:creationId xmlns:a16="http://schemas.microsoft.com/office/drawing/2014/main" id="{497EA548-3A78-2885-43CF-E77247A4E199}"/>
                </a:ext>
              </a:extLst>
            </p:cNvPr>
            <p:cNvSpPr>
              <a:spLocks noChangeArrowheads="1"/>
            </p:cNvSpPr>
            <p:nvPr/>
          </p:nvSpPr>
          <p:spPr bwMode="auto">
            <a:xfrm>
              <a:off x="5341144" y="4187825"/>
              <a:ext cx="3376612" cy="168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Process Lead Time for </a:t>
              </a:r>
              <a:r>
                <a:rPr lang="en-US" altLang="en-US" sz="1600" u="sng" dirty="0">
                  <a:latin typeface="Roboto" panose="02000000000000000000" pitchFamily="2" charset="0"/>
                  <a:ea typeface="Roboto" panose="02000000000000000000" pitchFamily="2" charset="0"/>
                </a:rPr>
                <a:t>one unit</a:t>
              </a:r>
              <a:r>
                <a:rPr lang="en-US" altLang="en-US" sz="1600" dirty="0">
                  <a:latin typeface="Roboto" panose="02000000000000000000" pitchFamily="2" charset="0"/>
                  <a:ea typeface="Roboto" panose="02000000000000000000" pitchFamily="2" charset="0"/>
                </a:rPr>
                <a:t> is the total time it takes from the point that it enters the process until it is completed and ready to move to the next process.</a:t>
              </a:r>
            </a:p>
          </p:txBody>
        </p:sp>
        <p:sp>
          <p:nvSpPr>
            <p:cNvPr id="41" name="Text Box 15">
              <a:extLst>
                <a:ext uri="{FF2B5EF4-FFF2-40B4-BE49-F238E27FC236}">
                  <a16:creationId xmlns:a16="http://schemas.microsoft.com/office/drawing/2014/main" id="{4E321005-2D38-2314-3787-1C481FAC9A90}"/>
                </a:ext>
              </a:extLst>
            </p:cNvPr>
            <p:cNvSpPr txBox="1">
              <a:spLocks noChangeArrowheads="1"/>
            </p:cNvSpPr>
            <p:nvPr/>
          </p:nvSpPr>
          <p:spPr bwMode="auto">
            <a:xfrm>
              <a:off x="954695" y="3643313"/>
              <a:ext cx="312457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Process Lead Time = 5 Days</a:t>
              </a:r>
            </a:p>
            <a:p>
              <a:pPr algn="ctr">
                <a:lnSpc>
                  <a:spcPct val="100000"/>
                </a:lnSpc>
                <a:spcBef>
                  <a:spcPct val="0"/>
                </a:spcBef>
                <a:spcAft>
                  <a:spcPct val="0"/>
                </a:spcAft>
                <a:buClrTx/>
                <a:buSzTx/>
                <a:buFontTx/>
                <a:buNone/>
              </a:pPr>
              <a:r>
                <a:rPr lang="en-US" altLang="en-US" sz="1800">
                  <a:latin typeface="Roboto" panose="02000000000000000000" pitchFamily="2" charset="0"/>
                  <a:ea typeface="Roboto" panose="02000000000000000000" pitchFamily="2" charset="0"/>
                </a:rPr>
                <a:t>Processing Time = 2 Days</a:t>
              </a:r>
            </a:p>
          </p:txBody>
        </p:sp>
        <p:sp>
          <p:nvSpPr>
            <p:cNvPr id="42" name="Rectangle 33">
              <a:extLst>
                <a:ext uri="{FF2B5EF4-FFF2-40B4-BE49-F238E27FC236}">
                  <a16:creationId xmlns:a16="http://schemas.microsoft.com/office/drawing/2014/main" id="{47D99C0D-D379-F0C2-5CC7-D220D34B7941}"/>
                </a:ext>
              </a:extLst>
            </p:cNvPr>
            <p:cNvSpPr>
              <a:spLocks noChangeArrowheads="1"/>
            </p:cNvSpPr>
            <p:nvPr/>
          </p:nvSpPr>
          <p:spPr bwMode="auto">
            <a:xfrm>
              <a:off x="804863" y="2137021"/>
              <a:ext cx="3765550" cy="1340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20000"/>
                </a:spcBef>
                <a:spcAft>
                  <a:spcPct val="0"/>
                </a:spcAft>
                <a:buClrTx/>
                <a:buSzTx/>
                <a:buFontTx/>
                <a:buNone/>
              </a:pPr>
              <a:r>
                <a:rPr lang="ja-JP" altLang="en-US" sz="1800">
                  <a:latin typeface="Roboto" panose="02000000000000000000" pitchFamily="2" charset="0"/>
                </a:rPr>
                <a:t>“</a:t>
              </a:r>
              <a:r>
                <a:rPr lang="en-US" altLang="ja-JP" sz="1800">
                  <a:latin typeface="Roboto" panose="02000000000000000000" pitchFamily="2" charset="0"/>
                  <a:ea typeface="Roboto" panose="02000000000000000000" pitchFamily="2" charset="0"/>
                </a:rPr>
                <a:t>Process Specification will generally </a:t>
              </a:r>
              <a:r>
                <a:rPr lang="en-US" altLang="ja-JP" sz="1800">
                  <a:solidFill>
                    <a:srgbClr val="FF0000"/>
                  </a:solidFill>
                  <a:latin typeface="Roboto" panose="02000000000000000000" pitchFamily="2" charset="0"/>
                  <a:ea typeface="Roboto" panose="02000000000000000000" pitchFamily="2" charset="0"/>
                </a:rPr>
                <a:t>take place over a one week period</a:t>
              </a:r>
              <a:r>
                <a:rPr lang="en-US" altLang="ja-JP" sz="1800">
                  <a:latin typeface="Roboto" panose="02000000000000000000" pitchFamily="2" charset="0"/>
                  <a:ea typeface="Roboto" panose="02000000000000000000" pitchFamily="2" charset="0"/>
                </a:rPr>
                <a:t> with</a:t>
              </a:r>
              <a:r>
                <a:rPr lang="en-US" altLang="ja-JP" sz="1800">
                  <a:solidFill>
                    <a:srgbClr val="FF0000"/>
                  </a:solidFill>
                  <a:latin typeface="Roboto" panose="02000000000000000000" pitchFamily="2" charset="0"/>
                  <a:ea typeface="Roboto" panose="02000000000000000000" pitchFamily="2" charset="0"/>
                </a:rPr>
                <a:t> about 2 days actually dedicated to the process</a:t>
              </a:r>
              <a:r>
                <a:rPr lang="ja-JP" altLang="en-US" sz="1800">
                  <a:solidFill>
                    <a:srgbClr val="FF0000"/>
                  </a:solidFill>
                  <a:latin typeface="Roboto" panose="02000000000000000000" pitchFamily="2" charset="0"/>
                </a:rPr>
                <a:t>”</a:t>
              </a:r>
              <a:endParaRPr lang="en-US" altLang="en-US" sz="1800">
                <a:solidFill>
                  <a:srgbClr val="FF0000"/>
                </a:solidFill>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46714036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Process Lead Time vs. Processing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39</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17" name="Group 16">
            <a:extLst>
              <a:ext uri="{FF2B5EF4-FFF2-40B4-BE49-F238E27FC236}">
                <a16:creationId xmlns:a16="http://schemas.microsoft.com/office/drawing/2014/main" id="{B14830AD-5ED9-DEF0-4B9E-72ABF31FF8EA}"/>
              </a:ext>
            </a:extLst>
          </p:cNvPr>
          <p:cNvGrpSpPr/>
          <p:nvPr/>
        </p:nvGrpSpPr>
        <p:grpSpPr>
          <a:xfrm>
            <a:off x="1958182" y="1989804"/>
            <a:ext cx="8275637" cy="4187159"/>
            <a:chOff x="465138" y="1466850"/>
            <a:chExt cx="8275637" cy="4503738"/>
          </a:xfrm>
        </p:grpSpPr>
        <p:sp>
          <p:nvSpPr>
            <p:cNvPr id="13" name="Rectangle 24">
              <a:extLst>
                <a:ext uri="{FF2B5EF4-FFF2-40B4-BE49-F238E27FC236}">
                  <a16:creationId xmlns:a16="http://schemas.microsoft.com/office/drawing/2014/main" id="{770E1182-9A4C-47D4-2620-26AA3FE93495}"/>
                </a:ext>
              </a:extLst>
            </p:cNvPr>
            <p:cNvSpPr>
              <a:spLocks noChangeArrowheads="1"/>
            </p:cNvSpPr>
            <p:nvPr/>
          </p:nvSpPr>
          <p:spPr bwMode="auto">
            <a:xfrm>
              <a:off x="4659313" y="1563688"/>
              <a:ext cx="4081462" cy="440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lstStyle>
              <a:lvl1pPr marL="228600" indent="-2286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 Lead Time  _____________</a:t>
              </a:r>
            </a:p>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Processing Time      _____________</a:t>
              </a: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 Lead Time  ____________</a:t>
              </a:r>
            </a:p>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Processing Time      _____________</a:t>
              </a: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 Lead Time  _____________</a:t>
              </a:r>
            </a:p>
            <a:p>
              <a:pPr>
                <a:lnSpc>
                  <a:spcPct val="95000"/>
                </a:lnSpc>
                <a:spcBef>
                  <a:spcPct val="20000"/>
                </a:spcBef>
                <a:spcAft>
                  <a:spcPct val="20000"/>
                </a:spcAft>
                <a:buSzPct val="90000"/>
                <a:buFont typeface="Wingdings" panose="05000000000000000000" pitchFamily="2" charset="2"/>
                <a:buNone/>
              </a:pPr>
              <a:r>
                <a:rPr lang="en-US" altLang="en-US" sz="1600">
                  <a:latin typeface="Roboto" panose="02000000000000000000" pitchFamily="2" charset="0"/>
                  <a:ea typeface="Roboto" panose="02000000000000000000" pitchFamily="2" charset="0"/>
                </a:rPr>
                <a:t>Processing Time      _____________</a:t>
              </a:r>
            </a:p>
            <a:p>
              <a:pPr>
                <a:lnSpc>
                  <a:spcPct val="95000"/>
                </a:lnSpc>
                <a:spcBef>
                  <a:spcPct val="20000"/>
                </a:spcBef>
                <a:spcAft>
                  <a:spcPct val="20000"/>
                </a:spcAft>
                <a:buSzPct val="90000"/>
                <a:buFont typeface="Wingdings" panose="05000000000000000000" pitchFamily="2" charset="2"/>
                <a:buNone/>
              </a:pPr>
              <a:endParaRPr lang="en-US" altLang="en-US" sz="1600">
                <a:latin typeface="Roboto" panose="02000000000000000000" pitchFamily="2" charset="0"/>
                <a:ea typeface="Roboto" panose="02000000000000000000" pitchFamily="2" charset="0"/>
              </a:endParaRPr>
            </a:p>
          </p:txBody>
        </p:sp>
        <p:sp>
          <p:nvSpPr>
            <p:cNvPr id="14" name="Rectangle 25">
              <a:extLst>
                <a:ext uri="{FF2B5EF4-FFF2-40B4-BE49-F238E27FC236}">
                  <a16:creationId xmlns:a16="http://schemas.microsoft.com/office/drawing/2014/main" id="{93CA85DB-1A06-8FC4-79B1-1F19FCBAEA39}"/>
                </a:ext>
              </a:extLst>
            </p:cNvPr>
            <p:cNvSpPr>
              <a:spLocks noChangeArrowheads="1"/>
            </p:cNvSpPr>
            <p:nvPr/>
          </p:nvSpPr>
          <p:spPr bwMode="auto">
            <a:xfrm>
              <a:off x="488950" y="1466850"/>
              <a:ext cx="4081463" cy="440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lstStyle>
              <a:lvl1pPr marL="228600" indent="-2286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Development of the matrix takes about 5 days to complete over a 15-day period based on the availability of required personnel.</a:t>
              </a:r>
            </a:p>
            <a:p>
              <a:pPr>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It normally takes 15 days to complete the full drawing package though the total duration of time typically gets extended because of work interruptions by an additional 10 days. </a:t>
              </a:r>
            </a:p>
            <a:p>
              <a:pPr>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The test group is asked to use the product to play 10 rounds of golf over a two month period in a variety of conditions on a variety of courses. </a:t>
              </a:r>
            </a:p>
          </p:txBody>
        </p:sp>
        <p:sp>
          <p:nvSpPr>
            <p:cNvPr id="15" name="Line 26">
              <a:extLst>
                <a:ext uri="{FF2B5EF4-FFF2-40B4-BE49-F238E27FC236}">
                  <a16:creationId xmlns:a16="http://schemas.microsoft.com/office/drawing/2014/main" id="{125EE896-09F7-645A-4157-BBB48E7205BF}"/>
                </a:ext>
              </a:extLst>
            </p:cNvPr>
            <p:cNvSpPr>
              <a:spLocks noChangeShapeType="1"/>
            </p:cNvSpPr>
            <p:nvPr/>
          </p:nvSpPr>
          <p:spPr bwMode="auto">
            <a:xfrm>
              <a:off x="465138" y="2698750"/>
              <a:ext cx="8243887"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 name="Line 27">
              <a:extLst>
                <a:ext uri="{FF2B5EF4-FFF2-40B4-BE49-F238E27FC236}">
                  <a16:creationId xmlns:a16="http://schemas.microsoft.com/office/drawing/2014/main" id="{A6BDA2D2-CAAF-0FC8-0550-E08714B7BD3B}"/>
                </a:ext>
              </a:extLst>
            </p:cNvPr>
            <p:cNvSpPr>
              <a:spLocks noChangeShapeType="1"/>
            </p:cNvSpPr>
            <p:nvPr/>
          </p:nvSpPr>
          <p:spPr bwMode="auto">
            <a:xfrm>
              <a:off x="488950" y="4508500"/>
              <a:ext cx="8201025"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326264754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Quality: First-Pass Yield of Information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40</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0" name="Group 29">
            <a:extLst>
              <a:ext uri="{FF2B5EF4-FFF2-40B4-BE49-F238E27FC236}">
                <a16:creationId xmlns:a16="http://schemas.microsoft.com/office/drawing/2014/main" id="{96C022D1-81A9-E6FC-435E-3562D62F797D}"/>
              </a:ext>
            </a:extLst>
          </p:cNvPr>
          <p:cNvGrpSpPr/>
          <p:nvPr/>
        </p:nvGrpSpPr>
        <p:grpSpPr>
          <a:xfrm>
            <a:off x="1958182" y="1946276"/>
            <a:ext cx="8275637" cy="4230687"/>
            <a:chOff x="442913" y="1573213"/>
            <a:chExt cx="8275637" cy="4230687"/>
          </a:xfrm>
        </p:grpSpPr>
        <p:sp>
          <p:nvSpPr>
            <p:cNvPr id="13" name="Text Box 3">
              <a:extLst>
                <a:ext uri="{FF2B5EF4-FFF2-40B4-BE49-F238E27FC236}">
                  <a16:creationId xmlns:a16="http://schemas.microsoft.com/office/drawing/2014/main" id="{8CA5A77B-2A07-204A-02E5-0E58AA238BB0}"/>
                </a:ext>
              </a:extLst>
            </p:cNvPr>
            <p:cNvSpPr txBox="1">
              <a:spLocks noChangeArrowheads="1"/>
            </p:cNvSpPr>
            <p:nvPr/>
          </p:nvSpPr>
          <p:spPr bwMode="auto">
            <a:xfrm>
              <a:off x="2283680" y="2482850"/>
              <a:ext cx="6110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Cure </a:t>
              </a:r>
            </a:p>
            <a:p>
              <a:pPr algn="ctr">
                <a:lnSpc>
                  <a:spcPct val="100000"/>
                </a:lnSpc>
                <a:spcBef>
                  <a:spcPct val="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Oven</a:t>
              </a:r>
            </a:p>
          </p:txBody>
        </p:sp>
        <p:sp>
          <p:nvSpPr>
            <p:cNvPr id="14" name="AutoShape 4">
              <a:extLst>
                <a:ext uri="{FF2B5EF4-FFF2-40B4-BE49-F238E27FC236}">
                  <a16:creationId xmlns:a16="http://schemas.microsoft.com/office/drawing/2014/main" id="{0DBE6EB4-D1B4-0873-2B67-5851CBC491D4}"/>
                </a:ext>
              </a:extLst>
            </p:cNvPr>
            <p:cNvSpPr>
              <a:spLocks noChangeArrowheads="1"/>
            </p:cNvSpPr>
            <p:nvPr/>
          </p:nvSpPr>
          <p:spPr bwMode="auto">
            <a:xfrm>
              <a:off x="2452688" y="2586038"/>
              <a:ext cx="276225" cy="273050"/>
            </a:xfrm>
            <a:custGeom>
              <a:avLst/>
              <a:gdLst>
                <a:gd name="T0" fmla="*/ 33879981 w 21600"/>
                <a:gd name="T1" fmla="*/ 0 h 21600"/>
                <a:gd name="T2" fmla="*/ 0 w 21600"/>
                <a:gd name="T3" fmla="*/ 21816695 h 21600"/>
                <a:gd name="T4" fmla="*/ 33879981 w 21600"/>
                <a:gd name="T5" fmla="*/ 43633403 h 21600"/>
                <a:gd name="T6" fmla="*/ 45173261 w 21600"/>
                <a:gd name="T7" fmla="*/ 21816695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15" name="AutoShape 5">
              <a:extLst>
                <a:ext uri="{FF2B5EF4-FFF2-40B4-BE49-F238E27FC236}">
                  <a16:creationId xmlns:a16="http://schemas.microsoft.com/office/drawing/2014/main" id="{58B081DB-F3C2-9D55-3C00-28B33AE5C48E}"/>
                </a:ext>
              </a:extLst>
            </p:cNvPr>
            <p:cNvSpPr>
              <a:spLocks noChangeArrowheads="1"/>
            </p:cNvSpPr>
            <p:nvPr/>
          </p:nvSpPr>
          <p:spPr bwMode="auto">
            <a:xfrm>
              <a:off x="3463925" y="2578100"/>
              <a:ext cx="276225" cy="273050"/>
            </a:xfrm>
            <a:custGeom>
              <a:avLst/>
              <a:gdLst>
                <a:gd name="T0" fmla="*/ 33879981 w 21600"/>
                <a:gd name="T1" fmla="*/ 0 h 21600"/>
                <a:gd name="T2" fmla="*/ 0 w 21600"/>
                <a:gd name="T3" fmla="*/ 21816695 h 21600"/>
                <a:gd name="T4" fmla="*/ 33879981 w 21600"/>
                <a:gd name="T5" fmla="*/ 43633403 h 21600"/>
                <a:gd name="T6" fmla="*/ 45173261 w 21600"/>
                <a:gd name="T7" fmla="*/ 21816695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12700" cap="sq">
              <a:solidFill>
                <a:schemeClr val="tx1"/>
              </a:solidFill>
              <a:miter lim="800000"/>
              <a:headEnd type="none" w="sm" len="sm"/>
              <a:tailEnd type="none" w="sm" len="sm"/>
            </a:ln>
          </p:spPr>
          <p:txBody>
            <a:bodyPr wrap="none" anchor="ctr"/>
            <a:lstStyle/>
            <a:p>
              <a:endParaRPr lang="en-US">
                <a:latin typeface="Roboto" panose="02000000000000000000" pitchFamily="2" charset="0"/>
                <a:ea typeface="Roboto" panose="02000000000000000000" pitchFamily="2" charset="0"/>
              </a:endParaRPr>
            </a:p>
          </p:txBody>
        </p:sp>
        <p:sp>
          <p:nvSpPr>
            <p:cNvPr id="16" name="Rectangle 6">
              <a:extLst>
                <a:ext uri="{FF2B5EF4-FFF2-40B4-BE49-F238E27FC236}">
                  <a16:creationId xmlns:a16="http://schemas.microsoft.com/office/drawing/2014/main" id="{73416E17-469B-7DFE-A294-686E2C9F36AA}"/>
                </a:ext>
              </a:extLst>
            </p:cNvPr>
            <p:cNvSpPr>
              <a:spLocks noChangeArrowheads="1"/>
            </p:cNvSpPr>
            <p:nvPr/>
          </p:nvSpPr>
          <p:spPr bwMode="auto">
            <a:xfrm>
              <a:off x="479425" y="1752600"/>
              <a:ext cx="4414838" cy="355758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Text Box 7">
              <a:extLst>
                <a:ext uri="{FF2B5EF4-FFF2-40B4-BE49-F238E27FC236}">
                  <a16:creationId xmlns:a16="http://schemas.microsoft.com/office/drawing/2014/main" id="{49EEDB9F-90C5-BEA8-485F-D3F38780359E}"/>
                </a:ext>
              </a:extLst>
            </p:cNvPr>
            <p:cNvSpPr txBox="1">
              <a:spLocks noChangeArrowheads="1"/>
            </p:cNvSpPr>
            <p:nvPr/>
          </p:nvSpPr>
          <p:spPr bwMode="auto">
            <a:xfrm>
              <a:off x="611700" y="1573213"/>
              <a:ext cx="1830950"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a:latin typeface="Roboto" panose="02000000000000000000" pitchFamily="2" charset="0"/>
                  <a:ea typeface="Roboto" panose="02000000000000000000" pitchFamily="2" charset="0"/>
                </a:rPr>
                <a:t>First-Pass Yield</a:t>
              </a:r>
            </a:p>
          </p:txBody>
        </p:sp>
        <p:sp>
          <p:nvSpPr>
            <p:cNvPr id="18" name="Rectangle 8">
              <a:extLst>
                <a:ext uri="{FF2B5EF4-FFF2-40B4-BE49-F238E27FC236}">
                  <a16:creationId xmlns:a16="http://schemas.microsoft.com/office/drawing/2014/main" id="{C8C2F098-4A30-54F9-88DE-5441AD3C31B5}"/>
                </a:ext>
              </a:extLst>
            </p:cNvPr>
            <p:cNvSpPr>
              <a:spLocks noChangeArrowheads="1"/>
            </p:cNvSpPr>
            <p:nvPr/>
          </p:nvSpPr>
          <p:spPr bwMode="auto">
            <a:xfrm>
              <a:off x="5434013" y="1704975"/>
              <a:ext cx="3268662"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First-Pass Yield Definition</a:t>
              </a:r>
            </a:p>
          </p:txBody>
        </p:sp>
        <p:sp>
          <p:nvSpPr>
            <p:cNvPr id="19" name="Rectangle 9">
              <a:extLst>
                <a:ext uri="{FF2B5EF4-FFF2-40B4-BE49-F238E27FC236}">
                  <a16:creationId xmlns:a16="http://schemas.microsoft.com/office/drawing/2014/main" id="{29853AAE-52D8-5D43-BB79-BCD374C46566}"/>
                </a:ext>
              </a:extLst>
            </p:cNvPr>
            <p:cNvSpPr>
              <a:spLocks noChangeArrowheads="1"/>
            </p:cNvSpPr>
            <p:nvPr/>
          </p:nvSpPr>
          <p:spPr bwMode="auto">
            <a:xfrm>
              <a:off x="5434013" y="4252913"/>
              <a:ext cx="3282950" cy="307975"/>
            </a:xfrm>
            <a:prstGeom prst="rect">
              <a:avLst/>
            </a:prstGeom>
            <a:solidFill>
              <a:schemeClr val="accent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Note on Quality Metric</a:t>
              </a:r>
            </a:p>
          </p:txBody>
        </p:sp>
        <p:sp>
          <p:nvSpPr>
            <p:cNvPr id="20" name="Rectangle 10">
              <a:extLst>
                <a:ext uri="{FF2B5EF4-FFF2-40B4-BE49-F238E27FC236}">
                  <a16:creationId xmlns:a16="http://schemas.microsoft.com/office/drawing/2014/main" id="{A544180C-BC60-BFF9-C782-3855210E36EE}"/>
                </a:ext>
              </a:extLst>
            </p:cNvPr>
            <p:cNvSpPr>
              <a:spLocks noChangeArrowheads="1"/>
            </p:cNvSpPr>
            <p:nvPr/>
          </p:nvSpPr>
          <p:spPr bwMode="auto">
            <a:xfrm>
              <a:off x="5340350" y="2058988"/>
              <a:ext cx="337661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The percentage of time that the process can be successfully completed on the first attempt using the standard process, tools, personnel, and information all at the right time and in the right place </a:t>
              </a:r>
            </a:p>
          </p:txBody>
        </p:sp>
        <p:cxnSp>
          <p:nvCxnSpPr>
            <p:cNvPr id="21" name="AutoShape 11">
              <a:extLst>
                <a:ext uri="{FF2B5EF4-FFF2-40B4-BE49-F238E27FC236}">
                  <a16:creationId xmlns:a16="http://schemas.microsoft.com/office/drawing/2014/main" id="{75003904-14E5-4E27-7180-2E4169339552}"/>
                </a:ext>
              </a:extLst>
            </p:cNvPr>
            <p:cNvCxnSpPr>
              <a:cxnSpLocks noChangeShapeType="1"/>
              <a:stCxn id="16" idx="3"/>
              <a:endCxn id="18" idx="1"/>
            </p:cNvCxnSpPr>
            <p:nvPr/>
          </p:nvCxnSpPr>
          <p:spPr bwMode="auto">
            <a:xfrm flipV="1">
              <a:off x="4903788" y="1858963"/>
              <a:ext cx="530225" cy="1673225"/>
            </a:xfrm>
            <a:prstGeom prst="bentConnector3">
              <a:avLst>
                <a:gd name="adj1" fmla="val 49102"/>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2" name="AutoShape 12">
              <a:extLst>
                <a:ext uri="{FF2B5EF4-FFF2-40B4-BE49-F238E27FC236}">
                  <a16:creationId xmlns:a16="http://schemas.microsoft.com/office/drawing/2014/main" id="{715F16ED-AC8D-A749-E711-89D863E36681}"/>
                </a:ext>
              </a:extLst>
            </p:cNvPr>
            <p:cNvCxnSpPr>
              <a:cxnSpLocks noChangeShapeType="1"/>
              <a:stCxn id="16" idx="3"/>
              <a:endCxn id="19" idx="1"/>
            </p:cNvCxnSpPr>
            <p:nvPr/>
          </p:nvCxnSpPr>
          <p:spPr bwMode="auto">
            <a:xfrm>
              <a:off x="4903788" y="3532188"/>
              <a:ext cx="530225" cy="874712"/>
            </a:xfrm>
            <a:prstGeom prst="bentConnector3">
              <a:avLst>
                <a:gd name="adj1" fmla="val 48801"/>
              </a:avLst>
            </a:prstGeom>
            <a:noFill/>
            <a:ln w="190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3" name="Rectangle 13">
              <a:extLst>
                <a:ext uri="{FF2B5EF4-FFF2-40B4-BE49-F238E27FC236}">
                  <a16:creationId xmlns:a16="http://schemas.microsoft.com/office/drawing/2014/main" id="{0E84AD27-FE2D-D2F6-070B-42DAF812BD41}"/>
                </a:ext>
              </a:extLst>
            </p:cNvPr>
            <p:cNvSpPr>
              <a:spLocks noChangeArrowheads="1"/>
            </p:cNvSpPr>
            <p:nvPr/>
          </p:nvSpPr>
          <p:spPr bwMode="auto">
            <a:xfrm>
              <a:off x="5341938" y="4587875"/>
              <a:ext cx="33766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30000"/>
                </a:spcBef>
                <a:spcAft>
                  <a:spcPct val="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The Quality percentage in VSMi is measuring First-Pass Yield only</a:t>
              </a:r>
            </a:p>
          </p:txBody>
        </p:sp>
        <p:sp>
          <p:nvSpPr>
            <p:cNvPr id="24" name="Text Box 14">
              <a:extLst>
                <a:ext uri="{FF2B5EF4-FFF2-40B4-BE49-F238E27FC236}">
                  <a16:creationId xmlns:a16="http://schemas.microsoft.com/office/drawing/2014/main" id="{EE414A07-D111-3655-0AAD-D023005C48AA}"/>
                </a:ext>
              </a:extLst>
            </p:cNvPr>
            <p:cNvSpPr txBox="1">
              <a:spLocks noChangeArrowheads="1"/>
            </p:cNvSpPr>
            <p:nvPr/>
          </p:nvSpPr>
          <p:spPr bwMode="auto">
            <a:xfrm>
              <a:off x="519113" y="4872038"/>
              <a:ext cx="43735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solidFill>
                    <a:srgbClr val="FF0000"/>
                  </a:solidFill>
                  <a:latin typeface="Roboto" panose="02000000000000000000" pitchFamily="2" charset="0"/>
                  <a:ea typeface="Roboto" panose="02000000000000000000" pitchFamily="2" charset="0"/>
                </a:rPr>
                <a:t>Quality = 3 matrices passed / 10 submittals = 30%</a:t>
              </a:r>
              <a:endParaRPr lang="en-US" altLang="en-US" sz="1400">
                <a:solidFill>
                  <a:srgbClr val="FF0000"/>
                </a:solidFill>
                <a:latin typeface="Roboto" panose="02000000000000000000" pitchFamily="2" charset="0"/>
                <a:ea typeface="Roboto" panose="02000000000000000000" pitchFamily="2" charset="0"/>
                <a:cs typeface="Arial" panose="020B0604020202020204" pitchFamily="34" charset="0"/>
              </a:endParaRPr>
            </a:p>
          </p:txBody>
        </p:sp>
        <p:sp>
          <p:nvSpPr>
            <p:cNvPr id="25" name="Text Box 15">
              <a:extLst>
                <a:ext uri="{FF2B5EF4-FFF2-40B4-BE49-F238E27FC236}">
                  <a16:creationId xmlns:a16="http://schemas.microsoft.com/office/drawing/2014/main" id="{1EA5C8A8-BCC2-8825-9BEB-D5D70555B81F}"/>
                </a:ext>
              </a:extLst>
            </p:cNvPr>
            <p:cNvSpPr txBox="1">
              <a:spLocks noChangeArrowheads="1"/>
            </p:cNvSpPr>
            <p:nvPr/>
          </p:nvSpPr>
          <p:spPr bwMode="auto">
            <a:xfrm>
              <a:off x="442913" y="3376613"/>
              <a:ext cx="4386262"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457200" indent="-4572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Product Specification = 10 attribute matrix / year</a:t>
              </a:r>
            </a:p>
            <a:p>
              <a:pPr>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Quality = 7 of 10 need clarification of attributes before specifications can be developed</a:t>
              </a:r>
            </a:p>
          </p:txBody>
        </p:sp>
        <p:sp>
          <p:nvSpPr>
            <p:cNvPr id="26" name="Documents">
              <a:extLst>
                <a:ext uri="{FF2B5EF4-FFF2-40B4-BE49-F238E27FC236}">
                  <a16:creationId xmlns:a16="http://schemas.microsoft.com/office/drawing/2014/main" id="{468036CD-D7D5-72D5-E4B1-6F28342E474F}"/>
                </a:ext>
              </a:extLst>
            </p:cNvPr>
            <p:cNvSpPr>
              <a:spLocks noEditPoints="1" noChangeArrowheads="1"/>
            </p:cNvSpPr>
            <p:nvPr/>
          </p:nvSpPr>
          <p:spPr bwMode="auto">
            <a:xfrm>
              <a:off x="557213" y="2252663"/>
              <a:ext cx="712787" cy="911225"/>
            </a:xfrm>
            <a:custGeom>
              <a:avLst/>
              <a:gdLst>
                <a:gd name="T0" fmla="*/ 0 w 21600"/>
                <a:gd name="T1" fmla="*/ 4983135 h 21600"/>
                <a:gd name="T2" fmla="*/ 3776517 w 21600"/>
                <a:gd name="T3" fmla="*/ 0 h 21600"/>
                <a:gd name="T4" fmla="*/ 23579258 w 21600"/>
                <a:gd name="T5" fmla="*/ 33507937 h 21600"/>
                <a:gd name="T6" fmla="*/ 21729114 w 21600"/>
                <a:gd name="T7" fmla="*/ 35974615 h 21600"/>
                <a:gd name="T8" fmla="*/ 19880058 w 21600"/>
                <a:gd name="T9" fmla="*/ 38491072 h 21600"/>
                <a:gd name="T10" fmla="*/ 21729114 w 21600"/>
                <a:gd name="T11" fmla="*/ 2541390 h 21600"/>
                <a:gd name="T12" fmla="*/ 19880058 w 21600"/>
                <a:gd name="T13" fmla="*/ 4983135 h 21600"/>
                <a:gd name="T14" fmla="*/ 1791339 w 21600"/>
                <a:gd name="T15" fmla="*/ 2541390 h 21600"/>
                <a:gd name="T16" fmla="*/ 23521542 w 21600"/>
                <a:gd name="T17" fmla="*/ 0 h 21600"/>
                <a:gd name="T18" fmla="*/ 11760788 w 21600"/>
                <a:gd name="T19" fmla="*/ 0 h 21600"/>
                <a:gd name="T20" fmla="*/ 0 w 21600"/>
                <a:gd name="T21" fmla="*/ 19220646 h 21600"/>
                <a:gd name="T22" fmla="*/ 23521542 w 21600"/>
                <a:gd name="T23" fmla="*/ 19220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D8EBB3"/>
            </a:solidFill>
            <a:ln w="9525">
              <a:solidFill>
                <a:srgbClr val="000000"/>
              </a:solidFill>
              <a:miter lim="800000"/>
              <a:headEnd/>
              <a:tailEnd/>
            </a:ln>
            <a:effectLst>
              <a:outerShdw dist="107763" dir="2700000" algn="ctr" rotWithShape="0">
                <a:srgbClr val="808080"/>
              </a:outerShdw>
            </a:effectLst>
          </p:spPr>
          <p:txBody>
            <a:bodyPr/>
            <a:lstStyle/>
            <a:p>
              <a:endParaRPr lang="en-US">
                <a:latin typeface="Roboto" panose="02000000000000000000" pitchFamily="2" charset="0"/>
                <a:ea typeface="Roboto" panose="02000000000000000000" pitchFamily="2" charset="0"/>
              </a:endParaRPr>
            </a:p>
          </p:txBody>
        </p:sp>
        <p:sp>
          <p:nvSpPr>
            <p:cNvPr id="27" name="Documents">
              <a:extLst>
                <a:ext uri="{FF2B5EF4-FFF2-40B4-BE49-F238E27FC236}">
                  <a16:creationId xmlns:a16="http://schemas.microsoft.com/office/drawing/2014/main" id="{EEE679DB-893A-0001-FD04-9DD14C9D791B}"/>
                </a:ext>
              </a:extLst>
            </p:cNvPr>
            <p:cNvSpPr>
              <a:spLocks noEditPoints="1" noChangeArrowheads="1"/>
            </p:cNvSpPr>
            <p:nvPr/>
          </p:nvSpPr>
          <p:spPr bwMode="auto">
            <a:xfrm>
              <a:off x="3946525" y="2230438"/>
              <a:ext cx="712788" cy="911225"/>
            </a:xfrm>
            <a:custGeom>
              <a:avLst/>
              <a:gdLst>
                <a:gd name="T0" fmla="*/ 0 w 21600"/>
                <a:gd name="T1" fmla="*/ 4983135 h 21600"/>
                <a:gd name="T2" fmla="*/ 3776522 w 21600"/>
                <a:gd name="T3" fmla="*/ 0 h 21600"/>
                <a:gd name="T4" fmla="*/ 23579324 w 21600"/>
                <a:gd name="T5" fmla="*/ 33507937 h 21600"/>
                <a:gd name="T6" fmla="*/ 21729177 w 21600"/>
                <a:gd name="T7" fmla="*/ 35974615 h 21600"/>
                <a:gd name="T8" fmla="*/ 19880119 w 21600"/>
                <a:gd name="T9" fmla="*/ 38491072 h 21600"/>
                <a:gd name="T10" fmla="*/ 21729177 w 21600"/>
                <a:gd name="T11" fmla="*/ 2541390 h 21600"/>
                <a:gd name="T12" fmla="*/ 19880119 w 21600"/>
                <a:gd name="T13" fmla="*/ 4983135 h 21600"/>
                <a:gd name="T14" fmla="*/ 1791342 w 21600"/>
                <a:gd name="T15" fmla="*/ 2541390 h 21600"/>
                <a:gd name="T16" fmla="*/ 23521608 w 21600"/>
                <a:gd name="T17" fmla="*/ 0 h 21600"/>
                <a:gd name="T18" fmla="*/ 11760804 w 21600"/>
                <a:gd name="T19" fmla="*/ 0 h 21600"/>
                <a:gd name="T20" fmla="*/ 0 w 21600"/>
                <a:gd name="T21" fmla="*/ 19220646 h 21600"/>
                <a:gd name="T22" fmla="*/ 23521608 w 21600"/>
                <a:gd name="T23" fmla="*/ 19220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D8EBB3"/>
            </a:solidFill>
            <a:ln w="9525">
              <a:solidFill>
                <a:srgbClr val="000000"/>
              </a:solidFill>
              <a:miter lim="800000"/>
              <a:headEnd/>
              <a:tailEnd/>
            </a:ln>
            <a:effectLst>
              <a:outerShdw dist="107763" dir="2700000" algn="ctr" rotWithShape="0">
                <a:srgbClr val="808080"/>
              </a:outerShdw>
            </a:effectLst>
          </p:spPr>
          <p:txBody>
            <a:bodyPr/>
            <a:lstStyle/>
            <a:p>
              <a:endParaRPr lang="en-US">
                <a:latin typeface="Roboto" panose="02000000000000000000" pitchFamily="2" charset="0"/>
                <a:ea typeface="Roboto" panose="02000000000000000000" pitchFamily="2" charset="0"/>
              </a:endParaRPr>
            </a:p>
          </p:txBody>
        </p:sp>
        <p:sp>
          <p:nvSpPr>
            <p:cNvPr id="28" name="Documents">
              <a:extLst>
                <a:ext uri="{FF2B5EF4-FFF2-40B4-BE49-F238E27FC236}">
                  <a16:creationId xmlns:a16="http://schemas.microsoft.com/office/drawing/2014/main" id="{288D8545-D5C3-2F20-0004-44A46D2E95C1}"/>
                </a:ext>
              </a:extLst>
            </p:cNvPr>
            <p:cNvSpPr>
              <a:spLocks noEditPoints="1" noChangeArrowheads="1"/>
            </p:cNvSpPr>
            <p:nvPr/>
          </p:nvSpPr>
          <p:spPr bwMode="auto">
            <a:xfrm>
              <a:off x="1443038" y="2227263"/>
              <a:ext cx="712787" cy="911225"/>
            </a:xfrm>
            <a:custGeom>
              <a:avLst/>
              <a:gdLst>
                <a:gd name="T0" fmla="*/ 0 w 21600"/>
                <a:gd name="T1" fmla="*/ 4983135 h 21600"/>
                <a:gd name="T2" fmla="*/ 3776517 w 21600"/>
                <a:gd name="T3" fmla="*/ 0 h 21600"/>
                <a:gd name="T4" fmla="*/ 23579258 w 21600"/>
                <a:gd name="T5" fmla="*/ 33507937 h 21600"/>
                <a:gd name="T6" fmla="*/ 21729114 w 21600"/>
                <a:gd name="T7" fmla="*/ 35974615 h 21600"/>
                <a:gd name="T8" fmla="*/ 19880058 w 21600"/>
                <a:gd name="T9" fmla="*/ 38491072 h 21600"/>
                <a:gd name="T10" fmla="*/ 21729114 w 21600"/>
                <a:gd name="T11" fmla="*/ 2541390 h 21600"/>
                <a:gd name="T12" fmla="*/ 19880058 w 21600"/>
                <a:gd name="T13" fmla="*/ 4983135 h 21600"/>
                <a:gd name="T14" fmla="*/ 1791339 w 21600"/>
                <a:gd name="T15" fmla="*/ 2541390 h 21600"/>
                <a:gd name="T16" fmla="*/ 23521542 w 21600"/>
                <a:gd name="T17" fmla="*/ 0 h 21600"/>
                <a:gd name="T18" fmla="*/ 11760788 w 21600"/>
                <a:gd name="T19" fmla="*/ 0 h 21600"/>
                <a:gd name="T20" fmla="*/ 0 w 21600"/>
                <a:gd name="T21" fmla="*/ 19220646 h 21600"/>
                <a:gd name="T22" fmla="*/ 23521542 w 21600"/>
                <a:gd name="T23" fmla="*/ 1922064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1645 w 21600"/>
                <a:gd name="T37" fmla="*/ 4171 h 21600"/>
                <a:gd name="T38" fmla="*/ 16522 w 21600"/>
                <a:gd name="T39" fmla="*/ 17314 h 21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D8EBB3"/>
            </a:solidFill>
            <a:ln w="9525">
              <a:solidFill>
                <a:srgbClr val="000000"/>
              </a:solidFill>
              <a:miter lim="800000"/>
              <a:headEnd/>
              <a:tailEnd/>
            </a:ln>
            <a:effectLst>
              <a:outerShdw dist="107763" dir="2700000" algn="ctr" rotWithShape="0">
                <a:srgbClr val="808080"/>
              </a:outerShdw>
            </a:effectLst>
          </p:spPr>
          <p:txBody>
            <a:bodyPr/>
            <a:lstStyle/>
            <a:p>
              <a:endParaRPr lang="en-US">
                <a:latin typeface="Roboto" panose="02000000000000000000" pitchFamily="2" charset="0"/>
                <a:ea typeface="Roboto" panose="02000000000000000000" pitchFamily="2" charset="0"/>
              </a:endParaRPr>
            </a:p>
          </p:txBody>
        </p:sp>
        <p:pic>
          <p:nvPicPr>
            <p:cNvPr id="29" name="Picture 28">
              <a:extLst>
                <a:ext uri="{FF2B5EF4-FFF2-40B4-BE49-F238E27FC236}">
                  <a16:creationId xmlns:a16="http://schemas.microsoft.com/office/drawing/2014/main" id="{97536F71-FE40-7EF9-2486-5FE5AC6330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8450" y="2474913"/>
              <a:ext cx="554038" cy="56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14078869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41</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6" name="Group 45">
            <a:extLst>
              <a:ext uri="{FF2B5EF4-FFF2-40B4-BE49-F238E27FC236}">
                <a16:creationId xmlns:a16="http://schemas.microsoft.com/office/drawing/2014/main" id="{F2881B80-204F-8514-ADFE-0015BED8C13C}"/>
              </a:ext>
            </a:extLst>
          </p:cNvPr>
          <p:cNvGrpSpPr/>
          <p:nvPr/>
        </p:nvGrpSpPr>
        <p:grpSpPr>
          <a:xfrm>
            <a:off x="1054608" y="1961198"/>
            <a:ext cx="9975342" cy="4096702"/>
            <a:chOff x="479425" y="1538288"/>
            <a:chExt cx="8325786" cy="3783012"/>
          </a:xfrm>
        </p:grpSpPr>
        <p:sp>
          <p:nvSpPr>
            <p:cNvPr id="31" name="Rectangle 3">
              <a:extLst>
                <a:ext uri="{FF2B5EF4-FFF2-40B4-BE49-F238E27FC236}">
                  <a16:creationId xmlns:a16="http://schemas.microsoft.com/office/drawing/2014/main" id="{E668C2B3-B5AC-670C-0B72-037A899BB6F0}"/>
                </a:ext>
              </a:extLst>
            </p:cNvPr>
            <p:cNvSpPr>
              <a:spLocks noChangeArrowheads="1"/>
            </p:cNvSpPr>
            <p:nvPr/>
          </p:nvSpPr>
          <p:spPr bwMode="auto">
            <a:xfrm>
              <a:off x="479425" y="1546225"/>
              <a:ext cx="4633846" cy="2694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Prototype Test</a:t>
              </a:r>
            </a:p>
            <a:p>
              <a:pPr lvl="1" eaLnBrk="1" hangingPunct="1">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typically takes a month to get the clubs distributed by Fed Ex for evaluation.  The test group is asked to use the product to play </a:t>
              </a:r>
              <a:r>
                <a:rPr lang="en-US" altLang="en-US" dirty="0">
                  <a:solidFill>
                    <a:schemeClr val="accent1"/>
                  </a:solidFill>
                  <a:latin typeface="Roboto" panose="02000000000000000000" pitchFamily="2" charset="0"/>
                  <a:ea typeface="Roboto" panose="02000000000000000000" pitchFamily="2" charset="0"/>
                </a:rPr>
                <a:t>10 rounds of golf over a two month period</a:t>
              </a:r>
              <a:r>
                <a:rPr lang="en-US" altLang="en-US" dirty="0">
                  <a:latin typeface="Roboto" panose="02000000000000000000" pitchFamily="2" charset="0"/>
                  <a:ea typeface="Roboto" panose="02000000000000000000" pitchFamily="2" charset="0"/>
                </a:rPr>
                <a:t> in a variety of conditions on a variety of courses. Discipline is typically poor around this portion of the process, with only about </a:t>
              </a:r>
              <a:r>
                <a:rPr lang="en-US" altLang="en-US" dirty="0">
                  <a:solidFill>
                    <a:schemeClr val="accent1"/>
                  </a:solidFill>
                  <a:latin typeface="Roboto" panose="02000000000000000000" pitchFamily="2" charset="0"/>
                  <a:ea typeface="Roboto" panose="02000000000000000000" pitchFamily="2" charset="0"/>
                </a:rPr>
                <a:t>20% of the prototypes and surveys being collected</a:t>
              </a:r>
              <a:r>
                <a:rPr lang="en-US" altLang="en-US" dirty="0">
                  <a:latin typeface="Roboto" panose="02000000000000000000" pitchFamily="2" charset="0"/>
                  <a:ea typeface="Roboto" panose="02000000000000000000" pitchFamily="2" charset="0"/>
                </a:rPr>
                <a:t>.</a:t>
              </a:r>
              <a:r>
                <a:rPr lang="en-US" altLang="en-US" sz="1400" dirty="0">
                  <a:latin typeface="Roboto" panose="02000000000000000000" pitchFamily="2" charset="0"/>
                  <a:ea typeface="Roboto" panose="02000000000000000000" pitchFamily="2" charset="0"/>
                </a:rPr>
                <a:t> </a:t>
              </a:r>
              <a:endParaRPr lang="en-US" altLang="en-US" dirty="0">
                <a:latin typeface="Roboto" panose="02000000000000000000" pitchFamily="2" charset="0"/>
                <a:ea typeface="Roboto" panose="02000000000000000000" pitchFamily="2" charset="0"/>
              </a:endParaRPr>
            </a:p>
          </p:txBody>
        </p:sp>
        <p:sp>
          <p:nvSpPr>
            <p:cNvPr id="32" name="Rectangle 5">
              <a:extLst>
                <a:ext uri="{FF2B5EF4-FFF2-40B4-BE49-F238E27FC236}">
                  <a16:creationId xmlns:a16="http://schemas.microsoft.com/office/drawing/2014/main" id="{8EDB8085-9DC3-1C62-521D-B5FA3FF02B34}"/>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Text Box 7">
              <a:extLst>
                <a:ext uri="{FF2B5EF4-FFF2-40B4-BE49-F238E27FC236}">
                  <a16:creationId xmlns:a16="http://schemas.microsoft.com/office/drawing/2014/main" id="{45D0BC18-FC42-3A1C-C7CE-EB68B88F6C51}"/>
                </a:ext>
              </a:extLst>
            </p:cNvPr>
            <p:cNvSpPr txBox="1">
              <a:spLocks noChangeArrowheads="1"/>
            </p:cNvSpPr>
            <p:nvPr/>
          </p:nvSpPr>
          <p:spPr bwMode="auto">
            <a:xfrm>
              <a:off x="7213801" y="1538288"/>
              <a:ext cx="123784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Process Box</a:t>
              </a:r>
            </a:p>
          </p:txBody>
        </p:sp>
        <p:sp>
          <p:nvSpPr>
            <p:cNvPr id="34" name="Rectangle 8">
              <a:extLst>
                <a:ext uri="{FF2B5EF4-FFF2-40B4-BE49-F238E27FC236}">
                  <a16:creationId xmlns:a16="http://schemas.microsoft.com/office/drawing/2014/main" id="{5670BD20-D890-0022-3312-ADCC707BD1D6}"/>
                </a:ext>
              </a:extLst>
            </p:cNvPr>
            <p:cNvSpPr>
              <a:spLocks noChangeArrowheads="1"/>
            </p:cNvSpPr>
            <p:nvPr/>
          </p:nvSpPr>
          <p:spPr bwMode="auto">
            <a:xfrm>
              <a:off x="6981825" y="3833813"/>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5" name="Text Box 9">
              <a:extLst>
                <a:ext uri="{FF2B5EF4-FFF2-40B4-BE49-F238E27FC236}">
                  <a16:creationId xmlns:a16="http://schemas.microsoft.com/office/drawing/2014/main" id="{DDFE7E08-DDB9-C6F8-BA74-5D903CA50ABA}"/>
                </a:ext>
              </a:extLst>
            </p:cNvPr>
            <p:cNvSpPr txBox="1">
              <a:spLocks noChangeArrowheads="1"/>
            </p:cNvSpPr>
            <p:nvPr/>
          </p:nvSpPr>
          <p:spPr bwMode="auto">
            <a:xfrm>
              <a:off x="7409606" y="3532188"/>
              <a:ext cx="928788" cy="341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Data Box</a:t>
              </a:r>
            </a:p>
          </p:txBody>
        </p:sp>
        <p:sp>
          <p:nvSpPr>
            <p:cNvPr id="36" name="Line 11">
              <a:extLst>
                <a:ext uri="{FF2B5EF4-FFF2-40B4-BE49-F238E27FC236}">
                  <a16:creationId xmlns:a16="http://schemas.microsoft.com/office/drawing/2014/main" id="{539AD25B-CFAB-B9B7-3E7A-7CDF17670A6E}"/>
                </a:ext>
              </a:extLst>
            </p:cNvPr>
            <p:cNvSpPr>
              <a:spLocks noChangeShapeType="1"/>
            </p:cNvSpPr>
            <p:nvPr/>
          </p:nvSpPr>
          <p:spPr bwMode="auto">
            <a:xfrm>
              <a:off x="2533650" y="1781175"/>
              <a:ext cx="4316413" cy="387350"/>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12">
              <a:extLst>
                <a:ext uri="{FF2B5EF4-FFF2-40B4-BE49-F238E27FC236}">
                  <a16:creationId xmlns:a16="http://schemas.microsoft.com/office/drawing/2014/main" id="{3AC1E399-EE8E-BE98-0CD5-EC422656E756}"/>
                </a:ext>
              </a:extLst>
            </p:cNvPr>
            <p:cNvSpPr txBox="1">
              <a:spLocks noChangeArrowheads="1"/>
            </p:cNvSpPr>
            <p:nvPr/>
          </p:nvSpPr>
          <p:spPr bwMode="auto">
            <a:xfrm>
              <a:off x="7026275" y="1944688"/>
              <a:ext cx="1677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latin typeface="Roboto" panose="02000000000000000000" pitchFamily="2" charset="0"/>
                  <a:ea typeface="Roboto" panose="02000000000000000000" pitchFamily="2" charset="0"/>
                </a:rPr>
                <a:t>Prototype Test</a:t>
              </a:r>
              <a:endParaRPr lang="en-US" altLang="en-US" sz="1200" dirty="0">
                <a:latin typeface="Roboto" panose="02000000000000000000" pitchFamily="2" charset="0"/>
                <a:ea typeface="Roboto" panose="02000000000000000000" pitchFamily="2" charset="0"/>
              </a:endParaRPr>
            </a:p>
          </p:txBody>
        </p:sp>
        <p:sp>
          <p:nvSpPr>
            <p:cNvPr id="38" name="Text Box 13">
              <a:extLst>
                <a:ext uri="{FF2B5EF4-FFF2-40B4-BE49-F238E27FC236}">
                  <a16:creationId xmlns:a16="http://schemas.microsoft.com/office/drawing/2014/main" id="{15CAFCF1-292C-6910-DC15-030B520E172A}"/>
                </a:ext>
              </a:extLst>
            </p:cNvPr>
            <p:cNvSpPr txBox="1">
              <a:spLocks noChangeArrowheads="1"/>
            </p:cNvSpPr>
            <p:nvPr/>
          </p:nvSpPr>
          <p:spPr bwMode="auto">
            <a:xfrm>
              <a:off x="6935788" y="4724400"/>
              <a:ext cx="1557337"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Rework = 0 Times</a:t>
              </a:r>
            </a:p>
          </p:txBody>
        </p:sp>
        <p:sp>
          <p:nvSpPr>
            <p:cNvPr id="39" name="Line 15">
              <a:extLst>
                <a:ext uri="{FF2B5EF4-FFF2-40B4-BE49-F238E27FC236}">
                  <a16:creationId xmlns:a16="http://schemas.microsoft.com/office/drawing/2014/main" id="{EB839C6B-7A19-5549-BD74-7A1CB7B0FB3C}"/>
                </a:ext>
              </a:extLst>
            </p:cNvPr>
            <p:cNvSpPr>
              <a:spLocks noChangeShapeType="1"/>
            </p:cNvSpPr>
            <p:nvPr/>
          </p:nvSpPr>
          <p:spPr bwMode="auto">
            <a:xfrm>
              <a:off x="2632898" y="3952875"/>
              <a:ext cx="4223515" cy="682625"/>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Text Box 16">
              <a:extLst>
                <a:ext uri="{FF2B5EF4-FFF2-40B4-BE49-F238E27FC236}">
                  <a16:creationId xmlns:a16="http://schemas.microsoft.com/office/drawing/2014/main" id="{58117FD9-50C8-7D7F-0531-1F6238994163}"/>
                </a:ext>
              </a:extLst>
            </p:cNvPr>
            <p:cNvSpPr txBox="1">
              <a:spLocks noChangeArrowheads="1"/>
            </p:cNvSpPr>
            <p:nvPr/>
          </p:nvSpPr>
          <p:spPr bwMode="auto">
            <a:xfrm>
              <a:off x="6935788" y="4457700"/>
              <a:ext cx="1557337"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Quality = 20%</a:t>
              </a:r>
            </a:p>
          </p:txBody>
        </p:sp>
        <p:sp>
          <p:nvSpPr>
            <p:cNvPr id="41" name="Line 18">
              <a:extLst>
                <a:ext uri="{FF2B5EF4-FFF2-40B4-BE49-F238E27FC236}">
                  <a16:creationId xmlns:a16="http://schemas.microsoft.com/office/drawing/2014/main" id="{53B2C4AE-210D-39BC-2460-162A08FABA8F}"/>
                </a:ext>
              </a:extLst>
            </p:cNvPr>
            <p:cNvSpPr>
              <a:spLocks noChangeShapeType="1"/>
            </p:cNvSpPr>
            <p:nvPr/>
          </p:nvSpPr>
          <p:spPr bwMode="auto">
            <a:xfrm>
              <a:off x="2389312" y="3121402"/>
              <a:ext cx="4549652" cy="1001336"/>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2" name="Rectangle 19">
              <a:extLst>
                <a:ext uri="{FF2B5EF4-FFF2-40B4-BE49-F238E27FC236}">
                  <a16:creationId xmlns:a16="http://schemas.microsoft.com/office/drawing/2014/main" id="{F43573C5-2C41-00E8-FF00-98FA21903380}"/>
                </a:ext>
              </a:extLst>
            </p:cNvPr>
            <p:cNvSpPr>
              <a:spLocks noChangeArrowheads="1"/>
            </p:cNvSpPr>
            <p:nvPr/>
          </p:nvSpPr>
          <p:spPr bwMode="auto">
            <a:xfrm>
              <a:off x="6935788" y="3952875"/>
              <a:ext cx="1869423"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 Lead Time = 60 Days</a:t>
              </a:r>
            </a:p>
          </p:txBody>
        </p:sp>
        <p:sp>
          <p:nvSpPr>
            <p:cNvPr id="43" name="Rectangle 20">
              <a:extLst>
                <a:ext uri="{FF2B5EF4-FFF2-40B4-BE49-F238E27FC236}">
                  <a16:creationId xmlns:a16="http://schemas.microsoft.com/office/drawing/2014/main" id="{AF55E9B2-5CDD-F225-C9BA-C4832B45D617}"/>
                </a:ext>
              </a:extLst>
            </p:cNvPr>
            <p:cNvSpPr>
              <a:spLocks noChangeArrowheads="1"/>
            </p:cNvSpPr>
            <p:nvPr/>
          </p:nvSpPr>
          <p:spPr bwMode="auto">
            <a:xfrm>
              <a:off x="6935788" y="4221163"/>
              <a:ext cx="1556836"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rPr>
                <a:t>Processing Time 5 Days</a:t>
              </a:r>
            </a:p>
          </p:txBody>
        </p:sp>
        <p:sp>
          <p:nvSpPr>
            <p:cNvPr id="44" name="Line 37">
              <a:extLst>
                <a:ext uri="{FF2B5EF4-FFF2-40B4-BE49-F238E27FC236}">
                  <a16:creationId xmlns:a16="http://schemas.microsoft.com/office/drawing/2014/main" id="{0D601B1E-D040-8A03-FD03-B808DAF5C968}"/>
                </a:ext>
              </a:extLst>
            </p:cNvPr>
            <p:cNvSpPr>
              <a:spLocks noChangeShapeType="1"/>
            </p:cNvSpPr>
            <p:nvPr/>
          </p:nvSpPr>
          <p:spPr bwMode="auto">
            <a:xfrm>
              <a:off x="4573188" y="2893699"/>
              <a:ext cx="2289575" cy="1470340"/>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5" name="Text Box 39">
              <a:extLst>
                <a:ext uri="{FF2B5EF4-FFF2-40B4-BE49-F238E27FC236}">
                  <a16:creationId xmlns:a16="http://schemas.microsoft.com/office/drawing/2014/main" id="{2358D651-B87C-B41D-AEC3-24B954CB7009}"/>
                </a:ext>
              </a:extLst>
            </p:cNvPr>
            <p:cNvSpPr txBox="1">
              <a:spLocks noChangeArrowheads="1"/>
            </p:cNvSpPr>
            <p:nvPr/>
          </p:nvSpPr>
          <p:spPr bwMode="auto">
            <a:xfrm>
              <a:off x="4985610" y="3187003"/>
              <a:ext cx="1177925" cy="325243"/>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Aft>
                  <a:spcPct val="0"/>
                </a:spcAft>
                <a:buClrTx/>
                <a:buSzTx/>
                <a:buFontTx/>
                <a:buNone/>
              </a:pPr>
              <a:r>
                <a:rPr lang="en-US" altLang="en-US" sz="1050" dirty="0">
                  <a:solidFill>
                    <a:schemeClr val="accent1"/>
                  </a:solidFill>
                  <a:latin typeface="Roboto" panose="02000000000000000000" pitchFamily="2" charset="0"/>
                  <a:ea typeface="Roboto" panose="02000000000000000000" pitchFamily="2" charset="0"/>
                </a:rPr>
                <a:t>10 Rounds of Golf @ 4 hours/ round</a:t>
              </a:r>
            </a:p>
          </p:txBody>
        </p:sp>
      </p:grpSp>
    </p:spTree>
    <p:extLst>
      <p:ext uri="{BB962C8B-B14F-4D97-AF65-F5344CB8AC3E}">
        <p14:creationId xmlns:p14="http://schemas.microsoft.com/office/powerpoint/2010/main" val="313303555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42</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8" name="Group 27">
            <a:extLst>
              <a:ext uri="{FF2B5EF4-FFF2-40B4-BE49-F238E27FC236}">
                <a16:creationId xmlns:a16="http://schemas.microsoft.com/office/drawing/2014/main" id="{9F12FF34-87E2-D949-3E2B-34F0018A4F1C}"/>
              </a:ext>
            </a:extLst>
          </p:cNvPr>
          <p:cNvGrpSpPr/>
          <p:nvPr/>
        </p:nvGrpSpPr>
        <p:grpSpPr>
          <a:xfrm>
            <a:off x="1153954" y="2093160"/>
            <a:ext cx="9884092" cy="3460594"/>
            <a:chOff x="471488" y="1524000"/>
            <a:chExt cx="8319435" cy="3797300"/>
          </a:xfrm>
        </p:grpSpPr>
        <p:sp>
          <p:nvSpPr>
            <p:cNvPr id="13" name="Rectangle 2">
              <a:extLst>
                <a:ext uri="{FF2B5EF4-FFF2-40B4-BE49-F238E27FC236}">
                  <a16:creationId xmlns:a16="http://schemas.microsoft.com/office/drawing/2014/main" id="{8F119AAA-A85B-B140-7785-3FA3A67BCBB6}"/>
                </a:ext>
              </a:extLst>
            </p:cNvPr>
            <p:cNvSpPr>
              <a:spLocks noChangeArrowheads="1"/>
            </p:cNvSpPr>
            <p:nvPr/>
          </p:nvSpPr>
          <p:spPr bwMode="auto">
            <a:xfrm>
              <a:off x="471488" y="1524000"/>
              <a:ext cx="4749800" cy="3688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Prototype Build</a:t>
              </a:r>
              <a:endParaRPr lang="en-US" altLang="en-US" sz="1800" dirty="0">
                <a:solidFill>
                  <a:srgbClr val="FF0000"/>
                </a:solidFill>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dirty="0">
                  <a:solidFill>
                    <a:schemeClr val="accent1"/>
                  </a:solidFill>
                  <a:latin typeface="Roboto" panose="02000000000000000000" pitchFamily="2" charset="0"/>
                  <a:ea typeface="Roboto" panose="02000000000000000000" pitchFamily="2" charset="0"/>
                </a:rPr>
                <a:t>Samples typically wait an additional 2 weeks before entering the manufacturing process.</a:t>
              </a:r>
              <a:r>
                <a:rPr lang="en-US" altLang="en-US" dirty="0">
                  <a:solidFill>
                    <a:schemeClr val="bg1"/>
                  </a:solidFill>
                  <a:latin typeface="Roboto" panose="02000000000000000000" pitchFamily="2" charset="0"/>
                  <a:ea typeface="Roboto" panose="02000000000000000000" pitchFamily="2" charset="0"/>
                </a:rPr>
                <a:t> </a:t>
              </a:r>
              <a:r>
                <a:rPr lang="en-US" altLang="en-US" dirty="0">
                  <a:latin typeface="Roboto" panose="02000000000000000000" pitchFamily="2" charset="0"/>
                  <a:ea typeface="Roboto" panose="02000000000000000000" pitchFamily="2" charset="0"/>
                </a:rPr>
                <a:t>Once in the manufacturing process </a:t>
              </a:r>
              <a:r>
                <a:rPr lang="en-US" altLang="en-US" dirty="0">
                  <a:solidFill>
                    <a:schemeClr val="accent1"/>
                  </a:solidFill>
                  <a:latin typeface="Roboto" panose="02000000000000000000" pitchFamily="2" charset="0"/>
                  <a:ea typeface="Roboto" panose="02000000000000000000" pitchFamily="2" charset="0"/>
                </a:rPr>
                <a:t>it takes about a day to make the samples</a:t>
              </a:r>
              <a:r>
                <a:rPr lang="en-US" altLang="en-US" dirty="0">
                  <a:latin typeface="Roboto" panose="02000000000000000000" pitchFamily="2" charset="0"/>
                  <a:ea typeface="Roboto" panose="02000000000000000000" pitchFamily="2" charset="0"/>
                </a:rPr>
                <a:t>.  Upon completion, the samples are submitted to the Product Steering Committee for approval.  </a:t>
              </a:r>
              <a:r>
                <a:rPr lang="en-US" altLang="en-US" dirty="0">
                  <a:solidFill>
                    <a:schemeClr val="accent1"/>
                  </a:solidFill>
                  <a:latin typeface="Roboto" panose="02000000000000000000" pitchFamily="2" charset="0"/>
                  <a:ea typeface="Roboto" panose="02000000000000000000" pitchFamily="2" charset="0"/>
                </a:rPr>
                <a:t>70% of the time, the Steering Committee rejects the prototypes </a:t>
              </a:r>
              <a:r>
                <a:rPr lang="en-US" altLang="en-US" dirty="0">
                  <a:latin typeface="Roboto" panose="02000000000000000000" pitchFamily="2" charset="0"/>
                  <a:ea typeface="Roboto" panose="02000000000000000000" pitchFamily="2" charset="0"/>
                </a:rPr>
                <a:t>and requests modifications.  If the prototypes are not accepted upon first submission, experience shows that it will require an </a:t>
              </a:r>
              <a:r>
                <a:rPr lang="en-US" altLang="en-US" dirty="0">
                  <a:solidFill>
                    <a:schemeClr val="accent1"/>
                  </a:solidFill>
                  <a:latin typeface="Roboto" panose="02000000000000000000" pitchFamily="2" charset="0"/>
                  <a:ea typeface="Roboto" panose="02000000000000000000" pitchFamily="2" charset="0"/>
                </a:rPr>
                <a:t>average of 4 submissions to gain final approval</a:t>
              </a:r>
              <a:r>
                <a:rPr lang="en-US" altLang="en-US" dirty="0">
                  <a:latin typeface="Roboto" panose="02000000000000000000" pitchFamily="2" charset="0"/>
                  <a:ea typeface="Roboto" panose="02000000000000000000" pitchFamily="2" charset="0"/>
                </a:rPr>
                <a:t>. </a:t>
              </a:r>
            </a:p>
          </p:txBody>
        </p:sp>
        <p:sp>
          <p:nvSpPr>
            <p:cNvPr id="14" name="Rectangle 3">
              <a:extLst>
                <a:ext uri="{FF2B5EF4-FFF2-40B4-BE49-F238E27FC236}">
                  <a16:creationId xmlns:a16="http://schemas.microsoft.com/office/drawing/2014/main" id="{07FA48BE-9948-B2E9-3CA7-85B737FBE193}"/>
                </a:ext>
              </a:extLst>
            </p:cNvPr>
            <p:cNvSpPr>
              <a:spLocks noChangeArrowheads="1"/>
            </p:cNvSpPr>
            <p:nvPr/>
          </p:nvSpPr>
          <p:spPr bwMode="auto">
            <a:xfrm>
              <a:off x="6981825" y="3833813"/>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 name="Rectangle 5">
              <a:extLst>
                <a:ext uri="{FF2B5EF4-FFF2-40B4-BE49-F238E27FC236}">
                  <a16:creationId xmlns:a16="http://schemas.microsoft.com/office/drawing/2014/main" id="{44683357-81C2-BBB3-33E4-7C2446A1EF3E}"/>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 name="Line 8">
              <a:extLst>
                <a:ext uri="{FF2B5EF4-FFF2-40B4-BE49-F238E27FC236}">
                  <a16:creationId xmlns:a16="http://schemas.microsoft.com/office/drawing/2014/main" id="{F6F2DA63-CFE4-739F-5C68-C0661E0AEB50}"/>
                </a:ext>
              </a:extLst>
            </p:cNvPr>
            <p:cNvSpPr>
              <a:spLocks noChangeShapeType="1"/>
            </p:cNvSpPr>
            <p:nvPr/>
          </p:nvSpPr>
          <p:spPr bwMode="auto">
            <a:xfrm>
              <a:off x="4789489" y="5039033"/>
              <a:ext cx="2152650" cy="6042"/>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 name="Line 9">
              <a:extLst>
                <a:ext uri="{FF2B5EF4-FFF2-40B4-BE49-F238E27FC236}">
                  <a16:creationId xmlns:a16="http://schemas.microsoft.com/office/drawing/2014/main" id="{5C2B9222-F5DB-3712-E6C7-3895C83188B3}"/>
                </a:ext>
              </a:extLst>
            </p:cNvPr>
            <p:cNvSpPr>
              <a:spLocks noChangeShapeType="1"/>
            </p:cNvSpPr>
            <p:nvPr/>
          </p:nvSpPr>
          <p:spPr bwMode="auto">
            <a:xfrm>
              <a:off x="4472924" y="2989814"/>
              <a:ext cx="2459689" cy="1382161"/>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8" name="Text Box 10">
              <a:extLst>
                <a:ext uri="{FF2B5EF4-FFF2-40B4-BE49-F238E27FC236}">
                  <a16:creationId xmlns:a16="http://schemas.microsoft.com/office/drawing/2014/main" id="{1915646E-4310-B14A-4793-0C3E6892E16D}"/>
                </a:ext>
              </a:extLst>
            </p:cNvPr>
            <p:cNvSpPr txBox="1">
              <a:spLocks noChangeArrowheads="1"/>
            </p:cNvSpPr>
            <p:nvPr/>
          </p:nvSpPr>
          <p:spPr bwMode="auto">
            <a:xfrm>
              <a:off x="7208563" y="1538288"/>
              <a:ext cx="1248323" cy="40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Process Box</a:t>
              </a:r>
            </a:p>
          </p:txBody>
        </p:sp>
        <p:sp>
          <p:nvSpPr>
            <p:cNvPr id="19" name="Text Box 11">
              <a:extLst>
                <a:ext uri="{FF2B5EF4-FFF2-40B4-BE49-F238E27FC236}">
                  <a16:creationId xmlns:a16="http://schemas.microsoft.com/office/drawing/2014/main" id="{69CAD2CD-DB21-0861-26E7-9C113E1C5FD3}"/>
                </a:ext>
              </a:extLst>
            </p:cNvPr>
            <p:cNvSpPr txBox="1">
              <a:spLocks noChangeArrowheads="1"/>
            </p:cNvSpPr>
            <p:nvPr/>
          </p:nvSpPr>
          <p:spPr bwMode="auto">
            <a:xfrm>
              <a:off x="7405676" y="3532188"/>
              <a:ext cx="936647" cy="40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Data Box</a:t>
              </a:r>
            </a:p>
          </p:txBody>
        </p:sp>
        <p:sp>
          <p:nvSpPr>
            <p:cNvPr id="20" name="Line 12">
              <a:extLst>
                <a:ext uri="{FF2B5EF4-FFF2-40B4-BE49-F238E27FC236}">
                  <a16:creationId xmlns:a16="http://schemas.microsoft.com/office/drawing/2014/main" id="{E90B5BE9-596A-D027-1609-30012DB2E744}"/>
                </a:ext>
              </a:extLst>
            </p:cNvPr>
            <p:cNvSpPr>
              <a:spLocks noChangeShapeType="1"/>
            </p:cNvSpPr>
            <p:nvPr/>
          </p:nvSpPr>
          <p:spPr bwMode="auto">
            <a:xfrm>
              <a:off x="2171236" y="1706998"/>
              <a:ext cx="4678826" cy="461528"/>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Text Box 13">
              <a:extLst>
                <a:ext uri="{FF2B5EF4-FFF2-40B4-BE49-F238E27FC236}">
                  <a16:creationId xmlns:a16="http://schemas.microsoft.com/office/drawing/2014/main" id="{CF3296DE-2850-B841-F0D3-5A8938C8CBD6}"/>
                </a:ext>
              </a:extLst>
            </p:cNvPr>
            <p:cNvSpPr txBox="1">
              <a:spLocks noChangeArrowheads="1"/>
            </p:cNvSpPr>
            <p:nvPr/>
          </p:nvSpPr>
          <p:spPr bwMode="auto">
            <a:xfrm>
              <a:off x="7026275" y="1944688"/>
              <a:ext cx="1677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latin typeface="Roboto" panose="02000000000000000000" pitchFamily="2" charset="0"/>
                  <a:ea typeface="Roboto" panose="02000000000000000000" pitchFamily="2" charset="0"/>
                </a:rPr>
                <a:t>Prototype Build</a:t>
              </a:r>
            </a:p>
          </p:txBody>
        </p:sp>
        <p:sp>
          <p:nvSpPr>
            <p:cNvPr id="22" name="Line 14">
              <a:extLst>
                <a:ext uri="{FF2B5EF4-FFF2-40B4-BE49-F238E27FC236}">
                  <a16:creationId xmlns:a16="http://schemas.microsoft.com/office/drawing/2014/main" id="{8AA78A02-7432-29A7-8EEF-A33417D6C10E}"/>
                </a:ext>
              </a:extLst>
            </p:cNvPr>
            <p:cNvSpPr>
              <a:spLocks noChangeShapeType="1"/>
            </p:cNvSpPr>
            <p:nvPr/>
          </p:nvSpPr>
          <p:spPr bwMode="auto">
            <a:xfrm>
              <a:off x="4789488" y="2378075"/>
              <a:ext cx="2098675" cy="1563688"/>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 name="Text Box 20">
              <a:extLst>
                <a:ext uri="{FF2B5EF4-FFF2-40B4-BE49-F238E27FC236}">
                  <a16:creationId xmlns:a16="http://schemas.microsoft.com/office/drawing/2014/main" id="{580F744F-4FE6-0E28-8144-0900C454914F}"/>
                </a:ext>
              </a:extLst>
            </p:cNvPr>
            <p:cNvSpPr txBox="1">
              <a:spLocks noChangeArrowheads="1"/>
            </p:cNvSpPr>
            <p:nvPr/>
          </p:nvSpPr>
          <p:spPr bwMode="auto">
            <a:xfrm>
              <a:off x="6921500" y="4878388"/>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Rework = 4</a:t>
              </a:r>
            </a:p>
          </p:txBody>
        </p:sp>
        <p:sp>
          <p:nvSpPr>
            <p:cNvPr id="24" name="Rectangle 21">
              <a:extLst>
                <a:ext uri="{FF2B5EF4-FFF2-40B4-BE49-F238E27FC236}">
                  <a16:creationId xmlns:a16="http://schemas.microsoft.com/office/drawing/2014/main" id="{849A5A30-C7D7-F67F-0C01-EACCDE25AB2C}"/>
                </a:ext>
              </a:extLst>
            </p:cNvPr>
            <p:cNvSpPr>
              <a:spLocks noChangeArrowheads="1"/>
            </p:cNvSpPr>
            <p:nvPr/>
          </p:nvSpPr>
          <p:spPr bwMode="auto">
            <a:xfrm>
              <a:off x="6921500" y="3952875"/>
              <a:ext cx="1869423"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 Lead Time = 10 Days</a:t>
              </a:r>
            </a:p>
          </p:txBody>
        </p:sp>
        <p:sp>
          <p:nvSpPr>
            <p:cNvPr id="25" name="Rectangle 22">
              <a:extLst>
                <a:ext uri="{FF2B5EF4-FFF2-40B4-BE49-F238E27FC236}">
                  <a16:creationId xmlns:a16="http://schemas.microsoft.com/office/drawing/2014/main" id="{8448DC37-023D-1EDB-9B08-A44937618CF7}"/>
                </a:ext>
              </a:extLst>
            </p:cNvPr>
            <p:cNvSpPr>
              <a:spLocks noChangeArrowheads="1"/>
            </p:cNvSpPr>
            <p:nvPr/>
          </p:nvSpPr>
          <p:spPr bwMode="auto">
            <a:xfrm>
              <a:off x="6921500" y="4260850"/>
              <a:ext cx="1593706"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Processing Time = 1 Day</a:t>
              </a:r>
            </a:p>
          </p:txBody>
        </p:sp>
        <p:sp>
          <p:nvSpPr>
            <p:cNvPr id="26" name="Text Box 32">
              <a:extLst>
                <a:ext uri="{FF2B5EF4-FFF2-40B4-BE49-F238E27FC236}">
                  <a16:creationId xmlns:a16="http://schemas.microsoft.com/office/drawing/2014/main" id="{09BFABBE-DECF-DEBE-8F58-4AC25F8E6E1B}"/>
                </a:ext>
              </a:extLst>
            </p:cNvPr>
            <p:cNvSpPr txBox="1">
              <a:spLocks noChangeArrowheads="1"/>
            </p:cNvSpPr>
            <p:nvPr/>
          </p:nvSpPr>
          <p:spPr bwMode="auto">
            <a:xfrm>
              <a:off x="6921500" y="4568825"/>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Quality = 30%</a:t>
              </a:r>
            </a:p>
          </p:txBody>
        </p:sp>
        <p:sp>
          <p:nvSpPr>
            <p:cNvPr id="27" name="Line 33">
              <a:extLst>
                <a:ext uri="{FF2B5EF4-FFF2-40B4-BE49-F238E27FC236}">
                  <a16:creationId xmlns:a16="http://schemas.microsoft.com/office/drawing/2014/main" id="{72DB7E41-75D3-96F5-954E-0E36CBE93B82}"/>
                </a:ext>
              </a:extLst>
            </p:cNvPr>
            <p:cNvSpPr>
              <a:spLocks noChangeShapeType="1"/>
            </p:cNvSpPr>
            <p:nvPr/>
          </p:nvSpPr>
          <p:spPr bwMode="auto">
            <a:xfrm>
              <a:off x="2992492" y="3897748"/>
              <a:ext cx="3949645" cy="728228"/>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40326755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43</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5" name="Group 44">
            <a:extLst>
              <a:ext uri="{FF2B5EF4-FFF2-40B4-BE49-F238E27FC236}">
                <a16:creationId xmlns:a16="http://schemas.microsoft.com/office/drawing/2014/main" id="{508DC334-D717-84D3-1915-ECF0A1CD515B}"/>
              </a:ext>
            </a:extLst>
          </p:cNvPr>
          <p:cNvGrpSpPr/>
          <p:nvPr/>
        </p:nvGrpSpPr>
        <p:grpSpPr>
          <a:xfrm>
            <a:off x="838200" y="2327795"/>
            <a:ext cx="10515600" cy="3644587"/>
            <a:chOff x="471488" y="1524000"/>
            <a:chExt cx="8332135" cy="4009737"/>
          </a:xfrm>
        </p:grpSpPr>
        <p:sp>
          <p:nvSpPr>
            <p:cNvPr id="29" name="Rectangle 2">
              <a:extLst>
                <a:ext uri="{FF2B5EF4-FFF2-40B4-BE49-F238E27FC236}">
                  <a16:creationId xmlns:a16="http://schemas.microsoft.com/office/drawing/2014/main" id="{56106CCB-CE16-265D-D90D-2B14B1C63DA2}"/>
                </a:ext>
              </a:extLst>
            </p:cNvPr>
            <p:cNvSpPr>
              <a:spLocks noChangeArrowheads="1"/>
            </p:cNvSpPr>
            <p:nvPr/>
          </p:nvSpPr>
          <p:spPr bwMode="auto">
            <a:xfrm>
              <a:off x="471488" y="1524000"/>
              <a:ext cx="4207062" cy="400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 Design</a:t>
              </a:r>
              <a:endParaRPr lang="en-US" altLang="en-US" sz="1800" dirty="0">
                <a:solidFill>
                  <a:srgbClr val="FF0000"/>
                </a:solidFill>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normally takes </a:t>
              </a:r>
              <a:r>
                <a:rPr lang="en-US" altLang="en-US" dirty="0">
                  <a:solidFill>
                    <a:schemeClr val="accent1"/>
                  </a:solidFill>
                  <a:latin typeface="Roboto" panose="02000000000000000000" pitchFamily="2" charset="0"/>
                  <a:ea typeface="Roboto" panose="02000000000000000000" pitchFamily="2" charset="0"/>
                </a:rPr>
                <a:t>15 days to complete </a:t>
              </a:r>
              <a:r>
                <a:rPr lang="en-US" altLang="en-US" dirty="0">
                  <a:latin typeface="Roboto" panose="02000000000000000000" pitchFamily="2" charset="0"/>
                  <a:ea typeface="Roboto" panose="02000000000000000000" pitchFamily="2" charset="0"/>
                </a:rPr>
                <a:t>the full drawing package though the total duration of </a:t>
              </a:r>
              <a:r>
                <a:rPr lang="en-US" altLang="en-US" dirty="0">
                  <a:solidFill>
                    <a:schemeClr val="accent1"/>
                  </a:solidFill>
                  <a:latin typeface="Roboto" panose="02000000000000000000" pitchFamily="2" charset="0"/>
                  <a:ea typeface="Roboto" panose="02000000000000000000" pitchFamily="2" charset="0"/>
                </a:rPr>
                <a:t>time typically gets extended because of work interruptions by an additional 10 days</a:t>
              </a:r>
              <a:r>
                <a:rPr lang="en-US" altLang="en-US" dirty="0">
                  <a:latin typeface="Roboto" panose="02000000000000000000" pitchFamily="2" charset="0"/>
                  <a:ea typeface="Roboto" panose="02000000000000000000" pitchFamily="2" charset="0"/>
                </a:rPr>
                <a:t>.  In </a:t>
              </a:r>
              <a:r>
                <a:rPr lang="en-US" altLang="en-US" dirty="0">
                  <a:solidFill>
                    <a:schemeClr val="accent1"/>
                  </a:solidFill>
                  <a:latin typeface="Roboto" panose="02000000000000000000" pitchFamily="2" charset="0"/>
                  <a:ea typeface="Roboto" panose="02000000000000000000" pitchFamily="2" charset="0"/>
                </a:rPr>
                <a:t>20% of the instances the design group is able to complete the package </a:t>
              </a:r>
              <a:r>
                <a:rPr lang="en-US" altLang="en-US" dirty="0">
                  <a:latin typeface="Roboto" panose="02000000000000000000" pitchFamily="2" charset="0"/>
                  <a:ea typeface="Roboto" panose="02000000000000000000" pitchFamily="2" charset="0"/>
                </a:rPr>
                <a:t>without gaining clarifications on the specs from the program management group.  </a:t>
              </a:r>
              <a:r>
                <a:rPr lang="en-US" altLang="en-US" dirty="0">
                  <a:solidFill>
                    <a:schemeClr val="accent1"/>
                  </a:solidFill>
                  <a:latin typeface="Roboto" panose="02000000000000000000" pitchFamily="2" charset="0"/>
                  <a:ea typeface="Roboto" panose="02000000000000000000" pitchFamily="2" charset="0"/>
                </a:rPr>
                <a:t>If the specifications are not clear, the design group will usually have to go through 5 iterations </a:t>
              </a:r>
              <a:r>
                <a:rPr lang="en-US" altLang="en-US" dirty="0">
                  <a:latin typeface="Roboto" panose="02000000000000000000" pitchFamily="2" charset="0"/>
                  <a:ea typeface="Roboto" panose="02000000000000000000" pitchFamily="2" charset="0"/>
                </a:rPr>
                <a:t>of design before getting approval from the Product Steering Committee.  </a:t>
              </a:r>
            </a:p>
          </p:txBody>
        </p:sp>
        <p:sp>
          <p:nvSpPr>
            <p:cNvPr id="30" name="Line 4">
              <a:extLst>
                <a:ext uri="{FF2B5EF4-FFF2-40B4-BE49-F238E27FC236}">
                  <a16:creationId xmlns:a16="http://schemas.microsoft.com/office/drawing/2014/main" id="{02842E85-9F4B-6E49-A3A1-5155D2738E3A}"/>
                </a:ext>
              </a:extLst>
            </p:cNvPr>
            <p:cNvSpPr>
              <a:spLocks noChangeShapeType="1"/>
            </p:cNvSpPr>
            <p:nvPr/>
          </p:nvSpPr>
          <p:spPr bwMode="auto">
            <a:xfrm>
              <a:off x="3828493" y="3251200"/>
              <a:ext cx="3170795" cy="830263"/>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1" name="Line 5">
              <a:extLst>
                <a:ext uri="{FF2B5EF4-FFF2-40B4-BE49-F238E27FC236}">
                  <a16:creationId xmlns:a16="http://schemas.microsoft.com/office/drawing/2014/main" id="{21750073-5131-9685-02D7-6855DE34C1F9}"/>
                </a:ext>
              </a:extLst>
            </p:cNvPr>
            <p:cNvSpPr>
              <a:spLocks noChangeShapeType="1"/>
            </p:cNvSpPr>
            <p:nvPr/>
          </p:nvSpPr>
          <p:spPr bwMode="auto">
            <a:xfrm flipV="1">
              <a:off x="2662050" y="4860924"/>
              <a:ext cx="4207062" cy="40718"/>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2" name="Text Box 6">
              <a:extLst>
                <a:ext uri="{FF2B5EF4-FFF2-40B4-BE49-F238E27FC236}">
                  <a16:creationId xmlns:a16="http://schemas.microsoft.com/office/drawing/2014/main" id="{900674D8-565C-87C6-42B7-D7CD566C93CA}"/>
                </a:ext>
              </a:extLst>
            </p:cNvPr>
            <p:cNvSpPr txBox="1">
              <a:spLocks noChangeArrowheads="1"/>
            </p:cNvSpPr>
            <p:nvPr/>
          </p:nvSpPr>
          <p:spPr bwMode="auto">
            <a:xfrm>
              <a:off x="7091176" y="1538288"/>
              <a:ext cx="1483098" cy="40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Process Box</a:t>
              </a:r>
            </a:p>
          </p:txBody>
        </p:sp>
        <p:sp>
          <p:nvSpPr>
            <p:cNvPr id="33" name="Text Box 7">
              <a:extLst>
                <a:ext uri="{FF2B5EF4-FFF2-40B4-BE49-F238E27FC236}">
                  <a16:creationId xmlns:a16="http://schemas.microsoft.com/office/drawing/2014/main" id="{4E49E8EB-EF29-9BCD-4D40-1E0A55455478}"/>
                </a:ext>
              </a:extLst>
            </p:cNvPr>
            <p:cNvSpPr txBox="1">
              <a:spLocks noChangeArrowheads="1"/>
            </p:cNvSpPr>
            <p:nvPr/>
          </p:nvSpPr>
          <p:spPr bwMode="auto">
            <a:xfrm>
              <a:off x="7317597" y="3532188"/>
              <a:ext cx="1112805" cy="40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Data Box</a:t>
              </a:r>
            </a:p>
          </p:txBody>
        </p:sp>
        <p:sp>
          <p:nvSpPr>
            <p:cNvPr id="34" name="Rectangle 9">
              <a:extLst>
                <a:ext uri="{FF2B5EF4-FFF2-40B4-BE49-F238E27FC236}">
                  <a16:creationId xmlns:a16="http://schemas.microsoft.com/office/drawing/2014/main" id="{FFA4860F-3A4D-EB6B-1F24-DEBB705BAC1D}"/>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5" name="Text Box 11">
              <a:extLst>
                <a:ext uri="{FF2B5EF4-FFF2-40B4-BE49-F238E27FC236}">
                  <a16:creationId xmlns:a16="http://schemas.microsoft.com/office/drawing/2014/main" id="{1875AFA7-2EEC-6B38-EF52-6E71AF04E325}"/>
                </a:ext>
              </a:extLst>
            </p:cNvPr>
            <p:cNvSpPr txBox="1">
              <a:spLocks noChangeArrowheads="1"/>
            </p:cNvSpPr>
            <p:nvPr/>
          </p:nvSpPr>
          <p:spPr bwMode="auto">
            <a:xfrm>
              <a:off x="7026275" y="1944688"/>
              <a:ext cx="1677988" cy="71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latin typeface="Roboto" panose="02000000000000000000" pitchFamily="2" charset="0"/>
                  <a:ea typeface="Roboto" panose="02000000000000000000" pitchFamily="2" charset="0"/>
                </a:rPr>
                <a:t>Product Design</a:t>
              </a:r>
            </a:p>
          </p:txBody>
        </p:sp>
        <p:sp>
          <p:nvSpPr>
            <p:cNvPr id="36" name="Rectangle 17">
              <a:extLst>
                <a:ext uri="{FF2B5EF4-FFF2-40B4-BE49-F238E27FC236}">
                  <a16:creationId xmlns:a16="http://schemas.microsoft.com/office/drawing/2014/main" id="{5317BB27-992D-0E67-E9CD-AF8830AC1B62}"/>
                </a:ext>
              </a:extLst>
            </p:cNvPr>
            <p:cNvSpPr>
              <a:spLocks noChangeArrowheads="1"/>
            </p:cNvSpPr>
            <p:nvPr/>
          </p:nvSpPr>
          <p:spPr bwMode="auto">
            <a:xfrm>
              <a:off x="6981825" y="3833813"/>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Text Box 18">
              <a:extLst>
                <a:ext uri="{FF2B5EF4-FFF2-40B4-BE49-F238E27FC236}">
                  <a16:creationId xmlns:a16="http://schemas.microsoft.com/office/drawing/2014/main" id="{C0645416-6DCB-C476-91D3-E7CD38566435}"/>
                </a:ext>
              </a:extLst>
            </p:cNvPr>
            <p:cNvSpPr txBox="1">
              <a:spLocks noChangeArrowheads="1"/>
            </p:cNvSpPr>
            <p:nvPr/>
          </p:nvSpPr>
          <p:spPr bwMode="auto">
            <a:xfrm>
              <a:off x="6934200" y="4814888"/>
              <a:ext cx="1571625" cy="295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Rework = 5 Times</a:t>
              </a:r>
            </a:p>
          </p:txBody>
        </p:sp>
        <p:sp>
          <p:nvSpPr>
            <p:cNvPr id="38" name="Rectangle 19">
              <a:extLst>
                <a:ext uri="{FF2B5EF4-FFF2-40B4-BE49-F238E27FC236}">
                  <a16:creationId xmlns:a16="http://schemas.microsoft.com/office/drawing/2014/main" id="{C028EEB4-D72F-D00B-0359-520E2C79927B}"/>
                </a:ext>
              </a:extLst>
            </p:cNvPr>
            <p:cNvSpPr>
              <a:spLocks noChangeArrowheads="1"/>
            </p:cNvSpPr>
            <p:nvPr/>
          </p:nvSpPr>
          <p:spPr bwMode="auto">
            <a:xfrm>
              <a:off x="6934200" y="3952875"/>
              <a:ext cx="1869423" cy="295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 Lead Time = 25 Days</a:t>
              </a:r>
            </a:p>
          </p:txBody>
        </p:sp>
        <p:sp>
          <p:nvSpPr>
            <p:cNvPr id="39" name="Rectangle 20">
              <a:extLst>
                <a:ext uri="{FF2B5EF4-FFF2-40B4-BE49-F238E27FC236}">
                  <a16:creationId xmlns:a16="http://schemas.microsoft.com/office/drawing/2014/main" id="{3424F343-9AFA-7893-4C49-D6A5F45CA787}"/>
                </a:ext>
              </a:extLst>
            </p:cNvPr>
            <p:cNvSpPr>
              <a:spLocks noChangeArrowheads="1"/>
            </p:cNvSpPr>
            <p:nvPr/>
          </p:nvSpPr>
          <p:spPr bwMode="auto">
            <a:xfrm>
              <a:off x="6934200" y="4240213"/>
              <a:ext cx="1731564" cy="295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Processing Time = 15 Days</a:t>
              </a:r>
            </a:p>
          </p:txBody>
        </p:sp>
        <p:sp>
          <p:nvSpPr>
            <p:cNvPr id="40" name="Line 21">
              <a:extLst>
                <a:ext uri="{FF2B5EF4-FFF2-40B4-BE49-F238E27FC236}">
                  <a16:creationId xmlns:a16="http://schemas.microsoft.com/office/drawing/2014/main" id="{023C0DC6-2B91-5D8F-C5E2-D4D9792998C1}"/>
                </a:ext>
              </a:extLst>
            </p:cNvPr>
            <p:cNvSpPr>
              <a:spLocks noChangeShapeType="1"/>
            </p:cNvSpPr>
            <p:nvPr/>
          </p:nvSpPr>
          <p:spPr bwMode="auto">
            <a:xfrm>
              <a:off x="3828493" y="2376925"/>
              <a:ext cx="3150157" cy="1987112"/>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1" name="Line 22">
              <a:extLst>
                <a:ext uri="{FF2B5EF4-FFF2-40B4-BE49-F238E27FC236}">
                  <a16:creationId xmlns:a16="http://schemas.microsoft.com/office/drawing/2014/main" id="{D73E920A-0CE7-A815-D6C6-E835889E7A27}"/>
                </a:ext>
              </a:extLst>
            </p:cNvPr>
            <p:cNvSpPr>
              <a:spLocks noChangeShapeType="1"/>
            </p:cNvSpPr>
            <p:nvPr/>
          </p:nvSpPr>
          <p:spPr bwMode="auto">
            <a:xfrm>
              <a:off x="4553027" y="3251200"/>
              <a:ext cx="2317674" cy="1389063"/>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2" name="Text Box 33">
              <a:extLst>
                <a:ext uri="{FF2B5EF4-FFF2-40B4-BE49-F238E27FC236}">
                  <a16:creationId xmlns:a16="http://schemas.microsoft.com/office/drawing/2014/main" id="{57D55F2B-F590-11A7-FE88-7B61517BD942}"/>
                </a:ext>
              </a:extLst>
            </p:cNvPr>
            <p:cNvSpPr txBox="1">
              <a:spLocks noChangeArrowheads="1"/>
            </p:cNvSpPr>
            <p:nvPr/>
          </p:nvSpPr>
          <p:spPr bwMode="auto">
            <a:xfrm>
              <a:off x="6934200" y="4527550"/>
              <a:ext cx="1571625" cy="295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Quality = 20%</a:t>
              </a:r>
            </a:p>
          </p:txBody>
        </p:sp>
        <p:sp>
          <p:nvSpPr>
            <p:cNvPr id="43" name="Line 34">
              <a:extLst>
                <a:ext uri="{FF2B5EF4-FFF2-40B4-BE49-F238E27FC236}">
                  <a16:creationId xmlns:a16="http://schemas.microsoft.com/office/drawing/2014/main" id="{BCDF200C-3C96-FD00-11EA-38D8AB6F280F}"/>
                </a:ext>
              </a:extLst>
            </p:cNvPr>
            <p:cNvSpPr>
              <a:spLocks noChangeShapeType="1"/>
            </p:cNvSpPr>
            <p:nvPr/>
          </p:nvSpPr>
          <p:spPr bwMode="auto">
            <a:xfrm>
              <a:off x="2071500" y="1781659"/>
              <a:ext cx="4881750" cy="220616"/>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4" name="Text Box 35">
              <a:extLst>
                <a:ext uri="{FF2B5EF4-FFF2-40B4-BE49-F238E27FC236}">
                  <a16:creationId xmlns:a16="http://schemas.microsoft.com/office/drawing/2014/main" id="{68858909-056A-5CC2-31FA-0493BAD91C0D}"/>
                </a:ext>
              </a:extLst>
            </p:cNvPr>
            <p:cNvSpPr txBox="1">
              <a:spLocks noChangeArrowheads="1"/>
            </p:cNvSpPr>
            <p:nvPr/>
          </p:nvSpPr>
          <p:spPr bwMode="auto">
            <a:xfrm>
              <a:off x="4030807" y="3529123"/>
              <a:ext cx="1162546" cy="34665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squar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Aft>
                  <a:spcPct val="0"/>
                </a:spcAft>
                <a:buClrTx/>
                <a:buSzTx/>
                <a:buFontTx/>
                <a:buNone/>
              </a:pPr>
              <a:r>
                <a:rPr lang="en-US" altLang="en-US" sz="900" dirty="0">
                  <a:solidFill>
                    <a:schemeClr val="accent1"/>
                  </a:solidFill>
                  <a:latin typeface="Roboto" panose="02000000000000000000" pitchFamily="2" charset="0"/>
                  <a:ea typeface="Roboto" panose="02000000000000000000" pitchFamily="2" charset="0"/>
                </a:rPr>
                <a:t>15 days + 10 days due to interruptions = 25 days</a:t>
              </a:r>
            </a:p>
          </p:txBody>
        </p:sp>
      </p:grpSp>
    </p:spTree>
    <p:extLst>
      <p:ext uri="{BB962C8B-B14F-4D97-AF65-F5344CB8AC3E}">
        <p14:creationId xmlns:p14="http://schemas.microsoft.com/office/powerpoint/2010/main" val="190547249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44</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7" name="Group 26">
            <a:extLst>
              <a:ext uri="{FF2B5EF4-FFF2-40B4-BE49-F238E27FC236}">
                <a16:creationId xmlns:a16="http://schemas.microsoft.com/office/drawing/2014/main" id="{62531094-CB77-9A78-5614-F681803B9DE2}"/>
              </a:ext>
            </a:extLst>
          </p:cNvPr>
          <p:cNvGrpSpPr/>
          <p:nvPr/>
        </p:nvGrpSpPr>
        <p:grpSpPr>
          <a:xfrm>
            <a:off x="1465550" y="1855788"/>
            <a:ext cx="8272699" cy="3927742"/>
            <a:chOff x="471488" y="1524000"/>
            <a:chExt cx="8272699" cy="3927742"/>
          </a:xfrm>
        </p:grpSpPr>
        <p:sp>
          <p:nvSpPr>
            <p:cNvPr id="13" name="Rectangle 2">
              <a:extLst>
                <a:ext uri="{FF2B5EF4-FFF2-40B4-BE49-F238E27FC236}">
                  <a16:creationId xmlns:a16="http://schemas.microsoft.com/office/drawing/2014/main" id="{838DB153-EAFD-EC77-0C2B-D4BB1BCB7C8C}"/>
                </a:ext>
              </a:extLst>
            </p:cNvPr>
            <p:cNvSpPr>
              <a:spLocks noChangeArrowheads="1"/>
            </p:cNvSpPr>
            <p:nvPr/>
          </p:nvSpPr>
          <p:spPr bwMode="auto">
            <a:xfrm>
              <a:off x="471488" y="1524000"/>
              <a:ext cx="4956175" cy="3927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Product Specification</a:t>
              </a:r>
              <a:endParaRPr lang="en-US" altLang="en-US" sz="1800" dirty="0">
                <a:solidFill>
                  <a:srgbClr val="FF0000"/>
                </a:solidFill>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This will generally </a:t>
              </a:r>
              <a:r>
                <a:rPr lang="en-US" altLang="en-US" dirty="0">
                  <a:solidFill>
                    <a:schemeClr val="accent1"/>
                  </a:solidFill>
                  <a:latin typeface="Roboto" panose="02000000000000000000" pitchFamily="2" charset="0"/>
                  <a:ea typeface="Roboto" panose="02000000000000000000" pitchFamily="2" charset="0"/>
                </a:rPr>
                <a:t>take place over a one-week period with about 2 days actually dedicated to the process</a:t>
              </a:r>
              <a:r>
                <a:rPr lang="en-US" altLang="en-US" dirty="0">
                  <a:latin typeface="Roboto" panose="02000000000000000000" pitchFamily="2" charset="0"/>
                  <a:ea typeface="Roboto" panose="02000000000000000000" pitchFamily="2" charset="0"/>
                </a:rPr>
                <a:t>.  The completed specifications are submitted to the Product Steering Committee for review and approval at their monthly meeting.  In 30% of the instances the specifications are approved on the first submission.  In the remaining </a:t>
              </a:r>
              <a:r>
                <a:rPr lang="en-US" altLang="en-US" dirty="0">
                  <a:solidFill>
                    <a:schemeClr val="accent1"/>
                  </a:solidFill>
                  <a:latin typeface="Roboto" panose="02000000000000000000" pitchFamily="2" charset="0"/>
                  <a:ea typeface="Roboto" panose="02000000000000000000" pitchFamily="2" charset="0"/>
                </a:rPr>
                <a:t>70% of the instances the program management group has to go back to the concept development team </a:t>
              </a:r>
              <a:r>
                <a:rPr lang="en-US" altLang="en-US" dirty="0">
                  <a:latin typeface="Roboto" panose="02000000000000000000" pitchFamily="2" charset="0"/>
                  <a:ea typeface="Roboto" panose="02000000000000000000" pitchFamily="2" charset="0"/>
                </a:rPr>
                <a:t>for clarification of the meaning of the attributes.  </a:t>
              </a:r>
            </a:p>
          </p:txBody>
        </p:sp>
        <p:sp>
          <p:nvSpPr>
            <p:cNvPr id="14" name="Text Box 4">
              <a:extLst>
                <a:ext uri="{FF2B5EF4-FFF2-40B4-BE49-F238E27FC236}">
                  <a16:creationId xmlns:a16="http://schemas.microsoft.com/office/drawing/2014/main" id="{A7CE9AAC-C28C-1104-2A6C-A72653B23D47}"/>
                </a:ext>
              </a:extLst>
            </p:cNvPr>
            <p:cNvSpPr txBox="1">
              <a:spLocks noChangeArrowheads="1"/>
            </p:cNvSpPr>
            <p:nvPr/>
          </p:nvSpPr>
          <p:spPr bwMode="auto">
            <a:xfrm>
              <a:off x="7091176" y="1538288"/>
              <a:ext cx="14830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Process Box</a:t>
              </a:r>
            </a:p>
          </p:txBody>
        </p:sp>
        <p:sp>
          <p:nvSpPr>
            <p:cNvPr id="15" name="Text Box 5">
              <a:extLst>
                <a:ext uri="{FF2B5EF4-FFF2-40B4-BE49-F238E27FC236}">
                  <a16:creationId xmlns:a16="http://schemas.microsoft.com/office/drawing/2014/main" id="{0C43700D-E760-8F56-51D4-CAE13CDBCB20}"/>
                </a:ext>
              </a:extLst>
            </p:cNvPr>
            <p:cNvSpPr txBox="1">
              <a:spLocks noChangeArrowheads="1"/>
            </p:cNvSpPr>
            <p:nvPr/>
          </p:nvSpPr>
          <p:spPr bwMode="auto">
            <a:xfrm>
              <a:off x="7317597" y="3532188"/>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Data Box</a:t>
              </a:r>
            </a:p>
          </p:txBody>
        </p:sp>
        <p:sp>
          <p:nvSpPr>
            <p:cNvPr id="16" name="Rectangle 7">
              <a:extLst>
                <a:ext uri="{FF2B5EF4-FFF2-40B4-BE49-F238E27FC236}">
                  <a16:creationId xmlns:a16="http://schemas.microsoft.com/office/drawing/2014/main" id="{06403685-4278-8215-F6FC-5DE295A71563}"/>
                </a:ext>
              </a:extLst>
            </p:cNvPr>
            <p:cNvSpPr>
              <a:spLocks noChangeArrowheads="1"/>
            </p:cNvSpPr>
            <p:nvPr/>
          </p:nvSpPr>
          <p:spPr bwMode="auto">
            <a:xfrm>
              <a:off x="6985000" y="1897063"/>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Text Box 9">
              <a:extLst>
                <a:ext uri="{FF2B5EF4-FFF2-40B4-BE49-F238E27FC236}">
                  <a16:creationId xmlns:a16="http://schemas.microsoft.com/office/drawing/2014/main" id="{D91FE3D2-D98E-1BD8-8105-87FFB2059BD4}"/>
                </a:ext>
              </a:extLst>
            </p:cNvPr>
            <p:cNvSpPr txBox="1">
              <a:spLocks noChangeArrowheads="1"/>
            </p:cNvSpPr>
            <p:nvPr/>
          </p:nvSpPr>
          <p:spPr bwMode="auto">
            <a:xfrm>
              <a:off x="7026275" y="1944688"/>
              <a:ext cx="1677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latin typeface="Roboto" panose="02000000000000000000" pitchFamily="2" charset="0"/>
                  <a:ea typeface="Roboto" panose="02000000000000000000" pitchFamily="2" charset="0"/>
                </a:rPr>
                <a:t>Product Specification</a:t>
              </a:r>
            </a:p>
          </p:txBody>
        </p:sp>
        <p:sp>
          <p:nvSpPr>
            <p:cNvPr id="18" name="Rectangle 15">
              <a:extLst>
                <a:ext uri="{FF2B5EF4-FFF2-40B4-BE49-F238E27FC236}">
                  <a16:creationId xmlns:a16="http://schemas.microsoft.com/office/drawing/2014/main" id="{716F57A5-C616-BA80-BB13-9425E183E6A2}"/>
                </a:ext>
              </a:extLst>
            </p:cNvPr>
            <p:cNvSpPr>
              <a:spLocks noChangeArrowheads="1"/>
            </p:cNvSpPr>
            <p:nvPr/>
          </p:nvSpPr>
          <p:spPr bwMode="auto">
            <a:xfrm>
              <a:off x="6981825" y="3821113"/>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Text Box 16">
              <a:extLst>
                <a:ext uri="{FF2B5EF4-FFF2-40B4-BE49-F238E27FC236}">
                  <a16:creationId xmlns:a16="http://schemas.microsoft.com/office/drawing/2014/main" id="{6E3A7208-E59B-5381-7F80-B10CA80DC0CA}"/>
                </a:ext>
              </a:extLst>
            </p:cNvPr>
            <p:cNvSpPr txBox="1">
              <a:spLocks noChangeArrowheads="1"/>
            </p:cNvSpPr>
            <p:nvPr/>
          </p:nvSpPr>
          <p:spPr bwMode="auto">
            <a:xfrm>
              <a:off x="6946900" y="4891088"/>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Rework = 0 Times</a:t>
              </a:r>
            </a:p>
          </p:txBody>
        </p:sp>
        <p:sp>
          <p:nvSpPr>
            <p:cNvPr id="20" name="Rectangle 17">
              <a:extLst>
                <a:ext uri="{FF2B5EF4-FFF2-40B4-BE49-F238E27FC236}">
                  <a16:creationId xmlns:a16="http://schemas.microsoft.com/office/drawing/2014/main" id="{4A038FAE-CE5C-4362-72FE-3D65D0C6F4A4}"/>
                </a:ext>
              </a:extLst>
            </p:cNvPr>
            <p:cNvSpPr>
              <a:spLocks noChangeArrowheads="1"/>
            </p:cNvSpPr>
            <p:nvPr/>
          </p:nvSpPr>
          <p:spPr bwMode="auto">
            <a:xfrm>
              <a:off x="6946900" y="3952875"/>
              <a:ext cx="1797287"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 Lead Time = 5 Days</a:t>
              </a:r>
            </a:p>
          </p:txBody>
        </p:sp>
        <p:sp>
          <p:nvSpPr>
            <p:cNvPr id="21" name="Rectangle 18">
              <a:extLst>
                <a:ext uri="{FF2B5EF4-FFF2-40B4-BE49-F238E27FC236}">
                  <a16:creationId xmlns:a16="http://schemas.microsoft.com/office/drawing/2014/main" id="{95B76042-8396-FCAC-C64A-BE42A47F7172}"/>
                </a:ext>
              </a:extLst>
            </p:cNvPr>
            <p:cNvSpPr>
              <a:spLocks noChangeArrowheads="1"/>
            </p:cNvSpPr>
            <p:nvPr/>
          </p:nvSpPr>
          <p:spPr bwMode="auto">
            <a:xfrm>
              <a:off x="6946900" y="4275138"/>
              <a:ext cx="1659429"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Processing Time = 2 Days</a:t>
              </a:r>
            </a:p>
          </p:txBody>
        </p:sp>
        <p:sp>
          <p:nvSpPr>
            <p:cNvPr id="22" name="Line 19">
              <a:extLst>
                <a:ext uri="{FF2B5EF4-FFF2-40B4-BE49-F238E27FC236}">
                  <a16:creationId xmlns:a16="http://schemas.microsoft.com/office/drawing/2014/main" id="{6ADBB7A3-E6BB-B951-72ED-7972C453268F}"/>
                </a:ext>
              </a:extLst>
            </p:cNvPr>
            <p:cNvSpPr>
              <a:spLocks noChangeShapeType="1"/>
            </p:cNvSpPr>
            <p:nvPr/>
          </p:nvSpPr>
          <p:spPr bwMode="auto">
            <a:xfrm>
              <a:off x="3698875" y="2551113"/>
              <a:ext cx="3217863" cy="1860550"/>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 name="Line 20">
              <a:extLst>
                <a:ext uri="{FF2B5EF4-FFF2-40B4-BE49-F238E27FC236}">
                  <a16:creationId xmlns:a16="http://schemas.microsoft.com/office/drawing/2014/main" id="{D8FA1FDE-5A96-ECC0-C15D-27C92487055C}"/>
                </a:ext>
              </a:extLst>
            </p:cNvPr>
            <p:cNvSpPr>
              <a:spLocks noChangeShapeType="1"/>
            </p:cNvSpPr>
            <p:nvPr/>
          </p:nvSpPr>
          <p:spPr bwMode="auto">
            <a:xfrm>
              <a:off x="3238500" y="1804988"/>
              <a:ext cx="3586163" cy="339725"/>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4" name="Line 21">
              <a:extLst>
                <a:ext uri="{FF2B5EF4-FFF2-40B4-BE49-F238E27FC236}">
                  <a16:creationId xmlns:a16="http://schemas.microsoft.com/office/drawing/2014/main" id="{6A333A93-6927-D8C6-2F44-891A947FB7FE}"/>
                </a:ext>
              </a:extLst>
            </p:cNvPr>
            <p:cNvSpPr>
              <a:spLocks noChangeShapeType="1"/>
            </p:cNvSpPr>
            <p:nvPr/>
          </p:nvSpPr>
          <p:spPr bwMode="auto">
            <a:xfrm>
              <a:off x="5135071" y="4287839"/>
              <a:ext cx="1659429" cy="341312"/>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5" name="Line 22">
              <a:extLst>
                <a:ext uri="{FF2B5EF4-FFF2-40B4-BE49-F238E27FC236}">
                  <a16:creationId xmlns:a16="http://schemas.microsoft.com/office/drawing/2014/main" id="{21B0CCE9-415E-B29D-7DF9-7D00A4143A93}"/>
                </a:ext>
              </a:extLst>
            </p:cNvPr>
            <p:cNvSpPr>
              <a:spLocks noChangeShapeType="1"/>
            </p:cNvSpPr>
            <p:nvPr/>
          </p:nvSpPr>
          <p:spPr bwMode="auto">
            <a:xfrm>
              <a:off x="5011738" y="2311400"/>
              <a:ext cx="1881187" cy="1736725"/>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6" name="Text Box 32">
              <a:extLst>
                <a:ext uri="{FF2B5EF4-FFF2-40B4-BE49-F238E27FC236}">
                  <a16:creationId xmlns:a16="http://schemas.microsoft.com/office/drawing/2014/main" id="{3391EA07-6426-33B0-ABF9-F0AB9BD7F4B7}"/>
                </a:ext>
              </a:extLst>
            </p:cNvPr>
            <p:cNvSpPr txBox="1">
              <a:spLocks noChangeArrowheads="1"/>
            </p:cNvSpPr>
            <p:nvPr/>
          </p:nvSpPr>
          <p:spPr bwMode="auto">
            <a:xfrm>
              <a:off x="6946900" y="4567238"/>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Quality = 30%</a:t>
              </a:r>
            </a:p>
          </p:txBody>
        </p:sp>
      </p:grpSp>
    </p:spTree>
    <p:extLst>
      <p:ext uri="{BB962C8B-B14F-4D97-AF65-F5344CB8AC3E}">
        <p14:creationId xmlns:p14="http://schemas.microsoft.com/office/powerpoint/2010/main" val="25128618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45</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3" name="Group 42">
            <a:extLst>
              <a:ext uri="{FF2B5EF4-FFF2-40B4-BE49-F238E27FC236}">
                <a16:creationId xmlns:a16="http://schemas.microsoft.com/office/drawing/2014/main" id="{222B4324-782A-B93B-A5A8-FE02DD950D21}"/>
              </a:ext>
            </a:extLst>
          </p:cNvPr>
          <p:cNvGrpSpPr/>
          <p:nvPr/>
        </p:nvGrpSpPr>
        <p:grpSpPr>
          <a:xfrm>
            <a:off x="1929933" y="2113268"/>
            <a:ext cx="8332135" cy="3797300"/>
            <a:chOff x="838200" y="1970881"/>
            <a:chExt cx="8332135" cy="3797300"/>
          </a:xfrm>
        </p:grpSpPr>
        <p:sp>
          <p:nvSpPr>
            <p:cNvPr id="28" name="Rectangle 3">
              <a:extLst>
                <a:ext uri="{FF2B5EF4-FFF2-40B4-BE49-F238E27FC236}">
                  <a16:creationId xmlns:a16="http://schemas.microsoft.com/office/drawing/2014/main" id="{E3A184FB-893C-02CA-F92A-D56CD95080C8}"/>
                </a:ext>
              </a:extLst>
            </p:cNvPr>
            <p:cNvSpPr>
              <a:spLocks noChangeArrowheads="1"/>
            </p:cNvSpPr>
            <p:nvPr/>
          </p:nvSpPr>
          <p:spPr bwMode="auto">
            <a:xfrm>
              <a:off x="838200" y="1970881"/>
              <a:ext cx="5286375" cy="2795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Concept Development</a:t>
              </a:r>
              <a:endParaRPr lang="en-US" altLang="en-US" sz="1800" dirty="0">
                <a:solidFill>
                  <a:srgbClr val="FF0000"/>
                </a:solidFill>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Development of the matrix </a:t>
              </a:r>
              <a:r>
                <a:rPr lang="en-US" altLang="en-US" dirty="0">
                  <a:solidFill>
                    <a:schemeClr val="accent1"/>
                  </a:solidFill>
                  <a:latin typeface="Roboto" panose="02000000000000000000" pitchFamily="2" charset="0"/>
                  <a:ea typeface="Roboto" panose="02000000000000000000" pitchFamily="2" charset="0"/>
                </a:rPr>
                <a:t>takes about 5 days to complete over a 15-day period </a:t>
              </a:r>
              <a:r>
                <a:rPr lang="en-US" altLang="en-US" dirty="0">
                  <a:latin typeface="Roboto" panose="02000000000000000000" pitchFamily="2" charset="0"/>
                  <a:ea typeface="Roboto" panose="02000000000000000000" pitchFamily="2" charset="0"/>
                </a:rPr>
                <a:t>based on the availability of required personnel. In </a:t>
              </a:r>
              <a:r>
                <a:rPr lang="en-US" altLang="en-US" dirty="0">
                  <a:solidFill>
                    <a:schemeClr val="accent1"/>
                  </a:solidFill>
                  <a:latin typeface="Roboto" panose="02000000000000000000" pitchFamily="2" charset="0"/>
                  <a:ea typeface="Roboto" panose="02000000000000000000" pitchFamily="2" charset="0"/>
                </a:rPr>
                <a:t>75% of the instances, the Product Steering Committee will approve the concept as presented</a:t>
              </a:r>
              <a:r>
                <a:rPr lang="en-US" altLang="en-US" dirty="0">
                  <a:latin typeface="Roboto" panose="02000000000000000000" pitchFamily="2" charset="0"/>
                  <a:ea typeface="Roboto" panose="02000000000000000000" pitchFamily="2" charset="0"/>
                </a:rPr>
                <a:t>.  For the remaining 25% of cases, </a:t>
              </a:r>
              <a:r>
                <a:rPr lang="en-US" altLang="en-US" dirty="0">
                  <a:solidFill>
                    <a:schemeClr val="accent1"/>
                  </a:solidFill>
                  <a:latin typeface="Roboto" panose="02000000000000000000" pitchFamily="2" charset="0"/>
                  <a:ea typeface="Roboto" panose="02000000000000000000" pitchFamily="2" charset="0"/>
                </a:rPr>
                <a:t>the concept development team will rework the concept an average of two times to gain approval</a:t>
              </a:r>
              <a:r>
                <a:rPr lang="en-US" altLang="en-US" dirty="0">
                  <a:latin typeface="Roboto" panose="02000000000000000000" pitchFamily="2" charset="0"/>
                  <a:ea typeface="Roboto" panose="02000000000000000000" pitchFamily="2" charset="0"/>
                </a:rPr>
                <a:t>.  </a:t>
              </a:r>
              <a:endParaRPr lang="en-US" altLang="en-US" sz="1200" dirty="0">
                <a:latin typeface="Roboto" panose="02000000000000000000" pitchFamily="2" charset="0"/>
                <a:ea typeface="Roboto" panose="02000000000000000000" pitchFamily="2" charset="0"/>
              </a:endParaRPr>
            </a:p>
          </p:txBody>
        </p:sp>
        <p:sp>
          <p:nvSpPr>
            <p:cNvPr id="29" name="Text Box 5">
              <a:extLst>
                <a:ext uri="{FF2B5EF4-FFF2-40B4-BE49-F238E27FC236}">
                  <a16:creationId xmlns:a16="http://schemas.microsoft.com/office/drawing/2014/main" id="{64793571-5097-EC3E-37E7-4F2454C17486}"/>
                </a:ext>
              </a:extLst>
            </p:cNvPr>
            <p:cNvSpPr txBox="1">
              <a:spLocks noChangeArrowheads="1"/>
            </p:cNvSpPr>
            <p:nvPr/>
          </p:nvSpPr>
          <p:spPr bwMode="auto">
            <a:xfrm>
              <a:off x="7457888" y="1985169"/>
              <a:ext cx="14830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dirty="0">
                  <a:solidFill>
                    <a:schemeClr val="accent1"/>
                  </a:solidFill>
                  <a:latin typeface="Roboto" panose="02000000000000000000" pitchFamily="2" charset="0"/>
                  <a:ea typeface="Roboto" panose="02000000000000000000" pitchFamily="2" charset="0"/>
                </a:rPr>
                <a:t>Process Box</a:t>
              </a:r>
            </a:p>
          </p:txBody>
        </p:sp>
        <p:sp>
          <p:nvSpPr>
            <p:cNvPr id="30" name="Rectangle 7">
              <a:extLst>
                <a:ext uri="{FF2B5EF4-FFF2-40B4-BE49-F238E27FC236}">
                  <a16:creationId xmlns:a16="http://schemas.microsoft.com/office/drawing/2014/main" id="{7AA282D5-4556-0307-9B1E-3215CBA81FE1}"/>
                </a:ext>
              </a:extLst>
            </p:cNvPr>
            <p:cNvSpPr>
              <a:spLocks noChangeArrowheads="1"/>
            </p:cNvSpPr>
            <p:nvPr/>
          </p:nvSpPr>
          <p:spPr bwMode="auto">
            <a:xfrm>
              <a:off x="7351712" y="2343944"/>
              <a:ext cx="1751013" cy="1452562"/>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1" name="Text Box 9">
              <a:extLst>
                <a:ext uri="{FF2B5EF4-FFF2-40B4-BE49-F238E27FC236}">
                  <a16:creationId xmlns:a16="http://schemas.microsoft.com/office/drawing/2014/main" id="{B3B85859-8596-7A3D-E5E8-9DC73F0139A1}"/>
                </a:ext>
              </a:extLst>
            </p:cNvPr>
            <p:cNvSpPr txBox="1">
              <a:spLocks noChangeArrowheads="1"/>
            </p:cNvSpPr>
            <p:nvPr/>
          </p:nvSpPr>
          <p:spPr bwMode="auto">
            <a:xfrm>
              <a:off x="7392987" y="2391569"/>
              <a:ext cx="16779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latin typeface="Roboto" panose="02000000000000000000" pitchFamily="2" charset="0"/>
                  <a:ea typeface="Roboto" panose="02000000000000000000" pitchFamily="2" charset="0"/>
                </a:rPr>
                <a:t>Concept Development</a:t>
              </a:r>
            </a:p>
          </p:txBody>
        </p:sp>
        <p:sp>
          <p:nvSpPr>
            <p:cNvPr id="32" name="Text Box 15">
              <a:extLst>
                <a:ext uri="{FF2B5EF4-FFF2-40B4-BE49-F238E27FC236}">
                  <a16:creationId xmlns:a16="http://schemas.microsoft.com/office/drawing/2014/main" id="{F2D0B8C8-9EC2-0416-E526-F249ED81ADF6}"/>
                </a:ext>
              </a:extLst>
            </p:cNvPr>
            <p:cNvSpPr txBox="1">
              <a:spLocks noChangeArrowheads="1"/>
            </p:cNvSpPr>
            <p:nvPr/>
          </p:nvSpPr>
          <p:spPr bwMode="auto">
            <a:xfrm>
              <a:off x="7684309" y="3979069"/>
              <a:ext cx="11128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800">
                  <a:solidFill>
                    <a:schemeClr val="accent1"/>
                  </a:solidFill>
                  <a:latin typeface="Roboto" panose="02000000000000000000" pitchFamily="2" charset="0"/>
                  <a:ea typeface="Roboto" panose="02000000000000000000" pitchFamily="2" charset="0"/>
                </a:rPr>
                <a:t>Data Box</a:t>
              </a:r>
            </a:p>
          </p:txBody>
        </p:sp>
        <p:sp>
          <p:nvSpPr>
            <p:cNvPr id="33" name="Rectangle 16">
              <a:extLst>
                <a:ext uri="{FF2B5EF4-FFF2-40B4-BE49-F238E27FC236}">
                  <a16:creationId xmlns:a16="http://schemas.microsoft.com/office/drawing/2014/main" id="{E921614E-C184-D903-D199-0E58233EDBEC}"/>
                </a:ext>
              </a:extLst>
            </p:cNvPr>
            <p:cNvSpPr>
              <a:spLocks noChangeArrowheads="1"/>
            </p:cNvSpPr>
            <p:nvPr/>
          </p:nvSpPr>
          <p:spPr bwMode="auto">
            <a:xfrm>
              <a:off x="7348537" y="4280694"/>
              <a:ext cx="1751013" cy="1487487"/>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Text Box 17">
              <a:extLst>
                <a:ext uri="{FF2B5EF4-FFF2-40B4-BE49-F238E27FC236}">
                  <a16:creationId xmlns:a16="http://schemas.microsoft.com/office/drawing/2014/main" id="{F12CAF94-DC65-0C7C-004A-134D1CE4B974}"/>
                </a:ext>
              </a:extLst>
            </p:cNvPr>
            <p:cNvSpPr txBox="1">
              <a:spLocks noChangeArrowheads="1"/>
            </p:cNvSpPr>
            <p:nvPr/>
          </p:nvSpPr>
          <p:spPr bwMode="auto">
            <a:xfrm>
              <a:off x="7300912" y="5388769"/>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Rework = 2 Times</a:t>
              </a:r>
            </a:p>
          </p:txBody>
        </p:sp>
        <p:sp>
          <p:nvSpPr>
            <p:cNvPr id="35" name="Rectangle 18">
              <a:extLst>
                <a:ext uri="{FF2B5EF4-FFF2-40B4-BE49-F238E27FC236}">
                  <a16:creationId xmlns:a16="http://schemas.microsoft.com/office/drawing/2014/main" id="{E64F0E4F-CBED-C4A6-1C3C-41119F8F2011}"/>
                </a:ext>
              </a:extLst>
            </p:cNvPr>
            <p:cNvSpPr>
              <a:spLocks noChangeArrowheads="1"/>
            </p:cNvSpPr>
            <p:nvPr/>
          </p:nvSpPr>
          <p:spPr bwMode="auto">
            <a:xfrm>
              <a:off x="7300912" y="4399756"/>
              <a:ext cx="1869423"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 Lead Time = 15 Days</a:t>
              </a:r>
            </a:p>
          </p:txBody>
        </p:sp>
        <p:sp>
          <p:nvSpPr>
            <p:cNvPr id="36" name="Rectangle 19">
              <a:extLst>
                <a:ext uri="{FF2B5EF4-FFF2-40B4-BE49-F238E27FC236}">
                  <a16:creationId xmlns:a16="http://schemas.microsoft.com/office/drawing/2014/main" id="{519AC4B3-648D-3E03-F12B-7B147D9E0FAB}"/>
                </a:ext>
              </a:extLst>
            </p:cNvPr>
            <p:cNvSpPr>
              <a:spLocks noChangeArrowheads="1"/>
            </p:cNvSpPr>
            <p:nvPr/>
          </p:nvSpPr>
          <p:spPr bwMode="auto">
            <a:xfrm>
              <a:off x="7300912" y="4739481"/>
              <a:ext cx="1659429"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Processing Time = 5 Days</a:t>
              </a:r>
            </a:p>
          </p:txBody>
        </p:sp>
        <p:sp>
          <p:nvSpPr>
            <p:cNvPr id="37" name="Line 20">
              <a:extLst>
                <a:ext uri="{FF2B5EF4-FFF2-40B4-BE49-F238E27FC236}">
                  <a16:creationId xmlns:a16="http://schemas.microsoft.com/office/drawing/2014/main" id="{80A08555-BD41-6B1B-6404-C814441F7578}"/>
                </a:ext>
              </a:extLst>
            </p:cNvPr>
            <p:cNvSpPr>
              <a:spLocks noChangeShapeType="1"/>
            </p:cNvSpPr>
            <p:nvPr/>
          </p:nvSpPr>
          <p:spPr bwMode="auto">
            <a:xfrm>
              <a:off x="4497537" y="2983401"/>
              <a:ext cx="2811313" cy="1551293"/>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8" name="Line 21">
              <a:extLst>
                <a:ext uri="{FF2B5EF4-FFF2-40B4-BE49-F238E27FC236}">
                  <a16:creationId xmlns:a16="http://schemas.microsoft.com/office/drawing/2014/main" id="{5ACC35EA-459E-7B8B-C873-ABD47B024188}"/>
                </a:ext>
              </a:extLst>
            </p:cNvPr>
            <p:cNvSpPr>
              <a:spLocks noChangeShapeType="1"/>
            </p:cNvSpPr>
            <p:nvPr/>
          </p:nvSpPr>
          <p:spPr bwMode="auto">
            <a:xfrm>
              <a:off x="3627437" y="2240756"/>
              <a:ext cx="3862388" cy="312738"/>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9" name="Line 22">
              <a:extLst>
                <a:ext uri="{FF2B5EF4-FFF2-40B4-BE49-F238E27FC236}">
                  <a16:creationId xmlns:a16="http://schemas.microsoft.com/office/drawing/2014/main" id="{4620DD0F-7E44-C602-3CAB-B409BF1585F8}"/>
                </a:ext>
              </a:extLst>
            </p:cNvPr>
            <p:cNvSpPr>
              <a:spLocks noChangeShapeType="1"/>
            </p:cNvSpPr>
            <p:nvPr/>
          </p:nvSpPr>
          <p:spPr bwMode="auto">
            <a:xfrm>
              <a:off x="6034087" y="2731294"/>
              <a:ext cx="1233488" cy="2119312"/>
            </a:xfrm>
            <a:prstGeom prst="line">
              <a:avLst/>
            </a:prstGeom>
            <a:noFill/>
            <a:ln w="28575" cap="sq">
              <a:solidFill>
                <a:schemeClr val="accent1"/>
              </a:solidFill>
              <a:round/>
              <a:headEnd type="none" w="sm" len="sm"/>
              <a:tailEnd type="triangle" w="lg"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23">
              <a:extLst>
                <a:ext uri="{FF2B5EF4-FFF2-40B4-BE49-F238E27FC236}">
                  <a16:creationId xmlns:a16="http://schemas.microsoft.com/office/drawing/2014/main" id="{225251C7-C4D5-0E03-896E-B44E76874CFC}"/>
                </a:ext>
              </a:extLst>
            </p:cNvPr>
            <p:cNvSpPr>
              <a:spLocks noChangeShapeType="1"/>
            </p:cNvSpPr>
            <p:nvPr/>
          </p:nvSpPr>
          <p:spPr bwMode="auto">
            <a:xfrm>
              <a:off x="3068637" y="4737894"/>
              <a:ext cx="4191000" cy="722312"/>
            </a:xfrm>
            <a:prstGeom prst="line">
              <a:avLst/>
            </a:prstGeom>
            <a:noFill/>
            <a:ln w="28575" cap="sq">
              <a:solidFill>
                <a:schemeClr val="accent1"/>
              </a:solidFill>
              <a:round/>
              <a:headEnd/>
              <a:tailEnd type="triangle" w="lg"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1" name="Text Box 33">
              <a:extLst>
                <a:ext uri="{FF2B5EF4-FFF2-40B4-BE49-F238E27FC236}">
                  <a16:creationId xmlns:a16="http://schemas.microsoft.com/office/drawing/2014/main" id="{654E0D50-1E9B-F9C2-D3F1-6FF3BABDC435}"/>
                </a:ext>
              </a:extLst>
            </p:cNvPr>
            <p:cNvSpPr txBox="1">
              <a:spLocks noChangeArrowheads="1"/>
            </p:cNvSpPr>
            <p:nvPr/>
          </p:nvSpPr>
          <p:spPr bwMode="auto">
            <a:xfrm>
              <a:off x="7300912" y="5047456"/>
              <a:ext cx="1571625" cy="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1000" b="0">
                  <a:latin typeface="Roboto" panose="02000000000000000000" pitchFamily="2" charset="0"/>
                  <a:ea typeface="Roboto" panose="02000000000000000000" pitchFamily="2" charset="0"/>
                </a:rPr>
                <a:t>Quality = 75%</a:t>
              </a:r>
            </a:p>
          </p:txBody>
        </p:sp>
        <p:sp>
          <p:nvSpPr>
            <p:cNvPr id="42" name="Line 34">
              <a:extLst>
                <a:ext uri="{FF2B5EF4-FFF2-40B4-BE49-F238E27FC236}">
                  <a16:creationId xmlns:a16="http://schemas.microsoft.com/office/drawing/2014/main" id="{C7D72E12-8065-0A22-F4F8-F121D6D6E0F4}"/>
                </a:ext>
              </a:extLst>
            </p:cNvPr>
            <p:cNvSpPr>
              <a:spLocks noChangeShapeType="1"/>
            </p:cNvSpPr>
            <p:nvPr/>
          </p:nvSpPr>
          <p:spPr bwMode="auto">
            <a:xfrm>
              <a:off x="5263347" y="3286613"/>
              <a:ext cx="2008990" cy="1919593"/>
            </a:xfrm>
            <a:prstGeom prst="line">
              <a:avLst/>
            </a:prstGeom>
            <a:noFill/>
            <a:ln w="28575" cap="sq">
              <a:solidFill>
                <a:schemeClr val="accent1"/>
              </a:solidFill>
              <a:round/>
              <a:headEnd/>
              <a:tailEnd type="triangle" w="lg"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279344287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46</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5" name="Group 24">
            <a:extLst>
              <a:ext uri="{FF2B5EF4-FFF2-40B4-BE49-F238E27FC236}">
                <a16:creationId xmlns:a16="http://schemas.microsoft.com/office/drawing/2014/main" id="{519BD16C-F6A3-4E4B-45EC-D5835AAE5583}"/>
              </a:ext>
            </a:extLst>
          </p:cNvPr>
          <p:cNvGrpSpPr/>
          <p:nvPr/>
        </p:nvGrpSpPr>
        <p:grpSpPr>
          <a:xfrm>
            <a:off x="1271017" y="2098675"/>
            <a:ext cx="8264525" cy="3441700"/>
            <a:chOff x="471488" y="1527175"/>
            <a:chExt cx="8264525" cy="3441700"/>
          </a:xfrm>
        </p:grpSpPr>
        <p:sp>
          <p:nvSpPr>
            <p:cNvPr id="13" name="Rectangle 2">
              <a:extLst>
                <a:ext uri="{FF2B5EF4-FFF2-40B4-BE49-F238E27FC236}">
                  <a16:creationId xmlns:a16="http://schemas.microsoft.com/office/drawing/2014/main" id="{D38B4640-0C55-D435-BD3E-67A6CC966F30}"/>
                </a:ext>
              </a:extLst>
            </p:cNvPr>
            <p:cNvSpPr>
              <a:spLocks noChangeArrowheads="1"/>
            </p:cNvSpPr>
            <p:nvPr/>
          </p:nvSpPr>
          <p:spPr bwMode="auto">
            <a:xfrm>
              <a:off x="471488" y="1527175"/>
              <a:ext cx="4116387" cy="344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Compiling the map</a:t>
              </a: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Start with the customer and work backward.</a:t>
              </a: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Represent each process box of the value stream as it relates to the other process boxes.</a:t>
              </a: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Note that not all process boxes are internal to our organization and that some may occur on an exception basis.</a:t>
              </a:r>
            </a:p>
          </p:txBody>
        </p:sp>
        <p:grpSp>
          <p:nvGrpSpPr>
            <p:cNvPr id="14" name="Group 4">
              <a:extLst>
                <a:ext uri="{FF2B5EF4-FFF2-40B4-BE49-F238E27FC236}">
                  <a16:creationId xmlns:a16="http://schemas.microsoft.com/office/drawing/2014/main" id="{C7E08869-6E52-0CEA-3E32-02C4057D6A27}"/>
                </a:ext>
              </a:extLst>
            </p:cNvPr>
            <p:cNvGrpSpPr>
              <a:grpSpLocks/>
            </p:cNvGrpSpPr>
            <p:nvPr/>
          </p:nvGrpSpPr>
          <p:grpSpPr bwMode="auto">
            <a:xfrm>
              <a:off x="6985000" y="1897063"/>
              <a:ext cx="1751013" cy="1452562"/>
              <a:chOff x="418" y="2981"/>
              <a:chExt cx="352" cy="365"/>
            </a:xfrm>
          </p:grpSpPr>
          <p:sp>
            <p:nvSpPr>
              <p:cNvPr id="15" name="Rectangle 5">
                <a:extLst>
                  <a:ext uri="{FF2B5EF4-FFF2-40B4-BE49-F238E27FC236}">
                    <a16:creationId xmlns:a16="http://schemas.microsoft.com/office/drawing/2014/main" id="{B468EB08-856E-48F2-764A-124498244279}"/>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 name="Line 6">
                <a:extLst>
                  <a:ext uri="{FF2B5EF4-FFF2-40B4-BE49-F238E27FC236}">
                    <a16:creationId xmlns:a16="http://schemas.microsoft.com/office/drawing/2014/main" id="{4C709CD2-ECB3-7AAD-0A0E-0E086EEFA097}"/>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7" name="Text Box 7">
              <a:extLst>
                <a:ext uri="{FF2B5EF4-FFF2-40B4-BE49-F238E27FC236}">
                  <a16:creationId xmlns:a16="http://schemas.microsoft.com/office/drawing/2014/main" id="{4DD17C50-A00F-E4C2-24C1-A3999BD72D17}"/>
                </a:ext>
              </a:extLst>
            </p:cNvPr>
            <p:cNvSpPr txBox="1">
              <a:spLocks noChangeArrowheads="1"/>
            </p:cNvSpPr>
            <p:nvPr/>
          </p:nvSpPr>
          <p:spPr bwMode="auto">
            <a:xfrm>
              <a:off x="7026275" y="1944688"/>
              <a:ext cx="16779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Process</a:t>
              </a:r>
            </a:p>
          </p:txBody>
        </p:sp>
        <p:grpSp>
          <p:nvGrpSpPr>
            <p:cNvPr id="18" name="Group 8">
              <a:extLst>
                <a:ext uri="{FF2B5EF4-FFF2-40B4-BE49-F238E27FC236}">
                  <a16:creationId xmlns:a16="http://schemas.microsoft.com/office/drawing/2014/main" id="{A17DF026-4DA9-1916-14FB-784AC96014FC}"/>
                </a:ext>
              </a:extLst>
            </p:cNvPr>
            <p:cNvGrpSpPr>
              <a:grpSpLocks/>
            </p:cNvGrpSpPr>
            <p:nvPr/>
          </p:nvGrpSpPr>
          <p:grpSpPr bwMode="auto">
            <a:xfrm>
              <a:off x="4851400" y="1892300"/>
              <a:ext cx="1751013" cy="1452563"/>
              <a:chOff x="418" y="2981"/>
              <a:chExt cx="352" cy="365"/>
            </a:xfrm>
          </p:grpSpPr>
          <p:sp>
            <p:nvSpPr>
              <p:cNvPr id="19" name="Rectangle 9">
                <a:extLst>
                  <a:ext uri="{FF2B5EF4-FFF2-40B4-BE49-F238E27FC236}">
                    <a16:creationId xmlns:a16="http://schemas.microsoft.com/office/drawing/2014/main" id="{1437AC81-BAA8-D8CC-58E1-56EB937450A1}"/>
                  </a:ext>
                </a:extLst>
              </p:cNvPr>
              <p:cNvSpPr>
                <a:spLocks noChangeArrowheads="1"/>
              </p:cNvSpPr>
              <p:nvPr/>
            </p:nvSpPr>
            <p:spPr bwMode="auto">
              <a:xfrm>
                <a:off x="418" y="2981"/>
                <a:ext cx="352" cy="365"/>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Line 10">
                <a:extLst>
                  <a:ext uri="{FF2B5EF4-FFF2-40B4-BE49-F238E27FC236}">
                    <a16:creationId xmlns:a16="http://schemas.microsoft.com/office/drawing/2014/main" id="{801F79B2-0C51-4212-BF0B-E2AEC1380AD4}"/>
                  </a:ext>
                </a:extLst>
              </p:cNvPr>
              <p:cNvSpPr>
                <a:spLocks noChangeShapeType="1"/>
              </p:cNvSpPr>
              <p:nvPr/>
            </p:nvSpPr>
            <p:spPr bwMode="auto">
              <a:xfrm>
                <a:off x="420" y="3083"/>
                <a:ext cx="347" cy="1"/>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21" name="Text Box 11">
              <a:extLst>
                <a:ext uri="{FF2B5EF4-FFF2-40B4-BE49-F238E27FC236}">
                  <a16:creationId xmlns:a16="http://schemas.microsoft.com/office/drawing/2014/main" id="{8FE8D9A1-4572-FC2E-163C-AF2FDFE4966E}"/>
                </a:ext>
              </a:extLst>
            </p:cNvPr>
            <p:cNvSpPr txBox="1">
              <a:spLocks noChangeArrowheads="1"/>
            </p:cNvSpPr>
            <p:nvPr/>
          </p:nvSpPr>
          <p:spPr bwMode="auto">
            <a:xfrm>
              <a:off x="4892675" y="1939925"/>
              <a:ext cx="16779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Process</a:t>
              </a:r>
            </a:p>
          </p:txBody>
        </p:sp>
        <p:grpSp>
          <p:nvGrpSpPr>
            <p:cNvPr id="22" name="Group 12">
              <a:extLst>
                <a:ext uri="{FF2B5EF4-FFF2-40B4-BE49-F238E27FC236}">
                  <a16:creationId xmlns:a16="http://schemas.microsoft.com/office/drawing/2014/main" id="{C65A7D5A-6C24-6045-2E90-F6BD3F3D1EDA}"/>
                </a:ext>
              </a:extLst>
            </p:cNvPr>
            <p:cNvGrpSpPr>
              <a:grpSpLocks/>
            </p:cNvGrpSpPr>
            <p:nvPr/>
          </p:nvGrpSpPr>
          <p:grpSpPr bwMode="auto">
            <a:xfrm>
              <a:off x="5689600" y="3422650"/>
              <a:ext cx="2176463" cy="525463"/>
              <a:chOff x="3584" y="2156"/>
              <a:chExt cx="1371" cy="331"/>
            </a:xfrm>
          </p:grpSpPr>
          <p:sp>
            <p:nvSpPr>
              <p:cNvPr id="23" name="Line 13">
                <a:extLst>
                  <a:ext uri="{FF2B5EF4-FFF2-40B4-BE49-F238E27FC236}">
                    <a16:creationId xmlns:a16="http://schemas.microsoft.com/office/drawing/2014/main" id="{C32BFA6F-C6B8-BEFC-67B9-4E883983AFDA}"/>
                  </a:ext>
                </a:extLst>
              </p:cNvPr>
              <p:cNvSpPr>
                <a:spLocks noChangeShapeType="1"/>
              </p:cNvSpPr>
              <p:nvPr/>
            </p:nvSpPr>
            <p:spPr bwMode="auto">
              <a:xfrm>
                <a:off x="4955" y="2156"/>
                <a:ext cx="0" cy="322"/>
              </a:xfrm>
              <a:prstGeom prst="line">
                <a:avLst/>
              </a:prstGeom>
              <a:noFill/>
              <a:ln w="38100" cap="sq">
                <a:solidFill>
                  <a:schemeClr val="accent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4" name="Line 14">
                <a:extLst>
                  <a:ext uri="{FF2B5EF4-FFF2-40B4-BE49-F238E27FC236}">
                    <a16:creationId xmlns:a16="http://schemas.microsoft.com/office/drawing/2014/main" id="{BB8F46FC-FA55-7112-1A6B-D500F3BA195F}"/>
                  </a:ext>
                </a:extLst>
              </p:cNvPr>
              <p:cNvSpPr>
                <a:spLocks noChangeShapeType="1"/>
              </p:cNvSpPr>
              <p:nvPr/>
            </p:nvSpPr>
            <p:spPr bwMode="auto">
              <a:xfrm flipH="1">
                <a:off x="3584" y="2487"/>
                <a:ext cx="1371" cy="0"/>
              </a:xfrm>
              <a:prstGeom prst="line">
                <a:avLst/>
              </a:prstGeom>
              <a:noFill/>
              <a:ln w="38100" cap="sq">
                <a:solidFill>
                  <a:schemeClr val="accent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grpSp>
    </p:spTree>
    <p:extLst>
      <p:ext uri="{BB962C8B-B14F-4D97-AF65-F5344CB8AC3E}">
        <p14:creationId xmlns:p14="http://schemas.microsoft.com/office/powerpoint/2010/main" val="230538107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47</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26" name="Rectangle 3">
            <a:extLst>
              <a:ext uri="{FF2B5EF4-FFF2-40B4-BE49-F238E27FC236}">
                <a16:creationId xmlns:a16="http://schemas.microsoft.com/office/drawing/2014/main" id="{E79199FE-37E9-4E36-6CF6-062C1A3B003B}"/>
              </a:ext>
            </a:extLst>
          </p:cNvPr>
          <p:cNvSpPr txBox="1">
            <a:spLocks noChangeArrowheads="1"/>
          </p:cNvSpPr>
          <p:nvPr/>
        </p:nvSpPr>
        <p:spPr>
          <a:xfrm>
            <a:off x="1898367" y="1983819"/>
            <a:ext cx="8164513" cy="131945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tx1"/>
              </a:buClr>
              <a:buSzPct val="90000"/>
            </a:pPr>
            <a:r>
              <a:rPr lang="en-US" altLang="en-US" sz="1800" dirty="0"/>
              <a:t>When mapping processes, the start and end points for each process box may be unclear or challenging to determine</a:t>
            </a:r>
          </a:p>
          <a:p>
            <a:pPr>
              <a:buClr>
                <a:schemeClr val="tx1"/>
              </a:buClr>
              <a:buSzPct val="90000"/>
            </a:pPr>
            <a:r>
              <a:rPr lang="en-US" altLang="en-US" sz="1800" dirty="0"/>
              <a:t>If necessary, complete the chart below as a team to determine each process box before transferring the process boxes to the map</a:t>
            </a:r>
          </a:p>
        </p:txBody>
      </p:sp>
      <p:graphicFrame>
        <p:nvGraphicFramePr>
          <p:cNvPr id="27" name="Group 42">
            <a:extLst>
              <a:ext uri="{FF2B5EF4-FFF2-40B4-BE49-F238E27FC236}">
                <a16:creationId xmlns:a16="http://schemas.microsoft.com/office/drawing/2014/main" id="{9166965A-F962-16C6-7B05-0FB55DF3EFA6}"/>
              </a:ext>
            </a:extLst>
          </p:cNvPr>
          <p:cNvGraphicFramePr>
            <a:graphicFrameLocks noGrp="1"/>
          </p:cNvGraphicFramePr>
          <p:nvPr>
            <p:extLst>
              <p:ext uri="{D42A27DB-BD31-4B8C-83A1-F6EECF244321}">
                <p14:modId xmlns:p14="http://schemas.microsoft.com/office/powerpoint/2010/main" val="529317254"/>
              </p:ext>
            </p:extLst>
          </p:nvPr>
        </p:nvGraphicFramePr>
        <p:xfrm>
          <a:off x="1880111" y="3637367"/>
          <a:ext cx="8201025" cy="2458365"/>
        </p:xfrm>
        <a:graphic>
          <a:graphicData uri="http://schemas.openxmlformats.org/drawingml/2006/table">
            <a:tbl>
              <a:tblPr/>
              <a:tblGrid>
                <a:gridCol w="2733675">
                  <a:extLst>
                    <a:ext uri="{9D8B030D-6E8A-4147-A177-3AD203B41FA5}">
                      <a16:colId xmlns:a16="http://schemas.microsoft.com/office/drawing/2014/main" val="20000"/>
                    </a:ext>
                  </a:extLst>
                </a:gridCol>
                <a:gridCol w="2733675">
                  <a:extLst>
                    <a:ext uri="{9D8B030D-6E8A-4147-A177-3AD203B41FA5}">
                      <a16:colId xmlns:a16="http://schemas.microsoft.com/office/drawing/2014/main" val="20001"/>
                    </a:ext>
                  </a:extLst>
                </a:gridCol>
                <a:gridCol w="2733675">
                  <a:extLst>
                    <a:ext uri="{9D8B030D-6E8A-4147-A177-3AD203B41FA5}">
                      <a16:colId xmlns:a16="http://schemas.microsoft.com/office/drawing/2014/main" val="20002"/>
                    </a:ext>
                  </a:extLst>
                </a:gridCol>
              </a:tblGrid>
              <a:tr h="566012">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9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Process Step</a:t>
                      </a:r>
                    </a:p>
                  </a:txBody>
                  <a:tcPr marT="48500" marB="485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9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Start</a:t>
                      </a:r>
                    </a:p>
                  </a:txBody>
                  <a:tcPr marT="48500" marB="485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9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End</a:t>
                      </a:r>
                    </a:p>
                  </a:txBody>
                  <a:tcPr marT="48500" marB="485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719183">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500" b="1" i="0" u="none" strike="noStrike" cap="none" normalizeH="0" baseline="0">
                          <a:ln>
                            <a:noFill/>
                          </a:ln>
                          <a:solidFill>
                            <a:schemeClr val="tx1"/>
                          </a:solidFill>
                          <a:effectLst/>
                          <a:latin typeface="Roboto" panose="02000000000000000000" pitchFamily="2" charset="0"/>
                          <a:ea typeface="Roboto" panose="02000000000000000000" pitchFamily="2" charset="0"/>
                        </a:rPr>
                        <a:t>Example: </a:t>
                      </a:r>
                      <a:br>
                        <a:rPr kumimoji="0" lang="en-US" sz="1500" b="1" i="0" u="none" strike="noStrike" cap="none" normalizeH="0" baseline="0">
                          <a:ln>
                            <a:noFill/>
                          </a:ln>
                          <a:solidFill>
                            <a:schemeClr val="tx1"/>
                          </a:solidFill>
                          <a:effectLst/>
                          <a:latin typeface="Roboto" panose="02000000000000000000" pitchFamily="2" charset="0"/>
                          <a:ea typeface="Roboto" panose="02000000000000000000" pitchFamily="2" charset="0"/>
                        </a:rPr>
                      </a:br>
                      <a:r>
                        <a:rPr kumimoji="0" lang="en-US" sz="1500" b="1" i="0" u="none" strike="noStrike" cap="none" normalizeH="0" baseline="0">
                          <a:ln>
                            <a:noFill/>
                          </a:ln>
                          <a:solidFill>
                            <a:schemeClr val="tx1"/>
                          </a:solidFill>
                          <a:effectLst/>
                          <a:latin typeface="Roboto" panose="02000000000000000000" pitchFamily="2" charset="0"/>
                          <a:ea typeface="Roboto" panose="02000000000000000000" pitchFamily="2" charset="0"/>
                        </a:rPr>
                        <a:t>Concept Development</a:t>
                      </a:r>
                    </a:p>
                  </a:txBody>
                  <a:tcPr marT="48500" marB="485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5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Product Roadmap Plan</a:t>
                      </a:r>
                    </a:p>
                  </a:txBody>
                  <a:tcPr marT="48500" marB="485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r>
                        <a:rPr kumimoji="0" lang="en-US" sz="15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Product Steering Committee approval of concept</a:t>
                      </a:r>
                    </a:p>
                  </a:txBody>
                  <a:tcPr marT="48500" marB="485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81507">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83936">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charset="0"/>
                        <a:buNone/>
                        <a:tabLst/>
                      </a:pPr>
                      <a:endParaRPr kumimoji="0" lang="en-US" sz="3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8500" marB="485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15918296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 Boxes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48</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69" name="Text Box 11">
                  <a:extLst>
                    <a:ext uri="{FF2B5EF4-FFF2-40B4-BE49-F238E27FC236}">
                      <a16:creationId xmlns:a16="http://schemas.microsoft.com/office/drawing/2014/main" id="{5F4BC18F-E902-1A90-F611-4B5ADFC7B05A}"/>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0963873" y="2912650"/>
              <a:ext cx="261975" cy="1693635"/>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85139" y="4609093"/>
              <a:ext cx="1602755" cy="1475151"/>
              <a:chOff x="1151875" y="4606285"/>
              <a:chExt cx="1691640"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51875" y="4606285"/>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51875" y="5307004"/>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097918" y="4606286"/>
              <a:ext cx="1602755" cy="1477958"/>
              <a:chOff x="3496278" y="4606286"/>
              <a:chExt cx="1691640"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496278" y="4606286"/>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496278" y="5307004"/>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10697" y="4606962"/>
              <a:ext cx="1602755" cy="1477958"/>
              <a:chOff x="5377270" y="4606962"/>
              <a:chExt cx="1691640"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77270" y="4606962"/>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77270" y="5307680"/>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23476" y="4608314"/>
              <a:ext cx="1602755" cy="1477958"/>
              <a:chOff x="7258262" y="4608314"/>
              <a:chExt cx="1691640"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58262" y="4608314"/>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58262" y="5309032"/>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36255" y="4606286"/>
              <a:ext cx="1602755" cy="1477958"/>
              <a:chOff x="9506941" y="4599033"/>
              <a:chExt cx="1691640"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06941" y="4599033"/>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06941" y="5299751"/>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spTree>
    <p:extLst>
      <p:ext uri="{BB962C8B-B14F-4D97-AF65-F5344CB8AC3E}">
        <p14:creationId xmlns:p14="http://schemas.microsoft.com/office/powerpoint/2010/main" val="172704349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Inventory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49</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7" name="Group 36">
            <a:extLst>
              <a:ext uri="{FF2B5EF4-FFF2-40B4-BE49-F238E27FC236}">
                <a16:creationId xmlns:a16="http://schemas.microsoft.com/office/drawing/2014/main" id="{441B1843-AFCD-0A41-1114-94556B6BAA2A}"/>
              </a:ext>
            </a:extLst>
          </p:cNvPr>
          <p:cNvGrpSpPr/>
          <p:nvPr/>
        </p:nvGrpSpPr>
        <p:grpSpPr>
          <a:xfrm>
            <a:off x="1271017" y="2098675"/>
            <a:ext cx="8412098" cy="4113306"/>
            <a:chOff x="1271017" y="2098675"/>
            <a:chExt cx="8412098" cy="4113306"/>
          </a:xfrm>
        </p:grpSpPr>
        <p:sp>
          <p:nvSpPr>
            <p:cNvPr id="13" name="Rectangle 2">
              <a:extLst>
                <a:ext uri="{FF2B5EF4-FFF2-40B4-BE49-F238E27FC236}">
                  <a16:creationId xmlns:a16="http://schemas.microsoft.com/office/drawing/2014/main" id="{D38B4640-0C55-D435-BD3E-67A6CC966F30}"/>
                </a:ext>
              </a:extLst>
            </p:cNvPr>
            <p:cNvSpPr>
              <a:spLocks noChangeArrowheads="1"/>
            </p:cNvSpPr>
            <p:nvPr/>
          </p:nvSpPr>
          <p:spPr bwMode="auto">
            <a:xfrm>
              <a:off x="1271017" y="2098675"/>
              <a:ext cx="5513641" cy="4113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PUSH Arrow with Inventory Icon</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Indicates an accumulation of incomplete actions that are waiting to be processed</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Physical location is irrelevant</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Denotes that there is no pull system in place to regulate production</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An incomplete action can only be inventory in one spot at a time</a:t>
              </a:r>
            </a:p>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Inventory Data Box:</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Format of inventory (i.e., In-box, FED EX)</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Method for withdrawal (i.e., FIFO)</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Number of items or time in inventory</a:t>
              </a:r>
            </a:p>
          </p:txBody>
        </p:sp>
        <p:grpSp>
          <p:nvGrpSpPr>
            <p:cNvPr id="36" name="Group 35">
              <a:extLst>
                <a:ext uri="{FF2B5EF4-FFF2-40B4-BE49-F238E27FC236}">
                  <a16:creationId xmlns:a16="http://schemas.microsoft.com/office/drawing/2014/main" id="{576928FF-F686-118E-62CA-8409BE4D4A55}"/>
                </a:ext>
              </a:extLst>
            </p:cNvPr>
            <p:cNvGrpSpPr/>
            <p:nvPr/>
          </p:nvGrpSpPr>
          <p:grpSpPr>
            <a:xfrm>
              <a:off x="7254240" y="2598249"/>
              <a:ext cx="2428875" cy="2827338"/>
              <a:chOff x="7254240" y="2598249"/>
              <a:chExt cx="2428875" cy="2827338"/>
            </a:xfrm>
          </p:grpSpPr>
          <p:sp>
            <p:nvSpPr>
              <p:cNvPr id="26" name="Line 13">
                <a:extLst>
                  <a:ext uri="{FF2B5EF4-FFF2-40B4-BE49-F238E27FC236}">
                    <a16:creationId xmlns:a16="http://schemas.microsoft.com/office/drawing/2014/main" id="{98513385-6CEA-BBE0-FDEF-4482F9CD2495}"/>
                  </a:ext>
                </a:extLst>
              </p:cNvPr>
              <p:cNvSpPr>
                <a:spLocks noChangeShapeType="1"/>
              </p:cNvSpPr>
              <p:nvPr/>
            </p:nvSpPr>
            <p:spPr bwMode="auto">
              <a:xfrm flipV="1">
                <a:off x="7254240" y="3099899"/>
                <a:ext cx="2428875" cy="0"/>
              </a:xfrm>
              <a:prstGeom prst="line">
                <a:avLst/>
              </a:prstGeom>
              <a:noFill/>
              <a:ln w="762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nvGrpSpPr>
              <p:cNvPr id="27" name="Group 21">
                <a:extLst>
                  <a:ext uri="{FF2B5EF4-FFF2-40B4-BE49-F238E27FC236}">
                    <a16:creationId xmlns:a16="http://schemas.microsoft.com/office/drawing/2014/main" id="{EB0C407D-B484-2AB2-6753-6B339ECB4A28}"/>
                  </a:ext>
                </a:extLst>
              </p:cNvPr>
              <p:cNvGrpSpPr>
                <a:grpSpLocks/>
              </p:cNvGrpSpPr>
              <p:nvPr/>
            </p:nvGrpSpPr>
            <p:grpSpPr bwMode="auto">
              <a:xfrm>
                <a:off x="7622540" y="2598249"/>
                <a:ext cx="1570038" cy="930275"/>
                <a:chOff x="4122" y="797"/>
                <a:chExt cx="989" cy="586"/>
              </a:xfrm>
            </p:grpSpPr>
            <p:sp>
              <p:nvSpPr>
                <p:cNvPr id="28" name="Rectangle 15">
                  <a:extLst>
                    <a:ext uri="{FF2B5EF4-FFF2-40B4-BE49-F238E27FC236}">
                      <a16:creationId xmlns:a16="http://schemas.microsoft.com/office/drawing/2014/main" id="{EB07679A-21BA-655D-863F-BE911705B371}"/>
                    </a:ext>
                  </a:extLst>
                </p:cNvPr>
                <p:cNvSpPr>
                  <a:spLocks noChangeArrowheads="1"/>
                </p:cNvSpPr>
                <p:nvPr/>
              </p:nvSpPr>
              <p:spPr bwMode="auto">
                <a:xfrm>
                  <a:off x="4122" y="919"/>
                  <a:ext cx="989" cy="464"/>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9" name="Text Box 16">
                  <a:extLst>
                    <a:ext uri="{FF2B5EF4-FFF2-40B4-BE49-F238E27FC236}">
                      <a16:creationId xmlns:a16="http://schemas.microsoft.com/office/drawing/2014/main" id="{31140DF5-4D6D-3A21-F2C8-B76AB754D5CC}"/>
                    </a:ext>
                  </a:extLst>
                </p:cNvPr>
                <p:cNvSpPr txBox="1">
                  <a:spLocks noChangeArrowheads="1"/>
                </p:cNvSpPr>
                <p:nvPr/>
              </p:nvSpPr>
              <p:spPr bwMode="auto">
                <a:xfrm>
                  <a:off x="4483" y="1037"/>
                  <a:ext cx="308"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2400" b="0">
                      <a:latin typeface="Roboto" panose="02000000000000000000" pitchFamily="2" charset="0"/>
                      <a:ea typeface="Roboto" panose="02000000000000000000" pitchFamily="2" charset="0"/>
                    </a:rPr>
                    <a:t>IN</a:t>
                  </a:r>
                </a:p>
              </p:txBody>
            </p:sp>
            <p:sp>
              <p:nvSpPr>
                <p:cNvPr id="30" name="AutoShape 17">
                  <a:extLst>
                    <a:ext uri="{FF2B5EF4-FFF2-40B4-BE49-F238E27FC236}">
                      <a16:creationId xmlns:a16="http://schemas.microsoft.com/office/drawing/2014/main" id="{395F0A6E-902B-7919-8E8A-A7ABB3B9B887}"/>
                    </a:ext>
                  </a:extLst>
                </p:cNvPr>
                <p:cNvSpPr>
                  <a:spLocks/>
                </p:cNvSpPr>
                <p:nvPr/>
              </p:nvSpPr>
              <p:spPr bwMode="auto">
                <a:xfrm rot="-5400000">
                  <a:off x="4592" y="327"/>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1" name="AutoShape 18">
                  <a:extLst>
                    <a:ext uri="{FF2B5EF4-FFF2-40B4-BE49-F238E27FC236}">
                      <a16:creationId xmlns:a16="http://schemas.microsoft.com/office/drawing/2014/main" id="{65D699E9-38AF-9B52-90B9-91C41C1F7951}"/>
                    </a:ext>
                  </a:extLst>
                </p:cNvPr>
                <p:cNvSpPr>
                  <a:spLocks/>
                </p:cNvSpPr>
                <p:nvPr/>
              </p:nvSpPr>
              <p:spPr bwMode="auto">
                <a:xfrm rot="-5400000">
                  <a:off x="4592" y="352"/>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 name="AutoShape 19">
                  <a:extLst>
                    <a:ext uri="{FF2B5EF4-FFF2-40B4-BE49-F238E27FC236}">
                      <a16:creationId xmlns:a16="http://schemas.microsoft.com/office/drawing/2014/main" id="{25AD4614-A830-7653-3B39-2D27AA71D762}"/>
                    </a:ext>
                  </a:extLst>
                </p:cNvPr>
                <p:cNvSpPr>
                  <a:spLocks/>
                </p:cNvSpPr>
                <p:nvPr/>
              </p:nvSpPr>
              <p:spPr bwMode="auto">
                <a:xfrm rot="-5400000">
                  <a:off x="4592" y="377"/>
                  <a:ext cx="50" cy="989"/>
                </a:xfrm>
                <a:prstGeom prst="leftBracket">
                  <a:avLst>
                    <a:gd name="adj" fmla="val 1648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33" name="Rectangle 22">
                <a:extLst>
                  <a:ext uri="{FF2B5EF4-FFF2-40B4-BE49-F238E27FC236}">
                    <a16:creationId xmlns:a16="http://schemas.microsoft.com/office/drawing/2014/main" id="{D7E1A9B3-EDD9-94C6-D06F-3C22F36887B6}"/>
                  </a:ext>
                </a:extLst>
              </p:cNvPr>
              <p:cNvSpPr>
                <a:spLocks noChangeArrowheads="1"/>
              </p:cNvSpPr>
              <p:nvPr/>
            </p:nvSpPr>
            <p:spPr bwMode="auto">
              <a:xfrm>
                <a:off x="7624128" y="3887299"/>
                <a:ext cx="1582737" cy="1538288"/>
              </a:xfrm>
              <a:prstGeom prst="rect">
                <a:avLst/>
              </a:prstGeom>
              <a:noFill/>
              <a:ln w="12700" cap="sq">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FED-EX</a:t>
                </a:r>
              </a:p>
              <a:p>
                <a:pPr algn="ctr">
                  <a:lnSpc>
                    <a:spcPct val="80000"/>
                  </a:lnSpc>
                  <a:spcBef>
                    <a:spcPct val="20000"/>
                  </a:spcBef>
                  <a:spcAft>
                    <a:spcPct val="0"/>
                  </a:spcAft>
                  <a:buClrTx/>
                  <a:buSzTx/>
                  <a:buFontTx/>
                  <a:buNone/>
                </a:pPr>
                <a:endParaRPr lang="en-US" altLang="en-US" sz="1400">
                  <a:latin typeface="Roboto" panose="02000000000000000000" pitchFamily="2" charset="0"/>
                  <a:ea typeface="Roboto" panose="02000000000000000000" pitchFamily="2" charset="0"/>
                </a:endParaRPr>
              </a:p>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FIFO</a:t>
                </a:r>
              </a:p>
              <a:p>
                <a:pPr algn="ctr">
                  <a:lnSpc>
                    <a:spcPct val="80000"/>
                  </a:lnSpc>
                  <a:spcBef>
                    <a:spcPct val="20000"/>
                  </a:spcBef>
                  <a:spcAft>
                    <a:spcPct val="0"/>
                  </a:spcAft>
                  <a:buClrTx/>
                  <a:buSzTx/>
                  <a:buFontTx/>
                  <a:buNone/>
                </a:pPr>
                <a:endParaRPr lang="en-US" altLang="en-US" sz="1400">
                  <a:latin typeface="Roboto" panose="02000000000000000000" pitchFamily="2" charset="0"/>
                  <a:ea typeface="Roboto" panose="02000000000000000000" pitchFamily="2" charset="0"/>
                </a:endParaRPr>
              </a:p>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30 Days</a:t>
                </a:r>
              </a:p>
            </p:txBody>
          </p:sp>
          <p:sp>
            <p:nvSpPr>
              <p:cNvPr id="34" name="Line 23">
                <a:extLst>
                  <a:ext uri="{FF2B5EF4-FFF2-40B4-BE49-F238E27FC236}">
                    <a16:creationId xmlns:a16="http://schemas.microsoft.com/office/drawing/2014/main" id="{7E7805E7-B48C-30BE-8F15-8A87FCBBA97C}"/>
                  </a:ext>
                </a:extLst>
              </p:cNvPr>
              <p:cNvSpPr>
                <a:spLocks noChangeShapeType="1"/>
              </p:cNvSpPr>
              <p:nvPr/>
            </p:nvSpPr>
            <p:spPr bwMode="auto">
              <a:xfrm>
                <a:off x="7609840" y="4452449"/>
                <a:ext cx="161131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 name="Line 25">
                <a:extLst>
                  <a:ext uri="{FF2B5EF4-FFF2-40B4-BE49-F238E27FC236}">
                    <a16:creationId xmlns:a16="http://schemas.microsoft.com/office/drawing/2014/main" id="{690580E0-42FC-0E4D-EA48-AB52D4BAC89E}"/>
                  </a:ext>
                </a:extLst>
              </p:cNvPr>
              <p:cNvSpPr>
                <a:spLocks noChangeShapeType="1"/>
              </p:cNvSpPr>
              <p:nvPr/>
            </p:nvSpPr>
            <p:spPr bwMode="auto">
              <a:xfrm>
                <a:off x="7624128" y="4830274"/>
                <a:ext cx="1625600"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grpSp>
    </p:spTree>
    <p:extLst>
      <p:ext uri="{BB962C8B-B14F-4D97-AF65-F5344CB8AC3E}">
        <p14:creationId xmlns:p14="http://schemas.microsoft.com/office/powerpoint/2010/main" val="26822762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Inventory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50</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4" name="Rectangle 3">
            <a:extLst>
              <a:ext uri="{FF2B5EF4-FFF2-40B4-BE49-F238E27FC236}">
                <a16:creationId xmlns:a16="http://schemas.microsoft.com/office/drawing/2014/main" id="{BA9CB831-8CFB-B7AF-D294-26C7974B4F70}"/>
              </a:ext>
            </a:extLst>
          </p:cNvPr>
          <p:cNvSpPr>
            <a:spLocks noChangeArrowheads="1"/>
          </p:cNvSpPr>
          <p:nvPr/>
        </p:nvSpPr>
        <p:spPr bwMode="auto">
          <a:xfrm>
            <a:off x="2024857" y="2990851"/>
            <a:ext cx="4302125" cy="1945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Inventory</a:t>
            </a: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Upon approval the prototypes are sent to the program management group which distributes them to selected professionals from the focus group for evaluation.  </a:t>
            </a:r>
          </a:p>
        </p:txBody>
      </p:sp>
      <p:sp>
        <p:nvSpPr>
          <p:cNvPr id="15" name="Rectangle 412">
            <a:extLst>
              <a:ext uri="{FF2B5EF4-FFF2-40B4-BE49-F238E27FC236}">
                <a16:creationId xmlns:a16="http://schemas.microsoft.com/office/drawing/2014/main" id="{D88BEA4B-4B6B-5CF9-5142-5CC13470A906}"/>
              </a:ext>
            </a:extLst>
          </p:cNvPr>
          <p:cNvSpPr txBox="1">
            <a:spLocks noChangeArrowheads="1"/>
          </p:cNvSpPr>
          <p:nvPr/>
        </p:nvSpPr>
        <p:spPr>
          <a:xfrm>
            <a:off x="2013744" y="1992313"/>
            <a:ext cx="8164513" cy="100806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tx1"/>
              </a:buClr>
              <a:buSzPct val="90000"/>
            </a:pPr>
            <a:r>
              <a:rPr lang="en-US" altLang="en-US" sz="2400" dirty="0"/>
              <a:t>Inventory is the observed queued incomplete actions waiting to complete the process</a:t>
            </a:r>
          </a:p>
        </p:txBody>
      </p:sp>
      <p:grpSp>
        <p:nvGrpSpPr>
          <p:cNvPr id="50" name="Group 49">
            <a:extLst>
              <a:ext uri="{FF2B5EF4-FFF2-40B4-BE49-F238E27FC236}">
                <a16:creationId xmlns:a16="http://schemas.microsoft.com/office/drawing/2014/main" id="{76C3021F-FDA4-E74A-B441-B8B0A80321CD}"/>
              </a:ext>
            </a:extLst>
          </p:cNvPr>
          <p:cNvGrpSpPr/>
          <p:nvPr/>
        </p:nvGrpSpPr>
        <p:grpSpPr>
          <a:xfrm>
            <a:off x="6480809" y="4365440"/>
            <a:ext cx="3537109" cy="1811523"/>
            <a:chOff x="7355682" y="4953001"/>
            <a:chExt cx="2662237" cy="1223962"/>
          </a:xfrm>
        </p:grpSpPr>
        <p:sp>
          <p:nvSpPr>
            <p:cNvPr id="16" name="Line 432">
              <a:extLst>
                <a:ext uri="{FF2B5EF4-FFF2-40B4-BE49-F238E27FC236}">
                  <a16:creationId xmlns:a16="http://schemas.microsoft.com/office/drawing/2014/main" id="{9C8EFAD2-220D-8C40-1AF1-74798A53E07C}"/>
                </a:ext>
              </a:extLst>
            </p:cNvPr>
            <p:cNvSpPr>
              <a:spLocks noChangeShapeType="1"/>
            </p:cNvSpPr>
            <p:nvPr/>
          </p:nvSpPr>
          <p:spPr bwMode="auto">
            <a:xfrm flipV="1">
              <a:off x="8384382" y="5173663"/>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 name="Rectangle 433">
              <a:extLst>
                <a:ext uri="{FF2B5EF4-FFF2-40B4-BE49-F238E27FC236}">
                  <a16:creationId xmlns:a16="http://schemas.microsoft.com/office/drawing/2014/main" id="{5E37809A-38E7-74F6-96FF-41E823D6E7C4}"/>
                </a:ext>
              </a:extLst>
            </p:cNvPr>
            <p:cNvSpPr>
              <a:spLocks noChangeArrowheads="1"/>
            </p:cNvSpPr>
            <p:nvPr/>
          </p:nvSpPr>
          <p:spPr bwMode="auto">
            <a:xfrm>
              <a:off x="7406482" y="4953001"/>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 name="Rectangle 434">
              <a:extLst>
                <a:ext uri="{FF2B5EF4-FFF2-40B4-BE49-F238E27FC236}">
                  <a16:creationId xmlns:a16="http://schemas.microsoft.com/office/drawing/2014/main" id="{23542E14-9997-FFDF-BAA9-D52C600D7AB1}"/>
                </a:ext>
              </a:extLst>
            </p:cNvPr>
            <p:cNvSpPr>
              <a:spLocks noChangeArrowheads="1"/>
            </p:cNvSpPr>
            <p:nvPr/>
          </p:nvSpPr>
          <p:spPr bwMode="auto">
            <a:xfrm>
              <a:off x="9016207" y="4953001"/>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Text Box 435">
              <a:extLst>
                <a:ext uri="{FF2B5EF4-FFF2-40B4-BE49-F238E27FC236}">
                  <a16:creationId xmlns:a16="http://schemas.microsoft.com/office/drawing/2014/main" id="{D838186C-8CAF-D676-E1E1-149D28306F77}"/>
                </a:ext>
              </a:extLst>
            </p:cNvPr>
            <p:cNvSpPr txBox="1">
              <a:spLocks noChangeArrowheads="1"/>
            </p:cNvSpPr>
            <p:nvPr/>
          </p:nvSpPr>
          <p:spPr bwMode="auto">
            <a:xfrm>
              <a:off x="7482682" y="5029201"/>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20" name="Text Box 436">
              <a:extLst>
                <a:ext uri="{FF2B5EF4-FFF2-40B4-BE49-F238E27FC236}">
                  <a16:creationId xmlns:a16="http://schemas.microsoft.com/office/drawing/2014/main" id="{580456FF-E3D0-7BD8-9C68-FD69A80BFE7E}"/>
                </a:ext>
              </a:extLst>
            </p:cNvPr>
            <p:cNvSpPr txBox="1">
              <a:spLocks noChangeArrowheads="1"/>
            </p:cNvSpPr>
            <p:nvPr/>
          </p:nvSpPr>
          <p:spPr bwMode="auto">
            <a:xfrm>
              <a:off x="9092407" y="5029201"/>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dirty="0">
                  <a:latin typeface="Roboto" panose="02000000000000000000" pitchFamily="2" charset="0"/>
                  <a:ea typeface="Roboto" panose="02000000000000000000" pitchFamily="2" charset="0"/>
                </a:rPr>
                <a:t>Prototype Test</a:t>
              </a:r>
            </a:p>
          </p:txBody>
        </p:sp>
        <p:sp>
          <p:nvSpPr>
            <p:cNvPr id="21" name="Rectangle 437">
              <a:extLst>
                <a:ext uri="{FF2B5EF4-FFF2-40B4-BE49-F238E27FC236}">
                  <a16:creationId xmlns:a16="http://schemas.microsoft.com/office/drawing/2014/main" id="{A2AC0D20-17C2-A836-186D-6C1CFC97D7BB}"/>
                </a:ext>
              </a:extLst>
            </p:cNvPr>
            <p:cNvSpPr>
              <a:spLocks noChangeArrowheads="1"/>
            </p:cNvSpPr>
            <p:nvPr/>
          </p:nvSpPr>
          <p:spPr bwMode="auto">
            <a:xfrm>
              <a:off x="7412832" y="56054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Rectangle 438">
              <a:extLst>
                <a:ext uri="{FF2B5EF4-FFF2-40B4-BE49-F238E27FC236}">
                  <a16:creationId xmlns:a16="http://schemas.microsoft.com/office/drawing/2014/main" id="{33211D94-5C95-EBC4-891F-624CB8FE1A01}"/>
                </a:ext>
              </a:extLst>
            </p:cNvPr>
            <p:cNvSpPr>
              <a:spLocks noChangeArrowheads="1"/>
            </p:cNvSpPr>
            <p:nvPr/>
          </p:nvSpPr>
          <p:spPr bwMode="auto">
            <a:xfrm>
              <a:off x="7355682" y="5602288"/>
              <a:ext cx="1001713" cy="5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Quality = 30%</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Rework = 4 Times</a:t>
              </a:r>
            </a:p>
          </p:txBody>
        </p:sp>
        <p:sp>
          <p:nvSpPr>
            <p:cNvPr id="23" name="Rectangle 439">
              <a:extLst>
                <a:ext uri="{FF2B5EF4-FFF2-40B4-BE49-F238E27FC236}">
                  <a16:creationId xmlns:a16="http://schemas.microsoft.com/office/drawing/2014/main" id="{D99EFB9F-A48A-F0F5-FCDD-C7C7E31A31F2}"/>
                </a:ext>
              </a:extLst>
            </p:cNvPr>
            <p:cNvSpPr>
              <a:spLocks noChangeArrowheads="1"/>
            </p:cNvSpPr>
            <p:nvPr/>
          </p:nvSpPr>
          <p:spPr bwMode="auto">
            <a:xfrm>
              <a:off x="9032082" y="56054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Rectangle 440">
              <a:extLst>
                <a:ext uri="{FF2B5EF4-FFF2-40B4-BE49-F238E27FC236}">
                  <a16:creationId xmlns:a16="http://schemas.microsoft.com/office/drawing/2014/main" id="{3DF5A1E1-C8EF-9B4E-5C6D-10DE7F159465}"/>
                </a:ext>
              </a:extLst>
            </p:cNvPr>
            <p:cNvSpPr>
              <a:spLocks noChangeArrowheads="1"/>
            </p:cNvSpPr>
            <p:nvPr/>
          </p:nvSpPr>
          <p:spPr bwMode="auto">
            <a:xfrm>
              <a:off x="8981282" y="5602288"/>
              <a:ext cx="1036637" cy="5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 Lead Time = 60 Days</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Processing Time = 5 Day</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Quality = 20%</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Rework = 0 times</a:t>
              </a:r>
            </a:p>
          </p:txBody>
        </p:sp>
        <p:sp>
          <p:nvSpPr>
            <p:cNvPr id="25" name="Text Box 441">
              <a:extLst>
                <a:ext uri="{FF2B5EF4-FFF2-40B4-BE49-F238E27FC236}">
                  <a16:creationId xmlns:a16="http://schemas.microsoft.com/office/drawing/2014/main" id="{45F797BE-AB4C-70B4-D4E9-9DC53CA0058B}"/>
                </a:ext>
              </a:extLst>
            </p:cNvPr>
            <p:cNvSpPr txBox="1">
              <a:spLocks noChangeArrowheads="1"/>
            </p:cNvSpPr>
            <p:nvPr/>
          </p:nvSpPr>
          <p:spPr bwMode="auto">
            <a:xfrm>
              <a:off x="8370094" y="5338763"/>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30 Days</a:t>
              </a:r>
            </a:p>
          </p:txBody>
        </p:sp>
        <p:grpSp>
          <p:nvGrpSpPr>
            <p:cNvPr id="38" name="Group 442">
              <a:extLst>
                <a:ext uri="{FF2B5EF4-FFF2-40B4-BE49-F238E27FC236}">
                  <a16:creationId xmlns:a16="http://schemas.microsoft.com/office/drawing/2014/main" id="{1EBD967B-F405-21A9-21B7-0F405BF328C9}"/>
                </a:ext>
              </a:extLst>
            </p:cNvPr>
            <p:cNvGrpSpPr>
              <a:grpSpLocks/>
            </p:cNvGrpSpPr>
            <p:nvPr/>
          </p:nvGrpSpPr>
          <p:grpSpPr bwMode="auto">
            <a:xfrm>
              <a:off x="8463757" y="4956176"/>
              <a:ext cx="381000" cy="336550"/>
              <a:chOff x="4122" y="1171"/>
              <a:chExt cx="240" cy="212"/>
            </a:xfrm>
          </p:grpSpPr>
          <p:sp>
            <p:nvSpPr>
              <p:cNvPr id="39" name="Rectangle 443">
                <a:extLst>
                  <a:ext uri="{FF2B5EF4-FFF2-40B4-BE49-F238E27FC236}">
                    <a16:creationId xmlns:a16="http://schemas.microsoft.com/office/drawing/2014/main" id="{72EDAFBE-4ECE-3D82-2E9C-0942EDB92EC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 name="Text Box 444">
                <a:extLst>
                  <a:ext uri="{FF2B5EF4-FFF2-40B4-BE49-F238E27FC236}">
                    <a16:creationId xmlns:a16="http://schemas.microsoft.com/office/drawing/2014/main" id="{D944DF55-8866-2446-C4BE-50BFEEA85428}"/>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41" name="AutoShape 445">
                <a:extLst>
                  <a:ext uri="{FF2B5EF4-FFF2-40B4-BE49-F238E27FC236}">
                    <a16:creationId xmlns:a16="http://schemas.microsoft.com/office/drawing/2014/main" id="{DE1C89A0-53D7-8357-FD24-300411ADC5E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AutoShape 446">
                <a:extLst>
                  <a:ext uri="{FF2B5EF4-FFF2-40B4-BE49-F238E27FC236}">
                    <a16:creationId xmlns:a16="http://schemas.microsoft.com/office/drawing/2014/main" id="{456F5303-A05D-41FD-44CB-144E44EB09BD}"/>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AutoShape 447">
                <a:extLst>
                  <a:ext uri="{FF2B5EF4-FFF2-40B4-BE49-F238E27FC236}">
                    <a16:creationId xmlns:a16="http://schemas.microsoft.com/office/drawing/2014/main" id="{588CC1E6-A360-7F8C-DFE5-18260D5BCDB7}"/>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44" name="Group 448">
              <a:extLst>
                <a:ext uri="{FF2B5EF4-FFF2-40B4-BE49-F238E27FC236}">
                  <a16:creationId xmlns:a16="http://schemas.microsoft.com/office/drawing/2014/main" id="{9013B066-D278-BC7C-4FA2-043383493327}"/>
                </a:ext>
              </a:extLst>
            </p:cNvPr>
            <p:cNvGrpSpPr>
              <a:grpSpLocks/>
            </p:cNvGrpSpPr>
            <p:nvPr/>
          </p:nvGrpSpPr>
          <p:grpSpPr bwMode="auto">
            <a:xfrm>
              <a:off x="8454232" y="5326063"/>
              <a:ext cx="381000" cy="533400"/>
              <a:chOff x="576" y="1200"/>
              <a:chExt cx="240" cy="336"/>
            </a:xfrm>
          </p:grpSpPr>
          <p:sp>
            <p:nvSpPr>
              <p:cNvPr id="45" name="Rectangle 449">
                <a:extLst>
                  <a:ext uri="{FF2B5EF4-FFF2-40B4-BE49-F238E27FC236}">
                    <a16:creationId xmlns:a16="http://schemas.microsoft.com/office/drawing/2014/main" id="{40CD65C9-D745-3DCB-3564-375208C7426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6" name="Line 450">
                <a:extLst>
                  <a:ext uri="{FF2B5EF4-FFF2-40B4-BE49-F238E27FC236}">
                    <a16:creationId xmlns:a16="http://schemas.microsoft.com/office/drawing/2014/main" id="{D0DB221B-5FB5-6DF1-490A-63428F77DDF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47" name="Line 451">
                <a:extLst>
                  <a:ext uri="{FF2B5EF4-FFF2-40B4-BE49-F238E27FC236}">
                    <a16:creationId xmlns:a16="http://schemas.microsoft.com/office/drawing/2014/main" id="{E5F8CB4A-53F7-AC27-303C-FF53A070F832}"/>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grpSp>
      <p:sp>
        <p:nvSpPr>
          <p:cNvPr id="48" name="Rectangle 452">
            <a:extLst>
              <a:ext uri="{FF2B5EF4-FFF2-40B4-BE49-F238E27FC236}">
                <a16:creationId xmlns:a16="http://schemas.microsoft.com/office/drawing/2014/main" id="{13BD7A77-5F64-B59E-DE29-E520083B2556}"/>
              </a:ext>
            </a:extLst>
          </p:cNvPr>
          <p:cNvSpPr>
            <a:spLocks noChangeArrowheads="1"/>
          </p:cNvSpPr>
          <p:nvPr/>
        </p:nvSpPr>
        <p:spPr bwMode="auto">
          <a:xfrm>
            <a:off x="5863432" y="2986088"/>
            <a:ext cx="4302125" cy="1379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rgbClr val="336699"/>
              </a:buClr>
              <a:buSzPct val="90000"/>
              <a:buFont typeface="Wingdings" panose="05000000000000000000" pitchFamily="2" charset="2"/>
              <a:buChar char="§"/>
            </a:pPr>
            <a:endParaRPr lang="en-US" altLang="en-US" sz="1800" dirty="0">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It typically takes </a:t>
            </a:r>
            <a:r>
              <a:rPr lang="en-US" altLang="en-US" dirty="0">
                <a:solidFill>
                  <a:srgbClr val="FF0000"/>
                </a:solidFill>
                <a:latin typeface="Roboto" panose="02000000000000000000" pitchFamily="2" charset="0"/>
                <a:ea typeface="Roboto" panose="02000000000000000000" pitchFamily="2" charset="0"/>
              </a:rPr>
              <a:t>1</a:t>
            </a:r>
            <a:r>
              <a:rPr lang="en-US" altLang="en-US" dirty="0">
                <a:latin typeface="Roboto" panose="02000000000000000000" pitchFamily="2" charset="0"/>
                <a:ea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rPr>
              <a:t>month </a:t>
            </a:r>
            <a:r>
              <a:rPr lang="en-US" altLang="en-US" dirty="0">
                <a:latin typeface="Roboto" panose="02000000000000000000" pitchFamily="2" charset="0"/>
                <a:ea typeface="Roboto" panose="02000000000000000000" pitchFamily="2" charset="0"/>
              </a:rPr>
              <a:t>to get the clubs </a:t>
            </a:r>
            <a:r>
              <a:rPr lang="en-US" altLang="en-US" dirty="0">
                <a:solidFill>
                  <a:srgbClr val="FF0000"/>
                </a:solidFill>
                <a:latin typeface="Roboto" panose="02000000000000000000" pitchFamily="2" charset="0"/>
                <a:ea typeface="Roboto" panose="02000000000000000000" pitchFamily="2" charset="0"/>
              </a:rPr>
              <a:t>distributed by Fed</a:t>
            </a:r>
            <a:r>
              <a:rPr lang="en-US" altLang="en-US" dirty="0">
                <a:latin typeface="Roboto" panose="02000000000000000000" pitchFamily="2" charset="0"/>
                <a:ea typeface="Roboto" panose="02000000000000000000" pitchFamily="2" charset="0"/>
              </a:rPr>
              <a:t> </a:t>
            </a:r>
            <a:r>
              <a:rPr lang="en-US" altLang="en-US" dirty="0">
                <a:solidFill>
                  <a:srgbClr val="FF0000"/>
                </a:solidFill>
                <a:latin typeface="Roboto" panose="02000000000000000000" pitchFamily="2" charset="0"/>
                <a:ea typeface="Roboto" panose="02000000000000000000" pitchFamily="2" charset="0"/>
              </a:rPr>
              <a:t>Ex</a:t>
            </a:r>
            <a:r>
              <a:rPr lang="en-US" altLang="en-US" dirty="0">
                <a:latin typeface="Roboto" panose="02000000000000000000" pitchFamily="2" charset="0"/>
                <a:ea typeface="Roboto" panose="02000000000000000000" pitchFamily="2" charset="0"/>
              </a:rPr>
              <a:t> for evaluation.</a:t>
            </a:r>
            <a:r>
              <a:rPr lang="en-US" altLang="en-US" dirty="0">
                <a:solidFill>
                  <a:schemeClr val="bg1"/>
                </a:solidFill>
                <a:latin typeface="Roboto" panose="02000000000000000000" pitchFamily="2" charset="0"/>
                <a:ea typeface="Roboto" panose="02000000000000000000" pitchFamily="2" charset="0"/>
              </a:rPr>
              <a:t>  </a:t>
            </a:r>
          </a:p>
        </p:txBody>
      </p:sp>
    </p:spTree>
    <p:extLst>
      <p:ext uri="{BB962C8B-B14F-4D97-AF65-F5344CB8AC3E}">
        <p14:creationId xmlns:p14="http://schemas.microsoft.com/office/powerpoint/2010/main" val="34034200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Queue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51</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4" name="Rectangle 3">
            <a:extLst>
              <a:ext uri="{FF2B5EF4-FFF2-40B4-BE49-F238E27FC236}">
                <a16:creationId xmlns:a16="http://schemas.microsoft.com/office/drawing/2014/main" id="{BA9CB831-8CFB-B7AF-D294-26C7974B4F70}"/>
              </a:ext>
            </a:extLst>
          </p:cNvPr>
          <p:cNvSpPr>
            <a:spLocks noChangeArrowheads="1"/>
          </p:cNvSpPr>
          <p:nvPr/>
        </p:nvSpPr>
        <p:spPr bwMode="auto">
          <a:xfrm>
            <a:off x="2024857" y="2990851"/>
            <a:ext cx="4302125" cy="2514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Queue Time</a:t>
            </a:r>
          </a:p>
          <a:p>
            <a:pPr lvl="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The approved attribute matrix with input from the focus group is delivered in electronic format to the program management group comprised primarily of four senior engineers.  These engineers will develop a comprehensive specification for the product based on the attribute matrix.</a:t>
            </a:r>
            <a:endParaRPr lang="en-US" altLang="en-US" sz="6600" dirty="0">
              <a:latin typeface="Roboto" panose="02000000000000000000" pitchFamily="2" charset="0"/>
              <a:ea typeface="Roboto" panose="02000000000000000000" pitchFamily="2" charset="0"/>
            </a:endParaRPr>
          </a:p>
        </p:txBody>
      </p:sp>
      <p:sp>
        <p:nvSpPr>
          <p:cNvPr id="15" name="Rectangle 412">
            <a:extLst>
              <a:ext uri="{FF2B5EF4-FFF2-40B4-BE49-F238E27FC236}">
                <a16:creationId xmlns:a16="http://schemas.microsoft.com/office/drawing/2014/main" id="{D88BEA4B-4B6B-5CF9-5142-5CC13470A906}"/>
              </a:ext>
            </a:extLst>
          </p:cNvPr>
          <p:cNvSpPr txBox="1">
            <a:spLocks noChangeArrowheads="1"/>
          </p:cNvSpPr>
          <p:nvPr/>
        </p:nvSpPr>
        <p:spPr>
          <a:xfrm>
            <a:off x="2013744" y="1992313"/>
            <a:ext cx="8164513" cy="100806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tx1"/>
              </a:buClr>
              <a:buSzPct val="90000"/>
            </a:pPr>
            <a:r>
              <a:rPr lang="en-US" altLang="en-US" sz="1800" dirty="0"/>
              <a:t>In the absence of inventory, you may often find that there is a Queue Time associated with a given process.  This may be a function of various factors, such as the timing of meetings and reviews or the availability of collective resources to execute a given process.</a:t>
            </a:r>
          </a:p>
        </p:txBody>
      </p:sp>
      <p:grpSp>
        <p:nvGrpSpPr>
          <p:cNvPr id="50" name="Group 49">
            <a:extLst>
              <a:ext uri="{FF2B5EF4-FFF2-40B4-BE49-F238E27FC236}">
                <a16:creationId xmlns:a16="http://schemas.microsoft.com/office/drawing/2014/main" id="{76C3021F-FDA4-E74A-B441-B8B0A80321CD}"/>
              </a:ext>
            </a:extLst>
          </p:cNvPr>
          <p:cNvGrpSpPr/>
          <p:nvPr/>
        </p:nvGrpSpPr>
        <p:grpSpPr>
          <a:xfrm>
            <a:off x="6480809" y="4869180"/>
            <a:ext cx="4434841" cy="1307783"/>
            <a:chOff x="7355682" y="4953001"/>
            <a:chExt cx="2662237" cy="1223962"/>
          </a:xfrm>
        </p:grpSpPr>
        <p:sp>
          <p:nvSpPr>
            <p:cNvPr id="16" name="Line 432">
              <a:extLst>
                <a:ext uri="{FF2B5EF4-FFF2-40B4-BE49-F238E27FC236}">
                  <a16:creationId xmlns:a16="http://schemas.microsoft.com/office/drawing/2014/main" id="{9C8EFAD2-220D-8C40-1AF1-74798A53E07C}"/>
                </a:ext>
              </a:extLst>
            </p:cNvPr>
            <p:cNvSpPr>
              <a:spLocks noChangeShapeType="1"/>
            </p:cNvSpPr>
            <p:nvPr/>
          </p:nvSpPr>
          <p:spPr bwMode="auto">
            <a:xfrm flipV="1">
              <a:off x="8384382" y="5173663"/>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 name="Rectangle 433">
              <a:extLst>
                <a:ext uri="{FF2B5EF4-FFF2-40B4-BE49-F238E27FC236}">
                  <a16:creationId xmlns:a16="http://schemas.microsoft.com/office/drawing/2014/main" id="{5E37809A-38E7-74F6-96FF-41E823D6E7C4}"/>
                </a:ext>
              </a:extLst>
            </p:cNvPr>
            <p:cNvSpPr>
              <a:spLocks noChangeArrowheads="1"/>
            </p:cNvSpPr>
            <p:nvPr/>
          </p:nvSpPr>
          <p:spPr bwMode="auto">
            <a:xfrm>
              <a:off x="7406482" y="4953001"/>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 name="Rectangle 434">
              <a:extLst>
                <a:ext uri="{FF2B5EF4-FFF2-40B4-BE49-F238E27FC236}">
                  <a16:creationId xmlns:a16="http://schemas.microsoft.com/office/drawing/2014/main" id="{23542E14-9997-FFDF-BAA9-D52C600D7AB1}"/>
                </a:ext>
              </a:extLst>
            </p:cNvPr>
            <p:cNvSpPr>
              <a:spLocks noChangeArrowheads="1"/>
            </p:cNvSpPr>
            <p:nvPr/>
          </p:nvSpPr>
          <p:spPr bwMode="auto">
            <a:xfrm>
              <a:off x="9016207" y="4953001"/>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Text Box 435">
              <a:extLst>
                <a:ext uri="{FF2B5EF4-FFF2-40B4-BE49-F238E27FC236}">
                  <a16:creationId xmlns:a16="http://schemas.microsoft.com/office/drawing/2014/main" id="{D838186C-8CAF-D676-E1E1-149D28306F77}"/>
                </a:ext>
              </a:extLst>
            </p:cNvPr>
            <p:cNvSpPr txBox="1">
              <a:spLocks noChangeArrowheads="1"/>
            </p:cNvSpPr>
            <p:nvPr/>
          </p:nvSpPr>
          <p:spPr bwMode="auto">
            <a:xfrm>
              <a:off x="7482682" y="5029201"/>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20" name="Text Box 436">
              <a:extLst>
                <a:ext uri="{FF2B5EF4-FFF2-40B4-BE49-F238E27FC236}">
                  <a16:creationId xmlns:a16="http://schemas.microsoft.com/office/drawing/2014/main" id="{580456FF-E3D0-7BD8-9C68-FD69A80BFE7E}"/>
                </a:ext>
              </a:extLst>
            </p:cNvPr>
            <p:cNvSpPr txBox="1">
              <a:spLocks noChangeArrowheads="1"/>
            </p:cNvSpPr>
            <p:nvPr/>
          </p:nvSpPr>
          <p:spPr bwMode="auto">
            <a:xfrm>
              <a:off x="9092407" y="5029201"/>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dirty="0">
                  <a:latin typeface="Roboto" panose="02000000000000000000" pitchFamily="2" charset="0"/>
                  <a:ea typeface="Roboto" panose="02000000000000000000" pitchFamily="2" charset="0"/>
                </a:rPr>
                <a:t>Prototype Test</a:t>
              </a:r>
            </a:p>
          </p:txBody>
        </p:sp>
        <p:sp>
          <p:nvSpPr>
            <p:cNvPr id="21" name="Rectangle 437">
              <a:extLst>
                <a:ext uri="{FF2B5EF4-FFF2-40B4-BE49-F238E27FC236}">
                  <a16:creationId xmlns:a16="http://schemas.microsoft.com/office/drawing/2014/main" id="{A2AC0D20-17C2-A836-186D-6C1CFC97D7BB}"/>
                </a:ext>
              </a:extLst>
            </p:cNvPr>
            <p:cNvSpPr>
              <a:spLocks noChangeArrowheads="1"/>
            </p:cNvSpPr>
            <p:nvPr/>
          </p:nvSpPr>
          <p:spPr bwMode="auto">
            <a:xfrm>
              <a:off x="7412832" y="56054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Rectangle 438">
              <a:extLst>
                <a:ext uri="{FF2B5EF4-FFF2-40B4-BE49-F238E27FC236}">
                  <a16:creationId xmlns:a16="http://schemas.microsoft.com/office/drawing/2014/main" id="{33211D94-5C95-EBC4-891F-624CB8FE1A01}"/>
                </a:ext>
              </a:extLst>
            </p:cNvPr>
            <p:cNvSpPr>
              <a:spLocks noChangeArrowheads="1"/>
            </p:cNvSpPr>
            <p:nvPr/>
          </p:nvSpPr>
          <p:spPr bwMode="auto">
            <a:xfrm>
              <a:off x="7355682" y="5602288"/>
              <a:ext cx="1001713" cy="5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Quality = 30%</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Rework = 4 Times</a:t>
              </a:r>
            </a:p>
          </p:txBody>
        </p:sp>
        <p:sp>
          <p:nvSpPr>
            <p:cNvPr id="23" name="Rectangle 439">
              <a:extLst>
                <a:ext uri="{FF2B5EF4-FFF2-40B4-BE49-F238E27FC236}">
                  <a16:creationId xmlns:a16="http://schemas.microsoft.com/office/drawing/2014/main" id="{D99EFB9F-A48A-F0F5-FCDD-C7C7E31A31F2}"/>
                </a:ext>
              </a:extLst>
            </p:cNvPr>
            <p:cNvSpPr>
              <a:spLocks noChangeArrowheads="1"/>
            </p:cNvSpPr>
            <p:nvPr/>
          </p:nvSpPr>
          <p:spPr bwMode="auto">
            <a:xfrm>
              <a:off x="9032082" y="56054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Rectangle 440">
              <a:extLst>
                <a:ext uri="{FF2B5EF4-FFF2-40B4-BE49-F238E27FC236}">
                  <a16:creationId xmlns:a16="http://schemas.microsoft.com/office/drawing/2014/main" id="{3DF5A1E1-C8EF-9B4E-5C6D-10DE7F159465}"/>
                </a:ext>
              </a:extLst>
            </p:cNvPr>
            <p:cNvSpPr>
              <a:spLocks noChangeArrowheads="1"/>
            </p:cNvSpPr>
            <p:nvPr/>
          </p:nvSpPr>
          <p:spPr bwMode="auto">
            <a:xfrm>
              <a:off x="8981282" y="5602288"/>
              <a:ext cx="1036637" cy="5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 Lead Time = 60 Days</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Processing Time = 5 Day</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Quality = 20%</a:t>
              </a:r>
            </a:p>
            <a:p>
              <a:pPr>
                <a:lnSpc>
                  <a:spcPct val="125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Rework = 0 times</a:t>
              </a:r>
            </a:p>
          </p:txBody>
        </p:sp>
        <p:sp>
          <p:nvSpPr>
            <p:cNvPr id="25" name="Text Box 441">
              <a:extLst>
                <a:ext uri="{FF2B5EF4-FFF2-40B4-BE49-F238E27FC236}">
                  <a16:creationId xmlns:a16="http://schemas.microsoft.com/office/drawing/2014/main" id="{45F797BE-AB4C-70B4-D4E9-9DC53CA0058B}"/>
                </a:ext>
              </a:extLst>
            </p:cNvPr>
            <p:cNvSpPr txBox="1">
              <a:spLocks noChangeArrowheads="1"/>
            </p:cNvSpPr>
            <p:nvPr/>
          </p:nvSpPr>
          <p:spPr bwMode="auto">
            <a:xfrm>
              <a:off x="8370094" y="5338763"/>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30 Days</a:t>
              </a:r>
            </a:p>
          </p:txBody>
        </p:sp>
        <p:grpSp>
          <p:nvGrpSpPr>
            <p:cNvPr id="38" name="Group 442">
              <a:extLst>
                <a:ext uri="{FF2B5EF4-FFF2-40B4-BE49-F238E27FC236}">
                  <a16:creationId xmlns:a16="http://schemas.microsoft.com/office/drawing/2014/main" id="{1EBD967B-F405-21A9-21B7-0F405BF328C9}"/>
                </a:ext>
              </a:extLst>
            </p:cNvPr>
            <p:cNvGrpSpPr>
              <a:grpSpLocks/>
            </p:cNvGrpSpPr>
            <p:nvPr/>
          </p:nvGrpSpPr>
          <p:grpSpPr bwMode="auto">
            <a:xfrm>
              <a:off x="8463757" y="4956176"/>
              <a:ext cx="381000" cy="336550"/>
              <a:chOff x="4122" y="1171"/>
              <a:chExt cx="240" cy="212"/>
            </a:xfrm>
          </p:grpSpPr>
          <p:sp>
            <p:nvSpPr>
              <p:cNvPr id="39" name="Rectangle 443">
                <a:extLst>
                  <a:ext uri="{FF2B5EF4-FFF2-40B4-BE49-F238E27FC236}">
                    <a16:creationId xmlns:a16="http://schemas.microsoft.com/office/drawing/2014/main" id="{72EDAFBE-4ECE-3D82-2E9C-0942EDB92EC7}"/>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 name="Text Box 444">
                <a:extLst>
                  <a:ext uri="{FF2B5EF4-FFF2-40B4-BE49-F238E27FC236}">
                    <a16:creationId xmlns:a16="http://schemas.microsoft.com/office/drawing/2014/main" id="{D944DF55-8866-2446-C4BE-50BFEEA85428}"/>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41" name="AutoShape 445">
                <a:extLst>
                  <a:ext uri="{FF2B5EF4-FFF2-40B4-BE49-F238E27FC236}">
                    <a16:creationId xmlns:a16="http://schemas.microsoft.com/office/drawing/2014/main" id="{DE1C89A0-53D7-8357-FD24-300411ADC5E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AutoShape 446">
                <a:extLst>
                  <a:ext uri="{FF2B5EF4-FFF2-40B4-BE49-F238E27FC236}">
                    <a16:creationId xmlns:a16="http://schemas.microsoft.com/office/drawing/2014/main" id="{456F5303-A05D-41FD-44CB-144E44EB09BD}"/>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AutoShape 447">
                <a:extLst>
                  <a:ext uri="{FF2B5EF4-FFF2-40B4-BE49-F238E27FC236}">
                    <a16:creationId xmlns:a16="http://schemas.microsoft.com/office/drawing/2014/main" id="{588CC1E6-A360-7F8C-DFE5-18260D5BCDB7}"/>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44" name="Group 448">
              <a:extLst>
                <a:ext uri="{FF2B5EF4-FFF2-40B4-BE49-F238E27FC236}">
                  <a16:creationId xmlns:a16="http://schemas.microsoft.com/office/drawing/2014/main" id="{9013B066-D278-BC7C-4FA2-043383493327}"/>
                </a:ext>
              </a:extLst>
            </p:cNvPr>
            <p:cNvGrpSpPr>
              <a:grpSpLocks/>
            </p:cNvGrpSpPr>
            <p:nvPr/>
          </p:nvGrpSpPr>
          <p:grpSpPr bwMode="auto">
            <a:xfrm>
              <a:off x="8454232" y="5326063"/>
              <a:ext cx="381000" cy="533400"/>
              <a:chOff x="576" y="1200"/>
              <a:chExt cx="240" cy="336"/>
            </a:xfrm>
          </p:grpSpPr>
          <p:sp>
            <p:nvSpPr>
              <p:cNvPr id="45" name="Rectangle 449">
                <a:extLst>
                  <a:ext uri="{FF2B5EF4-FFF2-40B4-BE49-F238E27FC236}">
                    <a16:creationId xmlns:a16="http://schemas.microsoft.com/office/drawing/2014/main" id="{40CD65C9-D745-3DCB-3564-375208C7426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6" name="Line 450">
                <a:extLst>
                  <a:ext uri="{FF2B5EF4-FFF2-40B4-BE49-F238E27FC236}">
                    <a16:creationId xmlns:a16="http://schemas.microsoft.com/office/drawing/2014/main" id="{D0DB221B-5FB5-6DF1-490A-63428F77DDF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47" name="Line 451">
                <a:extLst>
                  <a:ext uri="{FF2B5EF4-FFF2-40B4-BE49-F238E27FC236}">
                    <a16:creationId xmlns:a16="http://schemas.microsoft.com/office/drawing/2014/main" id="{E5F8CB4A-53F7-AC27-303C-FF53A070F832}"/>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grpSp>
      <p:sp>
        <p:nvSpPr>
          <p:cNvPr id="48" name="Rectangle 452">
            <a:extLst>
              <a:ext uri="{FF2B5EF4-FFF2-40B4-BE49-F238E27FC236}">
                <a16:creationId xmlns:a16="http://schemas.microsoft.com/office/drawing/2014/main" id="{13BD7A77-5F64-B59E-DE29-E520083B2556}"/>
              </a:ext>
            </a:extLst>
          </p:cNvPr>
          <p:cNvSpPr>
            <a:spLocks noChangeArrowheads="1"/>
          </p:cNvSpPr>
          <p:nvPr/>
        </p:nvSpPr>
        <p:spPr bwMode="auto">
          <a:xfrm>
            <a:off x="5863432" y="2986088"/>
            <a:ext cx="4302125" cy="1968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rgbClr val="336699"/>
              </a:buClr>
              <a:buSzPct val="90000"/>
              <a:buFont typeface="Wingdings" panose="05000000000000000000" pitchFamily="2" charset="2"/>
              <a:buChar char="§"/>
            </a:pPr>
            <a:endParaRPr lang="en-US" altLang="en-US" sz="1600" dirty="0">
              <a:latin typeface="Roboto" panose="02000000000000000000" pitchFamily="2" charset="0"/>
              <a:ea typeface="Roboto" panose="02000000000000000000" pitchFamily="2" charset="0"/>
            </a:endParaRPr>
          </a:p>
          <a:p>
            <a:pPr lvl="1" eaLnBrk="1" hangingPunct="1">
              <a:spcBef>
                <a:spcPct val="0"/>
              </a:spcBef>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Because this group is also responsible for administering the implementation of all major projects within GAG </a:t>
            </a:r>
            <a:r>
              <a:rPr lang="en-US" altLang="en-US" sz="1400" dirty="0">
                <a:solidFill>
                  <a:schemeClr val="accent1"/>
                </a:solidFill>
                <a:latin typeface="Roboto" panose="02000000000000000000" pitchFamily="2" charset="0"/>
                <a:ea typeface="Roboto" panose="02000000000000000000" pitchFamily="2" charset="0"/>
              </a:rPr>
              <a:t>the attribute matrix will typically wait for 20 days before being addressed </a:t>
            </a:r>
            <a:r>
              <a:rPr lang="en-US" altLang="en-US" sz="1400" dirty="0">
                <a:latin typeface="Roboto" panose="02000000000000000000" pitchFamily="2" charset="0"/>
                <a:ea typeface="Roboto" panose="02000000000000000000" pitchFamily="2" charset="0"/>
              </a:rPr>
              <a:t>by the program management group.</a:t>
            </a:r>
          </a:p>
        </p:txBody>
      </p:sp>
    </p:spTree>
    <p:extLst>
      <p:ext uri="{BB962C8B-B14F-4D97-AF65-F5344CB8AC3E}">
        <p14:creationId xmlns:p14="http://schemas.microsoft.com/office/powerpoint/2010/main" val="266715377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Inventory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52</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4" name="Group 33">
            <a:extLst>
              <a:ext uri="{FF2B5EF4-FFF2-40B4-BE49-F238E27FC236}">
                <a16:creationId xmlns:a16="http://schemas.microsoft.com/office/drawing/2014/main" id="{2295933F-C084-ED31-54DF-2D9DC1CFB2AB}"/>
              </a:ext>
            </a:extLst>
          </p:cNvPr>
          <p:cNvGrpSpPr/>
          <p:nvPr/>
        </p:nvGrpSpPr>
        <p:grpSpPr>
          <a:xfrm>
            <a:off x="203200" y="1731888"/>
            <a:ext cx="11694159" cy="4566200"/>
            <a:chOff x="203200" y="1731888"/>
            <a:chExt cx="11694159" cy="4566200"/>
          </a:xfrm>
        </p:grpSpPr>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69" name="Text Box 11">
                    <a:extLst>
                      <a:ext uri="{FF2B5EF4-FFF2-40B4-BE49-F238E27FC236}">
                        <a16:creationId xmlns:a16="http://schemas.microsoft.com/office/drawing/2014/main" id="{5F4BC18F-E902-1A90-F611-4B5ADFC7B05A}"/>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0963873" y="2912650"/>
                <a:ext cx="261975" cy="1693635"/>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85139" y="4609093"/>
                <a:ext cx="1602755" cy="1475151"/>
                <a:chOff x="1151875" y="4606285"/>
                <a:chExt cx="1691640"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51875" y="4606285"/>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51875" y="5307004"/>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097918" y="4606286"/>
                <a:ext cx="1602755" cy="1477958"/>
                <a:chOff x="3496278" y="4606286"/>
                <a:chExt cx="1691640"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496278" y="4606286"/>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496278" y="5307004"/>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10697" y="4606962"/>
                <a:ext cx="1602755" cy="1477958"/>
                <a:chOff x="5377270" y="4606962"/>
                <a:chExt cx="1691640"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77270" y="4606962"/>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77270" y="5307680"/>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23476" y="4608314"/>
                <a:ext cx="1602755" cy="1477958"/>
                <a:chOff x="7258262" y="4608314"/>
                <a:chExt cx="1691640"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58262" y="4608314"/>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58262" y="5309032"/>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36255" y="4606286"/>
                <a:ext cx="1602755" cy="1477958"/>
                <a:chOff x="9506941" y="4599033"/>
                <a:chExt cx="1691640"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06941" y="4599033"/>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06941" y="5299751"/>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32" name="Group 31">
              <a:extLst>
                <a:ext uri="{FF2B5EF4-FFF2-40B4-BE49-F238E27FC236}">
                  <a16:creationId xmlns:a16="http://schemas.microsoft.com/office/drawing/2014/main" id="{A1673E8E-272F-C61A-1FDE-183C74AB6D2F}"/>
                </a:ext>
              </a:extLst>
            </p:cNvPr>
            <p:cNvGrpSpPr/>
            <p:nvPr/>
          </p:nvGrpSpPr>
          <p:grpSpPr>
            <a:xfrm>
              <a:off x="223164" y="4960620"/>
              <a:ext cx="7515317" cy="495298"/>
              <a:chOff x="223164" y="4960620"/>
              <a:chExt cx="7515317" cy="495298"/>
            </a:xfrm>
          </p:grpSpPr>
          <p:sp>
            <p:nvSpPr>
              <p:cNvPr id="13" name="Line 475">
                <a:extLst>
                  <a:ext uri="{FF2B5EF4-FFF2-40B4-BE49-F238E27FC236}">
                    <a16:creationId xmlns:a16="http://schemas.microsoft.com/office/drawing/2014/main" id="{DC8A1ABA-425B-985F-7B2B-A482C783C0E0}"/>
                  </a:ext>
                </a:extLst>
              </p:cNvPr>
              <p:cNvSpPr>
                <a:spLocks noChangeShapeType="1"/>
              </p:cNvSpPr>
              <p:nvPr/>
            </p:nvSpPr>
            <p:spPr bwMode="auto">
              <a:xfrm flipV="1">
                <a:off x="294641" y="4960620"/>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475">
                <a:extLst>
                  <a:ext uri="{FF2B5EF4-FFF2-40B4-BE49-F238E27FC236}">
                    <a16:creationId xmlns:a16="http://schemas.microsoft.com/office/drawing/2014/main" id="{155AA22B-75AD-57BC-A3FC-30C98D82BBC4}"/>
                  </a:ext>
                </a:extLst>
              </p:cNvPr>
              <p:cNvSpPr>
                <a:spLocks noChangeShapeType="1"/>
              </p:cNvSpPr>
              <p:nvPr/>
            </p:nvSpPr>
            <p:spPr bwMode="auto">
              <a:xfrm flipV="1">
                <a:off x="2384430" y="4960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475">
                <a:extLst>
                  <a:ext uri="{FF2B5EF4-FFF2-40B4-BE49-F238E27FC236}">
                    <a16:creationId xmlns:a16="http://schemas.microsoft.com/office/drawing/2014/main" id="{EC71E2A6-431F-F7DA-8F3C-7962D4749BAF}"/>
                  </a:ext>
                </a:extLst>
              </p:cNvPr>
              <p:cNvSpPr>
                <a:spLocks noChangeShapeType="1"/>
              </p:cNvSpPr>
              <p:nvPr/>
            </p:nvSpPr>
            <p:spPr bwMode="auto">
              <a:xfrm flipV="1">
                <a:off x="4698941" y="4963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475">
                <a:extLst>
                  <a:ext uri="{FF2B5EF4-FFF2-40B4-BE49-F238E27FC236}">
                    <a16:creationId xmlns:a16="http://schemas.microsoft.com/office/drawing/2014/main" id="{CF81F357-826E-7E1E-6F5D-985C2F1C177C}"/>
                  </a:ext>
                </a:extLst>
              </p:cNvPr>
              <p:cNvSpPr>
                <a:spLocks noChangeShapeType="1"/>
              </p:cNvSpPr>
              <p:nvPr/>
            </p:nvSpPr>
            <p:spPr bwMode="auto">
              <a:xfrm flipV="1">
                <a:off x="7024993" y="4960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Text Box 469">
                <a:extLst>
                  <a:ext uri="{FF2B5EF4-FFF2-40B4-BE49-F238E27FC236}">
                    <a16:creationId xmlns:a16="http://schemas.microsoft.com/office/drawing/2014/main" id="{DEF2F55D-7A11-F8A4-513B-09B516923561}"/>
                  </a:ext>
                </a:extLst>
              </p:cNvPr>
              <p:cNvSpPr txBox="1">
                <a:spLocks noChangeArrowheads="1"/>
              </p:cNvSpPr>
              <p:nvPr/>
            </p:nvSpPr>
            <p:spPr bwMode="auto">
              <a:xfrm>
                <a:off x="2436620" y="5028959"/>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19" name="Text Box 471">
                <a:extLst>
                  <a:ext uri="{FF2B5EF4-FFF2-40B4-BE49-F238E27FC236}">
                    <a16:creationId xmlns:a16="http://schemas.microsoft.com/office/drawing/2014/main" id="{EF9DE02D-98BC-374F-7D77-F4C4C7289BC0}"/>
                  </a:ext>
                </a:extLst>
              </p:cNvPr>
              <p:cNvSpPr txBox="1">
                <a:spLocks noChangeArrowheads="1"/>
              </p:cNvSpPr>
              <p:nvPr/>
            </p:nvSpPr>
            <p:spPr bwMode="auto">
              <a:xfrm>
                <a:off x="4717386" y="5040800"/>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20" name="Text Box 473">
                <a:extLst>
                  <a:ext uri="{FF2B5EF4-FFF2-40B4-BE49-F238E27FC236}">
                    <a16:creationId xmlns:a16="http://schemas.microsoft.com/office/drawing/2014/main" id="{43791338-C549-DDDD-8E10-189D07B7C3AF}"/>
                  </a:ext>
                </a:extLst>
              </p:cNvPr>
              <p:cNvSpPr txBox="1">
                <a:spLocks noChangeArrowheads="1"/>
              </p:cNvSpPr>
              <p:nvPr/>
            </p:nvSpPr>
            <p:spPr bwMode="auto">
              <a:xfrm>
                <a:off x="7076567" y="5055808"/>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21" name="Text Box 476">
                <a:extLst>
                  <a:ext uri="{FF2B5EF4-FFF2-40B4-BE49-F238E27FC236}">
                    <a16:creationId xmlns:a16="http://schemas.microsoft.com/office/drawing/2014/main" id="{D60E8A72-434F-B4B9-2954-71D4FBE1D85C}"/>
                  </a:ext>
                </a:extLst>
              </p:cNvPr>
              <p:cNvSpPr txBox="1">
                <a:spLocks noChangeArrowheads="1"/>
              </p:cNvSpPr>
              <p:nvPr/>
            </p:nvSpPr>
            <p:spPr bwMode="auto">
              <a:xfrm>
                <a:off x="223164" y="5003412"/>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33" name="Group 32">
              <a:extLst>
                <a:ext uri="{FF2B5EF4-FFF2-40B4-BE49-F238E27FC236}">
                  <a16:creationId xmlns:a16="http://schemas.microsoft.com/office/drawing/2014/main" id="{603A49A3-A6A7-8D20-1BB3-7DD2B6A4177A}"/>
                </a:ext>
              </a:extLst>
            </p:cNvPr>
            <p:cNvGrpSpPr/>
            <p:nvPr/>
          </p:nvGrpSpPr>
          <p:grpSpPr>
            <a:xfrm>
              <a:off x="9324499" y="4605672"/>
              <a:ext cx="713488" cy="1291573"/>
              <a:chOff x="9324499" y="4605672"/>
              <a:chExt cx="713488" cy="1291573"/>
            </a:xfrm>
          </p:grpSpPr>
          <p:sp>
            <p:nvSpPr>
              <p:cNvPr id="17" name="Line 475">
                <a:extLst>
                  <a:ext uri="{FF2B5EF4-FFF2-40B4-BE49-F238E27FC236}">
                    <a16:creationId xmlns:a16="http://schemas.microsoft.com/office/drawing/2014/main" id="{7259BBF2-CC01-5F3C-598B-EF07A702CA13}"/>
                  </a:ext>
                </a:extLst>
              </p:cNvPr>
              <p:cNvSpPr>
                <a:spLocks noChangeShapeType="1"/>
              </p:cNvSpPr>
              <p:nvPr/>
            </p:nvSpPr>
            <p:spPr bwMode="auto">
              <a:xfrm flipV="1">
                <a:off x="9324499" y="491613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30" name="Group 29">
                <a:extLst>
                  <a:ext uri="{FF2B5EF4-FFF2-40B4-BE49-F238E27FC236}">
                    <a16:creationId xmlns:a16="http://schemas.microsoft.com/office/drawing/2014/main" id="{7EFA250D-722E-1BF0-3C96-753704524213}"/>
                  </a:ext>
                </a:extLst>
              </p:cNvPr>
              <p:cNvGrpSpPr/>
              <p:nvPr/>
            </p:nvGrpSpPr>
            <p:grpSpPr>
              <a:xfrm>
                <a:off x="9376122" y="4605672"/>
                <a:ext cx="529880" cy="1291573"/>
                <a:chOff x="9376122" y="4605672"/>
                <a:chExt cx="529880" cy="1291573"/>
              </a:xfrm>
            </p:grpSpPr>
            <p:sp>
              <p:nvSpPr>
                <p:cNvPr id="22" name="Rectangle 21">
                  <a:extLst>
                    <a:ext uri="{FF2B5EF4-FFF2-40B4-BE49-F238E27FC236}">
                      <a16:creationId xmlns:a16="http://schemas.microsoft.com/office/drawing/2014/main" id="{D3300149-4D5F-A3AC-1D62-6841B7B12F9F}"/>
                    </a:ext>
                  </a:extLst>
                </p:cNvPr>
                <p:cNvSpPr/>
                <p:nvPr/>
              </p:nvSpPr>
              <p:spPr>
                <a:xfrm>
                  <a:off x="9376123" y="4724400"/>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3" name="AutoShape 461">
                  <a:extLst>
                    <a:ext uri="{FF2B5EF4-FFF2-40B4-BE49-F238E27FC236}">
                      <a16:creationId xmlns:a16="http://schemas.microsoft.com/office/drawing/2014/main" id="{86820194-E6B7-9967-0014-65D29498B938}"/>
                    </a:ext>
                  </a:extLst>
                </p:cNvPr>
                <p:cNvSpPr>
                  <a:spLocks/>
                </p:cNvSpPr>
                <p:nvPr/>
              </p:nvSpPr>
              <p:spPr bwMode="auto">
                <a:xfrm rot="16200000">
                  <a:off x="9618203" y="4421119"/>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4" name="AutoShape 461">
                  <a:extLst>
                    <a:ext uri="{FF2B5EF4-FFF2-40B4-BE49-F238E27FC236}">
                      <a16:creationId xmlns:a16="http://schemas.microsoft.com/office/drawing/2014/main" id="{D7E071F3-206F-C73A-B7B5-1ABF53AF06DD}"/>
                    </a:ext>
                  </a:extLst>
                </p:cNvPr>
                <p:cNvSpPr>
                  <a:spLocks/>
                </p:cNvSpPr>
                <p:nvPr/>
              </p:nvSpPr>
              <p:spPr bwMode="auto">
                <a:xfrm rot="16200000">
                  <a:off x="9618202" y="4363593"/>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AutoShape 461">
                  <a:extLst>
                    <a:ext uri="{FF2B5EF4-FFF2-40B4-BE49-F238E27FC236}">
                      <a16:creationId xmlns:a16="http://schemas.microsoft.com/office/drawing/2014/main" id="{26AD20E0-6073-9F89-FEBE-312157398A68}"/>
                    </a:ext>
                  </a:extLst>
                </p:cNvPr>
                <p:cNvSpPr>
                  <a:spLocks/>
                </p:cNvSpPr>
                <p:nvPr/>
              </p:nvSpPr>
              <p:spPr bwMode="auto">
                <a:xfrm rot="16200000">
                  <a:off x="9618203" y="4392356"/>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6" name="Rectangle 25">
                  <a:extLst>
                    <a:ext uri="{FF2B5EF4-FFF2-40B4-BE49-F238E27FC236}">
                      <a16:creationId xmlns:a16="http://schemas.microsoft.com/office/drawing/2014/main" id="{3AF815FC-0C85-351F-810F-0B176A862FD7}"/>
                    </a:ext>
                  </a:extLst>
                </p:cNvPr>
                <p:cNvSpPr/>
                <p:nvPr/>
              </p:nvSpPr>
              <p:spPr>
                <a:xfrm>
                  <a:off x="9376122" y="5189673"/>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8" name="Straight Connector 27">
                  <a:extLst>
                    <a:ext uri="{FF2B5EF4-FFF2-40B4-BE49-F238E27FC236}">
                      <a16:creationId xmlns:a16="http://schemas.microsoft.com/office/drawing/2014/main" id="{36116B7F-FF41-4316-5F4E-DD8D67A2FD4F}"/>
                    </a:ext>
                  </a:extLst>
                </p:cNvPr>
                <p:cNvCxnSpPr/>
                <p:nvPr/>
              </p:nvCxnSpPr>
              <p:spPr>
                <a:xfrm>
                  <a:off x="9376122" y="541586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41AFC2-C849-AA35-BC6C-855F4D112988}"/>
                    </a:ext>
                  </a:extLst>
                </p:cNvPr>
                <p:cNvCxnSpPr/>
                <p:nvPr/>
              </p:nvCxnSpPr>
              <p:spPr>
                <a:xfrm>
                  <a:off x="9376122" y="565398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202771750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53</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340602270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54</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3" name="Rectangle 2">
            <a:extLst>
              <a:ext uri="{FF2B5EF4-FFF2-40B4-BE49-F238E27FC236}">
                <a16:creationId xmlns:a16="http://schemas.microsoft.com/office/drawing/2014/main" id="{D38B4640-0C55-D435-BD3E-67A6CC966F30}"/>
              </a:ext>
            </a:extLst>
          </p:cNvPr>
          <p:cNvSpPr>
            <a:spLocks noChangeArrowheads="1"/>
          </p:cNvSpPr>
          <p:nvPr/>
        </p:nvSpPr>
        <p:spPr bwMode="auto">
          <a:xfrm>
            <a:off x="1271017" y="2098675"/>
            <a:ext cx="4116387" cy="1379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Incoming Demand</a:t>
            </a:r>
          </a:p>
          <a:p>
            <a:pPr lvl="1">
              <a:spcBef>
                <a:spcPct val="0"/>
              </a:spcBef>
              <a:buClr>
                <a:schemeClr val="tx1"/>
              </a:buClr>
              <a:buSzPct val="90000"/>
              <a:buFont typeface="Arial" panose="020B0604020202020204" pitchFamily="34" charset="0"/>
              <a:buChar char="•"/>
            </a:pPr>
            <a:r>
              <a:rPr lang="en-US" altLang="en-US" dirty="0">
                <a:latin typeface="Roboto" panose="02000000000000000000" pitchFamily="2" charset="0"/>
                <a:ea typeface="Roboto" panose="02000000000000000000" pitchFamily="2" charset="0"/>
              </a:rPr>
              <a:t>The product concept is </a:t>
            </a:r>
            <a:r>
              <a:rPr lang="en-US" altLang="en-US" dirty="0">
                <a:solidFill>
                  <a:schemeClr val="accent1"/>
                </a:solidFill>
                <a:latin typeface="Roboto" panose="02000000000000000000" pitchFamily="2" charset="0"/>
                <a:ea typeface="Roboto" panose="02000000000000000000" pitchFamily="2" charset="0"/>
              </a:rPr>
              <a:t>derived from the product roadmap </a:t>
            </a:r>
            <a:r>
              <a:rPr lang="en-US" altLang="en-US" dirty="0">
                <a:latin typeface="Roboto" panose="02000000000000000000" pitchFamily="2" charset="0"/>
                <a:ea typeface="Roboto" panose="02000000000000000000" pitchFamily="2" charset="0"/>
              </a:rPr>
              <a:t>as laid out in the strategic plan.</a:t>
            </a:r>
          </a:p>
        </p:txBody>
      </p:sp>
      <p:sp>
        <p:nvSpPr>
          <p:cNvPr id="26" name="Rectangle 68">
            <a:extLst>
              <a:ext uri="{FF2B5EF4-FFF2-40B4-BE49-F238E27FC236}">
                <a16:creationId xmlns:a16="http://schemas.microsoft.com/office/drawing/2014/main" id="{08FA9DD2-1FF3-8A06-7ABA-7E5262AB3902}"/>
              </a:ext>
            </a:extLst>
          </p:cNvPr>
          <p:cNvSpPr>
            <a:spLocks noChangeArrowheads="1"/>
          </p:cNvSpPr>
          <p:nvPr/>
        </p:nvSpPr>
        <p:spPr bwMode="auto">
          <a:xfrm>
            <a:off x="7663362" y="2073886"/>
            <a:ext cx="1439818" cy="488339"/>
          </a:xfrm>
          <a:prstGeom prst="rect">
            <a:avLst/>
          </a:prstGeom>
          <a:noFill/>
          <a:ln w="12700" cap="sq">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600" dirty="0">
                <a:latin typeface="Roboto" panose="02000000000000000000" pitchFamily="2" charset="0"/>
                <a:ea typeface="Roboto" panose="02000000000000000000" pitchFamily="2" charset="0"/>
              </a:rPr>
              <a:t>Product Road</a:t>
            </a:r>
            <a:br>
              <a:rPr lang="en-US" altLang="en-US" sz="1600" dirty="0">
                <a:latin typeface="Roboto" panose="02000000000000000000" pitchFamily="2" charset="0"/>
                <a:ea typeface="Roboto" panose="02000000000000000000" pitchFamily="2" charset="0"/>
              </a:rPr>
            </a:br>
            <a:r>
              <a:rPr lang="en-US" altLang="en-US" sz="1600" dirty="0">
                <a:latin typeface="Roboto" panose="02000000000000000000" pitchFamily="2" charset="0"/>
                <a:ea typeface="Roboto" panose="02000000000000000000" pitchFamily="2" charset="0"/>
              </a:rPr>
              <a:t>Map</a:t>
            </a:r>
          </a:p>
        </p:txBody>
      </p:sp>
      <p:sp>
        <p:nvSpPr>
          <p:cNvPr id="27" name="Line 53">
            <a:extLst>
              <a:ext uri="{FF2B5EF4-FFF2-40B4-BE49-F238E27FC236}">
                <a16:creationId xmlns:a16="http://schemas.microsoft.com/office/drawing/2014/main" id="{51D6C79D-AEF9-9AEE-29F1-93E8F6D85B5A}"/>
              </a:ext>
            </a:extLst>
          </p:cNvPr>
          <p:cNvSpPr>
            <a:spLocks noChangeShapeType="1"/>
          </p:cNvSpPr>
          <p:nvPr/>
        </p:nvSpPr>
        <p:spPr bwMode="auto">
          <a:xfrm flipH="1">
            <a:off x="8016558" y="2624443"/>
            <a:ext cx="381000" cy="2514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48579672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55</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4" name="Group 33">
            <a:extLst>
              <a:ext uri="{FF2B5EF4-FFF2-40B4-BE49-F238E27FC236}">
                <a16:creationId xmlns:a16="http://schemas.microsoft.com/office/drawing/2014/main" id="{2295933F-C084-ED31-54DF-2D9DC1CFB2AB}"/>
              </a:ext>
            </a:extLst>
          </p:cNvPr>
          <p:cNvGrpSpPr/>
          <p:nvPr/>
        </p:nvGrpSpPr>
        <p:grpSpPr>
          <a:xfrm>
            <a:off x="203200" y="1731888"/>
            <a:ext cx="11694159" cy="4566200"/>
            <a:chOff x="203200" y="1731888"/>
            <a:chExt cx="11694159" cy="4566200"/>
          </a:xfrm>
        </p:grpSpPr>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69" name="Text Box 11">
                    <a:extLst>
                      <a:ext uri="{FF2B5EF4-FFF2-40B4-BE49-F238E27FC236}">
                        <a16:creationId xmlns:a16="http://schemas.microsoft.com/office/drawing/2014/main" id="{5F4BC18F-E902-1A90-F611-4B5ADFC7B05A}"/>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0963873" y="2912650"/>
                <a:ext cx="261975" cy="1693635"/>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85139" y="4609093"/>
                <a:ext cx="1602755" cy="1475151"/>
                <a:chOff x="1151875" y="4606285"/>
                <a:chExt cx="1691640"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51875" y="4606285"/>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51875" y="5307004"/>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097918" y="4606286"/>
                <a:ext cx="1602755" cy="1477958"/>
                <a:chOff x="3496278" y="4606286"/>
                <a:chExt cx="1691640"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496278" y="4606286"/>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496278" y="5307004"/>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10697" y="4606962"/>
                <a:ext cx="1602755" cy="1477958"/>
                <a:chOff x="5377270" y="4606962"/>
                <a:chExt cx="1691640"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77270" y="4606962"/>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77270" y="5307680"/>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23476" y="4608314"/>
                <a:ext cx="1602755" cy="1477958"/>
                <a:chOff x="7258262" y="4608314"/>
                <a:chExt cx="1691640"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58262" y="4608314"/>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58262" y="5309032"/>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36255" y="4606286"/>
                <a:ext cx="1602755" cy="1477958"/>
                <a:chOff x="9506941" y="4599033"/>
                <a:chExt cx="1691640"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06941" y="4599033"/>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06941" y="5299751"/>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32" name="Group 31">
              <a:extLst>
                <a:ext uri="{FF2B5EF4-FFF2-40B4-BE49-F238E27FC236}">
                  <a16:creationId xmlns:a16="http://schemas.microsoft.com/office/drawing/2014/main" id="{A1673E8E-272F-C61A-1FDE-183C74AB6D2F}"/>
                </a:ext>
              </a:extLst>
            </p:cNvPr>
            <p:cNvGrpSpPr/>
            <p:nvPr/>
          </p:nvGrpSpPr>
          <p:grpSpPr>
            <a:xfrm>
              <a:off x="223164" y="4960620"/>
              <a:ext cx="7515317" cy="495298"/>
              <a:chOff x="223164" y="4960620"/>
              <a:chExt cx="7515317" cy="495298"/>
            </a:xfrm>
          </p:grpSpPr>
          <p:sp>
            <p:nvSpPr>
              <p:cNvPr id="13" name="Line 475">
                <a:extLst>
                  <a:ext uri="{FF2B5EF4-FFF2-40B4-BE49-F238E27FC236}">
                    <a16:creationId xmlns:a16="http://schemas.microsoft.com/office/drawing/2014/main" id="{DC8A1ABA-425B-985F-7B2B-A482C783C0E0}"/>
                  </a:ext>
                </a:extLst>
              </p:cNvPr>
              <p:cNvSpPr>
                <a:spLocks noChangeShapeType="1"/>
              </p:cNvSpPr>
              <p:nvPr/>
            </p:nvSpPr>
            <p:spPr bwMode="auto">
              <a:xfrm flipV="1">
                <a:off x="294641" y="4960620"/>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475">
                <a:extLst>
                  <a:ext uri="{FF2B5EF4-FFF2-40B4-BE49-F238E27FC236}">
                    <a16:creationId xmlns:a16="http://schemas.microsoft.com/office/drawing/2014/main" id="{155AA22B-75AD-57BC-A3FC-30C98D82BBC4}"/>
                  </a:ext>
                </a:extLst>
              </p:cNvPr>
              <p:cNvSpPr>
                <a:spLocks noChangeShapeType="1"/>
              </p:cNvSpPr>
              <p:nvPr/>
            </p:nvSpPr>
            <p:spPr bwMode="auto">
              <a:xfrm flipV="1">
                <a:off x="2384430" y="4960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475">
                <a:extLst>
                  <a:ext uri="{FF2B5EF4-FFF2-40B4-BE49-F238E27FC236}">
                    <a16:creationId xmlns:a16="http://schemas.microsoft.com/office/drawing/2014/main" id="{EC71E2A6-431F-F7DA-8F3C-7962D4749BAF}"/>
                  </a:ext>
                </a:extLst>
              </p:cNvPr>
              <p:cNvSpPr>
                <a:spLocks noChangeShapeType="1"/>
              </p:cNvSpPr>
              <p:nvPr/>
            </p:nvSpPr>
            <p:spPr bwMode="auto">
              <a:xfrm flipV="1">
                <a:off x="4698941" y="4963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475">
                <a:extLst>
                  <a:ext uri="{FF2B5EF4-FFF2-40B4-BE49-F238E27FC236}">
                    <a16:creationId xmlns:a16="http://schemas.microsoft.com/office/drawing/2014/main" id="{CF81F357-826E-7E1E-6F5D-985C2F1C177C}"/>
                  </a:ext>
                </a:extLst>
              </p:cNvPr>
              <p:cNvSpPr>
                <a:spLocks noChangeShapeType="1"/>
              </p:cNvSpPr>
              <p:nvPr/>
            </p:nvSpPr>
            <p:spPr bwMode="auto">
              <a:xfrm flipV="1">
                <a:off x="7024993" y="496062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Text Box 469">
                <a:extLst>
                  <a:ext uri="{FF2B5EF4-FFF2-40B4-BE49-F238E27FC236}">
                    <a16:creationId xmlns:a16="http://schemas.microsoft.com/office/drawing/2014/main" id="{DEF2F55D-7A11-F8A4-513B-09B516923561}"/>
                  </a:ext>
                </a:extLst>
              </p:cNvPr>
              <p:cNvSpPr txBox="1">
                <a:spLocks noChangeArrowheads="1"/>
              </p:cNvSpPr>
              <p:nvPr/>
            </p:nvSpPr>
            <p:spPr bwMode="auto">
              <a:xfrm>
                <a:off x="2436620" y="5028959"/>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19" name="Text Box 471">
                <a:extLst>
                  <a:ext uri="{FF2B5EF4-FFF2-40B4-BE49-F238E27FC236}">
                    <a16:creationId xmlns:a16="http://schemas.microsoft.com/office/drawing/2014/main" id="{EF9DE02D-98BC-374F-7D77-F4C4C7289BC0}"/>
                  </a:ext>
                </a:extLst>
              </p:cNvPr>
              <p:cNvSpPr txBox="1">
                <a:spLocks noChangeArrowheads="1"/>
              </p:cNvSpPr>
              <p:nvPr/>
            </p:nvSpPr>
            <p:spPr bwMode="auto">
              <a:xfrm>
                <a:off x="4717386" y="5040800"/>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20" name="Text Box 473">
                <a:extLst>
                  <a:ext uri="{FF2B5EF4-FFF2-40B4-BE49-F238E27FC236}">
                    <a16:creationId xmlns:a16="http://schemas.microsoft.com/office/drawing/2014/main" id="{43791338-C549-DDDD-8E10-189D07B7C3AF}"/>
                  </a:ext>
                </a:extLst>
              </p:cNvPr>
              <p:cNvSpPr txBox="1">
                <a:spLocks noChangeArrowheads="1"/>
              </p:cNvSpPr>
              <p:nvPr/>
            </p:nvSpPr>
            <p:spPr bwMode="auto">
              <a:xfrm>
                <a:off x="7076567" y="5055808"/>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21" name="Text Box 476">
                <a:extLst>
                  <a:ext uri="{FF2B5EF4-FFF2-40B4-BE49-F238E27FC236}">
                    <a16:creationId xmlns:a16="http://schemas.microsoft.com/office/drawing/2014/main" id="{D60E8A72-434F-B4B9-2954-71D4FBE1D85C}"/>
                  </a:ext>
                </a:extLst>
              </p:cNvPr>
              <p:cNvSpPr txBox="1">
                <a:spLocks noChangeArrowheads="1"/>
              </p:cNvSpPr>
              <p:nvPr/>
            </p:nvSpPr>
            <p:spPr bwMode="auto">
              <a:xfrm>
                <a:off x="223164" y="5003412"/>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33" name="Group 32">
              <a:extLst>
                <a:ext uri="{FF2B5EF4-FFF2-40B4-BE49-F238E27FC236}">
                  <a16:creationId xmlns:a16="http://schemas.microsoft.com/office/drawing/2014/main" id="{603A49A3-A6A7-8D20-1BB3-7DD2B6A4177A}"/>
                </a:ext>
              </a:extLst>
            </p:cNvPr>
            <p:cNvGrpSpPr/>
            <p:nvPr/>
          </p:nvGrpSpPr>
          <p:grpSpPr>
            <a:xfrm>
              <a:off x="9324499" y="4605672"/>
              <a:ext cx="713488" cy="1291573"/>
              <a:chOff x="9324499" y="4605672"/>
              <a:chExt cx="713488" cy="1291573"/>
            </a:xfrm>
          </p:grpSpPr>
          <p:sp>
            <p:nvSpPr>
              <p:cNvPr id="17" name="Line 475">
                <a:extLst>
                  <a:ext uri="{FF2B5EF4-FFF2-40B4-BE49-F238E27FC236}">
                    <a16:creationId xmlns:a16="http://schemas.microsoft.com/office/drawing/2014/main" id="{7259BBF2-CC01-5F3C-598B-EF07A702CA13}"/>
                  </a:ext>
                </a:extLst>
              </p:cNvPr>
              <p:cNvSpPr>
                <a:spLocks noChangeShapeType="1"/>
              </p:cNvSpPr>
              <p:nvPr/>
            </p:nvSpPr>
            <p:spPr bwMode="auto">
              <a:xfrm flipV="1">
                <a:off x="9324499" y="491613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30" name="Group 29">
                <a:extLst>
                  <a:ext uri="{FF2B5EF4-FFF2-40B4-BE49-F238E27FC236}">
                    <a16:creationId xmlns:a16="http://schemas.microsoft.com/office/drawing/2014/main" id="{7EFA250D-722E-1BF0-3C96-753704524213}"/>
                  </a:ext>
                </a:extLst>
              </p:cNvPr>
              <p:cNvGrpSpPr/>
              <p:nvPr/>
            </p:nvGrpSpPr>
            <p:grpSpPr>
              <a:xfrm>
                <a:off x="9376122" y="4605672"/>
                <a:ext cx="529880" cy="1291573"/>
                <a:chOff x="9376122" y="4605672"/>
                <a:chExt cx="529880" cy="1291573"/>
              </a:xfrm>
            </p:grpSpPr>
            <p:sp>
              <p:nvSpPr>
                <p:cNvPr id="22" name="Rectangle 21">
                  <a:extLst>
                    <a:ext uri="{FF2B5EF4-FFF2-40B4-BE49-F238E27FC236}">
                      <a16:creationId xmlns:a16="http://schemas.microsoft.com/office/drawing/2014/main" id="{D3300149-4D5F-A3AC-1D62-6841B7B12F9F}"/>
                    </a:ext>
                  </a:extLst>
                </p:cNvPr>
                <p:cNvSpPr/>
                <p:nvPr/>
              </p:nvSpPr>
              <p:spPr>
                <a:xfrm>
                  <a:off x="9376123" y="4724400"/>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3" name="AutoShape 461">
                  <a:extLst>
                    <a:ext uri="{FF2B5EF4-FFF2-40B4-BE49-F238E27FC236}">
                      <a16:creationId xmlns:a16="http://schemas.microsoft.com/office/drawing/2014/main" id="{86820194-E6B7-9967-0014-65D29498B938}"/>
                    </a:ext>
                  </a:extLst>
                </p:cNvPr>
                <p:cNvSpPr>
                  <a:spLocks/>
                </p:cNvSpPr>
                <p:nvPr/>
              </p:nvSpPr>
              <p:spPr bwMode="auto">
                <a:xfrm rot="16200000">
                  <a:off x="9618203" y="4421119"/>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4" name="AutoShape 461">
                  <a:extLst>
                    <a:ext uri="{FF2B5EF4-FFF2-40B4-BE49-F238E27FC236}">
                      <a16:creationId xmlns:a16="http://schemas.microsoft.com/office/drawing/2014/main" id="{D7E071F3-206F-C73A-B7B5-1ABF53AF06DD}"/>
                    </a:ext>
                  </a:extLst>
                </p:cNvPr>
                <p:cNvSpPr>
                  <a:spLocks/>
                </p:cNvSpPr>
                <p:nvPr/>
              </p:nvSpPr>
              <p:spPr bwMode="auto">
                <a:xfrm rot="16200000">
                  <a:off x="9618202" y="4363593"/>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AutoShape 461">
                  <a:extLst>
                    <a:ext uri="{FF2B5EF4-FFF2-40B4-BE49-F238E27FC236}">
                      <a16:creationId xmlns:a16="http://schemas.microsoft.com/office/drawing/2014/main" id="{26AD20E0-6073-9F89-FEBE-312157398A68}"/>
                    </a:ext>
                  </a:extLst>
                </p:cNvPr>
                <p:cNvSpPr>
                  <a:spLocks/>
                </p:cNvSpPr>
                <p:nvPr/>
              </p:nvSpPr>
              <p:spPr bwMode="auto">
                <a:xfrm rot="16200000">
                  <a:off x="9618203" y="4392356"/>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6" name="Rectangle 25">
                  <a:extLst>
                    <a:ext uri="{FF2B5EF4-FFF2-40B4-BE49-F238E27FC236}">
                      <a16:creationId xmlns:a16="http://schemas.microsoft.com/office/drawing/2014/main" id="{3AF815FC-0C85-351F-810F-0B176A862FD7}"/>
                    </a:ext>
                  </a:extLst>
                </p:cNvPr>
                <p:cNvSpPr/>
                <p:nvPr/>
              </p:nvSpPr>
              <p:spPr>
                <a:xfrm>
                  <a:off x="9376122" y="5189673"/>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8" name="Straight Connector 27">
                  <a:extLst>
                    <a:ext uri="{FF2B5EF4-FFF2-40B4-BE49-F238E27FC236}">
                      <a16:creationId xmlns:a16="http://schemas.microsoft.com/office/drawing/2014/main" id="{36116B7F-FF41-4316-5F4E-DD8D67A2FD4F}"/>
                    </a:ext>
                  </a:extLst>
                </p:cNvPr>
                <p:cNvCxnSpPr/>
                <p:nvPr/>
              </p:nvCxnSpPr>
              <p:spPr>
                <a:xfrm>
                  <a:off x="9376122" y="541586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41AFC2-C849-AA35-BC6C-855F4D112988}"/>
                    </a:ext>
                  </a:extLst>
                </p:cNvPr>
                <p:cNvCxnSpPr/>
                <p:nvPr/>
              </p:nvCxnSpPr>
              <p:spPr>
                <a:xfrm>
                  <a:off x="9376122" y="565398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Line 342">
            <a:extLst>
              <a:ext uri="{FF2B5EF4-FFF2-40B4-BE49-F238E27FC236}">
                <a16:creationId xmlns:a16="http://schemas.microsoft.com/office/drawing/2014/main" id="{C30B02D2-054E-9CB3-51F5-D8362D230AF6}"/>
              </a:ext>
            </a:extLst>
          </p:cNvPr>
          <p:cNvSpPr>
            <a:spLocks noChangeShapeType="1"/>
          </p:cNvSpPr>
          <p:nvPr/>
        </p:nvSpPr>
        <p:spPr bwMode="auto">
          <a:xfrm flipH="1">
            <a:off x="467742" y="2963450"/>
            <a:ext cx="365125" cy="164465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 name="Rectangle 382">
            <a:extLst>
              <a:ext uri="{FF2B5EF4-FFF2-40B4-BE49-F238E27FC236}">
                <a16:creationId xmlns:a16="http://schemas.microsoft.com/office/drawing/2014/main" id="{88A1BD9C-12B2-0897-CC18-D41F83BB20D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spTree>
    <p:extLst>
      <p:ext uri="{BB962C8B-B14F-4D97-AF65-F5344CB8AC3E}">
        <p14:creationId xmlns:p14="http://schemas.microsoft.com/office/powerpoint/2010/main" val="393339776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50962722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Calculating Totals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57</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3" name="Rectangle 2">
            <a:extLst>
              <a:ext uri="{FF2B5EF4-FFF2-40B4-BE49-F238E27FC236}">
                <a16:creationId xmlns:a16="http://schemas.microsoft.com/office/drawing/2014/main" id="{D38B4640-0C55-D435-BD3E-67A6CC966F30}"/>
              </a:ext>
            </a:extLst>
          </p:cNvPr>
          <p:cNvSpPr>
            <a:spLocks noChangeArrowheads="1"/>
          </p:cNvSpPr>
          <p:nvPr/>
        </p:nvSpPr>
        <p:spPr bwMode="auto">
          <a:xfrm>
            <a:off x="1271017" y="2098675"/>
            <a:ext cx="4116387" cy="1026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630238" indent="-173038">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Add Processing Times and Lead Times for each process to derive the totals for the Value Stream</a:t>
            </a:r>
          </a:p>
        </p:txBody>
      </p:sp>
      <p:grpSp>
        <p:nvGrpSpPr>
          <p:cNvPr id="99" name="Group 98">
            <a:extLst>
              <a:ext uri="{FF2B5EF4-FFF2-40B4-BE49-F238E27FC236}">
                <a16:creationId xmlns:a16="http://schemas.microsoft.com/office/drawing/2014/main" id="{9F5EB71F-4693-3355-C3B1-1491069B033A}"/>
              </a:ext>
            </a:extLst>
          </p:cNvPr>
          <p:cNvGrpSpPr/>
          <p:nvPr/>
        </p:nvGrpSpPr>
        <p:grpSpPr>
          <a:xfrm>
            <a:off x="581025" y="4071938"/>
            <a:ext cx="10940415" cy="1819275"/>
            <a:chOff x="581025" y="4071938"/>
            <a:chExt cx="8424863" cy="1819275"/>
          </a:xfrm>
        </p:grpSpPr>
        <p:sp>
          <p:nvSpPr>
            <p:cNvPr id="14" name="Line 565">
              <a:extLst>
                <a:ext uri="{FF2B5EF4-FFF2-40B4-BE49-F238E27FC236}">
                  <a16:creationId xmlns:a16="http://schemas.microsoft.com/office/drawing/2014/main" id="{85B8D098-1ED2-4A1D-5AA3-FFF970072A04}"/>
                </a:ext>
              </a:extLst>
            </p:cNvPr>
            <p:cNvSpPr>
              <a:spLocks noChangeShapeType="1"/>
            </p:cNvSpPr>
            <p:nvPr/>
          </p:nvSpPr>
          <p:spPr bwMode="auto">
            <a:xfrm flipV="1">
              <a:off x="2179638" y="42926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5" name="Text Box 566">
              <a:extLst>
                <a:ext uri="{FF2B5EF4-FFF2-40B4-BE49-F238E27FC236}">
                  <a16:creationId xmlns:a16="http://schemas.microsoft.com/office/drawing/2014/main" id="{A003570A-C5F4-96F0-27BE-1EC87CE22B52}"/>
                </a:ext>
              </a:extLst>
            </p:cNvPr>
            <p:cNvSpPr txBox="1">
              <a:spLocks noChangeArrowheads="1"/>
            </p:cNvSpPr>
            <p:nvPr/>
          </p:nvSpPr>
          <p:spPr bwMode="auto">
            <a:xfrm>
              <a:off x="2136775" y="4457700"/>
              <a:ext cx="56197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20 Days</a:t>
              </a:r>
            </a:p>
          </p:txBody>
        </p:sp>
        <p:sp>
          <p:nvSpPr>
            <p:cNvPr id="16" name="Line 567">
              <a:extLst>
                <a:ext uri="{FF2B5EF4-FFF2-40B4-BE49-F238E27FC236}">
                  <a16:creationId xmlns:a16="http://schemas.microsoft.com/office/drawing/2014/main" id="{64C7126C-0838-2957-5BFA-5FA23027D5CA}"/>
                </a:ext>
              </a:extLst>
            </p:cNvPr>
            <p:cNvSpPr>
              <a:spLocks noChangeShapeType="1"/>
            </p:cNvSpPr>
            <p:nvPr/>
          </p:nvSpPr>
          <p:spPr bwMode="auto">
            <a:xfrm flipV="1">
              <a:off x="3722688" y="42926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7" name="Text Box 568">
              <a:extLst>
                <a:ext uri="{FF2B5EF4-FFF2-40B4-BE49-F238E27FC236}">
                  <a16:creationId xmlns:a16="http://schemas.microsoft.com/office/drawing/2014/main" id="{D6CFE854-5CF5-8460-F113-7FDE81AD634F}"/>
                </a:ext>
              </a:extLst>
            </p:cNvPr>
            <p:cNvSpPr txBox="1">
              <a:spLocks noChangeArrowheads="1"/>
            </p:cNvSpPr>
            <p:nvPr/>
          </p:nvSpPr>
          <p:spPr bwMode="auto">
            <a:xfrm>
              <a:off x="3679825" y="4457700"/>
              <a:ext cx="56197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45 Days</a:t>
              </a:r>
            </a:p>
          </p:txBody>
        </p:sp>
        <p:sp>
          <p:nvSpPr>
            <p:cNvPr id="18" name="Line 569">
              <a:extLst>
                <a:ext uri="{FF2B5EF4-FFF2-40B4-BE49-F238E27FC236}">
                  <a16:creationId xmlns:a16="http://schemas.microsoft.com/office/drawing/2014/main" id="{16C44171-755B-8F6B-309A-7C206E1BE274}"/>
                </a:ext>
              </a:extLst>
            </p:cNvPr>
            <p:cNvSpPr>
              <a:spLocks noChangeShapeType="1"/>
            </p:cNvSpPr>
            <p:nvPr/>
          </p:nvSpPr>
          <p:spPr bwMode="auto">
            <a:xfrm flipV="1">
              <a:off x="5253038" y="42926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 name="Text Box 570">
              <a:extLst>
                <a:ext uri="{FF2B5EF4-FFF2-40B4-BE49-F238E27FC236}">
                  <a16:creationId xmlns:a16="http://schemas.microsoft.com/office/drawing/2014/main" id="{368E810D-681E-7644-787C-3342CF837D33}"/>
                </a:ext>
              </a:extLst>
            </p:cNvPr>
            <p:cNvSpPr txBox="1">
              <a:spLocks noChangeArrowheads="1"/>
            </p:cNvSpPr>
            <p:nvPr/>
          </p:nvSpPr>
          <p:spPr bwMode="auto">
            <a:xfrm>
              <a:off x="5210175" y="4457700"/>
              <a:ext cx="56197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10 Days</a:t>
              </a:r>
            </a:p>
          </p:txBody>
        </p:sp>
        <p:sp>
          <p:nvSpPr>
            <p:cNvPr id="20" name="Line 571">
              <a:extLst>
                <a:ext uri="{FF2B5EF4-FFF2-40B4-BE49-F238E27FC236}">
                  <a16:creationId xmlns:a16="http://schemas.microsoft.com/office/drawing/2014/main" id="{A21F947E-D36F-B8C1-F1CD-91F112EAE88D}"/>
                </a:ext>
              </a:extLst>
            </p:cNvPr>
            <p:cNvSpPr>
              <a:spLocks noChangeShapeType="1"/>
            </p:cNvSpPr>
            <p:nvPr/>
          </p:nvSpPr>
          <p:spPr bwMode="auto">
            <a:xfrm flipV="1">
              <a:off x="6859588" y="42926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1" name="Line 572">
              <a:extLst>
                <a:ext uri="{FF2B5EF4-FFF2-40B4-BE49-F238E27FC236}">
                  <a16:creationId xmlns:a16="http://schemas.microsoft.com/office/drawing/2014/main" id="{CAF4D58B-320F-6A4C-F48C-2DA706329739}"/>
                </a:ext>
              </a:extLst>
            </p:cNvPr>
            <p:cNvSpPr>
              <a:spLocks noChangeShapeType="1"/>
            </p:cNvSpPr>
            <p:nvPr/>
          </p:nvSpPr>
          <p:spPr bwMode="auto">
            <a:xfrm flipV="1">
              <a:off x="623888" y="42926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 name="Text Box 573">
              <a:extLst>
                <a:ext uri="{FF2B5EF4-FFF2-40B4-BE49-F238E27FC236}">
                  <a16:creationId xmlns:a16="http://schemas.microsoft.com/office/drawing/2014/main" id="{A34F45EB-D995-DE48-9569-EB87E807214D}"/>
                </a:ext>
              </a:extLst>
            </p:cNvPr>
            <p:cNvSpPr txBox="1">
              <a:spLocks noChangeArrowheads="1"/>
            </p:cNvSpPr>
            <p:nvPr/>
          </p:nvSpPr>
          <p:spPr bwMode="auto">
            <a:xfrm>
              <a:off x="581025" y="4457700"/>
              <a:ext cx="56197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30 Days</a:t>
              </a:r>
            </a:p>
          </p:txBody>
        </p:sp>
        <p:sp>
          <p:nvSpPr>
            <p:cNvPr id="23" name="Rectangle 574">
              <a:extLst>
                <a:ext uri="{FF2B5EF4-FFF2-40B4-BE49-F238E27FC236}">
                  <a16:creationId xmlns:a16="http://schemas.microsoft.com/office/drawing/2014/main" id="{D8D980E7-113F-62B5-9242-69506B560349}"/>
                </a:ext>
              </a:extLst>
            </p:cNvPr>
            <p:cNvSpPr>
              <a:spLocks noChangeArrowheads="1"/>
            </p:cNvSpPr>
            <p:nvPr/>
          </p:nvSpPr>
          <p:spPr bwMode="auto">
            <a:xfrm>
              <a:off x="5881688" y="40719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Rectangle 575">
              <a:extLst>
                <a:ext uri="{FF2B5EF4-FFF2-40B4-BE49-F238E27FC236}">
                  <a16:creationId xmlns:a16="http://schemas.microsoft.com/office/drawing/2014/main" id="{92EFDAE0-FE23-EA00-2C72-293399823EC5}"/>
                </a:ext>
              </a:extLst>
            </p:cNvPr>
            <p:cNvSpPr>
              <a:spLocks noChangeArrowheads="1"/>
            </p:cNvSpPr>
            <p:nvPr/>
          </p:nvSpPr>
          <p:spPr bwMode="auto">
            <a:xfrm>
              <a:off x="4338638" y="40719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5" name="Rectangle 576">
              <a:extLst>
                <a:ext uri="{FF2B5EF4-FFF2-40B4-BE49-F238E27FC236}">
                  <a16:creationId xmlns:a16="http://schemas.microsoft.com/office/drawing/2014/main" id="{3B89011E-FCA8-C27E-ABD7-6D396A7DF69A}"/>
                </a:ext>
              </a:extLst>
            </p:cNvPr>
            <p:cNvSpPr>
              <a:spLocks noChangeArrowheads="1"/>
            </p:cNvSpPr>
            <p:nvPr/>
          </p:nvSpPr>
          <p:spPr bwMode="auto">
            <a:xfrm>
              <a:off x="1243013" y="40719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8" name="Text Box 577">
              <a:extLst>
                <a:ext uri="{FF2B5EF4-FFF2-40B4-BE49-F238E27FC236}">
                  <a16:creationId xmlns:a16="http://schemas.microsoft.com/office/drawing/2014/main" id="{40966106-2354-2480-F8BA-224B6CC24DA9}"/>
                </a:ext>
              </a:extLst>
            </p:cNvPr>
            <p:cNvSpPr txBox="1">
              <a:spLocks noChangeArrowheads="1"/>
            </p:cNvSpPr>
            <p:nvPr/>
          </p:nvSpPr>
          <p:spPr bwMode="auto">
            <a:xfrm>
              <a:off x="4414838" y="41481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29" name="Text Box 578">
              <a:extLst>
                <a:ext uri="{FF2B5EF4-FFF2-40B4-BE49-F238E27FC236}">
                  <a16:creationId xmlns:a16="http://schemas.microsoft.com/office/drawing/2014/main" id="{5377037C-F1F6-D8B5-C9C6-721E2A39FA25}"/>
                </a:ext>
              </a:extLst>
            </p:cNvPr>
            <p:cNvSpPr txBox="1">
              <a:spLocks noChangeArrowheads="1"/>
            </p:cNvSpPr>
            <p:nvPr/>
          </p:nvSpPr>
          <p:spPr bwMode="auto">
            <a:xfrm>
              <a:off x="5957888" y="41481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30" name="Text Box 579">
              <a:extLst>
                <a:ext uri="{FF2B5EF4-FFF2-40B4-BE49-F238E27FC236}">
                  <a16:creationId xmlns:a16="http://schemas.microsoft.com/office/drawing/2014/main" id="{C8A09B0F-F537-B546-4187-360D79F3F6FF}"/>
                </a:ext>
              </a:extLst>
            </p:cNvPr>
            <p:cNvSpPr txBox="1">
              <a:spLocks noChangeArrowheads="1"/>
            </p:cNvSpPr>
            <p:nvPr/>
          </p:nvSpPr>
          <p:spPr bwMode="auto">
            <a:xfrm>
              <a:off x="1243013" y="41481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31" name="Rectangle 582">
              <a:extLst>
                <a:ext uri="{FF2B5EF4-FFF2-40B4-BE49-F238E27FC236}">
                  <a16:creationId xmlns:a16="http://schemas.microsoft.com/office/drawing/2014/main" id="{CF6CD7B6-8576-5839-A165-0315F28F4E6D}"/>
                </a:ext>
              </a:extLst>
            </p:cNvPr>
            <p:cNvSpPr>
              <a:spLocks noChangeArrowheads="1"/>
            </p:cNvSpPr>
            <p:nvPr/>
          </p:nvSpPr>
          <p:spPr bwMode="auto">
            <a:xfrm>
              <a:off x="2819400" y="40719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 name="Text Box 583">
              <a:extLst>
                <a:ext uri="{FF2B5EF4-FFF2-40B4-BE49-F238E27FC236}">
                  <a16:creationId xmlns:a16="http://schemas.microsoft.com/office/drawing/2014/main" id="{747B6DA7-39D9-4B47-6F89-E11863F43AB8}"/>
                </a:ext>
              </a:extLst>
            </p:cNvPr>
            <p:cNvSpPr txBox="1">
              <a:spLocks noChangeArrowheads="1"/>
            </p:cNvSpPr>
            <p:nvPr/>
          </p:nvSpPr>
          <p:spPr bwMode="auto">
            <a:xfrm>
              <a:off x="2857500" y="41481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33" name="Rectangle 586">
              <a:extLst>
                <a:ext uri="{FF2B5EF4-FFF2-40B4-BE49-F238E27FC236}">
                  <a16:creationId xmlns:a16="http://schemas.microsoft.com/office/drawing/2014/main" id="{16AE1889-D830-4F7E-8273-E073CDCA354A}"/>
                </a:ext>
              </a:extLst>
            </p:cNvPr>
            <p:cNvSpPr>
              <a:spLocks noChangeArrowheads="1"/>
            </p:cNvSpPr>
            <p:nvPr/>
          </p:nvSpPr>
          <p:spPr bwMode="auto">
            <a:xfrm>
              <a:off x="5888038" y="4724400"/>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Rectangle 587">
              <a:extLst>
                <a:ext uri="{FF2B5EF4-FFF2-40B4-BE49-F238E27FC236}">
                  <a16:creationId xmlns:a16="http://schemas.microsoft.com/office/drawing/2014/main" id="{8695ABC3-E2A9-8DB5-7B31-E191654FFFEC}"/>
                </a:ext>
              </a:extLst>
            </p:cNvPr>
            <p:cNvSpPr>
              <a:spLocks noChangeArrowheads="1"/>
            </p:cNvSpPr>
            <p:nvPr/>
          </p:nvSpPr>
          <p:spPr bwMode="auto">
            <a:xfrm>
              <a:off x="5830888" y="4721225"/>
              <a:ext cx="1036637"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30%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4 Times</a:t>
              </a:r>
            </a:p>
          </p:txBody>
        </p:sp>
        <p:sp>
          <p:nvSpPr>
            <p:cNvPr id="35" name="Rectangle 588">
              <a:extLst>
                <a:ext uri="{FF2B5EF4-FFF2-40B4-BE49-F238E27FC236}">
                  <a16:creationId xmlns:a16="http://schemas.microsoft.com/office/drawing/2014/main" id="{649BB5A2-0B37-9087-9E2C-DA8F2B23ED84}"/>
                </a:ext>
              </a:extLst>
            </p:cNvPr>
            <p:cNvSpPr>
              <a:spLocks noChangeArrowheads="1"/>
            </p:cNvSpPr>
            <p:nvPr/>
          </p:nvSpPr>
          <p:spPr bwMode="auto">
            <a:xfrm>
              <a:off x="1260475" y="4724400"/>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6" name="Rectangle 589">
              <a:extLst>
                <a:ext uri="{FF2B5EF4-FFF2-40B4-BE49-F238E27FC236}">
                  <a16:creationId xmlns:a16="http://schemas.microsoft.com/office/drawing/2014/main" id="{A47C3334-02BA-0127-54BB-56DE2077B9C1}"/>
                </a:ext>
              </a:extLst>
            </p:cNvPr>
            <p:cNvSpPr>
              <a:spLocks noChangeArrowheads="1"/>
            </p:cNvSpPr>
            <p:nvPr/>
          </p:nvSpPr>
          <p:spPr bwMode="auto">
            <a:xfrm>
              <a:off x="1195388" y="4721225"/>
              <a:ext cx="1036637"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75%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2 Times</a:t>
              </a:r>
            </a:p>
          </p:txBody>
        </p:sp>
        <p:sp>
          <p:nvSpPr>
            <p:cNvPr id="37" name="Rectangle 590">
              <a:extLst>
                <a:ext uri="{FF2B5EF4-FFF2-40B4-BE49-F238E27FC236}">
                  <a16:creationId xmlns:a16="http://schemas.microsoft.com/office/drawing/2014/main" id="{A15A8503-E24E-A394-4DCC-99D547D9D9B7}"/>
                </a:ext>
              </a:extLst>
            </p:cNvPr>
            <p:cNvSpPr>
              <a:spLocks noChangeArrowheads="1"/>
            </p:cNvSpPr>
            <p:nvPr/>
          </p:nvSpPr>
          <p:spPr bwMode="auto">
            <a:xfrm>
              <a:off x="1243013" y="4852988"/>
              <a:ext cx="184150"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latin typeface="Roboto" panose="02000000000000000000" pitchFamily="2" charset="0"/>
                <a:ea typeface="Roboto" panose="02000000000000000000" pitchFamily="2" charset="0"/>
              </a:endParaRPr>
            </a:p>
          </p:txBody>
        </p:sp>
        <p:sp>
          <p:nvSpPr>
            <p:cNvPr id="38" name="Text Box 591">
              <a:extLst>
                <a:ext uri="{FF2B5EF4-FFF2-40B4-BE49-F238E27FC236}">
                  <a16:creationId xmlns:a16="http://schemas.microsoft.com/office/drawing/2014/main" id="{B94287BD-962E-3AB9-AFB7-E28C09CB0335}"/>
                </a:ext>
              </a:extLst>
            </p:cNvPr>
            <p:cNvSpPr txBox="1">
              <a:spLocks noChangeArrowheads="1"/>
            </p:cNvSpPr>
            <p:nvPr/>
          </p:nvSpPr>
          <p:spPr bwMode="auto">
            <a:xfrm>
              <a:off x="6845300" y="44577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30 Days</a:t>
              </a:r>
            </a:p>
          </p:txBody>
        </p:sp>
        <p:grpSp>
          <p:nvGrpSpPr>
            <p:cNvPr id="39" name="Group 592">
              <a:extLst>
                <a:ext uri="{FF2B5EF4-FFF2-40B4-BE49-F238E27FC236}">
                  <a16:creationId xmlns:a16="http://schemas.microsoft.com/office/drawing/2014/main" id="{F91A6EBD-5AF7-E892-DD7D-A28546A70898}"/>
                </a:ext>
              </a:extLst>
            </p:cNvPr>
            <p:cNvGrpSpPr>
              <a:grpSpLocks/>
            </p:cNvGrpSpPr>
            <p:nvPr/>
          </p:nvGrpSpPr>
          <p:grpSpPr bwMode="auto">
            <a:xfrm>
              <a:off x="6938963" y="4075113"/>
              <a:ext cx="381000" cy="336550"/>
              <a:chOff x="4122" y="1171"/>
              <a:chExt cx="240" cy="212"/>
            </a:xfrm>
          </p:grpSpPr>
          <p:sp>
            <p:nvSpPr>
              <p:cNvPr id="40" name="Rectangle 593">
                <a:extLst>
                  <a:ext uri="{FF2B5EF4-FFF2-40B4-BE49-F238E27FC236}">
                    <a16:creationId xmlns:a16="http://schemas.microsoft.com/office/drawing/2014/main" id="{1A3F2942-0760-2280-7221-C83C1D0F2ED2}"/>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 name="Text Box 594">
                <a:extLst>
                  <a:ext uri="{FF2B5EF4-FFF2-40B4-BE49-F238E27FC236}">
                    <a16:creationId xmlns:a16="http://schemas.microsoft.com/office/drawing/2014/main" id="{A5BBB1D1-3265-E2A2-5496-7FDBE32EEC48}"/>
                  </a:ext>
                </a:extLst>
              </p:cNvPr>
              <p:cNvSpPr txBox="1">
                <a:spLocks noChangeArrowheads="1"/>
              </p:cNvSpPr>
              <p:nvPr/>
            </p:nvSpPr>
            <p:spPr bwMode="auto">
              <a:xfrm>
                <a:off x="4152" y="1227"/>
                <a:ext cx="180" cy="1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42" name="AutoShape 595">
                <a:extLst>
                  <a:ext uri="{FF2B5EF4-FFF2-40B4-BE49-F238E27FC236}">
                    <a16:creationId xmlns:a16="http://schemas.microsoft.com/office/drawing/2014/main" id="{7ADA205A-3188-9057-AD2A-CCF7EBDEE5BD}"/>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AutoShape 596">
                <a:extLst>
                  <a:ext uri="{FF2B5EF4-FFF2-40B4-BE49-F238E27FC236}">
                    <a16:creationId xmlns:a16="http://schemas.microsoft.com/office/drawing/2014/main" id="{588F7372-5ACF-F4DE-DB51-ECE32C4517A8}"/>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4" name="AutoShape 597">
                <a:extLst>
                  <a:ext uri="{FF2B5EF4-FFF2-40B4-BE49-F238E27FC236}">
                    <a16:creationId xmlns:a16="http://schemas.microsoft.com/office/drawing/2014/main" id="{B37CE587-7C36-3B97-C872-076D565420AD}"/>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45" name="Group 598">
              <a:extLst>
                <a:ext uri="{FF2B5EF4-FFF2-40B4-BE49-F238E27FC236}">
                  <a16:creationId xmlns:a16="http://schemas.microsoft.com/office/drawing/2014/main" id="{7F80B62B-CEF7-4184-20E2-7533557C5CBC}"/>
                </a:ext>
              </a:extLst>
            </p:cNvPr>
            <p:cNvGrpSpPr>
              <a:grpSpLocks/>
            </p:cNvGrpSpPr>
            <p:nvPr/>
          </p:nvGrpSpPr>
          <p:grpSpPr bwMode="auto">
            <a:xfrm>
              <a:off x="6929438" y="4445000"/>
              <a:ext cx="381000" cy="533400"/>
              <a:chOff x="576" y="1200"/>
              <a:chExt cx="240" cy="336"/>
            </a:xfrm>
          </p:grpSpPr>
          <p:sp>
            <p:nvSpPr>
              <p:cNvPr id="46" name="Rectangle 599">
                <a:extLst>
                  <a:ext uri="{FF2B5EF4-FFF2-40B4-BE49-F238E27FC236}">
                    <a16:creationId xmlns:a16="http://schemas.microsoft.com/office/drawing/2014/main" id="{550E5237-BCCC-E64B-A8F9-39800A313A2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7" name="Line 600">
                <a:extLst>
                  <a:ext uri="{FF2B5EF4-FFF2-40B4-BE49-F238E27FC236}">
                    <a16:creationId xmlns:a16="http://schemas.microsoft.com/office/drawing/2014/main" id="{0553E83D-CB26-9153-7C08-A8AE80FA399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48" name="Line 601">
                <a:extLst>
                  <a:ext uri="{FF2B5EF4-FFF2-40B4-BE49-F238E27FC236}">
                    <a16:creationId xmlns:a16="http://schemas.microsoft.com/office/drawing/2014/main" id="{0400E468-EB57-88C3-B1BA-6B5CB4BA013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49" name="Rectangle 602">
              <a:extLst>
                <a:ext uri="{FF2B5EF4-FFF2-40B4-BE49-F238E27FC236}">
                  <a16:creationId xmlns:a16="http://schemas.microsoft.com/office/drawing/2014/main" id="{B64E11AB-C5C4-8F4D-0DEE-16CA8ADE264D}"/>
                </a:ext>
              </a:extLst>
            </p:cNvPr>
            <p:cNvSpPr>
              <a:spLocks noChangeArrowheads="1"/>
            </p:cNvSpPr>
            <p:nvPr/>
          </p:nvSpPr>
          <p:spPr bwMode="auto">
            <a:xfrm>
              <a:off x="7491413" y="40719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0" name="Text Box 603">
              <a:extLst>
                <a:ext uri="{FF2B5EF4-FFF2-40B4-BE49-F238E27FC236}">
                  <a16:creationId xmlns:a16="http://schemas.microsoft.com/office/drawing/2014/main" id="{59230819-41E4-0492-C8A6-C86E94343561}"/>
                </a:ext>
              </a:extLst>
            </p:cNvPr>
            <p:cNvSpPr txBox="1">
              <a:spLocks noChangeArrowheads="1"/>
            </p:cNvSpPr>
            <p:nvPr/>
          </p:nvSpPr>
          <p:spPr bwMode="auto">
            <a:xfrm>
              <a:off x="7567613" y="41481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51" name="Rectangle 604">
              <a:extLst>
                <a:ext uri="{FF2B5EF4-FFF2-40B4-BE49-F238E27FC236}">
                  <a16:creationId xmlns:a16="http://schemas.microsoft.com/office/drawing/2014/main" id="{512AC23C-737E-D32B-2366-10AC22ECFD5C}"/>
                </a:ext>
              </a:extLst>
            </p:cNvPr>
            <p:cNvSpPr>
              <a:spLocks noChangeArrowheads="1"/>
            </p:cNvSpPr>
            <p:nvPr/>
          </p:nvSpPr>
          <p:spPr bwMode="auto">
            <a:xfrm>
              <a:off x="7507288" y="4724400"/>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2" name="Rectangle 605">
              <a:extLst>
                <a:ext uri="{FF2B5EF4-FFF2-40B4-BE49-F238E27FC236}">
                  <a16:creationId xmlns:a16="http://schemas.microsoft.com/office/drawing/2014/main" id="{DDFB8629-B714-35C8-609C-0CF64D977638}"/>
                </a:ext>
              </a:extLst>
            </p:cNvPr>
            <p:cNvSpPr>
              <a:spLocks noChangeArrowheads="1"/>
            </p:cNvSpPr>
            <p:nvPr/>
          </p:nvSpPr>
          <p:spPr bwMode="auto">
            <a:xfrm>
              <a:off x="7456488" y="4721225"/>
              <a:ext cx="1036637"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60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20%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53" name="Line 606">
              <a:extLst>
                <a:ext uri="{FF2B5EF4-FFF2-40B4-BE49-F238E27FC236}">
                  <a16:creationId xmlns:a16="http://schemas.microsoft.com/office/drawing/2014/main" id="{8E9458AD-8D2A-8CCB-B2E6-5B819501A9CB}"/>
                </a:ext>
              </a:extLst>
            </p:cNvPr>
            <p:cNvSpPr>
              <a:spLocks noChangeShapeType="1"/>
            </p:cNvSpPr>
            <p:nvPr/>
          </p:nvSpPr>
          <p:spPr bwMode="auto">
            <a:xfrm>
              <a:off x="4267200" y="5891213"/>
              <a:ext cx="106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54" name="Line 607">
              <a:extLst>
                <a:ext uri="{FF2B5EF4-FFF2-40B4-BE49-F238E27FC236}">
                  <a16:creationId xmlns:a16="http://schemas.microsoft.com/office/drawing/2014/main" id="{73C2ED6E-4000-6ECD-1500-5CF413A2DFC7}"/>
                </a:ext>
              </a:extLst>
            </p:cNvPr>
            <p:cNvSpPr>
              <a:spLocks noChangeShapeType="1"/>
            </p:cNvSpPr>
            <p:nvPr/>
          </p:nvSpPr>
          <p:spPr bwMode="auto">
            <a:xfrm>
              <a:off x="3733800" y="5586413"/>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55" name="AutoShape 608">
              <a:extLst>
                <a:ext uri="{FF2B5EF4-FFF2-40B4-BE49-F238E27FC236}">
                  <a16:creationId xmlns:a16="http://schemas.microsoft.com/office/drawing/2014/main" id="{4D5B7360-59C2-2E5F-011B-1F73CFE57887}"/>
                </a:ext>
              </a:extLst>
            </p:cNvPr>
            <p:cNvCxnSpPr>
              <a:cxnSpLocks noChangeShapeType="1"/>
              <a:stCxn id="54" idx="1"/>
              <a:endCxn id="53" idx="0"/>
            </p:cNvCxnSpPr>
            <p:nvPr/>
          </p:nvCxnSpPr>
          <p:spPr bwMode="auto">
            <a:xfrm>
              <a:off x="42672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56" name="Line 609">
              <a:extLst>
                <a:ext uri="{FF2B5EF4-FFF2-40B4-BE49-F238E27FC236}">
                  <a16:creationId xmlns:a16="http://schemas.microsoft.com/office/drawing/2014/main" id="{C9D99A34-8457-2CCA-50FF-3A567E1EFE5B}"/>
                </a:ext>
              </a:extLst>
            </p:cNvPr>
            <p:cNvSpPr>
              <a:spLocks noChangeShapeType="1"/>
            </p:cNvSpPr>
            <p:nvPr/>
          </p:nvSpPr>
          <p:spPr bwMode="auto">
            <a:xfrm>
              <a:off x="1143000" y="5891213"/>
              <a:ext cx="106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57" name="Line 610">
              <a:extLst>
                <a:ext uri="{FF2B5EF4-FFF2-40B4-BE49-F238E27FC236}">
                  <a16:creationId xmlns:a16="http://schemas.microsoft.com/office/drawing/2014/main" id="{0F762A04-E309-D544-B8CD-C5B8578DA123}"/>
                </a:ext>
              </a:extLst>
            </p:cNvPr>
            <p:cNvSpPr>
              <a:spLocks noChangeShapeType="1"/>
            </p:cNvSpPr>
            <p:nvPr/>
          </p:nvSpPr>
          <p:spPr bwMode="auto">
            <a:xfrm>
              <a:off x="609600" y="5586413"/>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58" name="AutoShape 611">
              <a:extLst>
                <a:ext uri="{FF2B5EF4-FFF2-40B4-BE49-F238E27FC236}">
                  <a16:creationId xmlns:a16="http://schemas.microsoft.com/office/drawing/2014/main" id="{87FC3E91-61BD-6954-F731-0AD52A74C5CD}"/>
                </a:ext>
              </a:extLst>
            </p:cNvPr>
            <p:cNvCxnSpPr>
              <a:cxnSpLocks noChangeShapeType="1"/>
              <a:stCxn id="57" idx="1"/>
              <a:endCxn id="56" idx="0"/>
            </p:cNvCxnSpPr>
            <p:nvPr/>
          </p:nvCxnSpPr>
          <p:spPr bwMode="auto">
            <a:xfrm>
              <a:off x="11430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59" name="AutoShape 612">
              <a:extLst>
                <a:ext uri="{FF2B5EF4-FFF2-40B4-BE49-F238E27FC236}">
                  <a16:creationId xmlns:a16="http://schemas.microsoft.com/office/drawing/2014/main" id="{D38F3F0B-250A-D1A4-418E-1DF1FDE3FFE0}"/>
                </a:ext>
              </a:extLst>
            </p:cNvPr>
            <p:cNvCxnSpPr>
              <a:cxnSpLocks noChangeShapeType="1"/>
              <a:stCxn id="54" idx="0"/>
              <a:endCxn id="60" idx="1"/>
            </p:cNvCxnSpPr>
            <p:nvPr/>
          </p:nvCxnSpPr>
          <p:spPr bwMode="auto">
            <a:xfrm>
              <a:off x="37338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60" name="Line 613">
              <a:extLst>
                <a:ext uri="{FF2B5EF4-FFF2-40B4-BE49-F238E27FC236}">
                  <a16:creationId xmlns:a16="http://schemas.microsoft.com/office/drawing/2014/main" id="{2295ACE8-E45C-89F3-708D-0866F84BB4D1}"/>
                </a:ext>
              </a:extLst>
            </p:cNvPr>
            <p:cNvSpPr>
              <a:spLocks noChangeShapeType="1"/>
            </p:cNvSpPr>
            <p:nvPr/>
          </p:nvSpPr>
          <p:spPr bwMode="auto">
            <a:xfrm>
              <a:off x="2743200" y="5891213"/>
              <a:ext cx="990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1" name="Line 614">
              <a:extLst>
                <a:ext uri="{FF2B5EF4-FFF2-40B4-BE49-F238E27FC236}">
                  <a16:creationId xmlns:a16="http://schemas.microsoft.com/office/drawing/2014/main" id="{6DD16413-CA71-4E47-2F18-FAAB18B973E0}"/>
                </a:ext>
              </a:extLst>
            </p:cNvPr>
            <p:cNvSpPr>
              <a:spLocks noChangeShapeType="1"/>
            </p:cNvSpPr>
            <p:nvPr/>
          </p:nvSpPr>
          <p:spPr bwMode="auto">
            <a:xfrm>
              <a:off x="2209800" y="5586413"/>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62" name="AutoShape 615">
              <a:extLst>
                <a:ext uri="{FF2B5EF4-FFF2-40B4-BE49-F238E27FC236}">
                  <a16:creationId xmlns:a16="http://schemas.microsoft.com/office/drawing/2014/main" id="{8A4A210F-9779-8046-4554-ABBC8AF2AF54}"/>
                </a:ext>
              </a:extLst>
            </p:cNvPr>
            <p:cNvCxnSpPr>
              <a:cxnSpLocks noChangeShapeType="1"/>
              <a:stCxn id="61" idx="1"/>
              <a:endCxn id="60" idx="0"/>
            </p:cNvCxnSpPr>
            <p:nvPr/>
          </p:nvCxnSpPr>
          <p:spPr bwMode="auto">
            <a:xfrm>
              <a:off x="27432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3" name="AutoShape 616">
              <a:extLst>
                <a:ext uri="{FF2B5EF4-FFF2-40B4-BE49-F238E27FC236}">
                  <a16:creationId xmlns:a16="http://schemas.microsoft.com/office/drawing/2014/main" id="{893723C6-6576-3E6E-C8BD-906A6973621E}"/>
                </a:ext>
              </a:extLst>
            </p:cNvPr>
            <p:cNvCxnSpPr>
              <a:cxnSpLocks noChangeShapeType="1"/>
              <a:stCxn id="61" idx="0"/>
            </p:cNvCxnSpPr>
            <p:nvPr/>
          </p:nvCxnSpPr>
          <p:spPr bwMode="auto">
            <a:xfrm>
              <a:off x="22098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64" name="Line 617">
              <a:extLst>
                <a:ext uri="{FF2B5EF4-FFF2-40B4-BE49-F238E27FC236}">
                  <a16:creationId xmlns:a16="http://schemas.microsoft.com/office/drawing/2014/main" id="{10D25D59-7E03-8AD6-CC07-8756BD9510DC}"/>
                </a:ext>
              </a:extLst>
            </p:cNvPr>
            <p:cNvSpPr>
              <a:spLocks noChangeShapeType="1"/>
            </p:cNvSpPr>
            <p:nvPr/>
          </p:nvSpPr>
          <p:spPr bwMode="auto">
            <a:xfrm>
              <a:off x="5867400" y="5891213"/>
              <a:ext cx="990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5" name="Line 618">
              <a:extLst>
                <a:ext uri="{FF2B5EF4-FFF2-40B4-BE49-F238E27FC236}">
                  <a16:creationId xmlns:a16="http://schemas.microsoft.com/office/drawing/2014/main" id="{5DC97431-9691-5677-32CF-7FF8A62C0500}"/>
                </a:ext>
              </a:extLst>
            </p:cNvPr>
            <p:cNvSpPr>
              <a:spLocks noChangeShapeType="1"/>
            </p:cNvSpPr>
            <p:nvPr/>
          </p:nvSpPr>
          <p:spPr bwMode="auto">
            <a:xfrm>
              <a:off x="5334000" y="5586413"/>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66" name="AutoShape 619">
              <a:extLst>
                <a:ext uri="{FF2B5EF4-FFF2-40B4-BE49-F238E27FC236}">
                  <a16:creationId xmlns:a16="http://schemas.microsoft.com/office/drawing/2014/main" id="{41ADC698-347E-9493-A784-F378BFDC30A1}"/>
                </a:ext>
              </a:extLst>
            </p:cNvPr>
            <p:cNvCxnSpPr>
              <a:cxnSpLocks noChangeShapeType="1"/>
              <a:stCxn id="65" idx="1"/>
              <a:endCxn id="64" idx="0"/>
            </p:cNvCxnSpPr>
            <p:nvPr/>
          </p:nvCxnSpPr>
          <p:spPr bwMode="auto">
            <a:xfrm>
              <a:off x="58674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7" name="AutoShape 620">
              <a:extLst>
                <a:ext uri="{FF2B5EF4-FFF2-40B4-BE49-F238E27FC236}">
                  <a16:creationId xmlns:a16="http://schemas.microsoft.com/office/drawing/2014/main" id="{03483DCA-30C3-750D-9BC1-BEB51445F31B}"/>
                </a:ext>
              </a:extLst>
            </p:cNvPr>
            <p:cNvCxnSpPr>
              <a:cxnSpLocks noChangeShapeType="1"/>
              <a:stCxn id="65" idx="0"/>
              <a:endCxn id="53" idx="1"/>
            </p:cNvCxnSpPr>
            <p:nvPr/>
          </p:nvCxnSpPr>
          <p:spPr bwMode="auto">
            <a:xfrm>
              <a:off x="53340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68" name="Line 621">
              <a:extLst>
                <a:ext uri="{FF2B5EF4-FFF2-40B4-BE49-F238E27FC236}">
                  <a16:creationId xmlns:a16="http://schemas.microsoft.com/office/drawing/2014/main" id="{E5439059-50A0-1904-0FB6-7EA494DB67B8}"/>
                </a:ext>
              </a:extLst>
            </p:cNvPr>
            <p:cNvSpPr>
              <a:spLocks noChangeShapeType="1"/>
            </p:cNvSpPr>
            <p:nvPr/>
          </p:nvSpPr>
          <p:spPr bwMode="auto">
            <a:xfrm>
              <a:off x="7391400" y="5891213"/>
              <a:ext cx="914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9" name="Line 622">
              <a:extLst>
                <a:ext uri="{FF2B5EF4-FFF2-40B4-BE49-F238E27FC236}">
                  <a16:creationId xmlns:a16="http://schemas.microsoft.com/office/drawing/2014/main" id="{CDF17D23-14CD-969D-FA52-47E3ED0068AB}"/>
                </a:ext>
              </a:extLst>
            </p:cNvPr>
            <p:cNvSpPr>
              <a:spLocks noChangeShapeType="1"/>
            </p:cNvSpPr>
            <p:nvPr/>
          </p:nvSpPr>
          <p:spPr bwMode="auto">
            <a:xfrm>
              <a:off x="6858000" y="5586413"/>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70" name="AutoShape 623">
              <a:extLst>
                <a:ext uri="{FF2B5EF4-FFF2-40B4-BE49-F238E27FC236}">
                  <a16:creationId xmlns:a16="http://schemas.microsoft.com/office/drawing/2014/main" id="{091317F8-CDAE-5831-F172-38BE68FF8EA1}"/>
                </a:ext>
              </a:extLst>
            </p:cNvPr>
            <p:cNvCxnSpPr>
              <a:cxnSpLocks noChangeShapeType="1"/>
              <a:stCxn id="69" idx="1"/>
              <a:endCxn id="68" idx="0"/>
            </p:cNvCxnSpPr>
            <p:nvPr/>
          </p:nvCxnSpPr>
          <p:spPr bwMode="auto">
            <a:xfrm>
              <a:off x="73914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1" name="AutoShape 624">
              <a:extLst>
                <a:ext uri="{FF2B5EF4-FFF2-40B4-BE49-F238E27FC236}">
                  <a16:creationId xmlns:a16="http://schemas.microsoft.com/office/drawing/2014/main" id="{0E061D02-EC0C-228E-50D5-8C9840B65BA1}"/>
                </a:ext>
              </a:extLst>
            </p:cNvPr>
            <p:cNvCxnSpPr>
              <a:cxnSpLocks noChangeShapeType="1"/>
              <a:endCxn id="64" idx="1"/>
            </p:cNvCxnSpPr>
            <p:nvPr/>
          </p:nvCxnSpPr>
          <p:spPr bwMode="auto">
            <a:xfrm>
              <a:off x="6858000" y="5586413"/>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2" name="AutoShape 625">
              <a:extLst>
                <a:ext uri="{FF2B5EF4-FFF2-40B4-BE49-F238E27FC236}">
                  <a16:creationId xmlns:a16="http://schemas.microsoft.com/office/drawing/2014/main" id="{8CBBFD61-C83C-6627-868B-831C82DE005F}"/>
                </a:ext>
              </a:extLst>
            </p:cNvPr>
            <p:cNvCxnSpPr>
              <a:cxnSpLocks noChangeShapeType="1"/>
              <a:stCxn id="61" idx="1"/>
              <a:endCxn id="54" idx="0"/>
            </p:cNvCxnSpPr>
            <p:nvPr/>
          </p:nvCxnSpPr>
          <p:spPr bwMode="auto">
            <a:xfrm>
              <a:off x="2743200" y="5586413"/>
              <a:ext cx="990600" cy="0"/>
            </a:xfrm>
            <a:prstGeom prst="straightConnector1">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3" name="AutoShape 626">
              <a:extLst>
                <a:ext uri="{FF2B5EF4-FFF2-40B4-BE49-F238E27FC236}">
                  <a16:creationId xmlns:a16="http://schemas.microsoft.com/office/drawing/2014/main" id="{30CB104F-9E0C-61F0-E64D-E95D0274BB02}"/>
                </a:ext>
              </a:extLst>
            </p:cNvPr>
            <p:cNvCxnSpPr>
              <a:cxnSpLocks noChangeShapeType="1"/>
            </p:cNvCxnSpPr>
            <p:nvPr/>
          </p:nvCxnSpPr>
          <p:spPr bwMode="auto">
            <a:xfrm>
              <a:off x="1143000" y="5586413"/>
              <a:ext cx="1066800" cy="0"/>
            </a:xfrm>
            <a:prstGeom prst="straightConnector1">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4" name="AutoShape 627">
              <a:extLst>
                <a:ext uri="{FF2B5EF4-FFF2-40B4-BE49-F238E27FC236}">
                  <a16:creationId xmlns:a16="http://schemas.microsoft.com/office/drawing/2014/main" id="{CFA42995-8D39-D0C9-C158-3E4BED397BF4}"/>
                </a:ext>
              </a:extLst>
            </p:cNvPr>
            <p:cNvCxnSpPr>
              <a:cxnSpLocks noChangeShapeType="1"/>
            </p:cNvCxnSpPr>
            <p:nvPr/>
          </p:nvCxnSpPr>
          <p:spPr bwMode="auto">
            <a:xfrm>
              <a:off x="4267200" y="5586413"/>
              <a:ext cx="1066800" cy="0"/>
            </a:xfrm>
            <a:prstGeom prst="straightConnector1">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cxnSp>
          <p:nvCxnSpPr>
            <p:cNvPr id="75" name="AutoShape 628">
              <a:extLst>
                <a:ext uri="{FF2B5EF4-FFF2-40B4-BE49-F238E27FC236}">
                  <a16:creationId xmlns:a16="http://schemas.microsoft.com/office/drawing/2014/main" id="{8C6254BC-D2DE-C804-AFFA-D8764893D31C}"/>
                </a:ext>
              </a:extLst>
            </p:cNvPr>
            <p:cNvCxnSpPr>
              <a:cxnSpLocks noChangeShapeType="1"/>
            </p:cNvCxnSpPr>
            <p:nvPr/>
          </p:nvCxnSpPr>
          <p:spPr bwMode="auto">
            <a:xfrm>
              <a:off x="7391400" y="5586413"/>
              <a:ext cx="990600" cy="0"/>
            </a:xfrm>
            <a:prstGeom prst="straightConnector1">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76" name="Text Box 629">
              <a:extLst>
                <a:ext uri="{FF2B5EF4-FFF2-40B4-BE49-F238E27FC236}">
                  <a16:creationId xmlns:a16="http://schemas.microsoft.com/office/drawing/2014/main" id="{2D83CCEA-336F-8EE2-6B89-944DD89D447E}"/>
                </a:ext>
              </a:extLst>
            </p:cNvPr>
            <p:cNvSpPr txBox="1">
              <a:spLocks noChangeArrowheads="1"/>
            </p:cNvSpPr>
            <p:nvPr/>
          </p:nvSpPr>
          <p:spPr bwMode="auto">
            <a:xfrm>
              <a:off x="2971800" y="5676900"/>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77" name="Text Box 630">
              <a:extLst>
                <a:ext uri="{FF2B5EF4-FFF2-40B4-BE49-F238E27FC236}">
                  <a16:creationId xmlns:a16="http://schemas.microsoft.com/office/drawing/2014/main" id="{22E1C392-1B6B-3198-B671-041BCF448236}"/>
                </a:ext>
              </a:extLst>
            </p:cNvPr>
            <p:cNvSpPr txBox="1">
              <a:spLocks noChangeArrowheads="1"/>
            </p:cNvSpPr>
            <p:nvPr/>
          </p:nvSpPr>
          <p:spPr bwMode="auto">
            <a:xfrm>
              <a:off x="22098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20 Days</a:t>
              </a:r>
            </a:p>
          </p:txBody>
        </p:sp>
        <p:sp>
          <p:nvSpPr>
            <p:cNvPr id="78" name="Text Box 631">
              <a:extLst>
                <a:ext uri="{FF2B5EF4-FFF2-40B4-BE49-F238E27FC236}">
                  <a16:creationId xmlns:a16="http://schemas.microsoft.com/office/drawing/2014/main" id="{0E742FA6-F23D-1042-FA0F-6918C3D4EA22}"/>
                </a:ext>
              </a:extLst>
            </p:cNvPr>
            <p:cNvSpPr txBox="1">
              <a:spLocks noChangeArrowheads="1"/>
            </p:cNvSpPr>
            <p:nvPr/>
          </p:nvSpPr>
          <p:spPr bwMode="auto">
            <a:xfrm>
              <a:off x="29718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79" name="Text Box 632">
              <a:extLst>
                <a:ext uri="{FF2B5EF4-FFF2-40B4-BE49-F238E27FC236}">
                  <a16:creationId xmlns:a16="http://schemas.microsoft.com/office/drawing/2014/main" id="{99F8C400-4C54-AEFC-EB56-A6C8473D8CB7}"/>
                </a:ext>
              </a:extLst>
            </p:cNvPr>
            <p:cNvSpPr txBox="1">
              <a:spLocks noChangeArrowheads="1"/>
            </p:cNvSpPr>
            <p:nvPr/>
          </p:nvSpPr>
          <p:spPr bwMode="auto">
            <a:xfrm>
              <a:off x="37338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45 Days</a:t>
              </a:r>
            </a:p>
          </p:txBody>
        </p:sp>
        <p:sp>
          <p:nvSpPr>
            <p:cNvPr id="80" name="Text Box 633">
              <a:extLst>
                <a:ext uri="{FF2B5EF4-FFF2-40B4-BE49-F238E27FC236}">
                  <a16:creationId xmlns:a16="http://schemas.microsoft.com/office/drawing/2014/main" id="{88953DBA-3E10-67D5-CB86-957EFF0A8B8A}"/>
                </a:ext>
              </a:extLst>
            </p:cNvPr>
            <p:cNvSpPr txBox="1">
              <a:spLocks noChangeArrowheads="1"/>
            </p:cNvSpPr>
            <p:nvPr/>
          </p:nvSpPr>
          <p:spPr bwMode="auto">
            <a:xfrm>
              <a:off x="44958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25 Days</a:t>
              </a:r>
            </a:p>
          </p:txBody>
        </p:sp>
        <p:sp>
          <p:nvSpPr>
            <p:cNvPr id="81" name="Text Box 634">
              <a:extLst>
                <a:ext uri="{FF2B5EF4-FFF2-40B4-BE49-F238E27FC236}">
                  <a16:creationId xmlns:a16="http://schemas.microsoft.com/office/drawing/2014/main" id="{9E46D667-2A2C-DD25-22BB-1682F0042423}"/>
                </a:ext>
              </a:extLst>
            </p:cNvPr>
            <p:cNvSpPr txBox="1">
              <a:spLocks noChangeArrowheads="1"/>
            </p:cNvSpPr>
            <p:nvPr/>
          </p:nvSpPr>
          <p:spPr bwMode="auto">
            <a:xfrm>
              <a:off x="53340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82" name="Text Box 635">
              <a:extLst>
                <a:ext uri="{FF2B5EF4-FFF2-40B4-BE49-F238E27FC236}">
                  <a16:creationId xmlns:a16="http://schemas.microsoft.com/office/drawing/2014/main" id="{07659F16-C148-2105-9B2E-9D7776C2B6A5}"/>
                </a:ext>
              </a:extLst>
            </p:cNvPr>
            <p:cNvSpPr txBox="1">
              <a:spLocks noChangeArrowheads="1"/>
            </p:cNvSpPr>
            <p:nvPr/>
          </p:nvSpPr>
          <p:spPr bwMode="auto">
            <a:xfrm>
              <a:off x="60198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83" name="Text Box 636">
              <a:extLst>
                <a:ext uri="{FF2B5EF4-FFF2-40B4-BE49-F238E27FC236}">
                  <a16:creationId xmlns:a16="http://schemas.microsoft.com/office/drawing/2014/main" id="{C24F1B60-D29C-60DB-21FE-7520DB611C2D}"/>
                </a:ext>
              </a:extLst>
            </p:cNvPr>
            <p:cNvSpPr txBox="1">
              <a:spLocks noChangeArrowheads="1"/>
            </p:cNvSpPr>
            <p:nvPr/>
          </p:nvSpPr>
          <p:spPr bwMode="auto">
            <a:xfrm>
              <a:off x="6096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30 Days</a:t>
              </a:r>
            </a:p>
          </p:txBody>
        </p:sp>
        <p:sp>
          <p:nvSpPr>
            <p:cNvPr id="84" name="Text Box 637">
              <a:extLst>
                <a:ext uri="{FF2B5EF4-FFF2-40B4-BE49-F238E27FC236}">
                  <a16:creationId xmlns:a16="http://schemas.microsoft.com/office/drawing/2014/main" id="{7807249D-E657-7E73-430A-9B8D1FBC0421}"/>
                </a:ext>
              </a:extLst>
            </p:cNvPr>
            <p:cNvSpPr txBox="1">
              <a:spLocks noChangeArrowheads="1"/>
            </p:cNvSpPr>
            <p:nvPr/>
          </p:nvSpPr>
          <p:spPr bwMode="auto">
            <a:xfrm>
              <a:off x="13716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15 Days</a:t>
              </a:r>
            </a:p>
          </p:txBody>
        </p:sp>
        <p:sp>
          <p:nvSpPr>
            <p:cNvPr id="85" name="Text Box 638">
              <a:extLst>
                <a:ext uri="{FF2B5EF4-FFF2-40B4-BE49-F238E27FC236}">
                  <a16:creationId xmlns:a16="http://schemas.microsoft.com/office/drawing/2014/main" id="{760793FB-5DEA-CC34-0D71-050BB91D5612}"/>
                </a:ext>
              </a:extLst>
            </p:cNvPr>
            <p:cNvSpPr txBox="1">
              <a:spLocks noChangeArrowheads="1"/>
            </p:cNvSpPr>
            <p:nvPr/>
          </p:nvSpPr>
          <p:spPr bwMode="auto">
            <a:xfrm>
              <a:off x="4495800" y="5676900"/>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15 Days</a:t>
              </a:r>
            </a:p>
          </p:txBody>
        </p:sp>
        <p:sp>
          <p:nvSpPr>
            <p:cNvPr id="86" name="Text Box 639">
              <a:extLst>
                <a:ext uri="{FF2B5EF4-FFF2-40B4-BE49-F238E27FC236}">
                  <a16:creationId xmlns:a16="http://schemas.microsoft.com/office/drawing/2014/main" id="{DB3AB88D-6263-91CA-1B40-14C589F29DDA}"/>
                </a:ext>
              </a:extLst>
            </p:cNvPr>
            <p:cNvSpPr txBox="1">
              <a:spLocks noChangeArrowheads="1"/>
            </p:cNvSpPr>
            <p:nvPr/>
          </p:nvSpPr>
          <p:spPr bwMode="auto">
            <a:xfrm>
              <a:off x="6019800" y="5676900"/>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87" name="Text Box 640">
              <a:extLst>
                <a:ext uri="{FF2B5EF4-FFF2-40B4-BE49-F238E27FC236}">
                  <a16:creationId xmlns:a16="http://schemas.microsoft.com/office/drawing/2014/main" id="{D95F0793-74AC-C62C-929E-3B4B3B09CC19}"/>
                </a:ext>
              </a:extLst>
            </p:cNvPr>
            <p:cNvSpPr txBox="1">
              <a:spLocks noChangeArrowheads="1"/>
            </p:cNvSpPr>
            <p:nvPr/>
          </p:nvSpPr>
          <p:spPr bwMode="auto">
            <a:xfrm>
              <a:off x="1371600" y="5676900"/>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88" name="Text Box 641">
              <a:extLst>
                <a:ext uri="{FF2B5EF4-FFF2-40B4-BE49-F238E27FC236}">
                  <a16:creationId xmlns:a16="http://schemas.microsoft.com/office/drawing/2014/main" id="{2A63A2C8-BFB1-EDA2-47E9-4A0C2F87E290}"/>
                </a:ext>
              </a:extLst>
            </p:cNvPr>
            <p:cNvSpPr txBox="1">
              <a:spLocks noChangeArrowheads="1"/>
            </p:cNvSpPr>
            <p:nvPr/>
          </p:nvSpPr>
          <p:spPr bwMode="auto">
            <a:xfrm>
              <a:off x="7620000" y="537527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60 Days</a:t>
              </a:r>
            </a:p>
          </p:txBody>
        </p:sp>
        <p:sp>
          <p:nvSpPr>
            <p:cNvPr id="89" name="Text Box 642">
              <a:extLst>
                <a:ext uri="{FF2B5EF4-FFF2-40B4-BE49-F238E27FC236}">
                  <a16:creationId xmlns:a16="http://schemas.microsoft.com/office/drawing/2014/main" id="{51D0610C-944C-00EC-10B6-3BA297ACFBC7}"/>
                </a:ext>
              </a:extLst>
            </p:cNvPr>
            <p:cNvSpPr txBox="1">
              <a:spLocks noChangeArrowheads="1"/>
            </p:cNvSpPr>
            <p:nvPr/>
          </p:nvSpPr>
          <p:spPr bwMode="auto">
            <a:xfrm>
              <a:off x="6858000" y="53736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30 Days</a:t>
              </a:r>
            </a:p>
          </p:txBody>
        </p:sp>
        <p:cxnSp>
          <p:nvCxnSpPr>
            <p:cNvPr id="90" name="AutoShape 643">
              <a:extLst>
                <a:ext uri="{FF2B5EF4-FFF2-40B4-BE49-F238E27FC236}">
                  <a16:creationId xmlns:a16="http://schemas.microsoft.com/office/drawing/2014/main" id="{78726403-5482-5694-4C06-1A4ACD209825}"/>
                </a:ext>
              </a:extLst>
            </p:cNvPr>
            <p:cNvCxnSpPr>
              <a:cxnSpLocks noChangeShapeType="1"/>
            </p:cNvCxnSpPr>
            <p:nvPr/>
          </p:nvCxnSpPr>
          <p:spPr bwMode="auto">
            <a:xfrm>
              <a:off x="5867400" y="5586413"/>
              <a:ext cx="990600" cy="0"/>
            </a:xfrm>
            <a:prstGeom prst="straightConnector1">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91" name="Text Box 644">
              <a:extLst>
                <a:ext uri="{FF2B5EF4-FFF2-40B4-BE49-F238E27FC236}">
                  <a16:creationId xmlns:a16="http://schemas.microsoft.com/office/drawing/2014/main" id="{2800CC0C-5561-469C-C5A6-61A435A14958}"/>
                </a:ext>
              </a:extLst>
            </p:cNvPr>
            <p:cNvSpPr txBox="1">
              <a:spLocks noChangeArrowheads="1"/>
            </p:cNvSpPr>
            <p:nvPr/>
          </p:nvSpPr>
          <p:spPr bwMode="auto">
            <a:xfrm>
              <a:off x="7620000" y="5676900"/>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92" name="Rectangle 645">
              <a:extLst>
                <a:ext uri="{FF2B5EF4-FFF2-40B4-BE49-F238E27FC236}">
                  <a16:creationId xmlns:a16="http://schemas.microsoft.com/office/drawing/2014/main" id="{C9DABC5B-C6CC-6B6E-C6C0-E265CD061B55}"/>
                </a:ext>
              </a:extLst>
            </p:cNvPr>
            <p:cNvSpPr>
              <a:spLocks noChangeArrowheads="1"/>
            </p:cNvSpPr>
            <p:nvPr/>
          </p:nvSpPr>
          <p:spPr bwMode="auto">
            <a:xfrm>
              <a:off x="8115300" y="5281613"/>
              <a:ext cx="581025" cy="609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Text Box 646">
              <a:extLst>
                <a:ext uri="{FF2B5EF4-FFF2-40B4-BE49-F238E27FC236}">
                  <a16:creationId xmlns:a16="http://schemas.microsoft.com/office/drawing/2014/main" id="{08CDD643-E15E-AEA5-34E8-848F1D134A1B}"/>
                </a:ext>
              </a:extLst>
            </p:cNvPr>
            <p:cNvSpPr txBox="1">
              <a:spLocks noChangeArrowheads="1"/>
            </p:cNvSpPr>
            <p:nvPr/>
          </p:nvSpPr>
          <p:spPr bwMode="auto">
            <a:xfrm>
              <a:off x="7862888" y="5286375"/>
              <a:ext cx="1143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700" b="0">
                  <a:latin typeface="Roboto" panose="02000000000000000000" pitchFamily="2" charset="0"/>
                  <a:ea typeface="Roboto" panose="02000000000000000000" pitchFamily="2" charset="0"/>
                </a:rPr>
                <a:t>Lead Time </a:t>
              </a:r>
              <a:br>
                <a:rPr lang="en-US" altLang="en-US" sz="700" b="0">
                  <a:latin typeface="Roboto" panose="02000000000000000000" pitchFamily="2" charset="0"/>
                  <a:ea typeface="Roboto" panose="02000000000000000000" pitchFamily="2" charset="0"/>
                </a:rPr>
              </a:br>
              <a:r>
                <a:rPr lang="en-US" altLang="en-US" sz="700" b="0">
                  <a:latin typeface="Roboto" panose="02000000000000000000" pitchFamily="2" charset="0"/>
                  <a:ea typeface="Roboto" panose="02000000000000000000" pitchFamily="2" charset="0"/>
                </a:rPr>
                <a:t>250 Days</a:t>
              </a:r>
            </a:p>
          </p:txBody>
        </p:sp>
        <p:sp>
          <p:nvSpPr>
            <p:cNvPr id="94" name="Line 648">
              <a:extLst>
                <a:ext uri="{FF2B5EF4-FFF2-40B4-BE49-F238E27FC236}">
                  <a16:creationId xmlns:a16="http://schemas.microsoft.com/office/drawing/2014/main" id="{95C8745C-4B0C-8458-CC9D-C6179B9F1712}"/>
                </a:ext>
              </a:extLst>
            </p:cNvPr>
            <p:cNvSpPr>
              <a:spLocks noChangeShapeType="1"/>
            </p:cNvSpPr>
            <p:nvPr/>
          </p:nvSpPr>
          <p:spPr bwMode="auto">
            <a:xfrm>
              <a:off x="8124825" y="5586413"/>
              <a:ext cx="533400"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5" name="Rectangle 649">
              <a:extLst>
                <a:ext uri="{FF2B5EF4-FFF2-40B4-BE49-F238E27FC236}">
                  <a16:creationId xmlns:a16="http://schemas.microsoft.com/office/drawing/2014/main" id="{57F83CDC-53C0-DB5C-DEEA-1818804E89CD}"/>
                </a:ext>
              </a:extLst>
            </p:cNvPr>
            <p:cNvSpPr>
              <a:spLocks noChangeArrowheads="1"/>
            </p:cNvSpPr>
            <p:nvPr/>
          </p:nvSpPr>
          <p:spPr bwMode="auto">
            <a:xfrm>
              <a:off x="2827338" y="4737100"/>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651">
              <a:extLst>
                <a:ext uri="{FF2B5EF4-FFF2-40B4-BE49-F238E27FC236}">
                  <a16:creationId xmlns:a16="http://schemas.microsoft.com/office/drawing/2014/main" id="{E3D7B5B7-0AC5-842B-6E08-B06E08E51792}"/>
                </a:ext>
              </a:extLst>
            </p:cNvPr>
            <p:cNvSpPr>
              <a:spLocks noChangeArrowheads="1"/>
            </p:cNvSpPr>
            <p:nvPr/>
          </p:nvSpPr>
          <p:spPr bwMode="auto">
            <a:xfrm>
              <a:off x="4344988" y="4737100"/>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652">
              <a:extLst>
                <a:ext uri="{FF2B5EF4-FFF2-40B4-BE49-F238E27FC236}">
                  <a16:creationId xmlns:a16="http://schemas.microsoft.com/office/drawing/2014/main" id="{64D2AB73-1867-C621-3BE3-3517D15C446D}"/>
                </a:ext>
              </a:extLst>
            </p:cNvPr>
            <p:cNvSpPr>
              <a:spLocks noChangeArrowheads="1"/>
            </p:cNvSpPr>
            <p:nvPr/>
          </p:nvSpPr>
          <p:spPr bwMode="auto">
            <a:xfrm>
              <a:off x="4287838" y="4733925"/>
              <a:ext cx="1036637"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20%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5 Times</a:t>
              </a:r>
            </a:p>
          </p:txBody>
        </p:sp>
        <p:sp>
          <p:nvSpPr>
            <p:cNvPr id="98" name="Rectangle 444">
              <a:extLst>
                <a:ext uri="{FF2B5EF4-FFF2-40B4-BE49-F238E27FC236}">
                  <a16:creationId xmlns:a16="http://schemas.microsoft.com/office/drawing/2014/main" id="{A750AB5A-DC79-DAE3-B42C-DA2514C5A7E7}"/>
                </a:ext>
              </a:extLst>
            </p:cNvPr>
            <p:cNvSpPr>
              <a:spLocks noChangeArrowheads="1"/>
            </p:cNvSpPr>
            <p:nvPr/>
          </p:nvSpPr>
          <p:spPr bwMode="auto">
            <a:xfrm>
              <a:off x="2763838" y="4733925"/>
              <a:ext cx="1001712"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30%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grpSp>
    </p:spTree>
    <p:extLst>
      <p:ext uri="{BB962C8B-B14F-4D97-AF65-F5344CB8AC3E}">
        <p14:creationId xmlns:p14="http://schemas.microsoft.com/office/powerpoint/2010/main" val="70352072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Calculating Totals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58</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4" name="Group 33">
            <a:extLst>
              <a:ext uri="{FF2B5EF4-FFF2-40B4-BE49-F238E27FC236}">
                <a16:creationId xmlns:a16="http://schemas.microsoft.com/office/drawing/2014/main" id="{2295933F-C084-ED31-54DF-2D9DC1CFB2AB}"/>
              </a:ext>
            </a:extLst>
          </p:cNvPr>
          <p:cNvGrpSpPr/>
          <p:nvPr/>
        </p:nvGrpSpPr>
        <p:grpSpPr>
          <a:xfrm>
            <a:off x="203200" y="1731888"/>
            <a:ext cx="11694159" cy="4566200"/>
            <a:chOff x="203200" y="1731888"/>
            <a:chExt cx="11694159" cy="4566200"/>
          </a:xfrm>
        </p:grpSpPr>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69" name="Text Box 11">
                    <a:extLst>
                      <a:ext uri="{FF2B5EF4-FFF2-40B4-BE49-F238E27FC236}">
                        <a16:creationId xmlns:a16="http://schemas.microsoft.com/office/drawing/2014/main" id="{5F4BC18F-E902-1A90-F611-4B5ADFC7B05A}"/>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0963872" y="2912649"/>
                <a:ext cx="261975" cy="110260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97585" y="3992098"/>
                <a:ext cx="1602756" cy="1475151"/>
                <a:chOff x="1165012" y="3989290"/>
                <a:chExt cx="1691641"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110365" y="3989291"/>
                <a:ext cx="1602757" cy="1477958"/>
                <a:chOff x="3509415" y="3989291"/>
                <a:chExt cx="1691642"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23144" y="3989967"/>
                <a:ext cx="1602757" cy="1477958"/>
                <a:chOff x="5390406" y="3989967"/>
                <a:chExt cx="1691642"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35918" y="3991319"/>
                <a:ext cx="1602759" cy="1477958"/>
                <a:chOff x="7271398" y="3991319"/>
                <a:chExt cx="1691645"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48702" y="3989291"/>
                <a:ext cx="1602760" cy="1477958"/>
                <a:chOff x="9520076" y="3982038"/>
                <a:chExt cx="1691645"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32" name="Group 31">
              <a:extLst>
                <a:ext uri="{FF2B5EF4-FFF2-40B4-BE49-F238E27FC236}">
                  <a16:creationId xmlns:a16="http://schemas.microsoft.com/office/drawing/2014/main" id="{A1673E8E-272F-C61A-1FDE-183C74AB6D2F}"/>
                </a:ext>
              </a:extLst>
            </p:cNvPr>
            <p:cNvGrpSpPr/>
            <p:nvPr/>
          </p:nvGrpSpPr>
          <p:grpSpPr>
            <a:xfrm>
              <a:off x="235612" y="4343625"/>
              <a:ext cx="7515317" cy="495298"/>
              <a:chOff x="235612" y="4343625"/>
              <a:chExt cx="7515317" cy="495298"/>
            </a:xfrm>
          </p:grpSpPr>
          <p:sp>
            <p:nvSpPr>
              <p:cNvPr id="13" name="Line 475">
                <a:extLst>
                  <a:ext uri="{FF2B5EF4-FFF2-40B4-BE49-F238E27FC236}">
                    <a16:creationId xmlns:a16="http://schemas.microsoft.com/office/drawing/2014/main" id="{DC8A1ABA-425B-985F-7B2B-A482C783C0E0}"/>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475">
                <a:extLst>
                  <a:ext uri="{FF2B5EF4-FFF2-40B4-BE49-F238E27FC236}">
                    <a16:creationId xmlns:a16="http://schemas.microsoft.com/office/drawing/2014/main" id="{155AA22B-75AD-57BC-A3FC-30C98D82BBC4}"/>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475">
                <a:extLst>
                  <a:ext uri="{FF2B5EF4-FFF2-40B4-BE49-F238E27FC236}">
                    <a16:creationId xmlns:a16="http://schemas.microsoft.com/office/drawing/2014/main" id="{EC71E2A6-431F-F7DA-8F3C-7962D4749BAF}"/>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475">
                <a:extLst>
                  <a:ext uri="{FF2B5EF4-FFF2-40B4-BE49-F238E27FC236}">
                    <a16:creationId xmlns:a16="http://schemas.microsoft.com/office/drawing/2014/main" id="{CF81F357-826E-7E1E-6F5D-985C2F1C177C}"/>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Text Box 469">
                <a:extLst>
                  <a:ext uri="{FF2B5EF4-FFF2-40B4-BE49-F238E27FC236}">
                    <a16:creationId xmlns:a16="http://schemas.microsoft.com/office/drawing/2014/main" id="{DEF2F55D-7A11-F8A4-513B-09B516923561}"/>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19" name="Text Box 471">
                <a:extLst>
                  <a:ext uri="{FF2B5EF4-FFF2-40B4-BE49-F238E27FC236}">
                    <a16:creationId xmlns:a16="http://schemas.microsoft.com/office/drawing/2014/main" id="{EF9DE02D-98BC-374F-7D77-F4C4C7289BC0}"/>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20" name="Text Box 473">
                <a:extLst>
                  <a:ext uri="{FF2B5EF4-FFF2-40B4-BE49-F238E27FC236}">
                    <a16:creationId xmlns:a16="http://schemas.microsoft.com/office/drawing/2014/main" id="{43791338-C549-DDDD-8E10-189D07B7C3AF}"/>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21" name="Text Box 476">
                <a:extLst>
                  <a:ext uri="{FF2B5EF4-FFF2-40B4-BE49-F238E27FC236}">
                    <a16:creationId xmlns:a16="http://schemas.microsoft.com/office/drawing/2014/main" id="{D60E8A72-434F-B4B9-2954-71D4FBE1D85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33" name="Group 32">
              <a:extLst>
                <a:ext uri="{FF2B5EF4-FFF2-40B4-BE49-F238E27FC236}">
                  <a16:creationId xmlns:a16="http://schemas.microsoft.com/office/drawing/2014/main" id="{603A49A3-A6A7-8D20-1BB3-7DD2B6A4177A}"/>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7259BBF2-CC01-5F3C-598B-EF07A702CA13}"/>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30" name="Group 29">
                <a:extLst>
                  <a:ext uri="{FF2B5EF4-FFF2-40B4-BE49-F238E27FC236}">
                    <a16:creationId xmlns:a16="http://schemas.microsoft.com/office/drawing/2014/main" id="{7EFA250D-722E-1BF0-3C96-753704524213}"/>
                  </a:ext>
                </a:extLst>
              </p:cNvPr>
              <p:cNvGrpSpPr/>
              <p:nvPr/>
            </p:nvGrpSpPr>
            <p:grpSpPr>
              <a:xfrm>
                <a:off x="9388570" y="3988677"/>
                <a:ext cx="529880" cy="1291573"/>
                <a:chOff x="9388570" y="3988677"/>
                <a:chExt cx="529880" cy="1291573"/>
              </a:xfrm>
            </p:grpSpPr>
            <p:sp>
              <p:nvSpPr>
                <p:cNvPr id="22" name="Rectangle 21">
                  <a:extLst>
                    <a:ext uri="{FF2B5EF4-FFF2-40B4-BE49-F238E27FC236}">
                      <a16:creationId xmlns:a16="http://schemas.microsoft.com/office/drawing/2014/main" id="{D3300149-4D5F-A3AC-1D62-6841B7B12F9F}"/>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3" name="AutoShape 461">
                  <a:extLst>
                    <a:ext uri="{FF2B5EF4-FFF2-40B4-BE49-F238E27FC236}">
                      <a16:creationId xmlns:a16="http://schemas.microsoft.com/office/drawing/2014/main" id="{86820194-E6B7-9967-0014-65D29498B938}"/>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4" name="AutoShape 461">
                  <a:extLst>
                    <a:ext uri="{FF2B5EF4-FFF2-40B4-BE49-F238E27FC236}">
                      <a16:creationId xmlns:a16="http://schemas.microsoft.com/office/drawing/2014/main" id="{D7E071F3-206F-C73A-B7B5-1ABF53AF06DD}"/>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AutoShape 461">
                  <a:extLst>
                    <a:ext uri="{FF2B5EF4-FFF2-40B4-BE49-F238E27FC236}">
                      <a16:creationId xmlns:a16="http://schemas.microsoft.com/office/drawing/2014/main" id="{26AD20E0-6073-9F89-FEBE-312157398A68}"/>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6" name="Rectangle 25">
                  <a:extLst>
                    <a:ext uri="{FF2B5EF4-FFF2-40B4-BE49-F238E27FC236}">
                      <a16:creationId xmlns:a16="http://schemas.microsoft.com/office/drawing/2014/main" id="{3AF815FC-0C85-351F-810F-0B176A862FD7}"/>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8" name="Straight Connector 27">
                  <a:extLst>
                    <a:ext uri="{FF2B5EF4-FFF2-40B4-BE49-F238E27FC236}">
                      <a16:creationId xmlns:a16="http://schemas.microsoft.com/office/drawing/2014/main" id="{36116B7F-FF41-4316-5F4E-DD8D67A2FD4F}"/>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41AFC2-C849-AA35-BC6C-855F4D11298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Line 342">
            <a:extLst>
              <a:ext uri="{FF2B5EF4-FFF2-40B4-BE49-F238E27FC236}">
                <a16:creationId xmlns:a16="http://schemas.microsoft.com/office/drawing/2014/main" id="{C30B02D2-054E-9CB3-51F5-D8362D230AF6}"/>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 name="Rectangle 382">
            <a:extLst>
              <a:ext uri="{FF2B5EF4-FFF2-40B4-BE49-F238E27FC236}">
                <a16:creationId xmlns:a16="http://schemas.microsoft.com/office/drawing/2014/main" id="{88A1BD9C-12B2-0897-CC18-D41F83BB20D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35" name="Table 35">
            <a:extLst>
              <a:ext uri="{FF2B5EF4-FFF2-40B4-BE49-F238E27FC236}">
                <a16:creationId xmlns:a16="http://schemas.microsoft.com/office/drawing/2014/main" id="{9F4DAA44-F96F-9318-893D-47D99D866FCD}"/>
              </a:ext>
            </a:extLst>
          </p:cNvPr>
          <p:cNvGraphicFramePr>
            <a:graphicFrameLocks noGrp="1"/>
          </p:cNvGraphicFramePr>
          <p:nvPr>
            <p:extLst>
              <p:ext uri="{D42A27DB-BD31-4B8C-83A1-F6EECF244321}">
                <p14:modId xmlns:p14="http://schemas.microsoft.com/office/powerpoint/2010/main" val="1028026460"/>
              </p:ext>
            </p:extLst>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Tree>
    <p:extLst>
      <p:ext uri="{BB962C8B-B14F-4D97-AF65-F5344CB8AC3E}">
        <p14:creationId xmlns:p14="http://schemas.microsoft.com/office/powerpoint/2010/main" val="268279860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Draw a Value Stream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59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851236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Customer Data</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2818261"/>
            <a:ext cx="8512361"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Process Steps </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3702385"/>
            <a:ext cx="851236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Incoming Customer Demand</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8" y="5470632"/>
            <a:ext cx="8512362"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Map Information Flow</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03B7205E-8579-97FD-B52F-8FB8CA00D772}"/>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1F8B1AB1-F6BD-749D-E65D-421CF36E487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3DC0BEEC-7CDB-2035-EA3B-4F780D69271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0E24E226-4046-5E32-0D49-8D1ADFD47B9B}"/>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99F2CF6D-4E33-140F-5912-2BED7D57D21F}"/>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3BAE5FD1-14B8-2031-07E6-2AC77F88812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0" name="AutoShape 11">
                  <a:extLst>
                    <a:ext uri="{FF2B5EF4-FFF2-40B4-BE49-F238E27FC236}">
                      <a16:creationId xmlns:a16="http://schemas.microsoft.com/office/drawing/2014/main" id="{06867A2C-F705-E980-CE8D-993E495D2AB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2CC7C1AA-1FF8-E8CD-36D7-6F58373F87A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AE2E4BB-503F-981E-BE80-AD6ECF6443B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
        <p:nvSpPr>
          <p:cNvPr id="15" name="Rectangle 14">
            <a:extLst>
              <a:ext uri="{FF2B5EF4-FFF2-40B4-BE49-F238E27FC236}">
                <a16:creationId xmlns:a16="http://schemas.microsoft.com/office/drawing/2014/main" id="{E9525CC3-D244-DAB8-6306-4E85167962D9}"/>
              </a:ext>
            </a:extLst>
          </p:cNvPr>
          <p:cNvSpPr>
            <a:spLocks/>
          </p:cNvSpPr>
          <p:nvPr/>
        </p:nvSpPr>
        <p:spPr>
          <a:xfrm>
            <a:off x="940248" y="4586509"/>
            <a:ext cx="8512362"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and Map Processing Time and Lead Time</a:t>
            </a:r>
          </a:p>
        </p:txBody>
      </p:sp>
    </p:spTree>
    <p:extLst>
      <p:ext uri="{BB962C8B-B14F-4D97-AF65-F5344CB8AC3E}">
        <p14:creationId xmlns:p14="http://schemas.microsoft.com/office/powerpoint/2010/main" val="125753514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Information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60</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42" name="Group 41">
            <a:extLst>
              <a:ext uri="{FF2B5EF4-FFF2-40B4-BE49-F238E27FC236}">
                <a16:creationId xmlns:a16="http://schemas.microsoft.com/office/drawing/2014/main" id="{01B19314-442C-3092-4C34-2A651BF86004}"/>
              </a:ext>
            </a:extLst>
          </p:cNvPr>
          <p:cNvGrpSpPr/>
          <p:nvPr/>
        </p:nvGrpSpPr>
        <p:grpSpPr>
          <a:xfrm>
            <a:off x="447674" y="1690688"/>
            <a:ext cx="10422255" cy="4771306"/>
            <a:chOff x="219075" y="1466850"/>
            <a:chExt cx="8464550" cy="5279653"/>
          </a:xfrm>
        </p:grpSpPr>
        <p:sp>
          <p:nvSpPr>
            <p:cNvPr id="14" name="Rectangle 3">
              <a:extLst>
                <a:ext uri="{FF2B5EF4-FFF2-40B4-BE49-F238E27FC236}">
                  <a16:creationId xmlns:a16="http://schemas.microsoft.com/office/drawing/2014/main" id="{5C2811F4-2170-A43C-9A95-6B9505507839}"/>
                </a:ext>
              </a:extLst>
            </p:cNvPr>
            <p:cNvSpPr>
              <a:spLocks noChangeArrowheads="1"/>
            </p:cNvSpPr>
            <p:nvPr/>
          </p:nvSpPr>
          <p:spPr bwMode="auto">
            <a:xfrm>
              <a:off x="219075" y="1466850"/>
              <a:ext cx="7845425" cy="5279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173038" indent="-17303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indent="-169863">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spcBef>
                  <a:spcPct val="30000"/>
                </a:spcBef>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Information Flow</a:t>
              </a: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The completed </a:t>
              </a:r>
              <a:r>
                <a:rPr lang="en-US" altLang="en-US" sz="1200" dirty="0">
                  <a:solidFill>
                    <a:srgbClr val="FF0000"/>
                  </a:solidFill>
                  <a:latin typeface="Roboto" panose="02000000000000000000" pitchFamily="2" charset="0"/>
                  <a:ea typeface="Roboto" panose="02000000000000000000" pitchFamily="2" charset="0"/>
                </a:rPr>
                <a:t>attribute matrix is presented to the</a:t>
              </a:r>
              <a:br>
                <a:rPr lang="en-US" altLang="en-US" sz="1200" dirty="0">
                  <a:solidFill>
                    <a:srgbClr val="FF0000"/>
                  </a:solidFill>
                  <a:latin typeface="Roboto" panose="02000000000000000000" pitchFamily="2" charset="0"/>
                  <a:ea typeface="Roboto" panose="02000000000000000000" pitchFamily="2" charset="0"/>
                </a:rPr>
              </a:br>
              <a:r>
                <a:rPr lang="en-US" altLang="en-US" sz="1200" dirty="0">
                  <a:solidFill>
                    <a:srgbClr val="FF0000"/>
                  </a:solidFill>
                  <a:latin typeface="Roboto" panose="02000000000000000000" pitchFamily="2" charset="0"/>
                  <a:ea typeface="Roboto" panose="02000000000000000000" pitchFamily="2" charset="0"/>
                </a:rPr>
                <a:t>Product Steering Committee</a:t>
              </a:r>
              <a:r>
                <a:rPr lang="en-US" altLang="en-US" sz="1200" dirty="0">
                  <a:latin typeface="Roboto" panose="02000000000000000000" pitchFamily="2" charset="0"/>
                  <a:ea typeface="Roboto" panose="02000000000000000000" pitchFamily="2" charset="0"/>
                </a:rPr>
                <a:t> for review and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approval at their monthly review meeting</a:t>
              </a: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If approved, this </a:t>
              </a:r>
              <a:r>
                <a:rPr lang="en-US" altLang="en-US" sz="1200" dirty="0">
                  <a:solidFill>
                    <a:srgbClr val="FF0000"/>
                  </a:solidFill>
                  <a:latin typeface="Roboto" panose="02000000000000000000" pitchFamily="2" charset="0"/>
                  <a:ea typeface="Roboto" panose="02000000000000000000" pitchFamily="2" charset="0"/>
                </a:rPr>
                <a:t>matrix is then reviewed with a </a:t>
              </a:r>
              <a:br>
                <a:rPr lang="en-US" altLang="en-US" sz="1200" dirty="0">
                  <a:solidFill>
                    <a:srgbClr val="FF0000"/>
                  </a:solidFill>
                  <a:latin typeface="Roboto" panose="02000000000000000000" pitchFamily="2" charset="0"/>
                  <a:ea typeface="Roboto" panose="02000000000000000000" pitchFamily="2" charset="0"/>
                </a:rPr>
              </a:br>
              <a:r>
                <a:rPr lang="en-US" altLang="en-US" sz="1200" dirty="0">
                  <a:solidFill>
                    <a:srgbClr val="FF0000"/>
                  </a:solidFill>
                  <a:latin typeface="Roboto" panose="02000000000000000000" pitchFamily="2" charset="0"/>
                  <a:ea typeface="Roboto" panose="02000000000000000000" pitchFamily="2" charset="0"/>
                </a:rPr>
                <a:t>focus group</a:t>
              </a:r>
              <a:r>
                <a:rPr lang="en-US" altLang="en-US" sz="1200" dirty="0">
                  <a:latin typeface="Roboto" panose="02000000000000000000" pitchFamily="2" charset="0"/>
                  <a:ea typeface="Roboto" panose="02000000000000000000" pitchFamily="2" charset="0"/>
                </a:rPr>
                <a:t> comprised of non-touring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professional golfers</a:t>
              </a: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The completed </a:t>
              </a:r>
              <a:r>
                <a:rPr lang="en-US" altLang="en-US" sz="1200" dirty="0">
                  <a:solidFill>
                    <a:srgbClr val="FF0000"/>
                  </a:solidFill>
                  <a:latin typeface="Roboto" panose="02000000000000000000" pitchFamily="2" charset="0"/>
                  <a:ea typeface="Roboto" panose="02000000000000000000" pitchFamily="2" charset="0"/>
                </a:rPr>
                <a:t>specifications are submitted </a:t>
              </a:r>
              <a:br>
                <a:rPr lang="en-US" altLang="en-US" sz="1200" dirty="0">
                  <a:solidFill>
                    <a:srgbClr val="FF0000"/>
                  </a:solidFill>
                  <a:latin typeface="Roboto" panose="02000000000000000000" pitchFamily="2" charset="0"/>
                  <a:ea typeface="Roboto" panose="02000000000000000000" pitchFamily="2" charset="0"/>
                </a:rPr>
              </a:br>
              <a:r>
                <a:rPr lang="en-US" altLang="en-US" sz="1200" dirty="0">
                  <a:solidFill>
                    <a:srgbClr val="FF0000"/>
                  </a:solidFill>
                  <a:latin typeface="Roboto" panose="02000000000000000000" pitchFamily="2" charset="0"/>
                  <a:ea typeface="Roboto" panose="02000000000000000000" pitchFamily="2" charset="0"/>
                </a:rPr>
                <a:t>to the Product Steering Committee</a:t>
              </a:r>
              <a:r>
                <a:rPr lang="en-US" altLang="en-US" sz="1200" dirty="0">
                  <a:latin typeface="Roboto" panose="02000000000000000000" pitchFamily="2" charset="0"/>
                  <a:ea typeface="Roboto" panose="02000000000000000000" pitchFamily="2" charset="0"/>
                </a:rPr>
                <a:t> for review </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and approval at their monthly meeting</a:t>
              </a: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If the specifications are not clear the design group will usually have to go through 5 iterations on design before getting </a:t>
              </a:r>
              <a:r>
                <a:rPr lang="en-US" altLang="en-US" sz="1200" dirty="0">
                  <a:solidFill>
                    <a:srgbClr val="FF0000"/>
                  </a:solidFill>
                  <a:latin typeface="Roboto" panose="02000000000000000000" pitchFamily="2" charset="0"/>
                  <a:ea typeface="Roboto" panose="02000000000000000000" pitchFamily="2" charset="0"/>
                </a:rPr>
                <a:t>approval from the Product Steering Committee</a:t>
              </a:r>
              <a:endParaRPr lang="en-US" altLang="en-US" sz="1200" dirty="0">
                <a:latin typeface="Roboto" panose="02000000000000000000" pitchFamily="2" charset="0"/>
                <a:ea typeface="Roboto" panose="02000000000000000000" pitchFamily="2" charset="0"/>
              </a:endParaRP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Once in the manufacturing process it takes about a day to make the samples.</a:t>
              </a:r>
              <a:r>
                <a:rPr lang="en-US" altLang="en-US" sz="1400" dirty="0">
                  <a:latin typeface="Roboto" panose="02000000000000000000" pitchFamily="2" charset="0"/>
                  <a:ea typeface="Roboto" panose="02000000000000000000" pitchFamily="2" charset="0"/>
                </a:rPr>
                <a:t> </a:t>
              </a:r>
              <a:r>
                <a:rPr lang="en-US" altLang="en-US" sz="1200" dirty="0">
                  <a:latin typeface="Roboto" panose="02000000000000000000" pitchFamily="2" charset="0"/>
                  <a:ea typeface="Roboto" panose="02000000000000000000" pitchFamily="2" charset="0"/>
                </a:rPr>
                <a:t>Upon completion the </a:t>
              </a:r>
              <a:r>
                <a:rPr lang="en-US" altLang="en-US" sz="1200" dirty="0">
                  <a:solidFill>
                    <a:srgbClr val="FF0000"/>
                  </a:solidFill>
                  <a:latin typeface="Roboto" panose="02000000000000000000" pitchFamily="2" charset="0"/>
                  <a:ea typeface="Roboto" panose="02000000000000000000" pitchFamily="2" charset="0"/>
                </a:rPr>
                <a:t>samples are submitted to the Product Steering Committee</a:t>
              </a:r>
              <a:r>
                <a:rPr lang="en-US" altLang="en-US" sz="1200" dirty="0">
                  <a:latin typeface="Roboto" panose="02000000000000000000" pitchFamily="2" charset="0"/>
                  <a:ea typeface="Roboto" panose="02000000000000000000" pitchFamily="2" charset="0"/>
                </a:rPr>
                <a:t> for approval</a:t>
              </a:r>
            </a:p>
            <a:p>
              <a:pPr lvl="1" eaLnBrk="1" hangingPunct="1">
                <a:spcBef>
                  <a:spcPct val="30000"/>
                </a:spcBef>
                <a:buClr>
                  <a:schemeClr val="tx1"/>
                </a:buClr>
                <a:buSzPct val="90000"/>
                <a:buFont typeface="Arial" panose="020B0604020202020204" pitchFamily="34" charset="0"/>
                <a:buChar char="•"/>
              </a:pPr>
              <a:r>
                <a:rPr lang="en-US" altLang="en-US" sz="1200" dirty="0">
                  <a:latin typeface="Roboto" panose="02000000000000000000" pitchFamily="2" charset="0"/>
                  <a:ea typeface="Roboto" panose="02000000000000000000" pitchFamily="2" charset="0"/>
                </a:rPr>
                <a:t>The test group is asked to use the product to play 10 rounds of golf over a two month period in a variety of conditions on a variety of courses.  </a:t>
              </a:r>
              <a:r>
                <a:rPr lang="en-US" altLang="en-US" sz="1200" dirty="0">
                  <a:solidFill>
                    <a:srgbClr val="FF0000"/>
                  </a:solidFill>
                  <a:latin typeface="Roboto" panose="02000000000000000000" pitchFamily="2" charset="0"/>
                  <a:ea typeface="Roboto" panose="02000000000000000000" pitchFamily="2" charset="0"/>
                </a:rPr>
                <a:t>At the end of the evaluation period the program management group will collect the prototype products and complete a customer survey</a:t>
              </a:r>
              <a:r>
                <a:rPr lang="en-US" altLang="en-US" sz="1200" dirty="0">
                  <a:latin typeface="Roboto" panose="02000000000000000000" pitchFamily="2" charset="0"/>
                  <a:ea typeface="Roboto" panose="02000000000000000000" pitchFamily="2" charset="0"/>
                </a:rPr>
                <a:t>.</a:t>
              </a:r>
            </a:p>
          </p:txBody>
        </p:sp>
        <p:grpSp>
          <p:nvGrpSpPr>
            <p:cNvPr id="15" name="Group 139">
              <a:extLst>
                <a:ext uri="{FF2B5EF4-FFF2-40B4-BE49-F238E27FC236}">
                  <a16:creationId xmlns:a16="http://schemas.microsoft.com/office/drawing/2014/main" id="{EF128B09-07C0-2E88-99A5-9482BB87C76F}"/>
                </a:ext>
              </a:extLst>
            </p:cNvPr>
            <p:cNvGrpSpPr>
              <a:grpSpLocks/>
            </p:cNvGrpSpPr>
            <p:nvPr/>
          </p:nvGrpSpPr>
          <p:grpSpPr bwMode="auto">
            <a:xfrm>
              <a:off x="4111625" y="1608138"/>
              <a:ext cx="4572000" cy="2155825"/>
              <a:chOff x="2559" y="577"/>
              <a:chExt cx="3064" cy="1566"/>
            </a:xfrm>
          </p:grpSpPr>
          <p:sp>
            <p:nvSpPr>
              <p:cNvPr id="16" name="Rectangle 56">
                <a:extLst>
                  <a:ext uri="{FF2B5EF4-FFF2-40B4-BE49-F238E27FC236}">
                    <a16:creationId xmlns:a16="http://schemas.microsoft.com/office/drawing/2014/main" id="{AB69722B-499A-1916-0403-955C702E8AAB}"/>
                  </a:ext>
                </a:extLst>
              </p:cNvPr>
              <p:cNvSpPr>
                <a:spLocks noChangeArrowheads="1"/>
              </p:cNvSpPr>
              <p:nvPr/>
            </p:nvSpPr>
            <p:spPr bwMode="auto">
              <a:xfrm>
                <a:off x="3758" y="577"/>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Rectangle 57">
                <a:extLst>
                  <a:ext uri="{FF2B5EF4-FFF2-40B4-BE49-F238E27FC236}">
                    <a16:creationId xmlns:a16="http://schemas.microsoft.com/office/drawing/2014/main" id="{86DBF3B8-F79F-3D78-8031-FE66A569018D}"/>
                  </a:ext>
                </a:extLst>
              </p:cNvPr>
              <p:cNvSpPr>
                <a:spLocks noChangeArrowheads="1"/>
              </p:cNvSpPr>
              <p:nvPr/>
            </p:nvSpPr>
            <p:spPr bwMode="auto">
              <a:xfrm>
                <a:off x="2840" y="1184"/>
                <a:ext cx="503"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 name="Rectangle 79">
                <a:extLst>
                  <a:ext uri="{FF2B5EF4-FFF2-40B4-BE49-F238E27FC236}">
                    <a16:creationId xmlns:a16="http://schemas.microsoft.com/office/drawing/2014/main" id="{72B0F180-9A70-5C53-1E47-EEE3CCC5C23B}"/>
                  </a:ext>
                </a:extLst>
              </p:cNvPr>
              <p:cNvSpPr>
                <a:spLocks noChangeArrowheads="1"/>
              </p:cNvSpPr>
              <p:nvPr/>
            </p:nvSpPr>
            <p:spPr bwMode="auto">
              <a:xfrm>
                <a:off x="4533" y="1836"/>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Rectangle 80">
                <a:extLst>
                  <a:ext uri="{FF2B5EF4-FFF2-40B4-BE49-F238E27FC236}">
                    <a16:creationId xmlns:a16="http://schemas.microsoft.com/office/drawing/2014/main" id="{B01FE09B-D6F2-BF15-37E2-81EB4FEC15DF}"/>
                  </a:ext>
                </a:extLst>
              </p:cNvPr>
              <p:cNvSpPr>
                <a:spLocks noChangeArrowheads="1"/>
              </p:cNvSpPr>
              <p:nvPr/>
            </p:nvSpPr>
            <p:spPr bwMode="auto">
              <a:xfrm>
                <a:off x="3886" y="1836"/>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Rectangle 81">
                <a:extLst>
                  <a:ext uri="{FF2B5EF4-FFF2-40B4-BE49-F238E27FC236}">
                    <a16:creationId xmlns:a16="http://schemas.microsoft.com/office/drawing/2014/main" id="{F47CBEBA-5E6B-83E5-4EAB-BE1C1AB00BC2}"/>
                  </a:ext>
                </a:extLst>
              </p:cNvPr>
              <p:cNvSpPr>
                <a:spLocks noChangeArrowheads="1"/>
              </p:cNvSpPr>
              <p:nvPr/>
            </p:nvSpPr>
            <p:spPr bwMode="auto">
              <a:xfrm>
                <a:off x="2559" y="1836"/>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Text Box 82">
                <a:extLst>
                  <a:ext uri="{FF2B5EF4-FFF2-40B4-BE49-F238E27FC236}">
                    <a16:creationId xmlns:a16="http://schemas.microsoft.com/office/drawing/2014/main" id="{9E3B653C-475D-CE09-3534-5AE79CC798B0}"/>
                  </a:ext>
                </a:extLst>
              </p:cNvPr>
              <p:cNvSpPr txBox="1">
                <a:spLocks noChangeArrowheads="1"/>
              </p:cNvSpPr>
              <p:nvPr/>
            </p:nvSpPr>
            <p:spPr bwMode="auto">
              <a:xfrm>
                <a:off x="3928" y="1879"/>
                <a:ext cx="420"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Product Design</a:t>
                </a:r>
              </a:p>
            </p:txBody>
          </p:sp>
          <p:sp>
            <p:nvSpPr>
              <p:cNvPr id="22" name="Text Box 83">
                <a:extLst>
                  <a:ext uri="{FF2B5EF4-FFF2-40B4-BE49-F238E27FC236}">
                    <a16:creationId xmlns:a16="http://schemas.microsoft.com/office/drawing/2014/main" id="{2CD7CCC7-58DD-C5E4-24C9-407227269794}"/>
                  </a:ext>
                </a:extLst>
              </p:cNvPr>
              <p:cNvSpPr txBox="1">
                <a:spLocks noChangeArrowheads="1"/>
              </p:cNvSpPr>
              <p:nvPr/>
            </p:nvSpPr>
            <p:spPr bwMode="auto">
              <a:xfrm>
                <a:off x="4575" y="1879"/>
                <a:ext cx="421"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Prototype Build</a:t>
                </a:r>
              </a:p>
            </p:txBody>
          </p:sp>
          <p:sp>
            <p:nvSpPr>
              <p:cNvPr id="23" name="Text Box 84">
                <a:extLst>
                  <a:ext uri="{FF2B5EF4-FFF2-40B4-BE49-F238E27FC236}">
                    <a16:creationId xmlns:a16="http://schemas.microsoft.com/office/drawing/2014/main" id="{31E4377D-043E-AFFE-1E6C-5E8630D8FC42}"/>
                  </a:ext>
                </a:extLst>
              </p:cNvPr>
              <p:cNvSpPr txBox="1">
                <a:spLocks noChangeArrowheads="1"/>
              </p:cNvSpPr>
              <p:nvPr/>
            </p:nvSpPr>
            <p:spPr bwMode="auto">
              <a:xfrm>
                <a:off x="2559" y="1879"/>
                <a:ext cx="504"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Concept Development</a:t>
                </a:r>
              </a:p>
            </p:txBody>
          </p:sp>
          <p:sp>
            <p:nvSpPr>
              <p:cNvPr id="24" name="Rectangle 85">
                <a:extLst>
                  <a:ext uri="{FF2B5EF4-FFF2-40B4-BE49-F238E27FC236}">
                    <a16:creationId xmlns:a16="http://schemas.microsoft.com/office/drawing/2014/main" id="{07855E1A-17E2-0297-D6CE-03CF88F3267F}"/>
                  </a:ext>
                </a:extLst>
              </p:cNvPr>
              <p:cNvSpPr>
                <a:spLocks noChangeArrowheads="1"/>
              </p:cNvSpPr>
              <p:nvPr/>
            </p:nvSpPr>
            <p:spPr bwMode="auto">
              <a:xfrm>
                <a:off x="3259" y="1836"/>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5" name="Text Box 86">
                <a:extLst>
                  <a:ext uri="{FF2B5EF4-FFF2-40B4-BE49-F238E27FC236}">
                    <a16:creationId xmlns:a16="http://schemas.microsoft.com/office/drawing/2014/main" id="{DE9B6EEB-5DE8-060C-0FEE-A31A94F44443}"/>
                  </a:ext>
                </a:extLst>
              </p:cNvPr>
              <p:cNvSpPr txBox="1">
                <a:spLocks noChangeArrowheads="1"/>
              </p:cNvSpPr>
              <p:nvPr/>
            </p:nvSpPr>
            <p:spPr bwMode="auto">
              <a:xfrm>
                <a:off x="3280" y="1881"/>
                <a:ext cx="468"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Product Specification</a:t>
                </a:r>
              </a:p>
            </p:txBody>
          </p:sp>
          <p:sp>
            <p:nvSpPr>
              <p:cNvPr id="28" name="Rectangle 105">
                <a:extLst>
                  <a:ext uri="{FF2B5EF4-FFF2-40B4-BE49-F238E27FC236}">
                    <a16:creationId xmlns:a16="http://schemas.microsoft.com/office/drawing/2014/main" id="{926C16D4-06D6-01F5-40FC-3EA98A30DB6C}"/>
                  </a:ext>
                </a:extLst>
              </p:cNvPr>
              <p:cNvSpPr>
                <a:spLocks noChangeArrowheads="1"/>
              </p:cNvSpPr>
              <p:nvPr/>
            </p:nvSpPr>
            <p:spPr bwMode="auto">
              <a:xfrm>
                <a:off x="5119" y="1836"/>
                <a:ext cx="504" cy="307"/>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9" name="Text Box 106">
                <a:extLst>
                  <a:ext uri="{FF2B5EF4-FFF2-40B4-BE49-F238E27FC236}">
                    <a16:creationId xmlns:a16="http://schemas.microsoft.com/office/drawing/2014/main" id="{94EFFBF4-DFD1-E807-4587-44AE874ACE00}"/>
                  </a:ext>
                </a:extLst>
              </p:cNvPr>
              <p:cNvSpPr txBox="1">
                <a:spLocks noChangeArrowheads="1"/>
              </p:cNvSpPr>
              <p:nvPr/>
            </p:nvSpPr>
            <p:spPr bwMode="auto">
              <a:xfrm>
                <a:off x="5161" y="1880"/>
                <a:ext cx="420" cy="22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Prototype Test</a:t>
                </a:r>
              </a:p>
            </p:txBody>
          </p:sp>
          <p:sp>
            <p:nvSpPr>
              <p:cNvPr id="30" name="Text Box 108">
                <a:extLst>
                  <a:ext uri="{FF2B5EF4-FFF2-40B4-BE49-F238E27FC236}">
                    <a16:creationId xmlns:a16="http://schemas.microsoft.com/office/drawing/2014/main" id="{B3479A6F-3917-CB07-2CEF-7E1497B689AF}"/>
                  </a:ext>
                </a:extLst>
              </p:cNvPr>
              <p:cNvSpPr txBox="1">
                <a:spLocks noChangeArrowheads="1"/>
              </p:cNvSpPr>
              <p:nvPr/>
            </p:nvSpPr>
            <p:spPr bwMode="auto">
              <a:xfrm>
                <a:off x="2855" y="1185"/>
                <a:ext cx="467" cy="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a:latin typeface="Roboto" panose="02000000000000000000" pitchFamily="2" charset="0"/>
                    <a:ea typeface="Roboto" panose="02000000000000000000" pitchFamily="2" charset="0"/>
                  </a:rPr>
                  <a:t>Focus Groups</a:t>
                </a:r>
              </a:p>
            </p:txBody>
          </p:sp>
          <p:sp>
            <p:nvSpPr>
              <p:cNvPr id="31" name="Text Box 109">
                <a:extLst>
                  <a:ext uri="{FF2B5EF4-FFF2-40B4-BE49-F238E27FC236}">
                    <a16:creationId xmlns:a16="http://schemas.microsoft.com/office/drawing/2014/main" id="{78C1E5E7-99C6-D00A-D9C7-7055FAEF4351}"/>
                  </a:ext>
                </a:extLst>
              </p:cNvPr>
              <p:cNvSpPr txBox="1">
                <a:spLocks noChangeArrowheads="1"/>
              </p:cNvSpPr>
              <p:nvPr/>
            </p:nvSpPr>
            <p:spPr bwMode="auto">
              <a:xfrm>
                <a:off x="3774" y="580"/>
                <a:ext cx="467"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700" b="0" dirty="0">
                    <a:latin typeface="Roboto" panose="02000000000000000000" pitchFamily="2" charset="0"/>
                    <a:ea typeface="Roboto" panose="02000000000000000000" pitchFamily="2" charset="0"/>
                  </a:rPr>
                  <a:t>Product Steering Committee</a:t>
                </a:r>
              </a:p>
            </p:txBody>
          </p:sp>
          <p:cxnSp>
            <p:nvCxnSpPr>
              <p:cNvPr id="32" name="AutoShape 113">
                <a:extLst>
                  <a:ext uri="{FF2B5EF4-FFF2-40B4-BE49-F238E27FC236}">
                    <a16:creationId xmlns:a16="http://schemas.microsoft.com/office/drawing/2014/main" id="{A86360EE-1967-B7E7-CF81-2B6DE6979836}"/>
                  </a:ext>
                </a:extLst>
              </p:cNvPr>
              <p:cNvCxnSpPr>
                <a:cxnSpLocks noChangeShapeType="1"/>
                <a:stCxn id="20" idx="0"/>
              </p:cNvCxnSpPr>
              <p:nvPr/>
            </p:nvCxnSpPr>
            <p:spPr bwMode="auto">
              <a:xfrm flipV="1">
                <a:off x="2811" y="706"/>
                <a:ext cx="947" cy="113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3" name="AutoShape 114">
                <a:extLst>
                  <a:ext uri="{FF2B5EF4-FFF2-40B4-BE49-F238E27FC236}">
                    <a16:creationId xmlns:a16="http://schemas.microsoft.com/office/drawing/2014/main" id="{8BE6A4CF-843B-0E0E-8662-81058F182403}"/>
                  </a:ext>
                </a:extLst>
              </p:cNvPr>
              <p:cNvCxnSpPr>
                <a:cxnSpLocks noChangeShapeType="1"/>
                <a:stCxn id="31" idx="1"/>
                <a:endCxn id="24" idx="0"/>
              </p:cNvCxnSpPr>
              <p:nvPr/>
            </p:nvCxnSpPr>
            <p:spPr bwMode="auto">
              <a:xfrm flipH="1">
                <a:off x="3511" y="738"/>
                <a:ext cx="263" cy="1098"/>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4" name="AutoShape 115">
                <a:extLst>
                  <a:ext uri="{FF2B5EF4-FFF2-40B4-BE49-F238E27FC236}">
                    <a16:creationId xmlns:a16="http://schemas.microsoft.com/office/drawing/2014/main" id="{6240C854-C558-3E59-C287-FABC03FCC4A5}"/>
                  </a:ext>
                </a:extLst>
              </p:cNvPr>
              <p:cNvCxnSpPr>
                <a:cxnSpLocks noChangeShapeType="1"/>
                <a:stCxn id="24" idx="0"/>
                <a:endCxn id="31" idx="2"/>
              </p:cNvCxnSpPr>
              <p:nvPr/>
            </p:nvCxnSpPr>
            <p:spPr bwMode="auto">
              <a:xfrm flipV="1">
                <a:off x="3511" y="868"/>
                <a:ext cx="496" cy="968"/>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5" name="AutoShape 116">
                <a:extLst>
                  <a:ext uri="{FF2B5EF4-FFF2-40B4-BE49-F238E27FC236}">
                    <a16:creationId xmlns:a16="http://schemas.microsoft.com/office/drawing/2014/main" id="{4E38940E-0858-EFFB-907A-5D7EFE5BBA15}"/>
                  </a:ext>
                </a:extLst>
              </p:cNvPr>
              <p:cNvCxnSpPr>
                <a:cxnSpLocks noChangeShapeType="1"/>
                <a:stCxn id="31" idx="2"/>
              </p:cNvCxnSpPr>
              <p:nvPr/>
            </p:nvCxnSpPr>
            <p:spPr bwMode="auto">
              <a:xfrm flipH="1">
                <a:off x="4005" y="896"/>
                <a:ext cx="3" cy="998"/>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6" name="AutoShape 117">
                <a:extLst>
                  <a:ext uri="{FF2B5EF4-FFF2-40B4-BE49-F238E27FC236}">
                    <a16:creationId xmlns:a16="http://schemas.microsoft.com/office/drawing/2014/main" id="{23BC4467-D768-E426-4883-ACE8CD6EC80F}"/>
                  </a:ext>
                </a:extLst>
              </p:cNvPr>
              <p:cNvCxnSpPr>
                <a:cxnSpLocks noChangeShapeType="1"/>
                <a:endCxn id="31" idx="2"/>
              </p:cNvCxnSpPr>
              <p:nvPr/>
            </p:nvCxnSpPr>
            <p:spPr bwMode="auto">
              <a:xfrm flipH="1" flipV="1">
                <a:off x="4008" y="896"/>
                <a:ext cx="260" cy="96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7" name="AutoShape 118">
                <a:extLst>
                  <a:ext uri="{FF2B5EF4-FFF2-40B4-BE49-F238E27FC236}">
                    <a16:creationId xmlns:a16="http://schemas.microsoft.com/office/drawing/2014/main" id="{420926D4-270B-33FF-64D8-B2BAC034C10A}"/>
                  </a:ext>
                </a:extLst>
              </p:cNvPr>
              <p:cNvCxnSpPr>
                <a:cxnSpLocks noChangeShapeType="1"/>
                <a:stCxn id="31" idx="2"/>
                <a:endCxn id="18" idx="0"/>
              </p:cNvCxnSpPr>
              <p:nvPr/>
            </p:nvCxnSpPr>
            <p:spPr bwMode="auto">
              <a:xfrm>
                <a:off x="4007" y="868"/>
                <a:ext cx="778" cy="968"/>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8" name="AutoShape 119">
                <a:extLst>
                  <a:ext uri="{FF2B5EF4-FFF2-40B4-BE49-F238E27FC236}">
                    <a16:creationId xmlns:a16="http://schemas.microsoft.com/office/drawing/2014/main" id="{9AA4F4C0-57FA-3AC6-2AFD-9FCA042122DD}"/>
                  </a:ext>
                </a:extLst>
              </p:cNvPr>
              <p:cNvCxnSpPr>
                <a:cxnSpLocks noChangeShapeType="1"/>
                <a:stCxn id="18" idx="3"/>
              </p:cNvCxnSpPr>
              <p:nvPr/>
            </p:nvCxnSpPr>
            <p:spPr bwMode="auto">
              <a:xfrm flipH="1" flipV="1">
                <a:off x="4262" y="706"/>
                <a:ext cx="775" cy="1284"/>
              </a:xfrm>
              <a:prstGeom prst="bentConnector4">
                <a:avLst>
                  <a:gd name="adj1" fmla="val -6431"/>
                  <a:gd name="adj2" fmla="val 98574"/>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9" name="AutoShape 120">
                <a:extLst>
                  <a:ext uri="{FF2B5EF4-FFF2-40B4-BE49-F238E27FC236}">
                    <a16:creationId xmlns:a16="http://schemas.microsoft.com/office/drawing/2014/main" id="{5B952708-6AFD-5840-6A5E-83723C6D709C}"/>
                  </a:ext>
                </a:extLst>
              </p:cNvPr>
              <p:cNvCxnSpPr>
                <a:cxnSpLocks noChangeShapeType="1"/>
                <a:endCxn id="28" idx="0"/>
              </p:cNvCxnSpPr>
              <p:nvPr/>
            </p:nvCxnSpPr>
            <p:spPr bwMode="auto">
              <a:xfrm>
                <a:off x="4269" y="706"/>
                <a:ext cx="1102" cy="113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40" name="AutoShape 133">
                <a:extLst>
                  <a:ext uri="{FF2B5EF4-FFF2-40B4-BE49-F238E27FC236}">
                    <a16:creationId xmlns:a16="http://schemas.microsoft.com/office/drawing/2014/main" id="{1820F2A4-A578-7E6C-90C7-34DAFA96DC42}"/>
                  </a:ext>
                </a:extLst>
              </p:cNvPr>
              <p:cNvCxnSpPr>
                <a:cxnSpLocks noChangeShapeType="1"/>
                <a:stCxn id="23" idx="3"/>
                <a:endCxn id="17" idx="2"/>
              </p:cNvCxnSpPr>
              <p:nvPr/>
            </p:nvCxnSpPr>
            <p:spPr bwMode="auto">
              <a:xfrm flipV="1">
                <a:off x="3063" y="1491"/>
                <a:ext cx="29" cy="500"/>
              </a:xfrm>
              <a:prstGeom prst="bentConnector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41" name="AutoShape 134">
                <a:extLst>
                  <a:ext uri="{FF2B5EF4-FFF2-40B4-BE49-F238E27FC236}">
                    <a16:creationId xmlns:a16="http://schemas.microsoft.com/office/drawing/2014/main" id="{9F1BFEF9-8162-10C5-436F-46A1551E6D77}"/>
                  </a:ext>
                </a:extLst>
              </p:cNvPr>
              <p:cNvCxnSpPr>
                <a:cxnSpLocks noChangeShapeType="1"/>
                <a:endCxn id="24" idx="1"/>
              </p:cNvCxnSpPr>
              <p:nvPr/>
            </p:nvCxnSpPr>
            <p:spPr bwMode="auto">
              <a:xfrm rot="5400000">
                <a:off x="2974" y="1622"/>
                <a:ext cx="653" cy="84"/>
              </a:xfrm>
              <a:prstGeom prst="bentConnector4">
                <a:avLst>
                  <a:gd name="adj1" fmla="val 52583"/>
                  <a:gd name="adj2" fmla="val 19166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spTree>
    <p:extLst>
      <p:ext uri="{BB962C8B-B14F-4D97-AF65-F5344CB8AC3E}">
        <p14:creationId xmlns:p14="http://schemas.microsoft.com/office/powerpoint/2010/main" val="171630826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Mapping Information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61</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4" name="Group 33">
            <a:extLst>
              <a:ext uri="{FF2B5EF4-FFF2-40B4-BE49-F238E27FC236}">
                <a16:creationId xmlns:a16="http://schemas.microsoft.com/office/drawing/2014/main" id="{2295933F-C084-ED31-54DF-2D9DC1CFB2AB}"/>
              </a:ext>
            </a:extLst>
          </p:cNvPr>
          <p:cNvGrpSpPr/>
          <p:nvPr/>
        </p:nvGrpSpPr>
        <p:grpSpPr>
          <a:xfrm>
            <a:off x="203200" y="1731888"/>
            <a:ext cx="11694159" cy="4566200"/>
            <a:chOff x="203200" y="1731888"/>
            <a:chExt cx="11694159" cy="4566200"/>
          </a:xfrm>
        </p:grpSpPr>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69" name="Text Box 11">
                    <a:extLst>
                      <a:ext uri="{FF2B5EF4-FFF2-40B4-BE49-F238E27FC236}">
                        <a16:creationId xmlns:a16="http://schemas.microsoft.com/office/drawing/2014/main" id="{5F4BC18F-E902-1A90-F611-4B5ADFC7B05A}"/>
                      </a:ext>
                    </a:extLst>
                  </p:cNvPr>
                  <p:cNvSpPr txBox="1">
                    <a:spLocks noChangeArrowheads="1"/>
                  </p:cNvSpPr>
                  <p:nvPr/>
                </p:nvSpPr>
                <p:spPr bwMode="auto">
                  <a:xfrm>
                    <a:off x="4599371" y="1883579"/>
                    <a:ext cx="36407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rPr>
                      <a:t>Great America Golf (GAG) – (Today’s Date)</a:t>
                    </a: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97585" y="3992098"/>
                <a:ext cx="1602756" cy="1475151"/>
                <a:chOff x="1165012" y="3989290"/>
                <a:chExt cx="1691641"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110365" y="3989291"/>
                <a:ext cx="1602757" cy="1477958"/>
                <a:chOff x="3509415" y="3989291"/>
                <a:chExt cx="1691642"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23144" y="3989967"/>
                <a:ext cx="1602757" cy="1477958"/>
                <a:chOff x="5390406" y="3989967"/>
                <a:chExt cx="1691642"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35918" y="3991319"/>
                <a:ext cx="1602759" cy="1477958"/>
                <a:chOff x="7271398" y="3991319"/>
                <a:chExt cx="1691645"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48702" y="3989291"/>
                <a:ext cx="1602760" cy="1477958"/>
                <a:chOff x="9520076" y="3982038"/>
                <a:chExt cx="1691645"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32" name="Group 31">
              <a:extLst>
                <a:ext uri="{FF2B5EF4-FFF2-40B4-BE49-F238E27FC236}">
                  <a16:creationId xmlns:a16="http://schemas.microsoft.com/office/drawing/2014/main" id="{A1673E8E-272F-C61A-1FDE-183C74AB6D2F}"/>
                </a:ext>
              </a:extLst>
            </p:cNvPr>
            <p:cNvGrpSpPr/>
            <p:nvPr/>
          </p:nvGrpSpPr>
          <p:grpSpPr>
            <a:xfrm>
              <a:off x="235612" y="4343625"/>
              <a:ext cx="7515317" cy="495298"/>
              <a:chOff x="235612" y="4343625"/>
              <a:chExt cx="7515317" cy="495298"/>
            </a:xfrm>
          </p:grpSpPr>
          <p:sp>
            <p:nvSpPr>
              <p:cNvPr id="13" name="Line 475">
                <a:extLst>
                  <a:ext uri="{FF2B5EF4-FFF2-40B4-BE49-F238E27FC236}">
                    <a16:creationId xmlns:a16="http://schemas.microsoft.com/office/drawing/2014/main" id="{DC8A1ABA-425B-985F-7B2B-A482C783C0E0}"/>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475">
                <a:extLst>
                  <a:ext uri="{FF2B5EF4-FFF2-40B4-BE49-F238E27FC236}">
                    <a16:creationId xmlns:a16="http://schemas.microsoft.com/office/drawing/2014/main" id="{155AA22B-75AD-57BC-A3FC-30C98D82BBC4}"/>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475">
                <a:extLst>
                  <a:ext uri="{FF2B5EF4-FFF2-40B4-BE49-F238E27FC236}">
                    <a16:creationId xmlns:a16="http://schemas.microsoft.com/office/drawing/2014/main" id="{EC71E2A6-431F-F7DA-8F3C-7962D4749BAF}"/>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475">
                <a:extLst>
                  <a:ext uri="{FF2B5EF4-FFF2-40B4-BE49-F238E27FC236}">
                    <a16:creationId xmlns:a16="http://schemas.microsoft.com/office/drawing/2014/main" id="{CF81F357-826E-7E1E-6F5D-985C2F1C177C}"/>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Text Box 469">
                <a:extLst>
                  <a:ext uri="{FF2B5EF4-FFF2-40B4-BE49-F238E27FC236}">
                    <a16:creationId xmlns:a16="http://schemas.microsoft.com/office/drawing/2014/main" id="{DEF2F55D-7A11-F8A4-513B-09B516923561}"/>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19" name="Text Box 471">
                <a:extLst>
                  <a:ext uri="{FF2B5EF4-FFF2-40B4-BE49-F238E27FC236}">
                    <a16:creationId xmlns:a16="http://schemas.microsoft.com/office/drawing/2014/main" id="{EF9DE02D-98BC-374F-7D77-F4C4C7289BC0}"/>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20" name="Text Box 473">
                <a:extLst>
                  <a:ext uri="{FF2B5EF4-FFF2-40B4-BE49-F238E27FC236}">
                    <a16:creationId xmlns:a16="http://schemas.microsoft.com/office/drawing/2014/main" id="{43791338-C549-DDDD-8E10-189D07B7C3AF}"/>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21" name="Text Box 476">
                <a:extLst>
                  <a:ext uri="{FF2B5EF4-FFF2-40B4-BE49-F238E27FC236}">
                    <a16:creationId xmlns:a16="http://schemas.microsoft.com/office/drawing/2014/main" id="{D60E8A72-434F-B4B9-2954-71D4FBE1D85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33" name="Group 32">
              <a:extLst>
                <a:ext uri="{FF2B5EF4-FFF2-40B4-BE49-F238E27FC236}">
                  <a16:creationId xmlns:a16="http://schemas.microsoft.com/office/drawing/2014/main" id="{603A49A3-A6A7-8D20-1BB3-7DD2B6A4177A}"/>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7259BBF2-CC01-5F3C-598B-EF07A702CA13}"/>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30" name="Group 29">
                <a:extLst>
                  <a:ext uri="{FF2B5EF4-FFF2-40B4-BE49-F238E27FC236}">
                    <a16:creationId xmlns:a16="http://schemas.microsoft.com/office/drawing/2014/main" id="{7EFA250D-722E-1BF0-3C96-753704524213}"/>
                  </a:ext>
                </a:extLst>
              </p:cNvPr>
              <p:cNvGrpSpPr/>
              <p:nvPr/>
            </p:nvGrpSpPr>
            <p:grpSpPr>
              <a:xfrm>
                <a:off x="9388570" y="3988677"/>
                <a:ext cx="529880" cy="1291573"/>
                <a:chOff x="9388570" y="3988677"/>
                <a:chExt cx="529880" cy="1291573"/>
              </a:xfrm>
            </p:grpSpPr>
            <p:sp>
              <p:nvSpPr>
                <p:cNvPr id="22" name="Rectangle 21">
                  <a:extLst>
                    <a:ext uri="{FF2B5EF4-FFF2-40B4-BE49-F238E27FC236}">
                      <a16:creationId xmlns:a16="http://schemas.microsoft.com/office/drawing/2014/main" id="{D3300149-4D5F-A3AC-1D62-6841B7B12F9F}"/>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3" name="AutoShape 461">
                  <a:extLst>
                    <a:ext uri="{FF2B5EF4-FFF2-40B4-BE49-F238E27FC236}">
                      <a16:creationId xmlns:a16="http://schemas.microsoft.com/office/drawing/2014/main" id="{86820194-E6B7-9967-0014-65D29498B938}"/>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4" name="AutoShape 461">
                  <a:extLst>
                    <a:ext uri="{FF2B5EF4-FFF2-40B4-BE49-F238E27FC236}">
                      <a16:creationId xmlns:a16="http://schemas.microsoft.com/office/drawing/2014/main" id="{D7E071F3-206F-C73A-B7B5-1ABF53AF06DD}"/>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AutoShape 461">
                  <a:extLst>
                    <a:ext uri="{FF2B5EF4-FFF2-40B4-BE49-F238E27FC236}">
                      <a16:creationId xmlns:a16="http://schemas.microsoft.com/office/drawing/2014/main" id="{26AD20E0-6073-9F89-FEBE-312157398A68}"/>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6" name="Rectangle 25">
                  <a:extLst>
                    <a:ext uri="{FF2B5EF4-FFF2-40B4-BE49-F238E27FC236}">
                      <a16:creationId xmlns:a16="http://schemas.microsoft.com/office/drawing/2014/main" id="{3AF815FC-0C85-351F-810F-0B176A862FD7}"/>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8" name="Straight Connector 27">
                  <a:extLst>
                    <a:ext uri="{FF2B5EF4-FFF2-40B4-BE49-F238E27FC236}">
                      <a16:creationId xmlns:a16="http://schemas.microsoft.com/office/drawing/2014/main" id="{36116B7F-FF41-4316-5F4E-DD8D67A2FD4F}"/>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41AFC2-C849-AA35-BC6C-855F4D11298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Line 342">
            <a:extLst>
              <a:ext uri="{FF2B5EF4-FFF2-40B4-BE49-F238E27FC236}">
                <a16:creationId xmlns:a16="http://schemas.microsoft.com/office/drawing/2014/main" id="{C30B02D2-054E-9CB3-51F5-D8362D230AF6}"/>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 name="Rectangle 382">
            <a:extLst>
              <a:ext uri="{FF2B5EF4-FFF2-40B4-BE49-F238E27FC236}">
                <a16:creationId xmlns:a16="http://schemas.microsoft.com/office/drawing/2014/main" id="{88A1BD9C-12B2-0897-CC18-D41F83BB20D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35" name="Table 35">
            <a:extLst>
              <a:ext uri="{FF2B5EF4-FFF2-40B4-BE49-F238E27FC236}">
                <a16:creationId xmlns:a16="http://schemas.microsoft.com/office/drawing/2014/main" id="{9F4DAA44-F96F-9318-893D-47D99D866FCD}"/>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36" name="Rectangle 35">
            <a:extLst>
              <a:ext uri="{FF2B5EF4-FFF2-40B4-BE49-F238E27FC236}">
                <a16:creationId xmlns:a16="http://schemas.microsoft.com/office/drawing/2014/main" id="{854CE73E-30B6-B7B7-614A-AF0ECA0F753C}"/>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37" name="Rectangle 36">
            <a:extLst>
              <a:ext uri="{FF2B5EF4-FFF2-40B4-BE49-F238E27FC236}">
                <a16:creationId xmlns:a16="http://schemas.microsoft.com/office/drawing/2014/main" id="{879FBCDD-2983-3207-5485-4B4E8B41BBAE}"/>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38" name="Rectangle 37">
            <a:extLst>
              <a:ext uri="{FF2B5EF4-FFF2-40B4-BE49-F238E27FC236}">
                <a16:creationId xmlns:a16="http://schemas.microsoft.com/office/drawing/2014/main" id="{F5F6219A-7BA2-AC7A-38A4-51382A37985D}"/>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39" name="Rectangle 38">
            <a:extLst>
              <a:ext uri="{FF2B5EF4-FFF2-40B4-BE49-F238E27FC236}">
                <a16:creationId xmlns:a16="http://schemas.microsoft.com/office/drawing/2014/main" id="{79290766-C5D4-4136-0096-35271DDA1B27}"/>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40" name="Rectangle 39">
            <a:extLst>
              <a:ext uri="{FF2B5EF4-FFF2-40B4-BE49-F238E27FC236}">
                <a16:creationId xmlns:a16="http://schemas.microsoft.com/office/drawing/2014/main" id="{02FC99F1-356C-7A4D-9B2F-FC8AD0913DDB}"/>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42" name="Straight Arrow Connector 41">
            <a:extLst>
              <a:ext uri="{FF2B5EF4-FFF2-40B4-BE49-F238E27FC236}">
                <a16:creationId xmlns:a16="http://schemas.microsoft.com/office/drawing/2014/main" id="{C4A8A304-9FDE-8AAF-0CA1-30ECA49AAED8}"/>
              </a:ext>
            </a:extLst>
          </p:cNvPr>
          <p:cNvCxnSpPr>
            <a:stCxn id="50" idx="0"/>
            <a:endCxn id="37"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074261F5-F988-F672-8B00-436D7AADE9C6}"/>
              </a:ext>
            </a:extLst>
          </p:cNvPr>
          <p:cNvCxnSpPr>
            <a:stCxn id="37" idx="1"/>
            <a:endCxn id="51"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648C2C9B-6DF7-48B0-9EE4-C2AFB470354E}"/>
              </a:ext>
            </a:extLst>
          </p:cNvPr>
          <p:cNvCxnSpPr>
            <a:cxnSpLocks/>
            <a:stCxn id="51" idx="0"/>
            <a:endCxn id="37"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735C6205-4258-312B-6FB2-E038B19B2EC3}"/>
              </a:ext>
            </a:extLst>
          </p:cNvPr>
          <p:cNvCxnSpPr>
            <a:cxnSpLocks/>
            <a:stCxn id="37" idx="2"/>
            <a:endCxn id="52"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a16:creationId xmlns:a16="http://schemas.microsoft.com/office/drawing/2014/main" id="{9DD89218-1F3C-F3D4-1041-10C35AE5DA16}"/>
              </a:ext>
            </a:extLst>
          </p:cNvPr>
          <p:cNvCxnSpPr>
            <a:cxnSpLocks/>
            <a:stCxn id="37" idx="2"/>
            <a:endCxn id="5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Straight Arrow Connector 105">
            <a:extLst>
              <a:ext uri="{FF2B5EF4-FFF2-40B4-BE49-F238E27FC236}">
                <a16:creationId xmlns:a16="http://schemas.microsoft.com/office/drawing/2014/main" id="{655C7D3C-6E3B-FC56-D10F-E7243E2CEAAD}"/>
              </a:ext>
            </a:extLst>
          </p:cNvPr>
          <p:cNvCxnSpPr>
            <a:cxnSpLocks/>
            <a:endCxn id="37"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DD10CA4E-F0CC-7F95-E5F0-DCFC86F79F60}"/>
              </a:ext>
            </a:extLst>
          </p:cNvPr>
          <p:cNvCxnSpPr>
            <a:cxnSpLocks/>
            <a:stCxn id="37" idx="3"/>
            <a:endCxn id="54"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Connector: Elbow 112">
            <a:extLst>
              <a:ext uri="{FF2B5EF4-FFF2-40B4-BE49-F238E27FC236}">
                <a16:creationId xmlns:a16="http://schemas.microsoft.com/office/drawing/2014/main" id="{A269E5A4-CAE7-03B9-9C1F-E91D44608941}"/>
              </a:ext>
            </a:extLst>
          </p:cNvPr>
          <p:cNvCxnSpPr>
            <a:stCxn id="50" idx="0"/>
            <a:endCxn id="36"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nector: Elbow 113">
            <a:extLst>
              <a:ext uri="{FF2B5EF4-FFF2-40B4-BE49-F238E27FC236}">
                <a16:creationId xmlns:a16="http://schemas.microsoft.com/office/drawing/2014/main" id="{1533AEB4-163B-96DA-F066-A3AF89592066}"/>
              </a:ext>
            </a:extLst>
          </p:cNvPr>
          <p:cNvCxnSpPr>
            <a:cxnSpLocks/>
            <a:stCxn id="36" idx="3"/>
            <a:endCxn id="51"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nector: Elbow 116">
            <a:extLst>
              <a:ext uri="{FF2B5EF4-FFF2-40B4-BE49-F238E27FC236}">
                <a16:creationId xmlns:a16="http://schemas.microsoft.com/office/drawing/2014/main" id="{C983C60E-69EC-A82E-380E-51BFEEE09429}"/>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nector: Elbow 120">
            <a:extLst>
              <a:ext uri="{FF2B5EF4-FFF2-40B4-BE49-F238E27FC236}">
                <a16:creationId xmlns:a16="http://schemas.microsoft.com/office/drawing/2014/main" id="{D4A1E858-169E-A5EC-E292-3A6A15AD7EA4}"/>
              </a:ext>
            </a:extLst>
          </p:cNvPr>
          <p:cNvCxnSpPr>
            <a:cxnSpLocks/>
            <a:stCxn id="53" idx="0"/>
            <a:endCxn id="39"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nector: Elbow 123">
            <a:extLst>
              <a:ext uri="{FF2B5EF4-FFF2-40B4-BE49-F238E27FC236}">
                <a16:creationId xmlns:a16="http://schemas.microsoft.com/office/drawing/2014/main" id="{1D159088-CD73-CF10-5032-EE2F963F3BC6}"/>
              </a:ext>
            </a:extLst>
          </p:cNvPr>
          <p:cNvCxnSpPr>
            <a:cxnSpLocks/>
            <a:stCxn id="54" idx="0"/>
            <a:endCxn id="40"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414138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Complete Current State Map</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62</a:t>
            </a:fld>
            <a:endParaRPr lang="en-US"/>
          </a:p>
        </p:txBody>
      </p:sp>
      <p:grpSp>
        <p:nvGrpSpPr>
          <p:cNvPr id="3" name="Group 2">
            <a:extLst>
              <a:ext uri="{FF2B5EF4-FFF2-40B4-BE49-F238E27FC236}">
                <a16:creationId xmlns:a16="http://schemas.microsoft.com/office/drawing/2014/main" id="{A22B4AE2-64D6-412D-F15F-BCA7722AFB5C}"/>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B9CED3F-A33E-4074-64E1-C9CD133FF158}"/>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FC077048-70CA-B0FA-584E-3266536EF638}"/>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091D9E9-673C-0076-F1BE-8C0A4AABE84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3A9589E-487F-E731-6BE8-25ABB8E5502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ABB89EE-29F7-5784-04B3-AA113691E344}"/>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260CC96D-68B3-23ED-6BA9-A44854D4A6A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D2B95001-4E86-30D1-9DB1-D118008F277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16A7F184-809A-DCA1-AB7E-0AB296C4E10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4" name="Group 33">
            <a:extLst>
              <a:ext uri="{FF2B5EF4-FFF2-40B4-BE49-F238E27FC236}">
                <a16:creationId xmlns:a16="http://schemas.microsoft.com/office/drawing/2014/main" id="{2295933F-C084-ED31-54DF-2D9DC1CFB2AB}"/>
              </a:ext>
            </a:extLst>
          </p:cNvPr>
          <p:cNvGrpSpPr/>
          <p:nvPr/>
        </p:nvGrpSpPr>
        <p:grpSpPr>
          <a:xfrm>
            <a:off x="203200" y="1731888"/>
            <a:ext cx="11694159" cy="4566200"/>
            <a:chOff x="203200" y="1731888"/>
            <a:chExt cx="11694159" cy="4566200"/>
          </a:xfrm>
        </p:grpSpPr>
        <p:grpSp>
          <p:nvGrpSpPr>
            <p:cNvPr id="99" name="Group 98">
              <a:extLst>
                <a:ext uri="{FF2B5EF4-FFF2-40B4-BE49-F238E27FC236}">
                  <a16:creationId xmlns:a16="http://schemas.microsoft.com/office/drawing/2014/main" id="{C9F51E00-4842-7A61-DE94-28CA4AA6ACE8}"/>
                </a:ext>
              </a:extLst>
            </p:cNvPr>
            <p:cNvGrpSpPr/>
            <p:nvPr/>
          </p:nvGrpSpPr>
          <p:grpSpPr>
            <a:xfrm>
              <a:off x="203200" y="1731888"/>
              <a:ext cx="11694159" cy="4566200"/>
              <a:chOff x="203200" y="1731888"/>
              <a:chExt cx="11694159" cy="4566200"/>
            </a:xfrm>
          </p:grpSpPr>
          <p:grpSp>
            <p:nvGrpSpPr>
              <p:cNvPr id="65" name="Group 64">
                <a:extLst>
                  <a:ext uri="{FF2B5EF4-FFF2-40B4-BE49-F238E27FC236}">
                    <a16:creationId xmlns:a16="http://schemas.microsoft.com/office/drawing/2014/main" id="{EB133E69-AB2A-2436-DF0D-EFFAE4321B37}"/>
                  </a:ext>
                </a:extLst>
              </p:cNvPr>
              <p:cNvGrpSpPr/>
              <p:nvPr/>
            </p:nvGrpSpPr>
            <p:grpSpPr>
              <a:xfrm>
                <a:off x="203200" y="1731888"/>
                <a:ext cx="11694159" cy="4566200"/>
                <a:chOff x="203200" y="1731888"/>
                <a:chExt cx="11694159" cy="4566200"/>
              </a:xfrm>
            </p:grpSpPr>
            <p:grpSp>
              <p:nvGrpSpPr>
                <p:cNvPr id="66" name="Group 65">
                  <a:extLst>
                    <a:ext uri="{FF2B5EF4-FFF2-40B4-BE49-F238E27FC236}">
                      <a16:creationId xmlns:a16="http://schemas.microsoft.com/office/drawing/2014/main" id="{8A10F0A2-26EC-F4F7-9ACB-C604F4927265}"/>
                    </a:ext>
                  </a:extLst>
                </p:cNvPr>
                <p:cNvGrpSpPr/>
                <p:nvPr/>
              </p:nvGrpSpPr>
              <p:grpSpPr>
                <a:xfrm>
                  <a:off x="203200" y="1731888"/>
                  <a:ext cx="11694159" cy="4566200"/>
                  <a:chOff x="203200" y="1731888"/>
                  <a:chExt cx="11694159" cy="4566200"/>
                </a:xfrm>
              </p:grpSpPr>
              <p:sp>
                <p:nvSpPr>
                  <p:cNvPr id="68" name="Rectangle 2">
                    <a:extLst>
                      <a:ext uri="{FF2B5EF4-FFF2-40B4-BE49-F238E27FC236}">
                        <a16:creationId xmlns:a16="http://schemas.microsoft.com/office/drawing/2014/main" id="{099945F9-F59C-207C-2EE5-B34511D87BE3}"/>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grpSp>
                <p:nvGrpSpPr>
                  <p:cNvPr id="70" name="Group 69">
                    <a:extLst>
                      <a:ext uri="{FF2B5EF4-FFF2-40B4-BE49-F238E27FC236}">
                        <a16:creationId xmlns:a16="http://schemas.microsoft.com/office/drawing/2014/main" id="{85845BD2-A6FF-CF3A-F9FA-FB255EA8CED4}"/>
                      </a:ext>
                    </a:extLst>
                  </p:cNvPr>
                  <p:cNvGrpSpPr/>
                  <p:nvPr/>
                </p:nvGrpSpPr>
                <p:grpSpPr>
                  <a:xfrm>
                    <a:off x="10367408" y="2035271"/>
                    <a:ext cx="1284053" cy="842320"/>
                    <a:chOff x="9371728" y="2008329"/>
                    <a:chExt cx="1284053" cy="842320"/>
                  </a:xfrm>
                </p:grpSpPr>
                <p:sp>
                  <p:nvSpPr>
                    <p:cNvPr id="71" name="Rectangle 13">
                      <a:extLst>
                        <a:ext uri="{FF2B5EF4-FFF2-40B4-BE49-F238E27FC236}">
                          <a16:creationId xmlns:a16="http://schemas.microsoft.com/office/drawing/2014/main" id="{497DD9A1-3F51-8B27-BAD6-9AC98C1BF05D}"/>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4">
                      <a:extLst>
                        <a:ext uri="{FF2B5EF4-FFF2-40B4-BE49-F238E27FC236}">
                          <a16:creationId xmlns:a16="http://schemas.microsoft.com/office/drawing/2014/main" id="{BD74C039-00FC-7941-1640-629664F800F7}"/>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15">
                      <a:extLst>
                        <a:ext uri="{FF2B5EF4-FFF2-40B4-BE49-F238E27FC236}">
                          <a16:creationId xmlns:a16="http://schemas.microsoft.com/office/drawing/2014/main" id="{94CCCF73-E898-7555-3499-F0310D82D32E}"/>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6">
                      <a:extLst>
                        <a:ext uri="{FF2B5EF4-FFF2-40B4-BE49-F238E27FC236}">
                          <a16:creationId xmlns:a16="http://schemas.microsoft.com/office/drawing/2014/main" id="{66D203AB-6802-C341-C0BD-8E8FDB9A2A5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17">
                      <a:extLst>
                        <a:ext uri="{FF2B5EF4-FFF2-40B4-BE49-F238E27FC236}">
                          <a16:creationId xmlns:a16="http://schemas.microsoft.com/office/drawing/2014/main" id="{55004ADC-1851-84E2-363D-FA29D7A0DF46}"/>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18">
                      <a:extLst>
                        <a:ext uri="{FF2B5EF4-FFF2-40B4-BE49-F238E27FC236}">
                          <a16:creationId xmlns:a16="http://schemas.microsoft.com/office/drawing/2014/main" id="{3411D371-F0FC-036C-91E7-A1D58636B713}"/>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19">
                      <a:extLst>
                        <a:ext uri="{FF2B5EF4-FFF2-40B4-BE49-F238E27FC236}">
                          <a16:creationId xmlns:a16="http://schemas.microsoft.com/office/drawing/2014/main" id="{F4B72184-61BC-BB19-306C-D09BAD87A591}"/>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20">
                      <a:extLst>
                        <a:ext uri="{FF2B5EF4-FFF2-40B4-BE49-F238E27FC236}">
                          <a16:creationId xmlns:a16="http://schemas.microsoft.com/office/drawing/2014/main" id="{C3C01F75-1D80-FABB-4B49-C8A3AD5342AF}"/>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21">
                      <a:extLst>
                        <a:ext uri="{FF2B5EF4-FFF2-40B4-BE49-F238E27FC236}">
                          <a16:creationId xmlns:a16="http://schemas.microsoft.com/office/drawing/2014/main" id="{633A66E8-4894-D82B-009B-E3C6D9F318D2}"/>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22">
                      <a:extLst>
                        <a:ext uri="{FF2B5EF4-FFF2-40B4-BE49-F238E27FC236}">
                          <a16:creationId xmlns:a16="http://schemas.microsoft.com/office/drawing/2014/main" id="{CDEA62EA-CE3B-7A34-5597-03C2A98C6970}"/>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23">
                      <a:extLst>
                        <a:ext uri="{FF2B5EF4-FFF2-40B4-BE49-F238E27FC236}">
                          <a16:creationId xmlns:a16="http://schemas.microsoft.com/office/drawing/2014/main" id="{0EFF0F56-CC80-7B08-4337-85EFDA03ADFC}"/>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24">
                      <a:extLst>
                        <a:ext uri="{FF2B5EF4-FFF2-40B4-BE49-F238E27FC236}">
                          <a16:creationId xmlns:a16="http://schemas.microsoft.com/office/drawing/2014/main" id="{DBD209CC-3424-B696-5E19-81AA9D082DCB}"/>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Rectangle 25">
                      <a:extLst>
                        <a:ext uri="{FF2B5EF4-FFF2-40B4-BE49-F238E27FC236}">
                          <a16:creationId xmlns:a16="http://schemas.microsoft.com/office/drawing/2014/main" id="{C8857989-933D-585E-BEC6-7A60FBFA185F}"/>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4" name="Rectangle 26">
                      <a:extLst>
                        <a:ext uri="{FF2B5EF4-FFF2-40B4-BE49-F238E27FC236}">
                          <a16:creationId xmlns:a16="http://schemas.microsoft.com/office/drawing/2014/main" id="{CD58BD72-F48B-34CC-061F-E79DD88ACE4A}"/>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5" name="Rectangle 27">
                      <a:extLst>
                        <a:ext uri="{FF2B5EF4-FFF2-40B4-BE49-F238E27FC236}">
                          <a16:creationId xmlns:a16="http://schemas.microsoft.com/office/drawing/2014/main" id="{7576AEAD-EF0C-A550-4F2F-317D7F6D593A}"/>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Rectangle 28">
                      <a:extLst>
                        <a:ext uri="{FF2B5EF4-FFF2-40B4-BE49-F238E27FC236}">
                          <a16:creationId xmlns:a16="http://schemas.microsoft.com/office/drawing/2014/main" id="{BDCE2817-7A48-673A-FF21-53C8D12B7530}"/>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7" name="Rectangle 29">
                      <a:extLst>
                        <a:ext uri="{FF2B5EF4-FFF2-40B4-BE49-F238E27FC236}">
                          <a16:creationId xmlns:a16="http://schemas.microsoft.com/office/drawing/2014/main" id="{87FA3A62-8882-3334-1D40-E0CE0426CCD4}"/>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Rectangle 30">
                      <a:extLst>
                        <a:ext uri="{FF2B5EF4-FFF2-40B4-BE49-F238E27FC236}">
                          <a16:creationId xmlns:a16="http://schemas.microsoft.com/office/drawing/2014/main" id="{072042A8-3C45-A23D-44EB-F0BD9F3FBE42}"/>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9" name="Rectangle 31">
                      <a:extLst>
                        <a:ext uri="{FF2B5EF4-FFF2-40B4-BE49-F238E27FC236}">
                          <a16:creationId xmlns:a16="http://schemas.microsoft.com/office/drawing/2014/main" id="{345569E9-8DC9-001E-C9DB-B3A903E00E09}"/>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Rectangle 32">
                      <a:extLst>
                        <a:ext uri="{FF2B5EF4-FFF2-40B4-BE49-F238E27FC236}">
                          <a16:creationId xmlns:a16="http://schemas.microsoft.com/office/drawing/2014/main" id="{804C2D2F-7D45-CC67-935F-A2627F95D5C9}"/>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Rectangle 33">
                      <a:extLst>
                        <a:ext uri="{FF2B5EF4-FFF2-40B4-BE49-F238E27FC236}">
                          <a16:creationId xmlns:a16="http://schemas.microsoft.com/office/drawing/2014/main" id="{2F39B0BE-7303-AF53-1B3A-289B02ABE1C8}"/>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2" name="Rectangle 34">
                      <a:extLst>
                        <a:ext uri="{FF2B5EF4-FFF2-40B4-BE49-F238E27FC236}">
                          <a16:creationId xmlns:a16="http://schemas.microsoft.com/office/drawing/2014/main" id="{4FF23853-E784-7D11-AED6-663394E0AAE2}"/>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3" name="Rectangle 35">
                      <a:extLst>
                        <a:ext uri="{FF2B5EF4-FFF2-40B4-BE49-F238E27FC236}">
                          <a16:creationId xmlns:a16="http://schemas.microsoft.com/office/drawing/2014/main" id="{48B7CC92-D36F-7402-52F9-09EA434CCB9C}"/>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4" name="Rectangle 36">
                      <a:extLst>
                        <a:ext uri="{FF2B5EF4-FFF2-40B4-BE49-F238E27FC236}">
                          <a16:creationId xmlns:a16="http://schemas.microsoft.com/office/drawing/2014/main" id="{0547D15F-7805-B7BA-1F06-F0D011B749B7}"/>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5" name="Rectangle 37">
                      <a:extLst>
                        <a:ext uri="{FF2B5EF4-FFF2-40B4-BE49-F238E27FC236}">
                          <a16:creationId xmlns:a16="http://schemas.microsoft.com/office/drawing/2014/main" id="{EF64FC6B-4412-A927-0246-A713B204825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6" name="Rectangle 38">
                      <a:extLst>
                        <a:ext uri="{FF2B5EF4-FFF2-40B4-BE49-F238E27FC236}">
                          <a16:creationId xmlns:a16="http://schemas.microsoft.com/office/drawing/2014/main" id="{66B9CAE3-306F-2BB7-19AF-7B2D64EDBE46}"/>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7" name="Rectangle 39">
                      <a:extLst>
                        <a:ext uri="{FF2B5EF4-FFF2-40B4-BE49-F238E27FC236}">
                          <a16:creationId xmlns:a16="http://schemas.microsoft.com/office/drawing/2014/main" id="{690CC4DA-9C0F-2AD2-78F2-9BCCD687AB86}"/>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8" name="Text Box 40">
                      <a:extLst>
                        <a:ext uri="{FF2B5EF4-FFF2-40B4-BE49-F238E27FC236}">
                          <a16:creationId xmlns:a16="http://schemas.microsoft.com/office/drawing/2014/main" id="{13712BA1-E600-AC65-6475-1AB19C11E86B}"/>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67" name="Rectangle 41">
                  <a:extLst>
                    <a:ext uri="{FF2B5EF4-FFF2-40B4-BE49-F238E27FC236}">
                      <a16:creationId xmlns:a16="http://schemas.microsoft.com/office/drawing/2014/main" id="{3501F84C-7F7B-409E-9108-98FE610758B3}"/>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49" name="Line 11">
                <a:extLst>
                  <a:ext uri="{FF2B5EF4-FFF2-40B4-BE49-F238E27FC236}">
                    <a16:creationId xmlns:a16="http://schemas.microsoft.com/office/drawing/2014/main" id="{1B6617D1-DE35-C29F-01B7-30D188DAF196}"/>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64" name="Group 63">
                <a:extLst>
                  <a:ext uri="{FF2B5EF4-FFF2-40B4-BE49-F238E27FC236}">
                    <a16:creationId xmlns:a16="http://schemas.microsoft.com/office/drawing/2014/main" id="{084487BD-7095-2751-7661-AEAB16EE6D33}"/>
                  </a:ext>
                </a:extLst>
              </p:cNvPr>
              <p:cNvGrpSpPr/>
              <p:nvPr/>
            </p:nvGrpSpPr>
            <p:grpSpPr>
              <a:xfrm>
                <a:off x="797585" y="3992098"/>
                <a:ext cx="1602756" cy="1475151"/>
                <a:chOff x="1165012" y="3989290"/>
                <a:chExt cx="1691641" cy="1475151"/>
              </a:xfrm>
            </p:grpSpPr>
            <p:sp>
              <p:nvSpPr>
                <p:cNvPr id="50" name="Rectangle 49">
                  <a:extLst>
                    <a:ext uri="{FF2B5EF4-FFF2-40B4-BE49-F238E27FC236}">
                      <a16:creationId xmlns:a16="http://schemas.microsoft.com/office/drawing/2014/main" id="{5DBDCE45-8FDD-80EE-2493-794D4A8B5ACB}"/>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5" name="Rectangle 54">
                  <a:extLst>
                    <a:ext uri="{FF2B5EF4-FFF2-40B4-BE49-F238E27FC236}">
                      <a16:creationId xmlns:a16="http://schemas.microsoft.com/office/drawing/2014/main" id="{5BC05883-06BB-B5DD-6E5E-20794D8FBD2C}"/>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63" name="Group 62">
                <a:extLst>
                  <a:ext uri="{FF2B5EF4-FFF2-40B4-BE49-F238E27FC236}">
                    <a16:creationId xmlns:a16="http://schemas.microsoft.com/office/drawing/2014/main" id="{459F214E-422C-8F75-5293-AEA49563FC51}"/>
                  </a:ext>
                </a:extLst>
              </p:cNvPr>
              <p:cNvGrpSpPr/>
              <p:nvPr/>
            </p:nvGrpSpPr>
            <p:grpSpPr>
              <a:xfrm>
                <a:off x="3110365" y="3989291"/>
                <a:ext cx="1602757" cy="1477958"/>
                <a:chOff x="3509415" y="3989291"/>
                <a:chExt cx="1691642" cy="1477958"/>
              </a:xfrm>
            </p:grpSpPr>
            <p:sp>
              <p:nvSpPr>
                <p:cNvPr id="51" name="Rectangle 50">
                  <a:extLst>
                    <a:ext uri="{FF2B5EF4-FFF2-40B4-BE49-F238E27FC236}">
                      <a16:creationId xmlns:a16="http://schemas.microsoft.com/office/drawing/2014/main" id="{B8B28D93-2976-44C5-5872-3BCC078FA79D}"/>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56" name="Rectangle 55">
                  <a:extLst>
                    <a:ext uri="{FF2B5EF4-FFF2-40B4-BE49-F238E27FC236}">
                      <a16:creationId xmlns:a16="http://schemas.microsoft.com/office/drawing/2014/main" id="{21AD3E03-B56D-4B1E-4B88-B1D9F3D2892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62" name="Group 61">
                <a:extLst>
                  <a:ext uri="{FF2B5EF4-FFF2-40B4-BE49-F238E27FC236}">
                    <a16:creationId xmlns:a16="http://schemas.microsoft.com/office/drawing/2014/main" id="{D0CA0A39-08F8-3B84-E3C7-288F2D333027}"/>
                  </a:ext>
                </a:extLst>
              </p:cNvPr>
              <p:cNvGrpSpPr/>
              <p:nvPr/>
            </p:nvGrpSpPr>
            <p:grpSpPr>
              <a:xfrm>
                <a:off x="5423144" y="3989967"/>
                <a:ext cx="1602757" cy="1477958"/>
                <a:chOff x="5390406" y="3989967"/>
                <a:chExt cx="1691642" cy="1477958"/>
              </a:xfrm>
            </p:grpSpPr>
            <p:sp>
              <p:nvSpPr>
                <p:cNvPr id="52" name="Rectangle 51">
                  <a:extLst>
                    <a:ext uri="{FF2B5EF4-FFF2-40B4-BE49-F238E27FC236}">
                      <a16:creationId xmlns:a16="http://schemas.microsoft.com/office/drawing/2014/main" id="{849DC328-8392-121A-591B-1DF853AB7D4B}"/>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57" name="Rectangle 56">
                  <a:extLst>
                    <a:ext uri="{FF2B5EF4-FFF2-40B4-BE49-F238E27FC236}">
                      <a16:creationId xmlns:a16="http://schemas.microsoft.com/office/drawing/2014/main" id="{1324F2C5-E348-EBEC-CEE7-EBE5365B0CFB}"/>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61" name="Group 60">
                <a:extLst>
                  <a:ext uri="{FF2B5EF4-FFF2-40B4-BE49-F238E27FC236}">
                    <a16:creationId xmlns:a16="http://schemas.microsoft.com/office/drawing/2014/main" id="{B437D534-B8A4-39CA-DE9A-9105CE7FCAF3}"/>
                  </a:ext>
                </a:extLst>
              </p:cNvPr>
              <p:cNvGrpSpPr/>
              <p:nvPr/>
            </p:nvGrpSpPr>
            <p:grpSpPr>
              <a:xfrm>
                <a:off x="7735918" y="3991319"/>
                <a:ext cx="1602759" cy="1477958"/>
                <a:chOff x="7271398" y="3991319"/>
                <a:chExt cx="1691645" cy="1477958"/>
              </a:xfrm>
            </p:grpSpPr>
            <p:sp>
              <p:nvSpPr>
                <p:cNvPr id="53" name="Rectangle 52">
                  <a:extLst>
                    <a:ext uri="{FF2B5EF4-FFF2-40B4-BE49-F238E27FC236}">
                      <a16:creationId xmlns:a16="http://schemas.microsoft.com/office/drawing/2014/main" id="{E42F4219-962B-0FD4-4EBD-CCFC9C7324FE}"/>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58" name="Rectangle 57">
                  <a:extLst>
                    <a:ext uri="{FF2B5EF4-FFF2-40B4-BE49-F238E27FC236}">
                      <a16:creationId xmlns:a16="http://schemas.microsoft.com/office/drawing/2014/main" id="{7D314EC1-C004-8F46-37E9-89C38D3FF7B3}"/>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60" name="Group 59">
                <a:extLst>
                  <a:ext uri="{FF2B5EF4-FFF2-40B4-BE49-F238E27FC236}">
                    <a16:creationId xmlns:a16="http://schemas.microsoft.com/office/drawing/2014/main" id="{3C2CFDD0-3225-2870-F8EE-F7ED8E7E4541}"/>
                  </a:ext>
                </a:extLst>
              </p:cNvPr>
              <p:cNvGrpSpPr/>
              <p:nvPr/>
            </p:nvGrpSpPr>
            <p:grpSpPr>
              <a:xfrm>
                <a:off x="10048702" y="3989291"/>
                <a:ext cx="1602760" cy="1477958"/>
                <a:chOff x="9520076" y="3982038"/>
                <a:chExt cx="1691645" cy="1477958"/>
              </a:xfrm>
            </p:grpSpPr>
            <p:sp>
              <p:nvSpPr>
                <p:cNvPr id="54" name="Rectangle 53">
                  <a:extLst>
                    <a:ext uri="{FF2B5EF4-FFF2-40B4-BE49-F238E27FC236}">
                      <a16:creationId xmlns:a16="http://schemas.microsoft.com/office/drawing/2014/main" id="{C004B794-C92F-4542-2382-C9154D112C84}"/>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59" name="Rectangle 58">
                  <a:extLst>
                    <a:ext uri="{FF2B5EF4-FFF2-40B4-BE49-F238E27FC236}">
                      <a16:creationId xmlns:a16="http://schemas.microsoft.com/office/drawing/2014/main" id="{C8875C48-47C9-EDD9-B213-247C38D96607}"/>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32" name="Group 31">
              <a:extLst>
                <a:ext uri="{FF2B5EF4-FFF2-40B4-BE49-F238E27FC236}">
                  <a16:creationId xmlns:a16="http://schemas.microsoft.com/office/drawing/2014/main" id="{A1673E8E-272F-C61A-1FDE-183C74AB6D2F}"/>
                </a:ext>
              </a:extLst>
            </p:cNvPr>
            <p:cNvGrpSpPr/>
            <p:nvPr/>
          </p:nvGrpSpPr>
          <p:grpSpPr>
            <a:xfrm>
              <a:off x="235612" y="4343625"/>
              <a:ext cx="7515317" cy="495298"/>
              <a:chOff x="235612" y="4343625"/>
              <a:chExt cx="7515317" cy="495298"/>
            </a:xfrm>
          </p:grpSpPr>
          <p:sp>
            <p:nvSpPr>
              <p:cNvPr id="13" name="Line 475">
                <a:extLst>
                  <a:ext uri="{FF2B5EF4-FFF2-40B4-BE49-F238E27FC236}">
                    <a16:creationId xmlns:a16="http://schemas.microsoft.com/office/drawing/2014/main" id="{DC8A1ABA-425B-985F-7B2B-A482C783C0E0}"/>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4" name="Line 475">
                <a:extLst>
                  <a:ext uri="{FF2B5EF4-FFF2-40B4-BE49-F238E27FC236}">
                    <a16:creationId xmlns:a16="http://schemas.microsoft.com/office/drawing/2014/main" id="{155AA22B-75AD-57BC-A3FC-30C98D82BBC4}"/>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5" name="Line 475">
                <a:extLst>
                  <a:ext uri="{FF2B5EF4-FFF2-40B4-BE49-F238E27FC236}">
                    <a16:creationId xmlns:a16="http://schemas.microsoft.com/office/drawing/2014/main" id="{EC71E2A6-431F-F7DA-8F3C-7962D4749BAF}"/>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6" name="Line 475">
                <a:extLst>
                  <a:ext uri="{FF2B5EF4-FFF2-40B4-BE49-F238E27FC236}">
                    <a16:creationId xmlns:a16="http://schemas.microsoft.com/office/drawing/2014/main" id="{CF81F357-826E-7E1E-6F5D-985C2F1C177C}"/>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18" name="Text Box 469">
                <a:extLst>
                  <a:ext uri="{FF2B5EF4-FFF2-40B4-BE49-F238E27FC236}">
                    <a16:creationId xmlns:a16="http://schemas.microsoft.com/office/drawing/2014/main" id="{DEF2F55D-7A11-F8A4-513B-09B516923561}"/>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19" name="Text Box 471">
                <a:extLst>
                  <a:ext uri="{FF2B5EF4-FFF2-40B4-BE49-F238E27FC236}">
                    <a16:creationId xmlns:a16="http://schemas.microsoft.com/office/drawing/2014/main" id="{EF9DE02D-98BC-374F-7D77-F4C4C7289BC0}"/>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20" name="Text Box 473">
                <a:extLst>
                  <a:ext uri="{FF2B5EF4-FFF2-40B4-BE49-F238E27FC236}">
                    <a16:creationId xmlns:a16="http://schemas.microsoft.com/office/drawing/2014/main" id="{43791338-C549-DDDD-8E10-189D07B7C3AF}"/>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21" name="Text Box 476">
                <a:extLst>
                  <a:ext uri="{FF2B5EF4-FFF2-40B4-BE49-F238E27FC236}">
                    <a16:creationId xmlns:a16="http://schemas.microsoft.com/office/drawing/2014/main" id="{D60E8A72-434F-B4B9-2954-71D4FBE1D85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33" name="Group 32">
              <a:extLst>
                <a:ext uri="{FF2B5EF4-FFF2-40B4-BE49-F238E27FC236}">
                  <a16:creationId xmlns:a16="http://schemas.microsoft.com/office/drawing/2014/main" id="{603A49A3-A6A7-8D20-1BB3-7DD2B6A4177A}"/>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7259BBF2-CC01-5F3C-598B-EF07A702CA13}"/>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30" name="Group 29">
                <a:extLst>
                  <a:ext uri="{FF2B5EF4-FFF2-40B4-BE49-F238E27FC236}">
                    <a16:creationId xmlns:a16="http://schemas.microsoft.com/office/drawing/2014/main" id="{7EFA250D-722E-1BF0-3C96-753704524213}"/>
                  </a:ext>
                </a:extLst>
              </p:cNvPr>
              <p:cNvGrpSpPr/>
              <p:nvPr/>
            </p:nvGrpSpPr>
            <p:grpSpPr>
              <a:xfrm>
                <a:off x="9388570" y="3988677"/>
                <a:ext cx="529880" cy="1291573"/>
                <a:chOff x="9388570" y="3988677"/>
                <a:chExt cx="529880" cy="1291573"/>
              </a:xfrm>
            </p:grpSpPr>
            <p:sp>
              <p:nvSpPr>
                <p:cNvPr id="22" name="Rectangle 21">
                  <a:extLst>
                    <a:ext uri="{FF2B5EF4-FFF2-40B4-BE49-F238E27FC236}">
                      <a16:creationId xmlns:a16="http://schemas.microsoft.com/office/drawing/2014/main" id="{D3300149-4D5F-A3AC-1D62-6841B7B12F9F}"/>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3" name="AutoShape 461">
                  <a:extLst>
                    <a:ext uri="{FF2B5EF4-FFF2-40B4-BE49-F238E27FC236}">
                      <a16:creationId xmlns:a16="http://schemas.microsoft.com/office/drawing/2014/main" id="{86820194-E6B7-9967-0014-65D29498B938}"/>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4" name="AutoShape 461">
                  <a:extLst>
                    <a:ext uri="{FF2B5EF4-FFF2-40B4-BE49-F238E27FC236}">
                      <a16:creationId xmlns:a16="http://schemas.microsoft.com/office/drawing/2014/main" id="{D7E071F3-206F-C73A-B7B5-1ABF53AF06DD}"/>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AutoShape 461">
                  <a:extLst>
                    <a:ext uri="{FF2B5EF4-FFF2-40B4-BE49-F238E27FC236}">
                      <a16:creationId xmlns:a16="http://schemas.microsoft.com/office/drawing/2014/main" id="{26AD20E0-6073-9F89-FEBE-312157398A68}"/>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6" name="Rectangle 25">
                  <a:extLst>
                    <a:ext uri="{FF2B5EF4-FFF2-40B4-BE49-F238E27FC236}">
                      <a16:creationId xmlns:a16="http://schemas.microsoft.com/office/drawing/2014/main" id="{3AF815FC-0C85-351F-810F-0B176A862FD7}"/>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8" name="Straight Connector 27">
                  <a:extLst>
                    <a:ext uri="{FF2B5EF4-FFF2-40B4-BE49-F238E27FC236}">
                      <a16:creationId xmlns:a16="http://schemas.microsoft.com/office/drawing/2014/main" id="{36116B7F-FF41-4316-5F4E-DD8D67A2FD4F}"/>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41AFC2-C849-AA35-BC6C-855F4D11298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Line 342">
            <a:extLst>
              <a:ext uri="{FF2B5EF4-FFF2-40B4-BE49-F238E27FC236}">
                <a16:creationId xmlns:a16="http://schemas.microsoft.com/office/drawing/2014/main" id="{C30B02D2-054E-9CB3-51F5-D8362D230AF6}"/>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 name="Rectangle 382">
            <a:extLst>
              <a:ext uri="{FF2B5EF4-FFF2-40B4-BE49-F238E27FC236}">
                <a16:creationId xmlns:a16="http://schemas.microsoft.com/office/drawing/2014/main" id="{88A1BD9C-12B2-0897-CC18-D41F83BB20D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35" name="Table 35">
            <a:extLst>
              <a:ext uri="{FF2B5EF4-FFF2-40B4-BE49-F238E27FC236}">
                <a16:creationId xmlns:a16="http://schemas.microsoft.com/office/drawing/2014/main" id="{9F4DAA44-F96F-9318-893D-47D99D866FCD}"/>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36" name="Rectangle 35">
            <a:extLst>
              <a:ext uri="{FF2B5EF4-FFF2-40B4-BE49-F238E27FC236}">
                <a16:creationId xmlns:a16="http://schemas.microsoft.com/office/drawing/2014/main" id="{854CE73E-30B6-B7B7-614A-AF0ECA0F753C}"/>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37" name="Rectangle 36">
            <a:extLst>
              <a:ext uri="{FF2B5EF4-FFF2-40B4-BE49-F238E27FC236}">
                <a16:creationId xmlns:a16="http://schemas.microsoft.com/office/drawing/2014/main" id="{879FBCDD-2983-3207-5485-4B4E8B41BBAE}"/>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38" name="Rectangle 37">
            <a:extLst>
              <a:ext uri="{FF2B5EF4-FFF2-40B4-BE49-F238E27FC236}">
                <a16:creationId xmlns:a16="http://schemas.microsoft.com/office/drawing/2014/main" id="{F5F6219A-7BA2-AC7A-38A4-51382A37985D}"/>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39" name="Rectangle 38">
            <a:extLst>
              <a:ext uri="{FF2B5EF4-FFF2-40B4-BE49-F238E27FC236}">
                <a16:creationId xmlns:a16="http://schemas.microsoft.com/office/drawing/2014/main" id="{79290766-C5D4-4136-0096-35271DDA1B27}"/>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40" name="Rectangle 39">
            <a:extLst>
              <a:ext uri="{FF2B5EF4-FFF2-40B4-BE49-F238E27FC236}">
                <a16:creationId xmlns:a16="http://schemas.microsoft.com/office/drawing/2014/main" id="{02FC99F1-356C-7A4D-9B2F-FC8AD0913DDB}"/>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42" name="Straight Arrow Connector 41">
            <a:extLst>
              <a:ext uri="{FF2B5EF4-FFF2-40B4-BE49-F238E27FC236}">
                <a16:creationId xmlns:a16="http://schemas.microsoft.com/office/drawing/2014/main" id="{C4A8A304-9FDE-8AAF-0CA1-30ECA49AAED8}"/>
              </a:ext>
            </a:extLst>
          </p:cNvPr>
          <p:cNvCxnSpPr>
            <a:stCxn id="50" idx="0"/>
            <a:endCxn id="37"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074261F5-F988-F672-8B00-436D7AADE9C6}"/>
              </a:ext>
            </a:extLst>
          </p:cNvPr>
          <p:cNvCxnSpPr>
            <a:stCxn id="37" idx="1"/>
            <a:endCxn id="51"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648C2C9B-6DF7-48B0-9EE4-C2AFB470354E}"/>
              </a:ext>
            </a:extLst>
          </p:cNvPr>
          <p:cNvCxnSpPr>
            <a:cxnSpLocks/>
            <a:stCxn id="51" idx="0"/>
            <a:endCxn id="37"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735C6205-4258-312B-6FB2-E038B19B2EC3}"/>
              </a:ext>
            </a:extLst>
          </p:cNvPr>
          <p:cNvCxnSpPr>
            <a:cxnSpLocks/>
            <a:stCxn id="37" idx="2"/>
            <a:endCxn id="52"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a16:creationId xmlns:a16="http://schemas.microsoft.com/office/drawing/2014/main" id="{9DD89218-1F3C-F3D4-1041-10C35AE5DA16}"/>
              </a:ext>
            </a:extLst>
          </p:cNvPr>
          <p:cNvCxnSpPr>
            <a:cxnSpLocks/>
            <a:stCxn id="37" idx="2"/>
            <a:endCxn id="5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Straight Arrow Connector 105">
            <a:extLst>
              <a:ext uri="{FF2B5EF4-FFF2-40B4-BE49-F238E27FC236}">
                <a16:creationId xmlns:a16="http://schemas.microsoft.com/office/drawing/2014/main" id="{655C7D3C-6E3B-FC56-D10F-E7243E2CEAAD}"/>
              </a:ext>
            </a:extLst>
          </p:cNvPr>
          <p:cNvCxnSpPr>
            <a:cxnSpLocks/>
            <a:endCxn id="37"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DD10CA4E-F0CC-7F95-E5F0-DCFC86F79F60}"/>
              </a:ext>
            </a:extLst>
          </p:cNvPr>
          <p:cNvCxnSpPr>
            <a:cxnSpLocks/>
            <a:stCxn id="37" idx="3"/>
            <a:endCxn id="54"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Connector: Elbow 112">
            <a:extLst>
              <a:ext uri="{FF2B5EF4-FFF2-40B4-BE49-F238E27FC236}">
                <a16:creationId xmlns:a16="http://schemas.microsoft.com/office/drawing/2014/main" id="{A269E5A4-CAE7-03B9-9C1F-E91D44608941}"/>
              </a:ext>
            </a:extLst>
          </p:cNvPr>
          <p:cNvCxnSpPr>
            <a:stCxn id="50" idx="0"/>
            <a:endCxn id="36"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nector: Elbow 113">
            <a:extLst>
              <a:ext uri="{FF2B5EF4-FFF2-40B4-BE49-F238E27FC236}">
                <a16:creationId xmlns:a16="http://schemas.microsoft.com/office/drawing/2014/main" id="{1533AEB4-163B-96DA-F066-A3AF89592066}"/>
              </a:ext>
            </a:extLst>
          </p:cNvPr>
          <p:cNvCxnSpPr>
            <a:cxnSpLocks/>
            <a:stCxn id="36" idx="3"/>
            <a:endCxn id="51"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nector: Elbow 116">
            <a:extLst>
              <a:ext uri="{FF2B5EF4-FFF2-40B4-BE49-F238E27FC236}">
                <a16:creationId xmlns:a16="http://schemas.microsoft.com/office/drawing/2014/main" id="{C983C60E-69EC-A82E-380E-51BFEEE09429}"/>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nector: Elbow 120">
            <a:extLst>
              <a:ext uri="{FF2B5EF4-FFF2-40B4-BE49-F238E27FC236}">
                <a16:creationId xmlns:a16="http://schemas.microsoft.com/office/drawing/2014/main" id="{D4A1E858-169E-A5EC-E292-3A6A15AD7EA4}"/>
              </a:ext>
            </a:extLst>
          </p:cNvPr>
          <p:cNvCxnSpPr>
            <a:cxnSpLocks/>
            <a:stCxn id="53" idx="0"/>
            <a:endCxn id="39"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nector: Elbow 123">
            <a:extLst>
              <a:ext uri="{FF2B5EF4-FFF2-40B4-BE49-F238E27FC236}">
                <a16:creationId xmlns:a16="http://schemas.microsoft.com/office/drawing/2014/main" id="{1D159088-CD73-CF10-5032-EE2F963F3BC6}"/>
              </a:ext>
            </a:extLst>
          </p:cNvPr>
          <p:cNvCxnSpPr>
            <a:cxnSpLocks/>
            <a:stCxn id="54" idx="0"/>
            <a:endCxn id="40"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1" name="Text Box 11">
            <a:extLst>
              <a:ext uri="{FF2B5EF4-FFF2-40B4-BE49-F238E27FC236}">
                <a16:creationId xmlns:a16="http://schemas.microsoft.com/office/drawing/2014/main" id="{C75C931B-BCF9-5671-F80A-DAC6603AEB89}"/>
              </a:ext>
            </a:extLst>
          </p:cNvPr>
          <p:cNvSpPr txBox="1">
            <a:spLocks noChangeArrowheads="1"/>
          </p:cNvSpPr>
          <p:nvPr/>
        </p:nvSpPr>
        <p:spPr bwMode="auto">
          <a:xfrm>
            <a:off x="4599371" y="1883579"/>
            <a:ext cx="36407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rPr>
              <a:t>Great America Golf (GAG) – (Today’s Date)</a:t>
            </a:r>
          </a:p>
        </p:txBody>
      </p:sp>
    </p:spTree>
    <p:extLst>
      <p:ext uri="{BB962C8B-B14F-4D97-AF65-F5344CB8AC3E}">
        <p14:creationId xmlns:p14="http://schemas.microsoft.com/office/powerpoint/2010/main" val="245639528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 Annual Review Process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63</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Create an accurate Current State Value Stream Map from case study example data.</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Read through the case study data handout for the Annual Review Process. Make notes where needed.</a:t>
            </a: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In small groups, create the Current State Map using chart paper and Post-it notes. </a:t>
            </a:r>
          </a:p>
          <a:p>
            <a:pPr marL="0" marR="0" indent="0" algn="l" defTabSz="584200" rtl="0" fontAlgn="auto" latinLnBrk="0" hangingPunct="0">
              <a:lnSpc>
                <a:spcPct val="100000"/>
              </a:lnSpc>
              <a:spcBef>
                <a:spcPts val="0"/>
              </a:spcBef>
              <a:spcAft>
                <a:spcPts val="0"/>
              </a:spcAft>
              <a:buClrTx/>
              <a:buSzTx/>
              <a:buFontTx/>
              <a:buNone/>
              <a:tabLst/>
            </a:pPr>
            <a: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NOTE: KEEP YOUR COMPLETED MAP FOR</a:t>
            </a:r>
            <a:b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1"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LATER EXERCISE</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40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One person from each group will present the map to the class. </a:t>
            </a:r>
          </a:p>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Comments and feedback are encouraged. </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46226991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Review Exercise</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pPr marL="0" indent="0">
              <a:buNone/>
            </a:pPr>
            <a:r>
              <a:rPr lang="en-US" b="1" dirty="0"/>
              <a:t>2 Minute Review</a:t>
            </a:r>
          </a:p>
          <a:p>
            <a:r>
              <a:rPr lang="en-US" dirty="0"/>
              <a:t>In pairs, or in small groups, spend 2 minutes discussing key learnings and takeaways from this VSMi Event thus far</a:t>
            </a:r>
          </a:p>
          <a:p>
            <a:r>
              <a:rPr lang="en-US" dirty="0"/>
              <a:t>One person from each group will share one learning that was discussed with the rest of the class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64</a:t>
            </a:fld>
            <a:endParaRPr lang="en-US"/>
          </a:p>
        </p:txBody>
      </p:sp>
      <p:grpSp>
        <p:nvGrpSpPr>
          <p:cNvPr id="4" name="Group 3">
            <a:extLst>
              <a:ext uri="{FF2B5EF4-FFF2-40B4-BE49-F238E27FC236}">
                <a16:creationId xmlns:a16="http://schemas.microsoft.com/office/drawing/2014/main" id="{953F203D-FF0F-32E2-DDED-93EBBB0A34D3}"/>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3A031D8C-A550-38C3-D0DD-05FE06EDDB5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5F7973E-CC4D-61A7-C50E-033D379B2FA1}"/>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755E9FEF-0B7E-A2D3-3F21-3CA550549F6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E9F55C0F-DE77-1367-BE30-DD0984D711AB}"/>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9F091EAE-0323-45F6-6EF3-6AA53B8EAF3F}"/>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B4CC31D-C5E8-879C-5A3E-E478BB276C1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C5F465B-FDBC-38D2-0D0A-1E57DCAC6DB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DC3B00A3-A521-6729-BBC9-096374926A7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2978803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Your Turn….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pPr marL="0" indent="0">
              <a:buNone/>
            </a:pPr>
            <a:r>
              <a:rPr lang="en-US" dirty="0"/>
              <a:t>The following pages review the process for your team to start creating the current state map for your business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65</a:t>
            </a:fld>
            <a:endParaRPr lang="en-US"/>
          </a:p>
        </p:txBody>
      </p:sp>
      <p:grpSp>
        <p:nvGrpSpPr>
          <p:cNvPr id="4" name="Group 3">
            <a:extLst>
              <a:ext uri="{FF2B5EF4-FFF2-40B4-BE49-F238E27FC236}">
                <a16:creationId xmlns:a16="http://schemas.microsoft.com/office/drawing/2014/main" id="{953F203D-FF0F-32E2-DDED-93EBBB0A34D3}"/>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3A031D8C-A550-38C3-D0DD-05FE06EDDB57}"/>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5F7973E-CC4D-61A7-C50E-033D379B2FA1}"/>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755E9FEF-0B7E-A2D3-3F21-3CA550549F6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E9F55C0F-DE77-1367-BE30-DD0984D711AB}"/>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9F091EAE-0323-45F6-6EF3-6AA53B8EAF3F}"/>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0B4CC31D-C5E8-879C-5A3E-E478BB276C12}"/>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C5F465B-FDBC-38D2-0D0A-1E57DCAC6DBC}"/>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DC3B00A3-A521-6729-BBC9-096374926A7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173765220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Process Identification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66</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 a team, starting at the end of values stream, identify the major processes involved</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Ask the question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how did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it</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get to this point</a:t>
              </a:r>
              <a:r>
                <a:rPr lang="ja-JP" altLang="en-US" sz="1400" dirty="0">
                  <a:latin typeface="Roboto" panose="02000000000000000000" pitchFamily="2" charset="0"/>
                </a:rPr>
                <a:t>”</a:t>
              </a:r>
              <a:endParaRPr lang="en-US" altLang="ja-JP" sz="1400" dirty="0">
                <a:latin typeface="Roboto" panose="02000000000000000000" pitchFamily="2" charset="0"/>
                <a:ea typeface="Roboto" panose="02000000000000000000" pitchFamily="2" charset="0"/>
              </a:endParaRP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Identify the major process on yellow 3</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x 5</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post-it notes</a:t>
              </a:r>
              <a:endParaRPr lang="en-US" altLang="en-US" sz="1400" dirty="0">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420053531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fontScale="90000"/>
          </a:bodyPr>
          <a:lstStyle/>
          <a:p>
            <a:r>
              <a:rPr lang="en-US" sz="4000" dirty="0">
                <a:latin typeface="Roboto Medium"/>
                <a:ea typeface="Roboto Medium"/>
                <a:cs typeface="Roboto Medium"/>
              </a:rPr>
              <a:t>Current State Mapping for Business: Process Identification</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67</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Current State Process Identification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the guidelines on the previous pages to</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Process Identification. </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The purpose for this activity is to gain an</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understanding of the process and overall flow. </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group begin to draw the Current State Map with only the process boxes identified.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process boxes of the Current State map identified</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and drawn.</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55017188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Data Gathering</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68</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 a team, starting at the end of values stream, identify the major processes involved</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Ask the question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how did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it</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get to this point</a:t>
              </a:r>
              <a:r>
                <a:rPr lang="ja-JP" altLang="en-US" sz="1400" dirty="0">
                  <a:latin typeface="Roboto" panose="02000000000000000000" pitchFamily="2" charset="0"/>
                </a:rPr>
                <a:t>”</a:t>
              </a:r>
              <a:endParaRPr lang="en-US" altLang="ja-JP" sz="1400" dirty="0">
                <a:latin typeface="Roboto" panose="02000000000000000000" pitchFamily="2" charset="0"/>
                <a:ea typeface="Roboto" panose="02000000000000000000" pitchFamily="2" charset="0"/>
              </a:endParaRP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Identify the major process on yellow 3</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x 5</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post-it notes</a:t>
              </a:r>
              <a:endParaRPr lang="en-US" altLang="en-US" sz="1400" dirty="0">
                <a:latin typeface="Roboto" panose="02000000000000000000" pitchFamily="2" charset="0"/>
                <a:ea typeface="Roboto" panose="02000000000000000000" pitchFamily="2" charset="0"/>
              </a:endParaRPr>
            </a:p>
          </p:txBody>
        </p:sp>
      </p:grpSp>
      <p:sp>
        <p:nvSpPr>
          <p:cNvPr id="25" name="AutoShape 43">
            <a:extLst>
              <a:ext uri="{FF2B5EF4-FFF2-40B4-BE49-F238E27FC236}">
                <a16:creationId xmlns:a16="http://schemas.microsoft.com/office/drawing/2014/main" id="{63C01AA5-05F1-C615-C9EC-F412D5E1C3EA}"/>
              </a:ext>
            </a:extLst>
          </p:cNvPr>
          <p:cNvSpPr>
            <a:spLocks noChangeArrowheads="1"/>
          </p:cNvSpPr>
          <p:nvPr/>
        </p:nvSpPr>
        <p:spPr bwMode="auto">
          <a:xfrm>
            <a:off x="4568654" y="330932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Decide what data will be collected for each process</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Break the initial Value Stream map into logical sections and assign to small groups within the team</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Use actual, observed data wherever possible</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Use smallest time units whenever possible – </a:t>
            </a:r>
            <a:br>
              <a:rPr lang="en-US" altLang="en-US" sz="1400" b="1" dirty="0">
                <a:latin typeface="Roboto" panose="02000000000000000000" pitchFamily="2" charset="0"/>
                <a:ea typeface="Roboto" panose="02000000000000000000" pitchFamily="2" charset="0"/>
              </a:rPr>
            </a:br>
            <a:r>
              <a:rPr lang="en-US" altLang="en-US" sz="1400" b="1" dirty="0">
                <a:latin typeface="Roboto" panose="02000000000000000000" pitchFamily="2" charset="0"/>
                <a:ea typeface="Roboto" panose="02000000000000000000" pitchFamily="2" charset="0"/>
              </a:rPr>
              <a:t>be consistent</a:t>
            </a:r>
          </a:p>
        </p:txBody>
      </p:sp>
    </p:spTree>
    <p:extLst>
      <p:ext uri="{BB962C8B-B14F-4D97-AF65-F5344CB8AC3E}">
        <p14:creationId xmlns:p14="http://schemas.microsoft.com/office/powerpoint/2010/main" val="243020138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dirty="0"/>
              <a:t>Data Gathering Hierarchy</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69</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39" name="Group 38">
            <a:extLst>
              <a:ext uri="{FF2B5EF4-FFF2-40B4-BE49-F238E27FC236}">
                <a16:creationId xmlns:a16="http://schemas.microsoft.com/office/drawing/2014/main" id="{A42C91A2-AEBB-73EB-D73A-F5F4C31DF691}"/>
              </a:ext>
            </a:extLst>
          </p:cNvPr>
          <p:cNvGrpSpPr/>
          <p:nvPr/>
        </p:nvGrpSpPr>
        <p:grpSpPr>
          <a:xfrm>
            <a:off x="1092150" y="1921396"/>
            <a:ext cx="10007700" cy="4176191"/>
            <a:chOff x="490538" y="1538288"/>
            <a:chExt cx="8212137" cy="4559300"/>
          </a:xfrm>
        </p:grpSpPr>
        <p:sp>
          <p:nvSpPr>
            <p:cNvPr id="26" name="Rectangle 2">
              <a:extLst>
                <a:ext uri="{FF2B5EF4-FFF2-40B4-BE49-F238E27FC236}">
                  <a16:creationId xmlns:a16="http://schemas.microsoft.com/office/drawing/2014/main" id="{8BC56C86-D306-992C-7F64-5E538EECC5C2}"/>
                </a:ext>
              </a:extLst>
            </p:cNvPr>
            <p:cNvSpPr>
              <a:spLocks noChangeArrowheads="1"/>
            </p:cNvSpPr>
            <p:nvPr/>
          </p:nvSpPr>
          <p:spPr bwMode="auto">
            <a:xfrm>
              <a:off x="3844925" y="1912938"/>
              <a:ext cx="4857750" cy="2774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defTabSz="708025">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First, try to observe the process firsthand in the workplace</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When that is not possible, continue to follow this sequence in order to obtain the necessary data</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Always want to start with data first </a:t>
              </a:r>
            </a:p>
            <a:p>
              <a:pPr>
                <a:spcBef>
                  <a:spcPct val="80000"/>
                </a:spcBef>
                <a:spcAft>
                  <a:spcPct val="20000"/>
                </a:spcAft>
                <a:buClr>
                  <a:schemeClr val="tx1"/>
                </a:buClr>
                <a:buSzPct val="90000"/>
                <a:buFont typeface="Arial" panose="020B0604020202020204" pitchFamily="34" charset="0"/>
                <a:buChar char="•"/>
              </a:pPr>
              <a:r>
                <a:rPr lang="en-US" altLang="en-US" sz="1600" dirty="0">
                  <a:latin typeface="Roboto" panose="02000000000000000000" pitchFamily="2" charset="0"/>
                  <a:ea typeface="Roboto" panose="02000000000000000000" pitchFamily="2" charset="0"/>
                </a:rPr>
                <a:t>Be cautious when using the interview method, as it tends to yield highly inaccurate data</a:t>
              </a:r>
            </a:p>
          </p:txBody>
        </p:sp>
        <p:sp>
          <p:nvSpPr>
            <p:cNvPr id="27" name="AutoShape 3">
              <a:extLst>
                <a:ext uri="{FF2B5EF4-FFF2-40B4-BE49-F238E27FC236}">
                  <a16:creationId xmlns:a16="http://schemas.microsoft.com/office/drawing/2014/main" id="{223819B6-8FC9-E3FE-0C2D-D3D3D53C95A3}"/>
                </a:ext>
              </a:extLst>
            </p:cNvPr>
            <p:cNvSpPr>
              <a:spLocks noChangeArrowheads="1"/>
            </p:cNvSpPr>
            <p:nvPr/>
          </p:nvSpPr>
          <p:spPr bwMode="auto">
            <a:xfrm>
              <a:off x="3346450" y="2159000"/>
              <a:ext cx="254000" cy="2333625"/>
            </a:xfrm>
            <a:prstGeom prst="rightArrow">
              <a:avLst>
                <a:gd name="adj1" fmla="val 74426"/>
                <a:gd name="adj2" fmla="val 71213"/>
              </a:avLst>
            </a:prstGeom>
            <a:solidFill>
              <a:schemeClr val="accent1"/>
            </a:solidFill>
            <a:ln w="1905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8" name="Rectangle 4">
              <a:extLst>
                <a:ext uri="{FF2B5EF4-FFF2-40B4-BE49-F238E27FC236}">
                  <a16:creationId xmlns:a16="http://schemas.microsoft.com/office/drawing/2014/main" id="{AC12B7C7-7C1D-EE40-500F-A4A8CB4DD079}"/>
                </a:ext>
              </a:extLst>
            </p:cNvPr>
            <p:cNvSpPr>
              <a:spLocks noChangeArrowheads="1"/>
            </p:cNvSpPr>
            <p:nvPr/>
          </p:nvSpPr>
          <p:spPr bwMode="auto">
            <a:xfrm>
              <a:off x="490538" y="1573213"/>
              <a:ext cx="2620962" cy="6350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1. Go To Gemba</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(the actual workplace)</a:t>
              </a:r>
            </a:p>
          </p:txBody>
        </p:sp>
        <p:sp>
          <p:nvSpPr>
            <p:cNvPr id="29" name="Rectangle 5">
              <a:extLst>
                <a:ext uri="{FF2B5EF4-FFF2-40B4-BE49-F238E27FC236}">
                  <a16:creationId xmlns:a16="http://schemas.microsoft.com/office/drawing/2014/main" id="{8DC548B8-764C-3763-A10F-080A46DEE470}"/>
                </a:ext>
              </a:extLst>
            </p:cNvPr>
            <p:cNvSpPr>
              <a:spLocks noChangeArrowheads="1"/>
            </p:cNvSpPr>
            <p:nvPr/>
          </p:nvSpPr>
          <p:spPr bwMode="auto">
            <a:xfrm>
              <a:off x="490538" y="2503488"/>
              <a:ext cx="2620962" cy="635000"/>
            </a:xfrm>
            <a:prstGeom prst="rect">
              <a:avLst/>
            </a:prstGeom>
            <a:solidFill>
              <a:schemeClr val="bg2"/>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2. System Generated Report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or Work Flow Documents</a:t>
              </a:r>
            </a:p>
          </p:txBody>
        </p:sp>
        <p:sp>
          <p:nvSpPr>
            <p:cNvPr id="30" name="Rectangle 6">
              <a:extLst>
                <a:ext uri="{FF2B5EF4-FFF2-40B4-BE49-F238E27FC236}">
                  <a16:creationId xmlns:a16="http://schemas.microsoft.com/office/drawing/2014/main" id="{8F4955DF-CC75-EE72-799F-C736D5333D63}"/>
                </a:ext>
              </a:extLst>
            </p:cNvPr>
            <p:cNvSpPr>
              <a:spLocks noChangeArrowheads="1"/>
            </p:cNvSpPr>
            <p:nvPr/>
          </p:nvSpPr>
          <p:spPr bwMode="auto">
            <a:xfrm>
              <a:off x="490538" y="3436938"/>
              <a:ext cx="2620962" cy="635000"/>
            </a:xfrm>
            <a:prstGeom prst="rect">
              <a:avLst/>
            </a:prstGeom>
            <a:solidFill>
              <a:schemeClr val="accent3"/>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3. Historical Performance</a:t>
              </a:r>
              <a:br>
                <a:rPr lang="en-US" altLang="en-US" sz="1400">
                  <a:solidFill>
                    <a:schemeClr val="bg1"/>
                  </a:solidFill>
                  <a:latin typeface="Roboto" panose="02000000000000000000" pitchFamily="2" charset="0"/>
                  <a:ea typeface="Roboto" panose="02000000000000000000" pitchFamily="2" charset="0"/>
                </a:rPr>
              </a:br>
              <a:r>
                <a:rPr lang="en-US" altLang="en-US" sz="1400">
                  <a:solidFill>
                    <a:schemeClr val="bg1"/>
                  </a:solidFill>
                  <a:latin typeface="Roboto" panose="02000000000000000000" pitchFamily="2" charset="0"/>
                  <a:ea typeface="Roboto" panose="02000000000000000000" pitchFamily="2" charset="0"/>
                </a:rPr>
                <a:t>Reports</a:t>
              </a:r>
            </a:p>
          </p:txBody>
        </p:sp>
        <p:sp>
          <p:nvSpPr>
            <p:cNvPr id="31" name="Rectangle 7">
              <a:extLst>
                <a:ext uri="{FF2B5EF4-FFF2-40B4-BE49-F238E27FC236}">
                  <a16:creationId xmlns:a16="http://schemas.microsoft.com/office/drawing/2014/main" id="{FFBC77F3-744D-0E3F-4D2C-8691F49CDBC5}"/>
                </a:ext>
              </a:extLst>
            </p:cNvPr>
            <p:cNvSpPr>
              <a:spLocks noChangeArrowheads="1"/>
            </p:cNvSpPr>
            <p:nvPr/>
          </p:nvSpPr>
          <p:spPr bwMode="auto">
            <a:xfrm>
              <a:off x="490538" y="4410075"/>
              <a:ext cx="2620962" cy="635000"/>
            </a:xfrm>
            <a:prstGeom prst="rect">
              <a:avLst/>
            </a:prstGeom>
            <a:solidFill>
              <a:schemeClr val="accent4"/>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solidFill>
                    <a:schemeClr val="bg1"/>
                  </a:solidFill>
                  <a:latin typeface="Roboto" panose="02000000000000000000" pitchFamily="2" charset="0"/>
                  <a:ea typeface="Roboto" panose="02000000000000000000" pitchFamily="2" charset="0"/>
                </a:rPr>
                <a:t>4. Staff Interviews</a:t>
              </a:r>
            </a:p>
          </p:txBody>
        </p:sp>
        <p:cxnSp>
          <p:nvCxnSpPr>
            <p:cNvPr id="32" name="AutoShape 8">
              <a:extLst>
                <a:ext uri="{FF2B5EF4-FFF2-40B4-BE49-F238E27FC236}">
                  <a16:creationId xmlns:a16="http://schemas.microsoft.com/office/drawing/2014/main" id="{B8E99FB4-1598-39A0-1FBB-3FE8E8C2E681}"/>
                </a:ext>
              </a:extLst>
            </p:cNvPr>
            <p:cNvCxnSpPr>
              <a:cxnSpLocks noChangeShapeType="1"/>
              <a:stCxn id="28" idx="2"/>
              <a:endCxn id="29" idx="0"/>
            </p:cNvCxnSpPr>
            <p:nvPr/>
          </p:nvCxnSpPr>
          <p:spPr bwMode="auto">
            <a:xfrm>
              <a:off x="1801813" y="2208213"/>
              <a:ext cx="0" cy="295275"/>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3" name="AutoShape 9">
              <a:extLst>
                <a:ext uri="{FF2B5EF4-FFF2-40B4-BE49-F238E27FC236}">
                  <a16:creationId xmlns:a16="http://schemas.microsoft.com/office/drawing/2014/main" id="{6C4A8CD9-8085-5826-F6BD-6D6C5E944AA5}"/>
                </a:ext>
              </a:extLst>
            </p:cNvPr>
            <p:cNvCxnSpPr>
              <a:cxnSpLocks noChangeShapeType="1"/>
              <a:stCxn id="29" idx="2"/>
              <a:endCxn id="30" idx="0"/>
            </p:cNvCxnSpPr>
            <p:nvPr/>
          </p:nvCxnSpPr>
          <p:spPr bwMode="auto">
            <a:xfrm>
              <a:off x="1801813" y="3138488"/>
              <a:ext cx="0" cy="298450"/>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4" name="AutoShape 10">
              <a:extLst>
                <a:ext uri="{FF2B5EF4-FFF2-40B4-BE49-F238E27FC236}">
                  <a16:creationId xmlns:a16="http://schemas.microsoft.com/office/drawing/2014/main" id="{EF45BBA8-3E25-F37C-09A1-8CAA1BCF5447}"/>
                </a:ext>
              </a:extLst>
            </p:cNvPr>
            <p:cNvCxnSpPr>
              <a:cxnSpLocks noChangeShapeType="1"/>
              <a:stCxn id="30" idx="2"/>
              <a:endCxn id="31" idx="0"/>
            </p:cNvCxnSpPr>
            <p:nvPr/>
          </p:nvCxnSpPr>
          <p:spPr bwMode="auto">
            <a:xfrm>
              <a:off x="1801813" y="4071938"/>
              <a:ext cx="0" cy="338137"/>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35" name="AutoShape 12">
              <a:extLst>
                <a:ext uri="{FF2B5EF4-FFF2-40B4-BE49-F238E27FC236}">
                  <a16:creationId xmlns:a16="http://schemas.microsoft.com/office/drawing/2014/main" id="{01243315-3BDD-A3BD-61EE-03092A5ED8DE}"/>
                </a:ext>
              </a:extLst>
            </p:cNvPr>
            <p:cNvCxnSpPr>
              <a:cxnSpLocks noChangeShapeType="1"/>
              <a:stCxn id="31" idx="2"/>
            </p:cNvCxnSpPr>
            <p:nvPr/>
          </p:nvCxnSpPr>
          <p:spPr bwMode="auto">
            <a:xfrm>
              <a:off x="1801813" y="5045075"/>
              <a:ext cx="0" cy="323850"/>
            </a:xfrm>
            <a:prstGeom prst="straightConnector1">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36" name="Rectangle 13">
              <a:extLst>
                <a:ext uri="{FF2B5EF4-FFF2-40B4-BE49-F238E27FC236}">
                  <a16:creationId xmlns:a16="http://schemas.microsoft.com/office/drawing/2014/main" id="{8565B9E3-4014-CBC4-2A1A-A8F37F513CB2}"/>
                </a:ext>
              </a:extLst>
            </p:cNvPr>
            <p:cNvSpPr>
              <a:spLocks noChangeArrowheads="1"/>
            </p:cNvSpPr>
            <p:nvPr/>
          </p:nvSpPr>
          <p:spPr bwMode="auto">
            <a:xfrm>
              <a:off x="3803650" y="1701800"/>
              <a:ext cx="4897438" cy="3551238"/>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Text Box 14">
              <a:extLst>
                <a:ext uri="{FF2B5EF4-FFF2-40B4-BE49-F238E27FC236}">
                  <a16:creationId xmlns:a16="http://schemas.microsoft.com/office/drawing/2014/main" id="{05A0F8A7-84E3-2A6E-0968-56EC24EE60E7}"/>
                </a:ext>
              </a:extLst>
            </p:cNvPr>
            <p:cNvSpPr txBox="1">
              <a:spLocks noChangeArrowheads="1"/>
            </p:cNvSpPr>
            <p:nvPr/>
          </p:nvSpPr>
          <p:spPr bwMode="auto">
            <a:xfrm>
              <a:off x="3987800" y="1538288"/>
              <a:ext cx="3861955"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Important Points on Gathering Data</a:t>
              </a:r>
            </a:p>
          </p:txBody>
        </p:sp>
        <p:sp>
          <p:nvSpPr>
            <p:cNvPr id="38" name="Rectangle 31">
              <a:extLst>
                <a:ext uri="{FF2B5EF4-FFF2-40B4-BE49-F238E27FC236}">
                  <a16:creationId xmlns:a16="http://schemas.microsoft.com/office/drawing/2014/main" id="{D8CB27D7-10CE-96BB-502E-1E7DC9BD4386}"/>
                </a:ext>
              </a:extLst>
            </p:cNvPr>
            <p:cNvSpPr>
              <a:spLocks noChangeArrowheads="1"/>
            </p:cNvSpPr>
            <p:nvPr/>
          </p:nvSpPr>
          <p:spPr bwMode="auto">
            <a:xfrm>
              <a:off x="500063" y="5462588"/>
              <a:ext cx="2620962" cy="635000"/>
            </a:xfrm>
            <a:prstGeom prst="rect">
              <a:avLst/>
            </a:prstGeom>
            <a:solidFill>
              <a:schemeClr val="accent2"/>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a:latin typeface="Roboto" panose="02000000000000000000" pitchFamily="2" charset="0"/>
                  <a:ea typeface="Roboto" panose="02000000000000000000" pitchFamily="2" charset="0"/>
                </a:rPr>
                <a:t>5. Management Interviews</a:t>
              </a:r>
            </a:p>
          </p:txBody>
        </p:sp>
      </p:grpSp>
    </p:spTree>
    <p:extLst>
      <p:ext uri="{BB962C8B-B14F-4D97-AF65-F5344CB8AC3E}">
        <p14:creationId xmlns:p14="http://schemas.microsoft.com/office/powerpoint/2010/main" val="159624679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Key Interviewer Guideline Questions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Introduce the team and remind the associate about the exercise we are performing</a:t>
            </a:r>
          </a:p>
          <a:p>
            <a:r>
              <a:rPr lang="en-US" dirty="0"/>
              <a:t>Determine which scripted questions are appropriate for the process observed</a:t>
            </a:r>
          </a:p>
          <a:p>
            <a:r>
              <a:rPr lang="en-US" dirty="0"/>
              <a:t>Determine if there are any other relevant questions that need to be asked</a:t>
            </a:r>
          </a:p>
          <a:p>
            <a:r>
              <a:rPr lang="en-US" dirty="0"/>
              <a:t>Thank the associate for his/her time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70</a:t>
            </a:fld>
            <a:endParaRPr lang="en-US"/>
          </a:p>
        </p:txBody>
      </p:sp>
      <p:grpSp>
        <p:nvGrpSpPr>
          <p:cNvPr id="4" name="Group 3">
            <a:extLst>
              <a:ext uri="{FF2B5EF4-FFF2-40B4-BE49-F238E27FC236}">
                <a16:creationId xmlns:a16="http://schemas.microsoft.com/office/drawing/2014/main" id="{D13955EF-F382-9EBD-9AA5-FBA45AA94F6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CC8FB25-6B61-06D4-A4AE-48970E88F340}"/>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C2C6633-08A5-DC9F-DF5A-AE8A011D728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BC4A60E-207F-E5C1-F958-1653E0100D6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ABE7941-6A8D-6E97-B37C-9973467F868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8E4700F-CD5C-2AE9-4A1A-9526CB7A15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AEDE3013-1A73-7735-ADE8-A9107507AA5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0173343D-0106-7181-617C-D516A7D7BBA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8FD1BD67-35E4-0A72-2F41-53ECD63098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34922928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After Data Gathering</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Return to a common area to jointly create a Master Current State Map</a:t>
            </a:r>
          </a:p>
          <a:p>
            <a:r>
              <a:rPr lang="en-US" dirty="0"/>
              <a:t>For drawing the Master Current State map, the team will require a Large Roll of Paper, light-colored Post-it notes, black markers with thin tips, and calculators</a:t>
            </a:r>
          </a:p>
          <a:p>
            <a:r>
              <a:rPr lang="en-US" dirty="0"/>
              <a:t>All team members will be engaged in the drawing of the map	</a:t>
            </a:r>
          </a:p>
          <a:p>
            <a:r>
              <a:rPr lang="en-US" dirty="0"/>
              <a:t>The Current State Map will be reviewed by management – make the map large and write clearly </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71</a:t>
            </a:fld>
            <a:endParaRPr lang="en-US"/>
          </a:p>
        </p:txBody>
      </p:sp>
      <p:grpSp>
        <p:nvGrpSpPr>
          <p:cNvPr id="4" name="Group 3">
            <a:extLst>
              <a:ext uri="{FF2B5EF4-FFF2-40B4-BE49-F238E27FC236}">
                <a16:creationId xmlns:a16="http://schemas.microsoft.com/office/drawing/2014/main" id="{D13955EF-F382-9EBD-9AA5-FBA45AA94F6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BCC8FB25-6B61-06D4-A4AE-48970E88F340}"/>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5C2C6633-08A5-DC9F-DF5A-AE8A011D728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DBC4A60E-207F-E5C1-F958-1653E0100D6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FABE7941-6A8D-6E97-B37C-9973467F868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78E4700F-CD5C-2AE9-4A1A-9526CB7A15F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2" name="AutoShape 11">
                  <a:extLst>
                    <a:ext uri="{FF2B5EF4-FFF2-40B4-BE49-F238E27FC236}">
                      <a16:creationId xmlns:a16="http://schemas.microsoft.com/office/drawing/2014/main" id="{AEDE3013-1A73-7735-ADE8-A9107507AA58}"/>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0173343D-0106-7181-617C-D516A7D7BBA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8FD1BD67-35E4-0A72-2F41-53ECD63098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220415048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fontScale="90000"/>
          </a:bodyPr>
          <a:lstStyle/>
          <a:p>
            <a:r>
              <a:rPr lang="en-US" sz="4000" dirty="0">
                <a:latin typeface="Roboto Medium"/>
                <a:ea typeface="Roboto Medium"/>
                <a:cs typeface="Roboto Medium"/>
              </a:rPr>
              <a:t>Current State Mapping for Business: Data Gathering</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72</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Current State Data Gathering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facilitated by the instructor, identify:</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data is needed</a:t>
            </a:r>
          </a:p>
          <a:p>
            <a:pPr marL="342900" marR="0" indent="-342900" algn="l" defTabSz="584200" rtl="0" fontAlgn="auto" latinLnBrk="0" hangingPunct="0">
              <a:lnSpc>
                <a:spcPct val="100000"/>
              </a:lnSpc>
              <a:spcBef>
                <a:spcPts val="0"/>
              </a:spcBef>
              <a:spcAft>
                <a:spcPts val="0"/>
              </a:spcAft>
              <a:buClrTx/>
              <a:buSzTx/>
              <a:buFont typeface="+mj-lt"/>
              <a:buAutoNum type="arabicPeriod"/>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and how to get the data</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After, complete all of the data gathering and </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collection necessary to populate the Current State Map.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Data Collection complete</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342002071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Method to Create the Current State Map: </a:t>
            </a:r>
            <a:r>
              <a:rPr lang="en-US"/>
              <a:t>Map Creation</a:t>
            </a:r>
            <a:endParaRPr lang="en-US" dirty="0"/>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73</a:t>
            </a:fld>
            <a:endParaRPr lang="en-US"/>
          </a:p>
        </p:txBody>
      </p:sp>
      <p:grpSp>
        <p:nvGrpSpPr>
          <p:cNvPr id="3" name="Group 2">
            <a:extLst>
              <a:ext uri="{FF2B5EF4-FFF2-40B4-BE49-F238E27FC236}">
                <a16:creationId xmlns:a16="http://schemas.microsoft.com/office/drawing/2014/main" id="{51CC0720-73E0-576E-094D-2E8DD7830D34}"/>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0538CD0B-5392-D358-AD9C-89F2C9645FDF}"/>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5C47B122-7964-AD80-726A-3ECF877752B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E828980B-E1F0-2F1B-0774-E803AC9D7A6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D8F1D690-3AF0-7D9C-D5B0-1320BF2482A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440CC6E6-9816-4001-ACE8-9300976F595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1" name="AutoShape 11">
                  <a:extLst>
                    <a:ext uri="{FF2B5EF4-FFF2-40B4-BE49-F238E27FC236}">
                      <a16:creationId xmlns:a16="http://schemas.microsoft.com/office/drawing/2014/main" id="{D2493C00-CB94-21B4-2994-7D8958B93899}"/>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F95DA71D-8A29-6983-2B8C-C46E13BC1244}"/>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C3812B5E-25E1-A17D-D950-BCBA230CD0A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grpSp>
        <p:nvGrpSpPr>
          <p:cNvPr id="24" name="Group 23">
            <a:extLst>
              <a:ext uri="{FF2B5EF4-FFF2-40B4-BE49-F238E27FC236}">
                <a16:creationId xmlns:a16="http://schemas.microsoft.com/office/drawing/2014/main" id="{4A643D09-B72F-5A90-3011-EC5CCA9070B6}"/>
              </a:ext>
            </a:extLst>
          </p:cNvPr>
          <p:cNvGrpSpPr/>
          <p:nvPr/>
        </p:nvGrpSpPr>
        <p:grpSpPr>
          <a:xfrm>
            <a:off x="492125" y="1757666"/>
            <a:ext cx="9977755" cy="4041458"/>
            <a:chOff x="492125" y="1372197"/>
            <a:chExt cx="8455025" cy="4426941"/>
          </a:xfrm>
        </p:grpSpPr>
        <p:sp>
          <p:nvSpPr>
            <p:cNvPr id="13" name="Rectangle 32">
              <a:extLst>
                <a:ext uri="{FF2B5EF4-FFF2-40B4-BE49-F238E27FC236}">
                  <a16:creationId xmlns:a16="http://schemas.microsoft.com/office/drawing/2014/main" id="{1E055644-3FAA-1D3B-179E-84628769A46C}"/>
                </a:ext>
              </a:extLst>
            </p:cNvPr>
            <p:cNvSpPr>
              <a:spLocks noChangeArrowheads="1"/>
            </p:cNvSpPr>
            <p:nvPr/>
          </p:nvSpPr>
          <p:spPr bwMode="auto">
            <a:xfrm>
              <a:off x="492125" y="1617663"/>
              <a:ext cx="2916238" cy="838200"/>
            </a:xfrm>
            <a:prstGeom prst="rect">
              <a:avLst/>
            </a:prstGeom>
            <a:solidFill>
              <a:schemeClr val="bg1"/>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dirty="0">
                  <a:latin typeface="Roboto" panose="02000000000000000000" pitchFamily="2" charset="0"/>
                  <a:ea typeface="Roboto" panose="02000000000000000000" pitchFamily="2" charset="0"/>
                </a:rPr>
                <a:t>Process Identification</a:t>
              </a:r>
            </a:p>
          </p:txBody>
        </p:sp>
        <p:sp>
          <p:nvSpPr>
            <p:cNvPr id="14" name="Rectangle 33">
              <a:extLst>
                <a:ext uri="{FF2B5EF4-FFF2-40B4-BE49-F238E27FC236}">
                  <a16:creationId xmlns:a16="http://schemas.microsoft.com/office/drawing/2014/main" id="{E3A8CA09-A2CF-F13B-FC01-E68E39A541B4}"/>
                </a:ext>
              </a:extLst>
            </p:cNvPr>
            <p:cNvSpPr>
              <a:spLocks noChangeArrowheads="1"/>
            </p:cNvSpPr>
            <p:nvPr/>
          </p:nvSpPr>
          <p:spPr bwMode="auto">
            <a:xfrm>
              <a:off x="492125" y="3351213"/>
              <a:ext cx="2916238" cy="841375"/>
            </a:xfrm>
            <a:prstGeom prst="rect">
              <a:avLst/>
            </a:prstGeom>
            <a:solidFill>
              <a:schemeClr val="bg2"/>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latin typeface="Roboto" panose="02000000000000000000" pitchFamily="2" charset="0"/>
                  <a:ea typeface="Roboto" panose="02000000000000000000" pitchFamily="2" charset="0"/>
                </a:rPr>
                <a:t>Data Gathering</a:t>
              </a:r>
            </a:p>
          </p:txBody>
        </p:sp>
        <p:sp>
          <p:nvSpPr>
            <p:cNvPr id="15" name="Rectangle 34">
              <a:extLst>
                <a:ext uri="{FF2B5EF4-FFF2-40B4-BE49-F238E27FC236}">
                  <a16:creationId xmlns:a16="http://schemas.microsoft.com/office/drawing/2014/main" id="{32193B1D-98B7-641C-9C71-ED4329A58B58}"/>
                </a:ext>
              </a:extLst>
            </p:cNvPr>
            <p:cNvSpPr>
              <a:spLocks noChangeArrowheads="1"/>
            </p:cNvSpPr>
            <p:nvPr/>
          </p:nvSpPr>
          <p:spPr bwMode="auto">
            <a:xfrm>
              <a:off x="492125" y="4960938"/>
              <a:ext cx="2916238" cy="838200"/>
            </a:xfrm>
            <a:prstGeom prst="rect">
              <a:avLst/>
            </a:prstGeom>
            <a:solidFill>
              <a:schemeClr val="accent4"/>
            </a:solidFill>
            <a:ln w="9525">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1600">
                  <a:solidFill>
                    <a:schemeClr val="bg1"/>
                  </a:solidFill>
                  <a:latin typeface="Roboto" panose="02000000000000000000" pitchFamily="2" charset="0"/>
                  <a:ea typeface="Roboto" panose="02000000000000000000" pitchFamily="2" charset="0"/>
                </a:rPr>
                <a:t>Map Creation</a:t>
              </a:r>
            </a:p>
          </p:txBody>
        </p:sp>
        <p:cxnSp>
          <p:nvCxnSpPr>
            <p:cNvPr id="16" name="AutoShape 35">
              <a:extLst>
                <a:ext uri="{FF2B5EF4-FFF2-40B4-BE49-F238E27FC236}">
                  <a16:creationId xmlns:a16="http://schemas.microsoft.com/office/drawing/2014/main" id="{5E090796-6773-D372-A839-84AD84CDBB79}"/>
                </a:ext>
              </a:extLst>
            </p:cNvPr>
            <p:cNvCxnSpPr>
              <a:cxnSpLocks noChangeShapeType="1"/>
              <a:stCxn id="13" idx="2"/>
              <a:endCxn id="14" idx="0"/>
            </p:cNvCxnSpPr>
            <p:nvPr/>
          </p:nvCxnSpPr>
          <p:spPr bwMode="auto">
            <a:xfrm>
              <a:off x="1951038" y="2455863"/>
              <a:ext cx="0" cy="895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cxnSp>
          <p:nvCxnSpPr>
            <p:cNvPr id="17" name="AutoShape 36">
              <a:extLst>
                <a:ext uri="{FF2B5EF4-FFF2-40B4-BE49-F238E27FC236}">
                  <a16:creationId xmlns:a16="http://schemas.microsoft.com/office/drawing/2014/main" id="{F4080B85-42B9-54EA-C4C0-AB13C4B58EE6}"/>
                </a:ext>
              </a:extLst>
            </p:cNvPr>
            <p:cNvCxnSpPr>
              <a:cxnSpLocks noChangeShapeType="1"/>
              <a:stCxn id="14" idx="2"/>
              <a:endCxn id="15" idx="0"/>
            </p:cNvCxnSpPr>
            <p:nvPr/>
          </p:nvCxnSpPr>
          <p:spPr bwMode="auto">
            <a:xfrm>
              <a:off x="1951038" y="4192588"/>
              <a:ext cx="0" cy="768350"/>
            </a:xfrm>
            <a:prstGeom prst="straightConnector1">
              <a:avLst/>
            </a:prstGeom>
            <a:noFill/>
            <a:ln w="9525">
              <a:solidFill>
                <a:srgbClr val="000054"/>
              </a:solidFill>
              <a:round/>
              <a:headEnd/>
              <a:tailEnd type="triangle" w="med" len="med"/>
            </a:ln>
            <a:extLst>
              <a:ext uri="{909E8E84-426E-40DD-AFC4-6F175D3DCCD1}">
                <a14:hiddenFill xmlns:a14="http://schemas.microsoft.com/office/drawing/2010/main">
                  <a:noFill/>
                </a14:hiddenFill>
              </a:ext>
            </a:extLst>
          </p:spPr>
        </p:cxnSp>
        <p:sp>
          <p:nvSpPr>
            <p:cNvPr id="18" name="AutoShape 37">
              <a:extLst>
                <a:ext uri="{FF2B5EF4-FFF2-40B4-BE49-F238E27FC236}">
                  <a16:creationId xmlns:a16="http://schemas.microsoft.com/office/drawing/2014/main" id="{C10027CB-4E62-4350-7923-FD5490DC6BF1}"/>
                </a:ext>
              </a:extLst>
            </p:cNvPr>
            <p:cNvSpPr>
              <a:spLocks noChangeArrowheads="1"/>
            </p:cNvSpPr>
            <p:nvPr/>
          </p:nvSpPr>
          <p:spPr bwMode="auto">
            <a:xfrm>
              <a:off x="3573463" y="1863725"/>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AutoShape 38">
              <a:extLst>
                <a:ext uri="{FF2B5EF4-FFF2-40B4-BE49-F238E27FC236}">
                  <a16:creationId xmlns:a16="http://schemas.microsoft.com/office/drawing/2014/main" id="{05789914-D54D-7E4A-18E9-56AF83109CCD}"/>
                </a:ext>
              </a:extLst>
            </p:cNvPr>
            <p:cNvSpPr>
              <a:spLocks noChangeArrowheads="1"/>
            </p:cNvSpPr>
            <p:nvPr/>
          </p:nvSpPr>
          <p:spPr bwMode="auto">
            <a:xfrm>
              <a:off x="3573463" y="3484563"/>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AutoShape 39">
              <a:extLst>
                <a:ext uri="{FF2B5EF4-FFF2-40B4-BE49-F238E27FC236}">
                  <a16:creationId xmlns:a16="http://schemas.microsoft.com/office/drawing/2014/main" id="{A0EF2711-2464-185C-3300-35E66F926A8A}"/>
                </a:ext>
              </a:extLst>
            </p:cNvPr>
            <p:cNvSpPr>
              <a:spLocks noChangeArrowheads="1"/>
            </p:cNvSpPr>
            <p:nvPr/>
          </p:nvSpPr>
          <p:spPr bwMode="auto">
            <a:xfrm>
              <a:off x="3573463" y="5022850"/>
              <a:ext cx="401637" cy="498475"/>
            </a:xfrm>
            <a:prstGeom prst="rightArrow">
              <a:avLst>
                <a:gd name="adj1" fmla="val 58185"/>
                <a:gd name="adj2" fmla="val 60870"/>
              </a:avLst>
            </a:prstGeom>
            <a:solidFill>
              <a:schemeClr val="tx2"/>
            </a:solidFill>
            <a:ln w="19050">
              <a:solidFill>
                <a:srgbClr val="000054"/>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Line 40">
              <a:extLst>
                <a:ext uri="{FF2B5EF4-FFF2-40B4-BE49-F238E27FC236}">
                  <a16:creationId xmlns:a16="http://schemas.microsoft.com/office/drawing/2014/main" id="{3D1443E5-24B6-5E2E-9F44-6062935D3A16}"/>
                </a:ext>
              </a:extLst>
            </p:cNvPr>
            <p:cNvSpPr>
              <a:spLocks noChangeShapeType="1"/>
            </p:cNvSpPr>
            <p:nvPr/>
          </p:nvSpPr>
          <p:spPr bwMode="auto">
            <a:xfrm>
              <a:off x="4090988" y="1721451"/>
              <a:ext cx="4616450" cy="0"/>
            </a:xfrm>
            <a:prstGeom prst="line">
              <a:avLst/>
            </a:prstGeom>
            <a:noFill/>
            <a:ln w="28575">
              <a:solidFill>
                <a:srgbClr val="000054"/>
              </a:solidFill>
              <a:round/>
              <a:headEnd/>
              <a:tailEnd/>
            </a:ln>
            <a:extLst>
              <a:ext uri="{909E8E84-426E-40DD-AFC4-6F175D3DCCD1}">
                <a14:hiddenFill xmlns:a14="http://schemas.microsoft.com/office/drawing/2010/main">
                  <a:noFill/>
                </a14:hiddenFill>
              </a:ext>
            </a:extLst>
          </p:spPr>
          <p:txBody>
            <a:bodyPr anchor="ctr"/>
            <a:lstStyle/>
            <a:p>
              <a:endParaRPr lang="en-US">
                <a:latin typeface="Roboto" panose="02000000000000000000" pitchFamily="2" charset="0"/>
                <a:ea typeface="Roboto" panose="02000000000000000000" pitchFamily="2" charset="0"/>
              </a:endParaRPr>
            </a:p>
          </p:txBody>
        </p:sp>
        <p:sp>
          <p:nvSpPr>
            <p:cNvPr id="22" name="Text Box 41">
              <a:extLst>
                <a:ext uri="{FF2B5EF4-FFF2-40B4-BE49-F238E27FC236}">
                  <a16:creationId xmlns:a16="http://schemas.microsoft.com/office/drawing/2014/main" id="{6C33F7CC-3F2B-1EF8-EE1A-EE46548F5A18}"/>
                </a:ext>
              </a:extLst>
            </p:cNvPr>
            <p:cNvSpPr txBox="1">
              <a:spLocks noChangeArrowheads="1"/>
            </p:cNvSpPr>
            <p:nvPr/>
          </p:nvSpPr>
          <p:spPr bwMode="auto">
            <a:xfrm>
              <a:off x="3987800" y="1372197"/>
              <a:ext cx="3536950" cy="404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800" dirty="0">
                  <a:latin typeface="Roboto" panose="02000000000000000000" pitchFamily="2" charset="0"/>
                  <a:ea typeface="Roboto" panose="02000000000000000000" pitchFamily="2" charset="0"/>
                </a:rPr>
                <a:t>Key Characteristics</a:t>
              </a:r>
            </a:p>
          </p:txBody>
        </p:sp>
        <p:sp>
          <p:nvSpPr>
            <p:cNvPr id="23" name="AutoShape 42">
              <a:extLst>
                <a:ext uri="{FF2B5EF4-FFF2-40B4-BE49-F238E27FC236}">
                  <a16:creationId xmlns:a16="http://schemas.microsoft.com/office/drawing/2014/main" id="{65E65E52-9A03-B2AB-0AFA-701801E00C3B}"/>
                </a:ext>
              </a:extLst>
            </p:cNvPr>
            <p:cNvSpPr>
              <a:spLocks noChangeArrowheads="1"/>
            </p:cNvSpPr>
            <p:nvPr/>
          </p:nvSpPr>
          <p:spPr bwMode="auto">
            <a:xfrm>
              <a:off x="3946525" y="172938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lvl1pPr marL="115888" indent="-115888">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 a team, starting at the end of values stream, identify the major processes involved</a:t>
              </a: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Ask the question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how did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it</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get to this point</a:t>
              </a:r>
              <a:r>
                <a:rPr lang="ja-JP" altLang="en-US" sz="1400" dirty="0">
                  <a:latin typeface="Roboto" panose="02000000000000000000" pitchFamily="2" charset="0"/>
                </a:rPr>
                <a:t>”</a:t>
              </a:r>
              <a:endParaRPr lang="en-US" altLang="ja-JP" sz="1400" dirty="0">
                <a:latin typeface="Roboto" panose="02000000000000000000" pitchFamily="2" charset="0"/>
                <a:ea typeface="Roboto" panose="02000000000000000000" pitchFamily="2" charset="0"/>
              </a:endParaRPr>
            </a:p>
            <a:p>
              <a:pPr>
                <a:lnSpc>
                  <a:spcPct val="100000"/>
                </a:lnSpc>
                <a:spcBef>
                  <a:spcPct val="0"/>
                </a:spcBef>
                <a:spcAft>
                  <a:spcPct val="0"/>
                </a:spcAft>
                <a:buClr>
                  <a:schemeClr val="tx1"/>
                </a:buClr>
                <a:buSzPct val="90000"/>
                <a:buFont typeface="Arial" panose="020B0604020202020204" pitchFamily="34" charset="0"/>
                <a:buChar char="•"/>
              </a:pPr>
              <a:r>
                <a:rPr lang="en-US" altLang="en-US" sz="1400" dirty="0">
                  <a:latin typeface="Roboto" panose="02000000000000000000" pitchFamily="2" charset="0"/>
                  <a:ea typeface="Roboto" panose="02000000000000000000" pitchFamily="2" charset="0"/>
                </a:rPr>
                <a:t>Identify the major process on yellow 3</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x 5</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post-it notes</a:t>
              </a:r>
              <a:endParaRPr lang="en-US" altLang="en-US" sz="1400" dirty="0">
                <a:latin typeface="Roboto" panose="02000000000000000000" pitchFamily="2" charset="0"/>
                <a:ea typeface="Roboto" panose="02000000000000000000" pitchFamily="2" charset="0"/>
              </a:endParaRPr>
            </a:p>
          </p:txBody>
        </p:sp>
      </p:grpSp>
      <p:sp>
        <p:nvSpPr>
          <p:cNvPr id="25" name="AutoShape 43">
            <a:extLst>
              <a:ext uri="{FF2B5EF4-FFF2-40B4-BE49-F238E27FC236}">
                <a16:creationId xmlns:a16="http://schemas.microsoft.com/office/drawing/2014/main" id="{63C01AA5-05F1-C615-C9EC-F412D5E1C3EA}"/>
              </a:ext>
            </a:extLst>
          </p:cNvPr>
          <p:cNvSpPr>
            <a:spLocks noChangeArrowheads="1"/>
          </p:cNvSpPr>
          <p:nvPr/>
        </p:nvSpPr>
        <p:spPr bwMode="auto">
          <a:xfrm>
            <a:off x="4568654" y="3309328"/>
            <a:ext cx="5000625"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Decide what data will be collected for each process</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Break the initial Value Stream map into logical sections and assign to small groups within the team</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Use actual, observed data wherever possible</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Use smallest time units whenever possible – </a:t>
            </a:r>
            <a:br>
              <a:rPr lang="en-US" altLang="en-US" sz="1400" b="1" dirty="0">
                <a:latin typeface="Roboto" panose="02000000000000000000" pitchFamily="2" charset="0"/>
                <a:ea typeface="Roboto" panose="02000000000000000000" pitchFamily="2" charset="0"/>
              </a:rPr>
            </a:br>
            <a:r>
              <a:rPr lang="en-US" altLang="en-US" sz="1400" b="1" dirty="0">
                <a:latin typeface="Roboto" panose="02000000000000000000" pitchFamily="2" charset="0"/>
                <a:ea typeface="Roboto" panose="02000000000000000000" pitchFamily="2" charset="0"/>
              </a:rPr>
              <a:t>be consistent</a:t>
            </a:r>
          </a:p>
        </p:txBody>
      </p:sp>
      <p:sp>
        <p:nvSpPr>
          <p:cNvPr id="26" name="AutoShape 44">
            <a:extLst>
              <a:ext uri="{FF2B5EF4-FFF2-40B4-BE49-F238E27FC236}">
                <a16:creationId xmlns:a16="http://schemas.microsoft.com/office/drawing/2014/main" id="{0F1F8D56-C149-A2CB-30C4-ADD13AD16B21}"/>
              </a:ext>
            </a:extLst>
          </p:cNvPr>
          <p:cNvSpPr>
            <a:spLocks noChangeArrowheads="1"/>
          </p:cNvSpPr>
          <p:nvPr/>
        </p:nvSpPr>
        <p:spPr bwMode="auto">
          <a:xfrm>
            <a:off x="4568654" y="4821238"/>
            <a:ext cx="4986337" cy="1279525"/>
          </a:xfrm>
          <a:prstGeom prst="roundRect">
            <a:avLst>
              <a:gd name="adj" fmla="val 16667"/>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prstDash val="dash"/>
                <a:round/>
                <a:headEnd type="none" w="sm" len="sm"/>
                <a:tailEnd type="none" w="sm" len="sm"/>
              </a14:hiddenLine>
            </a:ext>
          </a:extLst>
        </p:spPr>
        <p:txBody>
          <a:bodyPr anchor="ctr"/>
          <a:lstStyle/>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Update the map with any additional process boxes identified based on the observations of the team made during the data gathering</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Create a data box for each of the process boxes</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Use post-it notes to facilitate any necessary changes</a:t>
            </a:r>
          </a:p>
          <a:p>
            <a:pPr marL="115888" indent="-115888">
              <a:spcBef>
                <a:spcPct val="0"/>
              </a:spcBef>
              <a:spcAft>
                <a:spcPct val="0"/>
              </a:spcAft>
              <a:buClr>
                <a:schemeClr val="tx1"/>
              </a:buClr>
              <a:buSzPct val="90000"/>
              <a:buFont typeface="Arial" panose="020B0604020202020204" pitchFamily="34" charset="0"/>
              <a:buChar char="•"/>
            </a:pPr>
            <a:r>
              <a:rPr lang="en-US" altLang="en-US" sz="1400" b="1" dirty="0">
                <a:latin typeface="Roboto" panose="02000000000000000000" pitchFamily="2" charset="0"/>
                <a:ea typeface="Roboto" panose="02000000000000000000" pitchFamily="2" charset="0"/>
              </a:rPr>
              <a:t>Review map as a team to ensure accuracy and </a:t>
            </a:r>
            <a:br>
              <a:rPr lang="en-US" altLang="en-US" sz="1400" b="1" dirty="0">
                <a:latin typeface="Roboto" panose="02000000000000000000" pitchFamily="2" charset="0"/>
                <a:ea typeface="Roboto" panose="02000000000000000000" pitchFamily="2" charset="0"/>
              </a:rPr>
            </a:br>
            <a:r>
              <a:rPr lang="en-US" altLang="en-US" sz="1400" b="1" dirty="0">
                <a:latin typeface="Roboto" panose="02000000000000000000" pitchFamily="2" charset="0"/>
                <a:ea typeface="Roboto" panose="02000000000000000000" pitchFamily="2" charset="0"/>
              </a:rPr>
              <a:t>validate flow</a:t>
            </a:r>
          </a:p>
        </p:txBody>
      </p:sp>
    </p:spTree>
    <p:extLst>
      <p:ext uri="{BB962C8B-B14F-4D97-AF65-F5344CB8AC3E}">
        <p14:creationId xmlns:p14="http://schemas.microsoft.com/office/powerpoint/2010/main" val="235997892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Current State Mapping for Business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74</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90525"/>
            <a:ext cx="9722342" cy="410369"/>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Current State Value Stream Map for your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the guidelines on the previous pages to</a:t>
            </a:r>
            <a:b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the current state Value Stream Map.</a:t>
            </a: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When complete, revisit the Customer Analysis completed earlier and answer: “How well are we currently aligned with our customer’s expectations?”</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Provided by facilitator</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44146"/>
            <a:ext cx="4681292" cy="841256"/>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Current State</a:t>
            </a:r>
            <a:b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br>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Map of the process.</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Current State Map</a:t>
              </a:r>
            </a:p>
          </p:txBody>
        </p:sp>
      </p:grpSp>
    </p:spTree>
    <p:extLst>
      <p:ext uri="{BB962C8B-B14F-4D97-AF65-F5344CB8AC3E}">
        <p14:creationId xmlns:p14="http://schemas.microsoft.com/office/powerpoint/2010/main" val="47260318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75</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3200" dirty="0">
                <a:latin typeface="Roboto Medium"/>
                <a:ea typeface="Roboto Medium"/>
                <a:cs typeface="Roboto Medium"/>
              </a:rPr>
              <a:t>Interrogating the Current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steps to analyze or “interrogate” a Current State Map for improvement opportunities</a:t>
            </a:r>
          </a:p>
          <a:p>
            <a:r>
              <a:rPr lang="en-US" dirty="0"/>
              <a:t>Perform Current State Interrogation Exercise</a:t>
            </a:r>
          </a:p>
          <a:p>
            <a:r>
              <a:rPr lang="en-US" dirty="0"/>
              <a:t>Complete Current State Interrogation for Business Current State Map</a:t>
            </a:r>
          </a:p>
          <a:p>
            <a:r>
              <a:rPr lang="en-US" dirty="0"/>
              <a:t> Report out the Current State Map with identified improvements to Leadership</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Interrogate the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234263401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76</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236637"/>
            <a:ext cx="9722342" cy="718145"/>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Apply lean thinking to the Current State Map to identify opportunities to remove waste from the Value Stream.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the GAG case study Current State Map on 11x17” paper.</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Follow along as the instructor leads a step-by-step discussion of how to interrogate a Current State Map.</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When instructed, mark your GAG Current State Map using a red pen/marker. Don’t work ahead.</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60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59513"/>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Review your map for completeness, proper form, use and placement of VSM Icons. </a:t>
            </a:r>
          </a:p>
        </p:txBody>
      </p:sp>
      <p:grpSp>
        <p:nvGrpSpPr>
          <p:cNvPr id="3" name="Group 2">
            <a:extLst>
              <a:ext uri="{FF2B5EF4-FFF2-40B4-BE49-F238E27FC236}">
                <a16:creationId xmlns:a16="http://schemas.microsoft.com/office/drawing/2014/main" id="{D021620C-06D9-6C78-B432-6EFAE770095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78EEA526-2F27-22C6-AC18-F38033F7CC53}"/>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83BB636-E2C6-B40B-24F6-9F1A709DAFE4}"/>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A8731002-87B0-080F-6F7E-7024F47F0433}"/>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2AB01EB2-B2A5-D55E-F2B7-5E972353BC1A}"/>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261ABF42-5BDF-79C5-BEF9-C7D8EA23DBB7}"/>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E9E837EE-1167-51A9-B2C3-DC561B533B3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8DC611E-AB87-8F6B-68A2-DECF07CCEB2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F8B078DB-A65A-B973-B214-10B6B441035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298410490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296316739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78</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170631539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Where are information flow opportunities?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79</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6"/>
          </a:solidFill>
          <a:ln w="31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6"/>
          </a:solidFill>
          <a:ln w="31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6"/>
          </a:solidFill>
          <a:ln w="31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6"/>
          </a:solidFill>
          <a:ln w="31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8" name="Rectangle 181">
            <a:extLst>
              <a:ext uri="{FF2B5EF4-FFF2-40B4-BE49-F238E27FC236}">
                <a16:creationId xmlns:a16="http://schemas.microsoft.com/office/drawing/2014/main" id="{D5C561B7-367E-51DB-583B-0D6CE6F73D1E}"/>
              </a:ext>
            </a:extLst>
          </p:cNvPr>
          <p:cNvSpPr>
            <a:spLocks noChangeArrowheads="1"/>
          </p:cNvSpPr>
          <p:nvPr/>
        </p:nvSpPr>
        <p:spPr bwMode="auto">
          <a:xfrm>
            <a:off x="3585369" y="4256869"/>
            <a:ext cx="5021262" cy="1833562"/>
          </a:xfrm>
          <a:prstGeom prst="rect">
            <a:avLst/>
          </a:prstGeom>
          <a:solidFill>
            <a:schemeClr val="bg2"/>
          </a:solidFill>
          <a:ln w="12700" cap="sq">
            <a:solidFill>
              <a:schemeClr val="tx1"/>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1400" dirty="0">
                <a:latin typeface="Roboto" panose="02000000000000000000" pitchFamily="2" charset="0"/>
                <a:ea typeface="Roboto" panose="02000000000000000000" pitchFamily="2" charset="0"/>
              </a:rPr>
              <a:t>Currently all decisions are reviewed by the Product Steering Committee.  Opportunity to only have the steering committee review and approve:</a:t>
            </a:r>
          </a:p>
          <a:p>
            <a:pPr>
              <a:spcBef>
                <a:spcPct val="0"/>
              </a:spcBef>
              <a:buClrTx/>
              <a:buSzTx/>
              <a:buFontTx/>
              <a:buNone/>
            </a:pPr>
            <a:r>
              <a:rPr lang="en-US" altLang="en-US" sz="1400" dirty="0">
                <a:latin typeface="Roboto" panose="02000000000000000000" pitchFamily="2" charset="0"/>
                <a:ea typeface="Roboto" panose="02000000000000000000" pitchFamily="2" charset="0"/>
              </a:rPr>
              <a:t>(1) concept development</a:t>
            </a:r>
          </a:p>
          <a:p>
            <a:pPr>
              <a:spcBef>
                <a:spcPct val="0"/>
              </a:spcBef>
              <a:buClrTx/>
              <a:buSzTx/>
              <a:buFontTx/>
              <a:buNone/>
            </a:pPr>
            <a:r>
              <a:rPr lang="en-US" altLang="en-US" sz="1400" dirty="0">
                <a:latin typeface="Roboto" panose="02000000000000000000" pitchFamily="2" charset="0"/>
                <a:ea typeface="Roboto" panose="02000000000000000000" pitchFamily="2" charset="0"/>
              </a:rPr>
              <a:t>(2) prior to launch when the product is completed</a:t>
            </a:r>
          </a:p>
        </p:txBody>
      </p:sp>
    </p:spTree>
    <p:extLst>
      <p:ext uri="{BB962C8B-B14F-4D97-AF65-F5344CB8AC3E}">
        <p14:creationId xmlns:p14="http://schemas.microsoft.com/office/powerpoint/2010/main" val="350182931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2">
            <a:extLst>
              <a:ext uri="{FF2B5EF4-FFF2-40B4-BE49-F238E27FC236}">
                <a16:creationId xmlns:a16="http://schemas.microsoft.com/office/drawing/2014/main" id="{9EC49AE7-18D1-1DBE-AE39-11286871ECA5}"/>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Where are information flow opportunities?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80</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Tree>
    <p:extLst>
      <p:ext uri="{BB962C8B-B14F-4D97-AF65-F5344CB8AC3E}">
        <p14:creationId xmlns:p14="http://schemas.microsoft.com/office/powerpoint/2010/main" val="362608868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81</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353678360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200" dirty="0"/>
              <a:t>Where is low yield driving long processing times?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82</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08" name="Rectangle 152">
            <a:extLst>
              <a:ext uri="{FF2B5EF4-FFF2-40B4-BE49-F238E27FC236}">
                <a16:creationId xmlns:a16="http://schemas.microsoft.com/office/drawing/2014/main" id="{C79B6741-D9CB-E7E5-2DE9-BEBD2DEDA576}"/>
              </a:ext>
            </a:extLst>
          </p:cNvPr>
          <p:cNvSpPr>
            <a:spLocks noChangeArrowheads="1"/>
          </p:cNvSpPr>
          <p:nvPr/>
        </p:nvSpPr>
        <p:spPr bwMode="auto">
          <a:xfrm>
            <a:off x="3098822" y="1586937"/>
            <a:ext cx="5966151" cy="3139321"/>
          </a:xfrm>
          <a:prstGeom prst="rect">
            <a:avLst/>
          </a:prstGeom>
          <a:solidFill>
            <a:schemeClr val="bg2"/>
          </a:solidFill>
          <a:ln w="12700" cap="sq">
            <a:solidFill>
              <a:schemeClr val="tx1"/>
            </a:solidFill>
            <a:miter lim="800000"/>
            <a:headEnd/>
            <a:tailEnd/>
          </a:ln>
        </p:spPr>
        <p:txBody>
          <a:bodyPr wrap="squar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11430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0"/>
              </a:spcBef>
              <a:buClrTx/>
              <a:buSzTx/>
              <a:buFontTx/>
              <a:buNone/>
            </a:pPr>
            <a:r>
              <a:rPr lang="en-US" altLang="en-US" sz="1800" dirty="0">
                <a:latin typeface="Roboto" panose="02000000000000000000" pitchFamily="2" charset="0"/>
                <a:ea typeface="Roboto" panose="02000000000000000000" pitchFamily="2" charset="0"/>
              </a:rPr>
              <a:t>Quality is measured by First-Pass Yield (%) for every process</a:t>
            </a:r>
          </a:p>
          <a:p>
            <a:pPr>
              <a:lnSpc>
                <a:spcPct val="100000"/>
              </a:lnSpc>
              <a:spcBef>
                <a:spcPct val="0"/>
              </a:spcBef>
              <a:buClrTx/>
              <a:buSzTx/>
              <a:buFontTx/>
              <a:buNone/>
            </a:pPr>
            <a:r>
              <a:rPr lang="en-US" altLang="en-US" sz="1800" dirty="0">
                <a:latin typeface="Roboto" panose="02000000000000000000" pitchFamily="2" charset="0"/>
                <a:ea typeface="Roboto" panose="02000000000000000000" pitchFamily="2" charset="0"/>
              </a:rPr>
              <a:t>All defects are waste which:</a:t>
            </a:r>
            <a:br>
              <a:rPr lang="en-US" altLang="en-US" sz="1800" dirty="0">
                <a:latin typeface="Roboto" panose="02000000000000000000" pitchFamily="2" charset="0"/>
                <a:ea typeface="Roboto" panose="02000000000000000000" pitchFamily="2" charset="0"/>
              </a:rPr>
            </a:br>
            <a:r>
              <a:rPr lang="en-US" altLang="en-US" sz="1800" dirty="0">
                <a:latin typeface="Roboto" panose="02000000000000000000" pitchFamily="2" charset="0"/>
                <a:ea typeface="Roboto" panose="02000000000000000000" pitchFamily="2" charset="0"/>
              </a:rPr>
              <a:t>Consume people (rework)</a:t>
            </a:r>
            <a:br>
              <a:rPr lang="en-US" altLang="en-US" sz="1800" dirty="0">
                <a:latin typeface="Roboto" panose="02000000000000000000" pitchFamily="2" charset="0"/>
                <a:ea typeface="Roboto" panose="02000000000000000000" pitchFamily="2" charset="0"/>
              </a:rPr>
            </a:br>
            <a:r>
              <a:rPr lang="en-US" altLang="en-US" sz="1800" dirty="0">
                <a:latin typeface="Roboto" panose="02000000000000000000" pitchFamily="2" charset="0"/>
                <a:ea typeface="Roboto" panose="02000000000000000000" pitchFamily="2" charset="0"/>
              </a:rPr>
              <a:t>Reduce process capacity</a:t>
            </a:r>
            <a:br>
              <a:rPr lang="en-US" altLang="en-US" sz="1800" dirty="0">
                <a:latin typeface="Roboto" panose="02000000000000000000" pitchFamily="2" charset="0"/>
                <a:ea typeface="Roboto" panose="02000000000000000000" pitchFamily="2" charset="0"/>
              </a:rPr>
            </a:br>
            <a:r>
              <a:rPr lang="en-US" altLang="en-US" sz="1800" dirty="0">
                <a:latin typeface="Roboto" panose="02000000000000000000" pitchFamily="2" charset="0"/>
                <a:ea typeface="Roboto" panose="02000000000000000000" pitchFamily="2" charset="0"/>
              </a:rPr>
              <a:t>Inhibit Continuous Flow</a:t>
            </a:r>
          </a:p>
          <a:p>
            <a:pPr lvl="1">
              <a:lnSpc>
                <a:spcPct val="100000"/>
              </a:lnSpc>
              <a:spcBef>
                <a:spcPct val="0"/>
              </a:spcBef>
              <a:buClrTx/>
              <a:buSzTx/>
              <a:buFontTx/>
              <a:buNone/>
            </a:pPr>
            <a:r>
              <a:rPr lang="en-US" altLang="en-US" sz="1800" dirty="0">
                <a:latin typeface="Roboto" panose="02000000000000000000" pitchFamily="2" charset="0"/>
                <a:ea typeface="Roboto" panose="02000000000000000000" pitchFamily="2" charset="0"/>
              </a:rPr>
              <a:t>For GAG, the quality issues in Concept Development (75%), Specification (30%), Design (20%), Prototype Build (30%), and Test (20%), if not addressed, will prevent successful continuous flow</a:t>
            </a:r>
          </a:p>
        </p:txBody>
      </p:sp>
      <p:sp>
        <p:nvSpPr>
          <p:cNvPr id="110" name="Explosion: 14 Points 109">
            <a:extLst>
              <a:ext uri="{FF2B5EF4-FFF2-40B4-BE49-F238E27FC236}">
                <a16:creationId xmlns:a16="http://schemas.microsoft.com/office/drawing/2014/main" id="{C7C7DB9A-BADA-0DB4-A791-E67DBA4BC601}"/>
              </a:ext>
            </a:extLst>
          </p:cNvPr>
          <p:cNvSpPr/>
          <p:nvPr/>
        </p:nvSpPr>
        <p:spPr>
          <a:xfrm>
            <a:off x="2961827" y="4896509"/>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Explosion: 14 Points 110">
            <a:extLst>
              <a:ext uri="{FF2B5EF4-FFF2-40B4-BE49-F238E27FC236}">
                <a16:creationId xmlns:a16="http://schemas.microsoft.com/office/drawing/2014/main" id="{87AC58C5-525A-7AAD-F4B8-6C7D6F016EBE}"/>
              </a:ext>
            </a:extLst>
          </p:cNvPr>
          <p:cNvSpPr/>
          <p:nvPr/>
        </p:nvSpPr>
        <p:spPr>
          <a:xfrm>
            <a:off x="834943" y="4991323"/>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Explosion: 14 Points 111">
            <a:extLst>
              <a:ext uri="{FF2B5EF4-FFF2-40B4-BE49-F238E27FC236}">
                <a16:creationId xmlns:a16="http://schemas.microsoft.com/office/drawing/2014/main" id="{0D5D569A-8A8E-2BAA-E392-F3500E921BBC}"/>
              </a:ext>
            </a:extLst>
          </p:cNvPr>
          <p:cNvSpPr/>
          <p:nvPr/>
        </p:nvSpPr>
        <p:spPr>
          <a:xfrm>
            <a:off x="5326099" y="4907285"/>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Explosion: 14 Points 112">
            <a:extLst>
              <a:ext uri="{FF2B5EF4-FFF2-40B4-BE49-F238E27FC236}">
                <a16:creationId xmlns:a16="http://schemas.microsoft.com/office/drawing/2014/main" id="{DD7DA636-575C-4977-A308-6228408BE18A}"/>
              </a:ext>
            </a:extLst>
          </p:cNvPr>
          <p:cNvSpPr/>
          <p:nvPr/>
        </p:nvSpPr>
        <p:spPr>
          <a:xfrm>
            <a:off x="7636893" y="4896575"/>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Explosion: 14 Points 113">
            <a:extLst>
              <a:ext uri="{FF2B5EF4-FFF2-40B4-BE49-F238E27FC236}">
                <a16:creationId xmlns:a16="http://schemas.microsoft.com/office/drawing/2014/main" id="{AE6CCCE8-ED00-402A-A610-EFC1AA3E2681}"/>
              </a:ext>
            </a:extLst>
          </p:cNvPr>
          <p:cNvSpPr/>
          <p:nvPr/>
        </p:nvSpPr>
        <p:spPr>
          <a:xfrm>
            <a:off x="9966678" y="4871107"/>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6" name="Straight Arrow Connector 115">
            <a:extLst>
              <a:ext uri="{FF2B5EF4-FFF2-40B4-BE49-F238E27FC236}">
                <a16:creationId xmlns:a16="http://schemas.microsoft.com/office/drawing/2014/main" id="{81324D85-0895-30C1-F759-F134A369EB65}"/>
              </a:ext>
            </a:extLst>
          </p:cNvPr>
          <p:cNvCxnSpPr>
            <a:cxnSpLocks/>
            <a:stCxn id="128" idx="1"/>
            <a:endCxn id="111" idx="2"/>
          </p:cNvCxnSpPr>
          <p:nvPr/>
        </p:nvCxnSpPr>
        <p:spPr>
          <a:xfrm flipH="1" flipV="1">
            <a:off x="1404748" y="5584033"/>
            <a:ext cx="3306641" cy="552426"/>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C97CD417-99D7-8558-E267-275F215D6714}"/>
              </a:ext>
            </a:extLst>
          </p:cNvPr>
          <p:cNvCxnSpPr>
            <a:cxnSpLocks/>
            <a:stCxn id="128" idx="0"/>
            <a:endCxn id="110" idx="2"/>
          </p:cNvCxnSpPr>
          <p:nvPr/>
        </p:nvCxnSpPr>
        <p:spPr>
          <a:xfrm flipH="1" flipV="1">
            <a:off x="3531632" y="5489219"/>
            <a:ext cx="1595429" cy="439491"/>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a:extLst>
              <a:ext uri="{FF2B5EF4-FFF2-40B4-BE49-F238E27FC236}">
                <a16:creationId xmlns:a16="http://schemas.microsoft.com/office/drawing/2014/main" id="{D9322C40-BCBF-11A2-B4C6-A55061156F9E}"/>
              </a:ext>
            </a:extLst>
          </p:cNvPr>
          <p:cNvCxnSpPr>
            <a:cxnSpLocks/>
            <a:stCxn id="128" idx="0"/>
            <a:endCxn id="112" idx="2"/>
          </p:cNvCxnSpPr>
          <p:nvPr/>
        </p:nvCxnSpPr>
        <p:spPr>
          <a:xfrm flipV="1">
            <a:off x="5127061" y="5499995"/>
            <a:ext cx="768843" cy="428715"/>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6F59F661-0066-8AD2-6704-FF798B68FE33}"/>
              </a:ext>
            </a:extLst>
          </p:cNvPr>
          <p:cNvCxnSpPr>
            <a:cxnSpLocks/>
            <a:stCxn id="128" idx="3"/>
            <a:endCxn id="113" idx="1"/>
          </p:cNvCxnSpPr>
          <p:nvPr/>
        </p:nvCxnSpPr>
        <p:spPr>
          <a:xfrm flipV="1">
            <a:off x="5542733" y="5301645"/>
            <a:ext cx="2094160" cy="834814"/>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2FB4A92D-57BB-3DEF-5F18-7DA2CB76CCB2}"/>
              </a:ext>
            </a:extLst>
          </p:cNvPr>
          <p:cNvCxnSpPr>
            <a:cxnSpLocks/>
            <a:stCxn id="128" idx="3"/>
            <a:endCxn id="114" idx="1"/>
          </p:cNvCxnSpPr>
          <p:nvPr/>
        </p:nvCxnSpPr>
        <p:spPr>
          <a:xfrm flipV="1">
            <a:off x="5542733" y="5276177"/>
            <a:ext cx="4423945" cy="860282"/>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794D058C-B1A0-9570-2C26-384D8939874A}"/>
              </a:ext>
            </a:extLst>
          </p:cNvPr>
          <p:cNvSpPr txBox="1"/>
          <p:nvPr/>
        </p:nvSpPr>
        <p:spPr>
          <a:xfrm>
            <a:off x="4711389" y="5928710"/>
            <a:ext cx="831344" cy="415498"/>
          </a:xfrm>
          <a:prstGeom prst="rect">
            <a:avLst/>
          </a:prstGeom>
          <a:noFill/>
        </p:spPr>
        <p:txBody>
          <a:bodyPr wrap="square" rtlCol="0">
            <a:spAutoFit/>
          </a:bodyPr>
          <a:lstStyle/>
          <a:p>
            <a:r>
              <a:rPr lang="en-US" sz="1050" b="1" dirty="0">
                <a:solidFill>
                  <a:schemeClr val="accent6"/>
                </a:solidFill>
                <a:latin typeface="Roboto" panose="02000000000000000000" pitchFamily="2" charset="0"/>
                <a:ea typeface="Roboto" panose="02000000000000000000" pitchFamily="2" charset="0"/>
              </a:rPr>
              <a:t>Implement Poke Yoke</a:t>
            </a:r>
          </a:p>
        </p:txBody>
      </p:sp>
    </p:spTree>
    <p:extLst>
      <p:ext uri="{BB962C8B-B14F-4D97-AF65-F5344CB8AC3E}">
        <p14:creationId xmlns:p14="http://schemas.microsoft.com/office/powerpoint/2010/main" val="98615342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2">
            <a:extLst>
              <a:ext uri="{FF2B5EF4-FFF2-40B4-BE49-F238E27FC236}">
                <a16:creationId xmlns:a16="http://schemas.microsoft.com/office/drawing/2014/main" id="{9EC49AE7-18D1-1DBE-AE39-11286871ECA5}"/>
              </a:ext>
            </a:extLst>
          </p:cNvPr>
          <p:cNvSpPr>
            <a:spLocks noChangeArrowheads="1"/>
          </p:cNvSpPr>
          <p:nvPr/>
        </p:nvSpPr>
        <p:spPr bwMode="auto">
          <a:xfrm>
            <a:off x="203200" y="1731888"/>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200" dirty="0"/>
              <a:t>Where is low yield driving long processing times?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83</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dirty="0">
                <a:solidFill>
                  <a:schemeClr val="accent1"/>
                </a:solidFill>
                <a:latin typeface="Roboto" panose="02000000000000000000" pitchFamily="2" charset="0"/>
                <a:ea typeface="Roboto" panose="02000000000000000000" pitchFamily="2" charset="0"/>
              </a:rPr>
              <a:t>Implement Poke Yoke</a:t>
            </a:r>
          </a:p>
        </p:txBody>
      </p:sp>
    </p:spTree>
    <p:extLst>
      <p:ext uri="{BB962C8B-B14F-4D97-AF65-F5344CB8AC3E}">
        <p14:creationId xmlns:p14="http://schemas.microsoft.com/office/powerpoint/2010/main" val="231787404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84</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54131796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Where are there high process lead times?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85</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endCxn id="113" idx="1"/>
          </p:cNvCxnSpPr>
          <p:nvPr/>
        </p:nvCxnSpPr>
        <p:spPr>
          <a:xfrm flipV="1">
            <a:off x="5527012" y="5242612"/>
            <a:ext cx="2094160" cy="809569"/>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08" name="Rectangle 152">
            <a:extLst>
              <a:ext uri="{FF2B5EF4-FFF2-40B4-BE49-F238E27FC236}">
                <a16:creationId xmlns:a16="http://schemas.microsoft.com/office/drawing/2014/main" id="{C80F5179-B134-B5FF-FDE5-12F6BC1C305E}"/>
              </a:ext>
            </a:extLst>
          </p:cNvPr>
          <p:cNvSpPr>
            <a:spLocks noChangeArrowheads="1"/>
          </p:cNvSpPr>
          <p:nvPr/>
        </p:nvSpPr>
        <p:spPr bwMode="auto">
          <a:xfrm>
            <a:off x="3089637" y="1717017"/>
            <a:ext cx="6168305" cy="1981696"/>
          </a:xfrm>
          <a:prstGeom prst="rect">
            <a:avLst/>
          </a:prstGeom>
          <a:solidFill>
            <a:schemeClr val="bg2"/>
          </a:solidFill>
          <a:ln w="12700" cap="sq">
            <a:solidFill>
              <a:schemeClr val="tx1"/>
            </a:solidFill>
            <a:miter lim="800000"/>
            <a:headEnd/>
            <a:tailEnd/>
          </a:ln>
        </p:spPr>
        <p:txBody>
          <a:bodyPr wrap="squar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1800" dirty="0">
                <a:latin typeface="Roboto" panose="02000000000000000000" pitchFamily="2" charset="0"/>
                <a:ea typeface="Roboto" panose="02000000000000000000" pitchFamily="2" charset="0"/>
              </a:rPr>
              <a:t>Assess where there are process lead times that are in excess of actual process times.  In the case of GAG, Concept Development and Product Design both take 10 days more than the actual process time, in the case of Prototype Test, it takes 60 days to perform 5 days of work.  </a:t>
            </a:r>
          </a:p>
        </p:txBody>
      </p:sp>
      <p:sp>
        <p:nvSpPr>
          <p:cNvPr id="127" name="Explosion: 14 Points 126">
            <a:extLst>
              <a:ext uri="{FF2B5EF4-FFF2-40B4-BE49-F238E27FC236}">
                <a16:creationId xmlns:a16="http://schemas.microsoft.com/office/drawing/2014/main" id="{438243D2-93B3-CCD1-34B9-E66164EFE80B}"/>
              </a:ext>
            </a:extLst>
          </p:cNvPr>
          <p:cNvSpPr/>
          <p:nvPr/>
        </p:nvSpPr>
        <p:spPr>
          <a:xfrm>
            <a:off x="1552589" y="4434741"/>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Explosion: 14 Points 127">
            <a:extLst>
              <a:ext uri="{FF2B5EF4-FFF2-40B4-BE49-F238E27FC236}">
                <a16:creationId xmlns:a16="http://schemas.microsoft.com/office/drawing/2014/main" id="{90BD074C-58A2-2234-5252-19712B318072}"/>
              </a:ext>
            </a:extLst>
          </p:cNvPr>
          <p:cNvSpPr/>
          <p:nvPr/>
        </p:nvSpPr>
        <p:spPr>
          <a:xfrm>
            <a:off x="6078936" y="4492965"/>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D32D9B9C-7ABA-604F-4C86-956D55791067}"/>
              </a:ext>
            </a:extLst>
          </p:cNvPr>
          <p:cNvSpPr/>
          <p:nvPr/>
        </p:nvSpPr>
        <p:spPr>
          <a:xfrm>
            <a:off x="10721793" y="4458865"/>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TextBox 129">
            <a:extLst>
              <a:ext uri="{FF2B5EF4-FFF2-40B4-BE49-F238E27FC236}">
                <a16:creationId xmlns:a16="http://schemas.microsoft.com/office/drawing/2014/main" id="{13A2C78C-9830-3815-B91A-CE66D2CB8D07}"/>
              </a:ext>
            </a:extLst>
          </p:cNvPr>
          <p:cNvSpPr txBox="1"/>
          <p:nvPr/>
        </p:nvSpPr>
        <p:spPr>
          <a:xfrm>
            <a:off x="7170964" y="5855393"/>
            <a:ext cx="831345" cy="577081"/>
          </a:xfrm>
          <a:prstGeom prst="rect">
            <a:avLst/>
          </a:prstGeom>
          <a:solidFill>
            <a:schemeClr val="bg1"/>
          </a:solidFill>
        </p:spPr>
        <p:txBody>
          <a:bodyPr wrap="square" rtlCol="0">
            <a:spAutoFit/>
          </a:bodyPr>
          <a:lstStyle/>
          <a:p>
            <a:pPr algn="ctr"/>
            <a:r>
              <a:rPr lang="en-US" sz="1050" b="1" dirty="0">
                <a:solidFill>
                  <a:schemeClr val="accent6"/>
                </a:solidFill>
                <a:latin typeface="Roboto" panose="02000000000000000000" pitchFamily="2" charset="0"/>
                <a:ea typeface="Roboto" panose="02000000000000000000" pitchFamily="2" charset="0"/>
              </a:rPr>
              <a:t>Implement Standard Work</a:t>
            </a:r>
          </a:p>
        </p:txBody>
      </p:sp>
      <p:cxnSp>
        <p:nvCxnSpPr>
          <p:cNvPr id="131" name="Straight Arrow Connector 130">
            <a:extLst>
              <a:ext uri="{FF2B5EF4-FFF2-40B4-BE49-F238E27FC236}">
                <a16:creationId xmlns:a16="http://schemas.microsoft.com/office/drawing/2014/main" id="{A99A5093-ECA6-9D13-F136-A1970AEA0122}"/>
              </a:ext>
            </a:extLst>
          </p:cNvPr>
          <p:cNvCxnSpPr>
            <a:cxnSpLocks/>
            <a:stCxn id="130" idx="1"/>
            <a:endCxn id="127" idx="2"/>
          </p:cNvCxnSpPr>
          <p:nvPr/>
        </p:nvCxnSpPr>
        <p:spPr>
          <a:xfrm flipH="1" flipV="1">
            <a:off x="2122394" y="5027451"/>
            <a:ext cx="5048570" cy="1116483"/>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78617796-B67A-9D90-002D-19BBFA7B6176}"/>
              </a:ext>
            </a:extLst>
          </p:cNvPr>
          <p:cNvCxnSpPr>
            <a:cxnSpLocks/>
            <a:stCxn id="130" idx="0"/>
            <a:endCxn id="128" idx="2"/>
          </p:cNvCxnSpPr>
          <p:nvPr/>
        </p:nvCxnSpPr>
        <p:spPr>
          <a:xfrm flipH="1" flipV="1">
            <a:off x="6648741" y="5085675"/>
            <a:ext cx="937896" cy="769718"/>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E854DB3-190A-0505-E341-E945AD9B3EDB}"/>
              </a:ext>
            </a:extLst>
          </p:cNvPr>
          <p:cNvCxnSpPr>
            <a:cxnSpLocks/>
            <a:stCxn id="130" idx="3"/>
          </p:cNvCxnSpPr>
          <p:nvPr/>
        </p:nvCxnSpPr>
        <p:spPr>
          <a:xfrm flipV="1">
            <a:off x="8002309" y="5027451"/>
            <a:ext cx="3370469" cy="1116483"/>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889580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2">
            <a:extLst>
              <a:ext uri="{FF2B5EF4-FFF2-40B4-BE49-F238E27FC236}">
                <a16:creationId xmlns:a16="http://schemas.microsoft.com/office/drawing/2014/main" id="{9EC49AE7-18D1-1DBE-AE39-11286871ECA5}"/>
              </a:ext>
            </a:extLst>
          </p:cNvPr>
          <p:cNvSpPr>
            <a:spLocks noChangeArrowheads="1"/>
          </p:cNvSpPr>
          <p:nvPr/>
        </p:nvSpPr>
        <p:spPr bwMode="auto">
          <a:xfrm>
            <a:off x="203199" y="1718975"/>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Where are there high process lead times?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86</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161981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87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136303612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Continuous Flow</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Movement of information, services, and knowledge down the </a:t>
            </a:r>
            <a:br>
              <a:rPr lang="en-US" dirty="0"/>
            </a:br>
            <a:r>
              <a:rPr lang="en-US" dirty="0"/>
              <a:t>value stream</a:t>
            </a:r>
          </a:p>
          <a:p>
            <a:r>
              <a:rPr lang="en-US" dirty="0"/>
              <a:t>A perfect process has a continuous flow as information, service, and knowledge are transformed continuously without delay from step to step</a:t>
            </a:r>
          </a:p>
          <a:p>
            <a:r>
              <a:rPr lang="en-US" dirty="0"/>
              <a:t>Flow is created by eliminating queues and stops, facilitating improved process flexibility &amp; reliability</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88</a:t>
            </a:fld>
            <a:endParaRPr lang="en-US"/>
          </a:p>
        </p:txBody>
      </p:sp>
      <p:grpSp>
        <p:nvGrpSpPr>
          <p:cNvPr id="4" name="Group 3">
            <a:extLst>
              <a:ext uri="{FF2B5EF4-FFF2-40B4-BE49-F238E27FC236}">
                <a16:creationId xmlns:a16="http://schemas.microsoft.com/office/drawing/2014/main" id="{CFF233F3-E6A8-ABD8-4095-C9A7F16EBBAE}"/>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7D989654-D317-BD7B-4E09-09D80A9ECE68}"/>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166A7EA5-54DB-8903-D53F-43EC90C6DF2B}"/>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63D9E66-6E8C-BC8F-D5D1-C38AD2D59C1F}"/>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A0EECE19-6DA7-6890-BA20-4036E8F5380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282F0EC4-95AB-A5B5-4B9D-7A83FAD421B1}"/>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1F0795F-FBB5-40C8-7F70-2F83AAF0C9C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9E93E9E5-3C72-ADA8-9B71-B29ECE421C8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184B4D3C-E3C5-986F-903A-3CF641F77BC3}"/>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58731258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Which processes can be coupled using continuous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89</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152">
            <a:extLst>
              <a:ext uri="{FF2B5EF4-FFF2-40B4-BE49-F238E27FC236}">
                <a16:creationId xmlns:a16="http://schemas.microsoft.com/office/drawing/2014/main" id="{58D23C1A-5EC5-894A-982A-7606A8524FC8}"/>
              </a:ext>
            </a:extLst>
          </p:cNvPr>
          <p:cNvSpPr>
            <a:spLocks noChangeArrowheads="1"/>
          </p:cNvSpPr>
          <p:nvPr/>
        </p:nvSpPr>
        <p:spPr bwMode="auto">
          <a:xfrm>
            <a:off x="3585748" y="1801843"/>
            <a:ext cx="5021263" cy="1956267"/>
          </a:xfrm>
          <a:prstGeom prst="rect">
            <a:avLst/>
          </a:prstGeom>
          <a:solidFill>
            <a:schemeClr val="bg2"/>
          </a:solidFill>
          <a:ln w="12700" cap="sq">
            <a:solidFill>
              <a:schemeClr val="tx1"/>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2000" dirty="0">
                <a:latin typeface="Roboto" panose="02000000000000000000" pitchFamily="2" charset="0"/>
                <a:ea typeface="Roboto" panose="02000000000000000000" pitchFamily="2" charset="0"/>
              </a:rPr>
              <a:t>For Great America Golf there are no opportunities to couple operations to enhance continuous flow.</a:t>
            </a:r>
          </a:p>
        </p:txBody>
      </p:sp>
    </p:spTree>
    <p:extLst>
      <p:ext uri="{BB962C8B-B14F-4D97-AF65-F5344CB8AC3E}">
        <p14:creationId xmlns:p14="http://schemas.microsoft.com/office/powerpoint/2010/main" val="178382393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90</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304357784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Queue Management</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a:xfrm>
            <a:off x="838200" y="1825625"/>
            <a:ext cx="8826661" cy="4351338"/>
          </a:xfrm>
        </p:spPr>
        <p:txBody>
          <a:bodyPr>
            <a:normAutofit/>
          </a:bodyPr>
          <a:lstStyle/>
          <a:p>
            <a:r>
              <a:rPr lang="en-US" sz="2400" dirty="0"/>
              <a:t>The optimal scenario is to establish flow through sequential process steps without the opportunity to accumulate a queue in between</a:t>
            </a:r>
          </a:p>
          <a:p>
            <a:r>
              <a:rPr lang="en-US" sz="2400" dirty="0"/>
              <a:t>In administrative processes, where you can’t flow, implement pull </a:t>
            </a:r>
          </a:p>
          <a:p>
            <a:r>
              <a:rPr lang="en-US" sz="2400" dirty="0"/>
              <a:t>When pull may not be possible due to the nature of the process, we want to do visual queue management</a:t>
            </a:r>
          </a:p>
          <a:p>
            <a:r>
              <a:rPr lang="en-US" sz="2400" dirty="0"/>
              <a:t>If there is visual queue management over all the queues in the process, the process can be accelerated</a:t>
            </a:r>
          </a:p>
          <a:p>
            <a:r>
              <a:rPr lang="en-US" sz="2400" dirty="0"/>
              <a:t>Visually managed queues can also be used to monitor consumption and provide feedback on downstream process</a:t>
            </a:r>
          </a:p>
          <a:p>
            <a:endParaRPr lang="en-US" sz="2400"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91</a:t>
            </a:fld>
            <a:endParaRPr lang="en-US"/>
          </a:p>
        </p:txBody>
      </p:sp>
      <p:grpSp>
        <p:nvGrpSpPr>
          <p:cNvPr id="4" name="Group 3">
            <a:extLst>
              <a:ext uri="{FF2B5EF4-FFF2-40B4-BE49-F238E27FC236}">
                <a16:creationId xmlns:a16="http://schemas.microsoft.com/office/drawing/2014/main" id="{B08F9B1A-5A13-8225-ADF6-B1BE7773692C}"/>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2241120-2A14-F9C9-5974-ECA79C4B8218}"/>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482631E-4D4C-9086-2DC6-D229EE33552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EF908C17-F337-A085-C48B-10BA750B5E42}"/>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6F196CD3-8D3E-AE9E-FD50-15A011868F12}"/>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EFAD0A12-9E69-D9AC-2A26-50BD35B67179}"/>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C74CBD2-3C83-8E39-EB41-83DC22439DBA}"/>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DABBCAE6-2FCF-4C99-9F83-A1985B37AF1D}"/>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741DE5D6-EA86-F7D8-D50C-E1442AD22A10}"/>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4" name="Group 11">
            <a:extLst>
              <a:ext uri="{FF2B5EF4-FFF2-40B4-BE49-F238E27FC236}">
                <a16:creationId xmlns:a16="http://schemas.microsoft.com/office/drawing/2014/main" id="{BBBFF146-71F6-2DFF-BF3F-1F5269DA94B2}"/>
              </a:ext>
            </a:extLst>
          </p:cNvPr>
          <p:cNvGrpSpPr>
            <a:grpSpLocks/>
          </p:cNvGrpSpPr>
          <p:nvPr/>
        </p:nvGrpSpPr>
        <p:grpSpPr bwMode="auto">
          <a:xfrm>
            <a:off x="10214568" y="2363887"/>
            <a:ext cx="1123709" cy="2624801"/>
            <a:chOff x="4984" y="1212"/>
            <a:chExt cx="376" cy="936"/>
          </a:xfrm>
        </p:grpSpPr>
        <p:sp>
          <p:nvSpPr>
            <p:cNvPr id="15" name="AutoShape 12">
              <a:extLst>
                <a:ext uri="{FF2B5EF4-FFF2-40B4-BE49-F238E27FC236}">
                  <a16:creationId xmlns:a16="http://schemas.microsoft.com/office/drawing/2014/main" id="{A92809FA-F423-4AB3-6D72-F357863CE636}"/>
                </a:ext>
              </a:extLst>
            </p:cNvPr>
            <p:cNvSpPr>
              <a:spLocks/>
            </p:cNvSpPr>
            <p:nvPr/>
          </p:nvSpPr>
          <p:spPr bwMode="auto">
            <a:xfrm rot="-5400000">
              <a:off x="5157" y="1039"/>
              <a:ext cx="29" cy="376"/>
            </a:xfrm>
            <a:prstGeom prst="leftBracket">
              <a:avLst>
                <a:gd name="adj" fmla="val 108046"/>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16" name="AutoShape 13">
              <a:extLst>
                <a:ext uri="{FF2B5EF4-FFF2-40B4-BE49-F238E27FC236}">
                  <a16:creationId xmlns:a16="http://schemas.microsoft.com/office/drawing/2014/main" id="{747DCBED-BBBD-2789-FE91-C79DECE69115}"/>
                </a:ext>
              </a:extLst>
            </p:cNvPr>
            <p:cNvSpPr>
              <a:spLocks/>
            </p:cNvSpPr>
            <p:nvPr/>
          </p:nvSpPr>
          <p:spPr bwMode="auto">
            <a:xfrm rot="-5400000">
              <a:off x="5157" y="1054"/>
              <a:ext cx="29" cy="376"/>
            </a:xfrm>
            <a:prstGeom prst="leftBracket">
              <a:avLst>
                <a:gd name="adj" fmla="val 108046"/>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17" name="AutoShape 14">
              <a:extLst>
                <a:ext uri="{FF2B5EF4-FFF2-40B4-BE49-F238E27FC236}">
                  <a16:creationId xmlns:a16="http://schemas.microsoft.com/office/drawing/2014/main" id="{0445EAC1-E419-2FCF-B3EC-3997E2482781}"/>
                </a:ext>
              </a:extLst>
            </p:cNvPr>
            <p:cNvSpPr>
              <a:spLocks/>
            </p:cNvSpPr>
            <p:nvPr/>
          </p:nvSpPr>
          <p:spPr bwMode="auto">
            <a:xfrm rot="-5400000">
              <a:off x="5157" y="1068"/>
              <a:ext cx="30" cy="376"/>
            </a:xfrm>
            <a:prstGeom prst="leftBracket">
              <a:avLst>
                <a:gd name="adj" fmla="val 104444"/>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grpSp>
          <p:nvGrpSpPr>
            <p:cNvPr id="18" name="Group 15">
              <a:extLst>
                <a:ext uri="{FF2B5EF4-FFF2-40B4-BE49-F238E27FC236}">
                  <a16:creationId xmlns:a16="http://schemas.microsoft.com/office/drawing/2014/main" id="{954271EA-451B-6EC6-130D-0A653912BB0B}"/>
                </a:ext>
              </a:extLst>
            </p:cNvPr>
            <p:cNvGrpSpPr>
              <a:grpSpLocks/>
            </p:cNvGrpSpPr>
            <p:nvPr/>
          </p:nvGrpSpPr>
          <p:grpSpPr bwMode="auto">
            <a:xfrm>
              <a:off x="4984" y="1602"/>
              <a:ext cx="376" cy="546"/>
              <a:chOff x="576" y="1200"/>
              <a:chExt cx="240" cy="336"/>
            </a:xfrm>
          </p:grpSpPr>
          <p:sp>
            <p:nvSpPr>
              <p:cNvPr id="24" name="Rectangle 16">
                <a:extLst>
                  <a:ext uri="{FF2B5EF4-FFF2-40B4-BE49-F238E27FC236}">
                    <a16:creationId xmlns:a16="http://schemas.microsoft.com/office/drawing/2014/main" id="{6B29C827-A167-D7C4-9B76-B1B0E5B4489E}"/>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5" name="Line 17">
                <a:extLst>
                  <a:ext uri="{FF2B5EF4-FFF2-40B4-BE49-F238E27FC236}">
                    <a16:creationId xmlns:a16="http://schemas.microsoft.com/office/drawing/2014/main" id="{1C08AA26-558F-3DF8-5FFC-1A72DE769750}"/>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18">
                <a:extLst>
                  <a:ext uri="{FF2B5EF4-FFF2-40B4-BE49-F238E27FC236}">
                    <a16:creationId xmlns:a16="http://schemas.microsoft.com/office/drawing/2014/main" id="{C121E5A7-5282-5221-68C1-3277CF885CA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9" name="AutoShape 19">
              <a:extLst>
                <a:ext uri="{FF2B5EF4-FFF2-40B4-BE49-F238E27FC236}">
                  <a16:creationId xmlns:a16="http://schemas.microsoft.com/office/drawing/2014/main" id="{F6D435CF-2F28-E783-1498-D95A31A6732B}"/>
                </a:ext>
              </a:extLst>
            </p:cNvPr>
            <p:cNvSpPr>
              <a:spLocks noChangeArrowheads="1"/>
            </p:cNvSpPr>
            <p:nvPr/>
          </p:nvSpPr>
          <p:spPr bwMode="auto">
            <a:xfrm>
              <a:off x="4984" y="1288"/>
              <a:ext cx="376" cy="269"/>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grpSp>
          <p:nvGrpSpPr>
            <p:cNvPr id="20" name="Group 20">
              <a:extLst>
                <a:ext uri="{FF2B5EF4-FFF2-40B4-BE49-F238E27FC236}">
                  <a16:creationId xmlns:a16="http://schemas.microsoft.com/office/drawing/2014/main" id="{F444A4CB-DB50-22AF-3A18-89AE7723B497}"/>
                </a:ext>
              </a:extLst>
            </p:cNvPr>
            <p:cNvGrpSpPr>
              <a:grpSpLocks/>
            </p:cNvGrpSpPr>
            <p:nvPr/>
          </p:nvGrpSpPr>
          <p:grpSpPr bwMode="auto">
            <a:xfrm>
              <a:off x="5081" y="1303"/>
              <a:ext cx="245" cy="104"/>
              <a:chOff x="1440" y="1520"/>
              <a:chExt cx="156" cy="64"/>
            </a:xfrm>
          </p:grpSpPr>
          <p:sp>
            <p:nvSpPr>
              <p:cNvPr id="21" name="Line 21">
                <a:extLst>
                  <a:ext uri="{FF2B5EF4-FFF2-40B4-BE49-F238E27FC236}">
                    <a16:creationId xmlns:a16="http://schemas.microsoft.com/office/drawing/2014/main" id="{4FAED3B2-A8B0-83F4-1F5E-8F23DCC73817}"/>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 name="Line 22">
                <a:extLst>
                  <a:ext uri="{FF2B5EF4-FFF2-40B4-BE49-F238E27FC236}">
                    <a16:creationId xmlns:a16="http://schemas.microsoft.com/office/drawing/2014/main" id="{EA87E406-4534-F833-3FA4-DF4189A0FAC0}"/>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23" name="AutoShape 23">
                <a:extLst>
                  <a:ext uri="{FF2B5EF4-FFF2-40B4-BE49-F238E27FC236}">
                    <a16:creationId xmlns:a16="http://schemas.microsoft.com/office/drawing/2014/main" id="{F33CEDD0-3B38-CBE2-F704-4F71D5E8E6D3}"/>
                  </a:ext>
                </a:extLst>
              </p:cNvPr>
              <p:cNvCxnSpPr>
                <a:cxnSpLocks noChangeShapeType="1"/>
                <a:stCxn id="21" idx="1"/>
                <a:endCxn id="22"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Tree>
    <p:extLst>
      <p:ext uri="{BB962C8B-B14F-4D97-AF65-F5344CB8AC3E}">
        <p14:creationId xmlns:p14="http://schemas.microsoft.com/office/powerpoint/2010/main" val="248392058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Where can Visually Managed Queues couple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92</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152">
            <a:extLst>
              <a:ext uri="{FF2B5EF4-FFF2-40B4-BE49-F238E27FC236}">
                <a16:creationId xmlns:a16="http://schemas.microsoft.com/office/drawing/2014/main" id="{58D23C1A-5EC5-894A-982A-7606A8524FC8}"/>
              </a:ext>
            </a:extLst>
          </p:cNvPr>
          <p:cNvSpPr>
            <a:spLocks noChangeArrowheads="1"/>
          </p:cNvSpPr>
          <p:nvPr/>
        </p:nvSpPr>
        <p:spPr bwMode="auto">
          <a:xfrm>
            <a:off x="3585748" y="1801843"/>
            <a:ext cx="5021263" cy="1956267"/>
          </a:xfrm>
          <a:prstGeom prst="rect">
            <a:avLst/>
          </a:prstGeom>
          <a:solidFill>
            <a:schemeClr val="bg2"/>
          </a:solidFill>
          <a:ln w="12700" cap="sq">
            <a:solidFill>
              <a:schemeClr val="tx1"/>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2000" dirty="0">
                <a:latin typeface="Roboto" panose="02000000000000000000" pitchFamily="2" charset="0"/>
                <a:ea typeface="Roboto" panose="02000000000000000000" pitchFamily="2" charset="0"/>
              </a:rPr>
              <a:t>Visually managed queues are created at the point of production (not consumption)</a:t>
            </a:r>
          </a:p>
          <a:p>
            <a:pPr>
              <a:spcBef>
                <a:spcPct val="0"/>
              </a:spcBef>
              <a:buClrTx/>
              <a:buSzTx/>
              <a:buFontTx/>
              <a:buNone/>
            </a:pPr>
            <a:r>
              <a:rPr lang="en-US" altLang="en-US" sz="2000" dirty="0">
                <a:latin typeface="Roboto" panose="02000000000000000000" pitchFamily="2" charset="0"/>
                <a:ea typeface="Roboto" panose="02000000000000000000" pitchFamily="2" charset="0"/>
              </a:rPr>
              <a:t>Items are dispatched by the consuming downstream process</a:t>
            </a:r>
          </a:p>
        </p:txBody>
      </p: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6"/>
                </a:solidFill>
                <a:effectLst/>
                <a:latin typeface="Roboto" panose="02000000000000000000" pitchFamily="2" charset="0"/>
                <a:ea typeface="Roboto" panose="02000000000000000000" pitchFamily="2" charset="0"/>
              </a:rPr>
              <a:t>Implement Visually Managed Queue</a:t>
            </a:r>
            <a:endParaRPr lang="en-US" sz="600" dirty="0">
              <a:solidFill>
                <a:schemeClr val="accent6"/>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145329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Rectangle 2">
            <a:extLst>
              <a:ext uri="{FF2B5EF4-FFF2-40B4-BE49-F238E27FC236}">
                <a16:creationId xmlns:a16="http://schemas.microsoft.com/office/drawing/2014/main" id="{C3DF4E22-5EF1-A7FC-3B46-A07B659537B6}"/>
              </a:ext>
            </a:extLst>
          </p:cNvPr>
          <p:cNvSpPr>
            <a:spLocks noChangeArrowheads="1"/>
          </p:cNvSpPr>
          <p:nvPr/>
        </p:nvSpPr>
        <p:spPr bwMode="auto">
          <a:xfrm>
            <a:off x="203199" y="1718975"/>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Where can Visually Managed Queues couple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93</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236246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94</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288486312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What is the input trigger and is there an opportunity to improve?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95</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152">
            <a:extLst>
              <a:ext uri="{FF2B5EF4-FFF2-40B4-BE49-F238E27FC236}">
                <a16:creationId xmlns:a16="http://schemas.microsoft.com/office/drawing/2014/main" id="{A27D3CA0-613F-F4A3-9D0D-1D1A6CD8180A}"/>
              </a:ext>
            </a:extLst>
          </p:cNvPr>
          <p:cNvSpPr>
            <a:spLocks noChangeArrowheads="1"/>
          </p:cNvSpPr>
          <p:nvPr/>
        </p:nvSpPr>
        <p:spPr bwMode="auto">
          <a:xfrm>
            <a:off x="3278062" y="1932644"/>
            <a:ext cx="5821014" cy="2174329"/>
          </a:xfrm>
          <a:prstGeom prst="rect">
            <a:avLst/>
          </a:prstGeom>
          <a:solidFill>
            <a:srgbClr val="EAEAEA"/>
          </a:solidFill>
          <a:ln w="12700" cap="sq">
            <a:solidFill>
              <a:schemeClr val="tx1"/>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2000" dirty="0">
                <a:latin typeface="Roboto" panose="02000000000000000000" pitchFamily="2" charset="0"/>
                <a:ea typeface="Roboto" panose="02000000000000000000" pitchFamily="2" charset="0"/>
              </a:rPr>
              <a:t>For Great America Golf the input trigger for concept development is the product roadmap as laid out in the strategic plan.  In this instance, there is not an opportunity to change the input trigger.</a:t>
            </a:r>
          </a:p>
        </p:txBody>
      </p:sp>
    </p:spTree>
    <p:extLst>
      <p:ext uri="{BB962C8B-B14F-4D97-AF65-F5344CB8AC3E}">
        <p14:creationId xmlns:p14="http://schemas.microsoft.com/office/powerpoint/2010/main" val="350058719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3200" dirty="0">
                <a:solidFill>
                  <a:schemeClr val="bg2">
                    <a:lumMod val="10000"/>
                  </a:schemeClr>
                </a:solidFill>
                <a:latin typeface="Roboto Medium"/>
                <a:ea typeface="Roboto Medium"/>
                <a:cs typeface="Roboto Medium"/>
              </a:rPr>
              <a:t>Questions used to interrogate a Current State Map</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96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10275620"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8" y="3223391"/>
            <a:ext cx="1027561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are there high process lead times?</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512645"/>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Where can Visually Managed Queues couple processes?</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6" y="5801900"/>
            <a:ext cx="10275615"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Are there any other improvement opportunities?</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66D97F69-4EBE-EEDE-3B30-4B95986AA841}"/>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3956C6E2-7490-DDE5-8D25-E78B947E5CEB}"/>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53868D25-F155-E422-4142-590FAFF548BE}"/>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3785C2A8-A590-36E2-C79C-419EFE59AE55}"/>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8" name="Group 7">
                <a:extLst>
                  <a:ext uri="{FF2B5EF4-FFF2-40B4-BE49-F238E27FC236}">
                    <a16:creationId xmlns:a16="http://schemas.microsoft.com/office/drawing/2014/main" id="{2E5C72C2-EADE-A4C9-00E9-9C593F69AE4A}"/>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16771FD6-F43C-0F6E-DBD2-69EECB445543}"/>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7D75CD1F-9FB1-F4DE-41AB-7A8D820A8AA6}"/>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3397EEA5-51DB-E1CC-91AB-D8F9CF64274B}"/>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03AD2C39-EE7C-5341-4284-87BCA6AF906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
        <p:nvSpPr>
          <p:cNvPr id="15" name="Rectangle 14">
            <a:extLst>
              <a:ext uri="{FF2B5EF4-FFF2-40B4-BE49-F238E27FC236}">
                <a16:creationId xmlns:a16="http://schemas.microsoft.com/office/drawing/2014/main" id="{30AB6651-996D-442A-C0BE-661BE43B58A9}"/>
              </a:ext>
            </a:extLst>
          </p:cNvPr>
          <p:cNvSpPr>
            <a:spLocks/>
          </p:cNvSpPr>
          <p:nvPr/>
        </p:nvSpPr>
        <p:spPr>
          <a:xfrm>
            <a:off x="940246" y="5157272"/>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What is the input trigger and is there an opportunity to improve?</a:t>
            </a:r>
          </a:p>
        </p:txBody>
      </p:sp>
      <p:sp>
        <p:nvSpPr>
          <p:cNvPr id="18" name="Rectangle 17">
            <a:extLst>
              <a:ext uri="{FF2B5EF4-FFF2-40B4-BE49-F238E27FC236}">
                <a16:creationId xmlns:a16="http://schemas.microsoft.com/office/drawing/2014/main" id="{91ADEB15-F7E2-190E-FB23-861D28D20445}"/>
              </a:ext>
            </a:extLst>
          </p:cNvPr>
          <p:cNvSpPr>
            <a:spLocks/>
          </p:cNvSpPr>
          <p:nvPr/>
        </p:nvSpPr>
        <p:spPr>
          <a:xfrm>
            <a:off x="940246" y="2578764"/>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p:txBody>
      </p:sp>
      <p:sp>
        <p:nvSpPr>
          <p:cNvPr id="19" name="Rectangle 18">
            <a:extLst>
              <a:ext uri="{FF2B5EF4-FFF2-40B4-BE49-F238E27FC236}">
                <a16:creationId xmlns:a16="http://schemas.microsoft.com/office/drawing/2014/main" id="{CA58680E-BB01-7666-3EC3-0068D3783A63}"/>
              </a:ext>
            </a:extLst>
          </p:cNvPr>
          <p:cNvSpPr>
            <a:spLocks/>
          </p:cNvSpPr>
          <p:nvPr/>
        </p:nvSpPr>
        <p:spPr>
          <a:xfrm>
            <a:off x="940246" y="3868018"/>
            <a:ext cx="1027561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Which processes can be coupled using continuous flow?</a:t>
            </a:r>
          </a:p>
        </p:txBody>
      </p:sp>
    </p:spTree>
    <p:extLst>
      <p:ext uri="{BB962C8B-B14F-4D97-AF65-F5344CB8AC3E}">
        <p14:creationId xmlns:p14="http://schemas.microsoft.com/office/powerpoint/2010/main" val="110228656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Are there any other improvement opportunities?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97</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152">
            <a:extLst>
              <a:ext uri="{FF2B5EF4-FFF2-40B4-BE49-F238E27FC236}">
                <a16:creationId xmlns:a16="http://schemas.microsoft.com/office/drawing/2014/main" id="{A27D3CA0-613F-F4A3-9D0D-1D1A6CD8180A}"/>
              </a:ext>
            </a:extLst>
          </p:cNvPr>
          <p:cNvSpPr>
            <a:spLocks noChangeArrowheads="1"/>
          </p:cNvSpPr>
          <p:nvPr/>
        </p:nvSpPr>
        <p:spPr bwMode="auto">
          <a:xfrm>
            <a:off x="3278062" y="1932644"/>
            <a:ext cx="5821014" cy="2174329"/>
          </a:xfrm>
          <a:prstGeom prst="rect">
            <a:avLst/>
          </a:prstGeom>
          <a:solidFill>
            <a:srgbClr val="EAEAEA"/>
          </a:solidFill>
          <a:ln w="12700" cap="sq">
            <a:solidFill>
              <a:schemeClr val="tx1"/>
            </a:solidFill>
            <a:miter lim="800000"/>
            <a:headEnd/>
            <a:tailEnd/>
          </a:ln>
        </p:spPr>
        <p:txBody>
          <a:bodyPr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2000" dirty="0">
                <a:latin typeface="Roboto" panose="02000000000000000000" pitchFamily="2" charset="0"/>
                <a:ea typeface="Roboto" panose="02000000000000000000" pitchFamily="2" charset="0"/>
              </a:rPr>
              <a:t>If GAG can implement a workflow scheduling system it can prioritize activities through the various process steps in the value stream.  This will make it possible to eliminate the wait time ahead of each process reducing lead time by 135 days.</a:t>
            </a:r>
          </a:p>
        </p:txBody>
      </p:sp>
      <p:sp>
        <p:nvSpPr>
          <p:cNvPr id="121" name="Explosion: 14 Points 120">
            <a:extLst>
              <a:ext uri="{FF2B5EF4-FFF2-40B4-BE49-F238E27FC236}">
                <a16:creationId xmlns:a16="http://schemas.microsoft.com/office/drawing/2014/main" id="{E7A2A11D-DA9E-15A0-CF99-3A7EF3662B6F}"/>
              </a:ext>
            </a:extLst>
          </p:cNvPr>
          <p:cNvSpPr/>
          <p:nvPr/>
        </p:nvSpPr>
        <p:spPr>
          <a:xfrm>
            <a:off x="-16545" y="4241075"/>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Explosion: 14 Points 125">
            <a:extLst>
              <a:ext uri="{FF2B5EF4-FFF2-40B4-BE49-F238E27FC236}">
                <a16:creationId xmlns:a16="http://schemas.microsoft.com/office/drawing/2014/main" id="{598786DF-A6B0-013C-ECD3-786FAB68B77E}"/>
              </a:ext>
            </a:extLst>
          </p:cNvPr>
          <p:cNvSpPr/>
          <p:nvPr/>
        </p:nvSpPr>
        <p:spPr>
          <a:xfrm>
            <a:off x="2274569" y="4218520"/>
            <a:ext cx="1059919" cy="679468"/>
          </a:xfrm>
          <a:prstGeom prst="irregularSeal2">
            <a:avLst/>
          </a:prstGeom>
          <a:noFill/>
          <a:ln w="349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TextBox 126">
            <a:extLst>
              <a:ext uri="{FF2B5EF4-FFF2-40B4-BE49-F238E27FC236}">
                <a16:creationId xmlns:a16="http://schemas.microsoft.com/office/drawing/2014/main" id="{CABEC6B3-4C0B-F0FC-A440-9949E254A32E}"/>
              </a:ext>
            </a:extLst>
          </p:cNvPr>
          <p:cNvSpPr txBox="1"/>
          <p:nvPr/>
        </p:nvSpPr>
        <p:spPr>
          <a:xfrm>
            <a:off x="2320001" y="5833706"/>
            <a:ext cx="917231" cy="481478"/>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6"/>
                </a:solidFill>
                <a:effectLst/>
                <a:latin typeface="Roboto" panose="02000000000000000000" pitchFamily="2" charset="0"/>
                <a:ea typeface="Roboto" panose="02000000000000000000" pitchFamily="2" charset="0"/>
              </a:rPr>
              <a:t>Implement Workflow Scheduling</a:t>
            </a:r>
          </a:p>
        </p:txBody>
      </p:sp>
      <p:cxnSp>
        <p:nvCxnSpPr>
          <p:cNvPr id="136" name="Straight Arrow Connector 135">
            <a:extLst>
              <a:ext uri="{FF2B5EF4-FFF2-40B4-BE49-F238E27FC236}">
                <a16:creationId xmlns:a16="http://schemas.microsoft.com/office/drawing/2014/main" id="{06DBD900-9DFA-16F6-537B-A4B624CF859E}"/>
              </a:ext>
            </a:extLst>
          </p:cNvPr>
          <p:cNvCxnSpPr>
            <a:cxnSpLocks/>
            <a:stCxn id="127" idx="1"/>
            <a:endCxn id="121" idx="2"/>
          </p:cNvCxnSpPr>
          <p:nvPr/>
        </p:nvCxnSpPr>
        <p:spPr>
          <a:xfrm flipH="1" flipV="1">
            <a:off x="553260" y="4833785"/>
            <a:ext cx="1766741" cy="1240660"/>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AF26DAA6-9581-EFF4-2191-0327ABE39BA2}"/>
              </a:ext>
            </a:extLst>
          </p:cNvPr>
          <p:cNvCxnSpPr>
            <a:cxnSpLocks/>
            <a:stCxn id="127" idx="0"/>
            <a:endCxn id="126" idx="2"/>
          </p:cNvCxnSpPr>
          <p:nvPr/>
        </p:nvCxnSpPr>
        <p:spPr>
          <a:xfrm flipV="1">
            <a:off x="2778617" y="4811230"/>
            <a:ext cx="65757" cy="1022476"/>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83B4AF1A-EB3F-A21F-84B6-85F5C821C32E}"/>
              </a:ext>
            </a:extLst>
          </p:cNvPr>
          <p:cNvCxnSpPr>
            <a:cxnSpLocks/>
            <a:stCxn id="127" idx="0"/>
            <a:endCxn id="53" idx="2"/>
          </p:cNvCxnSpPr>
          <p:nvPr/>
        </p:nvCxnSpPr>
        <p:spPr>
          <a:xfrm flipV="1">
            <a:off x="2778617" y="4879093"/>
            <a:ext cx="2297769" cy="954613"/>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8EAF934E-2EC0-BB12-F207-C2F077383700}"/>
              </a:ext>
            </a:extLst>
          </p:cNvPr>
          <p:cNvCxnSpPr>
            <a:cxnSpLocks/>
            <a:stCxn id="127" idx="3"/>
            <a:endCxn id="122" idx="2"/>
          </p:cNvCxnSpPr>
          <p:nvPr/>
        </p:nvCxnSpPr>
        <p:spPr>
          <a:xfrm flipV="1">
            <a:off x="3237232" y="4880898"/>
            <a:ext cx="4189291" cy="1193547"/>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971349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Rectangle 2">
            <a:extLst>
              <a:ext uri="{FF2B5EF4-FFF2-40B4-BE49-F238E27FC236}">
                <a16:creationId xmlns:a16="http://schemas.microsoft.com/office/drawing/2014/main" id="{D2AB6E03-ED55-D8F6-E3BB-0CA5624CE415}"/>
              </a:ext>
            </a:extLst>
          </p:cNvPr>
          <p:cNvSpPr>
            <a:spLocks noChangeArrowheads="1"/>
          </p:cNvSpPr>
          <p:nvPr/>
        </p:nvSpPr>
        <p:spPr bwMode="auto">
          <a:xfrm>
            <a:off x="203199" y="1718975"/>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Are there any other improvement opportunities?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98</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1" name="Explosion: 14 Points 120">
            <a:extLst>
              <a:ext uri="{FF2B5EF4-FFF2-40B4-BE49-F238E27FC236}">
                <a16:creationId xmlns:a16="http://schemas.microsoft.com/office/drawing/2014/main" id="{E7A2A11D-DA9E-15A0-CF99-3A7EF3662B6F}"/>
              </a:ext>
            </a:extLst>
          </p:cNvPr>
          <p:cNvSpPr/>
          <p:nvPr/>
        </p:nvSpPr>
        <p:spPr>
          <a:xfrm>
            <a:off x="-16545" y="424107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Explosion: 14 Points 125">
            <a:extLst>
              <a:ext uri="{FF2B5EF4-FFF2-40B4-BE49-F238E27FC236}">
                <a16:creationId xmlns:a16="http://schemas.microsoft.com/office/drawing/2014/main" id="{598786DF-A6B0-013C-ECD3-786FAB68B77E}"/>
              </a:ext>
            </a:extLst>
          </p:cNvPr>
          <p:cNvSpPr/>
          <p:nvPr/>
        </p:nvSpPr>
        <p:spPr>
          <a:xfrm>
            <a:off x="2274569" y="421852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TextBox 126">
            <a:extLst>
              <a:ext uri="{FF2B5EF4-FFF2-40B4-BE49-F238E27FC236}">
                <a16:creationId xmlns:a16="http://schemas.microsoft.com/office/drawing/2014/main" id="{CABEC6B3-4C0B-F0FC-A440-9949E254A32E}"/>
              </a:ext>
            </a:extLst>
          </p:cNvPr>
          <p:cNvSpPr txBox="1"/>
          <p:nvPr/>
        </p:nvSpPr>
        <p:spPr>
          <a:xfrm>
            <a:off x="2320001" y="5833706"/>
            <a:ext cx="917231" cy="481478"/>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Workflow Scheduling</a:t>
            </a:r>
          </a:p>
        </p:txBody>
      </p:sp>
      <p:cxnSp>
        <p:nvCxnSpPr>
          <p:cNvPr id="136" name="Straight Arrow Connector 135">
            <a:extLst>
              <a:ext uri="{FF2B5EF4-FFF2-40B4-BE49-F238E27FC236}">
                <a16:creationId xmlns:a16="http://schemas.microsoft.com/office/drawing/2014/main" id="{06DBD900-9DFA-16F6-537B-A4B624CF859E}"/>
              </a:ext>
            </a:extLst>
          </p:cNvPr>
          <p:cNvCxnSpPr>
            <a:cxnSpLocks/>
            <a:stCxn id="127" idx="1"/>
            <a:endCxn id="121" idx="2"/>
          </p:cNvCxnSpPr>
          <p:nvPr/>
        </p:nvCxnSpPr>
        <p:spPr>
          <a:xfrm flipH="1" flipV="1">
            <a:off x="553260" y="4833785"/>
            <a:ext cx="1766741" cy="1240660"/>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AF26DAA6-9581-EFF4-2191-0327ABE39BA2}"/>
              </a:ext>
            </a:extLst>
          </p:cNvPr>
          <p:cNvCxnSpPr>
            <a:cxnSpLocks/>
            <a:stCxn id="127" idx="0"/>
            <a:endCxn id="126" idx="2"/>
          </p:cNvCxnSpPr>
          <p:nvPr/>
        </p:nvCxnSpPr>
        <p:spPr>
          <a:xfrm flipV="1">
            <a:off x="2778617" y="4811230"/>
            <a:ext cx="65757" cy="102247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83B4AF1A-EB3F-A21F-84B6-85F5C821C32E}"/>
              </a:ext>
            </a:extLst>
          </p:cNvPr>
          <p:cNvCxnSpPr>
            <a:cxnSpLocks/>
            <a:stCxn id="127" idx="0"/>
            <a:endCxn id="53" idx="2"/>
          </p:cNvCxnSpPr>
          <p:nvPr/>
        </p:nvCxnSpPr>
        <p:spPr>
          <a:xfrm flipV="1">
            <a:off x="2778617" y="4879093"/>
            <a:ext cx="2297769" cy="95461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8EAF934E-2EC0-BB12-F207-C2F077383700}"/>
              </a:ext>
            </a:extLst>
          </p:cNvPr>
          <p:cNvCxnSpPr>
            <a:cxnSpLocks/>
            <a:stCxn id="127" idx="3"/>
            <a:endCxn id="122" idx="2"/>
          </p:cNvCxnSpPr>
          <p:nvPr/>
        </p:nvCxnSpPr>
        <p:spPr>
          <a:xfrm flipV="1">
            <a:off x="3237232" y="4880898"/>
            <a:ext cx="4189291" cy="119354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282909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Rectangle 2">
            <a:extLst>
              <a:ext uri="{FF2B5EF4-FFF2-40B4-BE49-F238E27FC236}">
                <a16:creationId xmlns:a16="http://schemas.microsoft.com/office/drawing/2014/main" id="{D2AB6E03-ED55-D8F6-E3BB-0CA5624CE415}"/>
              </a:ext>
            </a:extLst>
          </p:cNvPr>
          <p:cNvSpPr>
            <a:spLocks noChangeArrowheads="1"/>
          </p:cNvSpPr>
          <p:nvPr/>
        </p:nvSpPr>
        <p:spPr bwMode="auto">
          <a:xfrm>
            <a:off x="203199" y="1718975"/>
            <a:ext cx="11694159" cy="4566200"/>
          </a:xfrm>
          <a:prstGeom prst="rect">
            <a:avLst/>
          </a:prstGeom>
          <a:solidFill>
            <a:schemeClr val="bg2"/>
          </a:solidFill>
          <a:ln w="12700" cap="sq">
            <a:solidFill>
              <a:schemeClr val="tx1"/>
            </a:solidFill>
            <a:miter lim="800000"/>
            <a:headEnd type="none" w="sm" len="sm"/>
            <a:tailEnd type="none" w="sm" len="sm"/>
          </a:ln>
          <a:effectLst>
            <a:outerShdw dist="63500" dir="3187806" algn="ctr" rotWithShape="0">
              <a:schemeClr val="tx1"/>
            </a:outerShdw>
          </a:effectLst>
        </p:spPr>
        <p:txBody>
          <a:bodyPr wrap="none" anchor="ctr"/>
          <a:lstStyle/>
          <a:p>
            <a:pPr algn="ctr">
              <a:lnSpc>
                <a:spcPct val="80000"/>
              </a:lnSpc>
              <a:spcBef>
                <a:spcPct val="20000"/>
              </a:spcBef>
              <a:defRPr/>
            </a:pPr>
            <a:endParaRPr lang="en-US">
              <a:latin typeface="Roboto" panose="02000000000000000000" pitchFamily="2" charset="0"/>
              <a:ea typeface="Roboto" panose="02000000000000000000" pitchFamily="2" charset="0"/>
            </a:endParaRPr>
          </a:p>
        </p:txBody>
      </p:sp>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The Completed Marked-up Current State Map</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99</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1" name="Explosion: 14 Points 120">
            <a:extLst>
              <a:ext uri="{FF2B5EF4-FFF2-40B4-BE49-F238E27FC236}">
                <a16:creationId xmlns:a16="http://schemas.microsoft.com/office/drawing/2014/main" id="{E7A2A11D-DA9E-15A0-CF99-3A7EF3662B6F}"/>
              </a:ext>
            </a:extLst>
          </p:cNvPr>
          <p:cNvSpPr/>
          <p:nvPr/>
        </p:nvSpPr>
        <p:spPr>
          <a:xfrm>
            <a:off x="-16545" y="424107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Explosion: 14 Points 125">
            <a:extLst>
              <a:ext uri="{FF2B5EF4-FFF2-40B4-BE49-F238E27FC236}">
                <a16:creationId xmlns:a16="http://schemas.microsoft.com/office/drawing/2014/main" id="{598786DF-A6B0-013C-ECD3-786FAB68B77E}"/>
              </a:ext>
            </a:extLst>
          </p:cNvPr>
          <p:cNvSpPr/>
          <p:nvPr/>
        </p:nvSpPr>
        <p:spPr>
          <a:xfrm>
            <a:off x="2274569" y="421852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TextBox 126">
            <a:extLst>
              <a:ext uri="{FF2B5EF4-FFF2-40B4-BE49-F238E27FC236}">
                <a16:creationId xmlns:a16="http://schemas.microsoft.com/office/drawing/2014/main" id="{CABEC6B3-4C0B-F0FC-A440-9949E254A32E}"/>
              </a:ext>
            </a:extLst>
          </p:cNvPr>
          <p:cNvSpPr txBox="1"/>
          <p:nvPr/>
        </p:nvSpPr>
        <p:spPr>
          <a:xfrm>
            <a:off x="2320001" y="5833706"/>
            <a:ext cx="917231" cy="481478"/>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Workflow Scheduling</a:t>
            </a:r>
          </a:p>
        </p:txBody>
      </p:sp>
      <p:cxnSp>
        <p:nvCxnSpPr>
          <p:cNvPr id="136" name="Straight Arrow Connector 135">
            <a:extLst>
              <a:ext uri="{FF2B5EF4-FFF2-40B4-BE49-F238E27FC236}">
                <a16:creationId xmlns:a16="http://schemas.microsoft.com/office/drawing/2014/main" id="{06DBD900-9DFA-16F6-537B-A4B624CF859E}"/>
              </a:ext>
            </a:extLst>
          </p:cNvPr>
          <p:cNvCxnSpPr>
            <a:cxnSpLocks/>
            <a:stCxn id="127" idx="1"/>
            <a:endCxn id="121" idx="2"/>
          </p:cNvCxnSpPr>
          <p:nvPr/>
        </p:nvCxnSpPr>
        <p:spPr>
          <a:xfrm flipH="1" flipV="1">
            <a:off x="553260" y="4833785"/>
            <a:ext cx="1766741" cy="1240660"/>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AF26DAA6-9581-EFF4-2191-0327ABE39BA2}"/>
              </a:ext>
            </a:extLst>
          </p:cNvPr>
          <p:cNvCxnSpPr>
            <a:cxnSpLocks/>
            <a:stCxn id="127" idx="0"/>
            <a:endCxn id="126" idx="2"/>
          </p:cNvCxnSpPr>
          <p:nvPr/>
        </p:nvCxnSpPr>
        <p:spPr>
          <a:xfrm flipV="1">
            <a:off x="2778617" y="4811230"/>
            <a:ext cx="65757" cy="102247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83B4AF1A-EB3F-A21F-84B6-85F5C821C32E}"/>
              </a:ext>
            </a:extLst>
          </p:cNvPr>
          <p:cNvCxnSpPr>
            <a:cxnSpLocks/>
            <a:stCxn id="127" idx="0"/>
            <a:endCxn id="53" idx="2"/>
          </p:cNvCxnSpPr>
          <p:nvPr/>
        </p:nvCxnSpPr>
        <p:spPr>
          <a:xfrm flipV="1">
            <a:off x="2778617" y="4879093"/>
            <a:ext cx="2297769" cy="95461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8EAF934E-2EC0-BB12-F207-C2F077383700}"/>
              </a:ext>
            </a:extLst>
          </p:cNvPr>
          <p:cNvCxnSpPr>
            <a:cxnSpLocks/>
            <a:stCxn id="127" idx="3"/>
            <a:endCxn id="122" idx="2"/>
          </p:cNvCxnSpPr>
          <p:nvPr/>
        </p:nvCxnSpPr>
        <p:spPr>
          <a:xfrm flipV="1">
            <a:off x="3237232" y="4880898"/>
            <a:ext cx="4189291" cy="119354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631770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Formatting Best Practice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100</a:t>
            </a:fld>
            <a:endParaRPr lang="en-US"/>
          </a:p>
        </p:txBody>
      </p:sp>
      <p:grpSp>
        <p:nvGrpSpPr>
          <p:cNvPr id="3" name="Group 2">
            <a:extLst>
              <a:ext uri="{FF2B5EF4-FFF2-40B4-BE49-F238E27FC236}">
                <a16:creationId xmlns:a16="http://schemas.microsoft.com/office/drawing/2014/main" id="{7AA8ADD2-8259-0DBE-CCB3-0DED7E1BEDF0}"/>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78A26530-8AB4-8518-6118-B1E0B8F708E7}"/>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3FD50371-4B1D-4F92-BB95-33B86D8574B5}"/>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243C9E58-449C-8BA2-C338-2A14B2D15431}"/>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B876CD95-8D20-561B-8684-F99FF5C3C7F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EC37C06F-8F9C-86A3-98E8-8D37629FCA15}"/>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06A03FAE-9B96-C541-EB5B-02C2D2B2748E}"/>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8EB8A8D5-45D1-094D-58C2-E4454AC8BBD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92B3D387-A4B1-72EA-FF94-366FB8908344}"/>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1" name="Explosion: 14 Points 120">
            <a:extLst>
              <a:ext uri="{FF2B5EF4-FFF2-40B4-BE49-F238E27FC236}">
                <a16:creationId xmlns:a16="http://schemas.microsoft.com/office/drawing/2014/main" id="{E7A2A11D-DA9E-15A0-CF99-3A7EF3662B6F}"/>
              </a:ext>
            </a:extLst>
          </p:cNvPr>
          <p:cNvSpPr/>
          <p:nvPr/>
        </p:nvSpPr>
        <p:spPr>
          <a:xfrm>
            <a:off x="-16545" y="424107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Explosion: 14 Points 125">
            <a:extLst>
              <a:ext uri="{FF2B5EF4-FFF2-40B4-BE49-F238E27FC236}">
                <a16:creationId xmlns:a16="http://schemas.microsoft.com/office/drawing/2014/main" id="{598786DF-A6B0-013C-ECD3-786FAB68B77E}"/>
              </a:ext>
            </a:extLst>
          </p:cNvPr>
          <p:cNvSpPr/>
          <p:nvPr/>
        </p:nvSpPr>
        <p:spPr>
          <a:xfrm>
            <a:off x="2274569" y="421852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TextBox 126">
            <a:extLst>
              <a:ext uri="{FF2B5EF4-FFF2-40B4-BE49-F238E27FC236}">
                <a16:creationId xmlns:a16="http://schemas.microsoft.com/office/drawing/2014/main" id="{CABEC6B3-4C0B-F0FC-A440-9949E254A32E}"/>
              </a:ext>
            </a:extLst>
          </p:cNvPr>
          <p:cNvSpPr txBox="1"/>
          <p:nvPr/>
        </p:nvSpPr>
        <p:spPr>
          <a:xfrm>
            <a:off x="2320001" y="5833706"/>
            <a:ext cx="917231" cy="481478"/>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Workflow Scheduling</a:t>
            </a:r>
          </a:p>
        </p:txBody>
      </p:sp>
      <p:cxnSp>
        <p:nvCxnSpPr>
          <p:cNvPr id="136" name="Straight Arrow Connector 135">
            <a:extLst>
              <a:ext uri="{FF2B5EF4-FFF2-40B4-BE49-F238E27FC236}">
                <a16:creationId xmlns:a16="http://schemas.microsoft.com/office/drawing/2014/main" id="{06DBD900-9DFA-16F6-537B-A4B624CF859E}"/>
              </a:ext>
            </a:extLst>
          </p:cNvPr>
          <p:cNvCxnSpPr>
            <a:cxnSpLocks/>
            <a:stCxn id="127" idx="1"/>
            <a:endCxn id="121" idx="2"/>
          </p:cNvCxnSpPr>
          <p:nvPr/>
        </p:nvCxnSpPr>
        <p:spPr>
          <a:xfrm flipH="1" flipV="1">
            <a:off x="553260" y="4833785"/>
            <a:ext cx="1766741" cy="1240660"/>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AF26DAA6-9581-EFF4-2191-0327ABE39BA2}"/>
              </a:ext>
            </a:extLst>
          </p:cNvPr>
          <p:cNvCxnSpPr>
            <a:cxnSpLocks/>
            <a:stCxn id="127" idx="0"/>
            <a:endCxn id="126" idx="2"/>
          </p:cNvCxnSpPr>
          <p:nvPr/>
        </p:nvCxnSpPr>
        <p:spPr>
          <a:xfrm flipV="1">
            <a:off x="2778617" y="4811230"/>
            <a:ext cx="65757" cy="102247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83B4AF1A-EB3F-A21F-84B6-85F5C821C32E}"/>
              </a:ext>
            </a:extLst>
          </p:cNvPr>
          <p:cNvCxnSpPr>
            <a:cxnSpLocks/>
            <a:stCxn id="127" idx="0"/>
            <a:endCxn id="53" idx="2"/>
          </p:cNvCxnSpPr>
          <p:nvPr/>
        </p:nvCxnSpPr>
        <p:spPr>
          <a:xfrm flipV="1">
            <a:off x="2778617" y="4879093"/>
            <a:ext cx="2297769" cy="95461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8EAF934E-2EC0-BB12-F207-C2F077383700}"/>
              </a:ext>
            </a:extLst>
          </p:cNvPr>
          <p:cNvCxnSpPr>
            <a:cxnSpLocks/>
            <a:stCxn id="127" idx="3"/>
            <a:endCxn id="122" idx="2"/>
          </p:cNvCxnSpPr>
          <p:nvPr/>
        </p:nvCxnSpPr>
        <p:spPr>
          <a:xfrm flipV="1">
            <a:off x="3237232" y="4880898"/>
            <a:ext cx="4189291" cy="119354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316">
            <a:extLst>
              <a:ext uri="{FF2B5EF4-FFF2-40B4-BE49-F238E27FC236}">
                <a16:creationId xmlns:a16="http://schemas.microsoft.com/office/drawing/2014/main" id="{C358569A-E54A-9611-F41D-44D0FAC20DF4}"/>
              </a:ext>
            </a:extLst>
          </p:cNvPr>
          <p:cNvSpPr>
            <a:spLocks noChangeArrowheads="1"/>
          </p:cNvSpPr>
          <p:nvPr/>
        </p:nvSpPr>
        <p:spPr bwMode="auto">
          <a:xfrm>
            <a:off x="2593007" y="1874591"/>
            <a:ext cx="7005986" cy="2666983"/>
          </a:xfrm>
          <a:prstGeom prst="rect">
            <a:avLst/>
          </a:prstGeom>
          <a:solidFill>
            <a:srgbClr val="EAEAEA"/>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Bef>
                <a:spcPct val="0"/>
              </a:spcBef>
              <a:buClrTx/>
              <a:buSzTx/>
              <a:buFontTx/>
              <a:buNone/>
            </a:pPr>
            <a:r>
              <a:rPr lang="en-US" altLang="en-US" sz="2000" dirty="0">
                <a:latin typeface="Roboto" panose="02000000000000000000" pitchFamily="2" charset="0"/>
                <a:ea typeface="Roboto" panose="02000000000000000000" pitchFamily="2" charset="0"/>
              </a:rPr>
              <a:t>When mapping long value streams, another option to</a:t>
            </a:r>
            <a:br>
              <a:rPr lang="en-US" altLang="en-US" sz="2000" dirty="0">
                <a:latin typeface="Roboto" panose="02000000000000000000" pitchFamily="2" charset="0"/>
                <a:ea typeface="Roboto" panose="02000000000000000000" pitchFamily="2" charset="0"/>
              </a:rPr>
            </a:br>
            <a:r>
              <a:rPr lang="en-US" altLang="en-US" sz="2000" dirty="0">
                <a:latin typeface="Roboto" panose="02000000000000000000" pitchFamily="2" charset="0"/>
                <a:ea typeface="Roboto" panose="02000000000000000000" pitchFamily="2" charset="0"/>
              </a:rPr>
              <a:t>labeling each burst with a descriptor, is to number </a:t>
            </a:r>
            <a:br>
              <a:rPr lang="en-US" altLang="en-US" sz="2000" dirty="0">
                <a:latin typeface="Roboto" panose="02000000000000000000" pitchFamily="2" charset="0"/>
                <a:ea typeface="Roboto" panose="02000000000000000000" pitchFamily="2" charset="0"/>
              </a:rPr>
            </a:br>
            <a:r>
              <a:rPr lang="en-US" altLang="en-US" sz="2000" dirty="0">
                <a:latin typeface="Roboto" panose="02000000000000000000" pitchFamily="2" charset="0"/>
                <a:ea typeface="Roboto" panose="02000000000000000000" pitchFamily="2" charset="0"/>
              </a:rPr>
              <a:t>each burst and separately detail what each burst involves.</a:t>
            </a:r>
          </a:p>
          <a:p>
            <a:pPr>
              <a:spcBef>
                <a:spcPct val="0"/>
              </a:spcBef>
              <a:buClrTx/>
              <a:buSzTx/>
              <a:buFontTx/>
              <a:buNone/>
            </a:pPr>
            <a:r>
              <a:rPr lang="en-US" altLang="en-US" sz="2000" dirty="0">
                <a:latin typeface="Roboto" panose="02000000000000000000" pitchFamily="2" charset="0"/>
                <a:ea typeface="Roboto" panose="02000000000000000000" pitchFamily="2" charset="0"/>
              </a:rPr>
              <a:t>This numbering system can transfer directly to the </a:t>
            </a:r>
            <a:br>
              <a:rPr lang="en-US" altLang="en-US" sz="2000" dirty="0">
                <a:latin typeface="Roboto" panose="02000000000000000000" pitchFamily="2" charset="0"/>
                <a:ea typeface="Roboto" panose="02000000000000000000" pitchFamily="2" charset="0"/>
              </a:rPr>
            </a:br>
            <a:r>
              <a:rPr lang="en-US" altLang="en-US" sz="2000" dirty="0">
                <a:latin typeface="Roboto" panose="02000000000000000000" pitchFamily="2" charset="0"/>
                <a:ea typeface="Roboto" panose="02000000000000000000" pitchFamily="2" charset="0"/>
              </a:rPr>
              <a:t>Value Stream Plan you will later develop.</a:t>
            </a:r>
          </a:p>
        </p:txBody>
      </p:sp>
      <p:sp>
        <p:nvSpPr>
          <p:cNvPr id="139" name="Text Box 526">
            <a:extLst>
              <a:ext uri="{FF2B5EF4-FFF2-40B4-BE49-F238E27FC236}">
                <a16:creationId xmlns:a16="http://schemas.microsoft.com/office/drawing/2014/main" id="{8F5D22F0-63BF-95A9-E9FF-AAF455527537}"/>
              </a:ext>
            </a:extLst>
          </p:cNvPr>
          <p:cNvSpPr txBox="1">
            <a:spLocks noChangeArrowheads="1"/>
          </p:cNvSpPr>
          <p:nvPr/>
        </p:nvSpPr>
        <p:spPr bwMode="auto">
          <a:xfrm>
            <a:off x="42899" y="4992049"/>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2</a:t>
            </a:r>
          </a:p>
        </p:txBody>
      </p:sp>
      <p:sp>
        <p:nvSpPr>
          <p:cNvPr id="141" name="Text Box 527">
            <a:extLst>
              <a:ext uri="{FF2B5EF4-FFF2-40B4-BE49-F238E27FC236}">
                <a16:creationId xmlns:a16="http://schemas.microsoft.com/office/drawing/2014/main" id="{ED1F6B7B-604C-EE02-7BB3-94DECF3A1227}"/>
              </a:ext>
            </a:extLst>
          </p:cNvPr>
          <p:cNvSpPr txBox="1">
            <a:spLocks noChangeArrowheads="1"/>
          </p:cNvSpPr>
          <p:nvPr/>
        </p:nvSpPr>
        <p:spPr bwMode="auto">
          <a:xfrm>
            <a:off x="1426858" y="264152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a:t>
            </a:r>
          </a:p>
        </p:txBody>
      </p:sp>
      <p:sp>
        <p:nvSpPr>
          <p:cNvPr id="142" name="Text Box 528">
            <a:extLst>
              <a:ext uri="{FF2B5EF4-FFF2-40B4-BE49-F238E27FC236}">
                <a16:creationId xmlns:a16="http://schemas.microsoft.com/office/drawing/2014/main" id="{8628B109-D51F-22B4-324E-109639B9E36C}"/>
              </a:ext>
            </a:extLst>
          </p:cNvPr>
          <p:cNvSpPr txBox="1">
            <a:spLocks noChangeArrowheads="1"/>
          </p:cNvSpPr>
          <p:nvPr/>
        </p:nvSpPr>
        <p:spPr bwMode="auto">
          <a:xfrm>
            <a:off x="809838" y="556981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3</a:t>
            </a:r>
          </a:p>
        </p:txBody>
      </p:sp>
      <p:sp>
        <p:nvSpPr>
          <p:cNvPr id="144" name="Text Box 529">
            <a:extLst>
              <a:ext uri="{FF2B5EF4-FFF2-40B4-BE49-F238E27FC236}">
                <a16:creationId xmlns:a16="http://schemas.microsoft.com/office/drawing/2014/main" id="{1D2065E1-FCBC-856E-FF66-3DA37608B739}"/>
              </a:ext>
            </a:extLst>
          </p:cNvPr>
          <p:cNvSpPr txBox="1">
            <a:spLocks noChangeArrowheads="1"/>
          </p:cNvSpPr>
          <p:nvPr/>
        </p:nvSpPr>
        <p:spPr bwMode="auto">
          <a:xfrm>
            <a:off x="1872980" y="5396400"/>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4</a:t>
            </a:r>
          </a:p>
        </p:txBody>
      </p:sp>
      <p:sp>
        <p:nvSpPr>
          <p:cNvPr id="145" name="Text Box 530">
            <a:extLst>
              <a:ext uri="{FF2B5EF4-FFF2-40B4-BE49-F238E27FC236}">
                <a16:creationId xmlns:a16="http://schemas.microsoft.com/office/drawing/2014/main" id="{519D836F-0E65-6744-6C03-1E2EBA1BEDE9}"/>
              </a:ext>
            </a:extLst>
          </p:cNvPr>
          <p:cNvSpPr txBox="1">
            <a:spLocks noChangeArrowheads="1"/>
          </p:cNvSpPr>
          <p:nvPr/>
        </p:nvSpPr>
        <p:spPr bwMode="auto">
          <a:xfrm>
            <a:off x="2525960" y="4826051"/>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a:solidFill>
                  <a:schemeClr val="accent1"/>
                </a:solidFill>
                <a:latin typeface="Roboto" panose="02000000000000000000" pitchFamily="2" charset="0"/>
                <a:ea typeface="Roboto" panose="02000000000000000000" pitchFamily="2" charset="0"/>
              </a:rPr>
              <a:t>5</a:t>
            </a:r>
          </a:p>
        </p:txBody>
      </p:sp>
      <p:sp>
        <p:nvSpPr>
          <p:cNvPr id="147" name="Text Box 531">
            <a:extLst>
              <a:ext uri="{FF2B5EF4-FFF2-40B4-BE49-F238E27FC236}">
                <a16:creationId xmlns:a16="http://schemas.microsoft.com/office/drawing/2014/main" id="{509CA5D4-0B22-BB5E-31F3-602F63B90709}"/>
              </a:ext>
            </a:extLst>
          </p:cNvPr>
          <p:cNvSpPr txBox="1">
            <a:spLocks noChangeArrowheads="1"/>
          </p:cNvSpPr>
          <p:nvPr/>
        </p:nvSpPr>
        <p:spPr bwMode="auto">
          <a:xfrm>
            <a:off x="3974970" y="4798599"/>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6</a:t>
            </a:r>
          </a:p>
        </p:txBody>
      </p:sp>
      <p:sp>
        <p:nvSpPr>
          <p:cNvPr id="148" name="Text Box 532">
            <a:extLst>
              <a:ext uri="{FF2B5EF4-FFF2-40B4-BE49-F238E27FC236}">
                <a16:creationId xmlns:a16="http://schemas.microsoft.com/office/drawing/2014/main" id="{9A2E6672-20D2-EF4F-BBBE-8379F72B2892}"/>
              </a:ext>
            </a:extLst>
          </p:cNvPr>
          <p:cNvSpPr txBox="1">
            <a:spLocks noChangeArrowheads="1"/>
          </p:cNvSpPr>
          <p:nvPr/>
        </p:nvSpPr>
        <p:spPr bwMode="auto">
          <a:xfrm>
            <a:off x="4855913" y="4992807"/>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7</a:t>
            </a:r>
          </a:p>
        </p:txBody>
      </p:sp>
      <p:sp>
        <p:nvSpPr>
          <p:cNvPr id="149" name="Text Box 532">
            <a:extLst>
              <a:ext uri="{FF2B5EF4-FFF2-40B4-BE49-F238E27FC236}">
                <a16:creationId xmlns:a16="http://schemas.microsoft.com/office/drawing/2014/main" id="{DE4E3130-7507-5612-EBB9-07BCA5473F38}"/>
              </a:ext>
            </a:extLst>
          </p:cNvPr>
          <p:cNvSpPr txBox="1">
            <a:spLocks noChangeArrowheads="1"/>
          </p:cNvSpPr>
          <p:nvPr/>
        </p:nvSpPr>
        <p:spPr bwMode="auto">
          <a:xfrm>
            <a:off x="5032750" y="531782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8</a:t>
            </a:r>
          </a:p>
        </p:txBody>
      </p:sp>
      <p:sp>
        <p:nvSpPr>
          <p:cNvPr id="150" name="Text Box 532">
            <a:extLst>
              <a:ext uri="{FF2B5EF4-FFF2-40B4-BE49-F238E27FC236}">
                <a16:creationId xmlns:a16="http://schemas.microsoft.com/office/drawing/2014/main" id="{D5B6CB94-39AE-E66A-4A72-DF2D2F547A18}"/>
              </a:ext>
            </a:extLst>
          </p:cNvPr>
          <p:cNvSpPr txBox="1">
            <a:spLocks noChangeArrowheads="1"/>
          </p:cNvSpPr>
          <p:nvPr/>
        </p:nvSpPr>
        <p:spPr bwMode="auto">
          <a:xfrm>
            <a:off x="6291330" y="530938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9</a:t>
            </a:r>
          </a:p>
        </p:txBody>
      </p:sp>
      <p:sp>
        <p:nvSpPr>
          <p:cNvPr id="151" name="Text Box 532">
            <a:extLst>
              <a:ext uri="{FF2B5EF4-FFF2-40B4-BE49-F238E27FC236}">
                <a16:creationId xmlns:a16="http://schemas.microsoft.com/office/drawing/2014/main" id="{AD38232C-98BF-318C-B317-AE80ED9C2A22}"/>
              </a:ext>
            </a:extLst>
          </p:cNvPr>
          <p:cNvSpPr txBox="1">
            <a:spLocks noChangeArrowheads="1"/>
          </p:cNvSpPr>
          <p:nvPr/>
        </p:nvSpPr>
        <p:spPr bwMode="auto">
          <a:xfrm>
            <a:off x="7094583" y="5040572"/>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10</a:t>
            </a:r>
          </a:p>
        </p:txBody>
      </p:sp>
      <p:sp>
        <p:nvSpPr>
          <p:cNvPr id="152" name="Text Box 532">
            <a:extLst>
              <a:ext uri="{FF2B5EF4-FFF2-40B4-BE49-F238E27FC236}">
                <a16:creationId xmlns:a16="http://schemas.microsoft.com/office/drawing/2014/main" id="{74F1D042-032B-6A94-D9B7-E5EF6198D015}"/>
              </a:ext>
            </a:extLst>
          </p:cNvPr>
          <p:cNvSpPr txBox="1">
            <a:spLocks noChangeArrowheads="1"/>
          </p:cNvSpPr>
          <p:nvPr/>
        </p:nvSpPr>
        <p:spPr bwMode="auto">
          <a:xfrm>
            <a:off x="7382737" y="5363097"/>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11</a:t>
            </a:r>
          </a:p>
        </p:txBody>
      </p:sp>
      <p:sp>
        <p:nvSpPr>
          <p:cNvPr id="153" name="Text Box 532">
            <a:extLst>
              <a:ext uri="{FF2B5EF4-FFF2-40B4-BE49-F238E27FC236}">
                <a16:creationId xmlns:a16="http://schemas.microsoft.com/office/drawing/2014/main" id="{1FDFF5E7-52A6-D993-CD6A-6C31622CF94B}"/>
              </a:ext>
            </a:extLst>
          </p:cNvPr>
          <p:cNvSpPr txBox="1">
            <a:spLocks noChangeArrowheads="1"/>
          </p:cNvSpPr>
          <p:nvPr/>
        </p:nvSpPr>
        <p:spPr bwMode="auto">
          <a:xfrm>
            <a:off x="9004352" y="5493899"/>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12</a:t>
            </a:r>
          </a:p>
        </p:txBody>
      </p:sp>
      <p:sp>
        <p:nvSpPr>
          <p:cNvPr id="154" name="Text Box 532">
            <a:extLst>
              <a:ext uri="{FF2B5EF4-FFF2-40B4-BE49-F238E27FC236}">
                <a16:creationId xmlns:a16="http://schemas.microsoft.com/office/drawing/2014/main" id="{F239ED85-E1C6-311A-E34F-9B461FDA47DB}"/>
              </a:ext>
            </a:extLst>
          </p:cNvPr>
          <p:cNvSpPr txBox="1">
            <a:spLocks noChangeArrowheads="1"/>
          </p:cNvSpPr>
          <p:nvPr/>
        </p:nvSpPr>
        <p:spPr bwMode="auto">
          <a:xfrm>
            <a:off x="10069165" y="5504709"/>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13</a:t>
            </a:r>
          </a:p>
        </p:txBody>
      </p:sp>
      <p:sp>
        <p:nvSpPr>
          <p:cNvPr id="155" name="Text Box 532">
            <a:extLst>
              <a:ext uri="{FF2B5EF4-FFF2-40B4-BE49-F238E27FC236}">
                <a16:creationId xmlns:a16="http://schemas.microsoft.com/office/drawing/2014/main" id="{BE65D3C4-134C-8780-8C42-3D8211661F82}"/>
              </a:ext>
            </a:extLst>
          </p:cNvPr>
          <p:cNvSpPr txBox="1">
            <a:spLocks noChangeArrowheads="1"/>
          </p:cNvSpPr>
          <p:nvPr/>
        </p:nvSpPr>
        <p:spPr bwMode="auto">
          <a:xfrm>
            <a:off x="11775890" y="4532870"/>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14</a:t>
            </a:r>
          </a:p>
        </p:txBody>
      </p:sp>
    </p:spTree>
    <p:extLst>
      <p:ext uri="{BB962C8B-B14F-4D97-AF65-F5344CB8AC3E}">
        <p14:creationId xmlns:p14="http://schemas.microsoft.com/office/powerpoint/2010/main" val="24506717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Exercise</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101</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59748"/>
            <a:ext cx="972234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Create a marked-up Current State Map for the Annual Review Process.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690936"/>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In teams, mark up your Current State Map using </a:t>
            </a:r>
            <a:b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br>
            <a:r>
              <a:rPr kumimoji="0" lang="en-US" sz="1400" b="0" i="0" u="none" strike="noStrike" cap="none" spc="0" normalizeH="0" baseline="0" dirty="0">
                <a:ln>
                  <a:noFill/>
                </a:ln>
                <a:solidFill>
                  <a:schemeClr val="accent1"/>
                </a:solidFill>
                <a:effectLst>
                  <a:outerShdw blurRad="50800" dist="38100" dir="2700000" algn="tl" rotWithShape="0">
                    <a:prstClr val="black">
                      <a:alpha val="40000"/>
                    </a:prstClr>
                  </a:outerShdw>
                </a:effectLst>
                <a:uFillTx/>
                <a:latin typeface="Roboto" panose="02000000000000000000" pitchFamily="2" charset="0"/>
                <a:ea typeface="Roboto" panose="02000000000000000000" pitchFamily="2" charset="0"/>
                <a:cs typeface="Roboto" panose="02000000000000000000" pitchFamily="2" charset="0"/>
                <a:sym typeface="Roboto"/>
              </a:rPr>
              <a:t>RED</a:t>
            </a: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 marker. Use the following questions:</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information flow opportunities?</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is low yield driving long processing times?</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are there high process lead times?</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Which processes can be coupled using continuous flow?</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Where can Visually Managed Queues couple processes?</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is the input trigger, and is there an opportunity to improve?</a:t>
            </a:r>
          </a:p>
          <a:p>
            <a:pPr marL="0" marR="0" indent="0" algn="l" defTabSz="584200" rtl="0" fontAlgn="auto" latinLnBrk="0" hangingPunct="0">
              <a:lnSpc>
                <a:spcPct val="100000"/>
              </a:lnSpc>
              <a:spcBef>
                <a:spcPts val="0"/>
              </a:spcBef>
              <a:spcAft>
                <a:spcPts val="0"/>
              </a:spcAft>
              <a:buClrTx/>
              <a:buSzTx/>
              <a:buFontTx/>
              <a:buNone/>
              <a:tabLst/>
            </a:pPr>
            <a:r>
              <a:rPr kumimoji="0" lang="en-US" sz="1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What other process improvements are required?</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15 minutes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13368"/>
            <a:ext cx="4681292" cy="1579920"/>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One person from the team will present the map to the class. </a:t>
            </a:r>
          </a:p>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Comments and feedback will be encouraged.</a:t>
            </a:r>
          </a:p>
        </p:txBody>
      </p:sp>
      <p:grpSp>
        <p:nvGrpSpPr>
          <p:cNvPr id="3" name="Group 2">
            <a:extLst>
              <a:ext uri="{FF2B5EF4-FFF2-40B4-BE49-F238E27FC236}">
                <a16:creationId xmlns:a16="http://schemas.microsoft.com/office/drawing/2014/main" id="{2CD421F5-5D79-E9A3-AFBD-DCCA00543D52}"/>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A46C68E5-2E82-39DA-5A04-B7DD57946906}"/>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DC2BFA15-6081-B826-580D-2A3123F02E7C}"/>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92A36847-244E-35C6-DCB4-B0DD025B12F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F65C2025-623A-2C4F-DAAF-FB2135FC1BB8}"/>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3061584D-7B4A-D0DA-E063-64CD7FA2A294}"/>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8059099F-C517-65F7-1955-14B0DAB4F4C2}"/>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DA2DBABA-062A-17B5-E739-75096C5EB48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56AA2026-A881-0112-2A00-12CECC7087B5}"/>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69705289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Your Turn – Mark Up Current State Map for Business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fontScale="92500" lnSpcReduction="20000"/>
          </a:bodyPr>
          <a:lstStyle/>
          <a:p>
            <a:r>
              <a:rPr lang="en-US" dirty="0"/>
              <a:t>Return to the common area to jointly mark up the Master Current State Map</a:t>
            </a:r>
          </a:p>
          <a:p>
            <a:r>
              <a:rPr lang="en-US" dirty="0"/>
              <a:t>Use the guidelines and method you just learned</a:t>
            </a:r>
          </a:p>
          <a:p>
            <a:r>
              <a:rPr lang="en-US" dirty="0"/>
              <a:t>Discuss each improvement opportunity as a team – reach a consensus </a:t>
            </a:r>
            <a:r>
              <a:rPr lang="en-US" u="sng" dirty="0"/>
              <a:t>before</a:t>
            </a:r>
            <a:r>
              <a:rPr lang="en-US" dirty="0"/>
              <a:t> marking up the Master Current State Map</a:t>
            </a:r>
          </a:p>
          <a:p>
            <a:r>
              <a:rPr lang="en-US" dirty="0"/>
              <a:t>All team members will be engaged in discussing opportunities and marking up the map</a:t>
            </a:r>
          </a:p>
          <a:p>
            <a:r>
              <a:rPr lang="en-US" dirty="0"/>
              <a:t>The marked-up map will be the basis for creating the Future State Map – make sure all improvements to the current state have been identified</a:t>
            </a:r>
          </a:p>
          <a:p>
            <a:r>
              <a:rPr lang="en-US" dirty="0"/>
              <a:t>Remember the Future State timeline in the charter – typically 6 months</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102</a:t>
            </a:fld>
            <a:endParaRPr lang="en-US"/>
          </a:p>
        </p:txBody>
      </p:sp>
      <p:grpSp>
        <p:nvGrpSpPr>
          <p:cNvPr id="4" name="Group 3">
            <a:extLst>
              <a:ext uri="{FF2B5EF4-FFF2-40B4-BE49-F238E27FC236}">
                <a16:creationId xmlns:a16="http://schemas.microsoft.com/office/drawing/2014/main" id="{B61CF5C8-3409-3507-1615-ACD0A9815E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61BC1428-DFCE-13E0-9D02-08242C061F4C}"/>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83A5D2B-1A69-171F-741D-4AC5F1CB79F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23AF663-446C-0B66-7C22-C0844C914486}"/>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4E230D3-D976-BD5A-CA41-B06720AF5DA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1100F50E-5CF3-4451-208A-1767F4221A60}"/>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99FC5B43-73A7-6E43-099B-455EEFE39E7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A54FA3A2-37B5-CA5C-CD8B-038373C8A7E5}"/>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E846B8F1-28B3-D6F2-D3CB-EDF285F43A9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51201349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Your Turn – Mark Up Current State Map for Business</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normAutofit/>
          </a:bodyPr>
          <a:lstStyle/>
          <a:p>
            <a:r>
              <a:rPr lang="en-US" dirty="0"/>
              <a:t>If needed, “validate” assumptions and gather any additional data – review as appropriate with stakeholders</a:t>
            </a:r>
          </a:p>
          <a:p>
            <a:pPr lvl="1"/>
            <a:r>
              <a:rPr lang="en-US" b="1" u="sng" dirty="0"/>
              <a:t>Caution</a:t>
            </a:r>
            <a:r>
              <a:rPr lang="en-US" dirty="0"/>
              <a:t>: Don’t get bogged down in a lot of detail – VSM is the “big picture”</a:t>
            </a:r>
          </a:p>
          <a:p>
            <a:r>
              <a:rPr lang="en-US" dirty="0"/>
              <a:t> Cross-check opportunities against the event charter – remember to stay focused on event objectives</a:t>
            </a:r>
          </a:p>
          <a:p>
            <a:r>
              <a:rPr lang="en-US" dirty="0"/>
              <a:t>The Current State Map will be reviewed by management – it is important to mark up the map clearly so that the changes are easily viewable from a short distance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103</a:t>
            </a:fld>
            <a:endParaRPr lang="en-US"/>
          </a:p>
        </p:txBody>
      </p:sp>
      <p:grpSp>
        <p:nvGrpSpPr>
          <p:cNvPr id="4" name="Group 3">
            <a:extLst>
              <a:ext uri="{FF2B5EF4-FFF2-40B4-BE49-F238E27FC236}">
                <a16:creationId xmlns:a16="http://schemas.microsoft.com/office/drawing/2014/main" id="{B61CF5C8-3409-3507-1615-ACD0A9815E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61BC1428-DFCE-13E0-9D02-08242C061F4C}"/>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D83A5D2B-1A69-171F-741D-4AC5F1CB79F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223AF663-446C-0B66-7C22-C0844C914486}"/>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10" name="Group 9">
                <a:extLst>
                  <a:ext uri="{FF2B5EF4-FFF2-40B4-BE49-F238E27FC236}">
                    <a16:creationId xmlns:a16="http://schemas.microsoft.com/office/drawing/2014/main" id="{94E230D3-D976-BD5A-CA41-B06720AF5DA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1100F50E-5CF3-4451-208A-1767F4221A60}"/>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99FC5B43-73A7-6E43-099B-455EEFE39E7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A54FA3A2-37B5-CA5C-CD8B-038373C8A7E5}"/>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E846B8F1-28B3-D6F2-D3CB-EDF285F43A9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132814387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rmAutofit/>
          </a:bodyPr>
          <a:lstStyle/>
          <a:p>
            <a:r>
              <a:rPr lang="en-US" sz="4000" dirty="0">
                <a:latin typeface="Roboto Medium"/>
                <a:ea typeface="Roboto Medium"/>
                <a:cs typeface="Roboto Medium"/>
              </a:rPr>
              <a:t>Mark-Up Current State Map and Report-Out </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104</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359748"/>
            <a:ext cx="972234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4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Mark up Current State Value Stream Map for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822526"/>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reach a consensus on kaizen bursts and improvement opportunities for your Current State Value Stream Map.</a:t>
            </a:r>
          </a:p>
          <a:p>
            <a:pPr marL="0" marR="0" indent="0" algn="l" defTabSz="584200" rtl="0" fontAlgn="auto" latinLnBrk="0" hangingPunct="0">
              <a:lnSpc>
                <a:spcPct val="100000"/>
              </a:lnSpc>
              <a:spcBef>
                <a:spcPts val="0"/>
              </a:spcBef>
              <a:spcAft>
                <a:spcPts val="0"/>
              </a:spcAft>
              <a:buClrTx/>
              <a:buSzTx/>
              <a:buFontTx/>
              <a:buNone/>
              <a:tabLst/>
            </a:pPr>
            <a:endPar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endParaRPr>
          </a:p>
          <a:p>
            <a:pPr marL="0" marR="0" indent="0" algn="l" defTabSz="584200" rtl="0" fontAlgn="auto" latinLnBrk="0" hangingPunct="0">
              <a:lnSpc>
                <a:spcPct val="100000"/>
              </a:lnSpc>
              <a:spcBef>
                <a:spcPts val="0"/>
              </a:spcBef>
              <a:spcAft>
                <a:spcPts val="0"/>
              </a:spcAft>
              <a:buClrTx/>
              <a:buSzTx/>
              <a:buFontTx/>
              <a:buNone/>
              <a:tabLst/>
            </a:pP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Use a </a:t>
            </a:r>
            <a:r>
              <a:rPr kumimoji="0" lang="en-US" sz="1600" b="0" i="0" u="none" strike="noStrike" cap="none" spc="0" normalizeH="0" baseline="0" dirty="0">
                <a:ln>
                  <a:noFill/>
                </a:ln>
                <a:solidFill>
                  <a:schemeClr val="accent1"/>
                </a:solidFill>
                <a:effectLst>
                  <a:outerShdw blurRad="50800" dist="38100" dir="2700000" algn="tl" rotWithShape="0">
                    <a:prstClr val="black">
                      <a:alpha val="40000"/>
                    </a:prstClr>
                  </a:outerShdw>
                </a:effectLst>
                <a:uFillTx/>
                <a:latin typeface="Roboto" panose="02000000000000000000" pitchFamily="2" charset="0"/>
                <a:ea typeface="Roboto" panose="02000000000000000000" pitchFamily="2" charset="0"/>
                <a:cs typeface="Roboto" panose="02000000000000000000" pitchFamily="2" charset="0"/>
                <a:sym typeface="Roboto"/>
              </a:rPr>
              <a:t>red marker </a:t>
            </a:r>
            <a:r>
              <a:rPr kumimoji="0" lang="en-US" sz="16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to indicate changes.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2 hours</a:t>
            </a: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13368"/>
            <a:ext cx="4681292" cy="121058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Marked up Current State Map Report Out to Management by team.</a:t>
            </a:r>
          </a:p>
        </p:txBody>
      </p:sp>
      <p:grpSp>
        <p:nvGrpSpPr>
          <p:cNvPr id="3" name="Group 2">
            <a:extLst>
              <a:ext uri="{FF2B5EF4-FFF2-40B4-BE49-F238E27FC236}">
                <a16:creationId xmlns:a16="http://schemas.microsoft.com/office/drawing/2014/main" id="{6CD33FEC-5323-F27D-0E6B-61F1B77FBF3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ACEC1EC8-53C4-9998-FB1E-49C1F5ED6F95}"/>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68FB085-E774-EE3A-D18B-8B6324295E01}"/>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35131C1-E5EC-6A0F-3E28-6C836EA54707}"/>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grpSp>
            <p:nvGrpSpPr>
              <p:cNvPr id="9" name="Group 8">
                <a:extLst>
                  <a:ext uri="{FF2B5EF4-FFF2-40B4-BE49-F238E27FC236}">
                    <a16:creationId xmlns:a16="http://schemas.microsoft.com/office/drawing/2014/main" id="{75DD369D-9CD4-A1F3-451F-0B1C9F85E5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D0310D65-B4FC-1041-E6DF-7AEA44741EBF}"/>
                    </a:ext>
                  </a:extLst>
                </p:cNvPr>
                <p:cNvSpPr>
                  <a:spLocks noChangeArrowheads="1"/>
                </p:cNvSpPr>
                <p:nvPr/>
              </p:nvSpPr>
              <p:spPr bwMode="auto">
                <a:xfrm>
                  <a:off x="1453776" y="4041857"/>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5BBE0C64-A8A2-897C-D277-BE624746150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36BC8A5F-C5FA-9211-6C99-3E9754333900}"/>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89B8AC6B-3BE9-E1CB-9BC4-8612A0B1E4D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Interrogating the Current State</a:t>
              </a:r>
            </a:p>
          </p:txBody>
        </p:sp>
      </p:grpSp>
    </p:spTree>
    <p:extLst>
      <p:ext uri="{BB962C8B-B14F-4D97-AF65-F5344CB8AC3E}">
        <p14:creationId xmlns:p14="http://schemas.microsoft.com/office/powerpoint/2010/main" val="215075896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105</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3200" dirty="0">
                <a:latin typeface="Roboto Medium"/>
                <a:ea typeface="Roboto Medium"/>
                <a:cs typeface="Roboto Medium"/>
              </a:rPr>
              <a:t>Creating the Future State Value Stream Map</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Identify the method to create the Future State Map</a:t>
            </a:r>
          </a:p>
          <a:p>
            <a:r>
              <a:rPr lang="en-US" dirty="0"/>
              <a:t>Review Case Study Example</a:t>
            </a:r>
          </a:p>
          <a:p>
            <a:r>
              <a:rPr lang="en-US" dirty="0"/>
              <a:t>Complete the steps to draw a Future State Map from Case Study</a:t>
            </a:r>
          </a:p>
          <a:p>
            <a:r>
              <a:rPr lang="en-US" dirty="0"/>
              <a:t>Complete Future State Map for Business</a:t>
            </a:r>
          </a:p>
          <a:p>
            <a:endParaRPr lang="en-US" dirty="0"/>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Develop Value</a:t>
              </a:r>
              <a:b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cs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Create Future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68032761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106</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281863821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403618622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Autofit/>
          </a:bodyPr>
          <a:lstStyle/>
          <a:p>
            <a:r>
              <a:rPr lang="en-US" sz="3600" dirty="0"/>
              <a:t>Begin with the Marked Up Current State Map</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108</a:t>
            </a:fld>
            <a:endParaRPr lang="en-US"/>
          </a:p>
        </p:txBody>
      </p:sp>
      <p:grpSp>
        <p:nvGrpSpPr>
          <p:cNvPr id="13" name="Group 12">
            <a:extLst>
              <a:ext uri="{FF2B5EF4-FFF2-40B4-BE49-F238E27FC236}">
                <a16:creationId xmlns:a16="http://schemas.microsoft.com/office/drawing/2014/main" id="{5C627829-E5FA-1F83-8C9E-B8A58FA4C6A5}"/>
              </a:ext>
            </a:extLst>
          </p:cNvPr>
          <p:cNvGrpSpPr/>
          <p:nvPr/>
        </p:nvGrpSpPr>
        <p:grpSpPr>
          <a:xfrm>
            <a:off x="235612" y="1883579"/>
            <a:ext cx="11415850" cy="3585698"/>
            <a:chOff x="235612" y="1883579"/>
            <a:chExt cx="11415850" cy="3585698"/>
          </a:xfrm>
        </p:grpSpPr>
        <p:grpSp>
          <p:nvGrpSpPr>
            <p:cNvPr id="14" name="Group 13">
              <a:extLst>
                <a:ext uri="{FF2B5EF4-FFF2-40B4-BE49-F238E27FC236}">
                  <a16:creationId xmlns:a16="http://schemas.microsoft.com/office/drawing/2014/main" id="{1E935AB0-D2DD-AFDB-30E0-5A08CBF747A8}"/>
                </a:ext>
              </a:extLst>
            </p:cNvPr>
            <p:cNvGrpSpPr/>
            <p:nvPr/>
          </p:nvGrpSpPr>
          <p:grpSpPr>
            <a:xfrm>
              <a:off x="708170" y="1883579"/>
              <a:ext cx="10943292" cy="3585698"/>
              <a:chOff x="708170" y="1883579"/>
              <a:chExt cx="10943292" cy="3585698"/>
            </a:xfrm>
          </p:grpSpPr>
          <p:grpSp>
            <p:nvGrpSpPr>
              <p:cNvPr id="34" name="Group 33">
                <a:extLst>
                  <a:ext uri="{FF2B5EF4-FFF2-40B4-BE49-F238E27FC236}">
                    <a16:creationId xmlns:a16="http://schemas.microsoft.com/office/drawing/2014/main" id="{B90F735D-626A-51DB-46EB-268F3A543748}"/>
                  </a:ext>
                </a:extLst>
              </p:cNvPr>
              <p:cNvGrpSpPr/>
              <p:nvPr/>
            </p:nvGrpSpPr>
            <p:grpSpPr>
              <a:xfrm>
                <a:off x="708170" y="1883579"/>
                <a:ext cx="10943291" cy="994012"/>
                <a:chOff x="708170" y="1883579"/>
                <a:chExt cx="10943291" cy="994012"/>
              </a:xfrm>
            </p:grpSpPr>
            <p:grpSp>
              <p:nvGrpSpPr>
                <p:cNvPr id="51" name="Group 50">
                  <a:extLst>
                    <a:ext uri="{FF2B5EF4-FFF2-40B4-BE49-F238E27FC236}">
                      <a16:creationId xmlns:a16="http://schemas.microsoft.com/office/drawing/2014/main" id="{607FEFDC-406E-66C7-5006-55C3FE28DB23}"/>
                    </a:ext>
                  </a:extLst>
                </p:cNvPr>
                <p:cNvGrpSpPr/>
                <p:nvPr/>
              </p:nvGrpSpPr>
              <p:grpSpPr>
                <a:xfrm>
                  <a:off x="4970557" y="1883579"/>
                  <a:ext cx="6680904" cy="994012"/>
                  <a:chOff x="4970557" y="1883579"/>
                  <a:chExt cx="6680904" cy="994012"/>
                </a:xfrm>
              </p:grpSpPr>
              <p:sp>
                <p:nvSpPr>
                  <p:cNvPr id="54" name="Text Box 11">
                    <a:extLst>
                      <a:ext uri="{FF2B5EF4-FFF2-40B4-BE49-F238E27FC236}">
                        <a16:creationId xmlns:a16="http://schemas.microsoft.com/office/drawing/2014/main" id="{6870451F-03BB-C6F7-0415-7FF3D794D07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rPr>
                      <a:t>Great America Golf (GAG)</a:t>
                    </a:r>
                  </a:p>
                </p:txBody>
              </p:sp>
              <p:grpSp>
                <p:nvGrpSpPr>
                  <p:cNvPr id="55" name="Group 54">
                    <a:extLst>
                      <a:ext uri="{FF2B5EF4-FFF2-40B4-BE49-F238E27FC236}">
                        <a16:creationId xmlns:a16="http://schemas.microsoft.com/office/drawing/2014/main" id="{F8366744-F35F-19A9-4FE5-B5D3BB789731}"/>
                      </a:ext>
                    </a:extLst>
                  </p:cNvPr>
                  <p:cNvGrpSpPr/>
                  <p:nvPr/>
                </p:nvGrpSpPr>
                <p:grpSpPr>
                  <a:xfrm>
                    <a:off x="10367408" y="2035271"/>
                    <a:ext cx="1284053" cy="842320"/>
                    <a:chOff x="9371728" y="2008329"/>
                    <a:chExt cx="1284053" cy="842320"/>
                  </a:xfrm>
                </p:grpSpPr>
                <p:sp>
                  <p:nvSpPr>
                    <p:cNvPr id="56" name="Rectangle 13">
                      <a:extLst>
                        <a:ext uri="{FF2B5EF4-FFF2-40B4-BE49-F238E27FC236}">
                          <a16:creationId xmlns:a16="http://schemas.microsoft.com/office/drawing/2014/main" id="{20A48CD2-0619-2EBB-D32F-955CA44DE5DF}"/>
                        </a:ext>
                      </a:extLst>
                    </p:cNvPr>
                    <p:cNvSpPr>
                      <a:spLocks noChangeArrowheads="1"/>
                    </p:cNvSpPr>
                    <p:nvPr/>
                  </p:nvSpPr>
                  <p:spPr bwMode="auto">
                    <a:xfrm>
                      <a:off x="9672049" y="2180898"/>
                      <a:ext cx="683412" cy="66975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4">
                      <a:extLst>
                        <a:ext uri="{FF2B5EF4-FFF2-40B4-BE49-F238E27FC236}">
                          <a16:creationId xmlns:a16="http://schemas.microsoft.com/office/drawing/2014/main" id="{65B557AC-0560-BD8E-9F05-31A9B9137911}"/>
                        </a:ext>
                      </a:extLst>
                    </p:cNvPr>
                    <p:cNvSpPr>
                      <a:spLocks noChangeArrowheads="1"/>
                    </p:cNvSpPr>
                    <p:nvPr/>
                  </p:nvSpPr>
                  <p:spPr bwMode="auto">
                    <a:xfrm>
                      <a:off x="9796392"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
                      <a:extLst>
                        <a:ext uri="{FF2B5EF4-FFF2-40B4-BE49-F238E27FC236}">
                          <a16:creationId xmlns:a16="http://schemas.microsoft.com/office/drawing/2014/main" id="{29A1D726-F299-FE5A-89C2-01BB74CF7AEA}"/>
                        </a:ext>
                      </a:extLst>
                    </p:cNvPr>
                    <p:cNvSpPr>
                      <a:spLocks noChangeArrowheads="1"/>
                    </p:cNvSpPr>
                    <p:nvPr/>
                  </p:nvSpPr>
                  <p:spPr bwMode="auto">
                    <a:xfrm>
                      <a:off x="9968194"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9" name="Rectangle 16">
                      <a:extLst>
                        <a:ext uri="{FF2B5EF4-FFF2-40B4-BE49-F238E27FC236}">
                          <a16:creationId xmlns:a16="http://schemas.microsoft.com/office/drawing/2014/main" id="{6588BDA5-7E2D-7AF1-6103-F9EA302CD29E}"/>
                        </a:ext>
                      </a:extLst>
                    </p:cNvPr>
                    <p:cNvSpPr>
                      <a:spLocks noChangeArrowheads="1"/>
                    </p:cNvSpPr>
                    <p:nvPr/>
                  </p:nvSpPr>
                  <p:spPr bwMode="auto">
                    <a:xfrm>
                      <a:off x="10139047"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Rectangle 17">
                      <a:extLst>
                        <a:ext uri="{FF2B5EF4-FFF2-40B4-BE49-F238E27FC236}">
                          <a16:creationId xmlns:a16="http://schemas.microsoft.com/office/drawing/2014/main" id="{F5903559-4B42-6633-6B39-4954D90996D3}"/>
                        </a:ext>
                      </a:extLst>
                    </p:cNvPr>
                    <p:cNvSpPr>
                      <a:spLocks noChangeArrowheads="1"/>
                    </p:cNvSpPr>
                    <p:nvPr/>
                  </p:nvSpPr>
                  <p:spPr bwMode="auto">
                    <a:xfrm>
                      <a:off x="1026433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1" name="Rectangle 18">
                      <a:extLst>
                        <a:ext uri="{FF2B5EF4-FFF2-40B4-BE49-F238E27FC236}">
                          <a16:creationId xmlns:a16="http://schemas.microsoft.com/office/drawing/2014/main" id="{B4103A67-2AA2-C79C-5431-3DC881184DD7}"/>
                        </a:ext>
                      </a:extLst>
                    </p:cNvPr>
                    <p:cNvSpPr>
                      <a:spLocks noChangeArrowheads="1"/>
                    </p:cNvSpPr>
                    <p:nvPr/>
                  </p:nvSpPr>
                  <p:spPr bwMode="auto">
                    <a:xfrm>
                      <a:off x="9672049" y="2340363"/>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2" name="Rectangle 19">
                      <a:extLst>
                        <a:ext uri="{FF2B5EF4-FFF2-40B4-BE49-F238E27FC236}">
                          <a16:creationId xmlns:a16="http://schemas.microsoft.com/office/drawing/2014/main" id="{5ED83D44-BA6E-248C-1B50-4CA34D9DD86A}"/>
                        </a:ext>
                      </a:extLst>
                    </p:cNvPr>
                    <p:cNvSpPr>
                      <a:spLocks noChangeArrowheads="1"/>
                    </p:cNvSpPr>
                    <p:nvPr/>
                  </p:nvSpPr>
                  <p:spPr bwMode="auto">
                    <a:xfrm>
                      <a:off x="9796392"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3" name="Rectangle 20">
                      <a:extLst>
                        <a:ext uri="{FF2B5EF4-FFF2-40B4-BE49-F238E27FC236}">
                          <a16:creationId xmlns:a16="http://schemas.microsoft.com/office/drawing/2014/main" id="{3B87A3EC-57C3-F25D-1082-013AC768BB94}"/>
                        </a:ext>
                      </a:extLst>
                    </p:cNvPr>
                    <p:cNvSpPr>
                      <a:spLocks noChangeArrowheads="1"/>
                    </p:cNvSpPr>
                    <p:nvPr/>
                  </p:nvSpPr>
                  <p:spPr bwMode="auto">
                    <a:xfrm>
                      <a:off x="9968194"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4" name="Rectangle 21">
                      <a:extLst>
                        <a:ext uri="{FF2B5EF4-FFF2-40B4-BE49-F238E27FC236}">
                          <a16:creationId xmlns:a16="http://schemas.microsoft.com/office/drawing/2014/main" id="{1A57D8A3-9CEB-47BB-82C3-BE77E9021290}"/>
                        </a:ext>
                      </a:extLst>
                    </p:cNvPr>
                    <p:cNvSpPr>
                      <a:spLocks noChangeArrowheads="1"/>
                    </p:cNvSpPr>
                    <p:nvPr/>
                  </p:nvSpPr>
                  <p:spPr bwMode="auto">
                    <a:xfrm>
                      <a:off x="10139047"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5" name="Rectangle 22">
                      <a:extLst>
                        <a:ext uri="{FF2B5EF4-FFF2-40B4-BE49-F238E27FC236}">
                          <a16:creationId xmlns:a16="http://schemas.microsoft.com/office/drawing/2014/main" id="{4403F7EE-B692-B809-935D-7815E21B7B8E}"/>
                        </a:ext>
                      </a:extLst>
                    </p:cNvPr>
                    <p:cNvSpPr>
                      <a:spLocks noChangeArrowheads="1"/>
                    </p:cNvSpPr>
                    <p:nvPr/>
                  </p:nvSpPr>
                  <p:spPr bwMode="auto">
                    <a:xfrm>
                      <a:off x="1026433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23">
                      <a:extLst>
                        <a:ext uri="{FF2B5EF4-FFF2-40B4-BE49-F238E27FC236}">
                          <a16:creationId xmlns:a16="http://schemas.microsoft.com/office/drawing/2014/main" id="{2C5A5358-74AE-DDD7-43FC-CE706D4F1EF8}"/>
                        </a:ext>
                      </a:extLst>
                    </p:cNvPr>
                    <p:cNvSpPr>
                      <a:spLocks noChangeArrowheads="1"/>
                    </p:cNvSpPr>
                    <p:nvPr/>
                  </p:nvSpPr>
                  <p:spPr bwMode="auto">
                    <a:xfrm>
                      <a:off x="9672049" y="2212791"/>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7" name="Rectangle 24">
                      <a:extLst>
                        <a:ext uri="{FF2B5EF4-FFF2-40B4-BE49-F238E27FC236}">
                          <a16:creationId xmlns:a16="http://schemas.microsoft.com/office/drawing/2014/main" id="{80120143-ECAA-8584-F45E-030E729D3AC8}"/>
                        </a:ext>
                      </a:extLst>
                    </p:cNvPr>
                    <p:cNvSpPr>
                      <a:spLocks noChangeArrowheads="1"/>
                    </p:cNvSpPr>
                    <p:nvPr/>
                  </p:nvSpPr>
                  <p:spPr bwMode="auto">
                    <a:xfrm>
                      <a:off x="9796392"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25">
                      <a:extLst>
                        <a:ext uri="{FF2B5EF4-FFF2-40B4-BE49-F238E27FC236}">
                          <a16:creationId xmlns:a16="http://schemas.microsoft.com/office/drawing/2014/main" id="{C1002AD4-5CA3-4D4C-5624-2D4CE2AACF23}"/>
                        </a:ext>
                      </a:extLst>
                    </p:cNvPr>
                    <p:cNvSpPr>
                      <a:spLocks noChangeArrowheads="1"/>
                    </p:cNvSpPr>
                    <p:nvPr/>
                  </p:nvSpPr>
                  <p:spPr bwMode="auto">
                    <a:xfrm>
                      <a:off x="9968194"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9" name="Rectangle 26">
                      <a:extLst>
                        <a:ext uri="{FF2B5EF4-FFF2-40B4-BE49-F238E27FC236}">
                          <a16:creationId xmlns:a16="http://schemas.microsoft.com/office/drawing/2014/main" id="{6050A138-DAEA-1075-FD5B-80B2C5A88DEF}"/>
                        </a:ext>
                      </a:extLst>
                    </p:cNvPr>
                    <p:cNvSpPr>
                      <a:spLocks noChangeArrowheads="1"/>
                    </p:cNvSpPr>
                    <p:nvPr/>
                  </p:nvSpPr>
                  <p:spPr bwMode="auto">
                    <a:xfrm>
                      <a:off x="10139047"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27">
                      <a:extLst>
                        <a:ext uri="{FF2B5EF4-FFF2-40B4-BE49-F238E27FC236}">
                          <a16:creationId xmlns:a16="http://schemas.microsoft.com/office/drawing/2014/main" id="{A148017E-3B89-7242-E0B4-270697BEB1A1}"/>
                        </a:ext>
                      </a:extLst>
                    </p:cNvPr>
                    <p:cNvSpPr>
                      <a:spLocks noChangeArrowheads="1"/>
                    </p:cNvSpPr>
                    <p:nvPr/>
                  </p:nvSpPr>
                  <p:spPr bwMode="auto">
                    <a:xfrm>
                      <a:off x="1026433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Rectangle 28">
                      <a:extLst>
                        <a:ext uri="{FF2B5EF4-FFF2-40B4-BE49-F238E27FC236}">
                          <a16:creationId xmlns:a16="http://schemas.microsoft.com/office/drawing/2014/main" id="{573D7B14-7160-B651-A77B-04588EA2EE8E}"/>
                        </a:ext>
                      </a:extLst>
                    </p:cNvPr>
                    <p:cNvSpPr>
                      <a:spLocks noChangeArrowheads="1"/>
                    </p:cNvSpPr>
                    <p:nvPr/>
                  </p:nvSpPr>
                  <p:spPr bwMode="auto">
                    <a:xfrm>
                      <a:off x="9672049" y="2467934"/>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29">
                      <a:extLst>
                        <a:ext uri="{FF2B5EF4-FFF2-40B4-BE49-F238E27FC236}">
                          <a16:creationId xmlns:a16="http://schemas.microsoft.com/office/drawing/2014/main" id="{0B40C944-ABA7-FE96-C620-C5127FC7D3CD}"/>
                        </a:ext>
                      </a:extLst>
                    </p:cNvPr>
                    <p:cNvSpPr>
                      <a:spLocks noChangeArrowheads="1"/>
                    </p:cNvSpPr>
                    <p:nvPr/>
                  </p:nvSpPr>
                  <p:spPr bwMode="auto">
                    <a:xfrm>
                      <a:off x="9796392"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3" name="Rectangle 30">
                      <a:extLst>
                        <a:ext uri="{FF2B5EF4-FFF2-40B4-BE49-F238E27FC236}">
                          <a16:creationId xmlns:a16="http://schemas.microsoft.com/office/drawing/2014/main" id="{0A9681EA-2400-1DBC-4EBF-E6721029F03D}"/>
                        </a:ext>
                      </a:extLst>
                    </p:cNvPr>
                    <p:cNvSpPr>
                      <a:spLocks noChangeArrowheads="1"/>
                    </p:cNvSpPr>
                    <p:nvPr/>
                  </p:nvSpPr>
                  <p:spPr bwMode="auto">
                    <a:xfrm>
                      <a:off x="9968194"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31">
                      <a:extLst>
                        <a:ext uri="{FF2B5EF4-FFF2-40B4-BE49-F238E27FC236}">
                          <a16:creationId xmlns:a16="http://schemas.microsoft.com/office/drawing/2014/main" id="{A1980D5E-FFED-2973-0680-20155B53A060}"/>
                        </a:ext>
                      </a:extLst>
                    </p:cNvPr>
                    <p:cNvSpPr>
                      <a:spLocks noChangeArrowheads="1"/>
                    </p:cNvSpPr>
                    <p:nvPr/>
                  </p:nvSpPr>
                  <p:spPr bwMode="auto">
                    <a:xfrm>
                      <a:off x="10139047"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5" name="Rectangle 32">
                      <a:extLst>
                        <a:ext uri="{FF2B5EF4-FFF2-40B4-BE49-F238E27FC236}">
                          <a16:creationId xmlns:a16="http://schemas.microsoft.com/office/drawing/2014/main" id="{21331C6A-C065-3D1E-7401-9998D30FDB6C}"/>
                        </a:ext>
                      </a:extLst>
                    </p:cNvPr>
                    <p:cNvSpPr>
                      <a:spLocks noChangeArrowheads="1"/>
                    </p:cNvSpPr>
                    <p:nvPr/>
                  </p:nvSpPr>
                  <p:spPr bwMode="auto">
                    <a:xfrm>
                      <a:off x="1026433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6" name="Rectangle 33">
                      <a:extLst>
                        <a:ext uri="{FF2B5EF4-FFF2-40B4-BE49-F238E27FC236}">
                          <a16:creationId xmlns:a16="http://schemas.microsoft.com/office/drawing/2014/main" id="{67F5F6D4-7737-623D-988F-754620F15EAA}"/>
                        </a:ext>
                      </a:extLst>
                    </p:cNvPr>
                    <p:cNvSpPr>
                      <a:spLocks noChangeArrowheads="1"/>
                    </p:cNvSpPr>
                    <p:nvPr/>
                  </p:nvSpPr>
                  <p:spPr bwMode="auto">
                    <a:xfrm>
                      <a:off x="9672049" y="2595506"/>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7" name="Rectangle 34">
                      <a:extLst>
                        <a:ext uri="{FF2B5EF4-FFF2-40B4-BE49-F238E27FC236}">
                          <a16:creationId xmlns:a16="http://schemas.microsoft.com/office/drawing/2014/main" id="{924FFED4-C392-E14A-23C4-4F9E1EB2F4ED}"/>
                        </a:ext>
                      </a:extLst>
                    </p:cNvPr>
                    <p:cNvSpPr>
                      <a:spLocks noChangeArrowheads="1"/>
                    </p:cNvSpPr>
                    <p:nvPr/>
                  </p:nvSpPr>
                  <p:spPr bwMode="auto">
                    <a:xfrm>
                      <a:off x="9796392"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Rectangle 35">
                      <a:extLst>
                        <a:ext uri="{FF2B5EF4-FFF2-40B4-BE49-F238E27FC236}">
                          <a16:creationId xmlns:a16="http://schemas.microsoft.com/office/drawing/2014/main" id="{A3A18B4A-62F0-55D0-97C6-D0960A65D503}"/>
                        </a:ext>
                      </a:extLst>
                    </p:cNvPr>
                    <p:cNvSpPr>
                      <a:spLocks noChangeArrowheads="1"/>
                    </p:cNvSpPr>
                    <p:nvPr/>
                  </p:nvSpPr>
                  <p:spPr bwMode="auto">
                    <a:xfrm>
                      <a:off x="10022298"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9" name="Rectangle 36">
                      <a:extLst>
                        <a:ext uri="{FF2B5EF4-FFF2-40B4-BE49-F238E27FC236}">
                          <a16:creationId xmlns:a16="http://schemas.microsoft.com/office/drawing/2014/main" id="{BBC50694-B8C2-BB9C-03EC-2DCDD684C6AA}"/>
                        </a:ext>
                      </a:extLst>
                    </p:cNvPr>
                    <p:cNvSpPr>
                      <a:spLocks noChangeArrowheads="1"/>
                    </p:cNvSpPr>
                    <p:nvPr/>
                  </p:nvSpPr>
                  <p:spPr bwMode="auto">
                    <a:xfrm>
                      <a:off x="10139047"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Rectangle 37">
                      <a:extLst>
                        <a:ext uri="{FF2B5EF4-FFF2-40B4-BE49-F238E27FC236}">
                          <a16:creationId xmlns:a16="http://schemas.microsoft.com/office/drawing/2014/main" id="{CE927734-814A-82A1-E23E-4E8DD2D0859A}"/>
                        </a:ext>
                      </a:extLst>
                    </p:cNvPr>
                    <p:cNvSpPr>
                      <a:spLocks noChangeArrowheads="1"/>
                    </p:cNvSpPr>
                    <p:nvPr/>
                  </p:nvSpPr>
                  <p:spPr bwMode="auto">
                    <a:xfrm>
                      <a:off x="1026433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1" name="Rectangle 38">
                      <a:extLst>
                        <a:ext uri="{FF2B5EF4-FFF2-40B4-BE49-F238E27FC236}">
                          <a16:creationId xmlns:a16="http://schemas.microsoft.com/office/drawing/2014/main" id="{7C4FF05A-A291-D60F-7F7A-9617DE303508}"/>
                        </a:ext>
                      </a:extLst>
                    </p:cNvPr>
                    <p:cNvSpPr>
                      <a:spLocks noChangeArrowheads="1"/>
                    </p:cNvSpPr>
                    <p:nvPr/>
                  </p:nvSpPr>
                  <p:spPr bwMode="auto">
                    <a:xfrm>
                      <a:off x="9672049" y="2723077"/>
                      <a:ext cx="91122" cy="95679"/>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2" name="Rectangle 39">
                      <a:extLst>
                        <a:ext uri="{FF2B5EF4-FFF2-40B4-BE49-F238E27FC236}">
                          <a16:creationId xmlns:a16="http://schemas.microsoft.com/office/drawing/2014/main" id="{96A41751-03A1-2093-CD84-E58A4E6F0151}"/>
                        </a:ext>
                      </a:extLst>
                    </p:cNvPr>
                    <p:cNvSpPr>
                      <a:spLocks noChangeArrowheads="1"/>
                    </p:cNvSpPr>
                    <p:nvPr/>
                  </p:nvSpPr>
                  <p:spPr bwMode="auto">
                    <a:xfrm>
                      <a:off x="9922633" y="2723077"/>
                      <a:ext cx="91122" cy="12757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3" name="Text Box 40">
                      <a:extLst>
                        <a:ext uri="{FF2B5EF4-FFF2-40B4-BE49-F238E27FC236}">
                          <a16:creationId xmlns:a16="http://schemas.microsoft.com/office/drawing/2014/main" id="{9929B2BB-3B87-2E4B-7805-527E813E4C59}"/>
                        </a:ext>
                      </a:extLst>
                    </p:cNvPr>
                    <p:cNvSpPr txBox="1">
                      <a:spLocks noChangeArrowheads="1"/>
                    </p:cNvSpPr>
                    <p:nvPr/>
                  </p:nvSpPr>
                  <p:spPr bwMode="auto">
                    <a:xfrm>
                      <a:off x="9371728" y="2008329"/>
                      <a:ext cx="1284053" cy="176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dirty="0">
                          <a:latin typeface="Roboto" panose="02000000000000000000" pitchFamily="2" charset="0"/>
                          <a:ea typeface="Roboto" panose="02000000000000000000" pitchFamily="2" charset="0"/>
                        </a:rPr>
                        <a:t>Product Distributors</a:t>
                      </a:r>
                    </a:p>
                  </p:txBody>
                </p:sp>
              </p:grpSp>
            </p:grpSp>
            <p:sp>
              <p:nvSpPr>
                <p:cNvPr id="52" name="Rectangle 41">
                  <a:extLst>
                    <a:ext uri="{FF2B5EF4-FFF2-40B4-BE49-F238E27FC236}">
                      <a16:creationId xmlns:a16="http://schemas.microsoft.com/office/drawing/2014/main" id="{B1FD7C23-209F-F3AD-2543-64EFFA18944F}"/>
                    </a:ext>
                  </a:extLst>
                </p:cNvPr>
                <p:cNvSpPr>
                  <a:spLocks noChangeArrowheads="1"/>
                </p:cNvSpPr>
                <p:nvPr/>
              </p:nvSpPr>
              <p:spPr bwMode="auto">
                <a:xfrm>
                  <a:off x="708170" y="1953600"/>
                  <a:ext cx="257492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15000"/>
                    </a:lnSpc>
                    <a:spcBef>
                      <a:spcPct val="50000"/>
                    </a:spcBef>
                    <a:spcAft>
                      <a:spcPct val="50000"/>
                    </a:spcAft>
                    <a:buClr>
                      <a:srgbClr val="006699"/>
                    </a:buClr>
                    <a:buSzPct val="40000"/>
                    <a:buFont typeface="Wingdings" panose="05000000000000000000" pitchFamily="2" charset="2"/>
                    <a:buChar char="n"/>
                    <a:tabLst>
                      <a:tab pos="3086100" algn="l"/>
                    </a:tabLst>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tabLst>
                      <a:tab pos="3086100" algn="l"/>
                    </a:tabLst>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tabLst>
                      <a:tab pos="3086100" algn="l"/>
                    </a:tabLst>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tabLst>
                      <a:tab pos="3086100" algn="l"/>
                    </a:tabLst>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240 work days / year</a:t>
                  </a: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Takt Time= </a:t>
                  </a:r>
                  <a:r>
                    <a:rPr lang="en-US" altLang="en-US" sz="800" baseline="30000" dirty="0">
                      <a:solidFill>
                        <a:srgbClr val="FF0000"/>
                      </a:solidFill>
                      <a:latin typeface="Roboto" panose="02000000000000000000" pitchFamily="2" charset="0"/>
                      <a:ea typeface="Roboto" panose="02000000000000000000" pitchFamily="2" charset="0"/>
                    </a:rPr>
                    <a:t>__________________________________ </a:t>
                  </a:r>
                  <a:r>
                    <a:rPr lang="en-US" altLang="en-US" sz="800" dirty="0">
                      <a:solidFill>
                        <a:srgbClr val="FF0000"/>
                      </a:solidFill>
                      <a:latin typeface="Roboto" panose="02000000000000000000" pitchFamily="2" charset="0"/>
                      <a:ea typeface="Roboto" panose="02000000000000000000" pitchFamily="2" charset="0"/>
                    </a:rPr>
                    <a:t>= 24 work days</a:t>
                  </a:r>
                  <a:endParaRPr lang="en-US" altLang="en-US" sz="800" u="sng" dirty="0">
                    <a:solidFill>
                      <a:srgbClr val="FF0000"/>
                    </a:solidFill>
                    <a:latin typeface="Roboto" panose="02000000000000000000" pitchFamily="2" charset="0"/>
                    <a:ea typeface="Roboto" panose="02000000000000000000" pitchFamily="2" charset="0"/>
                  </a:endParaRPr>
                </a:p>
                <a:p>
                  <a:pPr eaLnBrk="1" hangingPunct="1">
                    <a:lnSpc>
                      <a:spcPct val="75000"/>
                    </a:lnSpc>
                    <a:spcBef>
                      <a:spcPct val="0"/>
                    </a:spcBef>
                    <a:spcAft>
                      <a:spcPct val="0"/>
                    </a:spcAft>
                    <a:buClr>
                      <a:schemeClr val="accent1"/>
                    </a:buClr>
                    <a:buSzPct val="90000"/>
                    <a:buFont typeface="Wingdings" panose="05000000000000000000" pitchFamily="2" charset="2"/>
                    <a:buNone/>
                  </a:pPr>
                  <a:r>
                    <a:rPr lang="en-US" altLang="en-US" sz="800" dirty="0">
                      <a:solidFill>
                        <a:srgbClr val="FF0000"/>
                      </a:solidFill>
                      <a:latin typeface="Roboto" panose="02000000000000000000" pitchFamily="2" charset="0"/>
                      <a:ea typeface="Roboto" panose="02000000000000000000" pitchFamily="2" charset="0"/>
                    </a:rPr>
                    <a:t>    	            10 clubs / year</a:t>
                  </a:r>
                </a:p>
              </p:txBody>
            </p:sp>
          </p:grpSp>
          <p:sp>
            <p:nvSpPr>
              <p:cNvPr id="35" name="Line 11">
                <a:extLst>
                  <a:ext uri="{FF2B5EF4-FFF2-40B4-BE49-F238E27FC236}">
                    <a16:creationId xmlns:a16="http://schemas.microsoft.com/office/drawing/2014/main" id="{C968EDDE-B4B0-8A20-4E93-630A6182E54D}"/>
                  </a:ext>
                </a:extLst>
              </p:cNvPr>
              <p:cNvSpPr>
                <a:spLocks noChangeShapeType="1"/>
              </p:cNvSpPr>
              <p:nvPr/>
            </p:nvSpPr>
            <p:spPr bwMode="auto">
              <a:xfrm flipH="1" flipV="1">
                <a:off x="11168896" y="2868708"/>
                <a:ext cx="56950" cy="114654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p>
            </p:txBody>
          </p:sp>
          <p:grpSp>
            <p:nvGrpSpPr>
              <p:cNvPr id="36" name="Group 35">
                <a:extLst>
                  <a:ext uri="{FF2B5EF4-FFF2-40B4-BE49-F238E27FC236}">
                    <a16:creationId xmlns:a16="http://schemas.microsoft.com/office/drawing/2014/main" id="{4AEE1742-FEA7-AD10-57BE-A5D896E1902B}"/>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B2B304BC-15EF-B0B1-6D31-EC032BC6AD86}"/>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A80B007F-BEA2-7164-0017-6E4912A80412}"/>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2DCE4D74-1DB6-2ED5-F956-57DACA20B718}"/>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53B8E41C-6784-FCE9-F58A-5FB8B25A442E}"/>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ADEABCBB-74CF-B20A-8826-D2BD35E9C2A3}"/>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E02323F9-9E7E-43A4-C65D-B8400EB87F06}"/>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CFAEA5A4-0B97-7B9B-6FB8-94509A09CC67}"/>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5025571D-BB5F-5C8C-5D99-A6D63EC58965}"/>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AD02D5D7-5F69-F948-359E-18ED6AB8C9B7}"/>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23BB465-F4A6-8B32-5A5E-A9CB4DA230FC}"/>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629C0771-A334-111C-461B-694D46059ACE}"/>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1EBAC812-DE19-4A61-A3AC-7D46B925F654}"/>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0B8AD103-8044-A856-0D25-080B7FE17C26}"/>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026D1A57-D287-0AB3-113B-9340AC9C7EB8}"/>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grpSp>
          <p:nvGrpSpPr>
            <p:cNvPr id="15" name="Group 14">
              <a:extLst>
                <a:ext uri="{FF2B5EF4-FFF2-40B4-BE49-F238E27FC236}">
                  <a16:creationId xmlns:a16="http://schemas.microsoft.com/office/drawing/2014/main" id="{E2FCD229-3BEB-4079-63D3-1157208DFDA1}"/>
                </a:ext>
              </a:extLst>
            </p:cNvPr>
            <p:cNvGrpSpPr/>
            <p:nvPr/>
          </p:nvGrpSpPr>
          <p:grpSpPr>
            <a:xfrm>
              <a:off x="235612" y="4343625"/>
              <a:ext cx="7515317" cy="495298"/>
              <a:chOff x="235612" y="4343625"/>
              <a:chExt cx="7515317" cy="495298"/>
            </a:xfrm>
          </p:grpSpPr>
          <p:sp>
            <p:nvSpPr>
              <p:cNvPr id="26" name="Line 475">
                <a:extLst>
                  <a:ext uri="{FF2B5EF4-FFF2-40B4-BE49-F238E27FC236}">
                    <a16:creationId xmlns:a16="http://schemas.microsoft.com/office/drawing/2014/main" id="{005DF80F-4482-4864-28B4-663FC685C7C3}"/>
                  </a:ext>
                </a:extLst>
              </p:cNvPr>
              <p:cNvSpPr>
                <a:spLocks noChangeShapeType="1"/>
              </p:cNvSpPr>
              <p:nvPr/>
            </p:nvSpPr>
            <p:spPr bwMode="auto">
              <a:xfrm flipV="1">
                <a:off x="307089" y="4343625"/>
                <a:ext cx="490498"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7" name="Line 475">
                <a:extLst>
                  <a:ext uri="{FF2B5EF4-FFF2-40B4-BE49-F238E27FC236}">
                    <a16:creationId xmlns:a16="http://schemas.microsoft.com/office/drawing/2014/main" id="{D75AE927-7B38-331F-CDEA-81F9A7477865}"/>
                  </a:ext>
                </a:extLst>
              </p:cNvPr>
              <p:cNvSpPr>
                <a:spLocks noChangeShapeType="1"/>
              </p:cNvSpPr>
              <p:nvPr/>
            </p:nvSpPr>
            <p:spPr bwMode="auto">
              <a:xfrm flipV="1">
                <a:off x="2396878"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8" name="Line 475">
                <a:extLst>
                  <a:ext uri="{FF2B5EF4-FFF2-40B4-BE49-F238E27FC236}">
                    <a16:creationId xmlns:a16="http://schemas.microsoft.com/office/drawing/2014/main" id="{65EF5CC9-3C3A-0277-6932-8A319668B23D}"/>
                  </a:ext>
                </a:extLst>
              </p:cNvPr>
              <p:cNvSpPr>
                <a:spLocks noChangeShapeType="1"/>
              </p:cNvSpPr>
              <p:nvPr/>
            </p:nvSpPr>
            <p:spPr bwMode="auto">
              <a:xfrm flipV="1">
                <a:off x="4711389" y="4346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29" name="Line 475">
                <a:extLst>
                  <a:ext uri="{FF2B5EF4-FFF2-40B4-BE49-F238E27FC236}">
                    <a16:creationId xmlns:a16="http://schemas.microsoft.com/office/drawing/2014/main" id="{86A65D40-47AC-F1F4-9FE3-D4281E292428}"/>
                  </a:ext>
                </a:extLst>
              </p:cNvPr>
              <p:cNvSpPr>
                <a:spLocks noChangeShapeType="1"/>
              </p:cNvSpPr>
              <p:nvPr/>
            </p:nvSpPr>
            <p:spPr bwMode="auto">
              <a:xfrm flipV="1">
                <a:off x="7037441" y="4343625"/>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sp>
            <p:nvSpPr>
              <p:cNvPr id="30" name="Text Box 469">
                <a:extLst>
                  <a:ext uri="{FF2B5EF4-FFF2-40B4-BE49-F238E27FC236}">
                    <a16:creationId xmlns:a16="http://schemas.microsoft.com/office/drawing/2014/main" id="{E82FBBF9-9D57-B693-D8FF-BBBFABFB2D36}"/>
                  </a:ext>
                </a:extLst>
              </p:cNvPr>
              <p:cNvSpPr txBox="1">
                <a:spLocks noChangeArrowheads="1"/>
              </p:cNvSpPr>
              <p:nvPr/>
            </p:nvSpPr>
            <p:spPr bwMode="auto">
              <a:xfrm>
                <a:off x="2449068" y="4411964"/>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20 Days</a:t>
                </a:r>
              </a:p>
            </p:txBody>
          </p:sp>
          <p:sp>
            <p:nvSpPr>
              <p:cNvPr id="31" name="Text Box 471">
                <a:extLst>
                  <a:ext uri="{FF2B5EF4-FFF2-40B4-BE49-F238E27FC236}">
                    <a16:creationId xmlns:a16="http://schemas.microsoft.com/office/drawing/2014/main" id="{88973BE0-B4FF-B417-4267-32D88A2E9159}"/>
                  </a:ext>
                </a:extLst>
              </p:cNvPr>
              <p:cNvSpPr txBox="1">
                <a:spLocks noChangeArrowheads="1"/>
              </p:cNvSpPr>
              <p:nvPr/>
            </p:nvSpPr>
            <p:spPr bwMode="auto">
              <a:xfrm>
                <a:off x="4729834" y="4423805"/>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45 Days</a:t>
                </a:r>
              </a:p>
            </p:txBody>
          </p:sp>
          <p:sp>
            <p:nvSpPr>
              <p:cNvPr id="32" name="Text Box 473">
                <a:extLst>
                  <a:ext uri="{FF2B5EF4-FFF2-40B4-BE49-F238E27FC236}">
                    <a16:creationId xmlns:a16="http://schemas.microsoft.com/office/drawing/2014/main" id="{98712995-BF98-B2A1-F793-2602103AC782}"/>
                  </a:ext>
                </a:extLst>
              </p:cNvPr>
              <p:cNvSpPr txBox="1">
                <a:spLocks noChangeArrowheads="1"/>
              </p:cNvSpPr>
              <p:nvPr/>
            </p:nvSpPr>
            <p:spPr bwMode="auto">
              <a:xfrm>
                <a:off x="7089015" y="4438813"/>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a:latin typeface="Roboto" panose="02000000000000000000" pitchFamily="2" charset="0"/>
                    <a:ea typeface="Roboto" panose="02000000000000000000" pitchFamily="2" charset="0"/>
                  </a:rPr>
                  <a:t>10 Days</a:t>
                </a:r>
              </a:p>
            </p:txBody>
          </p:sp>
          <p:sp>
            <p:nvSpPr>
              <p:cNvPr id="33" name="Text Box 476">
                <a:extLst>
                  <a:ext uri="{FF2B5EF4-FFF2-40B4-BE49-F238E27FC236}">
                    <a16:creationId xmlns:a16="http://schemas.microsoft.com/office/drawing/2014/main" id="{ACF031C6-C802-A906-D574-E5DA2EEB0F0C}"/>
                  </a:ext>
                </a:extLst>
              </p:cNvPr>
              <p:cNvSpPr txBox="1">
                <a:spLocks noChangeArrowheads="1"/>
              </p:cNvSpPr>
              <p:nvPr/>
            </p:nvSpPr>
            <p:spPr bwMode="auto">
              <a:xfrm>
                <a:off x="235612" y="4386417"/>
                <a:ext cx="5619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b="0" dirty="0">
                    <a:latin typeface="Roboto" panose="02000000000000000000" pitchFamily="2" charset="0"/>
                    <a:ea typeface="Roboto" panose="02000000000000000000" pitchFamily="2" charset="0"/>
                  </a:rPr>
                  <a:t>30 Days</a:t>
                </a:r>
              </a:p>
            </p:txBody>
          </p:sp>
        </p:grpSp>
        <p:grpSp>
          <p:nvGrpSpPr>
            <p:cNvPr id="16" name="Group 15">
              <a:extLst>
                <a:ext uri="{FF2B5EF4-FFF2-40B4-BE49-F238E27FC236}">
                  <a16:creationId xmlns:a16="http://schemas.microsoft.com/office/drawing/2014/main" id="{7798D2AE-0E3B-69AA-4976-EB496C7F688C}"/>
                </a:ext>
              </a:extLst>
            </p:cNvPr>
            <p:cNvGrpSpPr/>
            <p:nvPr/>
          </p:nvGrpSpPr>
          <p:grpSpPr>
            <a:xfrm>
              <a:off x="9336947" y="3988677"/>
              <a:ext cx="713488" cy="1291573"/>
              <a:chOff x="9336947" y="3988677"/>
              <a:chExt cx="713488" cy="1291573"/>
            </a:xfrm>
          </p:grpSpPr>
          <p:sp>
            <p:nvSpPr>
              <p:cNvPr id="17" name="Line 475">
                <a:extLst>
                  <a:ext uri="{FF2B5EF4-FFF2-40B4-BE49-F238E27FC236}">
                    <a16:creationId xmlns:a16="http://schemas.microsoft.com/office/drawing/2014/main" id="{EF3D3BC4-4FD1-8766-749E-2550B1A07AA8}"/>
                  </a:ext>
                </a:extLst>
              </p:cNvPr>
              <p:cNvSpPr>
                <a:spLocks noChangeShapeType="1"/>
              </p:cNvSpPr>
              <p:nvPr/>
            </p:nvSpPr>
            <p:spPr bwMode="auto">
              <a:xfrm flipV="1">
                <a:off x="9336947" y="4299140"/>
                <a:ext cx="713488" cy="254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p>
            </p:txBody>
          </p:sp>
          <p:grpSp>
            <p:nvGrpSpPr>
              <p:cNvPr id="18" name="Group 17">
                <a:extLst>
                  <a:ext uri="{FF2B5EF4-FFF2-40B4-BE49-F238E27FC236}">
                    <a16:creationId xmlns:a16="http://schemas.microsoft.com/office/drawing/2014/main" id="{FD4110A0-D36D-BC54-8E9F-0460A0DC6174}"/>
                  </a:ext>
                </a:extLst>
              </p:cNvPr>
              <p:cNvGrpSpPr/>
              <p:nvPr/>
            </p:nvGrpSpPr>
            <p:grpSpPr>
              <a:xfrm>
                <a:off x="9388570" y="3988677"/>
                <a:ext cx="529880" cy="1291573"/>
                <a:chOff x="9388570" y="3988677"/>
                <a:chExt cx="529880" cy="1291573"/>
              </a:xfrm>
            </p:grpSpPr>
            <p:sp>
              <p:nvSpPr>
                <p:cNvPr id="19" name="Rectangle 18">
                  <a:extLst>
                    <a:ext uri="{FF2B5EF4-FFF2-40B4-BE49-F238E27FC236}">
                      <a16:creationId xmlns:a16="http://schemas.microsoft.com/office/drawing/2014/main" id="{93F050A1-580F-CDE1-A791-B6EFC9E53BA3}"/>
                    </a:ext>
                  </a:extLst>
                </p:cNvPr>
                <p:cNvSpPr/>
                <p:nvPr/>
              </p:nvSpPr>
              <p:spPr>
                <a:xfrm>
                  <a:off x="9388571" y="4107405"/>
                  <a:ext cx="529877" cy="42672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Roboto" panose="02000000000000000000" pitchFamily="2" charset="0"/>
                      <a:ea typeface="Roboto" panose="02000000000000000000" pitchFamily="2" charset="0"/>
                    </a:rPr>
                    <a:t>IN</a:t>
                  </a:r>
                </a:p>
              </p:txBody>
            </p:sp>
            <p:sp>
              <p:nvSpPr>
                <p:cNvPr id="20" name="AutoShape 461">
                  <a:extLst>
                    <a:ext uri="{FF2B5EF4-FFF2-40B4-BE49-F238E27FC236}">
                      <a16:creationId xmlns:a16="http://schemas.microsoft.com/office/drawing/2014/main" id="{8AFC7DEC-7386-7C47-D8D8-0109C702AF8E}"/>
                    </a:ext>
                  </a:extLst>
                </p:cNvPr>
                <p:cNvSpPr>
                  <a:spLocks/>
                </p:cNvSpPr>
                <p:nvPr/>
              </p:nvSpPr>
              <p:spPr bwMode="auto">
                <a:xfrm rot="16200000">
                  <a:off x="9630651" y="3804124"/>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1" name="AutoShape 461">
                  <a:extLst>
                    <a:ext uri="{FF2B5EF4-FFF2-40B4-BE49-F238E27FC236}">
                      <a16:creationId xmlns:a16="http://schemas.microsoft.com/office/drawing/2014/main" id="{5A2F40DD-7D51-104E-F9B3-67BD7B487820}"/>
                    </a:ext>
                  </a:extLst>
                </p:cNvPr>
                <p:cNvSpPr>
                  <a:spLocks/>
                </p:cNvSpPr>
                <p:nvPr/>
              </p:nvSpPr>
              <p:spPr bwMode="auto">
                <a:xfrm rot="16200000">
                  <a:off x="9630650" y="3746598"/>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2" name="AutoShape 461">
                  <a:extLst>
                    <a:ext uri="{FF2B5EF4-FFF2-40B4-BE49-F238E27FC236}">
                      <a16:creationId xmlns:a16="http://schemas.microsoft.com/office/drawing/2014/main" id="{2B6C31CE-640E-8B69-8B8F-A0CA0854D2F1}"/>
                    </a:ext>
                  </a:extLst>
                </p:cNvPr>
                <p:cNvSpPr>
                  <a:spLocks/>
                </p:cNvSpPr>
                <p:nvPr/>
              </p:nvSpPr>
              <p:spPr bwMode="auto">
                <a:xfrm rot="16200000">
                  <a:off x="9630651" y="3775361"/>
                  <a:ext cx="45719" cy="529878"/>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endParaRPr>
                </a:p>
              </p:txBody>
            </p:sp>
            <p:sp>
              <p:nvSpPr>
                <p:cNvPr id="23" name="Rectangle 22">
                  <a:extLst>
                    <a:ext uri="{FF2B5EF4-FFF2-40B4-BE49-F238E27FC236}">
                      <a16:creationId xmlns:a16="http://schemas.microsoft.com/office/drawing/2014/main" id="{BE995D4C-9422-BFC5-A8B8-7A87500D2DAB}"/>
                    </a:ext>
                  </a:extLst>
                </p:cNvPr>
                <p:cNvSpPr/>
                <p:nvPr/>
              </p:nvSpPr>
              <p:spPr>
                <a:xfrm>
                  <a:off x="9388570" y="4572678"/>
                  <a:ext cx="529877" cy="70757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Roboto" panose="02000000000000000000" pitchFamily="2" charset="0"/>
                      <a:ea typeface="Roboto" panose="02000000000000000000" pitchFamily="2" charset="0"/>
                    </a:rPr>
                    <a:t>Fed EX</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FIFO</a:t>
                  </a:r>
                </a:p>
                <a:p>
                  <a:pPr algn="ctr"/>
                  <a:endParaRPr lang="en-US" sz="700" dirty="0">
                    <a:solidFill>
                      <a:schemeClr val="tx1"/>
                    </a:solidFill>
                    <a:latin typeface="Roboto" panose="02000000000000000000" pitchFamily="2" charset="0"/>
                    <a:ea typeface="Roboto" panose="02000000000000000000" pitchFamily="2" charset="0"/>
                  </a:endParaRPr>
                </a:p>
                <a:p>
                  <a:pPr algn="ctr"/>
                  <a:r>
                    <a:rPr lang="en-US" sz="700" dirty="0">
                      <a:solidFill>
                        <a:schemeClr val="tx1"/>
                      </a:solidFill>
                      <a:latin typeface="Roboto" panose="02000000000000000000" pitchFamily="2" charset="0"/>
                      <a:ea typeface="Roboto" panose="02000000000000000000" pitchFamily="2" charset="0"/>
                    </a:rPr>
                    <a:t>30 Days</a:t>
                  </a:r>
                </a:p>
              </p:txBody>
            </p:sp>
            <p:cxnSp>
              <p:nvCxnSpPr>
                <p:cNvPr id="24" name="Straight Connector 23">
                  <a:extLst>
                    <a:ext uri="{FF2B5EF4-FFF2-40B4-BE49-F238E27FC236}">
                      <a16:creationId xmlns:a16="http://schemas.microsoft.com/office/drawing/2014/main" id="{3DF92EE8-93C3-A769-90DA-F7765C707E81}"/>
                    </a:ext>
                  </a:extLst>
                </p:cNvPr>
                <p:cNvCxnSpPr/>
                <p:nvPr/>
              </p:nvCxnSpPr>
              <p:spPr>
                <a:xfrm>
                  <a:off x="9388570" y="4798868"/>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F2F6D32-BAD3-487B-EDA6-CAE067466118}"/>
                    </a:ext>
                  </a:extLst>
                </p:cNvPr>
                <p:cNvCxnSpPr/>
                <p:nvPr/>
              </p:nvCxnSpPr>
              <p:spPr>
                <a:xfrm>
                  <a:off x="9388570" y="5036993"/>
                  <a:ext cx="5298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4" name="Line 342">
            <a:extLst>
              <a:ext uri="{FF2B5EF4-FFF2-40B4-BE49-F238E27FC236}">
                <a16:creationId xmlns:a16="http://schemas.microsoft.com/office/drawing/2014/main" id="{7B3D7A7E-575B-EEEF-AFE0-3CF2D9EDCF18}"/>
              </a:ext>
            </a:extLst>
          </p:cNvPr>
          <p:cNvSpPr>
            <a:spLocks noChangeShapeType="1"/>
          </p:cNvSpPr>
          <p:nvPr/>
        </p:nvSpPr>
        <p:spPr bwMode="auto">
          <a:xfrm flipH="1">
            <a:off x="570890" y="2963450"/>
            <a:ext cx="261976" cy="1102604"/>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5" name="Rectangle 382">
            <a:extLst>
              <a:ext uri="{FF2B5EF4-FFF2-40B4-BE49-F238E27FC236}">
                <a16:creationId xmlns:a16="http://schemas.microsoft.com/office/drawing/2014/main" id="{2E3EA745-F87C-C590-7571-AC3414F5F5B4}"/>
              </a:ext>
            </a:extLst>
          </p:cNvPr>
          <p:cNvSpPr>
            <a:spLocks noChangeArrowheads="1"/>
          </p:cNvSpPr>
          <p:nvPr/>
        </p:nvSpPr>
        <p:spPr bwMode="auto">
          <a:xfrm>
            <a:off x="213777" y="2504319"/>
            <a:ext cx="1273105" cy="438838"/>
          </a:xfrm>
          <a:prstGeom prst="rect">
            <a:avLst/>
          </a:prstGeom>
          <a:solidFill>
            <a:schemeClr val="bg1"/>
          </a:solidFill>
          <a:ln w="12700" cap="sq">
            <a:solidFill>
              <a:schemeClr val="tx1"/>
            </a:solidFill>
            <a:miter lim="800000"/>
            <a:headEnd/>
            <a:tailEnd/>
          </a:ln>
        </p:spPr>
        <p:txBody>
          <a:bodyPr wrap="none" anchor="ctr">
            <a:no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400" b="0" dirty="0">
                <a:latin typeface="Roboto" panose="02000000000000000000" pitchFamily="2" charset="0"/>
                <a:ea typeface="Roboto" panose="02000000000000000000" pitchFamily="2" charset="0"/>
              </a:rPr>
              <a:t>Product Road</a:t>
            </a:r>
            <a:br>
              <a:rPr lang="en-US" altLang="en-US" sz="1400" b="0" dirty="0">
                <a:latin typeface="Roboto" panose="02000000000000000000" pitchFamily="2" charset="0"/>
                <a:ea typeface="Roboto" panose="02000000000000000000" pitchFamily="2" charset="0"/>
              </a:rPr>
            </a:br>
            <a:r>
              <a:rPr lang="en-US" altLang="en-US" sz="1400" b="0" dirty="0">
                <a:latin typeface="Roboto" panose="02000000000000000000" pitchFamily="2" charset="0"/>
                <a:ea typeface="Roboto" panose="02000000000000000000" pitchFamily="2" charset="0"/>
              </a:rPr>
              <a:t>Map</a:t>
            </a:r>
          </a:p>
        </p:txBody>
      </p:sp>
      <p:graphicFrame>
        <p:nvGraphicFramePr>
          <p:cNvPr id="86" name="Table 35">
            <a:extLst>
              <a:ext uri="{FF2B5EF4-FFF2-40B4-BE49-F238E27FC236}">
                <a16:creationId xmlns:a16="http://schemas.microsoft.com/office/drawing/2014/main" id="{D9A03BFF-FEB6-B55E-9884-97A0C49087E5}"/>
              </a:ext>
            </a:extLst>
          </p:cNvPr>
          <p:cNvGraphicFramePr>
            <a:graphicFrameLocks noGrp="1"/>
          </p:cNvGraphicFramePr>
          <p:nvPr/>
        </p:nvGraphicFramePr>
        <p:xfrm>
          <a:off x="213776" y="5406344"/>
          <a:ext cx="11775025" cy="853440"/>
        </p:xfrm>
        <a:graphic>
          <a:graphicData uri="http://schemas.openxmlformats.org/drawingml/2006/table">
            <a:tbl>
              <a:tblPr firstRow="1" bandRow="1">
                <a:tableStyleId>{5C22544A-7EE6-4342-B048-85BDC9FD1C3A}</a:tableStyleId>
              </a:tblPr>
              <a:tblGrid>
                <a:gridCol w="728486">
                  <a:extLst>
                    <a:ext uri="{9D8B030D-6E8A-4147-A177-3AD203B41FA5}">
                      <a16:colId xmlns:a16="http://schemas.microsoft.com/office/drawing/2014/main" val="1372596608"/>
                    </a:ext>
                  </a:extLst>
                </a:gridCol>
                <a:gridCol w="1437770">
                  <a:extLst>
                    <a:ext uri="{9D8B030D-6E8A-4147-A177-3AD203B41FA5}">
                      <a16:colId xmlns:a16="http://schemas.microsoft.com/office/drawing/2014/main" val="615229765"/>
                    </a:ext>
                  </a:extLst>
                </a:gridCol>
                <a:gridCol w="759597">
                  <a:extLst>
                    <a:ext uri="{9D8B030D-6E8A-4147-A177-3AD203B41FA5}">
                      <a16:colId xmlns:a16="http://schemas.microsoft.com/office/drawing/2014/main" val="2557979562"/>
                    </a:ext>
                  </a:extLst>
                </a:gridCol>
                <a:gridCol w="1622775">
                  <a:extLst>
                    <a:ext uri="{9D8B030D-6E8A-4147-A177-3AD203B41FA5}">
                      <a16:colId xmlns:a16="http://schemas.microsoft.com/office/drawing/2014/main" val="787602675"/>
                    </a:ext>
                  </a:extLst>
                </a:gridCol>
                <a:gridCol w="702051">
                  <a:extLst>
                    <a:ext uri="{9D8B030D-6E8A-4147-A177-3AD203B41FA5}">
                      <a16:colId xmlns:a16="http://schemas.microsoft.com/office/drawing/2014/main" val="3178614237"/>
                    </a:ext>
                  </a:extLst>
                </a:gridCol>
                <a:gridCol w="1611266">
                  <a:extLst>
                    <a:ext uri="{9D8B030D-6E8A-4147-A177-3AD203B41FA5}">
                      <a16:colId xmlns:a16="http://schemas.microsoft.com/office/drawing/2014/main" val="1682461169"/>
                    </a:ext>
                  </a:extLst>
                </a:gridCol>
                <a:gridCol w="759597">
                  <a:extLst>
                    <a:ext uri="{9D8B030D-6E8A-4147-A177-3AD203B41FA5}">
                      <a16:colId xmlns:a16="http://schemas.microsoft.com/office/drawing/2014/main" val="2511928667"/>
                    </a:ext>
                  </a:extLst>
                </a:gridCol>
                <a:gridCol w="1520054">
                  <a:extLst>
                    <a:ext uri="{9D8B030D-6E8A-4147-A177-3AD203B41FA5}">
                      <a16:colId xmlns:a16="http://schemas.microsoft.com/office/drawing/2014/main" val="2275094827"/>
                    </a:ext>
                  </a:extLst>
                </a:gridCol>
                <a:gridCol w="909214">
                  <a:extLst>
                    <a:ext uri="{9D8B030D-6E8A-4147-A177-3AD203B41FA5}">
                      <a16:colId xmlns:a16="http://schemas.microsoft.com/office/drawing/2014/main" val="2110137505"/>
                    </a:ext>
                  </a:extLst>
                </a:gridCol>
                <a:gridCol w="989777">
                  <a:extLst>
                    <a:ext uri="{9D8B030D-6E8A-4147-A177-3AD203B41FA5}">
                      <a16:colId xmlns:a16="http://schemas.microsoft.com/office/drawing/2014/main" val="1765253048"/>
                    </a:ext>
                  </a:extLst>
                </a:gridCol>
                <a:gridCol w="734438">
                  <a:extLst>
                    <a:ext uri="{9D8B030D-6E8A-4147-A177-3AD203B41FA5}">
                      <a16:colId xmlns:a16="http://schemas.microsoft.com/office/drawing/2014/main" val="544494839"/>
                    </a:ext>
                  </a:extLst>
                </a:gridCol>
              </a:tblGrid>
              <a:tr h="0">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45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25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10 Days</a:t>
                      </a:r>
                    </a:p>
                  </a:txBody>
                  <a:tcPr anchor="ctr">
                    <a:lnL w="12700" cmpd="sng">
                      <a:noFill/>
                    </a:lnL>
                    <a:lnR w="12700" cmpd="sng">
                      <a:noFill/>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30 Days</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60 Days</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LT: 250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1333335"/>
                  </a:ext>
                </a:extLst>
              </a:tr>
              <a:tr h="370840">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2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1 Day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b="0" dirty="0">
                        <a:solidFill>
                          <a:schemeClr val="tx1"/>
                        </a:solidFill>
                        <a:latin typeface="Roboto" panose="02000000000000000000" pitchFamily="2" charset="0"/>
                        <a:ea typeface="Roboto" panose="02000000000000000000" pitchFamily="2"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5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tx1"/>
                          </a:solidFill>
                          <a:latin typeface="Roboto" panose="02000000000000000000" pitchFamily="2" charset="0"/>
                          <a:ea typeface="Roboto" panose="02000000000000000000" pitchFamily="2" charset="0"/>
                        </a:rPr>
                        <a:t>PT: 28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0532919"/>
                  </a:ext>
                </a:extLst>
              </a:tr>
            </a:tbl>
          </a:graphicData>
        </a:graphic>
      </p:graphicFrame>
      <p:sp>
        <p:nvSpPr>
          <p:cNvPr id="87" name="Rectangle 86">
            <a:extLst>
              <a:ext uri="{FF2B5EF4-FFF2-40B4-BE49-F238E27FC236}">
                <a16:creationId xmlns:a16="http://schemas.microsoft.com/office/drawing/2014/main" id="{ACDF9E04-7D2C-FF55-CA51-1753BF696E23}"/>
              </a:ext>
            </a:extLst>
          </p:cNvPr>
          <p:cNvSpPr/>
          <p:nvPr/>
        </p:nvSpPr>
        <p:spPr>
          <a:xfrm>
            <a:off x="1742462" y="269013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Focus Groups</a:t>
            </a:r>
          </a:p>
        </p:txBody>
      </p:sp>
      <p:sp>
        <p:nvSpPr>
          <p:cNvPr id="88" name="Rectangle 87">
            <a:extLst>
              <a:ext uri="{FF2B5EF4-FFF2-40B4-BE49-F238E27FC236}">
                <a16:creationId xmlns:a16="http://schemas.microsoft.com/office/drawing/2014/main" id="{8AC45D60-920D-12FB-94A1-CBF24FE1DF53}"/>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9" name="Rectangle 88">
            <a:extLst>
              <a:ext uri="{FF2B5EF4-FFF2-40B4-BE49-F238E27FC236}">
                <a16:creationId xmlns:a16="http://schemas.microsoft.com/office/drawing/2014/main" id="{6BACD950-6DC9-D8A4-798B-DBD353F3BC25}"/>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90" name="Rectangle 89">
            <a:extLst>
              <a:ext uri="{FF2B5EF4-FFF2-40B4-BE49-F238E27FC236}">
                <a16:creationId xmlns:a16="http://schemas.microsoft.com/office/drawing/2014/main" id="{8F3FA00C-9C58-6046-B615-AC12F55ED59D}"/>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91" name="Rectangle 90">
            <a:extLst>
              <a:ext uri="{FF2B5EF4-FFF2-40B4-BE49-F238E27FC236}">
                <a16:creationId xmlns:a16="http://schemas.microsoft.com/office/drawing/2014/main" id="{B9B0D071-C4F4-0912-BAB3-33246EC30E5C}"/>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92" name="Straight Arrow Connector 91">
            <a:extLst>
              <a:ext uri="{FF2B5EF4-FFF2-40B4-BE49-F238E27FC236}">
                <a16:creationId xmlns:a16="http://schemas.microsoft.com/office/drawing/2014/main" id="{6DF90FEB-D597-DD18-728B-90F82682BC69}"/>
              </a:ext>
            </a:extLst>
          </p:cNvPr>
          <p:cNvCxnSpPr>
            <a:stCxn id="49" idx="0"/>
            <a:endCxn id="88" idx="1"/>
          </p:cNvCxnSpPr>
          <p:nvPr/>
        </p:nvCxnSpPr>
        <p:spPr>
          <a:xfrm flipV="1">
            <a:off x="1598964" y="2514265"/>
            <a:ext cx="3828335" cy="147783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9F3388E2-499B-A8A4-DB98-2A5C41BFA0C4}"/>
              </a:ext>
            </a:extLst>
          </p:cNvPr>
          <p:cNvCxnSpPr>
            <a:stCxn id="88" idx="1"/>
            <a:endCxn id="47" idx="0"/>
          </p:cNvCxnSpPr>
          <p:nvPr/>
        </p:nvCxnSpPr>
        <p:spPr>
          <a:xfrm flipH="1">
            <a:off x="3911745" y="2514265"/>
            <a:ext cx="1515554"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3D8C315A-5EE6-6B96-2C3F-3285FDBDD4F3}"/>
              </a:ext>
            </a:extLst>
          </p:cNvPr>
          <p:cNvCxnSpPr>
            <a:cxnSpLocks/>
            <a:stCxn id="47" idx="0"/>
            <a:endCxn id="88" idx="2"/>
          </p:cNvCxnSpPr>
          <p:nvPr/>
        </p:nvCxnSpPr>
        <p:spPr>
          <a:xfrm flipV="1">
            <a:off x="3911745" y="2839053"/>
            <a:ext cx="2316932" cy="115023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EE5ADE6C-1E64-0A09-D208-0D17975818B0}"/>
              </a:ext>
            </a:extLst>
          </p:cNvPr>
          <p:cNvCxnSpPr>
            <a:cxnSpLocks/>
            <a:stCxn id="88" idx="2"/>
            <a:endCxn id="45" idx="0"/>
          </p:cNvCxnSpPr>
          <p:nvPr/>
        </p:nvCxnSpPr>
        <p:spPr>
          <a:xfrm flipH="1">
            <a:off x="6224524" y="2839053"/>
            <a:ext cx="4153" cy="115091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CC4D4D9F-9FC7-007C-48C8-841090F3289F}"/>
              </a:ext>
            </a:extLst>
          </p:cNvPr>
          <p:cNvCxnSpPr>
            <a:cxnSpLocks/>
            <a:stCxn id="88" idx="2"/>
            <a:endCxn id="43" idx="0"/>
          </p:cNvCxnSpPr>
          <p:nvPr/>
        </p:nvCxnSpPr>
        <p:spPr>
          <a:xfrm>
            <a:off x="6228677" y="2839053"/>
            <a:ext cx="2308623" cy="11522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Straight Arrow Connector 96">
            <a:extLst>
              <a:ext uri="{FF2B5EF4-FFF2-40B4-BE49-F238E27FC236}">
                <a16:creationId xmlns:a16="http://schemas.microsoft.com/office/drawing/2014/main" id="{EDEBD9DF-D718-31C1-3FF7-340B94CC50A4}"/>
              </a:ext>
            </a:extLst>
          </p:cNvPr>
          <p:cNvCxnSpPr>
            <a:cxnSpLocks/>
            <a:endCxn id="88" idx="2"/>
          </p:cNvCxnSpPr>
          <p:nvPr/>
        </p:nvCxnSpPr>
        <p:spPr>
          <a:xfrm flipH="1" flipV="1">
            <a:off x="6228677" y="2839053"/>
            <a:ext cx="318988" cy="116605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CF9EFF9E-6EB7-51CB-49E0-0BB55E769A59}"/>
              </a:ext>
            </a:extLst>
          </p:cNvPr>
          <p:cNvCxnSpPr>
            <a:cxnSpLocks/>
            <a:stCxn id="88" idx="3"/>
            <a:endCxn id="41" idx="0"/>
          </p:cNvCxnSpPr>
          <p:nvPr/>
        </p:nvCxnSpPr>
        <p:spPr>
          <a:xfrm>
            <a:off x="7030054" y="2514265"/>
            <a:ext cx="3820031" cy="147502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887079BC-700A-5550-3CAB-561C73582E88}"/>
              </a:ext>
            </a:extLst>
          </p:cNvPr>
          <p:cNvCxnSpPr>
            <a:stCxn id="49" idx="0"/>
            <a:endCxn id="87" idx="1"/>
          </p:cNvCxnSpPr>
          <p:nvPr/>
        </p:nvCxnSpPr>
        <p:spPr>
          <a:xfrm rot="5400000" flipH="1" flipV="1">
            <a:off x="1182127" y="3431763"/>
            <a:ext cx="977172" cy="143498"/>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F3D38EFB-5F00-581D-C86B-30720C20A4F6}"/>
              </a:ext>
            </a:extLst>
          </p:cNvPr>
          <p:cNvCxnSpPr>
            <a:cxnSpLocks/>
            <a:stCxn id="87" idx="3"/>
            <a:endCxn id="47" idx="1"/>
          </p:cNvCxnSpPr>
          <p:nvPr/>
        </p:nvCxnSpPr>
        <p:spPr>
          <a:xfrm flipH="1">
            <a:off x="3110367" y="3014926"/>
            <a:ext cx="234850" cy="1299154"/>
          </a:xfrm>
          <a:prstGeom prst="bentConnector5">
            <a:avLst>
              <a:gd name="adj1" fmla="val -97339"/>
              <a:gd name="adj2" fmla="val 50000"/>
              <a:gd name="adj3" fmla="val 1973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A4348B04-4825-9F56-1F77-6BD22F9E8281}"/>
              </a:ext>
            </a:extLst>
          </p:cNvPr>
          <p:cNvCxnSpPr>
            <a:cxnSpLocks/>
          </p:cNvCxnSpPr>
          <p:nvPr/>
        </p:nvCxnSpPr>
        <p:spPr>
          <a:xfrm rot="16200000" flipV="1">
            <a:off x="5879983" y="3833457"/>
            <a:ext cx="295432" cy="16236"/>
          </a:xfrm>
          <a:prstGeom prst="bentConnector3">
            <a:avLst>
              <a:gd name="adj1" fmla="val 50645"/>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DDF126CA-FD4A-20F7-3973-7C8171266DD5}"/>
              </a:ext>
            </a:extLst>
          </p:cNvPr>
          <p:cNvCxnSpPr>
            <a:cxnSpLocks/>
            <a:stCxn id="43" idx="0"/>
            <a:endCxn id="90"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309A5E58-6B85-A7A1-D115-A562BA062903}"/>
              </a:ext>
            </a:extLst>
          </p:cNvPr>
          <p:cNvCxnSpPr>
            <a:cxnSpLocks/>
            <a:stCxn id="41" idx="0"/>
            <a:endCxn id="91"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quot;Not Allowed&quot; Symbol 103">
            <a:extLst>
              <a:ext uri="{FF2B5EF4-FFF2-40B4-BE49-F238E27FC236}">
                <a16:creationId xmlns:a16="http://schemas.microsoft.com/office/drawing/2014/main" id="{4D869104-E5F4-16D8-C134-AC0B603EF78F}"/>
              </a:ext>
            </a:extLst>
          </p:cNvPr>
          <p:cNvSpPr/>
          <p:nvPr/>
        </p:nvSpPr>
        <p:spPr>
          <a:xfrm>
            <a:off x="4711389" y="3282169"/>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quot;Not Allowed&quot; Symbol 104">
            <a:extLst>
              <a:ext uri="{FF2B5EF4-FFF2-40B4-BE49-F238E27FC236}">
                <a16:creationId xmlns:a16="http://schemas.microsoft.com/office/drawing/2014/main" id="{E98D8CBB-B3A5-257F-02C3-98D3944A1E44}"/>
              </a:ext>
            </a:extLst>
          </p:cNvPr>
          <p:cNvSpPr/>
          <p:nvPr/>
        </p:nvSpPr>
        <p:spPr>
          <a:xfrm>
            <a:off x="5985900" y="28337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6" name="&quot;Not Allowed&quot; Symbol 105">
            <a:extLst>
              <a:ext uri="{FF2B5EF4-FFF2-40B4-BE49-F238E27FC236}">
                <a16:creationId xmlns:a16="http://schemas.microsoft.com/office/drawing/2014/main" id="{5096D556-5D2B-0109-BA9D-3E994B10D0CF}"/>
              </a:ext>
            </a:extLst>
          </p:cNvPr>
          <p:cNvSpPr/>
          <p:nvPr/>
        </p:nvSpPr>
        <p:spPr>
          <a:xfrm>
            <a:off x="7104923" y="3156597"/>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7" name="&quot;Not Allowed&quot; Symbol 106">
            <a:extLst>
              <a:ext uri="{FF2B5EF4-FFF2-40B4-BE49-F238E27FC236}">
                <a16:creationId xmlns:a16="http://schemas.microsoft.com/office/drawing/2014/main" id="{F0CC49A5-F9DD-BB65-3ECE-A3D42D5AF315}"/>
              </a:ext>
            </a:extLst>
          </p:cNvPr>
          <p:cNvSpPr/>
          <p:nvPr/>
        </p:nvSpPr>
        <p:spPr>
          <a:xfrm>
            <a:off x="6301349" y="3597315"/>
            <a:ext cx="465166" cy="465166"/>
          </a:xfrm>
          <a:prstGeom prst="noSmoking">
            <a:avLst/>
          </a:prstGeom>
          <a:solidFill>
            <a:schemeClr val="accent1"/>
          </a:solidFill>
          <a:ln w="31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9" name="Rectangle 512">
            <a:extLst>
              <a:ext uri="{FF2B5EF4-FFF2-40B4-BE49-F238E27FC236}">
                <a16:creationId xmlns:a16="http://schemas.microsoft.com/office/drawing/2014/main" id="{3BC7A73C-DD28-2D40-2864-788D20692468}"/>
              </a:ext>
            </a:extLst>
          </p:cNvPr>
          <p:cNvSpPr>
            <a:spLocks noChangeArrowheads="1"/>
          </p:cNvSpPr>
          <p:nvPr/>
        </p:nvSpPr>
        <p:spPr bwMode="auto">
          <a:xfrm>
            <a:off x="3089637" y="2315433"/>
            <a:ext cx="1622425" cy="481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050" b="0" dirty="0">
                <a:solidFill>
                  <a:srgbClr val="FF0000"/>
                </a:solidFill>
                <a:latin typeface="Roboto" panose="02000000000000000000" pitchFamily="2" charset="0"/>
                <a:ea typeface="Roboto" panose="02000000000000000000" pitchFamily="2" charset="0"/>
              </a:rPr>
              <a:t>steering committee reviews and approves concept development</a:t>
            </a:r>
          </a:p>
        </p:txBody>
      </p:sp>
      <p:sp>
        <p:nvSpPr>
          <p:cNvPr id="110" name="Explosion: 14 Points 109">
            <a:extLst>
              <a:ext uri="{FF2B5EF4-FFF2-40B4-BE49-F238E27FC236}">
                <a16:creationId xmlns:a16="http://schemas.microsoft.com/office/drawing/2014/main" id="{56635816-CE36-4450-7B65-1563FAABF8D6}"/>
              </a:ext>
            </a:extLst>
          </p:cNvPr>
          <p:cNvSpPr/>
          <p:nvPr/>
        </p:nvSpPr>
        <p:spPr>
          <a:xfrm>
            <a:off x="2946106" y="4837476"/>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1" name="Explosion: 14 Points 110">
            <a:extLst>
              <a:ext uri="{FF2B5EF4-FFF2-40B4-BE49-F238E27FC236}">
                <a16:creationId xmlns:a16="http://schemas.microsoft.com/office/drawing/2014/main" id="{8508D940-5128-8DCA-1722-6298B256FE3A}"/>
              </a:ext>
            </a:extLst>
          </p:cNvPr>
          <p:cNvSpPr/>
          <p:nvPr/>
        </p:nvSpPr>
        <p:spPr>
          <a:xfrm>
            <a:off x="819222" y="493229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2" name="Explosion: 14 Points 111">
            <a:extLst>
              <a:ext uri="{FF2B5EF4-FFF2-40B4-BE49-F238E27FC236}">
                <a16:creationId xmlns:a16="http://schemas.microsoft.com/office/drawing/2014/main" id="{8EE840D7-348C-2B87-2CD9-1CB146E6E649}"/>
              </a:ext>
            </a:extLst>
          </p:cNvPr>
          <p:cNvSpPr/>
          <p:nvPr/>
        </p:nvSpPr>
        <p:spPr>
          <a:xfrm>
            <a:off x="5310378" y="484825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3" name="Explosion: 14 Points 112">
            <a:extLst>
              <a:ext uri="{FF2B5EF4-FFF2-40B4-BE49-F238E27FC236}">
                <a16:creationId xmlns:a16="http://schemas.microsoft.com/office/drawing/2014/main" id="{F8C7D40A-B22C-6A42-299E-1CA86B2C0762}"/>
              </a:ext>
            </a:extLst>
          </p:cNvPr>
          <p:cNvSpPr/>
          <p:nvPr/>
        </p:nvSpPr>
        <p:spPr>
          <a:xfrm>
            <a:off x="7621172" y="4837542"/>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14" name="Explosion: 14 Points 113">
            <a:extLst>
              <a:ext uri="{FF2B5EF4-FFF2-40B4-BE49-F238E27FC236}">
                <a16:creationId xmlns:a16="http://schemas.microsoft.com/office/drawing/2014/main" id="{3BD32D8C-609B-8A48-19F2-6511FC8CE4E6}"/>
              </a:ext>
            </a:extLst>
          </p:cNvPr>
          <p:cNvSpPr/>
          <p:nvPr/>
        </p:nvSpPr>
        <p:spPr>
          <a:xfrm>
            <a:off x="9950957" y="4812074"/>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cxnSp>
        <p:nvCxnSpPr>
          <p:cNvPr id="115" name="Straight Arrow Connector 114">
            <a:extLst>
              <a:ext uri="{FF2B5EF4-FFF2-40B4-BE49-F238E27FC236}">
                <a16:creationId xmlns:a16="http://schemas.microsoft.com/office/drawing/2014/main" id="{A543C817-BD72-FF6F-4391-169E356F5471}"/>
              </a:ext>
            </a:extLst>
          </p:cNvPr>
          <p:cNvCxnSpPr>
            <a:cxnSpLocks/>
            <a:stCxn id="120" idx="1"/>
            <a:endCxn id="111" idx="2"/>
          </p:cNvCxnSpPr>
          <p:nvPr/>
        </p:nvCxnSpPr>
        <p:spPr>
          <a:xfrm flipH="1" flipV="1">
            <a:off x="1389027" y="5525000"/>
            <a:ext cx="3306641" cy="55242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008F466-10E4-9DBA-60CE-D8BCA7754653}"/>
              </a:ext>
            </a:extLst>
          </p:cNvPr>
          <p:cNvCxnSpPr>
            <a:cxnSpLocks/>
            <a:stCxn id="120" idx="0"/>
            <a:endCxn id="110" idx="2"/>
          </p:cNvCxnSpPr>
          <p:nvPr/>
        </p:nvCxnSpPr>
        <p:spPr>
          <a:xfrm flipH="1" flipV="1">
            <a:off x="3515911" y="5430186"/>
            <a:ext cx="1595429" cy="43949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8738518C-CD61-2D38-3D39-7DF0D1616504}"/>
              </a:ext>
            </a:extLst>
          </p:cNvPr>
          <p:cNvCxnSpPr>
            <a:cxnSpLocks/>
            <a:stCxn id="120" idx="0"/>
            <a:endCxn id="112" idx="2"/>
          </p:cNvCxnSpPr>
          <p:nvPr/>
        </p:nvCxnSpPr>
        <p:spPr>
          <a:xfrm flipV="1">
            <a:off x="5111340" y="5440962"/>
            <a:ext cx="768843" cy="42871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01D7D9A-A65A-ED5A-D06D-6A48B590A398}"/>
              </a:ext>
            </a:extLst>
          </p:cNvPr>
          <p:cNvCxnSpPr>
            <a:cxnSpLocks/>
            <a:stCxn id="120" idx="3"/>
            <a:endCxn id="113" idx="1"/>
          </p:cNvCxnSpPr>
          <p:nvPr/>
        </p:nvCxnSpPr>
        <p:spPr>
          <a:xfrm flipV="1">
            <a:off x="5527012" y="5242612"/>
            <a:ext cx="2094160" cy="834814"/>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0A300F6B-C2F7-06B5-410A-FA6A9AD8B7C5}"/>
              </a:ext>
            </a:extLst>
          </p:cNvPr>
          <p:cNvCxnSpPr>
            <a:cxnSpLocks/>
            <a:stCxn id="120" idx="3"/>
            <a:endCxn id="114" idx="1"/>
          </p:cNvCxnSpPr>
          <p:nvPr/>
        </p:nvCxnSpPr>
        <p:spPr>
          <a:xfrm flipV="1">
            <a:off x="5527012" y="5217144"/>
            <a:ext cx="4423945" cy="86028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52E5282B-FD02-2B51-7EAD-C7E3000B6C94}"/>
              </a:ext>
            </a:extLst>
          </p:cNvPr>
          <p:cNvSpPr txBox="1"/>
          <p:nvPr/>
        </p:nvSpPr>
        <p:spPr>
          <a:xfrm>
            <a:off x="4695668" y="5869677"/>
            <a:ext cx="831344" cy="415498"/>
          </a:xfrm>
          <a:prstGeom prst="rect">
            <a:avLst/>
          </a:prstGeom>
          <a:noFill/>
          <a:ln>
            <a:noFill/>
          </a:ln>
        </p:spPr>
        <p:txBody>
          <a:bodyPr wrap="square" rtlCol="0">
            <a:spAutoFit/>
          </a:bodyPr>
          <a:lstStyle/>
          <a:p>
            <a:r>
              <a:rPr lang="en-US" sz="1050" b="1" dirty="0">
                <a:solidFill>
                  <a:schemeClr val="accent1"/>
                </a:solidFill>
                <a:latin typeface="Roboto" panose="02000000000000000000" pitchFamily="2" charset="0"/>
                <a:ea typeface="Roboto" panose="02000000000000000000" pitchFamily="2" charset="0"/>
              </a:rPr>
              <a:t>Implement Poke Yoke</a:t>
            </a:r>
          </a:p>
        </p:txBody>
      </p:sp>
      <p:sp>
        <p:nvSpPr>
          <p:cNvPr id="128" name="Explosion: 14 Points 127">
            <a:extLst>
              <a:ext uri="{FF2B5EF4-FFF2-40B4-BE49-F238E27FC236}">
                <a16:creationId xmlns:a16="http://schemas.microsoft.com/office/drawing/2014/main" id="{0C18CC5C-D4D4-F4C5-50E6-5F7F46E03F69}"/>
              </a:ext>
            </a:extLst>
          </p:cNvPr>
          <p:cNvSpPr/>
          <p:nvPr/>
        </p:nvSpPr>
        <p:spPr>
          <a:xfrm>
            <a:off x="1552589" y="4434741"/>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Explosion: 14 Points 128">
            <a:extLst>
              <a:ext uri="{FF2B5EF4-FFF2-40B4-BE49-F238E27FC236}">
                <a16:creationId xmlns:a16="http://schemas.microsoft.com/office/drawing/2014/main" id="{6E226A5A-CF67-E9C0-BC00-E0A4024A0D29}"/>
              </a:ext>
            </a:extLst>
          </p:cNvPr>
          <p:cNvSpPr/>
          <p:nvPr/>
        </p:nvSpPr>
        <p:spPr>
          <a:xfrm>
            <a:off x="6078936" y="44929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29">
            <a:extLst>
              <a:ext uri="{FF2B5EF4-FFF2-40B4-BE49-F238E27FC236}">
                <a16:creationId xmlns:a16="http://schemas.microsoft.com/office/drawing/2014/main" id="{B5554651-6971-E1A5-FFB1-1DC016728F0E}"/>
              </a:ext>
            </a:extLst>
          </p:cNvPr>
          <p:cNvSpPr/>
          <p:nvPr/>
        </p:nvSpPr>
        <p:spPr>
          <a:xfrm>
            <a:off x="10721793" y="445886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TextBox 130">
            <a:extLst>
              <a:ext uri="{FF2B5EF4-FFF2-40B4-BE49-F238E27FC236}">
                <a16:creationId xmlns:a16="http://schemas.microsoft.com/office/drawing/2014/main" id="{2E1948AC-70F9-E2A7-5238-5CEC48C6A888}"/>
              </a:ext>
            </a:extLst>
          </p:cNvPr>
          <p:cNvSpPr txBox="1"/>
          <p:nvPr/>
        </p:nvSpPr>
        <p:spPr>
          <a:xfrm>
            <a:off x="7170964" y="5855393"/>
            <a:ext cx="831345" cy="577081"/>
          </a:xfrm>
          <a:prstGeom prst="rect">
            <a:avLst/>
          </a:prstGeom>
          <a:noFill/>
        </p:spPr>
        <p:txBody>
          <a:bodyPr wrap="square" rtlCol="0">
            <a:spAutoFit/>
          </a:bodyPr>
          <a:lstStyle/>
          <a:p>
            <a:pPr algn="ctr"/>
            <a:r>
              <a:rPr lang="en-US" sz="1050" b="1" dirty="0">
                <a:solidFill>
                  <a:schemeClr val="accent1"/>
                </a:solidFill>
                <a:latin typeface="Roboto" panose="02000000000000000000" pitchFamily="2" charset="0"/>
                <a:ea typeface="Roboto" panose="02000000000000000000" pitchFamily="2" charset="0"/>
              </a:rPr>
              <a:t>Implement Standard Work</a:t>
            </a:r>
          </a:p>
        </p:txBody>
      </p:sp>
      <p:cxnSp>
        <p:nvCxnSpPr>
          <p:cNvPr id="132" name="Straight Arrow Connector 131">
            <a:extLst>
              <a:ext uri="{FF2B5EF4-FFF2-40B4-BE49-F238E27FC236}">
                <a16:creationId xmlns:a16="http://schemas.microsoft.com/office/drawing/2014/main" id="{CFB6B001-E09E-6BC2-8932-F45BB397F764}"/>
              </a:ext>
            </a:extLst>
          </p:cNvPr>
          <p:cNvCxnSpPr>
            <a:cxnSpLocks/>
            <a:stCxn id="131" idx="1"/>
            <a:endCxn id="128" idx="2"/>
          </p:cNvCxnSpPr>
          <p:nvPr/>
        </p:nvCxnSpPr>
        <p:spPr>
          <a:xfrm flipH="1" flipV="1">
            <a:off x="2122394" y="5027451"/>
            <a:ext cx="5048570"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80531C10-849F-C4ED-E353-46A2F48F0FEA}"/>
              </a:ext>
            </a:extLst>
          </p:cNvPr>
          <p:cNvCxnSpPr>
            <a:cxnSpLocks/>
            <a:stCxn id="131" idx="0"/>
            <a:endCxn id="129" idx="2"/>
          </p:cNvCxnSpPr>
          <p:nvPr/>
        </p:nvCxnSpPr>
        <p:spPr>
          <a:xfrm flipH="1" flipV="1">
            <a:off x="6648741" y="5085675"/>
            <a:ext cx="937896" cy="7697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1C689AD7-CDFA-05B2-4D73-EE5C61DA02C4}"/>
              </a:ext>
            </a:extLst>
          </p:cNvPr>
          <p:cNvCxnSpPr>
            <a:cxnSpLocks/>
            <a:stCxn id="131" idx="3"/>
          </p:cNvCxnSpPr>
          <p:nvPr/>
        </p:nvCxnSpPr>
        <p:spPr>
          <a:xfrm flipV="1">
            <a:off x="8002309" y="5027451"/>
            <a:ext cx="3370469" cy="111648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3" name="Explosion: 14 Points 52">
            <a:extLst>
              <a:ext uri="{FF2B5EF4-FFF2-40B4-BE49-F238E27FC236}">
                <a16:creationId xmlns:a16="http://schemas.microsoft.com/office/drawing/2014/main" id="{7499E691-BFB0-81D6-A671-70E1A30D2223}"/>
              </a:ext>
            </a:extLst>
          </p:cNvPr>
          <p:cNvSpPr/>
          <p:nvPr/>
        </p:nvSpPr>
        <p:spPr>
          <a:xfrm>
            <a:off x="4506581" y="4286383"/>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Explosion: 14 Points 121">
            <a:extLst>
              <a:ext uri="{FF2B5EF4-FFF2-40B4-BE49-F238E27FC236}">
                <a16:creationId xmlns:a16="http://schemas.microsoft.com/office/drawing/2014/main" id="{18448BB3-99DF-64B8-2D6B-5DA91C59E5D0}"/>
              </a:ext>
            </a:extLst>
          </p:cNvPr>
          <p:cNvSpPr/>
          <p:nvPr/>
        </p:nvSpPr>
        <p:spPr>
          <a:xfrm>
            <a:off x="6856718" y="4288188"/>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Explosion: 14 Points 122">
            <a:extLst>
              <a:ext uri="{FF2B5EF4-FFF2-40B4-BE49-F238E27FC236}">
                <a16:creationId xmlns:a16="http://schemas.microsoft.com/office/drawing/2014/main" id="{B52ABEF8-8D8A-0792-F499-D8BF574BB4DE}"/>
              </a:ext>
            </a:extLst>
          </p:cNvPr>
          <p:cNvSpPr/>
          <p:nvPr/>
        </p:nvSpPr>
        <p:spPr>
          <a:xfrm>
            <a:off x="9021072" y="484095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a:extLst>
              <a:ext uri="{FF2B5EF4-FFF2-40B4-BE49-F238E27FC236}">
                <a16:creationId xmlns:a16="http://schemas.microsoft.com/office/drawing/2014/main" id="{F6154363-3A30-0228-F81E-153223E17E28}"/>
              </a:ext>
            </a:extLst>
          </p:cNvPr>
          <p:cNvSpPr txBox="1"/>
          <p:nvPr/>
        </p:nvSpPr>
        <p:spPr>
          <a:xfrm>
            <a:off x="9382616" y="5855683"/>
            <a:ext cx="831345" cy="610745"/>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Visually Managed Queue</a:t>
            </a:r>
            <a:endParaRPr lang="en-US" sz="600" dirty="0">
              <a:solidFill>
                <a:schemeClr val="accent1"/>
              </a:solidFill>
              <a:effectLst/>
              <a:latin typeface="Roboto" panose="02000000000000000000" pitchFamily="2" charset="0"/>
              <a:ea typeface="Roboto" panose="02000000000000000000" pitchFamily="2" charset="0"/>
            </a:endParaRPr>
          </a:p>
        </p:txBody>
      </p:sp>
      <p:cxnSp>
        <p:nvCxnSpPr>
          <p:cNvPr id="125" name="Straight Arrow Connector 124">
            <a:extLst>
              <a:ext uri="{FF2B5EF4-FFF2-40B4-BE49-F238E27FC236}">
                <a16:creationId xmlns:a16="http://schemas.microsoft.com/office/drawing/2014/main" id="{3E3FFF45-0265-E299-2B3E-BD67706510BE}"/>
              </a:ext>
            </a:extLst>
          </p:cNvPr>
          <p:cNvCxnSpPr>
            <a:cxnSpLocks/>
            <a:stCxn id="124" idx="1"/>
            <a:endCxn id="53" idx="2"/>
          </p:cNvCxnSpPr>
          <p:nvPr/>
        </p:nvCxnSpPr>
        <p:spPr>
          <a:xfrm flipH="1" flipV="1">
            <a:off x="5076386" y="4879093"/>
            <a:ext cx="4306230" cy="128196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5FE291A8-64D5-798E-0E1A-EBC423DCC40B}"/>
              </a:ext>
            </a:extLst>
          </p:cNvPr>
          <p:cNvCxnSpPr>
            <a:cxnSpLocks/>
            <a:endCxn id="122" idx="2"/>
          </p:cNvCxnSpPr>
          <p:nvPr/>
        </p:nvCxnSpPr>
        <p:spPr>
          <a:xfrm flipH="1" flipV="1">
            <a:off x="7426523" y="4880898"/>
            <a:ext cx="1910424" cy="126303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10C9A969-E243-19C3-2DB8-F0155B3C700C}"/>
              </a:ext>
            </a:extLst>
          </p:cNvPr>
          <p:cNvCxnSpPr>
            <a:cxnSpLocks/>
            <a:stCxn id="124" idx="0"/>
            <a:endCxn id="123" idx="2"/>
          </p:cNvCxnSpPr>
          <p:nvPr/>
        </p:nvCxnSpPr>
        <p:spPr>
          <a:xfrm flipH="1" flipV="1">
            <a:off x="9590877" y="5433660"/>
            <a:ext cx="207412" cy="42202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1" name="Explosion: 14 Points 120">
            <a:extLst>
              <a:ext uri="{FF2B5EF4-FFF2-40B4-BE49-F238E27FC236}">
                <a16:creationId xmlns:a16="http://schemas.microsoft.com/office/drawing/2014/main" id="{E7A2A11D-DA9E-15A0-CF99-3A7EF3662B6F}"/>
              </a:ext>
            </a:extLst>
          </p:cNvPr>
          <p:cNvSpPr/>
          <p:nvPr/>
        </p:nvSpPr>
        <p:spPr>
          <a:xfrm>
            <a:off x="-16545" y="4241075"/>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Explosion: 14 Points 125">
            <a:extLst>
              <a:ext uri="{FF2B5EF4-FFF2-40B4-BE49-F238E27FC236}">
                <a16:creationId xmlns:a16="http://schemas.microsoft.com/office/drawing/2014/main" id="{598786DF-A6B0-013C-ECD3-786FAB68B77E}"/>
              </a:ext>
            </a:extLst>
          </p:cNvPr>
          <p:cNvSpPr/>
          <p:nvPr/>
        </p:nvSpPr>
        <p:spPr>
          <a:xfrm>
            <a:off x="2274569" y="4218520"/>
            <a:ext cx="1059919" cy="679468"/>
          </a:xfrm>
          <a:prstGeom prst="irregularSeal2">
            <a:avLst/>
          </a:prstGeom>
          <a:noFill/>
          <a:ln w="349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TextBox 126">
            <a:extLst>
              <a:ext uri="{FF2B5EF4-FFF2-40B4-BE49-F238E27FC236}">
                <a16:creationId xmlns:a16="http://schemas.microsoft.com/office/drawing/2014/main" id="{CABEC6B3-4C0B-F0FC-A440-9949E254A32E}"/>
              </a:ext>
            </a:extLst>
          </p:cNvPr>
          <p:cNvSpPr txBox="1"/>
          <p:nvPr/>
        </p:nvSpPr>
        <p:spPr>
          <a:xfrm>
            <a:off x="2320001" y="5833706"/>
            <a:ext cx="917231" cy="481478"/>
          </a:xfrm>
          <a:prstGeom prst="rect">
            <a:avLst/>
          </a:prstGeom>
          <a:noFill/>
        </p:spPr>
        <p:txBody>
          <a:bodyPr wrap="square" rtlCol="0">
            <a:spAutoFit/>
          </a:bodyPr>
          <a:lstStyle/>
          <a:p>
            <a:pPr algn="ctr" rtl="0" eaLnBrk="0" fontAlgn="base" hangingPunct="0">
              <a:lnSpc>
                <a:spcPct val="80000"/>
              </a:lnSpc>
              <a:spcBef>
                <a:spcPts val="0"/>
              </a:spcBef>
              <a:spcAft>
                <a:spcPts val="0"/>
              </a:spcAft>
            </a:pPr>
            <a:r>
              <a:rPr lang="en-US" sz="1050" b="1" kern="1200" dirty="0">
                <a:solidFill>
                  <a:schemeClr val="accent1"/>
                </a:solidFill>
                <a:effectLst/>
                <a:latin typeface="Roboto" panose="02000000000000000000" pitchFamily="2" charset="0"/>
                <a:ea typeface="Roboto" panose="02000000000000000000" pitchFamily="2" charset="0"/>
              </a:rPr>
              <a:t>Implement Workflow Scheduling</a:t>
            </a:r>
          </a:p>
        </p:txBody>
      </p:sp>
      <p:cxnSp>
        <p:nvCxnSpPr>
          <p:cNvPr id="136" name="Straight Arrow Connector 135">
            <a:extLst>
              <a:ext uri="{FF2B5EF4-FFF2-40B4-BE49-F238E27FC236}">
                <a16:creationId xmlns:a16="http://schemas.microsoft.com/office/drawing/2014/main" id="{06DBD900-9DFA-16F6-537B-A4B624CF859E}"/>
              </a:ext>
            </a:extLst>
          </p:cNvPr>
          <p:cNvCxnSpPr>
            <a:cxnSpLocks/>
            <a:stCxn id="127" idx="1"/>
            <a:endCxn id="121" idx="2"/>
          </p:cNvCxnSpPr>
          <p:nvPr/>
        </p:nvCxnSpPr>
        <p:spPr>
          <a:xfrm flipH="1" flipV="1">
            <a:off x="553260" y="4833785"/>
            <a:ext cx="1766741" cy="1240660"/>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AF26DAA6-9581-EFF4-2191-0327ABE39BA2}"/>
              </a:ext>
            </a:extLst>
          </p:cNvPr>
          <p:cNvCxnSpPr>
            <a:cxnSpLocks/>
            <a:stCxn id="127" idx="0"/>
            <a:endCxn id="126" idx="2"/>
          </p:cNvCxnSpPr>
          <p:nvPr/>
        </p:nvCxnSpPr>
        <p:spPr>
          <a:xfrm flipV="1">
            <a:off x="2778617" y="4811230"/>
            <a:ext cx="65757" cy="102247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83B4AF1A-EB3F-A21F-84B6-85F5C821C32E}"/>
              </a:ext>
            </a:extLst>
          </p:cNvPr>
          <p:cNvCxnSpPr>
            <a:cxnSpLocks/>
            <a:stCxn id="127" idx="0"/>
            <a:endCxn id="53" idx="2"/>
          </p:cNvCxnSpPr>
          <p:nvPr/>
        </p:nvCxnSpPr>
        <p:spPr>
          <a:xfrm flipV="1">
            <a:off x="2778617" y="4879093"/>
            <a:ext cx="2297769" cy="954613"/>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8EAF934E-2EC0-BB12-F207-C2F077383700}"/>
              </a:ext>
            </a:extLst>
          </p:cNvPr>
          <p:cNvCxnSpPr>
            <a:cxnSpLocks/>
            <a:stCxn id="127" idx="3"/>
            <a:endCxn id="122" idx="2"/>
          </p:cNvCxnSpPr>
          <p:nvPr/>
        </p:nvCxnSpPr>
        <p:spPr>
          <a:xfrm flipV="1">
            <a:off x="3237232" y="4880898"/>
            <a:ext cx="4189291" cy="119354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9" name="Text Box 526">
            <a:extLst>
              <a:ext uri="{FF2B5EF4-FFF2-40B4-BE49-F238E27FC236}">
                <a16:creationId xmlns:a16="http://schemas.microsoft.com/office/drawing/2014/main" id="{8F5D22F0-63BF-95A9-E9FF-AAF455527537}"/>
              </a:ext>
            </a:extLst>
          </p:cNvPr>
          <p:cNvSpPr txBox="1">
            <a:spLocks noChangeArrowheads="1"/>
          </p:cNvSpPr>
          <p:nvPr/>
        </p:nvSpPr>
        <p:spPr bwMode="auto">
          <a:xfrm>
            <a:off x="42899" y="4992049"/>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2</a:t>
            </a:r>
          </a:p>
        </p:txBody>
      </p:sp>
      <p:sp>
        <p:nvSpPr>
          <p:cNvPr id="141" name="Text Box 527">
            <a:extLst>
              <a:ext uri="{FF2B5EF4-FFF2-40B4-BE49-F238E27FC236}">
                <a16:creationId xmlns:a16="http://schemas.microsoft.com/office/drawing/2014/main" id="{ED1F6B7B-604C-EE02-7BB3-94DECF3A1227}"/>
              </a:ext>
            </a:extLst>
          </p:cNvPr>
          <p:cNvSpPr txBox="1">
            <a:spLocks noChangeArrowheads="1"/>
          </p:cNvSpPr>
          <p:nvPr/>
        </p:nvSpPr>
        <p:spPr bwMode="auto">
          <a:xfrm>
            <a:off x="1426858" y="264152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a:t>
            </a:r>
          </a:p>
        </p:txBody>
      </p:sp>
      <p:sp>
        <p:nvSpPr>
          <p:cNvPr id="142" name="Text Box 528">
            <a:extLst>
              <a:ext uri="{FF2B5EF4-FFF2-40B4-BE49-F238E27FC236}">
                <a16:creationId xmlns:a16="http://schemas.microsoft.com/office/drawing/2014/main" id="{8628B109-D51F-22B4-324E-109639B9E36C}"/>
              </a:ext>
            </a:extLst>
          </p:cNvPr>
          <p:cNvSpPr txBox="1">
            <a:spLocks noChangeArrowheads="1"/>
          </p:cNvSpPr>
          <p:nvPr/>
        </p:nvSpPr>
        <p:spPr bwMode="auto">
          <a:xfrm>
            <a:off x="809838" y="556981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3</a:t>
            </a:r>
          </a:p>
        </p:txBody>
      </p:sp>
      <p:sp>
        <p:nvSpPr>
          <p:cNvPr id="144" name="Text Box 529">
            <a:extLst>
              <a:ext uri="{FF2B5EF4-FFF2-40B4-BE49-F238E27FC236}">
                <a16:creationId xmlns:a16="http://schemas.microsoft.com/office/drawing/2014/main" id="{1D2065E1-FCBC-856E-FF66-3DA37608B739}"/>
              </a:ext>
            </a:extLst>
          </p:cNvPr>
          <p:cNvSpPr txBox="1">
            <a:spLocks noChangeArrowheads="1"/>
          </p:cNvSpPr>
          <p:nvPr/>
        </p:nvSpPr>
        <p:spPr bwMode="auto">
          <a:xfrm>
            <a:off x="1872980" y="5396400"/>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4</a:t>
            </a:r>
          </a:p>
        </p:txBody>
      </p:sp>
      <p:sp>
        <p:nvSpPr>
          <p:cNvPr id="145" name="Text Box 530">
            <a:extLst>
              <a:ext uri="{FF2B5EF4-FFF2-40B4-BE49-F238E27FC236}">
                <a16:creationId xmlns:a16="http://schemas.microsoft.com/office/drawing/2014/main" id="{519D836F-0E65-6744-6C03-1E2EBA1BEDE9}"/>
              </a:ext>
            </a:extLst>
          </p:cNvPr>
          <p:cNvSpPr txBox="1">
            <a:spLocks noChangeArrowheads="1"/>
          </p:cNvSpPr>
          <p:nvPr/>
        </p:nvSpPr>
        <p:spPr bwMode="auto">
          <a:xfrm>
            <a:off x="2525960" y="4826051"/>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a:solidFill>
                  <a:schemeClr val="accent1"/>
                </a:solidFill>
                <a:latin typeface="Roboto" panose="02000000000000000000" pitchFamily="2" charset="0"/>
                <a:ea typeface="Roboto" panose="02000000000000000000" pitchFamily="2" charset="0"/>
              </a:rPr>
              <a:t>5</a:t>
            </a:r>
          </a:p>
        </p:txBody>
      </p:sp>
      <p:sp>
        <p:nvSpPr>
          <p:cNvPr id="147" name="Text Box 531">
            <a:extLst>
              <a:ext uri="{FF2B5EF4-FFF2-40B4-BE49-F238E27FC236}">
                <a16:creationId xmlns:a16="http://schemas.microsoft.com/office/drawing/2014/main" id="{509CA5D4-0B22-BB5E-31F3-602F63B90709}"/>
              </a:ext>
            </a:extLst>
          </p:cNvPr>
          <p:cNvSpPr txBox="1">
            <a:spLocks noChangeArrowheads="1"/>
          </p:cNvSpPr>
          <p:nvPr/>
        </p:nvSpPr>
        <p:spPr bwMode="auto">
          <a:xfrm>
            <a:off x="3974970" y="4798599"/>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6</a:t>
            </a:r>
          </a:p>
        </p:txBody>
      </p:sp>
      <p:sp>
        <p:nvSpPr>
          <p:cNvPr id="148" name="Text Box 532">
            <a:extLst>
              <a:ext uri="{FF2B5EF4-FFF2-40B4-BE49-F238E27FC236}">
                <a16:creationId xmlns:a16="http://schemas.microsoft.com/office/drawing/2014/main" id="{9A2E6672-20D2-EF4F-BBBE-8379F72B2892}"/>
              </a:ext>
            </a:extLst>
          </p:cNvPr>
          <p:cNvSpPr txBox="1">
            <a:spLocks noChangeArrowheads="1"/>
          </p:cNvSpPr>
          <p:nvPr/>
        </p:nvSpPr>
        <p:spPr bwMode="auto">
          <a:xfrm>
            <a:off x="4855913" y="4992807"/>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7</a:t>
            </a:r>
          </a:p>
        </p:txBody>
      </p:sp>
      <p:sp>
        <p:nvSpPr>
          <p:cNvPr id="149" name="Text Box 532">
            <a:extLst>
              <a:ext uri="{FF2B5EF4-FFF2-40B4-BE49-F238E27FC236}">
                <a16:creationId xmlns:a16="http://schemas.microsoft.com/office/drawing/2014/main" id="{DE4E3130-7507-5612-EBB9-07BCA5473F38}"/>
              </a:ext>
            </a:extLst>
          </p:cNvPr>
          <p:cNvSpPr txBox="1">
            <a:spLocks noChangeArrowheads="1"/>
          </p:cNvSpPr>
          <p:nvPr/>
        </p:nvSpPr>
        <p:spPr bwMode="auto">
          <a:xfrm>
            <a:off x="5032750" y="531782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8</a:t>
            </a:r>
          </a:p>
        </p:txBody>
      </p:sp>
      <p:sp>
        <p:nvSpPr>
          <p:cNvPr id="150" name="Text Box 532">
            <a:extLst>
              <a:ext uri="{FF2B5EF4-FFF2-40B4-BE49-F238E27FC236}">
                <a16:creationId xmlns:a16="http://schemas.microsoft.com/office/drawing/2014/main" id="{D5B6CB94-39AE-E66A-4A72-DF2D2F547A18}"/>
              </a:ext>
            </a:extLst>
          </p:cNvPr>
          <p:cNvSpPr txBox="1">
            <a:spLocks noChangeArrowheads="1"/>
          </p:cNvSpPr>
          <p:nvPr/>
        </p:nvSpPr>
        <p:spPr bwMode="auto">
          <a:xfrm>
            <a:off x="6291330" y="5309383"/>
            <a:ext cx="272832"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9</a:t>
            </a:r>
          </a:p>
        </p:txBody>
      </p:sp>
      <p:sp>
        <p:nvSpPr>
          <p:cNvPr id="151" name="Text Box 532">
            <a:extLst>
              <a:ext uri="{FF2B5EF4-FFF2-40B4-BE49-F238E27FC236}">
                <a16:creationId xmlns:a16="http://schemas.microsoft.com/office/drawing/2014/main" id="{AD38232C-98BF-318C-B317-AE80ED9C2A22}"/>
              </a:ext>
            </a:extLst>
          </p:cNvPr>
          <p:cNvSpPr txBox="1">
            <a:spLocks noChangeArrowheads="1"/>
          </p:cNvSpPr>
          <p:nvPr/>
        </p:nvSpPr>
        <p:spPr bwMode="auto">
          <a:xfrm>
            <a:off x="7094583" y="5040572"/>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10</a:t>
            </a:r>
          </a:p>
        </p:txBody>
      </p:sp>
      <p:sp>
        <p:nvSpPr>
          <p:cNvPr id="152" name="Text Box 532">
            <a:extLst>
              <a:ext uri="{FF2B5EF4-FFF2-40B4-BE49-F238E27FC236}">
                <a16:creationId xmlns:a16="http://schemas.microsoft.com/office/drawing/2014/main" id="{74F1D042-032B-6A94-D9B7-E5EF6198D015}"/>
              </a:ext>
            </a:extLst>
          </p:cNvPr>
          <p:cNvSpPr txBox="1">
            <a:spLocks noChangeArrowheads="1"/>
          </p:cNvSpPr>
          <p:nvPr/>
        </p:nvSpPr>
        <p:spPr bwMode="auto">
          <a:xfrm>
            <a:off x="7382737" y="5363097"/>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11</a:t>
            </a:r>
          </a:p>
        </p:txBody>
      </p:sp>
      <p:sp>
        <p:nvSpPr>
          <p:cNvPr id="153" name="Text Box 532">
            <a:extLst>
              <a:ext uri="{FF2B5EF4-FFF2-40B4-BE49-F238E27FC236}">
                <a16:creationId xmlns:a16="http://schemas.microsoft.com/office/drawing/2014/main" id="{1FDFF5E7-52A6-D993-CD6A-6C31622CF94B}"/>
              </a:ext>
            </a:extLst>
          </p:cNvPr>
          <p:cNvSpPr txBox="1">
            <a:spLocks noChangeArrowheads="1"/>
          </p:cNvSpPr>
          <p:nvPr/>
        </p:nvSpPr>
        <p:spPr bwMode="auto">
          <a:xfrm>
            <a:off x="9004352" y="5493899"/>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12</a:t>
            </a:r>
          </a:p>
        </p:txBody>
      </p:sp>
      <p:sp>
        <p:nvSpPr>
          <p:cNvPr id="154" name="Text Box 532">
            <a:extLst>
              <a:ext uri="{FF2B5EF4-FFF2-40B4-BE49-F238E27FC236}">
                <a16:creationId xmlns:a16="http://schemas.microsoft.com/office/drawing/2014/main" id="{F239ED85-E1C6-311A-E34F-9B461FDA47DB}"/>
              </a:ext>
            </a:extLst>
          </p:cNvPr>
          <p:cNvSpPr txBox="1">
            <a:spLocks noChangeArrowheads="1"/>
          </p:cNvSpPr>
          <p:nvPr/>
        </p:nvSpPr>
        <p:spPr bwMode="auto">
          <a:xfrm>
            <a:off x="10069165" y="5504709"/>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13</a:t>
            </a:r>
          </a:p>
        </p:txBody>
      </p:sp>
      <p:sp>
        <p:nvSpPr>
          <p:cNvPr id="155" name="Text Box 532">
            <a:extLst>
              <a:ext uri="{FF2B5EF4-FFF2-40B4-BE49-F238E27FC236}">
                <a16:creationId xmlns:a16="http://schemas.microsoft.com/office/drawing/2014/main" id="{BE65D3C4-134C-8780-8C42-3D8211661F82}"/>
              </a:ext>
            </a:extLst>
          </p:cNvPr>
          <p:cNvSpPr txBox="1">
            <a:spLocks noChangeArrowheads="1"/>
          </p:cNvSpPr>
          <p:nvPr/>
        </p:nvSpPr>
        <p:spPr bwMode="auto">
          <a:xfrm>
            <a:off x="11775890" y="4532870"/>
            <a:ext cx="360997" cy="241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1200" dirty="0">
                <a:solidFill>
                  <a:schemeClr val="accent1"/>
                </a:solidFill>
                <a:latin typeface="Roboto" panose="02000000000000000000" pitchFamily="2" charset="0"/>
                <a:ea typeface="Roboto" panose="02000000000000000000" pitchFamily="2" charset="0"/>
              </a:rPr>
              <a:t>14</a:t>
            </a:r>
          </a:p>
        </p:txBody>
      </p:sp>
      <p:grpSp>
        <p:nvGrpSpPr>
          <p:cNvPr id="137" name="Group 136">
            <a:extLst>
              <a:ext uri="{FF2B5EF4-FFF2-40B4-BE49-F238E27FC236}">
                <a16:creationId xmlns:a16="http://schemas.microsoft.com/office/drawing/2014/main" id="{C2A830A2-3ED5-36D0-F266-AEDDBC99961A}"/>
              </a:ext>
            </a:extLst>
          </p:cNvPr>
          <p:cNvGrpSpPr/>
          <p:nvPr/>
        </p:nvGrpSpPr>
        <p:grpSpPr>
          <a:xfrm>
            <a:off x="838200" y="297639"/>
            <a:ext cx="5391150" cy="307138"/>
            <a:chOff x="838200" y="297639"/>
            <a:chExt cx="5391150" cy="307138"/>
          </a:xfrm>
        </p:grpSpPr>
        <p:grpSp>
          <p:nvGrpSpPr>
            <p:cNvPr id="156" name="Group 155">
              <a:extLst>
                <a:ext uri="{FF2B5EF4-FFF2-40B4-BE49-F238E27FC236}">
                  <a16:creationId xmlns:a16="http://schemas.microsoft.com/office/drawing/2014/main" id="{9F184D41-8385-8570-853B-C08EFA32049A}"/>
                </a:ext>
              </a:extLst>
            </p:cNvPr>
            <p:cNvGrpSpPr/>
            <p:nvPr/>
          </p:nvGrpSpPr>
          <p:grpSpPr>
            <a:xfrm>
              <a:off x="838200" y="297639"/>
              <a:ext cx="1687517" cy="290657"/>
              <a:chOff x="838200" y="297639"/>
              <a:chExt cx="1687517" cy="290657"/>
            </a:xfrm>
          </p:grpSpPr>
          <p:sp>
            <p:nvSpPr>
              <p:cNvPr id="158" name="AutoShape 9">
                <a:extLst>
                  <a:ext uri="{FF2B5EF4-FFF2-40B4-BE49-F238E27FC236}">
                    <a16:creationId xmlns:a16="http://schemas.microsoft.com/office/drawing/2014/main" id="{7DD1A6D5-6E6B-7F07-3A0A-B9D0A6F067FA}"/>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159" name="AutoShape 9">
                <a:extLst>
                  <a:ext uri="{FF2B5EF4-FFF2-40B4-BE49-F238E27FC236}">
                    <a16:creationId xmlns:a16="http://schemas.microsoft.com/office/drawing/2014/main" id="{D76B0E0F-DE0A-AECB-F48F-31C831578820}"/>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60" name="Group 159">
                <a:extLst>
                  <a:ext uri="{FF2B5EF4-FFF2-40B4-BE49-F238E27FC236}">
                    <a16:creationId xmlns:a16="http://schemas.microsoft.com/office/drawing/2014/main" id="{56E2145D-514D-C104-1161-A05C7DD9A94B}"/>
                  </a:ext>
                </a:extLst>
              </p:cNvPr>
              <p:cNvGrpSpPr/>
              <p:nvPr/>
            </p:nvGrpSpPr>
            <p:grpSpPr>
              <a:xfrm>
                <a:off x="838200" y="297639"/>
                <a:ext cx="1060167" cy="290657"/>
                <a:chOff x="826426" y="4041857"/>
                <a:chExt cx="1060167" cy="290657"/>
              </a:xfrm>
            </p:grpSpPr>
            <p:sp>
              <p:nvSpPr>
                <p:cNvPr id="161" name="AutoShape 9">
                  <a:extLst>
                    <a:ext uri="{FF2B5EF4-FFF2-40B4-BE49-F238E27FC236}">
                      <a16:creationId xmlns:a16="http://schemas.microsoft.com/office/drawing/2014/main" id="{084F7160-275B-22CD-8729-1269FCDE02C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2" name="AutoShape 11">
                  <a:extLst>
                    <a:ext uri="{FF2B5EF4-FFF2-40B4-BE49-F238E27FC236}">
                      <a16:creationId xmlns:a16="http://schemas.microsoft.com/office/drawing/2014/main" id="{454BB3BD-FB35-FDBB-E16E-5A414A72B0A2}"/>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63" name="AutoShape 10">
                  <a:extLst>
                    <a:ext uri="{FF2B5EF4-FFF2-40B4-BE49-F238E27FC236}">
                      <a16:creationId xmlns:a16="http://schemas.microsoft.com/office/drawing/2014/main" id="{49CF78CA-D94D-0087-DAF9-84C40DB11645}"/>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157" name="TextBox 156">
              <a:extLst>
                <a:ext uri="{FF2B5EF4-FFF2-40B4-BE49-F238E27FC236}">
                  <a16:creationId xmlns:a16="http://schemas.microsoft.com/office/drawing/2014/main" id="{FB21A514-A7A6-BC93-1C75-8B066AB6922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Tree>
    <p:extLst>
      <p:ext uri="{BB962C8B-B14F-4D97-AF65-F5344CB8AC3E}">
        <p14:creationId xmlns:p14="http://schemas.microsoft.com/office/powerpoint/2010/main" val="159547777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109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317499886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3600" dirty="0"/>
              <a:t>Draw the pieces of the map that are the same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110</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14" name="Group 13">
            <a:extLst>
              <a:ext uri="{FF2B5EF4-FFF2-40B4-BE49-F238E27FC236}">
                <a16:creationId xmlns:a16="http://schemas.microsoft.com/office/drawing/2014/main" id="{13491FFB-2286-E7C7-9CD9-01DDE2A8EF51}"/>
              </a:ext>
            </a:extLst>
          </p:cNvPr>
          <p:cNvGrpSpPr/>
          <p:nvPr/>
        </p:nvGrpSpPr>
        <p:grpSpPr>
          <a:xfrm>
            <a:off x="797585" y="1883579"/>
            <a:ext cx="10853877" cy="3585698"/>
            <a:chOff x="797585" y="1883579"/>
            <a:chExt cx="10853877" cy="3585698"/>
          </a:xfrm>
        </p:grpSpPr>
        <p:sp>
          <p:nvSpPr>
            <p:cNvPr id="53" name="Text Box 11">
              <a:extLst>
                <a:ext uri="{FF2B5EF4-FFF2-40B4-BE49-F238E27FC236}">
                  <a16:creationId xmlns:a16="http://schemas.microsoft.com/office/drawing/2014/main" id="{02DEF0D8-56EA-CBAF-A15E-0C311888B46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rPr>
                <a:t>Great America Golf (GAG)</a:t>
              </a:r>
            </a:p>
          </p:txBody>
        </p:sp>
        <p:grpSp>
          <p:nvGrpSpPr>
            <p:cNvPr id="36" name="Group 35">
              <a:extLst>
                <a:ext uri="{FF2B5EF4-FFF2-40B4-BE49-F238E27FC236}">
                  <a16:creationId xmlns:a16="http://schemas.microsoft.com/office/drawing/2014/main" id="{D6B96DC6-0A3D-0940-79EA-28A2F53FDDEF}"/>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6EE6BA12-F0A5-9384-685A-3D9FDFDE4499}"/>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61949050-6B3C-D90F-9FF6-22BEF26FC36E}"/>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BBA08BDE-600D-7D9C-858B-2839D874540F}"/>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89D9CFF5-E71C-51E0-BAD4-B18DFB09D679}"/>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196A140D-575D-241E-2720-F02DCB43301D}"/>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B4908434-FE52-9DA5-4243-8866E1196C77}"/>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DBC66419-9CBC-D376-67A3-BC25F6FAB606}"/>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6544AC5F-5C51-91CD-BEDF-7BBCAE623B8D}"/>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533727A8-ADA8-5B2E-60B1-0966986DDB66}"/>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595563A-1F3A-B782-F0F9-CD5C78D139B2}"/>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C0C1592F-2F2D-6815-6AFB-9F2B4BE5AAEF}"/>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AAFF05AB-B89D-066C-F62E-08AB7E4510FF}"/>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70CD0E51-8B23-9020-DF6C-6CEBE9B4EB7D}"/>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779EBEF5-22BA-17A1-5A4D-23CE782212D4}"/>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sp>
        <p:nvSpPr>
          <p:cNvPr id="83" name="Rectangle 82">
            <a:extLst>
              <a:ext uri="{FF2B5EF4-FFF2-40B4-BE49-F238E27FC236}">
                <a16:creationId xmlns:a16="http://schemas.microsoft.com/office/drawing/2014/main" id="{75E7818B-EACD-83B1-42FC-E4556E23CD5D}"/>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4" name="Rectangle 83">
            <a:extLst>
              <a:ext uri="{FF2B5EF4-FFF2-40B4-BE49-F238E27FC236}">
                <a16:creationId xmlns:a16="http://schemas.microsoft.com/office/drawing/2014/main" id="{F079ED4B-C58C-9E28-DAF9-8A80492CC68F}"/>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85" name="Rectangle 84">
            <a:extLst>
              <a:ext uri="{FF2B5EF4-FFF2-40B4-BE49-F238E27FC236}">
                <a16:creationId xmlns:a16="http://schemas.microsoft.com/office/drawing/2014/main" id="{C15B74EA-576B-D58D-2541-1EBF1C7B5868}"/>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86" name="Rectangle 85">
            <a:extLst>
              <a:ext uri="{FF2B5EF4-FFF2-40B4-BE49-F238E27FC236}">
                <a16:creationId xmlns:a16="http://schemas.microsoft.com/office/drawing/2014/main" id="{23E04836-FF6A-3D08-D1DD-BDF360F01FF4}"/>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88" name="Connector: Elbow 87">
            <a:extLst>
              <a:ext uri="{FF2B5EF4-FFF2-40B4-BE49-F238E27FC236}">
                <a16:creationId xmlns:a16="http://schemas.microsoft.com/office/drawing/2014/main" id="{AB2D0B07-38B3-9D22-5C03-B1989F0740F3}"/>
              </a:ext>
            </a:extLst>
          </p:cNvPr>
          <p:cNvCxnSpPr>
            <a:stCxn id="45" idx="0"/>
            <a:endCxn id="84" idx="2"/>
          </p:cNvCxnSpPr>
          <p:nvPr/>
        </p:nvCxnSpPr>
        <p:spPr>
          <a:xfrm rot="16200000" flipV="1">
            <a:off x="6068690" y="3834133"/>
            <a:ext cx="295432" cy="16236"/>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Connector: Elbow 88">
            <a:extLst>
              <a:ext uri="{FF2B5EF4-FFF2-40B4-BE49-F238E27FC236}">
                <a16:creationId xmlns:a16="http://schemas.microsoft.com/office/drawing/2014/main" id="{A787022F-B957-924E-EB55-8E2780B9F65C}"/>
              </a:ext>
            </a:extLst>
          </p:cNvPr>
          <p:cNvCxnSpPr>
            <a:cxnSpLocks/>
            <a:stCxn id="43" idx="0"/>
            <a:endCxn id="85"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Connector: Elbow 91">
            <a:extLst>
              <a:ext uri="{FF2B5EF4-FFF2-40B4-BE49-F238E27FC236}">
                <a16:creationId xmlns:a16="http://schemas.microsoft.com/office/drawing/2014/main" id="{8B22CEFE-5A11-9F09-E169-CEE7906CE73B}"/>
              </a:ext>
            </a:extLst>
          </p:cNvPr>
          <p:cNvCxnSpPr>
            <a:cxnSpLocks/>
            <a:stCxn id="41" idx="0"/>
            <a:endCxn id="86"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08835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111</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417498608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Combine processes that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112</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14" name="Group 13">
            <a:extLst>
              <a:ext uri="{FF2B5EF4-FFF2-40B4-BE49-F238E27FC236}">
                <a16:creationId xmlns:a16="http://schemas.microsoft.com/office/drawing/2014/main" id="{13491FFB-2286-E7C7-9CD9-01DDE2A8EF51}"/>
              </a:ext>
            </a:extLst>
          </p:cNvPr>
          <p:cNvGrpSpPr/>
          <p:nvPr/>
        </p:nvGrpSpPr>
        <p:grpSpPr>
          <a:xfrm>
            <a:off x="797585" y="1883579"/>
            <a:ext cx="10853877" cy="3585698"/>
            <a:chOff x="797585" y="1883579"/>
            <a:chExt cx="10853877" cy="3585698"/>
          </a:xfrm>
        </p:grpSpPr>
        <p:sp>
          <p:nvSpPr>
            <p:cNvPr id="53" name="Text Box 11">
              <a:extLst>
                <a:ext uri="{FF2B5EF4-FFF2-40B4-BE49-F238E27FC236}">
                  <a16:creationId xmlns:a16="http://schemas.microsoft.com/office/drawing/2014/main" id="{02DEF0D8-56EA-CBAF-A15E-0C311888B467}"/>
                </a:ext>
              </a:extLst>
            </p:cNvPr>
            <p:cNvSpPr txBox="1">
              <a:spLocks noChangeArrowheads="1"/>
            </p:cNvSpPr>
            <p:nvPr/>
          </p:nvSpPr>
          <p:spPr bwMode="auto">
            <a:xfrm>
              <a:off x="4970557" y="1883579"/>
              <a:ext cx="2898363" cy="303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400" dirty="0">
                  <a:latin typeface="Roboto" panose="02000000000000000000" pitchFamily="2" charset="0"/>
                  <a:ea typeface="Roboto" panose="02000000000000000000" pitchFamily="2" charset="0"/>
                </a:rPr>
                <a:t>Great America Golf (GAG)</a:t>
              </a:r>
            </a:p>
          </p:txBody>
        </p:sp>
        <p:grpSp>
          <p:nvGrpSpPr>
            <p:cNvPr id="36" name="Group 35">
              <a:extLst>
                <a:ext uri="{FF2B5EF4-FFF2-40B4-BE49-F238E27FC236}">
                  <a16:creationId xmlns:a16="http://schemas.microsoft.com/office/drawing/2014/main" id="{D6B96DC6-0A3D-0940-79EA-28A2F53FDDEF}"/>
                </a:ext>
              </a:extLst>
            </p:cNvPr>
            <p:cNvGrpSpPr/>
            <p:nvPr/>
          </p:nvGrpSpPr>
          <p:grpSpPr>
            <a:xfrm>
              <a:off x="797585" y="3992098"/>
              <a:ext cx="1602756" cy="1475151"/>
              <a:chOff x="1165012" y="3989290"/>
              <a:chExt cx="1691641" cy="1475151"/>
            </a:xfrm>
          </p:grpSpPr>
          <p:sp>
            <p:nvSpPr>
              <p:cNvPr id="49" name="Rectangle 48">
                <a:extLst>
                  <a:ext uri="{FF2B5EF4-FFF2-40B4-BE49-F238E27FC236}">
                    <a16:creationId xmlns:a16="http://schemas.microsoft.com/office/drawing/2014/main" id="{6EE6BA12-F0A5-9384-685A-3D9FDFDE4499}"/>
                  </a:ext>
                </a:extLst>
              </p:cNvPr>
              <p:cNvSpPr/>
              <p:nvPr/>
            </p:nvSpPr>
            <p:spPr>
              <a:xfrm>
                <a:off x="1165013" y="3989290"/>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Concept Development</a:t>
                </a:r>
              </a:p>
            </p:txBody>
          </p:sp>
          <p:sp>
            <p:nvSpPr>
              <p:cNvPr id="50" name="Rectangle 49">
                <a:extLst>
                  <a:ext uri="{FF2B5EF4-FFF2-40B4-BE49-F238E27FC236}">
                    <a16:creationId xmlns:a16="http://schemas.microsoft.com/office/drawing/2014/main" id="{61949050-6B3C-D90F-9FF6-22BEF26FC36E}"/>
                  </a:ext>
                </a:extLst>
              </p:cNvPr>
              <p:cNvSpPr/>
              <p:nvPr/>
            </p:nvSpPr>
            <p:spPr>
              <a:xfrm>
                <a:off x="1165012" y="4690009"/>
                <a:ext cx="1687984" cy="77443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15 Days</a:t>
                </a:r>
              </a:p>
              <a:p>
                <a:r>
                  <a:rPr lang="en-US" sz="900" dirty="0">
                    <a:solidFill>
                      <a:schemeClr val="tx1"/>
                    </a:solidFill>
                    <a:latin typeface="Roboto" panose="02000000000000000000" pitchFamily="2" charset="0"/>
                    <a:ea typeface="Roboto" panose="02000000000000000000" pitchFamily="2" charset="0"/>
                  </a:rPr>
                  <a:t>Processing Time = 5 Days</a:t>
                </a:r>
              </a:p>
              <a:p>
                <a:r>
                  <a:rPr lang="en-US" sz="900" dirty="0">
                    <a:solidFill>
                      <a:schemeClr val="tx1"/>
                    </a:solidFill>
                    <a:latin typeface="Roboto" panose="02000000000000000000" pitchFamily="2" charset="0"/>
                    <a:ea typeface="Roboto" panose="02000000000000000000" pitchFamily="2" charset="0"/>
                  </a:rPr>
                  <a:t>Quality 75%</a:t>
                </a:r>
              </a:p>
              <a:p>
                <a:r>
                  <a:rPr lang="en-US" sz="900" dirty="0">
                    <a:solidFill>
                      <a:schemeClr val="tx1"/>
                    </a:solidFill>
                    <a:latin typeface="Roboto" panose="02000000000000000000" pitchFamily="2" charset="0"/>
                    <a:ea typeface="Roboto" panose="02000000000000000000" pitchFamily="2" charset="0"/>
                  </a:rPr>
                  <a:t>Rework = 2 Times</a:t>
                </a:r>
              </a:p>
            </p:txBody>
          </p:sp>
        </p:grpSp>
        <p:grpSp>
          <p:nvGrpSpPr>
            <p:cNvPr id="37" name="Group 36">
              <a:extLst>
                <a:ext uri="{FF2B5EF4-FFF2-40B4-BE49-F238E27FC236}">
                  <a16:creationId xmlns:a16="http://schemas.microsoft.com/office/drawing/2014/main" id="{BBA08BDE-600D-7D9C-858B-2839D874540F}"/>
                </a:ext>
              </a:extLst>
            </p:cNvPr>
            <p:cNvGrpSpPr/>
            <p:nvPr/>
          </p:nvGrpSpPr>
          <p:grpSpPr>
            <a:xfrm>
              <a:off x="3110365" y="3989291"/>
              <a:ext cx="1602757" cy="1477958"/>
              <a:chOff x="3509415" y="3989291"/>
              <a:chExt cx="1691642" cy="1477958"/>
            </a:xfrm>
          </p:grpSpPr>
          <p:sp>
            <p:nvSpPr>
              <p:cNvPr id="47" name="Rectangle 46">
                <a:extLst>
                  <a:ext uri="{FF2B5EF4-FFF2-40B4-BE49-F238E27FC236}">
                    <a16:creationId xmlns:a16="http://schemas.microsoft.com/office/drawing/2014/main" id="{89D9CFF5-E71C-51E0-BAD4-B18DFB09D679}"/>
                  </a:ext>
                </a:extLst>
              </p:cNvPr>
              <p:cNvSpPr/>
              <p:nvPr/>
            </p:nvSpPr>
            <p:spPr>
              <a:xfrm>
                <a:off x="3509417" y="3989291"/>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Specification</a:t>
                </a:r>
              </a:p>
            </p:txBody>
          </p:sp>
          <p:sp>
            <p:nvSpPr>
              <p:cNvPr id="48" name="Rectangle 47">
                <a:extLst>
                  <a:ext uri="{FF2B5EF4-FFF2-40B4-BE49-F238E27FC236}">
                    <a16:creationId xmlns:a16="http://schemas.microsoft.com/office/drawing/2014/main" id="{196A140D-575D-241E-2720-F02DCB43301D}"/>
                  </a:ext>
                </a:extLst>
              </p:cNvPr>
              <p:cNvSpPr/>
              <p:nvPr/>
            </p:nvSpPr>
            <p:spPr>
              <a:xfrm>
                <a:off x="3509415" y="4690009"/>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5 Days</a:t>
                </a:r>
              </a:p>
              <a:p>
                <a:r>
                  <a:rPr lang="en-US" sz="900" dirty="0">
                    <a:solidFill>
                      <a:schemeClr val="tx1"/>
                    </a:solidFill>
                    <a:latin typeface="Roboto" panose="02000000000000000000" pitchFamily="2" charset="0"/>
                    <a:ea typeface="Roboto" panose="02000000000000000000" pitchFamily="2" charset="0"/>
                  </a:rPr>
                  <a:t>Processing Time = 2 Days</a:t>
                </a:r>
              </a:p>
              <a:p>
                <a:r>
                  <a:rPr lang="en-US" sz="900" dirty="0">
                    <a:solidFill>
                      <a:schemeClr val="tx1"/>
                    </a:solidFill>
                    <a:latin typeface="Roboto" panose="02000000000000000000" pitchFamily="2" charset="0"/>
                    <a:ea typeface="Roboto" panose="02000000000000000000" pitchFamily="2" charset="0"/>
                  </a:rPr>
                  <a:t>Quality 30%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nvGrpSpPr>
            <p:cNvPr id="38" name="Group 37">
              <a:extLst>
                <a:ext uri="{FF2B5EF4-FFF2-40B4-BE49-F238E27FC236}">
                  <a16:creationId xmlns:a16="http://schemas.microsoft.com/office/drawing/2014/main" id="{B4908434-FE52-9DA5-4243-8866E1196C77}"/>
                </a:ext>
              </a:extLst>
            </p:cNvPr>
            <p:cNvGrpSpPr/>
            <p:nvPr/>
          </p:nvGrpSpPr>
          <p:grpSpPr>
            <a:xfrm>
              <a:off x="5423144" y="3989967"/>
              <a:ext cx="1602757" cy="1477958"/>
              <a:chOff x="5390406" y="3989967"/>
              <a:chExt cx="1691642" cy="1477958"/>
            </a:xfrm>
          </p:grpSpPr>
          <p:sp>
            <p:nvSpPr>
              <p:cNvPr id="45" name="Rectangle 44">
                <a:extLst>
                  <a:ext uri="{FF2B5EF4-FFF2-40B4-BE49-F238E27FC236}">
                    <a16:creationId xmlns:a16="http://schemas.microsoft.com/office/drawing/2014/main" id="{DBC66419-9CBC-D376-67A3-BC25F6FAB606}"/>
                  </a:ext>
                </a:extLst>
              </p:cNvPr>
              <p:cNvSpPr/>
              <p:nvPr/>
            </p:nvSpPr>
            <p:spPr>
              <a:xfrm>
                <a:off x="5390408" y="3989967"/>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Design</a:t>
                </a:r>
              </a:p>
            </p:txBody>
          </p:sp>
          <p:sp>
            <p:nvSpPr>
              <p:cNvPr id="46" name="Rectangle 45">
                <a:extLst>
                  <a:ext uri="{FF2B5EF4-FFF2-40B4-BE49-F238E27FC236}">
                    <a16:creationId xmlns:a16="http://schemas.microsoft.com/office/drawing/2014/main" id="{6544AC5F-5C51-91CD-BEDF-7BBCAE623B8D}"/>
                  </a:ext>
                </a:extLst>
              </p:cNvPr>
              <p:cNvSpPr/>
              <p:nvPr/>
            </p:nvSpPr>
            <p:spPr>
              <a:xfrm>
                <a:off x="5390406" y="4690685"/>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25 Days</a:t>
                </a:r>
              </a:p>
              <a:p>
                <a:r>
                  <a:rPr lang="en-US" sz="900" dirty="0">
                    <a:solidFill>
                      <a:schemeClr val="tx1"/>
                    </a:solidFill>
                    <a:latin typeface="Roboto" panose="02000000000000000000" pitchFamily="2" charset="0"/>
                    <a:ea typeface="Roboto" panose="02000000000000000000" pitchFamily="2" charset="0"/>
                  </a:rPr>
                  <a:t>Processing Time = 15 Days</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5 Times</a:t>
                </a:r>
              </a:p>
            </p:txBody>
          </p:sp>
        </p:grpSp>
        <p:grpSp>
          <p:nvGrpSpPr>
            <p:cNvPr id="39" name="Group 38">
              <a:extLst>
                <a:ext uri="{FF2B5EF4-FFF2-40B4-BE49-F238E27FC236}">
                  <a16:creationId xmlns:a16="http://schemas.microsoft.com/office/drawing/2014/main" id="{533727A8-ADA8-5B2E-60B1-0966986DDB66}"/>
                </a:ext>
              </a:extLst>
            </p:cNvPr>
            <p:cNvGrpSpPr/>
            <p:nvPr/>
          </p:nvGrpSpPr>
          <p:grpSpPr>
            <a:xfrm>
              <a:off x="7735918" y="3991319"/>
              <a:ext cx="1602759" cy="1477958"/>
              <a:chOff x="7271398" y="3991319"/>
              <a:chExt cx="1691645" cy="1477958"/>
            </a:xfrm>
          </p:grpSpPr>
          <p:sp>
            <p:nvSpPr>
              <p:cNvPr id="43" name="Rectangle 42">
                <a:extLst>
                  <a:ext uri="{FF2B5EF4-FFF2-40B4-BE49-F238E27FC236}">
                    <a16:creationId xmlns:a16="http://schemas.microsoft.com/office/drawing/2014/main" id="{C595563A-1F3A-B782-F0F9-CD5C78D139B2}"/>
                  </a:ext>
                </a:extLst>
              </p:cNvPr>
              <p:cNvSpPr/>
              <p:nvPr/>
            </p:nvSpPr>
            <p:spPr>
              <a:xfrm>
                <a:off x="7271403" y="3991319"/>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Build</a:t>
                </a:r>
              </a:p>
            </p:txBody>
          </p:sp>
          <p:sp>
            <p:nvSpPr>
              <p:cNvPr id="44" name="Rectangle 43">
                <a:extLst>
                  <a:ext uri="{FF2B5EF4-FFF2-40B4-BE49-F238E27FC236}">
                    <a16:creationId xmlns:a16="http://schemas.microsoft.com/office/drawing/2014/main" id="{C0C1592F-2F2D-6815-6AFB-9F2B4BE5AAEF}"/>
                  </a:ext>
                </a:extLst>
              </p:cNvPr>
              <p:cNvSpPr/>
              <p:nvPr/>
            </p:nvSpPr>
            <p:spPr>
              <a:xfrm>
                <a:off x="7271398" y="4692037"/>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10 Days</a:t>
                </a:r>
              </a:p>
              <a:p>
                <a:r>
                  <a:rPr lang="en-US" sz="900" dirty="0">
                    <a:solidFill>
                      <a:schemeClr val="tx1"/>
                    </a:solidFill>
                    <a:latin typeface="Roboto" panose="02000000000000000000" pitchFamily="2" charset="0"/>
                    <a:ea typeface="Roboto" panose="02000000000000000000" pitchFamily="2" charset="0"/>
                  </a:rPr>
                  <a:t>Processing Time = 1 Day</a:t>
                </a:r>
              </a:p>
              <a:p>
                <a:r>
                  <a:rPr lang="en-US" sz="900" dirty="0">
                    <a:solidFill>
                      <a:schemeClr val="tx1"/>
                    </a:solidFill>
                    <a:latin typeface="Roboto" panose="02000000000000000000" pitchFamily="2" charset="0"/>
                    <a:ea typeface="Roboto" panose="02000000000000000000" pitchFamily="2" charset="0"/>
                  </a:rPr>
                  <a:t>Quality = 30%</a:t>
                </a:r>
              </a:p>
              <a:p>
                <a:r>
                  <a:rPr lang="en-US" sz="900" dirty="0">
                    <a:solidFill>
                      <a:schemeClr val="tx1"/>
                    </a:solidFill>
                    <a:latin typeface="Roboto" panose="02000000000000000000" pitchFamily="2" charset="0"/>
                    <a:ea typeface="Roboto" panose="02000000000000000000" pitchFamily="2" charset="0"/>
                  </a:rPr>
                  <a:t>Rework = 4 Times</a:t>
                </a:r>
              </a:p>
            </p:txBody>
          </p:sp>
        </p:grpSp>
        <p:grpSp>
          <p:nvGrpSpPr>
            <p:cNvPr id="40" name="Group 39">
              <a:extLst>
                <a:ext uri="{FF2B5EF4-FFF2-40B4-BE49-F238E27FC236}">
                  <a16:creationId xmlns:a16="http://schemas.microsoft.com/office/drawing/2014/main" id="{AAFF05AB-B89D-066C-F62E-08AB7E4510FF}"/>
                </a:ext>
              </a:extLst>
            </p:cNvPr>
            <p:cNvGrpSpPr/>
            <p:nvPr/>
          </p:nvGrpSpPr>
          <p:grpSpPr>
            <a:xfrm>
              <a:off x="10048702" y="3989291"/>
              <a:ext cx="1602760" cy="1477958"/>
              <a:chOff x="9520076" y="3982038"/>
              <a:chExt cx="1691645" cy="1477958"/>
            </a:xfrm>
          </p:grpSpPr>
          <p:sp>
            <p:nvSpPr>
              <p:cNvPr id="41" name="Rectangle 40">
                <a:extLst>
                  <a:ext uri="{FF2B5EF4-FFF2-40B4-BE49-F238E27FC236}">
                    <a16:creationId xmlns:a16="http://schemas.microsoft.com/office/drawing/2014/main" id="{70CD0E51-8B23-9020-DF6C-6CEBE9B4EB7D}"/>
                  </a:ext>
                </a:extLst>
              </p:cNvPr>
              <p:cNvSpPr/>
              <p:nvPr/>
            </p:nvSpPr>
            <p:spPr>
              <a:xfrm>
                <a:off x="9520081" y="3982038"/>
                <a:ext cx="1691640"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Prototype Test</a:t>
                </a:r>
              </a:p>
            </p:txBody>
          </p:sp>
          <p:sp>
            <p:nvSpPr>
              <p:cNvPr id="42" name="Rectangle 41">
                <a:extLst>
                  <a:ext uri="{FF2B5EF4-FFF2-40B4-BE49-F238E27FC236}">
                    <a16:creationId xmlns:a16="http://schemas.microsoft.com/office/drawing/2014/main" id="{779EBEF5-22BA-17A1-5A4D-23CE782212D4}"/>
                  </a:ext>
                </a:extLst>
              </p:cNvPr>
              <p:cNvSpPr/>
              <p:nvPr/>
            </p:nvSpPr>
            <p:spPr>
              <a:xfrm>
                <a:off x="9520076" y="4682756"/>
                <a:ext cx="1691640" cy="777240"/>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dirty="0">
                    <a:solidFill>
                      <a:schemeClr val="tx1"/>
                    </a:solidFill>
                    <a:latin typeface="Roboto" panose="02000000000000000000" pitchFamily="2" charset="0"/>
                    <a:ea typeface="Roboto" panose="02000000000000000000" pitchFamily="2" charset="0"/>
                  </a:rPr>
                  <a:t>Process Lead Time = 60 Days</a:t>
                </a:r>
              </a:p>
              <a:p>
                <a:r>
                  <a:rPr lang="en-US" sz="900" dirty="0">
                    <a:solidFill>
                      <a:schemeClr val="tx1"/>
                    </a:solidFill>
                    <a:latin typeface="Roboto" panose="02000000000000000000" pitchFamily="2" charset="0"/>
                    <a:ea typeface="Roboto" panose="02000000000000000000" pitchFamily="2" charset="0"/>
                  </a:rPr>
                  <a:t>Processing Time = 5 Day</a:t>
                </a:r>
              </a:p>
              <a:p>
                <a:r>
                  <a:rPr lang="en-US" sz="900" dirty="0">
                    <a:solidFill>
                      <a:schemeClr val="tx1"/>
                    </a:solidFill>
                    <a:latin typeface="Roboto" panose="02000000000000000000" pitchFamily="2" charset="0"/>
                    <a:ea typeface="Roboto" panose="02000000000000000000" pitchFamily="2" charset="0"/>
                  </a:rPr>
                  <a:t>Quality = 20%</a:t>
                </a:r>
              </a:p>
              <a:p>
                <a:r>
                  <a:rPr lang="en-US" sz="900" dirty="0">
                    <a:solidFill>
                      <a:schemeClr val="tx1"/>
                    </a:solidFill>
                    <a:latin typeface="Roboto" panose="02000000000000000000" pitchFamily="2" charset="0"/>
                    <a:ea typeface="Roboto" panose="02000000000000000000" pitchFamily="2" charset="0"/>
                  </a:rPr>
                  <a:t>Rework = 0 times</a:t>
                </a:r>
              </a:p>
            </p:txBody>
          </p:sp>
        </p:grpSp>
      </p:grpSp>
      <p:sp>
        <p:nvSpPr>
          <p:cNvPr id="83" name="Rectangle 82">
            <a:extLst>
              <a:ext uri="{FF2B5EF4-FFF2-40B4-BE49-F238E27FC236}">
                <a16:creationId xmlns:a16="http://schemas.microsoft.com/office/drawing/2014/main" id="{75E7818B-EACD-83B1-42FC-E4556E23CD5D}"/>
              </a:ext>
            </a:extLst>
          </p:cNvPr>
          <p:cNvSpPr/>
          <p:nvPr/>
        </p:nvSpPr>
        <p:spPr>
          <a:xfrm>
            <a:off x="5427299" y="2189476"/>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Product Steering Committee</a:t>
            </a:r>
          </a:p>
        </p:txBody>
      </p:sp>
      <p:sp>
        <p:nvSpPr>
          <p:cNvPr id="84" name="Rectangle 83">
            <a:extLst>
              <a:ext uri="{FF2B5EF4-FFF2-40B4-BE49-F238E27FC236}">
                <a16:creationId xmlns:a16="http://schemas.microsoft.com/office/drawing/2014/main" id="{F079ED4B-C58C-9E28-DAF9-8A80492CC68F}"/>
              </a:ext>
            </a:extLst>
          </p:cNvPr>
          <p:cNvSpPr/>
          <p:nvPr/>
        </p:nvSpPr>
        <p:spPr>
          <a:xfrm>
            <a:off x="5406910" y="3044958"/>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CAD</a:t>
            </a:r>
          </a:p>
        </p:txBody>
      </p:sp>
      <p:sp>
        <p:nvSpPr>
          <p:cNvPr id="85" name="Rectangle 84">
            <a:extLst>
              <a:ext uri="{FF2B5EF4-FFF2-40B4-BE49-F238E27FC236}">
                <a16:creationId xmlns:a16="http://schemas.microsoft.com/office/drawing/2014/main" id="{C15B74EA-576B-D58D-2541-1EBF1C7B5868}"/>
              </a:ext>
            </a:extLst>
          </p:cNvPr>
          <p:cNvSpPr/>
          <p:nvPr/>
        </p:nvSpPr>
        <p:spPr>
          <a:xfrm>
            <a:off x="7539703" y="3031833"/>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CNC Cell</a:t>
            </a:r>
          </a:p>
        </p:txBody>
      </p:sp>
      <p:sp>
        <p:nvSpPr>
          <p:cNvPr id="86" name="Rectangle 85">
            <a:extLst>
              <a:ext uri="{FF2B5EF4-FFF2-40B4-BE49-F238E27FC236}">
                <a16:creationId xmlns:a16="http://schemas.microsoft.com/office/drawing/2014/main" id="{23E04836-FF6A-3D08-D1DD-BDF360F01FF4}"/>
              </a:ext>
            </a:extLst>
          </p:cNvPr>
          <p:cNvSpPr/>
          <p:nvPr/>
        </p:nvSpPr>
        <p:spPr>
          <a:xfrm>
            <a:off x="9735523" y="3070147"/>
            <a:ext cx="1602755" cy="649577"/>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latin typeface="Roboto" panose="02000000000000000000" pitchFamily="2" charset="0"/>
                <a:ea typeface="Roboto" panose="02000000000000000000" pitchFamily="2" charset="0"/>
              </a:rPr>
              <a:t>Golf Courses</a:t>
            </a:r>
          </a:p>
        </p:txBody>
      </p:sp>
      <p:cxnSp>
        <p:nvCxnSpPr>
          <p:cNvPr id="88" name="Connector: Elbow 87">
            <a:extLst>
              <a:ext uri="{FF2B5EF4-FFF2-40B4-BE49-F238E27FC236}">
                <a16:creationId xmlns:a16="http://schemas.microsoft.com/office/drawing/2014/main" id="{AB2D0B07-38B3-9D22-5C03-B1989F0740F3}"/>
              </a:ext>
            </a:extLst>
          </p:cNvPr>
          <p:cNvCxnSpPr>
            <a:stCxn id="45" idx="0"/>
            <a:endCxn id="84" idx="2"/>
          </p:cNvCxnSpPr>
          <p:nvPr/>
        </p:nvCxnSpPr>
        <p:spPr>
          <a:xfrm rot="16200000" flipV="1">
            <a:off x="6068690" y="3834133"/>
            <a:ext cx="295432" cy="16236"/>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Connector: Elbow 88">
            <a:extLst>
              <a:ext uri="{FF2B5EF4-FFF2-40B4-BE49-F238E27FC236}">
                <a16:creationId xmlns:a16="http://schemas.microsoft.com/office/drawing/2014/main" id="{A787022F-B957-924E-EB55-8E2780B9F65C}"/>
              </a:ext>
            </a:extLst>
          </p:cNvPr>
          <p:cNvCxnSpPr>
            <a:cxnSpLocks/>
            <a:stCxn id="43" idx="0"/>
            <a:endCxn id="85" idx="2"/>
          </p:cNvCxnSpPr>
          <p:nvPr/>
        </p:nvCxnSpPr>
        <p:spPr>
          <a:xfrm rot="16200000" flipV="1">
            <a:off x="8284237" y="3738255"/>
            <a:ext cx="309909" cy="196219"/>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Connector: Elbow 91">
            <a:extLst>
              <a:ext uri="{FF2B5EF4-FFF2-40B4-BE49-F238E27FC236}">
                <a16:creationId xmlns:a16="http://schemas.microsoft.com/office/drawing/2014/main" id="{8B22CEFE-5A11-9F09-E169-CEE7906CE73B}"/>
              </a:ext>
            </a:extLst>
          </p:cNvPr>
          <p:cNvCxnSpPr>
            <a:cxnSpLocks/>
            <a:stCxn id="41" idx="0"/>
            <a:endCxn id="86" idx="2"/>
          </p:cNvCxnSpPr>
          <p:nvPr/>
        </p:nvCxnSpPr>
        <p:spPr>
          <a:xfrm rot="16200000" flipV="1">
            <a:off x="10558710" y="3697916"/>
            <a:ext cx="269567" cy="313184"/>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73">
            <a:extLst>
              <a:ext uri="{FF2B5EF4-FFF2-40B4-BE49-F238E27FC236}">
                <a16:creationId xmlns:a16="http://schemas.microsoft.com/office/drawing/2014/main" id="{2C94821C-F2FF-DE98-64AC-556A85970553}"/>
              </a:ext>
            </a:extLst>
          </p:cNvPr>
          <p:cNvSpPr>
            <a:spLocks noChangeArrowheads="1"/>
          </p:cNvSpPr>
          <p:nvPr/>
        </p:nvSpPr>
        <p:spPr bwMode="auto">
          <a:xfrm>
            <a:off x="2884673" y="2217946"/>
            <a:ext cx="5988080" cy="2178032"/>
          </a:xfrm>
          <a:prstGeom prst="rect">
            <a:avLst/>
          </a:prstGeom>
          <a:solidFill>
            <a:srgbClr val="EAEAEA"/>
          </a:solidFill>
          <a:ln w="12700" cap="sq">
            <a:solidFill>
              <a:schemeClr val="tx1"/>
            </a:solidFill>
            <a:miter lim="800000"/>
            <a:headEnd/>
            <a:tailEnd/>
          </a:ln>
        </p:spPr>
        <p:txBody>
          <a:bodyPr wrap="square" anchor="ctr">
            <a:spAutoFit/>
          </a:bodyPr>
          <a:lstStyle>
            <a:lvl1pPr marL="406400" indent="-4064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Aft>
                <a:spcPct val="0"/>
              </a:spcAft>
              <a:buClrTx/>
              <a:buSzTx/>
              <a:buFontTx/>
              <a:buNone/>
            </a:pPr>
            <a:r>
              <a:rPr lang="en-US" altLang="en-US" sz="1600" dirty="0">
                <a:latin typeface="Roboto" panose="02000000000000000000" pitchFamily="2" charset="0"/>
                <a:ea typeface="Roboto" panose="02000000000000000000" pitchFamily="2" charset="0"/>
              </a:rPr>
              <a:t>Represent processes to be combined as a single process box.  Include the description of all combined processes in the name of the process box.  Add together the processing and process lead times and multiply the first pass quality yields.</a:t>
            </a:r>
          </a:p>
          <a:p>
            <a:pPr>
              <a:spcAft>
                <a:spcPct val="0"/>
              </a:spcAft>
              <a:buClrTx/>
              <a:buSzTx/>
              <a:buFontTx/>
              <a:buNone/>
            </a:pPr>
            <a:r>
              <a:rPr lang="en-US" altLang="en-US" sz="1600" dirty="0">
                <a:latin typeface="Roboto" panose="02000000000000000000" pitchFamily="2" charset="0"/>
                <a:ea typeface="Roboto" panose="02000000000000000000" pitchFamily="2" charset="0"/>
              </a:rPr>
              <a:t>	Note: For Great America Golf there are no processes to be combined.</a:t>
            </a:r>
          </a:p>
        </p:txBody>
      </p:sp>
    </p:spTree>
    <p:extLst>
      <p:ext uri="{BB962C8B-B14F-4D97-AF65-F5344CB8AC3E}">
        <p14:creationId xmlns:p14="http://schemas.microsoft.com/office/powerpoint/2010/main" val="151336411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113</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algn="l" defTabSz="584200"/>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91653775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Identify new information flow</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114</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182" name="Group 181">
            <a:extLst>
              <a:ext uri="{FF2B5EF4-FFF2-40B4-BE49-F238E27FC236}">
                <a16:creationId xmlns:a16="http://schemas.microsoft.com/office/drawing/2014/main" id="{A8E6CB38-4546-ED40-1A26-341FB6027203}"/>
              </a:ext>
            </a:extLst>
          </p:cNvPr>
          <p:cNvGrpSpPr/>
          <p:nvPr/>
        </p:nvGrpSpPr>
        <p:grpSpPr>
          <a:xfrm>
            <a:off x="304800" y="1766948"/>
            <a:ext cx="11033478" cy="4229558"/>
            <a:chOff x="304800" y="1283484"/>
            <a:chExt cx="8492573" cy="4697450"/>
          </a:xfrm>
        </p:grpSpPr>
        <p:cxnSp>
          <p:nvCxnSpPr>
            <p:cNvPr id="15" name="AutoShape 50">
              <a:extLst>
                <a:ext uri="{FF2B5EF4-FFF2-40B4-BE49-F238E27FC236}">
                  <a16:creationId xmlns:a16="http://schemas.microsoft.com/office/drawing/2014/main" id="{EE5CE607-E729-FD6F-24AC-8DFD4F3AE0AD}"/>
                </a:ext>
              </a:extLst>
            </p:cNvPr>
            <p:cNvCxnSpPr>
              <a:cxnSpLocks noChangeShapeType="1"/>
              <a:stCxn id="30" idx="3"/>
            </p:cNvCxnSpPr>
            <p:nvPr/>
          </p:nvCxnSpPr>
          <p:spPr bwMode="auto">
            <a:xfrm flipH="1" flipV="1">
              <a:off x="4941888" y="2365375"/>
              <a:ext cx="2874962" cy="2024063"/>
            </a:xfrm>
            <a:prstGeom prst="bentConnector3">
              <a:avLst>
                <a:gd name="adj1" fmla="val -7954"/>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6" name="Rectangle 57">
              <a:extLst>
                <a:ext uri="{FF2B5EF4-FFF2-40B4-BE49-F238E27FC236}">
                  <a16:creationId xmlns:a16="http://schemas.microsoft.com/office/drawing/2014/main" id="{D55086A2-3513-BAC6-79E8-B9A7B1B631CE}"/>
                </a:ext>
              </a:extLst>
            </p:cNvPr>
            <p:cNvSpPr>
              <a:spLocks noChangeArrowheads="1"/>
            </p:cNvSpPr>
            <p:nvPr/>
          </p:nvSpPr>
          <p:spPr bwMode="auto">
            <a:xfrm>
              <a:off x="3989388" y="193198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Text Box 80">
              <a:extLst>
                <a:ext uri="{FF2B5EF4-FFF2-40B4-BE49-F238E27FC236}">
                  <a16:creationId xmlns:a16="http://schemas.microsoft.com/office/drawing/2014/main" id="{94094EB2-7695-BF26-B557-BFBFAA4F685C}"/>
                </a:ext>
              </a:extLst>
            </p:cNvPr>
            <p:cNvSpPr txBox="1">
              <a:spLocks noChangeArrowheads="1"/>
            </p:cNvSpPr>
            <p:nvPr/>
          </p:nvSpPr>
          <p:spPr bwMode="auto">
            <a:xfrm>
              <a:off x="4017258" y="1999337"/>
              <a:ext cx="847725" cy="41018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dirty="0">
                  <a:latin typeface="Roboto" panose="02000000000000000000" pitchFamily="2" charset="0"/>
                  <a:ea typeface="Roboto" panose="02000000000000000000" pitchFamily="2" charset="0"/>
                </a:rPr>
                <a:t>Product Steering Committee</a:t>
              </a:r>
            </a:p>
          </p:txBody>
        </p:sp>
        <p:cxnSp>
          <p:nvCxnSpPr>
            <p:cNvPr id="18" name="AutoShape 100">
              <a:extLst>
                <a:ext uri="{FF2B5EF4-FFF2-40B4-BE49-F238E27FC236}">
                  <a16:creationId xmlns:a16="http://schemas.microsoft.com/office/drawing/2014/main" id="{06F3092F-CD0B-1F9D-9F1C-10D09EC83467}"/>
                </a:ext>
              </a:extLst>
            </p:cNvPr>
            <p:cNvCxnSpPr>
              <a:cxnSpLocks noChangeShapeType="1"/>
              <a:endCxn id="20" idx="0"/>
            </p:cNvCxnSpPr>
            <p:nvPr/>
          </p:nvCxnSpPr>
          <p:spPr bwMode="auto">
            <a:xfrm flipH="1">
              <a:off x="757238" y="1809750"/>
              <a:ext cx="11112" cy="1425575"/>
            </a:xfrm>
            <a:prstGeom prst="straightConnector1">
              <a:avLst/>
            </a:prstGeom>
            <a:noFill/>
            <a:ln w="5715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9" name="Rectangle 148">
              <a:extLst>
                <a:ext uri="{FF2B5EF4-FFF2-40B4-BE49-F238E27FC236}">
                  <a16:creationId xmlns:a16="http://schemas.microsoft.com/office/drawing/2014/main" id="{47512CD1-EEE4-438B-6E52-047C99A42DA4}"/>
                </a:ext>
              </a:extLst>
            </p:cNvPr>
            <p:cNvSpPr>
              <a:spLocks noChangeArrowheads="1"/>
            </p:cNvSpPr>
            <p:nvPr/>
          </p:nvSpPr>
          <p:spPr bwMode="auto">
            <a:xfrm>
              <a:off x="304800" y="3235325"/>
              <a:ext cx="914400" cy="5334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 name="Text Box 149">
              <a:extLst>
                <a:ext uri="{FF2B5EF4-FFF2-40B4-BE49-F238E27FC236}">
                  <a16:creationId xmlns:a16="http://schemas.microsoft.com/office/drawing/2014/main" id="{E1FD0125-E946-2C38-29BD-91DE12D20A3A}"/>
                </a:ext>
              </a:extLst>
            </p:cNvPr>
            <p:cNvSpPr txBox="1">
              <a:spLocks noChangeArrowheads="1"/>
            </p:cNvSpPr>
            <p:nvPr/>
          </p:nvSpPr>
          <p:spPr bwMode="auto">
            <a:xfrm>
              <a:off x="333375" y="3235325"/>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Focus Groups</a:t>
              </a:r>
            </a:p>
          </p:txBody>
        </p:sp>
        <p:cxnSp>
          <p:nvCxnSpPr>
            <p:cNvPr id="21" name="AutoShape 150">
              <a:extLst>
                <a:ext uri="{FF2B5EF4-FFF2-40B4-BE49-F238E27FC236}">
                  <a16:creationId xmlns:a16="http://schemas.microsoft.com/office/drawing/2014/main" id="{E9486357-6730-696B-0621-EC9F03140231}"/>
                </a:ext>
              </a:extLst>
            </p:cNvPr>
            <p:cNvCxnSpPr>
              <a:cxnSpLocks noChangeShapeType="1"/>
              <a:stCxn id="19" idx="2"/>
              <a:endCxn id="24" idx="1"/>
            </p:cNvCxnSpPr>
            <p:nvPr/>
          </p:nvCxnSpPr>
          <p:spPr bwMode="auto">
            <a:xfrm rot="16200000" flipH="1">
              <a:off x="634206" y="3896519"/>
              <a:ext cx="620713" cy="3651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2" name="Rectangle 151">
              <a:extLst>
                <a:ext uri="{FF2B5EF4-FFF2-40B4-BE49-F238E27FC236}">
                  <a16:creationId xmlns:a16="http://schemas.microsoft.com/office/drawing/2014/main" id="{29BDC2EA-AF2D-89A8-6215-9F101E8CEB12}"/>
                </a:ext>
              </a:extLst>
            </p:cNvPr>
            <p:cNvSpPr>
              <a:spLocks noChangeArrowheads="1"/>
            </p:cNvSpPr>
            <p:nvPr/>
          </p:nvSpPr>
          <p:spPr bwMode="auto">
            <a:xfrm>
              <a:off x="54800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 name="Rectangle 152">
              <a:extLst>
                <a:ext uri="{FF2B5EF4-FFF2-40B4-BE49-F238E27FC236}">
                  <a16:creationId xmlns:a16="http://schemas.microsoft.com/office/drawing/2014/main" id="{730FBE73-8EA3-E174-7BA4-4B76B16F50D3}"/>
                </a:ext>
              </a:extLst>
            </p:cNvPr>
            <p:cNvSpPr>
              <a:spLocks noChangeArrowheads="1"/>
            </p:cNvSpPr>
            <p:nvPr/>
          </p:nvSpPr>
          <p:spPr bwMode="auto">
            <a:xfrm>
              <a:off x="40354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Rectangle 153">
              <a:extLst>
                <a:ext uri="{FF2B5EF4-FFF2-40B4-BE49-F238E27FC236}">
                  <a16:creationId xmlns:a16="http://schemas.microsoft.com/office/drawing/2014/main" id="{4A16B77D-DFC8-91D8-62D9-8D3657BA95FD}"/>
                </a:ext>
              </a:extLst>
            </p:cNvPr>
            <p:cNvSpPr>
              <a:spLocks noChangeArrowheads="1"/>
            </p:cNvSpPr>
            <p:nvPr/>
          </p:nvSpPr>
          <p:spPr bwMode="auto">
            <a:xfrm>
              <a:off x="11271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5" name="Text Box 154">
              <a:extLst>
                <a:ext uri="{FF2B5EF4-FFF2-40B4-BE49-F238E27FC236}">
                  <a16:creationId xmlns:a16="http://schemas.microsoft.com/office/drawing/2014/main" id="{FC6D665D-6D75-4EAD-4A61-9053C1239DD5}"/>
                </a:ext>
              </a:extLst>
            </p:cNvPr>
            <p:cNvSpPr txBox="1">
              <a:spLocks noChangeArrowheads="1"/>
            </p:cNvSpPr>
            <p:nvPr/>
          </p:nvSpPr>
          <p:spPr bwMode="auto">
            <a:xfrm>
              <a:off x="4111625"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26" name="Text Box 155">
              <a:extLst>
                <a:ext uri="{FF2B5EF4-FFF2-40B4-BE49-F238E27FC236}">
                  <a16:creationId xmlns:a16="http://schemas.microsoft.com/office/drawing/2014/main" id="{C1D2BB3D-2811-2126-3BC9-DB95260D59F6}"/>
                </a:ext>
              </a:extLst>
            </p:cNvPr>
            <p:cNvSpPr txBox="1">
              <a:spLocks noChangeArrowheads="1"/>
            </p:cNvSpPr>
            <p:nvPr/>
          </p:nvSpPr>
          <p:spPr bwMode="auto">
            <a:xfrm>
              <a:off x="5556250"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27" name="Text Box 156">
              <a:extLst>
                <a:ext uri="{FF2B5EF4-FFF2-40B4-BE49-F238E27FC236}">
                  <a16:creationId xmlns:a16="http://schemas.microsoft.com/office/drawing/2014/main" id="{379D9F19-7A2A-EEF7-F3AA-12120783239D}"/>
                </a:ext>
              </a:extLst>
            </p:cNvPr>
            <p:cNvSpPr txBox="1">
              <a:spLocks noChangeArrowheads="1"/>
            </p:cNvSpPr>
            <p:nvPr/>
          </p:nvSpPr>
          <p:spPr bwMode="auto">
            <a:xfrm>
              <a:off x="1168400" y="41989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28" name="Rectangle 157">
              <a:extLst>
                <a:ext uri="{FF2B5EF4-FFF2-40B4-BE49-F238E27FC236}">
                  <a16:creationId xmlns:a16="http://schemas.microsoft.com/office/drawing/2014/main" id="{767C918A-B409-5D45-3207-16DADD21F75C}"/>
                </a:ext>
              </a:extLst>
            </p:cNvPr>
            <p:cNvSpPr>
              <a:spLocks noChangeArrowheads="1"/>
            </p:cNvSpPr>
            <p:nvPr/>
          </p:nvSpPr>
          <p:spPr bwMode="auto">
            <a:xfrm>
              <a:off x="263207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9" name="Text Box 158">
              <a:extLst>
                <a:ext uri="{FF2B5EF4-FFF2-40B4-BE49-F238E27FC236}">
                  <a16:creationId xmlns:a16="http://schemas.microsoft.com/office/drawing/2014/main" id="{5A018426-0713-5C2E-AC85-9FD68B345A82}"/>
                </a:ext>
              </a:extLst>
            </p:cNvPr>
            <p:cNvSpPr txBox="1">
              <a:spLocks noChangeArrowheads="1"/>
            </p:cNvSpPr>
            <p:nvPr/>
          </p:nvSpPr>
          <p:spPr bwMode="auto">
            <a:xfrm>
              <a:off x="2673350" y="41989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30" name="Rectangle 159">
              <a:extLst>
                <a:ext uri="{FF2B5EF4-FFF2-40B4-BE49-F238E27FC236}">
                  <a16:creationId xmlns:a16="http://schemas.microsoft.com/office/drawing/2014/main" id="{9A3F9AD9-1E08-6C9B-B50C-672946156C4F}"/>
                </a:ext>
              </a:extLst>
            </p:cNvPr>
            <p:cNvSpPr>
              <a:spLocks noChangeArrowheads="1"/>
            </p:cNvSpPr>
            <p:nvPr/>
          </p:nvSpPr>
          <p:spPr bwMode="auto">
            <a:xfrm>
              <a:off x="69024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1" name="Text Box 160">
              <a:extLst>
                <a:ext uri="{FF2B5EF4-FFF2-40B4-BE49-F238E27FC236}">
                  <a16:creationId xmlns:a16="http://schemas.microsoft.com/office/drawing/2014/main" id="{48FC9D01-E0C5-D23E-4255-36FB7D1F1CCB}"/>
                </a:ext>
              </a:extLst>
            </p:cNvPr>
            <p:cNvSpPr txBox="1">
              <a:spLocks noChangeArrowheads="1"/>
            </p:cNvSpPr>
            <p:nvPr/>
          </p:nvSpPr>
          <p:spPr bwMode="auto">
            <a:xfrm>
              <a:off x="6943725" y="41989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32" name="Rectangle 161">
              <a:extLst>
                <a:ext uri="{FF2B5EF4-FFF2-40B4-BE49-F238E27FC236}">
                  <a16:creationId xmlns:a16="http://schemas.microsoft.com/office/drawing/2014/main" id="{8D6B70A5-A0E2-F1D1-112D-20A38087F7EF}"/>
                </a:ext>
              </a:extLst>
            </p:cNvPr>
            <p:cNvSpPr>
              <a:spLocks noChangeArrowheads="1"/>
            </p:cNvSpPr>
            <p:nvPr/>
          </p:nvSpPr>
          <p:spPr bwMode="auto">
            <a:xfrm>
              <a:off x="6878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Rectangle 162">
              <a:extLst>
                <a:ext uri="{FF2B5EF4-FFF2-40B4-BE49-F238E27FC236}">
                  <a16:creationId xmlns:a16="http://schemas.microsoft.com/office/drawing/2014/main" id="{56FDE14B-BCF3-700D-1003-5631157A746A}"/>
                </a:ext>
              </a:extLst>
            </p:cNvPr>
            <p:cNvSpPr>
              <a:spLocks noChangeArrowheads="1"/>
            </p:cNvSpPr>
            <p:nvPr/>
          </p:nvSpPr>
          <p:spPr bwMode="auto">
            <a:xfrm>
              <a:off x="40338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Rectangle 164">
              <a:extLst>
                <a:ext uri="{FF2B5EF4-FFF2-40B4-BE49-F238E27FC236}">
                  <a16:creationId xmlns:a16="http://schemas.microsoft.com/office/drawing/2014/main" id="{4482A2C6-434F-9D91-3EA1-456637D483F1}"/>
                </a:ext>
              </a:extLst>
            </p:cNvPr>
            <p:cNvSpPr>
              <a:spLocks noChangeArrowheads="1"/>
            </p:cNvSpPr>
            <p:nvPr/>
          </p:nvSpPr>
          <p:spPr bwMode="auto">
            <a:xfrm>
              <a:off x="5481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35" name="Group 165">
              <a:extLst>
                <a:ext uri="{FF2B5EF4-FFF2-40B4-BE49-F238E27FC236}">
                  <a16:creationId xmlns:a16="http://schemas.microsoft.com/office/drawing/2014/main" id="{658D5BAE-1C11-1855-F448-33E77F134A3D}"/>
                </a:ext>
              </a:extLst>
            </p:cNvPr>
            <p:cNvGrpSpPr>
              <a:grpSpLocks/>
            </p:cNvGrpSpPr>
            <p:nvPr/>
          </p:nvGrpSpPr>
          <p:grpSpPr bwMode="auto">
            <a:xfrm rot="-3656265">
              <a:off x="5691982" y="3696494"/>
              <a:ext cx="565150" cy="230187"/>
              <a:chOff x="636" y="2054"/>
              <a:chExt cx="200" cy="298"/>
            </a:xfrm>
          </p:grpSpPr>
          <p:sp>
            <p:nvSpPr>
              <p:cNvPr id="51" name="Line 166">
                <a:extLst>
                  <a:ext uri="{FF2B5EF4-FFF2-40B4-BE49-F238E27FC236}">
                    <a16:creationId xmlns:a16="http://schemas.microsoft.com/office/drawing/2014/main" id="{D38662E9-CFBB-2548-B1FF-72BB3668FBD4}"/>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2" name="Line 167">
                <a:extLst>
                  <a:ext uri="{FF2B5EF4-FFF2-40B4-BE49-F238E27FC236}">
                    <a16:creationId xmlns:a16="http://schemas.microsoft.com/office/drawing/2014/main" id="{125D0614-CDB5-9346-A3D6-58EB3DD61835}"/>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4" name="Line 168">
                <a:extLst>
                  <a:ext uri="{FF2B5EF4-FFF2-40B4-BE49-F238E27FC236}">
                    <a16:creationId xmlns:a16="http://schemas.microsoft.com/office/drawing/2014/main" id="{6D99F734-ABDE-B3D8-B9C9-DA24FBE1C50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55" name="Group 169">
              <a:extLst>
                <a:ext uri="{FF2B5EF4-FFF2-40B4-BE49-F238E27FC236}">
                  <a16:creationId xmlns:a16="http://schemas.microsoft.com/office/drawing/2014/main" id="{56693BBC-1660-022B-9F74-85BB586F0D8D}"/>
                </a:ext>
              </a:extLst>
            </p:cNvPr>
            <p:cNvGrpSpPr>
              <a:grpSpLocks/>
            </p:cNvGrpSpPr>
            <p:nvPr/>
          </p:nvGrpSpPr>
          <p:grpSpPr bwMode="auto">
            <a:xfrm rot="-3656265">
              <a:off x="7043738" y="3692525"/>
              <a:ext cx="547688" cy="223837"/>
              <a:chOff x="636" y="2054"/>
              <a:chExt cx="200" cy="298"/>
            </a:xfrm>
          </p:grpSpPr>
          <p:sp>
            <p:nvSpPr>
              <p:cNvPr id="56" name="Line 170">
                <a:extLst>
                  <a:ext uri="{FF2B5EF4-FFF2-40B4-BE49-F238E27FC236}">
                    <a16:creationId xmlns:a16="http://schemas.microsoft.com/office/drawing/2014/main" id="{5DC9413C-EC16-87AE-9778-6A1666CF2595}"/>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7" name="Line 171">
                <a:extLst>
                  <a:ext uri="{FF2B5EF4-FFF2-40B4-BE49-F238E27FC236}">
                    <a16:creationId xmlns:a16="http://schemas.microsoft.com/office/drawing/2014/main" id="{4A558C25-9068-AB06-7F03-FD4F62F0DBC3}"/>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58" name="Line 172">
                <a:extLst>
                  <a:ext uri="{FF2B5EF4-FFF2-40B4-BE49-F238E27FC236}">
                    <a16:creationId xmlns:a16="http://schemas.microsoft.com/office/drawing/2014/main" id="{DE2AB66E-FAB4-28B4-2686-EB277229F800}"/>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59" name="Group 173">
              <a:extLst>
                <a:ext uri="{FF2B5EF4-FFF2-40B4-BE49-F238E27FC236}">
                  <a16:creationId xmlns:a16="http://schemas.microsoft.com/office/drawing/2014/main" id="{85D16269-01DE-2AF6-432C-C45851D3AD2F}"/>
                </a:ext>
              </a:extLst>
            </p:cNvPr>
            <p:cNvGrpSpPr>
              <a:grpSpLocks/>
            </p:cNvGrpSpPr>
            <p:nvPr/>
          </p:nvGrpSpPr>
          <p:grpSpPr bwMode="auto">
            <a:xfrm rot="-3656265">
              <a:off x="4228306" y="3682207"/>
              <a:ext cx="534987" cy="228600"/>
              <a:chOff x="636" y="2054"/>
              <a:chExt cx="200" cy="298"/>
            </a:xfrm>
          </p:grpSpPr>
          <p:sp>
            <p:nvSpPr>
              <p:cNvPr id="60" name="Line 174">
                <a:extLst>
                  <a:ext uri="{FF2B5EF4-FFF2-40B4-BE49-F238E27FC236}">
                    <a16:creationId xmlns:a16="http://schemas.microsoft.com/office/drawing/2014/main" id="{4656B403-6E36-EC9A-8B64-8557EADACFFB}"/>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1" name="Line 175">
                <a:extLst>
                  <a:ext uri="{FF2B5EF4-FFF2-40B4-BE49-F238E27FC236}">
                    <a16:creationId xmlns:a16="http://schemas.microsoft.com/office/drawing/2014/main" id="{40F68147-6336-D9DA-783D-7EE464D3D912}"/>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2" name="Line 176">
                <a:extLst>
                  <a:ext uri="{FF2B5EF4-FFF2-40B4-BE49-F238E27FC236}">
                    <a16:creationId xmlns:a16="http://schemas.microsoft.com/office/drawing/2014/main" id="{DCB0E37C-80DC-E741-278C-74046A80E82D}"/>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63" name="Text Box 177">
              <a:extLst>
                <a:ext uri="{FF2B5EF4-FFF2-40B4-BE49-F238E27FC236}">
                  <a16:creationId xmlns:a16="http://schemas.microsoft.com/office/drawing/2014/main" id="{0948CFAD-BA78-E39E-552B-F933C04D2D03}"/>
                </a:ext>
              </a:extLst>
            </p:cNvPr>
            <p:cNvSpPr txBox="1">
              <a:spLocks noChangeArrowheads="1"/>
            </p:cNvSpPr>
            <p:nvPr/>
          </p:nvSpPr>
          <p:spPr bwMode="auto">
            <a:xfrm>
              <a:off x="55149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CNC Cell</a:t>
              </a:r>
            </a:p>
          </p:txBody>
        </p:sp>
        <p:sp>
          <p:nvSpPr>
            <p:cNvPr id="64" name="Text Box 178">
              <a:extLst>
                <a:ext uri="{FF2B5EF4-FFF2-40B4-BE49-F238E27FC236}">
                  <a16:creationId xmlns:a16="http://schemas.microsoft.com/office/drawing/2014/main" id="{38A7926D-C784-60C3-AA19-2C3DB3939876}"/>
                </a:ext>
              </a:extLst>
            </p:cNvPr>
            <p:cNvSpPr txBox="1">
              <a:spLocks noChangeArrowheads="1"/>
            </p:cNvSpPr>
            <p:nvPr/>
          </p:nvSpPr>
          <p:spPr bwMode="auto">
            <a:xfrm>
              <a:off x="6907213" y="3060700"/>
              <a:ext cx="847725"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Golf Courses</a:t>
              </a:r>
            </a:p>
          </p:txBody>
        </p:sp>
        <p:sp>
          <p:nvSpPr>
            <p:cNvPr id="65" name="Rectangle 179">
              <a:extLst>
                <a:ext uri="{FF2B5EF4-FFF2-40B4-BE49-F238E27FC236}">
                  <a16:creationId xmlns:a16="http://schemas.microsoft.com/office/drawing/2014/main" id="{6F20E6D9-6DF5-BC02-2669-5D407AF9E4F2}"/>
                </a:ext>
              </a:extLst>
            </p:cNvPr>
            <p:cNvSpPr>
              <a:spLocks noChangeArrowheads="1"/>
            </p:cNvSpPr>
            <p:nvPr/>
          </p:nvSpPr>
          <p:spPr bwMode="auto">
            <a:xfrm>
              <a:off x="26225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6" name="Rectangle 180">
              <a:extLst>
                <a:ext uri="{FF2B5EF4-FFF2-40B4-BE49-F238E27FC236}">
                  <a16:creationId xmlns:a16="http://schemas.microsoft.com/office/drawing/2014/main" id="{EFD297B6-D191-59BB-6C2E-B045E2607101}"/>
                </a:ext>
              </a:extLst>
            </p:cNvPr>
            <p:cNvSpPr>
              <a:spLocks noChangeArrowheads="1"/>
            </p:cNvSpPr>
            <p:nvPr/>
          </p:nvSpPr>
          <p:spPr bwMode="auto">
            <a:xfrm>
              <a:off x="2559050" y="4725988"/>
              <a:ext cx="9953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67" name="Rectangle 181">
              <a:extLst>
                <a:ext uri="{FF2B5EF4-FFF2-40B4-BE49-F238E27FC236}">
                  <a16:creationId xmlns:a16="http://schemas.microsoft.com/office/drawing/2014/main" id="{EF29E465-5C34-BBFD-AE28-6C80FA612613}"/>
                </a:ext>
              </a:extLst>
            </p:cNvPr>
            <p:cNvSpPr>
              <a:spLocks noChangeArrowheads="1"/>
            </p:cNvSpPr>
            <p:nvPr/>
          </p:nvSpPr>
          <p:spPr bwMode="auto">
            <a:xfrm>
              <a:off x="40386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8" name="Rectangle 182">
              <a:extLst>
                <a:ext uri="{FF2B5EF4-FFF2-40B4-BE49-F238E27FC236}">
                  <a16:creationId xmlns:a16="http://schemas.microsoft.com/office/drawing/2014/main" id="{8E934C9C-96EF-4D3F-7815-A61994D48969}"/>
                </a:ext>
              </a:extLst>
            </p:cNvPr>
            <p:cNvSpPr>
              <a:spLocks noChangeArrowheads="1"/>
            </p:cNvSpPr>
            <p:nvPr/>
          </p:nvSpPr>
          <p:spPr bwMode="auto">
            <a:xfrm>
              <a:off x="3981450" y="4725988"/>
              <a:ext cx="10366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69" name="Rectangle 183">
              <a:extLst>
                <a:ext uri="{FF2B5EF4-FFF2-40B4-BE49-F238E27FC236}">
                  <a16:creationId xmlns:a16="http://schemas.microsoft.com/office/drawing/2014/main" id="{AC375CBA-1BF6-3A98-7440-ACCB54FF7D5D}"/>
                </a:ext>
              </a:extLst>
            </p:cNvPr>
            <p:cNvSpPr>
              <a:spLocks noChangeArrowheads="1"/>
            </p:cNvSpPr>
            <p:nvPr/>
          </p:nvSpPr>
          <p:spPr bwMode="auto">
            <a:xfrm>
              <a:off x="54927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0" name="Rectangle 184">
              <a:extLst>
                <a:ext uri="{FF2B5EF4-FFF2-40B4-BE49-F238E27FC236}">
                  <a16:creationId xmlns:a16="http://schemas.microsoft.com/office/drawing/2014/main" id="{2D9CFD37-F0CC-8B17-9CEF-68A5783AE0FB}"/>
                </a:ext>
              </a:extLst>
            </p:cNvPr>
            <p:cNvSpPr>
              <a:spLocks noChangeArrowheads="1"/>
            </p:cNvSpPr>
            <p:nvPr/>
          </p:nvSpPr>
          <p:spPr bwMode="auto">
            <a:xfrm>
              <a:off x="5435600" y="4725988"/>
              <a:ext cx="9636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71" name="Rectangle 185">
              <a:extLst>
                <a:ext uri="{FF2B5EF4-FFF2-40B4-BE49-F238E27FC236}">
                  <a16:creationId xmlns:a16="http://schemas.microsoft.com/office/drawing/2014/main" id="{F09E2CAA-A51E-9B17-11DA-AD74B9E488B2}"/>
                </a:ext>
              </a:extLst>
            </p:cNvPr>
            <p:cNvSpPr>
              <a:spLocks noChangeArrowheads="1"/>
            </p:cNvSpPr>
            <p:nvPr/>
          </p:nvSpPr>
          <p:spPr bwMode="auto">
            <a:xfrm>
              <a:off x="69088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Rectangle 186">
              <a:extLst>
                <a:ext uri="{FF2B5EF4-FFF2-40B4-BE49-F238E27FC236}">
                  <a16:creationId xmlns:a16="http://schemas.microsoft.com/office/drawing/2014/main" id="{C53CA360-FC5B-F7B2-34B2-2E3F7517D911}"/>
                </a:ext>
              </a:extLst>
            </p:cNvPr>
            <p:cNvSpPr>
              <a:spLocks noChangeArrowheads="1"/>
            </p:cNvSpPr>
            <p:nvPr/>
          </p:nvSpPr>
          <p:spPr bwMode="auto">
            <a:xfrm>
              <a:off x="685800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73" name="Rectangle 187">
              <a:extLst>
                <a:ext uri="{FF2B5EF4-FFF2-40B4-BE49-F238E27FC236}">
                  <a16:creationId xmlns:a16="http://schemas.microsoft.com/office/drawing/2014/main" id="{3E2914D6-BCEC-F7C0-40CE-B5FCC39866C3}"/>
                </a:ext>
              </a:extLst>
            </p:cNvPr>
            <p:cNvSpPr>
              <a:spLocks noChangeArrowheads="1"/>
            </p:cNvSpPr>
            <p:nvPr/>
          </p:nvSpPr>
          <p:spPr bwMode="auto">
            <a:xfrm>
              <a:off x="1125538" y="47291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4" name="Rectangle 188">
              <a:extLst>
                <a:ext uri="{FF2B5EF4-FFF2-40B4-BE49-F238E27FC236}">
                  <a16:creationId xmlns:a16="http://schemas.microsoft.com/office/drawing/2014/main" id="{45CC4698-0198-2C5E-1EAB-25A6C3BFB19D}"/>
                </a:ext>
              </a:extLst>
            </p:cNvPr>
            <p:cNvSpPr>
              <a:spLocks noChangeArrowheads="1"/>
            </p:cNvSpPr>
            <p:nvPr/>
          </p:nvSpPr>
          <p:spPr bwMode="auto">
            <a:xfrm>
              <a:off x="10604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cxnSp>
          <p:nvCxnSpPr>
            <p:cNvPr id="75" name="AutoShape 189">
              <a:extLst>
                <a:ext uri="{FF2B5EF4-FFF2-40B4-BE49-F238E27FC236}">
                  <a16:creationId xmlns:a16="http://schemas.microsoft.com/office/drawing/2014/main" id="{E3E9688A-1F83-B1E7-EA9E-E8039B2E95AA}"/>
                </a:ext>
              </a:extLst>
            </p:cNvPr>
            <p:cNvCxnSpPr>
              <a:cxnSpLocks noChangeShapeType="1"/>
              <a:stCxn id="24" idx="0"/>
              <a:endCxn id="16" idx="1"/>
            </p:cNvCxnSpPr>
            <p:nvPr/>
          </p:nvCxnSpPr>
          <p:spPr bwMode="auto">
            <a:xfrm rot="5400000" flipH="1" flipV="1">
              <a:off x="1824832" y="1958182"/>
              <a:ext cx="1924051" cy="2405062"/>
            </a:xfrm>
            <a:prstGeom prst="bentConnector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76" name="AutoShape 190">
              <a:extLst>
                <a:ext uri="{FF2B5EF4-FFF2-40B4-BE49-F238E27FC236}">
                  <a16:creationId xmlns:a16="http://schemas.microsoft.com/office/drawing/2014/main" id="{36D54B1B-5773-1AB8-9534-62B728F5FD31}"/>
                </a:ext>
              </a:extLst>
            </p:cNvPr>
            <p:cNvCxnSpPr>
              <a:cxnSpLocks noChangeShapeType="1"/>
              <a:stCxn id="16" idx="2"/>
              <a:endCxn id="28" idx="0"/>
            </p:cNvCxnSpPr>
            <p:nvPr/>
          </p:nvCxnSpPr>
          <p:spPr bwMode="auto">
            <a:xfrm rot="5400000">
              <a:off x="2939257" y="2615407"/>
              <a:ext cx="1657351" cy="1357313"/>
            </a:xfrm>
            <a:prstGeom prst="bentConnector3">
              <a:avLst>
                <a:gd name="adj1" fmla="val 50000"/>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77" name="Rectangle 192">
              <a:extLst>
                <a:ext uri="{FF2B5EF4-FFF2-40B4-BE49-F238E27FC236}">
                  <a16:creationId xmlns:a16="http://schemas.microsoft.com/office/drawing/2014/main" id="{0787FDC5-C5C1-EA46-027E-40AF46FAAA75}"/>
                </a:ext>
              </a:extLst>
            </p:cNvPr>
            <p:cNvSpPr>
              <a:spLocks noChangeArrowheads="1"/>
            </p:cNvSpPr>
            <p:nvPr/>
          </p:nvSpPr>
          <p:spPr bwMode="auto">
            <a:xfrm>
              <a:off x="1938338" y="2974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8" name="Text Box 163">
              <a:extLst>
                <a:ext uri="{FF2B5EF4-FFF2-40B4-BE49-F238E27FC236}">
                  <a16:creationId xmlns:a16="http://schemas.microsoft.com/office/drawing/2014/main" id="{4665390D-0DA2-FF8E-67E8-EE3510CBAFA2}"/>
                </a:ext>
              </a:extLst>
            </p:cNvPr>
            <p:cNvSpPr txBox="1">
              <a:spLocks noChangeArrowheads="1"/>
            </p:cNvSpPr>
            <p:nvPr/>
          </p:nvSpPr>
          <p:spPr bwMode="auto">
            <a:xfrm>
              <a:off x="19716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Workflow</a:t>
              </a:r>
            </a:p>
          </p:txBody>
        </p:sp>
        <p:sp>
          <p:nvSpPr>
            <p:cNvPr id="79" name="Text Box 193">
              <a:extLst>
                <a:ext uri="{FF2B5EF4-FFF2-40B4-BE49-F238E27FC236}">
                  <a16:creationId xmlns:a16="http://schemas.microsoft.com/office/drawing/2014/main" id="{559BFAFE-5B74-4F17-F670-D9D6201E078F}"/>
                </a:ext>
              </a:extLst>
            </p:cNvPr>
            <p:cNvSpPr txBox="1">
              <a:spLocks noChangeArrowheads="1"/>
            </p:cNvSpPr>
            <p:nvPr/>
          </p:nvSpPr>
          <p:spPr bwMode="auto">
            <a:xfrm>
              <a:off x="40671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CAD</a:t>
              </a:r>
            </a:p>
          </p:txBody>
        </p:sp>
        <p:grpSp>
          <p:nvGrpSpPr>
            <p:cNvPr id="80" name="Group 213">
              <a:extLst>
                <a:ext uri="{FF2B5EF4-FFF2-40B4-BE49-F238E27FC236}">
                  <a16:creationId xmlns:a16="http://schemas.microsoft.com/office/drawing/2014/main" id="{3B1D2B0B-1A14-89FC-D6FB-65A53D92AAA9}"/>
                </a:ext>
              </a:extLst>
            </p:cNvPr>
            <p:cNvGrpSpPr>
              <a:grpSpLocks/>
            </p:cNvGrpSpPr>
            <p:nvPr/>
          </p:nvGrpSpPr>
          <p:grpSpPr bwMode="auto">
            <a:xfrm>
              <a:off x="2049463" y="3517900"/>
              <a:ext cx="150812" cy="908050"/>
              <a:chOff x="1152" y="756"/>
              <a:chExt cx="92" cy="340"/>
            </a:xfrm>
          </p:grpSpPr>
          <p:sp>
            <p:nvSpPr>
              <p:cNvPr id="81" name="Line 214">
                <a:extLst>
                  <a:ext uri="{FF2B5EF4-FFF2-40B4-BE49-F238E27FC236}">
                    <a16:creationId xmlns:a16="http://schemas.microsoft.com/office/drawing/2014/main" id="{5A039FB3-E567-1527-B4CA-CBDF9D53EAF2}"/>
                  </a:ext>
                </a:extLst>
              </p:cNvPr>
              <p:cNvSpPr>
                <a:spLocks noChangeShapeType="1"/>
              </p:cNvSpPr>
              <p:nvPr/>
            </p:nvSpPr>
            <p:spPr bwMode="auto">
              <a:xfrm>
                <a:off x="1152" y="1096"/>
                <a:ext cx="5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82" name="Line 215">
                <a:extLst>
                  <a:ext uri="{FF2B5EF4-FFF2-40B4-BE49-F238E27FC236}">
                    <a16:creationId xmlns:a16="http://schemas.microsoft.com/office/drawing/2014/main" id="{CCE40CF2-EF19-79C6-9A43-C67886D2A87E}"/>
                  </a:ext>
                </a:extLst>
              </p:cNvPr>
              <p:cNvSpPr>
                <a:spLocks noChangeShapeType="1"/>
              </p:cNvSpPr>
              <p:nvPr/>
            </p:nvSpPr>
            <p:spPr bwMode="auto">
              <a:xfrm flipV="1">
                <a:off x="1244" y="756"/>
                <a:ext cx="0" cy="188"/>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87" name="Line 216">
                <a:extLst>
                  <a:ext uri="{FF2B5EF4-FFF2-40B4-BE49-F238E27FC236}">
                    <a16:creationId xmlns:a16="http://schemas.microsoft.com/office/drawing/2014/main" id="{96BBB916-90D5-E004-944A-0AC257F1D1C3}"/>
                  </a:ext>
                </a:extLst>
              </p:cNvPr>
              <p:cNvSpPr>
                <a:spLocks noChangeShapeType="1"/>
              </p:cNvSpPr>
              <p:nvPr/>
            </p:nvSpPr>
            <p:spPr bwMode="auto">
              <a:xfrm flipV="1">
                <a:off x="1210" y="924"/>
                <a:ext cx="0" cy="17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90" name="AutoShape 217">
                <a:extLst>
                  <a:ext uri="{FF2B5EF4-FFF2-40B4-BE49-F238E27FC236}">
                    <a16:creationId xmlns:a16="http://schemas.microsoft.com/office/drawing/2014/main" id="{B14E9B1F-5FE8-28EE-4079-F3D1D2EA7FC1}"/>
                  </a:ext>
                </a:extLst>
              </p:cNvPr>
              <p:cNvCxnSpPr>
                <a:cxnSpLocks noChangeShapeType="1"/>
                <a:stCxn id="87" idx="1"/>
                <a:endCxn id="82" idx="0"/>
              </p:cNvCxnSpPr>
              <p:nvPr/>
            </p:nvCxnSpPr>
            <p:spPr bwMode="auto">
              <a:xfrm>
                <a:off x="1210" y="924"/>
                <a:ext cx="34" cy="2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91" name="Group 250">
              <a:extLst>
                <a:ext uri="{FF2B5EF4-FFF2-40B4-BE49-F238E27FC236}">
                  <a16:creationId xmlns:a16="http://schemas.microsoft.com/office/drawing/2014/main" id="{76384827-47E6-D75A-590F-1334375BCD98}"/>
                </a:ext>
              </a:extLst>
            </p:cNvPr>
            <p:cNvGrpSpPr>
              <a:grpSpLocks/>
            </p:cNvGrpSpPr>
            <p:nvPr/>
          </p:nvGrpSpPr>
          <p:grpSpPr bwMode="auto">
            <a:xfrm>
              <a:off x="2851150" y="3344863"/>
              <a:ext cx="1181100" cy="1104900"/>
              <a:chOff x="1796" y="1947"/>
              <a:chExt cx="744" cy="696"/>
            </a:xfrm>
          </p:grpSpPr>
          <p:sp>
            <p:nvSpPr>
              <p:cNvPr id="93" name="Line 233">
                <a:extLst>
                  <a:ext uri="{FF2B5EF4-FFF2-40B4-BE49-F238E27FC236}">
                    <a16:creationId xmlns:a16="http://schemas.microsoft.com/office/drawing/2014/main" id="{BB35B850-4601-2642-1401-EF32ECE60971}"/>
                  </a:ext>
                </a:extLst>
              </p:cNvPr>
              <p:cNvSpPr>
                <a:spLocks noChangeShapeType="1"/>
              </p:cNvSpPr>
              <p:nvPr/>
            </p:nvSpPr>
            <p:spPr bwMode="auto">
              <a:xfrm>
                <a:off x="2393" y="2643"/>
                <a:ext cx="147"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94" name="Line 234">
                <a:extLst>
                  <a:ext uri="{FF2B5EF4-FFF2-40B4-BE49-F238E27FC236}">
                    <a16:creationId xmlns:a16="http://schemas.microsoft.com/office/drawing/2014/main" id="{6FBB1D47-89E4-15E3-21B2-994C11294B8B}"/>
                  </a:ext>
                </a:extLst>
              </p:cNvPr>
              <p:cNvSpPr>
                <a:spLocks noChangeShapeType="1"/>
              </p:cNvSpPr>
              <p:nvPr/>
            </p:nvSpPr>
            <p:spPr bwMode="auto">
              <a:xfrm flipH="1" flipV="1">
                <a:off x="2360" y="1991"/>
                <a:ext cx="0" cy="36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95" name="Line 235">
                <a:extLst>
                  <a:ext uri="{FF2B5EF4-FFF2-40B4-BE49-F238E27FC236}">
                    <a16:creationId xmlns:a16="http://schemas.microsoft.com/office/drawing/2014/main" id="{B3D7C5D7-4465-E71F-2778-AEB89B46E81E}"/>
                  </a:ext>
                </a:extLst>
              </p:cNvPr>
              <p:cNvSpPr>
                <a:spLocks noChangeShapeType="1"/>
              </p:cNvSpPr>
              <p:nvPr/>
            </p:nvSpPr>
            <p:spPr bwMode="auto">
              <a:xfrm flipH="1" flipV="1">
                <a:off x="2391" y="2313"/>
                <a:ext cx="0" cy="33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96" name="AutoShape 236">
                <a:extLst>
                  <a:ext uri="{FF2B5EF4-FFF2-40B4-BE49-F238E27FC236}">
                    <a16:creationId xmlns:a16="http://schemas.microsoft.com/office/drawing/2014/main" id="{E0C40593-E954-93D9-9792-5C0617F85198}"/>
                  </a:ext>
                </a:extLst>
              </p:cNvPr>
              <p:cNvCxnSpPr>
                <a:cxnSpLocks noChangeShapeType="1"/>
                <a:stCxn id="95" idx="1"/>
                <a:endCxn id="94" idx="0"/>
              </p:cNvCxnSpPr>
              <p:nvPr/>
            </p:nvCxnSpPr>
            <p:spPr bwMode="auto">
              <a:xfrm flipH="1">
                <a:off x="2360" y="2314"/>
                <a:ext cx="31" cy="3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97" name="Group 237">
                <a:extLst>
                  <a:ext uri="{FF2B5EF4-FFF2-40B4-BE49-F238E27FC236}">
                    <a16:creationId xmlns:a16="http://schemas.microsoft.com/office/drawing/2014/main" id="{29E99344-A085-8D27-2F73-6856CD4F37E7}"/>
                  </a:ext>
                </a:extLst>
              </p:cNvPr>
              <p:cNvGrpSpPr>
                <a:grpSpLocks/>
              </p:cNvGrpSpPr>
              <p:nvPr/>
            </p:nvGrpSpPr>
            <p:grpSpPr bwMode="auto">
              <a:xfrm flipH="1">
                <a:off x="1796" y="1947"/>
                <a:ext cx="563" cy="45"/>
                <a:chOff x="2437" y="1862"/>
                <a:chExt cx="536" cy="49"/>
              </a:xfrm>
            </p:grpSpPr>
            <p:sp>
              <p:nvSpPr>
                <p:cNvPr id="98" name="Line 238">
                  <a:extLst>
                    <a:ext uri="{FF2B5EF4-FFF2-40B4-BE49-F238E27FC236}">
                      <a16:creationId xmlns:a16="http://schemas.microsoft.com/office/drawing/2014/main" id="{DE3EF985-CB74-4BFD-EAE2-1BF9111C49F9}"/>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99" name="Line 239">
                  <a:extLst>
                    <a:ext uri="{FF2B5EF4-FFF2-40B4-BE49-F238E27FC236}">
                      <a16:creationId xmlns:a16="http://schemas.microsoft.com/office/drawing/2014/main" id="{0E83BA75-121E-E155-904F-157F3F25C381}"/>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00" name="AutoShape 240">
                  <a:extLst>
                    <a:ext uri="{FF2B5EF4-FFF2-40B4-BE49-F238E27FC236}">
                      <a16:creationId xmlns:a16="http://schemas.microsoft.com/office/drawing/2014/main" id="{DADE019D-1B09-C281-EE35-E64A82DDA79E}"/>
                    </a:ext>
                  </a:extLst>
                </p:cNvPr>
                <p:cNvCxnSpPr>
                  <a:cxnSpLocks noChangeShapeType="1"/>
                  <a:stCxn id="99" idx="1"/>
                  <a:endCxn id="98"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grpSp>
          <p:nvGrpSpPr>
            <p:cNvPr id="101" name="Group 241">
              <a:extLst>
                <a:ext uri="{FF2B5EF4-FFF2-40B4-BE49-F238E27FC236}">
                  <a16:creationId xmlns:a16="http://schemas.microsoft.com/office/drawing/2014/main" id="{856F7C4D-5AB5-EA21-2B97-10E2BF1A2EAA}"/>
                </a:ext>
              </a:extLst>
            </p:cNvPr>
            <p:cNvGrpSpPr>
              <a:grpSpLocks/>
            </p:cNvGrpSpPr>
            <p:nvPr/>
          </p:nvGrpSpPr>
          <p:grpSpPr bwMode="auto">
            <a:xfrm>
              <a:off x="2849563" y="3446463"/>
              <a:ext cx="850900" cy="979487"/>
              <a:chOff x="1795" y="1955"/>
              <a:chExt cx="536" cy="673"/>
            </a:xfrm>
          </p:grpSpPr>
          <p:sp>
            <p:nvSpPr>
              <p:cNvPr id="102" name="Line 242">
                <a:extLst>
                  <a:ext uri="{FF2B5EF4-FFF2-40B4-BE49-F238E27FC236}">
                    <a16:creationId xmlns:a16="http://schemas.microsoft.com/office/drawing/2014/main" id="{16511F95-1C8E-A937-488F-C3D5DC435A25}"/>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03" name="Line 243">
                <a:extLst>
                  <a:ext uri="{FF2B5EF4-FFF2-40B4-BE49-F238E27FC236}">
                    <a16:creationId xmlns:a16="http://schemas.microsoft.com/office/drawing/2014/main" id="{C7878576-A0EB-6BC9-6FBD-606CF68BD63E}"/>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04" name="Line 244">
                <a:extLst>
                  <a:ext uri="{FF2B5EF4-FFF2-40B4-BE49-F238E27FC236}">
                    <a16:creationId xmlns:a16="http://schemas.microsoft.com/office/drawing/2014/main" id="{7FF3A0BC-982D-BD2B-B0BD-44DD49697D7B}"/>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05" name="AutoShape 245">
                <a:extLst>
                  <a:ext uri="{FF2B5EF4-FFF2-40B4-BE49-F238E27FC236}">
                    <a16:creationId xmlns:a16="http://schemas.microsoft.com/office/drawing/2014/main" id="{7B2093EB-8B09-00C6-D8DE-23E5EB637E64}"/>
                  </a:ext>
                </a:extLst>
              </p:cNvPr>
              <p:cNvCxnSpPr>
                <a:cxnSpLocks noChangeShapeType="1"/>
                <a:stCxn id="104" idx="1"/>
                <a:endCxn id="103"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06" name="Line 246">
                <a:extLst>
                  <a:ext uri="{FF2B5EF4-FFF2-40B4-BE49-F238E27FC236}">
                    <a16:creationId xmlns:a16="http://schemas.microsoft.com/office/drawing/2014/main" id="{439CEFD6-CBC9-4D82-B93B-45E57C71EEDF}"/>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07" name="Line 247">
                <a:extLst>
                  <a:ext uri="{FF2B5EF4-FFF2-40B4-BE49-F238E27FC236}">
                    <a16:creationId xmlns:a16="http://schemas.microsoft.com/office/drawing/2014/main" id="{1CC535F0-1E4C-72D5-D085-D8F3DDBFEF3C}"/>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08" name="AutoShape 248">
                <a:extLst>
                  <a:ext uri="{FF2B5EF4-FFF2-40B4-BE49-F238E27FC236}">
                    <a16:creationId xmlns:a16="http://schemas.microsoft.com/office/drawing/2014/main" id="{8099C59E-E65E-DF11-F28F-D40DDD21FC5B}"/>
                  </a:ext>
                </a:extLst>
              </p:cNvPr>
              <p:cNvCxnSpPr>
                <a:cxnSpLocks noChangeShapeType="1"/>
                <a:stCxn id="107" idx="1"/>
                <a:endCxn id="106"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09" name="Group 253">
              <a:extLst>
                <a:ext uri="{FF2B5EF4-FFF2-40B4-BE49-F238E27FC236}">
                  <a16:creationId xmlns:a16="http://schemas.microsoft.com/office/drawing/2014/main" id="{39617C2E-16C9-C0BF-D9AB-D827EA69D1C1}"/>
                </a:ext>
              </a:extLst>
            </p:cNvPr>
            <p:cNvGrpSpPr>
              <a:grpSpLocks/>
            </p:cNvGrpSpPr>
            <p:nvPr/>
          </p:nvGrpSpPr>
          <p:grpSpPr bwMode="auto">
            <a:xfrm>
              <a:off x="2862263" y="3186113"/>
              <a:ext cx="2609850" cy="1239837"/>
              <a:chOff x="1803" y="1847"/>
              <a:chExt cx="1644" cy="781"/>
            </a:xfrm>
          </p:grpSpPr>
          <p:grpSp>
            <p:nvGrpSpPr>
              <p:cNvPr id="110" name="Group 231">
                <a:extLst>
                  <a:ext uri="{FF2B5EF4-FFF2-40B4-BE49-F238E27FC236}">
                    <a16:creationId xmlns:a16="http://schemas.microsoft.com/office/drawing/2014/main" id="{2DCEBBAD-046A-4133-B299-A6303468E684}"/>
                  </a:ext>
                </a:extLst>
              </p:cNvPr>
              <p:cNvGrpSpPr>
                <a:grpSpLocks/>
              </p:cNvGrpSpPr>
              <p:nvPr/>
            </p:nvGrpSpPr>
            <p:grpSpPr bwMode="auto">
              <a:xfrm>
                <a:off x="2525" y="2231"/>
                <a:ext cx="922" cy="397"/>
                <a:chOff x="1796" y="1862"/>
                <a:chExt cx="736" cy="766"/>
              </a:xfrm>
            </p:grpSpPr>
            <p:sp>
              <p:nvSpPr>
                <p:cNvPr id="112" name="Line 207">
                  <a:extLst>
                    <a:ext uri="{FF2B5EF4-FFF2-40B4-BE49-F238E27FC236}">
                      <a16:creationId xmlns:a16="http://schemas.microsoft.com/office/drawing/2014/main" id="{90D082BD-ADCD-DF05-92C3-2A721B360AE8}"/>
                    </a:ext>
                  </a:extLst>
                </p:cNvPr>
                <p:cNvSpPr>
                  <a:spLocks noChangeShapeType="1"/>
                </p:cNvSpPr>
                <p:nvPr/>
              </p:nvSpPr>
              <p:spPr bwMode="auto">
                <a:xfrm>
                  <a:off x="2474"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13" name="Line 208">
                  <a:extLst>
                    <a:ext uri="{FF2B5EF4-FFF2-40B4-BE49-F238E27FC236}">
                      <a16:creationId xmlns:a16="http://schemas.microsoft.com/office/drawing/2014/main" id="{AEC29849-2386-BE2E-959C-9D91BE8E7B4D}"/>
                    </a:ext>
                  </a:extLst>
                </p:cNvPr>
                <p:cNvSpPr>
                  <a:spLocks noChangeShapeType="1"/>
                </p:cNvSpPr>
                <p:nvPr/>
              </p:nvSpPr>
              <p:spPr bwMode="auto">
                <a:xfrm flipH="1" flipV="1">
                  <a:off x="2437" y="1910"/>
                  <a:ext cx="0" cy="39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14" name="Line 209">
                  <a:extLst>
                    <a:ext uri="{FF2B5EF4-FFF2-40B4-BE49-F238E27FC236}">
                      <a16:creationId xmlns:a16="http://schemas.microsoft.com/office/drawing/2014/main" id="{6852856A-5DF5-A038-60CD-EC1B8C5578A5}"/>
                    </a:ext>
                  </a:extLst>
                </p:cNvPr>
                <p:cNvSpPr>
                  <a:spLocks noChangeShapeType="1"/>
                </p:cNvSpPr>
                <p:nvPr/>
              </p:nvSpPr>
              <p:spPr bwMode="auto">
                <a:xfrm flipH="1" flipV="1">
                  <a:off x="2472" y="2265"/>
                  <a:ext cx="0" cy="36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15" name="AutoShape 210">
                  <a:extLst>
                    <a:ext uri="{FF2B5EF4-FFF2-40B4-BE49-F238E27FC236}">
                      <a16:creationId xmlns:a16="http://schemas.microsoft.com/office/drawing/2014/main" id="{44BA015D-1A60-118A-982F-5B4768D453D3}"/>
                    </a:ext>
                  </a:extLst>
                </p:cNvPr>
                <p:cNvCxnSpPr>
                  <a:cxnSpLocks noChangeShapeType="1"/>
                  <a:stCxn id="114" idx="1"/>
                  <a:endCxn id="113" idx="0"/>
                </p:cNvCxnSpPr>
                <p:nvPr/>
              </p:nvCxnSpPr>
              <p:spPr bwMode="auto">
                <a:xfrm flipH="1">
                  <a:off x="2437" y="2266"/>
                  <a:ext cx="35"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116" name="Group 230">
                  <a:extLst>
                    <a:ext uri="{FF2B5EF4-FFF2-40B4-BE49-F238E27FC236}">
                      <a16:creationId xmlns:a16="http://schemas.microsoft.com/office/drawing/2014/main" id="{2B99671F-B2B9-8BA1-4F4E-3DCE220EE8C9}"/>
                    </a:ext>
                  </a:extLst>
                </p:cNvPr>
                <p:cNvGrpSpPr>
                  <a:grpSpLocks/>
                </p:cNvGrpSpPr>
                <p:nvPr/>
              </p:nvGrpSpPr>
              <p:grpSpPr bwMode="auto">
                <a:xfrm flipH="1">
                  <a:off x="1796" y="1862"/>
                  <a:ext cx="640" cy="49"/>
                  <a:chOff x="2437" y="1862"/>
                  <a:chExt cx="536" cy="49"/>
                </a:xfrm>
              </p:grpSpPr>
              <p:sp>
                <p:nvSpPr>
                  <p:cNvPr id="117" name="Line 218">
                    <a:extLst>
                      <a:ext uri="{FF2B5EF4-FFF2-40B4-BE49-F238E27FC236}">
                        <a16:creationId xmlns:a16="http://schemas.microsoft.com/office/drawing/2014/main" id="{BAB67EA4-5337-A550-473C-D917703C68AC}"/>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18" name="Line 219">
                    <a:extLst>
                      <a:ext uri="{FF2B5EF4-FFF2-40B4-BE49-F238E27FC236}">
                        <a16:creationId xmlns:a16="http://schemas.microsoft.com/office/drawing/2014/main" id="{5EFABD07-B888-7A2A-6B61-F47740D121DB}"/>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19" name="AutoShape 220">
                    <a:extLst>
                      <a:ext uri="{FF2B5EF4-FFF2-40B4-BE49-F238E27FC236}">
                        <a16:creationId xmlns:a16="http://schemas.microsoft.com/office/drawing/2014/main" id="{DEE433B9-96A9-6EA1-E60C-CC2F84326928}"/>
                      </a:ext>
                    </a:extLst>
                  </p:cNvPr>
                  <p:cNvCxnSpPr>
                    <a:cxnSpLocks noChangeShapeType="1"/>
                    <a:stCxn id="118" idx="1"/>
                    <a:endCxn id="117"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cxnSp>
            <p:nvCxnSpPr>
              <p:cNvPr id="111" name="AutoShape 251">
                <a:extLst>
                  <a:ext uri="{FF2B5EF4-FFF2-40B4-BE49-F238E27FC236}">
                    <a16:creationId xmlns:a16="http://schemas.microsoft.com/office/drawing/2014/main" id="{882F30C1-D74B-FA62-AA86-225DBE0B9F56}"/>
                  </a:ext>
                </a:extLst>
              </p:cNvPr>
              <p:cNvCxnSpPr>
                <a:cxnSpLocks noChangeShapeType="1"/>
                <a:stCxn id="117" idx="1"/>
              </p:cNvCxnSpPr>
              <p:nvPr/>
            </p:nvCxnSpPr>
            <p:spPr bwMode="auto">
              <a:xfrm rot="10800000">
                <a:off x="1803" y="1847"/>
                <a:ext cx="723" cy="385"/>
              </a:xfrm>
              <a:prstGeom prst="bentConnector3">
                <a:avLst>
                  <a:gd name="adj1" fmla="val 14657"/>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grpSp>
          <p:nvGrpSpPr>
            <p:cNvPr id="120" name="Group 254">
              <a:extLst>
                <a:ext uri="{FF2B5EF4-FFF2-40B4-BE49-F238E27FC236}">
                  <a16:creationId xmlns:a16="http://schemas.microsoft.com/office/drawing/2014/main" id="{305A687B-6423-1F4C-91E3-AF955B6B3363}"/>
                </a:ext>
              </a:extLst>
            </p:cNvPr>
            <p:cNvGrpSpPr>
              <a:grpSpLocks/>
            </p:cNvGrpSpPr>
            <p:nvPr/>
          </p:nvGrpSpPr>
          <p:grpSpPr bwMode="auto">
            <a:xfrm>
              <a:off x="2836863" y="3252788"/>
              <a:ext cx="2322512" cy="1179512"/>
              <a:chOff x="1787" y="1885"/>
              <a:chExt cx="1463" cy="743"/>
            </a:xfrm>
          </p:grpSpPr>
          <p:grpSp>
            <p:nvGrpSpPr>
              <p:cNvPr id="121" name="Group 255">
                <a:extLst>
                  <a:ext uri="{FF2B5EF4-FFF2-40B4-BE49-F238E27FC236}">
                    <a16:creationId xmlns:a16="http://schemas.microsoft.com/office/drawing/2014/main" id="{2F9912C7-2014-C664-1AC0-ECA941E3F022}"/>
                  </a:ext>
                </a:extLst>
              </p:cNvPr>
              <p:cNvGrpSpPr>
                <a:grpSpLocks/>
              </p:cNvGrpSpPr>
              <p:nvPr/>
            </p:nvGrpSpPr>
            <p:grpSpPr bwMode="auto">
              <a:xfrm>
                <a:off x="2506" y="2288"/>
                <a:ext cx="744" cy="340"/>
                <a:chOff x="1795" y="1955"/>
                <a:chExt cx="536" cy="673"/>
              </a:xfrm>
            </p:grpSpPr>
            <p:sp>
              <p:nvSpPr>
                <p:cNvPr id="123" name="Line 256">
                  <a:extLst>
                    <a:ext uri="{FF2B5EF4-FFF2-40B4-BE49-F238E27FC236}">
                      <a16:creationId xmlns:a16="http://schemas.microsoft.com/office/drawing/2014/main" id="{9A07C094-EEA0-C83C-8B6E-C41F66335537}"/>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24" name="Line 257">
                  <a:extLst>
                    <a:ext uri="{FF2B5EF4-FFF2-40B4-BE49-F238E27FC236}">
                      <a16:creationId xmlns:a16="http://schemas.microsoft.com/office/drawing/2014/main" id="{5D3DF9D9-E06A-0E3D-5855-67D2B0B69E20}"/>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25" name="Line 258">
                  <a:extLst>
                    <a:ext uri="{FF2B5EF4-FFF2-40B4-BE49-F238E27FC236}">
                      <a16:creationId xmlns:a16="http://schemas.microsoft.com/office/drawing/2014/main" id="{495D0E9A-D43F-F6DE-4EEE-89DCC4689DBA}"/>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26" name="AutoShape 259">
                  <a:extLst>
                    <a:ext uri="{FF2B5EF4-FFF2-40B4-BE49-F238E27FC236}">
                      <a16:creationId xmlns:a16="http://schemas.microsoft.com/office/drawing/2014/main" id="{2AEFAED0-77F6-ED12-21DF-850F1444C6E2}"/>
                    </a:ext>
                  </a:extLst>
                </p:cNvPr>
                <p:cNvCxnSpPr>
                  <a:cxnSpLocks noChangeShapeType="1"/>
                  <a:stCxn id="125" idx="1"/>
                  <a:endCxn id="124"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27" name="Line 260">
                  <a:extLst>
                    <a:ext uri="{FF2B5EF4-FFF2-40B4-BE49-F238E27FC236}">
                      <a16:creationId xmlns:a16="http://schemas.microsoft.com/office/drawing/2014/main" id="{7C11A1BF-C198-85D0-1B05-94518C869F7C}"/>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28" name="Line 261">
                  <a:extLst>
                    <a:ext uri="{FF2B5EF4-FFF2-40B4-BE49-F238E27FC236}">
                      <a16:creationId xmlns:a16="http://schemas.microsoft.com/office/drawing/2014/main" id="{A6FAEE27-545A-D302-2360-24F9A734C4D5}"/>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29" name="AutoShape 262">
                  <a:extLst>
                    <a:ext uri="{FF2B5EF4-FFF2-40B4-BE49-F238E27FC236}">
                      <a16:creationId xmlns:a16="http://schemas.microsoft.com/office/drawing/2014/main" id="{D5FC47C0-2846-1647-4308-B0329BFCB271}"/>
                    </a:ext>
                  </a:extLst>
                </p:cNvPr>
                <p:cNvCxnSpPr>
                  <a:cxnSpLocks noChangeShapeType="1"/>
                  <a:stCxn id="128" idx="1"/>
                  <a:endCxn id="127"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122" name="AutoShape 263">
                <a:extLst>
                  <a:ext uri="{FF2B5EF4-FFF2-40B4-BE49-F238E27FC236}">
                    <a16:creationId xmlns:a16="http://schemas.microsoft.com/office/drawing/2014/main" id="{5DA1337C-C257-C39B-FB31-EA205734334C}"/>
                  </a:ext>
                </a:extLst>
              </p:cNvPr>
              <p:cNvCxnSpPr>
                <a:cxnSpLocks noChangeShapeType="1"/>
                <a:stCxn id="127" idx="1"/>
              </p:cNvCxnSpPr>
              <p:nvPr/>
            </p:nvCxnSpPr>
            <p:spPr bwMode="auto">
              <a:xfrm rot="10800000">
                <a:off x="1787" y="1885"/>
                <a:ext cx="719" cy="403"/>
              </a:xfrm>
              <a:prstGeom prst="bentConnector3">
                <a:avLst>
                  <a:gd name="adj1" fmla="val 1501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130" name="Group 267">
              <a:extLst>
                <a:ext uri="{FF2B5EF4-FFF2-40B4-BE49-F238E27FC236}">
                  <a16:creationId xmlns:a16="http://schemas.microsoft.com/office/drawing/2014/main" id="{A009D1F6-E303-B0D0-4FC0-6E96384A870D}"/>
                </a:ext>
              </a:extLst>
            </p:cNvPr>
            <p:cNvGrpSpPr>
              <a:grpSpLocks/>
            </p:cNvGrpSpPr>
            <p:nvPr/>
          </p:nvGrpSpPr>
          <p:grpSpPr bwMode="auto">
            <a:xfrm>
              <a:off x="2852738" y="2841625"/>
              <a:ext cx="3760787" cy="1590675"/>
              <a:chOff x="1797" y="1630"/>
              <a:chExt cx="2369" cy="1002"/>
            </a:xfrm>
          </p:grpSpPr>
          <p:sp>
            <p:nvSpPr>
              <p:cNvPr id="131" name="Line 223">
                <a:extLst>
                  <a:ext uri="{FF2B5EF4-FFF2-40B4-BE49-F238E27FC236}">
                    <a16:creationId xmlns:a16="http://schemas.microsoft.com/office/drawing/2014/main" id="{76C3F27F-C9E7-109D-52DA-B7CB67E8673A}"/>
                  </a:ext>
                </a:extLst>
              </p:cNvPr>
              <p:cNvSpPr>
                <a:spLocks noChangeShapeType="1"/>
              </p:cNvSpPr>
              <p:nvPr/>
            </p:nvSpPr>
            <p:spPr bwMode="auto">
              <a:xfrm>
                <a:off x="4030" y="2632"/>
                <a:ext cx="8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32" name="Line 225">
                <a:extLst>
                  <a:ext uri="{FF2B5EF4-FFF2-40B4-BE49-F238E27FC236}">
                    <a16:creationId xmlns:a16="http://schemas.microsoft.com/office/drawing/2014/main" id="{85CA2477-6540-757F-27D3-CA2CCBABCB8D}"/>
                  </a:ext>
                </a:extLst>
              </p:cNvPr>
              <p:cNvSpPr>
                <a:spLocks noChangeShapeType="1"/>
              </p:cNvSpPr>
              <p:nvPr/>
            </p:nvSpPr>
            <p:spPr bwMode="auto">
              <a:xfrm flipV="1">
                <a:off x="4116" y="2158"/>
                <a:ext cx="0" cy="47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33" name="AutoShape 226">
                <a:extLst>
                  <a:ext uri="{FF2B5EF4-FFF2-40B4-BE49-F238E27FC236}">
                    <a16:creationId xmlns:a16="http://schemas.microsoft.com/office/drawing/2014/main" id="{5E8E7D2A-4E85-97F7-E66F-60AC50D0A600}"/>
                  </a:ext>
                </a:extLst>
              </p:cNvPr>
              <p:cNvCxnSpPr>
                <a:cxnSpLocks noChangeShapeType="1"/>
                <a:stCxn id="132" idx="1"/>
              </p:cNvCxnSpPr>
              <p:nvPr/>
            </p:nvCxnSpPr>
            <p:spPr bwMode="auto">
              <a:xfrm>
                <a:off x="4116" y="2158"/>
                <a:ext cx="50" cy="55"/>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34" name="Line 228">
                <a:extLst>
                  <a:ext uri="{FF2B5EF4-FFF2-40B4-BE49-F238E27FC236}">
                    <a16:creationId xmlns:a16="http://schemas.microsoft.com/office/drawing/2014/main" id="{FDA57A52-79D9-FFF3-9F2A-7E4AD2C2326B}"/>
                  </a:ext>
                </a:extLst>
              </p:cNvPr>
              <p:cNvSpPr>
                <a:spLocks noChangeShapeType="1"/>
              </p:cNvSpPr>
              <p:nvPr/>
            </p:nvSpPr>
            <p:spPr bwMode="auto">
              <a:xfrm rot="16200000" flipV="1">
                <a:off x="3938" y="1402"/>
                <a:ext cx="0" cy="45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35" name="AutoShape 229">
                <a:extLst>
                  <a:ext uri="{FF2B5EF4-FFF2-40B4-BE49-F238E27FC236}">
                    <a16:creationId xmlns:a16="http://schemas.microsoft.com/office/drawing/2014/main" id="{B57D40E3-D644-2CAA-67B0-2CCBF19921AC}"/>
                  </a:ext>
                </a:extLst>
              </p:cNvPr>
              <p:cNvCxnSpPr>
                <a:cxnSpLocks noChangeShapeType="1"/>
              </p:cNvCxnSpPr>
              <p:nvPr/>
            </p:nvCxnSpPr>
            <p:spPr bwMode="auto">
              <a:xfrm>
                <a:off x="3714" y="1630"/>
                <a:ext cx="132" cy="6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136" name="AutoShape 249">
                <a:extLst>
                  <a:ext uri="{FF2B5EF4-FFF2-40B4-BE49-F238E27FC236}">
                    <a16:creationId xmlns:a16="http://schemas.microsoft.com/office/drawing/2014/main" id="{96E89C4D-1E75-1566-E119-EDD9B217F3BC}"/>
                  </a:ext>
                </a:extLst>
              </p:cNvPr>
              <p:cNvCxnSpPr>
                <a:cxnSpLocks noChangeShapeType="1"/>
              </p:cNvCxnSpPr>
              <p:nvPr/>
            </p:nvCxnSpPr>
            <p:spPr bwMode="auto">
              <a:xfrm flipH="1">
                <a:off x="1797" y="1692"/>
                <a:ext cx="2055" cy="111"/>
              </a:xfrm>
              <a:prstGeom prst="bentConnector3">
                <a:avLst>
                  <a:gd name="adj1" fmla="val 8690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37" name="AutoShape 265">
                <a:extLst>
                  <a:ext uri="{FF2B5EF4-FFF2-40B4-BE49-F238E27FC236}">
                    <a16:creationId xmlns:a16="http://schemas.microsoft.com/office/drawing/2014/main" id="{9EB13BF8-59B4-E915-3DF6-2930E47879DE}"/>
                  </a:ext>
                </a:extLst>
              </p:cNvPr>
              <p:cNvCxnSpPr>
                <a:cxnSpLocks noChangeShapeType="1"/>
                <a:endCxn id="134" idx="0"/>
              </p:cNvCxnSpPr>
              <p:nvPr/>
            </p:nvCxnSpPr>
            <p:spPr bwMode="auto">
              <a:xfrm flipV="1">
                <a:off x="4166" y="1630"/>
                <a:ext cx="0" cy="586"/>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38" name="Group 268">
              <a:extLst>
                <a:ext uri="{FF2B5EF4-FFF2-40B4-BE49-F238E27FC236}">
                  <a16:creationId xmlns:a16="http://schemas.microsoft.com/office/drawing/2014/main" id="{2FAD2138-5A67-0644-C5FD-03D0B07EEBE5}"/>
                </a:ext>
              </a:extLst>
            </p:cNvPr>
            <p:cNvGrpSpPr>
              <a:grpSpLocks/>
            </p:cNvGrpSpPr>
            <p:nvPr/>
          </p:nvGrpSpPr>
          <p:grpSpPr bwMode="auto">
            <a:xfrm>
              <a:off x="2478088" y="3517900"/>
              <a:ext cx="150812" cy="908050"/>
              <a:chOff x="1561" y="2056"/>
              <a:chExt cx="95" cy="572"/>
            </a:xfrm>
          </p:grpSpPr>
          <p:sp>
            <p:nvSpPr>
              <p:cNvPr id="139" name="Line 269">
                <a:extLst>
                  <a:ext uri="{FF2B5EF4-FFF2-40B4-BE49-F238E27FC236}">
                    <a16:creationId xmlns:a16="http://schemas.microsoft.com/office/drawing/2014/main" id="{9F408823-25BE-3E57-1580-4B35B1BB1FFF}"/>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40" name="Line 270">
                <a:extLst>
                  <a:ext uri="{FF2B5EF4-FFF2-40B4-BE49-F238E27FC236}">
                    <a16:creationId xmlns:a16="http://schemas.microsoft.com/office/drawing/2014/main" id="{DEC7E67F-BBED-8211-8859-B8651E303002}"/>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41" name="Line 271">
                <a:extLst>
                  <a:ext uri="{FF2B5EF4-FFF2-40B4-BE49-F238E27FC236}">
                    <a16:creationId xmlns:a16="http://schemas.microsoft.com/office/drawing/2014/main" id="{824569D0-75BB-31C0-82B6-A31D61166CB9}"/>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42" name="AutoShape 272">
                <a:extLst>
                  <a:ext uri="{FF2B5EF4-FFF2-40B4-BE49-F238E27FC236}">
                    <a16:creationId xmlns:a16="http://schemas.microsoft.com/office/drawing/2014/main" id="{31308D5B-EF6A-841D-E7D1-93681409D52C}"/>
                  </a:ext>
                </a:extLst>
              </p:cNvPr>
              <p:cNvCxnSpPr>
                <a:cxnSpLocks noChangeShapeType="1"/>
                <a:stCxn id="141" idx="1"/>
                <a:endCxn id="140"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43" name="Group 274">
              <a:extLst>
                <a:ext uri="{FF2B5EF4-FFF2-40B4-BE49-F238E27FC236}">
                  <a16:creationId xmlns:a16="http://schemas.microsoft.com/office/drawing/2014/main" id="{5EE0E78D-C875-E786-8C7F-6409F96345D6}"/>
                </a:ext>
              </a:extLst>
            </p:cNvPr>
            <p:cNvGrpSpPr>
              <a:grpSpLocks/>
            </p:cNvGrpSpPr>
            <p:nvPr/>
          </p:nvGrpSpPr>
          <p:grpSpPr bwMode="auto">
            <a:xfrm>
              <a:off x="2389188" y="2628900"/>
              <a:ext cx="4519612" cy="1790700"/>
              <a:chOff x="1505" y="1496"/>
              <a:chExt cx="2847" cy="1128"/>
            </a:xfrm>
          </p:grpSpPr>
          <p:grpSp>
            <p:nvGrpSpPr>
              <p:cNvPr id="144" name="Group 212">
                <a:extLst>
                  <a:ext uri="{FF2B5EF4-FFF2-40B4-BE49-F238E27FC236}">
                    <a16:creationId xmlns:a16="http://schemas.microsoft.com/office/drawing/2014/main" id="{D383975D-0935-4432-705E-0016CEEA6D49}"/>
                  </a:ext>
                </a:extLst>
              </p:cNvPr>
              <p:cNvGrpSpPr>
                <a:grpSpLocks/>
              </p:cNvGrpSpPr>
              <p:nvPr/>
            </p:nvGrpSpPr>
            <p:grpSpPr bwMode="auto">
              <a:xfrm>
                <a:off x="4257" y="1496"/>
                <a:ext cx="95" cy="1128"/>
                <a:chOff x="1561" y="2056"/>
                <a:chExt cx="95" cy="572"/>
              </a:xfrm>
            </p:grpSpPr>
            <p:sp>
              <p:nvSpPr>
                <p:cNvPr id="146" name="Line 198">
                  <a:extLst>
                    <a:ext uri="{FF2B5EF4-FFF2-40B4-BE49-F238E27FC236}">
                      <a16:creationId xmlns:a16="http://schemas.microsoft.com/office/drawing/2014/main" id="{831973B5-61B2-D8BD-186E-E3048F3FA9C8}"/>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47" name="Line 200">
                  <a:extLst>
                    <a:ext uri="{FF2B5EF4-FFF2-40B4-BE49-F238E27FC236}">
                      <a16:creationId xmlns:a16="http://schemas.microsoft.com/office/drawing/2014/main" id="{8A4BFCB7-6E0F-0DD0-9ED2-BA03037D1262}"/>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48" name="Line 203">
                  <a:extLst>
                    <a:ext uri="{FF2B5EF4-FFF2-40B4-BE49-F238E27FC236}">
                      <a16:creationId xmlns:a16="http://schemas.microsoft.com/office/drawing/2014/main" id="{26E7C80A-202E-8ABF-A5E4-DA328B35356D}"/>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49" name="AutoShape 204">
                  <a:extLst>
                    <a:ext uri="{FF2B5EF4-FFF2-40B4-BE49-F238E27FC236}">
                      <a16:creationId xmlns:a16="http://schemas.microsoft.com/office/drawing/2014/main" id="{05E85F2A-B68E-C279-507E-F3D45B3F9C7B}"/>
                    </a:ext>
                  </a:extLst>
                </p:cNvPr>
                <p:cNvCxnSpPr>
                  <a:cxnSpLocks noChangeShapeType="1"/>
                  <a:stCxn id="148" idx="1"/>
                  <a:endCxn id="147"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145" name="AutoShape 273">
                <a:extLst>
                  <a:ext uri="{FF2B5EF4-FFF2-40B4-BE49-F238E27FC236}">
                    <a16:creationId xmlns:a16="http://schemas.microsoft.com/office/drawing/2014/main" id="{60556A7E-E527-1F7B-2003-26A5133981C7}"/>
                  </a:ext>
                </a:extLst>
              </p:cNvPr>
              <p:cNvCxnSpPr>
                <a:cxnSpLocks noChangeShapeType="1"/>
              </p:cNvCxnSpPr>
              <p:nvPr/>
            </p:nvCxnSpPr>
            <p:spPr bwMode="auto">
              <a:xfrm rot="-5400000">
                <a:off x="2770" y="232"/>
                <a:ext cx="217" cy="2748"/>
              </a:xfrm>
              <a:prstGeom prst="bentConnector3">
                <a:avLst>
                  <a:gd name="adj1" fmla="val 101380"/>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cxnSp>
          <p:nvCxnSpPr>
            <p:cNvPr id="150" name="AutoShape 286">
              <a:extLst>
                <a:ext uri="{FF2B5EF4-FFF2-40B4-BE49-F238E27FC236}">
                  <a16:creationId xmlns:a16="http://schemas.microsoft.com/office/drawing/2014/main" id="{98B10225-A0A1-3B22-1214-5F62A9433AF5}"/>
                </a:ext>
              </a:extLst>
            </p:cNvPr>
            <p:cNvCxnSpPr>
              <a:cxnSpLocks noChangeShapeType="1"/>
            </p:cNvCxnSpPr>
            <p:nvPr/>
          </p:nvCxnSpPr>
          <p:spPr bwMode="auto">
            <a:xfrm flipV="1">
              <a:off x="4923790" y="1816101"/>
              <a:ext cx="3324860" cy="370793"/>
            </a:xfrm>
            <a:prstGeom prst="bentConnector3">
              <a:avLst>
                <a:gd name="adj1" fmla="val 50000"/>
              </a:avLst>
            </a:prstGeom>
            <a:noFill/>
            <a:ln w="5715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151" name="Group 287">
              <a:extLst>
                <a:ext uri="{FF2B5EF4-FFF2-40B4-BE49-F238E27FC236}">
                  <a16:creationId xmlns:a16="http://schemas.microsoft.com/office/drawing/2014/main" id="{55975015-FADD-7A6B-AB42-3DA9E3377F5B}"/>
                </a:ext>
              </a:extLst>
            </p:cNvPr>
            <p:cNvGrpSpPr>
              <a:grpSpLocks/>
            </p:cNvGrpSpPr>
            <p:nvPr/>
          </p:nvGrpSpPr>
          <p:grpSpPr bwMode="auto">
            <a:xfrm>
              <a:off x="7983538" y="1492250"/>
              <a:ext cx="533400" cy="679450"/>
              <a:chOff x="2880" y="1152"/>
              <a:chExt cx="720" cy="1008"/>
            </a:xfrm>
          </p:grpSpPr>
          <p:sp>
            <p:nvSpPr>
              <p:cNvPr id="152" name="Rectangle 288">
                <a:extLst>
                  <a:ext uri="{FF2B5EF4-FFF2-40B4-BE49-F238E27FC236}">
                    <a16:creationId xmlns:a16="http://schemas.microsoft.com/office/drawing/2014/main" id="{CE5A111E-DF2C-24ED-98A8-6FA40F6C1078}"/>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3" name="Rectangle 289">
                <a:extLst>
                  <a:ext uri="{FF2B5EF4-FFF2-40B4-BE49-F238E27FC236}">
                    <a16:creationId xmlns:a16="http://schemas.microsoft.com/office/drawing/2014/main" id="{CFC6ECC1-31E3-427C-87B6-5BE732E26AF5}"/>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4" name="Rectangle 290">
                <a:extLst>
                  <a:ext uri="{FF2B5EF4-FFF2-40B4-BE49-F238E27FC236}">
                    <a16:creationId xmlns:a16="http://schemas.microsoft.com/office/drawing/2014/main" id="{4C49D9F6-305E-16C2-0FA0-E3E326DF3A0D}"/>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5" name="Rectangle 291">
                <a:extLst>
                  <a:ext uri="{FF2B5EF4-FFF2-40B4-BE49-F238E27FC236}">
                    <a16:creationId xmlns:a16="http://schemas.microsoft.com/office/drawing/2014/main" id="{2F358B2F-D027-4665-F003-4CC7FE9646A8}"/>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6" name="Rectangle 292">
                <a:extLst>
                  <a:ext uri="{FF2B5EF4-FFF2-40B4-BE49-F238E27FC236}">
                    <a16:creationId xmlns:a16="http://schemas.microsoft.com/office/drawing/2014/main" id="{17F08FC7-90B0-6B8F-2EF1-EB3D0C54B2EF}"/>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7" name="Rectangle 293">
                <a:extLst>
                  <a:ext uri="{FF2B5EF4-FFF2-40B4-BE49-F238E27FC236}">
                    <a16:creationId xmlns:a16="http://schemas.microsoft.com/office/drawing/2014/main" id="{912318C8-EC50-18CE-7BF6-F782F2838835}"/>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8" name="Rectangle 294">
                <a:extLst>
                  <a:ext uri="{FF2B5EF4-FFF2-40B4-BE49-F238E27FC236}">
                    <a16:creationId xmlns:a16="http://schemas.microsoft.com/office/drawing/2014/main" id="{51F728C2-0134-ECD8-3021-3E937FAA90A7}"/>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9" name="Rectangle 295">
                <a:extLst>
                  <a:ext uri="{FF2B5EF4-FFF2-40B4-BE49-F238E27FC236}">
                    <a16:creationId xmlns:a16="http://schemas.microsoft.com/office/drawing/2014/main" id="{69D0B9A1-DEF4-50EB-0CD9-3945F79E3A24}"/>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0" name="Rectangle 296">
                <a:extLst>
                  <a:ext uri="{FF2B5EF4-FFF2-40B4-BE49-F238E27FC236}">
                    <a16:creationId xmlns:a16="http://schemas.microsoft.com/office/drawing/2014/main" id="{6537AB8B-1B0B-0B96-330E-196BFB3CFDD4}"/>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1" name="Rectangle 297">
                <a:extLst>
                  <a:ext uri="{FF2B5EF4-FFF2-40B4-BE49-F238E27FC236}">
                    <a16:creationId xmlns:a16="http://schemas.microsoft.com/office/drawing/2014/main" id="{FE0888F1-DC1C-71D4-6C5B-14396F119B18}"/>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2" name="Rectangle 298">
                <a:extLst>
                  <a:ext uri="{FF2B5EF4-FFF2-40B4-BE49-F238E27FC236}">
                    <a16:creationId xmlns:a16="http://schemas.microsoft.com/office/drawing/2014/main" id="{0BB6EFEC-5155-E99C-27CC-89704DA81395}"/>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3" name="Rectangle 299">
                <a:extLst>
                  <a:ext uri="{FF2B5EF4-FFF2-40B4-BE49-F238E27FC236}">
                    <a16:creationId xmlns:a16="http://schemas.microsoft.com/office/drawing/2014/main" id="{12C10C2E-5462-3E88-0841-006EC8C0C5C1}"/>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4" name="Rectangle 300">
                <a:extLst>
                  <a:ext uri="{FF2B5EF4-FFF2-40B4-BE49-F238E27FC236}">
                    <a16:creationId xmlns:a16="http://schemas.microsoft.com/office/drawing/2014/main" id="{718E939B-35DB-BFDA-029A-3F016AFD0D03}"/>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5" name="Rectangle 301">
                <a:extLst>
                  <a:ext uri="{FF2B5EF4-FFF2-40B4-BE49-F238E27FC236}">
                    <a16:creationId xmlns:a16="http://schemas.microsoft.com/office/drawing/2014/main" id="{8A167E91-1B91-42CA-4456-A22B7657424F}"/>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6" name="Rectangle 302">
                <a:extLst>
                  <a:ext uri="{FF2B5EF4-FFF2-40B4-BE49-F238E27FC236}">
                    <a16:creationId xmlns:a16="http://schemas.microsoft.com/office/drawing/2014/main" id="{0043E1CF-8825-42D4-41FD-2B31388FF6E8}"/>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7" name="Rectangle 303">
                <a:extLst>
                  <a:ext uri="{FF2B5EF4-FFF2-40B4-BE49-F238E27FC236}">
                    <a16:creationId xmlns:a16="http://schemas.microsoft.com/office/drawing/2014/main" id="{0A79636B-F867-FC07-D9AE-759942B7C650}"/>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8" name="Rectangle 304">
                <a:extLst>
                  <a:ext uri="{FF2B5EF4-FFF2-40B4-BE49-F238E27FC236}">
                    <a16:creationId xmlns:a16="http://schemas.microsoft.com/office/drawing/2014/main" id="{092DDE36-85EE-4194-1F88-77C9F8277F21}"/>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9" name="Rectangle 305">
                <a:extLst>
                  <a:ext uri="{FF2B5EF4-FFF2-40B4-BE49-F238E27FC236}">
                    <a16:creationId xmlns:a16="http://schemas.microsoft.com/office/drawing/2014/main" id="{D3F97564-3F11-B2BA-5E8F-787C93885340}"/>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0" name="Rectangle 306">
                <a:extLst>
                  <a:ext uri="{FF2B5EF4-FFF2-40B4-BE49-F238E27FC236}">
                    <a16:creationId xmlns:a16="http://schemas.microsoft.com/office/drawing/2014/main" id="{E444FD82-FA86-8C03-0238-28E88C0CA8A6}"/>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1" name="Rectangle 307">
                <a:extLst>
                  <a:ext uri="{FF2B5EF4-FFF2-40B4-BE49-F238E27FC236}">
                    <a16:creationId xmlns:a16="http://schemas.microsoft.com/office/drawing/2014/main" id="{0340A396-F85F-A9AB-2BF9-A57907012B60}"/>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2" name="Rectangle 308">
                <a:extLst>
                  <a:ext uri="{FF2B5EF4-FFF2-40B4-BE49-F238E27FC236}">
                    <a16:creationId xmlns:a16="http://schemas.microsoft.com/office/drawing/2014/main" id="{1B2D6E1F-3527-586D-97AF-404538BBAD7C}"/>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3" name="Rectangle 309">
                <a:extLst>
                  <a:ext uri="{FF2B5EF4-FFF2-40B4-BE49-F238E27FC236}">
                    <a16:creationId xmlns:a16="http://schemas.microsoft.com/office/drawing/2014/main" id="{9585CECA-43D8-FB77-CFB0-1F2EFE67377F}"/>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4" name="Rectangle 310">
                <a:extLst>
                  <a:ext uri="{FF2B5EF4-FFF2-40B4-BE49-F238E27FC236}">
                    <a16:creationId xmlns:a16="http://schemas.microsoft.com/office/drawing/2014/main" id="{4ABBE0AC-7768-176E-CC6D-6218F43B568E}"/>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5" name="Rectangle 311">
                <a:extLst>
                  <a:ext uri="{FF2B5EF4-FFF2-40B4-BE49-F238E27FC236}">
                    <a16:creationId xmlns:a16="http://schemas.microsoft.com/office/drawing/2014/main" id="{3502804C-CBA9-423A-A065-9D74EB3F1DAB}"/>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6" name="Rectangle 312">
                <a:extLst>
                  <a:ext uri="{FF2B5EF4-FFF2-40B4-BE49-F238E27FC236}">
                    <a16:creationId xmlns:a16="http://schemas.microsoft.com/office/drawing/2014/main" id="{31A9FE90-C422-435E-8675-E53ADA034AD4}"/>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7" name="Rectangle 313">
                <a:extLst>
                  <a:ext uri="{FF2B5EF4-FFF2-40B4-BE49-F238E27FC236}">
                    <a16:creationId xmlns:a16="http://schemas.microsoft.com/office/drawing/2014/main" id="{AFC5A82D-A6B9-8921-659C-996236603728}"/>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8" name="Rectangle 314">
                <a:extLst>
                  <a:ext uri="{FF2B5EF4-FFF2-40B4-BE49-F238E27FC236}">
                    <a16:creationId xmlns:a16="http://schemas.microsoft.com/office/drawing/2014/main" id="{EB2B7705-506E-B4D0-D902-42B5B63B288B}"/>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179" name="Text Box 315">
              <a:extLst>
                <a:ext uri="{FF2B5EF4-FFF2-40B4-BE49-F238E27FC236}">
                  <a16:creationId xmlns:a16="http://schemas.microsoft.com/office/drawing/2014/main" id="{568FD835-3BCE-A01C-1EC9-1E9A5F043CE6}"/>
                </a:ext>
              </a:extLst>
            </p:cNvPr>
            <p:cNvSpPr txBox="1">
              <a:spLocks noChangeArrowheads="1"/>
            </p:cNvSpPr>
            <p:nvPr/>
          </p:nvSpPr>
          <p:spPr bwMode="auto">
            <a:xfrm>
              <a:off x="7795176" y="1283484"/>
              <a:ext cx="100219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a:latin typeface="Roboto" panose="02000000000000000000" pitchFamily="2" charset="0"/>
                  <a:ea typeface="Roboto" panose="02000000000000000000" pitchFamily="2" charset="0"/>
                </a:rPr>
                <a:t>Product Distributors</a:t>
              </a:r>
            </a:p>
          </p:txBody>
        </p:sp>
        <p:sp>
          <p:nvSpPr>
            <p:cNvPr id="180" name="Rectangle 316">
              <a:extLst>
                <a:ext uri="{FF2B5EF4-FFF2-40B4-BE49-F238E27FC236}">
                  <a16:creationId xmlns:a16="http://schemas.microsoft.com/office/drawing/2014/main" id="{138942A9-B5BE-2127-5177-A604DE0618E9}"/>
                </a:ext>
              </a:extLst>
            </p:cNvPr>
            <p:cNvSpPr>
              <a:spLocks noChangeArrowheads="1"/>
            </p:cNvSpPr>
            <p:nvPr/>
          </p:nvSpPr>
          <p:spPr bwMode="auto">
            <a:xfrm>
              <a:off x="404813" y="1393825"/>
              <a:ext cx="841375" cy="3778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900" b="0">
                  <a:latin typeface="Roboto" panose="02000000000000000000" pitchFamily="2" charset="0"/>
                  <a:ea typeface="Roboto" panose="02000000000000000000" pitchFamily="2" charset="0"/>
                </a:rPr>
                <a:t>Product Road</a:t>
              </a:r>
              <a:br>
                <a:rPr lang="en-US" altLang="en-US" sz="900" b="0">
                  <a:latin typeface="Roboto" panose="02000000000000000000" pitchFamily="2" charset="0"/>
                  <a:ea typeface="Roboto" panose="02000000000000000000" pitchFamily="2" charset="0"/>
                </a:rPr>
              </a:br>
              <a:r>
                <a:rPr lang="en-US" altLang="en-US" sz="900" b="0">
                  <a:latin typeface="Roboto" panose="02000000000000000000" pitchFamily="2" charset="0"/>
                  <a:ea typeface="Roboto" panose="02000000000000000000" pitchFamily="2" charset="0"/>
                </a:rPr>
                <a:t>Map</a:t>
              </a:r>
            </a:p>
          </p:txBody>
        </p:sp>
        <p:sp>
          <p:nvSpPr>
            <p:cNvPr id="181" name="Rectangle 317">
              <a:extLst>
                <a:ext uri="{FF2B5EF4-FFF2-40B4-BE49-F238E27FC236}">
                  <a16:creationId xmlns:a16="http://schemas.microsoft.com/office/drawing/2014/main" id="{CCF6F28F-4B9B-704E-E54A-C778854043EA}"/>
                </a:ext>
              </a:extLst>
            </p:cNvPr>
            <p:cNvSpPr>
              <a:spLocks noChangeArrowheads="1"/>
            </p:cNvSpPr>
            <p:nvPr/>
          </p:nvSpPr>
          <p:spPr bwMode="auto">
            <a:xfrm>
              <a:off x="1933575" y="4126680"/>
              <a:ext cx="5237163" cy="1854254"/>
            </a:xfrm>
            <a:prstGeom prst="rect">
              <a:avLst/>
            </a:prstGeom>
            <a:solidFill>
              <a:schemeClr val="bg2"/>
            </a:solidFill>
            <a:ln w="12700" cap="sq">
              <a:solidFill>
                <a:schemeClr val="tx1"/>
              </a:solidFill>
              <a:miter lim="800000"/>
              <a:headEnd/>
              <a:tailEnd/>
            </a:ln>
          </p:spPr>
          <p:txBody>
            <a:bodyPr anchor="ctr">
              <a:spAutoFit/>
            </a:bodyPr>
            <a:lstStyle>
              <a:lvl1pPr marL="406400" indent="-4064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Aft>
                  <a:spcPct val="0"/>
                </a:spcAft>
                <a:buClrTx/>
                <a:buSzTx/>
                <a:buFontTx/>
                <a:buNone/>
              </a:pPr>
              <a:r>
                <a:rPr lang="en-US" altLang="en-US" sz="1400" dirty="0">
                  <a:latin typeface="Roboto" panose="02000000000000000000" pitchFamily="2" charset="0"/>
                  <a:ea typeface="Roboto" panose="02000000000000000000" pitchFamily="2" charset="0"/>
                </a:rPr>
                <a:t>Identify new information flows using solid, straight lines to show physical flows and </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lightning</a:t>
              </a:r>
              <a:r>
                <a:rPr lang="ja-JP" altLang="en-US" sz="1400" dirty="0">
                  <a:latin typeface="Roboto" panose="02000000000000000000" pitchFamily="2" charset="0"/>
                </a:rPr>
                <a:t>”</a:t>
              </a:r>
              <a:r>
                <a:rPr lang="en-US" altLang="ja-JP" sz="1400" dirty="0">
                  <a:latin typeface="Roboto" panose="02000000000000000000" pitchFamily="2" charset="0"/>
                  <a:ea typeface="Roboto" panose="02000000000000000000" pitchFamily="2" charset="0"/>
                </a:rPr>
                <a:t> lines to show the electronic passing of information.  The flow of information should be from the source of the information to the use of the information.</a:t>
              </a:r>
            </a:p>
            <a:p>
              <a:pPr>
                <a:spcAft>
                  <a:spcPct val="0"/>
                </a:spcAft>
                <a:buClrTx/>
                <a:buSzTx/>
                <a:buFontTx/>
                <a:buNone/>
              </a:pPr>
              <a:r>
                <a:rPr lang="en-US" altLang="en-US" sz="1400" dirty="0">
                  <a:latin typeface="Roboto" panose="02000000000000000000" pitchFamily="2" charset="0"/>
                  <a:ea typeface="Roboto" panose="02000000000000000000" pitchFamily="2" charset="0"/>
                </a:rPr>
                <a:t>Note:  In Great America Golf, there is a physical flow of information to the Product Steering Committee and an electronic flow of information to the workflow.</a:t>
              </a:r>
            </a:p>
          </p:txBody>
        </p:sp>
      </p:grpSp>
    </p:spTree>
    <p:extLst>
      <p:ext uri="{BB962C8B-B14F-4D97-AF65-F5344CB8AC3E}">
        <p14:creationId xmlns:p14="http://schemas.microsoft.com/office/powerpoint/2010/main" val="59573153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115</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65677285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sz="4000" dirty="0"/>
              <a:t>Implement Visually Managed Queues to Couple Processes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116</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347" name="Group 346">
            <a:extLst>
              <a:ext uri="{FF2B5EF4-FFF2-40B4-BE49-F238E27FC236}">
                <a16:creationId xmlns:a16="http://schemas.microsoft.com/office/drawing/2014/main" id="{73A35C22-DD26-50AA-0E4D-1D92992F4508}"/>
              </a:ext>
            </a:extLst>
          </p:cNvPr>
          <p:cNvGrpSpPr/>
          <p:nvPr/>
        </p:nvGrpSpPr>
        <p:grpSpPr>
          <a:xfrm>
            <a:off x="304800" y="1869440"/>
            <a:ext cx="11684000" cy="4307523"/>
            <a:chOff x="304800" y="1238250"/>
            <a:chExt cx="8644973" cy="4303713"/>
          </a:xfrm>
        </p:grpSpPr>
        <p:sp>
          <p:nvSpPr>
            <p:cNvPr id="13" name="Line 496">
              <a:extLst>
                <a:ext uri="{FF2B5EF4-FFF2-40B4-BE49-F238E27FC236}">
                  <a16:creationId xmlns:a16="http://schemas.microsoft.com/office/drawing/2014/main" id="{95C08DC2-9F11-A1B9-AB81-5FFD4214A5ED}"/>
                </a:ext>
              </a:extLst>
            </p:cNvPr>
            <p:cNvSpPr>
              <a:spLocks noChangeShapeType="1"/>
            </p:cNvSpPr>
            <p:nvPr/>
          </p:nvSpPr>
          <p:spPr bwMode="auto">
            <a:xfrm flipV="1">
              <a:off x="3560763" y="46355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 name="Text Box 497">
              <a:extLst>
                <a:ext uri="{FF2B5EF4-FFF2-40B4-BE49-F238E27FC236}">
                  <a16:creationId xmlns:a16="http://schemas.microsoft.com/office/drawing/2014/main" id="{67C45169-7E59-7497-98CD-3670996AD1BC}"/>
                </a:ext>
              </a:extLst>
            </p:cNvPr>
            <p:cNvSpPr txBox="1">
              <a:spLocks noChangeArrowheads="1"/>
            </p:cNvSpPr>
            <p:nvPr/>
          </p:nvSpPr>
          <p:spPr bwMode="auto">
            <a:xfrm>
              <a:off x="3517900" y="48006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36" name="Line 498">
              <a:extLst>
                <a:ext uri="{FF2B5EF4-FFF2-40B4-BE49-F238E27FC236}">
                  <a16:creationId xmlns:a16="http://schemas.microsoft.com/office/drawing/2014/main" id="{11E3B6F8-DC50-EF94-395C-4027F51E8FBB}"/>
                </a:ext>
              </a:extLst>
            </p:cNvPr>
            <p:cNvSpPr>
              <a:spLocks noChangeShapeType="1"/>
            </p:cNvSpPr>
            <p:nvPr/>
          </p:nvSpPr>
          <p:spPr bwMode="auto">
            <a:xfrm flipV="1">
              <a:off x="5002213" y="46355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7" name="Text Box 499">
              <a:extLst>
                <a:ext uri="{FF2B5EF4-FFF2-40B4-BE49-F238E27FC236}">
                  <a16:creationId xmlns:a16="http://schemas.microsoft.com/office/drawing/2014/main" id="{9AC44686-9BD4-652F-E9EF-EA6D8C4B45FD}"/>
                </a:ext>
              </a:extLst>
            </p:cNvPr>
            <p:cNvSpPr txBox="1">
              <a:spLocks noChangeArrowheads="1"/>
            </p:cNvSpPr>
            <p:nvPr/>
          </p:nvSpPr>
          <p:spPr bwMode="auto">
            <a:xfrm>
              <a:off x="4959350" y="48006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38" name="Line 500">
              <a:extLst>
                <a:ext uri="{FF2B5EF4-FFF2-40B4-BE49-F238E27FC236}">
                  <a16:creationId xmlns:a16="http://schemas.microsoft.com/office/drawing/2014/main" id="{12BA2212-9813-5FA2-AC71-AFE2FFC8364E}"/>
                </a:ext>
              </a:extLst>
            </p:cNvPr>
            <p:cNvSpPr>
              <a:spLocks noChangeShapeType="1"/>
            </p:cNvSpPr>
            <p:nvPr/>
          </p:nvSpPr>
          <p:spPr bwMode="auto">
            <a:xfrm flipV="1">
              <a:off x="6424613" y="46355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9" name="Text Box 501">
              <a:extLst>
                <a:ext uri="{FF2B5EF4-FFF2-40B4-BE49-F238E27FC236}">
                  <a16:creationId xmlns:a16="http://schemas.microsoft.com/office/drawing/2014/main" id="{1261BCD2-879E-AC27-ADFF-BA1B6E957F23}"/>
                </a:ext>
              </a:extLst>
            </p:cNvPr>
            <p:cNvSpPr txBox="1">
              <a:spLocks noChangeArrowheads="1"/>
            </p:cNvSpPr>
            <p:nvPr/>
          </p:nvSpPr>
          <p:spPr bwMode="auto">
            <a:xfrm>
              <a:off x="6356350" y="48006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grpSp>
          <p:nvGrpSpPr>
            <p:cNvPr id="40" name="Group 502">
              <a:extLst>
                <a:ext uri="{FF2B5EF4-FFF2-40B4-BE49-F238E27FC236}">
                  <a16:creationId xmlns:a16="http://schemas.microsoft.com/office/drawing/2014/main" id="{62E278D1-2767-AEC6-73B6-0C7D4445AE39}"/>
                </a:ext>
              </a:extLst>
            </p:cNvPr>
            <p:cNvGrpSpPr>
              <a:grpSpLocks/>
            </p:cNvGrpSpPr>
            <p:nvPr/>
          </p:nvGrpSpPr>
          <p:grpSpPr bwMode="auto">
            <a:xfrm>
              <a:off x="3619500" y="4495800"/>
              <a:ext cx="342900" cy="812800"/>
              <a:chOff x="752" y="2752"/>
              <a:chExt cx="216" cy="512"/>
            </a:xfrm>
          </p:grpSpPr>
          <p:sp>
            <p:nvSpPr>
              <p:cNvPr id="41" name="AutoShape 503">
                <a:extLst>
                  <a:ext uri="{FF2B5EF4-FFF2-40B4-BE49-F238E27FC236}">
                    <a16:creationId xmlns:a16="http://schemas.microsoft.com/office/drawing/2014/main" id="{34E947DD-F582-A122-AF72-0A4CE5DF3AB5}"/>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AutoShape 504">
                <a:extLst>
                  <a:ext uri="{FF2B5EF4-FFF2-40B4-BE49-F238E27FC236}">
                    <a16:creationId xmlns:a16="http://schemas.microsoft.com/office/drawing/2014/main" id="{A8AA16ED-5115-03DE-A4FA-C4C3BBCBBB9E}"/>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AutoShape 505">
                <a:extLst>
                  <a:ext uri="{FF2B5EF4-FFF2-40B4-BE49-F238E27FC236}">
                    <a16:creationId xmlns:a16="http://schemas.microsoft.com/office/drawing/2014/main" id="{02F61FA4-115A-3A03-9E46-CB81EAAEEB02}"/>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44" name="Group 506">
                <a:extLst>
                  <a:ext uri="{FF2B5EF4-FFF2-40B4-BE49-F238E27FC236}">
                    <a16:creationId xmlns:a16="http://schemas.microsoft.com/office/drawing/2014/main" id="{6B11726B-1BE2-A2ED-9E0E-FB8AA7AACC21}"/>
                  </a:ext>
                </a:extLst>
              </p:cNvPr>
              <p:cNvGrpSpPr>
                <a:grpSpLocks/>
              </p:cNvGrpSpPr>
              <p:nvPr/>
            </p:nvGrpSpPr>
            <p:grpSpPr bwMode="auto">
              <a:xfrm>
                <a:off x="752" y="2965"/>
                <a:ext cx="216" cy="299"/>
                <a:chOff x="576" y="1200"/>
                <a:chExt cx="240" cy="336"/>
              </a:xfrm>
            </p:grpSpPr>
            <p:sp>
              <p:nvSpPr>
                <p:cNvPr id="50" name="Rectangle 507">
                  <a:extLst>
                    <a:ext uri="{FF2B5EF4-FFF2-40B4-BE49-F238E27FC236}">
                      <a16:creationId xmlns:a16="http://schemas.microsoft.com/office/drawing/2014/main" id="{E506A2F7-B008-1C16-4808-B08E46D41656}"/>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3" name="Line 508">
                  <a:extLst>
                    <a:ext uri="{FF2B5EF4-FFF2-40B4-BE49-F238E27FC236}">
                      <a16:creationId xmlns:a16="http://schemas.microsoft.com/office/drawing/2014/main" id="{4C80CA88-C4C2-EFAB-101D-102D0E2BB61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3" name="Line 509">
                  <a:extLst>
                    <a:ext uri="{FF2B5EF4-FFF2-40B4-BE49-F238E27FC236}">
                      <a16:creationId xmlns:a16="http://schemas.microsoft.com/office/drawing/2014/main" id="{FD69865C-D1A0-7128-77E9-1B469C548081}"/>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45" name="AutoShape 510">
                <a:extLst>
                  <a:ext uri="{FF2B5EF4-FFF2-40B4-BE49-F238E27FC236}">
                    <a16:creationId xmlns:a16="http://schemas.microsoft.com/office/drawing/2014/main" id="{67E11F03-9601-78B4-6CF6-10E4A77F18CE}"/>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46" name="Group 511">
                <a:extLst>
                  <a:ext uri="{FF2B5EF4-FFF2-40B4-BE49-F238E27FC236}">
                    <a16:creationId xmlns:a16="http://schemas.microsoft.com/office/drawing/2014/main" id="{6F85FF9E-6B3F-F019-32A6-39C0F44116D7}"/>
                  </a:ext>
                </a:extLst>
              </p:cNvPr>
              <p:cNvGrpSpPr>
                <a:grpSpLocks/>
              </p:cNvGrpSpPr>
              <p:nvPr/>
            </p:nvGrpSpPr>
            <p:grpSpPr bwMode="auto">
              <a:xfrm>
                <a:off x="808" y="2802"/>
                <a:ext cx="140" cy="57"/>
                <a:chOff x="1440" y="1520"/>
                <a:chExt cx="156" cy="64"/>
              </a:xfrm>
            </p:grpSpPr>
            <p:sp>
              <p:nvSpPr>
                <p:cNvPr id="47" name="Line 512">
                  <a:extLst>
                    <a:ext uri="{FF2B5EF4-FFF2-40B4-BE49-F238E27FC236}">
                      <a16:creationId xmlns:a16="http://schemas.microsoft.com/office/drawing/2014/main" id="{4F5B77B4-1478-3A78-A534-032013FFB13E}"/>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48" name="Line 513">
                  <a:extLst>
                    <a:ext uri="{FF2B5EF4-FFF2-40B4-BE49-F238E27FC236}">
                      <a16:creationId xmlns:a16="http://schemas.microsoft.com/office/drawing/2014/main" id="{4E74473C-01ED-88A8-2BA2-EEF0EA4E6D4E}"/>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49" name="AutoShape 514">
                  <a:extLst>
                    <a:ext uri="{FF2B5EF4-FFF2-40B4-BE49-F238E27FC236}">
                      <a16:creationId xmlns:a16="http://schemas.microsoft.com/office/drawing/2014/main" id="{23D33B40-23C1-36E0-9FC8-70C8EBCC7109}"/>
                    </a:ext>
                  </a:extLst>
                </p:cNvPr>
                <p:cNvCxnSpPr>
                  <a:cxnSpLocks noChangeShapeType="1"/>
                  <a:stCxn id="47" idx="1"/>
                  <a:endCxn id="48"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84" name="Group 515">
              <a:extLst>
                <a:ext uri="{FF2B5EF4-FFF2-40B4-BE49-F238E27FC236}">
                  <a16:creationId xmlns:a16="http://schemas.microsoft.com/office/drawing/2014/main" id="{1F8194CE-7971-7229-331D-739464C46004}"/>
                </a:ext>
              </a:extLst>
            </p:cNvPr>
            <p:cNvGrpSpPr>
              <a:grpSpLocks/>
            </p:cNvGrpSpPr>
            <p:nvPr/>
          </p:nvGrpSpPr>
          <p:grpSpPr bwMode="auto">
            <a:xfrm>
              <a:off x="5054600" y="4495800"/>
              <a:ext cx="342900" cy="812800"/>
              <a:chOff x="752" y="2752"/>
              <a:chExt cx="216" cy="512"/>
            </a:xfrm>
          </p:grpSpPr>
          <p:sp>
            <p:nvSpPr>
              <p:cNvPr id="85" name="AutoShape 516">
                <a:extLst>
                  <a:ext uri="{FF2B5EF4-FFF2-40B4-BE49-F238E27FC236}">
                    <a16:creationId xmlns:a16="http://schemas.microsoft.com/office/drawing/2014/main" id="{936FEDFA-6118-8FE8-6FB0-C0860C051B50}"/>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6" name="AutoShape 517">
                <a:extLst>
                  <a:ext uri="{FF2B5EF4-FFF2-40B4-BE49-F238E27FC236}">
                    <a16:creationId xmlns:a16="http://schemas.microsoft.com/office/drawing/2014/main" id="{1B9A5B7B-2CE7-5196-1131-EEBE9C0A5590}"/>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8" name="AutoShape 518">
                <a:extLst>
                  <a:ext uri="{FF2B5EF4-FFF2-40B4-BE49-F238E27FC236}">
                    <a16:creationId xmlns:a16="http://schemas.microsoft.com/office/drawing/2014/main" id="{B17FC5C4-4AEA-A6DF-7850-C2595023A855}"/>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89" name="Group 519">
                <a:extLst>
                  <a:ext uri="{FF2B5EF4-FFF2-40B4-BE49-F238E27FC236}">
                    <a16:creationId xmlns:a16="http://schemas.microsoft.com/office/drawing/2014/main" id="{7267564A-01D1-580E-5A7A-F7CE2472CA81}"/>
                  </a:ext>
                </a:extLst>
              </p:cNvPr>
              <p:cNvGrpSpPr>
                <a:grpSpLocks/>
              </p:cNvGrpSpPr>
              <p:nvPr/>
            </p:nvGrpSpPr>
            <p:grpSpPr bwMode="auto">
              <a:xfrm>
                <a:off x="752" y="2965"/>
                <a:ext cx="216" cy="299"/>
                <a:chOff x="576" y="1200"/>
                <a:chExt cx="240" cy="336"/>
              </a:xfrm>
            </p:grpSpPr>
            <p:sp>
              <p:nvSpPr>
                <p:cNvPr id="187" name="Rectangle 520">
                  <a:extLst>
                    <a:ext uri="{FF2B5EF4-FFF2-40B4-BE49-F238E27FC236}">
                      <a16:creationId xmlns:a16="http://schemas.microsoft.com/office/drawing/2014/main" id="{B9739DEF-C8A8-B2C9-6CD5-674915CD55DD}"/>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8" name="Line 521">
                  <a:extLst>
                    <a:ext uri="{FF2B5EF4-FFF2-40B4-BE49-F238E27FC236}">
                      <a16:creationId xmlns:a16="http://schemas.microsoft.com/office/drawing/2014/main" id="{2DD5C7E6-4B6D-48BF-2B36-221FEE1A668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89" name="Line 522">
                  <a:extLst>
                    <a:ext uri="{FF2B5EF4-FFF2-40B4-BE49-F238E27FC236}">
                      <a16:creationId xmlns:a16="http://schemas.microsoft.com/office/drawing/2014/main" id="{47A1A9EE-439A-2F14-5DB2-1DFD70B188D2}"/>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92" name="AutoShape 523">
                <a:extLst>
                  <a:ext uri="{FF2B5EF4-FFF2-40B4-BE49-F238E27FC236}">
                    <a16:creationId xmlns:a16="http://schemas.microsoft.com/office/drawing/2014/main" id="{18A8BFAF-0BC7-E5E4-3620-0C9D5B124244}"/>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83" name="Group 524">
                <a:extLst>
                  <a:ext uri="{FF2B5EF4-FFF2-40B4-BE49-F238E27FC236}">
                    <a16:creationId xmlns:a16="http://schemas.microsoft.com/office/drawing/2014/main" id="{535BB339-2547-F829-96D5-AB0E1FC8FF3E}"/>
                  </a:ext>
                </a:extLst>
              </p:cNvPr>
              <p:cNvGrpSpPr>
                <a:grpSpLocks/>
              </p:cNvGrpSpPr>
              <p:nvPr/>
            </p:nvGrpSpPr>
            <p:grpSpPr bwMode="auto">
              <a:xfrm>
                <a:off x="808" y="2802"/>
                <a:ext cx="140" cy="57"/>
                <a:chOff x="1440" y="1520"/>
                <a:chExt cx="156" cy="64"/>
              </a:xfrm>
            </p:grpSpPr>
            <p:sp>
              <p:nvSpPr>
                <p:cNvPr id="184" name="Line 525">
                  <a:extLst>
                    <a:ext uri="{FF2B5EF4-FFF2-40B4-BE49-F238E27FC236}">
                      <a16:creationId xmlns:a16="http://schemas.microsoft.com/office/drawing/2014/main" id="{AB11F371-35DC-7D28-A36A-4320C0397AB3}"/>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85" name="Line 526">
                  <a:extLst>
                    <a:ext uri="{FF2B5EF4-FFF2-40B4-BE49-F238E27FC236}">
                      <a16:creationId xmlns:a16="http://schemas.microsoft.com/office/drawing/2014/main" id="{38CC7068-834C-1C9F-B53F-083B7FCF4D44}"/>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86" name="AutoShape 527">
                  <a:extLst>
                    <a:ext uri="{FF2B5EF4-FFF2-40B4-BE49-F238E27FC236}">
                      <a16:creationId xmlns:a16="http://schemas.microsoft.com/office/drawing/2014/main" id="{434320BA-7B1C-602B-F031-304AEAEED6C2}"/>
                    </a:ext>
                  </a:extLst>
                </p:cNvPr>
                <p:cNvCxnSpPr>
                  <a:cxnSpLocks noChangeShapeType="1"/>
                  <a:stCxn id="184" idx="1"/>
                  <a:endCxn id="185"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190" name="Group 528">
              <a:extLst>
                <a:ext uri="{FF2B5EF4-FFF2-40B4-BE49-F238E27FC236}">
                  <a16:creationId xmlns:a16="http://schemas.microsoft.com/office/drawing/2014/main" id="{A827BF43-2E12-CD79-B3D2-9EB94367E9EE}"/>
                </a:ext>
              </a:extLst>
            </p:cNvPr>
            <p:cNvGrpSpPr>
              <a:grpSpLocks/>
            </p:cNvGrpSpPr>
            <p:nvPr/>
          </p:nvGrpSpPr>
          <p:grpSpPr bwMode="auto">
            <a:xfrm>
              <a:off x="6464300" y="4495800"/>
              <a:ext cx="342900" cy="812800"/>
              <a:chOff x="752" y="2752"/>
              <a:chExt cx="216" cy="512"/>
            </a:xfrm>
          </p:grpSpPr>
          <p:sp>
            <p:nvSpPr>
              <p:cNvPr id="191" name="AutoShape 529">
                <a:extLst>
                  <a:ext uri="{FF2B5EF4-FFF2-40B4-BE49-F238E27FC236}">
                    <a16:creationId xmlns:a16="http://schemas.microsoft.com/office/drawing/2014/main" id="{1F2047B1-AD1C-1CBA-FBC2-F939FA23B351}"/>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2" name="AutoShape 530">
                <a:extLst>
                  <a:ext uri="{FF2B5EF4-FFF2-40B4-BE49-F238E27FC236}">
                    <a16:creationId xmlns:a16="http://schemas.microsoft.com/office/drawing/2014/main" id="{AEF4EFAD-AF62-100B-838B-D8485AC93BB9}"/>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3" name="AutoShape 531">
                <a:extLst>
                  <a:ext uri="{FF2B5EF4-FFF2-40B4-BE49-F238E27FC236}">
                    <a16:creationId xmlns:a16="http://schemas.microsoft.com/office/drawing/2014/main" id="{E5E72462-0B1E-6B84-1B2B-5B5E4AD9198C}"/>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94" name="Group 532">
                <a:extLst>
                  <a:ext uri="{FF2B5EF4-FFF2-40B4-BE49-F238E27FC236}">
                    <a16:creationId xmlns:a16="http://schemas.microsoft.com/office/drawing/2014/main" id="{8B0E0147-CB27-E04F-1714-B14339A043FE}"/>
                  </a:ext>
                </a:extLst>
              </p:cNvPr>
              <p:cNvGrpSpPr>
                <a:grpSpLocks/>
              </p:cNvGrpSpPr>
              <p:nvPr/>
            </p:nvGrpSpPr>
            <p:grpSpPr bwMode="auto">
              <a:xfrm>
                <a:off x="752" y="2965"/>
                <a:ext cx="216" cy="299"/>
                <a:chOff x="576" y="1200"/>
                <a:chExt cx="240" cy="336"/>
              </a:xfrm>
            </p:grpSpPr>
            <p:sp>
              <p:nvSpPr>
                <p:cNvPr id="200" name="Rectangle 533">
                  <a:extLst>
                    <a:ext uri="{FF2B5EF4-FFF2-40B4-BE49-F238E27FC236}">
                      <a16:creationId xmlns:a16="http://schemas.microsoft.com/office/drawing/2014/main" id="{0A1ED1FD-3976-0D60-0CC1-316586050FA1}"/>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1" name="Line 534">
                  <a:extLst>
                    <a:ext uri="{FF2B5EF4-FFF2-40B4-BE49-F238E27FC236}">
                      <a16:creationId xmlns:a16="http://schemas.microsoft.com/office/drawing/2014/main" id="{DC146A15-557B-D548-E312-FA22784F68DC}"/>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02" name="Line 535">
                  <a:extLst>
                    <a:ext uri="{FF2B5EF4-FFF2-40B4-BE49-F238E27FC236}">
                      <a16:creationId xmlns:a16="http://schemas.microsoft.com/office/drawing/2014/main" id="{A53594AF-3567-925B-3678-B688ABE2741E}"/>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195" name="AutoShape 536">
                <a:extLst>
                  <a:ext uri="{FF2B5EF4-FFF2-40B4-BE49-F238E27FC236}">
                    <a16:creationId xmlns:a16="http://schemas.microsoft.com/office/drawing/2014/main" id="{D5BFC246-C736-613D-8769-4B972B3BF086}"/>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96" name="Group 537">
                <a:extLst>
                  <a:ext uri="{FF2B5EF4-FFF2-40B4-BE49-F238E27FC236}">
                    <a16:creationId xmlns:a16="http://schemas.microsoft.com/office/drawing/2014/main" id="{7F3B6036-E113-C38E-2A0F-31F678359FCE}"/>
                  </a:ext>
                </a:extLst>
              </p:cNvPr>
              <p:cNvGrpSpPr>
                <a:grpSpLocks/>
              </p:cNvGrpSpPr>
              <p:nvPr/>
            </p:nvGrpSpPr>
            <p:grpSpPr bwMode="auto">
              <a:xfrm>
                <a:off x="808" y="2802"/>
                <a:ext cx="140" cy="57"/>
                <a:chOff x="1440" y="1520"/>
                <a:chExt cx="156" cy="64"/>
              </a:xfrm>
            </p:grpSpPr>
            <p:sp>
              <p:nvSpPr>
                <p:cNvPr id="197" name="Line 538">
                  <a:extLst>
                    <a:ext uri="{FF2B5EF4-FFF2-40B4-BE49-F238E27FC236}">
                      <a16:creationId xmlns:a16="http://schemas.microsoft.com/office/drawing/2014/main" id="{F4D49ECE-BC11-7B1E-1235-3278B2EAA9D3}"/>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8" name="Line 539">
                  <a:extLst>
                    <a:ext uri="{FF2B5EF4-FFF2-40B4-BE49-F238E27FC236}">
                      <a16:creationId xmlns:a16="http://schemas.microsoft.com/office/drawing/2014/main" id="{56F6758D-DAA9-2A3A-2412-D1763BAB6C1E}"/>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99" name="AutoShape 540">
                  <a:extLst>
                    <a:ext uri="{FF2B5EF4-FFF2-40B4-BE49-F238E27FC236}">
                      <a16:creationId xmlns:a16="http://schemas.microsoft.com/office/drawing/2014/main" id="{EFFEEC5C-E0A3-C04C-C57A-2A162BBA1406}"/>
                    </a:ext>
                  </a:extLst>
                </p:cNvPr>
                <p:cNvCxnSpPr>
                  <a:cxnSpLocks noChangeShapeType="1"/>
                  <a:stCxn id="197" idx="1"/>
                  <a:endCxn id="198"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203" name="Rectangle 541">
              <a:extLst>
                <a:ext uri="{FF2B5EF4-FFF2-40B4-BE49-F238E27FC236}">
                  <a16:creationId xmlns:a16="http://schemas.microsoft.com/office/drawing/2014/main" id="{7DD03071-BFC4-9EF1-1D5C-772C5C55D2E2}"/>
                </a:ext>
              </a:extLst>
            </p:cNvPr>
            <p:cNvSpPr>
              <a:spLocks noChangeArrowheads="1"/>
            </p:cNvSpPr>
            <p:nvPr/>
          </p:nvSpPr>
          <p:spPr bwMode="auto">
            <a:xfrm>
              <a:off x="304800" y="3476625"/>
              <a:ext cx="914400" cy="5334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4" name="Text Box 542">
              <a:extLst>
                <a:ext uri="{FF2B5EF4-FFF2-40B4-BE49-F238E27FC236}">
                  <a16:creationId xmlns:a16="http://schemas.microsoft.com/office/drawing/2014/main" id="{F0D583B0-EB28-4731-2561-DDE14B7A7CF1}"/>
                </a:ext>
              </a:extLst>
            </p:cNvPr>
            <p:cNvSpPr txBox="1">
              <a:spLocks noChangeArrowheads="1"/>
            </p:cNvSpPr>
            <p:nvPr/>
          </p:nvSpPr>
          <p:spPr bwMode="auto">
            <a:xfrm>
              <a:off x="333375" y="3476625"/>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Focus Groups</a:t>
              </a:r>
            </a:p>
          </p:txBody>
        </p:sp>
        <p:cxnSp>
          <p:nvCxnSpPr>
            <p:cNvPr id="205" name="AutoShape 543">
              <a:extLst>
                <a:ext uri="{FF2B5EF4-FFF2-40B4-BE49-F238E27FC236}">
                  <a16:creationId xmlns:a16="http://schemas.microsoft.com/office/drawing/2014/main" id="{55D386B3-647A-8DFB-2BA1-E9EE200D23BD}"/>
                </a:ext>
              </a:extLst>
            </p:cNvPr>
            <p:cNvCxnSpPr>
              <a:cxnSpLocks noChangeShapeType="1"/>
              <a:stCxn id="203" idx="2"/>
              <a:endCxn id="209" idx="1"/>
            </p:cNvCxnSpPr>
            <p:nvPr/>
          </p:nvCxnSpPr>
          <p:spPr bwMode="auto">
            <a:xfrm rot="16200000" flipH="1">
              <a:off x="634206" y="4137819"/>
              <a:ext cx="620713" cy="3651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06" name="Rectangle 545">
              <a:extLst>
                <a:ext uri="{FF2B5EF4-FFF2-40B4-BE49-F238E27FC236}">
                  <a16:creationId xmlns:a16="http://schemas.microsoft.com/office/drawing/2014/main" id="{AAA3222C-F14D-6608-3C75-CA2AC6BC4DF7}"/>
                </a:ext>
              </a:extLst>
            </p:cNvPr>
            <p:cNvSpPr>
              <a:spLocks noChangeArrowheads="1"/>
            </p:cNvSpPr>
            <p:nvPr/>
          </p:nvSpPr>
          <p:spPr bwMode="auto">
            <a:xfrm>
              <a:off x="3989388" y="217328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7" name="Rectangle 546">
              <a:extLst>
                <a:ext uri="{FF2B5EF4-FFF2-40B4-BE49-F238E27FC236}">
                  <a16:creationId xmlns:a16="http://schemas.microsoft.com/office/drawing/2014/main" id="{50C09F46-6326-D3F2-8C33-636489792AF1}"/>
                </a:ext>
              </a:extLst>
            </p:cNvPr>
            <p:cNvSpPr>
              <a:spLocks noChangeArrowheads="1"/>
            </p:cNvSpPr>
            <p:nvPr/>
          </p:nvSpPr>
          <p:spPr bwMode="auto">
            <a:xfrm>
              <a:off x="5480050" y="43640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8" name="Rectangle 547">
              <a:extLst>
                <a:ext uri="{FF2B5EF4-FFF2-40B4-BE49-F238E27FC236}">
                  <a16:creationId xmlns:a16="http://schemas.microsoft.com/office/drawing/2014/main" id="{DBCC315E-4571-0196-30DA-D666B2672638}"/>
                </a:ext>
              </a:extLst>
            </p:cNvPr>
            <p:cNvSpPr>
              <a:spLocks noChangeArrowheads="1"/>
            </p:cNvSpPr>
            <p:nvPr/>
          </p:nvSpPr>
          <p:spPr bwMode="auto">
            <a:xfrm>
              <a:off x="4035425" y="43640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09" name="Rectangle 548">
              <a:extLst>
                <a:ext uri="{FF2B5EF4-FFF2-40B4-BE49-F238E27FC236}">
                  <a16:creationId xmlns:a16="http://schemas.microsoft.com/office/drawing/2014/main" id="{A25565DB-B393-6E1C-7BE9-91043C737D10}"/>
                </a:ext>
              </a:extLst>
            </p:cNvPr>
            <p:cNvSpPr>
              <a:spLocks noChangeArrowheads="1"/>
            </p:cNvSpPr>
            <p:nvPr/>
          </p:nvSpPr>
          <p:spPr bwMode="auto">
            <a:xfrm>
              <a:off x="1127125" y="43640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0" name="Text Box 549">
              <a:extLst>
                <a:ext uri="{FF2B5EF4-FFF2-40B4-BE49-F238E27FC236}">
                  <a16:creationId xmlns:a16="http://schemas.microsoft.com/office/drawing/2014/main" id="{9303719D-5730-AFB4-ACD8-5B5A8EEC7A5A}"/>
                </a:ext>
              </a:extLst>
            </p:cNvPr>
            <p:cNvSpPr txBox="1">
              <a:spLocks noChangeArrowheads="1"/>
            </p:cNvSpPr>
            <p:nvPr/>
          </p:nvSpPr>
          <p:spPr bwMode="auto">
            <a:xfrm>
              <a:off x="4111625" y="44402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211" name="Text Box 550">
              <a:extLst>
                <a:ext uri="{FF2B5EF4-FFF2-40B4-BE49-F238E27FC236}">
                  <a16:creationId xmlns:a16="http://schemas.microsoft.com/office/drawing/2014/main" id="{D26D5D10-1B7E-4F4B-DED4-5E78375DAB89}"/>
                </a:ext>
              </a:extLst>
            </p:cNvPr>
            <p:cNvSpPr txBox="1">
              <a:spLocks noChangeArrowheads="1"/>
            </p:cNvSpPr>
            <p:nvPr/>
          </p:nvSpPr>
          <p:spPr bwMode="auto">
            <a:xfrm>
              <a:off x="5556250" y="44402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212" name="Text Box 551">
              <a:extLst>
                <a:ext uri="{FF2B5EF4-FFF2-40B4-BE49-F238E27FC236}">
                  <a16:creationId xmlns:a16="http://schemas.microsoft.com/office/drawing/2014/main" id="{1B41A349-61C1-18B7-DEB8-E513F359A936}"/>
                </a:ext>
              </a:extLst>
            </p:cNvPr>
            <p:cNvSpPr txBox="1">
              <a:spLocks noChangeArrowheads="1"/>
            </p:cNvSpPr>
            <p:nvPr/>
          </p:nvSpPr>
          <p:spPr bwMode="auto">
            <a:xfrm>
              <a:off x="1168400" y="44402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213" name="Rectangle 552">
              <a:extLst>
                <a:ext uri="{FF2B5EF4-FFF2-40B4-BE49-F238E27FC236}">
                  <a16:creationId xmlns:a16="http://schemas.microsoft.com/office/drawing/2014/main" id="{698CE640-B360-EEAC-9DD4-B0878299C663}"/>
                </a:ext>
              </a:extLst>
            </p:cNvPr>
            <p:cNvSpPr>
              <a:spLocks noChangeArrowheads="1"/>
            </p:cNvSpPr>
            <p:nvPr/>
          </p:nvSpPr>
          <p:spPr bwMode="auto">
            <a:xfrm>
              <a:off x="2632075" y="43640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4" name="Text Box 553">
              <a:extLst>
                <a:ext uri="{FF2B5EF4-FFF2-40B4-BE49-F238E27FC236}">
                  <a16:creationId xmlns:a16="http://schemas.microsoft.com/office/drawing/2014/main" id="{4A1E9DE8-51A8-F630-7EC7-B5007E24B188}"/>
                </a:ext>
              </a:extLst>
            </p:cNvPr>
            <p:cNvSpPr txBox="1">
              <a:spLocks noChangeArrowheads="1"/>
            </p:cNvSpPr>
            <p:nvPr/>
          </p:nvSpPr>
          <p:spPr bwMode="auto">
            <a:xfrm>
              <a:off x="2673350" y="44402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215" name="Rectangle 565">
              <a:extLst>
                <a:ext uri="{FF2B5EF4-FFF2-40B4-BE49-F238E27FC236}">
                  <a16:creationId xmlns:a16="http://schemas.microsoft.com/office/drawing/2014/main" id="{C8D066FD-76FC-4992-80E8-4500BA844AD3}"/>
                </a:ext>
              </a:extLst>
            </p:cNvPr>
            <p:cNvSpPr>
              <a:spLocks noChangeArrowheads="1"/>
            </p:cNvSpPr>
            <p:nvPr/>
          </p:nvSpPr>
          <p:spPr bwMode="auto">
            <a:xfrm>
              <a:off x="6902450" y="43640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6" name="Text Box 566">
              <a:extLst>
                <a:ext uri="{FF2B5EF4-FFF2-40B4-BE49-F238E27FC236}">
                  <a16:creationId xmlns:a16="http://schemas.microsoft.com/office/drawing/2014/main" id="{1B65F843-BB37-E013-A642-4139E2C18EC1}"/>
                </a:ext>
              </a:extLst>
            </p:cNvPr>
            <p:cNvSpPr txBox="1">
              <a:spLocks noChangeArrowheads="1"/>
            </p:cNvSpPr>
            <p:nvPr/>
          </p:nvSpPr>
          <p:spPr bwMode="auto">
            <a:xfrm>
              <a:off x="6943725" y="44402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217" name="Rectangle 567">
              <a:extLst>
                <a:ext uri="{FF2B5EF4-FFF2-40B4-BE49-F238E27FC236}">
                  <a16:creationId xmlns:a16="http://schemas.microsoft.com/office/drawing/2014/main" id="{01BB370D-1B30-476A-CCFC-F424E103BC38}"/>
                </a:ext>
              </a:extLst>
            </p:cNvPr>
            <p:cNvSpPr>
              <a:spLocks noChangeArrowheads="1"/>
            </p:cNvSpPr>
            <p:nvPr/>
          </p:nvSpPr>
          <p:spPr bwMode="auto">
            <a:xfrm>
              <a:off x="6878638" y="3228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8" name="Text Box 568">
              <a:extLst>
                <a:ext uri="{FF2B5EF4-FFF2-40B4-BE49-F238E27FC236}">
                  <a16:creationId xmlns:a16="http://schemas.microsoft.com/office/drawing/2014/main" id="{D46AFD28-561E-B7AB-3FF2-9E1B5BC6683D}"/>
                </a:ext>
              </a:extLst>
            </p:cNvPr>
            <p:cNvSpPr txBox="1">
              <a:spLocks noChangeArrowheads="1"/>
            </p:cNvSpPr>
            <p:nvPr/>
          </p:nvSpPr>
          <p:spPr bwMode="auto">
            <a:xfrm>
              <a:off x="4017963" y="2178050"/>
              <a:ext cx="847725" cy="5078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Steering Committee</a:t>
              </a:r>
            </a:p>
          </p:txBody>
        </p:sp>
        <p:sp>
          <p:nvSpPr>
            <p:cNvPr id="219" name="Rectangle 569">
              <a:extLst>
                <a:ext uri="{FF2B5EF4-FFF2-40B4-BE49-F238E27FC236}">
                  <a16:creationId xmlns:a16="http://schemas.microsoft.com/office/drawing/2014/main" id="{CF6522C1-DEE9-2F5B-8B98-7FEECF3994CD}"/>
                </a:ext>
              </a:extLst>
            </p:cNvPr>
            <p:cNvSpPr>
              <a:spLocks noChangeArrowheads="1"/>
            </p:cNvSpPr>
            <p:nvPr/>
          </p:nvSpPr>
          <p:spPr bwMode="auto">
            <a:xfrm>
              <a:off x="4033838" y="3228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0" name="Text Box 570">
              <a:extLst>
                <a:ext uri="{FF2B5EF4-FFF2-40B4-BE49-F238E27FC236}">
                  <a16:creationId xmlns:a16="http://schemas.microsoft.com/office/drawing/2014/main" id="{2E1A4D40-4453-A4F9-947C-0824FE9A87E7}"/>
                </a:ext>
              </a:extLst>
            </p:cNvPr>
            <p:cNvSpPr txBox="1">
              <a:spLocks noChangeArrowheads="1"/>
            </p:cNvSpPr>
            <p:nvPr/>
          </p:nvSpPr>
          <p:spPr bwMode="auto">
            <a:xfrm>
              <a:off x="4067175" y="32289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CAD</a:t>
              </a:r>
            </a:p>
          </p:txBody>
        </p:sp>
        <p:sp>
          <p:nvSpPr>
            <p:cNvPr id="221" name="Rectangle 571">
              <a:extLst>
                <a:ext uri="{FF2B5EF4-FFF2-40B4-BE49-F238E27FC236}">
                  <a16:creationId xmlns:a16="http://schemas.microsoft.com/office/drawing/2014/main" id="{AC2836A1-C2D4-D68E-380F-880E866B1047}"/>
                </a:ext>
              </a:extLst>
            </p:cNvPr>
            <p:cNvSpPr>
              <a:spLocks noChangeArrowheads="1"/>
            </p:cNvSpPr>
            <p:nvPr/>
          </p:nvSpPr>
          <p:spPr bwMode="auto">
            <a:xfrm>
              <a:off x="5481638" y="3228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222" name="Group 574">
              <a:extLst>
                <a:ext uri="{FF2B5EF4-FFF2-40B4-BE49-F238E27FC236}">
                  <a16:creationId xmlns:a16="http://schemas.microsoft.com/office/drawing/2014/main" id="{90EFE29D-9C74-FC92-DD7B-EE9C73A3B841}"/>
                </a:ext>
              </a:extLst>
            </p:cNvPr>
            <p:cNvGrpSpPr>
              <a:grpSpLocks/>
            </p:cNvGrpSpPr>
            <p:nvPr/>
          </p:nvGrpSpPr>
          <p:grpSpPr bwMode="auto">
            <a:xfrm rot="-3656265">
              <a:off x="5691982" y="3937794"/>
              <a:ext cx="565150" cy="230187"/>
              <a:chOff x="636" y="2054"/>
              <a:chExt cx="200" cy="298"/>
            </a:xfrm>
          </p:grpSpPr>
          <p:sp>
            <p:nvSpPr>
              <p:cNvPr id="223" name="Line 575">
                <a:extLst>
                  <a:ext uri="{FF2B5EF4-FFF2-40B4-BE49-F238E27FC236}">
                    <a16:creationId xmlns:a16="http://schemas.microsoft.com/office/drawing/2014/main" id="{E4CB8C67-9375-A5B5-675F-E1F9F645158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4" name="Line 576">
                <a:extLst>
                  <a:ext uri="{FF2B5EF4-FFF2-40B4-BE49-F238E27FC236}">
                    <a16:creationId xmlns:a16="http://schemas.microsoft.com/office/drawing/2014/main" id="{12B90AED-5B15-D988-9775-460AB2F8000E}"/>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5" name="Line 577">
                <a:extLst>
                  <a:ext uri="{FF2B5EF4-FFF2-40B4-BE49-F238E27FC236}">
                    <a16:creationId xmlns:a16="http://schemas.microsoft.com/office/drawing/2014/main" id="{94F73B51-5527-FD4C-B596-66481ACDF3B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226" name="Group 578">
              <a:extLst>
                <a:ext uri="{FF2B5EF4-FFF2-40B4-BE49-F238E27FC236}">
                  <a16:creationId xmlns:a16="http://schemas.microsoft.com/office/drawing/2014/main" id="{1200DFAD-2328-DF06-7F0E-F9085E8EE5A7}"/>
                </a:ext>
              </a:extLst>
            </p:cNvPr>
            <p:cNvGrpSpPr>
              <a:grpSpLocks/>
            </p:cNvGrpSpPr>
            <p:nvPr/>
          </p:nvGrpSpPr>
          <p:grpSpPr bwMode="auto">
            <a:xfrm rot="-3656265">
              <a:off x="7043738" y="3933825"/>
              <a:ext cx="547688" cy="223837"/>
              <a:chOff x="636" y="2054"/>
              <a:chExt cx="200" cy="298"/>
            </a:xfrm>
          </p:grpSpPr>
          <p:sp>
            <p:nvSpPr>
              <p:cNvPr id="227" name="Line 579">
                <a:extLst>
                  <a:ext uri="{FF2B5EF4-FFF2-40B4-BE49-F238E27FC236}">
                    <a16:creationId xmlns:a16="http://schemas.microsoft.com/office/drawing/2014/main" id="{3B7BE68A-278F-F0BD-7EC6-F1E573B51AE1}"/>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8" name="Line 580">
                <a:extLst>
                  <a:ext uri="{FF2B5EF4-FFF2-40B4-BE49-F238E27FC236}">
                    <a16:creationId xmlns:a16="http://schemas.microsoft.com/office/drawing/2014/main" id="{963A99BD-739F-D224-E1A5-6DD9D19789F6}"/>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29" name="Line 581">
                <a:extLst>
                  <a:ext uri="{FF2B5EF4-FFF2-40B4-BE49-F238E27FC236}">
                    <a16:creationId xmlns:a16="http://schemas.microsoft.com/office/drawing/2014/main" id="{893FBDA8-2BFC-2E31-A512-F4749C9DD270}"/>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230" name="Group 582">
              <a:extLst>
                <a:ext uri="{FF2B5EF4-FFF2-40B4-BE49-F238E27FC236}">
                  <a16:creationId xmlns:a16="http://schemas.microsoft.com/office/drawing/2014/main" id="{69E82419-18A3-4E74-D09A-816180AE255B}"/>
                </a:ext>
              </a:extLst>
            </p:cNvPr>
            <p:cNvGrpSpPr>
              <a:grpSpLocks/>
            </p:cNvGrpSpPr>
            <p:nvPr/>
          </p:nvGrpSpPr>
          <p:grpSpPr bwMode="auto">
            <a:xfrm rot="-3656265">
              <a:off x="4228306" y="3923507"/>
              <a:ext cx="534987" cy="228600"/>
              <a:chOff x="636" y="2054"/>
              <a:chExt cx="200" cy="298"/>
            </a:xfrm>
          </p:grpSpPr>
          <p:sp>
            <p:nvSpPr>
              <p:cNvPr id="231" name="Line 583">
                <a:extLst>
                  <a:ext uri="{FF2B5EF4-FFF2-40B4-BE49-F238E27FC236}">
                    <a16:creationId xmlns:a16="http://schemas.microsoft.com/office/drawing/2014/main" id="{978EEA08-8F8F-477E-CB5A-1656FB206720}"/>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2" name="Line 584">
                <a:extLst>
                  <a:ext uri="{FF2B5EF4-FFF2-40B4-BE49-F238E27FC236}">
                    <a16:creationId xmlns:a16="http://schemas.microsoft.com/office/drawing/2014/main" id="{DD906533-2BFA-8B04-2E17-A258A1C450B7}"/>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33" name="Line 585">
                <a:extLst>
                  <a:ext uri="{FF2B5EF4-FFF2-40B4-BE49-F238E27FC236}">
                    <a16:creationId xmlns:a16="http://schemas.microsoft.com/office/drawing/2014/main" id="{734629D5-36C3-EA23-D5A9-41345A7D7C25}"/>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234" name="Text Box 586">
              <a:extLst>
                <a:ext uri="{FF2B5EF4-FFF2-40B4-BE49-F238E27FC236}">
                  <a16:creationId xmlns:a16="http://schemas.microsoft.com/office/drawing/2014/main" id="{D69FAFC3-098A-70C5-38C1-2610B200034E}"/>
                </a:ext>
              </a:extLst>
            </p:cNvPr>
            <p:cNvSpPr txBox="1">
              <a:spLocks noChangeArrowheads="1"/>
            </p:cNvSpPr>
            <p:nvPr/>
          </p:nvSpPr>
          <p:spPr bwMode="auto">
            <a:xfrm>
              <a:off x="5514975" y="32289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CNC Cell</a:t>
              </a:r>
            </a:p>
          </p:txBody>
        </p:sp>
        <p:sp>
          <p:nvSpPr>
            <p:cNvPr id="235" name="Text Box 587">
              <a:extLst>
                <a:ext uri="{FF2B5EF4-FFF2-40B4-BE49-F238E27FC236}">
                  <a16:creationId xmlns:a16="http://schemas.microsoft.com/office/drawing/2014/main" id="{49F23D1D-066B-3DC1-0824-28584950D6ED}"/>
                </a:ext>
              </a:extLst>
            </p:cNvPr>
            <p:cNvSpPr txBox="1">
              <a:spLocks noChangeArrowheads="1"/>
            </p:cNvSpPr>
            <p:nvPr/>
          </p:nvSpPr>
          <p:spPr bwMode="auto">
            <a:xfrm>
              <a:off x="6907213" y="3302000"/>
              <a:ext cx="847725"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Golf Courses</a:t>
              </a:r>
            </a:p>
          </p:txBody>
        </p:sp>
        <p:cxnSp>
          <p:nvCxnSpPr>
            <p:cNvPr id="236" name="AutoShape 588">
              <a:extLst>
                <a:ext uri="{FF2B5EF4-FFF2-40B4-BE49-F238E27FC236}">
                  <a16:creationId xmlns:a16="http://schemas.microsoft.com/office/drawing/2014/main" id="{527D7F3D-AB9E-14EF-6E09-1C3C8346B344}"/>
                </a:ext>
              </a:extLst>
            </p:cNvPr>
            <p:cNvCxnSpPr>
              <a:cxnSpLocks noChangeShapeType="1"/>
              <a:endCxn id="204" idx="0"/>
            </p:cNvCxnSpPr>
            <p:nvPr/>
          </p:nvCxnSpPr>
          <p:spPr bwMode="auto">
            <a:xfrm flipH="1">
              <a:off x="757238" y="1809750"/>
              <a:ext cx="11112" cy="1666875"/>
            </a:xfrm>
            <a:prstGeom prst="straightConnector1">
              <a:avLst/>
            </a:prstGeom>
            <a:noFill/>
            <a:ln w="5715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7" name="Rectangle 590">
              <a:extLst>
                <a:ext uri="{FF2B5EF4-FFF2-40B4-BE49-F238E27FC236}">
                  <a16:creationId xmlns:a16="http://schemas.microsoft.com/office/drawing/2014/main" id="{4782D981-E220-8DCC-C26B-87EA7BD13659}"/>
                </a:ext>
              </a:extLst>
            </p:cNvPr>
            <p:cNvSpPr>
              <a:spLocks noChangeArrowheads="1"/>
            </p:cNvSpPr>
            <p:nvPr/>
          </p:nvSpPr>
          <p:spPr bwMode="auto">
            <a:xfrm>
              <a:off x="2622550" y="49704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8" name="Rectangle 591">
              <a:extLst>
                <a:ext uri="{FF2B5EF4-FFF2-40B4-BE49-F238E27FC236}">
                  <a16:creationId xmlns:a16="http://schemas.microsoft.com/office/drawing/2014/main" id="{91357F49-A050-5601-F023-7F199E196135}"/>
                </a:ext>
              </a:extLst>
            </p:cNvPr>
            <p:cNvSpPr>
              <a:spLocks noChangeArrowheads="1"/>
            </p:cNvSpPr>
            <p:nvPr/>
          </p:nvSpPr>
          <p:spPr bwMode="auto">
            <a:xfrm>
              <a:off x="2559050" y="4967288"/>
              <a:ext cx="9953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239" name="Rectangle 592">
              <a:extLst>
                <a:ext uri="{FF2B5EF4-FFF2-40B4-BE49-F238E27FC236}">
                  <a16:creationId xmlns:a16="http://schemas.microsoft.com/office/drawing/2014/main" id="{DE050305-32CF-8650-887A-D30F5DF07925}"/>
                </a:ext>
              </a:extLst>
            </p:cNvPr>
            <p:cNvSpPr>
              <a:spLocks noChangeArrowheads="1"/>
            </p:cNvSpPr>
            <p:nvPr/>
          </p:nvSpPr>
          <p:spPr bwMode="auto">
            <a:xfrm>
              <a:off x="4038600" y="49704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0" name="Rectangle 593">
              <a:extLst>
                <a:ext uri="{FF2B5EF4-FFF2-40B4-BE49-F238E27FC236}">
                  <a16:creationId xmlns:a16="http://schemas.microsoft.com/office/drawing/2014/main" id="{F40F9889-C3D3-012E-398E-D9C1307758AE}"/>
                </a:ext>
              </a:extLst>
            </p:cNvPr>
            <p:cNvSpPr>
              <a:spLocks noChangeArrowheads="1"/>
            </p:cNvSpPr>
            <p:nvPr/>
          </p:nvSpPr>
          <p:spPr bwMode="auto">
            <a:xfrm>
              <a:off x="3981450" y="4967288"/>
              <a:ext cx="10366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241" name="Rectangle 594">
              <a:extLst>
                <a:ext uri="{FF2B5EF4-FFF2-40B4-BE49-F238E27FC236}">
                  <a16:creationId xmlns:a16="http://schemas.microsoft.com/office/drawing/2014/main" id="{46DBDA6A-7911-596A-B605-AA44D986B9F0}"/>
                </a:ext>
              </a:extLst>
            </p:cNvPr>
            <p:cNvSpPr>
              <a:spLocks noChangeArrowheads="1"/>
            </p:cNvSpPr>
            <p:nvPr/>
          </p:nvSpPr>
          <p:spPr bwMode="auto">
            <a:xfrm>
              <a:off x="5492750" y="49704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2" name="Rectangle 595">
              <a:extLst>
                <a:ext uri="{FF2B5EF4-FFF2-40B4-BE49-F238E27FC236}">
                  <a16:creationId xmlns:a16="http://schemas.microsoft.com/office/drawing/2014/main" id="{7A557014-B445-582C-5A29-A3D7C9DE89FA}"/>
                </a:ext>
              </a:extLst>
            </p:cNvPr>
            <p:cNvSpPr>
              <a:spLocks noChangeArrowheads="1"/>
            </p:cNvSpPr>
            <p:nvPr/>
          </p:nvSpPr>
          <p:spPr bwMode="auto">
            <a:xfrm>
              <a:off x="5435600" y="4967288"/>
              <a:ext cx="9636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243" name="Rectangle 596">
              <a:extLst>
                <a:ext uri="{FF2B5EF4-FFF2-40B4-BE49-F238E27FC236}">
                  <a16:creationId xmlns:a16="http://schemas.microsoft.com/office/drawing/2014/main" id="{80B3A1E4-0EE2-F2EA-17DE-4A0BB0E606FB}"/>
                </a:ext>
              </a:extLst>
            </p:cNvPr>
            <p:cNvSpPr>
              <a:spLocks noChangeArrowheads="1"/>
            </p:cNvSpPr>
            <p:nvPr/>
          </p:nvSpPr>
          <p:spPr bwMode="auto">
            <a:xfrm>
              <a:off x="6908800" y="49704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4" name="Rectangle 597">
              <a:extLst>
                <a:ext uri="{FF2B5EF4-FFF2-40B4-BE49-F238E27FC236}">
                  <a16:creationId xmlns:a16="http://schemas.microsoft.com/office/drawing/2014/main" id="{2AFA5BF0-B2A3-9129-3AA4-7C0211A5E248}"/>
                </a:ext>
              </a:extLst>
            </p:cNvPr>
            <p:cNvSpPr>
              <a:spLocks noChangeArrowheads="1"/>
            </p:cNvSpPr>
            <p:nvPr/>
          </p:nvSpPr>
          <p:spPr bwMode="auto">
            <a:xfrm>
              <a:off x="6858000" y="49672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245" name="Rectangle 598">
              <a:extLst>
                <a:ext uri="{FF2B5EF4-FFF2-40B4-BE49-F238E27FC236}">
                  <a16:creationId xmlns:a16="http://schemas.microsoft.com/office/drawing/2014/main" id="{5796C71D-2AE1-7283-81E7-0F308BB739AC}"/>
                </a:ext>
              </a:extLst>
            </p:cNvPr>
            <p:cNvSpPr>
              <a:spLocks noChangeArrowheads="1"/>
            </p:cNvSpPr>
            <p:nvPr/>
          </p:nvSpPr>
          <p:spPr bwMode="auto">
            <a:xfrm>
              <a:off x="1125538" y="49704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6" name="Rectangle 599">
              <a:extLst>
                <a:ext uri="{FF2B5EF4-FFF2-40B4-BE49-F238E27FC236}">
                  <a16:creationId xmlns:a16="http://schemas.microsoft.com/office/drawing/2014/main" id="{1C833519-F673-EBB5-E8E3-7F0700579DC8}"/>
                </a:ext>
              </a:extLst>
            </p:cNvPr>
            <p:cNvSpPr>
              <a:spLocks noChangeArrowheads="1"/>
            </p:cNvSpPr>
            <p:nvPr/>
          </p:nvSpPr>
          <p:spPr bwMode="auto">
            <a:xfrm>
              <a:off x="1060450" y="49672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cxnSp>
          <p:nvCxnSpPr>
            <p:cNvPr id="247" name="AutoShape 601">
              <a:extLst>
                <a:ext uri="{FF2B5EF4-FFF2-40B4-BE49-F238E27FC236}">
                  <a16:creationId xmlns:a16="http://schemas.microsoft.com/office/drawing/2014/main" id="{27CF12D5-05C2-8B3D-4B55-83E8CF4AE382}"/>
                </a:ext>
              </a:extLst>
            </p:cNvPr>
            <p:cNvCxnSpPr>
              <a:cxnSpLocks noChangeShapeType="1"/>
            </p:cNvCxnSpPr>
            <p:nvPr/>
          </p:nvCxnSpPr>
          <p:spPr bwMode="auto">
            <a:xfrm rot="16200000">
              <a:off x="1833562" y="2179638"/>
              <a:ext cx="1935163" cy="2433638"/>
            </a:xfrm>
            <a:prstGeom prst="bentConnector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248" name="AutoShape 602">
              <a:extLst>
                <a:ext uri="{FF2B5EF4-FFF2-40B4-BE49-F238E27FC236}">
                  <a16:creationId xmlns:a16="http://schemas.microsoft.com/office/drawing/2014/main" id="{9959E345-E4E0-2AFB-4426-B303AB68EF5D}"/>
                </a:ext>
              </a:extLst>
            </p:cNvPr>
            <p:cNvCxnSpPr>
              <a:cxnSpLocks noChangeShapeType="1"/>
            </p:cNvCxnSpPr>
            <p:nvPr/>
          </p:nvCxnSpPr>
          <p:spPr bwMode="auto">
            <a:xfrm rot="5400000">
              <a:off x="2923381" y="2845594"/>
              <a:ext cx="1684338" cy="1352550"/>
            </a:xfrm>
            <a:prstGeom prst="bentConnector3">
              <a:avLst>
                <a:gd name="adj1" fmla="val 12250"/>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49" name="Rectangle 603">
              <a:extLst>
                <a:ext uri="{FF2B5EF4-FFF2-40B4-BE49-F238E27FC236}">
                  <a16:creationId xmlns:a16="http://schemas.microsoft.com/office/drawing/2014/main" id="{2BA3A9F7-D945-EB8B-C148-CBC945E5A3E5}"/>
                </a:ext>
              </a:extLst>
            </p:cNvPr>
            <p:cNvSpPr>
              <a:spLocks noChangeArrowheads="1"/>
            </p:cNvSpPr>
            <p:nvPr/>
          </p:nvSpPr>
          <p:spPr bwMode="auto">
            <a:xfrm>
              <a:off x="1938338" y="32162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50" name="Text Box 604">
              <a:extLst>
                <a:ext uri="{FF2B5EF4-FFF2-40B4-BE49-F238E27FC236}">
                  <a16:creationId xmlns:a16="http://schemas.microsoft.com/office/drawing/2014/main" id="{C838B6C7-0088-4136-6749-1CF6F5AA827C}"/>
                </a:ext>
              </a:extLst>
            </p:cNvPr>
            <p:cNvSpPr txBox="1">
              <a:spLocks noChangeArrowheads="1"/>
            </p:cNvSpPr>
            <p:nvPr/>
          </p:nvSpPr>
          <p:spPr bwMode="auto">
            <a:xfrm>
              <a:off x="1971675" y="32289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Workflow</a:t>
              </a:r>
            </a:p>
          </p:txBody>
        </p:sp>
        <p:grpSp>
          <p:nvGrpSpPr>
            <p:cNvPr id="251" name="Group 605">
              <a:extLst>
                <a:ext uri="{FF2B5EF4-FFF2-40B4-BE49-F238E27FC236}">
                  <a16:creationId xmlns:a16="http://schemas.microsoft.com/office/drawing/2014/main" id="{F0950922-A1CF-F32C-605F-1FD71BB1481D}"/>
                </a:ext>
              </a:extLst>
            </p:cNvPr>
            <p:cNvGrpSpPr>
              <a:grpSpLocks/>
            </p:cNvGrpSpPr>
            <p:nvPr/>
          </p:nvGrpSpPr>
          <p:grpSpPr bwMode="auto">
            <a:xfrm>
              <a:off x="2049463" y="3759200"/>
              <a:ext cx="150812" cy="908050"/>
              <a:chOff x="1152" y="756"/>
              <a:chExt cx="92" cy="340"/>
            </a:xfrm>
          </p:grpSpPr>
          <p:sp>
            <p:nvSpPr>
              <p:cNvPr id="252" name="Line 606">
                <a:extLst>
                  <a:ext uri="{FF2B5EF4-FFF2-40B4-BE49-F238E27FC236}">
                    <a16:creationId xmlns:a16="http://schemas.microsoft.com/office/drawing/2014/main" id="{56B9E187-6449-3EA4-775B-3701A83C8EE0}"/>
                  </a:ext>
                </a:extLst>
              </p:cNvPr>
              <p:cNvSpPr>
                <a:spLocks noChangeShapeType="1"/>
              </p:cNvSpPr>
              <p:nvPr/>
            </p:nvSpPr>
            <p:spPr bwMode="auto">
              <a:xfrm>
                <a:off x="1152" y="1096"/>
                <a:ext cx="5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53" name="Line 607">
                <a:extLst>
                  <a:ext uri="{FF2B5EF4-FFF2-40B4-BE49-F238E27FC236}">
                    <a16:creationId xmlns:a16="http://schemas.microsoft.com/office/drawing/2014/main" id="{915408C6-9F5D-FED0-6E89-65361E56FBA7}"/>
                  </a:ext>
                </a:extLst>
              </p:cNvPr>
              <p:cNvSpPr>
                <a:spLocks noChangeShapeType="1"/>
              </p:cNvSpPr>
              <p:nvPr/>
            </p:nvSpPr>
            <p:spPr bwMode="auto">
              <a:xfrm flipV="1">
                <a:off x="1244" y="756"/>
                <a:ext cx="0" cy="188"/>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54" name="Line 608">
                <a:extLst>
                  <a:ext uri="{FF2B5EF4-FFF2-40B4-BE49-F238E27FC236}">
                    <a16:creationId xmlns:a16="http://schemas.microsoft.com/office/drawing/2014/main" id="{305DE68B-89E7-F1C2-D43E-7C9F9009D664}"/>
                  </a:ext>
                </a:extLst>
              </p:cNvPr>
              <p:cNvSpPr>
                <a:spLocks noChangeShapeType="1"/>
              </p:cNvSpPr>
              <p:nvPr/>
            </p:nvSpPr>
            <p:spPr bwMode="auto">
              <a:xfrm flipV="1">
                <a:off x="1210" y="924"/>
                <a:ext cx="0" cy="17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55" name="AutoShape 609">
                <a:extLst>
                  <a:ext uri="{FF2B5EF4-FFF2-40B4-BE49-F238E27FC236}">
                    <a16:creationId xmlns:a16="http://schemas.microsoft.com/office/drawing/2014/main" id="{B2B827BC-6E6B-2CE9-158B-F8C578EC1821}"/>
                  </a:ext>
                </a:extLst>
              </p:cNvPr>
              <p:cNvCxnSpPr>
                <a:cxnSpLocks noChangeShapeType="1"/>
                <a:stCxn id="254" idx="1"/>
                <a:endCxn id="253" idx="0"/>
              </p:cNvCxnSpPr>
              <p:nvPr/>
            </p:nvCxnSpPr>
            <p:spPr bwMode="auto">
              <a:xfrm>
                <a:off x="1210" y="924"/>
                <a:ext cx="34" cy="2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256" name="Group 610">
              <a:extLst>
                <a:ext uri="{FF2B5EF4-FFF2-40B4-BE49-F238E27FC236}">
                  <a16:creationId xmlns:a16="http://schemas.microsoft.com/office/drawing/2014/main" id="{258A9642-DA2C-AED3-8C2E-CE6FA4589C44}"/>
                </a:ext>
              </a:extLst>
            </p:cNvPr>
            <p:cNvGrpSpPr>
              <a:grpSpLocks/>
            </p:cNvGrpSpPr>
            <p:nvPr/>
          </p:nvGrpSpPr>
          <p:grpSpPr bwMode="auto">
            <a:xfrm>
              <a:off x="2851150" y="3586163"/>
              <a:ext cx="1181100" cy="1104900"/>
              <a:chOff x="1796" y="1947"/>
              <a:chExt cx="744" cy="696"/>
            </a:xfrm>
          </p:grpSpPr>
          <p:sp>
            <p:nvSpPr>
              <p:cNvPr id="257" name="Line 611">
                <a:extLst>
                  <a:ext uri="{FF2B5EF4-FFF2-40B4-BE49-F238E27FC236}">
                    <a16:creationId xmlns:a16="http://schemas.microsoft.com/office/drawing/2014/main" id="{B31A3927-5C88-3A9D-BF48-F1F62EB6F178}"/>
                  </a:ext>
                </a:extLst>
              </p:cNvPr>
              <p:cNvSpPr>
                <a:spLocks noChangeShapeType="1"/>
              </p:cNvSpPr>
              <p:nvPr/>
            </p:nvSpPr>
            <p:spPr bwMode="auto">
              <a:xfrm>
                <a:off x="2393" y="2643"/>
                <a:ext cx="147"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58" name="Line 612">
                <a:extLst>
                  <a:ext uri="{FF2B5EF4-FFF2-40B4-BE49-F238E27FC236}">
                    <a16:creationId xmlns:a16="http://schemas.microsoft.com/office/drawing/2014/main" id="{BE9B077F-5147-C77A-5012-018E8D35BDA6}"/>
                  </a:ext>
                </a:extLst>
              </p:cNvPr>
              <p:cNvSpPr>
                <a:spLocks noChangeShapeType="1"/>
              </p:cNvSpPr>
              <p:nvPr/>
            </p:nvSpPr>
            <p:spPr bwMode="auto">
              <a:xfrm flipH="1" flipV="1">
                <a:off x="2360" y="1991"/>
                <a:ext cx="0" cy="36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59" name="Line 613">
                <a:extLst>
                  <a:ext uri="{FF2B5EF4-FFF2-40B4-BE49-F238E27FC236}">
                    <a16:creationId xmlns:a16="http://schemas.microsoft.com/office/drawing/2014/main" id="{E11D3D08-1BBB-815C-98C3-3324A4DF068E}"/>
                  </a:ext>
                </a:extLst>
              </p:cNvPr>
              <p:cNvSpPr>
                <a:spLocks noChangeShapeType="1"/>
              </p:cNvSpPr>
              <p:nvPr/>
            </p:nvSpPr>
            <p:spPr bwMode="auto">
              <a:xfrm flipH="1" flipV="1">
                <a:off x="2391" y="2313"/>
                <a:ext cx="0" cy="33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60" name="AutoShape 614">
                <a:extLst>
                  <a:ext uri="{FF2B5EF4-FFF2-40B4-BE49-F238E27FC236}">
                    <a16:creationId xmlns:a16="http://schemas.microsoft.com/office/drawing/2014/main" id="{D187B43A-AE71-654C-D3A9-4C16A9431D1F}"/>
                  </a:ext>
                </a:extLst>
              </p:cNvPr>
              <p:cNvCxnSpPr>
                <a:cxnSpLocks noChangeShapeType="1"/>
                <a:stCxn id="259" idx="1"/>
                <a:endCxn id="258" idx="0"/>
              </p:cNvCxnSpPr>
              <p:nvPr/>
            </p:nvCxnSpPr>
            <p:spPr bwMode="auto">
              <a:xfrm flipH="1">
                <a:off x="2360" y="2314"/>
                <a:ext cx="31" cy="3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261" name="Group 615">
                <a:extLst>
                  <a:ext uri="{FF2B5EF4-FFF2-40B4-BE49-F238E27FC236}">
                    <a16:creationId xmlns:a16="http://schemas.microsoft.com/office/drawing/2014/main" id="{D0D5B951-F691-8E18-C3EA-0DAE7C5BE490}"/>
                  </a:ext>
                </a:extLst>
              </p:cNvPr>
              <p:cNvGrpSpPr>
                <a:grpSpLocks/>
              </p:cNvGrpSpPr>
              <p:nvPr/>
            </p:nvGrpSpPr>
            <p:grpSpPr bwMode="auto">
              <a:xfrm flipH="1">
                <a:off x="1796" y="1947"/>
                <a:ext cx="563" cy="45"/>
                <a:chOff x="2437" y="1862"/>
                <a:chExt cx="536" cy="49"/>
              </a:xfrm>
            </p:grpSpPr>
            <p:sp>
              <p:nvSpPr>
                <p:cNvPr id="262" name="Line 616">
                  <a:extLst>
                    <a:ext uri="{FF2B5EF4-FFF2-40B4-BE49-F238E27FC236}">
                      <a16:creationId xmlns:a16="http://schemas.microsoft.com/office/drawing/2014/main" id="{0ED771CD-7C49-F845-BC39-AAF17A13F213}"/>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63" name="Line 617">
                  <a:extLst>
                    <a:ext uri="{FF2B5EF4-FFF2-40B4-BE49-F238E27FC236}">
                      <a16:creationId xmlns:a16="http://schemas.microsoft.com/office/drawing/2014/main" id="{29500CA6-3027-E86B-FB39-9DE006010697}"/>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64" name="AutoShape 618">
                  <a:extLst>
                    <a:ext uri="{FF2B5EF4-FFF2-40B4-BE49-F238E27FC236}">
                      <a16:creationId xmlns:a16="http://schemas.microsoft.com/office/drawing/2014/main" id="{C1EC9969-4731-950F-9C2A-6120927C619E}"/>
                    </a:ext>
                  </a:extLst>
                </p:cNvPr>
                <p:cNvCxnSpPr>
                  <a:cxnSpLocks noChangeShapeType="1"/>
                  <a:stCxn id="263" idx="1"/>
                  <a:endCxn id="262"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grpSp>
          <p:nvGrpSpPr>
            <p:cNvPr id="265" name="Group 619">
              <a:extLst>
                <a:ext uri="{FF2B5EF4-FFF2-40B4-BE49-F238E27FC236}">
                  <a16:creationId xmlns:a16="http://schemas.microsoft.com/office/drawing/2014/main" id="{96F6805A-029F-68F8-F61D-0FBDC31B4B95}"/>
                </a:ext>
              </a:extLst>
            </p:cNvPr>
            <p:cNvGrpSpPr>
              <a:grpSpLocks/>
            </p:cNvGrpSpPr>
            <p:nvPr/>
          </p:nvGrpSpPr>
          <p:grpSpPr bwMode="auto">
            <a:xfrm>
              <a:off x="2849563" y="3687763"/>
              <a:ext cx="850900" cy="979487"/>
              <a:chOff x="1795" y="1955"/>
              <a:chExt cx="536" cy="673"/>
            </a:xfrm>
          </p:grpSpPr>
          <p:sp>
            <p:nvSpPr>
              <p:cNvPr id="266" name="Line 620">
                <a:extLst>
                  <a:ext uri="{FF2B5EF4-FFF2-40B4-BE49-F238E27FC236}">
                    <a16:creationId xmlns:a16="http://schemas.microsoft.com/office/drawing/2014/main" id="{56B89782-CC86-E85D-5B66-887D58662848}"/>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67" name="Line 621">
                <a:extLst>
                  <a:ext uri="{FF2B5EF4-FFF2-40B4-BE49-F238E27FC236}">
                    <a16:creationId xmlns:a16="http://schemas.microsoft.com/office/drawing/2014/main" id="{0A82FD4A-EB22-80E0-2185-C3CBB19C709B}"/>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68" name="Line 622">
                <a:extLst>
                  <a:ext uri="{FF2B5EF4-FFF2-40B4-BE49-F238E27FC236}">
                    <a16:creationId xmlns:a16="http://schemas.microsoft.com/office/drawing/2014/main" id="{AA81B33B-7A8A-F366-9928-7E9FC59A528D}"/>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69" name="AutoShape 623">
                <a:extLst>
                  <a:ext uri="{FF2B5EF4-FFF2-40B4-BE49-F238E27FC236}">
                    <a16:creationId xmlns:a16="http://schemas.microsoft.com/office/drawing/2014/main" id="{D295558C-35CA-325E-56E3-2E08D873E8F8}"/>
                  </a:ext>
                </a:extLst>
              </p:cNvPr>
              <p:cNvCxnSpPr>
                <a:cxnSpLocks noChangeShapeType="1"/>
                <a:stCxn id="268" idx="1"/>
                <a:endCxn id="267"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270" name="Line 624">
                <a:extLst>
                  <a:ext uri="{FF2B5EF4-FFF2-40B4-BE49-F238E27FC236}">
                    <a16:creationId xmlns:a16="http://schemas.microsoft.com/office/drawing/2014/main" id="{D68F5717-A00C-99DE-DD64-9CC885877CF9}"/>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71" name="Line 625">
                <a:extLst>
                  <a:ext uri="{FF2B5EF4-FFF2-40B4-BE49-F238E27FC236}">
                    <a16:creationId xmlns:a16="http://schemas.microsoft.com/office/drawing/2014/main" id="{1836B4AA-034B-C0E9-A3D0-96A15B297387}"/>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72" name="AutoShape 626">
                <a:extLst>
                  <a:ext uri="{FF2B5EF4-FFF2-40B4-BE49-F238E27FC236}">
                    <a16:creationId xmlns:a16="http://schemas.microsoft.com/office/drawing/2014/main" id="{38A088B6-B573-8D77-E275-8B1B93482121}"/>
                  </a:ext>
                </a:extLst>
              </p:cNvPr>
              <p:cNvCxnSpPr>
                <a:cxnSpLocks noChangeShapeType="1"/>
                <a:stCxn id="271" idx="1"/>
                <a:endCxn id="270"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273" name="Group 627">
              <a:extLst>
                <a:ext uri="{FF2B5EF4-FFF2-40B4-BE49-F238E27FC236}">
                  <a16:creationId xmlns:a16="http://schemas.microsoft.com/office/drawing/2014/main" id="{7187460E-8263-762C-E5ED-77CBA5ADA0FA}"/>
                </a:ext>
              </a:extLst>
            </p:cNvPr>
            <p:cNvGrpSpPr>
              <a:grpSpLocks/>
            </p:cNvGrpSpPr>
            <p:nvPr/>
          </p:nvGrpSpPr>
          <p:grpSpPr bwMode="auto">
            <a:xfrm>
              <a:off x="2862263" y="3427413"/>
              <a:ext cx="2609850" cy="1239837"/>
              <a:chOff x="1803" y="1847"/>
              <a:chExt cx="1644" cy="781"/>
            </a:xfrm>
          </p:grpSpPr>
          <p:grpSp>
            <p:nvGrpSpPr>
              <p:cNvPr id="274" name="Group 628">
                <a:extLst>
                  <a:ext uri="{FF2B5EF4-FFF2-40B4-BE49-F238E27FC236}">
                    <a16:creationId xmlns:a16="http://schemas.microsoft.com/office/drawing/2014/main" id="{2219B527-3E5B-D04E-B804-2DBBBE76E48A}"/>
                  </a:ext>
                </a:extLst>
              </p:cNvPr>
              <p:cNvGrpSpPr>
                <a:grpSpLocks/>
              </p:cNvGrpSpPr>
              <p:nvPr/>
            </p:nvGrpSpPr>
            <p:grpSpPr bwMode="auto">
              <a:xfrm>
                <a:off x="2525" y="2231"/>
                <a:ext cx="922" cy="397"/>
                <a:chOff x="1796" y="1862"/>
                <a:chExt cx="736" cy="766"/>
              </a:xfrm>
            </p:grpSpPr>
            <p:sp>
              <p:nvSpPr>
                <p:cNvPr id="276" name="Line 629">
                  <a:extLst>
                    <a:ext uri="{FF2B5EF4-FFF2-40B4-BE49-F238E27FC236}">
                      <a16:creationId xmlns:a16="http://schemas.microsoft.com/office/drawing/2014/main" id="{0A4837B6-7F3D-47F7-926C-E1CEB4AA272A}"/>
                    </a:ext>
                  </a:extLst>
                </p:cNvPr>
                <p:cNvSpPr>
                  <a:spLocks noChangeShapeType="1"/>
                </p:cNvSpPr>
                <p:nvPr/>
              </p:nvSpPr>
              <p:spPr bwMode="auto">
                <a:xfrm>
                  <a:off x="2474"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77" name="Line 630">
                  <a:extLst>
                    <a:ext uri="{FF2B5EF4-FFF2-40B4-BE49-F238E27FC236}">
                      <a16:creationId xmlns:a16="http://schemas.microsoft.com/office/drawing/2014/main" id="{884F5EF8-B569-0369-13B4-13E8CC28BC84}"/>
                    </a:ext>
                  </a:extLst>
                </p:cNvPr>
                <p:cNvSpPr>
                  <a:spLocks noChangeShapeType="1"/>
                </p:cNvSpPr>
                <p:nvPr/>
              </p:nvSpPr>
              <p:spPr bwMode="auto">
                <a:xfrm flipH="1" flipV="1">
                  <a:off x="2437" y="1910"/>
                  <a:ext cx="0" cy="39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78" name="Line 631">
                  <a:extLst>
                    <a:ext uri="{FF2B5EF4-FFF2-40B4-BE49-F238E27FC236}">
                      <a16:creationId xmlns:a16="http://schemas.microsoft.com/office/drawing/2014/main" id="{3C1451F0-1B26-7371-A51D-90C372CE22D8}"/>
                    </a:ext>
                  </a:extLst>
                </p:cNvPr>
                <p:cNvSpPr>
                  <a:spLocks noChangeShapeType="1"/>
                </p:cNvSpPr>
                <p:nvPr/>
              </p:nvSpPr>
              <p:spPr bwMode="auto">
                <a:xfrm flipH="1" flipV="1">
                  <a:off x="2472" y="2265"/>
                  <a:ext cx="0" cy="36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79" name="AutoShape 632">
                  <a:extLst>
                    <a:ext uri="{FF2B5EF4-FFF2-40B4-BE49-F238E27FC236}">
                      <a16:creationId xmlns:a16="http://schemas.microsoft.com/office/drawing/2014/main" id="{8EF1DA73-BEA5-5B42-4360-7751D5DF183A}"/>
                    </a:ext>
                  </a:extLst>
                </p:cNvPr>
                <p:cNvCxnSpPr>
                  <a:cxnSpLocks noChangeShapeType="1"/>
                  <a:stCxn id="278" idx="1"/>
                  <a:endCxn id="277" idx="0"/>
                </p:cNvCxnSpPr>
                <p:nvPr/>
              </p:nvCxnSpPr>
              <p:spPr bwMode="auto">
                <a:xfrm flipH="1">
                  <a:off x="2437" y="2266"/>
                  <a:ext cx="35"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280" name="Group 633">
                  <a:extLst>
                    <a:ext uri="{FF2B5EF4-FFF2-40B4-BE49-F238E27FC236}">
                      <a16:creationId xmlns:a16="http://schemas.microsoft.com/office/drawing/2014/main" id="{D2D6009E-FDDC-7D28-7E81-8BE93936251F}"/>
                    </a:ext>
                  </a:extLst>
                </p:cNvPr>
                <p:cNvGrpSpPr>
                  <a:grpSpLocks/>
                </p:cNvGrpSpPr>
                <p:nvPr/>
              </p:nvGrpSpPr>
              <p:grpSpPr bwMode="auto">
                <a:xfrm flipH="1">
                  <a:off x="1796" y="1862"/>
                  <a:ext cx="640" cy="49"/>
                  <a:chOff x="2437" y="1862"/>
                  <a:chExt cx="536" cy="49"/>
                </a:xfrm>
              </p:grpSpPr>
              <p:sp>
                <p:nvSpPr>
                  <p:cNvPr id="281" name="Line 634">
                    <a:extLst>
                      <a:ext uri="{FF2B5EF4-FFF2-40B4-BE49-F238E27FC236}">
                        <a16:creationId xmlns:a16="http://schemas.microsoft.com/office/drawing/2014/main" id="{A5E2C48D-67A2-BE8C-B908-D0D9D41C21A1}"/>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82" name="Line 635">
                    <a:extLst>
                      <a:ext uri="{FF2B5EF4-FFF2-40B4-BE49-F238E27FC236}">
                        <a16:creationId xmlns:a16="http://schemas.microsoft.com/office/drawing/2014/main" id="{148A8AAA-190F-6DB1-45FF-BF0F89A58834}"/>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83" name="AutoShape 636">
                    <a:extLst>
                      <a:ext uri="{FF2B5EF4-FFF2-40B4-BE49-F238E27FC236}">
                        <a16:creationId xmlns:a16="http://schemas.microsoft.com/office/drawing/2014/main" id="{3EA55D33-D8C3-19D2-6F0F-9CD230AA6D68}"/>
                      </a:ext>
                    </a:extLst>
                  </p:cNvPr>
                  <p:cNvCxnSpPr>
                    <a:cxnSpLocks noChangeShapeType="1"/>
                    <a:stCxn id="282" idx="1"/>
                    <a:endCxn id="281"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cxnSp>
            <p:nvCxnSpPr>
              <p:cNvPr id="275" name="AutoShape 637">
                <a:extLst>
                  <a:ext uri="{FF2B5EF4-FFF2-40B4-BE49-F238E27FC236}">
                    <a16:creationId xmlns:a16="http://schemas.microsoft.com/office/drawing/2014/main" id="{D155BCD3-367A-1D75-EC8A-2C1E2D43FCE0}"/>
                  </a:ext>
                </a:extLst>
              </p:cNvPr>
              <p:cNvCxnSpPr>
                <a:cxnSpLocks noChangeShapeType="1"/>
                <a:stCxn id="281" idx="1"/>
              </p:cNvCxnSpPr>
              <p:nvPr/>
            </p:nvCxnSpPr>
            <p:spPr bwMode="auto">
              <a:xfrm rot="10800000">
                <a:off x="1803" y="1847"/>
                <a:ext cx="723" cy="385"/>
              </a:xfrm>
              <a:prstGeom prst="bentConnector3">
                <a:avLst>
                  <a:gd name="adj1" fmla="val 14657"/>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grpSp>
          <p:nvGrpSpPr>
            <p:cNvPr id="284" name="Group 638">
              <a:extLst>
                <a:ext uri="{FF2B5EF4-FFF2-40B4-BE49-F238E27FC236}">
                  <a16:creationId xmlns:a16="http://schemas.microsoft.com/office/drawing/2014/main" id="{5ECE0618-D703-4EA3-EF25-A7847F3028A2}"/>
                </a:ext>
              </a:extLst>
            </p:cNvPr>
            <p:cNvGrpSpPr>
              <a:grpSpLocks/>
            </p:cNvGrpSpPr>
            <p:nvPr/>
          </p:nvGrpSpPr>
          <p:grpSpPr bwMode="auto">
            <a:xfrm>
              <a:off x="2836863" y="3494088"/>
              <a:ext cx="2322512" cy="1179512"/>
              <a:chOff x="1787" y="1885"/>
              <a:chExt cx="1463" cy="743"/>
            </a:xfrm>
          </p:grpSpPr>
          <p:grpSp>
            <p:nvGrpSpPr>
              <p:cNvPr id="285" name="Group 639">
                <a:extLst>
                  <a:ext uri="{FF2B5EF4-FFF2-40B4-BE49-F238E27FC236}">
                    <a16:creationId xmlns:a16="http://schemas.microsoft.com/office/drawing/2014/main" id="{C180B6E6-B9AE-CFFB-8DFC-C6BBD549E4C7}"/>
                  </a:ext>
                </a:extLst>
              </p:cNvPr>
              <p:cNvGrpSpPr>
                <a:grpSpLocks/>
              </p:cNvGrpSpPr>
              <p:nvPr/>
            </p:nvGrpSpPr>
            <p:grpSpPr bwMode="auto">
              <a:xfrm>
                <a:off x="2506" y="2288"/>
                <a:ext cx="744" cy="340"/>
                <a:chOff x="1795" y="1955"/>
                <a:chExt cx="536" cy="673"/>
              </a:xfrm>
            </p:grpSpPr>
            <p:sp>
              <p:nvSpPr>
                <p:cNvPr id="287" name="Line 640">
                  <a:extLst>
                    <a:ext uri="{FF2B5EF4-FFF2-40B4-BE49-F238E27FC236}">
                      <a16:creationId xmlns:a16="http://schemas.microsoft.com/office/drawing/2014/main" id="{01ACB5DE-58D7-B421-E8F0-6EE9675BB1FB}"/>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88" name="Line 641">
                  <a:extLst>
                    <a:ext uri="{FF2B5EF4-FFF2-40B4-BE49-F238E27FC236}">
                      <a16:creationId xmlns:a16="http://schemas.microsoft.com/office/drawing/2014/main" id="{AC706226-A588-2B6C-331E-3F33D6AE8D99}"/>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89" name="Line 642">
                  <a:extLst>
                    <a:ext uri="{FF2B5EF4-FFF2-40B4-BE49-F238E27FC236}">
                      <a16:creationId xmlns:a16="http://schemas.microsoft.com/office/drawing/2014/main" id="{246181FA-509E-A9A7-3423-91B594244ACF}"/>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90" name="AutoShape 643">
                  <a:extLst>
                    <a:ext uri="{FF2B5EF4-FFF2-40B4-BE49-F238E27FC236}">
                      <a16:creationId xmlns:a16="http://schemas.microsoft.com/office/drawing/2014/main" id="{1A17F10A-8DCA-DF93-AE6A-6C4E63D77AC9}"/>
                    </a:ext>
                  </a:extLst>
                </p:cNvPr>
                <p:cNvCxnSpPr>
                  <a:cxnSpLocks noChangeShapeType="1"/>
                  <a:stCxn id="289" idx="1"/>
                  <a:endCxn id="288"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291" name="Line 644">
                  <a:extLst>
                    <a:ext uri="{FF2B5EF4-FFF2-40B4-BE49-F238E27FC236}">
                      <a16:creationId xmlns:a16="http://schemas.microsoft.com/office/drawing/2014/main" id="{707DDB48-03AA-B2A6-E4FE-5CC64461205C}"/>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92" name="Line 645">
                  <a:extLst>
                    <a:ext uri="{FF2B5EF4-FFF2-40B4-BE49-F238E27FC236}">
                      <a16:creationId xmlns:a16="http://schemas.microsoft.com/office/drawing/2014/main" id="{0F16536B-7293-4E4F-3D57-03ED1C095F12}"/>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93" name="AutoShape 646">
                  <a:extLst>
                    <a:ext uri="{FF2B5EF4-FFF2-40B4-BE49-F238E27FC236}">
                      <a16:creationId xmlns:a16="http://schemas.microsoft.com/office/drawing/2014/main" id="{5746A2E3-33DB-ADF2-614E-75E51A49DF95}"/>
                    </a:ext>
                  </a:extLst>
                </p:cNvPr>
                <p:cNvCxnSpPr>
                  <a:cxnSpLocks noChangeShapeType="1"/>
                  <a:stCxn id="292" idx="1"/>
                  <a:endCxn id="291"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286" name="AutoShape 647">
                <a:extLst>
                  <a:ext uri="{FF2B5EF4-FFF2-40B4-BE49-F238E27FC236}">
                    <a16:creationId xmlns:a16="http://schemas.microsoft.com/office/drawing/2014/main" id="{ABAE5B59-A509-7693-4C3B-2E94B4D8263E}"/>
                  </a:ext>
                </a:extLst>
              </p:cNvPr>
              <p:cNvCxnSpPr>
                <a:cxnSpLocks noChangeShapeType="1"/>
                <a:stCxn id="291" idx="1"/>
              </p:cNvCxnSpPr>
              <p:nvPr/>
            </p:nvCxnSpPr>
            <p:spPr bwMode="auto">
              <a:xfrm rot="10800000">
                <a:off x="1787" y="1885"/>
                <a:ext cx="719" cy="403"/>
              </a:xfrm>
              <a:prstGeom prst="bentConnector3">
                <a:avLst>
                  <a:gd name="adj1" fmla="val 1501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294" name="Group 648">
              <a:extLst>
                <a:ext uri="{FF2B5EF4-FFF2-40B4-BE49-F238E27FC236}">
                  <a16:creationId xmlns:a16="http://schemas.microsoft.com/office/drawing/2014/main" id="{062F76C0-1522-07C0-4E9E-43349B794074}"/>
                </a:ext>
              </a:extLst>
            </p:cNvPr>
            <p:cNvGrpSpPr>
              <a:grpSpLocks/>
            </p:cNvGrpSpPr>
            <p:nvPr/>
          </p:nvGrpSpPr>
          <p:grpSpPr bwMode="auto">
            <a:xfrm>
              <a:off x="2852738" y="3082925"/>
              <a:ext cx="3760787" cy="1590675"/>
              <a:chOff x="1797" y="1630"/>
              <a:chExt cx="2369" cy="1002"/>
            </a:xfrm>
          </p:grpSpPr>
          <p:sp>
            <p:nvSpPr>
              <p:cNvPr id="295" name="Line 649">
                <a:extLst>
                  <a:ext uri="{FF2B5EF4-FFF2-40B4-BE49-F238E27FC236}">
                    <a16:creationId xmlns:a16="http://schemas.microsoft.com/office/drawing/2014/main" id="{896B568D-DBAF-60FC-960A-0F2825CBC25B}"/>
                  </a:ext>
                </a:extLst>
              </p:cNvPr>
              <p:cNvSpPr>
                <a:spLocks noChangeShapeType="1"/>
              </p:cNvSpPr>
              <p:nvPr/>
            </p:nvSpPr>
            <p:spPr bwMode="auto">
              <a:xfrm>
                <a:off x="4030" y="2632"/>
                <a:ext cx="8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296" name="Line 650">
                <a:extLst>
                  <a:ext uri="{FF2B5EF4-FFF2-40B4-BE49-F238E27FC236}">
                    <a16:creationId xmlns:a16="http://schemas.microsoft.com/office/drawing/2014/main" id="{185317DC-AECA-C248-3760-C5D1111C65A6}"/>
                  </a:ext>
                </a:extLst>
              </p:cNvPr>
              <p:cNvSpPr>
                <a:spLocks noChangeShapeType="1"/>
              </p:cNvSpPr>
              <p:nvPr/>
            </p:nvSpPr>
            <p:spPr bwMode="auto">
              <a:xfrm flipV="1">
                <a:off x="4116" y="2158"/>
                <a:ext cx="0" cy="47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97" name="AutoShape 651">
                <a:extLst>
                  <a:ext uri="{FF2B5EF4-FFF2-40B4-BE49-F238E27FC236}">
                    <a16:creationId xmlns:a16="http://schemas.microsoft.com/office/drawing/2014/main" id="{195898ED-B5B9-7204-7321-713473C1F9A2}"/>
                  </a:ext>
                </a:extLst>
              </p:cNvPr>
              <p:cNvCxnSpPr>
                <a:cxnSpLocks noChangeShapeType="1"/>
                <a:stCxn id="296" idx="1"/>
              </p:cNvCxnSpPr>
              <p:nvPr/>
            </p:nvCxnSpPr>
            <p:spPr bwMode="auto">
              <a:xfrm>
                <a:off x="4116" y="2158"/>
                <a:ext cx="50" cy="55"/>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298" name="Line 652">
                <a:extLst>
                  <a:ext uri="{FF2B5EF4-FFF2-40B4-BE49-F238E27FC236}">
                    <a16:creationId xmlns:a16="http://schemas.microsoft.com/office/drawing/2014/main" id="{127A1CC0-6645-7F34-9512-A2D6BB9A78F0}"/>
                  </a:ext>
                </a:extLst>
              </p:cNvPr>
              <p:cNvSpPr>
                <a:spLocks noChangeShapeType="1"/>
              </p:cNvSpPr>
              <p:nvPr/>
            </p:nvSpPr>
            <p:spPr bwMode="auto">
              <a:xfrm rot="16200000" flipV="1">
                <a:off x="3938" y="1402"/>
                <a:ext cx="0" cy="45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299" name="AutoShape 653">
                <a:extLst>
                  <a:ext uri="{FF2B5EF4-FFF2-40B4-BE49-F238E27FC236}">
                    <a16:creationId xmlns:a16="http://schemas.microsoft.com/office/drawing/2014/main" id="{E8DBFCA9-CDF7-903F-DB2E-63861CECE273}"/>
                  </a:ext>
                </a:extLst>
              </p:cNvPr>
              <p:cNvCxnSpPr>
                <a:cxnSpLocks noChangeShapeType="1"/>
              </p:cNvCxnSpPr>
              <p:nvPr/>
            </p:nvCxnSpPr>
            <p:spPr bwMode="auto">
              <a:xfrm>
                <a:off x="3714" y="1630"/>
                <a:ext cx="132" cy="6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300" name="AutoShape 654">
                <a:extLst>
                  <a:ext uri="{FF2B5EF4-FFF2-40B4-BE49-F238E27FC236}">
                    <a16:creationId xmlns:a16="http://schemas.microsoft.com/office/drawing/2014/main" id="{04700849-303C-C149-BA23-6A1B9B77845E}"/>
                  </a:ext>
                </a:extLst>
              </p:cNvPr>
              <p:cNvCxnSpPr>
                <a:cxnSpLocks noChangeShapeType="1"/>
              </p:cNvCxnSpPr>
              <p:nvPr/>
            </p:nvCxnSpPr>
            <p:spPr bwMode="auto">
              <a:xfrm flipH="1">
                <a:off x="1797" y="1692"/>
                <a:ext cx="2055" cy="111"/>
              </a:xfrm>
              <a:prstGeom prst="bentConnector3">
                <a:avLst>
                  <a:gd name="adj1" fmla="val 8690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01" name="AutoShape 655">
                <a:extLst>
                  <a:ext uri="{FF2B5EF4-FFF2-40B4-BE49-F238E27FC236}">
                    <a16:creationId xmlns:a16="http://schemas.microsoft.com/office/drawing/2014/main" id="{5D507C3C-210A-93CA-C455-B8D9858B1C6A}"/>
                  </a:ext>
                </a:extLst>
              </p:cNvPr>
              <p:cNvCxnSpPr>
                <a:cxnSpLocks noChangeShapeType="1"/>
                <a:endCxn id="298" idx="0"/>
              </p:cNvCxnSpPr>
              <p:nvPr/>
            </p:nvCxnSpPr>
            <p:spPr bwMode="auto">
              <a:xfrm flipV="1">
                <a:off x="4166" y="1630"/>
                <a:ext cx="0" cy="586"/>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02" name="Group 656">
              <a:extLst>
                <a:ext uri="{FF2B5EF4-FFF2-40B4-BE49-F238E27FC236}">
                  <a16:creationId xmlns:a16="http://schemas.microsoft.com/office/drawing/2014/main" id="{FA4CEB65-7EC6-A717-3088-2C7C52284A7A}"/>
                </a:ext>
              </a:extLst>
            </p:cNvPr>
            <p:cNvGrpSpPr>
              <a:grpSpLocks/>
            </p:cNvGrpSpPr>
            <p:nvPr/>
          </p:nvGrpSpPr>
          <p:grpSpPr bwMode="auto">
            <a:xfrm>
              <a:off x="2478088" y="3759200"/>
              <a:ext cx="150812" cy="908050"/>
              <a:chOff x="1561" y="2056"/>
              <a:chExt cx="95" cy="572"/>
            </a:xfrm>
          </p:grpSpPr>
          <p:sp>
            <p:nvSpPr>
              <p:cNvPr id="303" name="Line 657">
                <a:extLst>
                  <a:ext uri="{FF2B5EF4-FFF2-40B4-BE49-F238E27FC236}">
                    <a16:creationId xmlns:a16="http://schemas.microsoft.com/office/drawing/2014/main" id="{20D49122-398F-CD1F-882B-0E537B56B63E}"/>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04" name="Line 658">
                <a:extLst>
                  <a:ext uri="{FF2B5EF4-FFF2-40B4-BE49-F238E27FC236}">
                    <a16:creationId xmlns:a16="http://schemas.microsoft.com/office/drawing/2014/main" id="{4065F599-3D68-C04E-EF3E-BE70429381BB}"/>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05" name="Line 659">
                <a:extLst>
                  <a:ext uri="{FF2B5EF4-FFF2-40B4-BE49-F238E27FC236}">
                    <a16:creationId xmlns:a16="http://schemas.microsoft.com/office/drawing/2014/main" id="{3BBCDF99-1361-4922-90B9-4392F5CAC2F4}"/>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06" name="AutoShape 660">
                <a:extLst>
                  <a:ext uri="{FF2B5EF4-FFF2-40B4-BE49-F238E27FC236}">
                    <a16:creationId xmlns:a16="http://schemas.microsoft.com/office/drawing/2014/main" id="{38D2EAEF-F183-4D6C-B766-9468A0884AF7}"/>
                  </a:ext>
                </a:extLst>
              </p:cNvPr>
              <p:cNvCxnSpPr>
                <a:cxnSpLocks noChangeShapeType="1"/>
                <a:stCxn id="305" idx="1"/>
                <a:endCxn id="304"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07" name="Group 661">
              <a:extLst>
                <a:ext uri="{FF2B5EF4-FFF2-40B4-BE49-F238E27FC236}">
                  <a16:creationId xmlns:a16="http://schemas.microsoft.com/office/drawing/2014/main" id="{1F069371-6D62-896B-07F0-C9361FD7CB9E}"/>
                </a:ext>
              </a:extLst>
            </p:cNvPr>
            <p:cNvGrpSpPr>
              <a:grpSpLocks/>
            </p:cNvGrpSpPr>
            <p:nvPr/>
          </p:nvGrpSpPr>
          <p:grpSpPr bwMode="auto">
            <a:xfrm>
              <a:off x="2389188" y="2870200"/>
              <a:ext cx="4519612" cy="1790700"/>
              <a:chOff x="1505" y="1496"/>
              <a:chExt cx="2847" cy="1128"/>
            </a:xfrm>
          </p:grpSpPr>
          <p:grpSp>
            <p:nvGrpSpPr>
              <p:cNvPr id="308" name="Group 662">
                <a:extLst>
                  <a:ext uri="{FF2B5EF4-FFF2-40B4-BE49-F238E27FC236}">
                    <a16:creationId xmlns:a16="http://schemas.microsoft.com/office/drawing/2014/main" id="{3E03567D-6C8D-9A0C-9634-5B98210662B6}"/>
                  </a:ext>
                </a:extLst>
              </p:cNvPr>
              <p:cNvGrpSpPr>
                <a:grpSpLocks/>
              </p:cNvGrpSpPr>
              <p:nvPr/>
            </p:nvGrpSpPr>
            <p:grpSpPr bwMode="auto">
              <a:xfrm>
                <a:off x="4257" y="1496"/>
                <a:ext cx="95" cy="1128"/>
                <a:chOff x="1561" y="2056"/>
                <a:chExt cx="95" cy="572"/>
              </a:xfrm>
            </p:grpSpPr>
            <p:sp>
              <p:nvSpPr>
                <p:cNvPr id="310" name="Line 663">
                  <a:extLst>
                    <a:ext uri="{FF2B5EF4-FFF2-40B4-BE49-F238E27FC236}">
                      <a16:creationId xmlns:a16="http://schemas.microsoft.com/office/drawing/2014/main" id="{95DE266E-6759-A0F4-BD46-C8AA038F3AF4}"/>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11" name="Line 664">
                  <a:extLst>
                    <a:ext uri="{FF2B5EF4-FFF2-40B4-BE49-F238E27FC236}">
                      <a16:creationId xmlns:a16="http://schemas.microsoft.com/office/drawing/2014/main" id="{C97DA65A-8125-A74D-68BD-8E09B9C6C368}"/>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12" name="Line 665">
                  <a:extLst>
                    <a:ext uri="{FF2B5EF4-FFF2-40B4-BE49-F238E27FC236}">
                      <a16:creationId xmlns:a16="http://schemas.microsoft.com/office/drawing/2014/main" id="{EE5893E1-8D44-A3F9-94B7-36D4B2A3F3A2}"/>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13" name="AutoShape 666">
                  <a:extLst>
                    <a:ext uri="{FF2B5EF4-FFF2-40B4-BE49-F238E27FC236}">
                      <a16:creationId xmlns:a16="http://schemas.microsoft.com/office/drawing/2014/main" id="{678D1669-3FB1-2B1B-0C4E-316273B33D40}"/>
                    </a:ext>
                  </a:extLst>
                </p:cNvPr>
                <p:cNvCxnSpPr>
                  <a:cxnSpLocks noChangeShapeType="1"/>
                  <a:stCxn id="312" idx="1"/>
                  <a:endCxn id="311"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09" name="AutoShape 667">
                <a:extLst>
                  <a:ext uri="{FF2B5EF4-FFF2-40B4-BE49-F238E27FC236}">
                    <a16:creationId xmlns:a16="http://schemas.microsoft.com/office/drawing/2014/main" id="{71567B19-8EEB-9198-C94E-574E5993E8FD}"/>
                  </a:ext>
                </a:extLst>
              </p:cNvPr>
              <p:cNvCxnSpPr>
                <a:cxnSpLocks noChangeShapeType="1"/>
              </p:cNvCxnSpPr>
              <p:nvPr/>
            </p:nvCxnSpPr>
            <p:spPr bwMode="auto">
              <a:xfrm rot="-5400000">
                <a:off x="2770" y="232"/>
                <a:ext cx="217" cy="2748"/>
              </a:xfrm>
              <a:prstGeom prst="bentConnector3">
                <a:avLst>
                  <a:gd name="adj1" fmla="val 101380"/>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cxnSp>
          <p:nvCxnSpPr>
            <p:cNvPr id="314" name="AutoShape 692">
              <a:extLst>
                <a:ext uri="{FF2B5EF4-FFF2-40B4-BE49-F238E27FC236}">
                  <a16:creationId xmlns:a16="http://schemas.microsoft.com/office/drawing/2014/main" id="{4CDCB982-A90B-9DF9-CCD3-6146589DF438}"/>
                </a:ext>
              </a:extLst>
            </p:cNvPr>
            <p:cNvCxnSpPr>
              <a:cxnSpLocks noChangeShapeType="1"/>
            </p:cNvCxnSpPr>
            <p:nvPr/>
          </p:nvCxnSpPr>
          <p:spPr bwMode="auto">
            <a:xfrm flipH="1" flipV="1">
              <a:off x="4941888" y="2619375"/>
              <a:ext cx="2874962" cy="2024063"/>
            </a:xfrm>
            <a:prstGeom prst="bentConnector3">
              <a:avLst>
                <a:gd name="adj1" fmla="val -7954"/>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15" name="AutoShape 693">
              <a:extLst>
                <a:ext uri="{FF2B5EF4-FFF2-40B4-BE49-F238E27FC236}">
                  <a16:creationId xmlns:a16="http://schemas.microsoft.com/office/drawing/2014/main" id="{53547254-878E-B808-DA65-04260FCC3A01}"/>
                </a:ext>
              </a:extLst>
            </p:cNvPr>
            <p:cNvCxnSpPr>
              <a:cxnSpLocks noChangeShapeType="1"/>
              <a:stCxn id="218" idx="3"/>
            </p:cNvCxnSpPr>
            <p:nvPr/>
          </p:nvCxnSpPr>
          <p:spPr bwMode="auto">
            <a:xfrm flipV="1">
              <a:off x="4865688" y="1816100"/>
              <a:ext cx="3167062" cy="615866"/>
            </a:xfrm>
            <a:prstGeom prst="bentConnector3">
              <a:avLst>
                <a:gd name="adj1" fmla="val 50000"/>
              </a:avLst>
            </a:prstGeom>
            <a:noFill/>
            <a:ln w="5715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316" name="Rectangle 369">
              <a:extLst>
                <a:ext uri="{FF2B5EF4-FFF2-40B4-BE49-F238E27FC236}">
                  <a16:creationId xmlns:a16="http://schemas.microsoft.com/office/drawing/2014/main" id="{A06588B7-1AED-C0B4-0613-D2DB03E68409}"/>
                </a:ext>
              </a:extLst>
            </p:cNvPr>
            <p:cNvSpPr>
              <a:spLocks noChangeArrowheads="1"/>
            </p:cNvSpPr>
            <p:nvPr/>
          </p:nvSpPr>
          <p:spPr bwMode="auto">
            <a:xfrm>
              <a:off x="1747838" y="1238250"/>
              <a:ext cx="5237162" cy="1698625"/>
            </a:xfrm>
            <a:prstGeom prst="rect">
              <a:avLst/>
            </a:prstGeom>
            <a:solidFill>
              <a:schemeClr val="bg2"/>
            </a:solidFill>
            <a:ln w="12700" cap="sq">
              <a:solidFill>
                <a:schemeClr val="tx1"/>
              </a:solidFill>
              <a:miter lim="800000"/>
              <a:headEnd/>
              <a:tailEnd/>
            </a:ln>
          </p:spPr>
          <p:txBody>
            <a:bodyPr anchor="ctr"/>
            <a:lstStyle>
              <a:lvl1pPr marL="406400" indent="-406400">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spcAft>
                  <a:spcPct val="0"/>
                </a:spcAft>
                <a:buClrTx/>
                <a:buSzTx/>
                <a:buFontTx/>
                <a:buNone/>
              </a:pPr>
              <a:r>
                <a:rPr lang="en-US" altLang="en-US" sz="1400" dirty="0">
                  <a:latin typeface="Roboto" panose="02000000000000000000" pitchFamily="2" charset="0"/>
                  <a:ea typeface="Roboto" panose="02000000000000000000" pitchFamily="2" charset="0"/>
                </a:rPr>
                <a:t>Establish upper time limits for Visually Managed Queues</a:t>
              </a:r>
            </a:p>
            <a:p>
              <a:pPr>
                <a:spcAft>
                  <a:spcPct val="0"/>
                </a:spcAft>
                <a:buClrTx/>
                <a:buSzTx/>
                <a:buFontTx/>
                <a:buNone/>
              </a:pPr>
              <a:r>
                <a:rPr lang="en-US" altLang="en-US" sz="1400" dirty="0">
                  <a:latin typeface="Roboto" panose="02000000000000000000" pitchFamily="2" charset="0"/>
                  <a:ea typeface="Roboto" panose="02000000000000000000" pitchFamily="2" charset="0"/>
                </a:rPr>
                <a:t>	Note: Batch timing, resources, capacity, and flow will drive queue sizes</a:t>
              </a:r>
            </a:p>
          </p:txBody>
        </p:sp>
        <p:grpSp>
          <p:nvGrpSpPr>
            <p:cNvPr id="317" name="Group 694">
              <a:extLst>
                <a:ext uri="{FF2B5EF4-FFF2-40B4-BE49-F238E27FC236}">
                  <a16:creationId xmlns:a16="http://schemas.microsoft.com/office/drawing/2014/main" id="{F5114F65-7339-21DB-207E-28F0F7E9C192}"/>
                </a:ext>
              </a:extLst>
            </p:cNvPr>
            <p:cNvGrpSpPr>
              <a:grpSpLocks/>
            </p:cNvGrpSpPr>
            <p:nvPr/>
          </p:nvGrpSpPr>
          <p:grpSpPr bwMode="auto">
            <a:xfrm>
              <a:off x="8135938" y="1644650"/>
              <a:ext cx="533400" cy="679450"/>
              <a:chOff x="2880" y="1152"/>
              <a:chExt cx="720" cy="1008"/>
            </a:xfrm>
          </p:grpSpPr>
          <p:sp>
            <p:nvSpPr>
              <p:cNvPr id="318" name="Rectangle 695">
                <a:extLst>
                  <a:ext uri="{FF2B5EF4-FFF2-40B4-BE49-F238E27FC236}">
                    <a16:creationId xmlns:a16="http://schemas.microsoft.com/office/drawing/2014/main" id="{BAC69BB3-8175-1527-B340-94C4C4D8F597}"/>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19" name="Rectangle 696">
                <a:extLst>
                  <a:ext uri="{FF2B5EF4-FFF2-40B4-BE49-F238E27FC236}">
                    <a16:creationId xmlns:a16="http://schemas.microsoft.com/office/drawing/2014/main" id="{5362CF6D-7950-8A87-EE86-582AB0B8F066}"/>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0" name="Rectangle 697">
                <a:extLst>
                  <a:ext uri="{FF2B5EF4-FFF2-40B4-BE49-F238E27FC236}">
                    <a16:creationId xmlns:a16="http://schemas.microsoft.com/office/drawing/2014/main" id="{CE9D05C9-C106-E7A1-16F7-979118EF677F}"/>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1" name="Rectangle 698">
                <a:extLst>
                  <a:ext uri="{FF2B5EF4-FFF2-40B4-BE49-F238E27FC236}">
                    <a16:creationId xmlns:a16="http://schemas.microsoft.com/office/drawing/2014/main" id="{D3182353-ED89-47AB-BFA2-018098340314}"/>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2" name="Rectangle 699">
                <a:extLst>
                  <a:ext uri="{FF2B5EF4-FFF2-40B4-BE49-F238E27FC236}">
                    <a16:creationId xmlns:a16="http://schemas.microsoft.com/office/drawing/2014/main" id="{3569FE5F-78DA-65B8-D810-CBA764E73A7F}"/>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3" name="Rectangle 700">
                <a:extLst>
                  <a:ext uri="{FF2B5EF4-FFF2-40B4-BE49-F238E27FC236}">
                    <a16:creationId xmlns:a16="http://schemas.microsoft.com/office/drawing/2014/main" id="{4B4F0E45-20AB-3BD4-7BD0-CD037871232F}"/>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4" name="Rectangle 701">
                <a:extLst>
                  <a:ext uri="{FF2B5EF4-FFF2-40B4-BE49-F238E27FC236}">
                    <a16:creationId xmlns:a16="http://schemas.microsoft.com/office/drawing/2014/main" id="{B860B5DD-45CD-3D30-D5D3-BCDEE04D262A}"/>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5" name="Rectangle 702">
                <a:extLst>
                  <a:ext uri="{FF2B5EF4-FFF2-40B4-BE49-F238E27FC236}">
                    <a16:creationId xmlns:a16="http://schemas.microsoft.com/office/drawing/2014/main" id="{29D38825-D0F0-40A7-8BE6-1A18D2411311}"/>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6" name="Rectangle 703">
                <a:extLst>
                  <a:ext uri="{FF2B5EF4-FFF2-40B4-BE49-F238E27FC236}">
                    <a16:creationId xmlns:a16="http://schemas.microsoft.com/office/drawing/2014/main" id="{A0FA4138-E35B-013B-1628-BBCF5AE36F15}"/>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7" name="Rectangle 704">
                <a:extLst>
                  <a:ext uri="{FF2B5EF4-FFF2-40B4-BE49-F238E27FC236}">
                    <a16:creationId xmlns:a16="http://schemas.microsoft.com/office/drawing/2014/main" id="{AA556170-59CF-3292-9433-AAA55F7E60EA}"/>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8" name="Rectangle 705">
                <a:extLst>
                  <a:ext uri="{FF2B5EF4-FFF2-40B4-BE49-F238E27FC236}">
                    <a16:creationId xmlns:a16="http://schemas.microsoft.com/office/drawing/2014/main" id="{A390776B-3CF2-CD5E-9A98-395093B85020}"/>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29" name="Rectangle 706">
                <a:extLst>
                  <a:ext uri="{FF2B5EF4-FFF2-40B4-BE49-F238E27FC236}">
                    <a16:creationId xmlns:a16="http://schemas.microsoft.com/office/drawing/2014/main" id="{F65085E9-1383-46F4-774C-2299C2EE9A06}"/>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0" name="Rectangle 707">
                <a:extLst>
                  <a:ext uri="{FF2B5EF4-FFF2-40B4-BE49-F238E27FC236}">
                    <a16:creationId xmlns:a16="http://schemas.microsoft.com/office/drawing/2014/main" id="{C5AFBB32-D7FC-CF12-9B7F-65E8AE38D453}"/>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1" name="Rectangle 708">
                <a:extLst>
                  <a:ext uri="{FF2B5EF4-FFF2-40B4-BE49-F238E27FC236}">
                    <a16:creationId xmlns:a16="http://schemas.microsoft.com/office/drawing/2014/main" id="{B7927645-E436-162C-F558-F29E3823408A}"/>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2" name="Rectangle 709">
                <a:extLst>
                  <a:ext uri="{FF2B5EF4-FFF2-40B4-BE49-F238E27FC236}">
                    <a16:creationId xmlns:a16="http://schemas.microsoft.com/office/drawing/2014/main" id="{7C1CF7EB-0325-CB64-80EA-58409E3C3EE7}"/>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3" name="Rectangle 710">
                <a:extLst>
                  <a:ext uri="{FF2B5EF4-FFF2-40B4-BE49-F238E27FC236}">
                    <a16:creationId xmlns:a16="http://schemas.microsoft.com/office/drawing/2014/main" id="{E1CA8E24-584E-7EEA-DF3C-C008F060C978}"/>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4" name="Rectangle 711">
                <a:extLst>
                  <a:ext uri="{FF2B5EF4-FFF2-40B4-BE49-F238E27FC236}">
                    <a16:creationId xmlns:a16="http://schemas.microsoft.com/office/drawing/2014/main" id="{764795C0-5E64-0D0B-CFD8-2E60C50EC840}"/>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5" name="Rectangle 712">
                <a:extLst>
                  <a:ext uri="{FF2B5EF4-FFF2-40B4-BE49-F238E27FC236}">
                    <a16:creationId xmlns:a16="http://schemas.microsoft.com/office/drawing/2014/main" id="{55D92ECD-F309-5363-D7F0-16B268DC7AEC}"/>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6" name="Rectangle 713">
                <a:extLst>
                  <a:ext uri="{FF2B5EF4-FFF2-40B4-BE49-F238E27FC236}">
                    <a16:creationId xmlns:a16="http://schemas.microsoft.com/office/drawing/2014/main" id="{637C6DA2-0404-A15B-715F-A45B4FD3C05E}"/>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7" name="Rectangle 714">
                <a:extLst>
                  <a:ext uri="{FF2B5EF4-FFF2-40B4-BE49-F238E27FC236}">
                    <a16:creationId xmlns:a16="http://schemas.microsoft.com/office/drawing/2014/main" id="{54E5B720-BEB4-6CA7-D8B2-B48C0141D100}"/>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8" name="Rectangle 715">
                <a:extLst>
                  <a:ext uri="{FF2B5EF4-FFF2-40B4-BE49-F238E27FC236}">
                    <a16:creationId xmlns:a16="http://schemas.microsoft.com/office/drawing/2014/main" id="{7141E9D9-2652-392C-1CA8-8E7B02E5DE76}"/>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9" name="Rectangle 716">
                <a:extLst>
                  <a:ext uri="{FF2B5EF4-FFF2-40B4-BE49-F238E27FC236}">
                    <a16:creationId xmlns:a16="http://schemas.microsoft.com/office/drawing/2014/main" id="{DC0C9974-37B6-C1E4-9C2D-2E85CA2C61E2}"/>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0" name="Rectangle 717">
                <a:extLst>
                  <a:ext uri="{FF2B5EF4-FFF2-40B4-BE49-F238E27FC236}">
                    <a16:creationId xmlns:a16="http://schemas.microsoft.com/office/drawing/2014/main" id="{E18359E2-1BDB-1BD5-6D00-953651B7A381}"/>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1" name="Rectangle 718">
                <a:extLst>
                  <a:ext uri="{FF2B5EF4-FFF2-40B4-BE49-F238E27FC236}">
                    <a16:creationId xmlns:a16="http://schemas.microsoft.com/office/drawing/2014/main" id="{51185CE6-A228-58D5-BECA-231C1CCCA6A3}"/>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2" name="Rectangle 719">
                <a:extLst>
                  <a:ext uri="{FF2B5EF4-FFF2-40B4-BE49-F238E27FC236}">
                    <a16:creationId xmlns:a16="http://schemas.microsoft.com/office/drawing/2014/main" id="{1FA8C4F2-0E70-4B10-6178-07B88AECA9B3}"/>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3" name="Rectangle 720">
                <a:extLst>
                  <a:ext uri="{FF2B5EF4-FFF2-40B4-BE49-F238E27FC236}">
                    <a16:creationId xmlns:a16="http://schemas.microsoft.com/office/drawing/2014/main" id="{3DFF3983-547A-363B-9AD9-3532E2C66887}"/>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4" name="Rectangle 721">
                <a:extLst>
                  <a:ext uri="{FF2B5EF4-FFF2-40B4-BE49-F238E27FC236}">
                    <a16:creationId xmlns:a16="http://schemas.microsoft.com/office/drawing/2014/main" id="{48E6BC30-0C5C-D63C-5E1F-19D09BE58D1B}"/>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345" name="Text Box 722">
              <a:extLst>
                <a:ext uri="{FF2B5EF4-FFF2-40B4-BE49-F238E27FC236}">
                  <a16:creationId xmlns:a16="http://schemas.microsoft.com/office/drawing/2014/main" id="{91BB43A4-61E0-5A05-6ECC-F81E2E7FF72E}"/>
                </a:ext>
              </a:extLst>
            </p:cNvPr>
            <p:cNvSpPr txBox="1">
              <a:spLocks noChangeArrowheads="1"/>
            </p:cNvSpPr>
            <p:nvPr/>
          </p:nvSpPr>
          <p:spPr bwMode="auto">
            <a:xfrm>
              <a:off x="7947576" y="1435884"/>
              <a:ext cx="100219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a:latin typeface="Roboto" panose="02000000000000000000" pitchFamily="2" charset="0"/>
                  <a:ea typeface="Roboto" panose="02000000000000000000" pitchFamily="2" charset="0"/>
                </a:rPr>
                <a:t>Product Distributors</a:t>
              </a:r>
            </a:p>
          </p:txBody>
        </p:sp>
        <p:sp>
          <p:nvSpPr>
            <p:cNvPr id="346" name="Rectangle 723">
              <a:extLst>
                <a:ext uri="{FF2B5EF4-FFF2-40B4-BE49-F238E27FC236}">
                  <a16:creationId xmlns:a16="http://schemas.microsoft.com/office/drawing/2014/main" id="{AE6C3D63-71CD-9EE9-6DDE-27BC37F4B3A3}"/>
                </a:ext>
              </a:extLst>
            </p:cNvPr>
            <p:cNvSpPr>
              <a:spLocks noChangeArrowheads="1"/>
            </p:cNvSpPr>
            <p:nvPr/>
          </p:nvSpPr>
          <p:spPr bwMode="auto">
            <a:xfrm>
              <a:off x="404813" y="1393825"/>
              <a:ext cx="841375" cy="3778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900" b="0">
                  <a:latin typeface="Roboto" panose="02000000000000000000" pitchFamily="2" charset="0"/>
                  <a:ea typeface="Roboto" panose="02000000000000000000" pitchFamily="2" charset="0"/>
                </a:rPr>
                <a:t>Product Road</a:t>
              </a:r>
              <a:br>
                <a:rPr lang="en-US" altLang="en-US" sz="900" b="0">
                  <a:latin typeface="Roboto" panose="02000000000000000000" pitchFamily="2" charset="0"/>
                  <a:ea typeface="Roboto" panose="02000000000000000000" pitchFamily="2" charset="0"/>
                </a:rPr>
              </a:br>
              <a:r>
                <a:rPr lang="en-US" altLang="en-US" sz="900" b="0">
                  <a:latin typeface="Roboto" panose="02000000000000000000" pitchFamily="2" charset="0"/>
                  <a:ea typeface="Roboto" panose="02000000000000000000" pitchFamily="2" charset="0"/>
                </a:rPr>
                <a:t>Map</a:t>
              </a:r>
            </a:p>
          </p:txBody>
        </p:sp>
      </p:grpSp>
    </p:spTree>
    <p:extLst>
      <p:ext uri="{BB962C8B-B14F-4D97-AF65-F5344CB8AC3E}">
        <p14:creationId xmlns:p14="http://schemas.microsoft.com/office/powerpoint/2010/main" val="61211875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117</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bg2"/>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241087891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Calculate Lead Time and Processing Time</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118</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433" name="Group 432">
            <a:extLst>
              <a:ext uri="{FF2B5EF4-FFF2-40B4-BE49-F238E27FC236}">
                <a16:creationId xmlns:a16="http://schemas.microsoft.com/office/drawing/2014/main" id="{3F7B9745-7B50-B91F-52D4-C637651B0D00}"/>
              </a:ext>
            </a:extLst>
          </p:cNvPr>
          <p:cNvGrpSpPr/>
          <p:nvPr/>
        </p:nvGrpSpPr>
        <p:grpSpPr>
          <a:xfrm>
            <a:off x="304800" y="1783429"/>
            <a:ext cx="11247120" cy="4198271"/>
            <a:chOff x="304800" y="1393825"/>
            <a:chExt cx="8672513" cy="4587875"/>
          </a:xfrm>
        </p:grpSpPr>
        <p:sp>
          <p:nvSpPr>
            <p:cNvPr id="15" name="Line 333">
              <a:extLst>
                <a:ext uri="{FF2B5EF4-FFF2-40B4-BE49-F238E27FC236}">
                  <a16:creationId xmlns:a16="http://schemas.microsoft.com/office/drawing/2014/main" id="{219A2AAB-4420-309F-0D59-3146F891E9E0}"/>
                </a:ext>
              </a:extLst>
            </p:cNvPr>
            <p:cNvSpPr>
              <a:spLocks noChangeShapeType="1"/>
            </p:cNvSpPr>
            <p:nvPr/>
          </p:nvSpPr>
          <p:spPr bwMode="auto">
            <a:xfrm>
              <a:off x="3998913" y="5981700"/>
              <a:ext cx="939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6" name="Line 334">
              <a:extLst>
                <a:ext uri="{FF2B5EF4-FFF2-40B4-BE49-F238E27FC236}">
                  <a16:creationId xmlns:a16="http://schemas.microsoft.com/office/drawing/2014/main" id="{6E0EA32A-E733-FD91-2E49-DD5357312509}"/>
                </a:ext>
              </a:extLst>
            </p:cNvPr>
            <p:cNvSpPr>
              <a:spLocks noChangeShapeType="1"/>
            </p:cNvSpPr>
            <p:nvPr/>
          </p:nvSpPr>
          <p:spPr bwMode="auto">
            <a:xfrm>
              <a:off x="34655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7" name="AutoShape 335">
              <a:extLst>
                <a:ext uri="{FF2B5EF4-FFF2-40B4-BE49-F238E27FC236}">
                  <a16:creationId xmlns:a16="http://schemas.microsoft.com/office/drawing/2014/main" id="{647B1EA4-E8B4-78A3-8F13-7B658DADFC9C}"/>
                </a:ext>
              </a:extLst>
            </p:cNvPr>
            <p:cNvCxnSpPr>
              <a:cxnSpLocks noChangeShapeType="1"/>
              <a:stCxn id="16" idx="1"/>
              <a:endCxn id="15" idx="0"/>
            </p:cNvCxnSpPr>
            <p:nvPr/>
          </p:nvCxnSpPr>
          <p:spPr bwMode="auto">
            <a:xfrm>
              <a:off x="39989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8" name="Line 336">
              <a:extLst>
                <a:ext uri="{FF2B5EF4-FFF2-40B4-BE49-F238E27FC236}">
                  <a16:creationId xmlns:a16="http://schemas.microsoft.com/office/drawing/2014/main" id="{38522E81-D8EB-9174-50D8-EB1E762B9399}"/>
                </a:ext>
              </a:extLst>
            </p:cNvPr>
            <p:cNvSpPr>
              <a:spLocks noChangeShapeType="1"/>
            </p:cNvSpPr>
            <p:nvPr/>
          </p:nvSpPr>
          <p:spPr bwMode="auto">
            <a:xfrm>
              <a:off x="989013" y="5981700"/>
              <a:ext cx="106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 name="Line 337">
              <a:extLst>
                <a:ext uri="{FF2B5EF4-FFF2-40B4-BE49-F238E27FC236}">
                  <a16:creationId xmlns:a16="http://schemas.microsoft.com/office/drawing/2014/main" id="{C0D36C1A-A4C2-2C7C-56BB-340080782C8E}"/>
                </a:ext>
              </a:extLst>
            </p:cNvPr>
            <p:cNvSpPr>
              <a:spLocks noChangeShapeType="1"/>
            </p:cNvSpPr>
            <p:nvPr/>
          </p:nvSpPr>
          <p:spPr bwMode="auto">
            <a:xfrm>
              <a:off x="4556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0" name="AutoShape 338">
              <a:extLst>
                <a:ext uri="{FF2B5EF4-FFF2-40B4-BE49-F238E27FC236}">
                  <a16:creationId xmlns:a16="http://schemas.microsoft.com/office/drawing/2014/main" id="{E352646E-F812-C5B2-14A0-003D497A0B50}"/>
                </a:ext>
              </a:extLst>
            </p:cNvPr>
            <p:cNvCxnSpPr>
              <a:cxnSpLocks noChangeShapeType="1"/>
              <a:stCxn id="19" idx="1"/>
              <a:endCxn id="18" idx="0"/>
            </p:cNvCxnSpPr>
            <p:nvPr/>
          </p:nvCxnSpPr>
          <p:spPr bwMode="auto">
            <a:xfrm>
              <a:off x="9890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1" name="AutoShape 339">
              <a:extLst>
                <a:ext uri="{FF2B5EF4-FFF2-40B4-BE49-F238E27FC236}">
                  <a16:creationId xmlns:a16="http://schemas.microsoft.com/office/drawing/2014/main" id="{BFF6ED28-B68B-F01D-C572-DA5C4648B645}"/>
                </a:ext>
              </a:extLst>
            </p:cNvPr>
            <p:cNvCxnSpPr>
              <a:cxnSpLocks noChangeShapeType="1"/>
              <a:stCxn id="16" idx="0"/>
              <a:endCxn id="22" idx="1"/>
            </p:cNvCxnSpPr>
            <p:nvPr/>
          </p:nvCxnSpPr>
          <p:spPr bwMode="auto">
            <a:xfrm>
              <a:off x="34655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2" name="Line 340">
              <a:extLst>
                <a:ext uri="{FF2B5EF4-FFF2-40B4-BE49-F238E27FC236}">
                  <a16:creationId xmlns:a16="http://schemas.microsoft.com/office/drawing/2014/main" id="{1A1A3702-E52D-5033-0AA1-C2A2FEC66198}"/>
                </a:ext>
              </a:extLst>
            </p:cNvPr>
            <p:cNvSpPr>
              <a:spLocks noChangeShapeType="1"/>
            </p:cNvSpPr>
            <p:nvPr/>
          </p:nvSpPr>
          <p:spPr bwMode="auto">
            <a:xfrm>
              <a:off x="2589213" y="5981700"/>
              <a:ext cx="87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3" name="Line 341">
              <a:extLst>
                <a:ext uri="{FF2B5EF4-FFF2-40B4-BE49-F238E27FC236}">
                  <a16:creationId xmlns:a16="http://schemas.microsoft.com/office/drawing/2014/main" id="{B8070A46-D84C-9049-B911-D5E521D2EC99}"/>
                </a:ext>
              </a:extLst>
            </p:cNvPr>
            <p:cNvSpPr>
              <a:spLocks noChangeShapeType="1"/>
            </p:cNvSpPr>
            <p:nvPr/>
          </p:nvSpPr>
          <p:spPr bwMode="auto">
            <a:xfrm>
              <a:off x="20558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4" name="AutoShape 342">
              <a:extLst>
                <a:ext uri="{FF2B5EF4-FFF2-40B4-BE49-F238E27FC236}">
                  <a16:creationId xmlns:a16="http://schemas.microsoft.com/office/drawing/2014/main" id="{8D285120-775F-8B20-96CC-BA3136212D23}"/>
                </a:ext>
              </a:extLst>
            </p:cNvPr>
            <p:cNvCxnSpPr>
              <a:cxnSpLocks noChangeShapeType="1"/>
              <a:stCxn id="23" idx="1"/>
              <a:endCxn id="22" idx="0"/>
            </p:cNvCxnSpPr>
            <p:nvPr/>
          </p:nvCxnSpPr>
          <p:spPr bwMode="auto">
            <a:xfrm>
              <a:off x="25892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 name="AutoShape 343">
              <a:extLst>
                <a:ext uri="{FF2B5EF4-FFF2-40B4-BE49-F238E27FC236}">
                  <a16:creationId xmlns:a16="http://schemas.microsoft.com/office/drawing/2014/main" id="{6863AB4E-CD98-C74D-010F-F6E3219F31AF}"/>
                </a:ext>
              </a:extLst>
            </p:cNvPr>
            <p:cNvCxnSpPr>
              <a:cxnSpLocks noChangeShapeType="1"/>
              <a:stCxn id="23" idx="0"/>
            </p:cNvCxnSpPr>
            <p:nvPr/>
          </p:nvCxnSpPr>
          <p:spPr bwMode="auto">
            <a:xfrm>
              <a:off x="20558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 name="Line 344">
              <a:extLst>
                <a:ext uri="{FF2B5EF4-FFF2-40B4-BE49-F238E27FC236}">
                  <a16:creationId xmlns:a16="http://schemas.microsoft.com/office/drawing/2014/main" id="{01AE18F4-8D6D-C08A-6603-2CE36E8C1A7E}"/>
                </a:ext>
              </a:extLst>
            </p:cNvPr>
            <p:cNvSpPr>
              <a:spLocks noChangeShapeType="1"/>
            </p:cNvSpPr>
            <p:nvPr/>
          </p:nvSpPr>
          <p:spPr bwMode="auto">
            <a:xfrm>
              <a:off x="5472113" y="5981700"/>
              <a:ext cx="990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345">
              <a:extLst>
                <a:ext uri="{FF2B5EF4-FFF2-40B4-BE49-F238E27FC236}">
                  <a16:creationId xmlns:a16="http://schemas.microsoft.com/office/drawing/2014/main" id="{09DEFADB-595B-35D9-D951-030DAC25E0A2}"/>
                </a:ext>
              </a:extLst>
            </p:cNvPr>
            <p:cNvSpPr>
              <a:spLocks noChangeShapeType="1"/>
            </p:cNvSpPr>
            <p:nvPr/>
          </p:nvSpPr>
          <p:spPr bwMode="auto">
            <a:xfrm>
              <a:off x="4938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8" name="AutoShape 346">
              <a:extLst>
                <a:ext uri="{FF2B5EF4-FFF2-40B4-BE49-F238E27FC236}">
                  <a16:creationId xmlns:a16="http://schemas.microsoft.com/office/drawing/2014/main" id="{81684461-7520-F9FC-264A-F97700297BA2}"/>
                </a:ext>
              </a:extLst>
            </p:cNvPr>
            <p:cNvCxnSpPr>
              <a:cxnSpLocks noChangeShapeType="1"/>
              <a:stCxn id="27" idx="1"/>
              <a:endCxn id="26" idx="0"/>
            </p:cNvCxnSpPr>
            <p:nvPr/>
          </p:nvCxnSpPr>
          <p:spPr bwMode="auto">
            <a:xfrm>
              <a:off x="5472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 name="AutoShape 347">
              <a:extLst>
                <a:ext uri="{FF2B5EF4-FFF2-40B4-BE49-F238E27FC236}">
                  <a16:creationId xmlns:a16="http://schemas.microsoft.com/office/drawing/2014/main" id="{A3ED3ACB-BBAE-3D55-3061-5E6CFB8AE231}"/>
                </a:ext>
              </a:extLst>
            </p:cNvPr>
            <p:cNvCxnSpPr>
              <a:cxnSpLocks noChangeShapeType="1"/>
              <a:stCxn id="27" idx="0"/>
              <a:endCxn id="15" idx="1"/>
            </p:cNvCxnSpPr>
            <p:nvPr/>
          </p:nvCxnSpPr>
          <p:spPr bwMode="auto">
            <a:xfrm>
              <a:off x="4938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 name="Line 348">
              <a:extLst>
                <a:ext uri="{FF2B5EF4-FFF2-40B4-BE49-F238E27FC236}">
                  <a16:creationId xmlns:a16="http://schemas.microsoft.com/office/drawing/2014/main" id="{5D757225-E9FB-1C4F-5D0D-408D204A62BF}"/>
                </a:ext>
              </a:extLst>
            </p:cNvPr>
            <p:cNvSpPr>
              <a:spLocks noChangeShapeType="1"/>
            </p:cNvSpPr>
            <p:nvPr/>
          </p:nvSpPr>
          <p:spPr bwMode="auto">
            <a:xfrm>
              <a:off x="6996113" y="5981700"/>
              <a:ext cx="914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1" name="Line 349">
              <a:extLst>
                <a:ext uri="{FF2B5EF4-FFF2-40B4-BE49-F238E27FC236}">
                  <a16:creationId xmlns:a16="http://schemas.microsoft.com/office/drawing/2014/main" id="{758945C6-4A9C-BF63-8F57-65272BCDF6FA}"/>
                </a:ext>
              </a:extLst>
            </p:cNvPr>
            <p:cNvSpPr>
              <a:spLocks noChangeShapeType="1"/>
            </p:cNvSpPr>
            <p:nvPr/>
          </p:nvSpPr>
          <p:spPr bwMode="auto">
            <a:xfrm>
              <a:off x="6462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32" name="AutoShape 350">
              <a:extLst>
                <a:ext uri="{FF2B5EF4-FFF2-40B4-BE49-F238E27FC236}">
                  <a16:creationId xmlns:a16="http://schemas.microsoft.com/office/drawing/2014/main" id="{F031D5FD-EC34-211E-FDE0-CB2289EFE5B5}"/>
                </a:ext>
              </a:extLst>
            </p:cNvPr>
            <p:cNvCxnSpPr>
              <a:cxnSpLocks noChangeShapeType="1"/>
              <a:stCxn id="31" idx="1"/>
              <a:endCxn id="30" idx="0"/>
            </p:cNvCxnSpPr>
            <p:nvPr/>
          </p:nvCxnSpPr>
          <p:spPr bwMode="auto">
            <a:xfrm>
              <a:off x="6996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3" name="AutoShape 351">
              <a:extLst>
                <a:ext uri="{FF2B5EF4-FFF2-40B4-BE49-F238E27FC236}">
                  <a16:creationId xmlns:a16="http://schemas.microsoft.com/office/drawing/2014/main" id="{7016E897-9F79-338B-20A7-4492AE9EBDD3}"/>
                </a:ext>
              </a:extLst>
            </p:cNvPr>
            <p:cNvCxnSpPr>
              <a:cxnSpLocks noChangeShapeType="1"/>
              <a:endCxn id="26" idx="1"/>
            </p:cNvCxnSpPr>
            <p:nvPr/>
          </p:nvCxnSpPr>
          <p:spPr bwMode="auto">
            <a:xfrm>
              <a:off x="6462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4" name="Text Box 352">
              <a:extLst>
                <a:ext uri="{FF2B5EF4-FFF2-40B4-BE49-F238E27FC236}">
                  <a16:creationId xmlns:a16="http://schemas.microsoft.com/office/drawing/2014/main" id="{A670BD22-42C6-C6C3-4D20-4411C7E7C1DE}"/>
                </a:ext>
              </a:extLst>
            </p:cNvPr>
            <p:cNvSpPr txBox="1">
              <a:spLocks noChangeArrowheads="1"/>
            </p:cNvSpPr>
            <p:nvPr/>
          </p:nvSpPr>
          <p:spPr bwMode="auto">
            <a:xfrm>
              <a:off x="2703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35" name="Text Box 353">
              <a:extLst>
                <a:ext uri="{FF2B5EF4-FFF2-40B4-BE49-F238E27FC236}">
                  <a16:creationId xmlns:a16="http://schemas.microsoft.com/office/drawing/2014/main" id="{A30F1CB5-F3E1-C8CF-383E-CAF1E82127ED}"/>
                </a:ext>
              </a:extLst>
            </p:cNvPr>
            <p:cNvSpPr txBox="1">
              <a:spLocks noChangeArrowheads="1"/>
            </p:cNvSpPr>
            <p:nvPr/>
          </p:nvSpPr>
          <p:spPr bwMode="auto">
            <a:xfrm>
              <a:off x="20431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1" name="Text Box 354">
              <a:extLst>
                <a:ext uri="{FF2B5EF4-FFF2-40B4-BE49-F238E27FC236}">
                  <a16:creationId xmlns:a16="http://schemas.microsoft.com/office/drawing/2014/main" id="{F464FD0F-6759-96E5-65AC-92EAC68716D2}"/>
                </a:ext>
              </a:extLst>
            </p:cNvPr>
            <p:cNvSpPr txBox="1">
              <a:spLocks noChangeArrowheads="1"/>
            </p:cNvSpPr>
            <p:nvPr/>
          </p:nvSpPr>
          <p:spPr bwMode="auto">
            <a:xfrm>
              <a:off x="34655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2" name="Text Box 355">
              <a:extLst>
                <a:ext uri="{FF2B5EF4-FFF2-40B4-BE49-F238E27FC236}">
                  <a16:creationId xmlns:a16="http://schemas.microsoft.com/office/drawing/2014/main" id="{6F7E5667-7986-4E31-D059-2242BE3927E4}"/>
                </a:ext>
              </a:extLst>
            </p:cNvPr>
            <p:cNvSpPr txBox="1">
              <a:spLocks noChangeArrowheads="1"/>
            </p:cNvSpPr>
            <p:nvPr/>
          </p:nvSpPr>
          <p:spPr bwMode="auto">
            <a:xfrm>
              <a:off x="4938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4" name="Text Box 356">
              <a:extLst>
                <a:ext uri="{FF2B5EF4-FFF2-40B4-BE49-F238E27FC236}">
                  <a16:creationId xmlns:a16="http://schemas.microsoft.com/office/drawing/2014/main" id="{7D6A2A09-3F81-5574-B223-278115C71426}"/>
                </a:ext>
              </a:extLst>
            </p:cNvPr>
            <p:cNvSpPr txBox="1">
              <a:spLocks noChangeArrowheads="1"/>
            </p:cNvSpPr>
            <p:nvPr/>
          </p:nvSpPr>
          <p:spPr bwMode="auto">
            <a:xfrm>
              <a:off x="4100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55" name="Text Box 357">
              <a:extLst>
                <a:ext uri="{FF2B5EF4-FFF2-40B4-BE49-F238E27FC236}">
                  <a16:creationId xmlns:a16="http://schemas.microsoft.com/office/drawing/2014/main" id="{E7978135-EBA5-00E5-218A-72F50725872C}"/>
                </a:ext>
              </a:extLst>
            </p:cNvPr>
            <p:cNvSpPr txBox="1">
              <a:spLocks noChangeArrowheads="1"/>
            </p:cNvSpPr>
            <p:nvPr/>
          </p:nvSpPr>
          <p:spPr bwMode="auto">
            <a:xfrm>
              <a:off x="5624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56" name="Text Box 358">
              <a:extLst>
                <a:ext uri="{FF2B5EF4-FFF2-40B4-BE49-F238E27FC236}">
                  <a16:creationId xmlns:a16="http://schemas.microsoft.com/office/drawing/2014/main" id="{A476BC7B-0BF4-EE8C-3FEE-CA631F1214BD}"/>
                </a:ext>
              </a:extLst>
            </p:cNvPr>
            <p:cNvSpPr txBox="1">
              <a:spLocks noChangeArrowheads="1"/>
            </p:cNvSpPr>
            <p:nvPr/>
          </p:nvSpPr>
          <p:spPr bwMode="auto">
            <a:xfrm>
              <a:off x="12176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7" name="Text Box 359">
              <a:extLst>
                <a:ext uri="{FF2B5EF4-FFF2-40B4-BE49-F238E27FC236}">
                  <a16:creationId xmlns:a16="http://schemas.microsoft.com/office/drawing/2014/main" id="{5501876E-3B54-A544-2965-B559D5C522F5}"/>
                </a:ext>
              </a:extLst>
            </p:cNvPr>
            <p:cNvSpPr txBox="1">
              <a:spLocks noChangeArrowheads="1"/>
            </p:cNvSpPr>
            <p:nvPr/>
          </p:nvSpPr>
          <p:spPr bwMode="auto">
            <a:xfrm>
              <a:off x="72247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8" name="Text Box 360">
              <a:extLst>
                <a:ext uri="{FF2B5EF4-FFF2-40B4-BE49-F238E27FC236}">
                  <a16:creationId xmlns:a16="http://schemas.microsoft.com/office/drawing/2014/main" id="{6AC774A8-F03E-A082-7660-416C13E181B7}"/>
                </a:ext>
              </a:extLst>
            </p:cNvPr>
            <p:cNvSpPr txBox="1">
              <a:spLocks noChangeArrowheads="1"/>
            </p:cNvSpPr>
            <p:nvPr/>
          </p:nvSpPr>
          <p:spPr bwMode="auto">
            <a:xfrm>
              <a:off x="6462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9" name="Rectangle 361">
              <a:extLst>
                <a:ext uri="{FF2B5EF4-FFF2-40B4-BE49-F238E27FC236}">
                  <a16:creationId xmlns:a16="http://schemas.microsoft.com/office/drawing/2014/main" id="{CC12EB56-6D92-1F1E-FBF5-1F8BAF4E6035}"/>
                </a:ext>
              </a:extLst>
            </p:cNvPr>
            <p:cNvSpPr>
              <a:spLocks noChangeArrowheads="1"/>
            </p:cNvSpPr>
            <p:nvPr/>
          </p:nvSpPr>
          <p:spPr bwMode="auto">
            <a:xfrm>
              <a:off x="7805738" y="5372100"/>
              <a:ext cx="1171575" cy="609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Text Box 362">
              <a:extLst>
                <a:ext uri="{FF2B5EF4-FFF2-40B4-BE49-F238E27FC236}">
                  <a16:creationId xmlns:a16="http://schemas.microsoft.com/office/drawing/2014/main" id="{44EE4519-8085-2ADD-21E9-E6228AE2AE16}"/>
                </a:ext>
              </a:extLst>
            </p:cNvPr>
            <p:cNvSpPr txBox="1">
              <a:spLocks noChangeArrowheads="1"/>
            </p:cNvSpPr>
            <p:nvPr/>
          </p:nvSpPr>
          <p:spPr bwMode="auto">
            <a:xfrm>
              <a:off x="7781925" y="5462588"/>
              <a:ext cx="11430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Lead Time 43 Days</a:t>
              </a:r>
            </a:p>
          </p:txBody>
        </p:sp>
        <p:sp>
          <p:nvSpPr>
            <p:cNvPr id="61" name="Text Box 363">
              <a:extLst>
                <a:ext uri="{FF2B5EF4-FFF2-40B4-BE49-F238E27FC236}">
                  <a16:creationId xmlns:a16="http://schemas.microsoft.com/office/drawing/2014/main" id="{61196B36-63EC-1F88-5DEC-1D13C31D8205}"/>
                </a:ext>
              </a:extLst>
            </p:cNvPr>
            <p:cNvSpPr txBox="1">
              <a:spLocks noChangeArrowheads="1"/>
            </p:cNvSpPr>
            <p:nvPr/>
          </p:nvSpPr>
          <p:spPr bwMode="auto">
            <a:xfrm>
              <a:off x="7729538" y="5767388"/>
              <a:ext cx="12477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Process Time 23 Days</a:t>
              </a:r>
            </a:p>
          </p:txBody>
        </p:sp>
        <p:sp>
          <p:nvSpPr>
            <p:cNvPr id="62" name="Line 364">
              <a:extLst>
                <a:ext uri="{FF2B5EF4-FFF2-40B4-BE49-F238E27FC236}">
                  <a16:creationId xmlns:a16="http://schemas.microsoft.com/office/drawing/2014/main" id="{BB8FB476-7554-3870-9F62-4B60DEAFDD4A}"/>
                </a:ext>
              </a:extLst>
            </p:cNvPr>
            <p:cNvSpPr>
              <a:spLocks noChangeShapeType="1"/>
            </p:cNvSpPr>
            <p:nvPr/>
          </p:nvSpPr>
          <p:spPr bwMode="auto">
            <a:xfrm>
              <a:off x="7815263" y="5676900"/>
              <a:ext cx="11334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3" name="Line 365">
              <a:extLst>
                <a:ext uri="{FF2B5EF4-FFF2-40B4-BE49-F238E27FC236}">
                  <a16:creationId xmlns:a16="http://schemas.microsoft.com/office/drawing/2014/main" id="{1946AF24-2D65-7488-B464-38F7FA7822D1}"/>
                </a:ext>
              </a:extLst>
            </p:cNvPr>
            <p:cNvSpPr>
              <a:spLocks noChangeShapeType="1"/>
            </p:cNvSpPr>
            <p:nvPr/>
          </p:nvSpPr>
          <p:spPr bwMode="auto">
            <a:xfrm flipV="1">
              <a:off x="356076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Text Box 366">
              <a:extLst>
                <a:ext uri="{FF2B5EF4-FFF2-40B4-BE49-F238E27FC236}">
                  <a16:creationId xmlns:a16="http://schemas.microsoft.com/office/drawing/2014/main" id="{DCB93339-5A3A-786D-09A8-BB1144CF540D}"/>
                </a:ext>
              </a:extLst>
            </p:cNvPr>
            <p:cNvSpPr txBox="1">
              <a:spLocks noChangeArrowheads="1"/>
            </p:cNvSpPr>
            <p:nvPr/>
          </p:nvSpPr>
          <p:spPr bwMode="auto">
            <a:xfrm>
              <a:off x="351790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5" name="Line 367">
              <a:extLst>
                <a:ext uri="{FF2B5EF4-FFF2-40B4-BE49-F238E27FC236}">
                  <a16:creationId xmlns:a16="http://schemas.microsoft.com/office/drawing/2014/main" id="{506AD601-0000-8FFF-3EF4-961F7FE625C1}"/>
                </a:ext>
              </a:extLst>
            </p:cNvPr>
            <p:cNvSpPr>
              <a:spLocks noChangeShapeType="1"/>
            </p:cNvSpPr>
            <p:nvPr/>
          </p:nvSpPr>
          <p:spPr bwMode="auto">
            <a:xfrm flipV="1">
              <a:off x="50022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Text Box 368">
              <a:extLst>
                <a:ext uri="{FF2B5EF4-FFF2-40B4-BE49-F238E27FC236}">
                  <a16:creationId xmlns:a16="http://schemas.microsoft.com/office/drawing/2014/main" id="{6E4AB71D-2607-2857-F35E-C84BDEEC9EC5}"/>
                </a:ext>
              </a:extLst>
            </p:cNvPr>
            <p:cNvSpPr txBox="1">
              <a:spLocks noChangeArrowheads="1"/>
            </p:cNvSpPr>
            <p:nvPr/>
          </p:nvSpPr>
          <p:spPr bwMode="auto">
            <a:xfrm>
              <a:off x="4959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7" name="Line 369">
              <a:extLst>
                <a:ext uri="{FF2B5EF4-FFF2-40B4-BE49-F238E27FC236}">
                  <a16:creationId xmlns:a16="http://schemas.microsoft.com/office/drawing/2014/main" id="{4C8DA161-34CF-7DDE-069A-41FFB53E73AE}"/>
                </a:ext>
              </a:extLst>
            </p:cNvPr>
            <p:cNvSpPr>
              <a:spLocks noChangeShapeType="1"/>
            </p:cNvSpPr>
            <p:nvPr/>
          </p:nvSpPr>
          <p:spPr bwMode="auto">
            <a:xfrm flipV="1">
              <a:off x="64246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Text Box 370">
              <a:extLst>
                <a:ext uri="{FF2B5EF4-FFF2-40B4-BE49-F238E27FC236}">
                  <a16:creationId xmlns:a16="http://schemas.microsoft.com/office/drawing/2014/main" id="{DB50BCB9-08F5-1116-8D4D-AD9F8BFD1E0B}"/>
                </a:ext>
              </a:extLst>
            </p:cNvPr>
            <p:cNvSpPr txBox="1">
              <a:spLocks noChangeArrowheads="1"/>
            </p:cNvSpPr>
            <p:nvPr/>
          </p:nvSpPr>
          <p:spPr bwMode="auto">
            <a:xfrm>
              <a:off x="6356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grpSp>
          <p:nvGrpSpPr>
            <p:cNvPr id="69" name="Group 371">
              <a:extLst>
                <a:ext uri="{FF2B5EF4-FFF2-40B4-BE49-F238E27FC236}">
                  <a16:creationId xmlns:a16="http://schemas.microsoft.com/office/drawing/2014/main" id="{82554A4C-8F81-3926-6BD9-50C95B46AF18}"/>
                </a:ext>
              </a:extLst>
            </p:cNvPr>
            <p:cNvGrpSpPr>
              <a:grpSpLocks/>
            </p:cNvGrpSpPr>
            <p:nvPr/>
          </p:nvGrpSpPr>
          <p:grpSpPr bwMode="auto">
            <a:xfrm>
              <a:off x="3619500" y="4254500"/>
              <a:ext cx="342900" cy="812800"/>
              <a:chOff x="752" y="2752"/>
              <a:chExt cx="216" cy="512"/>
            </a:xfrm>
          </p:grpSpPr>
          <p:sp>
            <p:nvSpPr>
              <p:cNvPr id="70" name="AutoShape 372">
                <a:extLst>
                  <a:ext uri="{FF2B5EF4-FFF2-40B4-BE49-F238E27FC236}">
                    <a16:creationId xmlns:a16="http://schemas.microsoft.com/office/drawing/2014/main" id="{0E2B63CD-210E-E2C0-916A-1614230AD396}"/>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AutoShape 373">
                <a:extLst>
                  <a:ext uri="{FF2B5EF4-FFF2-40B4-BE49-F238E27FC236}">
                    <a16:creationId xmlns:a16="http://schemas.microsoft.com/office/drawing/2014/main" id="{0EA2D194-BF0A-D514-0248-21E309BC232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AutoShape 374">
                <a:extLst>
                  <a:ext uri="{FF2B5EF4-FFF2-40B4-BE49-F238E27FC236}">
                    <a16:creationId xmlns:a16="http://schemas.microsoft.com/office/drawing/2014/main" id="{01CFFC84-D249-42A4-0868-1F16BBB69E4F}"/>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3" name="Group 375">
                <a:extLst>
                  <a:ext uri="{FF2B5EF4-FFF2-40B4-BE49-F238E27FC236}">
                    <a16:creationId xmlns:a16="http://schemas.microsoft.com/office/drawing/2014/main" id="{08443143-3AE8-3E53-46FC-51E32F1E3D63}"/>
                  </a:ext>
                </a:extLst>
              </p:cNvPr>
              <p:cNvGrpSpPr>
                <a:grpSpLocks/>
              </p:cNvGrpSpPr>
              <p:nvPr/>
            </p:nvGrpSpPr>
            <p:grpSpPr bwMode="auto">
              <a:xfrm>
                <a:off x="752" y="2965"/>
                <a:ext cx="216" cy="299"/>
                <a:chOff x="576" y="1200"/>
                <a:chExt cx="240" cy="336"/>
              </a:xfrm>
            </p:grpSpPr>
            <p:sp>
              <p:nvSpPr>
                <p:cNvPr id="79" name="Rectangle 376">
                  <a:extLst>
                    <a:ext uri="{FF2B5EF4-FFF2-40B4-BE49-F238E27FC236}">
                      <a16:creationId xmlns:a16="http://schemas.microsoft.com/office/drawing/2014/main" id="{43EA79DB-7CCA-56B9-45B0-A3C294AD857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Line 377">
                  <a:extLst>
                    <a:ext uri="{FF2B5EF4-FFF2-40B4-BE49-F238E27FC236}">
                      <a16:creationId xmlns:a16="http://schemas.microsoft.com/office/drawing/2014/main" id="{8AD1AAC2-837B-84BE-5CAB-19E8B7FD62F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1" name="Line 378">
                  <a:extLst>
                    <a:ext uri="{FF2B5EF4-FFF2-40B4-BE49-F238E27FC236}">
                      <a16:creationId xmlns:a16="http://schemas.microsoft.com/office/drawing/2014/main" id="{4474308A-B07A-07CB-2E8D-7CC136CFD7DB}"/>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74" name="AutoShape 379">
                <a:extLst>
                  <a:ext uri="{FF2B5EF4-FFF2-40B4-BE49-F238E27FC236}">
                    <a16:creationId xmlns:a16="http://schemas.microsoft.com/office/drawing/2014/main" id="{7F7FC35B-070F-9B26-FF94-DE9B03E41D05}"/>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5" name="Group 380">
                <a:extLst>
                  <a:ext uri="{FF2B5EF4-FFF2-40B4-BE49-F238E27FC236}">
                    <a16:creationId xmlns:a16="http://schemas.microsoft.com/office/drawing/2014/main" id="{D38034DA-19B4-CC7E-E100-FC5D46E99028}"/>
                  </a:ext>
                </a:extLst>
              </p:cNvPr>
              <p:cNvGrpSpPr>
                <a:grpSpLocks/>
              </p:cNvGrpSpPr>
              <p:nvPr/>
            </p:nvGrpSpPr>
            <p:grpSpPr bwMode="auto">
              <a:xfrm>
                <a:off x="808" y="2802"/>
                <a:ext cx="140" cy="57"/>
                <a:chOff x="1440" y="1520"/>
                <a:chExt cx="156" cy="64"/>
              </a:xfrm>
            </p:grpSpPr>
            <p:sp>
              <p:nvSpPr>
                <p:cNvPr id="76" name="Line 381">
                  <a:extLst>
                    <a:ext uri="{FF2B5EF4-FFF2-40B4-BE49-F238E27FC236}">
                      <a16:creationId xmlns:a16="http://schemas.microsoft.com/office/drawing/2014/main" id="{4512140B-B294-F8CA-A5EF-4030C876984A}"/>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77" name="Line 382">
                  <a:extLst>
                    <a:ext uri="{FF2B5EF4-FFF2-40B4-BE49-F238E27FC236}">
                      <a16:creationId xmlns:a16="http://schemas.microsoft.com/office/drawing/2014/main" id="{4A5598C2-C33F-372A-1F16-4199F2810A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78" name="AutoShape 383">
                  <a:extLst>
                    <a:ext uri="{FF2B5EF4-FFF2-40B4-BE49-F238E27FC236}">
                      <a16:creationId xmlns:a16="http://schemas.microsoft.com/office/drawing/2014/main" id="{568844CC-6799-1637-E790-404870CD9255}"/>
                    </a:ext>
                  </a:extLst>
                </p:cNvPr>
                <p:cNvCxnSpPr>
                  <a:cxnSpLocks noChangeShapeType="1"/>
                  <a:stCxn id="76" idx="1"/>
                  <a:endCxn id="7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82" name="Group 384">
              <a:extLst>
                <a:ext uri="{FF2B5EF4-FFF2-40B4-BE49-F238E27FC236}">
                  <a16:creationId xmlns:a16="http://schemas.microsoft.com/office/drawing/2014/main" id="{ACD10A0E-EF20-B684-B022-67994266539A}"/>
                </a:ext>
              </a:extLst>
            </p:cNvPr>
            <p:cNvGrpSpPr>
              <a:grpSpLocks/>
            </p:cNvGrpSpPr>
            <p:nvPr/>
          </p:nvGrpSpPr>
          <p:grpSpPr bwMode="auto">
            <a:xfrm>
              <a:off x="5054600" y="4254500"/>
              <a:ext cx="342900" cy="812800"/>
              <a:chOff x="752" y="2752"/>
              <a:chExt cx="216" cy="512"/>
            </a:xfrm>
          </p:grpSpPr>
          <p:sp>
            <p:nvSpPr>
              <p:cNvPr id="87" name="AutoShape 385">
                <a:extLst>
                  <a:ext uri="{FF2B5EF4-FFF2-40B4-BE49-F238E27FC236}">
                    <a16:creationId xmlns:a16="http://schemas.microsoft.com/office/drawing/2014/main" id="{B5F17247-ADD9-A0A9-BAC5-F562B78200E9}"/>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AutoShape 386">
                <a:extLst>
                  <a:ext uri="{FF2B5EF4-FFF2-40B4-BE49-F238E27FC236}">
                    <a16:creationId xmlns:a16="http://schemas.microsoft.com/office/drawing/2014/main" id="{5DFB1314-37BD-D6BD-77EB-5BFDAB6A1AD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AutoShape 387">
                <a:extLst>
                  <a:ext uri="{FF2B5EF4-FFF2-40B4-BE49-F238E27FC236}">
                    <a16:creationId xmlns:a16="http://schemas.microsoft.com/office/drawing/2014/main" id="{7606F6ED-C007-B174-D8C0-48A5A5937B66}"/>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3" name="Group 388">
                <a:extLst>
                  <a:ext uri="{FF2B5EF4-FFF2-40B4-BE49-F238E27FC236}">
                    <a16:creationId xmlns:a16="http://schemas.microsoft.com/office/drawing/2014/main" id="{811501AF-3A26-EB9C-EDB0-905207BF6410}"/>
                  </a:ext>
                </a:extLst>
              </p:cNvPr>
              <p:cNvGrpSpPr>
                <a:grpSpLocks/>
              </p:cNvGrpSpPr>
              <p:nvPr/>
            </p:nvGrpSpPr>
            <p:grpSpPr bwMode="auto">
              <a:xfrm>
                <a:off x="752" y="2965"/>
                <a:ext cx="216" cy="299"/>
                <a:chOff x="576" y="1200"/>
                <a:chExt cx="240" cy="336"/>
              </a:xfrm>
            </p:grpSpPr>
            <p:sp>
              <p:nvSpPr>
                <p:cNvPr id="99" name="Rectangle 389">
                  <a:extLst>
                    <a:ext uri="{FF2B5EF4-FFF2-40B4-BE49-F238E27FC236}">
                      <a16:creationId xmlns:a16="http://schemas.microsoft.com/office/drawing/2014/main" id="{5F1423F6-E136-201C-A135-9F69C772E8B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0" name="Line 390">
                  <a:extLst>
                    <a:ext uri="{FF2B5EF4-FFF2-40B4-BE49-F238E27FC236}">
                      <a16:creationId xmlns:a16="http://schemas.microsoft.com/office/drawing/2014/main" id="{8FBB2AB2-5647-D651-DEB5-0B547E4F9A7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01" name="Line 391">
                  <a:extLst>
                    <a:ext uri="{FF2B5EF4-FFF2-40B4-BE49-F238E27FC236}">
                      <a16:creationId xmlns:a16="http://schemas.microsoft.com/office/drawing/2014/main" id="{3A3342DC-520E-FA47-E849-6A2924CAAC85}"/>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94" name="AutoShape 392">
                <a:extLst>
                  <a:ext uri="{FF2B5EF4-FFF2-40B4-BE49-F238E27FC236}">
                    <a16:creationId xmlns:a16="http://schemas.microsoft.com/office/drawing/2014/main" id="{FDA40B80-ABCD-7BB8-9FE7-59F8ED3C6DF9}"/>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5" name="Group 393">
                <a:extLst>
                  <a:ext uri="{FF2B5EF4-FFF2-40B4-BE49-F238E27FC236}">
                    <a16:creationId xmlns:a16="http://schemas.microsoft.com/office/drawing/2014/main" id="{B983536F-9921-1769-8E44-7E2C84DE907F}"/>
                  </a:ext>
                </a:extLst>
              </p:cNvPr>
              <p:cNvGrpSpPr>
                <a:grpSpLocks/>
              </p:cNvGrpSpPr>
              <p:nvPr/>
            </p:nvGrpSpPr>
            <p:grpSpPr bwMode="auto">
              <a:xfrm>
                <a:off x="808" y="2802"/>
                <a:ext cx="140" cy="57"/>
                <a:chOff x="1440" y="1520"/>
                <a:chExt cx="156" cy="64"/>
              </a:xfrm>
            </p:grpSpPr>
            <p:sp>
              <p:nvSpPr>
                <p:cNvPr id="96" name="Line 394">
                  <a:extLst>
                    <a:ext uri="{FF2B5EF4-FFF2-40B4-BE49-F238E27FC236}">
                      <a16:creationId xmlns:a16="http://schemas.microsoft.com/office/drawing/2014/main" id="{6F92AE12-451D-4427-A940-3735B054D18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7" name="Line 395">
                  <a:extLst>
                    <a:ext uri="{FF2B5EF4-FFF2-40B4-BE49-F238E27FC236}">
                      <a16:creationId xmlns:a16="http://schemas.microsoft.com/office/drawing/2014/main" id="{ACEA96C6-6763-D815-141B-BF2FFCF3E3A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98" name="AutoShape 396">
                  <a:extLst>
                    <a:ext uri="{FF2B5EF4-FFF2-40B4-BE49-F238E27FC236}">
                      <a16:creationId xmlns:a16="http://schemas.microsoft.com/office/drawing/2014/main" id="{64A86919-74E9-17CC-CB73-81668F269E02}"/>
                    </a:ext>
                  </a:extLst>
                </p:cNvPr>
                <p:cNvCxnSpPr>
                  <a:cxnSpLocks noChangeShapeType="1"/>
                  <a:stCxn id="96" idx="1"/>
                  <a:endCxn id="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102" name="Group 397">
              <a:extLst>
                <a:ext uri="{FF2B5EF4-FFF2-40B4-BE49-F238E27FC236}">
                  <a16:creationId xmlns:a16="http://schemas.microsoft.com/office/drawing/2014/main" id="{9C51CC71-DF4F-AE3B-9FEB-2F74ADC7C971}"/>
                </a:ext>
              </a:extLst>
            </p:cNvPr>
            <p:cNvGrpSpPr>
              <a:grpSpLocks/>
            </p:cNvGrpSpPr>
            <p:nvPr/>
          </p:nvGrpSpPr>
          <p:grpSpPr bwMode="auto">
            <a:xfrm>
              <a:off x="6464300" y="4254500"/>
              <a:ext cx="342900" cy="812800"/>
              <a:chOff x="752" y="2752"/>
              <a:chExt cx="216" cy="512"/>
            </a:xfrm>
          </p:grpSpPr>
          <p:sp>
            <p:nvSpPr>
              <p:cNvPr id="103" name="AutoShape 398">
                <a:extLst>
                  <a:ext uri="{FF2B5EF4-FFF2-40B4-BE49-F238E27FC236}">
                    <a16:creationId xmlns:a16="http://schemas.microsoft.com/office/drawing/2014/main" id="{B58AE451-B597-437E-4F9B-F4831617143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4" name="AutoShape 399">
                <a:extLst>
                  <a:ext uri="{FF2B5EF4-FFF2-40B4-BE49-F238E27FC236}">
                    <a16:creationId xmlns:a16="http://schemas.microsoft.com/office/drawing/2014/main" id="{801B6E5A-DE3E-618F-FFF3-C1EB048A7DB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5" name="AutoShape 400">
                <a:extLst>
                  <a:ext uri="{FF2B5EF4-FFF2-40B4-BE49-F238E27FC236}">
                    <a16:creationId xmlns:a16="http://schemas.microsoft.com/office/drawing/2014/main" id="{9AC34646-3775-62A5-AB1B-3A57A099ABEC}"/>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6" name="Group 401">
                <a:extLst>
                  <a:ext uri="{FF2B5EF4-FFF2-40B4-BE49-F238E27FC236}">
                    <a16:creationId xmlns:a16="http://schemas.microsoft.com/office/drawing/2014/main" id="{4933A5B3-7DBE-DFC9-2917-F358CA451EFB}"/>
                  </a:ext>
                </a:extLst>
              </p:cNvPr>
              <p:cNvGrpSpPr>
                <a:grpSpLocks/>
              </p:cNvGrpSpPr>
              <p:nvPr/>
            </p:nvGrpSpPr>
            <p:grpSpPr bwMode="auto">
              <a:xfrm>
                <a:off x="752" y="2965"/>
                <a:ext cx="216" cy="299"/>
                <a:chOff x="576" y="1200"/>
                <a:chExt cx="240" cy="336"/>
              </a:xfrm>
            </p:grpSpPr>
            <p:sp>
              <p:nvSpPr>
                <p:cNvPr id="112" name="Rectangle 402">
                  <a:extLst>
                    <a:ext uri="{FF2B5EF4-FFF2-40B4-BE49-F238E27FC236}">
                      <a16:creationId xmlns:a16="http://schemas.microsoft.com/office/drawing/2014/main" id="{11B1AB4F-4E49-3785-33CF-158A141E1FC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3" name="Line 403">
                  <a:extLst>
                    <a:ext uri="{FF2B5EF4-FFF2-40B4-BE49-F238E27FC236}">
                      <a16:creationId xmlns:a16="http://schemas.microsoft.com/office/drawing/2014/main" id="{2062D1C6-082A-1807-BF13-28650A6C5F7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4" name="Line 404">
                  <a:extLst>
                    <a:ext uri="{FF2B5EF4-FFF2-40B4-BE49-F238E27FC236}">
                      <a16:creationId xmlns:a16="http://schemas.microsoft.com/office/drawing/2014/main" id="{9ED00180-649D-7649-D48A-26DC9ADFF8B7}"/>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107" name="AutoShape 405">
                <a:extLst>
                  <a:ext uri="{FF2B5EF4-FFF2-40B4-BE49-F238E27FC236}">
                    <a16:creationId xmlns:a16="http://schemas.microsoft.com/office/drawing/2014/main" id="{D86FCA37-049E-E6CD-5361-D9122B9AC33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8" name="Group 406">
                <a:extLst>
                  <a:ext uri="{FF2B5EF4-FFF2-40B4-BE49-F238E27FC236}">
                    <a16:creationId xmlns:a16="http://schemas.microsoft.com/office/drawing/2014/main" id="{267E0B05-9B86-7248-853A-B81EE3E36D19}"/>
                  </a:ext>
                </a:extLst>
              </p:cNvPr>
              <p:cNvGrpSpPr>
                <a:grpSpLocks/>
              </p:cNvGrpSpPr>
              <p:nvPr/>
            </p:nvGrpSpPr>
            <p:grpSpPr bwMode="auto">
              <a:xfrm>
                <a:off x="808" y="2802"/>
                <a:ext cx="140" cy="57"/>
                <a:chOff x="1440" y="1520"/>
                <a:chExt cx="156" cy="64"/>
              </a:xfrm>
            </p:grpSpPr>
            <p:sp>
              <p:nvSpPr>
                <p:cNvPr id="109" name="Line 407">
                  <a:extLst>
                    <a:ext uri="{FF2B5EF4-FFF2-40B4-BE49-F238E27FC236}">
                      <a16:creationId xmlns:a16="http://schemas.microsoft.com/office/drawing/2014/main" id="{D9DB0A16-7702-6B11-F551-F89759C67A81}"/>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0" name="Line 408">
                  <a:extLst>
                    <a:ext uri="{FF2B5EF4-FFF2-40B4-BE49-F238E27FC236}">
                      <a16:creationId xmlns:a16="http://schemas.microsoft.com/office/drawing/2014/main" id="{FD60D744-72A5-D098-B098-A07A7815FBE3}"/>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11" name="AutoShape 409">
                  <a:extLst>
                    <a:ext uri="{FF2B5EF4-FFF2-40B4-BE49-F238E27FC236}">
                      <a16:creationId xmlns:a16="http://schemas.microsoft.com/office/drawing/2014/main" id="{26772D7D-B1FD-F699-018E-15BBB158D7BF}"/>
                    </a:ext>
                  </a:extLst>
                </p:cNvPr>
                <p:cNvCxnSpPr>
                  <a:cxnSpLocks noChangeShapeType="1"/>
                  <a:stCxn id="109" idx="1"/>
                  <a:endCxn id="110"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115" name="Rectangle 410">
              <a:extLst>
                <a:ext uri="{FF2B5EF4-FFF2-40B4-BE49-F238E27FC236}">
                  <a16:creationId xmlns:a16="http://schemas.microsoft.com/office/drawing/2014/main" id="{E34CD691-9802-CEB2-8EAF-50FD36FD67D0}"/>
                </a:ext>
              </a:extLst>
            </p:cNvPr>
            <p:cNvSpPr>
              <a:spLocks noChangeArrowheads="1"/>
            </p:cNvSpPr>
            <p:nvPr/>
          </p:nvSpPr>
          <p:spPr bwMode="auto">
            <a:xfrm>
              <a:off x="304800" y="3235325"/>
              <a:ext cx="914400" cy="5334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6" name="Text Box 411">
              <a:extLst>
                <a:ext uri="{FF2B5EF4-FFF2-40B4-BE49-F238E27FC236}">
                  <a16:creationId xmlns:a16="http://schemas.microsoft.com/office/drawing/2014/main" id="{0E61A396-BCC6-19A2-5E81-A6A6B90ED84D}"/>
                </a:ext>
              </a:extLst>
            </p:cNvPr>
            <p:cNvSpPr txBox="1">
              <a:spLocks noChangeArrowheads="1"/>
            </p:cNvSpPr>
            <p:nvPr/>
          </p:nvSpPr>
          <p:spPr bwMode="auto">
            <a:xfrm>
              <a:off x="333375" y="3235325"/>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Focus Groups</a:t>
              </a:r>
            </a:p>
          </p:txBody>
        </p:sp>
        <p:cxnSp>
          <p:nvCxnSpPr>
            <p:cNvPr id="117" name="AutoShape 412">
              <a:extLst>
                <a:ext uri="{FF2B5EF4-FFF2-40B4-BE49-F238E27FC236}">
                  <a16:creationId xmlns:a16="http://schemas.microsoft.com/office/drawing/2014/main" id="{41F8B554-C856-461D-EA22-F828948BE69B}"/>
                </a:ext>
              </a:extLst>
            </p:cNvPr>
            <p:cNvCxnSpPr>
              <a:cxnSpLocks noChangeShapeType="1"/>
              <a:stCxn id="115" idx="2"/>
              <a:endCxn id="121" idx="1"/>
            </p:cNvCxnSpPr>
            <p:nvPr/>
          </p:nvCxnSpPr>
          <p:spPr bwMode="auto">
            <a:xfrm rot="16200000" flipH="1">
              <a:off x="634206" y="3896519"/>
              <a:ext cx="620713" cy="3651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18" name="Rectangle 414">
              <a:extLst>
                <a:ext uri="{FF2B5EF4-FFF2-40B4-BE49-F238E27FC236}">
                  <a16:creationId xmlns:a16="http://schemas.microsoft.com/office/drawing/2014/main" id="{B483A293-FCC7-8BEE-006C-CC2D4746AAE5}"/>
                </a:ext>
              </a:extLst>
            </p:cNvPr>
            <p:cNvSpPr>
              <a:spLocks noChangeArrowheads="1"/>
            </p:cNvSpPr>
            <p:nvPr/>
          </p:nvSpPr>
          <p:spPr bwMode="auto">
            <a:xfrm>
              <a:off x="3989388" y="193198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9" name="Rectangle 415">
              <a:extLst>
                <a:ext uri="{FF2B5EF4-FFF2-40B4-BE49-F238E27FC236}">
                  <a16:creationId xmlns:a16="http://schemas.microsoft.com/office/drawing/2014/main" id="{6BC50CA8-B497-66A3-21A8-E1DBF2A7CAF1}"/>
                </a:ext>
              </a:extLst>
            </p:cNvPr>
            <p:cNvSpPr>
              <a:spLocks noChangeArrowheads="1"/>
            </p:cNvSpPr>
            <p:nvPr/>
          </p:nvSpPr>
          <p:spPr bwMode="auto">
            <a:xfrm>
              <a:off x="54800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0" name="Rectangle 416">
              <a:extLst>
                <a:ext uri="{FF2B5EF4-FFF2-40B4-BE49-F238E27FC236}">
                  <a16:creationId xmlns:a16="http://schemas.microsoft.com/office/drawing/2014/main" id="{BACD6047-30D9-656D-574D-13FBC02F69FF}"/>
                </a:ext>
              </a:extLst>
            </p:cNvPr>
            <p:cNvSpPr>
              <a:spLocks noChangeArrowheads="1"/>
            </p:cNvSpPr>
            <p:nvPr/>
          </p:nvSpPr>
          <p:spPr bwMode="auto">
            <a:xfrm>
              <a:off x="40354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1" name="Rectangle 417">
              <a:extLst>
                <a:ext uri="{FF2B5EF4-FFF2-40B4-BE49-F238E27FC236}">
                  <a16:creationId xmlns:a16="http://schemas.microsoft.com/office/drawing/2014/main" id="{59EF5F2A-9A3A-89C5-703A-710CB17C0F1D}"/>
                </a:ext>
              </a:extLst>
            </p:cNvPr>
            <p:cNvSpPr>
              <a:spLocks noChangeArrowheads="1"/>
            </p:cNvSpPr>
            <p:nvPr/>
          </p:nvSpPr>
          <p:spPr bwMode="auto">
            <a:xfrm>
              <a:off x="11271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2" name="Text Box 418">
              <a:extLst>
                <a:ext uri="{FF2B5EF4-FFF2-40B4-BE49-F238E27FC236}">
                  <a16:creationId xmlns:a16="http://schemas.microsoft.com/office/drawing/2014/main" id="{26B86C03-3F99-D635-9B4E-45D755FC1CBE}"/>
                </a:ext>
              </a:extLst>
            </p:cNvPr>
            <p:cNvSpPr txBox="1">
              <a:spLocks noChangeArrowheads="1"/>
            </p:cNvSpPr>
            <p:nvPr/>
          </p:nvSpPr>
          <p:spPr bwMode="auto">
            <a:xfrm>
              <a:off x="4111625"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123" name="Text Box 419">
              <a:extLst>
                <a:ext uri="{FF2B5EF4-FFF2-40B4-BE49-F238E27FC236}">
                  <a16:creationId xmlns:a16="http://schemas.microsoft.com/office/drawing/2014/main" id="{6252BB30-28B0-F763-081C-CE235F2FEE18}"/>
                </a:ext>
              </a:extLst>
            </p:cNvPr>
            <p:cNvSpPr txBox="1">
              <a:spLocks noChangeArrowheads="1"/>
            </p:cNvSpPr>
            <p:nvPr/>
          </p:nvSpPr>
          <p:spPr bwMode="auto">
            <a:xfrm>
              <a:off x="5556250"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124" name="Text Box 420">
              <a:extLst>
                <a:ext uri="{FF2B5EF4-FFF2-40B4-BE49-F238E27FC236}">
                  <a16:creationId xmlns:a16="http://schemas.microsoft.com/office/drawing/2014/main" id="{1CAA0B64-F80A-B5E3-DA76-10002EE94DDA}"/>
                </a:ext>
              </a:extLst>
            </p:cNvPr>
            <p:cNvSpPr txBox="1">
              <a:spLocks noChangeArrowheads="1"/>
            </p:cNvSpPr>
            <p:nvPr/>
          </p:nvSpPr>
          <p:spPr bwMode="auto">
            <a:xfrm>
              <a:off x="1168400" y="41989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125" name="Rectangle 421">
              <a:extLst>
                <a:ext uri="{FF2B5EF4-FFF2-40B4-BE49-F238E27FC236}">
                  <a16:creationId xmlns:a16="http://schemas.microsoft.com/office/drawing/2014/main" id="{31BF14E5-5509-D154-76A5-1D1416B81F4A}"/>
                </a:ext>
              </a:extLst>
            </p:cNvPr>
            <p:cNvSpPr>
              <a:spLocks noChangeArrowheads="1"/>
            </p:cNvSpPr>
            <p:nvPr/>
          </p:nvSpPr>
          <p:spPr bwMode="auto">
            <a:xfrm>
              <a:off x="263207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6" name="Text Box 422">
              <a:extLst>
                <a:ext uri="{FF2B5EF4-FFF2-40B4-BE49-F238E27FC236}">
                  <a16:creationId xmlns:a16="http://schemas.microsoft.com/office/drawing/2014/main" id="{C9F9AAD7-0B2D-C623-7D89-92F048133A2C}"/>
                </a:ext>
              </a:extLst>
            </p:cNvPr>
            <p:cNvSpPr txBox="1">
              <a:spLocks noChangeArrowheads="1"/>
            </p:cNvSpPr>
            <p:nvPr/>
          </p:nvSpPr>
          <p:spPr bwMode="auto">
            <a:xfrm>
              <a:off x="2673350" y="41989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127" name="Rectangle 434">
              <a:extLst>
                <a:ext uri="{FF2B5EF4-FFF2-40B4-BE49-F238E27FC236}">
                  <a16:creationId xmlns:a16="http://schemas.microsoft.com/office/drawing/2014/main" id="{0DF02F32-2ACF-A770-B9BC-18FB11F2DFD4}"/>
                </a:ext>
              </a:extLst>
            </p:cNvPr>
            <p:cNvSpPr>
              <a:spLocks noChangeArrowheads="1"/>
            </p:cNvSpPr>
            <p:nvPr/>
          </p:nvSpPr>
          <p:spPr bwMode="auto">
            <a:xfrm>
              <a:off x="69024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8" name="Text Box 435">
              <a:extLst>
                <a:ext uri="{FF2B5EF4-FFF2-40B4-BE49-F238E27FC236}">
                  <a16:creationId xmlns:a16="http://schemas.microsoft.com/office/drawing/2014/main" id="{016309E8-9FA6-CB74-906B-C675CC3FE168}"/>
                </a:ext>
              </a:extLst>
            </p:cNvPr>
            <p:cNvSpPr txBox="1">
              <a:spLocks noChangeArrowheads="1"/>
            </p:cNvSpPr>
            <p:nvPr/>
          </p:nvSpPr>
          <p:spPr bwMode="auto">
            <a:xfrm>
              <a:off x="6943725" y="41989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129" name="Rectangle 436">
              <a:extLst>
                <a:ext uri="{FF2B5EF4-FFF2-40B4-BE49-F238E27FC236}">
                  <a16:creationId xmlns:a16="http://schemas.microsoft.com/office/drawing/2014/main" id="{5FAD9B19-835A-DCDE-9CFE-977A1DEEBC8D}"/>
                </a:ext>
              </a:extLst>
            </p:cNvPr>
            <p:cNvSpPr>
              <a:spLocks noChangeArrowheads="1"/>
            </p:cNvSpPr>
            <p:nvPr/>
          </p:nvSpPr>
          <p:spPr bwMode="auto">
            <a:xfrm>
              <a:off x="6878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0" name="Text Box 437">
              <a:extLst>
                <a:ext uri="{FF2B5EF4-FFF2-40B4-BE49-F238E27FC236}">
                  <a16:creationId xmlns:a16="http://schemas.microsoft.com/office/drawing/2014/main" id="{0DDC2108-1AD2-ED7C-FCBC-A6AA38425690}"/>
                </a:ext>
              </a:extLst>
            </p:cNvPr>
            <p:cNvSpPr txBox="1">
              <a:spLocks noChangeArrowheads="1"/>
            </p:cNvSpPr>
            <p:nvPr/>
          </p:nvSpPr>
          <p:spPr bwMode="auto">
            <a:xfrm>
              <a:off x="4017963" y="1936750"/>
              <a:ext cx="847725" cy="5078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Steering Committee</a:t>
              </a:r>
            </a:p>
          </p:txBody>
        </p:sp>
        <p:sp>
          <p:nvSpPr>
            <p:cNvPr id="131" name="Rectangle 438">
              <a:extLst>
                <a:ext uri="{FF2B5EF4-FFF2-40B4-BE49-F238E27FC236}">
                  <a16:creationId xmlns:a16="http://schemas.microsoft.com/office/drawing/2014/main" id="{F0D047E0-94CF-0B00-2B80-3E2195DC8E05}"/>
                </a:ext>
              </a:extLst>
            </p:cNvPr>
            <p:cNvSpPr>
              <a:spLocks noChangeArrowheads="1"/>
            </p:cNvSpPr>
            <p:nvPr/>
          </p:nvSpPr>
          <p:spPr bwMode="auto">
            <a:xfrm>
              <a:off x="40338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2" name="Text Box 439">
              <a:extLst>
                <a:ext uri="{FF2B5EF4-FFF2-40B4-BE49-F238E27FC236}">
                  <a16:creationId xmlns:a16="http://schemas.microsoft.com/office/drawing/2014/main" id="{8B054C71-013C-A841-D5B8-B798723376D7}"/>
                </a:ext>
              </a:extLst>
            </p:cNvPr>
            <p:cNvSpPr txBox="1">
              <a:spLocks noChangeArrowheads="1"/>
            </p:cNvSpPr>
            <p:nvPr/>
          </p:nvSpPr>
          <p:spPr bwMode="auto">
            <a:xfrm>
              <a:off x="40671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CAD</a:t>
              </a:r>
            </a:p>
          </p:txBody>
        </p:sp>
        <p:sp>
          <p:nvSpPr>
            <p:cNvPr id="133" name="Rectangle 440">
              <a:extLst>
                <a:ext uri="{FF2B5EF4-FFF2-40B4-BE49-F238E27FC236}">
                  <a16:creationId xmlns:a16="http://schemas.microsoft.com/office/drawing/2014/main" id="{800E07FA-5F5E-2F27-F17B-BFA5CFADCF92}"/>
                </a:ext>
              </a:extLst>
            </p:cNvPr>
            <p:cNvSpPr>
              <a:spLocks noChangeArrowheads="1"/>
            </p:cNvSpPr>
            <p:nvPr/>
          </p:nvSpPr>
          <p:spPr bwMode="auto">
            <a:xfrm>
              <a:off x="5481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34" name="Group 443">
              <a:extLst>
                <a:ext uri="{FF2B5EF4-FFF2-40B4-BE49-F238E27FC236}">
                  <a16:creationId xmlns:a16="http://schemas.microsoft.com/office/drawing/2014/main" id="{D2E2BF3E-D844-DA4D-A579-B528B999A3BD}"/>
                </a:ext>
              </a:extLst>
            </p:cNvPr>
            <p:cNvGrpSpPr>
              <a:grpSpLocks/>
            </p:cNvGrpSpPr>
            <p:nvPr/>
          </p:nvGrpSpPr>
          <p:grpSpPr bwMode="auto">
            <a:xfrm rot="-3656265">
              <a:off x="5691982" y="3696494"/>
              <a:ext cx="565150" cy="230187"/>
              <a:chOff x="636" y="2054"/>
              <a:chExt cx="200" cy="298"/>
            </a:xfrm>
          </p:grpSpPr>
          <p:sp>
            <p:nvSpPr>
              <p:cNvPr id="135" name="Line 444">
                <a:extLst>
                  <a:ext uri="{FF2B5EF4-FFF2-40B4-BE49-F238E27FC236}">
                    <a16:creationId xmlns:a16="http://schemas.microsoft.com/office/drawing/2014/main" id="{8D49208C-87BD-4763-4523-F932DC80E6B9}"/>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6" name="Line 445">
                <a:extLst>
                  <a:ext uri="{FF2B5EF4-FFF2-40B4-BE49-F238E27FC236}">
                    <a16:creationId xmlns:a16="http://schemas.microsoft.com/office/drawing/2014/main" id="{E171642C-AAC9-D96E-20EE-0652C994A96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7" name="Line 446">
                <a:extLst>
                  <a:ext uri="{FF2B5EF4-FFF2-40B4-BE49-F238E27FC236}">
                    <a16:creationId xmlns:a16="http://schemas.microsoft.com/office/drawing/2014/main" id="{D66AB749-B1ED-4034-5827-27224FCED3DD}"/>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8" name="Group 447">
              <a:extLst>
                <a:ext uri="{FF2B5EF4-FFF2-40B4-BE49-F238E27FC236}">
                  <a16:creationId xmlns:a16="http://schemas.microsoft.com/office/drawing/2014/main" id="{CDDABD42-0149-3FE6-01E4-5CF6FB929830}"/>
                </a:ext>
              </a:extLst>
            </p:cNvPr>
            <p:cNvGrpSpPr>
              <a:grpSpLocks/>
            </p:cNvGrpSpPr>
            <p:nvPr/>
          </p:nvGrpSpPr>
          <p:grpSpPr bwMode="auto">
            <a:xfrm rot="-3656265">
              <a:off x="7043738" y="3692525"/>
              <a:ext cx="547688" cy="223837"/>
              <a:chOff x="636" y="2054"/>
              <a:chExt cx="200" cy="298"/>
            </a:xfrm>
          </p:grpSpPr>
          <p:sp>
            <p:nvSpPr>
              <p:cNvPr id="139" name="Line 448">
                <a:extLst>
                  <a:ext uri="{FF2B5EF4-FFF2-40B4-BE49-F238E27FC236}">
                    <a16:creationId xmlns:a16="http://schemas.microsoft.com/office/drawing/2014/main" id="{B3EB1738-537D-09EE-D059-EA245697AC03}"/>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0" name="Line 449">
                <a:extLst>
                  <a:ext uri="{FF2B5EF4-FFF2-40B4-BE49-F238E27FC236}">
                    <a16:creationId xmlns:a16="http://schemas.microsoft.com/office/drawing/2014/main" id="{7AF35794-A71B-4412-9225-29C452DA3BF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1" name="Line 450">
                <a:extLst>
                  <a:ext uri="{FF2B5EF4-FFF2-40B4-BE49-F238E27FC236}">
                    <a16:creationId xmlns:a16="http://schemas.microsoft.com/office/drawing/2014/main" id="{C0B1CD2B-8340-A22D-42CB-9129C5A824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42" name="Group 451">
              <a:extLst>
                <a:ext uri="{FF2B5EF4-FFF2-40B4-BE49-F238E27FC236}">
                  <a16:creationId xmlns:a16="http://schemas.microsoft.com/office/drawing/2014/main" id="{F5570AC8-1C1B-3D08-80B6-B51818A95AD2}"/>
                </a:ext>
              </a:extLst>
            </p:cNvPr>
            <p:cNvGrpSpPr>
              <a:grpSpLocks/>
            </p:cNvGrpSpPr>
            <p:nvPr/>
          </p:nvGrpSpPr>
          <p:grpSpPr bwMode="auto">
            <a:xfrm rot="-3656265">
              <a:off x="4228306" y="3682207"/>
              <a:ext cx="534987" cy="228600"/>
              <a:chOff x="636" y="2054"/>
              <a:chExt cx="200" cy="298"/>
            </a:xfrm>
          </p:grpSpPr>
          <p:sp>
            <p:nvSpPr>
              <p:cNvPr id="143" name="Line 452">
                <a:extLst>
                  <a:ext uri="{FF2B5EF4-FFF2-40B4-BE49-F238E27FC236}">
                    <a16:creationId xmlns:a16="http://schemas.microsoft.com/office/drawing/2014/main" id="{FA93BAE3-5239-6803-FC47-111B4049DD4F}"/>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4" name="Line 453">
                <a:extLst>
                  <a:ext uri="{FF2B5EF4-FFF2-40B4-BE49-F238E27FC236}">
                    <a16:creationId xmlns:a16="http://schemas.microsoft.com/office/drawing/2014/main" id="{D837E1B7-D91F-8B47-C79D-DC67D469C17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5" name="Line 454">
                <a:extLst>
                  <a:ext uri="{FF2B5EF4-FFF2-40B4-BE49-F238E27FC236}">
                    <a16:creationId xmlns:a16="http://schemas.microsoft.com/office/drawing/2014/main" id="{FF8737D0-569C-3BEF-7110-473692621346}"/>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46" name="Text Box 455">
              <a:extLst>
                <a:ext uri="{FF2B5EF4-FFF2-40B4-BE49-F238E27FC236}">
                  <a16:creationId xmlns:a16="http://schemas.microsoft.com/office/drawing/2014/main" id="{28C579C0-17CA-1610-0088-8AF087CBBE3E}"/>
                </a:ext>
              </a:extLst>
            </p:cNvPr>
            <p:cNvSpPr txBox="1">
              <a:spLocks noChangeArrowheads="1"/>
            </p:cNvSpPr>
            <p:nvPr/>
          </p:nvSpPr>
          <p:spPr bwMode="auto">
            <a:xfrm>
              <a:off x="55149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CNC Cell</a:t>
              </a:r>
            </a:p>
          </p:txBody>
        </p:sp>
        <p:sp>
          <p:nvSpPr>
            <p:cNvPr id="147" name="Text Box 456">
              <a:extLst>
                <a:ext uri="{FF2B5EF4-FFF2-40B4-BE49-F238E27FC236}">
                  <a16:creationId xmlns:a16="http://schemas.microsoft.com/office/drawing/2014/main" id="{D328BB3C-C7C0-F150-932D-477EAECBAE39}"/>
                </a:ext>
              </a:extLst>
            </p:cNvPr>
            <p:cNvSpPr txBox="1">
              <a:spLocks noChangeArrowheads="1"/>
            </p:cNvSpPr>
            <p:nvPr/>
          </p:nvSpPr>
          <p:spPr bwMode="auto">
            <a:xfrm>
              <a:off x="6907213" y="3060700"/>
              <a:ext cx="847725"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Golf Courses</a:t>
              </a:r>
            </a:p>
          </p:txBody>
        </p:sp>
        <p:cxnSp>
          <p:nvCxnSpPr>
            <p:cNvPr id="148" name="AutoShape 457">
              <a:extLst>
                <a:ext uri="{FF2B5EF4-FFF2-40B4-BE49-F238E27FC236}">
                  <a16:creationId xmlns:a16="http://schemas.microsoft.com/office/drawing/2014/main" id="{762ACF86-CC3E-93FE-BEEA-3BCB36ED7123}"/>
                </a:ext>
              </a:extLst>
            </p:cNvPr>
            <p:cNvCxnSpPr>
              <a:cxnSpLocks noChangeShapeType="1"/>
              <a:endCxn id="116" idx="0"/>
            </p:cNvCxnSpPr>
            <p:nvPr/>
          </p:nvCxnSpPr>
          <p:spPr bwMode="auto">
            <a:xfrm flipH="1">
              <a:off x="757238" y="1822450"/>
              <a:ext cx="11112" cy="1412875"/>
            </a:xfrm>
            <a:prstGeom prst="straightConnector1">
              <a:avLst/>
            </a:prstGeom>
            <a:noFill/>
            <a:ln w="5715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9" name="Rectangle 459">
              <a:extLst>
                <a:ext uri="{FF2B5EF4-FFF2-40B4-BE49-F238E27FC236}">
                  <a16:creationId xmlns:a16="http://schemas.microsoft.com/office/drawing/2014/main" id="{7F618D27-6254-B2D8-1524-DE673094984F}"/>
                </a:ext>
              </a:extLst>
            </p:cNvPr>
            <p:cNvSpPr>
              <a:spLocks noChangeArrowheads="1"/>
            </p:cNvSpPr>
            <p:nvPr/>
          </p:nvSpPr>
          <p:spPr bwMode="auto">
            <a:xfrm>
              <a:off x="26225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0" name="Rectangle 460">
              <a:extLst>
                <a:ext uri="{FF2B5EF4-FFF2-40B4-BE49-F238E27FC236}">
                  <a16:creationId xmlns:a16="http://schemas.microsoft.com/office/drawing/2014/main" id="{FE2CF0F0-AA6E-CA48-372C-BBFD9C09CD19}"/>
                </a:ext>
              </a:extLst>
            </p:cNvPr>
            <p:cNvSpPr>
              <a:spLocks noChangeArrowheads="1"/>
            </p:cNvSpPr>
            <p:nvPr/>
          </p:nvSpPr>
          <p:spPr bwMode="auto">
            <a:xfrm>
              <a:off x="25590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1" name="Rectangle 461">
              <a:extLst>
                <a:ext uri="{FF2B5EF4-FFF2-40B4-BE49-F238E27FC236}">
                  <a16:creationId xmlns:a16="http://schemas.microsoft.com/office/drawing/2014/main" id="{11B6D195-6F90-9E59-1F23-CC5B2661D4E8}"/>
                </a:ext>
              </a:extLst>
            </p:cNvPr>
            <p:cNvSpPr>
              <a:spLocks noChangeArrowheads="1"/>
            </p:cNvSpPr>
            <p:nvPr/>
          </p:nvSpPr>
          <p:spPr bwMode="auto">
            <a:xfrm>
              <a:off x="40386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2" name="Rectangle 462">
              <a:extLst>
                <a:ext uri="{FF2B5EF4-FFF2-40B4-BE49-F238E27FC236}">
                  <a16:creationId xmlns:a16="http://schemas.microsoft.com/office/drawing/2014/main" id="{A6079AB1-B991-A3DD-D6FC-F514C597F04B}"/>
                </a:ext>
              </a:extLst>
            </p:cNvPr>
            <p:cNvSpPr>
              <a:spLocks noChangeArrowheads="1"/>
            </p:cNvSpPr>
            <p:nvPr/>
          </p:nvSpPr>
          <p:spPr bwMode="auto">
            <a:xfrm>
              <a:off x="3981450" y="4725988"/>
              <a:ext cx="10366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3" name="Rectangle 463">
              <a:extLst>
                <a:ext uri="{FF2B5EF4-FFF2-40B4-BE49-F238E27FC236}">
                  <a16:creationId xmlns:a16="http://schemas.microsoft.com/office/drawing/2014/main" id="{13714CC8-8936-CE4C-9E99-9D2A220ECF48}"/>
                </a:ext>
              </a:extLst>
            </p:cNvPr>
            <p:cNvSpPr>
              <a:spLocks noChangeArrowheads="1"/>
            </p:cNvSpPr>
            <p:nvPr/>
          </p:nvSpPr>
          <p:spPr bwMode="auto">
            <a:xfrm>
              <a:off x="54927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4" name="Rectangle 464">
              <a:extLst>
                <a:ext uri="{FF2B5EF4-FFF2-40B4-BE49-F238E27FC236}">
                  <a16:creationId xmlns:a16="http://schemas.microsoft.com/office/drawing/2014/main" id="{9456AE25-4AC3-0710-0BB5-592749A3253E}"/>
                </a:ext>
              </a:extLst>
            </p:cNvPr>
            <p:cNvSpPr>
              <a:spLocks noChangeArrowheads="1"/>
            </p:cNvSpPr>
            <p:nvPr/>
          </p:nvSpPr>
          <p:spPr bwMode="auto">
            <a:xfrm>
              <a:off x="5435600" y="4725988"/>
              <a:ext cx="9699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5" name="Rectangle 465">
              <a:extLst>
                <a:ext uri="{FF2B5EF4-FFF2-40B4-BE49-F238E27FC236}">
                  <a16:creationId xmlns:a16="http://schemas.microsoft.com/office/drawing/2014/main" id="{01BFBCF1-0A29-2A92-A087-4887F5CC28A2}"/>
                </a:ext>
              </a:extLst>
            </p:cNvPr>
            <p:cNvSpPr>
              <a:spLocks noChangeArrowheads="1"/>
            </p:cNvSpPr>
            <p:nvPr/>
          </p:nvSpPr>
          <p:spPr bwMode="auto">
            <a:xfrm>
              <a:off x="69088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6" name="Rectangle 466">
              <a:extLst>
                <a:ext uri="{FF2B5EF4-FFF2-40B4-BE49-F238E27FC236}">
                  <a16:creationId xmlns:a16="http://schemas.microsoft.com/office/drawing/2014/main" id="{7B0E8411-8F24-DD42-B59B-96DF9C3EB027}"/>
                </a:ext>
              </a:extLst>
            </p:cNvPr>
            <p:cNvSpPr>
              <a:spLocks noChangeArrowheads="1"/>
            </p:cNvSpPr>
            <p:nvPr/>
          </p:nvSpPr>
          <p:spPr bwMode="auto">
            <a:xfrm>
              <a:off x="685800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157" name="Rectangle 467">
              <a:extLst>
                <a:ext uri="{FF2B5EF4-FFF2-40B4-BE49-F238E27FC236}">
                  <a16:creationId xmlns:a16="http://schemas.microsoft.com/office/drawing/2014/main" id="{DF26FB61-D01F-AB26-71E6-A89CA17976F8}"/>
                </a:ext>
              </a:extLst>
            </p:cNvPr>
            <p:cNvSpPr>
              <a:spLocks noChangeArrowheads="1"/>
            </p:cNvSpPr>
            <p:nvPr/>
          </p:nvSpPr>
          <p:spPr bwMode="auto">
            <a:xfrm>
              <a:off x="1125538" y="47291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8" name="Rectangle 468">
              <a:extLst>
                <a:ext uri="{FF2B5EF4-FFF2-40B4-BE49-F238E27FC236}">
                  <a16:creationId xmlns:a16="http://schemas.microsoft.com/office/drawing/2014/main" id="{CCB6E510-13D7-E9F8-1EC8-800F43D1AA7A}"/>
                </a:ext>
              </a:extLst>
            </p:cNvPr>
            <p:cNvSpPr>
              <a:spLocks noChangeArrowheads="1"/>
            </p:cNvSpPr>
            <p:nvPr/>
          </p:nvSpPr>
          <p:spPr bwMode="auto">
            <a:xfrm>
              <a:off x="10604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cxnSp>
          <p:nvCxnSpPr>
            <p:cNvPr id="159" name="AutoShape 469">
              <a:extLst>
                <a:ext uri="{FF2B5EF4-FFF2-40B4-BE49-F238E27FC236}">
                  <a16:creationId xmlns:a16="http://schemas.microsoft.com/office/drawing/2014/main" id="{2F970247-FC0F-7C88-8AF4-A6286C864BDE}"/>
                </a:ext>
              </a:extLst>
            </p:cNvPr>
            <p:cNvCxnSpPr>
              <a:cxnSpLocks noChangeShapeType="1"/>
            </p:cNvCxnSpPr>
            <p:nvPr/>
          </p:nvCxnSpPr>
          <p:spPr bwMode="auto">
            <a:xfrm rot="16200000">
              <a:off x="1833562" y="1938338"/>
              <a:ext cx="1935163" cy="2433638"/>
            </a:xfrm>
            <a:prstGeom prst="bentConnector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60" name="AutoShape 470">
              <a:extLst>
                <a:ext uri="{FF2B5EF4-FFF2-40B4-BE49-F238E27FC236}">
                  <a16:creationId xmlns:a16="http://schemas.microsoft.com/office/drawing/2014/main" id="{47248A03-42C6-A579-3CCF-85B3AAF3B2B7}"/>
                </a:ext>
              </a:extLst>
            </p:cNvPr>
            <p:cNvCxnSpPr>
              <a:cxnSpLocks noChangeShapeType="1"/>
            </p:cNvCxnSpPr>
            <p:nvPr/>
          </p:nvCxnSpPr>
          <p:spPr bwMode="auto">
            <a:xfrm rot="5400000">
              <a:off x="2923381" y="2604294"/>
              <a:ext cx="1684338" cy="1352550"/>
            </a:xfrm>
            <a:prstGeom prst="bentConnector3">
              <a:avLst>
                <a:gd name="adj1" fmla="val 18190"/>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61" name="Rectangle 471">
              <a:extLst>
                <a:ext uri="{FF2B5EF4-FFF2-40B4-BE49-F238E27FC236}">
                  <a16:creationId xmlns:a16="http://schemas.microsoft.com/office/drawing/2014/main" id="{71F1E404-8BD9-A989-B88D-AC86C6F67A73}"/>
                </a:ext>
              </a:extLst>
            </p:cNvPr>
            <p:cNvSpPr>
              <a:spLocks noChangeArrowheads="1"/>
            </p:cNvSpPr>
            <p:nvPr/>
          </p:nvSpPr>
          <p:spPr bwMode="auto">
            <a:xfrm>
              <a:off x="1938338" y="2974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2" name="Text Box 472">
              <a:extLst>
                <a:ext uri="{FF2B5EF4-FFF2-40B4-BE49-F238E27FC236}">
                  <a16:creationId xmlns:a16="http://schemas.microsoft.com/office/drawing/2014/main" id="{B3F17DAE-2DC0-10CE-C9A0-38CFD1320AFE}"/>
                </a:ext>
              </a:extLst>
            </p:cNvPr>
            <p:cNvSpPr txBox="1">
              <a:spLocks noChangeArrowheads="1"/>
            </p:cNvSpPr>
            <p:nvPr/>
          </p:nvSpPr>
          <p:spPr bwMode="auto">
            <a:xfrm>
              <a:off x="19716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Workflow</a:t>
              </a:r>
            </a:p>
          </p:txBody>
        </p:sp>
        <p:grpSp>
          <p:nvGrpSpPr>
            <p:cNvPr id="163" name="Group 473">
              <a:extLst>
                <a:ext uri="{FF2B5EF4-FFF2-40B4-BE49-F238E27FC236}">
                  <a16:creationId xmlns:a16="http://schemas.microsoft.com/office/drawing/2014/main" id="{1664E740-9468-9B3F-840A-23EB0338181C}"/>
                </a:ext>
              </a:extLst>
            </p:cNvPr>
            <p:cNvGrpSpPr>
              <a:grpSpLocks/>
            </p:cNvGrpSpPr>
            <p:nvPr/>
          </p:nvGrpSpPr>
          <p:grpSpPr bwMode="auto">
            <a:xfrm>
              <a:off x="2049463" y="3517900"/>
              <a:ext cx="150812" cy="908050"/>
              <a:chOff x="1152" y="756"/>
              <a:chExt cx="92" cy="340"/>
            </a:xfrm>
          </p:grpSpPr>
          <p:sp>
            <p:nvSpPr>
              <p:cNvPr id="164" name="Line 474">
                <a:extLst>
                  <a:ext uri="{FF2B5EF4-FFF2-40B4-BE49-F238E27FC236}">
                    <a16:creationId xmlns:a16="http://schemas.microsoft.com/office/drawing/2014/main" id="{82097034-A192-FF19-3C51-2E25617F28F0}"/>
                  </a:ext>
                </a:extLst>
              </p:cNvPr>
              <p:cNvSpPr>
                <a:spLocks noChangeShapeType="1"/>
              </p:cNvSpPr>
              <p:nvPr/>
            </p:nvSpPr>
            <p:spPr bwMode="auto">
              <a:xfrm>
                <a:off x="1152" y="1096"/>
                <a:ext cx="5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5" name="Line 475">
                <a:extLst>
                  <a:ext uri="{FF2B5EF4-FFF2-40B4-BE49-F238E27FC236}">
                    <a16:creationId xmlns:a16="http://schemas.microsoft.com/office/drawing/2014/main" id="{61F91CFC-01DD-8A73-3DF5-2E4F9205109F}"/>
                  </a:ext>
                </a:extLst>
              </p:cNvPr>
              <p:cNvSpPr>
                <a:spLocks noChangeShapeType="1"/>
              </p:cNvSpPr>
              <p:nvPr/>
            </p:nvSpPr>
            <p:spPr bwMode="auto">
              <a:xfrm flipV="1">
                <a:off x="1244" y="756"/>
                <a:ext cx="0" cy="188"/>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6" name="Line 476">
                <a:extLst>
                  <a:ext uri="{FF2B5EF4-FFF2-40B4-BE49-F238E27FC236}">
                    <a16:creationId xmlns:a16="http://schemas.microsoft.com/office/drawing/2014/main" id="{74FE840E-3E79-E042-F1C0-9BEB20F074B4}"/>
                  </a:ext>
                </a:extLst>
              </p:cNvPr>
              <p:cNvSpPr>
                <a:spLocks noChangeShapeType="1"/>
              </p:cNvSpPr>
              <p:nvPr/>
            </p:nvSpPr>
            <p:spPr bwMode="auto">
              <a:xfrm flipV="1">
                <a:off x="1210" y="924"/>
                <a:ext cx="0" cy="17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67" name="AutoShape 477">
                <a:extLst>
                  <a:ext uri="{FF2B5EF4-FFF2-40B4-BE49-F238E27FC236}">
                    <a16:creationId xmlns:a16="http://schemas.microsoft.com/office/drawing/2014/main" id="{36202B84-9165-BB1F-3D6B-1922BB2EB6B8}"/>
                  </a:ext>
                </a:extLst>
              </p:cNvPr>
              <p:cNvCxnSpPr>
                <a:cxnSpLocks noChangeShapeType="1"/>
                <a:stCxn id="166" idx="1"/>
                <a:endCxn id="165" idx="0"/>
              </p:cNvCxnSpPr>
              <p:nvPr/>
            </p:nvCxnSpPr>
            <p:spPr bwMode="auto">
              <a:xfrm>
                <a:off x="1210" y="924"/>
                <a:ext cx="34" cy="2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68" name="Group 478">
              <a:extLst>
                <a:ext uri="{FF2B5EF4-FFF2-40B4-BE49-F238E27FC236}">
                  <a16:creationId xmlns:a16="http://schemas.microsoft.com/office/drawing/2014/main" id="{2332B3C8-446D-EAA9-46EA-C3724CC7D347}"/>
                </a:ext>
              </a:extLst>
            </p:cNvPr>
            <p:cNvGrpSpPr>
              <a:grpSpLocks/>
            </p:cNvGrpSpPr>
            <p:nvPr/>
          </p:nvGrpSpPr>
          <p:grpSpPr bwMode="auto">
            <a:xfrm>
              <a:off x="2851150" y="3344863"/>
              <a:ext cx="1181100" cy="1104900"/>
              <a:chOff x="1796" y="1947"/>
              <a:chExt cx="744" cy="696"/>
            </a:xfrm>
          </p:grpSpPr>
          <p:sp>
            <p:nvSpPr>
              <p:cNvPr id="169" name="Line 479">
                <a:extLst>
                  <a:ext uri="{FF2B5EF4-FFF2-40B4-BE49-F238E27FC236}">
                    <a16:creationId xmlns:a16="http://schemas.microsoft.com/office/drawing/2014/main" id="{F1DFF28D-E371-CB15-B72A-8CD5E1D5D941}"/>
                  </a:ext>
                </a:extLst>
              </p:cNvPr>
              <p:cNvSpPr>
                <a:spLocks noChangeShapeType="1"/>
              </p:cNvSpPr>
              <p:nvPr/>
            </p:nvSpPr>
            <p:spPr bwMode="auto">
              <a:xfrm>
                <a:off x="2393" y="2643"/>
                <a:ext cx="147"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0" name="Line 480">
                <a:extLst>
                  <a:ext uri="{FF2B5EF4-FFF2-40B4-BE49-F238E27FC236}">
                    <a16:creationId xmlns:a16="http://schemas.microsoft.com/office/drawing/2014/main" id="{F93E46BA-99AF-38D0-F25A-EB5B2896D43E}"/>
                  </a:ext>
                </a:extLst>
              </p:cNvPr>
              <p:cNvSpPr>
                <a:spLocks noChangeShapeType="1"/>
              </p:cNvSpPr>
              <p:nvPr/>
            </p:nvSpPr>
            <p:spPr bwMode="auto">
              <a:xfrm flipH="1" flipV="1">
                <a:off x="2360" y="1991"/>
                <a:ext cx="0" cy="36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1" name="Line 481">
                <a:extLst>
                  <a:ext uri="{FF2B5EF4-FFF2-40B4-BE49-F238E27FC236}">
                    <a16:creationId xmlns:a16="http://schemas.microsoft.com/office/drawing/2014/main" id="{3C76D320-B817-EC73-3EC7-2714386170EB}"/>
                  </a:ext>
                </a:extLst>
              </p:cNvPr>
              <p:cNvSpPr>
                <a:spLocks noChangeShapeType="1"/>
              </p:cNvSpPr>
              <p:nvPr/>
            </p:nvSpPr>
            <p:spPr bwMode="auto">
              <a:xfrm flipH="1" flipV="1">
                <a:off x="2391" y="2313"/>
                <a:ext cx="0" cy="33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2" name="AutoShape 482">
                <a:extLst>
                  <a:ext uri="{FF2B5EF4-FFF2-40B4-BE49-F238E27FC236}">
                    <a16:creationId xmlns:a16="http://schemas.microsoft.com/office/drawing/2014/main" id="{DDCBECB5-726D-82B5-0F1E-050F96271B8C}"/>
                  </a:ext>
                </a:extLst>
              </p:cNvPr>
              <p:cNvCxnSpPr>
                <a:cxnSpLocks noChangeShapeType="1"/>
                <a:stCxn id="171" idx="1"/>
                <a:endCxn id="170" idx="0"/>
              </p:cNvCxnSpPr>
              <p:nvPr/>
            </p:nvCxnSpPr>
            <p:spPr bwMode="auto">
              <a:xfrm flipH="1">
                <a:off x="2360" y="2314"/>
                <a:ext cx="31" cy="3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173" name="Group 483">
                <a:extLst>
                  <a:ext uri="{FF2B5EF4-FFF2-40B4-BE49-F238E27FC236}">
                    <a16:creationId xmlns:a16="http://schemas.microsoft.com/office/drawing/2014/main" id="{C05BAF4B-726E-94CC-98C7-52A3F840A65F}"/>
                  </a:ext>
                </a:extLst>
              </p:cNvPr>
              <p:cNvGrpSpPr>
                <a:grpSpLocks/>
              </p:cNvGrpSpPr>
              <p:nvPr/>
            </p:nvGrpSpPr>
            <p:grpSpPr bwMode="auto">
              <a:xfrm flipH="1">
                <a:off x="1796" y="1947"/>
                <a:ext cx="563" cy="45"/>
                <a:chOff x="2437" y="1862"/>
                <a:chExt cx="536" cy="49"/>
              </a:xfrm>
            </p:grpSpPr>
            <p:sp>
              <p:nvSpPr>
                <p:cNvPr id="174" name="Line 484">
                  <a:extLst>
                    <a:ext uri="{FF2B5EF4-FFF2-40B4-BE49-F238E27FC236}">
                      <a16:creationId xmlns:a16="http://schemas.microsoft.com/office/drawing/2014/main" id="{55E57816-4382-A544-BCD6-0781BFC58F2D}"/>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5" name="Line 485">
                  <a:extLst>
                    <a:ext uri="{FF2B5EF4-FFF2-40B4-BE49-F238E27FC236}">
                      <a16:creationId xmlns:a16="http://schemas.microsoft.com/office/drawing/2014/main" id="{D0B7A7F1-756E-5EEC-EBDE-C9CF4250AFDE}"/>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6" name="AutoShape 486">
                  <a:extLst>
                    <a:ext uri="{FF2B5EF4-FFF2-40B4-BE49-F238E27FC236}">
                      <a16:creationId xmlns:a16="http://schemas.microsoft.com/office/drawing/2014/main" id="{77343141-A3ED-A132-28DC-3BC1D2AF97CB}"/>
                    </a:ext>
                  </a:extLst>
                </p:cNvPr>
                <p:cNvCxnSpPr>
                  <a:cxnSpLocks noChangeShapeType="1"/>
                  <a:stCxn id="175" idx="1"/>
                  <a:endCxn id="174"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grpSp>
          <p:nvGrpSpPr>
            <p:cNvPr id="177" name="Group 487">
              <a:extLst>
                <a:ext uri="{FF2B5EF4-FFF2-40B4-BE49-F238E27FC236}">
                  <a16:creationId xmlns:a16="http://schemas.microsoft.com/office/drawing/2014/main" id="{497ADA45-E93A-C875-B93C-ADF01A04E2E4}"/>
                </a:ext>
              </a:extLst>
            </p:cNvPr>
            <p:cNvGrpSpPr>
              <a:grpSpLocks/>
            </p:cNvGrpSpPr>
            <p:nvPr/>
          </p:nvGrpSpPr>
          <p:grpSpPr bwMode="auto">
            <a:xfrm>
              <a:off x="2849563" y="3446463"/>
              <a:ext cx="850900" cy="979487"/>
              <a:chOff x="1795" y="1955"/>
              <a:chExt cx="536" cy="673"/>
            </a:xfrm>
          </p:grpSpPr>
          <p:sp>
            <p:nvSpPr>
              <p:cNvPr id="178" name="Line 488">
                <a:extLst>
                  <a:ext uri="{FF2B5EF4-FFF2-40B4-BE49-F238E27FC236}">
                    <a16:creationId xmlns:a16="http://schemas.microsoft.com/office/drawing/2014/main" id="{909BA521-4AB0-CBC9-7735-7511B68E37DF}"/>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9" name="Line 489">
                <a:extLst>
                  <a:ext uri="{FF2B5EF4-FFF2-40B4-BE49-F238E27FC236}">
                    <a16:creationId xmlns:a16="http://schemas.microsoft.com/office/drawing/2014/main" id="{ECB30EC4-64A5-929B-5FDE-5707B9C38661}"/>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0" name="Line 490">
                <a:extLst>
                  <a:ext uri="{FF2B5EF4-FFF2-40B4-BE49-F238E27FC236}">
                    <a16:creationId xmlns:a16="http://schemas.microsoft.com/office/drawing/2014/main" id="{876C61DD-AF7D-33C3-B87F-744DBDC03857}"/>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81" name="AutoShape 491">
                <a:extLst>
                  <a:ext uri="{FF2B5EF4-FFF2-40B4-BE49-F238E27FC236}">
                    <a16:creationId xmlns:a16="http://schemas.microsoft.com/office/drawing/2014/main" id="{9017B75D-4667-5B8F-308A-4D9D6629BCA9}"/>
                  </a:ext>
                </a:extLst>
              </p:cNvPr>
              <p:cNvCxnSpPr>
                <a:cxnSpLocks noChangeShapeType="1"/>
                <a:stCxn id="180" idx="1"/>
                <a:endCxn id="179"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82" name="Line 492">
                <a:extLst>
                  <a:ext uri="{FF2B5EF4-FFF2-40B4-BE49-F238E27FC236}">
                    <a16:creationId xmlns:a16="http://schemas.microsoft.com/office/drawing/2014/main" id="{8775B28E-7ABE-D594-AD68-028061C0F4CA}"/>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48" name="Line 493">
                <a:extLst>
                  <a:ext uri="{FF2B5EF4-FFF2-40B4-BE49-F238E27FC236}">
                    <a16:creationId xmlns:a16="http://schemas.microsoft.com/office/drawing/2014/main" id="{A18E8447-F92D-4255-3A12-25B808E9CCDD}"/>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49" name="AutoShape 494">
                <a:extLst>
                  <a:ext uri="{FF2B5EF4-FFF2-40B4-BE49-F238E27FC236}">
                    <a16:creationId xmlns:a16="http://schemas.microsoft.com/office/drawing/2014/main" id="{C9B22FFA-0434-32E7-EB24-278559C8912D}"/>
                  </a:ext>
                </a:extLst>
              </p:cNvPr>
              <p:cNvCxnSpPr>
                <a:cxnSpLocks noChangeShapeType="1"/>
                <a:stCxn id="348" idx="1"/>
                <a:endCxn id="182"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50" name="Group 495">
              <a:extLst>
                <a:ext uri="{FF2B5EF4-FFF2-40B4-BE49-F238E27FC236}">
                  <a16:creationId xmlns:a16="http://schemas.microsoft.com/office/drawing/2014/main" id="{F7057527-3312-B968-E986-4ABB1272407C}"/>
                </a:ext>
              </a:extLst>
            </p:cNvPr>
            <p:cNvGrpSpPr>
              <a:grpSpLocks/>
            </p:cNvGrpSpPr>
            <p:nvPr/>
          </p:nvGrpSpPr>
          <p:grpSpPr bwMode="auto">
            <a:xfrm>
              <a:off x="2862263" y="3186113"/>
              <a:ext cx="2609850" cy="1239837"/>
              <a:chOff x="1803" y="1847"/>
              <a:chExt cx="1644" cy="781"/>
            </a:xfrm>
          </p:grpSpPr>
          <p:grpSp>
            <p:nvGrpSpPr>
              <p:cNvPr id="351" name="Group 496">
                <a:extLst>
                  <a:ext uri="{FF2B5EF4-FFF2-40B4-BE49-F238E27FC236}">
                    <a16:creationId xmlns:a16="http://schemas.microsoft.com/office/drawing/2014/main" id="{2D03DDBB-F0B7-14C0-26E3-2F0857531492}"/>
                  </a:ext>
                </a:extLst>
              </p:cNvPr>
              <p:cNvGrpSpPr>
                <a:grpSpLocks/>
              </p:cNvGrpSpPr>
              <p:nvPr/>
            </p:nvGrpSpPr>
            <p:grpSpPr bwMode="auto">
              <a:xfrm>
                <a:off x="2525" y="2231"/>
                <a:ext cx="922" cy="397"/>
                <a:chOff x="1796" y="1862"/>
                <a:chExt cx="736" cy="766"/>
              </a:xfrm>
            </p:grpSpPr>
            <p:sp>
              <p:nvSpPr>
                <p:cNvPr id="353" name="Line 497">
                  <a:extLst>
                    <a:ext uri="{FF2B5EF4-FFF2-40B4-BE49-F238E27FC236}">
                      <a16:creationId xmlns:a16="http://schemas.microsoft.com/office/drawing/2014/main" id="{9264D76D-A1E8-B694-6C5D-FCD31C35F4B4}"/>
                    </a:ext>
                  </a:extLst>
                </p:cNvPr>
                <p:cNvSpPr>
                  <a:spLocks noChangeShapeType="1"/>
                </p:cNvSpPr>
                <p:nvPr/>
              </p:nvSpPr>
              <p:spPr bwMode="auto">
                <a:xfrm>
                  <a:off x="2474"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4" name="Line 498">
                  <a:extLst>
                    <a:ext uri="{FF2B5EF4-FFF2-40B4-BE49-F238E27FC236}">
                      <a16:creationId xmlns:a16="http://schemas.microsoft.com/office/drawing/2014/main" id="{9E9E939D-9476-036F-B498-01BBEA18B752}"/>
                    </a:ext>
                  </a:extLst>
                </p:cNvPr>
                <p:cNvSpPr>
                  <a:spLocks noChangeShapeType="1"/>
                </p:cNvSpPr>
                <p:nvPr/>
              </p:nvSpPr>
              <p:spPr bwMode="auto">
                <a:xfrm flipH="1" flipV="1">
                  <a:off x="2437" y="1910"/>
                  <a:ext cx="0" cy="39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5" name="Line 499">
                  <a:extLst>
                    <a:ext uri="{FF2B5EF4-FFF2-40B4-BE49-F238E27FC236}">
                      <a16:creationId xmlns:a16="http://schemas.microsoft.com/office/drawing/2014/main" id="{6BAA0DA2-FF12-02EB-208A-6B05538D1612}"/>
                    </a:ext>
                  </a:extLst>
                </p:cNvPr>
                <p:cNvSpPr>
                  <a:spLocks noChangeShapeType="1"/>
                </p:cNvSpPr>
                <p:nvPr/>
              </p:nvSpPr>
              <p:spPr bwMode="auto">
                <a:xfrm flipH="1" flipV="1">
                  <a:off x="2472" y="2265"/>
                  <a:ext cx="0" cy="36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56" name="AutoShape 500">
                  <a:extLst>
                    <a:ext uri="{FF2B5EF4-FFF2-40B4-BE49-F238E27FC236}">
                      <a16:creationId xmlns:a16="http://schemas.microsoft.com/office/drawing/2014/main" id="{1A40DB9A-A7BF-2C31-DBA8-D097FF7FA5C8}"/>
                    </a:ext>
                  </a:extLst>
                </p:cNvPr>
                <p:cNvCxnSpPr>
                  <a:cxnSpLocks noChangeShapeType="1"/>
                  <a:stCxn id="355" idx="1"/>
                  <a:endCxn id="354" idx="0"/>
                </p:cNvCxnSpPr>
                <p:nvPr/>
              </p:nvCxnSpPr>
              <p:spPr bwMode="auto">
                <a:xfrm flipH="1">
                  <a:off x="2437" y="2266"/>
                  <a:ext cx="35"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357" name="Group 501">
                  <a:extLst>
                    <a:ext uri="{FF2B5EF4-FFF2-40B4-BE49-F238E27FC236}">
                      <a16:creationId xmlns:a16="http://schemas.microsoft.com/office/drawing/2014/main" id="{C84A0D23-2349-9A4D-FA14-7990A4A8B1EB}"/>
                    </a:ext>
                  </a:extLst>
                </p:cNvPr>
                <p:cNvGrpSpPr>
                  <a:grpSpLocks/>
                </p:cNvGrpSpPr>
                <p:nvPr/>
              </p:nvGrpSpPr>
              <p:grpSpPr bwMode="auto">
                <a:xfrm flipH="1">
                  <a:off x="1796" y="1862"/>
                  <a:ext cx="640" cy="49"/>
                  <a:chOff x="2437" y="1862"/>
                  <a:chExt cx="536" cy="49"/>
                </a:xfrm>
              </p:grpSpPr>
              <p:sp>
                <p:nvSpPr>
                  <p:cNvPr id="358" name="Line 502">
                    <a:extLst>
                      <a:ext uri="{FF2B5EF4-FFF2-40B4-BE49-F238E27FC236}">
                        <a16:creationId xmlns:a16="http://schemas.microsoft.com/office/drawing/2014/main" id="{2C69DC76-1325-BE2E-A5CC-5A380E294905}"/>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9" name="Line 503">
                    <a:extLst>
                      <a:ext uri="{FF2B5EF4-FFF2-40B4-BE49-F238E27FC236}">
                        <a16:creationId xmlns:a16="http://schemas.microsoft.com/office/drawing/2014/main" id="{94A40C44-B2FD-FD73-3C5E-D516AF6448E3}"/>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0" name="AutoShape 504">
                    <a:extLst>
                      <a:ext uri="{FF2B5EF4-FFF2-40B4-BE49-F238E27FC236}">
                        <a16:creationId xmlns:a16="http://schemas.microsoft.com/office/drawing/2014/main" id="{51731B49-F907-9C7D-9CA8-CAF37B9A9DBF}"/>
                      </a:ext>
                    </a:extLst>
                  </p:cNvPr>
                  <p:cNvCxnSpPr>
                    <a:cxnSpLocks noChangeShapeType="1"/>
                    <a:stCxn id="359" idx="1"/>
                    <a:endCxn id="358"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cxnSp>
            <p:nvCxnSpPr>
              <p:cNvPr id="352" name="AutoShape 505">
                <a:extLst>
                  <a:ext uri="{FF2B5EF4-FFF2-40B4-BE49-F238E27FC236}">
                    <a16:creationId xmlns:a16="http://schemas.microsoft.com/office/drawing/2014/main" id="{9835E83B-CD30-AB53-9C1D-9F081EC7BF19}"/>
                  </a:ext>
                </a:extLst>
              </p:cNvPr>
              <p:cNvCxnSpPr>
                <a:cxnSpLocks noChangeShapeType="1"/>
                <a:stCxn id="358" idx="1"/>
              </p:cNvCxnSpPr>
              <p:nvPr/>
            </p:nvCxnSpPr>
            <p:spPr bwMode="auto">
              <a:xfrm rot="10800000">
                <a:off x="1803" y="1847"/>
                <a:ext cx="723" cy="385"/>
              </a:xfrm>
              <a:prstGeom prst="bentConnector3">
                <a:avLst>
                  <a:gd name="adj1" fmla="val 14657"/>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grpSp>
          <p:nvGrpSpPr>
            <p:cNvPr id="361" name="Group 506">
              <a:extLst>
                <a:ext uri="{FF2B5EF4-FFF2-40B4-BE49-F238E27FC236}">
                  <a16:creationId xmlns:a16="http://schemas.microsoft.com/office/drawing/2014/main" id="{5237458C-C709-E4E8-CD02-90A365B64D0C}"/>
                </a:ext>
              </a:extLst>
            </p:cNvPr>
            <p:cNvGrpSpPr>
              <a:grpSpLocks/>
            </p:cNvGrpSpPr>
            <p:nvPr/>
          </p:nvGrpSpPr>
          <p:grpSpPr bwMode="auto">
            <a:xfrm>
              <a:off x="2836863" y="3252788"/>
              <a:ext cx="2322512" cy="1179512"/>
              <a:chOff x="1787" y="1885"/>
              <a:chExt cx="1463" cy="743"/>
            </a:xfrm>
          </p:grpSpPr>
          <p:grpSp>
            <p:nvGrpSpPr>
              <p:cNvPr id="362" name="Group 507">
                <a:extLst>
                  <a:ext uri="{FF2B5EF4-FFF2-40B4-BE49-F238E27FC236}">
                    <a16:creationId xmlns:a16="http://schemas.microsoft.com/office/drawing/2014/main" id="{DCCA9C50-E4E4-93CA-1EDC-83DFF0CF686A}"/>
                  </a:ext>
                </a:extLst>
              </p:cNvPr>
              <p:cNvGrpSpPr>
                <a:grpSpLocks/>
              </p:cNvGrpSpPr>
              <p:nvPr/>
            </p:nvGrpSpPr>
            <p:grpSpPr bwMode="auto">
              <a:xfrm>
                <a:off x="2506" y="2288"/>
                <a:ext cx="744" cy="340"/>
                <a:chOff x="1795" y="1955"/>
                <a:chExt cx="536" cy="673"/>
              </a:xfrm>
            </p:grpSpPr>
            <p:sp>
              <p:nvSpPr>
                <p:cNvPr id="364" name="Line 508">
                  <a:extLst>
                    <a:ext uri="{FF2B5EF4-FFF2-40B4-BE49-F238E27FC236}">
                      <a16:creationId xmlns:a16="http://schemas.microsoft.com/office/drawing/2014/main" id="{626C6EF1-F7C4-90AA-5610-B4170B0A2779}"/>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5" name="Line 509">
                  <a:extLst>
                    <a:ext uri="{FF2B5EF4-FFF2-40B4-BE49-F238E27FC236}">
                      <a16:creationId xmlns:a16="http://schemas.microsoft.com/office/drawing/2014/main" id="{0B2ABD69-31A3-9B56-1FD3-8C970AB8AB8B}"/>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6" name="Line 510">
                  <a:extLst>
                    <a:ext uri="{FF2B5EF4-FFF2-40B4-BE49-F238E27FC236}">
                      <a16:creationId xmlns:a16="http://schemas.microsoft.com/office/drawing/2014/main" id="{3B33DB7E-8791-C798-0E0E-E7F3A446902D}"/>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7" name="AutoShape 511">
                  <a:extLst>
                    <a:ext uri="{FF2B5EF4-FFF2-40B4-BE49-F238E27FC236}">
                      <a16:creationId xmlns:a16="http://schemas.microsoft.com/office/drawing/2014/main" id="{8A500371-12CC-97C4-ED00-8B40CD45905F}"/>
                    </a:ext>
                  </a:extLst>
                </p:cNvPr>
                <p:cNvCxnSpPr>
                  <a:cxnSpLocks noChangeShapeType="1"/>
                  <a:stCxn id="366" idx="1"/>
                  <a:endCxn id="365"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68" name="Line 512">
                  <a:extLst>
                    <a:ext uri="{FF2B5EF4-FFF2-40B4-BE49-F238E27FC236}">
                      <a16:creationId xmlns:a16="http://schemas.microsoft.com/office/drawing/2014/main" id="{79556606-089B-D5BF-133D-9CA83A243383}"/>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9" name="Line 513">
                  <a:extLst>
                    <a:ext uri="{FF2B5EF4-FFF2-40B4-BE49-F238E27FC236}">
                      <a16:creationId xmlns:a16="http://schemas.microsoft.com/office/drawing/2014/main" id="{052B687A-4AF9-A5F3-0C35-DE69E6181EE7}"/>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0" name="AutoShape 514">
                  <a:extLst>
                    <a:ext uri="{FF2B5EF4-FFF2-40B4-BE49-F238E27FC236}">
                      <a16:creationId xmlns:a16="http://schemas.microsoft.com/office/drawing/2014/main" id="{91E3B3DC-277B-8FC2-27DA-8D95A6B9F819}"/>
                    </a:ext>
                  </a:extLst>
                </p:cNvPr>
                <p:cNvCxnSpPr>
                  <a:cxnSpLocks noChangeShapeType="1"/>
                  <a:stCxn id="369" idx="1"/>
                  <a:endCxn id="368"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63" name="AutoShape 515">
                <a:extLst>
                  <a:ext uri="{FF2B5EF4-FFF2-40B4-BE49-F238E27FC236}">
                    <a16:creationId xmlns:a16="http://schemas.microsoft.com/office/drawing/2014/main" id="{D4D209AB-CA9F-C2E2-AD75-9D9604AB243D}"/>
                  </a:ext>
                </a:extLst>
              </p:cNvPr>
              <p:cNvCxnSpPr>
                <a:cxnSpLocks noChangeShapeType="1"/>
                <a:stCxn id="368" idx="1"/>
              </p:cNvCxnSpPr>
              <p:nvPr/>
            </p:nvCxnSpPr>
            <p:spPr bwMode="auto">
              <a:xfrm rot="10800000">
                <a:off x="1787" y="1885"/>
                <a:ext cx="719" cy="403"/>
              </a:xfrm>
              <a:prstGeom prst="bentConnector3">
                <a:avLst>
                  <a:gd name="adj1" fmla="val 1501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371" name="Group 516">
              <a:extLst>
                <a:ext uri="{FF2B5EF4-FFF2-40B4-BE49-F238E27FC236}">
                  <a16:creationId xmlns:a16="http://schemas.microsoft.com/office/drawing/2014/main" id="{DE48C746-79C4-E229-1039-E372C6C7DE66}"/>
                </a:ext>
              </a:extLst>
            </p:cNvPr>
            <p:cNvGrpSpPr>
              <a:grpSpLocks/>
            </p:cNvGrpSpPr>
            <p:nvPr/>
          </p:nvGrpSpPr>
          <p:grpSpPr bwMode="auto">
            <a:xfrm>
              <a:off x="2852738" y="2841625"/>
              <a:ext cx="3760787" cy="1590675"/>
              <a:chOff x="1797" y="1630"/>
              <a:chExt cx="2369" cy="1002"/>
            </a:xfrm>
          </p:grpSpPr>
          <p:sp>
            <p:nvSpPr>
              <p:cNvPr id="372" name="Line 517">
                <a:extLst>
                  <a:ext uri="{FF2B5EF4-FFF2-40B4-BE49-F238E27FC236}">
                    <a16:creationId xmlns:a16="http://schemas.microsoft.com/office/drawing/2014/main" id="{44E63953-D52E-1065-BC7A-B8472CDED278}"/>
                  </a:ext>
                </a:extLst>
              </p:cNvPr>
              <p:cNvSpPr>
                <a:spLocks noChangeShapeType="1"/>
              </p:cNvSpPr>
              <p:nvPr/>
            </p:nvSpPr>
            <p:spPr bwMode="auto">
              <a:xfrm>
                <a:off x="4030" y="2632"/>
                <a:ext cx="8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73" name="Line 518">
                <a:extLst>
                  <a:ext uri="{FF2B5EF4-FFF2-40B4-BE49-F238E27FC236}">
                    <a16:creationId xmlns:a16="http://schemas.microsoft.com/office/drawing/2014/main" id="{5AECA944-B83F-5844-9954-38C9B738DBDD}"/>
                  </a:ext>
                </a:extLst>
              </p:cNvPr>
              <p:cNvSpPr>
                <a:spLocks noChangeShapeType="1"/>
              </p:cNvSpPr>
              <p:nvPr/>
            </p:nvSpPr>
            <p:spPr bwMode="auto">
              <a:xfrm flipV="1">
                <a:off x="4116" y="2158"/>
                <a:ext cx="0" cy="47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4" name="AutoShape 519">
                <a:extLst>
                  <a:ext uri="{FF2B5EF4-FFF2-40B4-BE49-F238E27FC236}">
                    <a16:creationId xmlns:a16="http://schemas.microsoft.com/office/drawing/2014/main" id="{D3F20A94-B8E7-428D-9B70-AC0837356F50}"/>
                  </a:ext>
                </a:extLst>
              </p:cNvPr>
              <p:cNvCxnSpPr>
                <a:cxnSpLocks noChangeShapeType="1"/>
                <a:stCxn id="373" idx="1"/>
              </p:cNvCxnSpPr>
              <p:nvPr/>
            </p:nvCxnSpPr>
            <p:spPr bwMode="auto">
              <a:xfrm>
                <a:off x="4116" y="2158"/>
                <a:ext cx="50" cy="55"/>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75" name="Line 520">
                <a:extLst>
                  <a:ext uri="{FF2B5EF4-FFF2-40B4-BE49-F238E27FC236}">
                    <a16:creationId xmlns:a16="http://schemas.microsoft.com/office/drawing/2014/main" id="{C31EB912-32FE-05A7-A0C4-1D022F44EC09}"/>
                  </a:ext>
                </a:extLst>
              </p:cNvPr>
              <p:cNvSpPr>
                <a:spLocks noChangeShapeType="1"/>
              </p:cNvSpPr>
              <p:nvPr/>
            </p:nvSpPr>
            <p:spPr bwMode="auto">
              <a:xfrm rot="16200000" flipV="1">
                <a:off x="3938" y="1402"/>
                <a:ext cx="0" cy="45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6" name="AutoShape 521">
                <a:extLst>
                  <a:ext uri="{FF2B5EF4-FFF2-40B4-BE49-F238E27FC236}">
                    <a16:creationId xmlns:a16="http://schemas.microsoft.com/office/drawing/2014/main" id="{57D2C61D-6F5C-C169-6AA4-4AC1913F1993}"/>
                  </a:ext>
                </a:extLst>
              </p:cNvPr>
              <p:cNvCxnSpPr>
                <a:cxnSpLocks noChangeShapeType="1"/>
              </p:cNvCxnSpPr>
              <p:nvPr/>
            </p:nvCxnSpPr>
            <p:spPr bwMode="auto">
              <a:xfrm>
                <a:off x="3714" y="1630"/>
                <a:ext cx="132" cy="6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377" name="AutoShape 522">
                <a:extLst>
                  <a:ext uri="{FF2B5EF4-FFF2-40B4-BE49-F238E27FC236}">
                    <a16:creationId xmlns:a16="http://schemas.microsoft.com/office/drawing/2014/main" id="{60731266-AC3A-198C-95E8-D344A0A05B6E}"/>
                  </a:ext>
                </a:extLst>
              </p:cNvPr>
              <p:cNvCxnSpPr>
                <a:cxnSpLocks noChangeShapeType="1"/>
              </p:cNvCxnSpPr>
              <p:nvPr/>
            </p:nvCxnSpPr>
            <p:spPr bwMode="auto">
              <a:xfrm flipH="1">
                <a:off x="1797" y="1692"/>
                <a:ext cx="2055" cy="111"/>
              </a:xfrm>
              <a:prstGeom prst="bentConnector3">
                <a:avLst>
                  <a:gd name="adj1" fmla="val 8690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78" name="AutoShape 523">
                <a:extLst>
                  <a:ext uri="{FF2B5EF4-FFF2-40B4-BE49-F238E27FC236}">
                    <a16:creationId xmlns:a16="http://schemas.microsoft.com/office/drawing/2014/main" id="{9AE608FC-7A1E-147E-7EED-54272B1D3355}"/>
                  </a:ext>
                </a:extLst>
              </p:cNvPr>
              <p:cNvCxnSpPr>
                <a:cxnSpLocks noChangeShapeType="1"/>
                <a:endCxn id="375" idx="0"/>
              </p:cNvCxnSpPr>
              <p:nvPr/>
            </p:nvCxnSpPr>
            <p:spPr bwMode="auto">
              <a:xfrm flipV="1">
                <a:off x="4166" y="1630"/>
                <a:ext cx="0" cy="586"/>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79" name="Group 524">
              <a:extLst>
                <a:ext uri="{FF2B5EF4-FFF2-40B4-BE49-F238E27FC236}">
                  <a16:creationId xmlns:a16="http://schemas.microsoft.com/office/drawing/2014/main" id="{48906CCA-4B31-D73A-B549-08E33D58B937}"/>
                </a:ext>
              </a:extLst>
            </p:cNvPr>
            <p:cNvGrpSpPr>
              <a:grpSpLocks/>
            </p:cNvGrpSpPr>
            <p:nvPr/>
          </p:nvGrpSpPr>
          <p:grpSpPr bwMode="auto">
            <a:xfrm>
              <a:off x="2478088" y="3517900"/>
              <a:ext cx="150812" cy="908050"/>
              <a:chOff x="1561" y="2056"/>
              <a:chExt cx="95" cy="572"/>
            </a:xfrm>
          </p:grpSpPr>
          <p:sp>
            <p:nvSpPr>
              <p:cNvPr id="380" name="Line 525">
                <a:extLst>
                  <a:ext uri="{FF2B5EF4-FFF2-40B4-BE49-F238E27FC236}">
                    <a16:creationId xmlns:a16="http://schemas.microsoft.com/office/drawing/2014/main" id="{7011C5D0-CE17-A5C7-7DAD-8CD74A575208}"/>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1" name="Line 526">
                <a:extLst>
                  <a:ext uri="{FF2B5EF4-FFF2-40B4-BE49-F238E27FC236}">
                    <a16:creationId xmlns:a16="http://schemas.microsoft.com/office/drawing/2014/main" id="{221C1552-DC6A-3D32-D0AC-66229DA7862C}"/>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2" name="Line 527">
                <a:extLst>
                  <a:ext uri="{FF2B5EF4-FFF2-40B4-BE49-F238E27FC236}">
                    <a16:creationId xmlns:a16="http://schemas.microsoft.com/office/drawing/2014/main" id="{B2821A15-6286-40EB-6105-94D13A120CD5}"/>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83" name="AutoShape 528">
                <a:extLst>
                  <a:ext uri="{FF2B5EF4-FFF2-40B4-BE49-F238E27FC236}">
                    <a16:creationId xmlns:a16="http://schemas.microsoft.com/office/drawing/2014/main" id="{97263063-090E-16D2-33E7-C3CDC1547413}"/>
                  </a:ext>
                </a:extLst>
              </p:cNvPr>
              <p:cNvCxnSpPr>
                <a:cxnSpLocks noChangeShapeType="1"/>
                <a:stCxn id="382" idx="1"/>
                <a:endCxn id="381"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84" name="Group 529">
              <a:extLst>
                <a:ext uri="{FF2B5EF4-FFF2-40B4-BE49-F238E27FC236}">
                  <a16:creationId xmlns:a16="http://schemas.microsoft.com/office/drawing/2014/main" id="{7177C162-758F-0229-1857-62498C1D8901}"/>
                </a:ext>
              </a:extLst>
            </p:cNvPr>
            <p:cNvGrpSpPr>
              <a:grpSpLocks/>
            </p:cNvGrpSpPr>
            <p:nvPr/>
          </p:nvGrpSpPr>
          <p:grpSpPr bwMode="auto">
            <a:xfrm>
              <a:off x="2389188" y="2628900"/>
              <a:ext cx="4519612" cy="1790700"/>
              <a:chOff x="1505" y="1496"/>
              <a:chExt cx="2847" cy="1128"/>
            </a:xfrm>
          </p:grpSpPr>
          <p:grpSp>
            <p:nvGrpSpPr>
              <p:cNvPr id="385" name="Group 530">
                <a:extLst>
                  <a:ext uri="{FF2B5EF4-FFF2-40B4-BE49-F238E27FC236}">
                    <a16:creationId xmlns:a16="http://schemas.microsoft.com/office/drawing/2014/main" id="{CC99CAB1-92FC-88BC-3088-647C0EF59E77}"/>
                  </a:ext>
                </a:extLst>
              </p:cNvPr>
              <p:cNvGrpSpPr>
                <a:grpSpLocks/>
              </p:cNvGrpSpPr>
              <p:nvPr/>
            </p:nvGrpSpPr>
            <p:grpSpPr bwMode="auto">
              <a:xfrm>
                <a:off x="4257" y="1496"/>
                <a:ext cx="95" cy="1128"/>
                <a:chOff x="1561" y="2056"/>
                <a:chExt cx="95" cy="572"/>
              </a:xfrm>
            </p:grpSpPr>
            <p:sp>
              <p:nvSpPr>
                <p:cNvPr id="387" name="Line 531">
                  <a:extLst>
                    <a:ext uri="{FF2B5EF4-FFF2-40B4-BE49-F238E27FC236}">
                      <a16:creationId xmlns:a16="http://schemas.microsoft.com/office/drawing/2014/main" id="{61BAD1AE-486E-2DD7-422E-622E7381055F}"/>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8" name="Line 532">
                  <a:extLst>
                    <a:ext uri="{FF2B5EF4-FFF2-40B4-BE49-F238E27FC236}">
                      <a16:creationId xmlns:a16="http://schemas.microsoft.com/office/drawing/2014/main" id="{FB79F4E4-2C54-F310-1CFE-DBA9F0054DCE}"/>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9" name="Line 533">
                  <a:extLst>
                    <a:ext uri="{FF2B5EF4-FFF2-40B4-BE49-F238E27FC236}">
                      <a16:creationId xmlns:a16="http://schemas.microsoft.com/office/drawing/2014/main" id="{642DEA1C-450F-5C6D-786C-97AD3FB58F23}"/>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90" name="AutoShape 534">
                  <a:extLst>
                    <a:ext uri="{FF2B5EF4-FFF2-40B4-BE49-F238E27FC236}">
                      <a16:creationId xmlns:a16="http://schemas.microsoft.com/office/drawing/2014/main" id="{65931D6E-2611-BC8F-0075-747E54150F41}"/>
                    </a:ext>
                  </a:extLst>
                </p:cNvPr>
                <p:cNvCxnSpPr>
                  <a:cxnSpLocks noChangeShapeType="1"/>
                  <a:stCxn id="389" idx="1"/>
                  <a:endCxn id="388"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86" name="AutoShape 535">
                <a:extLst>
                  <a:ext uri="{FF2B5EF4-FFF2-40B4-BE49-F238E27FC236}">
                    <a16:creationId xmlns:a16="http://schemas.microsoft.com/office/drawing/2014/main" id="{002E6922-6541-5BF1-832B-47BBC4304CB0}"/>
                  </a:ext>
                </a:extLst>
              </p:cNvPr>
              <p:cNvCxnSpPr>
                <a:cxnSpLocks noChangeShapeType="1"/>
              </p:cNvCxnSpPr>
              <p:nvPr/>
            </p:nvCxnSpPr>
            <p:spPr bwMode="auto">
              <a:xfrm rot="-5400000">
                <a:off x="2770" y="232"/>
                <a:ext cx="217" cy="2748"/>
              </a:xfrm>
              <a:prstGeom prst="bentConnector3">
                <a:avLst>
                  <a:gd name="adj1" fmla="val 101380"/>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cxnSp>
          <p:nvCxnSpPr>
            <p:cNvPr id="391" name="AutoShape 547">
              <a:extLst>
                <a:ext uri="{FF2B5EF4-FFF2-40B4-BE49-F238E27FC236}">
                  <a16:creationId xmlns:a16="http://schemas.microsoft.com/office/drawing/2014/main" id="{43FB12B4-71E7-1FAE-DF85-FEAE16003461}"/>
                </a:ext>
              </a:extLst>
            </p:cNvPr>
            <p:cNvCxnSpPr>
              <a:cxnSpLocks noChangeShapeType="1"/>
            </p:cNvCxnSpPr>
            <p:nvPr/>
          </p:nvCxnSpPr>
          <p:spPr bwMode="auto">
            <a:xfrm flipH="1" flipV="1">
              <a:off x="4941888" y="2365375"/>
              <a:ext cx="2874962" cy="2024063"/>
            </a:xfrm>
            <a:prstGeom prst="bentConnector3">
              <a:avLst>
                <a:gd name="adj1" fmla="val -7954"/>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92" name="AutoShape 548">
              <a:extLst>
                <a:ext uri="{FF2B5EF4-FFF2-40B4-BE49-F238E27FC236}">
                  <a16:creationId xmlns:a16="http://schemas.microsoft.com/office/drawing/2014/main" id="{F4FCA704-5160-DB8C-5821-2C1301C95B4B}"/>
                </a:ext>
              </a:extLst>
            </p:cNvPr>
            <p:cNvCxnSpPr>
              <a:cxnSpLocks noChangeShapeType="1"/>
            </p:cNvCxnSpPr>
            <p:nvPr/>
          </p:nvCxnSpPr>
          <p:spPr bwMode="auto">
            <a:xfrm flipV="1">
              <a:off x="4903788" y="1816100"/>
              <a:ext cx="3128962" cy="382588"/>
            </a:xfrm>
            <a:prstGeom prst="bentConnector2">
              <a:avLst/>
            </a:prstGeom>
            <a:noFill/>
            <a:ln w="5715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93" name="Group 550">
              <a:extLst>
                <a:ext uri="{FF2B5EF4-FFF2-40B4-BE49-F238E27FC236}">
                  <a16:creationId xmlns:a16="http://schemas.microsoft.com/office/drawing/2014/main" id="{8340B40B-41CD-B1F8-26AF-7221817AC680}"/>
                </a:ext>
              </a:extLst>
            </p:cNvPr>
            <p:cNvGrpSpPr>
              <a:grpSpLocks/>
            </p:cNvGrpSpPr>
            <p:nvPr/>
          </p:nvGrpSpPr>
          <p:grpSpPr bwMode="auto">
            <a:xfrm>
              <a:off x="8135938" y="1644650"/>
              <a:ext cx="533400" cy="679450"/>
              <a:chOff x="2880" y="1152"/>
              <a:chExt cx="720" cy="1008"/>
            </a:xfrm>
          </p:grpSpPr>
          <p:sp>
            <p:nvSpPr>
              <p:cNvPr id="394" name="Rectangle 551">
                <a:extLst>
                  <a:ext uri="{FF2B5EF4-FFF2-40B4-BE49-F238E27FC236}">
                    <a16:creationId xmlns:a16="http://schemas.microsoft.com/office/drawing/2014/main" id="{A88423AF-BFB7-087F-C171-14D810795455}"/>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5" name="Rectangle 552">
                <a:extLst>
                  <a:ext uri="{FF2B5EF4-FFF2-40B4-BE49-F238E27FC236}">
                    <a16:creationId xmlns:a16="http://schemas.microsoft.com/office/drawing/2014/main" id="{62453C36-CC38-BF2E-48B6-C727C7DB8BEE}"/>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6" name="Rectangle 553">
                <a:extLst>
                  <a:ext uri="{FF2B5EF4-FFF2-40B4-BE49-F238E27FC236}">
                    <a16:creationId xmlns:a16="http://schemas.microsoft.com/office/drawing/2014/main" id="{70FDF2AC-7CD1-3E82-11A1-427C73AB438F}"/>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7" name="Rectangle 554">
                <a:extLst>
                  <a:ext uri="{FF2B5EF4-FFF2-40B4-BE49-F238E27FC236}">
                    <a16:creationId xmlns:a16="http://schemas.microsoft.com/office/drawing/2014/main" id="{38D825E9-6417-C3C9-977B-80D90F50932A}"/>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8" name="Rectangle 555">
                <a:extLst>
                  <a:ext uri="{FF2B5EF4-FFF2-40B4-BE49-F238E27FC236}">
                    <a16:creationId xmlns:a16="http://schemas.microsoft.com/office/drawing/2014/main" id="{3ADD3345-2D4A-4B26-5319-18D041E106CF}"/>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9" name="Rectangle 556">
                <a:extLst>
                  <a:ext uri="{FF2B5EF4-FFF2-40B4-BE49-F238E27FC236}">
                    <a16:creationId xmlns:a16="http://schemas.microsoft.com/office/drawing/2014/main" id="{C6F9A883-CC11-9D2F-55CA-63B122B625D8}"/>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0" name="Rectangle 557">
                <a:extLst>
                  <a:ext uri="{FF2B5EF4-FFF2-40B4-BE49-F238E27FC236}">
                    <a16:creationId xmlns:a16="http://schemas.microsoft.com/office/drawing/2014/main" id="{4DDCDEFF-9926-424D-B3D9-CE9A88CE76FE}"/>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1" name="Rectangle 558">
                <a:extLst>
                  <a:ext uri="{FF2B5EF4-FFF2-40B4-BE49-F238E27FC236}">
                    <a16:creationId xmlns:a16="http://schemas.microsoft.com/office/drawing/2014/main" id="{C9225C16-0D1B-0104-7C55-05BF8D8EFE89}"/>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2" name="Rectangle 559">
                <a:extLst>
                  <a:ext uri="{FF2B5EF4-FFF2-40B4-BE49-F238E27FC236}">
                    <a16:creationId xmlns:a16="http://schemas.microsoft.com/office/drawing/2014/main" id="{B28A5253-5E20-9B8B-A449-2F3FF8245CDD}"/>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3" name="Rectangle 560">
                <a:extLst>
                  <a:ext uri="{FF2B5EF4-FFF2-40B4-BE49-F238E27FC236}">
                    <a16:creationId xmlns:a16="http://schemas.microsoft.com/office/drawing/2014/main" id="{1CDE7C44-7E7C-25B4-5729-AD164ED7623C}"/>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4" name="Rectangle 561">
                <a:extLst>
                  <a:ext uri="{FF2B5EF4-FFF2-40B4-BE49-F238E27FC236}">
                    <a16:creationId xmlns:a16="http://schemas.microsoft.com/office/drawing/2014/main" id="{B5A3FB4A-852B-640C-7B37-D772F8CA36BC}"/>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5" name="Rectangle 562">
                <a:extLst>
                  <a:ext uri="{FF2B5EF4-FFF2-40B4-BE49-F238E27FC236}">
                    <a16:creationId xmlns:a16="http://schemas.microsoft.com/office/drawing/2014/main" id="{2046AF28-8D3A-5C4D-B9C3-89392D566ECA}"/>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6" name="Rectangle 563">
                <a:extLst>
                  <a:ext uri="{FF2B5EF4-FFF2-40B4-BE49-F238E27FC236}">
                    <a16:creationId xmlns:a16="http://schemas.microsoft.com/office/drawing/2014/main" id="{B5FC0DF4-E10C-2010-7F7A-752C27252BA8}"/>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7" name="Rectangle 564">
                <a:extLst>
                  <a:ext uri="{FF2B5EF4-FFF2-40B4-BE49-F238E27FC236}">
                    <a16:creationId xmlns:a16="http://schemas.microsoft.com/office/drawing/2014/main" id="{1B02F56B-88D8-1133-C760-8C42BF6ECEE7}"/>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8" name="Rectangle 565">
                <a:extLst>
                  <a:ext uri="{FF2B5EF4-FFF2-40B4-BE49-F238E27FC236}">
                    <a16:creationId xmlns:a16="http://schemas.microsoft.com/office/drawing/2014/main" id="{3F06FCB1-34B4-9BCE-E012-2213025F89EB}"/>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9" name="Rectangle 566">
                <a:extLst>
                  <a:ext uri="{FF2B5EF4-FFF2-40B4-BE49-F238E27FC236}">
                    <a16:creationId xmlns:a16="http://schemas.microsoft.com/office/drawing/2014/main" id="{AFAE6320-6292-2AA0-26F8-A9D81A047435}"/>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0" name="Rectangle 567">
                <a:extLst>
                  <a:ext uri="{FF2B5EF4-FFF2-40B4-BE49-F238E27FC236}">
                    <a16:creationId xmlns:a16="http://schemas.microsoft.com/office/drawing/2014/main" id="{202B0D18-9479-20AB-5A19-7A5E63DC3FCE}"/>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1" name="Rectangle 568">
                <a:extLst>
                  <a:ext uri="{FF2B5EF4-FFF2-40B4-BE49-F238E27FC236}">
                    <a16:creationId xmlns:a16="http://schemas.microsoft.com/office/drawing/2014/main" id="{B69766B6-9881-C8CD-48C7-7CF5E9C73F83}"/>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2" name="Rectangle 569">
                <a:extLst>
                  <a:ext uri="{FF2B5EF4-FFF2-40B4-BE49-F238E27FC236}">
                    <a16:creationId xmlns:a16="http://schemas.microsoft.com/office/drawing/2014/main" id="{CED94BA1-12B5-A4BE-09DF-F3CABC7DCCDA}"/>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3" name="Rectangle 570">
                <a:extLst>
                  <a:ext uri="{FF2B5EF4-FFF2-40B4-BE49-F238E27FC236}">
                    <a16:creationId xmlns:a16="http://schemas.microsoft.com/office/drawing/2014/main" id="{22DEE369-22AA-6507-E48C-33EA3AC0E3A9}"/>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4" name="Rectangle 571">
                <a:extLst>
                  <a:ext uri="{FF2B5EF4-FFF2-40B4-BE49-F238E27FC236}">
                    <a16:creationId xmlns:a16="http://schemas.microsoft.com/office/drawing/2014/main" id="{CBCA12A9-B41E-F95D-0134-DD737E8DE4AD}"/>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5" name="Rectangle 572">
                <a:extLst>
                  <a:ext uri="{FF2B5EF4-FFF2-40B4-BE49-F238E27FC236}">
                    <a16:creationId xmlns:a16="http://schemas.microsoft.com/office/drawing/2014/main" id="{1D00819A-0544-FA93-8AF1-B47C21F5B343}"/>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6" name="Rectangle 573">
                <a:extLst>
                  <a:ext uri="{FF2B5EF4-FFF2-40B4-BE49-F238E27FC236}">
                    <a16:creationId xmlns:a16="http://schemas.microsoft.com/office/drawing/2014/main" id="{7845CFB3-6682-219E-068F-D7B3CF5810BE}"/>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7" name="Rectangle 574">
                <a:extLst>
                  <a:ext uri="{FF2B5EF4-FFF2-40B4-BE49-F238E27FC236}">
                    <a16:creationId xmlns:a16="http://schemas.microsoft.com/office/drawing/2014/main" id="{F9664E3A-8452-9F98-2937-C22C930EC979}"/>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8" name="Rectangle 575">
                <a:extLst>
                  <a:ext uri="{FF2B5EF4-FFF2-40B4-BE49-F238E27FC236}">
                    <a16:creationId xmlns:a16="http://schemas.microsoft.com/office/drawing/2014/main" id="{0C4C2C1B-088A-F2F0-FFD1-960D3EDE15D5}"/>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9" name="Rectangle 576">
                <a:extLst>
                  <a:ext uri="{FF2B5EF4-FFF2-40B4-BE49-F238E27FC236}">
                    <a16:creationId xmlns:a16="http://schemas.microsoft.com/office/drawing/2014/main" id="{66BF4830-96EE-8EB4-D913-2B675F2CF2FA}"/>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0" name="Rectangle 577">
                <a:extLst>
                  <a:ext uri="{FF2B5EF4-FFF2-40B4-BE49-F238E27FC236}">
                    <a16:creationId xmlns:a16="http://schemas.microsoft.com/office/drawing/2014/main" id="{C23FE45E-C68E-13D2-360C-DE57F0B10D6F}"/>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421" name="Text Box 578">
              <a:extLst>
                <a:ext uri="{FF2B5EF4-FFF2-40B4-BE49-F238E27FC236}">
                  <a16:creationId xmlns:a16="http://schemas.microsoft.com/office/drawing/2014/main" id="{C92B6D73-78EE-DCDE-839D-E6E4B2A7252B}"/>
                </a:ext>
              </a:extLst>
            </p:cNvPr>
            <p:cNvSpPr txBox="1">
              <a:spLocks noChangeArrowheads="1"/>
            </p:cNvSpPr>
            <p:nvPr/>
          </p:nvSpPr>
          <p:spPr bwMode="auto">
            <a:xfrm>
              <a:off x="7947576" y="1435884"/>
              <a:ext cx="100219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a:latin typeface="Roboto" panose="02000000000000000000" pitchFamily="2" charset="0"/>
                  <a:ea typeface="Roboto" panose="02000000000000000000" pitchFamily="2" charset="0"/>
                </a:rPr>
                <a:t>Product Distributors</a:t>
              </a:r>
            </a:p>
          </p:txBody>
        </p:sp>
        <p:sp>
          <p:nvSpPr>
            <p:cNvPr id="422" name="Rectangle 579">
              <a:extLst>
                <a:ext uri="{FF2B5EF4-FFF2-40B4-BE49-F238E27FC236}">
                  <a16:creationId xmlns:a16="http://schemas.microsoft.com/office/drawing/2014/main" id="{BAA40A44-F4C7-FA9E-E83B-AAFC0D103C03}"/>
                </a:ext>
              </a:extLst>
            </p:cNvPr>
            <p:cNvSpPr>
              <a:spLocks noChangeArrowheads="1"/>
            </p:cNvSpPr>
            <p:nvPr/>
          </p:nvSpPr>
          <p:spPr bwMode="auto">
            <a:xfrm>
              <a:off x="404813" y="1393825"/>
              <a:ext cx="841375" cy="3778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900" b="0">
                  <a:latin typeface="Roboto" panose="02000000000000000000" pitchFamily="2" charset="0"/>
                  <a:ea typeface="Roboto" panose="02000000000000000000" pitchFamily="2" charset="0"/>
                </a:rPr>
                <a:t>Product Road</a:t>
              </a:r>
              <a:br>
                <a:rPr lang="en-US" altLang="en-US" sz="900" b="0">
                  <a:latin typeface="Roboto" panose="02000000000000000000" pitchFamily="2" charset="0"/>
                  <a:ea typeface="Roboto" panose="02000000000000000000" pitchFamily="2" charset="0"/>
                </a:rPr>
              </a:br>
              <a:r>
                <a:rPr lang="en-US" altLang="en-US" sz="900" b="0">
                  <a:latin typeface="Roboto" panose="02000000000000000000" pitchFamily="2" charset="0"/>
                  <a:ea typeface="Roboto" panose="02000000000000000000" pitchFamily="2" charset="0"/>
                </a:rPr>
                <a:t>Map</a:t>
              </a:r>
            </a:p>
          </p:txBody>
        </p:sp>
        <p:sp>
          <p:nvSpPr>
            <p:cNvPr id="423" name="Line 232">
              <a:extLst>
                <a:ext uri="{FF2B5EF4-FFF2-40B4-BE49-F238E27FC236}">
                  <a16:creationId xmlns:a16="http://schemas.microsoft.com/office/drawing/2014/main" id="{43168F6C-F3F4-0BDF-F3AA-C7DE1EC6B5E3}"/>
                </a:ext>
              </a:extLst>
            </p:cNvPr>
            <p:cNvSpPr>
              <a:spLocks noChangeShapeType="1"/>
            </p:cNvSpPr>
            <p:nvPr/>
          </p:nvSpPr>
          <p:spPr bwMode="auto">
            <a:xfrm>
              <a:off x="987425" y="5675313"/>
              <a:ext cx="107315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4" name="Line 233">
              <a:extLst>
                <a:ext uri="{FF2B5EF4-FFF2-40B4-BE49-F238E27FC236}">
                  <a16:creationId xmlns:a16="http://schemas.microsoft.com/office/drawing/2014/main" id="{18FAFD05-691E-4E54-2627-1C687FEDEDAE}"/>
                </a:ext>
              </a:extLst>
            </p:cNvPr>
            <p:cNvSpPr>
              <a:spLocks noChangeShapeType="1"/>
            </p:cNvSpPr>
            <p:nvPr/>
          </p:nvSpPr>
          <p:spPr bwMode="auto">
            <a:xfrm>
              <a:off x="2582863" y="5675313"/>
              <a:ext cx="8858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5" name="Line 234">
              <a:extLst>
                <a:ext uri="{FF2B5EF4-FFF2-40B4-BE49-F238E27FC236}">
                  <a16:creationId xmlns:a16="http://schemas.microsoft.com/office/drawing/2014/main" id="{774BDD59-F668-F258-2362-B339DBE4BC95}"/>
                </a:ext>
              </a:extLst>
            </p:cNvPr>
            <p:cNvSpPr>
              <a:spLocks noChangeShapeType="1"/>
            </p:cNvSpPr>
            <p:nvPr/>
          </p:nvSpPr>
          <p:spPr bwMode="auto">
            <a:xfrm>
              <a:off x="4005263" y="5675313"/>
              <a:ext cx="944562"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6" name="Line 235">
              <a:extLst>
                <a:ext uri="{FF2B5EF4-FFF2-40B4-BE49-F238E27FC236}">
                  <a16:creationId xmlns:a16="http://schemas.microsoft.com/office/drawing/2014/main" id="{6D87148A-9F74-41F8-CE7D-8DD525B5260E}"/>
                </a:ext>
              </a:extLst>
            </p:cNvPr>
            <p:cNvSpPr>
              <a:spLocks noChangeShapeType="1"/>
            </p:cNvSpPr>
            <p:nvPr/>
          </p:nvSpPr>
          <p:spPr bwMode="auto">
            <a:xfrm>
              <a:off x="5472113" y="5661025"/>
              <a:ext cx="9874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7" name="Line 236">
              <a:extLst>
                <a:ext uri="{FF2B5EF4-FFF2-40B4-BE49-F238E27FC236}">
                  <a16:creationId xmlns:a16="http://schemas.microsoft.com/office/drawing/2014/main" id="{028517D2-CC3E-397F-D3AB-CB60AE22C6C0}"/>
                </a:ext>
              </a:extLst>
            </p:cNvPr>
            <p:cNvSpPr>
              <a:spLocks noChangeShapeType="1"/>
            </p:cNvSpPr>
            <p:nvPr/>
          </p:nvSpPr>
          <p:spPr bwMode="auto">
            <a:xfrm>
              <a:off x="6996113" y="5675313"/>
              <a:ext cx="81280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8" name="Text Box 353">
              <a:extLst>
                <a:ext uri="{FF2B5EF4-FFF2-40B4-BE49-F238E27FC236}">
                  <a16:creationId xmlns:a16="http://schemas.microsoft.com/office/drawing/2014/main" id="{37192533-066C-D41B-6C75-BAD75B9108CE}"/>
                </a:ext>
              </a:extLst>
            </p:cNvPr>
            <p:cNvSpPr txBox="1">
              <a:spLocks noChangeArrowheads="1"/>
            </p:cNvSpPr>
            <p:nvPr/>
          </p:nvSpPr>
          <p:spPr bwMode="auto">
            <a:xfrm>
              <a:off x="12096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429" name="Text Box 353">
              <a:extLst>
                <a:ext uri="{FF2B5EF4-FFF2-40B4-BE49-F238E27FC236}">
                  <a16:creationId xmlns:a16="http://schemas.microsoft.com/office/drawing/2014/main" id="{AF78F89E-E0DC-995C-8F3F-5E319E6F1AF8}"/>
                </a:ext>
              </a:extLst>
            </p:cNvPr>
            <p:cNvSpPr txBox="1">
              <a:spLocks noChangeArrowheads="1"/>
            </p:cNvSpPr>
            <p:nvPr/>
          </p:nvSpPr>
          <p:spPr bwMode="auto">
            <a:xfrm>
              <a:off x="2767013"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430" name="Text Box 353">
              <a:extLst>
                <a:ext uri="{FF2B5EF4-FFF2-40B4-BE49-F238E27FC236}">
                  <a16:creationId xmlns:a16="http://schemas.microsoft.com/office/drawing/2014/main" id="{CE4445F4-E69E-35CF-DA45-27E6F463EA2B}"/>
                </a:ext>
              </a:extLst>
            </p:cNvPr>
            <p:cNvSpPr txBox="1">
              <a:spLocks noChangeArrowheads="1"/>
            </p:cNvSpPr>
            <p:nvPr/>
          </p:nvSpPr>
          <p:spPr bwMode="auto">
            <a:xfrm>
              <a:off x="41814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431" name="Text Box 353">
              <a:extLst>
                <a:ext uri="{FF2B5EF4-FFF2-40B4-BE49-F238E27FC236}">
                  <a16:creationId xmlns:a16="http://schemas.microsoft.com/office/drawing/2014/main" id="{D2117DDC-103B-5D8A-EDC2-E501F7E7ADE7}"/>
                </a:ext>
              </a:extLst>
            </p:cNvPr>
            <p:cNvSpPr txBox="1">
              <a:spLocks noChangeArrowheads="1"/>
            </p:cNvSpPr>
            <p:nvPr/>
          </p:nvSpPr>
          <p:spPr bwMode="auto">
            <a:xfrm>
              <a:off x="5695950"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432" name="Text Box 353">
              <a:extLst>
                <a:ext uri="{FF2B5EF4-FFF2-40B4-BE49-F238E27FC236}">
                  <a16:creationId xmlns:a16="http://schemas.microsoft.com/office/drawing/2014/main" id="{16A8BF2D-5D23-97AE-2E19-97E1BE1F2A3A}"/>
                </a:ext>
              </a:extLst>
            </p:cNvPr>
            <p:cNvSpPr txBox="1">
              <a:spLocks noChangeArrowheads="1"/>
            </p:cNvSpPr>
            <p:nvPr/>
          </p:nvSpPr>
          <p:spPr bwMode="auto">
            <a:xfrm>
              <a:off x="70897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grpSp>
    </p:spTree>
    <p:extLst>
      <p:ext uri="{BB962C8B-B14F-4D97-AF65-F5344CB8AC3E}">
        <p14:creationId xmlns:p14="http://schemas.microsoft.com/office/powerpoint/2010/main" val="402920030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07838C41-1EE5-BD1F-22B5-E1F30F03D632}"/>
              </a:ext>
            </a:extLst>
          </p:cNvPr>
          <p:cNvSpPr>
            <a:spLocks noGrp="1"/>
          </p:cNvSpPr>
          <p:nvPr>
            <p:ph type="title"/>
          </p:nvPr>
        </p:nvSpPr>
        <p:spPr/>
        <p:txBody>
          <a:bodyPr>
            <a:normAutofit/>
          </a:bodyPr>
          <a:lstStyle/>
          <a:p>
            <a:r>
              <a:rPr lang="en-US" sz="4000" dirty="0">
                <a:solidFill>
                  <a:schemeClr val="bg2">
                    <a:lumMod val="10000"/>
                  </a:schemeClr>
                </a:solidFill>
                <a:latin typeface="Roboto Medium"/>
                <a:ea typeface="Roboto Medium"/>
                <a:cs typeface="Roboto Medium"/>
              </a:rPr>
              <a:t>Steps to Creating the Future State</a:t>
            </a:r>
          </a:p>
        </p:txBody>
      </p:sp>
      <p:sp>
        <p:nvSpPr>
          <p:cNvPr id="5" name="Slide Number Placeholder 4">
            <a:extLst>
              <a:ext uri="{FF2B5EF4-FFF2-40B4-BE49-F238E27FC236}">
                <a16:creationId xmlns:a16="http://schemas.microsoft.com/office/drawing/2014/main" id="{1AA34B74-93DA-5F21-CF4A-77FE692D026C}"/>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119</a:t>
            </a:fld>
            <a:endParaRPr lang="en-US"/>
          </a:p>
        </p:txBody>
      </p:sp>
      <p:sp>
        <p:nvSpPr>
          <p:cNvPr id="12" name="Rectangle 11">
            <a:extLst>
              <a:ext uri="{FF2B5EF4-FFF2-40B4-BE49-F238E27FC236}">
                <a16:creationId xmlns:a16="http://schemas.microsoft.com/office/drawing/2014/main" id="{B0B54629-2D9F-D857-EE31-4C21CDD2E4A2}"/>
              </a:ext>
            </a:extLst>
          </p:cNvPr>
          <p:cNvSpPr>
            <a:spLocks/>
          </p:cNvSpPr>
          <p:nvPr/>
        </p:nvSpPr>
        <p:spPr>
          <a:xfrm>
            <a:off x="940248" y="1934137"/>
            <a:ext cx="9815689"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lvl="2" defTabSz="584200"/>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Start with the Marked Up Current State Map</a:t>
            </a:r>
          </a:p>
        </p:txBody>
      </p:sp>
      <p:sp>
        <p:nvSpPr>
          <p:cNvPr id="13" name="Rectangle 12">
            <a:extLst>
              <a:ext uri="{FF2B5EF4-FFF2-40B4-BE49-F238E27FC236}">
                <a16:creationId xmlns:a16="http://schemas.microsoft.com/office/drawing/2014/main" id="{DF4EAF32-E1A1-D4A2-9FCD-515A5F96DE04}"/>
              </a:ext>
            </a:extLst>
          </p:cNvPr>
          <p:cNvSpPr>
            <a:spLocks/>
          </p:cNvSpPr>
          <p:nvPr/>
        </p:nvSpPr>
        <p:spPr>
          <a:xfrm>
            <a:off x="940249" y="3083199"/>
            <a:ext cx="9815688"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Combine processes that flow</a:t>
            </a:r>
          </a:p>
        </p:txBody>
      </p:sp>
      <p:sp>
        <p:nvSpPr>
          <p:cNvPr id="14" name="Rectangle 13">
            <a:extLst>
              <a:ext uri="{FF2B5EF4-FFF2-40B4-BE49-F238E27FC236}">
                <a16:creationId xmlns:a16="http://schemas.microsoft.com/office/drawing/2014/main" id="{FBE3767D-7BA2-9FC1-934C-8354A66E63AC}"/>
              </a:ext>
            </a:extLst>
          </p:cNvPr>
          <p:cNvSpPr>
            <a:spLocks/>
          </p:cNvSpPr>
          <p:nvPr/>
        </p:nvSpPr>
        <p:spPr>
          <a:xfrm>
            <a:off x="940248" y="4232261"/>
            <a:ext cx="9815687"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Implement Visually Managed Queues between areas of flow</a:t>
            </a:r>
          </a:p>
        </p:txBody>
      </p:sp>
      <p:sp>
        <p:nvSpPr>
          <p:cNvPr id="16" name="Rectangle 15">
            <a:extLst>
              <a:ext uri="{FF2B5EF4-FFF2-40B4-BE49-F238E27FC236}">
                <a16:creationId xmlns:a16="http://schemas.microsoft.com/office/drawing/2014/main" id="{589CEA7D-9312-9D7A-0D93-C8AE0124D074}"/>
              </a:ext>
            </a:extLst>
          </p:cNvPr>
          <p:cNvSpPr>
            <a:spLocks/>
          </p:cNvSpPr>
          <p:nvPr/>
        </p:nvSpPr>
        <p:spPr>
          <a:xfrm>
            <a:off x="940247" y="5381325"/>
            <a:ext cx="9815684" cy="452898"/>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Identify Loops on the map</a:t>
            </a:r>
          </a:p>
        </p:txBody>
      </p:sp>
      <p:sp>
        <p:nvSpPr>
          <p:cNvPr id="20" name="Title 1">
            <a:extLst>
              <a:ext uri="{FF2B5EF4-FFF2-40B4-BE49-F238E27FC236}">
                <a16:creationId xmlns:a16="http://schemas.microsoft.com/office/drawing/2014/main" id="{9B1715EE-FB55-A550-4CE5-A4D05A73859A}"/>
              </a:ext>
            </a:extLst>
          </p:cNvPr>
          <p:cNvSpPr txBox="1">
            <a:spLocks/>
          </p:cNvSpPr>
          <p:nvPr/>
        </p:nvSpPr>
        <p:spPr>
          <a:xfrm>
            <a:off x="699910" y="681038"/>
            <a:ext cx="9815689" cy="100965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endParaRPr lang="en-US" dirty="0">
              <a:solidFill>
                <a:schemeClr val="bg2">
                  <a:lumMod val="10000"/>
                </a:schemeClr>
              </a:solidFill>
            </a:endParaRPr>
          </a:p>
        </p:txBody>
      </p:sp>
      <p:grpSp>
        <p:nvGrpSpPr>
          <p:cNvPr id="2" name="Group 1">
            <a:extLst>
              <a:ext uri="{FF2B5EF4-FFF2-40B4-BE49-F238E27FC236}">
                <a16:creationId xmlns:a16="http://schemas.microsoft.com/office/drawing/2014/main" id="{2CBC8842-658E-BF03-71EC-D5854E749E6A}"/>
              </a:ext>
            </a:extLst>
          </p:cNvPr>
          <p:cNvGrpSpPr/>
          <p:nvPr/>
        </p:nvGrpSpPr>
        <p:grpSpPr>
          <a:xfrm>
            <a:off x="838200" y="297639"/>
            <a:ext cx="5391150" cy="307138"/>
            <a:chOff x="838200" y="297639"/>
            <a:chExt cx="5391150" cy="307138"/>
          </a:xfrm>
        </p:grpSpPr>
        <p:grpSp>
          <p:nvGrpSpPr>
            <p:cNvPr id="3" name="Group 2">
              <a:extLst>
                <a:ext uri="{FF2B5EF4-FFF2-40B4-BE49-F238E27FC236}">
                  <a16:creationId xmlns:a16="http://schemas.microsoft.com/office/drawing/2014/main" id="{00C7E250-4B01-5B54-5233-167E6D67C4E7}"/>
                </a:ext>
              </a:extLst>
            </p:cNvPr>
            <p:cNvGrpSpPr/>
            <p:nvPr/>
          </p:nvGrpSpPr>
          <p:grpSpPr>
            <a:xfrm>
              <a:off x="838200" y="297639"/>
              <a:ext cx="1687517" cy="290657"/>
              <a:chOff x="838200" y="297639"/>
              <a:chExt cx="1687517" cy="290657"/>
            </a:xfrm>
          </p:grpSpPr>
          <p:sp>
            <p:nvSpPr>
              <p:cNvPr id="6" name="AutoShape 9">
                <a:extLst>
                  <a:ext uri="{FF2B5EF4-FFF2-40B4-BE49-F238E27FC236}">
                    <a16:creationId xmlns:a16="http://schemas.microsoft.com/office/drawing/2014/main" id="{B456B046-2BB0-060F-0148-D68B9CA582A6}"/>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7" name="AutoShape 9">
                <a:extLst>
                  <a:ext uri="{FF2B5EF4-FFF2-40B4-BE49-F238E27FC236}">
                    <a16:creationId xmlns:a16="http://schemas.microsoft.com/office/drawing/2014/main" id="{4BB2E4B7-CE60-F23B-B51D-D69A7A710CF5}"/>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8" name="Group 7">
                <a:extLst>
                  <a:ext uri="{FF2B5EF4-FFF2-40B4-BE49-F238E27FC236}">
                    <a16:creationId xmlns:a16="http://schemas.microsoft.com/office/drawing/2014/main" id="{6F492AC1-E2BC-E18C-E286-5992B6AF68A1}"/>
                  </a:ext>
                </a:extLst>
              </p:cNvPr>
              <p:cNvGrpSpPr/>
              <p:nvPr/>
            </p:nvGrpSpPr>
            <p:grpSpPr>
              <a:xfrm>
                <a:off x="838200" y="297639"/>
                <a:ext cx="1060167" cy="290657"/>
                <a:chOff x="826426" y="4041857"/>
                <a:chExt cx="1060167" cy="290657"/>
              </a:xfrm>
            </p:grpSpPr>
            <p:sp>
              <p:nvSpPr>
                <p:cNvPr id="9" name="AutoShape 9">
                  <a:extLst>
                    <a:ext uri="{FF2B5EF4-FFF2-40B4-BE49-F238E27FC236}">
                      <a16:creationId xmlns:a16="http://schemas.microsoft.com/office/drawing/2014/main" id="{4D30E35C-F449-5F78-C5E8-F3CF6D404AED}"/>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0" name="AutoShape 11">
                  <a:extLst>
                    <a:ext uri="{FF2B5EF4-FFF2-40B4-BE49-F238E27FC236}">
                      <a16:creationId xmlns:a16="http://schemas.microsoft.com/office/drawing/2014/main" id="{3B4D9553-30F3-CDED-ACFB-9C553F25CABC}"/>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0">
                  <a:extLst>
                    <a:ext uri="{FF2B5EF4-FFF2-40B4-BE49-F238E27FC236}">
                      <a16:creationId xmlns:a16="http://schemas.microsoft.com/office/drawing/2014/main" id="{00F2DC59-1ECC-2838-DA59-FDC823C13716}"/>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4" name="TextBox 3">
              <a:extLst>
                <a:ext uri="{FF2B5EF4-FFF2-40B4-BE49-F238E27FC236}">
                  <a16:creationId xmlns:a16="http://schemas.microsoft.com/office/drawing/2014/main" id="{41CF45C3-6B7A-801E-CC50-120CA8DBF93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
        <p:nvSpPr>
          <p:cNvPr id="15" name="Rectangle 14">
            <a:extLst>
              <a:ext uri="{FF2B5EF4-FFF2-40B4-BE49-F238E27FC236}">
                <a16:creationId xmlns:a16="http://schemas.microsoft.com/office/drawing/2014/main" id="{9AA9DB59-217D-B266-F2A2-8D2E9C07491B}"/>
              </a:ext>
            </a:extLst>
          </p:cNvPr>
          <p:cNvSpPr>
            <a:spLocks/>
          </p:cNvSpPr>
          <p:nvPr/>
        </p:nvSpPr>
        <p:spPr>
          <a:xfrm>
            <a:off x="940247" y="4806792"/>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Calculate Lead Time and Processing Time</a:t>
            </a:r>
          </a:p>
        </p:txBody>
      </p:sp>
      <p:sp>
        <p:nvSpPr>
          <p:cNvPr id="18" name="Rectangle 17">
            <a:extLst>
              <a:ext uri="{FF2B5EF4-FFF2-40B4-BE49-F238E27FC236}">
                <a16:creationId xmlns:a16="http://schemas.microsoft.com/office/drawing/2014/main" id="{9FB284F9-C31E-DA4B-11BE-35B90D5543EF}"/>
              </a:ext>
            </a:extLst>
          </p:cNvPr>
          <p:cNvSpPr>
            <a:spLocks/>
          </p:cNvSpPr>
          <p:nvPr/>
        </p:nvSpPr>
        <p:spPr>
          <a:xfrm>
            <a:off x="940247" y="3657730"/>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584200" hangingPunct="0"/>
            <a:r>
              <a:rPr lang="en-US" sz="2800" dirty="0">
                <a:solidFill>
                  <a:schemeClr val="bg1"/>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sym typeface="Roboto"/>
              </a:rPr>
              <a:t>Identify new information flow</a:t>
            </a:r>
          </a:p>
        </p:txBody>
      </p:sp>
      <p:sp>
        <p:nvSpPr>
          <p:cNvPr id="19" name="Rectangle 18">
            <a:extLst>
              <a:ext uri="{FF2B5EF4-FFF2-40B4-BE49-F238E27FC236}">
                <a16:creationId xmlns:a16="http://schemas.microsoft.com/office/drawing/2014/main" id="{E844EEA4-8221-A6CC-2367-68DC464E0742}"/>
              </a:ext>
            </a:extLst>
          </p:cNvPr>
          <p:cNvSpPr>
            <a:spLocks/>
          </p:cNvSpPr>
          <p:nvPr/>
        </p:nvSpPr>
        <p:spPr>
          <a:xfrm>
            <a:off x="940247" y="2508668"/>
            <a:ext cx="9815684" cy="452898"/>
          </a:xfrm>
          <a:prstGeom prst="rect">
            <a:avLst/>
          </a:prstGeom>
          <a:solidFill>
            <a:schemeClr val="accent3"/>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800" b="0" i="0" u="none" strike="noStrike" cap="none" spc="0" normalizeH="0" baseline="0" dirty="0">
                <a:ln>
                  <a:noFill/>
                </a:ln>
                <a:solidFill>
                  <a:schemeClr val="bg1"/>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Draw the pieces of the map that are the same</a:t>
            </a:r>
          </a:p>
        </p:txBody>
      </p:sp>
    </p:spTree>
    <p:extLst>
      <p:ext uri="{BB962C8B-B14F-4D97-AF65-F5344CB8AC3E}">
        <p14:creationId xmlns:p14="http://schemas.microsoft.com/office/powerpoint/2010/main" val="327345176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rmAutofit fontScale="90000"/>
          </a:bodyPr>
          <a:lstStyle/>
          <a:p>
            <a:r>
              <a:rPr lang="en-US" dirty="0"/>
              <a:t>Identifying “Loops” in the Future State Map</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A “Loop” is a logical grouping of improvements to be made to the Current State in order to achieve the Future State</a:t>
            </a:r>
          </a:p>
          <a:p>
            <a:r>
              <a:rPr lang="en-US" dirty="0"/>
              <a:t>Loops are used to link focus improvement activities in the Value Stream Plan in a manner around a particular new capability in the Future State</a:t>
            </a:r>
          </a:p>
          <a:p>
            <a:r>
              <a:rPr lang="en-US" dirty="0"/>
              <a:t>Loops are used to logically sequence improvement activities in the Value Stream Plan so that the Future State is achieved through incremental phased implementation vs. “big bang” (everything at once)</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120</a:t>
            </a:fld>
            <a:endParaRPr lang="en-US"/>
          </a:p>
        </p:txBody>
      </p:sp>
      <p:grpSp>
        <p:nvGrpSpPr>
          <p:cNvPr id="4" name="Group 3">
            <a:extLst>
              <a:ext uri="{FF2B5EF4-FFF2-40B4-BE49-F238E27FC236}">
                <a16:creationId xmlns:a16="http://schemas.microsoft.com/office/drawing/2014/main" id="{68AD8B1F-6C55-7371-2001-8904986D82C5}"/>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E8C09AFB-DAF8-42F1-8527-31651638658F}"/>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08D1D0FC-A903-8D98-27A3-2209F9072D20}"/>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9" name="AutoShape 9">
                <a:extLst>
                  <a:ext uri="{FF2B5EF4-FFF2-40B4-BE49-F238E27FC236}">
                    <a16:creationId xmlns:a16="http://schemas.microsoft.com/office/drawing/2014/main" id="{481EEC1B-8E70-471A-5452-8E772ADDD81C}"/>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346BC936-C9BC-E1CA-3865-9E71E90CBABE}"/>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61114976-31A2-E37F-E626-D0D9C4FAA217}"/>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EA52C3A9-910B-E16E-4B68-37ADA4DE4AB2}"/>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236E9EB-14DB-DC58-8840-22718AE435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EF16DB01-B37C-A8B1-F1E1-E6121F2D2806}"/>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spTree>
    <p:extLst>
      <p:ext uri="{BB962C8B-B14F-4D97-AF65-F5344CB8AC3E}">
        <p14:creationId xmlns:p14="http://schemas.microsoft.com/office/powerpoint/2010/main" val="160199610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Identifying “Loops” in the Future State Map</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121</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433" name="Group 432">
            <a:extLst>
              <a:ext uri="{FF2B5EF4-FFF2-40B4-BE49-F238E27FC236}">
                <a16:creationId xmlns:a16="http://schemas.microsoft.com/office/drawing/2014/main" id="{3F7B9745-7B50-B91F-52D4-C637651B0D00}"/>
              </a:ext>
            </a:extLst>
          </p:cNvPr>
          <p:cNvGrpSpPr/>
          <p:nvPr/>
        </p:nvGrpSpPr>
        <p:grpSpPr>
          <a:xfrm>
            <a:off x="304800" y="1783429"/>
            <a:ext cx="11247120" cy="4198271"/>
            <a:chOff x="304800" y="1393825"/>
            <a:chExt cx="8672513" cy="4587875"/>
          </a:xfrm>
        </p:grpSpPr>
        <p:sp>
          <p:nvSpPr>
            <p:cNvPr id="15" name="Line 333">
              <a:extLst>
                <a:ext uri="{FF2B5EF4-FFF2-40B4-BE49-F238E27FC236}">
                  <a16:creationId xmlns:a16="http://schemas.microsoft.com/office/drawing/2014/main" id="{219A2AAB-4420-309F-0D59-3146F891E9E0}"/>
                </a:ext>
              </a:extLst>
            </p:cNvPr>
            <p:cNvSpPr>
              <a:spLocks noChangeShapeType="1"/>
            </p:cNvSpPr>
            <p:nvPr/>
          </p:nvSpPr>
          <p:spPr bwMode="auto">
            <a:xfrm>
              <a:off x="3998913" y="5981700"/>
              <a:ext cx="939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6" name="Line 334">
              <a:extLst>
                <a:ext uri="{FF2B5EF4-FFF2-40B4-BE49-F238E27FC236}">
                  <a16:creationId xmlns:a16="http://schemas.microsoft.com/office/drawing/2014/main" id="{6E0EA32A-E733-FD91-2E49-DD5357312509}"/>
                </a:ext>
              </a:extLst>
            </p:cNvPr>
            <p:cNvSpPr>
              <a:spLocks noChangeShapeType="1"/>
            </p:cNvSpPr>
            <p:nvPr/>
          </p:nvSpPr>
          <p:spPr bwMode="auto">
            <a:xfrm>
              <a:off x="34655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7" name="AutoShape 335">
              <a:extLst>
                <a:ext uri="{FF2B5EF4-FFF2-40B4-BE49-F238E27FC236}">
                  <a16:creationId xmlns:a16="http://schemas.microsoft.com/office/drawing/2014/main" id="{647B1EA4-E8B4-78A3-8F13-7B658DADFC9C}"/>
                </a:ext>
              </a:extLst>
            </p:cNvPr>
            <p:cNvCxnSpPr>
              <a:cxnSpLocks noChangeShapeType="1"/>
              <a:stCxn id="16" idx="1"/>
              <a:endCxn id="15" idx="0"/>
            </p:cNvCxnSpPr>
            <p:nvPr/>
          </p:nvCxnSpPr>
          <p:spPr bwMode="auto">
            <a:xfrm>
              <a:off x="39989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8" name="Line 336">
              <a:extLst>
                <a:ext uri="{FF2B5EF4-FFF2-40B4-BE49-F238E27FC236}">
                  <a16:creationId xmlns:a16="http://schemas.microsoft.com/office/drawing/2014/main" id="{38522E81-D8EB-9174-50D8-EB1E762B9399}"/>
                </a:ext>
              </a:extLst>
            </p:cNvPr>
            <p:cNvSpPr>
              <a:spLocks noChangeShapeType="1"/>
            </p:cNvSpPr>
            <p:nvPr/>
          </p:nvSpPr>
          <p:spPr bwMode="auto">
            <a:xfrm>
              <a:off x="989013" y="5981700"/>
              <a:ext cx="106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 name="Line 337">
              <a:extLst>
                <a:ext uri="{FF2B5EF4-FFF2-40B4-BE49-F238E27FC236}">
                  <a16:creationId xmlns:a16="http://schemas.microsoft.com/office/drawing/2014/main" id="{C0D36C1A-A4C2-2C7C-56BB-340080782C8E}"/>
                </a:ext>
              </a:extLst>
            </p:cNvPr>
            <p:cNvSpPr>
              <a:spLocks noChangeShapeType="1"/>
            </p:cNvSpPr>
            <p:nvPr/>
          </p:nvSpPr>
          <p:spPr bwMode="auto">
            <a:xfrm>
              <a:off x="4556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0" name="AutoShape 338">
              <a:extLst>
                <a:ext uri="{FF2B5EF4-FFF2-40B4-BE49-F238E27FC236}">
                  <a16:creationId xmlns:a16="http://schemas.microsoft.com/office/drawing/2014/main" id="{E352646E-F812-C5B2-14A0-003D497A0B50}"/>
                </a:ext>
              </a:extLst>
            </p:cNvPr>
            <p:cNvCxnSpPr>
              <a:cxnSpLocks noChangeShapeType="1"/>
              <a:stCxn id="19" idx="1"/>
              <a:endCxn id="18" idx="0"/>
            </p:cNvCxnSpPr>
            <p:nvPr/>
          </p:nvCxnSpPr>
          <p:spPr bwMode="auto">
            <a:xfrm>
              <a:off x="9890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1" name="AutoShape 339">
              <a:extLst>
                <a:ext uri="{FF2B5EF4-FFF2-40B4-BE49-F238E27FC236}">
                  <a16:creationId xmlns:a16="http://schemas.microsoft.com/office/drawing/2014/main" id="{BFF6ED28-B68B-F01D-C572-DA5C4648B645}"/>
                </a:ext>
              </a:extLst>
            </p:cNvPr>
            <p:cNvCxnSpPr>
              <a:cxnSpLocks noChangeShapeType="1"/>
              <a:stCxn id="16" idx="0"/>
              <a:endCxn id="22" idx="1"/>
            </p:cNvCxnSpPr>
            <p:nvPr/>
          </p:nvCxnSpPr>
          <p:spPr bwMode="auto">
            <a:xfrm>
              <a:off x="34655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2" name="Line 340">
              <a:extLst>
                <a:ext uri="{FF2B5EF4-FFF2-40B4-BE49-F238E27FC236}">
                  <a16:creationId xmlns:a16="http://schemas.microsoft.com/office/drawing/2014/main" id="{1A1A3702-E52D-5033-0AA1-C2A2FEC66198}"/>
                </a:ext>
              </a:extLst>
            </p:cNvPr>
            <p:cNvSpPr>
              <a:spLocks noChangeShapeType="1"/>
            </p:cNvSpPr>
            <p:nvPr/>
          </p:nvSpPr>
          <p:spPr bwMode="auto">
            <a:xfrm>
              <a:off x="2589213" y="5981700"/>
              <a:ext cx="87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3" name="Line 341">
              <a:extLst>
                <a:ext uri="{FF2B5EF4-FFF2-40B4-BE49-F238E27FC236}">
                  <a16:creationId xmlns:a16="http://schemas.microsoft.com/office/drawing/2014/main" id="{B8070A46-D84C-9049-B911-D5E521D2EC99}"/>
                </a:ext>
              </a:extLst>
            </p:cNvPr>
            <p:cNvSpPr>
              <a:spLocks noChangeShapeType="1"/>
            </p:cNvSpPr>
            <p:nvPr/>
          </p:nvSpPr>
          <p:spPr bwMode="auto">
            <a:xfrm>
              <a:off x="20558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4" name="AutoShape 342">
              <a:extLst>
                <a:ext uri="{FF2B5EF4-FFF2-40B4-BE49-F238E27FC236}">
                  <a16:creationId xmlns:a16="http://schemas.microsoft.com/office/drawing/2014/main" id="{8D285120-775F-8B20-96CC-BA3136212D23}"/>
                </a:ext>
              </a:extLst>
            </p:cNvPr>
            <p:cNvCxnSpPr>
              <a:cxnSpLocks noChangeShapeType="1"/>
              <a:stCxn id="23" idx="1"/>
              <a:endCxn id="22" idx="0"/>
            </p:cNvCxnSpPr>
            <p:nvPr/>
          </p:nvCxnSpPr>
          <p:spPr bwMode="auto">
            <a:xfrm>
              <a:off x="25892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 name="AutoShape 343">
              <a:extLst>
                <a:ext uri="{FF2B5EF4-FFF2-40B4-BE49-F238E27FC236}">
                  <a16:creationId xmlns:a16="http://schemas.microsoft.com/office/drawing/2014/main" id="{6863AB4E-CD98-C74D-010F-F6E3219F31AF}"/>
                </a:ext>
              </a:extLst>
            </p:cNvPr>
            <p:cNvCxnSpPr>
              <a:cxnSpLocks noChangeShapeType="1"/>
              <a:stCxn id="23" idx="0"/>
            </p:cNvCxnSpPr>
            <p:nvPr/>
          </p:nvCxnSpPr>
          <p:spPr bwMode="auto">
            <a:xfrm>
              <a:off x="20558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 name="Line 344">
              <a:extLst>
                <a:ext uri="{FF2B5EF4-FFF2-40B4-BE49-F238E27FC236}">
                  <a16:creationId xmlns:a16="http://schemas.microsoft.com/office/drawing/2014/main" id="{01AE18F4-8D6D-C08A-6603-2CE36E8C1A7E}"/>
                </a:ext>
              </a:extLst>
            </p:cNvPr>
            <p:cNvSpPr>
              <a:spLocks noChangeShapeType="1"/>
            </p:cNvSpPr>
            <p:nvPr/>
          </p:nvSpPr>
          <p:spPr bwMode="auto">
            <a:xfrm>
              <a:off x="5472113" y="5981700"/>
              <a:ext cx="990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345">
              <a:extLst>
                <a:ext uri="{FF2B5EF4-FFF2-40B4-BE49-F238E27FC236}">
                  <a16:creationId xmlns:a16="http://schemas.microsoft.com/office/drawing/2014/main" id="{09DEFADB-595B-35D9-D951-030DAC25E0A2}"/>
                </a:ext>
              </a:extLst>
            </p:cNvPr>
            <p:cNvSpPr>
              <a:spLocks noChangeShapeType="1"/>
            </p:cNvSpPr>
            <p:nvPr/>
          </p:nvSpPr>
          <p:spPr bwMode="auto">
            <a:xfrm>
              <a:off x="4938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8" name="AutoShape 346">
              <a:extLst>
                <a:ext uri="{FF2B5EF4-FFF2-40B4-BE49-F238E27FC236}">
                  <a16:creationId xmlns:a16="http://schemas.microsoft.com/office/drawing/2014/main" id="{81684461-7520-F9FC-264A-F97700297BA2}"/>
                </a:ext>
              </a:extLst>
            </p:cNvPr>
            <p:cNvCxnSpPr>
              <a:cxnSpLocks noChangeShapeType="1"/>
              <a:stCxn id="27" idx="1"/>
              <a:endCxn id="26" idx="0"/>
            </p:cNvCxnSpPr>
            <p:nvPr/>
          </p:nvCxnSpPr>
          <p:spPr bwMode="auto">
            <a:xfrm>
              <a:off x="5472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 name="AutoShape 347">
              <a:extLst>
                <a:ext uri="{FF2B5EF4-FFF2-40B4-BE49-F238E27FC236}">
                  <a16:creationId xmlns:a16="http://schemas.microsoft.com/office/drawing/2014/main" id="{A3ED3ACB-BBAE-3D55-3061-5E6CFB8AE231}"/>
                </a:ext>
              </a:extLst>
            </p:cNvPr>
            <p:cNvCxnSpPr>
              <a:cxnSpLocks noChangeShapeType="1"/>
              <a:stCxn id="27" idx="0"/>
              <a:endCxn id="15" idx="1"/>
            </p:cNvCxnSpPr>
            <p:nvPr/>
          </p:nvCxnSpPr>
          <p:spPr bwMode="auto">
            <a:xfrm>
              <a:off x="4938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 name="Line 348">
              <a:extLst>
                <a:ext uri="{FF2B5EF4-FFF2-40B4-BE49-F238E27FC236}">
                  <a16:creationId xmlns:a16="http://schemas.microsoft.com/office/drawing/2014/main" id="{5D757225-E9FB-1C4F-5D0D-408D204A62BF}"/>
                </a:ext>
              </a:extLst>
            </p:cNvPr>
            <p:cNvSpPr>
              <a:spLocks noChangeShapeType="1"/>
            </p:cNvSpPr>
            <p:nvPr/>
          </p:nvSpPr>
          <p:spPr bwMode="auto">
            <a:xfrm>
              <a:off x="6996113" y="5981700"/>
              <a:ext cx="914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1" name="Line 349">
              <a:extLst>
                <a:ext uri="{FF2B5EF4-FFF2-40B4-BE49-F238E27FC236}">
                  <a16:creationId xmlns:a16="http://schemas.microsoft.com/office/drawing/2014/main" id="{758945C6-4A9C-BF63-8F57-65272BCDF6FA}"/>
                </a:ext>
              </a:extLst>
            </p:cNvPr>
            <p:cNvSpPr>
              <a:spLocks noChangeShapeType="1"/>
            </p:cNvSpPr>
            <p:nvPr/>
          </p:nvSpPr>
          <p:spPr bwMode="auto">
            <a:xfrm>
              <a:off x="6462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32" name="AutoShape 350">
              <a:extLst>
                <a:ext uri="{FF2B5EF4-FFF2-40B4-BE49-F238E27FC236}">
                  <a16:creationId xmlns:a16="http://schemas.microsoft.com/office/drawing/2014/main" id="{F031D5FD-EC34-211E-FDE0-CB2289EFE5B5}"/>
                </a:ext>
              </a:extLst>
            </p:cNvPr>
            <p:cNvCxnSpPr>
              <a:cxnSpLocks noChangeShapeType="1"/>
              <a:stCxn id="31" idx="1"/>
              <a:endCxn id="30" idx="0"/>
            </p:cNvCxnSpPr>
            <p:nvPr/>
          </p:nvCxnSpPr>
          <p:spPr bwMode="auto">
            <a:xfrm>
              <a:off x="6996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3" name="AutoShape 351">
              <a:extLst>
                <a:ext uri="{FF2B5EF4-FFF2-40B4-BE49-F238E27FC236}">
                  <a16:creationId xmlns:a16="http://schemas.microsoft.com/office/drawing/2014/main" id="{7016E897-9F79-338B-20A7-4492AE9EBDD3}"/>
                </a:ext>
              </a:extLst>
            </p:cNvPr>
            <p:cNvCxnSpPr>
              <a:cxnSpLocks noChangeShapeType="1"/>
              <a:endCxn id="26" idx="1"/>
            </p:cNvCxnSpPr>
            <p:nvPr/>
          </p:nvCxnSpPr>
          <p:spPr bwMode="auto">
            <a:xfrm>
              <a:off x="6462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4" name="Text Box 352">
              <a:extLst>
                <a:ext uri="{FF2B5EF4-FFF2-40B4-BE49-F238E27FC236}">
                  <a16:creationId xmlns:a16="http://schemas.microsoft.com/office/drawing/2014/main" id="{A670BD22-42C6-C6C3-4D20-4411C7E7C1DE}"/>
                </a:ext>
              </a:extLst>
            </p:cNvPr>
            <p:cNvSpPr txBox="1">
              <a:spLocks noChangeArrowheads="1"/>
            </p:cNvSpPr>
            <p:nvPr/>
          </p:nvSpPr>
          <p:spPr bwMode="auto">
            <a:xfrm>
              <a:off x="2703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35" name="Text Box 353">
              <a:extLst>
                <a:ext uri="{FF2B5EF4-FFF2-40B4-BE49-F238E27FC236}">
                  <a16:creationId xmlns:a16="http://schemas.microsoft.com/office/drawing/2014/main" id="{A30F1CB5-F3E1-C8CF-383E-CAF1E82127ED}"/>
                </a:ext>
              </a:extLst>
            </p:cNvPr>
            <p:cNvSpPr txBox="1">
              <a:spLocks noChangeArrowheads="1"/>
            </p:cNvSpPr>
            <p:nvPr/>
          </p:nvSpPr>
          <p:spPr bwMode="auto">
            <a:xfrm>
              <a:off x="20431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1" name="Text Box 354">
              <a:extLst>
                <a:ext uri="{FF2B5EF4-FFF2-40B4-BE49-F238E27FC236}">
                  <a16:creationId xmlns:a16="http://schemas.microsoft.com/office/drawing/2014/main" id="{F464FD0F-6759-96E5-65AC-92EAC68716D2}"/>
                </a:ext>
              </a:extLst>
            </p:cNvPr>
            <p:cNvSpPr txBox="1">
              <a:spLocks noChangeArrowheads="1"/>
            </p:cNvSpPr>
            <p:nvPr/>
          </p:nvSpPr>
          <p:spPr bwMode="auto">
            <a:xfrm>
              <a:off x="34655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2" name="Text Box 355">
              <a:extLst>
                <a:ext uri="{FF2B5EF4-FFF2-40B4-BE49-F238E27FC236}">
                  <a16:creationId xmlns:a16="http://schemas.microsoft.com/office/drawing/2014/main" id="{6F7E5667-7986-4E31-D059-2242BE3927E4}"/>
                </a:ext>
              </a:extLst>
            </p:cNvPr>
            <p:cNvSpPr txBox="1">
              <a:spLocks noChangeArrowheads="1"/>
            </p:cNvSpPr>
            <p:nvPr/>
          </p:nvSpPr>
          <p:spPr bwMode="auto">
            <a:xfrm>
              <a:off x="4938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4" name="Text Box 356">
              <a:extLst>
                <a:ext uri="{FF2B5EF4-FFF2-40B4-BE49-F238E27FC236}">
                  <a16:creationId xmlns:a16="http://schemas.microsoft.com/office/drawing/2014/main" id="{7D6A2A09-3F81-5574-B223-278115C71426}"/>
                </a:ext>
              </a:extLst>
            </p:cNvPr>
            <p:cNvSpPr txBox="1">
              <a:spLocks noChangeArrowheads="1"/>
            </p:cNvSpPr>
            <p:nvPr/>
          </p:nvSpPr>
          <p:spPr bwMode="auto">
            <a:xfrm>
              <a:off x="4100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55" name="Text Box 357">
              <a:extLst>
                <a:ext uri="{FF2B5EF4-FFF2-40B4-BE49-F238E27FC236}">
                  <a16:creationId xmlns:a16="http://schemas.microsoft.com/office/drawing/2014/main" id="{E7978135-EBA5-00E5-218A-72F50725872C}"/>
                </a:ext>
              </a:extLst>
            </p:cNvPr>
            <p:cNvSpPr txBox="1">
              <a:spLocks noChangeArrowheads="1"/>
            </p:cNvSpPr>
            <p:nvPr/>
          </p:nvSpPr>
          <p:spPr bwMode="auto">
            <a:xfrm>
              <a:off x="5624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56" name="Text Box 358">
              <a:extLst>
                <a:ext uri="{FF2B5EF4-FFF2-40B4-BE49-F238E27FC236}">
                  <a16:creationId xmlns:a16="http://schemas.microsoft.com/office/drawing/2014/main" id="{A476BC7B-0BF4-EE8C-3FEE-CA631F1214BD}"/>
                </a:ext>
              </a:extLst>
            </p:cNvPr>
            <p:cNvSpPr txBox="1">
              <a:spLocks noChangeArrowheads="1"/>
            </p:cNvSpPr>
            <p:nvPr/>
          </p:nvSpPr>
          <p:spPr bwMode="auto">
            <a:xfrm>
              <a:off x="12176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7" name="Text Box 359">
              <a:extLst>
                <a:ext uri="{FF2B5EF4-FFF2-40B4-BE49-F238E27FC236}">
                  <a16:creationId xmlns:a16="http://schemas.microsoft.com/office/drawing/2014/main" id="{5501876E-3B54-A544-2965-B559D5C522F5}"/>
                </a:ext>
              </a:extLst>
            </p:cNvPr>
            <p:cNvSpPr txBox="1">
              <a:spLocks noChangeArrowheads="1"/>
            </p:cNvSpPr>
            <p:nvPr/>
          </p:nvSpPr>
          <p:spPr bwMode="auto">
            <a:xfrm>
              <a:off x="72247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8" name="Text Box 360">
              <a:extLst>
                <a:ext uri="{FF2B5EF4-FFF2-40B4-BE49-F238E27FC236}">
                  <a16:creationId xmlns:a16="http://schemas.microsoft.com/office/drawing/2014/main" id="{6AC774A8-F03E-A082-7660-416C13E181B7}"/>
                </a:ext>
              </a:extLst>
            </p:cNvPr>
            <p:cNvSpPr txBox="1">
              <a:spLocks noChangeArrowheads="1"/>
            </p:cNvSpPr>
            <p:nvPr/>
          </p:nvSpPr>
          <p:spPr bwMode="auto">
            <a:xfrm>
              <a:off x="6462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9" name="Rectangle 361">
              <a:extLst>
                <a:ext uri="{FF2B5EF4-FFF2-40B4-BE49-F238E27FC236}">
                  <a16:creationId xmlns:a16="http://schemas.microsoft.com/office/drawing/2014/main" id="{CC12EB56-6D92-1F1E-FBF5-1F8BAF4E6035}"/>
                </a:ext>
              </a:extLst>
            </p:cNvPr>
            <p:cNvSpPr>
              <a:spLocks noChangeArrowheads="1"/>
            </p:cNvSpPr>
            <p:nvPr/>
          </p:nvSpPr>
          <p:spPr bwMode="auto">
            <a:xfrm>
              <a:off x="7805738" y="5372100"/>
              <a:ext cx="1171575" cy="609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Text Box 362">
              <a:extLst>
                <a:ext uri="{FF2B5EF4-FFF2-40B4-BE49-F238E27FC236}">
                  <a16:creationId xmlns:a16="http://schemas.microsoft.com/office/drawing/2014/main" id="{44EE4519-8085-2ADD-21E9-E6228AE2AE16}"/>
                </a:ext>
              </a:extLst>
            </p:cNvPr>
            <p:cNvSpPr txBox="1">
              <a:spLocks noChangeArrowheads="1"/>
            </p:cNvSpPr>
            <p:nvPr/>
          </p:nvSpPr>
          <p:spPr bwMode="auto">
            <a:xfrm>
              <a:off x="7781925" y="5462588"/>
              <a:ext cx="11430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Lead Time 43 Days</a:t>
              </a:r>
            </a:p>
          </p:txBody>
        </p:sp>
        <p:sp>
          <p:nvSpPr>
            <p:cNvPr id="61" name="Text Box 363">
              <a:extLst>
                <a:ext uri="{FF2B5EF4-FFF2-40B4-BE49-F238E27FC236}">
                  <a16:creationId xmlns:a16="http://schemas.microsoft.com/office/drawing/2014/main" id="{61196B36-63EC-1F88-5DEC-1D13C31D8205}"/>
                </a:ext>
              </a:extLst>
            </p:cNvPr>
            <p:cNvSpPr txBox="1">
              <a:spLocks noChangeArrowheads="1"/>
            </p:cNvSpPr>
            <p:nvPr/>
          </p:nvSpPr>
          <p:spPr bwMode="auto">
            <a:xfrm>
              <a:off x="7729538" y="5767388"/>
              <a:ext cx="12477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Process Time 23 Days</a:t>
              </a:r>
            </a:p>
          </p:txBody>
        </p:sp>
        <p:sp>
          <p:nvSpPr>
            <p:cNvPr id="62" name="Line 364">
              <a:extLst>
                <a:ext uri="{FF2B5EF4-FFF2-40B4-BE49-F238E27FC236}">
                  <a16:creationId xmlns:a16="http://schemas.microsoft.com/office/drawing/2014/main" id="{BB8FB476-7554-3870-9F62-4B60DEAFDD4A}"/>
                </a:ext>
              </a:extLst>
            </p:cNvPr>
            <p:cNvSpPr>
              <a:spLocks noChangeShapeType="1"/>
            </p:cNvSpPr>
            <p:nvPr/>
          </p:nvSpPr>
          <p:spPr bwMode="auto">
            <a:xfrm>
              <a:off x="7815263" y="5676900"/>
              <a:ext cx="11334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3" name="Line 365">
              <a:extLst>
                <a:ext uri="{FF2B5EF4-FFF2-40B4-BE49-F238E27FC236}">
                  <a16:creationId xmlns:a16="http://schemas.microsoft.com/office/drawing/2014/main" id="{1946AF24-2D65-7488-B464-38F7FA7822D1}"/>
                </a:ext>
              </a:extLst>
            </p:cNvPr>
            <p:cNvSpPr>
              <a:spLocks noChangeShapeType="1"/>
            </p:cNvSpPr>
            <p:nvPr/>
          </p:nvSpPr>
          <p:spPr bwMode="auto">
            <a:xfrm flipV="1">
              <a:off x="356076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Text Box 366">
              <a:extLst>
                <a:ext uri="{FF2B5EF4-FFF2-40B4-BE49-F238E27FC236}">
                  <a16:creationId xmlns:a16="http://schemas.microsoft.com/office/drawing/2014/main" id="{DCB93339-5A3A-786D-09A8-BB1144CF540D}"/>
                </a:ext>
              </a:extLst>
            </p:cNvPr>
            <p:cNvSpPr txBox="1">
              <a:spLocks noChangeArrowheads="1"/>
            </p:cNvSpPr>
            <p:nvPr/>
          </p:nvSpPr>
          <p:spPr bwMode="auto">
            <a:xfrm>
              <a:off x="351790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5" name="Line 367">
              <a:extLst>
                <a:ext uri="{FF2B5EF4-FFF2-40B4-BE49-F238E27FC236}">
                  <a16:creationId xmlns:a16="http://schemas.microsoft.com/office/drawing/2014/main" id="{506AD601-0000-8FFF-3EF4-961F7FE625C1}"/>
                </a:ext>
              </a:extLst>
            </p:cNvPr>
            <p:cNvSpPr>
              <a:spLocks noChangeShapeType="1"/>
            </p:cNvSpPr>
            <p:nvPr/>
          </p:nvSpPr>
          <p:spPr bwMode="auto">
            <a:xfrm flipV="1">
              <a:off x="50022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Text Box 368">
              <a:extLst>
                <a:ext uri="{FF2B5EF4-FFF2-40B4-BE49-F238E27FC236}">
                  <a16:creationId xmlns:a16="http://schemas.microsoft.com/office/drawing/2014/main" id="{6E4AB71D-2607-2857-F35E-C84BDEEC9EC5}"/>
                </a:ext>
              </a:extLst>
            </p:cNvPr>
            <p:cNvSpPr txBox="1">
              <a:spLocks noChangeArrowheads="1"/>
            </p:cNvSpPr>
            <p:nvPr/>
          </p:nvSpPr>
          <p:spPr bwMode="auto">
            <a:xfrm>
              <a:off x="4959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7" name="Line 369">
              <a:extLst>
                <a:ext uri="{FF2B5EF4-FFF2-40B4-BE49-F238E27FC236}">
                  <a16:creationId xmlns:a16="http://schemas.microsoft.com/office/drawing/2014/main" id="{4C8DA161-34CF-7DDE-069A-41FFB53E73AE}"/>
                </a:ext>
              </a:extLst>
            </p:cNvPr>
            <p:cNvSpPr>
              <a:spLocks noChangeShapeType="1"/>
            </p:cNvSpPr>
            <p:nvPr/>
          </p:nvSpPr>
          <p:spPr bwMode="auto">
            <a:xfrm flipV="1">
              <a:off x="64246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Text Box 370">
              <a:extLst>
                <a:ext uri="{FF2B5EF4-FFF2-40B4-BE49-F238E27FC236}">
                  <a16:creationId xmlns:a16="http://schemas.microsoft.com/office/drawing/2014/main" id="{DB50BCB9-08F5-1116-8D4D-AD9F8BFD1E0B}"/>
                </a:ext>
              </a:extLst>
            </p:cNvPr>
            <p:cNvSpPr txBox="1">
              <a:spLocks noChangeArrowheads="1"/>
            </p:cNvSpPr>
            <p:nvPr/>
          </p:nvSpPr>
          <p:spPr bwMode="auto">
            <a:xfrm>
              <a:off x="6356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grpSp>
          <p:nvGrpSpPr>
            <p:cNvPr id="69" name="Group 371">
              <a:extLst>
                <a:ext uri="{FF2B5EF4-FFF2-40B4-BE49-F238E27FC236}">
                  <a16:creationId xmlns:a16="http://schemas.microsoft.com/office/drawing/2014/main" id="{82554A4C-8F81-3926-6BD9-50C95B46AF18}"/>
                </a:ext>
              </a:extLst>
            </p:cNvPr>
            <p:cNvGrpSpPr>
              <a:grpSpLocks/>
            </p:cNvGrpSpPr>
            <p:nvPr/>
          </p:nvGrpSpPr>
          <p:grpSpPr bwMode="auto">
            <a:xfrm>
              <a:off x="3619500" y="4254500"/>
              <a:ext cx="342900" cy="812800"/>
              <a:chOff x="752" y="2752"/>
              <a:chExt cx="216" cy="512"/>
            </a:xfrm>
          </p:grpSpPr>
          <p:sp>
            <p:nvSpPr>
              <p:cNvPr id="70" name="AutoShape 372">
                <a:extLst>
                  <a:ext uri="{FF2B5EF4-FFF2-40B4-BE49-F238E27FC236}">
                    <a16:creationId xmlns:a16="http://schemas.microsoft.com/office/drawing/2014/main" id="{0E2B63CD-210E-E2C0-916A-1614230AD396}"/>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AutoShape 373">
                <a:extLst>
                  <a:ext uri="{FF2B5EF4-FFF2-40B4-BE49-F238E27FC236}">
                    <a16:creationId xmlns:a16="http://schemas.microsoft.com/office/drawing/2014/main" id="{0EA2D194-BF0A-D514-0248-21E309BC232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AutoShape 374">
                <a:extLst>
                  <a:ext uri="{FF2B5EF4-FFF2-40B4-BE49-F238E27FC236}">
                    <a16:creationId xmlns:a16="http://schemas.microsoft.com/office/drawing/2014/main" id="{01CFFC84-D249-42A4-0868-1F16BBB69E4F}"/>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3" name="Group 375">
                <a:extLst>
                  <a:ext uri="{FF2B5EF4-FFF2-40B4-BE49-F238E27FC236}">
                    <a16:creationId xmlns:a16="http://schemas.microsoft.com/office/drawing/2014/main" id="{08443143-3AE8-3E53-46FC-51E32F1E3D63}"/>
                  </a:ext>
                </a:extLst>
              </p:cNvPr>
              <p:cNvGrpSpPr>
                <a:grpSpLocks/>
              </p:cNvGrpSpPr>
              <p:nvPr/>
            </p:nvGrpSpPr>
            <p:grpSpPr bwMode="auto">
              <a:xfrm>
                <a:off x="752" y="2965"/>
                <a:ext cx="216" cy="299"/>
                <a:chOff x="576" y="1200"/>
                <a:chExt cx="240" cy="336"/>
              </a:xfrm>
            </p:grpSpPr>
            <p:sp>
              <p:nvSpPr>
                <p:cNvPr id="79" name="Rectangle 376">
                  <a:extLst>
                    <a:ext uri="{FF2B5EF4-FFF2-40B4-BE49-F238E27FC236}">
                      <a16:creationId xmlns:a16="http://schemas.microsoft.com/office/drawing/2014/main" id="{43EA79DB-7CCA-56B9-45B0-A3C294AD857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Line 377">
                  <a:extLst>
                    <a:ext uri="{FF2B5EF4-FFF2-40B4-BE49-F238E27FC236}">
                      <a16:creationId xmlns:a16="http://schemas.microsoft.com/office/drawing/2014/main" id="{8AD1AAC2-837B-84BE-5CAB-19E8B7FD62F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1" name="Line 378">
                  <a:extLst>
                    <a:ext uri="{FF2B5EF4-FFF2-40B4-BE49-F238E27FC236}">
                      <a16:creationId xmlns:a16="http://schemas.microsoft.com/office/drawing/2014/main" id="{4474308A-B07A-07CB-2E8D-7CC136CFD7DB}"/>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74" name="AutoShape 379">
                <a:extLst>
                  <a:ext uri="{FF2B5EF4-FFF2-40B4-BE49-F238E27FC236}">
                    <a16:creationId xmlns:a16="http://schemas.microsoft.com/office/drawing/2014/main" id="{7F7FC35B-070F-9B26-FF94-DE9B03E41D05}"/>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5" name="Group 380">
                <a:extLst>
                  <a:ext uri="{FF2B5EF4-FFF2-40B4-BE49-F238E27FC236}">
                    <a16:creationId xmlns:a16="http://schemas.microsoft.com/office/drawing/2014/main" id="{D38034DA-19B4-CC7E-E100-FC5D46E99028}"/>
                  </a:ext>
                </a:extLst>
              </p:cNvPr>
              <p:cNvGrpSpPr>
                <a:grpSpLocks/>
              </p:cNvGrpSpPr>
              <p:nvPr/>
            </p:nvGrpSpPr>
            <p:grpSpPr bwMode="auto">
              <a:xfrm>
                <a:off x="808" y="2802"/>
                <a:ext cx="140" cy="57"/>
                <a:chOff x="1440" y="1520"/>
                <a:chExt cx="156" cy="64"/>
              </a:xfrm>
            </p:grpSpPr>
            <p:sp>
              <p:nvSpPr>
                <p:cNvPr id="76" name="Line 381">
                  <a:extLst>
                    <a:ext uri="{FF2B5EF4-FFF2-40B4-BE49-F238E27FC236}">
                      <a16:creationId xmlns:a16="http://schemas.microsoft.com/office/drawing/2014/main" id="{4512140B-B294-F8CA-A5EF-4030C876984A}"/>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77" name="Line 382">
                  <a:extLst>
                    <a:ext uri="{FF2B5EF4-FFF2-40B4-BE49-F238E27FC236}">
                      <a16:creationId xmlns:a16="http://schemas.microsoft.com/office/drawing/2014/main" id="{4A5598C2-C33F-372A-1F16-4199F2810A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78" name="AutoShape 383">
                  <a:extLst>
                    <a:ext uri="{FF2B5EF4-FFF2-40B4-BE49-F238E27FC236}">
                      <a16:creationId xmlns:a16="http://schemas.microsoft.com/office/drawing/2014/main" id="{568844CC-6799-1637-E790-404870CD9255}"/>
                    </a:ext>
                  </a:extLst>
                </p:cNvPr>
                <p:cNvCxnSpPr>
                  <a:cxnSpLocks noChangeShapeType="1"/>
                  <a:stCxn id="76" idx="1"/>
                  <a:endCxn id="7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82" name="Group 384">
              <a:extLst>
                <a:ext uri="{FF2B5EF4-FFF2-40B4-BE49-F238E27FC236}">
                  <a16:creationId xmlns:a16="http://schemas.microsoft.com/office/drawing/2014/main" id="{ACD10A0E-EF20-B684-B022-67994266539A}"/>
                </a:ext>
              </a:extLst>
            </p:cNvPr>
            <p:cNvGrpSpPr>
              <a:grpSpLocks/>
            </p:cNvGrpSpPr>
            <p:nvPr/>
          </p:nvGrpSpPr>
          <p:grpSpPr bwMode="auto">
            <a:xfrm>
              <a:off x="5054600" y="4254500"/>
              <a:ext cx="342900" cy="812800"/>
              <a:chOff x="752" y="2752"/>
              <a:chExt cx="216" cy="512"/>
            </a:xfrm>
          </p:grpSpPr>
          <p:sp>
            <p:nvSpPr>
              <p:cNvPr id="87" name="AutoShape 385">
                <a:extLst>
                  <a:ext uri="{FF2B5EF4-FFF2-40B4-BE49-F238E27FC236}">
                    <a16:creationId xmlns:a16="http://schemas.microsoft.com/office/drawing/2014/main" id="{B5F17247-ADD9-A0A9-BAC5-F562B78200E9}"/>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AutoShape 386">
                <a:extLst>
                  <a:ext uri="{FF2B5EF4-FFF2-40B4-BE49-F238E27FC236}">
                    <a16:creationId xmlns:a16="http://schemas.microsoft.com/office/drawing/2014/main" id="{5DFB1314-37BD-D6BD-77EB-5BFDAB6A1AD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AutoShape 387">
                <a:extLst>
                  <a:ext uri="{FF2B5EF4-FFF2-40B4-BE49-F238E27FC236}">
                    <a16:creationId xmlns:a16="http://schemas.microsoft.com/office/drawing/2014/main" id="{7606F6ED-C007-B174-D8C0-48A5A5937B66}"/>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3" name="Group 388">
                <a:extLst>
                  <a:ext uri="{FF2B5EF4-FFF2-40B4-BE49-F238E27FC236}">
                    <a16:creationId xmlns:a16="http://schemas.microsoft.com/office/drawing/2014/main" id="{811501AF-3A26-EB9C-EDB0-905207BF6410}"/>
                  </a:ext>
                </a:extLst>
              </p:cNvPr>
              <p:cNvGrpSpPr>
                <a:grpSpLocks/>
              </p:cNvGrpSpPr>
              <p:nvPr/>
            </p:nvGrpSpPr>
            <p:grpSpPr bwMode="auto">
              <a:xfrm>
                <a:off x="752" y="2965"/>
                <a:ext cx="216" cy="299"/>
                <a:chOff x="576" y="1200"/>
                <a:chExt cx="240" cy="336"/>
              </a:xfrm>
            </p:grpSpPr>
            <p:sp>
              <p:nvSpPr>
                <p:cNvPr id="99" name="Rectangle 389">
                  <a:extLst>
                    <a:ext uri="{FF2B5EF4-FFF2-40B4-BE49-F238E27FC236}">
                      <a16:creationId xmlns:a16="http://schemas.microsoft.com/office/drawing/2014/main" id="{5F1423F6-E136-201C-A135-9F69C772E8B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0" name="Line 390">
                  <a:extLst>
                    <a:ext uri="{FF2B5EF4-FFF2-40B4-BE49-F238E27FC236}">
                      <a16:creationId xmlns:a16="http://schemas.microsoft.com/office/drawing/2014/main" id="{8FBB2AB2-5647-D651-DEB5-0B547E4F9A7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01" name="Line 391">
                  <a:extLst>
                    <a:ext uri="{FF2B5EF4-FFF2-40B4-BE49-F238E27FC236}">
                      <a16:creationId xmlns:a16="http://schemas.microsoft.com/office/drawing/2014/main" id="{3A3342DC-520E-FA47-E849-6A2924CAAC85}"/>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94" name="AutoShape 392">
                <a:extLst>
                  <a:ext uri="{FF2B5EF4-FFF2-40B4-BE49-F238E27FC236}">
                    <a16:creationId xmlns:a16="http://schemas.microsoft.com/office/drawing/2014/main" id="{FDA40B80-ABCD-7BB8-9FE7-59F8ED3C6DF9}"/>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5" name="Group 393">
                <a:extLst>
                  <a:ext uri="{FF2B5EF4-FFF2-40B4-BE49-F238E27FC236}">
                    <a16:creationId xmlns:a16="http://schemas.microsoft.com/office/drawing/2014/main" id="{B983536F-9921-1769-8E44-7E2C84DE907F}"/>
                  </a:ext>
                </a:extLst>
              </p:cNvPr>
              <p:cNvGrpSpPr>
                <a:grpSpLocks/>
              </p:cNvGrpSpPr>
              <p:nvPr/>
            </p:nvGrpSpPr>
            <p:grpSpPr bwMode="auto">
              <a:xfrm>
                <a:off x="808" y="2802"/>
                <a:ext cx="140" cy="57"/>
                <a:chOff x="1440" y="1520"/>
                <a:chExt cx="156" cy="64"/>
              </a:xfrm>
            </p:grpSpPr>
            <p:sp>
              <p:nvSpPr>
                <p:cNvPr id="96" name="Line 394">
                  <a:extLst>
                    <a:ext uri="{FF2B5EF4-FFF2-40B4-BE49-F238E27FC236}">
                      <a16:creationId xmlns:a16="http://schemas.microsoft.com/office/drawing/2014/main" id="{6F92AE12-451D-4427-A940-3735B054D18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7" name="Line 395">
                  <a:extLst>
                    <a:ext uri="{FF2B5EF4-FFF2-40B4-BE49-F238E27FC236}">
                      <a16:creationId xmlns:a16="http://schemas.microsoft.com/office/drawing/2014/main" id="{ACEA96C6-6763-D815-141B-BF2FFCF3E3A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98" name="AutoShape 396">
                  <a:extLst>
                    <a:ext uri="{FF2B5EF4-FFF2-40B4-BE49-F238E27FC236}">
                      <a16:creationId xmlns:a16="http://schemas.microsoft.com/office/drawing/2014/main" id="{64A86919-74E9-17CC-CB73-81668F269E02}"/>
                    </a:ext>
                  </a:extLst>
                </p:cNvPr>
                <p:cNvCxnSpPr>
                  <a:cxnSpLocks noChangeShapeType="1"/>
                  <a:stCxn id="96" idx="1"/>
                  <a:endCxn id="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102" name="Group 397">
              <a:extLst>
                <a:ext uri="{FF2B5EF4-FFF2-40B4-BE49-F238E27FC236}">
                  <a16:creationId xmlns:a16="http://schemas.microsoft.com/office/drawing/2014/main" id="{9C51CC71-DF4F-AE3B-9FEB-2F74ADC7C971}"/>
                </a:ext>
              </a:extLst>
            </p:cNvPr>
            <p:cNvGrpSpPr>
              <a:grpSpLocks/>
            </p:cNvGrpSpPr>
            <p:nvPr/>
          </p:nvGrpSpPr>
          <p:grpSpPr bwMode="auto">
            <a:xfrm>
              <a:off x="6464300" y="4254500"/>
              <a:ext cx="342900" cy="812800"/>
              <a:chOff x="752" y="2752"/>
              <a:chExt cx="216" cy="512"/>
            </a:xfrm>
          </p:grpSpPr>
          <p:sp>
            <p:nvSpPr>
              <p:cNvPr id="103" name="AutoShape 398">
                <a:extLst>
                  <a:ext uri="{FF2B5EF4-FFF2-40B4-BE49-F238E27FC236}">
                    <a16:creationId xmlns:a16="http://schemas.microsoft.com/office/drawing/2014/main" id="{B58AE451-B597-437E-4F9B-F4831617143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4" name="AutoShape 399">
                <a:extLst>
                  <a:ext uri="{FF2B5EF4-FFF2-40B4-BE49-F238E27FC236}">
                    <a16:creationId xmlns:a16="http://schemas.microsoft.com/office/drawing/2014/main" id="{801B6E5A-DE3E-618F-FFF3-C1EB048A7DB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5" name="AutoShape 400">
                <a:extLst>
                  <a:ext uri="{FF2B5EF4-FFF2-40B4-BE49-F238E27FC236}">
                    <a16:creationId xmlns:a16="http://schemas.microsoft.com/office/drawing/2014/main" id="{9AC34646-3775-62A5-AB1B-3A57A099ABEC}"/>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6" name="Group 401">
                <a:extLst>
                  <a:ext uri="{FF2B5EF4-FFF2-40B4-BE49-F238E27FC236}">
                    <a16:creationId xmlns:a16="http://schemas.microsoft.com/office/drawing/2014/main" id="{4933A5B3-7DBE-DFC9-2917-F358CA451EFB}"/>
                  </a:ext>
                </a:extLst>
              </p:cNvPr>
              <p:cNvGrpSpPr>
                <a:grpSpLocks/>
              </p:cNvGrpSpPr>
              <p:nvPr/>
            </p:nvGrpSpPr>
            <p:grpSpPr bwMode="auto">
              <a:xfrm>
                <a:off x="752" y="2965"/>
                <a:ext cx="216" cy="299"/>
                <a:chOff x="576" y="1200"/>
                <a:chExt cx="240" cy="336"/>
              </a:xfrm>
            </p:grpSpPr>
            <p:sp>
              <p:nvSpPr>
                <p:cNvPr id="112" name="Rectangle 402">
                  <a:extLst>
                    <a:ext uri="{FF2B5EF4-FFF2-40B4-BE49-F238E27FC236}">
                      <a16:creationId xmlns:a16="http://schemas.microsoft.com/office/drawing/2014/main" id="{11B1AB4F-4E49-3785-33CF-158A141E1FC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3" name="Line 403">
                  <a:extLst>
                    <a:ext uri="{FF2B5EF4-FFF2-40B4-BE49-F238E27FC236}">
                      <a16:creationId xmlns:a16="http://schemas.microsoft.com/office/drawing/2014/main" id="{2062D1C6-082A-1807-BF13-28650A6C5F7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4" name="Line 404">
                  <a:extLst>
                    <a:ext uri="{FF2B5EF4-FFF2-40B4-BE49-F238E27FC236}">
                      <a16:creationId xmlns:a16="http://schemas.microsoft.com/office/drawing/2014/main" id="{9ED00180-649D-7649-D48A-26DC9ADFF8B7}"/>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107" name="AutoShape 405">
                <a:extLst>
                  <a:ext uri="{FF2B5EF4-FFF2-40B4-BE49-F238E27FC236}">
                    <a16:creationId xmlns:a16="http://schemas.microsoft.com/office/drawing/2014/main" id="{D86FCA37-049E-E6CD-5361-D9122B9AC33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8" name="Group 406">
                <a:extLst>
                  <a:ext uri="{FF2B5EF4-FFF2-40B4-BE49-F238E27FC236}">
                    <a16:creationId xmlns:a16="http://schemas.microsoft.com/office/drawing/2014/main" id="{267E0B05-9B86-7248-853A-B81EE3E36D19}"/>
                  </a:ext>
                </a:extLst>
              </p:cNvPr>
              <p:cNvGrpSpPr>
                <a:grpSpLocks/>
              </p:cNvGrpSpPr>
              <p:nvPr/>
            </p:nvGrpSpPr>
            <p:grpSpPr bwMode="auto">
              <a:xfrm>
                <a:off x="808" y="2802"/>
                <a:ext cx="140" cy="57"/>
                <a:chOff x="1440" y="1520"/>
                <a:chExt cx="156" cy="64"/>
              </a:xfrm>
            </p:grpSpPr>
            <p:sp>
              <p:nvSpPr>
                <p:cNvPr id="109" name="Line 407">
                  <a:extLst>
                    <a:ext uri="{FF2B5EF4-FFF2-40B4-BE49-F238E27FC236}">
                      <a16:creationId xmlns:a16="http://schemas.microsoft.com/office/drawing/2014/main" id="{D9DB0A16-7702-6B11-F551-F89759C67A81}"/>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0" name="Line 408">
                  <a:extLst>
                    <a:ext uri="{FF2B5EF4-FFF2-40B4-BE49-F238E27FC236}">
                      <a16:creationId xmlns:a16="http://schemas.microsoft.com/office/drawing/2014/main" id="{FD60D744-72A5-D098-B098-A07A7815FBE3}"/>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11" name="AutoShape 409">
                  <a:extLst>
                    <a:ext uri="{FF2B5EF4-FFF2-40B4-BE49-F238E27FC236}">
                      <a16:creationId xmlns:a16="http://schemas.microsoft.com/office/drawing/2014/main" id="{26772D7D-B1FD-F699-018E-15BBB158D7BF}"/>
                    </a:ext>
                  </a:extLst>
                </p:cNvPr>
                <p:cNvCxnSpPr>
                  <a:cxnSpLocks noChangeShapeType="1"/>
                  <a:stCxn id="109" idx="1"/>
                  <a:endCxn id="110"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115" name="Rectangle 410">
              <a:extLst>
                <a:ext uri="{FF2B5EF4-FFF2-40B4-BE49-F238E27FC236}">
                  <a16:creationId xmlns:a16="http://schemas.microsoft.com/office/drawing/2014/main" id="{E34CD691-9802-CEB2-8EAF-50FD36FD67D0}"/>
                </a:ext>
              </a:extLst>
            </p:cNvPr>
            <p:cNvSpPr>
              <a:spLocks noChangeArrowheads="1"/>
            </p:cNvSpPr>
            <p:nvPr/>
          </p:nvSpPr>
          <p:spPr bwMode="auto">
            <a:xfrm>
              <a:off x="304800" y="3235325"/>
              <a:ext cx="914400" cy="5334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6" name="Text Box 411">
              <a:extLst>
                <a:ext uri="{FF2B5EF4-FFF2-40B4-BE49-F238E27FC236}">
                  <a16:creationId xmlns:a16="http://schemas.microsoft.com/office/drawing/2014/main" id="{0E61A396-BCC6-19A2-5E81-A6A6B90ED84D}"/>
                </a:ext>
              </a:extLst>
            </p:cNvPr>
            <p:cNvSpPr txBox="1">
              <a:spLocks noChangeArrowheads="1"/>
            </p:cNvSpPr>
            <p:nvPr/>
          </p:nvSpPr>
          <p:spPr bwMode="auto">
            <a:xfrm>
              <a:off x="333375" y="3235325"/>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Focus Groups</a:t>
              </a:r>
            </a:p>
          </p:txBody>
        </p:sp>
        <p:cxnSp>
          <p:nvCxnSpPr>
            <p:cNvPr id="117" name="AutoShape 412">
              <a:extLst>
                <a:ext uri="{FF2B5EF4-FFF2-40B4-BE49-F238E27FC236}">
                  <a16:creationId xmlns:a16="http://schemas.microsoft.com/office/drawing/2014/main" id="{41F8B554-C856-461D-EA22-F828948BE69B}"/>
                </a:ext>
              </a:extLst>
            </p:cNvPr>
            <p:cNvCxnSpPr>
              <a:cxnSpLocks noChangeShapeType="1"/>
              <a:stCxn id="115" idx="2"/>
              <a:endCxn id="121" idx="1"/>
            </p:cNvCxnSpPr>
            <p:nvPr/>
          </p:nvCxnSpPr>
          <p:spPr bwMode="auto">
            <a:xfrm rot="16200000" flipH="1">
              <a:off x="634206" y="3896519"/>
              <a:ext cx="620713" cy="3651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18" name="Rectangle 414">
              <a:extLst>
                <a:ext uri="{FF2B5EF4-FFF2-40B4-BE49-F238E27FC236}">
                  <a16:creationId xmlns:a16="http://schemas.microsoft.com/office/drawing/2014/main" id="{B483A293-FCC7-8BEE-006C-CC2D4746AAE5}"/>
                </a:ext>
              </a:extLst>
            </p:cNvPr>
            <p:cNvSpPr>
              <a:spLocks noChangeArrowheads="1"/>
            </p:cNvSpPr>
            <p:nvPr/>
          </p:nvSpPr>
          <p:spPr bwMode="auto">
            <a:xfrm>
              <a:off x="3989388" y="193198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9" name="Rectangle 415">
              <a:extLst>
                <a:ext uri="{FF2B5EF4-FFF2-40B4-BE49-F238E27FC236}">
                  <a16:creationId xmlns:a16="http://schemas.microsoft.com/office/drawing/2014/main" id="{6BC50CA8-B497-66A3-21A8-E1DBF2A7CAF1}"/>
                </a:ext>
              </a:extLst>
            </p:cNvPr>
            <p:cNvSpPr>
              <a:spLocks noChangeArrowheads="1"/>
            </p:cNvSpPr>
            <p:nvPr/>
          </p:nvSpPr>
          <p:spPr bwMode="auto">
            <a:xfrm>
              <a:off x="54800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0" name="Rectangle 416">
              <a:extLst>
                <a:ext uri="{FF2B5EF4-FFF2-40B4-BE49-F238E27FC236}">
                  <a16:creationId xmlns:a16="http://schemas.microsoft.com/office/drawing/2014/main" id="{BACD6047-30D9-656D-574D-13FBC02F69FF}"/>
                </a:ext>
              </a:extLst>
            </p:cNvPr>
            <p:cNvSpPr>
              <a:spLocks noChangeArrowheads="1"/>
            </p:cNvSpPr>
            <p:nvPr/>
          </p:nvSpPr>
          <p:spPr bwMode="auto">
            <a:xfrm>
              <a:off x="40354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1" name="Rectangle 417">
              <a:extLst>
                <a:ext uri="{FF2B5EF4-FFF2-40B4-BE49-F238E27FC236}">
                  <a16:creationId xmlns:a16="http://schemas.microsoft.com/office/drawing/2014/main" id="{59EF5F2A-9A3A-89C5-703A-710CB17C0F1D}"/>
                </a:ext>
              </a:extLst>
            </p:cNvPr>
            <p:cNvSpPr>
              <a:spLocks noChangeArrowheads="1"/>
            </p:cNvSpPr>
            <p:nvPr/>
          </p:nvSpPr>
          <p:spPr bwMode="auto">
            <a:xfrm>
              <a:off x="11271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2" name="Text Box 418">
              <a:extLst>
                <a:ext uri="{FF2B5EF4-FFF2-40B4-BE49-F238E27FC236}">
                  <a16:creationId xmlns:a16="http://schemas.microsoft.com/office/drawing/2014/main" id="{26B86C03-3F99-D635-9B4E-45D755FC1CBE}"/>
                </a:ext>
              </a:extLst>
            </p:cNvPr>
            <p:cNvSpPr txBox="1">
              <a:spLocks noChangeArrowheads="1"/>
            </p:cNvSpPr>
            <p:nvPr/>
          </p:nvSpPr>
          <p:spPr bwMode="auto">
            <a:xfrm>
              <a:off x="4111625"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123" name="Text Box 419">
              <a:extLst>
                <a:ext uri="{FF2B5EF4-FFF2-40B4-BE49-F238E27FC236}">
                  <a16:creationId xmlns:a16="http://schemas.microsoft.com/office/drawing/2014/main" id="{6252BB30-28B0-F763-081C-CE235F2FEE18}"/>
                </a:ext>
              </a:extLst>
            </p:cNvPr>
            <p:cNvSpPr txBox="1">
              <a:spLocks noChangeArrowheads="1"/>
            </p:cNvSpPr>
            <p:nvPr/>
          </p:nvSpPr>
          <p:spPr bwMode="auto">
            <a:xfrm>
              <a:off x="5556250"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124" name="Text Box 420">
              <a:extLst>
                <a:ext uri="{FF2B5EF4-FFF2-40B4-BE49-F238E27FC236}">
                  <a16:creationId xmlns:a16="http://schemas.microsoft.com/office/drawing/2014/main" id="{1CAA0B64-F80A-B5E3-DA76-10002EE94DDA}"/>
                </a:ext>
              </a:extLst>
            </p:cNvPr>
            <p:cNvSpPr txBox="1">
              <a:spLocks noChangeArrowheads="1"/>
            </p:cNvSpPr>
            <p:nvPr/>
          </p:nvSpPr>
          <p:spPr bwMode="auto">
            <a:xfrm>
              <a:off x="1168400" y="41989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125" name="Rectangle 421">
              <a:extLst>
                <a:ext uri="{FF2B5EF4-FFF2-40B4-BE49-F238E27FC236}">
                  <a16:creationId xmlns:a16="http://schemas.microsoft.com/office/drawing/2014/main" id="{31BF14E5-5509-D154-76A5-1D1416B81F4A}"/>
                </a:ext>
              </a:extLst>
            </p:cNvPr>
            <p:cNvSpPr>
              <a:spLocks noChangeArrowheads="1"/>
            </p:cNvSpPr>
            <p:nvPr/>
          </p:nvSpPr>
          <p:spPr bwMode="auto">
            <a:xfrm>
              <a:off x="263207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6" name="Text Box 422">
              <a:extLst>
                <a:ext uri="{FF2B5EF4-FFF2-40B4-BE49-F238E27FC236}">
                  <a16:creationId xmlns:a16="http://schemas.microsoft.com/office/drawing/2014/main" id="{C9F9AAD7-0B2D-C623-7D89-92F048133A2C}"/>
                </a:ext>
              </a:extLst>
            </p:cNvPr>
            <p:cNvSpPr txBox="1">
              <a:spLocks noChangeArrowheads="1"/>
            </p:cNvSpPr>
            <p:nvPr/>
          </p:nvSpPr>
          <p:spPr bwMode="auto">
            <a:xfrm>
              <a:off x="2673350" y="41989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127" name="Rectangle 434">
              <a:extLst>
                <a:ext uri="{FF2B5EF4-FFF2-40B4-BE49-F238E27FC236}">
                  <a16:creationId xmlns:a16="http://schemas.microsoft.com/office/drawing/2014/main" id="{0DF02F32-2ACF-A770-B9BC-18FB11F2DFD4}"/>
                </a:ext>
              </a:extLst>
            </p:cNvPr>
            <p:cNvSpPr>
              <a:spLocks noChangeArrowheads="1"/>
            </p:cNvSpPr>
            <p:nvPr/>
          </p:nvSpPr>
          <p:spPr bwMode="auto">
            <a:xfrm>
              <a:off x="69024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8" name="Text Box 435">
              <a:extLst>
                <a:ext uri="{FF2B5EF4-FFF2-40B4-BE49-F238E27FC236}">
                  <a16:creationId xmlns:a16="http://schemas.microsoft.com/office/drawing/2014/main" id="{016309E8-9FA6-CB74-906B-C675CC3FE168}"/>
                </a:ext>
              </a:extLst>
            </p:cNvPr>
            <p:cNvSpPr txBox="1">
              <a:spLocks noChangeArrowheads="1"/>
            </p:cNvSpPr>
            <p:nvPr/>
          </p:nvSpPr>
          <p:spPr bwMode="auto">
            <a:xfrm>
              <a:off x="6943725" y="41989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129" name="Rectangle 436">
              <a:extLst>
                <a:ext uri="{FF2B5EF4-FFF2-40B4-BE49-F238E27FC236}">
                  <a16:creationId xmlns:a16="http://schemas.microsoft.com/office/drawing/2014/main" id="{5FAD9B19-835A-DCDE-9CFE-977A1DEEBC8D}"/>
                </a:ext>
              </a:extLst>
            </p:cNvPr>
            <p:cNvSpPr>
              <a:spLocks noChangeArrowheads="1"/>
            </p:cNvSpPr>
            <p:nvPr/>
          </p:nvSpPr>
          <p:spPr bwMode="auto">
            <a:xfrm>
              <a:off x="6878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0" name="Text Box 437">
              <a:extLst>
                <a:ext uri="{FF2B5EF4-FFF2-40B4-BE49-F238E27FC236}">
                  <a16:creationId xmlns:a16="http://schemas.microsoft.com/office/drawing/2014/main" id="{0DDC2108-1AD2-ED7C-FCBC-A6AA38425690}"/>
                </a:ext>
              </a:extLst>
            </p:cNvPr>
            <p:cNvSpPr txBox="1">
              <a:spLocks noChangeArrowheads="1"/>
            </p:cNvSpPr>
            <p:nvPr/>
          </p:nvSpPr>
          <p:spPr bwMode="auto">
            <a:xfrm>
              <a:off x="4025421" y="2047493"/>
              <a:ext cx="847725" cy="4036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dirty="0">
                  <a:latin typeface="Roboto" panose="02000000000000000000" pitchFamily="2" charset="0"/>
                  <a:ea typeface="Roboto" panose="02000000000000000000" pitchFamily="2" charset="0"/>
                </a:rPr>
                <a:t>Product Steering Committee</a:t>
              </a:r>
            </a:p>
          </p:txBody>
        </p:sp>
        <p:sp>
          <p:nvSpPr>
            <p:cNvPr id="131" name="Rectangle 438">
              <a:extLst>
                <a:ext uri="{FF2B5EF4-FFF2-40B4-BE49-F238E27FC236}">
                  <a16:creationId xmlns:a16="http://schemas.microsoft.com/office/drawing/2014/main" id="{F0D047E0-94CF-0B00-2B80-3E2195DC8E05}"/>
                </a:ext>
              </a:extLst>
            </p:cNvPr>
            <p:cNvSpPr>
              <a:spLocks noChangeArrowheads="1"/>
            </p:cNvSpPr>
            <p:nvPr/>
          </p:nvSpPr>
          <p:spPr bwMode="auto">
            <a:xfrm>
              <a:off x="40338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2" name="Text Box 439">
              <a:extLst>
                <a:ext uri="{FF2B5EF4-FFF2-40B4-BE49-F238E27FC236}">
                  <a16:creationId xmlns:a16="http://schemas.microsoft.com/office/drawing/2014/main" id="{8B054C71-013C-A841-D5B8-B798723376D7}"/>
                </a:ext>
              </a:extLst>
            </p:cNvPr>
            <p:cNvSpPr txBox="1">
              <a:spLocks noChangeArrowheads="1"/>
            </p:cNvSpPr>
            <p:nvPr/>
          </p:nvSpPr>
          <p:spPr bwMode="auto">
            <a:xfrm>
              <a:off x="40671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CAD</a:t>
              </a:r>
            </a:p>
          </p:txBody>
        </p:sp>
        <p:sp>
          <p:nvSpPr>
            <p:cNvPr id="133" name="Rectangle 440">
              <a:extLst>
                <a:ext uri="{FF2B5EF4-FFF2-40B4-BE49-F238E27FC236}">
                  <a16:creationId xmlns:a16="http://schemas.microsoft.com/office/drawing/2014/main" id="{800E07FA-5F5E-2F27-F17B-BFA5CFADCF92}"/>
                </a:ext>
              </a:extLst>
            </p:cNvPr>
            <p:cNvSpPr>
              <a:spLocks noChangeArrowheads="1"/>
            </p:cNvSpPr>
            <p:nvPr/>
          </p:nvSpPr>
          <p:spPr bwMode="auto">
            <a:xfrm>
              <a:off x="5481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34" name="Group 443">
              <a:extLst>
                <a:ext uri="{FF2B5EF4-FFF2-40B4-BE49-F238E27FC236}">
                  <a16:creationId xmlns:a16="http://schemas.microsoft.com/office/drawing/2014/main" id="{D2E2BF3E-D844-DA4D-A579-B528B999A3BD}"/>
                </a:ext>
              </a:extLst>
            </p:cNvPr>
            <p:cNvGrpSpPr>
              <a:grpSpLocks/>
            </p:cNvGrpSpPr>
            <p:nvPr/>
          </p:nvGrpSpPr>
          <p:grpSpPr bwMode="auto">
            <a:xfrm rot="-3656265">
              <a:off x="5691982" y="3696494"/>
              <a:ext cx="565150" cy="230187"/>
              <a:chOff x="636" y="2054"/>
              <a:chExt cx="200" cy="298"/>
            </a:xfrm>
          </p:grpSpPr>
          <p:sp>
            <p:nvSpPr>
              <p:cNvPr id="135" name="Line 444">
                <a:extLst>
                  <a:ext uri="{FF2B5EF4-FFF2-40B4-BE49-F238E27FC236}">
                    <a16:creationId xmlns:a16="http://schemas.microsoft.com/office/drawing/2014/main" id="{8D49208C-87BD-4763-4523-F932DC80E6B9}"/>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6" name="Line 445">
                <a:extLst>
                  <a:ext uri="{FF2B5EF4-FFF2-40B4-BE49-F238E27FC236}">
                    <a16:creationId xmlns:a16="http://schemas.microsoft.com/office/drawing/2014/main" id="{E171642C-AAC9-D96E-20EE-0652C994A96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7" name="Line 446">
                <a:extLst>
                  <a:ext uri="{FF2B5EF4-FFF2-40B4-BE49-F238E27FC236}">
                    <a16:creationId xmlns:a16="http://schemas.microsoft.com/office/drawing/2014/main" id="{D66AB749-B1ED-4034-5827-27224FCED3DD}"/>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8" name="Group 447">
              <a:extLst>
                <a:ext uri="{FF2B5EF4-FFF2-40B4-BE49-F238E27FC236}">
                  <a16:creationId xmlns:a16="http://schemas.microsoft.com/office/drawing/2014/main" id="{CDDABD42-0149-3FE6-01E4-5CF6FB929830}"/>
                </a:ext>
              </a:extLst>
            </p:cNvPr>
            <p:cNvGrpSpPr>
              <a:grpSpLocks/>
            </p:cNvGrpSpPr>
            <p:nvPr/>
          </p:nvGrpSpPr>
          <p:grpSpPr bwMode="auto">
            <a:xfrm rot="-3656265">
              <a:off x="7043738" y="3692525"/>
              <a:ext cx="547688" cy="223837"/>
              <a:chOff x="636" y="2054"/>
              <a:chExt cx="200" cy="298"/>
            </a:xfrm>
          </p:grpSpPr>
          <p:sp>
            <p:nvSpPr>
              <p:cNvPr id="139" name="Line 448">
                <a:extLst>
                  <a:ext uri="{FF2B5EF4-FFF2-40B4-BE49-F238E27FC236}">
                    <a16:creationId xmlns:a16="http://schemas.microsoft.com/office/drawing/2014/main" id="{B3EB1738-537D-09EE-D059-EA245697AC03}"/>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0" name="Line 449">
                <a:extLst>
                  <a:ext uri="{FF2B5EF4-FFF2-40B4-BE49-F238E27FC236}">
                    <a16:creationId xmlns:a16="http://schemas.microsoft.com/office/drawing/2014/main" id="{7AF35794-A71B-4412-9225-29C452DA3BF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1" name="Line 450">
                <a:extLst>
                  <a:ext uri="{FF2B5EF4-FFF2-40B4-BE49-F238E27FC236}">
                    <a16:creationId xmlns:a16="http://schemas.microsoft.com/office/drawing/2014/main" id="{C0B1CD2B-8340-A22D-42CB-9129C5A824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42" name="Group 451">
              <a:extLst>
                <a:ext uri="{FF2B5EF4-FFF2-40B4-BE49-F238E27FC236}">
                  <a16:creationId xmlns:a16="http://schemas.microsoft.com/office/drawing/2014/main" id="{F5570AC8-1C1B-3D08-80B6-B51818A95AD2}"/>
                </a:ext>
              </a:extLst>
            </p:cNvPr>
            <p:cNvGrpSpPr>
              <a:grpSpLocks/>
            </p:cNvGrpSpPr>
            <p:nvPr/>
          </p:nvGrpSpPr>
          <p:grpSpPr bwMode="auto">
            <a:xfrm rot="-3656265">
              <a:off x="4228306" y="3682207"/>
              <a:ext cx="534987" cy="228600"/>
              <a:chOff x="636" y="2054"/>
              <a:chExt cx="200" cy="298"/>
            </a:xfrm>
          </p:grpSpPr>
          <p:sp>
            <p:nvSpPr>
              <p:cNvPr id="143" name="Line 452">
                <a:extLst>
                  <a:ext uri="{FF2B5EF4-FFF2-40B4-BE49-F238E27FC236}">
                    <a16:creationId xmlns:a16="http://schemas.microsoft.com/office/drawing/2014/main" id="{FA93BAE3-5239-6803-FC47-111B4049DD4F}"/>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4" name="Line 453">
                <a:extLst>
                  <a:ext uri="{FF2B5EF4-FFF2-40B4-BE49-F238E27FC236}">
                    <a16:creationId xmlns:a16="http://schemas.microsoft.com/office/drawing/2014/main" id="{D837E1B7-D91F-8B47-C79D-DC67D469C17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5" name="Line 454">
                <a:extLst>
                  <a:ext uri="{FF2B5EF4-FFF2-40B4-BE49-F238E27FC236}">
                    <a16:creationId xmlns:a16="http://schemas.microsoft.com/office/drawing/2014/main" id="{FF8737D0-569C-3BEF-7110-473692621346}"/>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46" name="Text Box 455">
              <a:extLst>
                <a:ext uri="{FF2B5EF4-FFF2-40B4-BE49-F238E27FC236}">
                  <a16:creationId xmlns:a16="http://schemas.microsoft.com/office/drawing/2014/main" id="{28C579C0-17CA-1610-0088-8AF087CBBE3E}"/>
                </a:ext>
              </a:extLst>
            </p:cNvPr>
            <p:cNvSpPr txBox="1">
              <a:spLocks noChangeArrowheads="1"/>
            </p:cNvSpPr>
            <p:nvPr/>
          </p:nvSpPr>
          <p:spPr bwMode="auto">
            <a:xfrm>
              <a:off x="55149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CNC Cell</a:t>
              </a:r>
            </a:p>
          </p:txBody>
        </p:sp>
        <p:sp>
          <p:nvSpPr>
            <p:cNvPr id="147" name="Text Box 456">
              <a:extLst>
                <a:ext uri="{FF2B5EF4-FFF2-40B4-BE49-F238E27FC236}">
                  <a16:creationId xmlns:a16="http://schemas.microsoft.com/office/drawing/2014/main" id="{D328BB3C-C7C0-F150-932D-477EAECBAE39}"/>
                </a:ext>
              </a:extLst>
            </p:cNvPr>
            <p:cNvSpPr txBox="1">
              <a:spLocks noChangeArrowheads="1"/>
            </p:cNvSpPr>
            <p:nvPr/>
          </p:nvSpPr>
          <p:spPr bwMode="auto">
            <a:xfrm>
              <a:off x="6907213" y="3060700"/>
              <a:ext cx="847725"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Golf Courses</a:t>
              </a:r>
            </a:p>
          </p:txBody>
        </p:sp>
        <p:cxnSp>
          <p:nvCxnSpPr>
            <p:cNvPr id="148" name="AutoShape 457">
              <a:extLst>
                <a:ext uri="{FF2B5EF4-FFF2-40B4-BE49-F238E27FC236}">
                  <a16:creationId xmlns:a16="http://schemas.microsoft.com/office/drawing/2014/main" id="{762ACF86-CC3E-93FE-BEEA-3BCB36ED7123}"/>
                </a:ext>
              </a:extLst>
            </p:cNvPr>
            <p:cNvCxnSpPr>
              <a:cxnSpLocks noChangeShapeType="1"/>
              <a:endCxn id="116" idx="0"/>
            </p:cNvCxnSpPr>
            <p:nvPr/>
          </p:nvCxnSpPr>
          <p:spPr bwMode="auto">
            <a:xfrm flipH="1">
              <a:off x="757238" y="1822450"/>
              <a:ext cx="11112" cy="1412875"/>
            </a:xfrm>
            <a:prstGeom prst="straightConnector1">
              <a:avLst/>
            </a:prstGeom>
            <a:noFill/>
            <a:ln w="5715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9" name="Rectangle 459">
              <a:extLst>
                <a:ext uri="{FF2B5EF4-FFF2-40B4-BE49-F238E27FC236}">
                  <a16:creationId xmlns:a16="http://schemas.microsoft.com/office/drawing/2014/main" id="{7F618D27-6254-B2D8-1524-DE673094984F}"/>
                </a:ext>
              </a:extLst>
            </p:cNvPr>
            <p:cNvSpPr>
              <a:spLocks noChangeArrowheads="1"/>
            </p:cNvSpPr>
            <p:nvPr/>
          </p:nvSpPr>
          <p:spPr bwMode="auto">
            <a:xfrm>
              <a:off x="26225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0" name="Rectangle 460">
              <a:extLst>
                <a:ext uri="{FF2B5EF4-FFF2-40B4-BE49-F238E27FC236}">
                  <a16:creationId xmlns:a16="http://schemas.microsoft.com/office/drawing/2014/main" id="{FE2CF0F0-AA6E-CA48-372C-BBFD9C09CD19}"/>
                </a:ext>
              </a:extLst>
            </p:cNvPr>
            <p:cNvSpPr>
              <a:spLocks noChangeArrowheads="1"/>
            </p:cNvSpPr>
            <p:nvPr/>
          </p:nvSpPr>
          <p:spPr bwMode="auto">
            <a:xfrm>
              <a:off x="25590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1" name="Rectangle 461">
              <a:extLst>
                <a:ext uri="{FF2B5EF4-FFF2-40B4-BE49-F238E27FC236}">
                  <a16:creationId xmlns:a16="http://schemas.microsoft.com/office/drawing/2014/main" id="{11B6D195-6F90-9E59-1F23-CC5B2661D4E8}"/>
                </a:ext>
              </a:extLst>
            </p:cNvPr>
            <p:cNvSpPr>
              <a:spLocks noChangeArrowheads="1"/>
            </p:cNvSpPr>
            <p:nvPr/>
          </p:nvSpPr>
          <p:spPr bwMode="auto">
            <a:xfrm>
              <a:off x="40386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2" name="Rectangle 462">
              <a:extLst>
                <a:ext uri="{FF2B5EF4-FFF2-40B4-BE49-F238E27FC236}">
                  <a16:creationId xmlns:a16="http://schemas.microsoft.com/office/drawing/2014/main" id="{A6079AB1-B991-A3DD-D6FC-F514C597F04B}"/>
                </a:ext>
              </a:extLst>
            </p:cNvPr>
            <p:cNvSpPr>
              <a:spLocks noChangeArrowheads="1"/>
            </p:cNvSpPr>
            <p:nvPr/>
          </p:nvSpPr>
          <p:spPr bwMode="auto">
            <a:xfrm>
              <a:off x="3981450" y="4725988"/>
              <a:ext cx="10366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3" name="Rectangle 463">
              <a:extLst>
                <a:ext uri="{FF2B5EF4-FFF2-40B4-BE49-F238E27FC236}">
                  <a16:creationId xmlns:a16="http://schemas.microsoft.com/office/drawing/2014/main" id="{13714CC8-8936-CE4C-9E99-9D2A220ECF48}"/>
                </a:ext>
              </a:extLst>
            </p:cNvPr>
            <p:cNvSpPr>
              <a:spLocks noChangeArrowheads="1"/>
            </p:cNvSpPr>
            <p:nvPr/>
          </p:nvSpPr>
          <p:spPr bwMode="auto">
            <a:xfrm>
              <a:off x="54927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4" name="Rectangle 464">
              <a:extLst>
                <a:ext uri="{FF2B5EF4-FFF2-40B4-BE49-F238E27FC236}">
                  <a16:creationId xmlns:a16="http://schemas.microsoft.com/office/drawing/2014/main" id="{9456AE25-4AC3-0710-0BB5-592749A3253E}"/>
                </a:ext>
              </a:extLst>
            </p:cNvPr>
            <p:cNvSpPr>
              <a:spLocks noChangeArrowheads="1"/>
            </p:cNvSpPr>
            <p:nvPr/>
          </p:nvSpPr>
          <p:spPr bwMode="auto">
            <a:xfrm>
              <a:off x="5435600" y="4725988"/>
              <a:ext cx="9699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5" name="Rectangle 465">
              <a:extLst>
                <a:ext uri="{FF2B5EF4-FFF2-40B4-BE49-F238E27FC236}">
                  <a16:creationId xmlns:a16="http://schemas.microsoft.com/office/drawing/2014/main" id="{01BFBCF1-0A29-2A92-A087-4887F5CC28A2}"/>
                </a:ext>
              </a:extLst>
            </p:cNvPr>
            <p:cNvSpPr>
              <a:spLocks noChangeArrowheads="1"/>
            </p:cNvSpPr>
            <p:nvPr/>
          </p:nvSpPr>
          <p:spPr bwMode="auto">
            <a:xfrm>
              <a:off x="69088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6" name="Rectangle 466">
              <a:extLst>
                <a:ext uri="{FF2B5EF4-FFF2-40B4-BE49-F238E27FC236}">
                  <a16:creationId xmlns:a16="http://schemas.microsoft.com/office/drawing/2014/main" id="{7B0E8411-8F24-DD42-B59B-96DF9C3EB027}"/>
                </a:ext>
              </a:extLst>
            </p:cNvPr>
            <p:cNvSpPr>
              <a:spLocks noChangeArrowheads="1"/>
            </p:cNvSpPr>
            <p:nvPr/>
          </p:nvSpPr>
          <p:spPr bwMode="auto">
            <a:xfrm>
              <a:off x="685800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157" name="Rectangle 467">
              <a:extLst>
                <a:ext uri="{FF2B5EF4-FFF2-40B4-BE49-F238E27FC236}">
                  <a16:creationId xmlns:a16="http://schemas.microsoft.com/office/drawing/2014/main" id="{DF26FB61-D01F-AB26-71E6-A89CA17976F8}"/>
                </a:ext>
              </a:extLst>
            </p:cNvPr>
            <p:cNvSpPr>
              <a:spLocks noChangeArrowheads="1"/>
            </p:cNvSpPr>
            <p:nvPr/>
          </p:nvSpPr>
          <p:spPr bwMode="auto">
            <a:xfrm>
              <a:off x="1125538" y="47291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8" name="Rectangle 468">
              <a:extLst>
                <a:ext uri="{FF2B5EF4-FFF2-40B4-BE49-F238E27FC236}">
                  <a16:creationId xmlns:a16="http://schemas.microsoft.com/office/drawing/2014/main" id="{CCB6E510-13D7-E9F8-1EC8-800F43D1AA7A}"/>
                </a:ext>
              </a:extLst>
            </p:cNvPr>
            <p:cNvSpPr>
              <a:spLocks noChangeArrowheads="1"/>
            </p:cNvSpPr>
            <p:nvPr/>
          </p:nvSpPr>
          <p:spPr bwMode="auto">
            <a:xfrm>
              <a:off x="10604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cxnSp>
          <p:nvCxnSpPr>
            <p:cNvPr id="159" name="AutoShape 469">
              <a:extLst>
                <a:ext uri="{FF2B5EF4-FFF2-40B4-BE49-F238E27FC236}">
                  <a16:creationId xmlns:a16="http://schemas.microsoft.com/office/drawing/2014/main" id="{2F970247-FC0F-7C88-8AF4-A6286C864BDE}"/>
                </a:ext>
              </a:extLst>
            </p:cNvPr>
            <p:cNvCxnSpPr>
              <a:cxnSpLocks noChangeShapeType="1"/>
            </p:cNvCxnSpPr>
            <p:nvPr/>
          </p:nvCxnSpPr>
          <p:spPr bwMode="auto">
            <a:xfrm rot="16200000">
              <a:off x="1833562" y="1938338"/>
              <a:ext cx="1935163" cy="2433638"/>
            </a:xfrm>
            <a:prstGeom prst="bentConnector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60" name="AutoShape 470">
              <a:extLst>
                <a:ext uri="{FF2B5EF4-FFF2-40B4-BE49-F238E27FC236}">
                  <a16:creationId xmlns:a16="http://schemas.microsoft.com/office/drawing/2014/main" id="{47248A03-42C6-A579-3CCF-85B3AAF3B2B7}"/>
                </a:ext>
              </a:extLst>
            </p:cNvPr>
            <p:cNvCxnSpPr>
              <a:cxnSpLocks noChangeShapeType="1"/>
            </p:cNvCxnSpPr>
            <p:nvPr/>
          </p:nvCxnSpPr>
          <p:spPr bwMode="auto">
            <a:xfrm rot="5400000">
              <a:off x="2923381" y="2604294"/>
              <a:ext cx="1684338" cy="1352550"/>
            </a:xfrm>
            <a:prstGeom prst="bentConnector3">
              <a:avLst>
                <a:gd name="adj1" fmla="val 18190"/>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61" name="Rectangle 471">
              <a:extLst>
                <a:ext uri="{FF2B5EF4-FFF2-40B4-BE49-F238E27FC236}">
                  <a16:creationId xmlns:a16="http://schemas.microsoft.com/office/drawing/2014/main" id="{71F1E404-8BD9-A989-B88D-AC86C6F67A73}"/>
                </a:ext>
              </a:extLst>
            </p:cNvPr>
            <p:cNvSpPr>
              <a:spLocks noChangeArrowheads="1"/>
            </p:cNvSpPr>
            <p:nvPr/>
          </p:nvSpPr>
          <p:spPr bwMode="auto">
            <a:xfrm>
              <a:off x="1938338" y="2974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2" name="Text Box 472">
              <a:extLst>
                <a:ext uri="{FF2B5EF4-FFF2-40B4-BE49-F238E27FC236}">
                  <a16:creationId xmlns:a16="http://schemas.microsoft.com/office/drawing/2014/main" id="{B3F17DAE-2DC0-10CE-C9A0-38CFD1320AFE}"/>
                </a:ext>
              </a:extLst>
            </p:cNvPr>
            <p:cNvSpPr txBox="1">
              <a:spLocks noChangeArrowheads="1"/>
            </p:cNvSpPr>
            <p:nvPr/>
          </p:nvSpPr>
          <p:spPr bwMode="auto">
            <a:xfrm>
              <a:off x="19716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Workflow</a:t>
              </a:r>
            </a:p>
          </p:txBody>
        </p:sp>
        <p:grpSp>
          <p:nvGrpSpPr>
            <p:cNvPr id="163" name="Group 473">
              <a:extLst>
                <a:ext uri="{FF2B5EF4-FFF2-40B4-BE49-F238E27FC236}">
                  <a16:creationId xmlns:a16="http://schemas.microsoft.com/office/drawing/2014/main" id="{1664E740-9468-9B3F-840A-23EB0338181C}"/>
                </a:ext>
              </a:extLst>
            </p:cNvPr>
            <p:cNvGrpSpPr>
              <a:grpSpLocks/>
            </p:cNvGrpSpPr>
            <p:nvPr/>
          </p:nvGrpSpPr>
          <p:grpSpPr bwMode="auto">
            <a:xfrm>
              <a:off x="2049463" y="3517900"/>
              <a:ext cx="150812" cy="908050"/>
              <a:chOff x="1152" y="756"/>
              <a:chExt cx="92" cy="340"/>
            </a:xfrm>
          </p:grpSpPr>
          <p:sp>
            <p:nvSpPr>
              <p:cNvPr id="164" name="Line 474">
                <a:extLst>
                  <a:ext uri="{FF2B5EF4-FFF2-40B4-BE49-F238E27FC236}">
                    <a16:creationId xmlns:a16="http://schemas.microsoft.com/office/drawing/2014/main" id="{82097034-A192-FF19-3C51-2E25617F28F0}"/>
                  </a:ext>
                </a:extLst>
              </p:cNvPr>
              <p:cNvSpPr>
                <a:spLocks noChangeShapeType="1"/>
              </p:cNvSpPr>
              <p:nvPr/>
            </p:nvSpPr>
            <p:spPr bwMode="auto">
              <a:xfrm>
                <a:off x="1152" y="1096"/>
                <a:ext cx="5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5" name="Line 475">
                <a:extLst>
                  <a:ext uri="{FF2B5EF4-FFF2-40B4-BE49-F238E27FC236}">
                    <a16:creationId xmlns:a16="http://schemas.microsoft.com/office/drawing/2014/main" id="{61F91CFC-01DD-8A73-3DF5-2E4F9205109F}"/>
                  </a:ext>
                </a:extLst>
              </p:cNvPr>
              <p:cNvSpPr>
                <a:spLocks noChangeShapeType="1"/>
              </p:cNvSpPr>
              <p:nvPr/>
            </p:nvSpPr>
            <p:spPr bwMode="auto">
              <a:xfrm flipV="1">
                <a:off x="1244" y="756"/>
                <a:ext cx="0" cy="188"/>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6" name="Line 476">
                <a:extLst>
                  <a:ext uri="{FF2B5EF4-FFF2-40B4-BE49-F238E27FC236}">
                    <a16:creationId xmlns:a16="http://schemas.microsoft.com/office/drawing/2014/main" id="{74FE840E-3E79-E042-F1C0-9BEB20F074B4}"/>
                  </a:ext>
                </a:extLst>
              </p:cNvPr>
              <p:cNvSpPr>
                <a:spLocks noChangeShapeType="1"/>
              </p:cNvSpPr>
              <p:nvPr/>
            </p:nvSpPr>
            <p:spPr bwMode="auto">
              <a:xfrm flipV="1">
                <a:off x="1210" y="924"/>
                <a:ext cx="0" cy="17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67" name="AutoShape 477">
                <a:extLst>
                  <a:ext uri="{FF2B5EF4-FFF2-40B4-BE49-F238E27FC236}">
                    <a16:creationId xmlns:a16="http://schemas.microsoft.com/office/drawing/2014/main" id="{36202B84-9165-BB1F-3D6B-1922BB2EB6B8}"/>
                  </a:ext>
                </a:extLst>
              </p:cNvPr>
              <p:cNvCxnSpPr>
                <a:cxnSpLocks noChangeShapeType="1"/>
                <a:stCxn id="166" idx="1"/>
                <a:endCxn id="165" idx="0"/>
              </p:cNvCxnSpPr>
              <p:nvPr/>
            </p:nvCxnSpPr>
            <p:spPr bwMode="auto">
              <a:xfrm>
                <a:off x="1210" y="924"/>
                <a:ext cx="34" cy="2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68" name="Group 478">
              <a:extLst>
                <a:ext uri="{FF2B5EF4-FFF2-40B4-BE49-F238E27FC236}">
                  <a16:creationId xmlns:a16="http://schemas.microsoft.com/office/drawing/2014/main" id="{2332B3C8-446D-EAA9-46EA-C3724CC7D347}"/>
                </a:ext>
              </a:extLst>
            </p:cNvPr>
            <p:cNvGrpSpPr>
              <a:grpSpLocks/>
            </p:cNvGrpSpPr>
            <p:nvPr/>
          </p:nvGrpSpPr>
          <p:grpSpPr bwMode="auto">
            <a:xfrm>
              <a:off x="2851150" y="3344863"/>
              <a:ext cx="1181100" cy="1104900"/>
              <a:chOff x="1796" y="1947"/>
              <a:chExt cx="744" cy="696"/>
            </a:xfrm>
          </p:grpSpPr>
          <p:sp>
            <p:nvSpPr>
              <p:cNvPr id="169" name="Line 479">
                <a:extLst>
                  <a:ext uri="{FF2B5EF4-FFF2-40B4-BE49-F238E27FC236}">
                    <a16:creationId xmlns:a16="http://schemas.microsoft.com/office/drawing/2014/main" id="{F1DFF28D-E371-CB15-B72A-8CD5E1D5D941}"/>
                  </a:ext>
                </a:extLst>
              </p:cNvPr>
              <p:cNvSpPr>
                <a:spLocks noChangeShapeType="1"/>
              </p:cNvSpPr>
              <p:nvPr/>
            </p:nvSpPr>
            <p:spPr bwMode="auto">
              <a:xfrm>
                <a:off x="2393" y="2643"/>
                <a:ext cx="147"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0" name="Line 480">
                <a:extLst>
                  <a:ext uri="{FF2B5EF4-FFF2-40B4-BE49-F238E27FC236}">
                    <a16:creationId xmlns:a16="http://schemas.microsoft.com/office/drawing/2014/main" id="{F93E46BA-99AF-38D0-F25A-EB5B2896D43E}"/>
                  </a:ext>
                </a:extLst>
              </p:cNvPr>
              <p:cNvSpPr>
                <a:spLocks noChangeShapeType="1"/>
              </p:cNvSpPr>
              <p:nvPr/>
            </p:nvSpPr>
            <p:spPr bwMode="auto">
              <a:xfrm flipH="1" flipV="1">
                <a:off x="2360" y="1991"/>
                <a:ext cx="0" cy="36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1" name="Line 481">
                <a:extLst>
                  <a:ext uri="{FF2B5EF4-FFF2-40B4-BE49-F238E27FC236}">
                    <a16:creationId xmlns:a16="http://schemas.microsoft.com/office/drawing/2014/main" id="{3C76D320-B817-EC73-3EC7-2714386170EB}"/>
                  </a:ext>
                </a:extLst>
              </p:cNvPr>
              <p:cNvSpPr>
                <a:spLocks noChangeShapeType="1"/>
              </p:cNvSpPr>
              <p:nvPr/>
            </p:nvSpPr>
            <p:spPr bwMode="auto">
              <a:xfrm flipH="1" flipV="1">
                <a:off x="2391" y="2313"/>
                <a:ext cx="0" cy="33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2" name="AutoShape 482">
                <a:extLst>
                  <a:ext uri="{FF2B5EF4-FFF2-40B4-BE49-F238E27FC236}">
                    <a16:creationId xmlns:a16="http://schemas.microsoft.com/office/drawing/2014/main" id="{DDCBECB5-726D-82B5-0F1E-050F96271B8C}"/>
                  </a:ext>
                </a:extLst>
              </p:cNvPr>
              <p:cNvCxnSpPr>
                <a:cxnSpLocks noChangeShapeType="1"/>
                <a:stCxn id="171" idx="1"/>
                <a:endCxn id="170" idx="0"/>
              </p:cNvCxnSpPr>
              <p:nvPr/>
            </p:nvCxnSpPr>
            <p:spPr bwMode="auto">
              <a:xfrm flipH="1">
                <a:off x="2360" y="2314"/>
                <a:ext cx="31" cy="3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173" name="Group 483">
                <a:extLst>
                  <a:ext uri="{FF2B5EF4-FFF2-40B4-BE49-F238E27FC236}">
                    <a16:creationId xmlns:a16="http://schemas.microsoft.com/office/drawing/2014/main" id="{C05BAF4B-726E-94CC-98C7-52A3F840A65F}"/>
                  </a:ext>
                </a:extLst>
              </p:cNvPr>
              <p:cNvGrpSpPr>
                <a:grpSpLocks/>
              </p:cNvGrpSpPr>
              <p:nvPr/>
            </p:nvGrpSpPr>
            <p:grpSpPr bwMode="auto">
              <a:xfrm flipH="1">
                <a:off x="1796" y="1947"/>
                <a:ext cx="563" cy="45"/>
                <a:chOff x="2437" y="1862"/>
                <a:chExt cx="536" cy="49"/>
              </a:xfrm>
            </p:grpSpPr>
            <p:sp>
              <p:nvSpPr>
                <p:cNvPr id="174" name="Line 484">
                  <a:extLst>
                    <a:ext uri="{FF2B5EF4-FFF2-40B4-BE49-F238E27FC236}">
                      <a16:creationId xmlns:a16="http://schemas.microsoft.com/office/drawing/2014/main" id="{55E57816-4382-A544-BCD6-0781BFC58F2D}"/>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5" name="Line 485">
                  <a:extLst>
                    <a:ext uri="{FF2B5EF4-FFF2-40B4-BE49-F238E27FC236}">
                      <a16:creationId xmlns:a16="http://schemas.microsoft.com/office/drawing/2014/main" id="{D0B7A7F1-756E-5EEC-EBDE-C9CF4250AFDE}"/>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6" name="AutoShape 486">
                  <a:extLst>
                    <a:ext uri="{FF2B5EF4-FFF2-40B4-BE49-F238E27FC236}">
                      <a16:creationId xmlns:a16="http://schemas.microsoft.com/office/drawing/2014/main" id="{77343141-A3ED-A132-28DC-3BC1D2AF97CB}"/>
                    </a:ext>
                  </a:extLst>
                </p:cNvPr>
                <p:cNvCxnSpPr>
                  <a:cxnSpLocks noChangeShapeType="1"/>
                  <a:stCxn id="175" idx="1"/>
                  <a:endCxn id="174"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grpSp>
          <p:nvGrpSpPr>
            <p:cNvPr id="177" name="Group 487">
              <a:extLst>
                <a:ext uri="{FF2B5EF4-FFF2-40B4-BE49-F238E27FC236}">
                  <a16:creationId xmlns:a16="http://schemas.microsoft.com/office/drawing/2014/main" id="{497ADA45-E93A-C875-B93C-ADF01A04E2E4}"/>
                </a:ext>
              </a:extLst>
            </p:cNvPr>
            <p:cNvGrpSpPr>
              <a:grpSpLocks/>
            </p:cNvGrpSpPr>
            <p:nvPr/>
          </p:nvGrpSpPr>
          <p:grpSpPr bwMode="auto">
            <a:xfrm>
              <a:off x="2849563" y="3446463"/>
              <a:ext cx="850900" cy="979487"/>
              <a:chOff x="1795" y="1955"/>
              <a:chExt cx="536" cy="673"/>
            </a:xfrm>
          </p:grpSpPr>
          <p:sp>
            <p:nvSpPr>
              <p:cNvPr id="178" name="Line 488">
                <a:extLst>
                  <a:ext uri="{FF2B5EF4-FFF2-40B4-BE49-F238E27FC236}">
                    <a16:creationId xmlns:a16="http://schemas.microsoft.com/office/drawing/2014/main" id="{909BA521-4AB0-CBC9-7735-7511B68E37DF}"/>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9" name="Line 489">
                <a:extLst>
                  <a:ext uri="{FF2B5EF4-FFF2-40B4-BE49-F238E27FC236}">
                    <a16:creationId xmlns:a16="http://schemas.microsoft.com/office/drawing/2014/main" id="{ECB30EC4-64A5-929B-5FDE-5707B9C38661}"/>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0" name="Line 490">
                <a:extLst>
                  <a:ext uri="{FF2B5EF4-FFF2-40B4-BE49-F238E27FC236}">
                    <a16:creationId xmlns:a16="http://schemas.microsoft.com/office/drawing/2014/main" id="{876C61DD-AF7D-33C3-B87F-744DBDC03857}"/>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81" name="AutoShape 491">
                <a:extLst>
                  <a:ext uri="{FF2B5EF4-FFF2-40B4-BE49-F238E27FC236}">
                    <a16:creationId xmlns:a16="http://schemas.microsoft.com/office/drawing/2014/main" id="{9017B75D-4667-5B8F-308A-4D9D6629BCA9}"/>
                  </a:ext>
                </a:extLst>
              </p:cNvPr>
              <p:cNvCxnSpPr>
                <a:cxnSpLocks noChangeShapeType="1"/>
                <a:stCxn id="180" idx="1"/>
                <a:endCxn id="179"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82" name="Line 492">
                <a:extLst>
                  <a:ext uri="{FF2B5EF4-FFF2-40B4-BE49-F238E27FC236}">
                    <a16:creationId xmlns:a16="http://schemas.microsoft.com/office/drawing/2014/main" id="{8775B28E-7ABE-D594-AD68-028061C0F4CA}"/>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48" name="Line 493">
                <a:extLst>
                  <a:ext uri="{FF2B5EF4-FFF2-40B4-BE49-F238E27FC236}">
                    <a16:creationId xmlns:a16="http://schemas.microsoft.com/office/drawing/2014/main" id="{A18E8447-F92D-4255-3A12-25B808E9CCDD}"/>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49" name="AutoShape 494">
                <a:extLst>
                  <a:ext uri="{FF2B5EF4-FFF2-40B4-BE49-F238E27FC236}">
                    <a16:creationId xmlns:a16="http://schemas.microsoft.com/office/drawing/2014/main" id="{C9B22FFA-0434-32E7-EB24-278559C8912D}"/>
                  </a:ext>
                </a:extLst>
              </p:cNvPr>
              <p:cNvCxnSpPr>
                <a:cxnSpLocks noChangeShapeType="1"/>
                <a:stCxn id="348" idx="1"/>
                <a:endCxn id="182"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50" name="Group 495">
              <a:extLst>
                <a:ext uri="{FF2B5EF4-FFF2-40B4-BE49-F238E27FC236}">
                  <a16:creationId xmlns:a16="http://schemas.microsoft.com/office/drawing/2014/main" id="{F7057527-3312-B968-E986-4ABB1272407C}"/>
                </a:ext>
              </a:extLst>
            </p:cNvPr>
            <p:cNvGrpSpPr>
              <a:grpSpLocks/>
            </p:cNvGrpSpPr>
            <p:nvPr/>
          </p:nvGrpSpPr>
          <p:grpSpPr bwMode="auto">
            <a:xfrm>
              <a:off x="2862263" y="3186113"/>
              <a:ext cx="2609850" cy="1239837"/>
              <a:chOff x="1803" y="1847"/>
              <a:chExt cx="1644" cy="781"/>
            </a:xfrm>
          </p:grpSpPr>
          <p:grpSp>
            <p:nvGrpSpPr>
              <p:cNvPr id="351" name="Group 496">
                <a:extLst>
                  <a:ext uri="{FF2B5EF4-FFF2-40B4-BE49-F238E27FC236}">
                    <a16:creationId xmlns:a16="http://schemas.microsoft.com/office/drawing/2014/main" id="{2D03DDBB-F0B7-14C0-26E3-2F0857531492}"/>
                  </a:ext>
                </a:extLst>
              </p:cNvPr>
              <p:cNvGrpSpPr>
                <a:grpSpLocks/>
              </p:cNvGrpSpPr>
              <p:nvPr/>
            </p:nvGrpSpPr>
            <p:grpSpPr bwMode="auto">
              <a:xfrm>
                <a:off x="2525" y="2231"/>
                <a:ext cx="922" cy="397"/>
                <a:chOff x="1796" y="1862"/>
                <a:chExt cx="736" cy="766"/>
              </a:xfrm>
            </p:grpSpPr>
            <p:sp>
              <p:nvSpPr>
                <p:cNvPr id="353" name="Line 497">
                  <a:extLst>
                    <a:ext uri="{FF2B5EF4-FFF2-40B4-BE49-F238E27FC236}">
                      <a16:creationId xmlns:a16="http://schemas.microsoft.com/office/drawing/2014/main" id="{9264D76D-A1E8-B694-6C5D-FCD31C35F4B4}"/>
                    </a:ext>
                  </a:extLst>
                </p:cNvPr>
                <p:cNvSpPr>
                  <a:spLocks noChangeShapeType="1"/>
                </p:cNvSpPr>
                <p:nvPr/>
              </p:nvSpPr>
              <p:spPr bwMode="auto">
                <a:xfrm>
                  <a:off x="2474"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4" name="Line 498">
                  <a:extLst>
                    <a:ext uri="{FF2B5EF4-FFF2-40B4-BE49-F238E27FC236}">
                      <a16:creationId xmlns:a16="http://schemas.microsoft.com/office/drawing/2014/main" id="{9E9E939D-9476-036F-B498-01BBEA18B752}"/>
                    </a:ext>
                  </a:extLst>
                </p:cNvPr>
                <p:cNvSpPr>
                  <a:spLocks noChangeShapeType="1"/>
                </p:cNvSpPr>
                <p:nvPr/>
              </p:nvSpPr>
              <p:spPr bwMode="auto">
                <a:xfrm flipH="1" flipV="1">
                  <a:off x="2437" y="1910"/>
                  <a:ext cx="0" cy="39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5" name="Line 499">
                  <a:extLst>
                    <a:ext uri="{FF2B5EF4-FFF2-40B4-BE49-F238E27FC236}">
                      <a16:creationId xmlns:a16="http://schemas.microsoft.com/office/drawing/2014/main" id="{6BAA0DA2-FF12-02EB-208A-6B05538D1612}"/>
                    </a:ext>
                  </a:extLst>
                </p:cNvPr>
                <p:cNvSpPr>
                  <a:spLocks noChangeShapeType="1"/>
                </p:cNvSpPr>
                <p:nvPr/>
              </p:nvSpPr>
              <p:spPr bwMode="auto">
                <a:xfrm flipH="1" flipV="1">
                  <a:off x="2472" y="2265"/>
                  <a:ext cx="0" cy="36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56" name="AutoShape 500">
                  <a:extLst>
                    <a:ext uri="{FF2B5EF4-FFF2-40B4-BE49-F238E27FC236}">
                      <a16:creationId xmlns:a16="http://schemas.microsoft.com/office/drawing/2014/main" id="{1A40DB9A-A7BF-2C31-DBA8-D097FF7FA5C8}"/>
                    </a:ext>
                  </a:extLst>
                </p:cNvPr>
                <p:cNvCxnSpPr>
                  <a:cxnSpLocks noChangeShapeType="1"/>
                  <a:stCxn id="355" idx="1"/>
                  <a:endCxn id="354" idx="0"/>
                </p:cNvCxnSpPr>
                <p:nvPr/>
              </p:nvCxnSpPr>
              <p:spPr bwMode="auto">
                <a:xfrm flipH="1">
                  <a:off x="2437" y="2266"/>
                  <a:ext cx="35"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357" name="Group 501">
                  <a:extLst>
                    <a:ext uri="{FF2B5EF4-FFF2-40B4-BE49-F238E27FC236}">
                      <a16:creationId xmlns:a16="http://schemas.microsoft.com/office/drawing/2014/main" id="{C84A0D23-2349-9A4D-FA14-7990A4A8B1EB}"/>
                    </a:ext>
                  </a:extLst>
                </p:cNvPr>
                <p:cNvGrpSpPr>
                  <a:grpSpLocks/>
                </p:cNvGrpSpPr>
                <p:nvPr/>
              </p:nvGrpSpPr>
              <p:grpSpPr bwMode="auto">
                <a:xfrm flipH="1">
                  <a:off x="1796" y="1862"/>
                  <a:ext cx="640" cy="49"/>
                  <a:chOff x="2437" y="1862"/>
                  <a:chExt cx="536" cy="49"/>
                </a:xfrm>
              </p:grpSpPr>
              <p:sp>
                <p:nvSpPr>
                  <p:cNvPr id="358" name="Line 502">
                    <a:extLst>
                      <a:ext uri="{FF2B5EF4-FFF2-40B4-BE49-F238E27FC236}">
                        <a16:creationId xmlns:a16="http://schemas.microsoft.com/office/drawing/2014/main" id="{2C69DC76-1325-BE2E-A5CC-5A380E294905}"/>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9" name="Line 503">
                    <a:extLst>
                      <a:ext uri="{FF2B5EF4-FFF2-40B4-BE49-F238E27FC236}">
                        <a16:creationId xmlns:a16="http://schemas.microsoft.com/office/drawing/2014/main" id="{94A40C44-B2FD-FD73-3C5E-D516AF6448E3}"/>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0" name="AutoShape 504">
                    <a:extLst>
                      <a:ext uri="{FF2B5EF4-FFF2-40B4-BE49-F238E27FC236}">
                        <a16:creationId xmlns:a16="http://schemas.microsoft.com/office/drawing/2014/main" id="{51731B49-F907-9C7D-9CA8-CAF37B9A9DBF}"/>
                      </a:ext>
                    </a:extLst>
                  </p:cNvPr>
                  <p:cNvCxnSpPr>
                    <a:cxnSpLocks noChangeShapeType="1"/>
                    <a:stCxn id="359" idx="1"/>
                    <a:endCxn id="358"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cxnSp>
            <p:nvCxnSpPr>
              <p:cNvPr id="352" name="AutoShape 505">
                <a:extLst>
                  <a:ext uri="{FF2B5EF4-FFF2-40B4-BE49-F238E27FC236}">
                    <a16:creationId xmlns:a16="http://schemas.microsoft.com/office/drawing/2014/main" id="{9835E83B-CD30-AB53-9C1D-9F081EC7BF19}"/>
                  </a:ext>
                </a:extLst>
              </p:cNvPr>
              <p:cNvCxnSpPr>
                <a:cxnSpLocks noChangeShapeType="1"/>
                <a:stCxn id="358" idx="1"/>
              </p:cNvCxnSpPr>
              <p:nvPr/>
            </p:nvCxnSpPr>
            <p:spPr bwMode="auto">
              <a:xfrm rot="10800000">
                <a:off x="1803" y="1847"/>
                <a:ext cx="723" cy="385"/>
              </a:xfrm>
              <a:prstGeom prst="bentConnector3">
                <a:avLst>
                  <a:gd name="adj1" fmla="val 14657"/>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grpSp>
          <p:nvGrpSpPr>
            <p:cNvPr id="361" name="Group 506">
              <a:extLst>
                <a:ext uri="{FF2B5EF4-FFF2-40B4-BE49-F238E27FC236}">
                  <a16:creationId xmlns:a16="http://schemas.microsoft.com/office/drawing/2014/main" id="{5237458C-C709-E4E8-CD02-90A365B64D0C}"/>
                </a:ext>
              </a:extLst>
            </p:cNvPr>
            <p:cNvGrpSpPr>
              <a:grpSpLocks/>
            </p:cNvGrpSpPr>
            <p:nvPr/>
          </p:nvGrpSpPr>
          <p:grpSpPr bwMode="auto">
            <a:xfrm>
              <a:off x="2836863" y="3252788"/>
              <a:ext cx="2322512" cy="1179512"/>
              <a:chOff x="1787" y="1885"/>
              <a:chExt cx="1463" cy="743"/>
            </a:xfrm>
          </p:grpSpPr>
          <p:grpSp>
            <p:nvGrpSpPr>
              <p:cNvPr id="362" name="Group 507">
                <a:extLst>
                  <a:ext uri="{FF2B5EF4-FFF2-40B4-BE49-F238E27FC236}">
                    <a16:creationId xmlns:a16="http://schemas.microsoft.com/office/drawing/2014/main" id="{DCCA9C50-E4E4-93CA-1EDC-83DFF0CF686A}"/>
                  </a:ext>
                </a:extLst>
              </p:cNvPr>
              <p:cNvGrpSpPr>
                <a:grpSpLocks/>
              </p:cNvGrpSpPr>
              <p:nvPr/>
            </p:nvGrpSpPr>
            <p:grpSpPr bwMode="auto">
              <a:xfrm>
                <a:off x="2506" y="2288"/>
                <a:ext cx="744" cy="340"/>
                <a:chOff x="1795" y="1955"/>
                <a:chExt cx="536" cy="673"/>
              </a:xfrm>
            </p:grpSpPr>
            <p:sp>
              <p:nvSpPr>
                <p:cNvPr id="364" name="Line 508">
                  <a:extLst>
                    <a:ext uri="{FF2B5EF4-FFF2-40B4-BE49-F238E27FC236}">
                      <a16:creationId xmlns:a16="http://schemas.microsoft.com/office/drawing/2014/main" id="{626C6EF1-F7C4-90AA-5610-B4170B0A2779}"/>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5" name="Line 509">
                  <a:extLst>
                    <a:ext uri="{FF2B5EF4-FFF2-40B4-BE49-F238E27FC236}">
                      <a16:creationId xmlns:a16="http://schemas.microsoft.com/office/drawing/2014/main" id="{0B2ABD69-31A3-9B56-1FD3-8C970AB8AB8B}"/>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6" name="Line 510">
                  <a:extLst>
                    <a:ext uri="{FF2B5EF4-FFF2-40B4-BE49-F238E27FC236}">
                      <a16:creationId xmlns:a16="http://schemas.microsoft.com/office/drawing/2014/main" id="{3B33DB7E-8791-C798-0E0E-E7F3A446902D}"/>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7" name="AutoShape 511">
                  <a:extLst>
                    <a:ext uri="{FF2B5EF4-FFF2-40B4-BE49-F238E27FC236}">
                      <a16:creationId xmlns:a16="http://schemas.microsoft.com/office/drawing/2014/main" id="{8A500371-12CC-97C4-ED00-8B40CD45905F}"/>
                    </a:ext>
                  </a:extLst>
                </p:cNvPr>
                <p:cNvCxnSpPr>
                  <a:cxnSpLocks noChangeShapeType="1"/>
                  <a:stCxn id="366" idx="1"/>
                  <a:endCxn id="365"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68" name="Line 512">
                  <a:extLst>
                    <a:ext uri="{FF2B5EF4-FFF2-40B4-BE49-F238E27FC236}">
                      <a16:creationId xmlns:a16="http://schemas.microsoft.com/office/drawing/2014/main" id="{79556606-089B-D5BF-133D-9CA83A243383}"/>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9" name="Line 513">
                  <a:extLst>
                    <a:ext uri="{FF2B5EF4-FFF2-40B4-BE49-F238E27FC236}">
                      <a16:creationId xmlns:a16="http://schemas.microsoft.com/office/drawing/2014/main" id="{052B687A-4AF9-A5F3-0C35-DE69E6181EE7}"/>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0" name="AutoShape 514">
                  <a:extLst>
                    <a:ext uri="{FF2B5EF4-FFF2-40B4-BE49-F238E27FC236}">
                      <a16:creationId xmlns:a16="http://schemas.microsoft.com/office/drawing/2014/main" id="{91E3B3DC-277B-8FC2-27DA-8D95A6B9F819}"/>
                    </a:ext>
                  </a:extLst>
                </p:cNvPr>
                <p:cNvCxnSpPr>
                  <a:cxnSpLocks noChangeShapeType="1"/>
                  <a:stCxn id="369" idx="1"/>
                  <a:endCxn id="368"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63" name="AutoShape 515">
                <a:extLst>
                  <a:ext uri="{FF2B5EF4-FFF2-40B4-BE49-F238E27FC236}">
                    <a16:creationId xmlns:a16="http://schemas.microsoft.com/office/drawing/2014/main" id="{D4D209AB-CA9F-C2E2-AD75-9D9604AB243D}"/>
                  </a:ext>
                </a:extLst>
              </p:cNvPr>
              <p:cNvCxnSpPr>
                <a:cxnSpLocks noChangeShapeType="1"/>
                <a:stCxn id="368" idx="1"/>
              </p:cNvCxnSpPr>
              <p:nvPr/>
            </p:nvCxnSpPr>
            <p:spPr bwMode="auto">
              <a:xfrm rot="10800000">
                <a:off x="1787" y="1885"/>
                <a:ext cx="719" cy="403"/>
              </a:xfrm>
              <a:prstGeom prst="bentConnector3">
                <a:avLst>
                  <a:gd name="adj1" fmla="val 1501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371" name="Group 516">
              <a:extLst>
                <a:ext uri="{FF2B5EF4-FFF2-40B4-BE49-F238E27FC236}">
                  <a16:creationId xmlns:a16="http://schemas.microsoft.com/office/drawing/2014/main" id="{DE48C746-79C4-E229-1039-E372C6C7DE66}"/>
                </a:ext>
              </a:extLst>
            </p:cNvPr>
            <p:cNvGrpSpPr>
              <a:grpSpLocks/>
            </p:cNvGrpSpPr>
            <p:nvPr/>
          </p:nvGrpSpPr>
          <p:grpSpPr bwMode="auto">
            <a:xfrm>
              <a:off x="2852738" y="2841625"/>
              <a:ext cx="3760787" cy="1590675"/>
              <a:chOff x="1797" y="1630"/>
              <a:chExt cx="2369" cy="1002"/>
            </a:xfrm>
          </p:grpSpPr>
          <p:sp>
            <p:nvSpPr>
              <p:cNvPr id="372" name="Line 517">
                <a:extLst>
                  <a:ext uri="{FF2B5EF4-FFF2-40B4-BE49-F238E27FC236}">
                    <a16:creationId xmlns:a16="http://schemas.microsoft.com/office/drawing/2014/main" id="{44E63953-D52E-1065-BC7A-B8472CDED278}"/>
                  </a:ext>
                </a:extLst>
              </p:cNvPr>
              <p:cNvSpPr>
                <a:spLocks noChangeShapeType="1"/>
              </p:cNvSpPr>
              <p:nvPr/>
            </p:nvSpPr>
            <p:spPr bwMode="auto">
              <a:xfrm>
                <a:off x="4030" y="2632"/>
                <a:ext cx="8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73" name="Line 518">
                <a:extLst>
                  <a:ext uri="{FF2B5EF4-FFF2-40B4-BE49-F238E27FC236}">
                    <a16:creationId xmlns:a16="http://schemas.microsoft.com/office/drawing/2014/main" id="{5AECA944-B83F-5844-9954-38C9B738DBDD}"/>
                  </a:ext>
                </a:extLst>
              </p:cNvPr>
              <p:cNvSpPr>
                <a:spLocks noChangeShapeType="1"/>
              </p:cNvSpPr>
              <p:nvPr/>
            </p:nvSpPr>
            <p:spPr bwMode="auto">
              <a:xfrm flipV="1">
                <a:off x="4116" y="2158"/>
                <a:ext cx="0" cy="47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4" name="AutoShape 519">
                <a:extLst>
                  <a:ext uri="{FF2B5EF4-FFF2-40B4-BE49-F238E27FC236}">
                    <a16:creationId xmlns:a16="http://schemas.microsoft.com/office/drawing/2014/main" id="{D3F20A94-B8E7-428D-9B70-AC0837356F50}"/>
                  </a:ext>
                </a:extLst>
              </p:cNvPr>
              <p:cNvCxnSpPr>
                <a:cxnSpLocks noChangeShapeType="1"/>
                <a:stCxn id="373" idx="1"/>
              </p:cNvCxnSpPr>
              <p:nvPr/>
            </p:nvCxnSpPr>
            <p:spPr bwMode="auto">
              <a:xfrm>
                <a:off x="4116" y="2158"/>
                <a:ext cx="50" cy="55"/>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75" name="Line 520">
                <a:extLst>
                  <a:ext uri="{FF2B5EF4-FFF2-40B4-BE49-F238E27FC236}">
                    <a16:creationId xmlns:a16="http://schemas.microsoft.com/office/drawing/2014/main" id="{C31EB912-32FE-05A7-A0C4-1D022F44EC09}"/>
                  </a:ext>
                </a:extLst>
              </p:cNvPr>
              <p:cNvSpPr>
                <a:spLocks noChangeShapeType="1"/>
              </p:cNvSpPr>
              <p:nvPr/>
            </p:nvSpPr>
            <p:spPr bwMode="auto">
              <a:xfrm rot="16200000" flipV="1">
                <a:off x="3938" y="1402"/>
                <a:ext cx="0" cy="45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6" name="AutoShape 521">
                <a:extLst>
                  <a:ext uri="{FF2B5EF4-FFF2-40B4-BE49-F238E27FC236}">
                    <a16:creationId xmlns:a16="http://schemas.microsoft.com/office/drawing/2014/main" id="{57D2C61D-6F5C-C169-6AA4-4AC1913F1993}"/>
                  </a:ext>
                </a:extLst>
              </p:cNvPr>
              <p:cNvCxnSpPr>
                <a:cxnSpLocks noChangeShapeType="1"/>
              </p:cNvCxnSpPr>
              <p:nvPr/>
            </p:nvCxnSpPr>
            <p:spPr bwMode="auto">
              <a:xfrm>
                <a:off x="3714" y="1630"/>
                <a:ext cx="132" cy="6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377" name="AutoShape 522">
                <a:extLst>
                  <a:ext uri="{FF2B5EF4-FFF2-40B4-BE49-F238E27FC236}">
                    <a16:creationId xmlns:a16="http://schemas.microsoft.com/office/drawing/2014/main" id="{60731266-AC3A-198C-95E8-D344A0A05B6E}"/>
                  </a:ext>
                </a:extLst>
              </p:cNvPr>
              <p:cNvCxnSpPr>
                <a:cxnSpLocks noChangeShapeType="1"/>
              </p:cNvCxnSpPr>
              <p:nvPr/>
            </p:nvCxnSpPr>
            <p:spPr bwMode="auto">
              <a:xfrm flipH="1">
                <a:off x="1797" y="1692"/>
                <a:ext cx="2055" cy="111"/>
              </a:xfrm>
              <a:prstGeom prst="bentConnector3">
                <a:avLst>
                  <a:gd name="adj1" fmla="val 8690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78" name="AutoShape 523">
                <a:extLst>
                  <a:ext uri="{FF2B5EF4-FFF2-40B4-BE49-F238E27FC236}">
                    <a16:creationId xmlns:a16="http://schemas.microsoft.com/office/drawing/2014/main" id="{9AE608FC-7A1E-147E-7EED-54272B1D3355}"/>
                  </a:ext>
                </a:extLst>
              </p:cNvPr>
              <p:cNvCxnSpPr>
                <a:cxnSpLocks noChangeShapeType="1"/>
                <a:endCxn id="375" idx="0"/>
              </p:cNvCxnSpPr>
              <p:nvPr/>
            </p:nvCxnSpPr>
            <p:spPr bwMode="auto">
              <a:xfrm flipV="1">
                <a:off x="4166" y="1630"/>
                <a:ext cx="0" cy="586"/>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79" name="Group 524">
              <a:extLst>
                <a:ext uri="{FF2B5EF4-FFF2-40B4-BE49-F238E27FC236}">
                  <a16:creationId xmlns:a16="http://schemas.microsoft.com/office/drawing/2014/main" id="{48906CCA-4B31-D73A-B549-08E33D58B937}"/>
                </a:ext>
              </a:extLst>
            </p:cNvPr>
            <p:cNvGrpSpPr>
              <a:grpSpLocks/>
            </p:cNvGrpSpPr>
            <p:nvPr/>
          </p:nvGrpSpPr>
          <p:grpSpPr bwMode="auto">
            <a:xfrm>
              <a:off x="2478088" y="3517900"/>
              <a:ext cx="150812" cy="908050"/>
              <a:chOff x="1561" y="2056"/>
              <a:chExt cx="95" cy="572"/>
            </a:xfrm>
          </p:grpSpPr>
          <p:sp>
            <p:nvSpPr>
              <p:cNvPr id="380" name="Line 525">
                <a:extLst>
                  <a:ext uri="{FF2B5EF4-FFF2-40B4-BE49-F238E27FC236}">
                    <a16:creationId xmlns:a16="http://schemas.microsoft.com/office/drawing/2014/main" id="{7011C5D0-CE17-A5C7-7DAD-8CD74A575208}"/>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1" name="Line 526">
                <a:extLst>
                  <a:ext uri="{FF2B5EF4-FFF2-40B4-BE49-F238E27FC236}">
                    <a16:creationId xmlns:a16="http://schemas.microsoft.com/office/drawing/2014/main" id="{221C1552-DC6A-3D32-D0AC-66229DA7862C}"/>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2" name="Line 527">
                <a:extLst>
                  <a:ext uri="{FF2B5EF4-FFF2-40B4-BE49-F238E27FC236}">
                    <a16:creationId xmlns:a16="http://schemas.microsoft.com/office/drawing/2014/main" id="{B2821A15-6286-40EB-6105-94D13A120CD5}"/>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83" name="AutoShape 528">
                <a:extLst>
                  <a:ext uri="{FF2B5EF4-FFF2-40B4-BE49-F238E27FC236}">
                    <a16:creationId xmlns:a16="http://schemas.microsoft.com/office/drawing/2014/main" id="{97263063-090E-16D2-33E7-C3CDC1547413}"/>
                  </a:ext>
                </a:extLst>
              </p:cNvPr>
              <p:cNvCxnSpPr>
                <a:cxnSpLocks noChangeShapeType="1"/>
                <a:stCxn id="382" idx="1"/>
                <a:endCxn id="381"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84" name="Group 529">
              <a:extLst>
                <a:ext uri="{FF2B5EF4-FFF2-40B4-BE49-F238E27FC236}">
                  <a16:creationId xmlns:a16="http://schemas.microsoft.com/office/drawing/2014/main" id="{7177C162-758F-0229-1857-62498C1D8901}"/>
                </a:ext>
              </a:extLst>
            </p:cNvPr>
            <p:cNvGrpSpPr>
              <a:grpSpLocks/>
            </p:cNvGrpSpPr>
            <p:nvPr/>
          </p:nvGrpSpPr>
          <p:grpSpPr bwMode="auto">
            <a:xfrm>
              <a:off x="2389188" y="2628900"/>
              <a:ext cx="4519612" cy="1790700"/>
              <a:chOff x="1505" y="1496"/>
              <a:chExt cx="2847" cy="1128"/>
            </a:xfrm>
          </p:grpSpPr>
          <p:grpSp>
            <p:nvGrpSpPr>
              <p:cNvPr id="385" name="Group 530">
                <a:extLst>
                  <a:ext uri="{FF2B5EF4-FFF2-40B4-BE49-F238E27FC236}">
                    <a16:creationId xmlns:a16="http://schemas.microsoft.com/office/drawing/2014/main" id="{CC99CAB1-92FC-88BC-3088-647C0EF59E77}"/>
                  </a:ext>
                </a:extLst>
              </p:cNvPr>
              <p:cNvGrpSpPr>
                <a:grpSpLocks/>
              </p:cNvGrpSpPr>
              <p:nvPr/>
            </p:nvGrpSpPr>
            <p:grpSpPr bwMode="auto">
              <a:xfrm>
                <a:off x="4257" y="1496"/>
                <a:ext cx="95" cy="1128"/>
                <a:chOff x="1561" y="2056"/>
                <a:chExt cx="95" cy="572"/>
              </a:xfrm>
            </p:grpSpPr>
            <p:sp>
              <p:nvSpPr>
                <p:cNvPr id="387" name="Line 531">
                  <a:extLst>
                    <a:ext uri="{FF2B5EF4-FFF2-40B4-BE49-F238E27FC236}">
                      <a16:creationId xmlns:a16="http://schemas.microsoft.com/office/drawing/2014/main" id="{61BAD1AE-486E-2DD7-422E-622E7381055F}"/>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8" name="Line 532">
                  <a:extLst>
                    <a:ext uri="{FF2B5EF4-FFF2-40B4-BE49-F238E27FC236}">
                      <a16:creationId xmlns:a16="http://schemas.microsoft.com/office/drawing/2014/main" id="{FB79F4E4-2C54-F310-1CFE-DBA9F0054DCE}"/>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9" name="Line 533">
                  <a:extLst>
                    <a:ext uri="{FF2B5EF4-FFF2-40B4-BE49-F238E27FC236}">
                      <a16:creationId xmlns:a16="http://schemas.microsoft.com/office/drawing/2014/main" id="{642DEA1C-450F-5C6D-786C-97AD3FB58F23}"/>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90" name="AutoShape 534">
                  <a:extLst>
                    <a:ext uri="{FF2B5EF4-FFF2-40B4-BE49-F238E27FC236}">
                      <a16:creationId xmlns:a16="http://schemas.microsoft.com/office/drawing/2014/main" id="{65931D6E-2611-BC8F-0075-747E54150F41}"/>
                    </a:ext>
                  </a:extLst>
                </p:cNvPr>
                <p:cNvCxnSpPr>
                  <a:cxnSpLocks noChangeShapeType="1"/>
                  <a:stCxn id="389" idx="1"/>
                  <a:endCxn id="388"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86" name="AutoShape 535">
                <a:extLst>
                  <a:ext uri="{FF2B5EF4-FFF2-40B4-BE49-F238E27FC236}">
                    <a16:creationId xmlns:a16="http://schemas.microsoft.com/office/drawing/2014/main" id="{002E6922-6541-5BF1-832B-47BBC4304CB0}"/>
                  </a:ext>
                </a:extLst>
              </p:cNvPr>
              <p:cNvCxnSpPr>
                <a:cxnSpLocks noChangeShapeType="1"/>
              </p:cNvCxnSpPr>
              <p:nvPr/>
            </p:nvCxnSpPr>
            <p:spPr bwMode="auto">
              <a:xfrm rot="-5400000">
                <a:off x="2770" y="232"/>
                <a:ext cx="217" cy="2748"/>
              </a:xfrm>
              <a:prstGeom prst="bentConnector3">
                <a:avLst>
                  <a:gd name="adj1" fmla="val 101380"/>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cxnSp>
          <p:nvCxnSpPr>
            <p:cNvPr id="391" name="AutoShape 547">
              <a:extLst>
                <a:ext uri="{FF2B5EF4-FFF2-40B4-BE49-F238E27FC236}">
                  <a16:creationId xmlns:a16="http://schemas.microsoft.com/office/drawing/2014/main" id="{43FB12B4-71E7-1FAE-DF85-FEAE16003461}"/>
                </a:ext>
              </a:extLst>
            </p:cNvPr>
            <p:cNvCxnSpPr>
              <a:cxnSpLocks noChangeShapeType="1"/>
            </p:cNvCxnSpPr>
            <p:nvPr/>
          </p:nvCxnSpPr>
          <p:spPr bwMode="auto">
            <a:xfrm flipH="1" flipV="1">
              <a:off x="4941888" y="2365375"/>
              <a:ext cx="2874962" cy="2024063"/>
            </a:xfrm>
            <a:prstGeom prst="bentConnector3">
              <a:avLst>
                <a:gd name="adj1" fmla="val -7954"/>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92" name="AutoShape 548">
              <a:extLst>
                <a:ext uri="{FF2B5EF4-FFF2-40B4-BE49-F238E27FC236}">
                  <a16:creationId xmlns:a16="http://schemas.microsoft.com/office/drawing/2014/main" id="{F4FCA704-5160-DB8C-5821-2C1301C95B4B}"/>
                </a:ext>
              </a:extLst>
            </p:cNvPr>
            <p:cNvCxnSpPr>
              <a:cxnSpLocks noChangeShapeType="1"/>
            </p:cNvCxnSpPr>
            <p:nvPr/>
          </p:nvCxnSpPr>
          <p:spPr bwMode="auto">
            <a:xfrm flipV="1">
              <a:off x="4903788" y="1816100"/>
              <a:ext cx="3128962" cy="382588"/>
            </a:xfrm>
            <a:prstGeom prst="bentConnector2">
              <a:avLst/>
            </a:prstGeom>
            <a:noFill/>
            <a:ln w="5715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93" name="Group 550">
              <a:extLst>
                <a:ext uri="{FF2B5EF4-FFF2-40B4-BE49-F238E27FC236}">
                  <a16:creationId xmlns:a16="http://schemas.microsoft.com/office/drawing/2014/main" id="{8340B40B-41CD-B1F8-26AF-7221817AC680}"/>
                </a:ext>
              </a:extLst>
            </p:cNvPr>
            <p:cNvGrpSpPr>
              <a:grpSpLocks/>
            </p:cNvGrpSpPr>
            <p:nvPr/>
          </p:nvGrpSpPr>
          <p:grpSpPr bwMode="auto">
            <a:xfrm>
              <a:off x="8135938" y="1644650"/>
              <a:ext cx="533400" cy="679450"/>
              <a:chOff x="2880" y="1152"/>
              <a:chExt cx="720" cy="1008"/>
            </a:xfrm>
          </p:grpSpPr>
          <p:sp>
            <p:nvSpPr>
              <p:cNvPr id="394" name="Rectangle 551">
                <a:extLst>
                  <a:ext uri="{FF2B5EF4-FFF2-40B4-BE49-F238E27FC236}">
                    <a16:creationId xmlns:a16="http://schemas.microsoft.com/office/drawing/2014/main" id="{A88423AF-BFB7-087F-C171-14D810795455}"/>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5" name="Rectangle 552">
                <a:extLst>
                  <a:ext uri="{FF2B5EF4-FFF2-40B4-BE49-F238E27FC236}">
                    <a16:creationId xmlns:a16="http://schemas.microsoft.com/office/drawing/2014/main" id="{62453C36-CC38-BF2E-48B6-C727C7DB8BEE}"/>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6" name="Rectangle 553">
                <a:extLst>
                  <a:ext uri="{FF2B5EF4-FFF2-40B4-BE49-F238E27FC236}">
                    <a16:creationId xmlns:a16="http://schemas.microsoft.com/office/drawing/2014/main" id="{70FDF2AC-7CD1-3E82-11A1-427C73AB438F}"/>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7" name="Rectangle 554">
                <a:extLst>
                  <a:ext uri="{FF2B5EF4-FFF2-40B4-BE49-F238E27FC236}">
                    <a16:creationId xmlns:a16="http://schemas.microsoft.com/office/drawing/2014/main" id="{38D825E9-6417-C3C9-977B-80D90F50932A}"/>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8" name="Rectangle 555">
                <a:extLst>
                  <a:ext uri="{FF2B5EF4-FFF2-40B4-BE49-F238E27FC236}">
                    <a16:creationId xmlns:a16="http://schemas.microsoft.com/office/drawing/2014/main" id="{3ADD3345-2D4A-4B26-5319-18D041E106CF}"/>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9" name="Rectangle 556">
                <a:extLst>
                  <a:ext uri="{FF2B5EF4-FFF2-40B4-BE49-F238E27FC236}">
                    <a16:creationId xmlns:a16="http://schemas.microsoft.com/office/drawing/2014/main" id="{C6F9A883-CC11-9D2F-55CA-63B122B625D8}"/>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0" name="Rectangle 557">
                <a:extLst>
                  <a:ext uri="{FF2B5EF4-FFF2-40B4-BE49-F238E27FC236}">
                    <a16:creationId xmlns:a16="http://schemas.microsoft.com/office/drawing/2014/main" id="{4DDCDEFF-9926-424D-B3D9-CE9A88CE76FE}"/>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1" name="Rectangle 558">
                <a:extLst>
                  <a:ext uri="{FF2B5EF4-FFF2-40B4-BE49-F238E27FC236}">
                    <a16:creationId xmlns:a16="http://schemas.microsoft.com/office/drawing/2014/main" id="{C9225C16-0D1B-0104-7C55-05BF8D8EFE89}"/>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2" name="Rectangle 559">
                <a:extLst>
                  <a:ext uri="{FF2B5EF4-FFF2-40B4-BE49-F238E27FC236}">
                    <a16:creationId xmlns:a16="http://schemas.microsoft.com/office/drawing/2014/main" id="{B28A5253-5E20-9B8B-A449-2F3FF8245CDD}"/>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3" name="Rectangle 560">
                <a:extLst>
                  <a:ext uri="{FF2B5EF4-FFF2-40B4-BE49-F238E27FC236}">
                    <a16:creationId xmlns:a16="http://schemas.microsoft.com/office/drawing/2014/main" id="{1CDE7C44-7E7C-25B4-5729-AD164ED7623C}"/>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4" name="Rectangle 561">
                <a:extLst>
                  <a:ext uri="{FF2B5EF4-FFF2-40B4-BE49-F238E27FC236}">
                    <a16:creationId xmlns:a16="http://schemas.microsoft.com/office/drawing/2014/main" id="{B5A3FB4A-852B-640C-7B37-D772F8CA36BC}"/>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5" name="Rectangle 562">
                <a:extLst>
                  <a:ext uri="{FF2B5EF4-FFF2-40B4-BE49-F238E27FC236}">
                    <a16:creationId xmlns:a16="http://schemas.microsoft.com/office/drawing/2014/main" id="{2046AF28-8D3A-5C4D-B9C3-89392D566ECA}"/>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6" name="Rectangle 563">
                <a:extLst>
                  <a:ext uri="{FF2B5EF4-FFF2-40B4-BE49-F238E27FC236}">
                    <a16:creationId xmlns:a16="http://schemas.microsoft.com/office/drawing/2014/main" id="{B5FC0DF4-E10C-2010-7F7A-752C27252BA8}"/>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7" name="Rectangle 564">
                <a:extLst>
                  <a:ext uri="{FF2B5EF4-FFF2-40B4-BE49-F238E27FC236}">
                    <a16:creationId xmlns:a16="http://schemas.microsoft.com/office/drawing/2014/main" id="{1B02F56B-88D8-1133-C760-8C42BF6ECEE7}"/>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8" name="Rectangle 565">
                <a:extLst>
                  <a:ext uri="{FF2B5EF4-FFF2-40B4-BE49-F238E27FC236}">
                    <a16:creationId xmlns:a16="http://schemas.microsoft.com/office/drawing/2014/main" id="{3F06FCB1-34B4-9BCE-E012-2213025F89EB}"/>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9" name="Rectangle 566">
                <a:extLst>
                  <a:ext uri="{FF2B5EF4-FFF2-40B4-BE49-F238E27FC236}">
                    <a16:creationId xmlns:a16="http://schemas.microsoft.com/office/drawing/2014/main" id="{AFAE6320-6292-2AA0-26F8-A9D81A047435}"/>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0" name="Rectangle 567">
                <a:extLst>
                  <a:ext uri="{FF2B5EF4-FFF2-40B4-BE49-F238E27FC236}">
                    <a16:creationId xmlns:a16="http://schemas.microsoft.com/office/drawing/2014/main" id="{202B0D18-9479-20AB-5A19-7A5E63DC3FCE}"/>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1" name="Rectangle 568">
                <a:extLst>
                  <a:ext uri="{FF2B5EF4-FFF2-40B4-BE49-F238E27FC236}">
                    <a16:creationId xmlns:a16="http://schemas.microsoft.com/office/drawing/2014/main" id="{B69766B6-9881-C8CD-48C7-7CF5E9C73F83}"/>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2" name="Rectangle 569">
                <a:extLst>
                  <a:ext uri="{FF2B5EF4-FFF2-40B4-BE49-F238E27FC236}">
                    <a16:creationId xmlns:a16="http://schemas.microsoft.com/office/drawing/2014/main" id="{CED94BA1-12B5-A4BE-09DF-F3CABC7DCCDA}"/>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3" name="Rectangle 570">
                <a:extLst>
                  <a:ext uri="{FF2B5EF4-FFF2-40B4-BE49-F238E27FC236}">
                    <a16:creationId xmlns:a16="http://schemas.microsoft.com/office/drawing/2014/main" id="{22DEE369-22AA-6507-E48C-33EA3AC0E3A9}"/>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4" name="Rectangle 571">
                <a:extLst>
                  <a:ext uri="{FF2B5EF4-FFF2-40B4-BE49-F238E27FC236}">
                    <a16:creationId xmlns:a16="http://schemas.microsoft.com/office/drawing/2014/main" id="{CBCA12A9-B41E-F95D-0134-DD737E8DE4AD}"/>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5" name="Rectangle 572">
                <a:extLst>
                  <a:ext uri="{FF2B5EF4-FFF2-40B4-BE49-F238E27FC236}">
                    <a16:creationId xmlns:a16="http://schemas.microsoft.com/office/drawing/2014/main" id="{1D00819A-0544-FA93-8AF1-B47C21F5B343}"/>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6" name="Rectangle 573">
                <a:extLst>
                  <a:ext uri="{FF2B5EF4-FFF2-40B4-BE49-F238E27FC236}">
                    <a16:creationId xmlns:a16="http://schemas.microsoft.com/office/drawing/2014/main" id="{7845CFB3-6682-219E-068F-D7B3CF5810BE}"/>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7" name="Rectangle 574">
                <a:extLst>
                  <a:ext uri="{FF2B5EF4-FFF2-40B4-BE49-F238E27FC236}">
                    <a16:creationId xmlns:a16="http://schemas.microsoft.com/office/drawing/2014/main" id="{F9664E3A-8452-9F98-2937-C22C930EC979}"/>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8" name="Rectangle 575">
                <a:extLst>
                  <a:ext uri="{FF2B5EF4-FFF2-40B4-BE49-F238E27FC236}">
                    <a16:creationId xmlns:a16="http://schemas.microsoft.com/office/drawing/2014/main" id="{0C4C2C1B-088A-F2F0-FFD1-960D3EDE15D5}"/>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9" name="Rectangle 576">
                <a:extLst>
                  <a:ext uri="{FF2B5EF4-FFF2-40B4-BE49-F238E27FC236}">
                    <a16:creationId xmlns:a16="http://schemas.microsoft.com/office/drawing/2014/main" id="{66BF4830-96EE-8EB4-D913-2B675F2CF2FA}"/>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0" name="Rectangle 577">
                <a:extLst>
                  <a:ext uri="{FF2B5EF4-FFF2-40B4-BE49-F238E27FC236}">
                    <a16:creationId xmlns:a16="http://schemas.microsoft.com/office/drawing/2014/main" id="{C23FE45E-C68E-13D2-360C-DE57F0B10D6F}"/>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421" name="Text Box 578">
              <a:extLst>
                <a:ext uri="{FF2B5EF4-FFF2-40B4-BE49-F238E27FC236}">
                  <a16:creationId xmlns:a16="http://schemas.microsoft.com/office/drawing/2014/main" id="{C92B6D73-78EE-DCDE-839D-E6E4B2A7252B}"/>
                </a:ext>
              </a:extLst>
            </p:cNvPr>
            <p:cNvSpPr txBox="1">
              <a:spLocks noChangeArrowheads="1"/>
            </p:cNvSpPr>
            <p:nvPr/>
          </p:nvSpPr>
          <p:spPr bwMode="auto">
            <a:xfrm>
              <a:off x="7947576" y="1435884"/>
              <a:ext cx="100219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a:latin typeface="Roboto" panose="02000000000000000000" pitchFamily="2" charset="0"/>
                  <a:ea typeface="Roboto" panose="02000000000000000000" pitchFamily="2" charset="0"/>
                </a:rPr>
                <a:t>Product Distributors</a:t>
              </a:r>
            </a:p>
          </p:txBody>
        </p:sp>
        <p:sp>
          <p:nvSpPr>
            <p:cNvPr id="422" name="Rectangle 579">
              <a:extLst>
                <a:ext uri="{FF2B5EF4-FFF2-40B4-BE49-F238E27FC236}">
                  <a16:creationId xmlns:a16="http://schemas.microsoft.com/office/drawing/2014/main" id="{BAA40A44-F4C7-FA9E-E83B-AAFC0D103C03}"/>
                </a:ext>
              </a:extLst>
            </p:cNvPr>
            <p:cNvSpPr>
              <a:spLocks noChangeArrowheads="1"/>
            </p:cNvSpPr>
            <p:nvPr/>
          </p:nvSpPr>
          <p:spPr bwMode="auto">
            <a:xfrm>
              <a:off x="404813" y="1393825"/>
              <a:ext cx="841375" cy="3778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900" b="0">
                  <a:latin typeface="Roboto" panose="02000000000000000000" pitchFamily="2" charset="0"/>
                  <a:ea typeface="Roboto" panose="02000000000000000000" pitchFamily="2" charset="0"/>
                </a:rPr>
                <a:t>Product Road</a:t>
              </a:r>
              <a:br>
                <a:rPr lang="en-US" altLang="en-US" sz="900" b="0">
                  <a:latin typeface="Roboto" panose="02000000000000000000" pitchFamily="2" charset="0"/>
                  <a:ea typeface="Roboto" panose="02000000000000000000" pitchFamily="2" charset="0"/>
                </a:rPr>
              </a:br>
              <a:r>
                <a:rPr lang="en-US" altLang="en-US" sz="900" b="0">
                  <a:latin typeface="Roboto" panose="02000000000000000000" pitchFamily="2" charset="0"/>
                  <a:ea typeface="Roboto" panose="02000000000000000000" pitchFamily="2" charset="0"/>
                </a:rPr>
                <a:t>Map</a:t>
              </a:r>
            </a:p>
          </p:txBody>
        </p:sp>
        <p:sp>
          <p:nvSpPr>
            <p:cNvPr id="423" name="Line 232">
              <a:extLst>
                <a:ext uri="{FF2B5EF4-FFF2-40B4-BE49-F238E27FC236}">
                  <a16:creationId xmlns:a16="http://schemas.microsoft.com/office/drawing/2014/main" id="{43168F6C-F3F4-0BDF-F3AA-C7DE1EC6B5E3}"/>
                </a:ext>
              </a:extLst>
            </p:cNvPr>
            <p:cNvSpPr>
              <a:spLocks noChangeShapeType="1"/>
            </p:cNvSpPr>
            <p:nvPr/>
          </p:nvSpPr>
          <p:spPr bwMode="auto">
            <a:xfrm>
              <a:off x="987425" y="5675313"/>
              <a:ext cx="107315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4" name="Line 233">
              <a:extLst>
                <a:ext uri="{FF2B5EF4-FFF2-40B4-BE49-F238E27FC236}">
                  <a16:creationId xmlns:a16="http://schemas.microsoft.com/office/drawing/2014/main" id="{18FAFD05-691E-4E54-2627-1C687FEDEDAE}"/>
                </a:ext>
              </a:extLst>
            </p:cNvPr>
            <p:cNvSpPr>
              <a:spLocks noChangeShapeType="1"/>
            </p:cNvSpPr>
            <p:nvPr/>
          </p:nvSpPr>
          <p:spPr bwMode="auto">
            <a:xfrm>
              <a:off x="2582863" y="5675313"/>
              <a:ext cx="8858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5" name="Line 234">
              <a:extLst>
                <a:ext uri="{FF2B5EF4-FFF2-40B4-BE49-F238E27FC236}">
                  <a16:creationId xmlns:a16="http://schemas.microsoft.com/office/drawing/2014/main" id="{774BDD59-F668-F258-2362-B339DBE4BC95}"/>
                </a:ext>
              </a:extLst>
            </p:cNvPr>
            <p:cNvSpPr>
              <a:spLocks noChangeShapeType="1"/>
            </p:cNvSpPr>
            <p:nvPr/>
          </p:nvSpPr>
          <p:spPr bwMode="auto">
            <a:xfrm>
              <a:off x="4005263" y="5675313"/>
              <a:ext cx="944562"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6" name="Line 235">
              <a:extLst>
                <a:ext uri="{FF2B5EF4-FFF2-40B4-BE49-F238E27FC236}">
                  <a16:creationId xmlns:a16="http://schemas.microsoft.com/office/drawing/2014/main" id="{6D87148A-9F74-41F8-CE7D-8DD525B5260E}"/>
                </a:ext>
              </a:extLst>
            </p:cNvPr>
            <p:cNvSpPr>
              <a:spLocks noChangeShapeType="1"/>
            </p:cNvSpPr>
            <p:nvPr/>
          </p:nvSpPr>
          <p:spPr bwMode="auto">
            <a:xfrm>
              <a:off x="5472113" y="5661025"/>
              <a:ext cx="9874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7" name="Line 236">
              <a:extLst>
                <a:ext uri="{FF2B5EF4-FFF2-40B4-BE49-F238E27FC236}">
                  <a16:creationId xmlns:a16="http://schemas.microsoft.com/office/drawing/2014/main" id="{028517D2-CC3E-397F-D3AB-CB60AE22C6C0}"/>
                </a:ext>
              </a:extLst>
            </p:cNvPr>
            <p:cNvSpPr>
              <a:spLocks noChangeShapeType="1"/>
            </p:cNvSpPr>
            <p:nvPr/>
          </p:nvSpPr>
          <p:spPr bwMode="auto">
            <a:xfrm>
              <a:off x="6996113" y="5675313"/>
              <a:ext cx="81280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8" name="Text Box 353">
              <a:extLst>
                <a:ext uri="{FF2B5EF4-FFF2-40B4-BE49-F238E27FC236}">
                  <a16:creationId xmlns:a16="http://schemas.microsoft.com/office/drawing/2014/main" id="{37192533-066C-D41B-6C75-BAD75B9108CE}"/>
                </a:ext>
              </a:extLst>
            </p:cNvPr>
            <p:cNvSpPr txBox="1">
              <a:spLocks noChangeArrowheads="1"/>
            </p:cNvSpPr>
            <p:nvPr/>
          </p:nvSpPr>
          <p:spPr bwMode="auto">
            <a:xfrm>
              <a:off x="12096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429" name="Text Box 353">
              <a:extLst>
                <a:ext uri="{FF2B5EF4-FFF2-40B4-BE49-F238E27FC236}">
                  <a16:creationId xmlns:a16="http://schemas.microsoft.com/office/drawing/2014/main" id="{AF78F89E-E0DC-995C-8F3F-5E319E6F1AF8}"/>
                </a:ext>
              </a:extLst>
            </p:cNvPr>
            <p:cNvSpPr txBox="1">
              <a:spLocks noChangeArrowheads="1"/>
            </p:cNvSpPr>
            <p:nvPr/>
          </p:nvSpPr>
          <p:spPr bwMode="auto">
            <a:xfrm>
              <a:off x="2767013"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430" name="Text Box 353">
              <a:extLst>
                <a:ext uri="{FF2B5EF4-FFF2-40B4-BE49-F238E27FC236}">
                  <a16:creationId xmlns:a16="http://schemas.microsoft.com/office/drawing/2014/main" id="{CE4445F4-E69E-35CF-DA45-27E6F463EA2B}"/>
                </a:ext>
              </a:extLst>
            </p:cNvPr>
            <p:cNvSpPr txBox="1">
              <a:spLocks noChangeArrowheads="1"/>
            </p:cNvSpPr>
            <p:nvPr/>
          </p:nvSpPr>
          <p:spPr bwMode="auto">
            <a:xfrm>
              <a:off x="41814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431" name="Text Box 353">
              <a:extLst>
                <a:ext uri="{FF2B5EF4-FFF2-40B4-BE49-F238E27FC236}">
                  <a16:creationId xmlns:a16="http://schemas.microsoft.com/office/drawing/2014/main" id="{D2117DDC-103B-5D8A-EDC2-E501F7E7ADE7}"/>
                </a:ext>
              </a:extLst>
            </p:cNvPr>
            <p:cNvSpPr txBox="1">
              <a:spLocks noChangeArrowheads="1"/>
            </p:cNvSpPr>
            <p:nvPr/>
          </p:nvSpPr>
          <p:spPr bwMode="auto">
            <a:xfrm>
              <a:off x="5695950"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432" name="Text Box 353">
              <a:extLst>
                <a:ext uri="{FF2B5EF4-FFF2-40B4-BE49-F238E27FC236}">
                  <a16:creationId xmlns:a16="http://schemas.microsoft.com/office/drawing/2014/main" id="{16A8BF2D-5D23-97AE-2E19-97E1BE1F2A3A}"/>
                </a:ext>
              </a:extLst>
            </p:cNvPr>
            <p:cNvSpPr txBox="1">
              <a:spLocks noChangeArrowheads="1"/>
            </p:cNvSpPr>
            <p:nvPr/>
          </p:nvSpPr>
          <p:spPr bwMode="auto">
            <a:xfrm>
              <a:off x="70897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grpSp>
      <p:sp>
        <p:nvSpPr>
          <p:cNvPr id="13" name="Oval 12">
            <a:extLst>
              <a:ext uri="{FF2B5EF4-FFF2-40B4-BE49-F238E27FC236}">
                <a16:creationId xmlns:a16="http://schemas.microsoft.com/office/drawing/2014/main" id="{51982354-E7EB-F967-4F75-8E8284BAEF21}"/>
              </a:ext>
            </a:extLst>
          </p:cNvPr>
          <p:cNvSpPr/>
          <p:nvPr/>
        </p:nvSpPr>
        <p:spPr>
          <a:xfrm>
            <a:off x="2212042" y="2042561"/>
            <a:ext cx="7345757" cy="870683"/>
          </a:xfrm>
          <a:prstGeom prst="ellipse">
            <a:avLst/>
          </a:prstGeom>
          <a:no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4D6C7663-79E4-0B80-4FBE-A7BEFC2AC292}"/>
              </a:ext>
            </a:extLst>
          </p:cNvPr>
          <p:cNvSpPr txBox="1"/>
          <p:nvPr/>
        </p:nvSpPr>
        <p:spPr>
          <a:xfrm>
            <a:off x="4954680" y="2051019"/>
            <a:ext cx="1486304"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Review Loop</a:t>
            </a:r>
          </a:p>
        </p:txBody>
      </p:sp>
      <p:sp>
        <p:nvSpPr>
          <p:cNvPr id="36" name="TextBox 35">
            <a:extLst>
              <a:ext uri="{FF2B5EF4-FFF2-40B4-BE49-F238E27FC236}">
                <a16:creationId xmlns:a16="http://schemas.microsoft.com/office/drawing/2014/main" id="{9291A9A5-2FB6-BEBB-2268-89C184891ABF}"/>
              </a:ext>
            </a:extLst>
          </p:cNvPr>
          <p:cNvSpPr txBox="1"/>
          <p:nvPr/>
        </p:nvSpPr>
        <p:spPr>
          <a:xfrm>
            <a:off x="1657720" y="3898763"/>
            <a:ext cx="2605200"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Product Definition Loop</a:t>
            </a:r>
          </a:p>
        </p:txBody>
      </p:sp>
      <p:sp>
        <p:nvSpPr>
          <p:cNvPr id="37" name="TextBox 36">
            <a:extLst>
              <a:ext uri="{FF2B5EF4-FFF2-40B4-BE49-F238E27FC236}">
                <a16:creationId xmlns:a16="http://schemas.microsoft.com/office/drawing/2014/main" id="{130D529F-6479-5FA0-CEF0-702A7D9ABD61}"/>
              </a:ext>
            </a:extLst>
          </p:cNvPr>
          <p:cNvSpPr txBox="1"/>
          <p:nvPr/>
        </p:nvSpPr>
        <p:spPr>
          <a:xfrm>
            <a:off x="5609336" y="3809631"/>
            <a:ext cx="2327881"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Product Design Loop</a:t>
            </a:r>
          </a:p>
        </p:txBody>
      </p:sp>
      <p:sp>
        <p:nvSpPr>
          <p:cNvPr id="38" name="TextBox 37">
            <a:extLst>
              <a:ext uri="{FF2B5EF4-FFF2-40B4-BE49-F238E27FC236}">
                <a16:creationId xmlns:a16="http://schemas.microsoft.com/office/drawing/2014/main" id="{F8FA8198-C57D-27FE-BF36-6BB2AD057096}"/>
              </a:ext>
            </a:extLst>
          </p:cNvPr>
          <p:cNvSpPr txBox="1"/>
          <p:nvPr/>
        </p:nvSpPr>
        <p:spPr>
          <a:xfrm>
            <a:off x="8708745" y="3777673"/>
            <a:ext cx="1787669"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Validation Loop</a:t>
            </a:r>
          </a:p>
        </p:txBody>
      </p:sp>
      <mc:AlternateContent xmlns:mc="http://schemas.openxmlformats.org/markup-compatibility/2006" xmlns:p14="http://schemas.microsoft.com/office/powerpoint/2010/main">
        <mc:Choice Requires="p14">
          <p:contentPart p14:bwMode="auto" r:id="rId3">
            <p14:nvContentPartPr>
              <p14:cNvPr id="45" name="Ink 44">
                <a:extLst>
                  <a:ext uri="{FF2B5EF4-FFF2-40B4-BE49-F238E27FC236}">
                    <a16:creationId xmlns:a16="http://schemas.microsoft.com/office/drawing/2014/main" id="{6922C576-C239-E757-3BA5-CA6986E82736}"/>
                  </a:ext>
                </a:extLst>
              </p14:cNvPr>
              <p14:cNvContentPartPr/>
              <p14:nvPr/>
            </p14:nvContentPartPr>
            <p14:xfrm>
              <a:off x="612240" y="3524520"/>
              <a:ext cx="4122360" cy="2754720"/>
            </p14:xfrm>
          </p:contentPart>
        </mc:Choice>
        <mc:Fallback xmlns="">
          <p:pic>
            <p:nvPicPr>
              <p:cNvPr id="45" name="Ink 44">
                <a:extLst>
                  <a:ext uri="{FF2B5EF4-FFF2-40B4-BE49-F238E27FC236}">
                    <a16:creationId xmlns:a16="http://schemas.microsoft.com/office/drawing/2014/main" id="{6922C576-C239-E757-3BA5-CA6986E82736}"/>
                  </a:ext>
                </a:extLst>
              </p:cNvPr>
              <p:cNvPicPr/>
              <p:nvPr/>
            </p:nvPicPr>
            <p:blipFill>
              <a:blip r:embed="rId4"/>
              <a:stretch>
                <a:fillRect/>
              </a:stretch>
            </p:blipFill>
            <p:spPr>
              <a:xfrm>
                <a:off x="603240" y="3515880"/>
                <a:ext cx="4140000" cy="2772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6" name="Ink 45">
                <a:extLst>
                  <a:ext uri="{FF2B5EF4-FFF2-40B4-BE49-F238E27FC236}">
                    <a16:creationId xmlns:a16="http://schemas.microsoft.com/office/drawing/2014/main" id="{3CFEE41A-61EB-A88E-81D1-3B7CCE3D4F00}"/>
                  </a:ext>
                </a:extLst>
              </p14:cNvPr>
              <p14:cNvContentPartPr/>
              <p14:nvPr/>
            </p14:nvContentPartPr>
            <p14:xfrm>
              <a:off x="4585560" y="3030600"/>
              <a:ext cx="3823200" cy="3155400"/>
            </p14:xfrm>
          </p:contentPart>
        </mc:Choice>
        <mc:Fallback xmlns="">
          <p:pic>
            <p:nvPicPr>
              <p:cNvPr id="46" name="Ink 45">
                <a:extLst>
                  <a:ext uri="{FF2B5EF4-FFF2-40B4-BE49-F238E27FC236}">
                    <a16:creationId xmlns:a16="http://schemas.microsoft.com/office/drawing/2014/main" id="{3CFEE41A-61EB-A88E-81D1-3B7CCE3D4F00}"/>
                  </a:ext>
                </a:extLst>
              </p:cNvPr>
              <p:cNvPicPr/>
              <p:nvPr/>
            </p:nvPicPr>
            <p:blipFill>
              <a:blip r:embed="rId6"/>
              <a:stretch>
                <a:fillRect/>
              </a:stretch>
            </p:blipFill>
            <p:spPr>
              <a:xfrm>
                <a:off x="4576920" y="3021600"/>
                <a:ext cx="3840840" cy="31730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7" name="Ink 46">
                <a:extLst>
                  <a:ext uri="{FF2B5EF4-FFF2-40B4-BE49-F238E27FC236}">
                    <a16:creationId xmlns:a16="http://schemas.microsoft.com/office/drawing/2014/main" id="{247FED8C-697E-8356-63AF-B4ADD679D576}"/>
                  </a:ext>
                </a:extLst>
              </p14:cNvPr>
              <p14:cNvContentPartPr/>
              <p14:nvPr/>
            </p14:nvContentPartPr>
            <p14:xfrm>
              <a:off x="8480040" y="2852760"/>
              <a:ext cx="2034720" cy="3033720"/>
            </p14:xfrm>
          </p:contentPart>
        </mc:Choice>
        <mc:Fallback xmlns="">
          <p:pic>
            <p:nvPicPr>
              <p:cNvPr id="47" name="Ink 46">
                <a:extLst>
                  <a:ext uri="{FF2B5EF4-FFF2-40B4-BE49-F238E27FC236}">
                    <a16:creationId xmlns:a16="http://schemas.microsoft.com/office/drawing/2014/main" id="{247FED8C-697E-8356-63AF-B4ADD679D576}"/>
                  </a:ext>
                </a:extLst>
              </p:cNvPr>
              <p:cNvPicPr/>
              <p:nvPr/>
            </p:nvPicPr>
            <p:blipFill>
              <a:blip r:embed="rId8"/>
              <a:stretch>
                <a:fillRect/>
              </a:stretch>
            </p:blipFill>
            <p:spPr>
              <a:xfrm>
                <a:off x="8471040" y="2844120"/>
                <a:ext cx="2052360" cy="3051360"/>
              </a:xfrm>
              <a:prstGeom prst="rect">
                <a:avLst/>
              </a:prstGeom>
            </p:spPr>
          </p:pic>
        </mc:Fallback>
      </mc:AlternateContent>
    </p:spTree>
    <p:extLst>
      <p:ext uri="{BB962C8B-B14F-4D97-AF65-F5344CB8AC3E}">
        <p14:creationId xmlns:p14="http://schemas.microsoft.com/office/powerpoint/2010/main" val="267060258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a:bodyPr>
          <a:lstStyle/>
          <a:p>
            <a:r>
              <a:rPr lang="en-US" sz="4000" dirty="0"/>
              <a:t>The Completed Future State Map</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122</a:t>
            </a:fld>
            <a:endParaRPr lang="en-US"/>
          </a:p>
        </p:txBody>
      </p:sp>
      <p:grpSp>
        <p:nvGrpSpPr>
          <p:cNvPr id="3" name="Group 2">
            <a:extLst>
              <a:ext uri="{FF2B5EF4-FFF2-40B4-BE49-F238E27FC236}">
                <a16:creationId xmlns:a16="http://schemas.microsoft.com/office/drawing/2014/main" id="{A31492A4-AB61-61A0-62F8-BADC3426D2F1}"/>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4D6DFDC9-46D1-A7D3-72D1-BFFEC2FE5372}"/>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8121E078-FD4B-5DE9-3695-E7FCA8C3075D}"/>
                  </a:ext>
                </a:extLst>
              </p:cNvPr>
              <p:cNvSpPr>
                <a:spLocks noChangeArrowheads="1"/>
              </p:cNvSpPr>
              <p:nvPr/>
            </p:nvSpPr>
            <p:spPr bwMode="auto">
              <a:xfrm>
                <a:off x="2092900"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2000" dirty="0">
                  <a:solidFill>
                    <a:schemeClr val="bg1"/>
                  </a:solidFill>
                  <a:latin typeface="+mn-lt"/>
                </a:endParaRPr>
              </a:p>
            </p:txBody>
          </p:sp>
          <p:sp>
            <p:nvSpPr>
              <p:cNvPr id="8" name="AutoShape 9">
                <a:extLst>
                  <a:ext uri="{FF2B5EF4-FFF2-40B4-BE49-F238E27FC236}">
                    <a16:creationId xmlns:a16="http://schemas.microsoft.com/office/drawing/2014/main" id="{48AED46C-51EB-3B81-2D5E-71489A106ECF}"/>
                  </a:ext>
                </a:extLst>
              </p:cNvPr>
              <p:cNvSpPr>
                <a:spLocks noChangeArrowheads="1"/>
              </p:cNvSpPr>
              <p:nvPr/>
            </p:nvSpPr>
            <p:spPr bwMode="auto">
              <a:xfrm>
                <a:off x="1779225"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C5968B2A-2683-E83D-29BE-71B8DC9BEB63}"/>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50E3FBB0-BBBF-A4C6-4E85-76366AEB9281}"/>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FD30C129-5B48-24D9-DD00-A97F9B5FE65B}"/>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403F860D-44C8-C005-93C9-36FCDD8B9B1A}"/>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60A07032-5580-B5DA-4C28-70E9D31BA7B8}"/>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Create Future State Map</a:t>
              </a:r>
            </a:p>
          </p:txBody>
        </p:sp>
      </p:grpSp>
      <p:grpSp>
        <p:nvGrpSpPr>
          <p:cNvPr id="433" name="Group 432">
            <a:extLst>
              <a:ext uri="{FF2B5EF4-FFF2-40B4-BE49-F238E27FC236}">
                <a16:creationId xmlns:a16="http://schemas.microsoft.com/office/drawing/2014/main" id="{3F7B9745-7B50-B91F-52D4-C637651B0D00}"/>
              </a:ext>
            </a:extLst>
          </p:cNvPr>
          <p:cNvGrpSpPr/>
          <p:nvPr/>
        </p:nvGrpSpPr>
        <p:grpSpPr>
          <a:xfrm>
            <a:off x="304800" y="1783429"/>
            <a:ext cx="11247120" cy="4198271"/>
            <a:chOff x="304800" y="1393825"/>
            <a:chExt cx="8672513" cy="4587875"/>
          </a:xfrm>
        </p:grpSpPr>
        <p:sp>
          <p:nvSpPr>
            <p:cNvPr id="15" name="Line 333">
              <a:extLst>
                <a:ext uri="{FF2B5EF4-FFF2-40B4-BE49-F238E27FC236}">
                  <a16:creationId xmlns:a16="http://schemas.microsoft.com/office/drawing/2014/main" id="{219A2AAB-4420-309F-0D59-3146F891E9E0}"/>
                </a:ext>
              </a:extLst>
            </p:cNvPr>
            <p:cNvSpPr>
              <a:spLocks noChangeShapeType="1"/>
            </p:cNvSpPr>
            <p:nvPr/>
          </p:nvSpPr>
          <p:spPr bwMode="auto">
            <a:xfrm>
              <a:off x="3998913" y="5981700"/>
              <a:ext cx="939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6" name="Line 334">
              <a:extLst>
                <a:ext uri="{FF2B5EF4-FFF2-40B4-BE49-F238E27FC236}">
                  <a16:creationId xmlns:a16="http://schemas.microsoft.com/office/drawing/2014/main" id="{6E0EA32A-E733-FD91-2E49-DD5357312509}"/>
                </a:ext>
              </a:extLst>
            </p:cNvPr>
            <p:cNvSpPr>
              <a:spLocks noChangeShapeType="1"/>
            </p:cNvSpPr>
            <p:nvPr/>
          </p:nvSpPr>
          <p:spPr bwMode="auto">
            <a:xfrm>
              <a:off x="34655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7" name="AutoShape 335">
              <a:extLst>
                <a:ext uri="{FF2B5EF4-FFF2-40B4-BE49-F238E27FC236}">
                  <a16:creationId xmlns:a16="http://schemas.microsoft.com/office/drawing/2014/main" id="{647B1EA4-E8B4-78A3-8F13-7B658DADFC9C}"/>
                </a:ext>
              </a:extLst>
            </p:cNvPr>
            <p:cNvCxnSpPr>
              <a:cxnSpLocks noChangeShapeType="1"/>
              <a:stCxn id="16" idx="1"/>
              <a:endCxn id="15" idx="0"/>
            </p:cNvCxnSpPr>
            <p:nvPr/>
          </p:nvCxnSpPr>
          <p:spPr bwMode="auto">
            <a:xfrm>
              <a:off x="39989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8" name="Line 336">
              <a:extLst>
                <a:ext uri="{FF2B5EF4-FFF2-40B4-BE49-F238E27FC236}">
                  <a16:creationId xmlns:a16="http://schemas.microsoft.com/office/drawing/2014/main" id="{38522E81-D8EB-9174-50D8-EB1E762B9399}"/>
                </a:ext>
              </a:extLst>
            </p:cNvPr>
            <p:cNvSpPr>
              <a:spLocks noChangeShapeType="1"/>
            </p:cNvSpPr>
            <p:nvPr/>
          </p:nvSpPr>
          <p:spPr bwMode="auto">
            <a:xfrm>
              <a:off x="989013" y="5981700"/>
              <a:ext cx="106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9" name="Line 337">
              <a:extLst>
                <a:ext uri="{FF2B5EF4-FFF2-40B4-BE49-F238E27FC236}">
                  <a16:creationId xmlns:a16="http://schemas.microsoft.com/office/drawing/2014/main" id="{C0D36C1A-A4C2-2C7C-56BB-340080782C8E}"/>
                </a:ext>
              </a:extLst>
            </p:cNvPr>
            <p:cNvSpPr>
              <a:spLocks noChangeShapeType="1"/>
            </p:cNvSpPr>
            <p:nvPr/>
          </p:nvSpPr>
          <p:spPr bwMode="auto">
            <a:xfrm>
              <a:off x="4556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0" name="AutoShape 338">
              <a:extLst>
                <a:ext uri="{FF2B5EF4-FFF2-40B4-BE49-F238E27FC236}">
                  <a16:creationId xmlns:a16="http://schemas.microsoft.com/office/drawing/2014/main" id="{E352646E-F812-C5B2-14A0-003D497A0B50}"/>
                </a:ext>
              </a:extLst>
            </p:cNvPr>
            <p:cNvCxnSpPr>
              <a:cxnSpLocks noChangeShapeType="1"/>
              <a:stCxn id="19" idx="1"/>
              <a:endCxn id="18" idx="0"/>
            </p:cNvCxnSpPr>
            <p:nvPr/>
          </p:nvCxnSpPr>
          <p:spPr bwMode="auto">
            <a:xfrm>
              <a:off x="9890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1" name="AutoShape 339">
              <a:extLst>
                <a:ext uri="{FF2B5EF4-FFF2-40B4-BE49-F238E27FC236}">
                  <a16:creationId xmlns:a16="http://schemas.microsoft.com/office/drawing/2014/main" id="{BFF6ED28-B68B-F01D-C572-DA5C4648B645}"/>
                </a:ext>
              </a:extLst>
            </p:cNvPr>
            <p:cNvCxnSpPr>
              <a:cxnSpLocks noChangeShapeType="1"/>
              <a:stCxn id="16" idx="0"/>
              <a:endCxn id="22" idx="1"/>
            </p:cNvCxnSpPr>
            <p:nvPr/>
          </p:nvCxnSpPr>
          <p:spPr bwMode="auto">
            <a:xfrm>
              <a:off x="34655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2" name="Line 340">
              <a:extLst>
                <a:ext uri="{FF2B5EF4-FFF2-40B4-BE49-F238E27FC236}">
                  <a16:creationId xmlns:a16="http://schemas.microsoft.com/office/drawing/2014/main" id="{1A1A3702-E52D-5033-0AA1-C2A2FEC66198}"/>
                </a:ext>
              </a:extLst>
            </p:cNvPr>
            <p:cNvSpPr>
              <a:spLocks noChangeShapeType="1"/>
            </p:cNvSpPr>
            <p:nvPr/>
          </p:nvSpPr>
          <p:spPr bwMode="auto">
            <a:xfrm>
              <a:off x="2589213" y="5981700"/>
              <a:ext cx="87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3" name="Line 341">
              <a:extLst>
                <a:ext uri="{FF2B5EF4-FFF2-40B4-BE49-F238E27FC236}">
                  <a16:creationId xmlns:a16="http://schemas.microsoft.com/office/drawing/2014/main" id="{B8070A46-D84C-9049-B911-D5E521D2EC99}"/>
                </a:ext>
              </a:extLst>
            </p:cNvPr>
            <p:cNvSpPr>
              <a:spLocks noChangeShapeType="1"/>
            </p:cNvSpPr>
            <p:nvPr/>
          </p:nvSpPr>
          <p:spPr bwMode="auto">
            <a:xfrm>
              <a:off x="20558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4" name="AutoShape 342">
              <a:extLst>
                <a:ext uri="{FF2B5EF4-FFF2-40B4-BE49-F238E27FC236}">
                  <a16:creationId xmlns:a16="http://schemas.microsoft.com/office/drawing/2014/main" id="{8D285120-775F-8B20-96CC-BA3136212D23}"/>
                </a:ext>
              </a:extLst>
            </p:cNvPr>
            <p:cNvCxnSpPr>
              <a:cxnSpLocks noChangeShapeType="1"/>
              <a:stCxn id="23" idx="1"/>
              <a:endCxn id="22" idx="0"/>
            </p:cNvCxnSpPr>
            <p:nvPr/>
          </p:nvCxnSpPr>
          <p:spPr bwMode="auto">
            <a:xfrm>
              <a:off x="25892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 name="AutoShape 343">
              <a:extLst>
                <a:ext uri="{FF2B5EF4-FFF2-40B4-BE49-F238E27FC236}">
                  <a16:creationId xmlns:a16="http://schemas.microsoft.com/office/drawing/2014/main" id="{6863AB4E-CD98-C74D-010F-F6E3219F31AF}"/>
                </a:ext>
              </a:extLst>
            </p:cNvPr>
            <p:cNvCxnSpPr>
              <a:cxnSpLocks noChangeShapeType="1"/>
              <a:stCxn id="23" idx="0"/>
            </p:cNvCxnSpPr>
            <p:nvPr/>
          </p:nvCxnSpPr>
          <p:spPr bwMode="auto">
            <a:xfrm>
              <a:off x="20558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 name="Line 344">
              <a:extLst>
                <a:ext uri="{FF2B5EF4-FFF2-40B4-BE49-F238E27FC236}">
                  <a16:creationId xmlns:a16="http://schemas.microsoft.com/office/drawing/2014/main" id="{01AE18F4-8D6D-C08A-6603-2CE36E8C1A7E}"/>
                </a:ext>
              </a:extLst>
            </p:cNvPr>
            <p:cNvSpPr>
              <a:spLocks noChangeShapeType="1"/>
            </p:cNvSpPr>
            <p:nvPr/>
          </p:nvSpPr>
          <p:spPr bwMode="auto">
            <a:xfrm>
              <a:off x="5472113" y="5981700"/>
              <a:ext cx="990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345">
              <a:extLst>
                <a:ext uri="{FF2B5EF4-FFF2-40B4-BE49-F238E27FC236}">
                  <a16:creationId xmlns:a16="http://schemas.microsoft.com/office/drawing/2014/main" id="{09DEFADB-595B-35D9-D951-030DAC25E0A2}"/>
                </a:ext>
              </a:extLst>
            </p:cNvPr>
            <p:cNvSpPr>
              <a:spLocks noChangeShapeType="1"/>
            </p:cNvSpPr>
            <p:nvPr/>
          </p:nvSpPr>
          <p:spPr bwMode="auto">
            <a:xfrm>
              <a:off x="4938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8" name="AutoShape 346">
              <a:extLst>
                <a:ext uri="{FF2B5EF4-FFF2-40B4-BE49-F238E27FC236}">
                  <a16:creationId xmlns:a16="http://schemas.microsoft.com/office/drawing/2014/main" id="{81684461-7520-F9FC-264A-F97700297BA2}"/>
                </a:ext>
              </a:extLst>
            </p:cNvPr>
            <p:cNvCxnSpPr>
              <a:cxnSpLocks noChangeShapeType="1"/>
              <a:stCxn id="27" idx="1"/>
              <a:endCxn id="26" idx="0"/>
            </p:cNvCxnSpPr>
            <p:nvPr/>
          </p:nvCxnSpPr>
          <p:spPr bwMode="auto">
            <a:xfrm>
              <a:off x="5472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 name="AutoShape 347">
              <a:extLst>
                <a:ext uri="{FF2B5EF4-FFF2-40B4-BE49-F238E27FC236}">
                  <a16:creationId xmlns:a16="http://schemas.microsoft.com/office/drawing/2014/main" id="{A3ED3ACB-BBAE-3D55-3061-5E6CFB8AE231}"/>
                </a:ext>
              </a:extLst>
            </p:cNvPr>
            <p:cNvCxnSpPr>
              <a:cxnSpLocks noChangeShapeType="1"/>
              <a:stCxn id="27" idx="0"/>
              <a:endCxn id="15" idx="1"/>
            </p:cNvCxnSpPr>
            <p:nvPr/>
          </p:nvCxnSpPr>
          <p:spPr bwMode="auto">
            <a:xfrm>
              <a:off x="4938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 name="Line 348">
              <a:extLst>
                <a:ext uri="{FF2B5EF4-FFF2-40B4-BE49-F238E27FC236}">
                  <a16:creationId xmlns:a16="http://schemas.microsoft.com/office/drawing/2014/main" id="{5D757225-E9FB-1C4F-5D0D-408D204A62BF}"/>
                </a:ext>
              </a:extLst>
            </p:cNvPr>
            <p:cNvSpPr>
              <a:spLocks noChangeShapeType="1"/>
            </p:cNvSpPr>
            <p:nvPr/>
          </p:nvSpPr>
          <p:spPr bwMode="auto">
            <a:xfrm>
              <a:off x="6996113" y="5981700"/>
              <a:ext cx="914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1" name="Line 349">
              <a:extLst>
                <a:ext uri="{FF2B5EF4-FFF2-40B4-BE49-F238E27FC236}">
                  <a16:creationId xmlns:a16="http://schemas.microsoft.com/office/drawing/2014/main" id="{758945C6-4A9C-BF63-8F57-65272BCDF6FA}"/>
                </a:ext>
              </a:extLst>
            </p:cNvPr>
            <p:cNvSpPr>
              <a:spLocks noChangeShapeType="1"/>
            </p:cNvSpPr>
            <p:nvPr/>
          </p:nvSpPr>
          <p:spPr bwMode="auto">
            <a:xfrm>
              <a:off x="6462713" y="5676900"/>
              <a:ext cx="5334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32" name="AutoShape 350">
              <a:extLst>
                <a:ext uri="{FF2B5EF4-FFF2-40B4-BE49-F238E27FC236}">
                  <a16:creationId xmlns:a16="http://schemas.microsoft.com/office/drawing/2014/main" id="{F031D5FD-EC34-211E-FDE0-CB2289EFE5B5}"/>
                </a:ext>
              </a:extLst>
            </p:cNvPr>
            <p:cNvCxnSpPr>
              <a:cxnSpLocks noChangeShapeType="1"/>
              <a:stCxn id="31" idx="1"/>
              <a:endCxn id="30" idx="0"/>
            </p:cNvCxnSpPr>
            <p:nvPr/>
          </p:nvCxnSpPr>
          <p:spPr bwMode="auto">
            <a:xfrm>
              <a:off x="69961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3" name="AutoShape 351">
              <a:extLst>
                <a:ext uri="{FF2B5EF4-FFF2-40B4-BE49-F238E27FC236}">
                  <a16:creationId xmlns:a16="http://schemas.microsoft.com/office/drawing/2014/main" id="{7016E897-9F79-338B-20A7-4492AE9EBDD3}"/>
                </a:ext>
              </a:extLst>
            </p:cNvPr>
            <p:cNvCxnSpPr>
              <a:cxnSpLocks noChangeShapeType="1"/>
              <a:endCxn id="26" idx="1"/>
            </p:cNvCxnSpPr>
            <p:nvPr/>
          </p:nvCxnSpPr>
          <p:spPr bwMode="auto">
            <a:xfrm>
              <a:off x="6462713" y="5676900"/>
              <a:ext cx="0"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4" name="Text Box 352">
              <a:extLst>
                <a:ext uri="{FF2B5EF4-FFF2-40B4-BE49-F238E27FC236}">
                  <a16:creationId xmlns:a16="http://schemas.microsoft.com/office/drawing/2014/main" id="{A670BD22-42C6-C6C3-4D20-4411C7E7C1DE}"/>
                </a:ext>
              </a:extLst>
            </p:cNvPr>
            <p:cNvSpPr txBox="1">
              <a:spLocks noChangeArrowheads="1"/>
            </p:cNvSpPr>
            <p:nvPr/>
          </p:nvSpPr>
          <p:spPr bwMode="auto">
            <a:xfrm>
              <a:off x="2703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35" name="Text Box 353">
              <a:extLst>
                <a:ext uri="{FF2B5EF4-FFF2-40B4-BE49-F238E27FC236}">
                  <a16:creationId xmlns:a16="http://schemas.microsoft.com/office/drawing/2014/main" id="{A30F1CB5-F3E1-C8CF-383E-CAF1E82127ED}"/>
                </a:ext>
              </a:extLst>
            </p:cNvPr>
            <p:cNvSpPr txBox="1">
              <a:spLocks noChangeArrowheads="1"/>
            </p:cNvSpPr>
            <p:nvPr/>
          </p:nvSpPr>
          <p:spPr bwMode="auto">
            <a:xfrm>
              <a:off x="20431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1" name="Text Box 354">
              <a:extLst>
                <a:ext uri="{FF2B5EF4-FFF2-40B4-BE49-F238E27FC236}">
                  <a16:creationId xmlns:a16="http://schemas.microsoft.com/office/drawing/2014/main" id="{F464FD0F-6759-96E5-65AC-92EAC68716D2}"/>
                </a:ext>
              </a:extLst>
            </p:cNvPr>
            <p:cNvSpPr txBox="1">
              <a:spLocks noChangeArrowheads="1"/>
            </p:cNvSpPr>
            <p:nvPr/>
          </p:nvSpPr>
          <p:spPr bwMode="auto">
            <a:xfrm>
              <a:off x="34655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2" name="Text Box 355">
              <a:extLst>
                <a:ext uri="{FF2B5EF4-FFF2-40B4-BE49-F238E27FC236}">
                  <a16:creationId xmlns:a16="http://schemas.microsoft.com/office/drawing/2014/main" id="{6F7E5667-7986-4E31-D059-2242BE3927E4}"/>
                </a:ext>
              </a:extLst>
            </p:cNvPr>
            <p:cNvSpPr txBox="1">
              <a:spLocks noChangeArrowheads="1"/>
            </p:cNvSpPr>
            <p:nvPr/>
          </p:nvSpPr>
          <p:spPr bwMode="auto">
            <a:xfrm>
              <a:off x="4938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4" name="Text Box 356">
              <a:extLst>
                <a:ext uri="{FF2B5EF4-FFF2-40B4-BE49-F238E27FC236}">
                  <a16:creationId xmlns:a16="http://schemas.microsoft.com/office/drawing/2014/main" id="{7D6A2A09-3F81-5574-B223-278115C71426}"/>
                </a:ext>
              </a:extLst>
            </p:cNvPr>
            <p:cNvSpPr txBox="1">
              <a:spLocks noChangeArrowheads="1"/>
            </p:cNvSpPr>
            <p:nvPr/>
          </p:nvSpPr>
          <p:spPr bwMode="auto">
            <a:xfrm>
              <a:off x="4100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55" name="Text Box 357">
              <a:extLst>
                <a:ext uri="{FF2B5EF4-FFF2-40B4-BE49-F238E27FC236}">
                  <a16:creationId xmlns:a16="http://schemas.microsoft.com/office/drawing/2014/main" id="{E7978135-EBA5-00E5-218A-72F50725872C}"/>
                </a:ext>
              </a:extLst>
            </p:cNvPr>
            <p:cNvSpPr txBox="1">
              <a:spLocks noChangeArrowheads="1"/>
            </p:cNvSpPr>
            <p:nvPr/>
          </p:nvSpPr>
          <p:spPr bwMode="auto">
            <a:xfrm>
              <a:off x="56245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56" name="Text Box 358">
              <a:extLst>
                <a:ext uri="{FF2B5EF4-FFF2-40B4-BE49-F238E27FC236}">
                  <a16:creationId xmlns:a16="http://schemas.microsoft.com/office/drawing/2014/main" id="{A476BC7B-0BF4-EE8C-3FEE-CA631F1214BD}"/>
                </a:ext>
              </a:extLst>
            </p:cNvPr>
            <p:cNvSpPr txBox="1">
              <a:spLocks noChangeArrowheads="1"/>
            </p:cNvSpPr>
            <p:nvPr/>
          </p:nvSpPr>
          <p:spPr bwMode="auto">
            <a:xfrm>
              <a:off x="12176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7" name="Text Box 359">
              <a:extLst>
                <a:ext uri="{FF2B5EF4-FFF2-40B4-BE49-F238E27FC236}">
                  <a16:creationId xmlns:a16="http://schemas.microsoft.com/office/drawing/2014/main" id="{5501876E-3B54-A544-2965-B559D5C522F5}"/>
                </a:ext>
              </a:extLst>
            </p:cNvPr>
            <p:cNvSpPr txBox="1">
              <a:spLocks noChangeArrowheads="1"/>
            </p:cNvSpPr>
            <p:nvPr/>
          </p:nvSpPr>
          <p:spPr bwMode="auto">
            <a:xfrm>
              <a:off x="7224713" y="57673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8" name="Text Box 360">
              <a:extLst>
                <a:ext uri="{FF2B5EF4-FFF2-40B4-BE49-F238E27FC236}">
                  <a16:creationId xmlns:a16="http://schemas.microsoft.com/office/drawing/2014/main" id="{6AC774A8-F03E-A082-7660-416C13E181B7}"/>
                </a:ext>
              </a:extLst>
            </p:cNvPr>
            <p:cNvSpPr txBox="1">
              <a:spLocks noChangeArrowheads="1"/>
            </p:cNvSpPr>
            <p:nvPr/>
          </p:nvSpPr>
          <p:spPr bwMode="auto">
            <a:xfrm>
              <a:off x="6462713" y="5462588"/>
              <a:ext cx="6096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59" name="Rectangle 361">
              <a:extLst>
                <a:ext uri="{FF2B5EF4-FFF2-40B4-BE49-F238E27FC236}">
                  <a16:creationId xmlns:a16="http://schemas.microsoft.com/office/drawing/2014/main" id="{CC12EB56-6D92-1F1E-FBF5-1F8BAF4E6035}"/>
                </a:ext>
              </a:extLst>
            </p:cNvPr>
            <p:cNvSpPr>
              <a:spLocks noChangeArrowheads="1"/>
            </p:cNvSpPr>
            <p:nvPr/>
          </p:nvSpPr>
          <p:spPr bwMode="auto">
            <a:xfrm>
              <a:off x="7805738" y="5372100"/>
              <a:ext cx="1171575" cy="609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60" name="Text Box 362">
              <a:extLst>
                <a:ext uri="{FF2B5EF4-FFF2-40B4-BE49-F238E27FC236}">
                  <a16:creationId xmlns:a16="http://schemas.microsoft.com/office/drawing/2014/main" id="{44EE4519-8085-2ADD-21E9-E6228AE2AE16}"/>
                </a:ext>
              </a:extLst>
            </p:cNvPr>
            <p:cNvSpPr txBox="1">
              <a:spLocks noChangeArrowheads="1"/>
            </p:cNvSpPr>
            <p:nvPr/>
          </p:nvSpPr>
          <p:spPr bwMode="auto">
            <a:xfrm>
              <a:off x="7781925" y="5462588"/>
              <a:ext cx="11430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Lead Time 43 Days</a:t>
              </a:r>
            </a:p>
          </p:txBody>
        </p:sp>
        <p:sp>
          <p:nvSpPr>
            <p:cNvPr id="61" name="Text Box 363">
              <a:extLst>
                <a:ext uri="{FF2B5EF4-FFF2-40B4-BE49-F238E27FC236}">
                  <a16:creationId xmlns:a16="http://schemas.microsoft.com/office/drawing/2014/main" id="{61196B36-63EC-1F88-5DEC-1D13C31D8205}"/>
                </a:ext>
              </a:extLst>
            </p:cNvPr>
            <p:cNvSpPr txBox="1">
              <a:spLocks noChangeArrowheads="1"/>
            </p:cNvSpPr>
            <p:nvPr/>
          </p:nvSpPr>
          <p:spPr bwMode="auto">
            <a:xfrm>
              <a:off x="7729538" y="5767388"/>
              <a:ext cx="12477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Process Time 23 Days</a:t>
              </a:r>
            </a:p>
          </p:txBody>
        </p:sp>
        <p:sp>
          <p:nvSpPr>
            <p:cNvPr id="62" name="Line 364">
              <a:extLst>
                <a:ext uri="{FF2B5EF4-FFF2-40B4-BE49-F238E27FC236}">
                  <a16:creationId xmlns:a16="http://schemas.microsoft.com/office/drawing/2014/main" id="{BB8FB476-7554-3870-9F62-4B60DEAFDD4A}"/>
                </a:ext>
              </a:extLst>
            </p:cNvPr>
            <p:cNvSpPr>
              <a:spLocks noChangeShapeType="1"/>
            </p:cNvSpPr>
            <p:nvPr/>
          </p:nvSpPr>
          <p:spPr bwMode="auto">
            <a:xfrm>
              <a:off x="7815263" y="5676900"/>
              <a:ext cx="11334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63" name="Line 365">
              <a:extLst>
                <a:ext uri="{FF2B5EF4-FFF2-40B4-BE49-F238E27FC236}">
                  <a16:creationId xmlns:a16="http://schemas.microsoft.com/office/drawing/2014/main" id="{1946AF24-2D65-7488-B464-38F7FA7822D1}"/>
                </a:ext>
              </a:extLst>
            </p:cNvPr>
            <p:cNvSpPr>
              <a:spLocks noChangeShapeType="1"/>
            </p:cNvSpPr>
            <p:nvPr/>
          </p:nvSpPr>
          <p:spPr bwMode="auto">
            <a:xfrm flipV="1">
              <a:off x="356076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4" name="Text Box 366">
              <a:extLst>
                <a:ext uri="{FF2B5EF4-FFF2-40B4-BE49-F238E27FC236}">
                  <a16:creationId xmlns:a16="http://schemas.microsoft.com/office/drawing/2014/main" id="{DCB93339-5A3A-786D-09A8-BB1144CF540D}"/>
                </a:ext>
              </a:extLst>
            </p:cNvPr>
            <p:cNvSpPr txBox="1">
              <a:spLocks noChangeArrowheads="1"/>
            </p:cNvSpPr>
            <p:nvPr/>
          </p:nvSpPr>
          <p:spPr bwMode="auto">
            <a:xfrm>
              <a:off x="351790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5" name="Line 367">
              <a:extLst>
                <a:ext uri="{FF2B5EF4-FFF2-40B4-BE49-F238E27FC236}">
                  <a16:creationId xmlns:a16="http://schemas.microsoft.com/office/drawing/2014/main" id="{506AD601-0000-8FFF-3EF4-961F7FE625C1}"/>
                </a:ext>
              </a:extLst>
            </p:cNvPr>
            <p:cNvSpPr>
              <a:spLocks noChangeShapeType="1"/>
            </p:cNvSpPr>
            <p:nvPr/>
          </p:nvSpPr>
          <p:spPr bwMode="auto">
            <a:xfrm flipV="1">
              <a:off x="50022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6" name="Text Box 368">
              <a:extLst>
                <a:ext uri="{FF2B5EF4-FFF2-40B4-BE49-F238E27FC236}">
                  <a16:creationId xmlns:a16="http://schemas.microsoft.com/office/drawing/2014/main" id="{6E4AB71D-2607-2857-F35E-C84BDEEC9EC5}"/>
                </a:ext>
              </a:extLst>
            </p:cNvPr>
            <p:cNvSpPr txBox="1">
              <a:spLocks noChangeArrowheads="1"/>
            </p:cNvSpPr>
            <p:nvPr/>
          </p:nvSpPr>
          <p:spPr bwMode="auto">
            <a:xfrm>
              <a:off x="4959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Electronic</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sp>
          <p:nvSpPr>
            <p:cNvPr id="67" name="Line 369">
              <a:extLst>
                <a:ext uri="{FF2B5EF4-FFF2-40B4-BE49-F238E27FC236}">
                  <a16:creationId xmlns:a16="http://schemas.microsoft.com/office/drawing/2014/main" id="{4C8DA161-34CF-7DDE-069A-41FFB53E73AE}"/>
                </a:ext>
              </a:extLst>
            </p:cNvPr>
            <p:cNvSpPr>
              <a:spLocks noChangeShapeType="1"/>
            </p:cNvSpPr>
            <p:nvPr/>
          </p:nvSpPr>
          <p:spPr bwMode="auto">
            <a:xfrm flipV="1">
              <a:off x="6424613" y="4394200"/>
              <a:ext cx="581025" cy="0"/>
            </a:xfrm>
            <a:prstGeom prst="line">
              <a:avLst/>
            </a:prstGeom>
            <a:noFill/>
            <a:ln w="5715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68" name="Text Box 370">
              <a:extLst>
                <a:ext uri="{FF2B5EF4-FFF2-40B4-BE49-F238E27FC236}">
                  <a16:creationId xmlns:a16="http://schemas.microsoft.com/office/drawing/2014/main" id="{DB50BCB9-08F5-1116-8D4D-AD9F8BFD1E0B}"/>
                </a:ext>
              </a:extLst>
            </p:cNvPr>
            <p:cNvSpPr txBox="1">
              <a:spLocks noChangeArrowheads="1"/>
            </p:cNvSpPr>
            <p:nvPr/>
          </p:nvSpPr>
          <p:spPr bwMode="auto">
            <a:xfrm>
              <a:off x="6356350" y="4559300"/>
              <a:ext cx="5619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Fed EX</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FIFO</a:t>
              </a:r>
            </a:p>
            <a:p>
              <a:pPr algn="ctr">
                <a:lnSpc>
                  <a:spcPct val="100000"/>
                </a:lnSpc>
                <a:spcAft>
                  <a:spcPct val="0"/>
                </a:spcAft>
                <a:buClrTx/>
                <a:buSzTx/>
                <a:buFontTx/>
                <a:buNone/>
              </a:pPr>
              <a:r>
                <a:rPr lang="en-US" altLang="en-US" sz="600" b="0">
                  <a:latin typeface="Roboto" panose="02000000000000000000" pitchFamily="2" charset="0"/>
                  <a:ea typeface="Roboto" panose="02000000000000000000" pitchFamily="2" charset="0"/>
                </a:rPr>
                <a:t>5 Days</a:t>
              </a:r>
            </a:p>
          </p:txBody>
        </p:sp>
        <p:grpSp>
          <p:nvGrpSpPr>
            <p:cNvPr id="69" name="Group 371">
              <a:extLst>
                <a:ext uri="{FF2B5EF4-FFF2-40B4-BE49-F238E27FC236}">
                  <a16:creationId xmlns:a16="http://schemas.microsoft.com/office/drawing/2014/main" id="{82554A4C-8F81-3926-6BD9-50C95B46AF18}"/>
                </a:ext>
              </a:extLst>
            </p:cNvPr>
            <p:cNvGrpSpPr>
              <a:grpSpLocks/>
            </p:cNvGrpSpPr>
            <p:nvPr/>
          </p:nvGrpSpPr>
          <p:grpSpPr bwMode="auto">
            <a:xfrm>
              <a:off x="3619500" y="4254500"/>
              <a:ext cx="342900" cy="812800"/>
              <a:chOff x="752" y="2752"/>
              <a:chExt cx="216" cy="512"/>
            </a:xfrm>
          </p:grpSpPr>
          <p:sp>
            <p:nvSpPr>
              <p:cNvPr id="70" name="AutoShape 372">
                <a:extLst>
                  <a:ext uri="{FF2B5EF4-FFF2-40B4-BE49-F238E27FC236}">
                    <a16:creationId xmlns:a16="http://schemas.microsoft.com/office/drawing/2014/main" id="{0E2B63CD-210E-E2C0-916A-1614230AD396}"/>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1" name="AutoShape 373">
                <a:extLst>
                  <a:ext uri="{FF2B5EF4-FFF2-40B4-BE49-F238E27FC236}">
                    <a16:creationId xmlns:a16="http://schemas.microsoft.com/office/drawing/2014/main" id="{0EA2D194-BF0A-D514-0248-21E309BC2326}"/>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72" name="AutoShape 374">
                <a:extLst>
                  <a:ext uri="{FF2B5EF4-FFF2-40B4-BE49-F238E27FC236}">
                    <a16:creationId xmlns:a16="http://schemas.microsoft.com/office/drawing/2014/main" id="{01CFFC84-D249-42A4-0868-1F16BBB69E4F}"/>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3" name="Group 375">
                <a:extLst>
                  <a:ext uri="{FF2B5EF4-FFF2-40B4-BE49-F238E27FC236}">
                    <a16:creationId xmlns:a16="http://schemas.microsoft.com/office/drawing/2014/main" id="{08443143-3AE8-3E53-46FC-51E32F1E3D63}"/>
                  </a:ext>
                </a:extLst>
              </p:cNvPr>
              <p:cNvGrpSpPr>
                <a:grpSpLocks/>
              </p:cNvGrpSpPr>
              <p:nvPr/>
            </p:nvGrpSpPr>
            <p:grpSpPr bwMode="auto">
              <a:xfrm>
                <a:off x="752" y="2965"/>
                <a:ext cx="216" cy="299"/>
                <a:chOff x="576" y="1200"/>
                <a:chExt cx="240" cy="336"/>
              </a:xfrm>
            </p:grpSpPr>
            <p:sp>
              <p:nvSpPr>
                <p:cNvPr id="79" name="Rectangle 376">
                  <a:extLst>
                    <a:ext uri="{FF2B5EF4-FFF2-40B4-BE49-F238E27FC236}">
                      <a16:creationId xmlns:a16="http://schemas.microsoft.com/office/drawing/2014/main" id="{43EA79DB-7CCA-56B9-45B0-A3C294AD8570}"/>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0" name="Line 377">
                  <a:extLst>
                    <a:ext uri="{FF2B5EF4-FFF2-40B4-BE49-F238E27FC236}">
                      <a16:creationId xmlns:a16="http://schemas.microsoft.com/office/drawing/2014/main" id="{8AD1AAC2-837B-84BE-5CAB-19E8B7FD62F6}"/>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1" name="Line 378">
                  <a:extLst>
                    <a:ext uri="{FF2B5EF4-FFF2-40B4-BE49-F238E27FC236}">
                      <a16:creationId xmlns:a16="http://schemas.microsoft.com/office/drawing/2014/main" id="{4474308A-B07A-07CB-2E8D-7CC136CFD7DB}"/>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74" name="AutoShape 379">
                <a:extLst>
                  <a:ext uri="{FF2B5EF4-FFF2-40B4-BE49-F238E27FC236}">
                    <a16:creationId xmlns:a16="http://schemas.microsoft.com/office/drawing/2014/main" id="{7F7FC35B-070F-9B26-FF94-DE9B03E41D05}"/>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75" name="Group 380">
                <a:extLst>
                  <a:ext uri="{FF2B5EF4-FFF2-40B4-BE49-F238E27FC236}">
                    <a16:creationId xmlns:a16="http://schemas.microsoft.com/office/drawing/2014/main" id="{D38034DA-19B4-CC7E-E100-FC5D46E99028}"/>
                  </a:ext>
                </a:extLst>
              </p:cNvPr>
              <p:cNvGrpSpPr>
                <a:grpSpLocks/>
              </p:cNvGrpSpPr>
              <p:nvPr/>
            </p:nvGrpSpPr>
            <p:grpSpPr bwMode="auto">
              <a:xfrm>
                <a:off x="808" y="2802"/>
                <a:ext cx="140" cy="57"/>
                <a:chOff x="1440" y="1520"/>
                <a:chExt cx="156" cy="64"/>
              </a:xfrm>
            </p:grpSpPr>
            <p:sp>
              <p:nvSpPr>
                <p:cNvPr id="76" name="Line 381">
                  <a:extLst>
                    <a:ext uri="{FF2B5EF4-FFF2-40B4-BE49-F238E27FC236}">
                      <a16:creationId xmlns:a16="http://schemas.microsoft.com/office/drawing/2014/main" id="{4512140B-B294-F8CA-A5EF-4030C876984A}"/>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77" name="Line 382">
                  <a:extLst>
                    <a:ext uri="{FF2B5EF4-FFF2-40B4-BE49-F238E27FC236}">
                      <a16:creationId xmlns:a16="http://schemas.microsoft.com/office/drawing/2014/main" id="{4A5598C2-C33F-372A-1F16-4199F2810A0B}"/>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78" name="AutoShape 383">
                  <a:extLst>
                    <a:ext uri="{FF2B5EF4-FFF2-40B4-BE49-F238E27FC236}">
                      <a16:creationId xmlns:a16="http://schemas.microsoft.com/office/drawing/2014/main" id="{568844CC-6799-1637-E790-404870CD9255}"/>
                    </a:ext>
                  </a:extLst>
                </p:cNvPr>
                <p:cNvCxnSpPr>
                  <a:cxnSpLocks noChangeShapeType="1"/>
                  <a:stCxn id="76" idx="1"/>
                  <a:endCxn id="7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82" name="Group 384">
              <a:extLst>
                <a:ext uri="{FF2B5EF4-FFF2-40B4-BE49-F238E27FC236}">
                  <a16:creationId xmlns:a16="http://schemas.microsoft.com/office/drawing/2014/main" id="{ACD10A0E-EF20-B684-B022-67994266539A}"/>
                </a:ext>
              </a:extLst>
            </p:cNvPr>
            <p:cNvGrpSpPr>
              <a:grpSpLocks/>
            </p:cNvGrpSpPr>
            <p:nvPr/>
          </p:nvGrpSpPr>
          <p:grpSpPr bwMode="auto">
            <a:xfrm>
              <a:off x="5054600" y="4254500"/>
              <a:ext cx="342900" cy="812800"/>
              <a:chOff x="752" y="2752"/>
              <a:chExt cx="216" cy="512"/>
            </a:xfrm>
          </p:grpSpPr>
          <p:sp>
            <p:nvSpPr>
              <p:cNvPr id="87" name="AutoShape 385">
                <a:extLst>
                  <a:ext uri="{FF2B5EF4-FFF2-40B4-BE49-F238E27FC236}">
                    <a16:creationId xmlns:a16="http://schemas.microsoft.com/office/drawing/2014/main" id="{B5F17247-ADD9-A0A9-BAC5-F562B78200E9}"/>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0" name="AutoShape 386">
                <a:extLst>
                  <a:ext uri="{FF2B5EF4-FFF2-40B4-BE49-F238E27FC236}">
                    <a16:creationId xmlns:a16="http://schemas.microsoft.com/office/drawing/2014/main" id="{5DFB1314-37BD-D6BD-77EB-5BFDAB6A1AD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91" name="AutoShape 387">
                <a:extLst>
                  <a:ext uri="{FF2B5EF4-FFF2-40B4-BE49-F238E27FC236}">
                    <a16:creationId xmlns:a16="http://schemas.microsoft.com/office/drawing/2014/main" id="{7606F6ED-C007-B174-D8C0-48A5A5937B66}"/>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3" name="Group 388">
                <a:extLst>
                  <a:ext uri="{FF2B5EF4-FFF2-40B4-BE49-F238E27FC236}">
                    <a16:creationId xmlns:a16="http://schemas.microsoft.com/office/drawing/2014/main" id="{811501AF-3A26-EB9C-EDB0-905207BF6410}"/>
                  </a:ext>
                </a:extLst>
              </p:cNvPr>
              <p:cNvGrpSpPr>
                <a:grpSpLocks/>
              </p:cNvGrpSpPr>
              <p:nvPr/>
            </p:nvGrpSpPr>
            <p:grpSpPr bwMode="auto">
              <a:xfrm>
                <a:off x="752" y="2965"/>
                <a:ext cx="216" cy="299"/>
                <a:chOff x="576" y="1200"/>
                <a:chExt cx="240" cy="336"/>
              </a:xfrm>
            </p:grpSpPr>
            <p:sp>
              <p:nvSpPr>
                <p:cNvPr id="99" name="Rectangle 389">
                  <a:extLst>
                    <a:ext uri="{FF2B5EF4-FFF2-40B4-BE49-F238E27FC236}">
                      <a16:creationId xmlns:a16="http://schemas.microsoft.com/office/drawing/2014/main" id="{5F1423F6-E136-201C-A135-9F69C772E8B9}"/>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0" name="Line 390">
                  <a:extLst>
                    <a:ext uri="{FF2B5EF4-FFF2-40B4-BE49-F238E27FC236}">
                      <a16:creationId xmlns:a16="http://schemas.microsoft.com/office/drawing/2014/main" id="{8FBB2AB2-5647-D651-DEB5-0B547E4F9A7F}"/>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01" name="Line 391">
                  <a:extLst>
                    <a:ext uri="{FF2B5EF4-FFF2-40B4-BE49-F238E27FC236}">
                      <a16:creationId xmlns:a16="http://schemas.microsoft.com/office/drawing/2014/main" id="{3A3342DC-520E-FA47-E849-6A2924CAAC85}"/>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94" name="AutoShape 392">
                <a:extLst>
                  <a:ext uri="{FF2B5EF4-FFF2-40B4-BE49-F238E27FC236}">
                    <a16:creationId xmlns:a16="http://schemas.microsoft.com/office/drawing/2014/main" id="{FDA40B80-ABCD-7BB8-9FE7-59F8ED3C6DF9}"/>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95" name="Group 393">
                <a:extLst>
                  <a:ext uri="{FF2B5EF4-FFF2-40B4-BE49-F238E27FC236}">
                    <a16:creationId xmlns:a16="http://schemas.microsoft.com/office/drawing/2014/main" id="{B983536F-9921-1769-8E44-7E2C84DE907F}"/>
                  </a:ext>
                </a:extLst>
              </p:cNvPr>
              <p:cNvGrpSpPr>
                <a:grpSpLocks/>
              </p:cNvGrpSpPr>
              <p:nvPr/>
            </p:nvGrpSpPr>
            <p:grpSpPr bwMode="auto">
              <a:xfrm>
                <a:off x="808" y="2802"/>
                <a:ext cx="140" cy="57"/>
                <a:chOff x="1440" y="1520"/>
                <a:chExt cx="156" cy="64"/>
              </a:xfrm>
            </p:grpSpPr>
            <p:sp>
              <p:nvSpPr>
                <p:cNvPr id="96" name="Line 394">
                  <a:extLst>
                    <a:ext uri="{FF2B5EF4-FFF2-40B4-BE49-F238E27FC236}">
                      <a16:creationId xmlns:a16="http://schemas.microsoft.com/office/drawing/2014/main" id="{6F92AE12-451D-4427-A940-3735B054D186}"/>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7" name="Line 395">
                  <a:extLst>
                    <a:ext uri="{FF2B5EF4-FFF2-40B4-BE49-F238E27FC236}">
                      <a16:creationId xmlns:a16="http://schemas.microsoft.com/office/drawing/2014/main" id="{ACEA96C6-6763-D815-141B-BF2FFCF3E3A6}"/>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98" name="AutoShape 396">
                  <a:extLst>
                    <a:ext uri="{FF2B5EF4-FFF2-40B4-BE49-F238E27FC236}">
                      <a16:creationId xmlns:a16="http://schemas.microsoft.com/office/drawing/2014/main" id="{64A86919-74E9-17CC-CB73-81668F269E02}"/>
                    </a:ext>
                  </a:extLst>
                </p:cNvPr>
                <p:cNvCxnSpPr>
                  <a:cxnSpLocks noChangeShapeType="1"/>
                  <a:stCxn id="96" idx="1"/>
                  <a:endCxn id="9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grpSp>
          <p:nvGrpSpPr>
            <p:cNvPr id="102" name="Group 397">
              <a:extLst>
                <a:ext uri="{FF2B5EF4-FFF2-40B4-BE49-F238E27FC236}">
                  <a16:creationId xmlns:a16="http://schemas.microsoft.com/office/drawing/2014/main" id="{9C51CC71-DF4F-AE3B-9FEB-2F74ADC7C971}"/>
                </a:ext>
              </a:extLst>
            </p:cNvPr>
            <p:cNvGrpSpPr>
              <a:grpSpLocks/>
            </p:cNvGrpSpPr>
            <p:nvPr/>
          </p:nvGrpSpPr>
          <p:grpSpPr bwMode="auto">
            <a:xfrm>
              <a:off x="6464300" y="4254500"/>
              <a:ext cx="342900" cy="812800"/>
              <a:chOff x="752" y="2752"/>
              <a:chExt cx="216" cy="512"/>
            </a:xfrm>
          </p:grpSpPr>
          <p:sp>
            <p:nvSpPr>
              <p:cNvPr id="103" name="AutoShape 398">
                <a:extLst>
                  <a:ext uri="{FF2B5EF4-FFF2-40B4-BE49-F238E27FC236}">
                    <a16:creationId xmlns:a16="http://schemas.microsoft.com/office/drawing/2014/main" id="{B58AE451-B597-437E-4F9B-F48316171437}"/>
                  </a:ext>
                </a:extLst>
              </p:cNvPr>
              <p:cNvSpPr>
                <a:spLocks/>
              </p:cNvSpPr>
              <p:nvPr/>
            </p:nvSpPr>
            <p:spPr bwMode="auto">
              <a:xfrm rot="-5400000">
                <a:off x="852" y="265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4" name="AutoShape 399">
                <a:extLst>
                  <a:ext uri="{FF2B5EF4-FFF2-40B4-BE49-F238E27FC236}">
                    <a16:creationId xmlns:a16="http://schemas.microsoft.com/office/drawing/2014/main" id="{801B6E5A-DE3E-618F-FFF3-C1EB048A7DBC}"/>
                  </a:ext>
                </a:extLst>
              </p:cNvPr>
              <p:cNvSpPr>
                <a:spLocks/>
              </p:cNvSpPr>
              <p:nvPr/>
            </p:nvSpPr>
            <p:spPr bwMode="auto">
              <a:xfrm rot="-5400000">
                <a:off x="852" y="2660"/>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05" name="AutoShape 400">
                <a:extLst>
                  <a:ext uri="{FF2B5EF4-FFF2-40B4-BE49-F238E27FC236}">
                    <a16:creationId xmlns:a16="http://schemas.microsoft.com/office/drawing/2014/main" id="{9AC34646-3775-62A5-AB1B-3A57A099ABEC}"/>
                  </a:ext>
                </a:extLst>
              </p:cNvPr>
              <p:cNvSpPr>
                <a:spLocks/>
              </p:cNvSpPr>
              <p:nvPr/>
            </p:nvSpPr>
            <p:spPr bwMode="auto">
              <a:xfrm rot="-5400000">
                <a:off x="852" y="2668"/>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6" name="Group 401">
                <a:extLst>
                  <a:ext uri="{FF2B5EF4-FFF2-40B4-BE49-F238E27FC236}">
                    <a16:creationId xmlns:a16="http://schemas.microsoft.com/office/drawing/2014/main" id="{4933A5B3-7DBE-DFC9-2917-F358CA451EFB}"/>
                  </a:ext>
                </a:extLst>
              </p:cNvPr>
              <p:cNvGrpSpPr>
                <a:grpSpLocks/>
              </p:cNvGrpSpPr>
              <p:nvPr/>
            </p:nvGrpSpPr>
            <p:grpSpPr bwMode="auto">
              <a:xfrm>
                <a:off x="752" y="2965"/>
                <a:ext cx="216" cy="299"/>
                <a:chOff x="576" y="1200"/>
                <a:chExt cx="240" cy="336"/>
              </a:xfrm>
            </p:grpSpPr>
            <p:sp>
              <p:nvSpPr>
                <p:cNvPr id="112" name="Rectangle 402">
                  <a:extLst>
                    <a:ext uri="{FF2B5EF4-FFF2-40B4-BE49-F238E27FC236}">
                      <a16:creationId xmlns:a16="http://schemas.microsoft.com/office/drawing/2014/main" id="{11B1AB4F-4E49-3785-33CF-158A141E1FCC}"/>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3" name="Line 403">
                  <a:extLst>
                    <a:ext uri="{FF2B5EF4-FFF2-40B4-BE49-F238E27FC236}">
                      <a16:creationId xmlns:a16="http://schemas.microsoft.com/office/drawing/2014/main" id="{2062D1C6-082A-1807-BF13-28650A6C5F7D}"/>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4" name="Line 404">
                  <a:extLst>
                    <a:ext uri="{FF2B5EF4-FFF2-40B4-BE49-F238E27FC236}">
                      <a16:creationId xmlns:a16="http://schemas.microsoft.com/office/drawing/2014/main" id="{9ED00180-649D-7649-D48A-26DC9ADFF8B7}"/>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107" name="AutoShape 405">
                <a:extLst>
                  <a:ext uri="{FF2B5EF4-FFF2-40B4-BE49-F238E27FC236}">
                    <a16:creationId xmlns:a16="http://schemas.microsoft.com/office/drawing/2014/main" id="{D86FCA37-049E-E6CD-5361-D9122B9AC33A}"/>
                  </a:ext>
                </a:extLst>
              </p:cNvPr>
              <p:cNvSpPr>
                <a:spLocks noChangeArrowheads="1"/>
              </p:cNvSpPr>
              <p:nvPr/>
            </p:nvSpPr>
            <p:spPr bwMode="auto">
              <a:xfrm>
                <a:off x="752" y="2794"/>
                <a:ext cx="216" cy="146"/>
              </a:xfrm>
              <a:prstGeom prst="flowChartMerge">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08" name="Group 406">
                <a:extLst>
                  <a:ext uri="{FF2B5EF4-FFF2-40B4-BE49-F238E27FC236}">
                    <a16:creationId xmlns:a16="http://schemas.microsoft.com/office/drawing/2014/main" id="{267E0B05-9B86-7248-853A-B81EE3E36D19}"/>
                  </a:ext>
                </a:extLst>
              </p:cNvPr>
              <p:cNvGrpSpPr>
                <a:grpSpLocks/>
              </p:cNvGrpSpPr>
              <p:nvPr/>
            </p:nvGrpSpPr>
            <p:grpSpPr bwMode="auto">
              <a:xfrm>
                <a:off x="808" y="2802"/>
                <a:ext cx="140" cy="57"/>
                <a:chOff x="1440" y="1520"/>
                <a:chExt cx="156" cy="64"/>
              </a:xfrm>
            </p:grpSpPr>
            <p:sp>
              <p:nvSpPr>
                <p:cNvPr id="109" name="Line 407">
                  <a:extLst>
                    <a:ext uri="{FF2B5EF4-FFF2-40B4-BE49-F238E27FC236}">
                      <a16:creationId xmlns:a16="http://schemas.microsoft.com/office/drawing/2014/main" id="{D9DB0A16-7702-6B11-F551-F89759C67A81}"/>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0" name="Line 408">
                  <a:extLst>
                    <a:ext uri="{FF2B5EF4-FFF2-40B4-BE49-F238E27FC236}">
                      <a16:creationId xmlns:a16="http://schemas.microsoft.com/office/drawing/2014/main" id="{FD60D744-72A5-D098-B098-A07A7815FBE3}"/>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111" name="AutoShape 409">
                  <a:extLst>
                    <a:ext uri="{FF2B5EF4-FFF2-40B4-BE49-F238E27FC236}">
                      <a16:creationId xmlns:a16="http://schemas.microsoft.com/office/drawing/2014/main" id="{26772D7D-B1FD-F699-018E-15BBB158D7BF}"/>
                    </a:ext>
                  </a:extLst>
                </p:cNvPr>
                <p:cNvCxnSpPr>
                  <a:cxnSpLocks noChangeShapeType="1"/>
                  <a:stCxn id="109" idx="1"/>
                  <a:endCxn id="110"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
          <p:nvSpPr>
            <p:cNvPr id="115" name="Rectangle 410">
              <a:extLst>
                <a:ext uri="{FF2B5EF4-FFF2-40B4-BE49-F238E27FC236}">
                  <a16:creationId xmlns:a16="http://schemas.microsoft.com/office/drawing/2014/main" id="{E34CD691-9802-CEB2-8EAF-50FD36FD67D0}"/>
                </a:ext>
              </a:extLst>
            </p:cNvPr>
            <p:cNvSpPr>
              <a:spLocks noChangeArrowheads="1"/>
            </p:cNvSpPr>
            <p:nvPr/>
          </p:nvSpPr>
          <p:spPr bwMode="auto">
            <a:xfrm>
              <a:off x="304800" y="3235325"/>
              <a:ext cx="914400" cy="5334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6" name="Text Box 411">
              <a:extLst>
                <a:ext uri="{FF2B5EF4-FFF2-40B4-BE49-F238E27FC236}">
                  <a16:creationId xmlns:a16="http://schemas.microsoft.com/office/drawing/2014/main" id="{0E61A396-BCC6-19A2-5E81-A6A6B90ED84D}"/>
                </a:ext>
              </a:extLst>
            </p:cNvPr>
            <p:cNvSpPr txBox="1">
              <a:spLocks noChangeArrowheads="1"/>
            </p:cNvSpPr>
            <p:nvPr/>
          </p:nvSpPr>
          <p:spPr bwMode="auto">
            <a:xfrm>
              <a:off x="333375" y="3235325"/>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Focus Groups</a:t>
              </a:r>
            </a:p>
          </p:txBody>
        </p:sp>
        <p:cxnSp>
          <p:nvCxnSpPr>
            <p:cNvPr id="117" name="AutoShape 412">
              <a:extLst>
                <a:ext uri="{FF2B5EF4-FFF2-40B4-BE49-F238E27FC236}">
                  <a16:creationId xmlns:a16="http://schemas.microsoft.com/office/drawing/2014/main" id="{41F8B554-C856-461D-EA22-F828948BE69B}"/>
                </a:ext>
              </a:extLst>
            </p:cNvPr>
            <p:cNvCxnSpPr>
              <a:cxnSpLocks noChangeShapeType="1"/>
              <a:stCxn id="115" idx="2"/>
              <a:endCxn id="121" idx="1"/>
            </p:cNvCxnSpPr>
            <p:nvPr/>
          </p:nvCxnSpPr>
          <p:spPr bwMode="auto">
            <a:xfrm rot="16200000" flipH="1">
              <a:off x="634206" y="3896519"/>
              <a:ext cx="620713" cy="3651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18" name="Rectangle 414">
              <a:extLst>
                <a:ext uri="{FF2B5EF4-FFF2-40B4-BE49-F238E27FC236}">
                  <a16:creationId xmlns:a16="http://schemas.microsoft.com/office/drawing/2014/main" id="{B483A293-FCC7-8BEE-006C-CC2D4746AAE5}"/>
                </a:ext>
              </a:extLst>
            </p:cNvPr>
            <p:cNvSpPr>
              <a:spLocks noChangeArrowheads="1"/>
            </p:cNvSpPr>
            <p:nvPr/>
          </p:nvSpPr>
          <p:spPr bwMode="auto">
            <a:xfrm>
              <a:off x="3989388" y="193198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19" name="Rectangle 415">
              <a:extLst>
                <a:ext uri="{FF2B5EF4-FFF2-40B4-BE49-F238E27FC236}">
                  <a16:creationId xmlns:a16="http://schemas.microsoft.com/office/drawing/2014/main" id="{6BC50CA8-B497-66A3-21A8-E1DBF2A7CAF1}"/>
                </a:ext>
              </a:extLst>
            </p:cNvPr>
            <p:cNvSpPr>
              <a:spLocks noChangeArrowheads="1"/>
            </p:cNvSpPr>
            <p:nvPr/>
          </p:nvSpPr>
          <p:spPr bwMode="auto">
            <a:xfrm>
              <a:off x="54800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0" name="Rectangle 416">
              <a:extLst>
                <a:ext uri="{FF2B5EF4-FFF2-40B4-BE49-F238E27FC236}">
                  <a16:creationId xmlns:a16="http://schemas.microsoft.com/office/drawing/2014/main" id="{BACD6047-30D9-656D-574D-13FBC02F69FF}"/>
                </a:ext>
              </a:extLst>
            </p:cNvPr>
            <p:cNvSpPr>
              <a:spLocks noChangeArrowheads="1"/>
            </p:cNvSpPr>
            <p:nvPr/>
          </p:nvSpPr>
          <p:spPr bwMode="auto">
            <a:xfrm>
              <a:off x="40354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1" name="Rectangle 417">
              <a:extLst>
                <a:ext uri="{FF2B5EF4-FFF2-40B4-BE49-F238E27FC236}">
                  <a16:creationId xmlns:a16="http://schemas.microsoft.com/office/drawing/2014/main" id="{59EF5F2A-9A3A-89C5-703A-710CB17C0F1D}"/>
                </a:ext>
              </a:extLst>
            </p:cNvPr>
            <p:cNvSpPr>
              <a:spLocks noChangeArrowheads="1"/>
            </p:cNvSpPr>
            <p:nvPr/>
          </p:nvSpPr>
          <p:spPr bwMode="auto">
            <a:xfrm>
              <a:off x="112712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2" name="Text Box 418">
              <a:extLst>
                <a:ext uri="{FF2B5EF4-FFF2-40B4-BE49-F238E27FC236}">
                  <a16:creationId xmlns:a16="http://schemas.microsoft.com/office/drawing/2014/main" id="{26B86C03-3F99-D635-9B4E-45D755FC1CBE}"/>
                </a:ext>
              </a:extLst>
            </p:cNvPr>
            <p:cNvSpPr txBox="1">
              <a:spLocks noChangeArrowheads="1"/>
            </p:cNvSpPr>
            <p:nvPr/>
          </p:nvSpPr>
          <p:spPr bwMode="auto">
            <a:xfrm>
              <a:off x="4111625"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Design</a:t>
              </a:r>
            </a:p>
          </p:txBody>
        </p:sp>
        <p:sp>
          <p:nvSpPr>
            <p:cNvPr id="123" name="Text Box 419">
              <a:extLst>
                <a:ext uri="{FF2B5EF4-FFF2-40B4-BE49-F238E27FC236}">
                  <a16:creationId xmlns:a16="http://schemas.microsoft.com/office/drawing/2014/main" id="{6252BB30-28B0-F763-081C-CE235F2FEE18}"/>
                </a:ext>
              </a:extLst>
            </p:cNvPr>
            <p:cNvSpPr txBox="1">
              <a:spLocks noChangeArrowheads="1"/>
            </p:cNvSpPr>
            <p:nvPr/>
          </p:nvSpPr>
          <p:spPr bwMode="auto">
            <a:xfrm>
              <a:off x="5556250" y="4198938"/>
              <a:ext cx="762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Build</a:t>
              </a:r>
            </a:p>
          </p:txBody>
        </p:sp>
        <p:sp>
          <p:nvSpPr>
            <p:cNvPr id="124" name="Text Box 420">
              <a:extLst>
                <a:ext uri="{FF2B5EF4-FFF2-40B4-BE49-F238E27FC236}">
                  <a16:creationId xmlns:a16="http://schemas.microsoft.com/office/drawing/2014/main" id="{1CAA0B64-F80A-B5E3-DA76-10002EE94DDA}"/>
                </a:ext>
              </a:extLst>
            </p:cNvPr>
            <p:cNvSpPr txBox="1">
              <a:spLocks noChangeArrowheads="1"/>
            </p:cNvSpPr>
            <p:nvPr/>
          </p:nvSpPr>
          <p:spPr bwMode="auto">
            <a:xfrm>
              <a:off x="1168400" y="4198938"/>
              <a:ext cx="91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Concept Development</a:t>
              </a:r>
            </a:p>
          </p:txBody>
        </p:sp>
        <p:sp>
          <p:nvSpPr>
            <p:cNvPr id="125" name="Rectangle 421">
              <a:extLst>
                <a:ext uri="{FF2B5EF4-FFF2-40B4-BE49-F238E27FC236}">
                  <a16:creationId xmlns:a16="http://schemas.microsoft.com/office/drawing/2014/main" id="{31BF14E5-5509-D154-76A5-1D1416B81F4A}"/>
                </a:ext>
              </a:extLst>
            </p:cNvPr>
            <p:cNvSpPr>
              <a:spLocks noChangeArrowheads="1"/>
            </p:cNvSpPr>
            <p:nvPr/>
          </p:nvSpPr>
          <p:spPr bwMode="auto">
            <a:xfrm>
              <a:off x="2632075"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6" name="Text Box 422">
              <a:extLst>
                <a:ext uri="{FF2B5EF4-FFF2-40B4-BE49-F238E27FC236}">
                  <a16:creationId xmlns:a16="http://schemas.microsoft.com/office/drawing/2014/main" id="{C9F9AAD7-0B2D-C623-7D89-92F048133A2C}"/>
                </a:ext>
              </a:extLst>
            </p:cNvPr>
            <p:cNvSpPr txBox="1">
              <a:spLocks noChangeArrowheads="1"/>
            </p:cNvSpPr>
            <p:nvPr/>
          </p:nvSpPr>
          <p:spPr bwMode="auto">
            <a:xfrm>
              <a:off x="2673350" y="4198938"/>
              <a:ext cx="847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Product Specification</a:t>
              </a:r>
            </a:p>
          </p:txBody>
        </p:sp>
        <p:sp>
          <p:nvSpPr>
            <p:cNvPr id="127" name="Rectangle 434">
              <a:extLst>
                <a:ext uri="{FF2B5EF4-FFF2-40B4-BE49-F238E27FC236}">
                  <a16:creationId xmlns:a16="http://schemas.microsoft.com/office/drawing/2014/main" id="{0DF02F32-2ACF-A770-B9BC-18FB11F2DFD4}"/>
                </a:ext>
              </a:extLst>
            </p:cNvPr>
            <p:cNvSpPr>
              <a:spLocks noChangeArrowheads="1"/>
            </p:cNvSpPr>
            <p:nvPr/>
          </p:nvSpPr>
          <p:spPr bwMode="auto">
            <a:xfrm>
              <a:off x="6902450" y="4122738"/>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28" name="Text Box 435">
              <a:extLst>
                <a:ext uri="{FF2B5EF4-FFF2-40B4-BE49-F238E27FC236}">
                  <a16:creationId xmlns:a16="http://schemas.microsoft.com/office/drawing/2014/main" id="{016309E8-9FA6-CB74-906B-C675CC3FE168}"/>
                </a:ext>
              </a:extLst>
            </p:cNvPr>
            <p:cNvSpPr txBox="1">
              <a:spLocks noChangeArrowheads="1"/>
            </p:cNvSpPr>
            <p:nvPr/>
          </p:nvSpPr>
          <p:spPr bwMode="auto">
            <a:xfrm>
              <a:off x="6943725" y="4198938"/>
              <a:ext cx="762000"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Prototype Test</a:t>
              </a:r>
            </a:p>
          </p:txBody>
        </p:sp>
        <p:sp>
          <p:nvSpPr>
            <p:cNvPr id="129" name="Rectangle 436">
              <a:extLst>
                <a:ext uri="{FF2B5EF4-FFF2-40B4-BE49-F238E27FC236}">
                  <a16:creationId xmlns:a16="http://schemas.microsoft.com/office/drawing/2014/main" id="{5FAD9B19-835A-DCDE-9CFE-977A1DEEBC8D}"/>
                </a:ext>
              </a:extLst>
            </p:cNvPr>
            <p:cNvSpPr>
              <a:spLocks noChangeArrowheads="1"/>
            </p:cNvSpPr>
            <p:nvPr/>
          </p:nvSpPr>
          <p:spPr bwMode="auto">
            <a:xfrm>
              <a:off x="6878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0" name="Text Box 437">
              <a:extLst>
                <a:ext uri="{FF2B5EF4-FFF2-40B4-BE49-F238E27FC236}">
                  <a16:creationId xmlns:a16="http://schemas.microsoft.com/office/drawing/2014/main" id="{0DDC2108-1AD2-ED7C-FCBC-A6AA38425690}"/>
                </a:ext>
              </a:extLst>
            </p:cNvPr>
            <p:cNvSpPr txBox="1">
              <a:spLocks noChangeArrowheads="1"/>
            </p:cNvSpPr>
            <p:nvPr/>
          </p:nvSpPr>
          <p:spPr bwMode="auto">
            <a:xfrm>
              <a:off x="4025421" y="2047493"/>
              <a:ext cx="847725" cy="4036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dirty="0">
                  <a:latin typeface="Roboto" panose="02000000000000000000" pitchFamily="2" charset="0"/>
                  <a:ea typeface="Roboto" panose="02000000000000000000" pitchFamily="2" charset="0"/>
                </a:rPr>
                <a:t>Product Steering Committee</a:t>
              </a:r>
            </a:p>
          </p:txBody>
        </p:sp>
        <p:sp>
          <p:nvSpPr>
            <p:cNvPr id="131" name="Rectangle 438">
              <a:extLst>
                <a:ext uri="{FF2B5EF4-FFF2-40B4-BE49-F238E27FC236}">
                  <a16:creationId xmlns:a16="http://schemas.microsoft.com/office/drawing/2014/main" id="{F0D047E0-94CF-0B00-2B80-3E2195DC8E05}"/>
                </a:ext>
              </a:extLst>
            </p:cNvPr>
            <p:cNvSpPr>
              <a:spLocks noChangeArrowheads="1"/>
            </p:cNvSpPr>
            <p:nvPr/>
          </p:nvSpPr>
          <p:spPr bwMode="auto">
            <a:xfrm>
              <a:off x="40338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32" name="Text Box 439">
              <a:extLst>
                <a:ext uri="{FF2B5EF4-FFF2-40B4-BE49-F238E27FC236}">
                  <a16:creationId xmlns:a16="http://schemas.microsoft.com/office/drawing/2014/main" id="{8B054C71-013C-A841-D5B8-B798723376D7}"/>
                </a:ext>
              </a:extLst>
            </p:cNvPr>
            <p:cNvSpPr txBox="1">
              <a:spLocks noChangeArrowheads="1"/>
            </p:cNvSpPr>
            <p:nvPr/>
          </p:nvSpPr>
          <p:spPr bwMode="auto">
            <a:xfrm>
              <a:off x="40671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CAD</a:t>
              </a:r>
            </a:p>
          </p:txBody>
        </p:sp>
        <p:sp>
          <p:nvSpPr>
            <p:cNvPr id="133" name="Rectangle 440">
              <a:extLst>
                <a:ext uri="{FF2B5EF4-FFF2-40B4-BE49-F238E27FC236}">
                  <a16:creationId xmlns:a16="http://schemas.microsoft.com/office/drawing/2014/main" id="{800E07FA-5F5E-2F27-F17B-BFA5CFADCF92}"/>
                </a:ext>
              </a:extLst>
            </p:cNvPr>
            <p:cNvSpPr>
              <a:spLocks noChangeArrowheads="1"/>
            </p:cNvSpPr>
            <p:nvPr/>
          </p:nvSpPr>
          <p:spPr bwMode="auto">
            <a:xfrm>
              <a:off x="5481638" y="29876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34" name="Group 443">
              <a:extLst>
                <a:ext uri="{FF2B5EF4-FFF2-40B4-BE49-F238E27FC236}">
                  <a16:creationId xmlns:a16="http://schemas.microsoft.com/office/drawing/2014/main" id="{D2E2BF3E-D844-DA4D-A579-B528B999A3BD}"/>
                </a:ext>
              </a:extLst>
            </p:cNvPr>
            <p:cNvGrpSpPr>
              <a:grpSpLocks/>
            </p:cNvGrpSpPr>
            <p:nvPr/>
          </p:nvGrpSpPr>
          <p:grpSpPr bwMode="auto">
            <a:xfrm rot="-3656265">
              <a:off x="5691982" y="3696494"/>
              <a:ext cx="565150" cy="230187"/>
              <a:chOff x="636" y="2054"/>
              <a:chExt cx="200" cy="298"/>
            </a:xfrm>
          </p:grpSpPr>
          <p:sp>
            <p:nvSpPr>
              <p:cNvPr id="135" name="Line 444">
                <a:extLst>
                  <a:ext uri="{FF2B5EF4-FFF2-40B4-BE49-F238E27FC236}">
                    <a16:creationId xmlns:a16="http://schemas.microsoft.com/office/drawing/2014/main" id="{8D49208C-87BD-4763-4523-F932DC80E6B9}"/>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6" name="Line 445">
                <a:extLst>
                  <a:ext uri="{FF2B5EF4-FFF2-40B4-BE49-F238E27FC236}">
                    <a16:creationId xmlns:a16="http://schemas.microsoft.com/office/drawing/2014/main" id="{E171642C-AAC9-D96E-20EE-0652C994A96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37" name="Line 446">
                <a:extLst>
                  <a:ext uri="{FF2B5EF4-FFF2-40B4-BE49-F238E27FC236}">
                    <a16:creationId xmlns:a16="http://schemas.microsoft.com/office/drawing/2014/main" id="{D66AB749-B1ED-4034-5827-27224FCED3DD}"/>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38" name="Group 447">
              <a:extLst>
                <a:ext uri="{FF2B5EF4-FFF2-40B4-BE49-F238E27FC236}">
                  <a16:creationId xmlns:a16="http://schemas.microsoft.com/office/drawing/2014/main" id="{CDDABD42-0149-3FE6-01E4-5CF6FB929830}"/>
                </a:ext>
              </a:extLst>
            </p:cNvPr>
            <p:cNvGrpSpPr>
              <a:grpSpLocks/>
            </p:cNvGrpSpPr>
            <p:nvPr/>
          </p:nvGrpSpPr>
          <p:grpSpPr bwMode="auto">
            <a:xfrm rot="-3656265">
              <a:off x="7043738" y="3692525"/>
              <a:ext cx="547688" cy="223837"/>
              <a:chOff x="636" y="2054"/>
              <a:chExt cx="200" cy="298"/>
            </a:xfrm>
          </p:grpSpPr>
          <p:sp>
            <p:nvSpPr>
              <p:cNvPr id="139" name="Line 448">
                <a:extLst>
                  <a:ext uri="{FF2B5EF4-FFF2-40B4-BE49-F238E27FC236}">
                    <a16:creationId xmlns:a16="http://schemas.microsoft.com/office/drawing/2014/main" id="{B3EB1738-537D-09EE-D059-EA245697AC03}"/>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0" name="Line 449">
                <a:extLst>
                  <a:ext uri="{FF2B5EF4-FFF2-40B4-BE49-F238E27FC236}">
                    <a16:creationId xmlns:a16="http://schemas.microsoft.com/office/drawing/2014/main" id="{7AF35794-A71B-4412-9225-29C452DA3BF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1" name="Line 450">
                <a:extLst>
                  <a:ext uri="{FF2B5EF4-FFF2-40B4-BE49-F238E27FC236}">
                    <a16:creationId xmlns:a16="http://schemas.microsoft.com/office/drawing/2014/main" id="{C0B1CD2B-8340-A22D-42CB-9129C5A82469}"/>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grpSp>
          <p:nvGrpSpPr>
            <p:cNvPr id="142" name="Group 451">
              <a:extLst>
                <a:ext uri="{FF2B5EF4-FFF2-40B4-BE49-F238E27FC236}">
                  <a16:creationId xmlns:a16="http://schemas.microsoft.com/office/drawing/2014/main" id="{F5570AC8-1C1B-3D08-80B6-B51818A95AD2}"/>
                </a:ext>
              </a:extLst>
            </p:cNvPr>
            <p:cNvGrpSpPr>
              <a:grpSpLocks/>
            </p:cNvGrpSpPr>
            <p:nvPr/>
          </p:nvGrpSpPr>
          <p:grpSpPr bwMode="auto">
            <a:xfrm rot="-3656265">
              <a:off x="4228306" y="3682207"/>
              <a:ext cx="534987" cy="228600"/>
              <a:chOff x="636" y="2054"/>
              <a:chExt cx="200" cy="298"/>
            </a:xfrm>
          </p:grpSpPr>
          <p:sp>
            <p:nvSpPr>
              <p:cNvPr id="143" name="Line 452">
                <a:extLst>
                  <a:ext uri="{FF2B5EF4-FFF2-40B4-BE49-F238E27FC236}">
                    <a16:creationId xmlns:a16="http://schemas.microsoft.com/office/drawing/2014/main" id="{FA93BAE3-5239-6803-FC47-111B4049DD4F}"/>
                  </a:ext>
                </a:extLst>
              </p:cNvPr>
              <p:cNvSpPr>
                <a:spLocks noChangeShapeType="1"/>
              </p:cNvSpPr>
              <p:nvPr/>
            </p:nvSpPr>
            <p:spPr bwMode="auto">
              <a:xfrm flipV="1">
                <a:off x="740" y="2054"/>
                <a:ext cx="96" cy="192"/>
              </a:xfrm>
              <a:prstGeom prst="line">
                <a:avLst/>
              </a:prstGeom>
              <a:noFill/>
              <a:ln w="12700" cap="sq">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4" name="Line 453">
                <a:extLst>
                  <a:ext uri="{FF2B5EF4-FFF2-40B4-BE49-F238E27FC236}">
                    <a16:creationId xmlns:a16="http://schemas.microsoft.com/office/drawing/2014/main" id="{D837E1B7-D91F-8B47-C79D-DC67D469C17D}"/>
                  </a:ext>
                </a:extLst>
              </p:cNvPr>
              <p:cNvSpPr>
                <a:spLocks noChangeShapeType="1"/>
              </p:cNvSpPr>
              <p:nvPr/>
            </p:nvSpPr>
            <p:spPr bwMode="auto">
              <a:xfrm>
                <a:off x="732" y="2160"/>
                <a:ext cx="6" cy="9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45" name="Line 454">
                <a:extLst>
                  <a:ext uri="{FF2B5EF4-FFF2-40B4-BE49-F238E27FC236}">
                    <a16:creationId xmlns:a16="http://schemas.microsoft.com/office/drawing/2014/main" id="{FF8737D0-569C-3BEF-7110-473692621346}"/>
                  </a:ext>
                </a:extLst>
              </p:cNvPr>
              <p:cNvSpPr>
                <a:spLocks noChangeShapeType="1"/>
              </p:cNvSpPr>
              <p:nvPr/>
            </p:nvSpPr>
            <p:spPr bwMode="auto">
              <a:xfrm flipV="1">
                <a:off x="636" y="2160"/>
                <a:ext cx="96" cy="192"/>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146" name="Text Box 455">
              <a:extLst>
                <a:ext uri="{FF2B5EF4-FFF2-40B4-BE49-F238E27FC236}">
                  <a16:creationId xmlns:a16="http://schemas.microsoft.com/office/drawing/2014/main" id="{28C579C0-17CA-1610-0088-8AF087CBBE3E}"/>
                </a:ext>
              </a:extLst>
            </p:cNvPr>
            <p:cNvSpPr txBox="1">
              <a:spLocks noChangeArrowheads="1"/>
            </p:cNvSpPr>
            <p:nvPr/>
          </p:nvSpPr>
          <p:spPr bwMode="auto">
            <a:xfrm>
              <a:off x="55149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CNC Cell</a:t>
              </a:r>
            </a:p>
          </p:txBody>
        </p:sp>
        <p:sp>
          <p:nvSpPr>
            <p:cNvPr id="147" name="Text Box 456">
              <a:extLst>
                <a:ext uri="{FF2B5EF4-FFF2-40B4-BE49-F238E27FC236}">
                  <a16:creationId xmlns:a16="http://schemas.microsoft.com/office/drawing/2014/main" id="{D328BB3C-C7C0-F150-932D-477EAECBAE39}"/>
                </a:ext>
              </a:extLst>
            </p:cNvPr>
            <p:cNvSpPr txBox="1">
              <a:spLocks noChangeArrowheads="1"/>
            </p:cNvSpPr>
            <p:nvPr/>
          </p:nvSpPr>
          <p:spPr bwMode="auto">
            <a:xfrm>
              <a:off x="6907213" y="3060700"/>
              <a:ext cx="847725"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Golf Courses</a:t>
              </a:r>
            </a:p>
          </p:txBody>
        </p:sp>
        <p:cxnSp>
          <p:nvCxnSpPr>
            <p:cNvPr id="148" name="AutoShape 457">
              <a:extLst>
                <a:ext uri="{FF2B5EF4-FFF2-40B4-BE49-F238E27FC236}">
                  <a16:creationId xmlns:a16="http://schemas.microsoft.com/office/drawing/2014/main" id="{762ACF86-CC3E-93FE-BEEA-3BCB36ED7123}"/>
                </a:ext>
              </a:extLst>
            </p:cNvPr>
            <p:cNvCxnSpPr>
              <a:cxnSpLocks noChangeShapeType="1"/>
              <a:endCxn id="116" idx="0"/>
            </p:cNvCxnSpPr>
            <p:nvPr/>
          </p:nvCxnSpPr>
          <p:spPr bwMode="auto">
            <a:xfrm flipH="1">
              <a:off x="757238" y="1822450"/>
              <a:ext cx="11112" cy="1412875"/>
            </a:xfrm>
            <a:prstGeom prst="straightConnector1">
              <a:avLst/>
            </a:prstGeom>
            <a:noFill/>
            <a:ln w="57150" cap="sq">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9" name="Rectangle 459">
              <a:extLst>
                <a:ext uri="{FF2B5EF4-FFF2-40B4-BE49-F238E27FC236}">
                  <a16:creationId xmlns:a16="http://schemas.microsoft.com/office/drawing/2014/main" id="{7F618D27-6254-B2D8-1524-DE673094984F}"/>
                </a:ext>
              </a:extLst>
            </p:cNvPr>
            <p:cNvSpPr>
              <a:spLocks noChangeArrowheads="1"/>
            </p:cNvSpPr>
            <p:nvPr/>
          </p:nvSpPr>
          <p:spPr bwMode="auto">
            <a:xfrm>
              <a:off x="26225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0" name="Rectangle 460">
              <a:extLst>
                <a:ext uri="{FF2B5EF4-FFF2-40B4-BE49-F238E27FC236}">
                  <a16:creationId xmlns:a16="http://schemas.microsoft.com/office/drawing/2014/main" id="{FE2CF0F0-AA6E-CA48-372C-BBFD9C09CD19}"/>
                </a:ext>
              </a:extLst>
            </p:cNvPr>
            <p:cNvSpPr>
              <a:spLocks noChangeArrowheads="1"/>
            </p:cNvSpPr>
            <p:nvPr/>
          </p:nvSpPr>
          <p:spPr bwMode="auto">
            <a:xfrm>
              <a:off x="25590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2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1" name="Rectangle 461">
              <a:extLst>
                <a:ext uri="{FF2B5EF4-FFF2-40B4-BE49-F238E27FC236}">
                  <a16:creationId xmlns:a16="http://schemas.microsoft.com/office/drawing/2014/main" id="{11B6D195-6F90-9E59-1F23-CC5B2661D4E8}"/>
                </a:ext>
              </a:extLst>
            </p:cNvPr>
            <p:cNvSpPr>
              <a:spLocks noChangeArrowheads="1"/>
            </p:cNvSpPr>
            <p:nvPr/>
          </p:nvSpPr>
          <p:spPr bwMode="auto">
            <a:xfrm>
              <a:off x="40386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2" name="Rectangle 462">
              <a:extLst>
                <a:ext uri="{FF2B5EF4-FFF2-40B4-BE49-F238E27FC236}">
                  <a16:creationId xmlns:a16="http://schemas.microsoft.com/office/drawing/2014/main" id="{A6079AB1-B991-A3DD-D6FC-F514C597F04B}"/>
                </a:ext>
              </a:extLst>
            </p:cNvPr>
            <p:cNvSpPr>
              <a:spLocks noChangeArrowheads="1"/>
            </p:cNvSpPr>
            <p:nvPr/>
          </p:nvSpPr>
          <p:spPr bwMode="auto">
            <a:xfrm>
              <a:off x="3981450" y="4725988"/>
              <a:ext cx="10366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10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3" name="Rectangle 463">
              <a:extLst>
                <a:ext uri="{FF2B5EF4-FFF2-40B4-BE49-F238E27FC236}">
                  <a16:creationId xmlns:a16="http://schemas.microsoft.com/office/drawing/2014/main" id="{13714CC8-8936-CE4C-9E99-9D2A220ECF48}"/>
                </a:ext>
              </a:extLst>
            </p:cNvPr>
            <p:cNvSpPr>
              <a:spLocks noChangeArrowheads="1"/>
            </p:cNvSpPr>
            <p:nvPr/>
          </p:nvSpPr>
          <p:spPr bwMode="auto">
            <a:xfrm>
              <a:off x="549275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4" name="Rectangle 464">
              <a:extLst>
                <a:ext uri="{FF2B5EF4-FFF2-40B4-BE49-F238E27FC236}">
                  <a16:creationId xmlns:a16="http://schemas.microsoft.com/office/drawing/2014/main" id="{9456AE25-4AC3-0710-0BB5-592749A3253E}"/>
                </a:ext>
              </a:extLst>
            </p:cNvPr>
            <p:cNvSpPr>
              <a:spLocks noChangeArrowheads="1"/>
            </p:cNvSpPr>
            <p:nvPr/>
          </p:nvSpPr>
          <p:spPr bwMode="auto">
            <a:xfrm>
              <a:off x="5435600" y="4725988"/>
              <a:ext cx="9699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 Day</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95%</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sp>
          <p:nvSpPr>
            <p:cNvPr id="155" name="Rectangle 465">
              <a:extLst>
                <a:ext uri="{FF2B5EF4-FFF2-40B4-BE49-F238E27FC236}">
                  <a16:creationId xmlns:a16="http://schemas.microsoft.com/office/drawing/2014/main" id="{01BFBCF1-0A29-2A92-A087-4887F5CC28A2}"/>
                </a:ext>
              </a:extLst>
            </p:cNvPr>
            <p:cNvSpPr>
              <a:spLocks noChangeArrowheads="1"/>
            </p:cNvSpPr>
            <p:nvPr/>
          </p:nvSpPr>
          <p:spPr bwMode="auto">
            <a:xfrm>
              <a:off x="6908800" y="4729163"/>
              <a:ext cx="896938"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6" name="Rectangle 466">
              <a:extLst>
                <a:ext uri="{FF2B5EF4-FFF2-40B4-BE49-F238E27FC236}">
                  <a16:creationId xmlns:a16="http://schemas.microsoft.com/office/drawing/2014/main" id="{7B0E8411-8F24-DD42-B59B-96DF9C3EB027}"/>
                </a:ext>
              </a:extLst>
            </p:cNvPr>
            <p:cNvSpPr>
              <a:spLocks noChangeArrowheads="1"/>
            </p:cNvSpPr>
            <p:nvPr/>
          </p:nvSpPr>
          <p:spPr bwMode="auto">
            <a:xfrm>
              <a:off x="685800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0 times</a:t>
              </a:r>
            </a:p>
          </p:txBody>
        </p:sp>
        <p:sp>
          <p:nvSpPr>
            <p:cNvPr id="157" name="Rectangle 467">
              <a:extLst>
                <a:ext uri="{FF2B5EF4-FFF2-40B4-BE49-F238E27FC236}">
                  <a16:creationId xmlns:a16="http://schemas.microsoft.com/office/drawing/2014/main" id="{DF26FB61-D01F-AB26-71E6-A89CA17976F8}"/>
                </a:ext>
              </a:extLst>
            </p:cNvPr>
            <p:cNvSpPr>
              <a:spLocks noChangeArrowheads="1"/>
            </p:cNvSpPr>
            <p:nvPr/>
          </p:nvSpPr>
          <p:spPr bwMode="auto">
            <a:xfrm>
              <a:off x="1125538" y="4729163"/>
              <a:ext cx="896937" cy="57150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58" name="Rectangle 468">
              <a:extLst>
                <a:ext uri="{FF2B5EF4-FFF2-40B4-BE49-F238E27FC236}">
                  <a16:creationId xmlns:a16="http://schemas.microsoft.com/office/drawing/2014/main" id="{CCB6E510-13D7-E9F8-1EC8-800F43D1AA7A}"/>
                </a:ext>
              </a:extLst>
            </p:cNvPr>
            <p:cNvSpPr>
              <a:spLocks noChangeArrowheads="1"/>
            </p:cNvSpPr>
            <p:nvPr/>
          </p:nvSpPr>
          <p:spPr bwMode="auto">
            <a:xfrm>
              <a:off x="1060450" y="4725988"/>
              <a:ext cx="100171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 Lead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5 Days</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90%</a:t>
              </a:r>
            </a:p>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Rework = 1 Times</a:t>
              </a:r>
            </a:p>
          </p:txBody>
        </p:sp>
        <p:cxnSp>
          <p:nvCxnSpPr>
            <p:cNvPr id="159" name="AutoShape 469">
              <a:extLst>
                <a:ext uri="{FF2B5EF4-FFF2-40B4-BE49-F238E27FC236}">
                  <a16:creationId xmlns:a16="http://schemas.microsoft.com/office/drawing/2014/main" id="{2F970247-FC0F-7C88-8AF4-A6286C864BDE}"/>
                </a:ext>
              </a:extLst>
            </p:cNvPr>
            <p:cNvCxnSpPr>
              <a:cxnSpLocks noChangeShapeType="1"/>
            </p:cNvCxnSpPr>
            <p:nvPr/>
          </p:nvCxnSpPr>
          <p:spPr bwMode="auto">
            <a:xfrm rot="16200000">
              <a:off x="1833562" y="1938338"/>
              <a:ext cx="1935163" cy="2433638"/>
            </a:xfrm>
            <a:prstGeom prst="bentConnector2">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160" name="AutoShape 470">
              <a:extLst>
                <a:ext uri="{FF2B5EF4-FFF2-40B4-BE49-F238E27FC236}">
                  <a16:creationId xmlns:a16="http://schemas.microsoft.com/office/drawing/2014/main" id="{47248A03-42C6-A579-3CCF-85B3AAF3B2B7}"/>
                </a:ext>
              </a:extLst>
            </p:cNvPr>
            <p:cNvCxnSpPr>
              <a:cxnSpLocks noChangeShapeType="1"/>
            </p:cNvCxnSpPr>
            <p:nvPr/>
          </p:nvCxnSpPr>
          <p:spPr bwMode="auto">
            <a:xfrm rot="5400000">
              <a:off x="2923381" y="2604294"/>
              <a:ext cx="1684338" cy="1352550"/>
            </a:xfrm>
            <a:prstGeom prst="bentConnector3">
              <a:avLst>
                <a:gd name="adj1" fmla="val 18190"/>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161" name="Rectangle 471">
              <a:extLst>
                <a:ext uri="{FF2B5EF4-FFF2-40B4-BE49-F238E27FC236}">
                  <a16:creationId xmlns:a16="http://schemas.microsoft.com/office/drawing/2014/main" id="{71F1E404-8BD9-A989-B88D-AC86C6F67A73}"/>
                </a:ext>
              </a:extLst>
            </p:cNvPr>
            <p:cNvSpPr>
              <a:spLocks noChangeArrowheads="1"/>
            </p:cNvSpPr>
            <p:nvPr/>
          </p:nvSpPr>
          <p:spPr bwMode="auto">
            <a:xfrm>
              <a:off x="1938338" y="2974975"/>
              <a:ext cx="914400" cy="533400"/>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62" name="Text Box 472">
              <a:extLst>
                <a:ext uri="{FF2B5EF4-FFF2-40B4-BE49-F238E27FC236}">
                  <a16:creationId xmlns:a16="http://schemas.microsoft.com/office/drawing/2014/main" id="{B3F17DAE-2DC0-10CE-C9A0-38CFD1320AFE}"/>
                </a:ext>
              </a:extLst>
            </p:cNvPr>
            <p:cNvSpPr txBox="1">
              <a:spLocks noChangeArrowheads="1"/>
            </p:cNvSpPr>
            <p:nvPr/>
          </p:nvSpPr>
          <p:spPr bwMode="auto">
            <a:xfrm>
              <a:off x="1971675" y="2987675"/>
              <a:ext cx="8477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Workflow</a:t>
              </a:r>
            </a:p>
          </p:txBody>
        </p:sp>
        <p:grpSp>
          <p:nvGrpSpPr>
            <p:cNvPr id="163" name="Group 473">
              <a:extLst>
                <a:ext uri="{FF2B5EF4-FFF2-40B4-BE49-F238E27FC236}">
                  <a16:creationId xmlns:a16="http://schemas.microsoft.com/office/drawing/2014/main" id="{1664E740-9468-9B3F-840A-23EB0338181C}"/>
                </a:ext>
              </a:extLst>
            </p:cNvPr>
            <p:cNvGrpSpPr>
              <a:grpSpLocks/>
            </p:cNvGrpSpPr>
            <p:nvPr/>
          </p:nvGrpSpPr>
          <p:grpSpPr bwMode="auto">
            <a:xfrm>
              <a:off x="2049463" y="3517900"/>
              <a:ext cx="150812" cy="908050"/>
              <a:chOff x="1152" y="756"/>
              <a:chExt cx="92" cy="340"/>
            </a:xfrm>
          </p:grpSpPr>
          <p:sp>
            <p:nvSpPr>
              <p:cNvPr id="164" name="Line 474">
                <a:extLst>
                  <a:ext uri="{FF2B5EF4-FFF2-40B4-BE49-F238E27FC236}">
                    <a16:creationId xmlns:a16="http://schemas.microsoft.com/office/drawing/2014/main" id="{82097034-A192-FF19-3C51-2E25617F28F0}"/>
                  </a:ext>
                </a:extLst>
              </p:cNvPr>
              <p:cNvSpPr>
                <a:spLocks noChangeShapeType="1"/>
              </p:cNvSpPr>
              <p:nvPr/>
            </p:nvSpPr>
            <p:spPr bwMode="auto">
              <a:xfrm>
                <a:off x="1152" y="1096"/>
                <a:ext cx="56"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5" name="Line 475">
                <a:extLst>
                  <a:ext uri="{FF2B5EF4-FFF2-40B4-BE49-F238E27FC236}">
                    <a16:creationId xmlns:a16="http://schemas.microsoft.com/office/drawing/2014/main" id="{61F91CFC-01DD-8A73-3DF5-2E4F9205109F}"/>
                  </a:ext>
                </a:extLst>
              </p:cNvPr>
              <p:cNvSpPr>
                <a:spLocks noChangeShapeType="1"/>
              </p:cNvSpPr>
              <p:nvPr/>
            </p:nvSpPr>
            <p:spPr bwMode="auto">
              <a:xfrm flipV="1">
                <a:off x="1244" y="756"/>
                <a:ext cx="0" cy="188"/>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66" name="Line 476">
                <a:extLst>
                  <a:ext uri="{FF2B5EF4-FFF2-40B4-BE49-F238E27FC236}">
                    <a16:creationId xmlns:a16="http://schemas.microsoft.com/office/drawing/2014/main" id="{74FE840E-3E79-E042-F1C0-9BEB20F074B4}"/>
                  </a:ext>
                </a:extLst>
              </p:cNvPr>
              <p:cNvSpPr>
                <a:spLocks noChangeShapeType="1"/>
              </p:cNvSpPr>
              <p:nvPr/>
            </p:nvSpPr>
            <p:spPr bwMode="auto">
              <a:xfrm flipV="1">
                <a:off x="1210" y="924"/>
                <a:ext cx="0" cy="172"/>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67" name="AutoShape 477">
                <a:extLst>
                  <a:ext uri="{FF2B5EF4-FFF2-40B4-BE49-F238E27FC236}">
                    <a16:creationId xmlns:a16="http://schemas.microsoft.com/office/drawing/2014/main" id="{36202B84-9165-BB1F-3D6B-1922BB2EB6B8}"/>
                  </a:ext>
                </a:extLst>
              </p:cNvPr>
              <p:cNvCxnSpPr>
                <a:cxnSpLocks noChangeShapeType="1"/>
                <a:stCxn id="166" idx="1"/>
                <a:endCxn id="165" idx="0"/>
              </p:cNvCxnSpPr>
              <p:nvPr/>
            </p:nvCxnSpPr>
            <p:spPr bwMode="auto">
              <a:xfrm>
                <a:off x="1210" y="924"/>
                <a:ext cx="34" cy="2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168" name="Group 478">
              <a:extLst>
                <a:ext uri="{FF2B5EF4-FFF2-40B4-BE49-F238E27FC236}">
                  <a16:creationId xmlns:a16="http://schemas.microsoft.com/office/drawing/2014/main" id="{2332B3C8-446D-EAA9-46EA-C3724CC7D347}"/>
                </a:ext>
              </a:extLst>
            </p:cNvPr>
            <p:cNvGrpSpPr>
              <a:grpSpLocks/>
            </p:cNvGrpSpPr>
            <p:nvPr/>
          </p:nvGrpSpPr>
          <p:grpSpPr bwMode="auto">
            <a:xfrm>
              <a:off x="2851150" y="3344863"/>
              <a:ext cx="1181100" cy="1104900"/>
              <a:chOff x="1796" y="1947"/>
              <a:chExt cx="744" cy="696"/>
            </a:xfrm>
          </p:grpSpPr>
          <p:sp>
            <p:nvSpPr>
              <p:cNvPr id="169" name="Line 479">
                <a:extLst>
                  <a:ext uri="{FF2B5EF4-FFF2-40B4-BE49-F238E27FC236}">
                    <a16:creationId xmlns:a16="http://schemas.microsoft.com/office/drawing/2014/main" id="{F1DFF28D-E371-CB15-B72A-8CD5E1D5D941}"/>
                  </a:ext>
                </a:extLst>
              </p:cNvPr>
              <p:cNvSpPr>
                <a:spLocks noChangeShapeType="1"/>
              </p:cNvSpPr>
              <p:nvPr/>
            </p:nvSpPr>
            <p:spPr bwMode="auto">
              <a:xfrm>
                <a:off x="2393" y="2643"/>
                <a:ext cx="147"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0" name="Line 480">
                <a:extLst>
                  <a:ext uri="{FF2B5EF4-FFF2-40B4-BE49-F238E27FC236}">
                    <a16:creationId xmlns:a16="http://schemas.microsoft.com/office/drawing/2014/main" id="{F93E46BA-99AF-38D0-F25A-EB5B2896D43E}"/>
                  </a:ext>
                </a:extLst>
              </p:cNvPr>
              <p:cNvSpPr>
                <a:spLocks noChangeShapeType="1"/>
              </p:cNvSpPr>
              <p:nvPr/>
            </p:nvSpPr>
            <p:spPr bwMode="auto">
              <a:xfrm flipH="1" flipV="1">
                <a:off x="2360" y="1991"/>
                <a:ext cx="0" cy="36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1" name="Line 481">
                <a:extLst>
                  <a:ext uri="{FF2B5EF4-FFF2-40B4-BE49-F238E27FC236}">
                    <a16:creationId xmlns:a16="http://schemas.microsoft.com/office/drawing/2014/main" id="{3C76D320-B817-EC73-3EC7-2714386170EB}"/>
                  </a:ext>
                </a:extLst>
              </p:cNvPr>
              <p:cNvSpPr>
                <a:spLocks noChangeShapeType="1"/>
              </p:cNvSpPr>
              <p:nvPr/>
            </p:nvSpPr>
            <p:spPr bwMode="auto">
              <a:xfrm flipH="1" flipV="1">
                <a:off x="2391" y="2313"/>
                <a:ext cx="0" cy="33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2" name="AutoShape 482">
                <a:extLst>
                  <a:ext uri="{FF2B5EF4-FFF2-40B4-BE49-F238E27FC236}">
                    <a16:creationId xmlns:a16="http://schemas.microsoft.com/office/drawing/2014/main" id="{DDCBECB5-726D-82B5-0F1E-050F96271B8C}"/>
                  </a:ext>
                </a:extLst>
              </p:cNvPr>
              <p:cNvCxnSpPr>
                <a:cxnSpLocks noChangeShapeType="1"/>
                <a:stCxn id="171" idx="1"/>
                <a:endCxn id="170" idx="0"/>
              </p:cNvCxnSpPr>
              <p:nvPr/>
            </p:nvCxnSpPr>
            <p:spPr bwMode="auto">
              <a:xfrm flipH="1">
                <a:off x="2360" y="2314"/>
                <a:ext cx="31" cy="3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173" name="Group 483">
                <a:extLst>
                  <a:ext uri="{FF2B5EF4-FFF2-40B4-BE49-F238E27FC236}">
                    <a16:creationId xmlns:a16="http://schemas.microsoft.com/office/drawing/2014/main" id="{C05BAF4B-726E-94CC-98C7-52A3F840A65F}"/>
                  </a:ext>
                </a:extLst>
              </p:cNvPr>
              <p:cNvGrpSpPr>
                <a:grpSpLocks/>
              </p:cNvGrpSpPr>
              <p:nvPr/>
            </p:nvGrpSpPr>
            <p:grpSpPr bwMode="auto">
              <a:xfrm flipH="1">
                <a:off x="1796" y="1947"/>
                <a:ext cx="563" cy="45"/>
                <a:chOff x="2437" y="1862"/>
                <a:chExt cx="536" cy="49"/>
              </a:xfrm>
            </p:grpSpPr>
            <p:sp>
              <p:nvSpPr>
                <p:cNvPr id="174" name="Line 484">
                  <a:extLst>
                    <a:ext uri="{FF2B5EF4-FFF2-40B4-BE49-F238E27FC236}">
                      <a16:creationId xmlns:a16="http://schemas.microsoft.com/office/drawing/2014/main" id="{55E57816-4382-A544-BCD6-0781BFC58F2D}"/>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5" name="Line 485">
                  <a:extLst>
                    <a:ext uri="{FF2B5EF4-FFF2-40B4-BE49-F238E27FC236}">
                      <a16:creationId xmlns:a16="http://schemas.microsoft.com/office/drawing/2014/main" id="{D0B7A7F1-756E-5EEC-EBDE-C9CF4250AFDE}"/>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76" name="AutoShape 486">
                  <a:extLst>
                    <a:ext uri="{FF2B5EF4-FFF2-40B4-BE49-F238E27FC236}">
                      <a16:creationId xmlns:a16="http://schemas.microsoft.com/office/drawing/2014/main" id="{77343141-A3ED-A132-28DC-3BC1D2AF97CB}"/>
                    </a:ext>
                  </a:extLst>
                </p:cNvPr>
                <p:cNvCxnSpPr>
                  <a:cxnSpLocks noChangeShapeType="1"/>
                  <a:stCxn id="175" idx="1"/>
                  <a:endCxn id="174"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grpSp>
          <p:nvGrpSpPr>
            <p:cNvPr id="177" name="Group 487">
              <a:extLst>
                <a:ext uri="{FF2B5EF4-FFF2-40B4-BE49-F238E27FC236}">
                  <a16:creationId xmlns:a16="http://schemas.microsoft.com/office/drawing/2014/main" id="{497ADA45-E93A-C875-B93C-ADF01A04E2E4}"/>
                </a:ext>
              </a:extLst>
            </p:cNvPr>
            <p:cNvGrpSpPr>
              <a:grpSpLocks/>
            </p:cNvGrpSpPr>
            <p:nvPr/>
          </p:nvGrpSpPr>
          <p:grpSpPr bwMode="auto">
            <a:xfrm>
              <a:off x="2849563" y="3446463"/>
              <a:ext cx="850900" cy="979487"/>
              <a:chOff x="1795" y="1955"/>
              <a:chExt cx="536" cy="673"/>
            </a:xfrm>
          </p:grpSpPr>
          <p:sp>
            <p:nvSpPr>
              <p:cNvPr id="178" name="Line 488">
                <a:extLst>
                  <a:ext uri="{FF2B5EF4-FFF2-40B4-BE49-F238E27FC236}">
                    <a16:creationId xmlns:a16="http://schemas.microsoft.com/office/drawing/2014/main" id="{909BA521-4AB0-CBC9-7735-7511B68E37DF}"/>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79" name="Line 489">
                <a:extLst>
                  <a:ext uri="{FF2B5EF4-FFF2-40B4-BE49-F238E27FC236}">
                    <a16:creationId xmlns:a16="http://schemas.microsoft.com/office/drawing/2014/main" id="{ECB30EC4-64A5-929B-5FDE-5707B9C38661}"/>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180" name="Line 490">
                <a:extLst>
                  <a:ext uri="{FF2B5EF4-FFF2-40B4-BE49-F238E27FC236}">
                    <a16:creationId xmlns:a16="http://schemas.microsoft.com/office/drawing/2014/main" id="{876C61DD-AF7D-33C3-B87F-744DBDC03857}"/>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181" name="AutoShape 491">
                <a:extLst>
                  <a:ext uri="{FF2B5EF4-FFF2-40B4-BE49-F238E27FC236}">
                    <a16:creationId xmlns:a16="http://schemas.microsoft.com/office/drawing/2014/main" id="{9017B75D-4667-5B8F-308A-4D9D6629BCA9}"/>
                  </a:ext>
                </a:extLst>
              </p:cNvPr>
              <p:cNvCxnSpPr>
                <a:cxnSpLocks noChangeShapeType="1"/>
                <a:stCxn id="180" idx="1"/>
                <a:endCxn id="179"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182" name="Line 492">
                <a:extLst>
                  <a:ext uri="{FF2B5EF4-FFF2-40B4-BE49-F238E27FC236}">
                    <a16:creationId xmlns:a16="http://schemas.microsoft.com/office/drawing/2014/main" id="{8775B28E-7ABE-D594-AD68-028061C0F4CA}"/>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48" name="Line 493">
                <a:extLst>
                  <a:ext uri="{FF2B5EF4-FFF2-40B4-BE49-F238E27FC236}">
                    <a16:creationId xmlns:a16="http://schemas.microsoft.com/office/drawing/2014/main" id="{A18E8447-F92D-4255-3A12-25B808E9CCDD}"/>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49" name="AutoShape 494">
                <a:extLst>
                  <a:ext uri="{FF2B5EF4-FFF2-40B4-BE49-F238E27FC236}">
                    <a16:creationId xmlns:a16="http://schemas.microsoft.com/office/drawing/2014/main" id="{C9B22FFA-0434-32E7-EB24-278559C8912D}"/>
                  </a:ext>
                </a:extLst>
              </p:cNvPr>
              <p:cNvCxnSpPr>
                <a:cxnSpLocks noChangeShapeType="1"/>
                <a:stCxn id="348" idx="1"/>
                <a:endCxn id="182"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50" name="Group 495">
              <a:extLst>
                <a:ext uri="{FF2B5EF4-FFF2-40B4-BE49-F238E27FC236}">
                  <a16:creationId xmlns:a16="http://schemas.microsoft.com/office/drawing/2014/main" id="{F7057527-3312-B968-E986-4ABB1272407C}"/>
                </a:ext>
              </a:extLst>
            </p:cNvPr>
            <p:cNvGrpSpPr>
              <a:grpSpLocks/>
            </p:cNvGrpSpPr>
            <p:nvPr/>
          </p:nvGrpSpPr>
          <p:grpSpPr bwMode="auto">
            <a:xfrm>
              <a:off x="2862263" y="3186113"/>
              <a:ext cx="2609850" cy="1239837"/>
              <a:chOff x="1803" y="1847"/>
              <a:chExt cx="1644" cy="781"/>
            </a:xfrm>
          </p:grpSpPr>
          <p:grpSp>
            <p:nvGrpSpPr>
              <p:cNvPr id="351" name="Group 496">
                <a:extLst>
                  <a:ext uri="{FF2B5EF4-FFF2-40B4-BE49-F238E27FC236}">
                    <a16:creationId xmlns:a16="http://schemas.microsoft.com/office/drawing/2014/main" id="{2D03DDBB-F0B7-14C0-26E3-2F0857531492}"/>
                  </a:ext>
                </a:extLst>
              </p:cNvPr>
              <p:cNvGrpSpPr>
                <a:grpSpLocks/>
              </p:cNvGrpSpPr>
              <p:nvPr/>
            </p:nvGrpSpPr>
            <p:grpSpPr bwMode="auto">
              <a:xfrm>
                <a:off x="2525" y="2231"/>
                <a:ext cx="922" cy="397"/>
                <a:chOff x="1796" y="1862"/>
                <a:chExt cx="736" cy="766"/>
              </a:xfrm>
            </p:grpSpPr>
            <p:sp>
              <p:nvSpPr>
                <p:cNvPr id="353" name="Line 497">
                  <a:extLst>
                    <a:ext uri="{FF2B5EF4-FFF2-40B4-BE49-F238E27FC236}">
                      <a16:creationId xmlns:a16="http://schemas.microsoft.com/office/drawing/2014/main" id="{9264D76D-A1E8-B694-6C5D-FCD31C35F4B4}"/>
                    </a:ext>
                  </a:extLst>
                </p:cNvPr>
                <p:cNvSpPr>
                  <a:spLocks noChangeShapeType="1"/>
                </p:cNvSpPr>
                <p:nvPr/>
              </p:nvSpPr>
              <p:spPr bwMode="auto">
                <a:xfrm>
                  <a:off x="2474"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4" name="Line 498">
                  <a:extLst>
                    <a:ext uri="{FF2B5EF4-FFF2-40B4-BE49-F238E27FC236}">
                      <a16:creationId xmlns:a16="http://schemas.microsoft.com/office/drawing/2014/main" id="{9E9E939D-9476-036F-B498-01BBEA18B752}"/>
                    </a:ext>
                  </a:extLst>
                </p:cNvPr>
                <p:cNvSpPr>
                  <a:spLocks noChangeShapeType="1"/>
                </p:cNvSpPr>
                <p:nvPr/>
              </p:nvSpPr>
              <p:spPr bwMode="auto">
                <a:xfrm flipH="1" flipV="1">
                  <a:off x="2437" y="1910"/>
                  <a:ext cx="0" cy="39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5" name="Line 499">
                  <a:extLst>
                    <a:ext uri="{FF2B5EF4-FFF2-40B4-BE49-F238E27FC236}">
                      <a16:creationId xmlns:a16="http://schemas.microsoft.com/office/drawing/2014/main" id="{6BAA0DA2-FF12-02EB-208A-6B05538D1612}"/>
                    </a:ext>
                  </a:extLst>
                </p:cNvPr>
                <p:cNvSpPr>
                  <a:spLocks noChangeShapeType="1"/>
                </p:cNvSpPr>
                <p:nvPr/>
              </p:nvSpPr>
              <p:spPr bwMode="auto">
                <a:xfrm flipH="1" flipV="1">
                  <a:off x="2472" y="2265"/>
                  <a:ext cx="0" cy="363"/>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56" name="AutoShape 500">
                  <a:extLst>
                    <a:ext uri="{FF2B5EF4-FFF2-40B4-BE49-F238E27FC236}">
                      <a16:creationId xmlns:a16="http://schemas.microsoft.com/office/drawing/2014/main" id="{1A40DB9A-A7BF-2C31-DBA8-D097FF7FA5C8}"/>
                    </a:ext>
                  </a:extLst>
                </p:cNvPr>
                <p:cNvCxnSpPr>
                  <a:cxnSpLocks noChangeShapeType="1"/>
                  <a:stCxn id="355" idx="1"/>
                  <a:endCxn id="354" idx="0"/>
                </p:cNvCxnSpPr>
                <p:nvPr/>
              </p:nvCxnSpPr>
              <p:spPr bwMode="auto">
                <a:xfrm flipH="1">
                  <a:off x="2437" y="2266"/>
                  <a:ext cx="35"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nvGrpSpPr>
                <p:cNvPr id="357" name="Group 501">
                  <a:extLst>
                    <a:ext uri="{FF2B5EF4-FFF2-40B4-BE49-F238E27FC236}">
                      <a16:creationId xmlns:a16="http://schemas.microsoft.com/office/drawing/2014/main" id="{C84A0D23-2349-9A4D-FA14-7990A4A8B1EB}"/>
                    </a:ext>
                  </a:extLst>
                </p:cNvPr>
                <p:cNvGrpSpPr>
                  <a:grpSpLocks/>
                </p:cNvGrpSpPr>
                <p:nvPr/>
              </p:nvGrpSpPr>
              <p:grpSpPr bwMode="auto">
                <a:xfrm flipH="1">
                  <a:off x="1796" y="1862"/>
                  <a:ext cx="640" cy="49"/>
                  <a:chOff x="2437" y="1862"/>
                  <a:chExt cx="536" cy="49"/>
                </a:xfrm>
              </p:grpSpPr>
              <p:sp>
                <p:nvSpPr>
                  <p:cNvPr id="358" name="Line 502">
                    <a:extLst>
                      <a:ext uri="{FF2B5EF4-FFF2-40B4-BE49-F238E27FC236}">
                        <a16:creationId xmlns:a16="http://schemas.microsoft.com/office/drawing/2014/main" id="{2C69DC76-1325-BE2E-A5CC-5A380E294905}"/>
                      </a:ext>
                    </a:extLst>
                  </p:cNvPr>
                  <p:cNvSpPr>
                    <a:spLocks noChangeShapeType="1"/>
                  </p:cNvSpPr>
                  <p:nvPr/>
                </p:nvSpPr>
                <p:spPr bwMode="auto">
                  <a:xfrm rot="5400000" flipH="1" flipV="1">
                    <a:off x="2830" y="1718"/>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59" name="Line 503">
                    <a:extLst>
                      <a:ext uri="{FF2B5EF4-FFF2-40B4-BE49-F238E27FC236}">
                        <a16:creationId xmlns:a16="http://schemas.microsoft.com/office/drawing/2014/main" id="{94A40C44-B2FD-FD73-3C5E-D516AF6448E3}"/>
                      </a:ext>
                    </a:extLst>
                  </p:cNvPr>
                  <p:cNvSpPr>
                    <a:spLocks noChangeShapeType="1"/>
                  </p:cNvSpPr>
                  <p:nvPr/>
                </p:nvSpPr>
                <p:spPr bwMode="auto">
                  <a:xfrm rot="5400000" flipH="1" flipV="1">
                    <a:off x="2597" y="1750"/>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0" name="AutoShape 504">
                    <a:extLst>
                      <a:ext uri="{FF2B5EF4-FFF2-40B4-BE49-F238E27FC236}">
                        <a16:creationId xmlns:a16="http://schemas.microsoft.com/office/drawing/2014/main" id="{51731B49-F907-9C7D-9CA8-CAF37B9A9DBF}"/>
                      </a:ext>
                    </a:extLst>
                  </p:cNvPr>
                  <p:cNvCxnSpPr>
                    <a:cxnSpLocks noChangeShapeType="1"/>
                    <a:stCxn id="359" idx="1"/>
                    <a:endCxn id="358" idx="0"/>
                  </p:cNvCxnSpPr>
                  <p:nvPr/>
                </p:nvCxnSpPr>
                <p:spPr bwMode="auto">
                  <a:xfrm flipH="1" flipV="1">
                    <a:off x="2686" y="1863"/>
                    <a:ext cx="69" cy="48"/>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cxnSp>
            <p:nvCxnSpPr>
              <p:cNvPr id="352" name="AutoShape 505">
                <a:extLst>
                  <a:ext uri="{FF2B5EF4-FFF2-40B4-BE49-F238E27FC236}">
                    <a16:creationId xmlns:a16="http://schemas.microsoft.com/office/drawing/2014/main" id="{9835E83B-CD30-AB53-9C1D-9F081EC7BF19}"/>
                  </a:ext>
                </a:extLst>
              </p:cNvPr>
              <p:cNvCxnSpPr>
                <a:cxnSpLocks noChangeShapeType="1"/>
                <a:stCxn id="358" idx="1"/>
              </p:cNvCxnSpPr>
              <p:nvPr/>
            </p:nvCxnSpPr>
            <p:spPr bwMode="auto">
              <a:xfrm rot="10800000">
                <a:off x="1803" y="1847"/>
                <a:ext cx="723" cy="385"/>
              </a:xfrm>
              <a:prstGeom prst="bentConnector3">
                <a:avLst>
                  <a:gd name="adj1" fmla="val 14657"/>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grpSp>
          <p:nvGrpSpPr>
            <p:cNvPr id="361" name="Group 506">
              <a:extLst>
                <a:ext uri="{FF2B5EF4-FFF2-40B4-BE49-F238E27FC236}">
                  <a16:creationId xmlns:a16="http://schemas.microsoft.com/office/drawing/2014/main" id="{5237458C-C709-E4E8-CD02-90A365B64D0C}"/>
                </a:ext>
              </a:extLst>
            </p:cNvPr>
            <p:cNvGrpSpPr>
              <a:grpSpLocks/>
            </p:cNvGrpSpPr>
            <p:nvPr/>
          </p:nvGrpSpPr>
          <p:grpSpPr bwMode="auto">
            <a:xfrm>
              <a:off x="2836863" y="3252788"/>
              <a:ext cx="2322512" cy="1179512"/>
              <a:chOff x="1787" y="1885"/>
              <a:chExt cx="1463" cy="743"/>
            </a:xfrm>
          </p:grpSpPr>
          <p:grpSp>
            <p:nvGrpSpPr>
              <p:cNvPr id="362" name="Group 507">
                <a:extLst>
                  <a:ext uri="{FF2B5EF4-FFF2-40B4-BE49-F238E27FC236}">
                    <a16:creationId xmlns:a16="http://schemas.microsoft.com/office/drawing/2014/main" id="{DCCA9C50-E4E4-93CA-1EDC-83DFF0CF686A}"/>
                  </a:ext>
                </a:extLst>
              </p:cNvPr>
              <p:cNvGrpSpPr>
                <a:grpSpLocks/>
              </p:cNvGrpSpPr>
              <p:nvPr/>
            </p:nvGrpSpPr>
            <p:grpSpPr bwMode="auto">
              <a:xfrm>
                <a:off x="2506" y="2288"/>
                <a:ext cx="744" cy="340"/>
                <a:chOff x="1795" y="1955"/>
                <a:chExt cx="536" cy="673"/>
              </a:xfrm>
            </p:grpSpPr>
            <p:sp>
              <p:nvSpPr>
                <p:cNvPr id="364" name="Line 508">
                  <a:extLst>
                    <a:ext uri="{FF2B5EF4-FFF2-40B4-BE49-F238E27FC236}">
                      <a16:creationId xmlns:a16="http://schemas.microsoft.com/office/drawing/2014/main" id="{626C6EF1-F7C4-90AA-5610-B4170B0A2779}"/>
                    </a:ext>
                  </a:extLst>
                </p:cNvPr>
                <p:cNvSpPr>
                  <a:spLocks noChangeShapeType="1"/>
                </p:cNvSpPr>
                <p:nvPr/>
              </p:nvSpPr>
              <p:spPr bwMode="auto">
                <a:xfrm>
                  <a:off x="2236" y="2628"/>
                  <a:ext cx="58"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5" name="Line 509">
                  <a:extLst>
                    <a:ext uri="{FF2B5EF4-FFF2-40B4-BE49-F238E27FC236}">
                      <a16:creationId xmlns:a16="http://schemas.microsoft.com/office/drawing/2014/main" id="{0B2ABD69-31A3-9B56-1FD3-8C970AB8AB8B}"/>
                    </a:ext>
                  </a:extLst>
                </p:cNvPr>
                <p:cNvSpPr>
                  <a:spLocks noChangeShapeType="1"/>
                </p:cNvSpPr>
                <p:nvPr/>
              </p:nvSpPr>
              <p:spPr bwMode="auto">
                <a:xfrm flipV="1">
                  <a:off x="2331" y="1997"/>
                  <a:ext cx="0" cy="34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6" name="Line 510">
                  <a:extLst>
                    <a:ext uri="{FF2B5EF4-FFF2-40B4-BE49-F238E27FC236}">
                      <a16:creationId xmlns:a16="http://schemas.microsoft.com/office/drawing/2014/main" id="{3B33DB7E-8791-C798-0E0E-E7F3A446902D}"/>
                    </a:ext>
                  </a:extLst>
                </p:cNvPr>
                <p:cNvSpPr>
                  <a:spLocks noChangeShapeType="1"/>
                </p:cNvSpPr>
                <p:nvPr/>
              </p:nvSpPr>
              <p:spPr bwMode="auto">
                <a:xfrm flipV="1">
                  <a:off x="2296" y="2309"/>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67" name="AutoShape 511">
                  <a:extLst>
                    <a:ext uri="{FF2B5EF4-FFF2-40B4-BE49-F238E27FC236}">
                      <a16:creationId xmlns:a16="http://schemas.microsoft.com/office/drawing/2014/main" id="{8A500371-12CC-97C4-ED00-8B40CD45905F}"/>
                    </a:ext>
                  </a:extLst>
                </p:cNvPr>
                <p:cNvCxnSpPr>
                  <a:cxnSpLocks noChangeShapeType="1"/>
                  <a:stCxn id="366" idx="1"/>
                  <a:endCxn id="365" idx="0"/>
                </p:cNvCxnSpPr>
                <p:nvPr/>
              </p:nvCxnSpPr>
              <p:spPr bwMode="auto">
                <a:xfrm>
                  <a:off x="2296" y="2309"/>
                  <a:ext cx="35" cy="37"/>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68" name="Line 512">
                  <a:extLst>
                    <a:ext uri="{FF2B5EF4-FFF2-40B4-BE49-F238E27FC236}">
                      <a16:creationId xmlns:a16="http://schemas.microsoft.com/office/drawing/2014/main" id="{79556606-089B-D5BF-133D-9CA83A243383}"/>
                    </a:ext>
                  </a:extLst>
                </p:cNvPr>
                <p:cNvSpPr>
                  <a:spLocks noChangeShapeType="1"/>
                </p:cNvSpPr>
                <p:nvPr/>
              </p:nvSpPr>
              <p:spPr bwMode="auto">
                <a:xfrm rot="16200000" flipV="1">
                  <a:off x="1939" y="1811"/>
                  <a:ext cx="0" cy="287"/>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69" name="Line 513">
                  <a:extLst>
                    <a:ext uri="{FF2B5EF4-FFF2-40B4-BE49-F238E27FC236}">
                      <a16:creationId xmlns:a16="http://schemas.microsoft.com/office/drawing/2014/main" id="{052B687A-4AF9-A5F3-0C35-DE69E6181EE7}"/>
                    </a:ext>
                  </a:extLst>
                </p:cNvPr>
                <p:cNvSpPr>
                  <a:spLocks noChangeShapeType="1"/>
                </p:cNvSpPr>
                <p:nvPr/>
              </p:nvSpPr>
              <p:spPr bwMode="auto">
                <a:xfrm rot="16200000" flipV="1">
                  <a:off x="2172" y="1837"/>
                  <a:ext cx="0" cy="31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0" name="AutoShape 514">
                  <a:extLst>
                    <a:ext uri="{FF2B5EF4-FFF2-40B4-BE49-F238E27FC236}">
                      <a16:creationId xmlns:a16="http://schemas.microsoft.com/office/drawing/2014/main" id="{91E3B3DC-277B-8FC2-27DA-8D95A6B9F819}"/>
                    </a:ext>
                  </a:extLst>
                </p:cNvPr>
                <p:cNvCxnSpPr>
                  <a:cxnSpLocks noChangeShapeType="1"/>
                  <a:stCxn id="369" idx="1"/>
                  <a:endCxn id="368" idx="0"/>
                </p:cNvCxnSpPr>
                <p:nvPr/>
              </p:nvCxnSpPr>
              <p:spPr bwMode="auto">
                <a:xfrm flipV="1">
                  <a:off x="2013" y="1956"/>
                  <a:ext cx="70" cy="4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63" name="AutoShape 515">
                <a:extLst>
                  <a:ext uri="{FF2B5EF4-FFF2-40B4-BE49-F238E27FC236}">
                    <a16:creationId xmlns:a16="http://schemas.microsoft.com/office/drawing/2014/main" id="{D4D209AB-CA9F-C2E2-AD75-9D9604AB243D}"/>
                  </a:ext>
                </a:extLst>
              </p:cNvPr>
              <p:cNvCxnSpPr>
                <a:cxnSpLocks noChangeShapeType="1"/>
                <a:stCxn id="368" idx="1"/>
              </p:cNvCxnSpPr>
              <p:nvPr/>
            </p:nvCxnSpPr>
            <p:spPr bwMode="auto">
              <a:xfrm rot="10800000">
                <a:off x="1787" y="1885"/>
                <a:ext cx="719" cy="403"/>
              </a:xfrm>
              <a:prstGeom prst="bentConnector3">
                <a:avLst>
                  <a:gd name="adj1" fmla="val 15019"/>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grpSp>
          <p:nvGrpSpPr>
            <p:cNvPr id="371" name="Group 516">
              <a:extLst>
                <a:ext uri="{FF2B5EF4-FFF2-40B4-BE49-F238E27FC236}">
                  <a16:creationId xmlns:a16="http://schemas.microsoft.com/office/drawing/2014/main" id="{DE48C746-79C4-E229-1039-E372C6C7DE66}"/>
                </a:ext>
              </a:extLst>
            </p:cNvPr>
            <p:cNvGrpSpPr>
              <a:grpSpLocks/>
            </p:cNvGrpSpPr>
            <p:nvPr/>
          </p:nvGrpSpPr>
          <p:grpSpPr bwMode="auto">
            <a:xfrm>
              <a:off x="2852738" y="2841625"/>
              <a:ext cx="3760787" cy="1590675"/>
              <a:chOff x="1797" y="1630"/>
              <a:chExt cx="2369" cy="1002"/>
            </a:xfrm>
          </p:grpSpPr>
          <p:sp>
            <p:nvSpPr>
              <p:cNvPr id="372" name="Line 517">
                <a:extLst>
                  <a:ext uri="{FF2B5EF4-FFF2-40B4-BE49-F238E27FC236}">
                    <a16:creationId xmlns:a16="http://schemas.microsoft.com/office/drawing/2014/main" id="{44E63953-D52E-1065-BC7A-B8472CDED278}"/>
                  </a:ext>
                </a:extLst>
              </p:cNvPr>
              <p:cNvSpPr>
                <a:spLocks noChangeShapeType="1"/>
              </p:cNvSpPr>
              <p:nvPr/>
            </p:nvSpPr>
            <p:spPr bwMode="auto">
              <a:xfrm>
                <a:off x="4030" y="2632"/>
                <a:ext cx="83" cy="0"/>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73" name="Line 518">
                <a:extLst>
                  <a:ext uri="{FF2B5EF4-FFF2-40B4-BE49-F238E27FC236}">
                    <a16:creationId xmlns:a16="http://schemas.microsoft.com/office/drawing/2014/main" id="{5AECA944-B83F-5844-9954-38C9B738DBDD}"/>
                  </a:ext>
                </a:extLst>
              </p:cNvPr>
              <p:cNvSpPr>
                <a:spLocks noChangeShapeType="1"/>
              </p:cNvSpPr>
              <p:nvPr/>
            </p:nvSpPr>
            <p:spPr bwMode="auto">
              <a:xfrm flipV="1">
                <a:off x="4116" y="2158"/>
                <a:ext cx="0" cy="474"/>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4" name="AutoShape 519">
                <a:extLst>
                  <a:ext uri="{FF2B5EF4-FFF2-40B4-BE49-F238E27FC236}">
                    <a16:creationId xmlns:a16="http://schemas.microsoft.com/office/drawing/2014/main" id="{D3F20A94-B8E7-428D-9B70-AC0837356F50}"/>
                  </a:ext>
                </a:extLst>
              </p:cNvPr>
              <p:cNvCxnSpPr>
                <a:cxnSpLocks noChangeShapeType="1"/>
                <a:stCxn id="373" idx="1"/>
              </p:cNvCxnSpPr>
              <p:nvPr/>
            </p:nvCxnSpPr>
            <p:spPr bwMode="auto">
              <a:xfrm>
                <a:off x="4116" y="2158"/>
                <a:ext cx="50" cy="55"/>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sp>
            <p:nvSpPr>
              <p:cNvPr id="375" name="Line 520">
                <a:extLst>
                  <a:ext uri="{FF2B5EF4-FFF2-40B4-BE49-F238E27FC236}">
                    <a16:creationId xmlns:a16="http://schemas.microsoft.com/office/drawing/2014/main" id="{C31EB912-32FE-05A7-A0C4-1D022F44EC09}"/>
                  </a:ext>
                </a:extLst>
              </p:cNvPr>
              <p:cNvSpPr>
                <a:spLocks noChangeShapeType="1"/>
              </p:cNvSpPr>
              <p:nvPr/>
            </p:nvSpPr>
            <p:spPr bwMode="auto">
              <a:xfrm rot="16200000" flipV="1">
                <a:off x="3938" y="1402"/>
                <a:ext cx="0" cy="45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76" name="AutoShape 521">
                <a:extLst>
                  <a:ext uri="{FF2B5EF4-FFF2-40B4-BE49-F238E27FC236}">
                    <a16:creationId xmlns:a16="http://schemas.microsoft.com/office/drawing/2014/main" id="{57D2C61D-6F5C-C169-6AA4-4AC1913F1993}"/>
                  </a:ext>
                </a:extLst>
              </p:cNvPr>
              <p:cNvCxnSpPr>
                <a:cxnSpLocks noChangeShapeType="1"/>
              </p:cNvCxnSpPr>
              <p:nvPr/>
            </p:nvCxnSpPr>
            <p:spPr bwMode="auto">
              <a:xfrm>
                <a:off x="3714" y="1630"/>
                <a:ext cx="132" cy="60"/>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cxnSp>
            <p:nvCxnSpPr>
              <p:cNvPr id="377" name="AutoShape 522">
                <a:extLst>
                  <a:ext uri="{FF2B5EF4-FFF2-40B4-BE49-F238E27FC236}">
                    <a16:creationId xmlns:a16="http://schemas.microsoft.com/office/drawing/2014/main" id="{60731266-AC3A-198C-95E8-D344A0A05B6E}"/>
                  </a:ext>
                </a:extLst>
              </p:cNvPr>
              <p:cNvCxnSpPr>
                <a:cxnSpLocks noChangeShapeType="1"/>
              </p:cNvCxnSpPr>
              <p:nvPr/>
            </p:nvCxnSpPr>
            <p:spPr bwMode="auto">
              <a:xfrm flipH="1">
                <a:off x="1797" y="1692"/>
                <a:ext cx="2055" cy="111"/>
              </a:xfrm>
              <a:prstGeom prst="bentConnector3">
                <a:avLst>
                  <a:gd name="adj1" fmla="val 86907"/>
                </a:avLst>
              </a:prstGeom>
              <a:noFill/>
              <a:ln w="12700" cap="sq">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78" name="AutoShape 523">
                <a:extLst>
                  <a:ext uri="{FF2B5EF4-FFF2-40B4-BE49-F238E27FC236}">
                    <a16:creationId xmlns:a16="http://schemas.microsoft.com/office/drawing/2014/main" id="{9AE608FC-7A1E-147E-7EED-54272B1D3355}"/>
                  </a:ext>
                </a:extLst>
              </p:cNvPr>
              <p:cNvCxnSpPr>
                <a:cxnSpLocks noChangeShapeType="1"/>
                <a:endCxn id="375" idx="0"/>
              </p:cNvCxnSpPr>
              <p:nvPr/>
            </p:nvCxnSpPr>
            <p:spPr bwMode="auto">
              <a:xfrm flipV="1">
                <a:off x="4166" y="1630"/>
                <a:ext cx="0" cy="586"/>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79" name="Group 524">
              <a:extLst>
                <a:ext uri="{FF2B5EF4-FFF2-40B4-BE49-F238E27FC236}">
                  <a16:creationId xmlns:a16="http://schemas.microsoft.com/office/drawing/2014/main" id="{48906CCA-4B31-D73A-B549-08E33D58B937}"/>
                </a:ext>
              </a:extLst>
            </p:cNvPr>
            <p:cNvGrpSpPr>
              <a:grpSpLocks/>
            </p:cNvGrpSpPr>
            <p:nvPr/>
          </p:nvGrpSpPr>
          <p:grpSpPr bwMode="auto">
            <a:xfrm>
              <a:off x="2478088" y="3517900"/>
              <a:ext cx="150812" cy="908050"/>
              <a:chOff x="1561" y="2056"/>
              <a:chExt cx="95" cy="572"/>
            </a:xfrm>
          </p:grpSpPr>
          <p:sp>
            <p:nvSpPr>
              <p:cNvPr id="380" name="Line 525">
                <a:extLst>
                  <a:ext uri="{FF2B5EF4-FFF2-40B4-BE49-F238E27FC236}">
                    <a16:creationId xmlns:a16="http://schemas.microsoft.com/office/drawing/2014/main" id="{7011C5D0-CE17-A5C7-7DAD-8CD74A575208}"/>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1" name="Line 526">
                <a:extLst>
                  <a:ext uri="{FF2B5EF4-FFF2-40B4-BE49-F238E27FC236}">
                    <a16:creationId xmlns:a16="http://schemas.microsoft.com/office/drawing/2014/main" id="{221C1552-DC6A-3D32-D0AC-66229DA7862C}"/>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2" name="Line 527">
                <a:extLst>
                  <a:ext uri="{FF2B5EF4-FFF2-40B4-BE49-F238E27FC236}">
                    <a16:creationId xmlns:a16="http://schemas.microsoft.com/office/drawing/2014/main" id="{B2821A15-6286-40EB-6105-94D13A120CD5}"/>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83" name="AutoShape 528">
                <a:extLst>
                  <a:ext uri="{FF2B5EF4-FFF2-40B4-BE49-F238E27FC236}">
                    <a16:creationId xmlns:a16="http://schemas.microsoft.com/office/drawing/2014/main" id="{97263063-090E-16D2-33E7-C3CDC1547413}"/>
                  </a:ext>
                </a:extLst>
              </p:cNvPr>
              <p:cNvCxnSpPr>
                <a:cxnSpLocks noChangeShapeType="1"/>
                <a:stCxn id="382" idx="1"/>
                <a:endCxn id="381"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grpSp>
          <p:nvGrpSpPr>
            <p:cNvPr id="384" name="Group 529">
              <a:extLst>
                <a:ext uri="{FF2B5EF4-FFF2-40B4-BE49-F238E27FC236}">
                  <a16:creationId xmlns:a16="http://schemas.microsoft.com/office/drawing/2014/main" id="{7177C162-758F-0229-1857-62498C1D8901}"/>
                </a:ext>
              </a:extLst>
            </p:cNvPr>
            <p:cNvGrpSpPr>
              <a:grpSpLocks/>
            </p:cNvGrpSpPr>
            <p:nvPr/>
          </p:nvGrpSpPr>
          <p:grpSpPr bwMode="auto">
            <a:xfrm>
              <a:off x="2389188" y="2628900"/>
              <a:ext cx="4519612" cy="1790700"/>
              <a:chOff x="1505" y="1496"/>
              <a:chExt cx="2847" cy="1128"/>
            </a:xfrm>
          </p:grpSpPr>
          <p:grpSp>
            <p:nvGrpSpPr>
              <p:cNvPr id="385" name="Group 530">
                <a:extLst>
                  <a:ext uri="{FF2B5EF4-FFF2-40B4-BE49-F238E27FC236}">
                    <a16:creationId xmlns:a16="http://schemas.microsoft.com/office/drawing/2014/main" id="{CC99CAB1-92FC-88BC-3088-647C0EF59E77}"/>
                  </a:ext>
                </a:extLst>
              </p:cNvPr>
              <p:cNvGrpSpPr>
                <a:grpSpLocks/>
              </p:cNvGrpSpPr>
              <p:nvPr/>
            </p:nvGrpSpPr>
            <p:grpSpPr bwMode="auto">
              <a:xfrm>
                <a:off x="4257" y="1496"/>
                <a:ext cx="95" cy="1128"/>
                <a:chOff x="1561" y="2056"/>
                <a:chExt cx="95" cy="572"/>
              </a:xfrm>
            </p:grpSpPr>
            <p:sp>
              <p:nvSpPr>
                <p:cNvPr id="387" name="Line 531">
                  <a:extLst>
                    <a:ext uri="{FF2B5EF4-FFF2-40B4-BE49-F238E27FC236}">
                      <a16:creationId xmlns:a16="http://schemas.microsoft.com/office/drawing/2014/main" id="{61BAD1AE-486E-2DD7-422E-622E7381055F}"/>
                    </a:ext>
                  </a:extLst>
                </p:cNvPr>
                <p:cNvSpPr>
                  <a:spLocks noChangeShapeType="1"/>
                </p:cNvSpPr>
                <p:nvPr/>
              </p:nvSpPr>
              <p:spPr bwMode="auto">
                <a:xfrm>
                  <a:off x="1598" y="2628"/>
                  <a:ext cx="58" cy="0"/>
                </a:xfrm>
                <a:prstGeom prst="line">
                  <a:avLst/>
                </a:prstGeom>
                <a:noFill/>
                <a:ln w="12700" cap="sq">
                  <a:solidFill>
                    <a:schemeClr val="tx1"/>
                  </a:solidFill>
                  <a:round/>
                  <a:headEnd/>
                  <a:tailEnd type="triangle" w="med" len="sm"/>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8" name="Line 532">
                  <a:extLst>
                    <a:ext uri="{FF2B5EF4-FFF2-40B4-BE49-F238E27FC236}">
                      <a16:creationId xmlns:a16="http://schemas.microsoft.com/office/drawing/2014/main" id="{FB79F4E4-2C54-F310-1CFE-DBA9F0054DCE}"/>
                    </a:ext>
                  </a:extLst>
                </p:cNvPr>
                <p:cNvSpPr>
                  <a:spLocks noChangeShapeType="1"/>
                </p:cNvSpPr>
                <p:nvPr/>
              </p:nvSpPr>
              <p:spPr bwMode="auto">
                <a:xfrm flipH="1" flipV="1">
                  <a:off x="1561" y="2056"/>
                  <a:ext cx="0" cy="316"/>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389" name="Line 533">
                  <a:extLst>
                    <a:ext uri="{FF2B5EF4-FFF2-40B4-BE49-F238E27FC236}">
                      <a16:creationId xmlns:a16="http://schemas.microsoft.com/office/drawing/2014/main" id="{642DEA1C-450F-5C6D-786C-97AD3FB58F23}"/>
                    </a:ext>
                  </a:extLst>
                </p:cNvPr>
                <p:cNvSpPr>
                  <a:spLocks noChangeShapeType="1"/>
                </p:cNvSpPr>
                <p:nvPr/>
              </p:nvSpPr>
              <p:spPr bwMode="auto">
                <a:xfrm flipH="1" flipV="1">
                  <a:off x="1596" y="2339"/>
                  <a:ext cx="0" cy="289"/>
                </a:xfrm>
                <a:prstGeom prst="line">
                  <a:avLst/>
                </a:prstGeom>
                <a:noFill/>
                <a:ln w="127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cxnSp>
              <p:nvCxnSpPr>
                <p:cNvPr id="390" name="AutoShape 534">
                  <a:extLst>
                    <a:ext uri="{FF2B5EF4-FFF2-40B4-BE49-F238E27FC236}">
                      <a16:creationId xmlns:a16="http://schemas.microsoft.com/office/drawing/2014/main" id="{65931D6E-2611-BC8F-0075-747E54150F41}"/>
                    </a:ext>
                  </a:extLst>
                </p:cNvPr>
                <p:cNvCxnSpPr>
                  <a:cxnSpLocks noChangeShapeType="1"/>
                  <a:stCxn id="389" idx="1"/>
                  <a:endCxn id="388" idx="0"/>
                </p:cNvCxnSpPr>
                <p:nvPr/>
              </p:nvCxnSpPr>
              <p:spPr bwMode="auto">
                <a:xfrm flipH="1">
                  <a:off x="1561" y="2340"/>
                  <a:ext cx="35" cy="32"/>
                </a:xfrm>
                <a:prstGeom prst="straightConnector1">
                  <a:avLst/>
                </a:prstGeom>
                <a:noFill/>
                <a:ln w="12700" cap="sq">
                  <a:solidFill>
                    <a:schemeClr val="tx1"/>
                  </a:solidFill>
                  <a:round/>
                  <a:headEnd/>
                  <a:tailEnd/>
                </a:ln>
                <a:extLst>
                  <a:ext uri="{909E8E84-426E-40DD-AFC4-6F175D3DCCD1}">
                    <a14:hiddenFill xmlns:a14="http://schemas.microsoft.com/office/drawing/2010/main">
                      <a:noFill/>
                    </a14:hiddenFill>
                  </a:ext>
                </a:extLst>
              </p:spPr>
            </p:cxnSp>
          </p:grpSp>
          <p:cxnSp>
            <p:nvCxnSpPr>
              <p:cNvPr id="386" name="AutoShape 535">
                <a:extLst>
                  <a:ext uri="{FF2B5EF4-FFF2-40B4-BE49-F238E27FC236}">
                    <a16:creationId xmlns:a16="http://schemas.microsoft.com/office/drawing/2014/main" id="{002E6922-6541-5BF1-832B-47BBC4304CB0}"/>
                  </a:ext>
                </a:extLst>
              </p:cNvPr>
              <p:cNvCxnSpPr>
                <a:cxnSpLocks noChangeShapeType="1"/>
              </p:cNvCxnSpPr>
              <p:nvPr/>
            </p:nvCxnSpPr>
            <p:spPr bwMode="auto">
              <a:xfrm rot="-5400000">
                <a:off x="2770" y="232"/>
                <a:ext cx="217" cy="2748"/>
              </a:xfrm>
              <a:prstGeom prst="bentConnector3">
                <a:avLst>
                  <a:gd name="adj1" fmla="val 101380"/>
                </a:avLst>
              </a:prstGeom>
              <a:noFill/>
              <a:ln w="12700" cap="sq">
                <a:solidFill>
                  <a:schemeClr val="tx1"/>
                </a:solidFill>
                <a:miter lim="800000"/>
                <a:headEnd/>
                <a:tailEnd/>
              </a:ln>
              <a:extLst>
                <a:ext uri="{909E8E84-426E-40DD-AFC4-6F175D3DCCD1}">
                  <a14:hiddenFill xmlns:a14="http://schemas.microsoft.com/office/drawing/2010/main">
                    <a:noFill/>
                  </a14:hiddenFill>
                </a:ext>
              </a:extLst>
            </p:spPr>
          </p:cxnSp>
        </p:grpSp>
        <p:cxnSp>
          <p:nvCxnSpPr>
            <p:cNvPr id="391" name="AutoShape 547">
              <a:extLst>
                <a:ext uri="{FF2B5EF4-FFF2-40B4-BE49-F238E27FC236}">
                  <a16:creationId xmlns:a16="http://schemas.microsoft.com/office/drawing/2014/main" id="{43FB12B4-71E7-1FAE-DF85-FEAE16003461}"/>
                </a:ext>
              </a:extLst>
            </p:cNvPr>
            <p:cNvCxnSpPr>
              <a:cxnSpLocks noChangeShapeType="1"/>
            </p:cNvCxnSpPr>
            <p:nvPr/>
          </p:nvCxnSpPr>
          <p:spPr bwMode="auto">
            <a:xfrm flipH="1" flipV="1">
              <a:off x="4941888" y="2365375"/>
              <a:ext cx="2874962" cy="2024063"/>
            </a:xfrm>
            <a:prstGeom prst="bentConnector3">
              <a:avLst>
                <a:gd name="adj1" fmla="val -7954"/>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392" name="AutoShape 548">
              <a:extLst>
                <a:ext uri="{FF2B5EF4-FFF2-40B4-BE49-F238E27FC236}">
                  <a16:creationId xmlns:a16="http://schemas.microsoft.com/office/drawing/2014/main" id="{F4FCA704-5160-DB8C-5821-2C1301C95B4B}"/>
                </a:ext>
              </a:extLst>
            </p:cNvPr>
            <p:cNvCxnSpPr>
              <a:cxnSpLocks noChangeShapeType="1"/>
            </p:cNvCxnSpPr>
            <p:nvPr/>
          </p:nvCxnSpPr>
          <p:spPr bwMode="auto">
            <a:xfrm flipV="1">
              <a:off x="4903788" y="1816100"/>
              <a:ext cx="3128962" cy="382588"/>
            </a:xfrm>
            <a:prstGeom prst="bentConnector2">
              <a:avLst/>
            </a:prstGeom>
            <a:noFill/>
            <a:ln w="57150" cap="sq">
              <a:solidFill>
                <a:schemeClr val="tx1"/>
              </a:solidFill>
              <a:miter lim="800000"/>
              <a:headEnd/>
              <a:tailEnd type="triangle" w="med" len="med"/>
            </a:ln>
            <a:extLst>
              <a:ext uri="{909E8E84-426E-40DD-AFC4-6F175D3DCCD1}">
                <a14:hiddenFill xmlns:a14="http://schemas.microsoft.com/office/drawing/2010/main">
                  <a:noFill/>
                </a14:hiddenFill>
              </a:ext>
            </a:extLst>
          </p:spPr>
        </p:cxnSp>
        <p:grpSp>
          <p:nvGrpSpPr>
            <p:cNvPr id="393" name="Group 550">
              <a:extLst>
                <a:ext uri="{FF2B5EF4-FFF2-40B4-BE49-F238E27FC236}">
                  <a16:creationId xmlns:a16="http://schemas.microsoft.com/office/drawing/2014/main" id="{8340B40B-41CD-B1F8-26AF-7221817AC680}"/>
                </a:ext>
              </a:extLst>
            </p:cNvPr>
            <p:cNvGrpSpPr>
              <a:grpSpLocks/>
            </p:cNvGrpSpPr>
            <p:nvPr/>
          </p:nvGrpSpPr>
          <p:grpSpPr bwMode="auto">
            <a:xfrm>
              <a:off x="8135938" y="1644650"/>
              <a:ext cx="533400" cy="679450"/>
              <a:chOff x="2880" y="1152"/>
              <a:chExt cx="720" cy="1008"/>
            </a:xfrm>
          </p:grpSpPr>
          <p:sp>
            <p:nvSpPr>
              <p:cNvPr id="394" name="Rectangle 551">
                <a:extLst>
                  <a:ext uri="{FF2B5EF4-FFF2-40B4-BE49-F238E27FC236}">
                    <a16:creationId xmlns:a16="http://schemas.microsoft.com/office/drawing/2014/main" id="{A88423AF-BFB7-087F-C171-14D810795455}"/>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5" name="Rectangle 552">
                <a:extLst>
                  <a:ext uri="{FF2B5EF4-FFF2-40B4-BE49-F238E27FC236}">
                    <a16:creationId xmlns:a16="http://schemas.microsoft.com/office/drawing/2014/main" id="{62453C36-CC38-BF2E-48B6-C727C7DB8BEE}"/>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6" name="Rectangle 553">
                <a:extLst>
                  <a:ext uri="{FF2B5EF4-FFF2-40B4-BE49-F238E27FC236}">
                    <a16:creationId xmlns:a16="http://schemas.microsoft.com/office/drawing/2014/main" id="{70FDF2AC-7CD1-3E82-11A1-427C73AB438F}"/>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7" name="Rectangle 554">
                <a:extLst>
                  <a:ext uri="{FF2B5EF4-FFF2-40B4-BE49-F238E27FC236}">
                    <a16:creationId xmlns:a16="http://schemas.microsoft.com/office/drawing/2014/main" id="{38D825E9-6417-C3C9-977B-80D90F50932A}"/>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8" name="Rectangle 555">
                <a:extLst>
                  <a:ext uri="{FF2B5EF4-FFF2-40B4-BE49-F238E27FC236}">
                    <a16:creationId xmlns:a16="http://schemas.microsoft.com/office/drawing/2014/main" id="{3ADD3345-2D4A-4B26-5319-18D041E106CF}"/>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9" name="Rectangle 556">
                <a:extLst>
                  <a:ext uri="{FF2B5EF4-FFF2-40B4-BE49-F238E27FC236}">
                    <a16:creationId xmlns:a16="http://schemas.microsoft.com/office/drawing/2014/main" id="{C6F9A883-CC11-9D2F-55CA-63B122B625D8}"/>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0" name="Rectangle 557">
                <a:extLst>
                  <a:ext uri="{FF2B5EF4-FFF2-40B4-BE49-F238E27FC236}">
                    <a16:creationId xmlns:a16="http://schemas.microsoft.com/office/drawing/2014/main" id="{4DDCDEFF-9926-424D-B3D9-CE9A88CE76FE}"/>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1" name="Rectangle 558">
                <a:extLst>
                  <a:ext uri="{FF2B5EF4-FFF2-40B4-BE49-F238E27FC236}">
                    <a16:creationId xmlns:a16="http://schemas.microsoft.com/office/drawing/2014/main" id="{C9225C16-0D1B-0104-7C55-05BF8D8EFE89}"/>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2" name="Rectangle 559">
                <a:extLst>
                  <a:ext uri="{FF2B5EF4-FFF2-40B4-BE49-F238E27FC236}">
                    <a16:creationId xmlns:a16="http://schemas.microsoft.com/office/drawing/2014/main" id="{B28A5253-5E20-9B8B-A449-2F3FF8245CDD}"/>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3" name="Rectangle 560">
                <a:extLst>
                  <a:ext uri="{FF2B5EF4-FFF2-40B4-BE49-F238E27FC236}">
                    <a16:creationId xmlns:a16="http://schemas.microsoft.com/office/drawing/2014/main" id="{1CDE7C44-7E7C-25B4-5729-AD164ED7623C}"/>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4" name="Rectangle 561">
                <a:extLst>
                  <a:ext uri="{FF2B5EF4-FFF2-40B4-BE49-F238E27FC236}">
                    <a16:creationId xmlns:a16="http://schemas.microsoft.com/office/drawing/2014/main" id="{B5A3FB4A-852B-640C-7B37-D772F8CA36BC}"/>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5" name="Rectangle 562">
                <a:extLst>
                  <a:ext uri="{FF2B5EF4-FFF2-40B4-BE49-F238E27FC236}">
                    <a16:creationId xmlns:a16="http://schemas.microsoft.com/office/drawing/2014/main" id="{2046AF28-8D3A-5C4D-B9C3-89392D566ECA}"/>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6" name="Rectangle 563">
                <a:extLst>
                  <a:ext uri="{FF2B5EF4-FFF2-40B4-BE49-F238E27FC236}">
                    <a16:creationId xmlns:a16="http://schemas.microsoft.com/office/drawing/2014/main" id="{B5FC0DF4-E10C-2010-7F7A-752C27252BA8}"/>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7" name="Rectangle 564">
                <a:extLst>
                  <a:ext uri="{FF2B5EF4-FFF2-40B4-BE49-F238E27FC236}">
                    <a16:creationId xmlns:a16="http://schemas.microsoft.com/office/drawing/2014/main" id="{1B02F56B-88D8-1133-C760-8C42BF6ECEE7}"/>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8" name="Rectangle 565">
                <a:extLst>
                  <a:ext uri="{FF2B5EF4-FFF2-40B4-BE49-F238E27FC236}">
                    <a16:creationId xmlns:a16="http://schemas.microsoft.com/office/drawing/2014/main" id="{3F06FCB1-34B4-9BCE-E012-2213025F89EB}"/>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9" name="Rectangle 566">
                <a:extLst>
                  <a:ext uri="{FF2B5EF4-FFF2-40B4-BE49-F238E27FC236}">
                    <a16:creationId xmlns:a16="http://schemas.microsoft.com/office/drawing/2014/main" id="{AFAE6320-6292-2AA0-26F8-A9D81A047435}"/>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0" name="Rectangle 567">
                <a:extLst>
                  <a:ext uri="{FF2B5EF4-FFF2-40B4-BE49-F238E27FC236}">
                    <a16:creationId xmlns:a16="http://schemas.microsoft.com/office/drawing/2014/main" id="{202B0D18-9479-20AB-5A19-7A5E63DC3FCE}"/>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1" name="Rectangle 568">
                <a:extLst>
                  <a:ext uri="{FF2B5EF4-FFF2-40B4-BE49-F238E27FC236}">
                    <a16:creationId xmlns:a16="http://schemas.microsoft.com/office/drawing/2014/main" id="{B69766B6-9881-C8CD-48C7-7CF5E9C73F83}"/>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2" name="Rectangle 569">
                <a:extLst>
                  <a:ext uri="{FF2B5EF4-FFF2-40B4-BE49-F238E27FC236}">
                    <a16:creationId xmlns:a16="http://schemas.microsoft.com/office/drawing/2014/main" id="{CED94BA1-12B5-A4BE-09DF-F3CABC7DCCDA}"/>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3" name="Rectangle 570">
                <a:extLst>
                  <a:ext uri="{FF2B5EF4-FFF2-40B4-BE49-F238E27FC236}">
                    <a16:creationId xmlns:a16="http://schemas.microsoft.com/office/drawing/2014/main" id="{22DEE369-22AA-6507-E48C-33EA3AC0E3A9}"/>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4" name="Rectangle 571">
                <a:extLst>
                  <a:ext uri="{FF2B5EF4-FFF2-40B4-BE49-F238E27FC236}">
                    <a16:creationId xmlns:a16="http://schemas.microsoft.com/office/drawing/2014/main" id="{CBCA12A9-B41E-F95D-0134-DD737E8DE4AD}"/>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5" name="Rectangle 572">
                <a:extLst>
                  <a:ext uri="{FF2B5EF4-FFF2-40B4-BE49-F238E27FC236}">
                    <a16:creationId xmlns:a16="http://schemas.microsoft.com/office/drawing/2014/main" id="{1D00819A-0544-FA93-8AF1-B47C21F5B343}"/>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6" name="Rectangle 573">
                <a:extLst>
                  <a:ext uri="{FF2B5EF4-FFF2-40B4-BE49-F238E27FC236}">
                    <a16:creationId xmlns:a16="http://schemas.microsoft.com/office/drawing/2014/main" id="{7845CFB3-6682-219E-068F-D7B3CF5810BE}"/>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7" name="Rectangle 574">
                <a:extLst>
                  <a:ext uri="{FF2B5EF4-FFF2-40B4-BE49-F238E27FC236}">
                    <a16:creationId xmlns:a16="http://schemas.microsoft.com/office/drawing/2014/main" id="{F9664E3A-8452-9F98-2937-C22C930EC979}"/>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8" name="Rectangle 575">
                <a:extLst>
                  <a:ext uri="{FF2B5EF4-FFF2-40B4-BE49-F238E27FC236}">
                    <a16:creationId xmlns:a16="http://schemas.microsoft.com/office/drawing/2014/main" id="{0C4C2C1B-088A-F2F0-FFD1-960D3EDE15D5}"/>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9" name="Rectangle 576">
                <a:extLst>
                  <a:ext uri="{FF2B5EF4-FFF2-40B4-BE49-F238E27FC236}">
                    <a16:creationId xmlns:a16="http://schemas.microsoft.com/office/drawing/2014/main" id="{66BF4830-96EE-8EB4-D913-2B675F2CF2FA}"/>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0" name="Rectangle 577">
                <a:extLst>
                  <a:ext uri="{FF2B5EF4-FFF2-40B4-BE49-F238E27FC236}">
                    <a16:creationId xmlns:a16="http://schemas.microsoft.com/office/drawing/2014/main" id="{C23FE45E-C68E-13D2-360C-DE57F0B10D6F}"/>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421" name="Text Box 578">
              <a:extLst>
                <a:ext uri="{FF2B5EF4-FFF2-40B4-BE49-F238E27FC236}">
                  <a16:creationId xmlns:a16="http://schemas.microsoft.com/office/drawing/2014/main" id="{C92B6D73-78EE-DCDE-839D-E6E4B2A7252B}"/>
                </a:ext>
              </a:extLst>
            </p:cNvPr>
            <p:cNvSpPr txBox="1">
              <a:spLocks noChangeArrowheads="1"/>
            </p:cNvSpPr>
            <p:nvPr/>
          </p:nvSpPr>
          <p:spPr bwMode="auto">
            <a:xfrm>
              <a:off x="7947576" y="1435884"/>
              <a:ext cx="1002197" cy="179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nchor="ct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Aft>
                  <a:spcPct val="0"/>
                </a:spcAft>
                <a:buClrTx/>
                <a:buSzTx/>
                <a:buFontTx/>
                <a:buNone/>
              </a:pPr>
              <a:r>
                <a:rPr lang="en-US" altLang="en-US" sz="700">
                  <a:latin typeface="Roboto" panose="02000000000000000000" pitchFamily="2" charset="0"/>
                  <a:ea typeface="Roboto" panose="02000000000000000000" pitchFamily="2" charset="0"/>
                </a:rPr>
                <a:t>Product Distributors</a:t>
              </a:r>
            </a:p>
          </p:txBody>
        </p:sp>
        <p:sp>
          <p:nvSpPr>
            <p:cNvPr id="422" name="Rectangle 579">
              <a:extLst>
                <a:ext uri="{FF2B5EF4-FFF2-40B4-BE49-F238E27FC236}">
                  <a16:creationId xmlns:a16="http://schemas.microsoft.com/office/drawing/2014/main" id="{BAA40A44-F4C7-FA9E-E83B-AAFC0D103C03}"/>
                </a:ext>
              </a:extLst>
            </p:cNvPr>
            <p:cNvSpPr>
              <a:spLocks noChangeArrowheads="1"/>
            </p:cNvSpPr>
            <p:nvPr/>
          </p:nvSpPr>
          <p:spPr bwMode="auto">
            <a:xfrm>
              <a:off x="404813" y="1393825"/>
              <a:ext cx="841375" cy="377825"/>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900" b="0">
                  <a:latin typeface="Roboto" panose="02000000000000000000" pitchFamily="2" charset="0"/>
                  <a:ea typeface="Roboto" panose="02000000000000000000" pitchFamily="2" charset="0"/>
                </a:rPr>
                <a:t>Product Road</a:t>
              </a:r>
              <a:br>
                <a:rPr lang="en-US" altLang="en-US" sz="900" b="0">
                  <a:latin typeface="Roboto" panose="02000000000000000000" pitchFamily="2" charset="0"/>
                  <a:ea typeface="Roboto" panose="02000000000000000000" pitchFamily="2" charset="0"/>
                </a:rPr>
              </a:br>
              <a:r>
                <a:rPr lang="en-US" altLang="en-US" sz="900" b="0">
                  <a:latin typeface="Roboto" panose="02000000000000000000" pitchFamily="2" charset="0"/>
                  <a:ea typeface="Roboto" panose="02000000000000000000" pitchFamily="2" charset="0"/>
                </a:rPr>
                <a:t>Map</a:t>
              </a:r>
            </a:p>
          </p:txBody>
        </p:sp>
        <p:sp>
          <p:nvSpPr>
            <p:cNvPr id="423" name="Line 232">
              <a:extLst>
                <a:ext uri="{FF2B5EF4-FFF2-40B4-BE49-F238E27FC236}">
                  <a16:creationId xmlns:a16="http://schemas.microsoft.com/office/drawing/2014/main" id="{43168F6C-F3F4-0BDF-F3AA-C7DE1EC6B5E3}"/>
                </a:ext>
              </a:extLst>
            </p:cNvPr>
            <p:cNvSpPr>
              <a:spLocks noChangeShapeType="1"/>
            </p:cNvSpPr>
            <p:nvPr/>
          </p:nvSpPr>
          <p:spPr bwMode="auto">
            <a:xfrm>
              <a:off x="987425" y="5675313"/>
              <a:ext cx="107315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4" name="Line 233">
              <a:extLst>
                <a:ext uri="{FF2B5EF4-FFF2-40B4-BE49-F238E27FC236}">
                  <a16:creationId xmlns:a16="http://schemas.microsoft.com/office/drawing/2014/main" id="{18FAFD05-691E-4E54-2627-1C687FEDEDAE}"/>
                </a:ext>
              </a:extLst>
            </p:cNvPr>
            <p:cNvSpPr>
              <a:spLocks noChangeShapeType="1"/>
            </p:cNvSpPr>
            <p:nvPr/>
          </p:nvSpPr>
          <p:spPr bwMode="auto">
            <a:xfrm>
              <a:off x="2582863" y="5675313"/>
              <a:ext cx="8858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5" name="Line 234">
              <a:extLst>
                <a:ext uri="{FF2B5EF4-FFF2-40B4-BE49-F238E27FC236}">
                  <a16:creationId xmlns:a16="http://schemas.microsoft.com/office/drawing/2014/main" id="{774BDD59-F668-F258-2362-B339DBE4BC95}"/>
                </a:ext>
              </a:extLst>
            </p:cNvPr>
            <p:cNvSpPr>
              <a:spLocks noChangeShapeType="1"/>
            </p:cNvSpPr>
            <p:nvPr/>
          </p:nvSpPr>
          <p:spPr bwMode="auto">
            <a:xfrm>
              <a:off x="4005263" y="5675313"/>
              <a:ext cx="944562"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6" name="Line 235">
              <a:extLst>
                <a:ext uri="{FF2B5EF4-FFF2-40B4-BE49-F238E27FC236}">
                  <a16:creationId xmlns:a16="http://schemas.microsoft.com/office/drawing/2014/main" id="{6D87148A-9F74-41F8-CE7D-8DD525B5260E}"/>
                </a:ext>
              </a:extLst>
            </p:cNvPr>
            <p:cNvSpPr>
              <a:spLocks noChangeShapeType="1"/>
            </p:cNvSpPr>
            <p:nvPr/>
          </p:nvSpPr>
          <p:spPr bwMode="auto">
            <a:xfrm>
              <a:off x="5472113" y="5661025"/>
              <a:ext cx="9874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7" name="Line 236">
              <a:extLst>
                <a:ext uri="{FF2B5EF4-FFF2-40B4-BE49-F238E27FC236}">
                  <a16:creationId xmlns:a16="http://schemas.microsoft.com/office/drawing/2014/main" id="{028517D2-CC3E-397F-D3AB-CB60AE22C6C0}"/>
                </a:ext>
              </a:extLst>
            </p:cNvPr>
            <p:cNvSpPr>
              <a:spLocks noChangeShapeType="1"/>
            </p:cNvSpPr>
            <p:nvPr/>
          </p:nvSpPr>
          <p:spPr bwMode="auto">
            <a:xfrm>
              <a:off x="6996113" y="5675313"/>
              <a:ext cx="812800"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428" name="Text Box 353">
              <a:extLst>
                <a:ext uri="{FF2B5EF4-FFF2-40B4-BE49-F238E27FC236}">
                  <a16:creationId xmlns:a16="http://schemas.microsoft.com/office/drawing/2014/main" id="{37192533-066C-D41B-6C75-BAD75B9108CE}"/>
                </a:ext>
              </a:extLst>
            </p:cNvPr>
            <p:cNvSpPr txBox="1">
              <a:spLocks noChangeArrowheads="1"/>
            </p:cNvSpPr>
            <p:nvPr/>
          </p:nvSpPr>
          <p:spPr bwMode="auto">
            <a:xfrm>
              <a:off x="12096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sp>
          <p:nvSpPr>
            <p:cNvPr id="429" name="Text Box 353">
              <a:extLst>
                <a:ext uri="{FF2B5EF4-FFF2-40B4-BE49-F238E27FC236}">
                  <a16:creationId xmlns:a16="http://schemas.microsoft.com/office/drawing/2014/main" id="{AF78F89E-E0DC-995C-8F3F-5E319E6F1AF8}"/>
                </a:ext>
              </a:extLst>
            </p:cNvPr>
            <p:cNvSpPr txBox="1">
              <a:spLocks noChangeArrowheads="1"/>
            </p:cNvSpPr>
            <p:nvPr/>
          </p:nvSpPr>
          <p:spPr bwMode="auto">
            <a:xfrm>
              <a:off x="2767013"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2 Days</a:t>
              </a:r>
            </a:p>
          </p:txBody>
        </p:sp>
        <p:sp>
          <p:nvSpPr>
            <p:cNvPr id="430" name="Text Box 353">
              <a:extLst>
                <a:ext uri="{FF2B5EF4-FFF2-40B4-BE49-F238E27FC236}">
                  <a16:creationId xmlns:a16="http://schemas.microsoft.com/office/drawing/2014/main" id="{CE4445F4-E69E-35CF-DA45-27E6F463EA2B}"/>
                </a:ext>
              </a:extLst>
            </p:cNvPr>
            <p:cNvSpPr txBox="1">
              <a:spLocks noChangeArrowheads="1"/>
            </p:cNvSpPr>
            <p:nvPr/>
          </p:nvSpPr>
          <p:spPr bwMode="auto">
            <a:xfrm>
              <a:off x="41814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10 Days</a:t>
              </a:r>
            </a:p>
          </p:txBody>
        </p:sp>
        <p:sp>
          <p:nvSpPr>
            <p:cNvPr id="431" name="Text Box 353">
              <a:extLst>
                <a:ext uri="{FF2B5EF4-FFF2-40B4-BE49-F238E27FC236}">
                  <a16:creationId xmlns:a16="http://schemas.microsoft.com/office/drawing/2014/main" id="{D2117DDC-103B-5D8A-EDC2-E501F7E7ADE7}"/>
                </a:ext>
              </a:extLst>
            </p:cNvPr>
            <p:cNvSpPr txBox="1">
              <a:spLocks noChangeArrowheads="1"/>
            </p:cNvSpPr>
            <p:nvPr/>
          </p:nvSpPr>
          <p:spPr bwMode="auto">
            <a:xfrm>
              <a:off x="5695950"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1 Day</a:t>
              </a:r>
            </a:p>
          </p:txBody>
        </p:sp>
        <p:sp>
          <p:nvSpPr>
            <p:cNvPr id="432" name="Text Box 353">
              <a:extLst>
                <a:ext uri="{FF2B5EF4-FFF2-40B4-BE49-F238E27FC236}">
                  <a16:creationId xmlns:a16="http://schemas.microsoft.com/office/drawing/2014/main" id="{16A8BF2D-5D23-97AE-2E19-97E1BE1F2A3A}"/>
                </a:ext>
              </a:extLst>
            </p:cNvPr>
            <p:cNvSpPr txBox="1">
              <a:spLocks noChangeArrowheads="1"/>
            </p:cNvSpPr>
            <p:nvPr/>
          </p:nvSpPr>
          <p:spPr bwMode="auto">
            <a:xfrm>
              <a:off x="7089775" y="5457825"/>
              <a:ext cx="6096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eaLnBrk="1" hangingPunct="1">
                <a:lnSpc>
                  <a:spcPct val="100000"/>
                </a:lnSpc>
                <a:spcAft>
                  <a:spcPct val="0"/>
                </a:spcAft>
                <a:buClrTx/>
                <a:buSzTx/>
                <a:buFontTx/>
                <a:buNone/>
              </a:pPr>
              <a:r>
                <a:rPr lang="en-US" altLang="en-US" sz="800" b="0">
                  <a:latin typeface="Roboto" panose="02000000000000000000" pitchFamily="2" charset="0"/>
                  <a:ea typeface="Roboto" panose="02000000000000000000" pitchFamily="2" charset="0"/>
                </a:rPr>
                <a:t>5 Days</a:t>
              </a:r>
            </a:p>
          </p:txBody>
        </p:sp>
      </p:grpSp>
      <p:sp>
        <p:nvSpPr>
          <p:cNvPr id="13" name="Oval 12">
            <a:extLst>
              <a:ext uri="{FF2B5EF4-FFF2-40B4-BE49-F238E27FC236}">
                <a16:creationId xmlns:a16="http://schemas.microsoft.com/office/drawing/2014/main" id="{51982354-E7EB-F967-4F75-8E8284BAEF21}"/>
              </a:ext>
            </a:extLst>
          </p:cNvPr>
          <p:cNvSpPr/>
          <p:nvPr/>
        </p:nvSpPr>
        <p:spPr>
          <a:xfrm>
            <a:off x="2212042" y="2042561"/>
            <a:ext cx="7345757" cy="870683"/>
          </a:xfrm>
          <a:prstGeom prst="ellipse">
            <a:avLst/>
          </a:prstGeom>
          <a:no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4D6C7663-79E4-0B80-4FBE-A7BEFC2AC292}"/>
              </a:ext>
            </a:extLst>
          </p:cNvPr>
          <p:cNvSpPr txBox="1"/>
          <p:nvPr/>
        </p:nvSpPr>
        <p:spPr>
          <a:xfrm>
            <a:off x="4954680" y="2051019"/>
            <a:ext cx="1486304"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Review Loop</a:t>
            </a:r>
          </a:p>
        </p:txBody>
      </p:sp>
      <p:sp>
        <p:nvSpPr>
          <p:cNvPr id="36" name="TextBox 35">
            <a:extLst>
              <a:ext uri="{FF2B5EF4-FFF2-40B4-BE49-F238E27FC236}">
                <a16:creationId xmlns:a16="http://schemas.microsoft.com/office/drawing/2014/main" id="{9291A9A5-2FB6-BEBB-2268-89C184891ABF}"/>
              </a:ext>
            </a:extLst>
          </p:cNvPr>
          <p:cNvSpPr txBox="1"/>
          <p:nvPr/>
        </p:nvSpPr>
        <p:spPr>
          <a:xfrm>
            <a:off x="1657720" y="3898763"/>
            <a:ext cx="2605200"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Product Definition Loop</a:t>
            </a:r>
          </a:p>
        </p:txBody>
      </p:sp>
      <p:sp>
        <p:nvSpPr>
          <p:cNvPr id="37" name="TextBox 36">
            <a:extLst>
              <a:ext uri="{FF2B5EF4-FFF2-40B4-BE49-F238E27FC236}">
                <a16:creationId xmlns:a16="http://schemas.microsoft.com/office/drawing/2014/main" id="{130D529F-6479-5FA0-CEF0-702A7D9ABD61}"/>
              </a:ext>
            </a:extLst>
          </p:cNvPr>
          <p:cNvSpPr txBox="1"/>
          <p:nvPr/>
        </p:nvSpPr>
        <p:spPr>
          <a:xfrm>
            <a:off x="5609336" y="3809631"/>
            <a:ext cx="2327881"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Product Design Loop</a:t>
            </a:r>
          </a:p>
        </p:txBody>
      </p:sp>
      <p:sp>
        <p:nvSpPr>
          <p:cNvPr id="38" name="TextBox 37">
            <a:extLst>
              <a:ext uri="{FF2B5EF4-FFF2-40B4-BE49-F238E27FC236}">
                <a16:creationId xmlns:a16="http://schemas.microsoft.com/office/drawing/2014/main" id="{F8FA8198-C57D-27FE-BF36-6BB2AD057096}"/>
              </a:ext>
            </a:extLst>
          </p:cNvPr>
          <p:cNvSpPr txBox="1"/>
          <p:nvPr/>
        </p:nvSpPr>
        <p:spPr>
          <a:xfrm>
            <a:off x="8708745" y="3777673"/>
            <a:ext cx="1787669" cy="369332"/>
          </a:xfrm>
          <a:prstGeom prst="rect">
            <a:avLst/>
          </a:prstGeom>
          <a:solidFill>
            <a:schemeClr val="bg1"/>
          </a:solidFill>
        </p:spPr>
        <p:txBody>
          <a:bodyPr wrap="none" rtlCol="0">
            <a:spAutoFit/>
          </a:bodyPr>
          <a:lstStyle/>
          <a:p>
            <a:r>
              <a:rPr lang="en-US" dirty="0">
                <a:solidFill>
                  <a:srgbClr val="FF0000"/>
                </a:solidFill>
                <a:latin typeface="Roboto" panose="02000000000000000000" pitchFamily="2" charset="0"/>
                <a:ea typeface="Roboto" panose="02000000000000000000" pitchFamily="2" charset="0"/>
              </a:rPr>
              <a:t>Validation Loop</a:t>
            </a:r>
          </a:p>
        </p:txBody>
      </p:sp>
      <mc:AlternateContent xmlns:mc="http://schemas.openxmlformats.org/markup-compatibility/2006" xmlns:p14="http://schemas.microsoft.com/office/powerpoint/2010/main">
        <mc:Choice Requires="p14">
          <p:contentPart p14:bwMode="auto" r:id="rId3">
            <p14:nvContentPartPr>
              <p14:cNvPr id="45" name="Ink 44">
                <a:extLst>
                  <a:ext uri="{FF2B5EF4-FFF2-40B4-BE49-F238E27FC236}">
                    <a16:creationId xmlns:a16="http://schemas.microsoft.com/office/drawing/2014/main" id="{6922C576-C239-E757-3BA5-CA6986E82736}"/>
                  </a:ext>
                </a:extLst>
              </p14:cNvPr>
              <p14:cNvContentPartPr/>
              <p14:nvPr/>
            </p14:nvContentPartPr>
            <p14:xfrm>
              <a:off x="612240" y="3524520"/>
              <a:ext cx="4122360" cy="2754720"/>
            </p14:xfrm>
          </p:contentPart>
        </mc:Choice>
        <mc:Fallback xmlns="">
          <p:pic>
            <p:nvPicPr>
              <p:cNvPr id="45" name="Ink 44">
                <a:extLst>
                  <a:ext uri="{FF2B5EF4-FFF2-40B4-BE49-F238E27FC236}">
                    <a16:creationId xmlns:a16="http://schemas.microsoft.com/office/drawing/2014/main" id="{6922C576-C239-E757-3BA5-CA6986E82736}"/>
                  </a:ext>
                </a:extLst>
              </p:cNvPr>
              <p:cNvPicPr/>
              <p:nvPr/>
            </p:nvPicPr>
            <p:blipFill>
              <a:blip r:embed="rId4"/>
              <a:stretch>
                <a:fillRect/>
              </a:stretch>
            </p:blipFill>
            <p:spPr>
              <a:xfrm>
                <a:off x="603240" y="3515520"/>
                <a:ext cx="4140000" cy="2772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6" name="Ink 45">
                <a:extLst>
                  <a:ext uri="{FF2B5EF4-FFF2-40B4-BE49-F238E27FC236}">
                    <a16:creationId xmlns:a16="http://schemas.microsoft.com/office/drawing/2014/main" id="{3CFEE41A-61EB-A88E-81D1-3B7CCE3D4F00}"/>
                  </a:ext>
                </a:extLst>
              </p14:cNvPr>
              <p14:cNvContentPartPr/>
              <p14:nvPr/>
            </p14:nvContentPartPr>
            <p14:xfrm>
              <a:off x="4585560" y="3030600"/>
              <a:ext cx="3823200" cy="3155400"/>
            </p14:xfrm>
          </p:contentPart>
        </mc:Choice>
        <mc:Fallback xmlns="">
          <p:pic>
            <p:nvPicPr>
              <p:cNvPr id="46" name="Ink 45">
                <a:extLst>
                  <a:ext uri="{FF2B5EF4-FFF2-40B4-BE49-F238E27FC236}">
                    <a16:creationId xmlns:a16="http://schemas.microsoft.com/office/drawing/2014/main" id="{3CFEE41A-61EB-A88E-81D1-3B7CCE3D4F00}"/>
                  </a:ext>
                </a:extLst>
              </p:cNvPr>
              <p:cNvPicPr/>
              <p:nvPr/>
            </p:nvPicPr>
            <p:blipFill>
              <a:blip r:embed="rId6"/>
              <a:stretch>
                <a:fillRect/>
              </a:stretch>
            </p:blipFill>
            <p:spPr>
              <a:xfrm>
                <a:off x="4576560" y="3021600"/>
                <a:ext cx="3840840" cy="31730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7" name="Ink 46">
                <a:extLst>
                  <a:ext uri="{FF2B5EF4-FFF2-40B4-BE49-F238E27FC236}">
                    <a16:creationId xmlns:a16="http://schemas.microsoft.com/office/drawing/2014/main" id="{247FED8C-697E-8356-63AF-B4ADD679D576}"/>
                  </a:ext>
                </a:extLst>
              </p14:cNvPr>
              <p14:cNvContentPartPr/>
              <p14:nvPr/>
            </p14:nvContentPartPr>
            <p14:xfrm>
              <a:off x="8480040" y="2852760"/>
              <a:ext cx="2034720" cy="3033720"/>
            </p14:xfrm>
          </p:contentPart>
        </mc:Choice>
        <mc:Fallback xmlns="">
          <p:pic>
            <p:nvPicPr>
              <p:cNvPr id="47" name="Ink 46">
                <a:extLst>
                  <a:ext uri="{FF2B5EF4-FFF2-40B4-BE49-F238E27FC236}">
                    <a16:creationId xmlns:a16="http://schemas.microsoft.com/office/drawing/2014/main" id="{247FED8C-697E-8356-63AF-B4ADD679D576}"/>
                  </a:ext>
                </a:extLst>
              </p:cNvPr>
              <p:cNvPicPr/>
              <p:nvPr/>
            </p:nvPicPr>
            <p:blipFill>
              <a:blip r:embed="rId8"/>
              <a:stretch>
                <a:fillRect/>
              </a:stretch>
            </p:blipFill>
            <p:spPr>
              <a:xfrm>
                <a:off x="8471040" y="2843760"/>
                <a:ext cx="2052360" cy="3051360"/>
              </a:xfrm>
              <a:prstGeom prst="rect">
                <a:avLst/>
              </a:prstGeom>
            </p:spPr>
          </p:pic>
        </mc:Fallback>
      </mc:AlternateContent>
    </p:spTree>
    <p:extLst>
      <p:ext uri="{BB962C8B-B14F-4D97-AF65-F5344CB8AC3E}">
        <p14:creationId xmlns:p14="http://schemas.microsoft.com/office/powerpoint/2010/main" val="117630780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DF11FF7-095F-D1A9-6784-C53D538A36FF}"/>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123</a:t>
            </a:fld>
            <a:endParaRPr lang="en-US"/>
          </a:p>
        </p:txBody>
      </p:sp>
      <p:sp>
        <p:nvSpPr>
          <p:cNvPr id="2" name="Title 1">
            <a:extLst>
              <a:ext uri="{FF2B5EF4-FFF2-40B4-BE49-F238E27FC236}">
                <a16:creationId xmlns:a16="http://schemas.microsoft.com/office/drawing/2014/main" id="{0D77BA17-B180-9889-85DC-DBE8C080CFB7}"/>
              </a:ext>
            </a:extLst>
          </p:cNvPr>
          <p:cNvSpPr>
            <a:spLocks noGrp="1"/>
          </p:cNvSpPr>
          <p:nvPr>
            <p:ph type="title" idx="4294967295"/>
          </p:nvPr>
        </p:nvSpPr>
        <p:spPr>
          <a:xfrm>
            <a:off x="699911" y="1497012"/>
            <a:ext cx="9815689" cy="1009650"/>
          </a:xfrm>
          <a:prstGeom prst="rect">
            <a:avLst/>
          </a:prstGeom>
        </p:spPr>
        <p:txBody>
          <a:bodyPr>
            <a:noAutofit/>
          </a:bodyPr>
          <a:lstStyle/>
          <a:p>
            <a:r>
              <a:rPr lang="en-US" sz="4000" dirty="0">
                <a:latin typeface="Roboto Medium"/>
                <a:ea typeface="Roboto Medium"/>
                <a:cs typeface="Roboto Medium"/>
              </a:rPr>
              <a:t>Developing the Value Stream Plan</a:t>
            </a:r>
          </a:p>
        </p:txBody>
      </p:sp>
      <p:sp>
        <p:nvSpPr>
          <p:cNvPr id="3" name="Content Placeholder 2">
            <a:extLst>
              <a:ext uri="{FF2B5EF4-FFF2-40B4-BE49-F238E27FC236}">
                <a16:creationId xmlns:a16="http://schemas.microsoft.com/office/drawing/2014/main" id="{30534846-F3D4-20E7-25C0-91FCF7736CB5}"/>
              </a:ext>
            </a:extLst>
          </p:cNvPr>
          <p:cNvSpPr>
            <a:spLocks noGrp="1"/>
          </p:cNvSpPr>
          <p:nvPr>
            <p:ph idx="4294967295"/>
          </p:nvPr>
        </p:nvSpPr>
        <p:spPr>
          <a:xfrm>
            <a:off x="722489" y="2506662"/>
            <a:ext cx="10515600" cy="4351338"/>
          </a:xfrm>
        </p:spPr>
        <p:txBody>
          <a:bodyPr/>
          <a:lstStyle/>
          <a:p>
            <a:pPr marL="0" indent="0">
              <a:buNone/>
            </a:pPr>
            <a:r>
              <a:rPr lang="en-US" dirty="0">
                <a:latin typeface="Roboto Medium" panose="02000000000000000000" pitchFamily="2" charset="0"/>
                <a:ea typeface="Roboto Medium" panose="02000000000000000000" pitchFamily="2" charset="0"/>
                <a:cs typeface="Roboto Medium" panose="02000000000000000000" pitchFamily="2" charset="0"/>
              </a:rPr>
              <a:t>Objectives:</a:t>
            </a:r>
          </a:p>
          <a:p>
            <a:r>
              <a:rPr lang="en-US" dirty="0"/>
              <a:t>Define the purpose of the Value Stream Plan</a:t>
            </a:r>
          </a:p>
          <a:p>
            <a:r>
              <a:rPr lang="en-US" dirty="0"/>
              <a:t>Review the timing of Future State Plan completion</a:t>
            </a:r>
          </a:p>
          <a:p>
            <a:r>
              <a:rPr lang="en-US" dirty="0"/>
              <a:t>Prioritize activities based on Current State Kaizen Bursts</a:t>
            </a:r>
          </a:p>
          <a:p>
            <a:r>
              <a:rPr lang="en-US" dirty="0"/>
              <a:t>Identify and define components of the Value Stream Plan</a:t>
            </a:r>
          </a:p>
          <a:p>
            <a:r>
              <a:rPr lang="en-US" dirty="0"/>
              <a:t>Review an example of completed Value Stream Plan</a:t>
            </a:r>
          </a:p>
          <a:p>
            <a:r>
              <a:rPr lang="en-US" dirty="0"/>
              <a:t>Complete Value Stream Plan for Business</a:t>
            </a:r>
          </a:p>
        </p:txBody>
      </p:sp>
      <p:cxnSp>
        <p:nvCxnSpPr>
          <p:cNvPr id="12" name="Straight Connector 11">
            <a:extLst>
              <a:ext uri="{FF2B5EF4-FFF2-40B4-BE49-F238E27FC236}">
                <a16:creationId xmlns:a16="http://schemas.microsoft.com/office/drawing/2014/main" id="{A4FB0DFD-2D15-952D-9825-996B08251FD4}"/>
              </a:ext>
            </a:extLst>
          </p:cNvPr>
          <p:cNvCxnSpPr/>
          <p:nvPr/>
        </p:nvCxnSpPr>
        <p:spPr>
          <a:xfrm>
            <a:off x="699911" y="2386919"/>
            <a:ext cx="3882975" cy="0"/>
          </a:xfrm>
          <a:prstGeom prst="line">
            <a:avLst/>
          </a:prstGeom>
          <a:ln w="25400"/>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FEFA1B2-0726-A88B-FBD6-0E74CECDBBA3}"/>
              </a:ext>
            </a:extLst>
          </p:cNvPr>
          <p:cNvGrpSpPr/>
          <p:nvPr/>
        </p:nvGrpSpPr>
        <p:grpSpPr>
          <a:xfrm>
            <a:off x="699911" y="837133"/>
            <a:ext cx="7273624" cy="659879"/>
            <a:chOff x="699911" y="1069861"/>
            <a:chExt cx="7273624" cy="350130"/>
          </a:xfrm>
        </p:grpSpPr>
        <p:sp>
          <p:nvSpPr>
            <p:cNvPr id="5" name="AutoShape 9">
              <a:extLst>
                <a:ext uri="{FF2B5EF4-FFF2-40B4-BE49-F238E27FC236}">
                  <a16:creationId xmlns:a16="http://schemas.microsoft.com/office/drawing/2014/main" id="{6B68F6AD-5AEC-832A-7CD5-DE0E94794034}"/>
                </a:ext>
              </a:extLst>
            </p:cNvPr>
            <p:cNvSpPr>
              <a:spLocks noChangeArrowheads="1"/>
            </p:cNvSpPr>
            <p:nvPr/>
          </p:nvSpPr>
          <p:spPr bwMode="auto">
            <a:xfrm>
              <a:off x="6395259" y="1069861"/>
              <a:ext cx="1578276" cy="350130"/>
            </a:xfrm>
            <a:prstGeom prst="homePlate">
              <a:avLst>
                <a:gd name="adj" fmla="val 29912"/>
              </a:avLst>
            </a:prstGeom>
            <a:solidFill>
              <a:srgbClr val="FFB627"/>
            </a:solidFill>
            <a:ln w="12700" cap="sq">
              <a:solidFill>
                <a:schemeClr val="tx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latin typeface="Roboto" panose="02000000000000000000" pitchFamily="2" charset="0"/>
                  <a:ea typeface="Roboto" panose="02000000000000000000" pitchFamily="2" charset="0"/>
                </a:rPr>
                <a:t>Develop Value</a:t>
              </a:r>
              <a:br>
                <a:rPr lang="en-US" altLang="en-US" sz="1200" dirty="0">
                  <a:latin typeface="Roboto" panose="02000000000000000000" pitchFamily="2" charset="0"/>
                  <a:ea typeface="Roboto" panose="02000000000000000000" pitchFamily="2" charset="0"/>
                </a:rPr>
              </a:br>
              <a:r>
                <a:rPr lang="en-US" altLang="en-US" sz="1200" dirty="0">
                  <a:latin typeface="Roboto" panose="02000000000000000000" pitchFamily="2" charset="0"/>
                  <a:ea typeface="Roboto" panose="02000000000000000000" pitchFamily="2" charset="0"/>
                </a:rPr>
                <a:t>Stream Plan</a:t>
              </a:r>
            </a:p>
          </p:txBody>
        </p:sp>
        <p:sp>
          <p:nvSpPr>
            <p:cNvPr id="7" name="AutoShape 9">
              <a:extLst>
                <a:ext uri="{FF2B5EF4-FFF2-40B4-BE49-F238E27FC236}">
                  <a16:creationId xmlns:a16="http://schemas.microsoft.com/office/drawing/2014/main" id="{F9D2E0E3-2A5A-FA3F-523E-3D810312235F}"/>
                </a:ext>
              </a:extLst>
            </p:cNvPr>
            <p:cNvSpPr>
              <a:spLocks noChangeArrowheads="1"/>
            </p:cNvSpPr>
            <p:nvPr/>
          </p:nvSpPr>
          <p:spPr bwMode="auto">
            <a:xfrm>
              <a:off x="4971710" y="1069861"/>
              <a:ext cx="1578276" cy="350130"/>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Future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a:t>
              </a:r>
            </a:p>
          </p:txBody>
        </p:sp>
        <p:grpSp>
          <p:nvGrpSpPr>
            <p:cNvPr id="8" name="Group 7">
              <a:extLst>
                <a:ext uri="{FF2B5EF4-FFF2-40B4-BE49-F238E27FC236}">
                  <a16:creationId xmlns:a16="http://schemas.microsoft.com/office/drawing/2014/main" id="{1157C199-7442-CD49-CE0F-E180C6F3CECC}"/>
                </a:ext>
              </a:extLst>
            </p:cNvPr>
            <p:cNvGrpSpPr/>
            <p:nvPr/>
          </p:nvGrpSpPr>
          <p:grpSpPr>
            <a:xfrm>
              <a:off x="699911" y="1069861"/>
              <a:ext cx="4425950" cy="350130"/>
              <a:chOff x="5627530" y="641179"/>
              <a:chExt cx="6564470" cy="804977"/>
            </a:xfrm>
          </p:grpSpPr>
          <p:sp>
            <p:nvSpPr>
              <p:cNvPr id="9" name="AutoShape 9">
                <a:extLst>
                  <a:ext uri="{FF2B5EF4-FFF2-40B4-BE49-F238E27FC236}">
                    <a16:creationId xmlns:a16="http://schemas.microsoft.com/office/drawing/2014/main" id="{9636090C-9B3A-7315-EAC7-310501F90312}"/>
                  </a:ext>
                </a:extLst>
              </p:cNvPr>
              <p:cNvSpPr>
                <a:spLocks noChangeArrowheads="1"/>
              </p:cNvSpPr>
              <p:nvPr/>
            </p:nvSpPr>
            <p:spPr bwMode="auto">
              <a:xfrm>
                <a:off x="9851136"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Interrogate the</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Current State</a:t>
                </a:r>
              </a:p>
            </p:txBody>
          </p:sp>
          <p:sp>
            <p:nvSpPr>
              <p:cNvPr id="10" name="AutoShape 10">
                <a:extLst>
                  <a:ext uri="{FF2B5EF4-FFF2-40B4-BE49-F238E27FC236}">
                    <a16:creationId xmlns:a16="http://schemas.microsoft.com/office/drawing/2014/main" id="{9E5917A9-C189-C029-D3D6-F13EAB3E7D7D}"/>
                  </a:ext>
                </a:extLst>
              </p:cNvPr>
              <p:cNvSpPr>
                <a:spLocks noChangeArrowheads="1"/>
              </p:cNvSpPr>
              <p:nvPr/>
            </p:nvSpPr>
            <p:spPr bwMode="auto">
              <a:xfrm>
                <a:off x="7737856" y="641180"/>
                <a:ext cx="2342768" cy="804976"/>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Create Current</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State Map </a:t>
                </a:r>
              </a:p>
            </p:txBody>
          </p:sp>
          <p:sp>
            <p:nvSpPr>
              <p:cNvPr id="11" name="AutoShape 11">
                <a:extLst>
                  <a:ext uri="{FF2B5EF4-FFF2-40B4-BE49-F238E27FC236}">
                    <a16:creationId xmlns:a16="http://schemas.microsoft.com/office/drawing/2014/main" id="{2E7F9190-48A4-B1B5-C2C9-A17DAEE1726C}"/>
                  </a:ext>
                </a:extLst>
              </p:cNvPr>
              <p:cNvSpPr>
                <a:spLocks noChangeArrowheads="1"/>
              </p:cNvSpPr>
              <p:nvPr/>
            </p:nvSpPr>
            <p:spPr bwMode="auto">
              <a:xfrm>
                <a:off x="5627530" y="641179"/>
                <a:ext cx="2340864" cy="804977"/>
              </a:xfrm>
              <a:prstGeom prst="homePlate">
                <a:avLst>
                  <a:gd name="adj" fmla="val 29912"/>
                </a:avLst>
              </a:prstGeom>
              <a:solidFill>
                <a:srgbClr val="222222"/>
              </a:solidFill>
              <a:ln w="12700" cap="sq">
                <a:solidFill>
                  <a:schemeClr val="bg1"/>
                </a:solidFill>
                <a:miter lim="800000"/>
                <a:headEnd/>
                <a:tailEnd/>
              </a:ln>
            </p:spPr>
            <p:txBody>
              <a:bodyPr wrap="squar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r>
                  <a:rPr lang="en-US" altLang="en-US" sz="1200" dirty="0">
                    <a:solidFill>
                      <a:schemeClr val="bg1"/>
                    </a:solidFill>
                    <a:latin typeface="Roboto" panose="02000000000000000000" pitchFamily="2" charset="0"/>
                    <a:ea typeface="Roboto" panose="02000000000000000000" pitchFamily="2" charset="0"/>
                  </a:rPr>
                  <a:t>Select Product or</a:t>
                </a:r>
                <a:br>
                  <a:rPr lang="en-US" altLang="en-US" sz="1200" dirty="0">
                    <a:solidFill>
                      <a:schemeClr val="bg1"/>
                    </a:solidFill>
                    <a:latin typeface="Roboto" panose="02000000000000000000" pitchFamily="2" charset="0"/>
                    <a:ea typeface="Roboto" panose="02000000000000000000" pitchFamily="2" charset="0"/>
                  </a:rPr>
                </a:br>
                <a:r>
                  <a:rPr lang="en-US" altLang="en-US" sz="1200" dirty="0">
                    <a:solidFill>
                      <a:schemeClr val="bg1"/>
                    </a:solidFill>
                    <a:latin typeface="Roboto" panose="02000000000000000000" pitchFamily="2" charset="0"/>
                    <a:ea typeface="Roboto" panose="02000000000000000000" pitchFamily="2" charset="0"/>
                  </a:rPr>
                  <a:t>Service Family</a:t>
                </a:r>
              </a:p>
            </p:txBody>
          </p:sp>
        </p:grpSp>
      </p:grpSp>
    </p:spTree>
    <p:extLst>
      <p:ext uri="{BB962C8B-B14F-4D97-AF65-F5344CB8AC3E}">
        <p14:creationId xmlns:p14="http://schemas.microsoft.com/office/powerpoint/2010/main" val="144460209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Purpose of the Value Stream Plan</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124</a:t>
            </a:fld>
            <a:endParaRPr lang="en-US"/>
          </a:p>
        </p:txBody>
      </p:sp>
      <p:grpSp>
        <p:nvGrpSpPr>
          <p:cNvPr id="3" name="Group 2">
            <a:extLst>
              <a:ext uri="{FF2B5EF4-FFF2-40B4-BE49-F238E27FC236}">
                <a16:creationId xmlns:a16="http://schemas.microsoft.com/office/drawing/2014/main" id="{BE5A85F3-F6A2-1D1C-ED4C-B980263AE52D}"/>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B100907F-64E3-4498-A49A-9056588639C4}"/>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007FD77D-A22D-5870-949C-E0196DE7BD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A72A49BD-09FB-BE6A-2A03-F24E4012460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0A1B0DB1-A0B5-FDAD-DFF3-A13F368F8999}"/>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03B4B5D3-4B87-80C0-523B-6DC7C46913F5}"/>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22CEC60F-A6A6-8E9D-E5FD-5B5A340300BA}"/>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B323CEF7-764B-0252-397D-B0945B364FA8}"/>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3930CAA7-10CE-58F5-E84A-66369C6A11B9}"/>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grpSp>
        <p:nvGrpSpPr>
          <p:cNvPr id="34" name="Group 33">
            <a:extLst>
              <a:ext uri="{FF2B5EF4-FFF2-40B4-BE49-F238E27FC236}">
                <a16:creationId xmlns:a16="http://schemas.microsoft.com/office/drawing/2014/main" id="{49085BAA-BE96-357F-A440-98A532D3A4C1}"/>
              </a:ext>
            </a:extLst>
          </p:cNvPr>
          <p:cNvGrpSpPr/>
          <p:nvPr/>
        </p:nvGrpSpPr>
        <p:grpSpPr>
          <a:xfrm>
            <a:off x="1137426" y="2225974"/>
            <a:ext cx="9917148" cy="3571887"/>
            <a:chOff x="1137426" y="1971663"/>
            <a:chExt cx="9917148" cy="3571887"/>
          </a:xfrm>
        </p:grpSpPr>
        <p:cxnSp>
          <p:nvCxnSpPr>
            <p:cNvPr id="29" name="Straight Connector 28">
              <a:extLst>
                <a:ext uri="{FF2B5EF4-FFF2-40B4-BE49-F238E27FC236}">
                  <a16:creationId xmlns:a16="http://schemas.microsoft.com/office/drawing/2014/main" id="{A50C68E7-6B33-F9B9-12A2-E60BA9727821}"/>
                </a:ext>
              </a:extLst>
            </p:cNvPr>
            <p:cNvCxnSpPr>
              <a:stCxn id="13" idx="1"/>
              <a:endCxn id="25" idx="3"/>
            </p:cNvCxnSpPr>
            <p:nvPr/>
          </p:nvCxnSpPr>
          <p:spPr>
            <a:xfrm>
              <a:off x="1137426" y="2651748"/>
              <a:ext cx="99171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E0F6DABA-0E3D-C6BD-58E6-022813EC2CDF}"/>
                </a:ext>
              </a:extLst>
            </p:cNvPr>
            <p:cNvGrpSpPr/>
            <p:nvPr/>
          </p:nvGrpSpPr>
          <p:grpSpPr>
            <a:xfrm>
              <a:off x="1137426" y="1971663"/>
              <a:ext cx="9917148" cy="1360170"/>
              <a:chOff x="838200" y="1971663"/>
              <a:chExt cx="9917148" cy="1360170"/>
            </a:xfrm>
          </p:grpSpPr>
          <p:sp>
            <p:nvSpPr>
              <p:cNvPr id="13" name="Rectangle 12">
                <a:extLst>
                  <a:ext uri="{FF2B5EF4-FFF2-40B4-BE49-F238E27FC236}">
                    <a16:creationId xmlns:a16="http://schemas.microsoft.com/office/drawing/2014/main" id="{638F999B-30B7-30B0-B7CC-0592F5B7BBDB}"/>
                  </a:ext>
                </a:extLst>
              </p:cNvPr>
              <p:cNvSpPr/>
              <p:nvPr/>
            </p:nvSpPr>
            <p:spPr>
              <a:xfrm>
                <a:off x="838200"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Establishes Priority</a:t>
                </a:r>
              </a:p>
            </p:txBody>
          </p:sp>
          <p:sp>
            <p:nvSpPr>
              <p:cNvPr id="23" name="Rectangle 22">
                <a:extLst>
                  <a:ext uri="{FF2B5EF4-FFF2-40B4-BE49-F238E27FC236}">
                    <a16:creationId xmlns:a16="http://schemas.microsoft.com/office/drawing/2014/main" id="{C9133EE0-1E44-322D-E313-80FB3FBA124E}"/>
                  </a:ext>
                </a:extLst>
              </p:cNvPr>
              <p:cNvSpPr/>
              <p:nvPr/>
            </p:nvSpPr>
            <p:spPr>
              <a:xfrm>
                <a:off x="3508916"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Clearly Identifies Actions</a:t>
                </a:r>
              </a:p>
            </p:txBody>
          </p:sp>
          <p:sp>
            <p:nvSpPr>
              <p:cNvPr id="24" name="Rectangle 23">
                <a:extLst>
                  <a:ext uri="{FF2B5EF4-FFF2-40B4-BE49-F238E27FC236}">
                    <a16:creationId xmlns:a16="http://schemas.microsoft.com/office/drawing/2014/main" id="{9964F18C-7D39-D4CA-9125-18294F3A6129}"/>
                  </a:ext>
                </a:extLst>
              </p:cNvPr>
              <p:cNvSpPr/>
              <p:nvPr/>
            </p:nvSpPr>
            <p:spPr>
              <a:xfrm>
                <a:off x="6179632"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Details Rigorous Timeline</a:t>
                </a:r>
              </a:p>
            </p:txBody>
          </p:sp>
          <p:sp>
            <p:nvSpPr>
              <p:cNvPr id="25" name="Rectangle 24">
                <a:extLst>
                  <a:ext uri="{FF2B5EF4-FFF2-40B4-BE49-F238E27FC236}">
                    <a16:creationId xmlns:a16="http://schemas.microsoft.com/office/drawing/2014/main" id="{1CF863C4-9E7C-3398-1ECD-B988FC46AEB5}"/>
                  </a:ext>
                </a:extLst>
              </p:cNvPr>
              <p:cNvSpPr/>
              <p:nvPr/>
            </p:nvSpPr>
            <p:spPr>
              <a:xfrm>
                <a:off x="8850348" y="1971663"/>
                <a:ext cx="1905000" cy="1360170"/>
              </a:xfrm>
              <a:prstGeom prst="rect">
                <a:avLst/>
              </a:prstGeom>
              <a:solidFill>
                <a:schemeClr val="accent4"/>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latin typeface="Roboto" panose="02000000000000000000" pitchFamily="2" charset="0"/>
                    <a:ea typeface="Roboto" panose="02000000000000000000" pitchFamily="2" charset="0"/>
                  </a:rPr>
                  <a:t>Clearly Identifies Ownership</a:t>
                </a:r>
              </a:p>
            </p:txBody>
          </p:sp>
        </p:grpSp>
        <p:sp>
          <p:nvSpPr>
            <p:cNvPr id="26" name="Rectangle 25">
              <a:extLst>
                <a:ext uri="{FF2B5EF4-FFF2-40B4-BE49-F238E27FC236}">
                  <a16:creationId xmlns:a16="http://schemas.microsoft.com/office/drawing/2014/main" id="{9971ABF0-E387-6967-4A2B-8D581FD77F72}"/>
                </a:ext>
              </a:extLst>
            </p:cNvPr>
            <p:cNvSpPr/>
            <p:nvPr/>
          </p:nvSpPr>
          <p:spPr>
            <a:xfrm>
              <a:off x="3352800" y="4183380"/>
              <a:ext cx="5486400" cy="1360170"/>
            </a:xfrm>
            <a:prstGeom prst="rect">
              <a:avLst/>
            </a:prstGeom>
            <a:solidFill>
              <a:schemeClr val="bg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dirty="0">
                  <a:solidFill>
                    <a:schemeClr val="tx1"/>
                  </a:solidFill>
                  <a:latin typeface="Roboto" panose="02000000000000000000" pitchFamily="2" charset="0"/>
                  <a:ea typeface="Roboto" panose="02000000000000000000" pitchFamily="2" charset="0"/>
                </a:rPr>
                <a:t>CREATES PLAN TO ACHIEVE FUTURE STATE</a:t>
              </a:r>
            </a:p>
          </p:txBody>
        </p:sp>
        <p:cxnSp>
          <p:nvCxnSpPr>
            <p:cNvPr id="31" name="Connector: Elbow 30">
              <a:extLst>
                <a:ext uri="{FF2B5EF4-FFF2-40B4-BE49-F238E27FC236}">
                  <a16:creationId xmlns:a16="http://schemas.microsoft.com/office/drawing/2014/main" id="{26140DCE-518A-DFF0-44D5-507ED472FFFE}"/>
                </a:ext>
              </a:extLst>
            </p:cNvPr>
            <p:cNvCxnSpPr>
              <a:stCxn id="13" idx="1"/>
              <a:endCxn id="26" idx="1"/>
            </p:cNvCxnSpPr>
            <p:nvPr/>
          </p:nvCxnSpPr>
          <p:spPr>
            <a:xfrm rot="10800000" flipH="1" flipV="1">
              <a:off x="1137426" y="2651747"/>
              <a:ext cx="2215374" cy="2211717"/>
            </a:xfrm>
            <a:prstGeom prst="bentConnector3">
              <a:avLst>
                <a:gd name="adj1" fmla="val -1031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or: Elbow 32">
              <a:extLst>
                <a:ext uri="{FF2B5EF4-FFF2-40B4-BE49-F238E27FC236}">
                  <a16:creationId xmlns:a16="http://schemas.microsoft.com/office/drawing/2014/main" id="{60527D02-F269-9440-ADBB-B7D667F425C4}"/>
                </a:ext>
              </a:extLst>
            </p:cNvPr>
            <p:cNvCxnSpPr>
              <a:stCxn id="25" idx="3"/>
              <a:endCxn id="26" idx="3"/>
            </p:cNvCxnSpPr>
            <p:nvPr/>
          </p:nvCxnSpPr>
          <p:spPr>
            <a:xfrm flipH="1">
              <a:off x="8839200" y="2651748"/>
              <a:ext cx="2215374" cy="2211717"/>
            </a:xfrm>
            <a:prstGeom prst="bentConnector3">
              <a:avLst>
                <a:gd name="adj1" fmla="val -1031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41707184"/>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Timing of the Value Stream Plan</a:t>
            </a:r>
          </a:p>
        </p:txBody>
      </p:sp>
      <p:sp>
        <p:nvSpPr>
          <p:cNvPr id="3" name="Content Placeholder 2">
            <a:extLst>
              <a:ext uri="{FF2B5EF4-FFF2-40B4-BE49-F238E27FC236}">
                <a16:creationId xmlns:a16="http://schemas.microsoft.com/office/drawing/2014/main" id="{2AA7A201-AD05-6520-E140-CCF11E59E700}"/>
              </a:ext>
            </a:extLst>
          </p:cNvPr>
          <p:cNvSpPr>
            <a:spLocks noGrp="1"/>
          </p:cNvSpPr>
          <p:nvPr>
            <p:ph idx="1"/>
          </p:nvPr>
        </p:nvSpPr>
        <p:spPr/>
        <p:txBody>
          <a:bodyPr/>
          <a:lstStyle/>
          <a:p>
            <a:r>
              <a:rPr lang="en-US" dirty="0"/>
              <a:t>Timing must align with the predetermined Future State implementation</a:t>
            </a:r>
          </a:p>
          <a:p>
            <a:r>
              <a:rPr lang="en-US" dirty="0"/>
              <a:t>Identify actions needed to execute the timing for the plan</a:t>
            </a:r>
          </a:p>
          <a:p>
            <a:r>
              <a:rPr lang="en-US" dirty="0"/>
              <a:t>Ensure the team is duly challenged to achieve the future state objectives</a:t>
            </a:r>
          </a:p>
          <a:p>
            <a:r>
              <a:rPr lang="en-US" dirty="0"/>
              <a:t>Create a review cadence to update the status of the Value Stream Plan objectives on a regular basis</a:t>
            </a:r>
          </a:p>
          <a:p>
            <a:pPr marL="0" indent="0">
              <a:buNone/>
            </a:pPr>
            <a:endParaRPr lang="en-US" dirty="0"/>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125</a:t>
            </a:fld>
            <a:endParaRPr lang="en-US"/>
          </a:p>
        </p:txBody>
      </p:sp>
      <p:grpSp>
        <p:nvGrpSpPr>
          <p:cNvPr id="4" name="Group 3">
            <a:extLst>
              <a:ext uri="{FF2B5EF4-FFF2-40B4-BE49-F238E27FC236}">
                <a16:creationId xmlns:a16="http://schemas.microsoft.com/office/drawing/2014/main" id="{CDEAADE6-6B95-21E3-0E6D-E2556B3ED718}"/>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D30E66BA-4B44-CCB6-BDD1-E989A86D253D}"/>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254E65C3-9F69-0214-8C04-C4FF195366B1}"/>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DD2B4715-59C2-2875-D97F-6C7BC45B23DA}"/>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32D1E37-A55D-2971-3734-2614662485D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FD89475-67A7-C963-5585-68792E6FCB28}"/>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81A36FDD-2034-7EFF-60B0-305AB4523EF8}"/>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2C38046C-8FD8-C384-037A-177F7B6C0D03}"/>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4FCCEB67-9F41-EC78-480B-5E23EFDC3F7D}"/>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2850006841"/>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Prioritize Kaizen Bursts translate to Value Stream Plan Activities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126</a:t>
            </a:fld>
            <a:endParaRPr lang="en-US"/>
          </a:p>
        </p:txBody>
      </p:sp>
      <p:grpSp>
        <p:nvGrpSpPr>
          <p:cNvPr id="3" name="Group 2">
            <a:extLst>
              <a:ext uri="{FF2B5EF4-FFF2-40B4-BE49-F238E27FC236}">
                <a16:creationId xmlns:a16="http://schemas.microsoft.com/office/drawing/2014/main" id="{454690F3-3ED8-A8E3-247D-0402A56F842E}"/>
              </a:ext>
            </a:extLst>
          </p:cNvPr>
          <p:cNvGrpSpPr/>
          <p:nvPr/>
        </p:nvGrpSpPr>
        <p:grpSpPr>
          <a:xfrm>
            <a:off x="838200" y="297639"/>
            <a:ext cx="5391150" cy="307138"/>
            <a:chOff x="838200" y="297639"/>
            <a:chExt cx="5391150" cy="307138"/>
          </a:xfrm>
        </p:grpSpPr>
        <p:grpSp>
          <p:nvGrpSpPr>
            <p:cNvPr id="5" name="Group 4">
              <a:extLst>
                <a:ext uri="{FF2B5EF4-FFF2-40B4-BE49-F238E27FC236}">
                  <a16:creationId xmlns:a16="http://schemas.microsoft.com/office/drawing/2014/main" id="{C92E0D81-626F-7871-AFED-3E04BABD38FB}"/>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07A7381-0726-1510-0CC0-682D9A31CD9B}"/>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43ABD505-8C3C-6BBA-9617-320A7C9E2ED4}"/>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29F67D0C-F3AE-9B5E-0FE4-0DAD8020C960}"/>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359EE840-2A3C-8DA0-699E-007EFA9787A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1" name="AutoShape 11">
                  <a:extLst>
                    <a:ext uri="{FF2B5EF4-FFF2-40B4-BE49-F238E27FC236}">
                      <a16:creationId xmlns:a16="http://schemas.microsoft.com/office/drawing/2014/main" id="{CC67D1A8-3731-4383-1922-628D26E3FCE5}"/>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0">
                  <a:extLst>
                    <a:ext uri="{FF2B5EF4-FFF2-40B4-BE49-F238E27FC236}">
                      <a16:creationId xmlns:a16="http://schemas.microsoft.com/office/drawing/2014/main" id="{C370245E-3F31-4F8A-A8F0-D026142D4C62}"/>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22D10241-394D-A9D7-215C-DBEB38AE90E3}"/>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grpSp>
        <p:nvGrpSpPr>
          <p:cNvPr id="19" name="Group 18">
            <a:extLst>
              <a:ext uri="{FF2B5EF4-FFF2-40B4-BE49-F238E27FC236}">
                <a16:creationId xmlns:a16="http://schemas.microsoft.com/office/drawing/2014/main" id="{0B0968D5-4D00-9D89-50F0-6F4780066739}"/>
              </a:ext>
            </a:extLst>
          </p:cNvPr>
          <p:cNvGrpSpPr/>
          <p:nvPr/>
        </p:nvGrpSpPr>
        <p:grpSpPr>
          <a:xfrm>
            <a:off x="1054608" y="2033260"/>
            <a:ext cx="9803892" cy="4143703"/>
            <a:chOff x="438150" y="1651000"/>
            <a:chExt cx="8515350" cy="4143703"/>
          </a:xfrm>
        </p:grpSpPr>
        <p:sp>
          <p:nvSpPr>
            <p:cNvPr id="13" name="Rectangle 76">
              <a:extLst>
                <a:ext uri="{FF2B5EF4-FFF2-40B4-BE49-F238E27FC236}">
                  <a16:creationId xmlns:a16="http://schemas.microsoft.com/office/drawing/2014/main" id="{D837403D-8539-2DF7-251B-19438FFDCAE5}"/>
                </a:ext>
              </a:extLst>
            </p:cNvPr>
            <p:cNvSpPr>
              <a:spLocks noChangeArrowheads="1"/>
            </p:cNvSpPr>
            <p:nvPr/>
          </p:nvSpPr>
          <p:spPr bwMode="auto">
            <a:xfrm>
              <a:off x="438150" y="1651000"/>
              <a:ext cx="5268913" cy="3432175"/>
            </a:xfrm>
            <a:prstGeom prst="rect">
              <a:avLst/>
            </a:prstGeom>
            <a:noFill/>
            <a:ln w="1905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4" name="Rectangle 77">
              <a:extLst>
                <a:ext uri="{FF2B5EF4-FFF2-40B4-BE49-F238E27FC236}">
                  <a16:creationId xmlns:a16="http://schemas.microsoft.com/office/drawing/2014/main" id="{41834357-010F-DF66-C29E-F4EC75028BE6}"/>
                </a:ext>
              </a:extLst>
            </p:cNvPr>
            <p:cNvSpPr>
              <a:spLocks noChangeArrowheads="1"/>
            </p:cNvSpPr>
            <p:nvPr/>
          </p:nvSpPr>
          <p:spPr bwMode="auto">
            <a:xfrm>
              <a:off x="5973763" y="1673225"/>
              <a:ext cx="2979737" cy="3453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1438" tIns="36513" rIns="71438" bIns="36513">
              <a:spAutoFit/>
            </a:bodyPr>
            <a:lstStyle>
              <a:lvl1pPr marL="231775" indent="-231775" defTabSz="708025">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520700" indent="-174625" defTabSz="708025">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defTabSz="708025">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defTabSz="708025">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defTabSz="708025"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VS Product Definition Loop</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#2</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#3</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#4</a:t>
              </a:r>
            </a:p>
            <a:p>
              <a:pPr>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VS Product Design Loop</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#7</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#8</a:t>
              </a:r>
            </a:p>
            <a:p>
              <a:pPr>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VS Validation Loop</a:t>
              </a:r>
            </a:p>
            <a:p>
              <a:pPr lvl="1">
                <a:lnSpc>
                  <a:spcPct val="100000"/>
                </a:lnSpc>
                <a:spcBef>
                  <a:spcPct val="40000"/>
                </a:spcBef>
                <a:spcAft>
                  <a:spcPct val="0"/>
                </a:spcAft>
                <a:buClr>
                  <a:schemeClr val="tx1"/>
                </a:buClr>
                <a:buSzPct val="90000"/>
                <a:buFont typeface="Arial" panose="020B0604020202020204" pitchFamily="34" charset="0"/>
                <a:buChar char="•"/>
              </a:pPr>
              <a:r>
                <a:rPr lang="en-US" altLang="en-US" sz="1800" dirty="0">
                  <a:latin typeface="Roboto" panose="02000000000000000000" pitchFamily="2" charset="0"/>
                  <a:ea typeface="Roboto" panose="02000000000000000000" pitchFamily="2" charset="0"/>
                </a:rPr>
                <a:t>Burst #11</a:t>
              </a:r>
            </a:p>
          </p:txBody>
        </p:sp>
        <p:sp>
          <p:nvSpPr>
            <p:cNvPr id="15" name="Text Box 78">
              <a:extLst>
                <a:ext uri="{FF2B5EF4-FFF2-40B4-BE49-F238E27FC236}">
                  <a16:creationId xmlns:a16="http://schemas.microsoft.com/office/drawing/2014/main" id="{9D1255D6-659A-B32F-6648-6BF13BD9C729}"/>
                </a:ext>
              </a:extLst>
            </p:cNvPr>
            <p:cNvSpPr txBox="1">
              <a:spLocks noChangeArrowheads="1"/>
            </p:cNvSpPr>
            <p:nvPr/>
          </p:nvSpPr>
          <p:spPr bwMode="auto">
            <a:xfrm>
              <a:off x="583812" y="1727200"/>
              <a:ext cx="3166251"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dirty="0">
                  <a:latin typeface="Roboto" panose="02000000000000000000" pitchFamily="2" charset="0"/>
                  <a:ea typeface="Roboto" panose="02000000000000000000" pitchFamily="2" charset="0"/>
                </a:rPr>
                <a:t>Completed Future State Map</a:t>
              </a:r>
              <a:endParaRPr lang="en-US" altLang="en-US" sz="1400" dirty="0">
                <a:latin typeface="Roboto" panose="02000000000000000000" pitchFamily="2" charset="0"/>
                <a:ea typeface="Roboto" panose="02000000000000000000" pitchFamily="2" charset="0"/>
              </a:endParaRPr>
            </a:p>
          </p:txBody>
        </p:sp>
        <p:sp>
          <p:nvSpPr>
            <p:cNvPr id="16" name="Text Box 80">
              <a:extLst>
                <a:ext uri="{FF2B5EF4-FFF2-40B4-BE49-F238E27FC236}">
                  <a16:creationId xmlns:a16="http://schemas.microsoft.com/office/drawing/2014/main" id="{D060BD3D-BEAD-3785-F733-0FFEB29A7D9E}"/>
                </a:ext>
              </a:extLst>
            </p:cNvPr>
            <p:cNvSpPr txBox="1">
              <a:spLocks noChangeArrowheads="1"/>
            </p:cNvSpPr>
            <p:nvPr/>
          </p:nvSpPr>
          <p:spPr bwMode="auto">
            <a:xfrm>
              <a:off x="1992313" y="5478463"/>
              <a:ext cx="3500437" cy="316240"/>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a:tailEnd/>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r>
                <a:rPr lang="en-US" altLang="en-US" sz="1800">
                  <a:latin typeface="Roboto" panose="02000000000000000000" pitchFamily="2" charset="0"/>
                  <a:ea typeface="Roboto" panose="02000000000000000000" pitchFamily="2" charset="0"/>
                </a:rPr>
                <a:t>Marked Up Current State Map</a:t>
              </a:r>
              <a:endParaRPr lang="en-US" altLang="en-US" sz="1400">
                <a:latin typeface="Roboto" panose="02000000000000000000" pitchFamily="2" charset="0"/>
                <a:ea typeface="Roboto" panose="02000000000000000000" pitchFamily="2" charset="0"/>
              </a:endParaRPr>
            </a:p>
          </p:txBody>
        </p:sp>
        <p:pic>
          <p:nvPicPr>
            <p:cNvPr id="17" name="Picture 238" descr="GAG Future State">
              <a:extLst>
                <a:ext uri="{FF2B5EF4-FFF2-40B4-BE49-F238E27FC236}">
                  <a16:creationId xmlns:a16="http://schemas.microsoft.com/office/drawing/2014/main" id="{755E155D-EB97-D2BE-D1EA-91AED330CF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7375" y="2005013"/>
              <a:ext cx="4968875"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51" descr="Untitled2">
              <a:extLst>
                <a:ext uri="{FF2B5EF4-FFF2-40B4-BE49-F238E27FC236}">
                  <a16:creationId xmlns:a16="http://schemas.microsoft.com/office/drawing/2014/main" id="{6FC5B55D-BBC3-C018-2E9A-8B5BF8BBCE9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26"/>
            <a:stretch>
              <a:fillRect/>
            </a:stretch>
          </p:blipFill>
          <p:spPr bwMode="auto">
            <a:xfrm>
              <a:off x="1624013" y="4095750"/>
              <a:ext cx="4160837" cy="129698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28502188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The Value Stream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127</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pic>
        <p:nvPicPr>
          <p:cNvPr id="14" name="Picture 11" descr="Blank VS Plan">
            <a:extLst>
              <a:ext uri="{FF2B5EF4-FFF2-40B4-BE49-F238E27FC236}">
                <a16:creationId xmlns:a16="http://schemas.microsoft.com/office/drawing/2014/main" id="{349587CA-682F-45D5-11AC-3A85B00ED04D}"/>
              </a:ext>
            </a:extLst>
          </p:cNvPr>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2145008" y="1783429"/>
            <a:ext cx="7901985" cy="445584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3757954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lstStyle/>
          <a:p>
            <a:r>
              <a:rPr lang="en-US" dirty="0"/>
              <a:t>Completed Value Stream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128</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pic>
        <p:nvPicPr>
          <p:cNvPr id="15" name="Picture 12" descr="vs plan">
            <a:extLst>
              <a:ext uri="{FF2B5EF4-FFF2-40B4-BE49-F238E27FC236}">
                <a16:creationId xmlns:a16="http://schemas.microsoft.com/office/drawing/2014/main" id="{07A436A6-6166-B792-9DAA-B96A96FDC758}"/>
              </a:ext>
            </a:extLst>
          </p:cNvPr>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1898366" y="1825625"/>
            <a:ext cx="8525793"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4708883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Follow up and monitoring of Value Stream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129</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lstStyle/>
          <a:p>
            <a:r>
              <a:rPr lang="en-US" dirty="0"/>
              <a:t>Monitoring of progress is crucial to success</a:t>
            </a:r>
          </a:p>
          <a:p>
            <a:r>
              <a:rPr lang="en-US" dirty="0"/>
              <a:t>What does not get followed up on – does not get done</a:t>
            </a:r>
          </a:p>
          <a:p>
            <a:r>
              <a:rPr lang="en-US" dirty="0"/>
              <a:t>Conduct weekly status review with Value Stream Owner</a:t>
            </a:r>
          </a:p>
          <a:p>
            <a:r>
              <a:rPr lang="en-US" dirty="0"/>
              <a:t>Value Stream Manager should review progress every two weeks</a:t>
            </a:r>
          </a:p>
          <a:p>
            <a:r>
              <a:rPr lang="en-US" dirty="0"/>
              <a:t>Reviews conducted on-site and focus on incomplete items</a:t>
            </a:r>
          </a:p>
          <a:p>
            <a:r>
              <a:rPr lang="en-US" dirty="0"/>
              <a:t>Progress should be reviewed with the Business Unit Owner Monthly</a:t>
            </a:r>
          </a:p>
          <a:p>
            <a:endParaRPr lang="en-US" dirty="0"/>
          </a:p>
        </p:txBody>
      </p:sp>
    </p:spTree>
    <p:extLst>
      <p:ext uri="{BB962C8B-B14F-4D97-AF65-F5344CB8AC3E}">
        <p14:creationId xmlns:p14="http://schemas.microsoft.com/office/powerpoint/2010/main" val="326658629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VSM in Context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130</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lstStyle/>
          <a:p>
            <a:r>
              <a:rPr lang="en-US" dirty="0"/>
              <a:t>VSM is an incremental and repeatable cycle</a:t>
            </a:r>
          </a:p>
          <a:p>
            <a:r>
              <a:rPr lang="en-US" dirty="0"/>
              <a:t>VSM implementation cycles should support the business’ long-term “vision” </a:t>
            </a:r>
          </a:p>
        </p:txBody>
      </p:sp>
      <p:grpSp>
        <p:nvGrpSpPr>
          <p:cNvPr id="14" name="Group 4">
            <a:extLst>
              <a:ext uri="{FF2B5EF4-FFF2-40B4-BE49-F238E27FC236}">
                <a16:creationId xmlns:a16="http://schemas.microsoft.com/office/drawing/2014/main" id="{28F09DBE-DA63-E326-AB6E-6058B4F3A6DD}"/>
              </a:ext>
            </a:extLst>
          </p:cNvPr>
          <p:cNvGrpSpPr>
            <a:grpSpLocks/>
          </p:cNvGrpSpPr>
          <p:nvPr/>
        </p:nvGrpSpPr>
        <p:grpSpPr bwMode="auto">
          <a:xfrm>
            <a:off x="676274" y="3143250"/>
            <a:ext cx="10159365" cy="3028950"/>
            <a:chOff x="480" y="1440"/>
            <a:chExt cx="4896" cy="2496"/>
          </a:xfrm>
        </p:grpSpPr>
        <p:sp>
          <p:nvSpPr>
            <p:cNvPr id="15" name="Rectangle 5">
              <a:extLst>
                <a:ext uri="{FF2B5EF4-FFF2-40B4-BE49-F238E27FC236}">
                  <a16:creationId xmlns:a16="http://schemas.microsoft.com/office/drawing/2014/main" id="{DAAACB89-907D-70F4-A65B-E57C4A8B16A5}"/>
                </a:ext>
              </a:extLst>
            </p:cNvPr>
            <p:cNvSpPr>
              <a:spLocks noChangeArrowheads="1"/>
            </p:cNvSpPr>
            <p:nvPr/>
          </p:nvSpPr>
          <p:spPr bwMode="auto">
            <a:xfrm>
              <a:off x="480" y="1824"/>
              <a:ext cx="672" cy="432"/>
            </a:xfrm>
            <a:prstGeom prst="rec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latin typeface="Roboto" panose="02000000000000000000" pitchFamily="2" charset="0"/>
                  <a:ea typeface="Roboto" panose="02000000000000000000" pitchFamily="2" charset="0"/>
                </a:rPr>
                <a:t>VSM</a:t>
              </a:r>
            </a:p>
            <a:p>
              <a:pPr algn="ctr">
                <a:lnSpc>
                  <a:spcPct val="100000"/>
                </a:lnSpc>
                <a:spcBef>
                  <a:spcPct val="30000"/>
                </a:spcBef>
                <a:spcAft>
                  <a:spcPct val="0"/>
                </a:spcAft>
                <a:buClrTx/>
                <a:buSzTx/>
                <a:buFontTx/>
                <a:buNone/>
              </a:pPr>
              <a:r>
                <a:rPr lang="ja-JP" altLang="en-US" sz="1200" dirty="0">
                  <a:latin typeface="Roboto" panose="02000000000000000000" pitchFamily="2" charset="0"/>
                </a:rPr>
                <a:t>“</a:t>
              </a:r>
              <a:r>
                <a:rPr lang="en-US" altLang="ja-JP" sz="1200" dirty="0">
                  <a:latin typeface="Roboto" panose="02000000000000000000" pitchFamily="2" charset="0"/>
                  <a:ea typeface="Roboto" panose="02000000000000000000" pitchFamily="2" charset="0"/>
                </a:rPr>
                <a:t>Event</a:t>
              </a:r>
              <a:r>
                <a:rPr lang="ja-JP" altLang="en-US" sz="1200" dirty="0">
                  <a:latin typeface="Roboto" panose="02000000000000000000" pitchFamily="2" charset="0"/>
                </a:rPr>
                <a:t>”</a:t>
              </a:r>
              <a:endParaRPr lang="en-US" altLang="en-US" sz="1200" dirty="0">
                <a:latin typeface="Roboto" panose="02000000000000000000" pitchFamily="2" charset="0"/>
                <a:ea typeface="Roboto" panose="02000000000000000000" pitchFamily="2" charset="0"/>
              </a:endParaRPr>
            </a:p>
          </p:txBody>
        </p:sp>
        <p:sp>
          <p:nvSpPr>
            <p:cNvPr id="16" name="AutoShape 6">
              <a:extLst>
                <a:ext uri="{FF2B5EF4-FFF2-40B4-BE49-F238E27FC236}">
                  <a16:creationId xmlns:a16="http://schemas.microsoft.com/office/drawing/2014/main" id="{4DA71626-1B49-6DD2-C0C5-47F794594953}"/>
                </a:ext>
              </a:extLst>
            </p:cNvPr>
            <p:cNvSpPr>
              <a:spLocks noChangeArrowheads="1"/>
            </p:cNvSpPr>
            <p:nvPr/>
          </p:nvSpPr>
          <p:spPr bwMode="auto">
            <a:xfrm>
              <a:off x="576" y="2784"/>
              <a:ext cx="576" cy="384"/>
            </a:xfrm>
            <a:prstGeom prst="flowChartDocumen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a:latin typeface="Roboto" panose="02000000000000000000" pitchFamily="2" charset="0"/>
                  <a:ea typeface="Roboto" panose="02000000000000000000" pitchFamily="2" charset="0"/>
                </a:rPr>
                <a:t>Future-State</a:t>
              </a:r>
            </a:p>
            <a:p>
              <a:pPr algn="ctr">
                <a:lnSpc>
                  <a:spcPct val="100000"/>
                </a:lnSpc>
                <a:spcBef>
                  <a:spcPct val="30000"/>
                </a:spcBef>
                <a:spcAft>
                  <a:spcPct val="0"/>
                </a:spcAft>
                <a:buClrTx/>
                <a:buSzTx/>
                <a:buFontTx/>
                <a:buNone/>
              </a:pPr>
              <a:r>
                <a:rPr lang="en-US" altLang="en-US" sz="1000">
                  <a:latin typeface="Roboto" panose="02000000000000000000" pitchFamily="2" charset="0"/>
                  <a:ea typeface="Roboto" panose="02000000000000000000" pitchFamily="2" charset="0"/>
                </a:rPr>
                <a:t>VSM</a:t>
              </a:r>
            </a:p>
          </p:txBody>
        </p:sp>
        <p:sp>
          <p:nvSpPr>
            <p:cNvPr id="17" name="AutoShape 7">
              <a:extLst>
                <a:ext uri="{FF2B5EF4-FFF2-40B4-BE49-F238E27FC236}">
                  <a16:creationId xmlns:a16="http://schemas.microsoft.com/office/drawing/2014/main" id="{CB180312-6FEC-5D08-C227-8191B899A795}"/>
                </a:ext>
              </a:extLst>
            </p:cNvPr>
            <p:cNvSpPr>
              <a:spLocks noChangeArrowheads="1"/>
            </p:cNvSpPr>
            <p:nvPr/>
          </p:nvSpPr>
          <p:spPr bwMode="auto">
            <a:xfrm>
              <a:off x="864" y="2448"/>
              <a:ext cx="576" cy="384"/>
            </a:xfrm>
            <a:prstGeom prst="flowChartDocumen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a:latin typeface="Roboto" panose="02000000000000000000" pitchFamily="2" charset="0"/>
                  <a:ea typeface="Roboto" panose="02000000000000000000" pitchFamily="2" charset="0"/>
                </a:rPr>
                <a:t>Value Stream</a:t>
              </a:r>
            </a:p>
            <a:p>
              <a:pPr algn="ctr">
                <a:lnSpc>
                  <a:spcPct val="100000"/>
                </a:lnSpc>
                <a:spcBef>
                  <a:spcPct val="30000"/>
                </a:spcBef>
                <a:spcAft>
                  <a:spcPct val="0"/>
                </a:spcAft>
                <a:buClrTx/>
                <a:buSzTx/>
                <a:buFontTx/>
                <a:buNone/>
              </a:pPr>
              <a:r>
                <a:rPr lang="en-US" altLang="en-US" sz="1000">
                  <a:latin typeface="Roboto" panose="02000000000000000000" pitchFamily="2" charset="0"/>
                  <a:ea typeface="Roboto" panose="02000000000000000000" pitchFamily="2" charset="0"/>
                </a:rPr>
                <a:t>Plan</a:t>
              </a:r>
            </a:p>
          </p:txBody>
        </p:sp>
        <p:sp>
          <p:nvSpPr>
            <p:cNvPr id="18" name="Line 8">
              <a:extLst>
                <a:ext uri="{FF2B5EF4-FFF2-40B4-BE49-F238E27FC236}">
                  <a16:creationId xmlns:a16="http://schemas.microsoft.com/office/drawing/2014/main" id="{8FF913E5-BD61-F819-A1B6-C000013B025C}"/>
                </a:ext>
              </a:extLst>
            </p:cNvPr>
            <p:cNvSpPr>
              <a:spLocks noChangeShapeType="1"/>
            </p:cNvSpPr>
            <p:nvPr/>
          </p:nvSpPr>
          <p:spPr bwMode="auto">
            <a:xfrm>
              <a:off x="1008" y="2256"/>
              <a:ext cx="144" cy="192"/>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19" name="Line 9">
              <a:extLst>
                <a:ext uri="{FF2B5EF4-FFF2-40B4-BE49-F238E27FC236}">
                  <a16:creationId xmlns:a16="http://schemas.microsoft.com/office/drawing/2014/main" id="{AA7E0192-338D-BF12-DB32-43C3FC0567BE}"/>
                </a:ext>
              </a:extLst>
            </p:cNvPr>
            <p:cNvSpPr>
              <a:spLocks noChangeShapeType="1"/>
            </p:cNvSpPr>
            <p:nvPr/>
          </p:nvSpPr>
          <p:spPr bwMode="auto">
            <a:xfrm>
              <a:off x="672" y="2256"/>
              <a:ext cx="48" cy="528"/>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0" name="Rectangle 10">
              <a:extLst>
                <a:ext uri="{FF2B5EF4-FFF2-40B4-BE49-F238E27FC236}">
                  <a16:creationId xmlns:a16="http://schemas.microsoft.com/office/drawing/2014/main" id="{83070E3E-16DE-8DAF-C6E4-DCB43F49C914}"/>
                </a:ext>
              </a:extLst>
            </p:cNvPr>
            <p:cNvSpPr>
              <a:spLocks noChangeArrowheads="1"/>
            </p:cNvSpPr>
            <p:nvPr/>
          </p:nvSpPr>
          <p:spPr bwMode="auto">
            <a:xfrm>
              <a:off x="1776" y="1728"/>
              <a:ext cx="768" cy="624"/>
            </a:xfrm>
            <a:prstGeom prst="rec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VS Plan</a:t>
              </a:r>
            </a:p>
            <a:p>
              <a:pPr algn="ctr">
                <a:lnSpc>
                  <a:spcPct val="100000"/>
                </a:lnSpc>
                <a:spcBef>
                  <a:spcPct val="30000"/>
                </a:spcBef>
                <a:spcAft>
                  <a:spcPct val="0"/>
                </a:spcAft>
                <a:buClrTx/>
                <a:buSzTx/>
                <a:buFontTx/>
                <a:buNone/>
              </a:pPr>
              <a:r>
                <a:rPr lang="en-US" altLang="en-US" sz="1200">
                  <a:latin typeface="Roboto" panose="02000000000000000000" pitchFamily="2" charset="0"/>
                  <a:ea typeface="Roboto" panose="02000000000000000000" pitchFamily="2" charset="0"/>
                </a:rPr>
                <a:t>Implementation</a:t>
              </a:r>
            </a:p>
          </p:txBody>
        </p:sp>
        <p:sp>
          <p:nvSpPr>
            <p:cNvPr id="21" name="Rectangle 11">
              <a:extLst>
                <a:ext uri="{FF2B5EF4-FFF2-40B4-BE49-F238E27FC236}">
                  <a16:creationId xmlns:a16="http://schemas.microsoft.com/office/drawing/2014/main" id="{E3A01F60-45C7-4D74-865B-25054DE897DB}"/>
                </a:ext>
              </a:extLst>
            </p:cNvPr>
            <p:cNvSpPr>
              <a:spLocks noChangeArrowheads="1"/>
            </p:cNvSpPr>
            <p:nvPr/>
          </p:nvSpPr>
          <p:spPr bwMode="auto">
            <a:xfrm>
              <a:off x="3116" y="1758"/>
              <a:ext cx="672" cy="552"/>
            </a:xfrm>
            <a:prstGeom prst="rec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latin typeface="Roboto" panose="02000000000000000000" pitchFamily="2" charset="0"/>
                  <a:ea typeface="Roboto" panose="02000000000000000000" pitchFamily="2" charset="0"/>
                </a:rPr>
                <a:t>New</a:t>
              </a:r>
            </a:p>
            <a:p>
              <a:pPr algn="ctr">
                <a:lnSpc>
                  <a:spcPct val="100000"/>
                </a:lnSpc>
                <a:spcBef>
                  <a:spcPct val="30000"/>
                </a:spcBef>
                <a:spcAft>
                  <a:spcPct val="0"/>
                </a:spcAft>
                <a:buClrTx/>
                <a:buSzTx/>
                <a:buFontTx/>
                <a:buNone/>
              </a:pPr>
              <a:r>
                <a:rPr lang="en-US" altLang="en-US" sz="1200" dirty="0">
                  <a:latin typeface="Roboto" panose="02000000000000000000" pitchFamily="2" charset="0"/>
                  <a:ea typeface="Roboto" panose="02000000000000000000" pitchFamily="2" charset="0"/>
                </a:rPr>
                <a:t>VSM</a:t>
              </a:r>
            </a:p>
            <a:p>
              <a:pPr algn="ctr">
                <a:lnSpc>
                  <a:spcPct val="100000"/>
                </a:lnSpc>
                <a:spcBef>
                  <a:spcPct val="30000"/>
                </a:spcBef>
                <a:spcAft>
                  <a:spcPct val="0"/>
                </a:spcAft>
                <a:buClrTx/>
                <a:buSzTx/>
                <a:buFontTx/>
                <a:buNone/>
              </a:pPr>
              <a:r>
                <a:rPr lang="ja-JP" altLang="en-US" sz="1200" dirty="0">
                  <a:latin typeface="Roboto" panose="02000000000000000000" pitchFamily="2" charset="0"/>
                </a:rPr>
                <a:t>“</a:t>
              </a:r>
              <a:r>
                <a:rPr lang="en-US" altLang="ja-JP" sz="1200" dirty="0">
                  <a:latin typeface="Roboto" panose="02000000000000000000" pitchFamily="2" charset="0"/>
                  <a:ea typeface="Roboto" panose="02000000000000000000" pitchFamily="2" charset="0"/>
                </a:rPr>
                <a:t>Event</a:t>
              </a:r>
              <a:r>
                <a:rPr lang="ja-JP" altLang="en-US" sz="1200" dirty="0">
                  <a:latin typeface="Roboto" panose="02000000000000000000" pitchFamily="2" charset="0"/>
                </a:rPr>
                <a:t>”</a:t>
              </a:r>
              <a:endParaRPr lang="en-US" altLang="en-US" sz="1200" dirty="0">
                <a:latin typeface="Roboto" panose="02000000000000000000" pitchFamily="2" charset="0"/>
                <a:ea typeface="Roboto" panose="02000000000000000000" pitchFamily="2" charset="0"/>
              </a:endParaRPr>
            </a:p>
          </p:txBody>
        </p:sp>
        <p:sp>
          <p:nvSpPr>
            <p:cNvPr id="22" name="AutoShape 12">
              <a:extLst>
                <a:ext uri="{FF2B5EF4-FFF2-40B4-BE49-F238E27FC236}">
                  <a16:creationId xmlns:a16="http://schemas.microsoft.com/office/drawing/2014/main" id="{1ACBAF19-111C-80BB-BE41-CCD119CB9461}"/>
                </a:ext>
              </a:extLst>
            </p:cNvPr>
            <p:cNvSpPr>
              <a:spLocks noChangeArrowheads="1"/>
            </p:cNvSpPr>
            <p:nvPr/>
          </p:nvSpPr>
          <p:spPr bwMode="auto">
            <a:xfrm>
              <a:off x="3120" y="2832"/>
              <a:ext cx="576" cy="576"/>
            </a:xfrm>
            <a:prstGeom prst="flowChartDocumen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New</a:t>
              </a:r>
            </a:p>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Future-State</a:t>
              </a:r>
            </a:p>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VSM</a:t>
              </a:r>
            </a:p>
          </p:txBody>
        </p:sp>
        <p:sp>
          <p:nvSpPr>
            <p:cNvPr id="23" name="AutoShape 13">
              <a:extLst>
                <a:ext uri="{FF2B5EF4-FFF2-40B4-BE49-F238E27FC236}">
                  <a16:creationId xmlns:a16="http://schemas.microsoft.com/office/drawing/2014/main" id="{9ED738F6-3260-6C98-2C2A-C724F3E4B93A}"/>
                </a:ext>
              </a:extLst>
            </p:cNvPr>
            <p:cNvSpPr>
              <a:spLocks noChangeArrowheads="1"/>
            </p:cNvSpPr>
            <p:nvPr/>
          </p:nvSpPr>
          <p:spPr bwMode="auto">
            <a:xfrm>
              <a:off x="3408" y="2352"/>
              <a:ext cx="576" cy="552"/>
            </a:xfrm>
            <a:prstGeom prst="flowChartDocument">
              <a:avLst/>
            </a:prstGeom>
            <a:solidFill>
              <a:schemeClr val="bg2"/>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New </a:t>
              </a:r>
            </a:p>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Value Stream</a:t>
              </a:r>
            </a:p>
            <a:p>
              <a:pPr algn="ctr">
                <a:lnSpc>
                  <a:spcPct val="100000"/>
                </a:lnSpc>
                <a:spcBef>
                  <a:spcPct val="30000"/>
                </a:spcBef>
                <a:spcAft>
                  <a:spcPct val="0"/>
                </a:spcAft>
                <a:buClrTx/>
                <a:buSzTx/>
                <a:buFontTx/>
                <a:buNone/>
              </a:pPr>
              <a:r>
                <a:rPr lang="en-US" altLang="en-US" sz="1000" dirty="0">
                  <a:latin typeface="Roboto" panose="02000000000000000000" pitchFamily="2" charset="0"/>
                  <a:ea typeface="Roboto" panose="02000000000000000000" pitchFamily="2" charset="0"/>
                </a:rPr>
                <a:t>Plan</a:t>
              </a:r>
            </a:p>
          </p:txBody>
        </p:sp>
        <p:sp>
          <p:nvSpPr>
            <p:cNvPr id="24" name="Line 14">
              <a:extLst>
                <a:ext uri="{FF2B5EF4-FFF2-40B4-BE49-F238E27FC236}">
                  <a16:creationId xmlns:a16="http://schemas.microsoft.com/office/drawing/2014/main" id="{D3D5F9A0-0297-ECB0-5360-A5494B7A67EE}"/>
                </a:ext>
              </a:extLst>
            </p:cNvPr>
            <p:cNvSpPr>
              <a:spLocks noChangeShapeType="1"/>
            </p:cNvSpPr>
            <p:nvPr/>
          </p:nvSpPr>
          <p:spPr bwMode="auto">
            <a:xfrm>
              <a:off x="3552" y="2256"/>
              <a:ext cx="96" cy="96"/>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25" name="Line 15">
              <a:extLst>
                <a:ext uri="{FF2B5EF4-FFF2-40B4-BE49-F238E27FC236}">
                  <a16:creationId xmlns:a16="http://schemas.microsoft.com/office/drawing/2014/main" id="{D29A1B9B-AEBF-6D98-94E9-68966363EBA7}"/>
                </a:ext>
              </a:extLst>
            </p:cNvPr>
            <p:cNvSpPr>
              <a:spLocks noChangeShapeType="1"/>
            </p:cNvSpPr>
            <p:nvPr/>
          </p:nvSpPr>
          <p:spPr bwMode="auto">
            <a:xfrm>
              <a:off x="3216" y="2256"/>
              <a:ext cx="96" cy="576"/>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cxnSp>
          <p:nvCxnSpPr>
            <p:cNvPr id="26" name="AutoShape 16">
              <a:extLst>
                <a:ext uri="{FF2B5EF4-FFF2-40B4-BE49-F238E27FC236}">
                  <a16:creationId xmlns:a16="http://schemas.microsoft.com/office/drawing/2014/main" id="{FFFA9AD4-7E55-5D40-EB98-2BEC047BE5EF}"/>
                </a:ext>
              </a:extLst>
            </p:cNvPr>
            <p:cNvCxnSpPr>
              <a:cxnSpLocks noChangeShapeType="1"/>
              <a:stCxn id="15" idx="3"/>
              <a:endCxn id="20" idx="1"/>
            </p:cNvCxnSpPr>
            <p:nvPr/>
          </p:nvCxnSpPr>
          <p:spPr bwMode="auto">
            <a:xfrm>
              <a:off x="1152" y="2040"/>
              <a:ext cx="624"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7" name="AutoShape 17">
              <a:extLst>
                <a:ext uri="{FF2B5EF4-FFF2-40B4-BE49-F238E27FC236}">
                  <a16:creationId xmlns:a16="http://schemas.microsoft.com/office/drawing/2014/main" id="{D52E6618-1640-100E-3F86-777EAA4F04C0}"/>
                </a:ext>
              </a:extLst>
            </p:cNvPr>
            <p:cNvCxnSpPr>
              <a:cxnSpLocks noChangeShapeType="1"/>
              <a:stCxn id="20" idx="3"/>
              <a:endCxn id="21" idx="1"/>
            </p:cNvCxnSpPr>
            <p:nvPr/>
          </p:nvCxnSpPr>
          <p:spPr bwMode="auto">
            <a:xfrm flipV="1">
              <a:off x="2544" y="2034"/>
              <a:ext cx="572" cy="6"/>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8" name="AutoShape 18">
              <a:extLst>
                <a:ext uri="{FF2B5EF4-FFF2-40B4-BE49-F238E27FC236}">
                  <a16:creationId xmlns:a16="http://schemas.microsoft.com/office/drawing/2014/main" id="{E5618799-D003-8594-CC7F-C4CC2CF127BB}"/>
                </a:ext>
              </a:extLst>
            </p:cNvPr>
            <p:cNvCxnSpPr>
              <a:cxnSpLocks noChangeShapeType="1"/>
              <a:stCxn id="21" idx="3"/>
              <a:endCxn id="35" idx="1"/>
            </p:cNvCxnSpPr>
            <p:nvPr/>
          </p:nvCxnSpPr>
          <p:spPr bwMode="auto">
            <a:xfrm>
              <a:off x="3788" y="2034"/>
              <a:ext cx="628" cy="6"/>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29" name="Line 19">
              <a:extLst>
                <a:ext uri="{FF2B5EF4-FFF2-40B4-BE49-F238E27FC236}">
                  <a16:creationId xmlns:a16="http://schemas.microsoft.com/office/drawing/2014/main" id="{E551DFEC-2769-325E-F07E-8AA726B4085A}"/>
                </a:ext>
              </a:extLst>
            </p:cNvPr>
            <p:cNvSpPr>
              <a:spLocks noChangeShapeType="1"/>
            </p:cNvSpPr>
            <p:nvPr/>
          </p:nvSpPr>
          <p:spPr bwMode="auto">
            <a:xfrm flipV="1">
              <a:off x="1200" y="1566"/>
              <a:ext cx="1920" cy="18"/>
            </a:xfrm>
            <a:prstGeom prst="line">
              <a:avLst/>
            </a:prstGeom>
            <a:noFill/>
            <a:ln w="28575" cap="sq">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30" name="Text Box 20">
              <a:extLst>
                <a:ext uri="{FF2B5EF4-FFF2-40B4-BE49-F238E27FC236}">
                  <a16:creationId xmlns:a16="http://schemas.microsoft.com/office/drawing/2014/main" id="{D2B86514-4E23-D6E5-66CB-1E0B1C1B462C}"/>
                </a:ext>
              </a:extLst>
            </p:cNvPr>
            <p:cNvSpPr txBox="1">
              <a:spLocks noChangeArrowheads="1"/>
            </p:cNvSpPr>
            <p:nvPr/>
          </p:nvSpPr>
          <p:spPr bwMode="auto">
            <a:xfrm>
              <a:off x="1728" y="1488"/>
              <a:ext cx="864" cy="155"/>
            </a:xfrm>
            <a:prstGeom prst="rect">
              <a:avLst/>
            </a:prstGeom>
            <a:solidFill>
              <a:schemeClr val="bg1"/>
            </a:solidFill>
            <a:ln w="12700" cap="sq">
              <a:solidFill>
                <a:schemeClr val="tx1"/>
              </a:solidFill>
              <a:miter lim="800000"/>
              <a:headEnd type="none" w="sm" len="sm"/>
              <a:tailEnd type="none" w="sm" len="sm"/>
            </a:ln>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Aft>
                  <a:spcPct val="0"/>
                </a:spcAft>
                <a:buClrTx/>
                <a:buSzTx/>
                <a:buFontTx/>
                <a:buNone/>
              </a:pPr>
              <a:r>
                <a:rPr lang="en-US" altLang="en-US" sz="1000" dirty="0">
                  <a:latin typeface="Roboto" panose="02000000000000000000" pitchFamily="2" charset="0"/>
                  <a:ea typeface="Roboto" panose="02000000000000000000" pitchFamily="2" charset="0"/>
                </a:rPr>
                <a:t>Approx. 6 Months</a:t>
              </a:r>
            </a:p>
          </p:txBody>
        </p:sp>
        <p:sp>
          <p:nvSpPr>
            <p:cNvPr id="31" name="Text Box 21">
              <a:extLst>
                <a:ext uri="{FF2B5EF4-FFF2-40B4-BE49-F238E27FC236}">
                  <a16:creationId xmlns:a16="http://schemas.microsoft.com/office/drawing/2014/main" id="{678A6C69-7493-6824-A513-DFA53E5AA393}"/>
                </a:ext>
              </a:extLst>
            </p:cNvPr>
            <p:cNvSpPr txBox="1">
              <a:spLocks noChangeArrowheads="1"/>
            </p:cNvSpPr>
            <p:nvPr/>
          </p:nvSpPr>
          <p:spPr bwMode="auto">
            <a:xfrm>
              <a:off x="1776" y="2400"/>
              <a:ext cx="864"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00000"/>
                </a:lnSpc>
                <a:spcBef>
                  <a:spcPct val="30000"/>
                </a:spcBef>
                <a:spcAft>
                  <a:spcPct val="0"/>
                </a:spcAft>
                <a:buClrTx/>
                <a:buSzTx/>
                <a:buFontTx/>
                <a:buNone/>
              </a:pPr>
              <a:r>
                <a:rPr lang="en-US" altLang="en-US" sz="1000" b="0">
                  <a:latin typeface="Roboto" panose="02000000000000000000" pitchFamily="2" charset="0"/>
                  <a:ea typeface="Roboto" panose="02000000000000000000" pitchFamily="2" charset="0"/>
                </a:rPr>
                <a:t>Kaizen events and other improvement and transformational activities</a:t>
              </a:r>
            </a:p>
          </p:txBody>
        </p:sp>
        <p:sp>
          <p:nvSpPr>
            <p:cNvPr id="32" name="Rectangle 22">
              <a:extLst>
                <a:ext uri="{FF2B5EF4-FFF2-40B4-BE49-F238E27FC236}">
                  <a16:creationId xmlns:a16="http://schemas.microsoft.com/office/drawing/2014/main" id="{0C484CAB-C430-7460-4A24-2A0CEFF18C43}"/>
                </a:ext>
              </a:extLst>
            </p:cNvPr>
            <p:cNvSpPr>
              <a:spLocks noChangeArrowheads="1"/>
            </p:cNvSpPr>
            <p:nvPr/>
          </p:nvSpPr>
          <p:spPr bwMode="auto">
            <a:xfrm>
              <a:off x="1536" y="3360"/>
              <a:ext cx="1584" cy="576"/>
            </a:xfrm>
            <a:prstGeom prst="rect">
              <a:avLst/>
            </a:prstGeom>
            <a:solidFill>
              <a:schemeClr val="accent4"/>
            </a:solidFill>
            <a:ln w="12700" cap="sq">
              <a:solidFill>
                <a:schemeClr val="tx1"/>
              </a:solidFill>
              <a:miter lim="800000"/>
              <a:headEnd type="none" w="sm" len="sm"/>
              <a:tailEnd type="none" w="sm" len="sm"/>
            </a:ln>
          </p:spPr>
          <p:txBody>
            <a:bodyPr wrap="squar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200" dirty="0">
                  <a:solidFill>
                    <a:schemeClr val="bg1"/>
                  </a:solidFill>
                  <a:latin typeface="Roboto" panose="02000000000000000000" pitchFamily="2" charset="0"/>
                  <a:ea typeface="Roboto" panose="02000000000000000000" pitchFamily="2" charset="0"/>
                </a:rPr>
                <a:t>Begin implementation of </a:t>
              </a:r>
              <a:r>
                <a:rPr lang="en-US" altLang="en-US" sz="1200" u="sng" dirty="0">
                  <a:solidFill>
                    <a:schemeClr val="bg1"/>
                  </a:solidFill>
                  <a:latin typeface="Roboto" panose="02000000000000000000" pitchFamily="2" charset="0"/>
                  <a:ea typeface="Roboto" panose="02000000000000000000" pitchFamily="2" charset="0"/>
                </a:rPr>
                <a:t>pacing</a:t>
              </a:r>
              <a:r>
                <a:rPr lang="en-US" altLang="en-US" sz="1200" dirty="0">
                  <a:solidFill>
                    <a:schemeClr val="bg1"/>
                  </a:solidFill>
                  <a:latin typeface="Roboto" panose="02000000000000000000" pitchFamily="2" charset="0"/>
                  <a:ea typeface="Roboto" panose="02000000000000000000" pitchFamily="2" charset="0"/>
                </a:rPr>
                <a:t> transformation activities (&gt;6 months) required to achieve long-term </a:t>
              </a:r>
              <a:r>
                <a:rPr lang="ja-JP" altLang="en-US" sz="1200" dirty="0">
                  <a:solidFill>
                    <a:schemeClr val="bg1"/>
                  </a:solidFill>
                  <a:latin typeface="Roboto" panose="02000000000000000000" pitchFamily="2" charset="0"/>
                </a:rPr>
                <a:t>“</a:t>
              </a:r>
              <a:r>
                <a:rPr lang="en-US" altLang="ja-JP" sz="1200" dirty="0">
                  <a:solidFill>
                    <a:schemeClr val="bg1"/>
                  </a:solidFill>
                  <a:latin typeface="Roboto" panose="02000000000000000000" pitchFamily="2" charset="0"/>
                  <a:ea typeface="Roboto" panose="02000000000000000000" pitchFamily="2" charset="0"/>
                </a:rPr>
                <a:t>vision</a:t>
              </a:r>
              <a:r>
                <a:rPr lang="ja-JP" altLang="en-US" sz="1200" dirty="0">
                  <a:solidFill>
                    <a:schemeClr val="bg1"/>
                  </a:solidFill>
                  <a:latin typeface="Roboto" panose="02000000000000000000" pitchFamily="2" charset="0"/>
                </a:rPr>
                <a:t>”</a:t>
              </a:r>
              <a:r>
                <a:rPr lang="en-US" altLang="ja-JP" sz="1200" dirty="0">
                  <a:solidFill>
                    <a:schemeClr val="bg1"/>
                  </a:solidFill>
                  <a:latin typeface="Roboto" panose="02000000000000000000" pitchFamily="2" charset="0"/>
                  <a:ea typeface="Roboto" panose="02000000000000000000" pitchFamily="2" charset="0"/>
                </a:rPr>
                <a:t> </a:t>
              </a:r>
              <a:endParaRPr lang="en-US" altLang="en-US" sz="1200" dirty="0">
                <a:solidFill>
                  <a:schemeClr val="bg1"/>
                </a:solidFill>
                <a:latin typeface="Roboto" panose="02000000000000000000" pitchFamily="2" charset="0"/>
                <a:ea typeface="Roboto" panose="02000000000000000000" pitchFamily="2" charset="0"/>
              </a:endParaRPr>
            </a:p>
          </p:txBody>
        </p:sp>
        <p:sp>
          <p:nvSpPr>
            <p:cNvPr id="33" name="AutoShape 23">
              <a:extLst>
                <a:ext uri="{FF2B5EF4-FFF2-40B4-BE49-F238E27FC236}">
                  <a16:creationId xmlns:a16="http://schemas.microsoft.com/office/drawing/2014/main" id="{900EB174-7AD3-A8A2-3E87-EEEBA22E34F9}"/>
                </a:ext>
              </a:extLst>
            </p:cNvPr>
            <p:cNvSpPr>
              <a:spLocks noChangeArrowheads="1"/>
            </p:cNvSpPr>
            <p:nvPr/>
          </p:nvSpPr>
          <p:spPr bwMode="auto">
            <a:xfrm>
              <a:off x="624" y="3456"/>
              <a:ext cx="576" cy="384"/>
            </a:xfrm>
            <a:prstGeom prst="flowChartDocument">
              <a:avLst/>
            </a:prstGeom>
            <a:solidFill>
              <a:schemeClr val="accent4"/>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a:solidFill>
                    <a:schemeClr val="bg1"/>
                  </a:solidFill>
                  <a:latin typeface="Roboto" panose="02000000000000000000" pitchFamily="2" charset="0"/>
                  <a:ea typeface="Roboto" panose="02000000000000000000" pitchFamily="2" charset="0"/>
                </a:rPr>
                <a:t>Long-term</a:t>
              </a:r>
            </a:p>
            <a:p>
              <a:pPr algn="ctr">
                <a:lnSpc>
                  <a:spcPct val="100000"/>
                </a:lnSpc>
                <a:spcBef>
                  <a:spcPct val="30000"/>
                </a:spcBef>
                <a:spcAft>
                  <a:spcPct val="0"/>
                </a:spcAft>
                <a:buClrTx/>
                <a:buSzTx/>
                <a:buFontTx/>
                <a:buNone/>
              </a:pPr>
              <a:r>
                <a:rPr lang="en-US" altLang="en-US" sz="1000">
                  <a:solidFill>
                    <a:schemeClr val="bg1"/>
                  </a:solidFill>
                  <a:latin typeface="Roboto" panose="02000000000000000000" pitchFamily="2" charset="0"/>
                  <a:ea typeface="Roboto" panose="02000000000000000000" pitchFamily="2" charset="0"/>
                </a:rPr>
                <a:t>Vision</a:t>
              </a:r>
            </a:p>
          </p:txBody>
        </p:sp>
        <p:cxnSp>
          <p:nvCxnSpPr>
            <p:cNvPr id="34" name="AutoShape 24">
              <a:extLst>
                <a:ext uri="{FF2B5EF4-FFF2-40B4-BE49-F238E27FC236}">
                  <a16:creationId xmlns:a16="http://schemas.microsoft.com/office/drawing/2014/main" id="{9A7E9776-84B9-E9AD-3B0C-E9FA4EF9F86B}"/>
                </a:ext>
              </a:extLst>
            </p:cNvPr>
            <p:cNvCxnSpPr>
              <a:cxnSpLocks noChangeShapeType="1"/>
              <a:stCxn id="33" idx="3"/>
              <a:endCxn id="32" idx="1"/>
            </p:cNvCxnSpPr>
            <p:nvPr/>
          </p:nvCxnSpPr>
          <p:spPr bwMode="auto">
            <a:xfrm>
              <a:off x="1200" y="3648"/>
              <a:ext cx="336" cy="0"/>
            </a:xfrm>
            <a:prstGeom prst="straightConnector1">
              <a:avLst/>
            </a:prstGeom>
            <a:noFill/>
            <a:ln w="127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35" name="AutoShape 25">
              <a:extLst>
                <a:ext uri="{FF2B5EF4-FFF2-40B4-BE49-F238E27FC236}">
                  <a16:creationId xmlns:a16="http://schemas.microsoft.com/office/drawing/2014/main" id="{2A3FADE7-1789-8277-9DF2-F3626B844442}"/>
                </a:ext>
              </a:extLst>
            </p:cNvPr>
            <p:cNvSpPr>
              <a:spLocks noChangeArrowheads="1"/>
            </p:cNvSpPr>
            <p:nvPr/>
          </p:nvSpPr>
          <p:spPr bwMode="auto">
            <a:xfrm>
              <a:off x="4416" y="1800"/>
              <a:ext cx="960" cy="480"/>
            </a:xfrm>
            <a:prstGeom prst="flowChartAlternateProcess">
              <a:avLst/>
            </a:prstGeom>
            <a:solidFill>
              <a:schemeClr val="accent4"/>
            </a:solidFill>
            <a:ln w="12700" cap="sq">
              <a:solidFill>
                <a:schemeClr val="tx1"/>
              </a:solidFill>
              <a:miter lim="800000"/>
              <a:headEnd type="none" w="sm" len="sm"/>
              <a:tailEnd type="none" w="sm" len="sm"/>
            </a:ln>
          </p:spPr>
          <p:txBody>
            <a:bodyPr wrap="squar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30000"/>
                </a:spcBef>
                <a:spcAft>
                  <a:spcPct val="0"/>
                </a:spcAft>
                <a:buClrTx/>
                <a:buSzTx/>
                <a:buFontTx/>
                <a:buNone/>
              </a:pPr>
              <a:r>
                <a:rPr lang="en-US" altLang="en-US" sz="1000" dirty="0">
                  <a:solidFill>
                    <a:schemeClr val="bg1"/>
                  </a:solidFill>
                  <a:latin typeface="Roboto" panose="02000000000000000000" pitchFamily="2" charset="0"/>
                  <a:ea typeface="Roboto" panose="02000000000000000000" pitchFamily="2" charset="0"/>
                </a:rPr>
                <a:t>Convergence of future VSM and long-term </a:t>
              </a:r>
              <a:r>
                <a:rPr lang="ja-JP" altLang="en-US" sz="1000" dirty="0">
                  <a:solidFill>
                    <a:schemeClr val="bg1"/>
                  </a:solidFill>
                  <a:latin typeface="Roboto" panose="02000000000000000000" pitchFamily="2" charset="0"/>
                </a:rPr>
                <a:t>“</a:t>
              </a:r>
              <a:r>
                <a:rPr lang="en-US" altLang="ja-JP" sz="1000" dirty="0">
                  <a:solidFill>
                    <a:schemeClr val="bg1"/>
                  </a:solidFill>
                  <a:latin typeface="Roboto" panose="02000000000000000000" pitchFamily="2" charset="0"/>
                  <a:ea typeface="Roboto" panose="02000000000000000000" pitchFamily="2" charset="0"/>
                </a:rPr>
                <a:t>Vision</a:t>
              </a:r>
              <a:r>
                <a:rPr lang="ja-JP" altLang="en-US" sz="1000" dirty="0">
                  <a:solidFill>
                    <a:schemeClr val="bg1"/>
                  </a:solidFill>
                  <a:latin typeface="Roboto" panose="02000000000000000000" pitchFamily="2" charset="0"/>
                </a:rPr>
                <a:t>” </a:t>
              </a:r>
              <a:r>
                <a:rPr lang="en-US" altLang="en-US" sz="1000" dirty="0">
                  <a:solidFill>
                    <a:schemeClr val="bg1"/>
                  </a:solidFill>
                  <a:latin typeface="Roboto" panose="02000000000000000000" pitchFamily="2" charset="0"/>
                  <a:ea typeface="Roboto" panose="02000000000000000000" pitchFamily="2" charset="0"/>
                </a:rPr>
                <a:t>transformation</a:t>
              </a:r>
            </a:p>
          </p:txBody>
        </p:sp>
        <p:cxnSp>
          <p:nvCxnSpPr>
            <p:cNvPr id="36" name="AutoShape 26">
              <a:extLst>
                <a:ext uri="{FF2B5EF4-FFF2-40B4-BE49-F238E27FC236}">
                  <a16:creationId xmlns:a16="http://schemas.microsoft.com/office/drawing/2014/main" id="{B6FA01F2-75A7-E8D3-0E1F-8748E7DA10F4}"/>
                </a:ext>
              </a:extLst>
            </p:cNvPr>
            <p:cNvCxnSpPr>
              <a:cxnSpLocks noChangeShapeType="1"/>
              <a:stCxn id="32" idx="3"/>
              <a:endCxn id="35" idx="2"/>
            </p:cNvCxnSpPr>
            <p:nvPr/>
          </p:nvCxnSpPr>
          <p:spPr bwMode="auto">
            <a:xfrm flipV="1">
              <a:off x="3120" y="2280"/>
              <a:ext cx="1776" cy="1368"/>
            </a:xfrm>
            <a:prstGeom prst="bentConnector2">
              <a:avLst/>
            </a:prstGeom>
            <a:noFill/>
            <a:ln w="12700" cap="sq">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7" name="AutoShape 27">
              <a:extLst>
                <a:ext uri="{FF2B5EF4-FFF2-40B4-BE49-F238E27FC236}">
                  <a16:creationId xmlns:a16="http://schemas.microsoft.com/office/drawing/2014/main" id="{CD1FC13C-B813-31EB-DAB8-52C1A2E56B09}"/>
                </a:ext>
              </a:extLst>
            </p:cNvPr>
            <p:cNvCxnSpPr>
              <a:cxnSpLocks noChangeShapeType="1"/>
              <a:stCxn id="16" idx="2"/>
              <a:endCxn id="33" idx="0"/>
            </p:cNvCxnSpPr>
            <p:nvPr/>
          </p:nvCxnSpPr>
          <p:spPr bwMode="auto">
            <a:xfrm>
              <a:off x="864" y="3147"/>
              <a:ext cx="48" cy="309"/>
            </a:xfrm>
            <a:prstGeom prst="straightConnector1">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cxnSp>
        <p:grpSp>
          <p:nvGrpSpPr>
            <p:cNvPr id="38" name="Group 28">
              <a:extLst>
                <a:ext uri="{FF2B5EF4-FFF2-40B4-BE49-F238E27FC236}">
                  <a16:creationId xmlns:a16="http://schemas.microsoft.com/office/drawing/2014/main" id="{E1FA1EA7-4BFD-3032-60EA-1531310028A9}"/>
                </a:ext>
              </a:extLst>
            </p:cNvPr>
            <p:cNvGrpSpPr>
              <a:grpSpLocks/>
            </p:cNvGrpSpPr>
            <p:nvPr/>
          </p:nvGrpSpPr>
          <p:grpSpPr bwMode="auto">
            <a:xfrm>
              <a:off x="4056" y="1968"/>
              <a:ext cx="96" cy="144"/>
              <a:chOff x="4056" y="1968"/>
              <a:chExt cx="96" cy="144"/>
            </a:xfrm>
          </p:grpSpPr>
          <p:sp>
            <p:nvSpPr>
              <p:cNvPr id="41" name="Rectangle 29">
                <a:extLst>
                  <a:ext uri="{FF2B5EF4-FFF2-40B4-BE49-F238E27FC236}">
                    <a16:creationId xmlns:a16="http://schemas.microsoft.com/office/drawing/2014/main" id="{629E45F3-4326-6D19-10C9-AAE9084569A1}"/>
                  </a:ext>
                </a:extLst>
              </p:cNvPr>
              <p:cNvSpPr>
                <a:spLocks noChangeArrowheads="1"/>
              </p:cNvSpPr>
              <p:nvPr/>
            </p:nvSpPr>
            <p:spPr bwMode="auto">
              <a:xfrm>
                <a:off x="4080" y="1968"/>
                <a:ext cx="48" cy="144"/>
              </a:xfrm>
              <a:prstGeom prst="rect">
                <a:avLst/>
              </a:prstGeom>
              <a:solidFill>
                <a:schemeClr val="bg1"/>
              </a:solidFill>
              <a:ln>
                <a:noFill/>
              </a:ln>
              <a:extLs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Line 30">
                <a:extLst>
                  <a:ext uri="{FF2B5EF4-FFF2-40B4-BE49-F238E27FC236}">
                    <a16:creationId xmlns:a16="http://schemas.microsoft.com/office/drawing/2014/main" id="{1DDF17DC-86A6-55E6-DCFD-66B70377A2F1}"/>
                  </a:ext>
                </a:extLst>
              </p:cNvPr>
              <p:cNvSpPr>
                <a:spLocks noChangeShapeType="1"/>
              </p:cNvSpPr>
              <p:nvPr/>
            </p:nvSpPr>
            <p:spPr bwMode="auto">
              <a:xfrm flipH="1">
                <a:off x="4056"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3" name="Line 31">
                <a:extLst>
                  <a:ext uri="{FF2B5EF4-FFF2-40B4-BE49-F238E27FC236}">
                    <a16:creationId xmlns:a16="http://schemas.microsoft.com/office/drawing/2014/main" id="{7D06440C-0C66-9415-8C26-21CD7751177A}"/>
                  </a:ext>
                </a:extLst>
              </p:cNvPr>
              <p:cNvSpPr>
                <a:spLocks noChangeShapeType="1"/>
              </p:cNvSpPr>
              <p:nvPr/>
            </p:nvSpPr>
            <p:spPr bwMode="auto">
              <a:xfrm flipH="1">
                <a:off x="4104" y="1968"/>
                <a:ext cx="48" cy="14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
          <p:nvSpPr>
            <p:cNvPr id="39" name="Line 32">
              <a:extLst>
                <a:ext uri="{FF2B5EF4-FFF2-40B4-BE49-F238E27FC236}">
                  <a16:creationId xmlns:a16="http://schemas.microsoft.com/office/drawing/2014/main" id="{2EC0B2E1-8659-C77C-C86B-C0FD896FC10E}"/>
                </a:ext>
              </a:extLst>
            </p:cNvPr>
            <p:cNvSpPr>
              <a:spLocks noChangeShapeType="1"/>
            </p:cNvSpPr>
            <p:nvPr/>
          </p:nvSpPr>
          <p:spPr bwMode="auto">
            <a:xfrm>
              <a:off x="1200" y="1440"/>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40" name="Line 33">
              <a:extLst>
                <a:ext uri="{FF2B5EF4-FFF2-40B4-BE49-F238E27FC236}">
                  <a16:creationId xmlns:a16="http://schemas.microsoft.com/office/drawing/2014/main" id="{6F967EB6-0D5A-FBF5-129A-C2DC4B129107}"/>
                </a:ext>
              </a:extLst>
            </p:cNvPr>
            <p:cNvSpPr>
              <a:spLocks noChangeShapeType="1"/>
            </p:cNvSpPr>
            <p:nvPr/>
          </p:nvSpPr>
          <p:spPr bwMode="auto">
            <a:xfrm>
              <a:off x="3120" y="1440"/>
              <a:ext cx="0" cy="24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24867396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Role of Leadership in VSM</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131</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fontScale="92500" lnSpcReduction="10000"/>
          </a:bodyPr>
          <a:lstStyle/>
          <a:p>
            <a:r>
              <a:rPr lang="en-US" dirty="0"/>
              <a:t>Define and communicate the long-term “vision” for the business regularly</a:t>
            </a:r>
          </a:p>
          <a:p>
            <a:pPr lvl="1"/>
            <a:r>
              <a:rPr lang="en-US" dirty="0"/>
              <a:t>No sense in making short-term improvements to a process that may be outsourced, eliminated, or fundamentally transformed in the near future</a:t>
            </a:r>
          </a:p>
          <a:p>
            <a:r>
              <a:rPr lang="en-US" dirty="0"/>
              <a:t>Identify key value streams to be addressed by the business</a:t>
            </a:r>
          </a:p>
          <a:p>
            <a:pPr lvl="1"/>
            <a:r>
              <a:rPr lang="en-US" dirty="0"/>
              <a:t>Prioritized according to business needs and strategy</a:t>
            </a:r>
          </a:p>
          <a:p>
            <a:pPr lvl="1"/>
            <a:r>
              <a:rPr lang="en-US" dirty="0"/>
              <a:t>Not every business process will need to be addressed by VSM</a:t>
            </a:r>
          </a:p>
          <a:p>
            <a:r>
              <a:rPr lang="en-US" dirty="0"/>
              <a:t>Provide sponsorship and support for VSM events and implementation</a:t>
            </a:r>
          </a:p>
          <a:p>
            <a:pPr lvl="1"/>
            <a:r>
              <a:rPr lang="en-US" dirty="0"/>
              <a:t>Internal/external resources and funding</a:t>
            </a:r>
          </a:p>
          <a:p>
            <a:pPr lvl="1"/>
            <a:r>
              <a:rPr lang="en-US" dirty="0"/>
              <a:t>Executive decision-making</a:t>
            </a:r>
          </a:p>
          <a:p>
            <a:pPr lvl="1"/>
            <a:r>
              <a:rPr lang="en-US" dirty="0"/>
              <a:t>Empowerment of teams</a:t>
            </a:r>
          </a:p>
        </p:txBody>
      </p:sp>
    </p:spTree>
    <p:extLst>
      <p:ext uri="{BB962C8B-B14F-4D97-AF65-F5344CB8AC3E}">
        <p14:creationId xmlns:p14="http://schemas.microsoft.com/office/powerpoint/2010/main" val="261791491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Role of the Value Stream Manager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132</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lnSpcReduction="10000"/>
          </a:bodyPr>
          <a:lstStyle/>
          <a:p>
            <a:r>
              <a:rPr lang="en-US" sz="3200" dirty="0"/>
              <a:t>The Value Stream Manager is the business process “owner”</a:t>
            </a:r>
          </a:p>
          <a:p>
            <a:r>
              <a:rPr lang="en-US" sz="3200" dirty="0"/>
              <a:t>Oversees, charters, and typically leads VSM events</a:t>
            </a:r>
          </a:p>
          <a:p>
            <a:r>
              <a:rPr lang="en-US" sz="3200" dirty="0"/>
              <a:t>“Owns” the Value Stream Plan</a:t>
            </a:r>
          </a:p>
          <a:p>
            <a:pPr lvl="1"/>
            <a:r>
              <a:rPr lang="en-US" sz="2800" dirty="0"/>
              <a:t>Responsible for overseeing the completion of kaizen and other CI improvement activities that are identified on the VS Plan</a:t>
            </a:r>
          </a:p>
          <a:p>
            <a:pPr lvl="1"/>
            <a:r>
              <a:rPr lang="en-US" sz="2800" dirty="0"/>
              <a:t>Provides leadership in resolving issues and removing obstacles that affect reaching the future state in the prescribed timeframe</a:t>
            </a:r>
          </a:p>
        </p:txBody>
      </p:sp>
    </p:spTree>
    <p:extLst>
      <p:ext uri="{BB962C8B-B14F-4D97-AF65-F5344CB8AC3E}">
        <p14:creationId xmlns:p14="http://schemas.microsoft.com/office/powerpoint/2010/main" val="284972724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Role of the Value Stream Manager</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133</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fontScale="92500" lnSpcReduction="10000"/>
          </a:bodyPr>
          <a:lstStyle/>
          <a:p>
            <a:r>
              <a:rPr lang="en-US" sz="3200" dirty="0"/>
              <a:t>“Owns” the operational aspects of the end-to-end process, even if it crosses organizational boundaries</a:t>
            </a:r>
          </a:p>
          <a:p>
            <a:pPr lvl="1"/>
            <a:r>
              <a:rPr lang="en-US" sz="2800" dirty="0"/>
              <a:t>Reports (solid or dotted line) to the level where all VS processes and functions report to</a:t>
            </a:r>
          </a:p>
          <a:p>
            <a:pPr lvl="1"/>
            <a:r>
              <a:rPr lang="en-US" sz="2800" dirty="0"/>
              <a:t>Ensures that the future state operational model is viable and achieves the benefits envisioned during the VSM event</a:t>
            </a:r>
          </a:p>
          <a:p>
            <a:r>
              <a:rPr lang="en-US" sz="3200" dirty="0"/>
              <a:t>Continues the VSM process through the second and subsequent cycles</a:t>
            </a:r>
          </a:p>
          <a:p>
            <a:r>
              <a:rPr lang="en-US" sz="3200" dirty="0"/>
              <a:t>Maintains the linkage between VSM and strategic vision of the business</a:t>
            </a:r>
          </a:p>
        </p:txBody>
      </p:sp>
    </p:spTree>
    <p:extLst>
      <p:ext uri="{BB962C8B-B14F-4D97-AF65-F5344CB8AC3E}">
        <p14:creationId xmlns:p14="http://schemas.microsoft.com/office/powerpoint/2010/main" val="296726890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normAutofit fontScale="90000"/>
          </a:bodyPr>
          <a:lstStyle/>
          <a:p>
            <a:r>
              <a:rPr lang="en-US" dirty="0"/>
              <a:t>Value Stream Mapping Roadmap to Success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134</a:t>
            </a:fld>
            <a:endParaRPr lang="en-US"/>
          </a:p>
        </p:txBody>
      </p:sp>
      <p:grpSp>
        <p:nvGrpSpPr>
          <p:cNvPr id="25" name="Group 24">
            <a:extLst>
              <a:ext uri="{FF2B5EF4-FFF2-40B4-BE49-F238E27FC236}">
                <a16:creationId xmlns:a16="http://schemas.microsoft.com/office/drawing/2014/main" id="{36B341C3-5B79-2C39-21C4-288F438DFD12}"/>
              </a:ext>
            </a:extLst>
          </p:cNvPr>
          <p:cNvGrpSpPr/>
          <p:nvPr/>
        </p:nvGrpSpPr>
        <p:grpSpPr>
          <a:xfrm>
            <a:off x="620078" y="1864043"/>
            <a:ext cx="10718200" cy="3970337"/>
            <a:chOff x="414338" y="1624013"/>
            <a:chExt cx="8324850" cy="3970337"/>
          </a:xfrm>
        </p:grpSpPr>
        <p:grpSp>
          <p:nvGrpSpPr>
            <p:cNvPr id="3" name="Group 2">
              <a:extLst>
                <a:ext uri="{FF2B5EF4-FFF2-40B4-BE49-F238E27FC236}">
                  <a16:creationId xmlns:a16="http://schemas.microsoft.com/office/drawing/2014/main" id="{3E2D4476-A0C8-47DF-0EA0-728AC0C24F0B}"/>
                </a:ext>
              </a:extLst>
            </p:cNvPr>
            <p:cNvGrpSpPr>
              <a:grpSpLocks/>
            </p:cNvGrpSpPr>
            <p:nvPr/>
          </p:nvGrpSpPr>
          <p:grpSpPr bwMode="auto">
            <a:xfrm>
              <a:off x="2205038" y="1624013"/>
              <a:ext cx="6534150" cy="2776537"/>
              <a:chOff x="1389" y="1410"/>
              <a:chExt cx="4116" cy="1795"/>
            </a:xfrm>
          </p:grpSpPr>
          <p:sp>
            <p:nvSpPr>
              <p:cNvPr id="5" name="Rectangle 3">
                <a:extLst>
                  <a:ext uri="{FF2B5EF4-FFF2-40B4-BE49-F238E27FC236}">
                    <a16:creationId xmlns:a16="http://schemas.microsoft.com/office/drawing/2014/main" id="{5F9621AF-91A5-3579-72E0-98295640C397}"/>
                  </a:ext>
                </a:extLst>
              </p:cNvPr>
              <p:cNvSpPr>
                <a:spLocks noChangeArrowheads="1"/>
              </p:cNvSpPr>
              <p:nvPr/>
            </p:nvSpPr>
            <p:spPr bwMode="auto">
              <a:xfrm>
                <a:off x="1389" y="1410"/>
                <a:ext cx="4116" cy="1795"/>
              </a:xfrm>
              <a:prstGeom prst="rect">
                <a:avLst/>
              </a:prstGeom>
              <a:solidFill>
                <a:schemeClr val="bg2"/>
              </a:solidFill>
              <a:ln w="12700" cap="sq">
                <a:solidFill>
                  <a:srgbClr val="0033CC"/>
                </a:solidFill>
                <a:miter lim="800000"/>
                <a:headEnd type="none" w="sm" len="sm"/>
                <a:tailEnd type="none" w="sm" len="sm"/>
              </a:ln>
            </p:spPr>
            <p:txBody>
              <a:bodyPr wrap="none" anchor="ct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endParaRPr lang="en-US" altLang="en-US">
                  <a:latin typeface="Roboto" panose="02000000000000000000" pitchFamily="2" charset="0"/>
                  <a:ea typeface="Roboto" panose="02000000000000000000" pitchFamily="2" charset="0"/>
                </a:endParaRPr>
              </a:p>
            </p:txBody>
          </p:sp>
          <p:sp>
            <p:nvSpPr>
              <p:cNvPr id="6" name="Text Box 4">
                <a:extLst>
                  <a:ext uri="{FF2B5EF4-FFF2-40B4-BE49-F238E27FC236}">
                    <a16:creationId xmlns:a16="http://schemas.microsoft.com/office/drawing/2014/main" id="{2D8ABF48-7910-626C-27ED-C57F9FB2C5B4}"/>
                  </a:ext>
                </a:extLst>
              </p:cNvPr>
              <p:cNvSpPr txBox="1">
                <a:spLocks noChangeArrowheads="1"/>
              </p:cNvSpPr>
              <p:nvPr/>
            </p:nvSpPr>
            <p:spPr bwMode="auto">
              <a:xfrm>
                <a:off x="2529" y="1507"/>
                <a:ext cx="1860" cy="219"/>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pPr>
                <a:r>
                  <a:rPr lang="en-US" altLang="en-US" sz="1600" i="1" dirty="0">
                    <a:solidFill>
                      <a:schemeClr val="tx1"/>
                    </a:solidFill>
                    <a:latin typeface="Roboto" panose="02000000000000000000" pitchFamily="2" charset="0"/>
                    <a:ea typeface="Roboto" panose="02000000000000000000" pitchFamily="2" charset="0"/>
                  </a:rPr>
                  <a:t>Repeat for each identified Value Stream</a:t>
                </a:r>
              </a:p>
            </p:txBody>
          </p:sp>
        </p:grpSp>
        <p:sp>
          <p:nvSpPr>
            <p:cNvPr id="7" name="Oval 6">
              <a:extLst>
                <a:ext uri="{FF2B5EF4-FFF2-40B4-BE49-F238E27FC236}">
                  <a16:creationId xmlns:a16="http://schemas.microsoft.com/office/drawing/2014/main" id="{B983B757-3E20-F51D-A49E-95CFC66B7BEB}"/>
                </a:ext>
              </a:extLst>
            </p:cNvPr>
            <p:cNvSpPr>
              <a:spLocks noChangeArrowheads="1"/>
            </p:cNvSpPr>
            <p:nvPr/>
          </p:nvSpPr>
          <p:spPr bwMode="auto">
            <a:xfrm>
              <a:off x="7662863" y="3070225"/>
              <a:ext cx="976312" cy="1052513"/>
            </a:xfrm>
            <a:prstGeom prst="ellipse">
              <a:avLst/>
            </a:prstGeom>
            <a:solidFill>
              <a:schemeClr val="accent4"/>
            </a:solidFill>
            <a:ln w="6350">
              <a:solidFill>
                <a:schemeClr val="tx1"/>
              </a:solidFill>
              <a:round/>
              <a:headEnd/>
              <a:tailEnd/>
            </a:ln>
          </p:spPr>
          <p:txBody>
            <a:bodyPr wrap="none" lIns="45720" rIns="45720" anchor="ctr"/>
            <a:lstStyle>
              <a:lvl1pPr marL="101600" indent="-101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Repeat</a:t>
              </a:r>
            </a:p>
            <a:p>
              <a:pPr>
                <a:lnSpc>
                  <a:spcPct val="100000"/>
                </a:lnSpc>
                <a:spcBef>
                  <a:spcPct val="30000"/>
                </a:spcBef>
                <a:buClr>
                  <a:schemeClr val="folHlink"/>
                </a:buClr>
              </a:pPr>
              <a:r>
                <a:rPr lang="en-GB" altLang="en-US" sz="1400">
                  <a:latin typeface="Roboto" panose="02000000000000000000" pitchFamily="2" charset="0"/>
                  <a:ea typeface="Roboto" panose="02000000000000000000" pitchFamily="2" charset="0"/>
                </a:rPr>
                <a:t>Cycle</a:t>
              </a:r>
              <a:endParaRPr lang="en-GB" altLang="en-US" sz="1400" b="0">
                <a:latin typeface="Roboto" panose="02000000000000000000" pitchFamily="2" charset="0"/>
                <a:ea typeface="Roboto" panose="02000000000000000000" pitchFamily="2" charset="0"/>
              </a:endParaRPr>
            </a:p>
          </p:txBody>
        </p:sp>
        <p:sp>
          <p:nvSpPr>
            <p:cNvPr id="8" name="Rectangle 8">
              <a:extLst>
                <a:ext uri="{FF2B5EF4-FFF2-40B4-BE49-F238E27FC236}">
                  <a16:creationId xmlns:a16="http://schemas.microsoft.com/office/drawing/2014/main" id="{F4851B9F-9545-35A7-B8AB-63A6DA9A4C47}"/>
                </a:ext>
              </a:extLst>
            </p:cNvPr>
            <p:cNvSpPr>
              <a:spLocks noChangeArrowheads="1"/>
            </p:cNvSpPr>
            <p:nvPr/>
          </p:nvSpPr>
          <p:spPr bwMode="auto">
            <a:xfrm>
              <a:off x="512763" y="3062288"/>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Site Assessment</a:t>
              </a:r>
            </a:p>
          </p:txBody>
        </p:sp>
        <p:sp>
          <p:nvSpPr>
            <p:cNvPr id="9" name="Rectangle 9">
              <a:extLst>
                <a:ext uri="{FF2B5EF4-FFF2-40B4-BE49-F238E27FC236}">
                  <a16:creationId xmlns:a16="http://schemas.microsoft.com/office/drawing/2014/main" id="{F560617D-C996-11EA-C4BE-76FFAE1B07E3}"/>
                </a:ext>
              </a:extLst>
            </p:cNvPr>
            <p:cNvSpPr>
              <a:spLocks noChangeArrowheads="1"/>
            </p:cNvSpPr>
            <p:nvPr/>
          </p:nvSpPr>
          <p:spPr bwMode="auto">
            <a:xfrm>
              <a:off x="512763" y="2800350"/>
              <a:ext cx="1522412" cy="252413"/>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1</a:t>
              </a:r>
            </a:p>
          </p:txBody>
        </p:sp>
        <p:sp>
          <p:nvSpPr>
            <p:cNvPr id="10" name="Rectangle 10">
              <a:extLst>
                <a:ext uri="{FF2B5EF4-FFF2-40B4-BE49-F238E27FC236}">
                  <a16:creationId xmlns:a16="http://schemas.microsoft.com/office/drawing/2014/main" id="{A5C399C4-6F83-CC45-7627-48EEDA23FB35}"/>
                </a:ext>
              </a:extLst>
            </p:cNvPr>
            <p:cNvSpPr>
              <a:spLocks noChangeArrowheads="1"/>
            </p:cNvSpPr>
            <p:nvPr/>
          </p:nvSpPr>
          <p:spPr bwMode="auto">
            <a:xfrm>
              <a:off x="2308225"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Preparation</a:t>
              </a:r>
            </a:p>
          </p:txBody>
        </p:sp>
        <p:sp>
          <p:nvSpPr>
            <p:cNvPr id="11" name="Rectangle 11">
              <a:extLst>
                <a:ext uri="{FF2B5EF4-FFF2-40B4-BE49-F238E27FC236}">
                  <a16:creationId xmlns:a16="http://schemas.microsoft.com/office/drawing/2014/main" id="{4CDAB49D-9A50-C6CA-C385-FCCFC8ECF342}"/>
                </a:ext>
              </a:extLst>
            </p:cNvPr>
            <p:cNvSpPr>
              <a:spLocks noChangeArrowheads="1"/>
            </p:cNvSpPr>
            <p:nvPr/>
          </p:nvSpPr>
          <p:spPr bwMode="auto">
            <a:xfrm>
              <a:off x="2308225"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2</a:t>
              </a:r>
            </a:p>
          </p:txBody>
        </p:sp>
        <p:sp>
          <p:nvSpPr>
            <p:cNvPr id="12" name="Rectangle 12">
              <a:extLst>
                <a:ext uri="{FF2B5EF4-FFF2-40B4-BE49-F238E27FC236}">
                  <a16:creationId xmlns:a16="http://schemas.microsoft.com/office/drawing/2014/main" id="{14A3BE56-790E-BC97-C4FD-A842BF1DA266}"/>
                </a:ext>
              </a:extLst>
            </p:cNvPr>
            <p:cNvSpPr>
              <a:spLocks noChangeArrowheads="1"/>
            </p:cNvSpPr>
            <p:nvPr/>
          </p:nvSpPr>
          <p:spPr bwMode="auto">
            <a:xfrm>
              <a:off x="4122738"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Conduct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VSM Event</a:t>
              </a:r>
            </a:p>
          </p:txBody>
        </p:sp>
        <p:sp>
          <p:nvSpPr>
            <p:cNvPr id="13" name="Rectangle 13">
              <a:extLst>
                <a:ext uri="{FF2B5EF4-FFF2-40B4-BE49-F238E27FC236}">
                  <a16:creationId xmlns:a16="http://schemas.microsoft.com/office/drawing/2014/main" id="{8E856E23-2E66-C316-1087-94851CCA9F27}"/>
                </a:ext>
              </a:extLst>
            </p:cNvPr>
            <p:cNvSpPr>
              <a:spLocks noChangeArrowheads="1"/>
            </p:cNvSpPr>
            <p:nvPr/>
          </p:nvSpPr>
          <p:spPr bwMode="auto">
            <a:xfrm>
              <a:off x="4122738" y="2795588"/>
              <a:ext cx="1522412"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3</a:t>
              </a:r>
            </a:p>
          </p:txBody>
        </p:sp>
        <p:sp>
          <p:nvSpPr>
            <p:cNvPr id="14" name="Rectangle 14">
              <a:extLst>
                <a:ext uri="{FF2B5EF4-FFF2-40B4-BE49-F238E27FC236}">
                  <a16:creationId xmlns:a16="http://schemas.microsoft.com/office/drawing/2014/main" id="{61D5857C-18BB-F351-3A5A-3466E123AB89}"/>
                </a:ext>
              </a:extLst>
            </p:cNvPr>
            <p:cNvSpPr>
              <a:spLocks noChangeArrowheads="1"/>
            </p:cNvSpPr>
            <p:nvPr/>
          </p:nvSpPr>
          <p:spPr bwMode="auto">
            <a:xfrm>
              <a:off x="5937250" y="3057525"/>
              <a:ext cx="1520825" cy="1079500"/>
            </a:xfrm>
            <a:prstGeom prst="rect">
              <a:avLst/>
            </a:prstGeom>
            <a:solidFill>
              <a:schemeClr val="bg1"/>
            </a:solidFill>
            <a:ln w="12700" cap="sq">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Implement</a:t>
              </a:r>
              <a:br>
                <a:rPr lang="en-US" altLang="en-US" sz="1400">
                  <a:latin typeface="Roboto" panose="02000000000000000000" pitchFamily="2" charset="0"/>
                  <a:ea typeface="Roboto" panose="02000000000000000000" pitchFamily="2" charset="0"/>
                </a:rPr>
              </a:br>
              <a:r>
                <a:rPr lang="en-US" altLang="en-US" sz="1400">
                  <a:latin typeface="Roboto" panose="02000000000000000000" pitchFamily="2" charset="0"/>
                  <a:ea typeface="Roboto" panose="02000000000000000000" pitchFamily="2" charset="0"/>
                </a:rPr>
                <a:t>VS Plan</a:t>
              </a:r>
            </a:p>
          </p:txBody>
        </p:sp>
        <p:sp>
          <p:nvSpPr>
            <p:cNvPr id="15" name="Rectangle 15">
              <a:extLst>
                <a:ext uri="{FF2B5EF4-FFF2-40B4-BE49-F238E27FC236}">
                  <a16:creationId xmlns:a16="http://schemas.microsoft.com/office/drawing/2014/main" id="{6E2AE2B3-A2C6-E979-CE4A-53CA1208E770}"/>
                </a:ext>
              </a:extLst>
            </p:cNvPr>
            <p:cNvSpPr>
              <a:spLocks noChangeArrowheads="1"/>
            </p:cNvSpPr>
            <p:nvPr/>
          </p:nvSpPr>
          <p:spPr bwMode="auto">
            <a:xfrm>
              <a:off x="5937250" y="2795588"/>
              <a:ext cx="1522413" cy="252412"/>
            </a:xfrm>
            <a:prstGeom prst="rect">
              <a:avLst/>
            </a:prstGeom>
            <a:solidFill>
              <a:schemeClr val="accent1"/>
            </a:solidFill>
            <a:ln w="12700" cap="sq">
              <a:solidFill>
                <a:schemeClr val="tx1"/>
              </a:solidFill>
              <a:miter lim="800000"/>
              <a:headEnd/>
              <a:tailEnd/>
            </a:ln>
          </p:spPr>
          <p:txBody>
            <a:bodyPr wrap="none" anchor="ctr" anchorCtr="1"/>
            <a:lstStyle>
              <a:lvl1pPr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defRPr sz="900" b="1">
                  <a:solidFill>
                    <a:schemeClr val="bg1"/>
                  </a:solidFill>
                  <a:latin typeface="Arial" panose="020B0604020202020204" pitchFamily="34" charset="0"/>
                  <a:ea typeface="MS PGothic" panose="020B0600070205080204" pitchFamily="34" charset="-128"/>
                </a:defRPr>
              </a:lvl9pPr>
            </a:lstStyle>
            <a:p>
              <a:r>
                <a:rPr lang="en-US" altLang="en-US" sz="1200">
                  <a:latin typeface="Roboto" panose="02000000000000000000" pitchFamily="2" charset="0"/>
                  <a:ea typeface="Roboto" panose="02000000000000000000" pitchFamily="2" charset="0"/>
                </a:rPr>
                <a:t>PROCESS STEP 4</a:t>
              </a:r>
            </a:p>
          </p:txBody>
        </p:sp>
        <p:cxnSp>
          <p:nvCxnSpPr>
            <p:cNvPr id="16" name="AutoShape 16">
              <a:extLst>
                <a:ext uri="{FF2B5EF4-FFF2-40B4-BE49-F238E27FC236}">
                  <a16:creationId xmlns:a16="http://schemas.microsoft.com/office/drawing/2014/main" id="{9D53FE5C-5CCE-3737-FED0-0DCF4CFF16DE}"/>
                </a:ext>
              </a:extLst>
            </p:cNvPr>
            <p:cNvCxnSpPr>
              <a:cxnSpLocks noChangeShapeType="1"/>
              <a:stCxn id="8" idx="3"/>
              <a:endCxn id="10" idx="1"/>
            </p:cNvCxnSpPr>
            <p:nvPr/>
          </p:nvCxnSpPr>
          <p:spPr bwMode="auto">
            <a:xfrm flipV="1">
              <a:off x="2033588" y="3597275"/>
              <a:ext cx="274637" cy="4763"/>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7" name="AutoShape 17">
              <a:extLst>
                <a:ext uri="{FF2B5EF4-FFF2-40B4-BE49-F238E27FC236}">
                  <a16:creationId xmlns:a16="http://schemas.microsoft.com/office/drawing/2014/main" id="{782F2126-E5B9-D8B0-704C-7D7713992B97}"/>
                </a:ext>
              </a:extLst>
            </p:cNvPr>
            <p:cNvCxnSpPr>
              <a:cxnSpLocks noChangeShapeType="1"/>
              <a:stCxn id="10" idx="3"/>
              <a:endCxn id="12" idx="1"/>
            </p:cNvCxnSpPr>
            <p:nvPr/>
          </p:nvCxnSpPr>
          <p:spPr bwMode="auto">
            <a:xfrm>
              <a:off x="3829050" y="3597275"/>
              <a:ext cx="2936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 name="AutoShape 18">
              <a:extLst>
                <a:ext uri="{FF2B5EF4-FFF2-40B4-BE49-F238E27FC236}">
                  <a16:creationId xmlns:a16="http://schemas.microsoft.com/office/drawing/2014/main" id="{05658557-802F-2C4A-BB0D-EDF2A50EF536}"/>
                </a:ext>
              </a:extLst>
            </p:cNvPr>
            <p:cNvCxnSpPr>
              <a:cxnSpLocks noChangeShapeType="1"/>
              <a:stCxn id="12" idx="3"/>
              <a:endCxn id="14" idx="1"/>
            </p:cNvCxnSpPr>
            <p:nvPr/>
          </p:nvCxnSpPr>
          <p:spPr bwMode="auto">
            <a:xfrm>
              <a:off x="5643563" y="3597275"/>
              <a:ext cx="293687"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9" name="AutoShape 19">
              <a:extLst>
                <a:ext uri="{FF2B5EF4-FFF2-40B4-BE49-F238E27FC236}">
                  <a16:creationId xmlns:a16="http://schemas.microsoft.com/office/drawing/2014/main" id="{179B3D7A-84E0-4A39-15BA-4A72E7CAEC8F}"/>
                </a:ext>
              </a:extLst>
            </p:cNvPr>
            <p:cNvCxnSpPr>
              <a:cxnSpLocks noChangeShapeType="1"/>
              <a:stCxn id="14" idx="3"/>
              <a:endCxn id="7" idx="2"/>
            </p:cNvCxnSpPr>
            <p:nvPr/>
          </p:nvCxnSpPr>
          <p:spPr bwMode="auto">
            <a:xfrm>
              <a:off x="7458075" y="3597275"/>
              <a:ext cx="204788" cy="0"/>
            </a:xfrm>
            <a:prstGeom prst="straightConnector1">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20" name="AutoShape 20">
              <a:extLst>
                <a:ext uri="{FF2B5EF4-FFF2-40B4-BE49-F238E27FC236}">
                  <a16:creationId xmlns:a16="http://schemas.microsoft.com/office/drawing/2014/main" id="{4DBBCD5A-E470-AD09-B6F8-75CFD5CA7189}"/>
                </a:ext>
              </a:extLst>
            </p:cNvPr>
            <p:cNvCxnSpPr>
              <a:cxnSpLocks noChangeShapeType="1"/>
              <a:stCxn id="7" idx="0"/>
              <a:endCxn id="11" idx="0"/>
            </p:cNvCxnSpPr>
            <p:nvPr/>
          </p:nvCxnSpPr>
          <p:spPr bwMode="auto">
            <a:xfrm rot="5400000" flipH="1">
              <a:off x="5473700" y="392113"/>
              <a:ext cx="274637" cy="5081588"/>
            </a:xfrm>
            <a:prstGeom prst="bentConnector3">
              <a:avLst>
                <a:gd name="adj1" fmla="val 261269"/>
              </a:avLst>
            </a:prstGeom>
            <a:noFill/>
            <a:ln w="38100" cap="sq">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1" name="Rectangle 21">
              <a:extLst>
                <a:ext uri="{FF2B5EF4-FFF2-40B4-BE49-F238E27FC236}">
                  <a16:creationId xmlns:a16="http://schemas.microsoft.com/office/drawing/2014/main" id="{4C18F2A8-1A6C-FCFC-7350-D3290D431D89}"/>
                </a:ext>
              </a:extLst>
            </p:cNvPr>
            <p:cNvSpPr>
              <a:spLocks noChangeArrowheads="1"/>
            </p:cNvSpPr>
            <p:nvPr/>
          </p:nvSpPr>
          <p:spPr bwMode="auto">
            <a:xfrm>
              <a:off x="414338" y="4378325"/>
              <a:ext cx="16748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Identify Strategic Value Streams and Product Families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dirty="0">
                  <a:solidFill>
                    <a:schemeClr val="tx1"/>
                  </a:solidFill>
                  <a:latin typeface="Roboto" panose="02000000000000000000" pitchFamily="2" charset="0"/>
                  <a:ea typeface="Roboto" panose="02000000000000000000" pitchFamily="2" charset="0"/>
                </a:rPr>
                <a:t>Plan VSM Events</a:t>
              </a:r>
            </a:p>
          </p:txBody>
        </p:sp>
        <p:sp>
          <p:nvSpPr>
            <p:cNvPr id="22" name="Rectangle 22">
              <a:extLst>
                <a:ext uri="{FF2B5EF4-FFF2-40B4-BE49-F238E27FC236}">
                  <a16:creationId xmlns:a16="http://schemas.microsoft.com/office/drawing/2014/main" id="{CD99205B-5016-E5E8-AB9F-D1579A8804B2}"/>
                </a:ext>
              </a:extLst>
            </p:cNvPr>
            <p:cNvSpPr>
              <a:spLocks noChangeArrowheads="1"/>
            </p:cNvSpPr>
            <p:nvPr/>
          </p:nvSpPr>
          <p:spPr bwMode="auto">
            <a:xfrm>
              <a:off x="22431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Complete Intro to Lean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Select Value Stream and Product Family</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Confirm VSM Team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logistics for VSM Event</a:t>
              </a:r>
            </a:p>
          </p:txBody>
        </p:sp>
        <p:sp>
          <p:nvSpPr>
            <p:cNvPr id="23" name="Rectangle 23">
              <a:extLst>
                <a:ext uri="{FF2B5EF4-FFF2-40B4-BE49-F238E27FC236}">
                  <a16:creationId xmlns:a16="http://schemas.microsoft.com/office/drawing/2014/main" id="{D23B864D-50F5-AD32-6216-E40F1031B99D}"/>
                </a:ext>
              </a:extLst>
            </p:cNvPr>
            <p:cNvSpPr>
              <a:spLocks noChangeArrowheads="1"/>
            </p:cNvSpPr>
            <p:nvPr/>
          </p:nvSpPr>
          <p:spPr bwMode="auto">
            <a:xfrm>
              <a:off x="4008438" y="4378325"/>
              <a:ext cx="18399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Current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Future State VSM</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Value stream Plan complete</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Site Plan updated</a:t>
              </a:r>
            </a:p>
          </p:txBody>
        </p:sp>
        <p:sp>
          <p:nvSpPr>
            <p:cNvPr id="24" name="Rectangle 24">
              <a:extLst>
                <a:ext uri="{FF2B5EF4-FFF2-40B4-BE49-F238E27FC236}">
                  <a16:creationId xmlns:a16="http://schemas.microsoft.com/office/drawing/2014/main" id="{072E3FDB-6C39-F8AB-154C-E5D525AE7DAF}"/>
                </a:ext>
              </a:extLst>
            </p:cNvPr>
            <p:cNvSpPr>
              <a:spLocks noChangeArrowheads="1"/>
            </p:cNvSpPr>
            <p:nvPr/>
          </p:nvSpPr>
          <p:spPr bwMode="auto">
            <a:xfrm>
              <a:off x="5849938" y="4378325"/>
              <a:ext cx="1827212"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1pPr>
              <a:lvl2pPr marL="742950" indent="-28575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2pPr>
              <a:lvl3pPr marL="11430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3pPr>
              <a:lvl4pPr marL="16002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4pPr>
              <a:lvl5pPr marL="2057400" indent="-228600" algn="ctr">
                <a:lnSpc>
                  <a:spcPct val="80000"/>
                </a:lnSpc>
                <a:spcBef>
                  <a:spcPct val="20000"/>
                </a:spcBef>
                <a:tabLst>
                  <a:tab pos="3086100" algn="l"/>
                </a:tabLst>
                <a:defRPr sz="900" b="1">
                  <a:solidFill>
                    <a:schemeClr val="bg1"/>
                  </a:solidFill>
                  <a:latin typeface="Arial" panose="020B0604020202020204" pitchFamily="34" charset="0"/>
                  <a:ea typeface="MS PGothic" panose="020B0600070205080204" pitchFamily="34" charset="-128"/>
                </a:defRPr>
              </a:lvl5pPr>
              <a:lvl6pPr marL="25146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6pPr>
              <a:lvl7pPr marL="29718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7pPr>
              <a:lvl8pPr marL="34290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8pPr>
              <a:lvl9pPr marL="3886200" indent="-228600" algn="ctr" eaLnBrk="0" fontAlgn="base" hangingPunct="0">
                <a:lnSpc>
                  <a:spcPct val="80000"/>
                </a:lnSpc>
                <a:spcBef>
                  <a:spcPct val="20000"/>
                </a:spcBef>
                <a:spcAft>
                  <a:spcPct val="0"/>
                </a:spcAft>
                <a:tabLst>
                  <a:tab pos="3086100" algn="l"/>
                </a:tabLst>
                <a:defRPr sz="900" b="1">
                  <a:solidFill>
                    <a:schemeClr val="bg1"/>
                  </a:solidFill>
                  <a:latin typeface="Arial" panose="020B0604020202020204" pitchFamily="34" charset="0"/>
                  <a:ea typeface="MS PGothic" panose="020B0600070205080204" pitchFamily="34" charset="-128"/>
                </a:defRPr>
              </a:lvl9pPr>
            </a:lstStyle>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Plan kaizen events that link to VS Plan</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Train Kaizen Teams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Conduct kaizen events and measure results</a:t>
              </a:r>
            </a:p>
            <a:p>
              <a:pPr marL="285750" indent="-285750" algn="l" eaLnBrk="1" hangingPunct="1">
                <a:lnSpc>
                  <a:spcPct val="100000"/>
                </a:lnSpc>
                <a:spcBef>
                  <a:spcPct val="30000"/>
                </a:spcBef>
                <a:buClr>
                  <a:schemeClr val="tx1"/>
                </a:buClr>
                <a:buSzPct val="90000"/>
                <a:buFont typeface="Arial" panose="020B0604020202020204" pitchFamily="34" charset="0"/>
                <a:buChar char="•"/>
              </a:pPr>
              <a:r>
                <a:rPr lang="en-US" altLang="en-US" sz="1400">
                  <a:solidFill>
                    <a:schemeClr val="tx1"/>
                  </a:solidFill>
                  <a:latin typeface="Roboto" panose="02000000000000000000" pitchFamily="2" charset="0"/>
                  <a:ea typeface="Roboto" panose="02000000000000000000" pitchFamily="2" charset="0"/>
                </a:rPr>
                <a:t>Manage VS Plan to completion</a:t>
              </a:r>
            </a:p>
          </p:txBody>
        </p:sp>
      </p:grpSp>
      <p:sp>
        <p:nvSpPr>
          <p:cNvPr id="26" name="Rectangle 25">
            <a:extLst>
              <a:ext uri="{FF2B5EF4-FFF2-40B4-BE49-F238E27FC236}">
                <a16:creationId xmlns:a16="http://schemas.microsoft.com/office/drawing/2014/main" id="{0FA57E71-92AC-3F1E-FC79-58F04CCB4E84}"/>
              </a:ext>
            </a:extLst>
          </p:cNvPr>
          <p:cNvSpPr/>
          <p:nvPr/>
        </p:nvSpPr>
        <p:spPr>
          <a:xfrm>
            <a:off x="5247463" y="5612130"/>
            <a:ext cx="2022017" cy="377190"/>
          </a:xfrm>
          <a:prstGeom prst="rect">
            <a:avLst/>
          </a:prstGeom>
          <a:no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1F9D6A58-6F93-22E8-DF9A-3DB0C6224C42}"/>
              </a:ext>
            </a:extLst>
          </p:cNvPr>
          <p:cNvGrpSpPr/>
          <p:nvPr/>
        </p:nvGrpSpPr>
        <p:grpSpPr>
          <a:xfrm>
            <a:off x="838200" y="297639"/>
            <a:ext cx="5391150" cy="307138"/>
            <a:chOff x="838200" y="297639"/>
            <a:chExt cx="5391150" cy="307138"/>
          </a:xfrm>
        </p:grpSpPr>
        <p:grpSp>
          <p:nvGrpSpPr>
            <p:cNvPr id="28" name="Group 27">
              <a:extLst>
                <a:ext uri="{FF2B5EF4-FFF2-40B4-BE49-F238E27FC236}">
                  <a16:creationId xmlns:a16="http://schemas.microsoft.com/office/drawing/2014/main" id="{139B4D00-DBB5-37D2-7D74-6194884CF3FB}"/>
                </a:ext>
              </a:extLst>
            </p:cNvPr>
            <p:cNvGrpSpPr/>
            <p:nvPr/>
          </p:nvGrpSpPr>
          <p:grpSpPr>
            <a:xfrm>
              <a:off x="838200" y="297639"/>
              <a:ext cx="1687517" cy="290657"/>
              <a:chOff x="838200" y="297639"/>
              <a:chExt cx="1687517" cy="290657"/>
            </a:xfrm>
          </p:grpSpPr>
          <p:sp>
            <p:nvSpPr>
              <p:cNvPr id="30" name="AutoShape 9">
                <a:extLst>
                  <a:ext uri="{FF2B5EF4-FFF2-40B4-BE49-F238E27FC236}">
                    <a16:creationId xmlns:a16="http://schemas.microsoft.com/office/drawing/2014/main" id="{AE718662-8A5A-9FF2-1F78-244E234056C2}"/>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1" name="AutoShape 9">
                <a:extLst>
                  <a:ext uri="{FF2B5EF4-FFF2-40B4-BE49-F238E27FC236}">
                    <a16:creationId xmlns:a16="http://schemas.microsoft.com/office/drawing/2014/main" id="{16163D35-47A3-3EDA-6689-0DE63C89A960}"/>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32" name="Group 31">
                <a:extLst>
                  <a:ext uri="{FF2B5EF4-FFF2-40B4-BE49-F238E27FC236}">
                    <a16:creationId xmlns:a16="http://schemas.microsoft.com/office/drawing/2014/main" id="{71F06B02-FEDC-2179-C381-A25C76140567}"/>
                  </a:ext>
                </a:extLst>
              </p:cNvPr>
              <p:cNvGrpSpPr/>
              <p:nvPr/>
            </p:nvGrpSpPr>
            <p:grpSpPr>
              <a:xfrm>
                <a:off x="838200" y="297639"/>
                <a:ext cx="1060167" cy="290657"/>
                <a:chOff x="826426" y="4041857"/>
                <a:chExt cx="1060167" cy="290657"/>
              </a:xfrm>
            </p:grpSpPr>
            <p:sp>
              <p:nvSpPr>
                <p:cNvPr id="33" name="AutoShape 9">
                  <a:extLst>
                    <a:ext uri="{FF2B5EF4-FFF2-40B4-BE49-F238E27FC236}">
                      <a16:creationId xmlns:a16="http://schemas.microsoft.com/office/drawing/2014/main" id="{85688545-DA26-7B53-74EF-7055CFB6554C}"/>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4" name="AutoShape 11">
                  <a:extLst>
                    <a:ext uri="{FF2B5EF4-FFF2-40B4-BE49-F238E27FC236}">
                      <a16:creationId xmlns:a16="http://schemas.microsoft.com/office/drawing/2014/main" id="{C3397751-3E99-70AE-9823-039933D4284D}"/>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35" name="AutoShape 10">
                  <a:extLst>
                    <a:ext uri="{FF2B5EF4-FFF2-40B4-BE49-F238E27FC236}">
                      <a16:creationId xmlns:a16="http://schemas.microsoft.com/office/drawing/2014/main" id="{D5082C24-726B-40AA-872E-637C8BD9EA5E}"/>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29" name="TextBox 28">
              <a:extLst>
                <a:ext uri="{FF2B5EF4-FFF2-40B4-BE49-F238E27FC236}">
                  <a16:creationId xmlns:a16="http://schemas.microsoft.com/office/drawing/2014/main" id="{14A0F1C7-EEEC-54DA-7BFD-C8ABA2F382AF}"/>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26789142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4000" dirty="0"/>
              <a:t>Site Plan</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135</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grpSp>
        <p:nvGrpSpPr>
          <p:cNvPr id="18" name="Group 17">
            <a:extLst>
              <a:ext uri="{FF2B5EF4-FFF2-40B4-BE49-F238E27FC236}">
                <a16:creationId xmlns:a16="http://schemas.microsoft.com/office/drawing/2014/main" id="{A5D6AEB3-A175-DE6D-D2EC-25F567B4485E}"/>
              </a:ext>
            </a:extLst>
          </p:cNvPr>
          <p:cNvGrpSpPr/>
          <p:nvPr/>
        </p:nvGrpSpPr>
        <p:grpSpPr>
          <a:xfrm>
            <a:off x="862089" y="1783429"/>
            <a:ext cx="10491711" cy="4473785"/>
            <a:chOff x="488950" y="1454150"/>
            <a:chExt cx="7669213" cy="4825338"/>
          </a:xfrm>
        </p:grpSpPr>
        <p:sp>
          <p:nvSpPr>
            <p:cNvPr id="16" name="Rectangle 3">
              <a:extLst>
                <a:ext uri="{FF2B5EF4-FFF2-40B4-BE49-F238E27FC236}">
                  <a16:creationId xmlns:a16="http://schemas.microsoft.com/office/drawing/2014/main" id="{21FABFD7-D8D2-C9B2-5718-CFCDEC91B55A}"/>
                </a:ext>
              </a:extLst>
            </p:cNvPr>
            <p:cNvSpPr txBox="1">
              <a:spLocks noChangeArrowheads="1"/>
            </p:cNvSpPr>
            <p:nvPr/>
          </p:nvSpPr>
          <p:spPr>
            <a:xfrm>
              <a:off x="488950" y="1454150"/>
              <a:ext cx="7669213" cy="7620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anose="05000000000000000000" pitchFamily="2" charset="2"/>
                <a:buNone/>
              </a:pPr>
              <a:r>
                <a:rPr lang="en-US" altLang="en-US" sz="2000" b="1" dirty="0"/>
                <a:t>A single plan and schedule of all kaizen and continuous improvement events for a particular facility.</a:t>
              </a:r>
            </a:p>
          </p:txBody>
        </p:sp>
        <p:graphicFrame>
          <p:nvGraphicFramePr>
            <p:cNvPr id="17" name="Group 134">
              <a:extLst>
                <a:ext uri="{FF2B5EF4-FFF2-40B4-BE49-F238E27FC236}">
                  <a16:creationId xmlns:a16="http://schemas.microsoft.com/office/drawing/2014/main" id="{E972162F-76DA-59C0-E85D-0D1AFC93B92C}"/>
                </a:ext>
              </a:extLst>
            </p:cNvPr>
            <p:cNvGraphicFramePr>
              <a:graphicFrameLocks/>
            </p:cNvGraphicFramePr>
            <p:nvPr>
              <p:extLst>
                <p:ext uri="{D42A27DB-BD31-4B8C-83A1-F6EECF244321}">
                  <p14:modId xmlns:p14="http://schemas.microsoft.com/office/powerpoint/2010/main" val="4139734723"/>
                </p:ext>
              </p:extLst>
            </p:nvPr>
          </p:nvGraphicFramePr>
          <p:xfrm>
            <a:off x="1312218" y="2204337"/>
            <a:ext cx="6005215" cy="4075151"/>
          </p:xfrm>
          <a:graphic>
            <a:graphicData uri="http://schemas.openxmlformats.org/drawingml/2006/table">
              <a:tbl>
                <a:tblPr/>
                <a:tblGrid>
                  <a:gridCol w="646112">
                    <a:extLst>
                      <a:ext uri="{9D8B030D-6E8A-4147-A177-3AD203B41FA5}">
                        <a16:colId xmlns:a16="http://schemas.microsoft.com/office/drawing/2014/main" val="20000"/>
                      </a:ext>
                    </a:extLst>
                  </a:gridCol>
                  <a:gridCol w="1422400">
                    <a:extLst>
                      <a:ext uri="{9D8B030D-6E8A-4147-A177-3AD203B41FA5}">
                        <a16:colId xmlns:a16="http://schemas.microsoft.com/office/drawing/2014/main" val="20001"/>
                      </a:ext>
                    </a:extLst>
                  </a:gridCol>
                  <a:gridCol w="1019175">
                    <a:extLst>
                      <a:ext uri="{9D8B030D-6E8A-4147-A177-3AD203B41FA5}">
                        <a16:colId xmlns:a16="http://schemas.microsoft.com/office/drawing/2014/main" val="20002"/>
                      </a:ext>
                    </a:extLst>
                  </a:gridCol>
                  <a:gridCol w="1062038">
                    <a:extLst>
                      <a:ext uri="{9D8B030D-6E8A-4147-A177-3AD203B41FA5}">
                        <a16:colId xmlns:a16="http://schemas.microsoft.com/office/drawing/2014/main" val="20003"/>
                      </a:ext>
                    </a:extLst>
                  </a:gridCol>
                  <a:gridCol w="836612">
                    <a:extLst>
                      <a:ext uri="{9D8B030D-6E8A-4147-A177-3AD203B41FA5}">
                        <a16:colId xmlns:a16="http://schemas.microsoft.com/office/drawing/2014/main" val="20004"/>
                      </a:ext>
                    </a:extLst>
                  </a:gridCol>
                  <a:gridCol w="792163">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1725612">
                    <a:extLst>
                      <a:ext uri="{9D8B030D-6E8A-4147-A177-3AD203B41FA5}">
                        <a16:colId xmlns:a16="http://schemas.microsoft.com/office/drawing/2014/main" val="20007"/>
                      </a:ext>
                    </a:extLst>
                  </a:gridCol>
                </a:tblGrid>
                <a:tr h="341313">
                  <a:tc gridSpan="8">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200" b="0" i="0" u="none" strike="noStrike" cap="none" normalizeH="0" baseline="0" dirty="0">
                            <a:ln>
                              <a:noFill/>
                            </a:ln>
                            <a:solidFill>
                              <a:schemeClr val="tx1"/>
                            </a:solidFill>
                            <a:effectLst/>
                            <a:latin typeface="Roboto" panose="02000000000000000000" pitchFamily="2" charset="0"/>
                            <a:ea typeface="Roboto" panose="02000000000000000000" pitchFamily="2" charset="0"/>
                          </a:rPr>
                          <a:t>Sample Site Plan excerpt showing scheduled events from Product Development Value Stream</a:t>
                        </a:r>
                      </a:p>
                    </a:txBody>
                    <a:tcPr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4767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WEEK</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AREA/CELL</a:t>
                        </a:r>
                        <a:endPar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VSM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TOOL</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VS Plan Number</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STATUS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SENSEI</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COMMENTS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92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16-July</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Marketing </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Product Development</a:t>
                        </a:r>
                        <a:endPar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CEDAC</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3</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see kaizen results sheet</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492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16-July</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Engineering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Product Development</a:t>
                        </a:r>
                        <a:endPar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6</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see kaizen results sheet</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968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23-July</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NO EVENTS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4767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30-July</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Marketing &amp; Engineering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Product Development</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2 &amp; 5</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pending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Implement workflow with IS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492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6-Aug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Design</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Product Development </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 Standard work</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7 </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rPr>
                          <a:t>pending</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 </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Implement workflow with IS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4767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13-Aug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Steering Committee</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Product Development</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CEDAC</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pending</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Review process</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49263">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20-Aug</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Mailroom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Debt Consol</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Standard work</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ctr"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1</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complete</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Clem</a:t>
                        </a:r>
                        <a:endParaRPr kumimoji="0" lang="en-US" altLang="en-US" sz="10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t" latinLnBrk="0" hangingPunct="0">
                          <a:lnSpc>
                            <a:spcPct val="115000"/>
                          </a:lnSpc>
                          <a:spcBef>
                            <a:spcPct val="0"/>
                          </a:spcBef>
                          <a:spcAft>
                            <a:spcPct val="50000"/>
                          </a:spcAft>
                          <a:buClr>
                            <a:srgbClr val="006699"/>
                          </a:buClr>
                          <a:buSzPct val="40000"/>
                          <a:buFont typeface="Wingdings" panose="05000000000000000000" pitchFamily="2" charset="2"/>
                          <a:buNone/>
                          <a:tabLst/>
                        </a:pPr>
                        <a:r>
                          <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Arial" panose="020B0604020202020204" pitchFamily="34" charset="0"/>
                          </a:rPr>
                          <a:t>DEMAND QUESTIONS</a:t>
                        </a:r>
                        <a:endParaRPr kumimoji="0" lang="en-US" altLang="en-US" sz="10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grpSp>
    </p:spTree>
    <p:extLst>
      <p:ext uri="{BB962C8B-B14F-4D97-AF65-F5344CB8AC3E}">
        <p14:creationId xmlns:p14="http://schemas.microsoft.com/office/powerpoint/2010/main" val="205945710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D9ED7-5CF9-6F4B-B4A8-2DBF8D852A20}"/>
              </a:ext>
            </a:extLst>
          </p:cNvPr>
          <p:cNvSpPr>
            <a:spLocks noGrp="1"/>
          </p:cNvSpPr>
          <p:nvPr>
            <p:ph type="title"/>
          </p:nvPr>
        </p:nvSpPr>
        <p:spPr/>
        <p:txBody>
          <a:bodyPr>
            <a:noAutofit/>
          </a:bodyPr>
          <a:lstStyle/>
          <a:p>
            <a:r>
              <a:rPr lang="en-US" sz="3200" dirty="0">
                <a:latin typeface="Roboto Medium"/>
                <a:ea typeface="Roboto Medium"/>
                <a:cs typeface="Roboto Medium"/>
              </a:rPr>
              <a:t>Complete Future State and Value Stream Plan for Business</a:t>
            </a:r>
          </a:p>
        </p:txBody>
      </p:sp>
      <p:sp>
        <p:nvSpPr>
          <p:cNvPr id="5" name="Slide Number Placeholder 4">
            <a:extLst>
              <a:ext uri="{FF2B5EF4-FFF2-40B4-BE49-F238E27FC236}">
                <a16:creationId xmlns:a16="http://schemas.microsoft.com/office/drawing/2014/main" id="{EFB3C390-D307-7FFC-DADE-918C5180FE01}"/>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136</a:t>
            </a:fld>
            <a:endParaRPr lang="en-US"/>
          </a:p>
        </p:txBody>
      </p:sp>
      <p:sp>
        <p:nvSpPr>
          <p:cNvPr id="11" name="Rectangle 10">
            <a:extLst>
              <a:ext uri="{FF2B5EF4-FFF2-40B4-BE49-F238E27FC236}">
                <a16:creationId xmlns:a16="http://schemas.microsoft.com/office/drawing/2014/main" id="{3A9506B7-1A57-1322-5AB5-DA8522EE7602}"/>
              </a:ext>
            </a:extLst>
          </p:cNvPr>
          <p:cNvSpPr/>
          <p:nvPr/>
        </p:nvSpPr>
        <p:spPr>
          <a:xfrm>
            <a:off x="838200" y="2236637"/>
            <a:ext cx="9722342" cy="718145"/>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sz="2000"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Complete the Future State Value Stream Map and Value Stream Plan for the business. </a:t>
            </a:r>
          </a:p>
        </p:txBody>
      </p:sp>
      <p:sp>
        <p:nvSpPr>
          <p:cNvPr id="12" name="TextBox 11">
            <a:extLst>
              <a:ext uri="{FF2B5EF4-FFF2-40B4-BE49-F238E27FC236}">
                <a16:creationId xmlns:a16="http://schemas.microsoft.com/office/drawing/2014/main" id="{A4ECB5F6-F271-06CD-2A6A-E79F5245CD15}"/>
              </a:ext>
            </a:extLst>
          </p:cNvPr>
          <p:cNvSpPr txBox="1"/>
          <p:nvPr/>
        </p:nvSpPr>
        <p:spPr>
          <a:xfrm>
            <a:off x="838200" y="1732214"/>
            <a:ext cx="1603003"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Objective</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3" name="TextBox 12">
            <a:extLst>
              <a:ext uri="{FF2B5EF4-FFF2-40B4-BE49-F238E27FC236}">
                <a16:creationId xmlns:a16="http://schemas.microsoft.com/office/drawing/2014/main" id="{EA94F381-2B48-C111-2724-726B0390290F}"/>
              </a:ext>
            </a:extLst>
          </p:cNvPr>
          <p:cNvSpPr txBox="1"/>
          <p:nvPr/>
        </p:nvSpPr>
        <p:spPr>
          <a:xfrm>
            <a:off x="838200" y="2913476"/>
            <a:ext cx="2022990"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Instructions</a:t>
            </a:r>
            <a:endParaRPr kumimoji="0" lang="en-US" sz="56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endParaRPr>
          </a:p>
        </p:txBody>
      </p:sp>
      <p:sp>
        <p:nvSpPr>
          <p:cNvPr id="14" name="Rectangle 13">
            <a:extLst>
              <a:ext uri="{FF2B5EF4-FFF2-40B4-BE49-F238E27FC236}">
                <a16:creationId xmlns:a16="http://schemas.microsoft.com/office/drawing/2014/main" id="{82677B47-98C9-F770-8D4E-7D91CF39F5A7}"/>
              </a:ext>
            </a:extLst>
          </p:cNvPr>
          <p:cNvSpPr/>
          <p:nvPr/>
        </p:nvSpPr>
        <p:spPr>
          <a:xfrm>
            <a:off x="818941" y="3486027"/>
            <a:ext cx="4419809" cy="2318583"/>
          </a:xfrm>
          <a:prstGeom prst="rect">
            <a:avLst/>
          </a:prstGeom>
          <a:solidFill>
            <a:schemeClr val="bg1">
              <a:lumMod val="50000"/>
            </a:schemeClr>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As a team, create the Future State Map from the Marked Up Current State Map. </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Together with the Value Stream Manager and the Business Unit Owner, complete the detailed Value Stream Plan to achieve Future State.</a:t>
            </a:r>
          </a:p>
          <a:p>
            <a:pPr marL="0" marR="0" indent="0" algn="l" defTabSz="584200" rtl="0" fontAlgn="auto" latinLnBrk="0" hangingPunct="0">
              <a:lnSpc>
                <a:spcPct val="100000"/>
              </a:lnSpc>
              <a:spcBef>
                <a:spcPts val="0"/>
              </a:spcBef>
              <a:spcAft>
                <a:spcPts val="0"/>
              </a:spcAft>
              <a:buClrTx/>
              <a:buSzTx/>
              <a:buFontTx/>
              <a:buNone/>
              <a:tabLst/>
            </a:pPr>
            <a:r>
              <a:rPr kumimoji="0" lang="en-US" b="0" i="0" u="none" strike="noStrike" cap="none" spc="0" normalizeH="0" baseline="0" dirty="0">
                <a:ln>
                  <a:noFill/>
                </a:ln>
                <a:solidFill>
                  <a:srgbClr val="FFFFFF"/>
                </a:solidFill>
                <a:effectLst>
                  <a:outerShdw blurRad="38100" dist="12700" dir="5400000" rotWithShape="0">
                    <a:srgbClr val="000000">
                      <a:alpha val="50000"/>
                    </a:srgbClr>
                  </a:outerShdw>
                </a:effectLst>
                <a:uFillTx/>
                <a:latin typeface="Roboto" panose="02000000000000000000" pitchFamily="2" charset="0"/>
                <a:ea typeface="Roboto" panose="02000000000000000000" pitchFamily="2" charset="0"/>
                <a:cs typeface="Roboto" panose="02000000000000000000" pitchFamily="2" charset="0"/>
                <a:sym typeface="Roboto"/>
              </a:rPr>
              <a:t>Review with appropriate leadership to receive approval and resource support. </a:t>
            </a:r>
          </a:p>
        </p:txBody>
      </p:sp>
      <p:sp>
        <p:nvSpPr>
          <p:cNvPr id="15" name="TextBox 14">
            <a:extLst>
              <a:ext uri="{FF2B5EF4-FFF2-40B4-BE49-F238E27FC236}">
                <a16:creationId xmlns:a16="http://schemas.microsoft.com/office/drawing/2014/main" id="{90914B3B-0CE2-FDFF-2FB9-215236316256}"/>
              </a:ext>
            </a:extLst>
          </p:cNvPr>
          <p:cNvSpPr txBox="1"/>
          <p:nvPr/>
        </p:nvSpPr>
        <p:spPr>
          <a:xfrm>
            <a:off x="5879250" y="2903037"/>
            <a:ext cx="2968761"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Time to Complete</a:t>
            </a:r>
          </a:p>
        </p:txBody>
      </p:sp>
      <p:sp>
        <p:nvSpPr>
          <p:cNvPr id="16" name="TextBox 15">
            <a:extLst>
              <a:ext uri="{FF2B5EF4-FFF2-40B4-BE49-F238E27FC236}">
                <a16:creationId xmlns:a16="http://schemas.microsoft.com/office/drawing/2014/main" id="{6285230A-07BD-F376-25CA-177CC1D4233F}"/>
              </a:ext>
            </a:extLst>
          </p:cNvPr>
          <p:cNvSpPr txBox="1"/>
          <p:nvPr/>
        </p:nvSpPr>
        <p:spPr>
          <a:xfrm>
            <a:off x="5879250" y="4126034"/>
            <a:ext cx="1888337" cy="53347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50800" tIns="50800" rIns="50800" bIns="50800" numCol="1" spcCol="38100" rtlCol="0" anchor="t">
            <a:spAutoFit/>
          </a:bodyPr>
          <a:lstStyle/>
          <a:p>
            <a:pPr marL="0" marR="0" indent="0" algn="l" defTabSz="825500" rtl="0" fontAlgn="auto" latinLnBrk="0" hangingPunct="0">
              <a:lnSpc>
                <a:spcPct val="100000"/>
              </a:lnSpc>
              <a:spcBef>
                <a:spcPts val="0"/>
              </a:spcBef>
              <a:spcAft>
                <a:spcPts val="0"/>
              </a:spcAft>
              <a:buClrTx/>
              <a:buSzTx/>
              <a:buFontTx/>
              <a:buNone/>
              <a:tabLst/>
            </a:pPr>
            <a:r>
              <a:rPr kumimoji="0" lang="en-US" sz="2800" u="none" strike="noStrike" cap="none" spc="0" normalizeH="0" baseline="0" dirty="0">
                <a:ln>
                  <a:noFill/>
                </a:ln>
                <a:effectLst/>
                <a:uFillTx/>
                <a:latin typeface="Roboto Medium" panose="02000000000000000000" pitchFamily="2" charset="0"/>
                <a:ea typeface="Roboto Medium" panose="02000000000000000000" pitchFamily="2" charset="0"/>
                <a:cs typeface="Roboto Medium" panose="02000000000000000000" pitchFamily="2" charset="0"/>
                <a:sym typeface="Roboto"/>
              </a:rPr>
              <a:t>Deliverable</a:t>
            </a:r>
          </a:p>
        </p:txBody>
      </p:sp>
      <p:sp>
        <p:nvSpPr>
          <p:cNvPr id="17" name="Rectangle 16">
            <a:extLst>
              <a:ext uri="{FF2B5EF4-FFF2-40B4-BE49-F238E27FC236}">
                <a16:creationId xmlns:a16="http://schemas.microsoft.com/office/drawing/2014/main" id="{67530399-8FDB-50CD-E8FD-8E286DE1A2EA}"/>
              </a:ext>
            </a:extLst>
          </p:cNvPr>
          <p:cNvSpPr/>
          <p:nvPr/>
        </p:nvSpPr>
        <p:spPr>
          <a:xfrm>
            <a:off x="5879250" y="3486558"/>
            <a:ext cx="4681292" cy="471924"/>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endPar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endParaRPr>
          </a:p>
        </p:txBody>
      </p:sp>
      <p:sp>
        <p:nvSpPr>
          <p:cNvPr id="18" name="Rectangle 17">
            <a:extLst>
              <a:ext uri="{FF2B5EF4-FFF2-40B4-BE49-F238E27FC236}">
                <a16:creationId xmlns:a16="http://schemas.microsoft.com/office/drawing/2014/main" id="{84DF6BD6-975A-3700-5E69-322EFF4F722E}"/>
              </a:ext>
            </a:extLst>
          </p:cNvPr>
          <p:cNvSpPr/>
          <p:nvPr/>
        </p:nvSpPr>
        <p:spPr>
          <a:xfrm>
            <a:off x="5879250" y="4659513"/>
            <a:ext cx="4681292" cy="841256"/>
          </a:xfrm>
          <a:prstGeom prst="rect">
            <a:avLst/>
          </a:prstGeom>
          <a:solidFill>
            <a:schemeClr val="accent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defTabSz="584200" hangingPunct="0"/>
            <a:r>
              <a:rPr lang="en-US" sz="2400" dirty="0">
                <a:solidFill>
                  <a:srgbClr val="FFFFFF"/>
                </a:solidFill>
                <a:effectLst>
                  <a:outerShdw blurRad="38100" dist="12700" dir="5400000" rotWithShape="0">
                    <a:srgbClr val="000000">
                      <a:alpha val="50000"/>
                    </a:srgbClr>
                  </a:outerShdw>
                </a:effectLst>
                <a:latin typeface="Roboto" panose="02000000000000000000" pitchFamily="2" charset="0"/>
                <a:ea typeface="Roboto" panose="02000000000000000000" pitchFamily="2" charset="0"/>
                <a:cs typeface="Roboto" panose="02000000000000000000" pitchFamily="2" charset="0"/>
                <a:sym typeface="Roboto"/>
              </a:rPr>
              <a:t>Completed Future State Map and Value Stream Plan.</a:t>
            </a:r>
          </a:p>
        </p:txBody>
      </p:sp>
      <p:grpSp>
        <p:nvGrpSpPr>
          <p:cNvPr id="3" name="Group 2">
            <a:extLst>
              <a:ext uri="{FF2B5EF4-FFF2-40B4-BE49-F238E27FC236}">
                <a16:creationId xmlns:a16="http://schemas.microsoft.com/office/drawing/2014/main" id="{732413B3-F538-7026-95FC-2F4DB6A358F1}"/>
              </a:ext>
            </a:extLst>
          </p:cNvPr>
          <p:cNvGrpSpPr/>
          <p:nvPr/>
        </p:nvGrpSpPr>
        <p:grpSpPr>
          <a:xfrm>
            <a:off x="838200" y="297639"/>
            <a:ext cx="5391150" cy="307138"/>
            <a:chOff x="838200" y="297639"/>
            <a:chExt cx="5391150" cy="307138"/>
          </a:xfrm>
        </p:grpSpPr>
        <p:grpSp>
          <p:nvGrpSpPr>
            <p:cNvPr id="4" name="Group 3">
              <a:extLst>
                <a:ext uri="{FF2B5EF4-FFF2-40B4-BE49-F238E27FC236}">
                  <a16:creationId xmlns:a16="http://schemas.microsoft.com/office/drawing/2014/main" id="{F0A4AD2F-A7E0-0F0E-86E8-E900D589808E}"/>
                </a:ext>
              </a:extLst>
            </p:cNvPr>
            <p:cNvGrpSpPr/>
            <p:nvPr/>
          </p:nvGrpSpPr>
          <p:grpSpPr>
            <a:xfrm>
              <a:off x="838200" y="297639"/>
              <a:ext cx="1687517" cy="290657"/>
              <a:chOff x="838200" y="297639"/>
              <a:chExt cx="1687517" cy="290657"/>
            </a:xfrm>
          </p:grpSpPr>
          <p:sp>
            <p:nvSpPr>
              <p:cNvPr id="7" name="AutoShape 9">
                <a:extLst>
                  <a:ext uri="{FF2B5EF4-FFF2-40B4-BE49-F238E27FC236}">
                    <a16:creationId xmlns:a16="http://schemas.microsoft.com/office/drawing/2014/main" id="{768A20E4-09CF-C33B-ED7F-1D0BCCA7DDB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8" name="AutoShape 9">
                <a:extLst>
                  <a:ext uri="{FF2B5EF4-FFF2-40B4-BE49-F238E27FC236}">
                    <a16:creationId xmlns:a16="http://schemas.microsoft.com/office/drawing/2014/main" id="{7EE378B4-B5C2-7281-B0D9-50206120C958}"/>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9" name="Group 8">
                <a:extLst>
                  <a:ext uri="{FF2B5EF4-FFF2-40B4-BE49-F238E27FC236}">
                    <a16:creationId xmlns:a16="http://schemas.microsoft.com/office/drawing/2014/main" id="{11F3CACF-A6BC-BF22-7F6D-110333FFD09D}"/>
                  </a:ext>
                </a:extLst>
              </p:cNvPr>
              <p:cNvGrpSpPr/>
              <p:nvPr/>
            </p:nvGrpSpPr>
            <p:grpSpPr>
              <a:xfrm>
                <a:off x="838200" y="297639"/>
                <a:ext cx="1060167" cy="290657"/>
                <a:chOff x="826426" y="4041857"/>
                <a:chExt cx="1060167" cy="290657"/>
              </a:xfrm>
            </p:grpSpPr>
            <p:sp>
              <p:nvSpPr>
                <p:cNvPr id="10" name="AutoShape 9">
                  <a:extLst>
                    <a:ext uri="{FF2B5EF4-FFF2-40B4-BE49-F238E27FC236}">
                      <a16:creationId xmlns:a16="http://schemas.microsoft.com/office/drawing/2014/main" id="{FFD0E663-304F-9F66-6EDD-EC9B127D6416}"/>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9" name="AutoShape 11">
                  <a:extLst>
                    <a:ext uri="{FF2B5EF4-FFF2-40B4-BE49-F238E27FC236}">
                      <a16:creationId xmlns:a16="http://schemas.microsoft.com/office/drawing/2014/main" id="{5D98EB91-DFAC-CA35-8CDC-35672260DFF0}"/>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20" name="AutoShape 10">
                  <a:extLst>
                    <a:ext uri="{FF2B5EF4-FFF2-40B4-BE49-F238E27FC236}">
                      <a16:creationId xmlns:a16="http://schemas.microsoft.com/office/drawing/2014/main" id="{492DFF8B-BD5A-5E9F-D61D-5A3BA530093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6" name="TextBox 5">
              <a:extLst>
                <a:ext uri="{FF2B5EF4-FFF2-40B4-BE49-F238E27FC236}">
                  <a16:creationId xmlns:a16="http://schemas.microsoft.com/office/drawing/2014/main" id="{DB0E65A8-1244-E828-1469-15C844AAAB2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Tree>
    <p:extLst>
      <p:ext uri="{BB962C8B-B14F-4D97-AF65-F5344CB8AC3E}">
        <p14:creationId xmlns:p14="http://schemas.microsoft.com/office/powerpoint/2010/main" val="125749737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736DE-1C79-10BE-2E47-C088B4D0801F}"/>
              </a:ext>
            </a:extLst>
          </p:cNvPr>
          <p:cNvSpPr>
            <a:spLocks noGrp="1"/>
          </p:cNvSpPr>
          <p:nvPr>
            <p:ph type="title"/>
          </p:nvPr>
        </p:nvSpPr>
        <p:spPr/>
        <p:txBody>
          <a:bodyPr>
            <a:noAutofit/>
          </a:bodyPr>
          <a:lstStyle/>
          <a:p>
            <a:r>
              <a:rPr lang="en-US" sz="3600" dirty="0"/>
              <a:t>Prepare for Final Report-Out to Management</a:t>
            </a:r>
          </a:p>
        </p:txBody>
      </p:sp>
      <p:sp>
        <p:nvSpPr>
          <p:cNvPr id="5" name="Slide Number Placeholder 4">
            <a:extLst>
              <a:ext uri="{FF2B5EF4-FFF2-40B4-BE49-F238E27FC236}">
                <a16:creationId xmlns:a16="http://schemas.microsoft.com/office/drawing/2014/main" id="{DE8DCB82-E886-7E0C-68DC-9558A2ED4223}"/>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137</a:t>
            </a:fld>
            <a:endParaRPr lang="en-US"/>
          </a:p>
        </p:txBody>
      </p:sp>
      <p:grpSp>
        <p:nvGrpSpPr>
          <p:cNvPr id="4" name="Group 3">
            <a:extLst>
              <a:ext uri="{FF2B5EF4-FFF2-40B4-BE49-F238E27FC236}">
                <a16:creationId xmlns:a16="http://schemas.microsoft.com/office/drawing/2014/main" id="{B448E688-BF11-9AF6-A1AA-9DCC5168E7B0}"/>
              </a:ext>
            </a:extLst>
          </p:cNvPr>
          <p:cNvGrpSpPr/>
          <p:nvPr/>
        </p:nvGrpSpPr>
        <p:grpSpPr>
          <a:xfrm>
            <a:off x="838200" y="297639"/>
            <a:ext cx="5391150" cy="307138"/>
            <a:chOff x="838200" y="297639"/>
            <a:chExt cx="5391150" cy="307138"/>
          </a:xfrm>
        </p:grpSpPr>
        <p:grpSp>
          <p:nvGrpSpPr>
            <p:cNvPr id="6" name="Group 5">
              <a:extLst>
                <a:ext uri="{FF2B5EF4-FFF2-40B4-BE49-F238E27FC236}">
                  <a16:creationId xmlns:a16="http://schemas.microsoft.com/office/drawing/2014/main" id="{A48C1F03-EE66-B3F5-905E-24D6F6E3EFAB}"/>
                </a:ext>
              </a:extLst>
            </p:cNvPr>
            <p:cNvGrpSpPr/>
            <p:nvPr/>
          </p:nvGrpSpPr>
          <p:grpSpPr>
            <a:xfrm>
              <a:off x="838200" y="297639"/>
              <a:ext cx="1687517" cy="290657"/>
              <a:chOff x="838200" y="297639"/>
              <a:chExt cx="1687517" cy="290657"/>
            </a:xfrm>
          </p:grpSpPr>
          <p:sp>
            <p:nvSpPr>
              <p:cNvPr id="8" name="AutoShape 9">
                <a:extLst>
                  <a:ext uri="{FF2B5EF4-FFF2-40B4-BE49-F238E27FC236}">
                    <a16:creationId xmlns:a16="http://schemas.microsoft.com/office/drawing/2014/main" id="{8C7276E1-0CA0-9C22-06B5-D4B1A6C55DA9}"/>
                  </a:ext>
                </a:extLst>
              </p:cNvPr>
              <p:cNvSpPr>
                <a:spLocks noChangeArrowheads="1"/>
              </p:cNvSpPr>
              <p:nvPr/>
            </p:nvSpPr>
            <p:spPr bwMode="auto">
              <a:xfrm>
                <a:off x="2092900" y="297639"/>
                <a:ext cx="432817" cy="290656"/>
              </a:xfrm>
              <a:prstGeom prst="homePlate">
                <a:avLst>
                  <a:gd name="adj" fmla="val 29912"/>
                </a:avLst>
              </a:prstGeom>
              <a:solidFill>
                <a:srgbClr val="FFB627"/>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9" name="AutoShape 9">
                <a:extLst>
                  <a:ext uri="{FF2B5EF4-FFF2-40B4-BE49-F238E27FC236}">
                    <a16:creationId xmlns:a16="http://schemas.microsoft.com/office/drawing/2014/main" id="{3F0D221C-2084-3A36-D758-68F105F17CDC}"/>
                  </a:ext>
                </a:extLst>
              </p:cNvPr>
              <p:cNvSpPr>
                <a:spLocks noChangeArrowheads="1"/>
              </p:cNvSpPr>
              <p:nvPr/>
            </p:nvSpPr>
            <p:spPr bwMode="auto">
              <a:xfrm>
                <a:off x="1779225" y="297639"/>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nvGrpSpPr>
              <p:cNvPr id="10" name="Group 9">
                <a:extLst>
                  <a:ext uri="{FF2B5EF4-FFF2-40B4-BE49-F238E27FC236}">
                    <a16:creationId xmlns:a16="http://schemas.microsoft.com/office/drawing/2014/main" id="{8711FFE5-6AD3-86C0-7597-B4F0203855F9}"/>
                  </a:ext>
                </a:extLst>
              </p:cNvPr>
              <p:cNvGrpSpPr/>
              <p:nvPr/>
            </p:nvGrpSpPr>
            <p:grpSpPr>
              <a:xfrm>
                <a:off x="838200" y="297639"/>
                <a:ext cx="1060167" cy="290657"/>
                <a:chOff x="826426" y="4041857"/>
                <a:chExt cx="1060167" cy="290657"/>
              </a:xfrm>
            </p:grpSpPr>
            <p:sp>
              <p:nvSpPr>
                <p:cNvPr id="11" name="AutoShape 9">
                  <a:extLst>
                    <a:ext uri="{FF2B5EF4-FFF2-40B4-BE49-F238E27FC236}">
                      <a16:creationId xmlns:a16="http://schemas.microsoft.com/office/drawing/2014/main" id="{4DD12526-DB12-C89E-1F43-1103C896DB73}"/>
                    </a:ext>
                  </a:extLst>
                </p:cNvPr>
                <p:cNvSpPr>
                  <a:spLocks noChangeArrowheads="1"/>
                </p:cNvSpPr>
                <p:nvPr/>
              </p:nvSpPr>
              <p:spPr bwMode="auto">
                <a:xfrm>
                  <a:off x="145377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2" name="AutoShape 11">
                  <a:extLst>
                    <a:ext uri="{FF2B5EF4-FFF2-40B4-BE49-F238E27FC236}">
                      <a16:creationId xmlns:a16="http://schemas.microsoft.com/office/drawing/2014/main" id="{D4036C35-7AC8-1536-1521-7A399EC33739}"/>
                    </a:ext>
                  </a:extLst>
                </p:cNvPr>
                <p:cNvSpPr>
                  <a:spLocks noChangeArrowheads="1"/>
                </p:cNvSpPr>
                <p:nvPr/>
              </p:nvSpPr>
              <p:spPr bwMode="auto">
                <a:xfrm>
                  <a:off x="1140101" y="4041858"/>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sp>
              <p:nvSpPr>
                <p:cNvPr id="13" name="AutoShape 10">
                  <a:extLst>
                    <a:ext uri="{FF2B5EF4-FFF2-40B4-BE49-F238E27FC236}">
                      <a16:creationId xmlns:a16="http://schemas.microsoft.com/office/drawing/2014/main" id="{B5A4748A-4737-9615-FCE2-93B842EF0AAF}"/>
                    </a:ext>
                  </a:extLst>
                </p:cNvPr>
                <p:cNvSpPr>
                  <a:spLocks noChangeArrowheads="1"/>
                </p:cNvSpPr>
                <p:nvPr/>
              </p:nvSpPr>
              <p:spPr bwMode="auto">
                <a:xfrm>
                  <a:off x="826426" y="4041857"/>
                  <a:ext cx="432817" cy="290656"/>
                </a:xfrm>
                <a:prstGeom prst="homePlate">
                  <a:avLst>
                    <a:gd name="adj" fmla="val 29912"/>
                  </a:avLst>
                </a:prstGeom>
                <a:solidFill>
                  <a:srgbClr val="222222"/>
                </a:solidFill>
                <a:ln w="12700" cap="sq">
                  <a:solidFill>
                    <a:schemeClr val="bg1"/>
                  </a:solidFill>
                  <a:miter lim="800000"/>
                  <a:headEnd/>
                  <a:tailEnd/>
                </a:ln>
              </p:spPr>
              <p:txBody>
                <a:bodyPr wrap="none" anchor="ctr"/>
                <a:lstStyle>
                  <a:lvl1pPr>
                    <a:lnSpc>
                      <a:spcPct val="115000"/>
                    </a:lnSpc>
                    <a:spcBef>
                      <a:spcPct val="50000"/>
                    </a:spcBef>
                    <a:spcAft>
                      <a:spcPct val="50000"/>
                    </a:spcAft>
                    <a:buClr>
                      <a:srgbClr val="006699"/>
                    </a:buClr>
                    <a:buSzPct val="90000"/>
                    <a:buFont typeface="Wingdings" panose="05000000000000000000" pitchFamily="2" charset="2"/>
                    <a:buChar char="§"/>
                    <a:defRPr>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90000"/>
                    <a:buFont typeface="Wingdings" panose="05000000000000000000" pitchFamily="2" charset="2"/>
                    <a:buChar char="§"/>
                    <a:defRPr sz="1600">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90000"/>
                    <a:buFont typeface="Wingdings" panose="05000000000000000000" pitchFamily="2" charset="2"/>
                    <a:buChar char="§"/>
                    <a:defRPr sz="1400">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None/>
                  </a:pPr>
                  <a:endParaRPr lang="en-US" altLang="en-US" sz="2000" dirty="0">
                    <a:solidFill>
                      <a:schemeClr val="bg1"/>
                    </a:solidFill>
                  </a:endParaRPr>
                </a:p>
              </p:txBody>
            </p:sp>
          </p:grpSp>
        </p:grpSp>
        <p:sp>
          <p:nvSpPr>
            <p:cNvPr id="7" name="TextBox 6">
              <a:extLst>
                <a:ext uri="{FF2B5EF4-FFF2-40B4-BE49-F238E27FC236}">
                  <a16:creationId xmlns:a16="http://schemas.microsoft.com/office/drawing/2014/main" id="{92F76CE3-9CE8-96D2-794F-6B93DF372741}"/>
                </a:ext>
              </a:extLst>
            </p:cNvPr>
            <p:cNvSpPr txBox="1"/>
            <p:nvPr/>
          </p:nvSpPr>
          <p:spPr>
            <a:xfrm>
              <a:off x="2525717" y="313415"/>
              <a:ext cx="3703633" cy="29136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nSpc>
                  <a:spcPct val="80000"/>
                </a:lnSpc>
                <a:spcBef>
                  <a:spcPct val="20000"/>
                </a:spcBef>
                <a:spcAft>
                  <a:spcPct val="0"/>
                </a:spcAft>
                <a:buClrTx/>
                <a:buSzTx/>
                <a:buFontTx/>
                <a:buNone/>
              </a:pPr>
              <a:r>
                <a:rPr lang="en-US" altLang="en-US" sz="1600" dirty="0">
                  <a:solidFill>
                    <a:schemeClr val="bg1"/>
                  </a:solidFill>
                  <a:latin typeface="Roboto" panose="02000000000000000000" pitchFamily="2" charset="0"/>
                  <a:ea typeface="Roboto" panose="02000000000000000000" pitchFamily="2" charset="0"/>
                  <a:cs typeface="Roboto" panose="02000000000000000000" pitchFamily="2" charset="0"/>
                </a:rPr>
                <a:t>Develop Value Stream Plan</a:t>
              </a:r>
            </a:p>
          </p:txBody>
        </p:sp>
      </p:grpSp>
      <p:sp>
        <p:nvSpPr>
          <p:cNvPr id="3" name="Content Placeholder 2">
            <a:extLst>
              <a:ext uri="{FF2B5EF4-FFF2-40B4-BE49-F238E27FC236}">
                <a16:creationId xmlns:a16="http://schemas.microsoft.com/office/drawing/2014/main" id="{C17C1D86-52F7-BA9C-AA1F-47FF81A2CC19}"/>
              </a:ext>
            </a:extLst>
          </p:cNvPr>
          <p:cNvSpPr>
            <a:spLocks noGrp="1"/>
          </p:cNvSpPr>
          <p:nvPr>
            <p:ph idx="1"/>
          </p:nvPr>
        </p:nvSpPr>
        <p:spPr/>
        <p:txBody>
          <a:bodyPr>
            <a:normAutofit fontScale="92500" lnSpcReduction="20000"/>
          </a:bodyPr>
          <a:lstStyle/>
          <a:p>
            <a:r>
              <a:rPr lang="en-US" sz="3200" dirty="0"/>
              <a:t>All team members should contribute to the final report-out presentation to management</a:t>
            </a:r>
          </a:p>
          <a:p>
            <a:r>
              <a:rPr lang="en-US" sz="3200" dirty="0"/>
              <a:t>Report-out should include</a:t>
            </a:r>
          </a:p>
          <a:p>
            <a:pPr lvl="1"/>
            <a:r>
              <a:rPr lang="en-US" sz="2800" dirty="0"/>
              <a:t>Introduction of Team</a:t>
            </a:r>
          </a:p>
          <a:p>
            <a:pPr lvl="1"/>
            <a:r>
              <a:rPr lang="en-US" sz="2800" dirty="0"/>
              <a:t>Review of the Event Charter</a:t>
            </a:r>
          </a:p>
          <a:p>
            <a:pPr lvl="1"/>
            <a:r>
              <a:rPr lang="en-US" sz="2800" dirty="0"/>
              <a:t>Review of the Current State Map</a:t>
            </a:r>
          </a:p>
          <a:p>
            <a:pPr lvl="1"/>
            <a:r>
              <a:rPr lang="en-US" sz="2800" dirty="0"/>
              <a:t>Review of the Improvement Opportunities Identified</a:t>
            </a:r>
          </a:p>
          <a:p>
            <a:pPr lvl="1"/>
            <a:r>
              <a:rPr lang="en-US" sz="2800" dirty="0"/>
              <a:t>Review of the Future State Map</a:t>
            </a:r>
          </a:p>
          <a:p>
            <a:pPr lvl="1"/>
            <a:r>
              <a:rPr lang="en-US" sz="2800" dirty="0"/>
              <a:t>Review of the Action Plan</a:t>
            </a:r>
          </a:p>
          <a:p>
            <a:r>
              <a:rPr lang="en-US" sz="3200" dirty="0"/>
              <a:t>Typical Report-Out times are 15 minutes for presentation and 15 minutes for questions</a:t>
            </a:r>
          </a:p>
        </p:txBody>
      </p:sp>
    </p:spTree>
    <p:extLst>
      <p:ext uri="{BB962C8B-B14F-4D97-AF65-F5344CB8AC3E}">
        <p14:creationId xmlns:p14="http://schemas.microsoft.com/office/powerpoint/2010/main" val="415110169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B09C19-D9DE-E2E1-B56E-07E75302E78F}"/>
              </a:ext>
            </a:extLst>
          </p:cNvPr>
          <p:cNvSpPr>
            <a:spLocks noGrp="1"/>
          </p:cNvSpPr>
          <p:nvPr>
            <p:ph type="ctrTitle"/>
          </p:nvPr>
        </p:nvSpPr>
        <p:spPr/>
        <p:txBody>
          <a:bodyPr/>
          <a:lstStyle/>
          <a:p>
            <a:r>
              <a:rPr lang="en-US" dirty="0"/>
              <a:t>Appendix</a:t>
            </a:r>
          </a:p>
        </p:txBody>
      </p:sp>
      <p:sp>
        <p:nvSpPr>
          <p:cNvPr id="5" name="Slide Number Placeholder 4">
            <a:extLst>
              <a:ext uri="{FF2B5EF4-FFF2-40B4-BE49-F238E27FC236}">
                <a16:creationId xmlns:a16="http://schemas.microsoft.com/office/drawing/2014/main" id="{F8827CDC-E359-D8C5-1138-53B58F0B6B22}"/>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138</a:t>
            </a:fld>
            <a:endParaRPr lang="en-US"/>
          </a:p>
        </p:txBody>
      </p:sp>
    </p:spTree>
    <p:extLst>
      <p:ext uri="{BB962C8B-B14F-4D97-AF65-F5344CB8AC3E}">
        <p14:creationId xmlns:p14="http://schemas.microsoft.com/office/powerpoint/2010/main" val="1904978316"/>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139</a:t>
            </a:fld>
            <a:endParaRPr lang="en-US"/>
          </a:p>
        </p:txBody>
      </p:sp>
      <p:graphicFrame>
        <p:nvGraphicFramePr>
          <p:cNvPr id="6" name="Group 121">
            <a:extLst>
              <a:ext uri="{FF2B5EF4-FFF2-40B4-BE49-F238E27FC236}">
                <a16:creationId xmlns:a16="http://schemas.microsoft.com/office/drawing/2014/main" id="{8BE9EF46-9FED-972D-CD2B-C7643E36B3B0}"/>
              </a:ext>
            </a:extLst>
          </p:cNvPr>
          <p:cNvGraphicFramePr>
            <a:graphicFrameLocks noGrp="1"/>
          </p:cNvGraphicFramePr>
          <p:nvPr>
            <p:extLst>
              <p:ext uri="{D42A27DB-BD31-4B8C-83A1-F6EECF244321}">
                <p14:modId xmlns:p14="http://schemas.microsoft.com/office/powerpoint/2010/main" val="821051596"/>
              </p:ext>
            </p:extLst>
          </p:nvPr>
        </p:nvGraphicFramePr>
        <p:xfrm>
          <a:off x="713740" y="1780643"/>
          <a:ext cx="10144760" cy="4786525"/>
        </p:xfrm>
        <a:graphic>
          <a:graphicData uri="http://schemas.openxmlformats.org/drawingml/2006/table">
            <a:tbl>
              <a:tblPr/>
              <a:tblGrid>
                <a:gridCol w="3304082">
                  <a:extLst>
                    <a:ext uri="{9D8B030D-6E8A-4147-A177-3AD203B41FA5}">
                      <a16:colId xmlns:a16="http://schemas.microsoft.com/office/drawing/2014/main" val="20000"/>
                    </a:ext>
                  </a:extLst>
                </a:gridCol>
                <a:gridCol w="2501019">
                  <a:extLst>
                    <a:ext uri="{9D8B030D-6E8A-4147-A177-3AD203B41FA5}">
                      <a16:colId xmlns:a16="http://schemas.microsoft.com/office/drawing/2014/main" val="20001"/>
                    </a:ext>
                  </a:extLst>
                </a:gridCol>
                <a:gridCol w="4339659">
                  <a:extLst>
                    <a:ext uri="{9D8B030D-6E8A-4147-A177-3AD203B41FA5}">
                      <a16:colId xmlns:a16="http://schemas.microsoft.com/office/drawing/2014/main" val="20002"/>
                    </a:ext>
                  </a:extLst>
                </a:gridCol>
              </a:tblGrid>
              <a:tr h="368525">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6" marB="45726" anchor="b" horzOverflow="overflow">
                    <a:lnL cap="flat">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Represents</a:t>
                      </a:r>
                    </a:p>
                  </a:txBody>
                  <a:tcPr marT="45726" marB="45726" anchor="b" horzOverflow="overflow">
                    <a:lnL>
                      <a:noFill/>
                    </a:lnL>
                    <a:lnR>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itchFamily="80" charset="2"/>
                        <a:buNone/>
                        <a:tabLst/>
                      </a:pPr>
                      <a:r>
                        <a:rPr kumimoji="0" 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6" marB="45726" anchor="b" horzOverflow="overflow">
                    <a:lnL>
                      <a:noFill/>
                    </a:lnL>
                    <a:lnR cap="flat">
                      <a:noFill/>
                    </a:lnR>
                    <a:lnT cap="fla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028783">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Process</a:t>
                      </a:r>
                    </a:p>
                  </a:txBody>
                  <a:tcPr marT="45726" marB="45726"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One process box equals an area of flow</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All processes should be labeled</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Also used for departments such as    production control</a:t>
                      </a:r>
                    </a:p>
                  </a:txBody>
                  <a:tcPr marT="45726" marB="45726" horzOverflow="overflow">
                    <a:lnL>
                      <a:noFill/>
                    </a:lnL>
                    <a:lnR cap="flat">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57863">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Outside Sources</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Used to show customers, suppliers, and outside manufacturing processes</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For project-based maps, could depict the start and end of the process</a:t>
                      </a:r>
                      <a:endParaRPr kumimoji="0" 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Data Box</a:t>
                      </a:r>
                    </a:p>
                  </a:txBody>
                  <a:tcPr marT="45726" marB="45726"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Used to record information concerning a process, department, customer, etc.</a:t>
                      </a:r>
                    </a:p>
                  </a:txBody>
                  <a:tcPr marT="45726" marB="45726" horzOverflow="overflow">
                    <a:lnL>
                      <a:noFill/>
                    </a:lnL>
                    <a:lnR cap="flat">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r>
                        <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Inventory</a:t>
                      </a:r>
                    </a:p>
                  </a:txBody>
                  <a:tcPr marT="45726" marB="45726"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Count and time should be noted</a:t>
                      </a:r>
                      <a:endParaRPr kumimoji="0" 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r h="677752">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cap="flat">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itchFamily="80" charset="2"/>
                        <a:buNone/>
                        <a:tabLst/>
                      </a:pPr>
                      <a:endParaRPr kumimoji="0" 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a:noFill/>
                    </a:lnR>
                    <a:ln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115888" marR="0" lvl="0" indent="-115888" algn="l" defTabSz="914400" rtl="0" eaLnBrk="0" fontAlgn="base" latinLnBrk="0" hangingPunct="0">
                        <a:lnSpc>
                          <a:spcPct val="115000"/>
                        </a:lnSpc>
                        <a:spcBef>
                          <a:spcPct val="20000"/>
                        </a:spcBef>
                        <a:spcAft>
                          <a:spcPct val="20000"/>
                        </a:spcAft>
                        <a:buClr>
                          <a:srgbClr val="006699"/>
                        </a:buClr>
                        <a:buSzPct val="90000"/>
                        <a:buFont typeface="Wingdings" pitchFamily="80" charset="2"/>
                        <a:buChar char="§"/>
                        <a:tabLst/>
                      </a:pPr>
                      <a:endParaRPr kumimoji="0" 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6" marB="45726" horzOverflow="overflow">
                    <a:lnL>
                      <a:noFill/>
                    </a:lnL>
                    <a:lnR cap="flat">
                      <a:noFill/>
                    </a:lnR>
                    <a:lnT>
                      <a:noFill/>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59" name="Group 58">
            <a:extLst>
              <a:ext uri="{FF2B5EF4-FFF2-40B4-BE49-F238E27FC236}">
                <a16:creationId xmlns:a16="http://schemas.microsoft.com/office/drawing/2014/main" id="{01876383-6368-333C-167B-1621DE1E6504}"/>
              </a:ext>
            </a:extLst>
          </p:cNvPr>
          <p:cNvGrpSpPr/>
          <p:nvPr/>
        </p:nvGrpSpPr>
        <p:grpSpPr>
          <a:xfrm>
            <a:off x="1000359" y="2426350"/>
            <a:ext cx="853863" cy="496023"/>
            <a:chOff x="1001078" y="2272278"/>
            <a:chExt cx="853863" cy="496023"/>
          </a:xfrm>
        </p:grpSpPr>
        <p:sp>
          <p:nvSpPr>
            <p:cNvPr id="7" name="Rectangle 50">
              <a:extLst>
                <a:ext uri="{FF2B5EF4-FFF2-40B4-BE49-F238E27FC236}">
                  <a16:creationId xmlns:a16="http://schemas.microsoft.com/office/drawing/2014/main" id="{5E01EBB4-E6AA-CCAF-467F-5E78041A80D6}"/>
                </a:ext>
              </a:extLst>
            </p:cNvPr>
            <p:cNvSpPr>
              <a:spLocks noChangeArrowheads="1"/>
            </p:cNvSpPr>
            <p:nvPr/>
          </p:nvSpPr>
          <p:spPr bwMode="auto">
            <a:xfrm>
              <a:off x="1001078" y="2321272"/>
              <a:ext cx="853863" cy="447029"/>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8" name="Line 51">
              <a:extLst>
                <a:ext uri="{FF2B5EF4-FFF2-40B4-BE49-F238E27FC236}">
                  <a16:creationId xmlns:a16="http://schemas.microsoft.com/office/drawing/2014/main" id="{DEA204DA-55E1-4101-430C-FF54451F6112}"/>
                </a:ext>
              </a:extLst>
            </p:cNvPr>
            <p:cNvSpPr>
              <a:spLocks noChangeShapeType="1"/>
            </p:cNvSpPr>
            <p:nvPr/>
          </p:nvSpPr>
          <p:spPr bwMode="auto">
            <a:xfrm>
              <a:off x="1005840" y="2569186"/>
              <a:ext cx="840186" cy="1423"/>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lstStyle/>
            <a:p>
              <a:endParaRPr lang="en-US">
                <a:latin typeface="Roboto" panose="02000000000000000000" pitchFamily="2" charset="0"/>
                <a:ea typeface="Roboto" panose="02000000000000000000" pitchFamily="2" charset="0"/>
              </a:endParaRPr>
            </a:p>
          </p:txBody>
        </p:sp>
        <p:sp>
          <p:nvSpPr>
            <p:cNvPr id="9" name="Text Box 56">
              <a:extLst>
                <a:ext uri="{FF2B5EF4-FFF2-40B4-BE49-F238E27FC236}">
                  <a16:creationId xmlns:a16="http://schemas.microsoft.com/office/drawing/2014/main" id="{11FE10C2-F048-5D47-951B-C8C7901D89E2}"/>
                </a:ext>
              </a:extLst>
            </p:cNvPr>
            <p:cNvSpPr txBox="1">
              <a:spLocks noChangeArrowheads="1"/>
            </p:cNvSpPr>
            <p:nvPr/>
          </p:nvSpPr>
          <p:spPr bwMode="auto">
            <a:xfrm>
              <a:off x="1024890" y="2272278"/>
              <a:ext cx="799154"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900" b="0">
                  <a:latin typeface="Roboto" panose="02000000000000000000" pitchFamily="2" charset="0"/>
                  <a:ea typeface="Roboto" panose="02000000000000000000" pitchFamily="2" charset="0"/>
                </a:rPr>
                <a:t>Receipt</a:t>
              </a:r>
            </a:p>
          </p:txBody>
        </p:sp>
      </p:grpSp>
      <p:grpSp>
        <p:nvGrpSpPr>
          <p:cNvPr id="10" name="Group 75">
            <a:extLst>
              <a:ext uri="{FF2B5EF4-FFF2-40B4-BE49-F238E27FC236}">
                <a16:creationId xmlns:a16="http://schemas.microsoft.com/office/drawing/2014/main" id="{4C4E57F7-B02D-5588-793D-971ED2E0272E}"/>
              </a:ext>
            </a:extLst>
          </p:cNvPr>
          <p:cNvGrpSpPr>
            <a:grpSpLocks/>
          </p:cNvGrpSpPr>
          <p:nvPr/>
        </p:nvGrpSpPr>
        <p:grpSpPr bwMode="auto">
          <a:xfrm>
            <a:off x="976596" y="4635976"/>
            <a:ext cx="929439" cy="470675"/>
            <a:chOff x="4841" y="3355"/>
            <a:chExt cx="495" cy="384"/>
          </a:xfrm>
        </p:grpSpPr>
        <p:sp>
          <p:nvSpPr>
            <p:cNvPr id="11" name="Rectangle 76">
              <a:extLst>
                <a:ext uri="{FF2B5EF4-FFF2-40B4-BE49-F238E27FC236}">
                  <a16:creationId xmlns:a16="http://schemas.microsoft.com/office/drawing/2014/main" id="{6BB4ED18-467E-FE69-5970-33633DA9E9E3}"/>
                </a:ext>
              </a:extLst>
            </p:cNvPr>
            <p:cNvSpPr>
              <a:spLocks noChangeArrowheads="1"/>
            </p:cNvSpPr>
            <p:nvPr/>
          </p:nvSpPr>
          <p:spPr bwMode="auto">
            <a:xfrm>
              <a:off x="4886" y="3357"/>
              <a:ext cx="450" cy="360"/>
            </a:xfrm>
            <a:prstGeom prst="rect">
              <a:avLst/>
            </a:prstGeom>
            <a:solidFill>
              <a:schemeClr val="bg1"/>
            </a:solidFill>
            <a:ln w="12700" cap="sq">
              <a:solidFill>
                <a:schemeClr val="tx1"/>
              </a:solidFill>
              <a:miter lim="800000"/>
              <a:headEnd type="none" w="sm" len="sm"/>
              <a:tailEnd type="none" w="sm" len="sm"/>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12" name="Group 77">
              <a:extLst>
                <a:ext uri="{FF2B5EF4-FFF2-40B4-BE49-F238E27FC236}">
                  <a16:creationId xmlns:a16="http://schemas.microsoft.com/office/drawing/2014/main" id="{959796F2-5D6C-7CD8-31DB-7416EB81BD02}"/>
                </a:ext>
              </a:extLst>
            </p:cNvPr>
            <p:cNvGrpSpPr>
              <a:grpSpLocks/>
            </p:cNvGrpSpPr>
            <p:nvPr/>
          </p:nvGrpSpPr>
          <p:grpSpPr bwMode="auto">
            <a:xfrm>
              <a:off x="4841" y="3355"/>
              <a:ext cx="483" cy="384"/>
              <a:chOff x="4841" y="3355"/>
              <a:chExt cx="483" cy="384"/>
            </a:xfrm>
          </p:grpSpPr>
          <p:sp>
            <p:nvSpPr>
              <p:cNvPr id="13" name="Text Box 78">
                <a:extLst>
                  <a:ext uri="{FF2B5EF4-FFF2-40B4-BE49-F238E27FC236}">
                    <a16:creationId xmlns:a16="http://schemas.microsoft.com/office/drawing/2014/main" id="{39E5F504-15F0-FF03-9A3F-E6C9C4D57F18}"/>
                  </a:ext>
                </a:extLst>
              </p:cNvPr>
              <p:cNvSpPr txBox="1">
                <a:spLocks noChangeArrowheads="1"/>
              </p:cNvSpPr>
              <p:nvPr/>
            </p:nvSpPr>
            <p:spPr bwMode="auto">
              <a:xfrm>
                <a:off x="4841" y="3592"/>
                <a:ext cx="435"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endParaRPr lang="en-US" altLang="en-US" sz="500" b="0">
                  <a:latin typeface="Roboto" panose="02000000000000000000" pitchFamily="2" charset="0"/>
                  <a:ea typeface="Roboto" panose="02000000000000000000" pitchFamily="2" charset="0"/>
                </a:endParaRPr>
              </a:p>
            </p:txBody>
          </p:sp>
          <p:sp>
            <p:nvSpPr>
              <p:cNvPr id="14" name="Text Box 79">
                <a:extLst>
                  <a:ext uri="{FF2B5EF4-FFF2-40B4-BE49-F238E27FC236}">
                    <a16:creationId xmlns:a16="http://schemas.microsoft.com/office/drawing/2014/main" id="{688F1B1A-56A4-EE7E-B549-FE0D0F1179F2}"/>
                  </a:ext>
                </a:extLst>
              </p:cNvPr>
              <p:cNvSpPr txBox="1">
                <a:spLocks noChangeArrowheads="1"/>
              </p:cNvSpPr>
              <p:nvPr/>
            </p:nvSpPr>
            <p:spPr bwMode="auto">
              <a:xfrm>
                <a:off x="4841" y="3511"/>
                <a:ext cx="483" cy="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Quality = 100%</a:t>
                </a:r>
              </a:p>
            </p:txBody>
          </p:sp>
          <p:sp>
            <p:nvSpPr>
              <p:cNvPr id="15" name="Rectangle 80">
                <a:extLst>
                  <a:ext uri="{FF2B5EF4-FFF2-40B4-BE49-F238E27FC236}">
                    <a16:creationId xmlns:a16="http://schemas.microsoft.com/office/drawing/2014/main" id="{DCCCF89A-95A5-47A7-2F1B-14FF28ECC29D}"/>
                  </a:ext>
                </a:extLst>
              </p:cNvPr>
              <p:cNvSpPr>
                <a:spLocks noChangeArrowheads="1"/>
              </p:cNvSpPr>
              <p:nvPr/>
            </p:nvSpPr>
            <p:spPr bwMode="auto">
              <a:xfrm>
                <a:off x="4841" y="3355"/>
                <a:ext cx="445"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Processing Time = 15</a:t>
                </a:r>
                <a:r>
                  <a:rPr lang="ja-JP" altLang="en-US" sz="500" b="0">
                    <a:latin typeface="Roboto" panose="02000000000000000000" pitchFamily="2" charset="0"/>
                  </a:rPr>
                  <a:t>”</a:t>
                </a:r>
                <a:endParaRPr lang="en-US" altLang="en-US" sz="500" b="0">
                  <a:latin typeface="Roboto" panose="02000000000000000000" pitchFamily="2" charset="0"/>
                  <a:ea typeface="Roboto" panose="02000000000000000000" pitchFamily="2" charset="0"/>
                </a:endParaRPr>
              </a:p>
            </p:txBody>
          </p:sp>
          <p:sp>
            <p:nvSpPr>
              <p:cNvPr id="16" name="Rectangle 81">
                <a:extLst>
                  <a:ext uri="{FF2B5EF4-FFF2-40B4-BE49-F238E27FC236}">
                    <a16:creationId xmlns:a16="http://schemas.microsoft.com/office/drawing/2014/main" id="{4FEE39DC-056A-3314-56D7-CB4FA9F80482}"/>
                  </a:ext>
                </a:extLst>
              </p:cNvPr>
              <p:cNvSpPr>
                <a:spLocks noChangeArrowheads="1"/>
              </p:cNvSpPr>
              <p:nvPr/>
            </p:nvSpPr>
            <p:spPr bwMode="auto">
              <a:xfrm>
                <a:off x="4841" y="3437"/>
                <a:ext cx="226"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125000"/>
                  </a:lnSpc>
                  <a:spcBef>
                    <a:spcPct val="0"/>
                  </a:spcBef>
                  <a:spcAft>
                    <a:spcPct val="0"/>
                  </a:spcAft>
                  <a:buClrTx/>
                  <a:buSzTx/>
                  <a:buFontTx/>
                  <a:buNone/>
                </a:pPr>
                <a:r>
                  <a:rPr lang="en-US" altLang="en-US" sz="500" b="0">
                    <a:latin typeface="Roboto" panose="02000000000000000000" pitchFamily="2" charset="0"/>
                    <a:ea typeface="Roboto" panose="02000000000000000000" pitchFamily="2" charset="0"/>
                  </a:rPr>
                  <a:t>DOI = 8</a:t>
                </a:r>
                <a:r>
                  <a:rPr lang="ja-JP" altLang="en-US" sz="500" b="0">
                    <a:latin typeface="Roboto" panose="02000000000000000000" pitchFamily="2" charset="0"/>
                  </a:rPr>
                  <a:t>”</a:t>
                </a:r>
                <a:endParaRPr lang="en-US" altLang="en-US" sz="500" b="0">
                  <a:latin typeface="Roboto" panose="02000000000000000000" pitchFamily="2" charset="0"/>
                  <a:ea typeface="Roboto" panose="02000000000000000000" pitchFamily="2" charset="0"/>
                </a:endParaRPr>
              </a:p>
            </p:txBody>
          </p:sp>
        </p:grpSp>
      </p:grpSp>
      <p:grpSp>
        <p:nvGrpSpPr>
          <p:cNvPr id="17" name="Group 100">
            <a:extLst>
              <a:ext uri="{FF2B5EF4-FFF2-40B4-BE49-F238E27FC236}">
                <a16:creationId xmlns:a16="http://schemas.microsoft.com/office/drawing/2014/main" id="{B194C690-DCEE-BBE6-4C2C-345A7F55703E}"/>
              </a:ext>
            </a:extLst>
          </p:cNvPr>
          <p:cNvGrpSpPr>
            <a:grpSpLocks/>
          </p:cNvGrpSpPr>
          <p:nvPr/>
        </p:nvGrpSpPr>
        <p:grpSpPr bwMode="auto">
          <a:xfrm>
            <a:off x="1116739" y="5248515"/>
            <a:ext cx="629163" cy="380117"/>
            <a:chOff x="4122" y="1171"/>
            <a:chExt cx="240" cy="212"/>
          </a:xfrm>
        </p:grpSpPr>
        <p:sp>
          <p:nvSpPr>
            <p:cNvPr id="18" name="Rectangle 101">
              <a:extLst>
                <a:ext uri="{FF2B5EF4-FFF2-40B4-BE49-F238E27FC236}">
                  <a16:creationId xmlns:a16="http://schemas.microsoft.com/office/drawing/2014/main" id="{C11C8C46-4913-81AF-D837-6CC6DBDAD902}"/>
                </a:ext>
              </a:extLst>
            </p:cNvPr>
            <p:cNvSpPr>
              <a:spLocks noChangeArrowheads="1"/>
            </p:cNvSpPr>
            <p:nvPr/>
          </p:nvSpPr>
          <p:spPr bwMode="auto">
            <a:xfrm>
              <a:off x="4122" y="1215"/>
              <a:ext cx="240" cy="168"/>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Text Box 102">
              <a:extLst>
                <a:ext uri="{FF2B5EF4-FFF2-40B4-BE49-F238E27FC236}">
                  <a16:creationId xmlns:a16="http://schemas.microsoft.com/office/drawing/2014/main" id="{070A2117-C5AE-F974-A4A6-905C0D0A8EE0}"/>
                </a:ext>
              </a:extLst>
            </p:cNvPr>
            <p:cNvSpPr txBox="1">
              <a:spLocks noChangeArrowheads="1"/>
            </p:cNvSpPr>
            <p:nvPr/>
          </p:nvSpPr>
          <p:spPr bwMode="auto">
            <a:xfrm>
              <a:off x="4152" y="1227"/>
              <a:ext cx="109" cy="12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800" b="0">
                  <a:latin typeface="Roboto" panose="02000000000000000000" pitchFamily="2" charset="0"/>
                  <a:ea typeface="Roboto" panose="02000000000000000000" pitchFamily="2" charset="0"/>
                </a:rPr>
                <a:t>IN</a:t>
              </a:r>
            </a:p>
          </p:txBody>
        </p:sp>
        <p:sp>
          <p:nvSpPr>
            <p:cNvPr id="20" name="AutoShape 103">
              <a:extLst>
                <a:ext uri="{FF2B5EF4-FFF2-40B4-BE49-F238E27FC236}">
                  <a16:creationId xmlns:a16="http://schemas.microsoft.com/office/drawing/2014/main" id="{4CE1FF24-A5E9-E8D3-5A12-4A988A644D4F}"/>
                </a:ext>
              </a:extLst>
            </p:cNvPr>
            <p:cNvSpPr>
              <a:spLocks/>
            </p:cNvSpPr>
            <p:nvPr/>
          </p:nvSpPr>
          <p:spPr bwMode="auto">
            <a:xfrm rot="-5400000">
              <a:off x="4233" y="1060"/>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1" name="AutoShape 104">
              <a:extLst>
                <a:ext uri="{FF2B5EF4-FFF2-40B4-BE49-F238E27FC236}">
                  <a16:creationId xmlns:a16="http://schemas.microsoft.com/office/drawing/2014/main" id="{2397909F-1042-4E67-3D70-536689020A08}"/>
                </a:ext>
              </a:extLst>
            </p:cNvPr>
            <p:cNvSpPr>
              <a:spLocks/>
            </p:cNvSpPr>
            <p:nvPr/>
          </p:nvSpPr>
          <p:spPr bwMode="auto">
            <a:xfrm rot="-5400000">
              <a:off x="4233" y="1069"/>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AutoShape 105">
              <a:extLst>
                <a:ext uri="{FF2B5EF4-FFF2-40B4-BE49-F238E27FC236}">
                  <a16:creationId xmlns:a16="http://schemas.microsoft.com/office/drawing/2014/main" id="{55594B22-BF79-D99F-A26E-D19204F14273}"/>
                </a:ext>
              </a:extLst>
            </p:cNvPr>
            <p:cNvSpPr>
              <a:spLocks/>
            </p:cNvSpPr>
            <p:nvPr/>
          </p:nvSpPr>
          <p:spPr bwMode="auto">
            <a:xfrm rot="-5400000">
              <a:off x="4233" y="1078"/>
              <a:ext cx="18" cy="240"/>
            </a:xfrm>
            <a:prstGeom prst="leftBracket">
              <a:avLst>
                <a:gd name="adj" fmla="val 111111"/>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grpSp>
        <p:nvGrpSpPr>
          <p:cNvPr id="23" name="Group 125">
            <a:extLst>
              <a:ext uri="{FF2B5EF4-FFF2-40B4-BE49-F238E27FC236}">
                <a16:creationId xmlns:a16="http://schemas.microsoft.com/office/drawing/2014/main" id="{722D5FA7-BAE8-E638-935B-6E03FF46BE3B}"/>
              </a:ext>
            </a:extLst>
          </p:cNvPr>
          <p:cNvGrpSpPr>
            <a:grpSpLocks/>
          </p:cNvGrpSpPr>
          <p:nvPr/>
        </p:nvGrpSpPr>
        <p:grpSpPr bwMode="auto">
          <a:xfrm>
            <a:off x="1083401" y="5822055"/>
            <a:ext cx="672149" cy="511093"/>
            <a:chOff x="494" y="3431"/>
            <a:chExt cx="344" cy="359"/>
          </a:xfrm>
        </p:grpSpPr>
        <p:grpSp>
          <p:nvGrpSpPr>
            <p:cNvPr id="24" name="Group 106">
              <a:extLst>
                <a:ext uri="{FF2B5EF4-FFF2-40B4-BE49-F238E27FC236}">
                  <a16:creationId xmlns:a16="http://schemas.microsoft.com/office/drawing/2014/main" id="{0B0AE7DD-43FF-1682-4A27-8AC3FB1E08C5}"/>
                </a:ext>
              </a:extLst>
            </p:cNvPr>
            <p:cNvGrpSpPr>
              <a:grpSpLocks/>
            </p:cNvGrpSpPr>
            <p:nvPr/>
          </p:nvGrpSpPr>
          <p:grpSpPr bwMode="auto">
            <a:xfrm>
              <a:off x="525" y="3443"/>
              <a:ext cx="313" cy="336"/>
              <a:chOff x="576" y="1200"/>
              <a:chExt cx="240" cy="336"/>
            </a:xfrm>
          </p:grpSpPr>
          <p:sp>
            <p:nvSpPr>
              <p:cNvPr id="28" name="Rectangle 107">
                <a:extLst>
                  <a:ext uri="{FF2B5EF4-FFF2-40B4-BE49-F238E27FC236}">
                    <a16:creationId xmlns:a16="http://schemas.microsoft.com/office/drawing/2014/main" id="{949BF7CC-6503-2AF3-5847-D487A8E75282}"/>
                  </a:ext>
                </a:extLst>
              </p:cNvPr>
              <p:cNvSpPr>
                <a:spLocks noChangeArrowheads="1"/>
              </p:cNvSpPr>
              <p:nvPr/>
            </p:nvSpPr>
            <p:spPr bwMode="auto">
              <a:xfrm>
                <a:off x="576" y="1200"/>
                <a:ext cx="240" cy="3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9" name="Line 108">
                <a:extLst>
                  <a:ext uri="{FF2B5EF4-FFF2-40B4-BE49-F238E27FC236}">
                    <a16:creationId xmlns:a16="http://schemas.microsoft.com/office/drawing/2014/main" id="{18AB3440-0112-948F-94A1-0820E3CF29DE}"/>
                  </a:ext>
                </a:extLst>
              </p:cNvPr>
              <p:cNvSpPr>
                <a:spLocks noChangeShapeType="1"/>
              </p:cNvSpPr>
              <p:nvPr/>
            </p:nvSpPr>
            <p:spPr bwMode="auto">
              <a:xfrm>
                <a:off x="576" y="1392"/>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30" name="Line 109">
                <a:extLst>
                  <a:ext uri="{FF2B5EF4-FFF2-40B4-BE49-F238E27FC236}">
                    <a16:creationId xmlns:a16="http://schemas.microsoft.com/office/drawing/2014/main" id="{427BD176-38DB-6D37-DDE9-A37EE0A97DFD}"/>
                  </a:ext>
                </a:extLst>
              </p:cNvPr>
              <p:cNvSpPr>
                <a:spLocks noChangeShapeType="1"/>
              </p:cNvSpPr>
              <p:nvPr/>
            </p:nvSpPr>
            <p:spPr bwMode="auto">
              <a:xfrm>
                <a:off x="576" y="1296"/>
                <a:ext cx="24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grpSp>
        <p:sp>
          <p:nvSpPr>
            <p:cNvPr id="25" name="Text Box 122">
              <a:extLst>
                <a:ext uri="{FF2B5EF4-FFF2-40B4-BE49-F238E27FC236}">
                  <a16:creationId xmlns:a16="http://schemas.microsoft.com/office/drawing/2014/main" id="{B771840D-4D91-376E-92E1-99D20E07C998}"/>
                </a:ext>
              </a:extLst>
            </p:cNvPr>
            <p:cNvSpPr txBox="1">
              <a:spLocks noChangeArrowheads="1"/>
            </p:cNvSpPr>
            <p:nvPr/>
          </p:nvSpPr>
          <p:spPr bwMode="auto">
            <a:xfrm>
              <a:off x="506" y="3431"/>
              <a:ext cx="265"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900">
                  <a:latin typeface="Roboto" panose="02000000000000000000" pitchFamily="2" charset="0"/>
                  <a:ea typeface="Roboto" panose="02000000000000000000" pitchFamily="2" charset="0"/>
                </a:rPr>
                <a:t>In-box</a:t>
              </a:r>
            </a:p>
          </p:txBody>
        </p:sp>
        <p:sp>
          <p:nvSpPr>
            <p:cNvPr id="26" name="Text Box 123">
              <a:extLst>
                <a:ext uri="{FF2B5EF4-FFF2-40B4-BE49-F238E27FC236}">
                  <a16:creationId xmlns:a16="http://schemas.microsoft.com/office/drawing/2014/main" id="{43F0AD2B-DD4B-5CC1-DBFD-C02EEEE7DE2A}"/>
                </a:ext>
              </a:extLst>
            </p:cNvPr>
            <p:cNvSpPr txBox="1">
              <a:spLocks noChangeArrowheads="1"/>
            </p:cNvSpPr>
            <p:nvPr/>
          </p:nvSpPr>
          <p:spPr bwMode="auto">
            <a:xfrm>
              <a:off x="530" y="3527"/>
              <a:ext cx="209"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900">
                  <a:latin typeface="Roboto" panose="02000000000000000000" pitchFamily="2" charset="0"/>
                  <a:ea typeface="Roboto" panose="02000000000000000000" pitchFamily="2" charset="0"/>
                </a:rPr>
                <a:t>FIF0</a:t>
              </a:r>
            </a:p>
          </p:txBody>
        </p:sp>
        <p:sp>
          <p:nvSpPr>
            <p:cNvPr id="27" name="Text Box 124">
              <a:extLst>
                <a:ext uri="{FF2B5EF4-FFF2-40B4-BE49-F238E27FC236}">
                  <a16:creationId xmlns:a16="http://schemas.microsoft.com/office/drawing/2014/main" id="{CB346949-9BEA-71D5-0C39-3912662BD5D1}"/>
                </a:ext>
              </a:extLst>
            </p:cNvPr>
            <p:cNvSpPr txBox="1">
              <a:spLocks noChangeArrowheads="1"/>
            </p:cNvSpPr>
            <p:nvPr/>
          </p:nvSpPr>
          <p:spPr bwMode="auto">
            <a:xfrm>
              <a:off x="494" y="3647"/>
              <a:ext cx="306"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a:tailEnd/>
                </a14:hiddenLine>
              </a:ext>
            </a:extLst>
          </p:spPr>
          <p:txBody>
            <a:bodyPr wrap="non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nSpc>
                  <a:spcPct val="80000"/>
                </a:lnSpc>
                <a:spcBef>
                  <a:spcPct val="20000"/>
                </a:spcBef>
                <a:spcAft>
                  <a:spcPct val="0"/>
                </a:spcAft>
                <a:buClrTx/>
                <a:buSzTx/>
                <a:buFontTx/>
                <a:buNone/>
              </a:pPr>
              <a:r>
                <a:rPr lang="en-US" altLang="en-US" sz="900">
                  <a:latin typeface="Roboto" panose="02000000000000000000" pitchFamily="2" charset="0"/>
                  <a:ea typeface="Roboto" panose="02000000000000000000" pitchFamily="2" charset="0"/>
                </a:rPr>
                <a:t>53 apps</a:t>
              </a:r>
            </a:p>
          </p:txBody>
        </p:sp>
      </p:grpSp>
      <p:grpSp>
        <p:nvGrpSpPr>
          <p:cNvPr id="31" name="Group 126">
            <a:extLst>
              <a:ext uri="{FF2B5EF4-FFF2-40B4-BE49-F238E27FC236}">
                <a16:creationId xmlns:a16="http://schemas.microsoft.com/office/drawing/2014/main" id="{9309E821-DEC2-A4FB-1C1A-749265592CEE}"/>
              </a:ext>
            </a:extLst>
          </p:cNvPr>
          <p:cNvGrpSpPr>
            <a:grpSpLocks/>
          </p:cNvGrpSpPr>
          <p:nvPr/>
        </p:nvGrpSpPr>
        <p:grpSpPr bwMode="auto">
          <a:xfrm>
            <a:off x="1099032" y="3607603"/>
            <a:ext cx="656518" cy="609326"/>
            <a:chOff x="2880" y="1152"/>
            <a:chExt cx="720" cy="1008"/>
          </a:xfrm>
        </p:grpSpPr>
        <p:sp>
          <p:nvSpPr>
            <p:cNvPr id="32" name="Rectangle 127">
              <a:extLst>
                <a:ext uri="{FF2B5EF4-FFF2-40B4-BE49-F238E27FC236}">
                  <a16:creationId xmlns:a16="http://schemas.microsoft.com/office/drawing/2014/main" id="{88DCDFAC-6830-CF10-0AAE-2E3B85C20FA7}"/>
                </a:ext>
              </a:extLst>
            </p:cNvPr>
            <p:cNvSpPr>
              <a:spLocks noChangeArrowheads="1"/>
            </p:cNvSpPr>
            <p:nvPr/>
          </p:nvSpPr>
          <p:spPr bwMode="auto">
            <a:xfrm>
              <a:off x="2880" y="1152"/>
              <a:ext cx="720" cy="100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3" name="Rectangle 128">
              <a:extLst>
                <a:ext uri="{FF2B5EF4-FFF2-40B4-BE49-F238E27FC236}">
                  <a16:creationId xmlns:a16="http://schemas.microsoft.com/office/drawing/2014/main" id="{17DCDC24-3E2B-6136-DEEB-CDECF988C618}"/>
                </a:ext>
              </a:extLst>
            </p:cNvPr>
            <p:cNvSpPr>
              <a:spLocks noChangeArrowheads="1"/>
            </p:cNvSpPr>
            <p:nvPr/>
          </p:nvSpPr>
          <p:spPr bwMode="auto">
            <a:xfrm>
              <a:off x="3011"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4" name="Rectangle 129">
              <a:extLst>
                <a:ext uri="{FF2B5EF4-FFF2-40B4-BE49-F238E27FC236}">
                  <a16:creationId xmlns:a16="http://schemas.microsoft.com/office/drawing/2014/main" id="{FECE81B5-67FE-DD98-AE6D-A5C3E95F73F9}"/>
                </a:ext>
              </a:extLst>
            </p:cNvPr>
            <p:cNvSpPr>
              <a:spLocks noChangeArrowheads="1"/>
            </p:cNvSpPr>
            <p:nvPr/>
          </p:nvSpPr>
          <p:spPr bwMode="auto">
            <a:xfrm>
              <a:off x="319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5" name="Rectangle 130">
              <a:extLst>
                <a:ext uri="{FF2B5EF4-FFF2-40B4-BE49-F238E27FC236}">
                  <a16:creationId xmlns:a16="http://schemas.microsoft.com/office/drawing/2014/main" id="{5148FFE8-8056-7A85-66C5-9C97636DFF0D}"/>
                </a:ext>
              </a:extLst>
            </p:cNvPr>
            <p:cNvSpPr>
              <a:spLocks noChangeArrowheads="1"/>
            </p:cNvSpPr>
            <p:nvPr/>
          </p:nvSpPr>
          <p:spPr bwMode="auto">
            <a:xfrm>
              <a:off x="3372"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6" name="Rectangle 131">
              <a:extLst>
                <a:ext uri="{FF2B5EF4-FFF2-40B4-BE49-F238E27FC236}">
                  <a16:creationId xmlns:a16="http://schemas.microsoft.com/office/drawing/2014/main" id="{3D046F6D-EC54-AAEC-3187-E1AB4C73113D}"/>
                </a:ext>
              </a:extLst>
            </p:cNvPr>
            <p:cNvSpPr>
              <a:spLocks noChangeArrowheads="1"/>
            </p:cNvSpPr>
            <p:nvPr/>
          </p:nvSpPr>
          <p:spPr bwMode="auto">
            <a:xfrm>
              <a:off x="3504"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7" name="Rectangle 132">
              <a:extLst>
                <a:ext uri="{FF2B5EF4-FFF2-40B4-BE49-F238E27FC236}">
                  <a16:creationId xmlns:a16="http://schemas.microsoft.com/office/drawing/2014/main" id="{522F4BB3-A9F5-3E43-C03B-FB7F744DF7CE}"/>
                </a:ext>
              </a:extLst>
            </p:cNvPr>
            <p:cNvSpPr>
              <a:spLocks noChangeArrowheads="1"/>
            </p:cNvSpPr>
            <p:nvPr/>
          </p:nvSpPr>
          <p:spPr bwMode="auto">
            <a:xfrm>
              <a:off x="2880" y="1392"/>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8" name="Rectangle 133">
              <a:extLst>
                <a:ext uri="{FF2B5EF4-FFF2-40B4-BE49-F238E27FC236}">
                  <a16:creationId xmlns:a16="http://schemas.microsoft.com/office/drawing/2014/main" id="{6EE161C6-371E-4705-11D7-26AD72C0A7A5}"/>
                </a:ext>
              </a:extLst>
            </p:cNvPr>
            <p:cNvSpPr>
              <a:spLocks noChangeArrowheads="1"/>
            </p:cNvSpPr>
            <p:nvPr/>
          </p:nvSpPr>
          <p:spPr bwMode="auto">
            <a:xfrm>
              <a:off x="3011"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39" name="Rectangle 134">
              <a:extLst>
                <a:ext uri="{FF2B5EF4-FFF2-40B4-BE49-F238E27FC236}">
                  <a16:creationId xmlns:a16="http://schemas.microsoft.com/office/drawing/2014/main" id="{AF349E9E-3A99-2296-CA8F-40CC04307E21}"/>
                </a:ext>
              </a:extLst>
            </p:cNvPr>
            <p:cNvSpPr>
              <a:spLocks noChangeArrowheads="1"/>
            </p:cNvSpPr>
            <p:nvPr/>
          </p:nvSpPr>
          <p:spPr bwMode="auto">
            <a:xfrm>
              <a:off x="319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0" name="Rectangle 135">
              <a:extLst>
                <a:ext uri="{FF2B5EF4-FFF2-40B4-BE49-F238E27FC236}">
                  <a16:creationId xmlns:a16="http://schemas.microsoft.com/office/drawing/2014/main" id="{C1E07522-1B6E-E0A4-4E1D-A0E35D2DE88A}"/>
                </a:ext>
              </a:extLst>
            </p:cNvPr>
            <p:cNvSpPr>
              <a:spLocks noChangeArrowheads="1"/>
            </p:cNvSpPr>
            <p:nvPr/>
          </p:nvSpPr>
          <p:spPr bwMode="auto">
            <a:xfrm>
              <a:off x="3372"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1" name="Rectangle 136">
              <a:extLst>
                <a:ext uri="{FF2B5EF4-FFF2-40B4-BE49-F238E27FC236}">
                  <a16:creationId xmlns:a16="http://schemas.microsoft.com/office/drawing/2014/main" id="{72C5F847-B119-69F7-60A4-1D21F204CDA3}"/>
                </a:ext>
              </a:extLst>
            </p:cNvPr>
            <p:cNvSpPr>
              <a:spLocks noChangeArrowheads="1"/>
            </p:cNvSpPr>
            <p:nvPr/>
          </p:nvSpPr>
          <p:spPr bwMode="auto">
            <a:xfrm>
              <a:off x="3504"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2" name="Rectangle 137">
              <a:extLst>
                <a:ext uri="{FF2B5EF4-FFF2-40B4-BE49-F238E27FC236}">
                  <a16:creationId xmlns:a16="http://schemas.microsoft.com/office/drawing/2014/main" id="{C6BB4173-782E-807A-07CB-ADD3A5AA8698}"/>
                </a:ext>
              </a:extLst>
            </p:cNvPr>
            <p:cNvSpPr>
              <a:spLocks noChangeArrowheads="1"/>
            </p:cNvSpPr>
            <p:nvPr/>
          </p:nvSpPr>
          <p:spPr bwMode="auto">
            <a:xfrm>
              <a:off x="2880" y="1200"/>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3" name="Rectangle 138">
              <a:extLst>
                <a:ext uri="{FF2B5EF4-FFF2-40B4-BE49-F238E27FC236}">
                  <a16:creationId xmlns:a16="http://schemas.microsoft.com/office/drawing/2014/main" id="{7D558F65-496A-6570-6C50-B13781F3ADEC}"/>
                </a:ext>
              </a:extLst>
            </p:cNvPr>
            <p:cNvSpPr>
              <a:spLocks noChangeArrowheads="1"/>
            </p:cNvSpPr>
            <p:nvPr/>
          </p:nvSpPr>
          <p:spPr bwMode="auto">
            <a:xfrm>
              <a:off x="3011"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4" name="Rectangle 139">
              <a:extLst>
                <a:ext uri="{FF2B5EF4-FFF2-40B4-BE49-F238E27FC236}">
                  <a16:creationId xmlns:a16="http://schemas.microsoft.com/office/drawing/2014/main" id="{2FB3FFEB-2F29-BA54-6887-564AD56686A9}"/>
                </a:ext>
              </a:extLst>
            </p:cNvPr>
            <p:cNvSpPr>
              <a:spLocks noChangeArrowheads="1"/>
            </p:cNvSpPr>
            <p:nvPr/>
          </p:nvSpPr>
          <p:spPr bwMode="auto">
            <a:xfrm>
              <a:off x="319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5" name="Rectangle 140">
              <a:extLst>
                <a:ext uri="{FF2B5EF4-FFF2-40B4-BE49-F238E27FC236}">
                  <a16:creationId xmlns:a16="http://schemas.microsoft.com/office/drawing/2014/main" id="{B3020AFF-CE5E-0E48-86F5-91049E11B7C2}"/>
                </a:ext>
              </a:extLst>
            </p:cNvPr>
            <p:cNvSpPr>
              <a:spLocks noChangeArrowheads="1"/>
            </p:cNvSpPr>
            <p:nvPr/>
          </p:nvSpPr>
          <p:spPr bwMode="auto">
            <a:xfrm>
              <a:off x="3372"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6" name="Rectangle 141">
              <a:extLst>
                <a:ext uri="{FF2B5EF4-FFF2-40B4-BE49-F238E27FC236}">
                  <a16:creationId xmlns:a16="http://schemas.microsoft.com/office/drawing/2014/main" id="{97E07CFA-3873-CEA2-8EF8-38D96BDB4C68}"/>
                </a:ext>
              </a:extLst>
            </p:cNvPr>
            <p:cNvSpPr>
              <a:spLocks noChangeArrowheads="1"/>
            </p:cNvSpPr>
            <p:nvPr/>
          </p:nvSpPr>
          <p:spPr bwMode="auto">
            <a:xfrm>
              <a:off x="3504"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7" name="Rectangle 142">
              <a:extLst>
                <a:ext uri="{FF2B5EF4-FFF2-40B4-BE49-F238E27FC236}">
                  <a16:creationId xmlns:a16="http://schemas.microsoft.com/office/drawing/2014/main" id="{F735F2AF-3C6F-12B7-8D5C-6C59387DC4A6}"/>
                </a:ext>
              </a:extLst>
            </p:cNvPr>
            <p:cNvSpPr>
              <a:spLocks noChangeArrowheads="1"/>
            </p:cNvSpPr>
            <p:nvPr/>
          </p:nvSpPr>
          <p:spPr bwMode="auto">
            <a:xfrm>
              <a:off x="2880" y="1584"/>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8" name="Rectangle 143">
              <a:extLst>
                <a:ext uri="{FF2B5EF4-FFF2-40B4-BE49-F238E27FC236}">
                  <a16:creationId xmlns:a16="http://schemas.microsoft.com/office/drawing/2014/main" id="{44084245-71F3-4C7D-EE79-0DB139C38A46}"/>
                </a:ext>
              </a:extLst>
            </p:cNvPr>
            <p:cNvSpPr>
              <a:spLocks noChangeArrowheads="1"/>
            </p:cNvSpPr>
            <p:nvPr/>
          </p:nvSpPr>
          <p:spPr bwMode="auto">
            <a:xfrm>
              <a:off x="3011"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49" name="Rectangle 144">
              <a:extLst>
                <a:ext uri="{FF2B5EF4-FFF2-40B4-BE49-F238E27FC236}">
                  <a16:creationId xmlns:a16="http://schemas.microsoft.com/office/drawing/2014/main" id="{895B7493-4B81-044E-AFE6-1B76F1A2C032}"/>
                </a:ext>
              </a:extLst>
            </p:cNvPr>
            <p:cNvSpPr>
              <a:spLocks noChangeArrowheads="1"/>
            </p:cNvSpPr>
            <p:nvPr/>
          </p:nvSpPr>
          <p:spPr bwMode="auto">
            <a:xfrm>
              <a:off x="319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0" name="Rectangle 145">
              <a:extLst>
                <a:ext uri="{FF2B5EF4-FFF2-40B4-BE49-F238E27FC236}">
                  <a16:creationId xmlns:a16="http://schemas.microsoft.com/office/drawing/2014/main" id="{1AA1E524-DF11-D5D8-9A0B-3547AE43A384}"/>
                </a:ext>
              </a:extLst>
            </p:cNvPr>
            <p:cNvSpPr>
              <a:spLocks noChangeArrowheads="1"/>
            </p:cNvSpPr>
            <p:nvPr/>
          </p:nvSpPr>
          <p:spPr bwMode="auto">
            <a:xfrm>
              <a:off x="3372"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1" name="Rectangle 146">
              <a:extLst>
                <a:ext uri="{FF2B5EF4-FFF2-40B4-BE49-F238E27FC236}">
                  <a16:creationId xmlns:a16="http://schemas.microsoft.com/office/drawing/2014/main" id="{56474796-7FD5-61E2-FCEA-79E17386B381}"/>
                </a:ext>
              </a:extLst>
            </p:cNvPr>
            <p:cNvSpPr>
              <a:spLocks noChangeArrowheads="1"/>
            </p:cNvSpPr>
            <p:nvPr/>
          </p:nvSpPr>
          <p:spPr bwMode="auto">
            <a:xfrm>
              <a:off x="3504"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2" name="Rectangle 147">
              <a:extLst>
                <a:ext uri="{FF2B5EF4-FFF2-40B4-BE49-F238E27FC236}">
                  <a16:creationId xmlns:a16="http://schemas.microsoft.com/office/drawing/2014/main" id="{EBCB825C-0E08-872C-B505-8AF6B0397D9F}"/>
                </a:ext>
              </a:extLst>
            </p:cNvPr>
            <p:cNvSpPr>
              <a:spLocks noChangeArrowheads="1"/>
            </p:cNvSpPr>
            <p:nvPr/>
          </p:nvSpPr>
          <p:spPr bwMode="auto">
            <a:xfrm>
              <a:off x="2880" y="1776"/>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3" name="Rectangle 148">
              <a:extLst>
                <a:ext uri="{FF2B5EF4-FFF2-40B4-BE49-F238E27FC236}">
                  <a16:creationId xmlns:a16="http://schemas.microsoft.com/office/drawing/2014/main" id="{0B181A94-72A9-DF4B-7B28-4419901113FB}"/>
                </a:ext>
              </a:extLst>
            </p:cNvPr>
            <p:cNvSpPr>
              <a:spLocks noChangeArrowheads="1"/>
            </p:cNvSpPr>
            <p:nvPr/>
          </p:nvSpPr>
          <p:spPr bwMode="auto">
            <a:xfrm>
              <a:off x="3011"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4" name="Rectangle 149">
              <a:extLst>
                <a:ext uri="{FF2B5EF4-FFF2-40B4-BE49-F238E27FC236}">
                  <a16:creationId xmlns:a16="http://schemas.microsoft.com/office/drawing/2014/main" id="{C1555116-F01B-4276-3D75-8DE66E1CA610}"/>
                </a:ext>
              </a:extLst>
            </p:cNvPr>
            <p:cNvSpPr>
              <a:spLocks noChangeArrowheads="1"/>
            </p:cNvSpPr>
            <p:nvPr/>
          </p:nvSpPr>
          <p:spPr bwMode="auto">
            <a:xfrm>
              <a:off x="3249"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5" name="Rectangle 150">
              <a:extLst>
                <a:ext uri="{FF2B5EF4-FFF2-40B4-BE49-F238E27FC236}">
                  <a16:creationId xmlns:a16="http://schemas.microsoft.com/office/drawing/2014/main" id="{E4AE5E93-AE3F-587D-639F-F2175A6F972C}"/>
                </a:ext>
              </a:extLst>
            </p:cNvPr>
            <p:cNvSpPr>
              <a:spLocks noChangeArrowheads="1"/>
            </p:cNvSpPr>
            <p:nvPr/>
          </p:nvSpPr>
          <p:spPr bwMode="auto">
            <a:xfrm>
              <a:off x="3372"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6" name="Rectangle 151">
              <a:extLst>
                <a:ext uri="{FF2B5EF4-FFF2-40B4-BE49-F238E27FC236}">
                  <a16:creationId xmlns:a16="http://schemas.microsoft.com/office/drawing/2014/main" id="{A4F1D14C-2DB1-08AB-1289-97712202B4F4}"/>
                </a:ext>
              </a:extLst>
            </p:cNvPr>
            <p:cNvSpPr>
              <a:spLocks noChangeArrowheads="1"/>
            </p:cNvSpPr>
            <p:nvPr/>
          </p:nvSpPr>
          <p:spPr bwMode="auto">
            <a:xfrm>
              <a:off x="3504"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7" name="Rectangle 152">
              <a:extLst>
                <a:ext uri="{FF2B5EF4-FFF2-40B4-BE49-F238E27FC236}">
                  <a16:creationId xmlns:a16="http://schemas.microsoft.com/office/drawing/2014/main" id="{D915754F-B958-580B-73C2-333FF7C6286E}"/>
                </a:ext>
              </a:extLst>
            </p:cNvPr>
            <p:cNvSpPr>
              <a:spLocks noChangeArrowheads="1"/>
            </p:cNvSpPr>
            <p:nvPr/>
          </p:nvSpPr>
          <p:spPr bwMode="auto">
            <a:xfrm>
              <a:off x="2880" y="1968"/>
              <a:ext cx="96" cy="144"/>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58" name="Rectangle 153">
              <a:extLst>
                <a:ext uri="{FF2B5EF4-FFF2-40B4-BE49-F238E27FC236}">
                  <a16:creationId xmlns:a16="http://schemas.microsoft.com/office/drawing/2014/main" id="{5D3E1A13-704A-6CF2-7C25-A02350CD01F1}"/>
                </a:ext>
              </a:extLst>
            </p:cNvPr>
            <p:cNvSpPr>
              <a:spLocks noChangeArrowheads="1"/>
            </p:cNvSpPr>
            <p:nvPr/>
          </p:nvSpPr>
          <p:spPr bwMode="auto">
            <a:xfrm>
              <a:off x="3144" y="1968"/>
              <a:ext cx="96" cy="192"/>
            </a:xfrm>
            <a:prstGeom prst="rect">
              <a:avLst/>
            </a:prstGeom>
            <a:solidFill>
              <a:schemeClr val="tx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Tree>
    <p:extLst>
      <p:ext uri="{BB962C8B-B14F-4D97-AF65-F5344CB8AC3E}">
        <p14:creationId xmlns:p14="http://schemas.microsoft.com/office/powerpoint/2010/main" val="202579265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140</a:t>
            </a:fld>
            <a:endParaRPr lang="en-US"/>
          </a:p>
        </p:txBody>
      </p:sp>
      <p:graphicFrame>
        <p:nvGraphicFramePr>
          <p:cNvPr id="3" name="Group 163">
            <a:extLst>
              <a:ext uri="{FF2B5EF4-FFF2-40B4-BE49-F238E27FC236}">
                <a16:creationId xmlns:a16="http://schemas.microsoft.com/office/drawing/2014/main" id="{069BE2A6-E2B4-CAD3-A1A6-E7906910AA9F}"/>
              </a:ext>
            </a:extLst>
          </p:cNvPr>
          <p:cNvGraphicFramePr>
            <a:graphicFrameLocks noGrp="1"/>
          </p:cNvGraphicFramePr>
          <p:nvPr>
            <p:extLst>
              <p:ext uri="{D42A27DB-BD31-4B8C-83A1-F6EECF244321}">
                <p14:modId xmlns:p14="http://schemas.microsoft.com/office/powerpoint/2010/main" val="2102211859"/>
              </p:ext>
            </p:extLst>
          </p:nvPr>
        </p:nvGraphicFramePr>
        <p:xfrm>
          <a:off x="656590" y="1794511"/>
          <a:ext cx="10515600" cy="4696155"/>
        </p:xfrm>
        <a:graphic>
          <a:graphicData uri="http://schemas.openxmlformats.org/drawingml/2006/table">
            <a:tbl>
              <a:tblPr/>
              <a:tblGrid>
                <a:gridCol w="3424862">
                  <a:extLst>
                    <a:ext uri="{9D8B030D-6E8A-4147-A177-3AD203B41FA5}">
                      <a16:colId xmlns:a16="http://schemas.microsoft.com/office/drawing/2014/main" val="20000"/>
                    </a:ext>
                  </a:extLst>
                </a:gridCol>
                <a:gridCol w="2592444">
                  <a:extLst>
                    <a:ext uri="{9D8B030D-6E8A-4147-A177-3AD203B41FA5}">
                      <a16:colId xmlns:a16="http://schemas.microsoft.com/office/drawing/2014/main" val="20001"/>
                    </a:ext>
                  </a:extLst>
                </a:gridCol>
                <a:gridCol w="4498294">
                  <a:extLst>
                    <a:ext uri="{9D8B030D-6E8A-4147-A177-3AD203B41FA5}">
                      <a16:colId xmlns:a16="http://schemas.microsoft.com/office/drawing/2014/main" val="20002"/>
                    </a:ext>
                  </a:extLst>
                </a:gridCol>
              </a:tblGrid>
              <a:tr h="39451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a:ln>
                            <a:noFill/>
                          </a:ln>
                          <a:solidFill>
                            <a:schemeClr val="bg1"/>
                          </a:solidFill>
                          <a:effectLst/>
                          <a:latin typeface="Roboto" panose="02000000000000000000" pitchFamily="2" charset="0"/>
                          <a:ea typeface="Roboto" panose="02000000000000000000" pitchFamily="2" charset="0"/>
                        </a:rPr>
                        <a:t>Represents</a:t>
                      </a: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1" marB="45721"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02543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Movement of output to the Customer</a:t>
                      </a: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Usually connects the last process on the map to the customer</a:t>
                      </a:r>
                    </a:p>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Usually connects </a:t>
                      </a:r>
                      <a:r>
                        <a:rPr kumimoji="0" lang="ja-JP" altLang="en-US" sz="12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rPr>
                        <a:t>“</a:t>
                      </a:r>
                      <a:r>
                        <a:rPr kumimoji="0" lang="en-US" altLang="ja-JP"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inception point</a:t>
                      </a:r>
                      <a:r>
                        <a:rPr kumimoji="0" lang="ja-JP" altLang="en-US" sz="1200" b="1" i="0" u="none" strike="noStrike" cap="none" normalizeH="0" baseline="0" dirty="0">
                          <a:ln>
                            <a:noFill/>
                          </a:ln>
                          <a:solidFill>
                            <a:schemeClr val="tx1"/>
                          </a:solidFill>
                          <a:effectLst/>
                          <a:latin typeface="Roboto" panose="02000000000000000000" pitchFamily="2" charset="0"/>
                          <a:ea typeface="MS PGothic" panose="020B0600070205080204" pitchFamily="34" charset="-128"/>
                        </a:rPr>
                        <a:t>”</a:t>
                      </a:r>
                      <a:r>
                        <a:rPr kumimoji="0" lang="en-US" altLang="ja-JP"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 to the first process on the map</a:t>
                      </a: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4325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Movement of VALUE OBJECT by push</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VALUE OBJECT is produces and pushed forward before the next process step needs it – usually based on a schedule</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3123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Queue Visual Management</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A visual management system in place to control processing of VALUE OBJECTS in administrative processes</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2209">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Physical Shipment or Mailing</a:t>
                      </a: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Note frequency of shipments</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949512">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FIFO – First In First Out Sequence</a:t>
                      </a: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Indicates a device to limit quantity and ensure FIFO flow of VALUE OBJECT between processes. Maximum number should be noted</a:t>
                      </a:r>
                      <a:endPar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1" marB="45721"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Line 96">
            <a:extLst>
              <a:ext uri="{FF2B5EF4-FFF2-40B4-BE49-F238E27FC236}">
                <a16:creationId xmlns:a16="http://schemas.microsoft.com/office/drawing/2014/main" id="{1257864D-4CD7-49B4-BB64-6D0061F22780}"/>
              </a:ext>
            </a:extLst>
          </p:cNvPr>
          <p:cNvSpPr>
            <a:spLocks noChangeShapeType="1"/>
          </p:cNvSpPr>
          <p:nvPr/>
        </p:nvSpPr>
        <p:spPr bwMode="auto">
          <a:xfrm>
            <a:off x="766127" y="3637979"/>
            <a:ext cx="2001043" cy="0"/>
          </a:xfrm>
          <a:prstGeom prst="line">
            <a:avLst/>
          </a:prstGeom>
          <a:noFill/>
          <a:ln w="7620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6" name="Line 97">
            <a:extLst>
              <a:ext uri="{FF2B5EF4-FFF2-40B4-BE49-F238E27FC236}">
                <a16:creationId xmlns:a16="http://schemas.microsoft.com/office/drawing/2014/main" id="{D51BE76E-2C8D-BE60-347B-E8BB0C144F53}"/>
              </a:ext>
            </a:extLst>
          </p:cNvPr>
          <p:cNvSpPr>
            <a:spLocks noChangeShapeType="1"/>
          </p:cNvSpPr>
          <p:nvPr/>
        </p:nvSpPr>
        <p:spPr bwMode="auto">
          <a:xfrm>
            <a:off x="785678" y="2673668"/>
            <a:ext cx="2001043" cy="0"/>
          </a:xfrm>
          <a:prstGeom prst="line">
            <a:avLst/>
          </a:prstGeom>
          <a:noFill/>
          <a:ln w="762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7" name="Line 115">
            <a:extLst>
              <a:ext uri="{FF2B5EF4-FFF2-40B4-BE49-F238E27FC236}">
                <a16:creationId xmlns:a16="http://schemas.microsoft.com/office/drawing/2014/main" id="{1746BB61-3878-46A1-5CD2-B96B2D03FD96}"/>
              </a:ext>
            </a:extLst>
          </p:cNvPr>
          <p:cNvSpPr>
            <a:spLocks noChangeShapeType="1"/>
          </p:cNvSpPr>
          <p:nvPr/>
        </p:nvSpPr>
        <p:spPr bwMode="auto">
          <a:xfrm>
            <a:off x="796784" y="5822329"/>
            <a:ext cx="32081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8" name="Line 116">
            <a:extLst>
              <a:ext uri="{FF2B5EF4-FFF2-40B4-BE49-F238E27FC236}">
                <a16:creationId xmlns:a16="http://schemas.microsoft.com/office/drawing/2014/main" id="{656EA35F-CC65-A25B-0E8A-9F54F8BFDFA0}"/>
              </a:ext>
            </a:extLst>
          </p:cNvPr>
          <p:cNvSpPr>
            <a:spLocks noChangeShapeType="1"/>
          </p:cNvSpPr>
          <p:nvPr/>
        </p:nvSpPr>
        <p:spPr bwMode="auto">
          <a:xfrm>
            <a:off x="796784" y="6182692"/>
            <a:ext cx="32081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9" name="Line 117">
            <a:extLst>
              <a:ext uri="{FF2B5EF4-FFF2-40B4-BE49-F238E27FC236}">
                <a16:creationId xmlns:a16="http://schemas.microsoft.com/office/drawing/2014/main" id="{267BB636-28A1-B7B1-71BB-9358F258DDF8}"/>
              </a:ext>
            </a:extLst>
          </p:cNvPr>
          <p:cNvSpPr>
            <a:spLocks noChangeShapeType="1"/>
          </p:cNvSpPr>
          <p:nvPr/>
        </p:nvSpPr>
        <p:spPr bwMode="auto">
          <a:xfrm>
            <a:off x="1087296" y="5992192"/>
            <a:ext cx="48608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0" name="Line 118">
            <a:extLst>
              <a:ext uri="{FF2B5EF4-FFF2-40B4-BE49-F238E27FC236}">
                <a16:creationId xmlns:a16="http://schemas.microsoft.com/office/drawing/2014/main" id="{34D7D63E-746E-3863-5209-E9417697494C}"/>
              </a:ext>
            </a:extLst>
          </p:cNvPr>
          <p:cNvSpPr>
            <a:spLocks noChangeShapeType="1"/>
          </p:cNvSpPr>
          <p:nvPr/>
        </p:nvSpPr>
        <p:spPr bwMode="auto">
          <a:xfrm>
            <a:off x="2168385" y="5993779"/>
            <a:ext cx="583300"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11" name="Text Box 119">
            <a:extLst>
              <a:ext uri="{FF2B5EF4-FFF2-40B4-BE49-F238E27FC236}">
                <a16:creationId xmlns:a16="http://schemas.microsoft.com/office/drawing/2014/main" id="{DBDB2861-86E3-E3E7-5381-1D027E7F0F99}"/>
              </a:ext>
            </a:extLst>
          </p:cNvPr>
          <p:cNvSpPr txBox="1">
            <a:spLocks noChangeArrowheads="1"/>
          </p:cNvSpPr>
          <p:nvPr/>
        </p:nvSpPr>
        <p:spPr bwMode="auto">
          <a:xfrm>
            <a:off x="1466710" y="5793754"/>
            <a:ext cx="972166"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2000" b="0">
                <a:latin typeface="Roboto" panose="02000000000000000000" pitchFamily="2" charset="0"/>
                <a:ea typeface="Roboto" panose="02000000000000000000" pitchFamily="2" charset="0"/>
              </a:rPr>
              <a:t>FIFO</a:t>
            </a:r>
          </a:p>
        </p:txBody>
      </p:sp>
      <p:sp>
        <p:nvSpPr>
          <p:cNvPr id="12" name="Text Box 120">
            <a:extLst>
              <a:ext uri="{FF2B5EF4-FFF2-40B4-BE49-F238E27FC236}">
                <a16:creationId xmlns:a16="http://schemas.microsoft.com/office/drawing/2014/main" id="{226589E3-0205-C36B-51BE-07F3DCBA8EAE}"/>
              </a:ext>
            </a:extLst>
          </p:cNvPr>
          <p:cNvSpPr txBox="1">
            <a:spLocks noChangeArrowheads="1"/>
          </p:cNvSpPr>
          <p:nvPr/>
        </p:nvSpPr>
        <p:spPr bwMode="auto">
          <a:xfrm>
            <a:off x="1141272" y="5590554"/>
            <a:ext cx="190990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eaLnBrk="1" hangingPunct="1">
              <a:lnSpc>
                <a:spcPct val="100000"/>
              </a:lnSpc>
              <a:spcBef>
                <a:spcPct val="0"/>
              </a:spcBef>
              <a:spcAft>
                <a:spcPct val="0"/>
              </a:spcAft>
              <a:buClrTx/>
              <a:buSzTx/>
              <a:buFontTx/>
              <a:buNone/>
            </a:pPr>
            <a:r>
              <a:rPr lang="en-US" altLang="en-US" sz="1000" b="0" dirty="0">
                <a:latin typeface="Roboto" panose="02000000000000000000" pitchFamily="2" charset="0"/>
                <a:ea typeface="Roboto" panose="02000000000000000000" pitchFamily="2" charset="0"/>
              </a:rPr>
              <a:t>Max frequency/quantity</a:t>
            </a:r>
          </a:p>
        </p:txBody>
      </p:sp>
      <p:grpSp>
        <p:nvGrpSpPr>
          <p:cNvPr id="13" name="Group 133">
            <a:extLst>
              <a:ext uri="{FF2B5EF4-FFF2-40B4-BE49-F238E27FC236}">
                <a16:creationId xmlns:a16="http://schemas.microsoft.com/office/drawing/2014/main" id="{76B5BE8D-46A0-315F-8069-2FFC763517A9}"/>
              </a:ext>
            </a:extLst>
          </p:cNvPr>
          <p:cNvGrpSpPr>
            <a:grpSpLocks/>
          </p:cNvGrpSpPr>
          <p:nvPr/>
        </p:nvGrpSpPr>
        <p:grpSpPr bwMode="auto">
          <a:xfrm>
            <a:off x="1262755" y="5056478"/>
            <a:ext cx="727100" cy="338783"/>
            <a:chOff x="513" y="2099"/>
            <a:chExt cx="374" cy="292"/>
          </a:xfrm>
        </p:grpSpPr>
        <p:grpSp>
          <p:nvGrpSpPr>
            <p:cNvPr id="14" name="Group 134">
              <a:extLst>
                <a:ext uri="{FF2B5EF4-FFF2-40B4-BE49-F238E27FC236}">
                  <a16:creationId xmlns:a16="http://schemas.microsoft.com/office/drawing/2014/main" id="{DB3E4B31-3960-49AD-4EB6-C3DBE46967AF}"/>
                </a:ext>
              </a:extLst>
            </p:cNvPr>
            <p:cNvGrpSpPr>
              <a:grpSpLocks/>
            </p:cNvGrpSpPr>
            <p:nvPr/>
          </p:nvGrpSpPr>
          <p:grpSpPr bwMode="auto">
            <a:xfrm>
              <a:off x="550" y="2121"/>
              <a:ext cx="337" cy="236"/>
              <a:chOff x="536" y="3744"/>
              <a:chExt cx="415" cy="261"/>
            </a:xfrm>
          </p:grpSpPr>
          <p:sp>
            <p:nvSpPr>
              <p:cNvPr id="16" name="Rectangle 135">
                <a:extLst>
                  <a:ext uri="{FF2B5EF4-FFF2-40B4-BE49-F238E27FC236}">
                    <a16:creationId xmlns:a16="http://schemas.microsoft.com/office/drawing/2014/main" id="{1033CAF2-9732-6963-7D9E-5E50C856AB69}"/>
                  </a:ext>
                </a:extLst>
              </p:cNvPr>
              <p:cNvSpPr>
                <a:spLocks noChangeArrowheads="1"/>
              </p:cNvSpPr>
              <p:nvPr/>
            </p:nvSpPr>
            <p:spPr bwMode="auto">
              <a:xfrm>
                <a:off x="536" y="3744"/>
                <a:ext cx="286" cy="196"/>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7" name="Rectangle 136">
                <a:extLst>
                  <a:ext uri="{FF2B5EF4-FFF2-40B4-BE49-F238E27FC236}">
                    <a16:creationId xmlns:a16="http://schemas.microsoft.com/office/drawing/2014/main" id="{A34EAFDC-9033-A939-65DB-5F722678643E}"/>
                  </a:ext>
                </a:extLst>
              </p:cNvPr>
              <p:cNvSpPr>
                <a:spLocks noChangeArrowheads="1"/>
              </p:cNvSpPr>
              <p:nvPr/>
            </p:nvSpPr>
            <p:spPr bwMode="auto">
              <a:xfrm>
                <a:off x="824" y="3809"/>
                <a:ext cx="127" cy="131"/>
              </a:xfrm>
              <a:prstGeom prst="rect">
                <a:avLst/>
              </a:prstGeom>
              <a:solidFill>
                <a:schemeClr val="bg1"/>
              </a:solidFill>
              <a:ln w="9525">
                <a:solidFill>
                  <a:schemeClr val="tx1"/>
                </a:solidFill>
                <a:miter lim="800000"/>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8" name="Oval 137">
                <a:extLst>
                  <a:ext uri="{FF2B5EF4-FFF2-40B4-BE49-F238E27FC236}">
                    <a16:creationId xmlns:a16="http://schemas.microsoft.com/office/drawing/2014/main" id="{459C9014-DA8A-B335-3776-C580CB9874FD}"/>
                  </a:ext>
                </a:extLst>
              </p:cNvPr>
              <p:cNvSpPr>
                <a:spLocks noChangeArrowheads="1"/>
              </p:cNvSpPr>
              <p:nvPr/>
            </p:nvSpPr>
            <p:spPr bwMode="auto">
              <a:xfrm>
                <a:off x="854"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19" name="Oval 138">
                <a:extLst>
                  <a:ext uri="{FF2B5EF4-FFF2-40B4-BE49-F238E27FC236}">
                    <a16:creationId xmlns:a16="http://schemas.microsoft.com/office/drawing/2014/main" id="{E14DC26F-BD7F-BDC2-2E4C-6C3B2AD0DE43}"/>
                  </a:ext>
                </a:extLst>
              </p:cNvPr>
              <p:cNvSpPr>
                <a:spLocks noChangeArrowheads="1"/>
              </p:cNvSpPr>
              <p:nvPr/>
            </p:nvSpPr>
            <p:spPr bwMode="auto">
              <a:xfrm>
                <a:off x="568" y="3940"/>
                <a:ext cx="63" cy="65"/>
              </a:xfrm>
              <a:prstGeom prst="ellipse">
                <a:avLst/>
              </a:prstGeom>
              <a:solidFill>
                <a:schemeClr val="tx1"/>
              </a:solidFill>
              <a:ln w="9525">
                <a:solidFill>
                  <a:schemeClr val="tx1"/>
                </a:solidFill>
                <a:round/>
                <a:headEnd/>
                <a:tailEnd/>
              </a:ln>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sp>
          <p:nvSpPr>
            <p:cNvPr id="15" name="Text Box 139">
              <a:extLst>
                <a:ext uri="{FF2B5EF4-FFF2-40B4-BE49-F238E27FC236}">
                  <a16:creationId xmlns:a16="http://schemas.microsoft.com/office/drawing/2014/main" id="{FCC1701F-8413-E9B8-B85B-BB194A7EF945}"/>
                </a:ext>
              </a:extLst>
            </p:cNvPr>
            <p:cNvSpPr txBox="1">
              <a:spLocks noChangeArrowheads="1"/>
            </p:cNvSpPr>
            <p:nvPr/>
          </p:nvSpPr>
          <p:spPr bwMode="auto">
            <a:xfrm>
              <a:off x="513" y="2099"/>
              <a:ext cx="30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100000"/>
                </a:lnSpc>
                <a:spcBef>
                  <a:spcPct val="0"/>
                </a:spcBef>
                <a:spcAft>
                  <a:spcPct val="0"/>
                </a:spcAft>
                <a:buClrTx/>
                <a:buSzTx/>
                <a:buFontTx/>
                <a:buNone/>
              </a:pPr>
              <a:r>
                <a:rPr lang="en-US" altLang="en-US" sz="800" b="0" dirty="0">
                  <a:latin typeface="Roboto" panose="02000000000000000000" pitchFamily="2" charset="0"/>
                  <a:ea typeface="Roboto" panose="02000000000000000000" pitchFamily="2" charset="0"/>
                </a:rPr>
                <a:t>USPS Daily</a:t>
              </a:r>
            </a:p>
          </p:txBody>
        </p:sp>
      </p:grpSp>
      <p:grpSp>
        <p:nvGrpSpPr>
          <p:cNvPr id="20" name="Group 157">
            <a:extLst>
              <a:ext uri="{FF2B5EF4-FFF2-40B4-BE49-F238E27FC236}">
                <a16:creationId xmlns:a16="http://schemas.microsoft.com/office/drawing/2014/main" id="{EC007A49-BBC9-5703-F389-F0973703267C}"/>
              </a:ext>
            </a:extLst>
          </p:cNvPr>
          <p:cNvGrpSpPr>
            <a:grpSpLocks/>
          </p:cNvGrpSpPr>
          <p:nvPr/>
        </p:nvGrpSpPr>
        <p:grpSpPr bwMode="auto">
          <a:xfrm>
            <a:off x="1307906" y="4250472"/>
            <a:ext cx="917483" cy="473838"/>
            <a:chOff x="598" y="2506"/>
            <a:chExt cx="216" cy="188"/>
          </a:xfrm>
        </p:grpSpPr>
        <p:sp>
          <p:nvSpPr>
            <p:cNvPr id="21" name="AutoShape 145">
              <a:extLst>
                <a:ext uri="{FF2B5EF4-FFF2-40B4-BE49-F238E27FC236}">
                  <a16:creationId xmlns:a16="http://schemas.microsoft.com/office/drawing/2014/main" id="{C83FE5F8-BAF7-F5CD-FA38-76329928717C}"/>
                </a:ext>
              </a:extLst>
            </p:cNvPr>
            <p:cNvSpPr>
              <a:spLocks/>
            </p:cNvSpPr>
            <p:nvPr/>
          </p:nvSpPr>
          <p:spPr bwMode="auto">
            <a:xfrm rot="-5400000">
              <a:off x="698" y="2406"/>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2" name="AutoShape 146">
              <a:extLst>
                <a:ext uri="{FF2B5EF4-FFF2-40B4-BE49-F238E27FC236}">
                  <a16:creationId xmlns:a16="http://schemas.microsoft.com/office/drawing/2014/main" id="{5690B4D6-ABE2-B499-18D4-E317D43AACF7}"/>
                </a:ext>
              </a:extLst>
            </p:cNvPr>
            <p:cNvSpPr>
              <a:spLocks/>
            </p:cNvSpPr>
            <p:nvPr/>
          </p:nvSpPr>
          <p:spPr bwMode="auto">
            <a:xfrm rot="-5400000">
              <a:off x="698" y="2414"/>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3" name="AutoShape 147">
              <a:extLst>
                <a:ext uri="{FF2B5EF4-FFF2-40B4-BE49-F238E27FC236}">
                  <a16:creationId xmlns:a16="http://schemas.microsoft.com/office/drawing/2014/main" id="{DB2B84CF-D0CE-F0CF-773B-4C4ED8AF1D80}"/>
                </a:ext>
              </a:extLst>
            </p:cNvPr>
            <p:cNvSpPr>
              <a:spLocks/>
            </p:cNvSpPr>
            <p:nvPr/>
          </p:nvSpPr>
          <p:spPr bwMode="auto">
            <a:xfrm rot="-5400000">
              <a:off x="698" y="2422"/>
              <a:ext cx="16" cy="216"/>
            </a:xfrm>
            <a:prstGeom prst="leftBracket">
              <a:avLst>
                <a:gd name="adj" fmla="val 1125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
          <p:nvSpPr>
            <p:cNvPr id="24" name="AutoShape 152">
              <a:extLst>
                <a:ext uri="{FF2B5EF4-FFF2-40B4-BE49-F238E27FC236}">
                  <a16:creationId xmlns:a16="http://schemas.microsoft.com/office/drawing/2014/main" id="{9E825E9F-E1AD-D7F5-AF86-688D21EB277B}"/>
                </a:ext>
              </a:extLst>
            </p:cNvPr>
            <p:cNvSpPr>
              <a:spLocks noChangeArrowheads="1"/>
            </p:cNvSpPr>
            <p:nvPr/>
          </p:nvSpPr>
          <p:spPr bwMode="auto">
            <a:xfrm>
              <a:off x="598" y="2548"/>
              <a:ext cx="216" cy="146"/>
            </a:xfrm>
            <a:prstGeom prst="flowChartMerge">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grpSp>
          <p:nvGrpSpPr>
            <p:cNvPr id="25" name="Group 153">
              <a:extLst>
                <a:ext uri="{FF2B5EF4-FFF2-40B4-BE49-F238E27FC236}">
                  <a16:creationId xmlns:a16="http://schemas.microsoft.com/office/drawing/2014/main" id="{4149EF08-C24D-7C41-1AB4-3C44CBDDD4E0}"/>
                </a:ext>
              </a:extLst>
            </p:cNvPr>
            <p:cNvGrpSpPr>
              <a:grpSpLocks/>
            </p:cNvGrpSpPr>
            <p:nvPr/>
          </p:nvGrpSpPr>
          <p:grpSpPr bwMode="auto">
            <a:xfrm>
              <a:off x="654" y="2556"/>
              <a:ext cx="140" cy="57"/>
              <a:chOff x="1440" y="1520"/>
              <a:chExt cx="156" cy="64"/>
            </a:xfrm>
          </p:grpSpPr>
          <p:sp>
            <p:nvSpPr>
              <p:cNvPr id="26" name="Line 154">
                <a:extLst>
                  <a:ext uri="{FF2B5EF4-FFF2-40B4-BE49-F238E27FC236}">
                    <a16:creationId xmlns:a16="http://schemas.microsoft.com/office/drawing/2014/main" id="{3FDD57B0-EB4D-5A8E-0B6E-0B070319591D}"/>
                  </a:ext>
                </a:extLst>
              </p:cNvPr>
              <p:cNvSpPr>
                <a:spLocks noChangeShapeType="1"/>
              </p:cNvSpPr>
              <p:nvPr/>
            </p:nvSpPr>
            <p:spPr bwMode="auto">
              <a:xfrm flipV="1">
                <a:off x="1440" y="1536"/>
                <a:ext cx="78"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sp>
            <p:nvSpPr>
              <p:cNvPr id="27" name="Line 155">
                <a:extLst>
                  <a:ext uri="{FF2B5EF4-FFF2-40B4-BE49-F238E27FC236}">
                    <a16:creationId xmlns:a16="http://schemas.microsoft.com/office/drawing/2014/main" id="{66443468-CB55-BD48-D11A-4B8A322F699D}"/>
                  </a:ext>
                </a:extLst>
              </p:cNvPr>
              <p:cNvSpPr>
                <a:spLocks noChangeShapeType="1"/>
              </p:cNvSpPr>
              <p:nvPr/>
            </p:nvSpPr>
            <p:spPr bwMode="auto">
              <a:xfrm flipV="1">
                <a:off x="1518" y="1520"/>
                <a:ext cx="78" cy="4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latin typeface="Roboto" panose="02000000000000000000" pitchFamily="2" charset="0"/>
                  <a:ea typeface="Roboto" panose="02000000000000000000" pitchFamily="2" charset="0"/>
                </a:endParaRPr>
              </a:p>
            </p:txBody>
          </p:sp>
          <p:cxnSp>
            <p:nvCxnSpPr>
              <p:cNvPr id="28" name="AutoShape 156">
                <a:extLst>
                  <a:ext uri="{FF2B5EF4-FFF2-40B4-BE49-F238E27FC236}">
                    <a16:creationId xmlns:a16="http://schemas.microsoft.com/office/drawing/2014/main" id="{55B9B4B5-0A12-97ED-76F2-A1D59F0DB033}"/>
                  </a:ext>
                </a:extLst>
              </p:cNvPr>
              <p:cNvCxnSpPr>
                <a:cxnSpLocks noChangeShapeType="1"/>
                <a:stCxn id="26" idx="1"/>
                <a:endCxn id="27" idx="0"/>
              </p:cNvCxnSpPr>
              <p:nvPr/>
            </p:nvCxnSpPr>
            <p:spPr bwMode="auto">
              <a:xfrm>
                <a:off x="1518" y="1536"/>
                <a:ext cx="0" cy="3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spTree>
    <p:extLst>
      <p:ext uri="{BB962C8B-B14F-4D97-AF65-F5344CB8AC3E}">
        <p14:creationId xmlns:p14="http://schemas.microsoft.com/office/powerpoint/2010/main" val="37992775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077D53-AE4C-E910-8799-DEEA2CC0A5FC}"/>
              </a:ext>
            </a:extLst>
          </p:cNvPr>
          <p:cNvSpPr>
            <a:spLocks noGrp="1"/>
          </p:cNvSpPr>
          <p:nvPr>
            <p:ph type="title"/>
          </p:nvPr>
        </p:nvSpPr>
        <p:spPr/>
        <p:txBody>
          <a:bodyPr/>
          <a:lstStyle/>
          <a:p>
            <a:r>
              <a:rPr lang="en-US" dirty="0"/>
              <a:t>VSM Icons</a:t>
            </a:r>
          </a:p>
        </p:txBody>
      </p:sp>
      <p:sp>
        <p:nvSpPr>
          <p:cNvPr id="4" name="Slide Number Placeholder 3">
            <a:extLst>
              <a:ext uri="{FF2B5EF4-FFF2-40B4-BE49-F238E27FC236}">
                <a16:creationId xmlns:a16="http://schemas.microsoft.com/office/drawing/2014/main" id="{664678EF-C2ED-ABA5-0EEC-F0AB19692545}"/>
              </a:ext>
            </a:extLst>
          </p:cNvPr>
          <p:cNvSpPr>
            <a:spLocks noGrp="1"/>
          </p:cNvSpPr>
          <p:nvPr>
            <p:ph type="sldNum" sz="quarter" idx="4294967295"/>
          </p:nvPr>
        </p:nvSpPr>
        <p:spPr>
          <a:xfrm>
            <a:off x="8595078" y="6333148"/>
            <a:ext cx="2743200" cy="365125"/>
          </a:xfrm>
        </p:spPr>
        <p:txBody>
          <a:bodyPr/>
          <a:lstStyle/>
          <a:p>
            <a:fld id="{CC6D4273-7FC1-0947-B9FE-19CB3C0D1FB6}" type="slidenum">
              <a:rPr lang="en-US" smtClean="0"/>
              <a:t>141</a:t>
            </a:fld>
            <a:endParaRPr lang="en-US"/>
          </a:p>
        </p:txBody>
      </p:sp>
      <p:graphicFrame>
        <p:nvGraphicFramePr>
          <p:cNvPr id="3" name="Group 129">
            <a:extLst>
              <a:ext uri="{FF2B5EF4-FFF2-40B4-BE49-F238E27FC236}">
                <a16:creationId xmlns:a16="http://schemas.microsoft.com/office/drawing/2014/main" id="{EF574A23-21B2-46B2-8617-F4F44EE3EEC1}"/>
              </a:ext>
            </a:extLst>
          </p:cNvPr>
          <p:cNvGraphicFramePr>
            <a:graphicFrameLocks noGrp="1"/>
          </p:cNvGraphicFramePr>
          <p:nvPr>
            <p:extLst>
              <p:ext uri="{D42A27DB-BD31-4B8C-83A1-F6EECF244321}">
                <p14:modId xmlns:p14="http://schemas.microsoft.com/office/powerpoint/2010/main" val="804638371"/>
              </p:ext>
            </p:extLst>
          </p:nvPr>
        </p:nvGraphicFramePr>
        <p:xfrm>
          <a:off x="838200" y="2038712"/>
          <a:ext cx="10400818" cy="3576017"/>
        </p:xfrm>
        <a:graphic>
          <a:graphicData uri="http://schemas.openxmlformats.org/drawingml/2006/table">
            <a:tbl>
              <a:tblPr/>
              <a:tblGrid>
                <a:gridCol w="3387478">
                  <a:extLst>
                    <a:ext uri="{9D8B030D-6E8A-4147-A177-3AD203B41FA5}">
                      <a16:colId xmlns:a16="http://schemas.microsoft.com/office/drawing/2014/main" val="20000"/>
                    </a:ext>
                  </a:extLst>
                </a:gridCol>
                <a:gridCol w="2564146">
                  <a:extLst>
                    <a:ext uri="{9D8B030D-6E8A-4147-A177-3AD203B41FA5}">
                      <a16:colId xmlns:a16="http://schemas.microsoft.com/office/drawing/2014/main" val="20001"/>
                    </a:ext>
                  </a:extLst>
                </a:gridCol>
                <a:gridCol w="4449194">
                  <a:extLst>
                    <a:ext uri="{9D8B030D-6E8A-4147-A177-3AD203B41FA5}">
                      <a16:colId xmlns:a16="http://schemas.microsoft.com/office/drawing/2014/main" val="20002"/>
                    </a:ext>
                  </a:extLst>
                </a:gridCol>
              </a:tblGrid>
              <a:tr h="393728">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VSM Icon</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Represents</a:t>
                      </a: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50000"/>
                        </a:spcBef>
                        <a:spcAft>
                          <a:spcPct val="50000"/>
                        </a:spcAft>
                        <a:buClr>
                          <a:srgbClr val="006699"/>
                        </a:buClr>
                        <a:buSzPct val="40000"/>
                        <a:buFont typeface="Wingdings" panose="05000000000000000000" pitchFamily="2" charset="2"/>
                        <a:buNone/>
                        <a:tabLst/>
                      </a:pPr>
                      <a:r>
                        <a:rPr kumimoji="0" lang="en-US" altLang="en-US" sz="1800" b="1" i="0" u="none" strike="noStrike" cap="none" normalizeH="0" baseline="0" dirty="0">
                          <a:ln>
                            <a:noFill/>
                          </a:ln>
                          <a:solidFill>
                            <a:schemeClr val="bg1"/>
                          </a:solidFill>
                          <a:effectLst/>
                          <a:latin typeface="Roboto" panose="02000000000000000000" pitchFamily="2" charset="0"/>
                          <a:ea typeface="Roboto" panose="02000000000000000000" pitchFamily="2" charset="0"/>
                        </a:rPr>
                        <a:t>Notes</a:t>
                      </a:r>
                      <a:endParaRPr kumimoji="0" lang="en-US" altLang="en-US" sz="1400" b="1" i="0" u="none" strike="noStrike" cap="none" normalizeH="0" baseline="0" dirty="0">
                        <a:ln>
                          <a:noFill/>
                        </a:ln>
                        <a:solidFill>
                          <a:schemeClr val="bg1"/>
                        </a:solidFill>
                        <a:effectLst/>
                        <a:latin typeface="Roboto" panose="02000000000000000000" pitchFamily="2" charset="0"/>
                        <a:ea typeface="Roboto" panose="02000000000000000000" pitchFamily="2" charset="0"/>
                      </a:endParaRPr>
                    </a:p>
                  </a:txBody>
                  <a:tcPr marT="45723" marB="45723" anchor="b" horzOverflow="overflow">
                    <a:lnL>
                      <a:noFill/>
                    </a:lnL>
                    <a:lnR>
                      <a:noFill/>
                    </a:lnR>
                    <a:lnT>
                      <a:noFill/>
                    </a:lnT>
                    <a:lnB w="381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628441">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Manual information flow</a:t>
                      </a: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Pull of materials – usually from a supermarket</a:t>
                      </a:r>
                      <a:endParaRPr kumimoji="0" lang="en-US" alt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87496">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Electronic information flow</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Indicates a device to limit quantity and ensure FIFO flow of VALUE OBJECT between processes. The maximum number should be noted</a:t>
                      </a:r>
                      <a:endParaRPr kumimoji="0" lang="en-US" alt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r>
                        <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rPr>
                        <a:t>Kaizen Lightning Burst</a:t>
                      </a: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71450" marR="0" lvl="0" indent="-171450" algn="l" defTabSz="914400" rtl="0" eaLnBrk="0" fontAlgn="base" latinLnBrk="0" hangingPunct="0">
                        <a:lnSpc>
                          <a:spcPct val="115000"/>
                        </a:lnSpc>
                        <a:spcBef>
                          <a:spcPct val="20000"/>
                        </a:spcBef>
                        <a:spcAft>
                          <a:spcPct val="20000"/>
                        </a:spcAft>
                        <a:buClr>
                          <a:schemeClr val="tx1"/>
                        </a:buClr>
                        <a:buSzPct val="90000"/>
                        <a:buFont typeface="Arial" panose="020B0604020202020204" pitchFamily="34" charset="0"/>
                        <a:buChar char="•"/>
                        <a:tabLst/>
                      </a:pPr>
                      <a:r>
                        <a:rPr kumimoji="0" lang="en-US" altLang="en-US" sz="1400" b="1" i="0" u="none" strike="noStrike" cap="none" normalizeH="0" baseline="0" dirty="0">
                          <a:ln>
                            <a:noFill/>
                          </a:ln>
                          <a:solidFill>
                            <a:schemeClr val="tx1"/>
                          </a:solidFill>
                          <a:effectLst/>
                          <a:latin typeface="Roboto" panose="02000000000000000000" pitchFamily="2" charset="0"/>
                          <a:ea typeface="Roboto" panose="02000000000000000000" pitchFamily="2" charset="0"/>
                        </a:rPr>
                        <a:t>Highlights improvement needs at specific processes that are critical to achieving the value stream vision</a:t>
                      </a:r>
                      <a:endParaRPr kumimoji="0" lang="en-US" altLang="en-US" sz="18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705">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0" marR="0" lvl="0" indent="0" algn="l" defTabSz="914400" rtl="0" eaLnBrk="0" fontAlgn="base" latinLnBrk="0" hangingPunct="0">
                        <a:lnSpc>
                          <a:spcPct val="115000"/>
                        </a:lnSpc>
                        <a:spcBef>
                          <a:spcPct val="20000"/>
                        </a:spcBef>
                        <a:spcAft>
                          <a:spcPct val="20000"/>
                        </a:spcAft>
                        <a:buClr>
                          <a:srgbClr val="006699"/>
                        </a:buClr>
                        <a:buSzPct val="40000"/>
                        <a:buFont typeface="Wingdings" panose="05000000000000000000" pitchFamily="2" charset="2"/>
                        <a:buNone/>
                        <a:tabLst/>
                      </a:pPr>
                      <a:endParaRPr kumimoji="0" lang="en-US" altLang="en-US" sz="1600" b="1" i="0" u="none" strike="noStrike" cap="none" normalizeH="0" baseline="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marL="115888" indent="-115888" algn="l">
                        <a:lnSpc>
                          <a:spcPct val="115000"/>
                        </a:lnSpc>
                        <a:spcBef>
                          <a:spcPct val="50000"/>
                        </a:spcBef>
                        <a:spcAft>
                          <a:spcPct val="50000"/>
                        </a:spcAft>
                        <a:buClr>
                          <a:srgbClr val="006699"/>
                        </a:buClr>
                        <a:buSzPct val="40000"/>
                        <a:buFont typeface="Wingdings" panose="05000000000000000000" pitchFamily="2" charset="2"/>
                        <a:defRPr sz="2800" b="1">
                          <a:solidFill>
                            <a:schemeClr val="tx1"/>
                          </a:solidFill>
                          <a:latin typeface="Arial" panose="020B0604020202020204" pitchFamily="34" charset="0"/>
                          <a:ea typeface="MS PGothic" panose="020B0600070205080204" pitchFamily="34" charset="-128"/>
                        </a:defRPr>
                      </a:lvl1pPr>
                      <a:lvl2pPr marL="742950" indent="-285750" algn="l">
                        <a:lnSpc>
                          <a:spcPct val="115000"/>
                        </a:lnSpc>
                        <a:spcBef>
                          <a:spcPct val="50000"/>
                        </a:spcBef>
                        <a:spcAft>
                          <a:spcPct val="50000"/>
                        </a:spcAft>
                        <a:buClr>
                          <a:srgbClr val="006699"/>
                        </a:buClr>
                        <a:buSzPct val="40000"/>
                        <a:buFont typeface="Wingdings" panose="05000000000000000000" pitchFamily="2" charset="2"/>
                        <a:defRPr sz="1400" b="1">
                          <a:solidFill>
                            <a:schemeClr val="tx1"/>
                          </a:solidFill>
                          <a:latin typeface="Arial" panose="020B0604020202020204" pitchFamily="34" charset="0"/>
                          <a:ea typeface="MS PGothic" panose="020B0600070205080204" pitchFamily="34" charset="-128"/>
                        </a:defRPr>
                      </a:lvl2pPr>
                      <a:lvl3pPr marL="1143000" indent="-228600" algn="l">
                        <a:lnSpc>
                          <a:spcPct val="115000"/>
                        </a:lnSpc>
                        <a:spcBef>
                          <a:spcPct val="50000"/>
                        </a:spcBef>
                        <a:spcAft>
                          <a:spcPct val="50000"/>
                        </a:spcAft>
                        <a:buClr>
                          <a:srgbClr val="006699"/>
                        </a:buClr>
                        <a:buSzPct val="40000"/>
                        <a:defRPr sz="1200" b="1">
                          <a:solidFill>
                            <a:schemeClr val="tx1"/>
                          </a:solidFill>
                          <a:latin typeface="Arial" panose="020B0604020202020204" pitchFamily="34" charset="0"/>
                          <a:ea typeface="MS PGothic" panose="020B0600070205080204" pitchFamily="34" charset="-128"/>
                        </a:defRPr>
                      </a:lvl3pPr>
                      <a:lvl4pPr marL="1600200" indent="-228600" algn="l">
                        <a:buClr>
                          <a:schemeClr val="tx1"/>
                        </a:buClr>
                        <a:defRPr>
                          <a:solidFill>
                            <a:schemeClr val="tx1"/>
                          </a:solidFill>
                          <a:latin typeface="Book Antiqua" panose="02040602050305030304" pitchFamily="18" charset="0"/>
                          <a:ea typeface="MS PGothic" panose="020B0600070205080204" pitchFamily="34" charset="-128"/>
                        </a:defRPr>
                      </a:lvl4pPr>
                      <a:lvl5pPr marL="2057400" indent="-228600" algn="l">
                        <a:buClr>
                          <a:schemeClr val="tx1"/>
                        </a:buClr>
                        <a:defRPr>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defRPr>
                          <a:solidFill>
                            <a:schemeClr val="tx1"/>
                          </a:solidFill>
                          <a:latin typeface="Book Antiqua" panose="02040602050305030304" pitchFamily="18" charset="0"/>
                          <a:ea typeface="MS PGothic" panose="020B0600070205080204" pitchFamily="34" charset="-128"/>
                        </a:defRPr>
                      </a:lvl9pPr>
                    </a:lstStyle>
                    <a:p>
                      <a:pPr marL="115888" marR="0" lvl="0" indent="-115888" algn="l" defTabSz="914400" rtl="0" eaLnBrk="0" fontAlgn="base" latinLnBrk="0" hangingPunct="0">
                        <a:lnSpc>
                          <a:spcPct val="115000"/>
                        </a:lnSpc>
                        <a:spcBef>
                          <a:spcPct val="20000"/>
                        </a:spcBef>
                        <a:spcAft>
                          <a:spcPct val="20000"/>
                        </a:spcAft>
                        <a:buClr>
                          <a:srgbClr val="006699"/>
                        </a:buClr>
                        <a:buSzPct val="90000"/>
                        <a:buFont typeface="Wingdings" panose="05000000000000000000" pitchFamily="2" charset="2"/>
                        <a:buChar char="§"/>
                        <a:tabLst/>
                      </a:pPr>
                      <a:endParaRPr kumimoji="0" lang="en-US" altLang="en-US" sz="1200" b="1" i="0" u="none" strike="noStrike" cap="none" normalizeH="0" baseline="0" dirty="0">
                        <a:ln>
                          <a:noFill/>
                        </a:ln>
                        <a:solidFill>
                          <a:schemeClr val="tx1"/>
                        </a:solidFill>
                        <a:effectLst/>
                        <a:latin typeface="Roboto" panose="02000000000000000000" pitchFamily="2" charset="0"/>
                        <a:ea typeface="Roboto" panose="02000000000000000000" pitchFamily="2" charset="0"/>
                      </a:endParaRPr>
                    </a:p>
                  </a:txBody>
                  <a:tcPr marT="45723" marB="45723"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5" name="Line 90">
            <a:extLst>
              <a:ext uri="{FF2B5EF4-FFF2-40B4-BE49-F238E27FC236}">
                <a16:creationId xmlns:a16="http://schemas.microsoft.com/office/drawing/2014/main" id="{97B3F637-22C0-E102-E1CE-EECA884BA4A0}"/>
              </a:ext>
            </a:extLst>
          </p:cNvPr>
          <p:cNvSpPr>
            <a:spLocks noChangeShapeType="1"/>
          </p:cNvSpPr>
          <p:nvPr/>
        </p:nvSpPr>
        <p:spPr bwMode="auto">
          <a:xfrm>
            <a:off x="1157288" y="2759437"/>
            <a:ext cx="2179524"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nvGrpSpPr>
          <p:cNvPr id="6" name="Group 95">
            <a:extLst>
              <a:ext uri="{FF2B5EF4-FFF2-40B4-BE49-F238E27FC236}">
                <a16:creationId xmlns:a16="http://schemas.microsoft.com/office/drawing/2014/main" id="{27E73A3D-6ECD-AD3E-2068-33216C6C120F}"/>
              </a:ext>
            </a:extLst>
          </p:cNvPr>
          <p:cNvGrpSpPr>
            <a:grpSpLocks/>
          </p:cNvGrpSpPr>
          <p:nvPr/>
        </p:nvGrpSpPr>
        <p:grpSpPr bwMode="auto">
          <a:xfrm>
            <a:off x="1127125" y="3283312"/>
            <a:ext cx="2143466" cy="376238"/>
            <a:chOff x="466" y="3301"/>
            <a:chExt cx="1216" cy="246"/>
          </a:xfrm>
        </p:grpSpPr>
        <p:sp>
          <p:nvSpPr>
            <p:cNvPr id="7" name="Line 91">
              <a:extLst>
                <a:ext uri="{FF2B5EF4-FFF2-40B4-BE49-F238E27FC236}">
                  <a16:creationId xmlns:a16="http://schemas.microsoft.com/office/drawing/2014/main" id="{EABA032A-B077-9233-EA71-040B8EA588AF}"/>
                </a:ext>
              </a:extLst>
            </p:cNvPr>
            <p:cNvSpPr>
              <a:spLocks noChangeShapeType="1"/>
            </p:cNvSpPr>
            <p:nvPr/>
          </p:nvSpPr>
          <p:spPr bwMode="auto">
            <a:xfrm>
              <a:off x="466" y="3301"/>
              <a:ext cx="585" cy="0"/>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8" name="Line 93">
              <a:extLst>
                <a:ext uri="{FF2B5EF4-FFF2-40B4-BE49-F238E27FC236}">
                  <a16:creationId xmlns:a16="http://schemas.microsoft.com/office/drawing/2014/main" id="{45401F8F-41D3-7817-1CBE-60E5DFA99B8C}"/>
                </a:ext>
              </a:extLst>
            </p:cNvPr>
            <p:cNvSpPr>
              <a:spLocks noChangeShapeType="1"/>
            </p:cNvSpPr>
            <p:nvPr/>
          </p:nvSpPr>
          <p:spPr bwMode="auto">
            <a:xfrm>
              <a:off x="942" y="3547"/>
              <a:ext cx="740" cy="0"/>
            </a:xfrm>
            <a:prstGeom prst="line">
              <a:avLst/>
            </a:prstGeom>
            <a:noFill/>
            <a:ln w="38100" cap="sq">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sp>
          <p:nvSpPr>
            <p:cNvPr id="9" name="Line 94">
              <a:extLst>
                <a:ext uri="{FF2B5EF4-FFF2-40B4-BE49-F238E27FC236}">
                  <a16:creationId xmlns:a16="http://schemas.microsoft.com/office/drawing/2014/main" id="{AA2F2D14-B8F6-B4F8-4FF0-247E132E9628}"/>
                </a:ext>
              </a:extLst>
            </p:cNvPr>
            <p:cNvSpPr>
              <a:spLocks noChangeShapeType="1"/>
            </p:cNvSpPr>
            <p:nvPr/>
          </p:nvSpPr>
          <p:spPr bwMode="auto">
            <a:xfrm flipH="1">
              <a:off x="942" y="3301"/>
              <a:ext cx="100" cy="237"/>
            </a:xfrm>
            <a:prstGeom prst="line">
              <a:avLst/>
            </a:prstGeom>
            <a:noFill/>
            <a:ln w="38100" cap="sq">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latin typeface="Roboto" panose="02000000000000000000" pitchFamily="2" charset="0"/>
                <a:ea typeface="Roboto" panose="02000000000000000000" pitchFamily="2" charset="0"/>
              </a:endParaRPr>
            </a:p>
          </p:txBody>
        </p:sp>
      </p:grpSp>
      <p:sp>
        <p:nvSpPr>
          <p:cNvPr id="10" name="AutoShape 130">
            <a:extLst>
              <a:ext uri="{FF2B5EF4-FFF2-40B4-BE49-F238E27FC236}">
                <a16:creationId xmlns:a16="http://schemas.microsoft.com/office/drawing/2014/main" id="{6A9D3485-693B-1436-E544-DD102811D941}"/>
              </a:ext>
            </a:extLst>
          </p:cNvPr>
          <p:cNvSpPr>
            <a:spLocks noChangeArrowheads="1"/>
          </p:cNvSpPr>
          <p:nvPr/>
        </p:nvSpPr>
        <p:spPr bwMode="auto">
          <a:xfrm>
            <a:off x="1055688" y="4164375"/>
            <a:ext cx="1430313" cy="674687"/>
          </a:xfrm>
          <a:prstGeom prst="irregularSeal1">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15000"/>
              </a:lnSpc>
              <a:spcBef>
                <a:spcPct val="50000"/>
              </a:spcBef>
              <a:spcAft>
                <a:spcPct val="50000"/>
              </a:spcAft>
              <a:buClr>
                <a:srgbClr val="006699"/>
              </a:buClr>
              <a:buSzPct val="40000"/>
              <a:buFont typeface="Wingdings" panose="05000000000000000000" pitchFamily="2" charset="2"/>
              <a:buChar char="n"/>
              <a:defRPr sz="3200" b="1">
                <a:solidFill>
                  <a:schemeClr val="tx1"/>
                </a:solidFill>
                <a:latin typeface="Arial" panose="020B0604020202020204" pitchFamily="34" charset="0"/>
                <a:ea typeface="MS PGothic" panose="020B0600070205080204" pitchFamily="34" charset="-128"/>
              </a:defRPr>
            </a:lvl1pPr>
            <a:lvl2pPr marL="742950" indent="-285750">
              <a:lnSpc>
                <a:spcPct val="115000"/>
              </a:lnSpc>
              <a:spcBef>
                <a:spcPct val="50000"/>
              </a:spcBef>
              <a:spcAft>
                <a:spcPct val="50000"/>
              </a:spcAft>
              <a:buClr>
                <a:srgbClr val="006699"/>
              </a:buClr>
              <a:buSzPct val="40000"/>
              <a:buFont typeface="Wingdings" panose="05000000000000000000" pitchFamily="2" charset="2"/>
              <a:buChar char=""/>
              <a:defRPr sz="1600" b="1">
                <a:solidFill>
                  <a:schemeClr val="tx1"/>
                </a:solidFill>
                <a:latin typeface="Arial" panose="020B0604020202020204" pitchFamily="34" charset="0"/>
                <a:ea typeface="MS PGothic" panose="020B0600070205080204" pitchFamily="34" charset="-128"/>
              </a:defRPr>
            </a:lvl2pPr>
            <a:lvl3pPr marL="1143000" indent="-228600">
              <a:lnSpc>
                <a:spcPct val="115000"/>
              </a:lnSpc>
              <a:spcBef>
                <a:spcPct val="50000"/>
              </a:spcBef>
              <a:spcAft>
                <a:spcPct val="50000"/>
              </a:spcAft>
              <a:buClr>
                <a:srgbClr val="006699"/>
              </a:buClr>
              <a:buSzPct val="40000"/>
              <a:buChar char="–"/>
              <a:defRPr sz="1400" b="1">
                <a:solidFill>
                  <a:schemeClr val="tx1"/>
                </a:solidFill>
                <a:latin typeface="Arial" panose="020B0604020202020204" pitchFamily="34" charset="0"/>
                <a:ea typeface="MS PGothic" panose="020B0600070205080204" pitchFamily="34" charset="-128"/>
              </a:defRPr>
            </a:lvl3pPr>
            <a:lvl4pPr marL="16002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4pPr>
            <a:lvl5pPr marL="2057400" indent="-228600">
              <a:spcBef>
                <a:spcPct val="20000"/>
              </a:spcBef>
              <a:buClr>
                <a:schemeClr val="tx1"/>
              </a:buClr>
              <a:buChar char="•"/>
              <a:defRPr sz="2000">
                <a:solidFill>
                  <a:schemeClr val="tx1"/>
                </a:solidFill>
                <a:latin typeface="Book Antiqua" panose="02040602050305030304" pitchFamily="18" charset="0"/>
                <a:ea typeface="MS PGothic" panose="020B0600070205080204" pitchFamily="34" charset="-128"/>
              </a:defRPr>
            </a:lvl5pPr>
            <a:lvl6pPr marL="25146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6pPr>
            <a:lvl7pPr marL="29718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7pPr>
            <a:lvl8pPr marL="34290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8pPr>
            <a:lvl9pPr marL="3886200" indent="-228600" eaLnBrk="0" fontAlgn="base" hangingPunct="0">
              <a:spcBef>
                <a:spcPct val="20000"/>
              </a:spcBef>
              <a:spcAft>
                <a:spcPct val="0"/>
              </a:spcAft>
              <a:buClr>
                <a:schemeClr val="tx1"/>
              </a:buClr>
              <a:buChar char="•"/>
              <a:defRPr sz="2000">
                <a:solidFill>
                  <a:schemeClr val="tx1"/>
                </a:solidFill>
                <a:latin typeface="Book Antiqua" panose="02040602050305030304" pitchFamily="18" charset="0"/>
                <a:ea typeface="MS PGothic" panose="020B0600070205080204" pitchFamily="34" charset="-128"/>
              </a:defRPr>
            </a:lvl9pPr>
          </a:lstStyle>
          <a:p>
            <a:pPr algn="ctr">
              <a:lnSpc>
                <a:spcPct val="80000"/>
              </a:lnSpc>
              <a:spcBef>
                <a:spcPct val="20000"/>
              </a:spcBef>
              <a:spcAft>
                <a:spcPct val="0"/>
              </a:spcAft>
              <a:buClrTx/>
              <a:buSzTx/>
              <a:buFontTx/>
              <a:buNone/>
            </a:pPr>
            <a:endParaRPr lang="en-US" altLang="en-US" sz="900">
              <a:solidFill>
                <a:schemeClr val="bg1"/>
              </a:solidFill>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309815603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01234-A0AA-5598-26B5-033CE6FE23E5}"/>
              </a:ext>
            </a:extLst>
          </p:cNvPr>
          <p:cNvSpPr txBox="1">
            <a:spLocks/>
          </p:cNvSpPr>
          <p:nvPr/>
        </p:nvSpPr>
        <p:spPr>
          <a:xfrm>
            <a:off x="606705" y="793843"/>
            <a:ext cx="10515600" cy="1022351"/>
          </a:xfrm>
          <a:prstGeom prst="rect">
            <a:avLst/>
          </a:prstGeom>
        </p:spPr>
        <p:txBody>
          <a:bodyPr lIns="91440" tIns="45720" rIns="91440" bIns="45720" anchor="t"/>
          <a:lstStyle>
            <a:lvl1pPr algn="l" defTabSz="914400" rtl="0" eaLnBrk="1" latinLnBrk="0" hangingPunct="1">
              <a:lnSpc>
                <a:spcPct val="90000"/>
              </a:lnSpc>
              <a:spcBef>
                <a:spcPct val="0"/>
              </a:spcBef>
              <a:buNone/>
              <a:defRPr sz="4400" kern="1200">
                <a:solidFill>
                  <a:schemeClr val="bg1"/>
                </a:solidFill>
                <a:latin typeface="Baskerville" panose="02020502070401020303" pitchFamily="18" charset="0"/>
                <a:ea typeface="Baskerville" panose="02020502070401020303" pitchFamily="18" charset="0"/>
                <a:cs typeface="+mj-cs"/>
              </a:defRPr>
            </a:lvl1pPr>
          </a:lstStyle>
          <a:p>
            <a:r>
              <a:rPr lang="en-US" dirty="0">
                <a:solidFill>
                  <a:schemeClr val="tx1"/>
                </a:solidFill>
                <a:latin typeface="Roboto Medium"/>
                <a:cs typeface="Roboto"/>
              </a:rPr>
              <a:t>Other</a:t>
            </a:r>
            <a:r>
              <a:rPr lang="en-US" dirty="0">
                <a:solidFill>
                  <a:schemeClr val="tx1"/>
                </a:solidFill>
                <a:latin typeface="Roboto Medium"/>
                <a:cs typeface="Roboto Medium"/>
              </a:rPr>
              <a:t> Modules In This Series:</a:t>
            </a:r>
          </a:p>
        </p:txBody>
      </p:sp>
      <p:pic>
        <p:nvPicPr>
          <p:cNvPr id="3" name="Picture 2">
            <a:extLst>
              <a:ext uri="{FF2B5EF4-FFF2-40B4-BE49-F238E27FC236}">
                <a16:creationId xmlns:a16="http://schemas.microsoft.com/office/drawing/2014/main" id="{5DF3825E-B951-729D-1675-8A890DAAC766}"/>
              </a:ext>
            </a:extLst>
          </p:cNvPr>
          <p:cNvPicPr>
            <a:picLocks noChangeAspect="1"/>
          </p:cNvPicPr>
          <p:nvPr/>
        </p:nvPicPr>
        <p:blipFill>
          <a:blip r:embed="rId2"/>
          <a:stretch>
            <a:fillRect/>
          </a:stretch>
        </p:blipFill>
        <p:spPr>
          <a:xfrm>
            <a:off x="605117" y="1638489"/>
            <a:ext cx="3939240" cy="45719"/>
          </a:xfrm>
          <a:prstGeom prst="rect">
            <a:avLst/>
          </a:prstGeom>
        </p:spPr>
      </p:pic>
      <p:sp>
        <p:nvSpPr>
          <p:cNvPr id="4" name="Content Placeholder 3">
            <a:extLst>
              <a:ext uri="{FF2B5EF4-FFF2-40B4-BE49-F238E27FC236}">
                <a16:creationId xmlns:a16="http://schemas.microsoft.com/office/drawing/2014/main" id="{C9914E55-E875-9B78-1E43-35D121FD9751}"/>
              </a:ext>
            </a:extLst>
          </p:cNvPr>
          <p:cNvSpPr txBox="1">
            <a:spLocks/>
          </p:cNvSpPr>
          <p:nvPr/>
        </p:nvSpPr>
        <p:spPr>
          <a:xfrm>
            <a:off x="5839258" y="1166648"/>
            <a:ext cx="5157787" cy="3684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bg1"/>
                </a:solidFill>
                <a:latin typeface="Roboto" panose="02000000000000000000" pitchFamily="2" charset="0"/>
                <a:ea typeface="Roboto" panose="02000000000000000000" pitchFamily="2" charset="0"/>
                <a:cs typeface="Roboto" panose="02000000000000000000"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bg1"/>
                </a:solidFill>
                <a:latin typeface="Roboto" panose="02000000000000000000" pitchFamily="2" charset="0"/>
                <a:ea typeface="Roboto" panose="02000000000000000000" pitchFamily="2" charset="0"/>
                <a:cs typeface="Roboto" panose="02000000000000000000"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bg1"/>
                </a:solidFill>
                <a:latin typeface="Roboto" panose="02000000000000000000" pitchFamily="2" charset="0"/>
                <a:ea typeface="Roboto" panose="02000000000000000000" pitchFamily="2" charset="0"/>
                <a:cs typeface="Roboto" panose="02000000000000000000"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Roboto" panose="02000000000000000000" pitchFamily="2" charset="0"/>
                <a:ea typeface="Roboto" panose="02000000000000000000" pitchFamily="2" charset="0"/>
                <a:cs typeface="Roboto" panose="02000000000000000000"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a:solidFill>
                  <a:schemeClr val="tx1"/>
                </a:solidFill>
              </a:rPr>
              <a:t>5S</a:t>
            </a:r>
          </a:p>
          <a:p>
            <a:pPr marL="0" indent="0" algn="r">
              <a:buNone/>
            </a:pPr>
            <a:r>
              <a:rPr lang="en-US" sz="1400" dirty="0">
                <a:solidFill>
                  <a:schemeClr val="tx1"/>
                </a:solidFill>
              </a:rPr>
              <a:t>Standard Work</a:t>
            </a:r>
          </a:p>
          <a:p>
            <a:pPr marL="0" indent="0" algn="r">
              <a:buNone/>
            </a:pPr>
            <a:r>
              <a:rPr lang="en-US" sz="1400" dirty="0">
                <a:solidFill>
                  <a:schemeClr val="tx1"/>
                </a:solidFill>
              </a:rPr>
              <a:t>Total Productive Maintenance (TPM)</a:t>
            </a:r>
          </a:p>
          <a:p>
            <a:pPr marL="0" indent="0" algn="r">
              <a:buNone/>
            </a:pPr>
            <a:r>
              <a:rPr lang="en-US" sz="1400" dirty="0">
                <a:solidFill>
                  <a:schemeClr val="tx1"/>
                </a:solidFill>
              </a:rPr>
              <a:t>Administrative Lean</a:t>
            </a:r>
          </a:p>
          <a:p>
            <a:pPr marL="0" indent="0" algn="r">
              <a:buNone/>
            </a:pPr>
            <a:r>
              <a:rPr lang="en-US" sz="1400" dirty="0">
                <a:solidFill>
                  <a:schemeClr val="tx1"/>
                </a:solidFill>
              </a:rPr>
              <a:t>Cell Design/ Production Preparation Process (3P)</a:t>
            </a:r>
          </a:p>
          <a:p>
            <a:pPr marL="0" indent="0" algn="r">
              <a:buNone/>
            </a:pPr>
            <a:r>
              <a:rPr lang="en-US" sz="1400" dirty="0">
                <a:solidFill>
                  <a:schemeClr val="tx1"/>
                </a:solidFill>
              </a:rPr>
              <a:t>Kaizen</a:t>
            </a:r>
          </a:p>
          <a:p>
            <a:pPr marL="0" indent="0" algn="r">
              <a:buNone/>
            </a:pPr>
            <a:r>
              <a:rPr lang="en-US" sz="1400" dirty="0">
                <a:solidFill>
                  <a:schemeClr val="tx1"/>
                </a:solidFill>
              </a:rPr>
              <a:t>Kanban</a:t>
            </a:r>
          </a:p>
          <a:p>
            <a:pPr marL="0" indent="0" algn="r">
              <a:buNone/>
            </a:pPr>
            <a:r>
              <a:rPr lang="en-US" sz="1400" dirty="0">
                <a:solidFill>
                  <a:schemeClr val="tx1"/>
                </a:solidFill>
              </a:rPr>
              <a:t>Problem Solving</a:t>
            </a:r>
          </a:p>
          <a:p>
            <a:pPr marL="0" indent="0" algn="r">
              <a:buNone/>
            </a:pPr>
            <a:r>
              <a:rPr lang="en-US" sz="1400" dirty="0" err="1">
                <a:solidFill>
                  <a:schemeClr val="tx1"/>
                </a:solidFill>
              </a:rPr>
              <a:t>Poka</a:t>
            </a:r>
            <a:r>
              <a:rPr lang="en-US" sz="1400" dirty="0">
                <a:solidFill>
                  <a:schemeClr val="tx1"/>
                </a:solidFill>
              </a:rPr>
              <a:t> Yoke Quality Systems</a:t>
            </a:r>
          </a:p>
          <a:p>
            <a:pPr marL="0" indent="0" algn="r">
              <a:buNone/>
            </a:pPr>
            <a:r>
              <a:rPr lang="en-US" sz="1400" dirty="0">
                <a:solidFill>
                  <a:schemeClr val="tx1"/>
                </a:solidFill>
              </a:rPr>
              <a:t>Transaction Process Improvement (TPI)</a:t>
            </a:r>
          </a:p>
          <a:p>
            <a:pPr marL="0" indent="0" algn="r">
              <a:buNone/>
            </a:pPr>
            <a:r>
              <a:rPr lang="en-US" sz="1400" dirty="0">
                <a:solidFill>
                  <a:schemeClr val="tx1"/>
                </a:solidFill>
              </a:rPr>
              <a:t>Cause &amp; Effect Diagram with the Additions of Cards (CEDAC)</a:t>
            </a:r>
          </a:p>
          <a:p>
            <a:pPr marL="0" indent="0" algn="r">
              <a:buNone/>
            </a:pPr>
            <a:r>
              <a:rPr lang="en-US" sz="1400" dirty="0">
                <a:solidFill>
                  <a:schemeClr val="tx1"/>
                </a:solidFill>
              </a:rPr>
              <a:t>Single Minute Exchange of Dies (SMED)</a:t>
            </a:r>
          </a:p>
          <a:p>
            <a:pPr marL="0" indent="0" algn="r">
              <a:buNone/>
            </a:pPr>
            <a:r>
              <a:rPr lang="en-US" sz="1400" dirty="0">
                <a:solidFill>
                  <a:schemeClr val="tx1"/>
                </a:solidFill>
              </a:rPr>
              <a:t>Value Stream Mapping (VSMi®)</a:t>
            </a:r>
          </a:p>
          <a:p>
            <a:pPr marL="0" indent="0" algn="r">
              <a:buNone/>
            </a:pPr>
            <a:r>
              <a:rPr lang="en-US" sz="1400" dirty="0">
                <a:solidFill>
                  <a:schemeClr val="tx1"/>
                </a:solidFill>
              </a:rPr>
              <a:t>Visual Management</a:t>
            </a:r>
          </a:p>
          <a:p>
            <a:pPr marL="0" indent="0" algn="r">
              <a:buNone/>
            </a:pPr>
            <a:r>
              <a:rPr lang="en-US" sz="1400" dirty="0">
                <a:solidFill>
                  <a:schemeClr val="tx1"/>
                </a:solidFill>
              </a:rPr>
              <a:t>Managing Daily Process Excellence</a:t>
            </a:r>
          </a:p>
        </p:txBody>
      </p:sp>
      <p:pic>
        <p:nvPicPr>
          <p:cNvPr id="11" name="Picture 10">
            <a:extLst>
              <a:ext uri="{FF2B5EF4-FFF2-40B4-BE49-F238E27FC236}">
                <a16:creationId xmlns:a16="http://schemas.microsoft.com/office/drawing/2014/main" id="{11F73560-3A07-DDBC-A93D-9C2969C3C8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20142" y="2039270"/>
            <a:ext cx="2945426" cy="1754165"/>
          </a:xfrm>
          <a:prstGeom prst="rect">
            <a:avLst/>
          </a:prstGeom>
        </p:spPr>
      </p:pic>
      <p:sp>
        <p:nvSpPr>
          <p:cNvPr id="13" name="Steve Jones">
            <a:extLst>
              <a:ext uri="{FF2B5EF4-FFF2-40B4-BE49-F238E27FC236}">
                <a16:creationId xmlns:a16="http://schemas.microsoft.com/office/drawing/2014/main" id="{32D7D26D-2286-A78A-74DF-8555FD64C346}"/>
              </a:ext>
            </a:extLst>
          </p:cNvPr>
          <p:cNvSpPr/>
          <p:nvPr/>
        </p:nvSpPr>
        <p:spPr>
          <a:xfrm>
            <a:off x="1069695" y="4201690"/>
            <a:ext cx="3475310" cy="19902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anchor="ctr">
            <a:spAutoFit/>
          </a:bodyPr>
          <a:lstStyle>
            <a:lvl1pPr defTabSz="1155700">
              <a:lnSpc>
                <a:spcPct val="80000"/>
              </a:lnSpc>
              <a:defRPr sz="3000" b="1">
                <a:solidFill>
                  <a:srgbClr val="FFFFFF"/>
                </a:solidFill>
              </a:defRPr>
            </a:lvl1pPr>
          </a:lstStyle>
          <a:p>
            <a:r>
              <a:rPr lang="en-US" sz="1600" dirty="0">
                <a:solidFill>
                  <a:srgbClr val="EE3228"/>
                </a:solidFill>
                <a:latin typeface="Roboto" panose="02000000000000000000" pitchFamily="2" charset="0"/>
                <a:ea typeface="Roboto" panose="02000000000000000000" pitchFamily="2" charset="0"/>
                <a:cs typeface="Roboto" panose="02000000000000000000" pitchFamily="2" charset="0"/>
              </a:rPr>
              <a:t>For More Information Please Contact:</a:t>
            </a:r>
          </a:p>
        </p:txBody>
      </p:sp>
      <p:sp>
        <p:nvSpPr>
          <p:cNvPr id="14" name="Head of Management Dept.">
            <a:extLst>
              <a:ext uri="{FF2B5EF4-FFF2-40B4-BE49-F238E27FC236}">
                <a16:creationId xmlns:a16="http://schemas.microsoft.com/office/drawing/2014/main" id="{13AAF857-F867-C38A-47E8-4FCE37EF32C8}"/>
              </a:ext>
            </a:extLst>
          </p:cNvPr>
          <p:cNvSpPr/>
          <p:nvPr/>
        </p:nvSpPr>
        <p:spPr>
          <a:xfrm>
            <a:off x="1367375" y="4590893"/>
            <a:ext cx="2879948" cy="838178"/>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lvl1pPr defTabSz="1155700">
              <a:defRPr sz="3000">
                <a:solidFill>
                  <a:srgbClr val="5D616E"/>
                </a:solidFill>
              </a:defRPr>
            </a:lvl1pPr>
          </a:lstStyle>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 DeLuzio, President and CEO</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+1.860.234.0915</a:t>
            </a:r>
          </a:p>
          <a:p>
            <a:pPr algn="ctr">
              <a:lnSpc>
                <a:spcPct val="90000"/>
              </a:lnSpc>
              <a:spcBef>
                <a:spcPts val="1000"/>
              </a:spcBef>
            </a:pPr>
            <a:r>
              <a:rPr lang="en-US" sz="1400" dirty="0">
                <a:solidFill>
                  <a:schemeClr val="tx1"/>
                </a:solidFill>
                <a:latin typeface="Roboto" panose="02000000000000000000" pitchFamily="2" charset="0"/>
                <a:ea typeface="Roboto" panose="02000000000000000000" pitchFamily="2" charset="0"/>
                <a:cs typeface="Roboto" panose="02000000000000000000" pitchFamily="2" charset="0"/>
              </a:rPr>
              <a:t>mark.deluzio@leanhorizons.com</a:t>
            </a:r>
            <a:endParaRPr sz="14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5" name="TextBox 14">
            <a:extLst>
              <a:ext uri="{FF2B5EF4-FFF2-40B4-BE49-F238E27FC236}">
                <a16:creationId xmlns:a16="http://schemas.microsoft.com/office/drawing/2014/main" id="{1729F7AC-495A-4FB8-042F-1DBECD3DB7C9}"/>
              </a:ext>
            </a:extLst>
          </p:cNvPr>
          <p:cNvSpPr txBox="1"/>
          <p:nvPr/>
        </p:nvSpPr>
        <p:spPr>
          <a:xfrm>
            <a:off x="6291" y="5619244"/>
            <a:ext cx="5602115" cy="26648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lnSpc>
                <a:spcPct val="80000"/>
              </a:lnSpc>
              <a:spcAft>
                <a:spcPct val="0"/>
              </a:spcAft>
              <a:buClrTx/>
              <a:buSzTx/>
              <a:buFontTx/>
              <a:buNone/>
            </a:pPr>
            <a:r>
              <a:rPr lang="en-US" altLang="en-US" sz="1400" i="1" dirty="0">
                <a:latin typeface="Roboto" panose="02000000000000000000" pitchFamily="2" charset="0"/>
                <a:ea typeface="Roboto" panose="02000000000000000000" pitchFamily="2" charset="0"/>
                <a:cs typeface="Roboto" panose="02000000000000000000" pitchFamily="2" charset="0"/>
              </a:rPr>
              <a:t>Strategically Creating Value Through the Elimination of Waste</a:t>
            </a:r>
            <a:endParaRPr lang="en-US" altLang="en-US" sz="1400" dirty="0">
              <a:latin typeface="Roboto" panose="02000000000000000000" pitchFamily="2" charset="0"/>
              <a:ea typeface="Roboto" panose="02000000000000000000" pitchFamily="2" charset="0"/>
              <a:cs typeface="Roboto" panose="02000000000000000000" pitchFamily="2" charset="0"/>
            </a:endParaRPr>
          </a:p>
        </p:txBody>
      </p:sp>
      <p:sp>
        <p:nvSpPr>
          <p:cNvPr id="18" name="Slide Number Placeholder 17">
            <a:extLst>
              <a:ext uri="{FF2B5EF4-FFF2-40B4-BE49-F238E27FC236}">
                <a16:creationId xmlns:a16="http://schemas.microsoft.com/office/drawing/2014/main" id="{F71C8E8F-D781-AA13-E1D1-E5284A242753}"/>
              </a:ext>
            </a:extLst>
          </p:cNvPr>
          <p:cNvSpPr>
            <a:spLocks noGrp="1"/>
          </p:cNvSpPr>
          <p:nvPr>
            <p:ph type="sldNum" sz="quarter" idx="4294967295"/>
          </p:nvPr>
        </p:nvSpPr>
        <p:spPr>
          <a:xfrm>
            <a:off x="8595078" y="6333148"/>
            <a:ext cx="2743200" cy="365125"/>
          </a:xfrm>
          <a:prstGeom prst="rect">
            <a:avLst/>
          </a:prstGeom>
        </p:spPr>
        <p:txBody>
          <a:bodyPr/>
          <a:lstStyle/>
          <a:p>
            <a:fld id="{CC6D4273-7FC1-0947-B9FE-19CB3C0D1FB6}" type="slidenum">
              <a:rPr lang="en-US" smtClean="0"/>
              <a:t>142</a:t>
            </a:fld>
            <a:endParaRPr lang="en-US" dirty="0"/>
          </a:p>
        </p:txBody>
      </p:sp>
    </p:spTree>
    <p:extLst>
      <p:ext uri="{BB962C8B-B14F-4D97-AF65-F5344CB8AC3E}">
        <p14:creationId xmlns:p14="http://schemas.microsoft.com/office/powerpoint/2010/main" val="303657542"/>
      </p:ext>
    </p:extLst>
  </p:cSld>
  <p:clrMapOvr>
    <a:masterClrMapping/>
  </p:clrMapOvr>
</p:sld>
</file>

<file path=ppt/theme/theme1.xml><?xml version="1.0" encoding="utf-8"?>
<a:theme xmlns:a="http://schemas.openxmlformats.org/drawingml/2006/main" name="Office Theme">
  <a:themeElements>
    <a:clrScheme name="Custom 1">
      <a:dk1>
        <a:srgbClr val="000000"/>
      </a:dk1>
      <a:lt1>
        <a:srgbClr val="FFFFFF"/>
      </a:lt1>
      <a:dk2>
        <a:srgbClr val="44546A"/>
      </a:dk2>
      <a:lt2>
        <a:srgbClr val="E7E6E6"/>
      </a:lt2>
      <a:accent1>
        <a:srgbClr val="EE3228"/>
      </a:accent1>
      <a:accent2>
        <a:srgbClr val="FDCA40"/>
      </a:accent2>
      <a:accent3>
        <a:srgbClr val="939598"/>
      </a:accent3>
      <a:accent4>
        <a:srgbClr val="76939F"/>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17168</TotalTime>
  <Words>21830</Words>
  <Application>Microsoft Office PowerPoint</Application>
  <PresentationFormat>Widescreen</PresentationFormat>
  <Paragraphs>3610</Paragraphs>
  <Slides>142</Slides>
  <Notes>137</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142</vt:i4>
      </vt:variant>
    </vt:vector>
  </HeadingPairs>
  <TitlesOfParts>
    <vt:vector size="149" baseType="lpstr">
      <vt:lpstr>Arial</vt:lpstr>
      <vt:lpstr>Calibri</vt:lpstr>
      <vt:lpstr>Roboto</vt:lpstr>
      <vt:lpstr>Roboto Medium</vt:lpstr>
      <vt:lpstr>Times New Roman</vt:lpstr>
      <vt:lpstr>Wingdings</vt:lpstr>
      <vt:lpstr>Office Theme</vt:lpstr>
      <vt:lpstr>PowerPoint Presentation</vt:lpstr>
      <vt:lpstr>PowerPoint Presentation</vt:lpstr>
      <vt:lpstr>PowerPoint Presentation</vt:lpstr>
      <vt:lpstr>Ground Rules for Event</vt:lpstr>
      <vt:lpstr>Value Stream Mapping Defined</vt:lpstr>
      <vt:lpstr>The “i” in VSMi </vt:lpstr>
      <vt:lpstr>Value Stream Map and Process Map Distinction</vt:lpstr>
      <vt:lpstr>When to Use Value Stream Mapping</vt:lpstr>
      <vt:lpstr>Value Stream Mapping Linkage to Strategy</vt:lpstr>
      <vt:lpstr>Business Case Examples that support Key Business Imperatives</vt:lpstr>
      <vt:lpstr>Value Stream Mapping Roadmap to Success</vt:lpstr>
      <vt:lpstr>Value Stream Mapping Process</vt:lpstr>
      <vt:lpstr>Value Stream Mapping Session Agenda</vt:lpstr>
      <vt:lpstr>Select Product or Service Family</vt:lpstr>
      <vt:lpstr>The Administrative Value Stream Defined</vt:lpstr>
      <vt:lpstr>Determine the Boundaries of the Value Stream</vt:lpstr>
      <vt:lpstr>VSM Boundary Examples</vt:lpstr>
      <vt:lpstr>Identify “Who is the Customer”</vt:lpstr>
      <vt:lpstr>Completing Customer Analysis</vt:lpstr>
      <vt:lpstr>Complete Customer/Stakeholder Analysis</vt:lpstr>
      <vt:lpstr>Kaizen Charter Validation</vt:lpstr>
      <vt:lpstr>Creating the Current State Value Stream Map</vt:lpstr>
      <vt:lpstr>Method to Create the Current State Map</vt:lpstr>
      <vt:lpstr>Defining a Process</vt:lpstr>
      <vt:lpstr>Process Examples</vt:lpstr>
      <vt:lpstr>Layout of Current State Map for Transactional Processes</vt:lpstr>
      <vt:lpstr>Current State Map Drawing Exercise</vt:lpstr>
      <vt:lpstr>Case Study Example: Great America Golf (GAG)</vt:lpstr>
      <vt:lpstr>Case Study Example: Great America Golf (GAG)</vt:lpstr>
      <vt:lpstr>Case Study Example: Great America Golf (GAG)</vt:lpstr>
      <vt:lpstr>Steps to Draw a Value Stream Map</vt:lpstr>
      <vt:lpstr>Steps to Draw a Value Stream Map</vt:lpstr>
      <vt:lpstr>Mapping Customer Data</vt:lpstr>
      <vt:lpstr>Mapping Takt Time</vt:lpstr>
      <vt:lpstr>Mapping Customer Data</vt:lpstr>
      <vt:lpstr>Steps to Draw a Value Stream Map</vt:lpstr>
      <vt:lpstr>Processing Time</vt:lpstr>
      <vt:lpstr>Process Lead Time</vt:lpstr>
      <vt:lpstr>Process Lead Time vs. Processing Time</vt:lpstr>
      <vt:lpstr>Quality: First-Pass Yield of Information</vt:lpstr>
      <vt:lpstr>Mapping Processes</vt:lpstr>
      <vt:lpstr>Mapping Processes</vt:lpstr>
      <vt:lpstr>Mapping Processes</vt:lpstr>
      <vt:lpstr>Mapping Processes</vt:lpstr>
      <vt:lpstr>Mapping Processes</vt:lpstr>
      <vt:lpstr>Mapping Processes</vt:lpstr>
      <vt:lpstr>Mapping Processes</vt:lpstr>
      <vt:lpstr>Mapping Process Boxes</vt:lpstr>
      <vt:lpstr>Mapping Inventory</vt:lpstr>
      <vt:lpstr>Mapping Inventory</vt:lpstr>
      <vt:lpstr>Mapping Queue Time</vt:lpstr>
      <vt:lpstr>Mapping Inventory</vt:lpstr>
      <vt:lpstr>Steps to Draw a Value Stream Map</vt:lpstr>
      <vt:lpstr>Mapping Processes</vt:lpstr>
      <vt:lpstr>Mapping Processes</vt:lpstr>
      <vt:lpstr>Steps to Draw a Value Stream Map</vt:lpstr>
      <vt:lpstr>Calculating Totals</vt:lpstr>
      <vt:lpstr>Calculating Totals</vt:lpstr>
      <vt:lpstr>Steps to Draw a Value Stream Map</vt:lpstr>
      <vt:lpstr>Mapping Information Flow</vt:lpstr>
      <vt:lpstr>Mapping Information Flow</vt:lpstr>
      <vt:lpstr>Complete Current State Map</vt:lpstr>
      <vt:lpstr>Exercise: Annual Review Process</vt:lpstr>
      <vt:lpstr>Review Exercise</vt:lpstr>
      <vt:lpstr>Your Turn….</vt:lpstr>
      <vt:lpstr>Method to Create the Current State Map: Process Identification</vt:lpstr>
      <vt:lpstr>Current State Mapping for Business: Process Identification</vt:lpstr>
      <vt:lpstr>Method to Create the Current State Map: Data Gathering</vt:lpstr>
      <vt:lpstr>Data Gathering Hierarchy</vt:lpstr>
      <vt:lpstr>Key Interviewer Guideline Questions</vt:lpstr>
      <vt:lpstr>After Data Gathering</vt:lpstr>
      <vt:lpstr>Current State Mapping for Business: Data Gathering</vt:lpstr>
      <vt:lpstr>Method to Create the Current State Map: Map Creation</vt:lpstr>
      <vt:lpstr>Current State Mapping for Business</vt:lpstr>
      <vt:lpstr>Interrogating the Current State Value Stream Map</vt:lpstr>
      <vt:lpstr>Exercise</vt:lpstr>
      <vt:lpstr>Questions used to interrogate a Current State Map</vt:lpstr>
      <vt:lpstr>Questions used to interrogate a Current State Map</vt:lpstr>
      <vt:lpstr>Where are information flow opportunities?</vt:lpstr>
      <vt:lpstr>Where are information flow opportunities?</vt:lpstr>
      <vt:lpstr>Questions used to interrogate a Current State Map</vt:lpstr>
      <vt:lpstr>Where is low yield driving long processing times?</vt:lpstr>
      <vt:lpstr>Where is low yield driving long processing times?</vt:lpstr>
      <vt:lpstr>Questions used to interrogate a Current State Map</vt:lpstr>
      <vt:lpstr>Where are there high process lead times?</vt:lpstr>
      <vt:lpstr>Where are there high process lead times?</vt:lpstr>
      <vt:lpstr>Questions used to interrogate a Current State Map</vt:lpstr>
      <vt:lpstr>Continuous Flow</vt:lpstr>
      <vt:lpstr>Which processes can be coupled using continuous flow?</vt:lpstr>
      <vt:lpstr>Questions used to interrogate a Current State Map</vt:lpstr>
      <vt:lpstr>Queue Management</vt:lpstr>
      <vt:lpstr>Where can Visually Managed Queues couple processes?</vt:lpstr>
      <vt:lpstr>Where can Visually Managed Queues couple processes?</vt:lpstr>
      <vt:lpstr>Questions used to interrogate a Current State Map</vt:lpstr>
      <vt:lpstr>What is the input trigger and is there an opportunity to improve?</vt:lpstr>
      <vt:lpstr>Questions used to interrogate a Current State Map</vt:lpstr>
      <vt:lpstr>Are there any other improvement opportunities?</vt:lpstr>
      <vt:lpstr>Are there any other improvement opportunities?</vt:lpstr>
      <vt:lpstr>The Completed Marked-up Current State Map</vt:lpstr>
      <vt:lpstr>Formatting Best Practice</vt:lpstr>
      <vt:lpstr>Exercise</vt:lpstr>
      <vt:lpstr>Your Turn – Mark Up Current State Map for Business</vt:lpstr>
      <vt:lpstr>Your Turn – Mark Up Current State Map for Business</vt:lpstr>
      <vt:lpstr>Mark-Up Current State Map and Report-Out </vt:lpstr>
      <vt:lpstr>Creating the Future State Value Stream Map</vt:lpstr>
      <vt:lpstr>Steps to Creating the Future State</vt:lpstr>
      <vt:lpstr>Steps to Creating the Future State</vt:lpstr>
      <vt:lpstr>Begin with the Marked Up Current State Map</vt:lpstr>
      <vt:lpstr>Steps to Creating the Future State</vt:lpstr>
      <vt:lpstr>Draw the pieces of the map that are the same</vt:lpstr>
      <vt:lpstr>Steps to Creating the Future State</vt:lpstr>
      <vt:lpstr>Combine processes that flow</vt:lpstr>
      <vt:lpstr>Steps to Creating the Future State</vt:lpstr>
      <vt:lpstr>Identify new information flow</vt:lpstr>
      <vt:lpstr>Steps to Creating the Future State</vt:lpstr>
      <vt:lpstr>Implement Visually Managed Queues to Couple Processes</vt:lpstr>
      <vt:lpstr>Steps to Creating the Future State</vt:lpstr>
      <vt:lpstr>Calculate Lead Time and Processing Time</vt:lpstr>
      <vt:lpstr>Steps to Creating the Future State</vt:lpstr>
      <vt:lpstr>Identifying “Loops” in the Future State Map</vt:lpstr>
      <vt:lpstr>Identifying “Loops” in the Future State Map</vt:lpstr>
      <vt:lpstr>The Completed Future State Map</vt:lpstr>
      <vt:lpstr>Developing the Value Stream Plan</vt:lpstr>
      <vt:lpstr>Purpose of the Value Stream Plan</vt:lpstr>
      <vt:lpstr>Timing of the Value Stream Plan</vt:lpstr>
      <vt:lpstr>Prioritize Kaizen Bursts translate to Value Stream Plan Activities</vt:lpstr>
      <vt:lpstr>The Value Stream Plan</vt:lpstr>
      <vt:lpstr>Completed Value Stream Plan</vt:lpstr>
      <vt:lpstr>Follow up and monitoring of Value Stream Plan</vt:lpstr>
      <vt:lpstr>VSM in Context</vt:lpstr>
      <vt:lpstr>Role of Leadership in VSM</vt:lpstr>
      <vt:lpstr>Role of the Value Stream Manager</vt:lpstr>
      <vt:lpstr>Role of the Value Stream Manager</vt:lpstr>
      <vt:lpstr>Value Stream Mapping Roadmap to Success</vt:lpstr>
      <vt:lpstr>Site Plan</vt:lpstr>
      <vt:lpstr>Complete Future State and Value Stream Plan for Business</vt:lpstr>
      <vt:lpstr>Prepare for Final Report-Out to Management</vt:lpstr>
      <vt:lpstr>Appendix</vt:lpstr>
      <vt:lpstr>VSM Icons</vt:lpstr>
      <vt:lpstr>VSM Icons</vt:lpstr>
      <vt:lpstr>VSM Icons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Justin Santiago</dc:creator>
  <cp:lastModifiedBy>Scott DeLuzio</cp:lastModifiedBy>
  <cp:revision>529</cp:revision>
  <dcterms:created xsi:type="dcterms:W3CDTF">2023-02-08T22:10:20Z</dcterms:created>
  <dcterms:modified xsi:type="dcterms:W3CDTF">2024-09-27T21:24:03Z</dcterms:modified>
</cp:coreProperties>
</file>