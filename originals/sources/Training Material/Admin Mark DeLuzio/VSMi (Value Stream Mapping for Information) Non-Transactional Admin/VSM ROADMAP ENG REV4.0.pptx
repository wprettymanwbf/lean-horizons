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0"/>
  </p:notesMasterIdLst>
  <p:sldIdLst>
    <p:sldId id="258" r:id="rId2"/>
    <p:sldId id="283" r:id="rId3"/>
    <p:sldId id="284" r:id="rId4"/>
    <p:sldId id="351" r:id="rId5"/>
    <p:sldId id="352" r:id="rId6"/>
    <p:sldId id="353" r:id="rId7"/>
    <p:sldId id="354" r:id="rId8"/>
    <p:sldId id="355" r:id="rId9"/>
    <p:sldId id="356" r:id="rId10"/>
    <p:sldId id="357" r:id="rId11"/>
    <p:sldId id="358" r:id="rId12"/>
    <p:sldId id="359" r:id="rId13"/>
    <p:sldId id="360" r:id="rId14"/>
    <p:sldId id="361" r:id="rId15"/>
    <p:sldId id="362" r:id="rId16"/>
    <p:sldId id="363" r:id="rId17"/>
    <p:sldId id="364" r:id="rId18"/>
    <p:sldId id="36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81849" autoAdjust="0"/>
  </p:normalViewPr>
  <p:slideViewPr>
    <p:cSldViewPr snapToGrid="0">
      <p:cViewPr varScale="1">
        <p:scale>
          <a:sx n="90" d="100"/>
          <a:sy n="90" d="100"/>
        </p:scale>
        <p:origin x="1380" y="96"/>
      </p:cViewPr>
      <p:guideLst/>
    </p:cSldViewPr>
  </p:slideViewPr>
  <p:notesTextViewPr>
    <p:cViewPr>
      <p:scale>
        <a:sx n="3" d="2"/>
        <a:sy n="3" d="2"/>
      </p:scale>
      <p:origin x="0" y="0"/>
    </p:cViewPr>
  </p:notesTextViewPr>
  <p:sorterViewPr>
    <p:cViewPr varScale="1">
      <p:scale>
        <a:sx n="100" d="100"/>
        <a:sy n="100" d="100"/>
      </p:scale>
      <p:origin x="0" y="-125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7/24/2024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DO: Read through important points on the slide and identify the basic components of VSM. </a:t>
            </a: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It is important to note that our event this week will not yield any realized improvements or results. This tool simply gives the picture of what the improved process could be if the business completes the identified actions and kaizen to get there.</a:t>
            </a:r>
            <a:r>
              <a:rPr lang="ja-JP" altLang="en-US" dirty="0">
                <a:latin typeface="Arial" panose="020B0604020202020204" pitchFamily="34" charset="0"/>
              </a:rPr>
              <a:t>”</a:t>
            </a:r>
            <a:r>
              <a:rPr lang="en-US" altLang="ja-JP" dirty="0">
                <a:latin typeface="Times New Roman" panose="02020603050405020304" pitchFamily="18" charset="0"/>
              </a:rPr>
              <a:t> </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3504377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With discreet information flow, we still add to, subtract from, interpret and reformat information, but we create information along the way as well.</a:t>
            </a:r>
            <a:r>
              <a:rPr lang="ja-JP" altLang="en-US" dirty="0">
                <a:latin typeface="Arial" panose="020B0604020202020204" pitchFamily="34" charset="0"/>
              </a:rPr>
              <a:t>”</a:t>
            </a:r>
            <a:r>
              <a:rPr lang="en-US" altLang="ja-JP" dirty="0">
                <a:latin typeface="Times New Roman" panose="02020603050405020304" pitchFamily="18" charset="0"/>
              </a:rPr>
              <a:t> </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2776625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A Value Stream Map is the </a:t>
            </a:r>
            <a:r>
              <a:rPr lang="ja-JP" altLang="en-US" dirty="0">
                <a:latin typeface="Arial" panose="020B0604020202020204" pitchFamily="34" charset="0"/>
              </a:rPr>
              <a:t>“</a:t>
            </a:r>
            <a:r>
              <a:rPr lang="en-US" altLang="ja-JP" dirty="0">
                <a:latin typeface="Times New Roman" panose="02020603050405020304" pitchFamily="18" charset="0"/>
              </a:rPr>
              <a:t>30,000-foot</a:t>
            </a:r>
            <a:r>
              <a:rPr lang="ja-JP" altLang="en-US" dirty="0">
                <a:latin typeface="Arial" panose="020B0604020202020204" pitchFamily="34" charset="0"/>
              </a:rPr>
              <a:t>”</a:t>
            </a:r>
            <a:r>
              <a:rPr lang="en-US" altLang="ja-JP" dirty="0">
                <a:latin typeface="Times New Roman" panose="02020603050405020304" pitchFamily="18" charset="0"/>
              </a:rPr>
              <a:t> view of the process. A Process Map is a tool that would take just one process box from a Value Stream Map, and explode that process into it</a:t>
            </a:r>
            <a:r>
              <a:rPr lang="ja-JP" altLang="en-US" dirty="0">
                <a:latin typeface="Arial" panose="020B0604020202020204" pitchFamily="34" charset="0"/>
              </a:rPr>
              <a:t>’</a:t>
            </a:r>
            <a:r>
              <a:rPr lang="en-US" altLang="ja-JP" dirty="0">
                <a:latin typeface="Times New Roman" panose="02020603050405020304" pitchFamily="18" charset="0"/>
              </a:rPr>
              <a:t>s detailed steps.</a:t>
            </a:r>
            <a:r>
              <a:rPr lang="ja-JP" altLang="en-US" dirty="0">
                <a:latin typeface="Arial" panose="020B0604020202020204" pitchFamily="34" charset="0"/>
              </a:rPr>
              <a:t>”</a:t>
            </a:r>
            <a:r>
              <a:rPr lang="en-US" altLang="ja-JP" dirty="0">
                <a:latin typeface="Times New Roman" panose="02020603050405020304" pitchFamily="18" charset="0"/>
              </a:rPr>
              <a:t> </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350560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So why are we here? What do we want to accomplish?</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If I am going to improve the </a:t>
            </a:r>
            <a:r>
              <a:rPr lang="ja-JP" altLang="en-US" dirty="0">
                <a:latin typeface="Arial" panose="020B0604020202020204" pitchFamily="34" charset="0"/>
              </a:rPr>
              <a:t>“</a:t>
            </a:r>
            <a:r>
              <a:rPr lang="en-US" altLang="ja-JP" dirty="0">
                <a:latin typeface="Times New Roman" panose="02020603050405020304" pitchFamily="18" charset="0"/>
              </a:rPr>
              <a:t>&lt;fill in with your event&gt; Process, what do I do first? VSM gives you the focus.</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DO:</a:t>
            </a:r>
            <a:r>
              <a:rPr lang="en-US" altLang="en-US" dirty="0">
                <a:latin typeface="Times New Roman" panose="02020603050405020304" pitchFamily="18" charset="0"/>
              </a:rPr>
              <a:t> Cover points on the slide.</a:t>
            </a:r>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29454311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It is critical to understand that Value Stream Mapping is a tool that is used to execute our Key Business Imperatives for Business Strategy. VSM helps identify the waste so that improvements can be made to eliminate the waste.</a:t>
            </a:r>
            <a:r>
              <a:rPr lang="ja-JP" altLang="en-US" dirty="0">
                <a:latin typeface="Arial" panose="020B0604020202020204" pitchFamily="34" charset="0"/>
              </a:rPr>
              <a:t>”</a:t>
            </a:r>
            <a:endParaRPr lang="en-US" altLang="en-US" dirty="0">
              <a:latin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16542411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DO:</a:t>
            </a:r>
            <a:r>
              <a:rPr lang="en-US" altLang="en-US" dirty="0">
                <a:latin typeface="Times New Roman" panose="02020603050405020304" pitchFamily="18" charset="0"/>
              </a:rPr>
              <a:t> Review the VSM Roadmap. Cover what has taken place already, where we are in the process, and where we will go from here. </a:t>
            </a:r>
          </a:p>
          <a:p>
            <a:r>
              <a:rPr lang="en-US" altLang="en-US" b="0" dirty="0">
                <a:latin typeface="Times New Roman" panose="02020603050405020304" pitchFamily="18" charset="0"/>
              </a:rPr>
              <a:t>DO:</a:t>
            </a:r>
            <a:r>
              <a:rPr lang="en-US" altLang="en-US" dirty="0">
                <a:latin typeface="Times New Roman" panose="02020603050405020304" pitchFamily="18" charset="0"/>
              </a:rPr>
              <a:t> Stress that this is an iterative process. VSM is typically a 6 month cycle… then when your future state becomes your new current state, you begin again. </a:t>
            </a:r>
          </a:p>
          <a:p>
            <a:r>
              <a:rPr lang="en-US" altLang="en-US" b="0" dirty="0">
                <a:latin typeface="Times New Roman" panose="02020603050405020304" pitchFamily="18" charset="0"/>
              </a:rPr>
              <a:t>DO:</a:t>
            </a:r>
            <a:r>
              <a:rPr lang="en-US" altLang="en-US" dirty="0">
                <a:latin typeface="Times New Roman" panose="02020603050405020304" pitchFamily="18" charset="0"/>
              </a:rPr>
              <a:t> Stress that each of these process steps are not equal in length. They are separate, necessary steps. Step 4 is a 6 month cycle that is filled with kaizen events and other improvement activities that target achieving the future state. </a:t>
            </a:r>
          </a:p>
          <a:p>
            <a:r>
              <a:rPr lang="en-US" altLang="en-US" b="0" dirty="0">
                <a:latin typeface="Times New Roman" panose="02020603050405020304" pitchFamily="18" charset="0"/>
              </a:rPr>
              <a:t>SAY:</a:t>
            </a:r>
            <a:r>
              <a:rPr lang="en-US" altLang="en-US" dirty="0">
                <a:latin typeface="Times New Roman" panose="02020603050405020304" pitchFamily="18" charset="0"/>
              </a:rPr>
              <a:t> The personnel in Step 2 in most cases will be different or </a:t>
            </a:r>
            <a:r>
              <a:rPr lang="ja-JP" altLang="en-US" dirty="0">
                <a:latin typeface="Arial" panose="020B0604020202020204" pitchFamily="34" charset="0"/>
              </a:rPr>
              <a:t>“</a:t>
            </a:r>
            <a:r>
              <a:rPr lang="en-US" altLang="ja-JP" dirty="0">
                <a:latin typeface="Times New Roman" panose="02020603050405020304" pitchFamily="18" charset="0"/>
              </a:rPr>
              <a:t>in addition</a:t>
            </a:r>
            <a:r>
              <a:rPr lang="ja-JP" altLang="en-US" dirty="0">
                <a:latin typeface="Arial" panose="020B0604020202020204" pitchFamily="34" charset="0"/>
              </a:rPr>
              <a:t>”</a:t>
            </a:r>
            <a:r>
              <a:rPr lang="en-US" altLang="ja-JP" dirty="0">
                <a:latin typeface="Times New Roman" panose="02020603050405020304" pitchFamily="18" charset="0"/>
              </a:rPr>
              <a:t> to those in Step 1, this is why the Intro to Lean will be conducted at both steps. </a:t>
            </a:r>
            <a:endParaRPr lang="en-US" altLang="en-US" dirty="0">
              <a:latin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24594343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This week we are at Process Step 3. The steps to conducting a VSM Event are:</a:t>
            </a:r>
          </a:p>
          <a:p>
            <a:r>
              <a:rPr lang="en-US" altLang="en-US" dirty="0">
                <a:latin typeface="Times New Roman" panose="02020603050405020304" pitchFamily="18" charset="0"/>
              </a:rPr>
              <a:t>1 – Select Product or Service Family (this has been done)</a:t>
            </a:r>
          </a:p>
          <a:p>
            <a:r>
              <a:rPr lang="en-US" altLang="en-US" dirty="0">
                <a:latin typeface="Times New Roman" panose="02020603050405020304" pitchFamily="18" charset="0"/>
              </a:rPr>
              <a:t>2 – Create the Current State Map – again, the snapshot of the process today</a:t>
            </a:r>
          </a:p>
          <a:p>
            <a:r>
              <a:rPr lang="en-US" altLang="en-US" dirty="0">
                <a:latin typeface="Times New Roman" panose="02020603050405020304" pitchFamily="18" charset="0"/>
              </a:rPr>
              <a:t>3 – Interrogate the Current State – here we will analyze the Current State for improvement opportunities</a:t>
            </a:r>
          </a:p>
          <a:p>
            <a:r>
              <a:rPr lang="en-US" altLang="en-US" dirty="0">
                <a:latin typeface="Times New Roman" panose="02020603050405020304" pitchFamily="18" charset="0"/>
              </a:rPr>
              <a:t>4 – Create Future State Map – based on the improvements we want to make – what will the future process look like</a:t>
            </a:r>
          </a:p>
          <a:p>
            <a:r>
              <a:rPr lang="en-US" altLang="en-US" dirty="0">
                <a:latin typeface="Times New Roman" panose="02020603050405020304" pitchFamily="18" charset="0"/>
              </a:rPr>
              <a:t>5 – Develop the Value Stream Plan – here is where we detail what specific objectives need to be accomplished in order for the Future State to be achieved. </a:t>
            </a:r>
          </a:p>
          <a:p>
            <a:r>
              <a:rPr lang="en-US" altLang="en-US" dirty="0">
                <a:latin typeface="Times New Roman" panose="02020603050405020304" pitchFamily="18" charset="0"/>
              </a:rPr>
              <a:t>Realize that when we are complete this week</a:t>
            </a:r>
            <a:r>
              <a:rPr lang="ja-JP" altLang="en-US" dirty="0">
                <a:latin typeface="Arial" panose="020B0604020202020204" pitchFamily="34" charset="0"/>
              </a:rPr>
              <a:t>’</a:t>
            </a:r>
            <a:r>
              <a:rPr lang="en-US" altLang="ja-JP" dirty="0">
                <a:latin typeface="Times New Roman" panose="02020603050405020304" pitchFamily="18" charset="0"/>
              </a:rPr>
              <a:t>s event – no improvements will actually be made… it is not until the action plan gets implemented that we will see results. </a:t>
            </a:r>
            <a:r>
              <a:rPr lang="ja-JP" altLang="en-US" dirty="0">
                <a:latin typeface="Arial" panose="020B0604020202020204" pitchFamily="34" charset="0"/>
              </a:rPr>
              <a:t>“</a:t>
            </a:r>
            <a:endParaRPr lang="en-US" altLang="en-US" dirty="0">
              <a:latin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1037351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This is the typical 5 day agenda for what we will accomplish this week.</a:t>
            </a:r>
            <a:r>
              <a:rPr lang="ja-JP" altLang="en-US" dirty="0">
                <a:latin typeface="Arial" panose="020B0604020202020204" pitchFamily="34" charset="0"/>
              </a:rPr>
              <a:t>”</a:t>
            </a:r>
            <a:r>
              <a:rPr lang="en-US" altLang="ja-JP" dirty="0">
                <a:latin typeface="Times New Roman" panose="02020603050405020304" pitchFamily="18" charset="0"/>
              </a:rPr>
              <a:t> </a:t>
            </a:r>
          </a:p>
          <a:p>
            <a:r>
              <a:rPr lang="en-US" altLang="en-US" b="0" dirty="0">
                <a:latin typeface="Times New Roman" panose="02020603050405020304" pitchFamily="18" charset="0"/>
              </a:rPr>
              <a:t>NOTE:</a:t>
            </a:r>
            <a:r>
              <a:rPr lang="en-US" altLang="en-US" dirty="0">
                <a:latin typeface="Times New Roman" panose="02020603050405020304" pitchFamily="18" charset="0"/>
              </a:rPr>
              <a:t> Deliverable dates can be adjusted as needed depending on the event.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32433833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pPr>
            <a:r>
              <a:rPr lang="en-US" altLang="en-US" b="0" dirty="0">
                <a:latin typeface="Times New Roman" panose="02020603050405020304" pitchFamily="18" charset="0"/>
              </a:rPr>
              <a:t>DO</a:t>
            </a:r>
            <a:r>
              <a:rPr lang="en-US" altLang="en-US" dirty="0">
                <a:latin typeface="Times New Roman" panose="02020603050405020304" pitchFamily="18" charset="0"/>
              </a:rPr>
              <a:t>: Review the fields of the Value Stream Plan.</a:t>
            </a:r>
          </a:p>
          <a:p>
            <a:pPr>
              <a:lnSpc>
                <a:spcPct val="80000"/>
              </a:lnSpc>
            </a:pPr>
            <a:r>
              <a:rPr lang="en-US" altLang="en-US" sz="1200" dirty="0">
                <a:latin typeface="Times New Roman" panose="02020603050405020304" pitchFamily="18" charset="0"/>
              </a:rPr>
              <a:t>Document Product Family and Value Stream – this clearly identifies which products are included in the VS Plan and specifies the scope.</a:t>
            </a:r>
          </a:p>
          <a:p>
            <a:pPr>
              <a:lnSpc>
                <a:spcPct val="80000"/>
              </a:lnSpc>
            </a:pPr>
            <a:r>
              <a:rPr lang="en-US" altLang="en-US" sz="1200" dirty="0">
                <a:latin typeface="Times New Roman" panose="02020603050405020304" pitchFamily="18" charset="0"/>
              </a:rPr>
              <a:t>Dates: Identify the date the plan was established and the date the improvement efforts will kick off.</a:t>
            </a:r>
          </a:p>
          <a:p>
            <a:pPr>
              <a:lnSpc>
                <a:spcPct val="80000"/>
              </a:lnSpc>
            </a:pPr>
            <a:r>
              <a:rPr lang="en-US" altLang="en-US" sz="1200" dirty="0">
                <a:latin typeface="Times New Roman" panose="02020603050405020304" pitchFamily="18" charset="0"/>
              </a:rPr>
              <a:t>Business Objective: Succinctly state the objective of moving to the Future State</a:t>
            </a:r>
          </a:p>
          <a:p>
            <a:pPr>
              <a:lnSpc>
                <a:spcPct val="80000"/>
              </a:lnSpc>
            </a:pPr>
            <a:r>
              <a:rPr lang="en-US" altLang="en-US" sz="1200" dirty="0">
                <a:latin typeface="Times New Roman" panose="02020603050405020304" pitchFamily="18" charset="0"/>
              </a:rPr>
              <a:t>Value Stream </a:t>
            </a:r>
            <a:r>
              <a:rPr lang="en-US" altLang="en-US" sz="1200" dirty="0" err="1">
                <a:latin typeface="Times New Roman" panose="02020603050405020304" pitchFamily="18" charset="0"/>
              </a:rPr>
              <a:t>Mgr</a:t>
            </a:r>
            <a:r>
              <a:rPr lang="en-US" altLang="en-US" sz="1200" dirty="0">
                <a:latin typeface="Times New Roman" panose="02020603050405020304" pitchFamily="18" charset="0"/>
              </a:rPr>
              <a:t> and Business Unit Owner – The VS </a:t>
            </a:r>
            <a:r>
              <a:rPr lang="en-US" altLang="en-US" sz="1200" dirty="0" err="1">
                <a:latin typeface="Times New Roman" panose="02020603050405020304" pitchFamily="18" charset="0"/>
              </a:rPr>
              <a:t>Mgr</a:t>
            </a:r>
            <a:r>
              <a:rPr lang="en-US" altLang="en-US" sz="1200" dirty="0">
                <a:latin typeface="Times New Roman" panose="02020603050405020304" pitchFamily="18" charset="0"/>
              </a:rPr>
              <a:t> is responsible for the value stream and insuring that the necessary improvements are made in accordance to the schedule.</a:t>
            </a:r>
          </a:p>
          <a:p>
            <a:pPr>
              <a:lnSpc>
                <a:spcPct val="80000"/>
              </a:lnSpc>
            </a:pPr>
            <a:r>
              <a:rPr lang="en-US" altLang="en-US" sz="1200" dirty="0">
                <a:latin typeface="Times New Roman" panose="02020603050405020304" pitchFamily="18" charset="0"/>
              </a:rPr>
              <a:t>The Business Unit Owner – Is the person responsible for the overall business unit the contains the value stream.</a:t>
            </a:r>
          </a:p>
          <a:p>
            <a:pPr>
              <a:lnSpc>
                <a:spcPct val="80000"/>
              </a:lnSpc>
            </a:pPr>
            <a:r>
              <a:rPr lang="en-US" altLang="en-US" sz="1200" dirty="0">
                <a:latin typeface="Times New Roman" panose="02020603050405020304" pitchFamily="18" charset="0"/>
              </a:rPr>
              <a:t>VS Loop- Specify loops on the Value Stream Plan – this should come directly from the Future State Map. </a:t>
            </a:r>
          </a:p>
          <a:p>
            <a:pPr>
              <a:lnSpc>
                <a:spcPct val="80000"/>
              </a:lnSpc>
            </a:pPr>
            <a:r>
              <a:rPr lang="en-US" altLang="en-US" sz="1200" dirty="0">
                <a:latin typeface="Times New Roman" panose="02020603050405020304" pitchFamily="18" charset="0"/>
              </a:rPr>
              <a:t>Value Stream Objective – Identify what needs to be done to move from the current state to the future state. The emphasis should be on what, not how this will be accomplished. The objective should describe what the end state looks like</a:t>
            </a:r>
          </a:p>
          <a:p>
            <a:pPr>
              <a:lnSpc>
                <a:spcPct val="80000"/>
              </a:lnSpc>
            </a:pPr>
            <a:r>
              <a:rPr lang="en-US" altLang="en-US" sz="1200" dirty="0">
                <a:latin typeface="Times New Roman" panose="02020603050405020304" pitchFamily="18" charset="0"/>
              </a:rPr>
              <a:t>Goal – Develop goals that will allow you to identify when the VS Objective has been achieved. Consistent performance at the goal level indicates that the objective has been satisfied.</a:t>
            </a:r>
          </a:p>
          <a:p>
            <a:pPr>
              <a:lnSpc>
                <a:spcPct val="80000"/>
              </a:lnSpc>
            </a:pPr>
            <a:r>
              <a:rPr lang="en-US" altLang="en-US" sz="1200" dirty="0">
                <a:latin typeface="Times New Roman" panose="02020603050405020304" pitchFamily="18" charset="0"/>
              </a:rPr>
              <a:t>Target Completion Dates – Identify the date to achieve the VS Objective/Goal. Keep in mind the interrelationships that exist between the objectives and prioritize appropriately. There is not always a 1 to 1 relationship between kaizen activities and objectives. A single objective may require multiple kaizens to reach the goal. </a:t>
            </a:r>
          </a:p>
          <a:p>
            <a:pPr>
              <a:lnSpc>
                <a:spcPct val="80000"/>
              </a:lnSpc>
            </a:pPr>
            <a:r>
              <a:rPr lang="en-US" altLang="en-US" sz="1200" dirty="0">
                <a:latin typeface="Times New Roman" panose="02020603050405020304" pitchFamily="18" charset="0"/>
              </a:rPr>
              <a:t>Owners of the Value Stream – High enough in the organization to effectively prioritize the objective. Insures that sufficient resources are invested to reach the goal. Eliminates any obstacles and follows up with the team to ensure timeline is maintained.</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42176328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VSM is an incremental and repeatable cycle. Full optimization of the value stream sometimes </a:t>
            </a:r>
            <a:r>
              <a:rPr lang="en-US" altLang="ja-JP" dirty="0" err="1">
                <a:latin typeface="Times New Roman" panose="02020603050405020304" pitchFamily="18" charset="0"/>
              </a:rPr>
              <a:t>isn</a:t>
            </a:r>
            <a:r>
              <a:rPr lang="ja-JP" altLang="en-US" dirty="0">
                <a:latin typeface="Arial" panose="020B0604020202020204" pitchFamily="34" charset="0"/>
              </a:rPr>
              <a:t>’</a:t>
            </a:r>
            <a:r>
              <a:rPr lang="en-US" altLang="ja-JP" dirty="0">
                <a:latin typeface="Times New Roman" panose="02020603050405020304" pitchFamily="18" charset="0"/>
              </a:rPr>
              <a:t>t realized until the third or fourth iteration.</a:t>
            </a:r>
            <a:r>
              <a:rPr lang="ja-JP" altLang="en-US" dirty="0">
                <a:latin typeface="Arial" panose="020B0604020202020204" pitchFamily="34" charset="0"/>
              </a:rPr>
              <a:t>”</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470669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DO:</a:t>
            </a:r>
            <a:r>
              <a:rPr lang="en-US" altLang="en-US" dirty="0">
                <a:latin typeface="Times New Roman" panose="02020603050405020304" pitchFamily="18" charset="0"/>
              </a:rPr>
              <a:t> Review points on the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35415622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DO:</a:t>
            </a:r>
            <a:r>
              <a:rPr lang="en-US" altLang="en-US" dirty="0">
                <a:latin typeface="Times New Roman" panose="02020603050405020304" pitchFamily="18" charset="0"/>
              </a:rPr>
              <a:t> Review points on the slide.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10784736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DO</a:t>
            </a:r>
            <a:r>
              <a:rPr lang="en-US" altLang="en-US" dirty="0">
                <a:latin typeface="Times New Roman" panose="02020603050405020304" pitchFamily="18" charset="0"/>
              </a:rPr>
              <a:t>: Review points on the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11637469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This is a sample of an excerpt from a site plan showing scheduled events from two different Value Streams (New Mortgage and Debt Consolidation).</a:t>
            </a:r>
            <a:r>
              <a:rPr lang="ja-JP" altLang="en-US" dirty="0">
                <a:latin typeface="Arial" panose="020B0604020202020204" pitchFamily="34" charset="0"/>
              </a:rPr>
              <a:t>”</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1479774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246221"/>
          </a:xfrm>
          <a:prstGeom prst="rect">
            <a:avLst/>
          </a:prstGeom>
          <a:noFill/>
        </p:spPr>
        <p:txBody>
          <a:bodyPr wrap="square" rtlCol="0">
            <a:spAutoFit/>
          </a:bodyPr>
          <a:lstStyle/>
          <a:p>
            <a:r>
              <a:rPr lang="en-US" sz="1000" dirty="0"/>
              <a:t>VSM ROADMAP ENG REV4.0</a:t>
            </a: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emf"/><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emf"/><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2"/>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1200329"/>
          </a:xfrm>
          <a:prstGeom prst="rect">
            <a:avLst/>
          </a:prstGeom>
          <a:noFill/>
        </p:spPr>
        <p:txBody>
          <a:bodyPr wrap="square" rtlCol="0">
            <a:spAutoFit/>
          </a:bodyPr>
          <a:lstStyle/>
          <a:p>
            <a:pPr algn="ctr"/>
            <a:r>
              <a:rPr lang="en-US" sz="3600" dirty="0" err="1">
                <a:latin typeface="Roboto" panose="02000000000000000000" pitchFamily="2" charset="0"/>
                <a:ea typeface="Roboto" panose="02000000000000000000" pitchFamily="2" charset="0"/>
                <a:cs typeface="Roboto" panose="02000000000000000000" pitchFamily="2" charset="0"/>
              </a:rPr>
              <a:t>VSMi</a:t>
            </a:r>
            <a:r>
              <a:rPr lang="en-US" sz="3600" dirty="0">
                <a:latin typeface="Roboto" panose="02000000000000000000" pitchFamily="2" charset="0"/>
                <a:ea typeface="Roboto" panose="02000000000000000000" pitchFamily="2" charset="0"/>
                <a:cs typeface="Roboto" panose="02000000000000000000" pitchFamily="2" charset="0"/>
              </a:rPr>
              <a:t> Roadmap</a:t>
            </a:r>
          </a:p>
          <a:p>
            <a:pPr algn="ctr"/>
            <a:endParaRPr lang="en-US" sz="3600" dirty="0">
              <a:latin typeface="Roboto" panose="02000000000000000000" pitchFamily="2" charset="0"/>
              <a:ea typeface="Roboto" panose="02000000000000000000" pitchFamily="2" charset="0"/>
              <a:cs typeface="Roboto" panose="02000000000000000000" pitchFamily="2" charset="0"/>
            </a:endParaRP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386632"/>
            <a:ext cx="2743200" cy="331932"/>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a:t>
            </a:fld>
            <a:endParaRPr lang="en-US"/>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2"/>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Value Stream Mapping Defined</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a:xfrm>
            <a:off x="822678" y="3428524"/>
            <a:ext cx="5157787" cy="823912"/>
          </a:xfrm>
        </p:spPr>
        <p:txBody>
          <a:bodyPr/>
          <a:lstStyle/>
          <a:p>
            <a:r>
              <a:rPr lang="en-US" dirty="0"/>
              <a:t>Key Characteristics</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a:xfrm>
            <a:off x="839788" y="4423409"/>
            <a:ext cx="5157787" cy="2177733"/>
          </a:xfrm>
        </p:spPr>
        <p:txBody>
          <a:bodyPr>
            <a:normAutofit fontScale="70000" lnSpcReduction="20000"/>
          </a:bodyPr>
          <a:lstStyle/>
          <a:p>
            <a:r>
              <a:rPr lang="en-US" dirty="0"/>
              <a:t>VSM is a graphical representation that uses a common mapping language</a:t>
            </a:r>
          </a:p>
          <a:p>
            <a:r>
              <a:rPr lang="en-US" dirty="0"/>
              <a:t>VSM provides the basis and direction for identifying improvement opportunities</a:t>
            </a:r>
          </a:p>
          <a:p>
            <a:r>
              <a:rPr lang="en-US" dirty="0"/>
              <a:t>Conducting VSM does not in and of itself yield any improvements… the power is in the plan! </a:t>
            </a:r>
          </a:p>
          <a:p>
            <a:endParaRPr lang="en-US" dirty="0"/>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a:xfrm>
            <a:off x="6155090" y="3428524"/>
            <a:ext cx="5183188" cy="823912"/>
          </a:xfrm>
        </p:spPr>
        <p:txBody>
          <a:bodyPr/>
          <a:lstStyle/>
          <a:p>
            <a:r>
              <a:rPr lang="en-US" dirty="0"/>
              <a:t>Components of VSM</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172200" y="4423409"/>
            <a:ext cx="5183188" cy="2177733"/>
          </a:xfrm>
        </p:spPr>
        <p:txBody>
          <a:bodyPr>
            <a:normAutofit fontScale="70000" lnSpcReduction="20000"/>
          </a:bodyPr>
          <a:lstStyle/>
          <a:p>
            <a:r>
              <a:rPr lang="en-US" dirty="0"/>
              <a:t>Current State Value Stream Map</a:t>
            </a:r>
          </a:p>
          <a:p>
            <a:r>
              <a:rPr lang="en-US" dirty="0"/>
              <a:t>Mark-Up of Current State </a:t>
            </a:r>
            <a:br>
              <a:rPr lang="en-US" dirty="0"/>
            </a:br>
            <a:r>
              <a:rPr lang="en-US" dirty="0"/>
              <a:t>Value Stream Map</a:t>
            </a:r>
          </a:p>
          <a:p>
            <a:r>
              <a:rPr lang="en-US" dirty="0"/>
              <a:t>Future State Value Stream Map</a:t>
            </a:r>
          </a:p>
          <a:p>
            <a:r>
              <a:rPr lang="en-US" dirty="0"/>
              <a:t>Value Stream Plan</a:t>
            </a:r>
          </a:p>
          <a:p>
            <a:endParaRPr lang="en-US"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a:t>
            </a:fld>
            <a:endParaRPr lang="en-US"/>
          </a:p>
        </p:txBody>
      </p:sp>
      <p:grpSp>
        <p:nvGrpSpPr>
          <p:cNvPr id="10" name="Group 9">
            <a:extLst>
              <a:ext uri="{FF2B5EF4-FFF2-40B4-BE49-F238E27FC236}">
                <a16:creationId xmlns:a16="http://schemas.microsoft.com/office/drawing/2014/main" id="{B47AFE3C-B125-AEEF-3EA8-2E459BAA768D}"/>
              </a:ext>
            </a:extLst>
          </p:cNvPr>
          <p:cNvGrpSpPr/>
          <p:nvPr/>
        </p:nvGrpSpPr>
        <p:grpSpPr>
          <a:xfrm>
            <a:off x="2095594" y="1929052"/>
            <a:ext cx="8212138" cy="1614487"/>
            <a:chOff x="1439545" y="1711882"/>
            <a:chExt cx="8212138" cy="1614487"/>
          </a:xfrm>
        </p:grpSpPr>
        <p:sp>
          <p:nvSpPr>
            <p:cNvPr id="7" name="Rectangle 3">
              <a:extLst>
                <a:ext uri="{FF2B5EF4-FFF2-40B4-BE49-F238E27FC236}">
                  <a16:creationId xmlns:a16="http://schemas.microsoft.com/office/drawing/2014/main" id="{3EDF77A4-B056-33BF-1E15-CEF4AB2A5880}"/>
                </a:ext>
              </a:extLst>
            </p:cNvPr>
            <p:cNvSpPr>
              <a:spLocks noChangeArrowheads="1"/>
            </p:cNvSpPr>
            <p:nvPr/>
          </p:nvSpPr>
          <p:spPr bwMode="auto">
            <a:xfrm>
              <a:off x="1439545" y="1891269"/>
              <a:ext cx="8212138" cy="143510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15000"/>
                </a:lnSpc>
                <a:spcBef>
                  <a:spcPct val="50000"/>
                </a:spcBef>
                <a:spcAft>
                  <a:spcPct val="50000"/>
                </a:spcAft>
                <a:buClr>
                  <a:srgbClr val="006699"/>
                </a:buClr>
                <a:buSzPct val="40000"/>
                <a:buFont typeface="Wingdings" panose="05000000000000000000" pitchFamily="2" charset="2"/>
                <a:buNone/>
              </a:pPr>
              <a:r>
                <a:rPr lang="en-US" altLang="en-US" sz="2000" b="0" dirty="0">
                  <a:solidFill>
                    <a:schemeClr val="tx1"/>
                  </a:solidFill>
                  <a:latin typeface="Roboto" panose="02000000000000000000" pitchFamily="2" charset="0"/>
                  <a:ea typeface="Roboto" panose="02000000000000000000" pitchFamily="2" charset="0"/>
                </a:rPr>
                <a:t>VSM is a snapshot of all actions both value added, and non-value added </a:t>
              </a:r>
              <a:br>
                <a:rPr lang="en-US" altLang="en-US" sz="2000" b="0" dirty="0">
                  <a:solidFill>
                    <a:schemeClr val="tx1"/>
                  </a:solidFill>
                  <a:latin typeface="Roboto" panose="02000000000000000000" pitchFamily="2" charset="0"/>
                  <a:ea typeface="Roboto" panose="02000000000000000000" pitchFamily="2" charset="0"/>
                </a:rPr>
              </a:br>
              <a:r>
                <a:rPr lang="en-US" altLang="en-US" sz="2000" b="0" dirty="0">
                  <a:solidFill>
                    <a:schemeClr val="tx1"/>
                  </a:solidFill>
                  <a:latin typeface="Roboto" panose="02000000000000000000" pitchFamily="2" charset="0"/>
                  <a:ea typeface="Roboto" panose="02000000000000000000" pitchFamily="2" charset="0"/>
                </a:rPr>
                <a:t>required to bring a product or service through the main material </a:t>
              </a:r>
              <a:br>
                <a:rPr lang="en-US" altLang="en-US" sz="2000" b="0" dirty="0">
                  <a:solidFill>
                    <a:schemeClr val="tx1"/>
                  </a:solidFill>
                  <a:latin typeface="Roboto" panose="02000000000000000000" pitchFamily="2" charset="0"/>
                  <a:ea typeface="Roboto" panose="02000000000000000000" pitchFamily="2" charset="0"/>
                </a:rPr>
              </a:br>
              <a:r>
                <a:rPr lang="en-US" altLang="en-US" sz="2000" b="0" dirty="0">
                  <a:solidFill>
                    <a:schemeClr val="tx1"/>
                  </a:solidFill>
                  <a:latin typeface="Roboto" panose="02000000000000000000" pitchFamily="2" charset="0"/>
                  <a:ea typeface="Roboto" panose="02000000000000000000" pitchFamily="2" charset="0"/>
                </a:rPr>
                <a:t>and information flows</a:t>
              </a:r>
            </a:p>
          </p:txBody>
        </p:sp>
        <p:sp>
          <p:nvSpPr>
            <p:cNvPr id="9" name="Text Box 4">
              <a:extLst>
                <a:ext uri="{FF2B5EF4-FFF2-40B4-BE49-F238E27FC236}">
                  <a16:creationId xmlns:a16="http://schemas.microsoft.com/office/drawing/2014/main" id="{E535AC7D-6648-9018-8FA0-6636C57ABA71}"/>
                </a:ext>
              </a:extLst>
            </p:cNvPr>
            <p:cNvSpPr txBox="1">
              <a:spLocks noChangeArrowheads="1"/>
            </p:cNvSpPr>
            <p:nvPr/>
          </p:nvSpPr>
          <p:spPr bwMode="auto">
            <a:xfrm>
              <a:off x="1548259" y="1711882"/>
              <a:ext cx="2632452" cy="39087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2400" dirty="0">
                  <a:solidFill>
                    <a:schemeClr val="tx1"/>
                  </a:solidFill>
                  <a:latin typeface="Roboto" panose="02000000000000000000" pitchFamily="2" charset="0"/>
                  <a:ea typeface="Roboto" panose="02000000000000000000" pitchFamily="2" charset="0"/>
                </a:rPr>
                <a:t>Definition of VSM</a:t>
              </a:r>
            </a:p>
          </p:txBody>
        </p:sp>
      </p:grpSp>
    </p:spTree>
    <p:extLst>
      <p:ext uri="{BB962C8B-B14F-4D97-AF65-F5344CB8AC3E}">
        <p14:creationId xmlns:p14="http://schemas.microsoft.com/office/powerpoint/2010/main" val="3388789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The “</a:t>
            </a:r>
            <a:r>
              <a:rPr lang="en-US" dirty="0" err="1"/>
              <a:t>i</a:t>
            </a:r>
            <a:r>
              <a:rPr lang="en-US" dirty="0"/>
              <a:t>” in </a:t>
            </a:r>
            <a:r>
              <a:rPr lang="en-US" dirty="0" err="1"/>
              <a:t>VSMi</a:t>
            </a:r>
            <a:r>
              <a:rPr lang="en-US" dirty="0"/>
              <a:t> </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err="1"/>
              <a:t>VSMi</a:t>
            </a:r>
            <a:r>
              <a:rPr lang="en-US" dirty="0"/>
              <a:t> is about identifying and eliminating waste associated with the flow of information</a:t>
            </a:r>
          </a:p>
          <a:p>
            <a:r>
              <a:rPr lang="en-US" dirty="0"/>
              <a:t>Information flow is defined as adding to, subtracting from, interpreting, or reformatting information</a:t>
            </a:r>
          </a:p>
          <a:p>
            <a:r>
              <a:rPr lang="en-US" dirty="0"/>
              <a:t>Information must arrive at the to the right place, at the right time, and to the right person</a:t>
            </a:r>
          </a:p>
          <a:p>
            <a:r>
              <a:rPr lang="en-US" dirty="0"/>
              <a:t>Processes today are not designed around information flow</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a:t>
            </a:fld>
            <a:endParaRPr lang="en-US"/>
          </a:p>
        </p:txBody>
      </p:sp>
    </p:spTree>
    <p:extLst>
      <p:ext uri="{BB962C8B-B14F-4D97-AF65-F5344CB8AC3E}">
        <p14:creationId xmlns:p14="http://schemas.microsoft.com/office/powerpoint/2010/main" val="2877013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Value Stream Map and Process Map Distinction</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a:t>
            </a:fld>
            <a:endParaRPr lang="en-US"/>
          </a:p>
        </p:txBody>
      </p:sp>
      <p:grpSp>
        <p:nvGrpSpPr>
          <p:cNvPr id="72" name="Group 71">
            <a:extLst>
              <a:ext uri="{FF2B5EF4-FFF2-40B4-BE49-F238E27FC236}">
                <a16:creationId xmlns:a16="http://schemas.microsoft.com/office/drawing/2014/main" id="{EF01F14C-FD01-E435-9637-9ADD356FA8BB}"/>
              </a:ext>
            </a:extLst>
          </p:cNvPr>
          <p:cNvGrpSpPr/>
          <p:nvPr/>
        </p:nvGrpSpPr>
        <p:grpSpPr>
          <a:xfrm>
            <a:off x="931545" y="1874520"/>
            <a:ext cx="10328910" cy="4297680"/>
            <a:chOff x="381000" y="1535113"/>
            <a:chExt cx="8342313" cy="4637087"/>
          </a:xfrm>
        </p:grpSpPr>
        <p:sp>
          <p:nvSpPr>
            <p:cNvPr id="3" name="AutoShape 2">
              <a:extLst>
                <a:ext uri="{FF2B5EF4-FFF2-40B4-BE49-F238E27FC236}">
                  <a16:creationId xmlns:a16="http://schemas.microsoft.com/office/drawing/2014/main" id="{2C16AACA-F229-6258-66B9-5A8868FF9D02}"/>
                </a:ext>
              </a:extLst>
            </p:cNvPr>
            <p:cNvSpPr>
              <a:spLocks noChangeArrowheads="1"/>
            </p:cNvSpPr>
            <p:nvPr/>
          </p:nvSpPr>
          <p:spPr bwMode="auto">
            <a:xfrm>
              <a:off x="381000" y="4508500"/>
              <a:ext cx="4432300" cy="1663700"/>
            </a:xfrm>
            <a:prstGeom prst="upArrow">
              <a:avLst>
                <a:gd name="adj1" fmla="val 83704"/>
                <a:gd name="adj2" fmla="val 30343"/>
              </a:avLst>
            </a:prstGeom>
            <a:solidFill>
              <a:schemeClr val="accent3"/>
            </a:solidFill>
            <a:ln w="12700" cap="sq">
              <a:solidFill>
                <a:schemeClr val="tx1"/>
              </a:solidFill>
              <a:miter lim="800000"/>
              <a:headEnd/>
              <a:tailEnd/>
            </a:ln>
          </p:spPr>
          <p:txBody>
            <a:bodyPr wrap="none" anchor="ctr"/>
            <a:lstStyle>
              <a:lvl1pPr marL="2286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buFontTx/>
                <a:buChar char="•"/>
              </a:pPr>
              <a:r>
                <a:rPr lang="en-US" altLang="en-US" sz="1200">
                  <a:latin typeface="Roboto" panose="02000000000000000000" pitchFamily="2" charset="0"/>
                  <a:ea typeface="Roboto" panose="02000000000000000000" pitchFamily="2" charset="0"/>
                </a:rPr>
                <a:t>High-level snapshot of end-to-end business</a:t>
              </a:r>
              <a:br>
                <a:rPr lang="en-US" altLang="en-US" sz="1200">
                  <a:latin typeface="Roboto" panose="02000000000000000000" pitchFamily="2" charset="0"/>
                  <a:ea typeface="Roboto" panose="02000000000000000000" pitchFamily="2" charset="0"/>
                </a:rPr>
              </a:br>
              <a:endParaRPr lang="en-US" altLang="en-US" sz="1200">
                <a:latin typeface="Roboto" panose="02000000000000000000" pitchFamily="2" charset="0"/>
                <a:ea typeface="Roboto" panose="02000000000000000000" pitchFamily="2" charset="0"/>
              </a:endParaRPr>
            </a:p>
            <a:p>
              <a:pPr algn="l">
                <a:buFontTx/>
                <a:buChar char="•"/>
              </a:pPr>
              <a:r>
                <a:rPr lang="en-US" altLang="en-US" sz="1200">
                  <a:latin typeface="Roboto" panose="02000000000000000000" pitchFamily="2" charset="0"/>
                  <a:ea typeface="Roboto" panose="02000000000000000000" pitchFamily="2" charset="0"/>
                </a:rPr>
                <a:t>Used to identify where opportunities for </a:t>
              </a:r>
              <a:br>
                <a:rPr lang="en-US" altLang="en-US" sz="1200">
                  <a:latin typeface="Roboto" panose="02000000000000000000" pitchFamily="2" charset="0"/>
                  <a:ea typeface="Roboto" panose="02000000000000000000" pitchFamily="2" charset="0"/>
                </a:rPr>
              </a:br>
              <a:r>
                <a:rPr lang="en-US" altLang="en-US" sz="1200">
                  <a:latin typeface="Roboto" panose="02000000000000000000" pitchFamily="2" charset="0"/>
                  <a:ea typeface="Roboto" panose="02000000000000000000" pitchFamily="2" charset="0"/>
                </a:rPr>
                <a:t>improvement exist</a:t>
              </a:r>
              <a:br>
                <a:rPr lang="en-US" altLang="en-US" sz="1200">
                  <a:latin typeface="Roboto" panose="02000000000000000000" pitchFamily="2" charset="0"/>
                  <a:ea typeface="Roboto" panose="02000000000000000000" pitchFamily="2" charset="0"/>
                </a:rPr>
              </a:br>
              <a:endParaRPr lang="en-US" altLang="en-US" sz="1200">
                <a:latin typeface="Roboto" panose="02000000000000000000" pitchFamily="2" charset="0"/>
                <a:ea typeface="Roboto" panose="02000000000000000000" pitchFamily="2" charset="0"/>
              </a:endParaRPr>
            </a:p>
            <a:p>
              <a:pPr algn="l">
                <a:buFontTx/>
                <a:buChar char="•"/>
              </a:pPr>
              <a:r>
                <a:rPr lang="en-US" altLang="en-US" sz="1200">
                  <a:latin typeface="Roboto" panose="02000000000000000000" pitchFamily="2" charset="0"/>
                  <a:ea typeface="Roboto" panose="02000000000000000000" pitchFamily="2" charset="0"/>
                </a:rPr>
                <a:t>Does not incorporate decision loops</a:t>
              </a:r>
            </a:p>
          </p:txBody>
        </p:sp>
        <p:grpSp>
          <p:nvGrpSpPr>
            <p:cNvPr id="5" name="Group 3">
              <a:extLst>
                <a:ext uri="{FF2B5EF4-FFF2-40B4-BE49-F238E27FC236}">
                  <a16:creationId xmlns:a16="http://schemas.microsoft.com/office/drawing/2014/main" id="{A2E66ABE-96B7-373B-446D-B02BD090CF39}"/>
                </a:ext>
              </a:extLst>
            </p:cNvPr>
            <p:cNvGrpSpPr>
              <a:grpSpLocks/>
            </p:cNvGrpSpPr>
            <p:nvPr/>
          </p:nvGrpSpPr>
          <p:grpSpPr bwMode="auto">
            <a:xfrm>
              <a:off x="485775" y="1535113"/>
              <a:ext cx="4264025" cy="2870200"/>
              <a:chOff x="68" y="876"/>
              <a:chExt cx="3244" cy="1908"/>
            </a:xfrm>
          </p:grpSpPr>
          <p:sp>
            <p:nvSpPr>
              <p:cNvPr id="6" name="Rectangle 4">
                <a:extLst>
                  <a:ext uri="{FF2B5EF4-FFF2-40B4-BE49-F238E27FC236}">
                    <a16:creationId xmlns:a16="http://schemas.microsoft.com/office/drawing/2014/main" id="{11A097DD-4FB5-7141-55BE-8335BA72BBE4}"/>
                  </a:ext>
                </a:extLst>
              </p:cNvPr>
              <p:cNvSpPr>
                <a:spLocks noChangeArrowheads="1"/>
              </p:cNvSpPr>
              <p:nvPr/>
            </p:nvSpPr>
            <p:spPr bwMode="auto">
              <a:xfrm>
                <a:off x="68" y="876"/>
                <a:ext cx="3244" cy="1908"/>
              </a:xfrm>
              <a:prstGeom prst="rect">
                <a:avLst/>
              </a:prstGeom>
              <a:solidFill>
                <a:schemeClr val="bg2"/>
              </a:solidFill>
              <a:ln w="12700" cap="sq">
                <a:solidFill>
                  <a:schemeClr val="tx1"/>
                </a:solidFill>
                <a:miter lim="800000"/>
                <a:headEnd type="none" w="sm" len="sm"/>
                <a:tailEnd type="none" w="sm" len="sm"/>
              </a:ln>
              <a:effectLst>
                <a:outerShdw blurRad="63500" dist="63500" dir="3187806" algn="ctr" rotWithShape="0">
                  <a:schemeClr val="tx1">
                    <a:alpha val="74998"/>
                  </a:schemeClr>
                </a:outerShdw>
              </a:effectLst>
            </p:spPr>
            <p:txBody>
              <a:bodyPr wrap="none"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grpSp>
            <p:nvGrpSpPr>
              <p:cNvPr id="7" name="Group 5">
                <a:extLst>
                  <a:ext uri="{FF2B5EF4-FFF2-40B4-BE49-F238E27FC236}">
                    <a16:creationId xmlns:a16="http://schemas.microsoft.com/office/drawing/2014/main" id="{564C8143-5347-120C-26C7-A21E55470ACD}"/>
                  </a:ext>
                </a:extLst>
              </p:cNvPr>
              <p:cNvGrpSpPr>
                <a:grpSpLocks/>
              </p:cNvGrpSpPr>
              <p:nvPr/>
            </p:nvGrpSpPr>
            <p:grpSpPr bwMode="auto">
              <a:xfrm>
                <a:off x="144" y="1008"/>
                <a:ext cx="581" cy="367"/>
                <a:chOff x="933" y="2179"/>
                <a:chExt cx="658" cy="463"/>
              </a:xfrm>
            </p:grpSpPr>
            <p:sp>
              <p:nvSpPr>
                <p:cNvPr id="56" name="Rectangle 6">
                  <a:extLst>
                    <a:ext uri="{FF2B5EF4-FFF2-40B4-BE49-F238E27FC236}">
                      <a16:creationId xmlns:a16="http://schemas.microsoft.com/office/drawing/2014/main" id="{E5A79A5E-2E5D-BE36-72E6-02A37387087B}"/>
                    </a:ext>
                  </a:extLst>
                </p:cNvPr>
                <p:cNvSpPr>
                  <a:spLocks noChangeArrowheads="1"/>
                </p:cNvSpPr>
                <p:nvPr/>
              </p:nvSpPr>
              <p:spPr bwMode="auto">
                <a:xfrm>
                  <a:off x="1545" y="2179"/>
                  <a:ext cx="41" cy="250"/>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7" name="Rectangle 7">
                  <a:extLst>
                    <a:ext uri="{FF2B5EF4-FFF2-40B4-BE49-F238E27FC236}">
                      <a16:creationId xmlns:a16="http://schemas.microsoft.com/office/drawing/2014/main" id="{0504077E-971C-6BD7-A5BB-7CC95DE99450}"/>
                    </a:ext>
                  </a:extLst>
                </p:cNvPr>
                <p:cNvSpPr>
                  <a:spLocks noChangeArrowheads="1"/>
                </p:cNvSpPr>
                <p:nvPr/>
              </p:nvSpPr>
              <p:spPr bwMode="auto">
                <a:xfrm>
                  <a:off x="933" y="2435"/>
                  <a:ext cx="658" cy="208"/>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8" name="AutoShape 8">
                  <a:extLst>
                    <a:ext uri="{FF2B5EF4-FFF2-40B4-BE49-F238E27FC236}">
                      <a16:creationId xmlns:a16="http://schemas.microsoft.com/office/drawing/2014/main" id="{E2D5AB62-5223-6C91-F8D8-B4DC40544D3F}"/>
                    </a:ext>
                  </a:extLst>
                </p:cNvPr>
                <p:cNvSpPr>
                  <a:spLocks noChangeArrowheads="1"/>
                </p:cNvSpPr>
                <p:nvPr/>
              </p:nvSpPr>
              <p:spPr bwMode="auto">
                <a:xfrm>
                  <a:off x="1342" y="2245"/>
                  <a:ext cx="202" cy="189"/>
                </a:xfrm>
                <a:prstGeom prst="rtTriangle">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9" name="AutoShape 9">
                  <a:extLst>
                    <a:ext uri="{FF2B5EF4-FFF2-40B4-BE49-F238E27FC236}">
                      <a16:creationId xmlns:a16="http://schemas.microsoft.com/office/drawing/2014/main" id="{6535A95A-890A-0082-A7C5-A3C62D122F65}"/>
                    </a:ext>
                  </a:extLst>
                </p:cNvPr>
                <p:cNvSpPr>
                  <a:spLocks noChangeArrowheads="1"/>
                </p:cNvSpPr>
                <p:nvPr/>
              </p:nvSpPr>
              <p:spPr bwMode="auto">
                <a:xfrm>
                  <a:off x="1138" y="2245"/>
                  <a:ext cx="202" cy="189"/>
                </a:xfrm>
                <a:prstGeom prst="rtTriangle">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0" name="AutoShape 10">
                  <a:extLst>
                    <a:ext uri="{FF2B5EF4-FFF2-40B4-BE49-F238E27FC236}">
                      <a16:creationId xmlns:a16="http://schemas.microsoft.com/office/drawing/2014/main" id="{71CECD7C-5536-E054-BF37-D69829BA797A}"/>
                    </a:ext>
                  </a:extLst>
                </p:cNvPr>
                <p:cNvSpPr>
                  <a:spLocks noChangeArrowheads="1"/>
                </p:cNvSpPr>
                <p:nvPr/>
              </p:nvSpPr>
              <p:spPr bwMode="auto">
                <a:xfrm>
                  <a:off x="934" y="2245"/>
                  <a:ext cx="201" cy="189"/>
                </a:xfrm>
                <a:prstGeom prst="rtTriangle">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1" name="Rectangle 11">
                  <a:extLst>
                    <a:ext uri="{FF2B5EF4-FFF2-40B4-BE49-F238E27FC236}">
                      <a16:creationId xmlns:a16="http://schemas.microsoft.com/office/drawing/2014/main" id="{0D5702EA-290C-8A6C-1F83-3963FD3C0C54}"/>
                    </a:ext>
                  </a:extLst>
                </p:cNvPr>
                <p:cNvSpPr>
                  <a:spLocks noChangeArrowheads="1"/>
                </p:cNvSpPr>
                <p:nvPr/>
              </p:nvSpPr>
              <p:spPr bwMode="auto">
                <a:xfrm>
                  <a:off x="974" y="2355"/>
                  <a:ext cx="27" cy="51"/>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2" name="Rectangle 12">
                  <a:extLst>
                    <a:ext uri="{FF2B5EF4-FFF2-40B4-BE49-F238E27FC236}">
                      <a16:creationId xmlns:a16="http://schemas.microsoft.com/office/drawing/2014/main" id="{B9147FD4-3DBA-CF0F-974A-4167C56D4D2C}"/>
                    </a:ext>
                  </a:extLst>
                </p:cNvPr>
                <p:cNvSpPr>
                  <a:spLocks noChangeArrowheads="1"/>
                </p:cNvSpPr>
                <p:nvPr/>
              </p:nvSpPr>
              <p:spPr bwMode="auto">
                <a:xfrm>
                  <a:off x="1185" y="2355"/>
                  <a:ext cx="27" cy="51"/>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3" name="Rectangle 13">
                  <a:extLst>
                    <a:ext uri="{FF2B5EF4-FFF2-40B4-BE49-F238E27FC236}">
                      <a16:creationId xmlns:a16="http://schemas.microsoft.com/office/drawing/2014/main" id="{5407EF25-CA80-99AA-43A5-22D55492D9C6}"/>
                    </a:ext>
                  </a:extLst>
                </p:cNvPr>
                <p:cNvSpPr>
                  <a:spLocks noChangeArrowheads="1"/>
                </p:cNvSpPr>
                <p:nvPr/>
              </p:nvSpPr>
              <p:spPr bwMode="auto">
                <a:xfrm>
                  <a:off x="1395" y="2355"/>
                  <a:ext cx="27" cy="51"/>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grpSp>
            <p:nvGrpSpPr>
              <p:cNvPr id="8" name="Group 14">
                <a:extLst>
                  <a:ext uri="{FF2B5EF4-FFF2-40B4-BE49-F238E27FC236}">
                    <a16:creationId xmlns:a16="http://schemas.microsoft.com/office/drawing/2014/main" id="{31E8548D-F045-9514-792E-AD9BF907947F}"/>
                  </a:ext>
                </a:extLst>
              </p:cNvPr>
              <p:cNvGrpSpPr>
                <a:grpSpLocks/>
              </p:cNvGrpSpPr>
              <p:nvPr/>
            </p:nvGrpSpPr>
            <p:grpSpPr bwMode="auto">
              <a:xfrm>
                <a:off x="2592" y="1008"/>
                <a:ext cx="581" cy="367"/>
                <a:chOff x="933" y="2179"/>
                <a:chExt cx="658" cy="463"/>
              </a:xfrm>
            </p:grpSpPr>
            <p:sp>
              <p:nvSpPr>
                <p:cNvPr id="48" name="Rectangle 15">
                  <a:extLst>
                    <a:ext uri="{FF2B5EF4-FFF2-40B4-BE49-F238E27FC236}">
                      <a16:creationId xmlns:a16="http://schemas.microsoft.com/office/drawing/2014/main" id="{8F57F6AC-EBE3-56EF-30A7-4681869E792C}"/>
                    </a:ext>
                  </a:extLst>
                </p:cNvPr>
                <p:cNvSpPr>
                  <a:spLocks noChangeArrowheads="1"/>
                </p:cNvSpPr>
                <p:nvPr/>
              </p:nvSpPr>
              <p:spPr bwMode="auto">
                <a:xfrm>
                  <a:off x="1545" y="2179"/>
                  <a:ext cx="41" cy="250"/>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9" name="Rectangle 16">
                  <a:extLst>
                    <a:ext uri="{FF2B5EF4-FFF2-40B4-BE49-F238E27FC236}">
                      <a16:creationId xmlns:a16="http://schemas.microsoft.com/office/drawing/2014/main" id="{7DF7DEA5-9F80-E7B6-8997-3B948F9CC27C}"/>
                    </a:ext>
                  </a:extLst>
                </p:cNvPr>
                <p:cNvSpPr>
                  <a:spLocks noChangeArrowheads="1"/>
                </p:cNvSpPr>
                <p:nvPr/>
              </p:nvSpPr>
              <p:spPr bwMode="auto">
                <a:xfrm>
                  <a:off x="933" y="2435"/>
                  <a:ext cx="658" cy="208"/>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0" name="AutoShape 17">
                  <a:extLst>
                    <a:ext uri="{FF2B5EF4-FFF2-40B4-BE49-F238E27FC236}">
                      <a16:creationId xmlns:a16="http://schemas.microsoft.com/office/drawing/2014/main" id="{F540BFE2-DE37-FAB1-47C5-F98CD908FAC7}"/>
                    </a:ext>
                  </a:extLst>
                </p:cNvPr>
                <p:cNvSpPr>
                  <a:spLocks noChangeArrowheads="1"/>
                </p:cNvSpPr>
                <p:nvPr/>
              </p:nvSpPr>
              <p:spPr bwMode="auto">
                <a:xfrm>
                  <a:off x="1342" y="2245"/>
                  <a:ext cx="202" cy="189"/>
                </a:xfrm>
                <a:prstGeom prst="rtTriangle">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1" name="AutoShape 18">
                  <a:extLst>
                    <a:ext uri="{FF2B5EF4-FFF2-40B4-BE49-F238E27FC236}">
                      <a16:creationId xmlns:a16="http://schemas.microsoft.com/office/drawing/2014/main" id="{BB9DBB5A-FD22-17BB-4550-557E50E42C44}"/>
                    </a:ext>
                  </a:extLst>
                </p:cNvPr>
                <p:cNvSpPr>
                  <a:spLocks noChangeArrowheads="1"/>
                </p:cNvSpPr>
                <p:nvPr/>
              </p:nvSpPr>
              <p:spPr bwMode="auto">
                <a:xfrm>
                  <a:off x="1138" y="2245"/>
                  <a:ext cx="202" cy="189"/>
                </a:xfrm>
                <a:prstGeom prst="rtTriangle">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2" name="AutoShape 19">
                  <a:extLst>
                    <a:ext uri="{FF2B5EF4-FFF2-40B4-BE49-F238E27FC236}">
                      <a16:creationId xmlns:a16="http://schemas.microsoft.com/office/drawing/2014/main" id="{B505DA99-6BAE-6ADB-4283-F53C95DF5512}"/>
                    </a:ext>
                  </a:extLst>
                </p:cNvPr>
                <p:cNvSpPr>
                  <a:spLocks noChangeArrowheads="1"/>
                </p:cNvSpPr>
                <p:nvPr/>
              </p:nvSpPr>
              <p:spPr bwMode="auto">
                <a:xfrm>
                  <a:off x="935" y="2245"/>
                  <a:ext cx="201" cy="189"/>
                </a:xfrm>
                <a:prstGeom prst="rtTriangle">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3" name="Rectangle 20">
                  <a:extLst>
                    <a:ext uri="{FF2B5EF4-FFF2-40B4-BE49-F238E27FC236}">
                      <a16:creationId xmlns:a16="http://schemas.microsoft.com/office/drawing/2014/main" id="{BC1B55C6-93DD-4CE3-E975-B51AB7E428C9}"/>
                    </a:ext>
                  </a:extLst>
                </p:cNvPr>
                <p:cNvSpPr>
                  <a:spLocks noChangeArrowheads="1"/>
                </p:cNvSpPr>
                <p:nvPr/>
              </p:nvSpPr>
              <p:spPr bwMode="auto">
                <a:xfrm>
                  <a:off x="974" y="2355"/>
                  <a:ext cx="27" cy="51"/>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4" name="Rectangle 21">
                  <a:extLst>
                    <a:ext uri="{FF2B5EF4-FFF2-40B4-BE49-F238E27FC236}">
                      <a16:creationId xmlns:a16="http://schemas.microsoft.com/office/drawing/2014/main" id="{43958262-B9CC-3CCB-721E-8E1EBA64A9F4}"/>
                    </a:ext>
                  </a:extLst>
                </p:cNvPr>
                <p:cNvSpPr>
                  <a:spLocks noChangeArrowheads="1"/>
                </p:cNvSpPr>
                <p:nvPr/>
              </p:nvSpPr>
              <p:spPr bwMode="auto">
                <a:xfrm>
                  <a:off x="1185" y="2355"/>
                  <a:ext cx="27" cy="51"/>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55" name="Rectangle 22">
                  <a:extLst>
                    <a:ext uri="{FF2B5EF4-FFF2-40B4-BE49-F238E27FC236}">
                      <a16:creationId xmlns:a16="http://schemas.microsoft.com/office/drawing/2014/main" id="{F14D5A54-F707-E64D-6CA2-08E7F51A74FD}"/>
                    </a:ext>
                  </a:extLst>
                </p:cNvPr>
                <p:cNvSpPr>
                  <a:spLocks noChangeArrowheads="1"/>
                </p:cNvSpPr>
                <p:nvPr/>
              </p:nvSpPr>
              <p:spPr bwMode="auto">
                <a:xfrm>
                  <a:off x="1396" y="2355"/>
                  <a:ext cx="27" cy="51"/>
                </a:xfrm>
                <a:prstGeom prst="rect">
                  <a:avLst/>
                </a:prstGeom>
                <a:solidFill>
                  <a:schemeClr val="tx2"/>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9" name="Rectangle 23">
                <a:extLst>
                  <a:ext uri="{FF2B5EF4-FFF2-40B4-BE49-F238E27FC236}">
                    <a16:creationId xmlns:a16="http://schemas.microsoft.com/office/drawing/2014/main" id="{7FF13EF5-1081-CE79-8D0A-55714C12E9BA}"/>
                  </a:ext>
                </a:extLst>
              </p:cNvPr>
              <p:cNvSpPr>
                <a:spLocks noChangeArrowheads="1"/>
              </p:cNvSpPr>
              <p:nvPr/>
            </p:nvSpPr>
            <p:spPr bwMode="auto">
              <a:xfrm>
                <a:off x="720" y="1818"/>
                <a:ext cx="269" cy="364"/>
              </a:xfrm>
              <a:prstGeom prst="rect">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0" name="Rectangle 24">
                <a:extLst>
                  <a:ext uri="{FF2B5EF4-FFF2-40B4-BE49-F238E27FC236}">
                    <a16:creationId xmlns:a16="http://schemas.microsoft.com/office/drawing/2014/main" id="{B89431D1-314C-09B5-6093-9FDA47D54C77}"/>
                  </a:ext>
                </a:extLst>
              </p:cNvPr>
              <p:cNvSpPr>
                <a:spLocks noChangeArrowheads="1"/>
              </p:cNvSpPr>
              <p:nvPr/>
            </p:nvSpPr>
            <p:spPr bwMode="auto">
              <a:xfrm>
                <a:off x="1454" y="1818"/>
                <a:ext cx="268" cy="364"/>
              </a:xfrm>
              <a:prstGeom prst="rect">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1" name="Rectangle 25">
                <a:extLst>
                  <a:ext uri="{FF2B5EF4-FFF2-40B4-BE49-F238E27FC236}">
                    <a16:creationId xmlns:a16="http://schemas.microsoft.com/office/drawing/2014/main" id="{F9D4239C-9DFE-C0A6-E3AD-21BEDFE40AA1}"/>
                  </a:ext>
                </a:extLst>
              </p:cNvPr>
              <p:cNvSpPr>
                <a:spLocks noChangeArrowheads="1"/>
              </p:cNvSpPr>
              <p:nvPr/>
            </p:nvSpPr>
            <p:spPr bwMode="auto">
              <a:xfrm>
                <a:off x="2169" y="1818"/>
                <a:ext cx="269" cy="364"/>
              </a:xfrm>
              <a:prstGeom prst="rect">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12" name="Line 26">
                <a:extLst>
                  <a:ext uri="{FF2B5EF4-FFF2-40B4-BE49-F238E27FC236}">
                    <a16:creationId xmlns:a16="http://schemas.microsoft.com/office/drawing/2014/main" id="{45775A94-75D3-4367-996B-1896F0BCA6D0}"/>
                  </a:ext>
                </a:extLst>
              </p:cNvPr>
              <p:cNvSpPr>
                <a:spLocks noChangeShapeType="1"/>
              </p:cNvSpPr>
              <p:nvPr/>
            </p:nvSpPr>
            <p:spPr bwMode="auto">
              <a:xfrm>
                <a:off x="726" y="1914"/>
                <a:ext cx="2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3" name="Line 27">
                <a:extLst>
                  <a:ext uri="{FF2B5EF4-FFF2-40B4-BE49-F238E27FC236}">
                    <a16:creationId xmlns:a16="http://schemas.microsoft.com/office/drawing/2014/main" id="{A6936DAC-9974-B89D-8A6D-DC77D6276BE9}"/>
                  </a:ext>
                </a:extLst>
              </p:cNvPr>
              <p:cNvSpPr>
                <a:spLocks noChangeShapeType="1"/>
              </p:cNvSpPr>
              <p:nvPr/>
            </p:nvSpPr>
            <p:spPr bwMode="auto">
              <a:xfrm>
                <a:off x="1452" y="1908"/>
                <a:ext cx="2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4" name="Line 28">
                <a:extLst>
                  <a:ext uri="{FF2B5EF4-FFF2-40B4-BE49-F238E27FC236}">
                    <a16:creationId xmlns:a16="http://schemas.microsoft.com/office/drawing/2014/main" id="{E46B518B-BCF2-8E04-4DAD-0D18A94061C2}"/>
                  </a:ext>
                </a:extLst>
              </p:cNvPr>
              <p:cNvSpPr>
                <a:spLocks noChangeShapeType="1"/>
              </p:cNvSpPr>
              <p:nvPr/>
            </p:nvSpPr>
            <p:spPr bwMode="auto">
              <a:xfrm>
                <a:off x="2172" y="1902"/>
                <a:ext cx="2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nvGrpSpPr>
              <p:cNvPr id="15" name="Group 29">
                <a:extLst>
                  <a:ext uri="{FF2B5EF4-FFF2-40B4-BE49-F238E27FC236}">
                    <a16:creationId xmlns:a16="http://schemas.microsoft.com/office/drawing/2014/main" id="{63729E60-C657-CC24-EE2B-B0D16C440664}"/>
                  </a:ext>
                </a:extLst>
              </p:cNvPr>
              <p:cNvGrpSpPr>
                <a:grpSpLocks/>
              </p:cNvGrpSpPr>
              <p:nvPr/>
            </p:nvGrpSpPr>
            <p:grpSpPr bwMode="auto">
              <a:xfrm>
                <a:off x="726" y="2271"/>
                <a:ext cx="269" cy="301"/>
                <a:chOff x="1702" y="2990"/>
                <a:chExt cx="269" cy="301"/>
              </a:xfrm>
            </p:grpSpPr>
            <p:sp>
              <p:nvSpPr>
                <p:cNvPr id="41" name="Rectangle 30">
                  <a:extLst>
                    <a:ext uri="{FF2B5EF4-FFF2-40B4-BE49-F238E27FC236}">
                      <a16:creationId xmlns:a16="http://schemas.microsoft.com/office/drawing/2014/main" id="{6D5C0FA3-2C44-9251-33AB-D62AE951484E}"/>
                    </a:ext>
                  </a:extLst>
                </p:cNvPr>
                <p:cNvSpPr>
                  <a:spLocks noChangeArrowheads="1"/>
                </p:cNvSpPr>
                <p:nvPr/>
              </p:nvSpPr>
              <p:spPr bwMode="auto">
                <a:xfrm>
                  <a:off x="1702" y="2990"/>
                  <a:ext cx="269" cy="301"/>
                </a:xfrm>
                <a:prstGeom prst="rect">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42" name="Line 31">
                  <a:extLst>
                    <a:ext uri="{FF2B5EF4-FFF2-40B4-BE49-F238E27FC236}">
                      <a16:creationId xmlns:a16="http://schemas.microsoft.com/office/drawing/2014/main" id="{3412584B-31C3-0A78-A7EC-38E05546568D}"/>
                    </a:ext>
                  </a:extLst>
                </p:cNvPr>
                <p:cNvSpPr>
                  <a:spLocks noChangeShapeType="1"/>
                </p:cNvSpPr>
                <p:nvPr/>
              </p:nvSpPr>
              <p:spPr bwMode="auto">
                <a:xfrm>
                  <a:off x="1741" y="3046"/>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3" name="Line 32">
                  <a:extLst>
                    <a:ext uri="{FF2B5EF4-FFF2-40B4-BE49-F238E27FC236}">
                      <a16:creationId xmlns:a16="http://schemas.microsoft.com/office/drawing/2014/main" id="{F5C3C822-A2AF-1410-2115-B2EB0D74E737}"/>
                    </a:ext>
                  </a:extLst>
                </p:cNvPr>
                <p:cNvSpPr>
                  <a:spLocks noChangeShapeType="1"/>
                </p:cNvSpPr>
                <p:nvPr/>
              </p:nvSpPr>
              <p:spPr bwMode="auto">
                <a:xfrm>
                  <a:off x="1741" y="3088"/>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4" name="Line 33">
                  <a:extLst>
                    <a:ext uri="{FF2B5EF4-FFF2-40B4-BE49-F238E27FC236}">
                      <a16:creationId xmlns:a16="http://schemas.microsoft.com/office/drawing/2014/main" id="{DED497FC-7DF4-F42B-C462-5A1948E07C9E}"/>
                    </a:ext>
                  </a:extLst>
                </p:cNvPr>
                <p:cNvSpPr>
                  <a:spLocks noChangeShapeType="1"/>
                </p:cNvSpPr>
                <p:nvPr/>
              </p:nvSpPr>
              <p:spPr bwMode="auto">
                <a:xfrm>
                  <a:off x="1741" y="3130"/>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5" name="Line 34">
                  <a:extLst>
                    <a:ext uri="{FF2B5EF4-FFF2-40B4-BE49-F238E27FC236}">
                      <a16:creationId xmlns:a16="http://schemas.microsoft.com/office/drawing/2014/main" id="{6088FF97-B17B-CCEA-CB7B-60BF368FB23B}"/>
                    </a:ext>
                  </a:extLst>
                </p:cNvPr>
                <p:cNvSpPr>
                  <a:spLocks noChangeShapeType="1"/>
                </p:cNvSpPr>
                <p:nvPr/>
              </p:nvSpPr>
              <p:spPr bwMode="auto">
                <a:xfrm>
                  <a:off x="1741" y="3172"/>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6" name="Line 35">
                  <a:extLst>
                    <a:ext uri="{FF2B5EF4-FFF2-40B4-BE49-F238E27FC236}">
                      <a16:creationId xmlns:a16="http://schemas.microsoft.com/office/drawing/2014/main" id="{9A1E9AA8-8961-A569-AF54-D071A18D9033}"/>
                    </a:ext>
                  </a:extLst>
                </p:cNvPr>
                <p:cNvSpPr>
                  <a:spLocks noChangeShapeType="1"/>
                </p:cNvSpPr>
                <p:nvPr/>
              </p:nvSpPr>
              <p:spPr bwMode="auto">
                <a:xfrm>
                  <a:off x="1741" y="3214"/>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7" name="Line 36">
                  <a:extLst>
                    <a:ext uri="{FF2B5EF4-FFF2-40B4-BE49-F238E27FC236}">
                      <a16:creationId xmlns:a16="http://schemas.microsoft.com/office/drawing/2014/main" id="{5D6F15C8-2B86-E037-E532-420044F823F5}"/>
                    </a:ext>
                  </a:extLst>
                </p:cNvPr>
                <p:cNvSpPr>
                  <a:spLocks noChangeShapeType="1"/>
                </p:cNvSpPr>
                <p:nvPr/>
              </p:nvSpPr>
              <p:spPr bwMode="auto">
                <a:xfrm>
                  <a:off x="1741" y="3256"/>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grpSp>
            <p:nvGrpSpPr>
              <p:cNvPr id="16" name="Group 37">
                <a:extLst>
                  <a:ext uri="{FF2B5EF4-FFF2-40B4-BE49-F238E27FC236}">
                    <a16:creationId xmlns:a16="http://schemas.microsoft.com/office/drawing/2014/main" id="{70ABFE9C-898B-097A-B99B-DF5F43DC3D1D}"/>
                  </a:ext>
                </a:extLst>
              </p:cNvPr>
              <p:cNvGrpSpPr>
                <a:grpSpLocks/>
              </p:cNvGrpSpPr>
              <p:nvPr/>
            </p:nvGrpSpPr>
            <p:grpSpPr bwMode="auto">
              <a:xfrm>
                <a:off x="1454" y="2291"/>
                <a:ext cx="269" cy="301"/>
                <a:chOff x="1702" y="2990"/>
                <a:chExt cx="269" cy="301"/>
              </a:xfrm>
            </p:grpSpPr>
            <p:sp>
              <p:nvSpPr>
                <p:cNvPr id="34" name="Rectangle 38">
                  <a:extLst>
                    <a:ext uri="{FF2B5EF4-FFF2-40B4-BE49-F238E27FC236}">
                      <a16:creationId xmlns:a16="http://schemas.microsoft.com/office/drawing/2014/main" id="{1AB41A95-1479-676C-D01D-C43DF9A8A5F5}"/>
                    </a:ext>
                  </a:extLst>
                </p:cNvPr>
                <p:cNvSpPr>
                  <a:spLocks noChangeArrowheads="1"/>
                </p:cNvSpPr>
                <p:nvPr/>
              </p:nvSpPr>
              <p:spPr bwMode="auto">
                <a:xfrm>
                  <a:off x="1702" y="2990"/>
                  <a:ext cx="268" cy="301"/>
                </a:xfrm>
                <a:prstGeom prst="rect">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5" name="Line 39">
                  <a:extLst>
                    <a:ext uri="{FF2B5EF4-FFF2-40B4-BE49-F238E27FC236}">
                      <a16:creationId xmlns:a16="http://schemas.microsoft.com/office/drawing/2014/main" id="{6E76D850-A6DA-5A4B-51DB-16DC682C280A}"/>
                    </a:ext>
                  </a:extLst>
                </p:cNvPr>
                <p:cNvSpPr>
                  <a:spLocks noChangeShapeType="1"/>
                </p:cNvSpPr>
                <p:nvPr/>
              </p:nvSpPr>
              <p:spPr bwMode="auto">
                <a:xfrm>
                  <a:off x="1741" y="3046"/>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6" name="Line 40">
                  <a:extLst>
                    <a:ext uri="{FF2B5EF4-FFF2-40B4-BE49-F238E27FC236}">
                      <a16:creationId xmlns:a16="http://schemas.microsoft.com/office/drawing/2014/main" id="{C687F9F6-534A-7802-42FC-2FAD95F4366C}"/>
                    </a:ext>
                  </a:extLst>
                </p:cNvPr>
                <p:cNvSpPr>
                  <a:spLocks noChangeShapeType="1"/>
                </p:cNvSpPr>
                <p:nvPr/>
              </p:nvSpPr>
              <p:spPr bwMode="auto">
                <a:xfrm>
                  <a:off x="1741" y="3088"/>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7" name="Line 41">
                  <a:extLst>
                    <a:ext uri="{FF2B5EF4-FFF2-40B4-BE49-F238E27FC236}">
                      <a16:creationId xmlns:a16="http://schemas.microsoft.com/office/drawing/2014/main" id="{C8CE85AF-52D7-111F-C9BB-1B80BD3A976B}"/>
                    </a:ext>
                  </a:extLst>
                </p:cNvPr>
                <p:cNvSpPr>
                  <a:spLocks noChangeShapeType="1"/>
                </p:cNvSpPr>
                <p:nvPr/>
              </p:nvSpPr>
              <p:spPr bwMode="auto">
                <a:xfrm>
                  <a:off x="1741" y="3131"/>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8" name="Line 42">
                  <a:extLst>
                    <a:ext uri="{FF2B5EF4-FFF2-40B4-BE49-F238E27FC236}">
                      <a16:creationId xmlns:a16="http://schemas.microsoft.com/office/drawing/2014/main" id="{075043B2-B03E-B8A0-D99E-7C3730F426C2}"/>
                    </a:ext>
                  </a:extLst>
                </p:cNvPr>
                <p:cNvSpPr>
                  <a:spLocks noChangeShapeType="1"/>
                </p:cNvSpPr>
                <p:nvPr/>
              </p:nvSpPr>
              <p:spPr bwMode="auto">
                <a:xfrm>
                  <a:off x="1741" y="3172"/>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9" name="Line 43">
                  <a:extLst>
                    <a:ext uri="{FF2B5EF4-FFF2-40B4-BE49-F238E27FC236}">
                      <a16:creationId xmlns:a16="http://schemas.microsoft.com/office/drawing/2014/main" id="{4ABB85D6-DA80-8114-117B-04C2E29F4320}"/>
                    </a:ext>
                  </a:extLst>
                </p:cNvPr>
                <p:cNvSpPr>
                  <a:spLocks noChangeShapeType="1"/>
                </p:cNvSpPr>
                <p:nvPr/>
              </p:nvSpPr>
              <p:spPr bwMode="auto">
                <a:xfrm>
                  <a:off x="1741" y="3214"/>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0" name="Line 44">
                  <a:extLst>
                    <a:ext uri="{FF2B5EF4-FFF2-40B4-BE49-F238E27FC236}">
                      <a16:creationId xmlns:a16="http://schemas.microsoft.com/office/drawing/2014/main" id="{4EBBC744-DE7A-ACAE-948E-3060EF40320A}"/>
                    </a:ext>
                  </a:extLst>
                </p:cNvPr>
                <p:cNvSpPr>
                  <a:spLocks noChangeShapeType="1"/>
                </p:cNvSpPr>
                <p:nvPr/>
              </p:nvSpPr>
              <p:spPr bwMode="auto">
                <a:xfrm>
                  <a:off x="1741" y="3256"/>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grpSp>
            <p:nvGrpSpPr>
              <p:cNvPr id="17" name="Group 45">
                <a:extLst>
                  <a:ext uri="{FF2B5EF4-FFF2-40B4-BE49-F238E27FC236}">
                    <a16:creationId xmlns:a16="http://schemas.microsoft.com/office/drawing/2014/main" id="{FB023B24-C3C7-1FCB-1ADE-CC7A06D8F987}"/>
                  </a:ext>
                </a:extLst>
              </p:cNvPr>
              <p:cNvGrpSpPr>
                <a:grpSpLocks/>
              </p:cNvGrpSpPr>
              <p:nvPr/>
            </p:nvGrpSpPr>
            <p:grpSpPr bwMode="auto">
              <a:xfrm>
                <a:off x="2171" y="2280"/>
                <a:ext cx="269" cy="301"/>
                <a:chOff x="1702" y="2990"/>
                <a:chExt cx="269" cy="301"/>
              </a:xfrm>
            </p:grpSpPr>
            <p:sp>
              <p:nvSpPr>
                <p:cNvPr id="27" name="Rectangle 46">
                  <a:extLst>
                    <a:ext uri="{FF2B5EF4-FFF2-40B4-BE49-F238E27FC236}">
                      <a16:creationId xmlns:a16="http://schemas.microsoft.com/office/drawing/2014/main" id="{035AE14F-F509-663A-C5BB-81CC16C97B1C}"/>
                    </a:ext>
                  </a:extLst>
                </p:cNvPr>
                <p:cNvSpPr>
                  <a:spLocks noChangeArrowheads="1"/>
                </p:cNvSpPr>
                <p:nvPr/>
              </p:nvSpPr>
              <p:spPr bwMode="auto">
                <a:xfrm>
                  <a:off x="1702" y="2990"/>
                  <a:ext cx="269" cy="302"/>
                </a:xfrm>
                <a:prstGeom prst="rect">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8" name="Line 47">
                  <a:extLst>
                    <a:ext uri="{FF2B5EF4-FFF2-40B4-BE49-F238E27FC236}">
                      <a16:creationId xmlns:a16="http://schemas.microsoft.com/office/drawing/2014/main" id="{84284AAE-E8BF-7DC4-3868-E8CE05D1703D}"/>
                    </a:ext>
                  </a:extLst>
                </p:cNvPr>
                <p:cNvSpPr>
                  <a:spLocks noChangeShapeType="1"/>
                </p:cNvSpPr>
                <p:nvPr/>
              </p:nvSpPr>
              <p:spPr bwMode="auto">
                <a:xfrm>
                  <a:off x="1740" y="3045"/>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9" name="Line 48">
                  <a:extLst>
                    <a:ext uri="{FF2B5EF4-FFF2-40B4-BE49-F238E27FC236}">
                      <a16:creationId xmlns:a16="http://schemas.microsoft.com/office/drawing/2014/main" id="{C9CB5CEF-072D-16E8-0154-663FB86EC23A}"/>
                    </a:ext>
                  </a:extLst>
                </p:cNvPr>
                <p:cNvSpPr>
                  <a:spLocks noChangeShapeType="1"/>
                </p:cNvSpPr>
                <p:nvPr/>
              </p:nvSpPr>
              <p:spPr bwMode="auto">
                <a:xfrm>
                  <a:off x="1740" y="3088"/>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0" name="Line 49">
                  <a:extLst>
                    <a:ext uri="{FF2B5EF4-FFF2-40B4-BE49-F238E27FC236}">
                      <a16:creationId xmlns:a16="http://schemas.microsoft.com/office/drawing/2014/main" id="{612A0E9F-6157-2357-1D7C-0364FCE70633}"/>
                    </a:ext>
                  </a:extLst>
                </p:cNvPr>
                <p:cNvSpPr>
                  <a:spLocks noChangeShapeType="1"/>
                </p:cNvSpPr>
                <p:nvPr/>
              </p:nvSpPr>
              <p:spPr bwMode="auto">
                <a:xfrm>
                  <a:off x="1740" y="3130"/>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1" name="Line 50">
                  <a:extLst>
                    <a:ext uri="{FF2B5EF4-FFF2-40B4-BE49-F238E27FC236}">
                      <a16:creationId xmlns:a16="http://schemas.microsoft.com/office/drawing/2014/main" id="{5695A728-A863-0E72-C9F6-B67476A32EB0}"/>
                    </a:ext>
                  </a:extLst>
                </p:cNvPr>
                <p:cNvSpPr>
                  <a:spLocks noChangeShapeType="1"/>
                </p:cNvSpPr>
                <p:nvPr/>
              </p:nvSpPr>
              <p:spPr bwMode="auto">
                <a:xfrm>
                  <a:off x="1740" y="3172"/>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2" name="Line 51">
                  <a:extLst>
                    <a:ext uri="{FF2B5EF4-FFF2-40B4-BE49-F238E27FC236}">
                      <a16:creationId xmlns:a16="http://schemas.microsoft.com/office/drawing/2014/main" id="{7A3E4E80-145B-0486-0FED-DF0E3EC0D142}"/>
                    </a:ext>
                  </a:extLst>
                </p:cNvPr>
                <p:cNvSpPr>
                  <a:spLocks noChangeShapeType="1"/>
                </p:cNvSpPr>
                <p:nvPr/>
              </p:nvSpPr>
              <p:spPr bwMode="auto">
                <a:xfrm>
                  <a:off x="1740" y="3214"/>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3" name="Line 52">
                  <a:extLst>
                    <a:ext uri="{FF2B5EF4-FFF2-40B4-BE49-F238E27FC236}">
                      <a16:creationId xmlns:a16="http://schemas.microsoft.com/office/drawing/2014/main" id="{77A72D01-EBA6-49FB-31B3-5965461B53EC}"/>
                    </a:ext>
                  </a:extLst>
                </p:cNvPr>
                <p:cNvSpPr>
                  <a:spLocks noChangeShapeType="1"/>
                </p:cNvSpPr>
                <p:nvPr/>
              </p:nvSpPr>
              <p:spPr bwMode="auto">
                <a:xfrm>
                  <a:off x="1740" y="3257"/>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18" name="Line 53">
                <a:extLst>
                  <a:ext uri="{FF2B5EF4-FFF2-40B4-BE49-F238E27FC236}">
                    <a16:creationId xmlns:a16="http://schemas.microsoft.com/office/drawing/2014/main" id="{3AA34B78-9F92-07DF-714F-AC2629507458}"/>
                  </a:ext>
                </a:extLst>
              </p:cNvPr>
              <p:cNvSpPr>
                <a:spLocks noChangeShapeType="1"/>
              </p:cNvSpPr>
              <p:nvPr/>
            </p:nvSpPr>
            <p:spPr bwMode="auto">
              <a:xfrm flipV="1">
                <a:off x="996" y="2001"/>
                <a:ext cx="459" cy="13"/>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9" name="AutoShape 54">
                <a:extLst>
                  <a:ext uri="{FF2B5EF4-FFF2-40B4-BE49-F238E27FC236}">
                    <a16:creationId xmlns:a16="http://schemas.microsoft.com/office/drawing/2014/main" id="{11BAD4AC-8D98-7112-9BA1-AE11F065F75F}"/>
                  </a:ext>
                </a:extLst>
              </p:cNvPr>
              <p:cNvSpPr>
                <a:spLocks noChangeArrowheads="1"/>
              </p:cNvSpPr>
              <p:nvPr/>
            </p:nvSpPr>
            <p:spPr bwMode="auto">
              <a:xfrm>
                <a:off x="1142" y="1919"/>
                <a:ext cx="147" cy="160"/>
              </a:xfrm>
              <a:prstGeom prst="triangle">
                <a:avLst>
                  <a:gd name="adj" fmla="val 50000"/>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200">
                    <a:solidFill>
                      <a:schemeClr val="tx1"/>
                    </a:solidFill>
                    <a:latin typeface="Roboto" panose="02000000000000000000" pitchFamily="2" charset="0"/>
                    <a:ea typeface="Roboto" panose="02000000000000000000" pitchFamily="2" charset="0"/>
                  </a:rPr>
                  <a:t>I</a:t>
                </a:r>
              </a:p>
            </p:txBody>
          </p:sp>
          <p:sp>
            <p:nvSpPr>
              <p:cNvPr id="20" name="Line 55">
                <a:extLst>
                  <a:ext uri="{FF2B5EF4-FFF2-40B4-BE49-F238E27FC236}">
                    <a16:creationId xmlns:a16="http://schemas.microsoft.com/office/drawing/2014/main" id="{D639BAB7-472E-46FE-CF04-D43A9D4F32E3}"/>
                  </a:ext>
                </a:extLst>
              </p:cNvPr>
              <p:cNvSpPr>
                <a:spLocks noChangeShapeType="1"/>
              </p:cNvSpPr>
              <p:nvPr/>
            </p:nvSpPr>
            <p:spPr bwMode="auto">
              <a:xfrm flipV="1">
                <a:off x="1743" y="2001"/>
                <a:ext cx="460" cy="13"/>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1" name="AutoShape 56">
                <a:extLst>
                  <a:ext uri="{FF2B5EF4-FFF2-40B4-BE49-F238E27FC236}">
                    <a16:creationId xmlns:a16="http://schemas.microsoft.com/office/drawing/2014/main" id="{7134A658-514E-E93C-643F-704DE4063927}"/>
                  </a:ext>
                </a:extLst>
              </p:cNvPr>
              <p:cNvSpPr>
                <a:spLocks noChangeArrowheads="1"/>
              </p:cNvSpPr>
              <p:nvPr/>
            </p:nvSpPr>
            <p:spPr bwMode="auto">
              <a:xfrm>
                <a:off x="1872" y="1919"/>
                <a:ext cx="146" cy="160"/>
              </a:xfrm>
              <a:prstGeom prst="triangle">
                <a:avLst>
                  <a:gd name="adj" fmla="val 50000"/>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200">
                    <a:solidFill>
                      <a:schemeClr val="tx1"/>
                    </a:solidFill>
                    <a:latin typeface="Roboto" panose="02000000000000000000" pitchFamily="2" charset="0"/>
                    <a:ea typeface="Roboto" panose="02000000000000000000" pitchFamily="2" charset="0"/>
                  </a:rPr>
                  <a:t>I</a:t>
                </a:r>
              </a:p>
            </p:txBody>
          </p:sp>
          <p:sp>
            <p:nvSpPr>
              <p:cNvPr id="22" name="AutoShape 57">
                <a:extLst>
                  <a:ext uri="{FF2B5EF4-FFF2-40B4-BE49-F238E27FC236}">
                    <a16:creationId xmlns:a16="http://schemas.microsoft.com/office/drawing/2014/main" id="{F65A7A05-5267-A900-C45C-0C1312630A5A}"/>
                  </a:ext>
                </a:extLst>
              </p:cNvPr>
              <p:cNvSpPr>
                <a:spLocks noChangeArrowheads="1"/>
              </p:cNvSpPr>
              <p:nvPr/>
            </p:nvSpPr>
            <p:spPr bwMode="auto">
              <a:xfrm rot="-2700000">
                <a:off x="2400" y="1536"/>
                <a:ext cx="624" cy="192"/>
              </a:xfrm>
              <a:prstGeom prst="rightArrow">
                <a:avLst>
                  <a:gd name="adj1" fmla="val 50000"/>
                  <a:gd name="adj2" fmla="val 81250"/>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3" name="AutoShape 58">
                <a:extLst>
                  <a:ext uri="{FF2B5EF4-FFF2-40B4-BE49-F238E27FC236}">
                    <a16:creationId xmlns:a16="http://schemas.microsoft.com/office/drawing/2014/main" id="{1C75E71A-C23B-12CB-C333-45CDC88D0CB3}"/>
                  </a:ext>
                </a:extLst>
              </p:cNvPr>
              <p:cNvSpPr>
                <a:spLocks noChangeArrowheads="1"/>
              </p:cNvSpPr>
              <p:nvPr/>
            </p:nvSpPr>
            <p:spPr bwMode="auto">
              <a:xfrm rot="2772363">
                <a:off x="168" y="1560"/>
                <a:ext cx="625" cy="192"/>
              </a:xfrm>
              <a:prstGeom prst="rightArrow">
                <a:avLst>
                  <a:gd name="adj1" fmla="val 50000"/>
                  <a:gd name="adj2" fmla="val 81245"/>
                </a:avLst>
              </a:prstGeom>
              <a:solidFill>
                <a:schemeClr val="tx2"/>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4" name="AutoShape 59">
                <a:extLst>
                  <a:ext uri="{FF2B5EF4-FFF2-40B4-BE49-F238E27FC236}">
                    <a16:creationId xmlns:a16="http://schemas.microsoft.com/office/drawing/2014/main" id="{C5F89813-BE5E-48F9-AF03-96DDA5C0D7A0}"/>
                  </a:ext>
                </a:extLst>
              </p:cNvPr>
              <p:cNvSpPr>
                <a:spLocks noChangeArrowheads="1"/>
              </p:cNvSpPr>
              <p:nvPr/>
            </p:nvSpPr>
            <p:spPr bwMode="auto">
              <a:xfrm>
                <a:off x="576" y="2208"/>
                <a:ext cx="479" cy="337"/>
              </a:xfrm>
              <a:prstGeom prst="irregularSeal1">
                <a:avLst/>
              </a:prstGeom>
              <a:solidFill>
                <a:srgbClr val="FFFF00"/>
              </a:solidFill>
              <a:ln w="38100" cap="sq">
                <a:solidFill>
                  <a:srgbClr val="FF0000"/>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5" name="AutoShape 60">
                <a:extLst>
                  <a:ext uri="{FF2B5EF4-FFF2-40B4-BE49-F238E27FC236}">
                    <a16:creationId xmlns:a16="http://schemas.microsoft.com/office/drawing/2014/main" id="{04E9EBD2-0EEC-F439-81B5-3EFBC7561A40}"/>
                  </a:ext>
                </a:extLst>
              </p:cNvPr>
              <p:cNvSpPr>
                <a:spLocks noChangeArrowheads="1"/>
              </p:cNvSpPr>
              <p:nvPr/>
            </p:nvSpPr>
            <p:spPr bwMode="auto">
              <a:xfrm>
                <a:off x="1200" y="1680"/>
                <a:ext cx="481" cy="336"/>
              </a:xfrm>
              <a:prstGeom prst="irregularSeal1">
                <a:avLst/>
              </a:prstGeom>
              <a:solidFill>
                <a:srgbClr val="FFFF00"/>
              </a:solidFill>
              <a:ln w="38100" cap="sq">
                <a:solidFill>
                  <a:srgbClr val="FF0000"/>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26" name="AutoShape 61">
                <a:extLst>
                  <a:ext uri="{FF2B5EF4-FFF2-40B4-BE49-F238E27FC236}">
                    <a16:creationId xmlns:a16="http://schemas.microsoft.com/office/drawing/2014/main" id="{D25EAB2C-6520-47D5-17FF-A6AFD5EA6930}"/>
                  </a:ext>
                </a:extLst>
              </p:cNvPr>
              <p:cNvSpPr>
                <a:spLocks noChangeArrowheads="1"/>
              </p:cNvSpPr>
              <p:nvPr/>
            </p:nvSpPr>
            <p:spPr bwMode="auto">
              <a:xfrm>
                <a:off x="1968" y="2016"/>
                <a:ext cx="481" cy="337"/>
              </a:xfrm>
              <a:prstGeom prst="irregularSeal1">
                <a:avLst/>
              </a:prstGeom>
              <a:solidFill>
                <a:srgbClr val="FFFF00"/>
              </a:solidFill>
              <a:ln w="38100" cap="sq">
                <a:solidFill>
                  <a:srgbClr val="FF0000"/>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grpSp>
        <p:sp>
          <p:nvSpPr>
            <p:cNvPr id="64" name="Text Box 64">
              <a:extLst>
                <a:ext uri="{FF2B5EF4-FFF2-40B4-BE49-F238E27FC236}">
                  <a16:creationId xmlns:a16="http://schemas.microsoft.com/office/drawing/2014/main" id="{3EE1FAFC-87FC-8F41-4983-BD01FFAB4042}"/>
                </a:ext>
              </a:extLst>
            </p:cNvPr>
            <p:cNvSpPr txBox="1">
              <a:spLocks noChangeArrowheads="1"/>
            </p:cNvSpPr>
            <p:nvPr/>
          </p:nvSpPr>
          <p:spPr bwMode="auto">
            <a:xfrm>
              <a:off x="1846309" y="1638300"/>
              <a:ext cx="1363569" cy="260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a:solidFill>
                    <a:schemeClr val="tx1"/>
                  </a:solidFill>
                  <a:latin typeface="Roboto" panose="02000000000000000000" pitchFamily="2" charset="0"/>
                  <a:ea typeface="Roboto" panose="02000000000000000000" pitchFamily="2" charset="0"/>
                </a:rPr>
                <a:t>VALUE STREAM MAP</a:t>
              </a:r>
            </a:p>
          </p:txBody>
        </p:sp>
        <p:grpSp>
          <p:nvGrpSpPr>
            <p:cNvPr id="65" name="Group 65">
              <a:extLst>
                <a:ext uri="{FF2B5EF4-FFF2-40B4-BE49-F238E27FC236}">
                  <a16:creationId xmlns:a16="http://schemas.microsoft.com/office/drawing/2014/main" id="{A01351F3-2E98-94F9-2C0E-ABEC9957AAFD}"/>
                </a:ext>
              </a:extLst>
            </p:cNvPr>
            <p:cNvGrpSpPr>
              <a:grpSpLocks/>
            </p:cNvGrpSpPr>
            <p:nvPr/>
          </p:nvGrpSpPr>
          <p:grpSpPr bwMode="auto">
            <a:xfrm>
              <a:off x="2846388" y="1536700"/>
              <a:ext cx="5876925" cy="4484688"/>
              <a:chOff x="1793" y="968"/>
              <a:chExt cx="3702" cy="2825"/>
            </a:xfrm>
          </p:grpSpPr>
          <p:pic>
            <p:nvPicPr>
              <p:cNvPr id="66" name="Picture 66" descr="image001">
                <a:extLst>
                  <a:ext uri="{FF2B5EF4-FFF2-40B4-BE49-F238E27FC236}">
                    <a16:creationId xmlns:a16="http://schemas.microsoft.com/office/drawing/2014/main" id="{33CC6D7B-4919-96D6-370D-81EB07AB24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1" y="1970"/>
                <a:ext cx="2682" cy="1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7" name="Group 67">
                <a:extLst>
                  <a:ext uri="{FF2B5EF4-FFF2-40B4-BE49-F238E27FC236}">
                    <a16:creationId xmlns:a16="http://schemas.microsoft.com/office/drawing/2014/main" id="{E999105B-1D43-75D7-FFBF-0E33604CE975}"/>
                  </a:ext>
                </a:extLst>
              </p:cNvPr>
              <p:cNvGrpSpPr>
                <a:grpSpLocks/>
              </p:cNvGrpSpPr>
              <p:nvPr/>
            </p:nvGrpSpPr>
            <p:grpSpPr bwMode="auto">
              <a:xfrm>
                <a:off x="1793" y="1807"/>
                <a:ext cx="672" cy="1584"/>
                <a:chOff x="1968" y="1728"/>
                <a:chExt cx="672" cy="1584"/>
              </a:xfrm>
            </p:grpSpPr>
            <p:sp>
              <p:nvSpPr>
                <p:cNvPr id="70" name="Rectangle 68">
                  <a:extLst>
                    <a:ext uri="{FF2B5EF4-FFF2-40B4-BE49-F238E27FC236}">
                      <a16:creationId xmlns:a16="http://schemas.microsoft.com/office/drawing/2014/main" id="{EBC1FFA3-BB8E-F68D-7416-B46FAE262780}"/>
                    </a:ext>
                  </a:extLst>
                </p:cNvPr>
                <p:cNvSpPr>
                  <a:spLocks noChangeArrowheads="1"/>
                </p:cNvSpPr>
                <p:nvPr/>
              </p:nvSpPr>
              <p:spPr bwMode="auto">
                <a:xfrm>
                  <a:off x="1968" y="1728"/>
                  <a:ext cx="672" cy="864"/>
                </a:xfrm>
                <a:prstGeom prst="rect">
                  <a:avLst/>
                </a:prstGeom>
                <a:noFill/>
                <a:ln w="762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71" name="Line 69">
                  <a:extLst>
                    <a:ext uri="{FF2B5EF4-FFF2-40B4-BE49-F238E27FC236}">
                      <a16:creationId xmlns:a16="http://schemas.microsoft.com/office/drawing/2014/main" id="{78392276-FA3C-C607-0E99-7AD8D41ACE94}"/>
                    </a:ext>
                  </a:extLst>
                </p:cNvPr>
                <p:cNvSpPr>
                  <a:spLocks noChangeShapeType="1"/>
                </p:cNvSpPr>
                <p:nvPr/>
              </p:nvSpPr>
              <p:spPr bwMode="auto">
                <a:xfrm>
                  <a:off x="2304" y="2592"/>
                  <a:ext cx="0" cy="720"/>
                </a:xfrm>
                <a:prstGeom prst="line">
                  <a:avLst/>
                </a:prstGeom>
                <a:noFill/>
                <a:ln w="762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68" name="Line 70">
                <a:extLst>
                  <a:ext uri="{FF2B5EF4-FFF2-40B4-BE49-F238E27FC236}">
                    <a16:creationId xmlns:a16="http://schemas.microsoft.com/office/drawing/2014/main" id="{32D64081-9153-B655-A4E5-94379960049E}"/>
                  </a:ext>
                </a:extLst>
              </p:cNvPr>
              <p:cNvSpPr>
                <a:spLocks noChangeShapeType="1"/>
              </p:cNvSpPr>
              <p:nvPr/>
            </p:nvSpPr>
            <p:spPr bwMode="auto">
              <a:xfrm>
                <a:off x="2129" y="3391"/>
                <a:ext cx="953" cy="0"/>
              </a:xfrm>
              <a:prstGeom prst="line">
                <a:avLst/>
              </a:prstGeom>
              <a:noFill/>
              <a:ln w="762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69" name="AutoShape 71">
                <a:extLst>
                  <a:ext uri="{FF2B5EF4-FFF2-40B4-BE49-F238E27FC236}">
                    <a16:creationId xmlns:a16="http://schemas.microsoft.com/office/drawing/2014/main" id="{AE948074-B3F0-A309-647A-A70AFC8248AF}"/>
                  </a:ext>
                </a:extLst>
              </p:cNvPr>
              <p:cNvSpPr>
                <a:spLocks noChangeArrowheads="1"/>
              </p:cNvSpPr>
              <p:nvPr/>
            </p:nvSpPr>
            <p:spPr bwMode="auto">
              <a:xfrm rot="-5400000">
                <a:off x="3717" y="178"/>
                <a:ext cx="988" cy="2568"/>
              </a:xfrm>
              <a:prstGeom prst="leftArrow">
                <a:avLst>
                  <a:gd name="adj1" fmla="val 78509"/>
                  <a:gd name="adj2" fmla="val 30565"/>
                </a:avLst>
              </a:prstGeom>
              <a:solidFill>
                <a:schemeClr val="accent3"/>
              </a:solidFill>
              <a:ln w="12700" cap="sq">
                <a:solidFill>
                  <a:schemeClr val="tx1"/>
                </a:solidFill>
                <a:miter lim="800000"/>
                <a:headEnd/>
                <a:tailEnd/>
              </a:ln>
            </p:spPr>
            <p:txBody>
              <a:bodyPr vert="eaVert" wrap="none" anchor="ctr"/>
              <a:lstStyle>
                <a:lvl1pPr marL="2286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buFontTx/>
                  <a:buChar char="•"/>
                </a:pPr>
                <a:r>
                  <a:rPr lang="en-US" altLang="en-US" sz="1200" dirty="0">
                    <a:latin typeface="Roboto" panose="02000000000000000000" pitchFamily="2" charset="0"/>
                    <a:ea typeface="Roboto" panose="02000000000000000000" pitchFamily="2" charset="0"/>
                  </a:rPr>
                  <a:t>Detailed graphical depiction of a </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manufacturing or business process</a:t>
                </a:r>
                <a:br>
                  <a:rPr lang="en-US" altLang="en-US" sz="1200" dirty="0">
                    <a:latin typeface="Roboto" panose="02000000000000000000" pitchFamily="2" charset="0"/>
                    <a:ea typeface="Roboto" panose="02000000000000000000" pitchFamily="2" charset="0"/>
                  </a:rPr>
                </a:br>
                <a:endParaRPr lang="en-US" altLang="en-US" sz="1200" dirty="0">
                  <a:latin typeface="Roboto" panose="02000000000000000000" pitchFamily="2" charset="0"/>
                  <a:ea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rPr>
                  <a:t>Used to identify specific improvements</a:t>
                </a:r>
                <a:br>
                  <a:rPr lang="en-US" altLang="en-US" sz="1200" dirty="0">
                    <a:latin typeface="Roboto" panose="02000000000000000000" pitchFamily="2" charset="0"/>
                    <a:ea typeface="Roboto" panose="02000000000000000000" pitchFamily="2" charset="0"/>
                  </a:rPr>
                </a:br>
                <a:endParaRPr lang="en-US" altLang="en-US" sz="1200" dirty="0">
                  <a:latin typeface="Roboto" panose="02000000000000000000" pitchFamily="2" charset="0"/>
                  <a:ea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rPr>
                  <a:t>Incorporates decision loops within the </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process </a:t>
                </a:r>
              </a:p>
            </p:txBody>
          </p:sp>
        </p:grpSp>
      </p:grpSp>
    </p:spTree>
    <p:extLst>
      <p:ext uri="{BB962C8B-B14F-4D97-AF65-F5344CB8AC3E}">
        <p14:creationId xmlns:p14="http://schemas.microsoft.com/office/powerpoint/2010/main" val="952652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When to Use Value Stream Mapping</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a:xfrm>
            <a:off x="822678" y="3428524"/>
            <a:ext cx="5157787" cy="823912"/>
          </a:xfrm>
        </p:spPr>
        <p:txBody>
          <a:bodyPr/>
          <a:lstStyle/>
          <a:p>
            <a:r>
              <a:rPr lang="en-US" dirty="0"/>
              <a:t>Benefits</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a:xfrm>
            <a:off x="839788" y="4320539"/>
            <a:ext cx="5157787" cy="2177733"/>
          </a:xfrm>
        </p:spPr>
        <p:txBody>
          <a:bodyPr>
            <a:normAutofit fontScale="62500" lnSpcReduction="20000"/>
          </a:bodyPr>
          <a:lstStyle/>
          <a:p>
            <a:r>
              <a:rPr lang="en-US" dirty="0"/>
              <a:t>Focuses limited resources</a:t>
            </a:r>
          </a:p>
          <a:p>
            <a:r>
              <a:rPr lang="en-US" dirty="0"/>
              <a:t>Establishes timeline for expected performance improvements </a:t>
            </a:r>
          </a:p>
          <a:p>
            <a:r>
              <a:rPr lang="en-US" dirty="0"/>
              <a:t>Avoids creating islands of success in a sea of waste</a:t>
            </a:r>
          </a:p>
          <a:p>
            <a:r>
              <a:rPr lang="en-US" dirty="0"/>
              <a:t>Allows everyone gain a common understanding of the current state and the future vision </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a:xfrm>
            <a:off x="6155090" y="3428524"/>
            <a:ext cx="5183188" cy="823912"/>
          </a:xfrm>
        </p:spPr>
        <p:txBody>
          <a:bodyPr/>
          <a:lstStyle/>
          <a:p>
            <a:r>
              <a:rPr lang="en-US" dirty="0"/>
              <a:t>When to Use</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172200" y="4320539"/>
            <a:ext cx="5183188" cy="2177733"/>
          </a:xfrm>
        </p:spPr>
        <p:txBody>
          <a:bodyPr>
            <a:normAutofit fontScale="62500" lnSpcReduction="20000"/>
          </a:bodyPr>
          <a:lstStyle/>
          <a:p>
            <a:r>
              <a:rPr lang="en-US" dirty="0"/>
              <a:t>To provide direction for getting started on the Lean journey</a:t>
            </a:r>
          </a:p>
          <a:p>
            <a:r>
              <a:rPr lang="en-US" dirty="0"/>
              <a:t>To execute improvements driven by Strategy Deployment and Key Business Imperatives</a:t>
            </a:r>
          </a:p>
          <a:p>
            <a:r>
              <a:rPr lang="en-US" dirty="0"/>
              <a:t>To gain true cross-functional understanding the end-to-end process</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a:t>
            </a:fld>
            <a:endParaRPr lang="en-US"/>
          </a:p>
        </p:txBody>
      </p:sp>
      <p:grpSp>
        <p:nvGrpSpPr>
          <p:cNvPr id="10" name="Group 9">
            <a:extLst>
              <a:ext uri="{FF2B5EF4-FFF2-40B4-BE49-F238E27FC236}">
                <a16:creationId xmlns:a16="http://schemas.microsoft.com/office/drawing/2014/main" id="{B47AFE3C-B125-AEEF-3EA8-2E459BAA768D}"/>
              </a:ext>
            </a:extLst>
          </p:cNvPr>
          <p:cNvGrpSpPr/>
          <p:nvPr/>
        </p:nvGrpSpPr>
        <p:grpSpPr>
          <a:xfrm>
            <a:off x="2095593" y="1929052"/>
            <a:ext cx="8622025" cy="1590325"/>
            <a:chOff x="1439544" y="1711882"/>
            <a:chExt cx="8622025" cy="1590325"/>
          </a:xfrm>
        </p:grpSpPr>
        <p:sp>
          <p:nvSpPr>
            <p:cNvPr id="7" name="Rectangle 3">
              <a:extLst>
                <a:ext uri="{FF2B5EF4-FFF2-40B4-BE49-F238E27FC236}">
                  <a16:creationId xmlns:a16="http://schemas.microsoft.com/office/drawing/2014/main" id="{3EDF77A4-B056-33BF-1E15-CEF4AB2A5880}"/>
                </a:ext>
              </a:extLst>
            </p:cNvPr>
            <p:cNvSpPr>
              <a:spLocks noChangeArrowheads="1"/>
            </p:cNvSpPr>
            <p:nvPr/>
          </p:nvSpPr>
          <p:spPr bwMode="auto">
            <a:xfrm>
              <a:off x="1439544" y="1891269"/>
              <a:ext cx="8622025" cy="1410938"/>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15000"/>
                </a:lnSpc>
                <a:spcBef>
                  <a:spcPct val="50000"/>
                </a:spcBef>
                <a:spcAft>
                  <a:spcPct val="50000"/>
                </a:spcAft>
                <a:buClr>
                  <a:srgbClr val="006699"/>
                </a:buClr>
                <a:buSzPct val="40000"/>
                <a:buFont typeface="Wingdings" panose="05000000000000000000" pitchFamily="2" charset="2"/>
                <a:buNone/>
              </a:pPr>
              <a:r>
                <a:rPr lang="en-US" altLang="en-US" sz="2000" b="0" dirty="0">
                  <a:solidFill>
                    <a:schemeClr val="tx1"/>
                  </a:solidFill>
                  <a:latin typeface="Roboto" panose="02000000000000000000" pitchFamily="2" charset="0"/>
                  <a:ea typeface="Roboto" panose="02000000000000000000" pitchFamily="2" charset="0"/>
                </a:rPr>
                <a:t>To effectively use the Value Stream Mapping Tool and Method to clearly </a:t>
              </a:r>
              <a:br>
                <a:rPr lang="en-US" altLang="en-US" sz="2000" b="0" dirty="0">
                  <a:solidFill>
                    <a:schemeClr val="tx1"/>
                  </a:solidFill>
                  <a:latin typeface="Roboto" panose="02000000000000000000" pitchFamily="2" charset="0"/>
                  <a:ea typeface="Roboto" panose="02000000000000000000" pitchFamily="2" charset="0"/>
                </a:rPr>
              </a:br>
              <a:r>
                <a:rPr lang="en-US" altLang="en-US" sz="2000" b="0" dirty="0">
                  <a:solidFill>
                    <a:schemeClr val="tx1"/>
                  </a:solidFill>
                  <a:latin typeface="Roboto" panose="02000000000000000000" pitchFamily="2" charset="0"/>
                  <a:ea typeface="Roboto" panose="02000000000000000000" pitchFamily="2" charset="0"/>
                </a:rPr>
                <a:t>identify waste in key end-to-end manufacturing and business processes,</a:t>
              </a:r>
              <a:br>
                <a:rPr lang="en-US" altLang="en-US" sz="2000" b="0" dirty="0">
                  <a:solidFill>
                    <a:schemeClr val="tx1"/>
                  </a:solidFill>
                  <a:latin typeface="Roboto" panose="02000000000000000000" pitchFamily="2" charset="0"/>
                  <a:ea typeface="Roboto" panose="02000000000000000000" pitchFamily="2" charset="0"/>
                </a:rPr>
              </a:br>
              <a:r>
                <a:rPr lang="en-US" altLang="en-US" sz="2000" b="0" dirty="0">
                  <a:solidFill>
                    <a:schemeClr val="tx1"/>
                  </a:solidFill>
                  <a:latin typeface="Roboto" panose="02000000000000000000" pitchFamily="2" charset="0"/>
                  <a:ea typeface="Roboto" panose="02000000000000000000" pitchFamily="2" charset="0"/>
                </a:rPr>
                <a:t>and create an executable transformation plan</a:t>
              </a:r>
            </a:p>
          </p:txBody>
        </p:sp>
        <p:sp>
          <p:nvSpPr>
            <p:cNvPr id="9" name="Text Box 4">
              <a:extLst>
                <a:ext uri="{FF2B5EF4-FFF2-40B4-BE49-F238E27FC236}">
                  <a16:creationId xmlns:a16="http://schemas.microsoft.com/office/drawing/2014/main" id="{E535AC7D-6648-9018-8FA0-6636C57ABA71}"/>
                </a:ext>
              </a:extLst>
            </p:cNvPr>
            <p:cNvSpPr txBox="1">
              <a:spLocks noChangeArrowheads="1"/>
            </p:cNvSpPr>
            <p:nvPr/>
          </p:nvSpPr>
          <p:spPr bwMode="auto">
            <a:xfrm>
              <a:off x="1632210" y="1711882"/>
              <a:ext cx="1915909" cy="39087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2400" dirty="0">
                  <a:solidFill>
                    <a:schemeClr val="tx1"/>
                  </a:solidFill>
                  <a:latin typeface="Roboto" panose="02000000000000000000" pitchFamily="2" charset="0"/>
                  <a:ea typeface="Roboto" panose="02000000000000000000" pitchFamily="2" charset="0"/>
                </a:rPr>
                <a:t>Goal of VSM</a:t>
              </a:r>
            </a:p>
          </p:txBody>
        </p:sp>
      </p:grpSp>
    </p:spTree>
    <p:extLst>
      <p:ext uri="{BB962C8B-B14F-4D97-AF65-F5344CB8AC3E}">
        <p14:creationId xmlns:p14="http://schemas.microsoft.com/office/powerpoint/2010/main" val="1283781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Value Stream Mapping Linkage to Strategy</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a:t>
            </a:fld>
            <a:endParaRPr lang="en-US"/>
          </a:p>
        </p:txBody>
      </p:sp>
      <p:grpSp>
        <p:nvGrpSpPr>
          <p:cNvPr id="80" name="Group 79">
            <a:extLst>
              <a:ext uri="{FF2B5EF4-FFF2-40B4-BE49-F238E27FC236}">
                <a16:creationId xmlns:a16="http://schemas.microsoft.com/office/drawing/2014/main" id="{9884FE7B-C7AF-190A-DDEB-0CA5CE2F4743}"/>
              </a:ext>
            </a:extLst>
          </p:cNvPr>
          <p:cNvGrpSpPr/>
          <p:nvPr/>
        </p:nvGrpSpPr>
        <p:grpSpPr>
          <a:xfrm>
            <a:off x="1997869" y="1805940"/>
            <a:ext cx="8196262" cy="4323398"/>
            <a:chOff x="522288" y="1438275"/>
            <a:chExt cx="8196262" cy="4691063"/>
          </a:xfrm>
        </p:grpSpPr>
        <p:sp>
          <p:nvSpPr>
            <p:cNvPr id="73" name="Oval 2">
              <a:extLst>
                <a:ext uri="{FF2B5EF4-FFF2-40B4-BE49-F238E27FC236}">
                  <a16:creationId xmlns:a16="http://schemas.microsoft.com/office/drawing/2014/main" id="{23E51728-8194-1C56-6468-CB53EF383D0D}"/>
                </a:ext>
              </a:extLst>
            </p:cNvPr>
            <p:cNvSpPr>
              <a:spLocks noChangeArrowheads="1"/>
            </p:cNvSpPr>
            <p:nvPr/>
          </p:nvSpPr>
          <p:spPr bwMode="auto">
            <a:xfrm>
              <a:off x="522288" y="2517775"/>
              <a:ext cx="2220912" cy="2189163"/>
            </a:xfrm>
            <a:prstGeom prst="ellipse">
              <a:avLst/>
            </a:prstGeom>
            <a:solidFill>
              <a:schemeClr val="accent4"/>
            </a:solidFill>
            <a:ln w="6350">
              <a:solidFill>
                <a:schemeClr val="folHlink"/>
              </a:solidFill>
              <a:round/>
              <a:headEnd/>
              <a:tailEnd/>
            </a:ln>
            <a:effectLst/>
          </p:spPr>
          <p:txBody>
            <a:bodyPr wrap="none" lIns="45720" rIns="45720" anchor="ctr"/>
            <a:lstStyle/>
            <a:p>
              <a:pPr marL="101600" indent="-101600" algn="ctr">
                <a:spcBef>
                  <a:spcPct val="30000"/>
                </a:spcBef>
                <a:buClr>
                  <a:schemeClr val="folHlink"/>
                </a:buClr>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rPr>
                <a:t>Key</a:t>
              </a:r>
            </a:p>
            <a:p>
              <a:pPr marL="101600" indent="-101600" algn="ctr">
                <a:spcBef>
                  <a:spcPct val="30000"/>
                </a:spcBef>
                <a:buClr>
                  <a:schemeClr val="folHlink"/>
                </a:buClr>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rPr>
                <a:t>Business</a:t>
              </a:r>
            </a:p>
            <a:p>
              <a:pPr marL="101600" indent="-101600" algn="ctr">
                <a:spcBef>
                  <a:spcPct val="30000"/>
                </a:spcBef>
                <a:buClr>
                  <a:schemeClr val="folHlink"/>
                </a:buClr>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rPr>
                <a:t>Imperatives</a:t>
              </a:r>
              <a:endParaRPr lang="en-GB" sz="1800" b="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endParaRPr>
            </a:p>
          </p:txBody>
        </p:sp>
        <p:sp>
          <p:nvSpPr>
            <p:cNvPr id="74" name="Rectangle 4">
              <a:extLst>
                <a:ext uri="{FF2B5EF4-FFF2-40B4-BE49-F238E27FC236}">
                  <a16:creationId xmlns:a16="http://schemas.microsoft.com/office/drawing/2014/main" id="{FCBBFFA0-752F-0F06-A0DF-0E69F7F17051}"/>
                </a:ext>
              </a:extLst>
            </p:cNvPr>
            <p:cNvSpPr>
              <a:spLocks noChangeArrowheads="1"/>
            </p:cNvSpPr>
            <p:nvPr/>
          </p:nvSpPr>
          <p:spPr bwMode="auto">
            <a:xfrm>
              <a:off x="2914650" y="2590800"/>
              <a:ext cx="2686050" cy="2208213"/>
            </a:xfrm>
            <a:prstGeom prst="rect">
              <a:avLst/>
            </a:prstGeom>
            <a:solidFill>
              <a:schemeClr val="accent5"/>
            </a:solidFill>
            <a:ln w="6350">
              <a:solidFill>
                <a:schemeClr val="tx1"/>
              </a:solidFill>
              <a:miter lim="800000"/>
              <a:headEnd/>
              <a:tailEnd/>
            </a:ln>
            <a:effectLst/>
          </p:spPr>
          <p:txBody>
            <a:bodyPr wrap="none" lIns="45720" rIns="45720" anchor="ctr"/>
            <a:lstStyle/>
            <a:p>
              <a:pPr algn="ctr">
                <a:spcBef>
                  <a:spcPct val="30000"/>
                </a:spcBef>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rPr>
                <a:t>Identify</a:t>
              </a:r>
            </a:p>
            <a:p>
              <a:pPr algn="ctr">
                <a:spcBef>
                  <a:spcPct val="30000"/>
                </a:spcBef>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rPr>
                <a:t>and Map</a:t>
              </a:r>
            </a:p>
            <a:p>
              <a:pPr algn="ctr">
                <a:spcBef>
                  <a:spcPct val="30000"/>
                </a:spcBef>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rPr>
                <a:t>Value Streams</a:t>
              </a:r>
            </a:p>
            <a:p>
              <a:pPr algn="ctr">
                <a:spcBef>
                  <a:spcPct val="30000"/>
                </a:spcBef>
                <a:buClr>
                  <a:schemeClr val="folHlink"/>
                </a:buClr>
                <a:defRPr/>
              </a:pPr>
              <a:endParaRPr lang="en-GB" sz="1800" b="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endParaRPr>
            </a:p>
          </p:txBody>
        </p:sp>
        <p:sp>
          <p:nvSpPr>
            <p:cNvPr id="75" name="AutoShape 5">
              <a:extLst>
                <a:ext uri="{FF2B5EF4-FFF2-40B4-BE49-F238E27FC236}">
                  <a16:creationId xmlns:a16="http://schemas.microsoft.com/office/drawing/2014/main" id="{39589DB1-2ABE-C178-7B2D-BE3ACC7E83F9}"/>
                </a:ext>
              </a:extLst>
            </p:cNvPr>
            <p:cNvSpPr>
              <a:spLocks noChangeArrowheads="1"/>
            </p:cNvSpPr>
            <p:nvPr/>
          </p:nvSpPr>
          <p:spPr bwMode="auto">
            <a:xfrm>
              <a:off x="5614988" y="1438275"/>
              <a:ext cx="792162" cy="4276725"/>
            </a:xfrm>
            <a:prstGeom prst="cube">
              <a:avLst>
                <a:gd name="adj" fmla="val 78426"/>
              </a:avLst>
            </a:prstGeom>
            <a:solidFill>
              <a:srgbClr val="DDDDDD"/>
            </a:solidFill>
            <a:ln w="6350">
              <a:solidFill>
                <a:schemeClr val="tx1"/>
              </a:solidFill>
              <a:miter lim="800000"/>
              <a:headEnd/>
              <a:tailEnd/>
            </a:ln>
          </p:spPr>
          <p:txBody>
            <a:bodyPr wrap="none" lIns="45720" rIns="45720"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76" name="Freeform 6">
              <a:extLst>
                <a:ext uri="{FF2B5EF4-FFF2-40B4-BE49-F238E27FC236}">
                  <a16:creationId xmlns:a16="http://schemas.microsoft.com/office/drawing/2014/main" id="{76F56516-3DA6-F9A1-CCA3-A1F1AAB8EF26}"/>
                </a:ext>
              </a:extLst>
            </p:cNvPr>
            <p:cNvSpPr>
              <a:spLocks/>
            </p:cNvSpPr>
            <p:nvPr/>
          </p:nvSpPr>
          <p:spPr bwMode="auto">
            <a:xfrm>
              <a:off x="6111875" y="1533525"/>
              <a:ext cx="2606675" cy="4327525"/>
            </a:xfrm>
            <a:custGeom>
              <a:avLst/>
              <a:gdLst>
                <a:gd name="T0" fmla="*/ 12865 w 1621"/>
                <a:gd name="T1" fmla="*/ 1061790 h 1777"/>
                <a:gd name="T2" fmla="*/ 1498718 w 1621"/>
                <a:gd name="T3" fmla="*/ 1061790 h 1777"/>
                <a:gd name="T4" fmla="*/ 1498718 w 1621"/>
                <a:gd name="T5" fmla="*/ 0 h 1777"/>
                <a:gd name="T6" fmla="*/ 2605067 w 1621"/>
                <a:gd name="T7" fmla="*/ 2172286 h 1777"/>
                <a:gd name="T8" fmla="*/ 1505150 w 1621"/>
                <a:gd name="T9" fmla="*/ 4325090 h 1777"/>
                <a:gd name="T10" fmla="*/ 1505150 w 1621"/>
                <a:gd name="T11" fmla="*/ 3273041 h 1777"/>
                <a:gd name="T12" fmla="*/ 6432 w 1621"/>
                <a:gd name="T13" fmla="*/ 3273041 h 1777"/>
                <a:gd name="T14" fmla="*/ 32161 w 1621"/>
                <a:gd name="T15" fmla="*/ 3107441 h 1777"/>
                <a:gd name="T16" fmla="*/ 0 w 1621"/>
                <a:gd name="T17" fmla="*/ 2932099 h 1777"/>
                <a:gd name="T18" fmla="*/ 64323 w 1621"/>
                <a:gd name="T19" fmla="*/ 2747016 h 1777"/>
                <a:gd name="T20" fmla="*/ 19297 w 1621"/>
                <a:gd name="T21" fmla="*/ 2630122 h 1777"/>
                <a:gd name="T22" fmla="*/ 51458 w 1621"/>
                <a:gd name="T23" fmla="*/ 2357369 h 1777"/>
                <a:gd name="T24" fmla="*/ 12865 w 1621"/>
                <a:gd name="T25" fmla="*/ 2220992 h 1777"/>
                <a:gd name="T26" fmla="*/ 45026 w 1621"/>
                <a:gd name="T27" fmla="*/ 2045651 h 1777"/>
                <a:gd name="T28" fmla="*/ 12865 w 1621"/>
                <a:gd name="T29" fmla="*/ 1850827 h 1777"/>
                <a:gd name="T30" fmla="*/ 51458 w 1621"/>
                <a:gd name="T31" fmla="*/ 1733932 h 1777"/>
                <a:gd name="T32" fmla="*/ 12865 w 1621"/>
                <a:gd name="T33" fmla="*/ 1568332 h 1777"/>
                <a:gd name="T34" fmla="*/ 45026 w 1621"/>
                <a:gd name="T35" fmla="*/ 1246873 h 1777"/>
                <a:gd name="T36" fmla="*/ 12865 w 1621"/>
                <a:gd name="T37" fmla="*/ 1168943 h 1777"/>
                <a:gd name="T38" fmla="*/ 12865 w 1621"/>
                <a:gd name="T39" fmla="*/ 1061790 h 17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621" h="1777">
                  <a:moveTo>
                    <a:pt x="8" y="436"/>
                  </a:moveTo>
                  <a:lnTo>
                    <a:pt x="932" y="436"/>
                  </a:lnTo>
                  <a:lnTo>
                    <a:pt x="932" y="0"/>
                  </a:lnTo>
                  <a:lnTo>
                    <a:pt x="1620" y="892"/>
                  </a:lnTo>
                  <a:lnTo>
                    <a:pt x="936" y="1776"/>
                  </a:lnTo>
                  <a:lnTo>
                    <a:pt x="936" y="1344"/>
                  </a:lnTo>
                  <a:lnTo>
                    <a:pt x="4" y="1344"/>
                  </a:lnTo>
                  <a:lnTo>
                    <a:pt x="20" y="1276"/>
                  </a:lnTo>
                  <a:lnTo>
                    <a:pt x="0" y="1204"/>
                  </a:lnTo>
                  <a:lnTo>
                    <a:pt x="40" y="1128"/>
                  </a:lnTo>
                  <a:lnTo>
                    <a:pt x="12" y="1080"/>
                  </a:lnTo>
                  <a:lnTo>
                    <a:pt x="32" y="968"/>
                  </a:lnTo>
                  <a:lnTo>
                    <a:pt x="8" y="912"/>
                  </a:lnTo>
                  <a:lnTo>
                    <a:pt x="28" y="840"/>
                  </a:lnTo>
                  <a:lnTo>
                    <a:pt x="8" y="760"/>
                  </a:lnTo>
                  <a:lnTo>
                    <a:pt x="32" y="712"/>
                  </a:lnTo>
                  <a:lnTo>
                    <a:pt x="8" y="644"/>
                  </a:lnTo>
                  <a:lnTo>
                    <a:pt x="28" y="512"/>
                  </a:lnTo>
                  <a:lnTo>
                    <a:pt x="8" y="480"/>
                  </a:lnTo>
                  <a:lnTo>
                    <a:pt x="8" y="436"/>
                  </a:lnTo>
                </a:path>
              </a:pathLst>
            </a:custGeom>
            <a:solidFill>
              <a:schemeClr val="accent5"/>
            </a:solidFill>
            <a:ln w="6350" cap="rnd" cmpd="sng">
              <a:solidFill>
                <a:schemeClr val="tx1"/>
              </a:solidFill>
              <a:prstDash val="solid"/>
              <a:round/>
              <a:headEnd type="none" w="med" len="med"/>
              <a:tailEnd type="none" w="med" len="med"/>
            </a:ln>
            <a:effectLst/>
          </p:spPr>
          <p:txBody>
            <a:bodyPr lIns="45720" rIns="45720"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sp>
          <p:nvSpPr>
            <p:cNvPr id="77" name="Text Box 7">
              <a:extLst>
                <a:ext uri="{FF2B5EF4-FFF2-40B4-BE49-F238E27FC236}">
                  <a16:creationId xmlns:a16="http://schemas.microsoft.com/office/drawing/2014/main" id="{2C75FE16-1CCB-E3A1-400C-81F4F0446EF4}"/>
                </a:ext>
              </a:extLst>
            </p:cNvPr>
            <p:cNvSpPr txBox="1">
              <a:spLocks noChangeArrowheads="1"/>
            </p:cNvSpPr>
            <p:nvPr/>
          </p:nvSpPr>
          <p:spPr bwMode="auto">
            <a:xfrm>
              <a:off x="5272088" y="5835650"/>
              <a:ext cx="1128712"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50000"/>
                </a:spcBef>
              </a:pPr>
              <a:r>
                <a:rPr lang="en-GB" altLang="en-US" sz="1800" dirty="0">
                  <a:solidFill>
                    <a:schemeClr val="tx1"/>
                  </a:solidFill>
                  <a:latin typeface="Roboto" panose="02000000000000000000" pitchFamily="2" charset="0"/>
                  <a:ea typeface="Roboto" panose="02000000000000000000" pitchFamily="2" charset="0"/>
                </a:rPr>
                <a:t>WASTE</a:t>
              </a:r>
            </a:p>
          </p:txBody>
        </p:sp>
        <p:sp>
          <p:nvSpPr>
            <p:cNvPr id="78" name="Rectangle 8">
              <a:extLst>
                <a:ext uri="{FF2B5EF4-FFF2-40B4-BE49-F238E27FC236}">
                  <a16:creationId xmlns:a16="http://schemas.microsoft.com/office/drawing/2014/main" id="{9E911E8F-AC00-9331-E472-3CB0A9DF2A49}"/>
                </a:ext>
              </a:extLst>
            </p:cNvPr>
            <p:cNvSpPr>
              <a:spLocks noChangeArrowheads="1"/>
            </p:cNvSpPr>
            <p:nvPr/>
          </p:nvSpPr>
          <p:spPr bwMode="auto">
            <a:xfrm>
              <a:off x="6167438" y="2849563"/>
              <a:ext cx="2454275" cy="13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GB" altLang="en-US" sz="1800" dirty="0">
                  <a:latin typeface="Roboto" panose="02000000000000000000" pitchFamily="2" charset="0"/>
                  <a:ea typeface="Roboto" panose="02000000000000000000" pitchFamily="2" charset="0"/>
                </a:rPr>
                <a:t>Make </a:t>
              </a:r>
              <a:br>
                <a:rPr lang="en-GB" altLang="en-US" sz="1800" dirty="0">
                  <a:latin typeface="Roboto" panose="02000000000000000000" pitchFamily="2" charset="0"/>
                  <a:ea typeface="Roboto" panose="02000000000000000000" pitchFamily="2" charset="0"/>
                </a:rPr>
              </a:br>
              <a:r>
                <a:rPr lang="en-GB" altLang="en-US" sz="1800" dirty="0">
                  <a:latin typeface="Roboto" panose="02000000000000000000" pitchFamily="2" charset="0"/>
                  <a:ea typeface="Roboto" panose="02000000000000000000" pitchFamily="2" charset="0"/>
                </a:rPr>
                <a:t>Improvements</a:t>
              </a:r>
            </a:p>
            <a:p>
              <a:pPr>
                <a:lnSpc>
                  <a:spcPct val="100000"/>
                </a:lnSpc>
                <a:spcBef>
                  <a:spcPct val="0"/>
                </a:spcBef>
              </a:pPr>
              <a:r>
                <a:rPr lang="en-GB" altLang="en-US" sz="1800" dirty="0">
                  <a:latin typeface="Roboto" panose="02000000000000000000" pitchFamily="2" charset="0"/>
                  <a:ea typeface="Roboto" panose="02000000000000000000" pitchFamily="2" charset="0"/>
                </a:rPr>
                <a:t>that </a:t>
              </a:r>
              <a:br>
                <a:rPr lang="en-GB" altLang="en-US" sz="1800" dirty="0">
                  <a:latin typeface="Roboto" panose="02000000000000000000" pitchFamily="2" charset="0"/>
                  <a:ea typeface="Roboto" panose="02000000000000000000" pitchFamily="2" charset="0"/>
                </a:rPr>
              </a:br>
              <a:r>
                <a:rPr lang="en-GB" altLang="en-US" sz="1800" dirty="0">
                  <a:latin typeface="Roboto" panose="02000000000000000000" pitchFamily="2" charset="0"/>
                  <a:ea typeface="Roboto" panose="02000000000000000000" pitchFamily="2" charset="0"/>
                </a:rPr>
                <a:t>Eliminate Waste</a:t>
              </a:r>
            </a:p>
          </p:txBody>
        </p:sp>
        <p:sp>
          <p:nvSpPr>
            <p:cNvPr id="79" name="Rectangle 9">
              <a:extLst>
                <a:ext uri="{FF2B5EF4-FFF2-40B4-BE49-F238E27FC236}">
                  <a16:creationId xmlns:a16="http://schemas.microsoft.com/office/drawing/2014/main" id="{E93612DC-0712-9E21-53A0-FC15B4132D74}"/>
                </a:ext>
              </a:extLst>
            </p:cNvPr>
            <p:cNvSpPr>
              <a:spLocks noChangeArrowheads="1"/>
            </p:cNvSpPr>
            <p:nvPr/>
          </p:nvSpPr>
          <p:spPr bwMode="auto">
            <a:xfrm>
              <a:off x="560388" y="4848225"/>
              <a:ext cx="2103437" cy="1169988"/>
            </a:xfrm>
            <a:prstGeom prst="rect">
              <a:avLst/>
            </a:prstGeom>
            <a:solidFill>
              <a:schemeClr val="accent4"/>
            </a:solidFill>
            <a:ln w="6350">
              <a:solidFill>
                <a:schemeClr val="folHlink"/>
              </a:solidFill>
              <a:miter lim="800000"/>
              <a:headEnd/>
              <a:tailEnd/>
            </a:ln>
            <a:effectLst/>
          </p:spPr>
          <p:txBody>
            <a:bodyPr wrap="none" lIns="45720" rIns="45720" anchor="ctr"/>
            <a:lstStyle>
              <a:lvl1pPr marL="101600" indent="-101600">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buClr>
                  <a:schemeClr val="folHlink"/>
                </a:buClr>
                <a:defRPr/>
              </a:pPr>
              <a:r>
                <a:rPr lang="en-US" altLang="en-US" sz="1400">
                  <a:effectLst>
                    <a:outerShdw blurRad="38100" dist="38100" dir="2700000" algn="tl">
                      <a:srgbClr val="000000"/>
                    </a:outerShdw>
                  </a:effectLst>
                  <a:latin typeface="Roboto" panose="02000000000000000000" pitchFamily="2" charset="0"/>
                  <a:ea typeface="Roboto" panose="02000000000000000000" pitchFamily="2" charset="0"/>
                </a:rPr>
                <a:t>Identify strategic</a:t>
              </a:r>
            </a:p>
            <a:p>
              <a:pPr algn="ctr">
                <a:buClr>
                  <a:schemeClr val="folHlink"/>
                </a:buClr>
                <a:defRPr/>
              </a:pPr>
              <a:r>
                <a:rPr lang="en-US" altLang="en-US" sz="1400">
                  <a:effectLst>
                    <a:outerShdw blurRad="38100" dist="38100" dir="2700000" algn="tl">
                      <a:srgbClr val="000000"/>
                    </a:outerShdw>
                  </a:effectLst>
                  <a:latin typeface="Roboto" panose="02000000000000000000" pitchFamily="2" charset="0"/>
                  <a:ea typeface="Roboto" panose="02000000000000000000" pitchFamily="2" charset="0"/>
                </a:rPr>
                <a:t>objectives and major</a:t>
              </a:r>
              <a:br>
                <a:rPr lang="en-US" altLang="en-US" sz="1400">
                  <a:effectLst>
                    <a:outerShdw blurRad="38100" dist="38100" dir="2700000" algn="tl">
                      <a:srgbClr val="000000"/>
                    </a:outerShdw>
                  </a:effectLst>
                  <a:latin typeface="Roboto" panose="02000000000000000000" pitchFamily="2" charset="0"/>
                  <a:ea typeface="Roboto" panose="02000000000000000000" pitchFamily="2" charset="0"/>
                </a:rPr>
              </a:br>
              <a:r>
                <a:rPr lang="en-US" altLang="en-US" sz="1400">
                  <a:effectLst>
                    <a:outerShdw blurRad="38100" dist="38100" dir="2700000" algn="tl">
                      <a:srgbClr val="000000"/>
                    </a:outerShdw>
                  </a:effectLst>
                  <a:latin typeface="Roboto" panose="02000000000000000000" pitchFamily="2" charset="0"/>
                  <a:ea typeface="Roboto" panose="02000000000000000000" pitchFamily="2" charset="0"/>
                </a:rPr>
                <a:t>business improvement</a:t>
              </a:r>
              <a:br>
                <a:rPr lang="en-US" altLang="en-US" sz="1400">
                  <a:effectLst>
                    <a:outerShdw blurRad="38100" dist="38100" dir="2700000" algn="tl">
                      <a:srgbClr val="000000"/>
                    </a:outerShdw>
                  </a:effectLst>
                  <a:latin typeface="Roboto" panose="02000000000000000000" pitchFamily="2" charset="0"/>
                  <a:ea typeface="Roboto" panose="02000000000000000000" pitchFamily="2" charset="0"/>
                </a:rPr>
              </a:br>
              <a:r>
                <a:rPr lang="en-US" altLang="en-US" sz="1400">
                  <a:effectLst>
                    <a:outerShdw blurRad="38100" dist="38100" dir="2700000" algn="tl">
                      <a:srgbClr val="000000"/>
                    </a:outerShdw>
                  </a:effectLst>
                  <a:latin typeface="Roboto" panose="02000000000000000000" pitchFamily="2" charset="0"/>
                  <a:ea typeface="Roboto" panose="02000000000000000000" pitchFamily="2" charset="0"/>
                </a:rPr>
                <a:t>opportunities</a:t>
              </a:r>
            </a:p>
          </p:txBody>
        </p:sp>
      </p:grpSp>
    </p:spTree>
    <p:extLst>
      <p:ext uri="{BB962C8B-B14F-4D97-AF65-F5344CB8AC3E}">
        <p14:creationId xmlns:p14="http://schemas.microsoft.com/office/powerpoint/2010/main" val="225027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Value Stream Mapping Roadmap to Success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a:t>
            </a:fld>
            <a:endParaRPr lang="en-US"/>
          </a:p>
        </p:txBody>
      </p:sp>
      <p:grpSp>
        <p:nvGrpSpPr>
          <p:cNvPr id="25" name="Group 24">
            <a:extLst>
              <a:ext uri="{FF2B5EF4-FFF2-40B4-BE49-F238E27FC236}">
                <a16:creationId xmlns:a16="http://schemas.microsoft.com/office/drawing/2014/main" id="{36B341C3-5B79-2C39-21C4-288F438DFD12}"/>
              </a:ext>
            </a:extLst>
          </p:cNvPr>
          <p:cNvGrpSpPr/>
          <p:nvPr/>
        </p:nvGrpSpPr>
        <p:grpSpPr>
          <a:xfrm>
            <a:off x="620078" y="1864043"/>
            <a:ext cx="10718200" cy="3970337"/>
            <a:chOff x="414338" y="1624013"/>
            <a:chExt cx="8324850" cy="3970337"/>
          </a:xfrm>
        </p:grpSpPr>
        <p:grpSp>
          <p:nvGrpSpPr>
            <p:cNvPr id="3" name="Group 2">
              <a:extLst>
                <a:ext uri="{FF2B5EF4-FFF2-40B4-BE49-F238E27FC236}">
                  <a16:creationId xmlns:a16="http://schemas.microsoft.com/office/drawing/2014/main" id="{3E2D4476-A0C8-47DF-0EA0-728AC0C24F0B}"/>
                </a:ext>
              </a:extLst>
            </p:cNvPr>
            <p:cNvGrpSpPr>
              <a:grpSpLocks/>
            </p:cNvGrpSpPr>
            <p:nvPr/>
          </p:nvGrpSpPr>
          <p:grpSpPr bwMode="auto">
            <a:xfrm>
              <a:off x="2205038" y="1624013"/>
              <a:ext cx="6534150" cy="2776537"/>
              <a:chOff x="1389" y="1410"/>
              <a:chExt cx="4116" cy="1795"/>
            </a:xfrm>
          </p:grpSpPr>
          <p:sp>
            <p:nvSpPr>
              <p:cNvPr id="5" name="Rectangle 3">
                <a:extLst>
                  <a:ext uri="{FF2B5EF4-FFF2-40B4-BE49-F238E27FC236}">
                    <a16:creationId xmlns:a16="http://schemas.microsoft.com/office/drawing/2014/main" id="{5F9621AF-91A5-3579-72E0-98295640C397}"/>
                  </a:ext>
                </a:extLst>
              </p:cNvPr>
              <p:cNvSpPr>
                <a:spLocks noChangeArrowheads="1"/>
              </p:cNvSpPr>
              <p:nvPr/>
            </p:nvSpPr>
            <p:spPr bwMode="auto">
              <a:xfrm>
                <a:off x="1389" y="1410"/>
                <a:ext cx="4116" cy="1795"/>
              </a:xfrm>
              <a:prstGeom prst="rect">
                <a:avLst/>
              </a:prstGeom>
              <a:solidFill>
                <a:schemeClr val="bg2"/>
              </a:solidFill>
              <a:ln w="12700" cap="sq">
                <a:solidFill>
                  <a:srgbClr val="0033CC"/>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 name="Text Box 4">
                <a:extLst>
                  <a:ext uri="{FF2B5EF4-FFF2-40B4-BE49-F238E27FC236}">
                    <a16:creationId xmlns:a16="http://schemas.microsoft.com/office/drawing/2014/main" id="{2D8ABF48-7910-626C-27ED-C57F9FB2C5B4}"/>
                  </a:ext>
                </a:extLst>
              </p:cNvPr>
              <p:cNvSpPr txBox="1">
                <a:spLocks noChangeArrowheads="1"/>
              </p:cNvSpPr>
              <p:nvPr/>
            </p:nvSpPr>
            <p:spPr bwMode="auto">
              <a:xfrm>
                <a:off x="2529" y="1507"/>
                <a:ext cx="1860" cy="219"/>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600" i="1" dirty="0">
                    <a:solidFill>
                      <a:schemeClr val="tx1"/>
                    </a:solidFill>
                    <a:latin typeface="Roboto" panose="02000000000000000000" pitchFamily="2" charset="0"/>
                    <a:ea typeface="Roboto" panose="02000000000000000000" pitchFamily="2" charset="0"/>
                  </a:rPr>
                  <a:t>Repeat for each identified Value Stream</a:t>
                </a:r>
              </a:p>
            </p:txBody>
          </p:sp>
        </p:grpSp>
        <p:sp>
          <p:nvSpPr>
            <p:cNvPr id="7" name="Oval 6">
              <a:extLst>
                <a:ext uri="{FF2B5EF4-FFF2-40B4-BE49-F238E27FC236}">
                  <a16:creationId xmlns:a16="http://schemas.microsoft.com/office/drawing/2014/main" id="{B983B757-3E20-F51D-A49E-95CFC66B7BEB}"/>
                </a:ext>
              </a:extLst>
            </p:cNvPr>
            <p:cNvSpPr>
              <a:spLocks noChangeArrowheads="1"/>
            </p:cNvSpPr>
            <p:nvPr/>
          </p:nvSpPr>
          <p:spPr bwMode="auto">
            <a:xfrm>
              <a:off x="7662863" y="3070225"/>
              <a:ext cx="976312" cy="1052513"/>
            </a:xfrm>
            <a:prstGeom prst="ellipse">
              <a:avLst/>
            </a:prstGeom>
            <a:solidFill>
              <a:schemeClr val="accent4"/>
            </a:solidFill>
            <a:ln w="6350">
              <a:solidFill>
                <a:schemeClr val="tx1"/>
              </a:solidFill>
              <a:round/>
              <a:headEnd/>
              <a:tailEnd/>
            </a:ln>
          </p:spPr>
          <p:txBody>
            <a:bodyPr wrap="none" lIns="45720" rIns="45720" anchor="ctr"/>
            <a:lstStyle>
              <a:lvl1pPr marL="101600" indent="-101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buClr>
                  <a:schemeClr val="folHlink"/>
                </a:buClr>
              </a:pPr>
              <a:r>
                <a:rPr lang="en-GB" altLang="en-US" sz="1400">
                  <a:latin typeface="Roboto" panose="02000000000000000000" pitchFamily="2" charset="0"/>
                  <a:ea typeface="Roboto" panose="02000000000000000000" pitchFamily="2" charset="0"/>
                </a:rPr>
                <a:t>Repeat</a:t>
              </a:r>
            </a:p>
            <a:p>
              <a:pPr>
                <a:lnSpc>
                  <a:spcPct val="100000"/>
                </a:lnSpc>
                <a:spcBef>
                  <a:spcPct val="30000"/>
                </a:spcBef>
                <a:buClr>
                  <a:schemeClr val="folHlink"/>
                </a:buClr>
              </a:pPr>
              <a:r>
                <a:rPr lang="en-GB" altLang="en-US" sz="1400">
                  <a:latin typeface="Roboto" panose="02000000000000000000" pitchFamily="2" charset="0"/>
                  <a:ea typeface="Roboto" panose="02000000000000000000" pitchFamily="2" charset="0"/>
                </a:rPr>
                <a:t>Cycle</a:t>
              </a:r>
              <a:endParaRPr lang="en-GB" altLang="en-US" sz="1400" b="0">
                <a:latin typeface="Roboto" panose="02000000000000000000" pitchFamily="2" charset="0"/>
                <a:ea typeface="Roboto" panose="02000000000000000000" pitchFamily="2" charset="0"/>
              </a:endParaRPr>
            </a:p>
          </p:txBody>
        </p:sp>
        <p:sp>
          <p:nvSpPr>
            <p:cNvPr id="8" name="Rectangle 8">
              <a:extLst>
                <a:ext uri="{FF2B5EF4-FFF2-40B4-BE49-F238E27FC236}">
                  <a16:creationId xmlns:a16="http://schemas.microsoft.com/office/drawing/2014/main" id="{F4851B9F-9545-35A7-B8AB-63A6DA9A4C47}"/>
                </a:ext>
              </a:extLst>
            </p:cNvPr>
            <p:cNvSpPr>
              <a:spLocks noChangeArrowheads="1"/>
            </p:cNvSpPr>
            <p:nvPr/>
          </p:nvSpPr>
          <p:spPr bwMode="auto">
            <a:xfrm>
              <a:off x="512763" y="3062288"/>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Site Assessment</a:t>
              </a:r>
            </a:p>
          </p:txBody>
        </p:sp>
        <p:sp>
          <p:nvSpPr>
            <p:cNvPr id="9" name="Rectangle 9">
              <a:extLst>
                <a:ext uri="{FF2B5EF4-FFF2-40B4-BE49-F238E27FC236}">
                  <a16:creationId xmlns:a16="http://schemas.microsoft.com/office/drawing/2014/main" id="{F560617D-C996-11EA-C4BE-76FFAE1B07E3}"/>
                </a:ext>
              </a:extLst>
            </p:cNvPr>
            <p:cNvSpPr>
              <a:spLocks noChangeArrowheads="1"/>
            </p:cNvSpPr>
            <p:nvPr/>
          </p:nvSpPr>
          <p:spPr bwMode="auto">
            <a:xfrm>
              <a:off x="512763" y="2800350"/>
              <a:ext cx="1522412" cy="252413"/>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a:latin typeface="Roboto" panose="02000000000000000000" pitchFamily="2" charset="0"/>
                  <a:ea typeface="Roboto" panose="02000000000000000000" pitchFamily="2" charset="0"/>
                </a:rPr>
                <a:t>PROCESS STEP 1</a:t>
              </a:r>
            </a:p>
          </p:txBody>
        </p:sp>
        <p:sp>
          <p:nvSpPr>
            <p:cNvPr id="10" name="Rectangle 10">
              <a:extLst>
                <a:ext uri="{FF2B5EF4-FFF2-40B4-BE49-F238E27FC236}">
                  <a16:creationId xmlns:a16="http://schemas.microsoft.com/office/drawing/2014/main" id="{A5C399C4-6F83-CC45-7627-48EEDA23FB35}"/>
                </a:ext>
              </a:extLst>
            </p:cNvPr>
            <p:cNvSpPr>
              <a:spLocks noChangeArrowheads="1"/>
            </p:cNvSpPr>
            <p:nvPr/>
          </p:nvSpPr>
          <p:spPr bwMode="auto">
            <a:xfrm>
              <a:off x="2308225"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VSM Event</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Preparation</a:t>
              </a:r>
            </a:p>
          </p:txBody>
        </p:sp>
        <p:sp>
          <p:nvSpPr>
            <p:cNvPr id="11" name="Rectangle 11">
              <a:extLst>
                <a:ext uri="{FF2B5EF4-FFF2-40B4-BE49-F238E27FC236}">
                  <a16:creationId xmlns:a16="http://schemas.microsoft.com/office/drawing/2014/main" id="{4CDAB49D-9A50-C6CA-C385-FCCFC8ECF342}"/>
                </a:ext>
              </a:extLst>
            </p:cNvPr>
            <p:cNvSpPr>
              <a:spLocks noChangeArrowheads="1"/>
            </p:cNvSpPr>
            <p:nvPr/>
          </p:nvSpPr>
          <p:spPr bwMode="auto">
            <a:xfrm>
              <a:off x="2308225"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a:latin typeface="Roboto" panose="02000000000000000000" pitchFamily="2" charset="0"/>
                  <a:ea typeface="Roboto" panose="02000000000000000000" pitchFamily="2" charset="0"/>
                </a:rPr>
                <a:t>PROCESS STEP 2</a:t>
              </a:r>
            </a:p>
          </p:txBody>
        </p:sp>
        <p:sp>
          <p:nvSpPr>
            <p:cNvPr id="12" name="Rectangle 12">
              <a:extLst>
                <a:ext uri="{FF2B5EF4-FFF2-40B4-BE49-F238E27FC236}">
                  <a16:creationId xmlns:a16="http://schemas.microsoft.com/office/drawing/2014/main" id="{14A3BE56-790E-BC97-C4FD-A842BF1DA266}"/>
                </a:ext>
              </a:extLst>
            </p:cNvPr>
            <p:cNvSpPr>
              <a:spLocks noChangeArrowheads="1"/>
            </p:cNvSpPr>
            <p:nvPr/>
          </p:nvSpPr>
          <p:spPr bwMode="auto">
            <a:xfrm>
              <a:off x="4122738"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VSM Event</a:t>
              </a:r>
            </a:p>
          </p:txBody>
        </p:sp>
        <p:sp>
          <p:nvSpPr>
            <p:cNvPr id="13" name="Rectangle 13">
              <a:extLst>
                <a:ext uri="{FF2B5EF4-FFF2-40B4-BE49-F238E27FC236}">
                  <a16:creationId xmlns:a16="http://schemas.microsoft.com/office/drawing/2014/main" id="{8E856E23-2E66-C316-1087-94851CCA9F27}"/>
                </a:ext>
              </a:extLst>
            </p:cNvPr>
            <p:cNvSpPr>
              <a:spLocks noChangeArrowheads="1"/>
            </p:cNvSpPr>
            <p:nvPr/>
          </p:nvSpPr>
          <p:spPr bwMode="auto">
            <a:xfrm>
              <a:off x="4122738" y="2795588"/>
              <a:ext cx="1522412" cy="252412"/>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a:latin typeface="Roboto" panose="02000000000000000000" pitchFamily="2" charset="0"/>
                  <a:ea typeface="Roboto" panose="02000000000000000000" pitchFamily="2" charset="0"/>
                </a:rPr>
                <a:t>PROCESS STEP 3</a:t>
              </a:r>
            </a:p>
          </p:txBody>
        </p:sp>
        <p:sp>
          <p:nvSpPr>
            <p:cNvPr id="14" name="Rectangle 14">
              <a:extLst>
                <a:ext uri="{FF2B5EF4-FFF2-40B4-BE49-F238E27FC236}">
                  <a16:creationId xmlns:a16="http://schemas.microsoft.com/office/drawing/2014/main" id="{61D5857C-18BB-F351-3A5A-3466E123AB89}"/>
                </a:ext>
              </a:extLst>
            </p:cNvPr>
            <p:cNvSpPr>
              <a:spLocks noChangeArrowheads="1"/>
            </p:cNvSpPr>
            <p:nvPr/>
          </p:nvSpPr>
          <p:spPr bwMode="auto">
            <a:xfrm>
              <a:off x="5937250"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VS Plan</a:t>
              </a:r>
            </a:p>
          </p:txBody>
        </p:sp>
        <p:sp>
          <p:nvSpPr>
            <p:cNvPr id="15" name="Rectangle 15">
              <a:extLst>
                <a:ext uri="{FF2B5EF4-FFF2-40B4-BE49-F238E27FC236}">
                  <a16:creationId xmlns:a16="http://schemas.microsoft.com/office/drawing/2014/main" id="{6E2AE2B3-A2C6-E979-CE4A-53CA1208E770}"/>
                </a:ext>
              </a:extLst>
            </p:cNvPr>
            <p:cNvSpPr>
              <a:spLocks noChangeArrowheads="1"/>
            </p:cNvSpPr>
            <p:nvPr/>
          </p:nvSpPr>
          <p:spPr bwMode="auto">
            <a:xfrm>
              <a:off x="5937250"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a:latin typeface="Roboto" panose="02000000000000000000" pitchFamily="2" charset="0"/>
                  <a:ea typeface="Roboto" panose="02000000000000000000" pitchFamily="2" charset="0"/>
                </a:rPr>
                <a:t>PROCESS STEP 4</a:t>
              </a:r>
            </a:p>
          </p:txBody>
        </p:sp>
        <p:cxnSp>
          <p:nvCxnSpPr>
            <p:cNvPr id="16" name="AutoShape 16">
              <a:extLst>
                <a:ext uri="{FF2B5EF4-FFF2-40B4-BE49-F238E27FC236}">
                  <a16:creationId xmlns:a16="http://schemas.microsoft.com/office/drawing/2014/main" id="{9D53FE5C-5CCE-3737-FED0-0DCF4CFF16DE}"/>
                </a:ext>
              </a:extLst>
            </p:cNvPr>
            <p:cNvCxnSpPr>
              <a:cxnSpLocks noChangeShapeType="1"/>
              <a:stCxn id="8" idx="3"/>
              <a:endCxn id="10" idx="1"/>
            </p:cNvCxnSpPr>
            <p:nvPr/>
          </p:nvCxnSpPr>
          <p:spPr bwMode="auto">
            <a:xfrm flipV="1">
              <a:off x="2033588" y="3597275"/>
              <a:ext cx="274637" cy="4763"/>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17">
              <a:extLst>
                <a:ext uri="{FF2B5EF4-FFF2-40B4-BE49-F238E27FC236}">
                  <a16:creationId xmlns:a16="http://schemas.microsoft.com/office/drawing/2014/main" id="{782F2126-E5B9-D8B0-704C-7D7713992B97}"/>
                </a:ext>
              </a:extLst>
            </p:cNvPr>
            <p:cNvCxnSpPr>
              <a:cxnSpLocks noChangeShapeType="1"/>
              <a:stCxn id="10" idx="3"/>
              <a:endCxn id="12" idx="1"/>
            </p:cNvCxnSpPr>
            <p:nvPr/>
          </p:nvCxnSpPr>
          <p:spPr bwMode="auto">
            <a:xfrm>
              <a:off x="3829050" y="3597275"/>
              <a:ext cx="2936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8">
              <a:extLst>
                <a:ext uri="{FF2B5EF4-FFF2-40B4-BE49-F238E27FC236}">
                  <a16:creationId xmlns:a16="http://schemas.microsoft.com/office/drawing/2014/main" id="{05658557-802F-2C4A-BB0D-EDF2A50EF536}"/>
                </a:ext>
              </a:extLst>
            </p:cNvPr>
            <p:cNvCxnSpPr>
              <a:cxnSpLocks noChangeShapeType="1"/>
              <a:stCxn id="12" idx="3"/>
              <a:endCxn id="14" idx="1"/>
            </p:cNvCxnSpPr>
            <p:nvPr/>
          </p:nvCxnSpPr>
          <p:spPr bwMode="auto">
            <a:xfrm>
              <a:off x="5643563" y="3597275"/>
              <a:ext cx="29368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9">
              <a:extLst>
                <a:ext uri="{FF2B5EF4-FFF2-40B4-BE49-F238E27FC236}">
                  <a16:creationId xmlns:a16="http://schemas.microsoft.com/office/drawing/2014/main" id="{179B3D7A-84E0-4A39-15BA-4A72E7CAEC8F}"/>
                </a:ext>
              </a:extLst>
            </p:cNvPr>
            <p:cNvCxnSpPr>
              <a:cxnSpLocks noChangeShapeType="1"/>
              <a:stCxn id="14" idx="3"/>
              <a:endCxn id="7" idx="2"/>
            </p:cNvCxnSpPr>
            <p:nvPr/>
          </p:nvCxnSpPr>
          <p:spPr bwMode="auto">
            <a:xfrm>
              <a:off x="7458075" y="3597275"/>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20">
              <a:extLst>
                <a:ext uri="{FF2B5EF4-FFF2-40B4-BE49-F238E27FC236}">
                  <a16:creationId xmlns:a16="http://schemas.microsoft.com/office/drawing/2014/main" id="{4DBBCD5A-E470-AD09-B6F8-75CFD5CA7189}"/>
                </a:ext>
              </a:extLst>
            </p:cNvPr>
            <p:cNvCxnSpPr>
              <a:cxnSpLocks noChangeShapeType="1"/>
              <a:stCxn id="7" idx="0"/>
              <a:endCxn id="11" idx="0"/>
            </p:cNvCxnSpPr>
            <p:nvPr/>
          </p:nvCxnSpPr>
          <p:spPr bwMode="auto">
            <a:xfrm rot="5400000" flipH="1">
              <a:off x="5473700" y="392113"/>
              <a:ext cx="274637" cy="5081588"/>
            </a:xfrm>
            <a:prstGeom prst="bentConnector3">
              <a:avLst>
                <a:gd name="adj1" fmla="val 261269"/>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1" name="Rectangle 21">
              <a:extLst>
                <a:ext uri="{FF2B5EF4-FFF2-40B4-BE49-F238E27FC236}">
                  <a16:creationId xmlns:a16="http://schemas.microsoft.com/office/drawing/2014/main" id="{4C18F2A8-1A6C-FCFC-7350-D3290D431D89}"/>
                </a:ext>
              </a:extLst>
            </p:cNvPr>
            <p:cNvSpPr>
              <a:spLocks noChangeArrowheads="1"/>
            </p:cNvSpPr>
            <p:nvPr/>
          </p:nvSpPr>
          <p:spPr bwMode="auto">
            <a:xfrm>
              <a:off x="414338" y="4378325"/>
              <a:ext cx="16748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dirty="0">
                  <a:solidFill>
                    <a:schemeClr val="tx1"/>
                  </a:solidFill>
                  <a:latin typeface="Roboto" panose="02000000000000000000" pitchFamily="2" charset="0"/>
                  <a:ea typeface="Roboto" panose="02000000000000000000" pitchFamily="2" charset="0"/>
                </a:rPr>
                <a:t>Complete Intro to Lean</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dirty="0">
                  <a:solidFill>
                    <a:schemeClr val="tx1"/>
                  </a:solidFill>
                  <a:latin typeface="Roboto" panose="02000000000000000000" pitchFamily="2" charset="0"/>
                  <a:ea typeface="Roboto" panose="02000000000000000000" pitchFamily="2" charset="0"/>
                </a:rPr>
                <a:t>Identify Strategic Value Streams and Product Families</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dirty="0">
                  <a:solidFill>
                    <a:schemeClr val="tx1"/>
                  </a:solidFill>
                  <a:latin typeface="Roboto" panose="02000000000000000000" pitchFamily="2" charset="0"/>
                  <a:ea typeface="Roboto" panose="02000000000000000000" pitchFamily="2" charset="0"/>
                </a:rPr>
                <a:t>Plan VSM Events</a:t>
              </a:r>
            </a:p>
          </p:txBody>
        </p:sp>
        <p:sp>
          <p:nvSpPr>
            <p:cNvPr id="22" name="Rectangle 22">
              <a:extLst>
                <a:ext uri="{FF2B5EF4-FFF2-40B4-BE49-F238E27FC236}">
                  <a16:creationId xmlns:a16="http://schemas.microsoft.com/office/drawing/2014/main" id="{CD99205B-5016-E5E8-AB9F-D1579A8804B2}"/>
                </a:ext>
              </a:extLst>
            </p:cNvPr>
            <p:cNvSpPr>
              <a:spLocks noChangeArrowheads="1"/>
            </p:cNvSpPr>
            <p:nvPr/>
          </p:nvSpPr>
          <p:spPr bwMode="auto">
            <a:xfrm>
              <a:off x="2243138" y="4378325"/>
              <a:ext cx="18399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Complete Intro to Lean</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Select Value Stream and Product Family</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Confirm VSM Team</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Plan logistics for VSM Event</a:t>
              </a:r>
            </a:p>
          </p:txBody>
        </p:sp>
        <p:sp>
          <p:nvSpPr>
            <p:cNvPr id="23" name="Rectangle 23">
              <a:extLst>
                <a:ext uri="{FF2B5EF4-FFF2-40B4-BE49-F238E27FC236}">
                  <a16:creationId xmlns:a16="http://schemas.microsoft.com/office/drawing/2014/main" id="{D23B864D-50F5-AD32-6216-E40F1031B99D}"/>
                </a:ext>
              </a:extLst>
            </p:cNvPr>
            <p:cNvSpPr>
              <a:spLocks noChangeArrowheads="1"/>
            </p:cNvSpPr>
            <p:nvPr/>
          </p:nvSpPr>
          <p:spPr bwMode="auto">
            <a:xfrm>
              <a:off x="4008438" y="4378325"/>
              <a:ext cx="18399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Current State VSM</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Future State VSM</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Value stream Plan complete</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Site Plan updated</a:t>
              </a:r>
            </a:p>
          </p:txBody>
        </p:sp>
        <p:sp>
          <p:nvSpPr>
            <p:cNvPr id="24" name="Rectangle 24">
              <a:extLst>
                <a:ext uri="{FF2B5EF4-FFF2-40B4-BE49-F238E27FC236}">
                  <a16:creationId xmlns:a16="http://schemas.microsoft.com/office/drawing/2014/main" id="{072E3FDB-6C39-F8AB-154C-E5D525AE7DAF}"/>
                </a:ext>
              </a:extLst>
            </p:cNvPr>
            <p:cNvSpPr>
              <a:spLocks noChangeArrowheads="1"/>
            </p:cNvSpPr>
            <p:nvPr/>
          </p:nvSpPr>
          <p:spPr bwMode="auto">
            <a:xfrm>
              <a:off x="5849938" y="4378325"/>
              <a:ext cx="18272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Plan kaizen events that link to VS Plan</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Train Kaizen Teams</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Conduct kaizen events and measure results</a:t>
              </a:r>
            </a:p>
            <a:p>
              <a:pPr marL="285750" indent="-285750" algn="l" eaLnBrk="1" hangingPunct="1">
                <a:lnSpc>
                  <a:spcPct val="100000"/>
                </a:lnSpc>
                <a:spcBef>
                  <a:spcPct val="30000"/>
                </a:spcBef>
                <a:buClr>
                  <a:schemeClr val="tx1"/>
                </a:buClr>
                <a:buSzPct val="90000"/>
                <a:buFont typeface="Arial" panose="020B0604020202020204" pitchFamily="34" charset="0"/>
                <a:buChar char="•"/>
              </a:pPr>
              <a:r>
                <a:rPr lang="en-US" altLang="en-US" sz="1400">
                  <a:solidFill>
                    <a:schemeClr val="tx1"/>
                  </a:solidFill>
                  <a:latin typeface="Roboto" panose="02000000000000000000" pitchFamily="2" charset="0"/>
                  <a:ea typeface="Roboto" panose="02000000000000000000" pitchFamily="2" charset="0"/>
                </a:rPr>
                <a:t>Manage VS Plan to completion</a:t>
              </a:r>
            </a:p>
          </p:txBody>
        </p:sp>
      </p:grpSp>
    </p:spTree>
    <p:extLst>
      <p:ext uri="{BB962C8B-B14F-4D97-AF65-F5344CB8AC3E}">
        <p14:creationId xmlns:p14="http://schemas.microsoft.com/office/powerpoint/2010/main" val="13484917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dirty="0"/>
              <a:t>Value Stream Mapping Process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a:t>
            </a:fld>
            <a:endParaRPr lang="en-US"/>
          </a:p>
        </p:txBody>
      </p:sp>
      <p:grpSp>
        <p:nvGrpSpPr>
          <p:cNvPr id="25" name="Group 24">
            <a:extLst>
              <a:ext uri="{FF2B5EF4-FFF2-40B4-BE49-F238E27FC236}">
                <a16:creationId xmlns:a16="http://schemas.microsoft.com/office/drawing/2014/main" id="{36B341C3-5B79-2C39-21C4-288F438DFD12}"/>
              </a:ext>
            </a:extLst>
          </p:cNvPr>
          <p:cNvGrpSpPr/>
          <p:nvPr/>
        </p:nvGrpSpPr>
        <p:grpSpPr>
          <a:xfrm>
            <a:off x="746800" y="1864043"/>
            <a:ext cx="10591478" cy="2776537"/>
            <a:chOff x="512763" y="1624013"/>
            <a:chExt cx="8226425" cy="2776537"/>
          </a:xfrm>
        </p:grpSpPr>
        <p:grpSp>
          <p:nvGrpSpPr>
            <p:cNvPr id="3" name="Group 2">
              <a:extLst>
                <a:ext uri="{FF2B5EF4-FFF2-40B4-BE49-F238E27FC236}">
                  <a16:creationId xmlns:a16="http://schemas.microsoft.com/office/drawing/2014/main" id="{3E2D4476-A0C8-47DF-0EA0-728AC0C24F0B}"/>
                </a:ext>
              </a:extLst>
            </p:cNvPr>
            <p:cNvGrpSpPr>
              <a:grpSpLocks/>
            </p:cNvGrpSpPr>
            <p:nvPr/>
          </p:nvGrpSpPr>
          <p:grpSpPr bwMode="auto">
            <a:xfrm>
              <a:off x="2205038" y="1624013"/>
              <a:ext cx="6534150" cy="2776537"/>
              <a:chOff x="1389" y="1410"/>
              <a:chExt cx="4116" cy="1795"/>
            </a:xfrm>
          </p:grpSpPr>
          <p:sp>
            <p:nvSpPr>
              <p:cNvPr id="5" name="Rectangle 3">
                <a:extLst>
                  <a:ext uri="{FF2B5EF4-FFF2-40B4-BE49-F238E27FC236}">
                    <a16:creationId xmlns:a16="http://schemas.microsoft.com/office/drawing/2014/main" id="{5F9621AF-91A5-3579-72E0-98295640C397}"/>
                  </a:ext>
                </a:extLst>
              </p:cNvPr>
              <p:cNvSpPr>
                <a:spLocks noChangeArrowheads="1"/>
              </p:cNvSpPr>
              <p:nvPr/>
            </p:nvSpPr>
            <p:spPr bwMode="auto">
              <a:xfrm>
                <a:off x="1389" y="1410"/>
                <a:ext cx="4116" cy="1795"/>
              </a:xfrm>
              <a:prstGeom prst="rect">
                <a:avLst/>
              </a:prstGeom>
              <a:solidFill>
                <a:schemeClr val="bg2"/>
              </a:solidFill>
              <a:ln w="12700" cap="sq">
                <a:solidFill>
                  <a:srgbClr val="0033CC"/>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6" name="Text Box 4">
                <a:extLst>
                  <a:ext uri="{FF2B5EF4-FFF2-40B4-BE49-F238E27FC236}">
                    <a16:creationId xmlns:a16="http://schemas.microsoft.com/office/drawing/2014/main" id="{2D8ABF48-7910-626C-27ED-C57F9FB2C5B4}"/>
                  </a:ext>
                </a:extLst>
              </p:cNvPr>
              <p:cNvSpPr txBox="1">
                <a:spLocks noChangeArrowheads="1"/>
              </p:cNvSpPr>
              <p:nvPr/>
            </p:nvSpPr>
            <p:spPr bwMode="auto">
              <a:xfrm>
                <a:off x="2529" y="1507"/>
                <a:ext cx="1860" cy="219"/>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600" i="1" dirty="0">
                    <a:solidFill>
                      <a:schemeClr val="tx1"/>
                    </a:solidFill>
                    <a:latin typeface="Roboto" panose="02000000000000000000" pitchFamily="2" charset="0"/>
                    <a:ea typeface="Roboto" panose="02000000000000000000" pitchFamily="2" charset="0"/>
                  </a:rPr>
                  <a:t>Repeat for each identified Value Stream</a:t>
                </a:r>
              </a:p>
            </p:txBody>
          </p:sp>
        </p:grpSp>
        <p:sp>
          <p:nvSpPr>
            <p:cNvPr id="7" name="Oval 6">
              <a:extLst>
                <a:ext uri="{FF2B5EF4-FFF2-40B4-BE49-F238E27FC236}">
                  <a16:creationId xmlns:a16="http://schemas.microsoft.com/office/drawing/2014/main" id="{B983B757-3E20-F51D-A49E-95CFC66B7BEB}"/>
                </a:ext>
              </a:extLst>
            </p:cNvPr>
            <p:cNvSpPr>
              <a:spLocks noChangeArrowheads="1"/>
            </p:cNvSpPr>
            <p:nvPr/>
          </p:nvSpPr>
          <p:spPr bwMode="auto">
            <a:xfrm>
              <a:off x="7662863" y="3070225"/>
              <a:ext cx="976312" cy="1052513"/>
            </a:xfrm>
            <a:prstGeom prst="ellipse">
              <a:avLst/>
            </a:prstGeom>
            <a:solidFill>
              <a:schemeClr val="accent4"/>
            </a:solidFill>
            <a:ln w="6350">
              <a:solidFill>
                <a:schemeClr val="tx1"/>
              </a:solidFill>
              <a:round/>
              <a:headEnd/>
              <a:tailEnd/>
            </a:ln>
          </p:spPr>
          <p:txBody>
            <a:bodyPr wrap="none" lIns="45720" rIns="45720" anchor="ctr"/>
            <a:lstStyle>
              <a:lvl1pPr marL="101600" indent="-101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buClr>
                  <a:schemeClr val="folHlink"/>
                </a:buClr>
              </a:pPr>
              <a:r>
                <a:rPr lang="en-GB" altLang="en-US" sz="1400">
                  <a:latin typeface="Roboto" panose="02000000000000000000" pitchFamily="2" charset="0"/>
                  <a:ea typeface="Roboto" panose="02000000000000000000" pitchFamily="2" charset="0"/>
                </a:rPr>
                <a:t>Repeat</a:t>
              </a:r>
            </a:p>
            <a:p>
              <a:pPr>
                <a:lnSpc>
                  <a:spcPct val="100000"/>
                </a:lnSpc>
                <a:spcBef>
                  <a:spcPct val="30000"/>
                </a:spcBef>
                <a:buClr>
                  <a:schemeClr val="folHlink"/>
                </a:buClr>
              </a:pPr>
              <a:r>
                <a:rPr lang="en-GB" altLang="en-US" sz="1400">
                  <a:latin typeface="Roboto" panose="02000000000000000000" pitchFamily="2" charset="0"/>
                  <a:ea typeface="Roboto" panose="02000000000000000000" pitchFamily="2" charset="0"/>
                </a:rPr>
                <a:t>Cycle</a:t>
              </a:r>
              <a:endParaRPr lang="en-GB" altLang="en-US" sz="1400" b="0">
                <a:latin typeface="Roboto" panose="02000000000000000000" pitchFamily="2" charset="0"/>
                <a:ea typeface="Roboto" panose="02000000000000000000" pitchFamily="2" charset="0"/>
              </a:endParaRPr>
            </a:p>
          </p:txBody>
        </p:sp>
        <p:sp>
          <p:nvSpPr>
            <p:cNvPr id="8" name="Rectangle 8">
              <a:extLst>
                <a:ext uri="{FF2B5EF4-FFF2-40B4-BE49-F238E27FC236}">
                  <a16:creationId xmlns:a16="http://schemas.microsoft.com/office/drawing/2014/main" id="{F4851B9F-9545-35A7-B8AB-63A6DA9A4C47}"/>
                </a:ext>
              </a:extLst>
            </p:cNvPr>
            <p:cNvSpPr>
              <a:spLocks noChangeArrowheads="1"/>
            </p:cNvSpPr>
            <p:nvPr/>
          </p:nvSpPr>
          <p:spPr bwMode="auto">
            <a:xfrm>
              <a:off x="512763" y="3062288"/>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Site Assessment</a:t>
              </a:r>
            </a:p>
          </p:txBody>
        </p:sp>
        <p:sp>
          <p:nvSpPr>
            <p:cNvPr id="9" name="Rectangle 9">
              <a:extLst>
                <a:ext uri="{FF2B5EF4-FFF2-40B4-BE49-F238E27FC236}">
                  <a16:creationId xmlns:a16="http://schemas.microsoft.com/office/drawing/2014/main" id="{F560617D-C996-11EA-C4BE-76FFAE1B07E3}"/>
                </a:ext>
              </a:extLst>
            </p:cNvPr>
            <p:cNvSpPr>
              <a:spLocks noChangeArrowheads="1"/>
            </p:cNvSpPr>
            <p:nvPr/>
          </p:nvSpPr>
          <p:spPr bwMode="auto">
            <a:xfrm>
              <a:off x="512763" y="2800350"/>
              <a:ext cx="1522412" cy="252413"/>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a:latin typeface="Roboto" panose="02000000000000000000" pitchFamily="2" charset="0"/>
                  <a:ea typeface="Roboto" panose="02000000000000000000" pitchFamily="2" charset="0"/>
                </a:rPr>
                <a:t>PROCESS STEP 1</a:t>
              </a:r>
            </a:p>
          </p:txBody>
        </p:sp>
        <p:sp>
          <p:nvSpPr>
            <p:cNvPr id="10" name="Rectangle 10">
              <a:extLst>
                <a:ext uri="{FF2B5EF4-FFF2-40B4-BE49-F238E27FC236}">
                  <a16:creationId xmlns:a16="http://schemas.microsoft.com/office/drawing/2014/main" id="{A5C399C4-6F83-CC45-7627-48EEDA23FB35}"/>
                </a:ext>
              </a:extLst>
            </p:cNvPr>
            <p:cNvSpPr>
              <a:spLocks noChangeArrowheads="1"/>
            </p:cNvSpPr>
            <p:nvPr/>
          </p:nvSpPr>
          <p:spPr bwMode="auto">
            <a:xfrm>
              <a:off x="2308225"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VSM Event</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Preparation</a:t>
              </a:r>
            </a:p>
          </p:txBody>
        </p:sp>
        <p:sp>
          <p:nvSpPr>
            <p:cNvPr id="11" name="Rectangle 11">
              <a:extLst>
                <a:ext uri="{FF2B5EF4-FFF2-40B4-BE49-F238E27FC236}">
                  <a16:creationId xmlns:a16="http://schemas.microsoft.com/office/drawing/2014/main" id="{4CDAB49D-9A50-C6CA-C385-FCCFC8ECF342}"/>
                </a:ext>
              </a:extLst>
            </p:cNvPr>
            <p:cNvSpPr>
              <a:spLocks noChangeArrowheads="1"/>
            </p:cNvSpPr>
            <p:nvPr/>
          </p:nvSpPr>
          <p:spPr bwMode="auto">
            <a:xfrm>
              <a:off x="2308225"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a:latin typeface="Roboto" panose="02000000000000000000" pitchFamily="2" charset="0"/>
                  <a:ea typeface="Roboto" panose="02000000000000000000" pitchFamily="2" charset="0"/>
                </a:rPr>
                <a:t>PROCESS STEP 2</a:t>
              </a:r>
            </a:p>
          </p:txBody>
        </p:sp>
        <p:sp>
          <p:nvSpPr>
            <p:cNvPr id="12" name="Rectangle 12">
              <a:extLst>
                <a:ext uri="{FF2B5EF4-FFF2-40B4-BE49-F238E27FC236}">
                  <a16:creationId xmlns:a16="http://schemas.microsoft.com/office/drawing/2014/main" id="{14A3BE56-790E-BC97-C4FD-A842BF1DA266}"/>
                </a:ext>
              </a:extLst>
            </p:cNvPr>
            <p:cNvSpPr>
              <a:spLocks noChangeArrowheads="1"/>
            </p:cNvSpPr>
            <p:nvPr/>
          </p:nvSpPr>
          <p:spPr bwMode="auto">
            <a:xfrm>
              <a:off x="4122738"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VSM Event</a:t>
              </a:r>
            </a:p>
          </p:txBody>
        </p:sp>
        <p:sp>
          <p:nvSpPr>
            <p:cNvPr id="13" name="Rectangle 13">
              <a:extLst>
                <a:ext uri="{FF2B5EF4-FFF2-40B4-BE49-F238E27FC236}">
                  <a16:creationId xmlns:a16="http://schemas.microsoft.com/office/drawing/2014/main" id="{8E856E23-2E66-C316-1087-94851CCA9F27}"/>
                </a:ext>
              </a:extLst>
            </p:cNvPr>
            <p:cNvSpPr>
              <a:spLocks noChangeArrowheads="1"/>
            </p:cNvSpPr>
            <p:nvPr/>
          </p:nvSpPr>
          <p:spPr bwMode="auto">
            <a:xfrm>
              <a:off x="4122738" y="2795588"/>
              <a:ext cx="1522412" cy="252412"/>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a:latin typeface="Roboto" panose="02000000000000000000" pitchFamily="2" charset="0"/>
                  <a:ea typeface="Roboto" panose="02000000000000000000" pitchFamily="2" charset="0"/>
                </a:rPr>
                <a:t>PROCESS STEP 3</a:t>
              </a:r>
            </a:p>
          </p:txBody>
        </p:sp>
        <p:sp>
          <p:nvSpPr>
            <p:cNvPr id="14" name="Rectangle 14">
              <a:extLst>
                <a:ext uri="{FF2B5EF4-FFF2-40B4-BE49-F238E27FC236}">
                  <a16:creationId xmlns:a16="http://schemas.microsoft.com/office/drawing/2014/main" id="{61D5857C-18BB-F351-3A5A-3466E123AB89}"/>
                </a:ext>
              </a:extLst>
            </p:cNvPr>
            <p:cNvSpPr>
              <a:spLocks noChangeArrowheads="1"/>
            </p:cNvSpPr>
            <p:nvPr/>
          </p:nvSpPr>
          <p:spPr bwMode="auto">
            <a:xfrm>
              <a:off x="5937250"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VS Plan</a:t>
              </a:r>
            </a:p>
          </p:txBody>
        </p:sp>
        <p:sp>
          <p:nvSpPr>
            <p:cNvPr id="15" name="Rectangle 15">
              <a:extLst>
                <a:ext uri="{FF2B5EF4-FFF2-40B4-BE49-F238E27FC236}">
                  <a16:creationId xmlns:a16="http://schemas.microsoft.com/office/drawing/2014/main" id="{6E2AE2B3-A2C6-E979-CE4A-53CA1208E770}"/>
                </a:ext>
              </a:extLst>
            </p:cNvPr>
            <p:cNvSpPr>
              <a:spLocks noChangeArrowheads="1"/>
            </p:cNvSpPr>
            <p:nvPr/>
          </p:nvSpPr>
          <p:spPr bwMode="auto">
            <a:xfrm>
              <a:off x="5937250"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a:latin typeface="Roboto" panose="02000000000000000000" pitchFamily="2" charset="0"/>
                  <a:ea typeface="Roboto" panose="02000000000000000000" pitchFamily="2" charset="0"/>
                </a:rPr>
                <a:t>PROCESS STEP 4</a:t>
              </a:r>
            </a:p>
          </p:txBody>
        </p:sp>
        <p:cxnSp>
          <p:nvCxnSpPr>
            <p:cNvPr id="16" name="AutoShape 16">
              <a:extLst>
                <a:ext uri="{FF2B5EF4-FFF2-40B4-BE49-F238E27FC236}">
                  <a16:creationId xmlns:a16="http://schemas.microsoft.com/office/drawing/2014/main" id="{9D53FE5C-5CCE-3737-FED0-0DCF4CFF16DE}"/>
                </a:ext>
              </a:extLst>
            </p:cNvPr>
            <p:cNvCxnSpPr>
              <a:cxnSpLocks noChangeShapeType="1"/>
              <a:stCxn id="8" idx="3"/>
              <a:endCxn id="10" idx="1"/>
            </p:cNvCxnSpPr>
            <p:nvPr/>
          </p:nvCxnSpPr>
          <p:spPr bwMode="auto">
            <a:xfrm flipV="1">
              <a:off x="2033588" y="3597275"/>
              <a:ext cx="274637" cy="4763"/>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17">
              <a:extLst>
                <a:ext uri="{FF2B5EF4-FFF2-40B4-BE49-F238E27FC236}">
                  <a16:creationId xmlns:a16="http://schemas.microsoft.com/office/drawing/2014/main" id="{782F2126-E5B9-D8B0-704C-7D7713992B97}"/>
                </a:ext>
              </a:extLst>
            </p:cNvPr>
            <p:cNvCxnSpPr>
              <a:cxnSpLocks noChangeShapeType="1"/>
              <a:stCxn id="10" idx="3"/>
              <a:endCxn id="12" idx="1"/>
            </p:cNvCxnSpPr>
            <p:nvPr/>
          </p:nvCxnSpPr>
          <p:spPr bwMode="auto">
            <a:xfrm>
              <a:off x="3829050" y="3597275"/>
              <a:ext cx="2936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8">
              <a:extLst>
                <a:ext uri="{FF2B5EF4-FFF2-40B4-BE49-F238E27FC236}">
                  <a16:creationId xmlns:a16="http://schemas.microsoft.com/office/drawing/2014/main" id="{05658557-802F-2C4A-BB0D-EDF2A50EF536}"/>
                </a:ext>
              </a:extLst>
            </p:cNvPr>
            <p:cNvCxnSpPr>
              <a:cxnSpLocks noChangeShapeType="1"/>
              <a:stCxn id="12" idx="3"/>
              <a:endCxn id="14" idx="1"/>
            </p:cNvCxnSpPr>
            <p:nvPr/>
          </p:nvCxnSpPr>
          <p:spPr bwMode="auto">
            <a:xfrm>
              <a:off x="5643563" y="3597275"/>
              <a:ext cx="29368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9">
              <a:extLst>
                <a:ext uri="{FF2B5EF4-FFF2-40B4-BE49-F238E27FC236}">
                  <a16:creationId xmlns:a16="http://schemas.microsoft.com/office/drawing/2014/main" id="{179B3D7A-84E0-4A39-15BA-4A72E7CAEC8F}"/>
                </a:ext>
              </a:extLst>
            </p:cNvPr>
            <p:cNvCxnSpPr>
              <a:cxnSpLocks noChangeShapeType="1"/>
              <a:stCxn id="14" idx="3"/>
              <a:endCxn id="7" idx="2"/>
            </p:cNvCxnSpPr>
            <p:nvPr/>
          </p:nvCxnSpPr>
          <p:spPr bwMode="auto">
            <a:xfrm>
              <a:off x="7458075" y="3597275"/>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20">
              <a:extLst>
                <a:ext uri="{FF2B5EF4-FFF2-40B4-BE49-F238E27FC236}">
                  <a16:creationId xmlns:a16="http://schemas.microsoft.com/office/drawing/2014/main" id="{4DBBCD5A-E470-AD09-B6F8-75CFD5CA7189}"/>
                </a:ext>
              </a:extLst>
            </p:cNvPr>
            <p:cNvCxnSpPr>
              <a:cxnSpLocks noChangeShapeType="1"/>
              <a:stCxn id="7" idx="0"/>
              <a:endCxn id="11" idx="0"/>
            </p:cNvCxnSpPr>
            <p:nvPr/>
          </p:nvCxnSpPr>
          <p:spPr bwMode="auto">
            <a:xfrm rot="5400000" flipH="1">
              <a:off x="5473700" y="392113"/>
              <a:ext cx="274637" cy="5081588"/>
            </a:xfrm>
            <a:prstGeom prst="bentConnector3">
              <a:avLst>
                <a:gd name="adj1" fmla="val 261269"/>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grpSp>
        <p:nvGrpSpPr>
          <p:cNvPr id="26" name="Group 21">
            <a:extLst>
              <a:ext uri="{FF2B5EF4-FFF2-40B4-BE49-F238E27FC236}">
                <a16:creationId xmlns:a16="http://schemas.microsoft.com/office/drawing/2014/main" id="{FAD26B83-D920-7AF5-CB49-0888B74A1FFF}"/>
              </a:ext>
            </a:extLst>
          </p:cNvPr>
          <p:cNvGrpSpPr>
            <a:grpSpLocks/>
          </p:cNvGrpSpPr>
          <p:nvPr/>
        </p:nvGrpSpPr>
        <p:grpSpPr bwMode="auto">
          <a:xfrm>
            <a:off x="982489" y="4362768"/>
            <a:ext cx="10355789" cy="1949450"/>
            <a:chOff x="265" y="2627"/>
            <a:chExt cx="5266" cy="1228"/>
          </a:xfrm>
        </p:grpSpPr>
        <p:grpSp>
          <p:nvGrpSpPr>
            <p:cNvPr id="27" name="Group 22">
              <a:extLst>
                <a:ext uri="{FF2B5EF4-FFF2-40B4-BE49-F238E27FC236}">
                  <a16:creationId xmlns:a16="http://schemas.microsoft.com/office/drawing/2014/main" id="{EB5DA7B6-9A2B-EF9B-CFFE-9A77EB1EE5DE}"/>
                </a:ext>
              </a:extLst>
            </p:cNvPr>
            <p:cNvGrpSpPr>
              <a:grpSpLocks/>
            </p:cNvGrpSpPr>
            <p:nvPr/>
          </p:nvGrpSpPr>
          <p:grpSpPr bwMode="auto">
            <a:xfrm>
              <a:off x="308" y="2969"/>
              <a:ext cx="5223" cy="886"/>
              <a:chOff x="1350" y="2060"/>
              <a:chExt cx="3035" cy="208"/>
            </a:xfrm>
          </p:grpSpPr>
          <p:sp>
            <p:nvSpPr>
              <p:cNvPr id="30" name="AutoShape 23">
                <a:extLst>
                  <a:ext uri="{FF2B5EF4-FFF2-40B4-BE49-F238E27FC236}">
                    <a16:creationId xmlns:a16="http://schemas.microsoft.com/office/drawing/2014/main" id="{7E0E9E85-012A-ED58-3AA0-B16F4C4B0E64}"/>
                  </a:ext>
                </a:extLst>
              </p:cNvPr>
              <p:cNvSpPr>
                <a:spLocks noChangeArrowheads="1"/>
              </p:cNvSpPr>
              <p:nvPr/>
            </p:nvSpPr>
            <p:spPr bwMode="auto">
              <a:xfrm>
                <a:off x="3722"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latin typeface="Roboto" panose="02000000000000000000" pitchFamily="2" charset="0"/>
                    <a:ea typeface="Roboto" panose="02000000000000000000" pitchFamily="2" charset="0"/>
                  </a:rPr>
                  <a:t>Develop </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Value</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Stream Plan</a:t>
                </a:r>
              </a:p>
            </p:txBody>
          </p:sp>
          <p:sp>
            <p:nvSpPr>
              <p:cNvPr id="31" name="AutoShape 24">
                <a:extLst>
                  <a:ext uri="{FF2B5EF4-FFF2-40B4-BE49-F238E27FC236}">
                    <a16:creationId xmlns:a16="http://schemas.microsoft.com/office/drawing/2014/main" id="{244EB58C-FE51-B873-51D8-5C21959D04B0}"/>
                  </a:ext>
                </a:extLst>
              </p:cNvPr>
              <p:cNvSpPr>
                <a:spLocks noChangeArrowheads="1"/>
              </p:cNvSpPr>
              <p:nvPr/>
            </p:nvSpPr>
            <p:spPr bwMode="auto">
              <a:xfrm>
                <a:off x="3128"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latin typeface="Roboto" panose="02000000000000000000" pitchFamily="2" charset="0"/>
                    <a:ea typeface="Roboto" panose="02000000000000000000" pitchFamily="2" charset="0"/>
                  </a:rPr>
                  <a:t>Create </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Future</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State Map</a:t>
                </a:r>
              </a:p>
            </p:txBody>
          </p:sp>
          <p:sp>
            <p:nvSpPr>
              <p:cNvPr id="32" name="AutoShape 25">
                <a:extLst>
                  <a:ext uri="{FF2B5EF4-FFF2-40B4-BE49-F238E27FC236}">
                    <a16:creationId xmlns:a16="http://schemas.microsoft.com/office/drawing/2014/main" id="{94CB1512-8156-377E-6C5B-B3CAC77C347C}"/>
                  </a:ext>
                </a:extLst>
              </p:cNvPr>
              <p:cNvSpPr>
                <a:spLocks noChangeArrowheads="1"/>
              </p:cNvSpPr>
              <p:nvPr/>
            </p:nvSpPr>
            <p:spPr bwMode="auto">
              <a:xfrm>
                <a:off x="2541"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latin typeface="Roboto" panose="02000000000000000000" pitchFamily="2" charset="0"/>
                    <a:ea typeface="Roboto" panose="02000000000000000000" pitchFamily="2" charset="0"/>
                  </a:rPr>
                  <a:t>Interrogate </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the</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Current </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State</a:t>
                </a:r>
              </a:p>
            </p:txBody>
          </p:sp>
          <p:sp>
            <p:nvSpPr>
              <p:cNvPr id="33" name="AutoShape 26">
                <a:extLst>
                  <a:ext uri="{FF2B5EF4-FFF2-40B4-BE49-F238E27FC236}">
                    <a16:creationId xmlns:a16="http://schemas.microsoft.com/office/drawing/2014/main" id="{C6E1C84A-A677-7DE6-A82D-3195DED65330}"/>
                  </a:ext>
                </a:extLst>
              </p:cNvPr>
              <p:cNvSpPr>
                <a:spLocks noChangeArrowheads="1"/>
              </p:cNvSpPr>
              <p:nvPr/>
            </p:nvSpPr>
            <p:spPr bwMode="auto">
              <a:xfrm>
                <a:off x="1951"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latin typeface="Roboto" panose="02000000000000000000" pitchFamily="2" charset="0"/>
                    <a:ea typeface="Roboto" panose="02000000000000000000" pitchFamily="2" charset="0"/>
                  </a:rPr>
                  <a:t>Create </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Current</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State Map </a:t>
                </a:r>
              </a:p>
            </p:txBody>
          </p:sp>
          <p:sp>
            <p:nvSpPr>
              <p:cNvPr id="34" name="AutoShape 27">
                <a:extLst>
                  <a:ext uri="{FF2B5EF4-FFF2-40B4-BE49-F238E27FC236}">
                    <a16:creationId xmlns:a16="http://schemas.microsoft.com/office/drawing/2014/main" id="{8CF64827-E56F-8026-9999-F24CB1F15AE7}"/>
                  </a:ext>
                </a:extLst>
              </p:cNvPr>
              <p:cNvSpPr>
                <a:spLocks noChangeArrowheads="1"/>
              </p:cNvSpPr>
              <p:nvPr/>
            </p:nvSpPr>
            <p:spPr bwMode="auto">
              <a:xfrm>
                <a:off x="1350"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latin typeface="Roboto" panose="02000000000000000000" pitchFamily="2" charset="0"/>
                    <a:ea typeface="Roboto" panose="02000000000000000000" pitchFamily="2" charset="0"/>
                  </a:rPr>
                  <a:t>Select Product </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or</a:t>
                </a:r>
                <a:br>
                  <a:rPr lang="en-US" altLang="en-US" sz="1600">
                    <a:latin typeface="Roboto" panose="02000000000000000000" pitchFamily="2" charset="0"/>
                    <a:ea typeface="Roboto" panose="02000000000000000000" pitchFamily="2" charset="0"/>
                  </a:rPr>
                </a:br>
                <a:r>
                  <a:rPr lang="en-US" altLang="en-US" sz="1600">
                    <a:latin typeface="Roboto" panose="02000000000000000000" pitchFamily="2" charset="0"/>
                    <a:ea typeface="Roboto" panose="02000000000000000000" pitchFamily="2" charset="0"/>
                  </a:rPr>
                  <a:t>Service Family</a:t>
                </a:r>
              </a:p>
            </p:txBody>
          </p:sp>
        </p:grpSp>
        <p:sp>
          <p:nvSpPr>
            <p:cNvPr id="28" name="Line 28">
              <a:extLst>
                <a:ext uri="{FF2B5EF4-FFF2-40B4-BE49-F238E27FC236}">
                  <a16:creationId xmlns:a16="http://schemas.microsoft.com/office/drawing/2014/main" id="{3DB86DC1-0A2B-3DDA-2B28-1E00BBC4E09B}"/>
                </a:ext>
              </a:extLst>
            </p:cNvPr>
            <p:cNvSpPr>
              <a:spLocks noChangeShapeType="1"/>
            </p:cNvSpPr>
            <p:nvPr/>
          </p:nvSpPr>
          <p:spPr bwMode="auto">
            <a:xfrm flipH="1">
              <a:off x="265" y="2641"/>
              <a:ext cx="2244" cy="321"/>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29">
              <a:extLst>
                <a:ext uri="{FF2B5EF4-FFF2-40B4-BE49-F238E27FC236}">
                  <a16:creationId xmlns:a16="http://schemas.microsoft.com/office/drawing/2014/main" id="{38910487-B80B-4B50-93F1-FC25C1186092}"/>
                </a:ext>
              </a:extLst>
            </p:cNvPr>
            <p:cNvSpPr>
              <a:spLocks noChangeShapeType="1"/>
            </p:cNvSpPr>
            <p:nvPr/>
          </p:nvSpPr>
          <p:spPr bwMode="auto">
            <a:xfrm>
              <a:off x="3504" y="2627"/>
              <a:ext cx="1899" cy="308"/>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2676092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Value Stream Mapping Session Agenda</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11</a:t>
            </a:fld>
            <a:endParaRPr lang="en-US"/>
          </a:p>
        </p:txBody>
      </p:sp>
      <p:graphicFrame>
        <p:nvGraphicFramePr>
          <p:cNvPr id="3" name="Group 2">
            <a:extLst>
              <a:ext uri="{FF2B5EF4-FFF2-40B4-BE49-F238E27FC236}">
                <a16:creationId xmlns:a16="http://schemas.microsoft.com/office/drawing/2014/main" id="{B8269769-7C4E-F8DC-EE34-092A3114232A}"/>
              </a:ext>
            </a:extLst>
          </p:cNvPr>
          <p:cNvGraphicFramePr>
            <a:graphicFrameLocks noGrp="1"/>
          </p:cNvGraphicFramePr>
          <p:nvPr>
            <p:extLst>
              <p:ext uri="{D42A27DB-BD31-4B8C-83A1-F6EECF244321}">
                <p14:modId xmlns:p14="http://schemas.microsoft.com/office/powerpoint/2010/main" val="3415117144"/>
              </p:ext>
            </p:extLst>
          </p:nvPr>
        </p:nvGraphicFramePr>
        <p:xfrm>
          <a:off x="581025" y="1856398"/>
          <a:ext cx="11029950" cy="4426939"/>
        </p:xfrm>
        <a:graphic>
          <a:graphicData uri="http://schemas.openxmlformats.org/drawingml/2006/table">
            <a:tbl>
              <a:tblPr/>
              <a:tblGrid>
                <a:gridCol w="1183298">
                  <a:extLst>
                    <a:ext uri="{9D8B030D-6E8A-4147-A177-3AD203B41FA5}">
                      <a16:colId xmlns:a16="http://schemas.microsoft.com/office/drawing/2014/main" val="20000"/>
                    </a:ext>
                  </a:extLst>
                </a:gridCol>
                <a:gridCol w="4565362">
                  <a:extLst>
                    <a:ext uri="{9D8B030D-6E8A-4147-A177-3AD203B41FA5}">
                      <a16:colId xmlns:a16="http://schemas.microsoft.com/office/drawing/2014/main" val="20001"/>
                    </a:ext>
                  </a:extLst>
                </a:gridCol>
                <a:gridCol w="5281290">
                  <a:extLst>
                    <a:ext uri="{9D8B030D-6E8A-4147-A177-3AD203B41FA5}">
                      <a16:colId xmlns:a16="http://schemas.microsoft.com/office/drawing/2014/main" val="20002"/>
                    </a:ext>
                  </a:extLst>
                </a:gridCol>
              </a:tblGrid>
              <a:tr h="355175">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charset="0"/>
                        <a:buNone/>
                        <a:tabLst/>
                      </a:pPr>
                      <a:r>
                        <a:rPr kumimoji="0" 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Day</a:t>
                      </a:r>
                    </a:p>
                  </a:txBody>
                  <a:tcPr marT="45856" marB="45856" anchor="b"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charset="0"/>
                        <a:buNone/>
                        <a:tabLst/>
                      </a:pPr>
                      <a:r>
                        <a:rPr kumimoji="0" 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Key Learnings</a:t>
                      </a:r>
                    </a:p>
                  </a:txBody>
                  <a:tcPr marT="45856" marB="45856"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charset="0"/>
                        <a:buNone/>
                        <a:tabLst/>
                      </a:pPr>
                      <a:r>
                        <a:rPr kumimoji="0" 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Daily Deliverables</a:t>
                      </a:r>
                    </a:p>
                  </a:txBody>
                  <a:tcPr marT="45856" marB="45856" anchor="b"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93829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charset="0"/>
                        <a:buNone/>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Day 1</a:t>
                      </a:r>
                    </a:p>
                  </a:txBody>
                  <a:tcPr marT="45856" marB="45856"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 Introduction</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 Identifying Value Streams</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 Current State Mapping</a:t>
                      </a:r>
                    </a:p>
                  </a:txBody>
                  <a:tcPr marT="45856" marB="45856"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Current State Process Walk</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Labeling of Process Boxes on Current State Map</a:t>
                      </a:r>
                    </a:p>
                  </a:txBody>
                  <a:tcPr marT="45856" marB="45856"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63272">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charset="0"/>
                        <a:buNone/>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Day 2</a:t>
                      </a:r>
                    </a:p>
                  </a:txBody>
                  <a:tcPr marT="45856" marB="45856"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0513" marR="0" lvl="0" indent="-290513"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Conduct Data Gathering for Current State Map for Business</a:t>
                      </a:r>
                    </a:p>
                  </a:txBody>
                  <a:tcPr marT="45856" marB="45856"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Current State Map with Complete Data</a:t>
                      </a:r>
                    </a:p>
                  </a:txBody>
                  <a:tcPr marT="45856" marB="45856"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64668">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charset="0"/>
                        <a:buNone/>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Day 3</a:t>
                      </a:r>
                    </a:p>
                  </a:txBody>
                  <a:tcPr marT="45856" marB="45856"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0513" marR="0" lvl="0" indent="-290513"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Interrogate the Current State</a:t>
                      </a:r>
                    </a:p>
                  </a:txBody>
                  <a:tcPr marT="45856" marB="45856"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Current State Report-Out to Management</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Completed Marked-Up Current State Map</a:t>
                      </a:r>
                    </a:p>
                  </a:txBody>
                  <a:tcPr marT="45856" marB="45856"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3829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charset="0"/>
                        <a:buNone/>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Day 4</a:t>
                      </a:r>
                    </a:p>
                  </a:txBody>
                  <a:tcPr marT="45856" marB="45856"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Future State Mapping</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Completing the Value Stream Plan</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Beyond the Future State</a:t>
                      </a:r>
                    </a:p>
                  </a:txBody>
                  <a:tcPr marT="45856" marB="45856"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Completed Future State Map and Value Stream Plan</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endPar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856" marB="45856"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64668">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charset="0"/>
                        <a:buNone/>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Day 5</a:t>
                      </a:r>
                    </a:p>
                  </a:txBody>
                  <a:tcPr marT="45856" marB="45856"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Prepare for Team Final Report-Out</a:t>
                      </a:r>
                    </a:p>
                  </a:txBody>
                  <a:tcPr marT="45856" marB="45856"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Final Report-Out to Management</a:t>
                      </a:r>
                    </a:p>
                  </a:txBody>
                  <a:tcPr marT="45856" marB="45856"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66095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The Value Stream Plan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12</a:t>
            </a:fld>
            <a:endParaRPr lang="en-US"/>
          </a:p>
        </p:txBody>
      </p:sp>
      <p:pic>
        <p:nvPicPr>
          <p:cNvPr id="4" name="Picture 10" descr="Blank VS Plan">
            <a:extLst>
              <a:ext uri="{FF2B5EF4-FFF2-40B4-BE49-F238E27FC236}">
                <a16:creationId xmlns:a16="http://schemas.microsoft.com/office/drawing/2014/main" id="{E61F6481-D049-665B-850F-37225424AF3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58075" y="1825625"/>
            <a:ext cx="8075850" cy="43513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4506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ea typeface="+mj-ea"/>
              </a:rPr>
              <a:t>VSM in Context</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VSM is an incremental and repeatable cycle</a:t>
            </a:r>
          </a:p>
          <a:p>
            <a:r>
              <a:rPr lang="en-US" dirty="0"/>
              <a:t>VSM implementation cycles should support business’ long-term “vision”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13</a:t>
            </a:fld>
            <a:endParaRPr lang="en-US"/>
          </a:p>
        </p:txBody>
      </p:sp>
      <p:grpSp>
        <p:nvGrpSpPr>
          <p:cNvPr id="4" name="Group 4">
            <a:extLst>
              <a:ext uri="{FF2B5EF4-FFF2-40B4-BE49-F238E27FC236}">
                <a16:creationId xmlns:a16="http://schemas.microsoft.com/office/drawing/2014/main" id="{B95A3513-9E0D-A858-1629-D4C905CE6668}"/>
              </a:ext>
            </a:extLst>
          </p:cNvPr>
          <p:cNvGrpSpPr>
            <a:grpSpLocks/>
          </p:cNvGrpSpPr>
          <p:nvPr/>
        </p:nvGrpSpPr>
        <p:grpSpPr bwMode="auto">
          <a:xfrm>
            <a:off x="1290638" y="3051810"/>
            <a:ext cx="9610725" cy="3120390"/>
            <a:chOff x="480" y="1440"/>
            <a:chExt cx="4896" cy="2496"/>
          </a:xfrm>
        </p:grpSpPr>
        <p:sp>
          <p:nvSpPr>
            <p:cNvPr id="6" name="Rectangle 5">
              <a:extLst>
                <a:ext uri="{FF2B5EF4-FFF2-40B4-BE49-F238E27FC236}">
                  <a16:creationId xmlns:a16="http://schemas.microsoft.com/office/drawing/2014/main" id="{1B7A3325-6D1D-5E31-3641-6987C5754871}"/>
                </a:ext>
              </a:extLst>
            </p:cNvPr>
            <p:cNvSpPr>
              <a:spLocks noChangeArrowheads="1"/>
            </p:cNvSpPr>
            <p:nvPr/>
          </p:nvSpPr>
          <p:spPr bwMode="auto">
            <a:xfrm>
              <a:off x="480" y="1824"/>
              <a:ext cx="672" cy="432"/>
            </a:xfrm>
            <a:prstGeom prst="rect">
              <a:avLst/>
            </a:prstGeom>
            <a:solidFill>
              <a:schemeClr val="bg2"/>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dirty="0">
                  <a:latin typeface="Roboto" panose="02000000000000000000" pitchFamily="2" charset="0"/>
                  <a:ea typeface="Roboto" panose="02000000000000000000" pitchFamily="2" charset="0"/>
                </a:rPr>
                <a:t>VSM </a:t>
              </a:r>
              <a:r>
                <a:rPr lang="ja-JP" altLang="en-US" sz="1200" dirty="0">
                  <a:latin typeface="Roboto" panose="02000000000000000000" pitchFamily="2" charset="0"/>
                </a:rPr>
                <a:t>“</a:t>
              </a:r>
              <a:r>
                <a:rPr lang="en-US" altLang="ja-JP" sz="1200" dirty="0">
                  <a:latin typeface="Roboto" panose="02000000000000000000" pitchFamily="2" charset="0"/>
                  <a:ea typeface="Roboto" panose="02000000000000000000" pitchFamily="2" charset="0"/>
                </a:rPr>
                <a:t>Event</a:t>
              </a:r>
              <a:r>
                <a:rPr lang="ja-JP" altLang="en-US" sz="1200" dirty="0">
                  <a:latin typeface="Roboto" panose="02000000000000000000" pitchFamily="2" charset="0"/>
                </a:rPr>
                <a:t>”</a:t>
              </a:r>
              <a:endParaRPr lang="en-US" altLang="en-US" sz="1200" dirty="0">
                <a:latin typeface="Roboto" panose="02000000000000000000" pitchFamily="2" charset="0"/>
                <a:ea typeface="Roboto" panose="02000000000000000000" pitchFamily="2" charset="0"/>
              </a:endParaRPr>
            </a:p>
          </p:txBody>
        </p:sp>
        <p:sp>
          <p:nvSpPr>
            <p:cNvPr id="7" name="AutoShape 6">
              <a:extLst>
                <a:ext uri="{FF2B5EF4-FFF2-40B4-BE49-F238E27FC236}">
                  <a16:creationId xmlns:a16="http://schemas.microsoft.com/office/drawing/2014/main" id="{1031CB41-F9D1-0E82-8472-612A64CA8A27}"/>
                </a:ext>
              </a:extLst>
            </p:cNvPr>
            <p:cNvSpPr>
              <a:spLocks noChangeArrowheads="1"/>
            </p:cNvSpPr>
            <p:nvPr/>
          </p:nvSpPr>
          <p:spPr bwMode="auto">
            <a:xfrm>
              <a:off x="528" y="2854"/>
              <a:ext cx="576" cy="384"/>
            </a:xfrm>
            <a:prstGeom prst="flowChartDocument">
              <a:avLst/>
            </a:prstGeom>
            <a:solidFill>
              <a:schemeClr val="bg2"/>
            </a:solidFill>
            <a:ln w="12700" cap="sq">
              <a:solidFill>
                <a:schemeClr val="tx1"/>
              </a:solidFill>
              <a:miter lim="800000"/>
              <a:headEnd type="none" w="sm" len="sm"/>
              <a:tailEnd type="none" w="sm" len="sm"/>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000" dirty="0">
                  <a:solidFill>
                    <a:schemeClr val="tx1"/>
                  </a:solidFill>
                  <a:latin typeface="Roboto" panose="02000000000000000000" pitchFamily="2" charset="0"/>
                  <a:ea typeface="Roboto" panose="02000000000000000000" pitchFamily="2" charset="0"/>
                </a:rPr>
                <a:t>Future-State VSM</a:t>
              </a:r>
            </a:p>
          </p:txBody>
        </p:sp>
        <p:sp>
          <p:nvSpPr>
            <p:cNvPr id="8" name="AutoShape 7">
              <a:extLst>
                <a:ext uri="{FF2B5EF4-FFF2-40B4-BE49-F238E27FC236}">
                  <a16:creationId xmlns:a16="http://schemas.microsoft.com/office/drawing/2014/main" id="{370F5794-AD9E-7DBD-6648-744A14ED3ACC}"/>
                </a:ext>
              </a:extLst>
            </p:cNvPr>
            <p:cNvSpPr>
              <a:spLocks noChangeArrowheads="1"/>
            </p:cNvSpPr>
            <p:nvPr/>
          </p:nvSpPr>
          <p:spPr bwMode="auto">
            <a:xfrm>
              <a:off x="864" y="2448"/>
              <a:ext cx="576" cy="384"/>
            </a:xfrm>
            <a:prstGeom prst="flowChartDocument">
              <a:avLst/>
            </a:prstGeom>
            <a:solidFill>
              <a:schemeClr val="bg2"/>
            </a:solidFill>
            <a:ln w="12700" cap="sq">
              <a:solidFill>
                <a:schemeClr val="tx1"/>
              </a:solidFill>
              <a:miter lim="800000"/>
              <a:headEnd type="none" w="sm" len="sm"/>
              <a:tailEnd type="none" w="sm" len="sm"/>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000" dirty="0">
                  <a:solidFill>
                    <a:schemeClr val="tx1"/>
                  </a:solidFill>
                  <a:latin typeface="Roboto" panose="02000000000000000000" pitchFamily="2" charset="0"/>
                  <a:ea typeface="Roboto" panose="02000000000000000000" pitchFamily="2" charset="0"/>
                </a:rPr>
                <a:t>Value Stream Plan</a:t>
              </a:r>
            </a:p>
          </p:txBody>
        </p:sp>
        <p:sp>
          <p:nvSpPr>
            <p:cNvPr id="9" name="Line 8">
              <a:extLst>
                <a:ext uri="{FF2B5EF4-FFF2-40B4-BE49-F238E27FC236}">
                  <a16:creationId xmlns:a16="http://schemas.microsoft.com/office/drawing/2014/main" id="{430D1468-DF05-0653-3A9E-5485B6F129A7}"/>
                </a:ext>
              </a:extLst>
            </p:cNvPr>
            <p:cNvSpPr>
              <a:spLocks noChangeShapeType="1"/>
            </p:cNvSpPr>
            <p:nvPr/>
          </p:nvSpPr>
          <p:spPr bwMode="auto">
            <a:xfrm>
              <a:off x="1008" y="2256"/>
              <a:ext cx="144" cy="192"/>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0" name="Line 9">
              <a:extLst>
                <a:ext uri="{FF2B5EF4-FFF2-40B4-BE49-F238E27FC236}">
                  <a16:creationId xmlns:a16="http://schemas.microsoft.com/office/drawing/2014/main" id="{34EFEFC6-542F-1DE3-0586-F202A350A358}"/>
                </a:ext>
              </a:extLst>
            </p:cNvPr>
            <p:cNvSpPr>
              <a:spLocks noChangeShapeType="1"/>
            </p:cNvSpPr>
            <p:nvPr/>
          </p:nvSpPr>
          <p:spPr bwMode="auto">
            <a:xfrm>
              <a:off x="672" y="2256"/>
              <a:ext cx="106" cy="598"/>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1" name="Rectangle 10">
              <a:extLst>
                <a:ext uri="{FF2B5EF4-FFF2-40B4-BE49-F238E27FC236}">
                  <a16:creationId xmlns:a16="http://schemas.microsoft.com/office/drawing/2014/main" id="{E03B8D97-66E5-E7A1-3721-B2E7DDC50943}"/>
                </a:ext>
              </a:extLst>
            </p:cNvPr>
            <p:cNvSpPr>
              <a:spLocks noChangeArrowheads="1"/>
            </p:cNvSpPr>
            <p:nvPr/>
          </p:nvSpPr>
          <p:spPr bwMode="auto">
            <a:xfrm>
              <a:off x="1776" y="1728"/>
              <a:ext cx="768" cy="624"/>
            </a:xfrm>
            <a:prstGeom prst="rect">
              <a:avLst/>
            </a:prstGeom>
            <a:solidFill>
              <a:schemeClr val="bg2"/>
            </a:solidFill>
            <a:ln w="12700" cap="sq">
              <a:solidFill>
                <a:schemeClr val="tx1"/>
              </a:solidFill>
              <a:miter lim="800000"/>
              <a:headEnd type="none" w="sm" len="sm"/>
              <a:tailEnd type="none" w="sm" len="sm"/>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200" dirty="0">
                  <a:solidFill>
                    <a:schemeClr val="tx1"/>
                  </a:solidFill>
                  <a:latin typeface="Roboto" panose="02000000000000000000" pitchFamily="2" charset="0"/>
                  <a:ea typeface="Roboto" panose="02000000000000000000" pitchFamily="2" charset="0"/>
                </a:rPr>
                <a:t>VS Plan Implementation</a:t>
              </a:r>
            </a:p>
          </p:txBody>
        </p:sp>
        <p:sp>
          <p:nvSpPr>
            <p:cNvPr id="12" name="Rectangle 11">
              <a:extLst>
                <a:ext uri="{FF2B5EF4-FFF2-40B4-BE49-F238E27FC236}">
                  <a16:creationId xmlns:a16="http://schemas.microsoft.com/office/drawing/2014/main" id="{357C2D2C-0EE6-F431-0559-3669D1EA7561}"/>
                </a:ext>
              </a:extLst>
            </p:cNvPr>
            <p:cNvSpPr>
              <a:spLocks noChangeArrowheads="1"/>
            </p:cNvSpPr>
            <p:nvPr/>
          </p:nvSpPr>
          <p:spPr bwMode="auto">
            <a:xfrm>
              <a:off x="3120" y="1824"/>
              <a:ext cx="672" cy="432"/>
            </a:xfrm>
            <a:prstGeom prst="rect">
              <a:avLst/>
            </a:prstGeom>
            <a:solidFill>
              <a:schemeClr val="bg2"/>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dirty="0">
                  <a:latin typeface="Roboto" panose="02000000000000000000" pitchFamily="2" charset="0"/>
                  <a:ea typeface="Roboto" panose="02000000000000000000" pitchFamily="2" charset="0"/>
                </a:rPr>
                <a:t>New VSM </a:t>
              </a:r>
              <a:r>
                <a:rPr lang="ja-JP" altLang="en-US" sz="1200" dirty="0">
                  <a:latin typeface="Roboto" panose="02000000000000000000" pitchFamily="2" charset="0"/>
                </a:rPr>
                <a:t>“</a:t>
              </a:r>
              <a:r>
                <a:rPr lang="en-US" altLang="ja-JP" sz="1200" dirty="0">
                  <a:latin typeface="Roboto" panose="02000000000000000000" pitchFamily="2" charset="0"/>
                  <a:ea typeface="Roboto" panose="02000000000000000000" pitchFamily="2" charset="0"/>
                </a:rPr>
                <a:t>Event</a:t>
              </a:r>
              <a:r>
                <a:rPr lang="ja-JP" altLang="en-US" sz="1200" dirty="0">
                  <a:latin typeface="Roboto" panose="02000000000000000000" pitchFamily="2" charset="0"/>
                </a:rPr>
                <a:t>”</a:t>
              </a:r>
              <a:endParaRPr lang="en-US" altLang="en-US" sz="1200" dirty="0">
                <a:latin typeface="Roboto" panose="02000000000000000000" pitchFamily="2" charset="0"/>
                <a:ea typeface="Roboto" panose="02000000000000000000" pitchFamily="2" charset="0"/>
              </a:endParaRPr>
            </a:p>
          </p:txBody>
        </p:sp>
        <p:sp>
          <p:nvSpPr>
            <p:cNvPr id="13" name="AutoShape 12">
              <a:extLst>
                <a:ext uri="{FF2B5EF4-FFF2-40B4-BE49-F238E27FC236}">
                  <a16:creationId xmlns:a16="http://schemas.microsoft.com/office/drawing/2014/main" id="{09720395-B676-3171-0D02-9CE9AA7808CC}"/>
                </a:ext>
              </a:extLst>
            </p:cNvPr>
            <p:cNvSpPr>
              <a:spLocks noChangeArrowheads="1"/>
            </p:cNvSpPr>
            <p:nvPr/>
          </p:nvSpPr>
          <p:spPr bwMode="auto">
            <a:xfrm>
              <a:off x="3120" y="2832"/>
              <a:ext cx="576" cy="432"/>
            </a:xfrm>
            <a:prstGeom prst="flowChartDocument">
              <a:avLst/>
            </a:prstGeom>
            <a:solidFill>
              <a:schemeClr val="bg2"/>
            </a:solidFill>
            <a:ln w="12700" cap="sq">
              <a:solidFill>
                <a:schemeClr val="tx1"/>
              </a:solidFill>
              <a:miter lim="800000"/>
              <a:headEnd type="none" w="sm" len="sm"/>
              <a:tailEnd type="none" w="sm" len="sm"/>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000" dirty="0">
                  <a:solidFill>
                    <a:schemeClr val="tx1"/>
                  </a:solidFill>
                  <a:latin typeface="Roboto" panose="02000000000000000000" pitchFamily="2" charset="0"/>
                  <a:ea typeface="Roboto" panose="02000000000000000000" pitchFamily="2" charset="0"/>
                </a:rPr>
                <a:t>New Future-State VSM</a:t>
              </a:r>
            </a:p>
          </p:txBody>
        </p:sp>
        <p:sp>
          <p:nvSpPr>
            <p:cNvPr id="14" name="AutoShape 13">
              <a:extLst>
                <a:ext uri="{FF2B5EF4-FFF2-40B4-BE49-F238E27FC236}">
                  <a16:creationId xmlns:a16="http://schemas.microsoft.com/office/drawing/2014/main" id="{3B83EC6E-4F6A-567F-76A9-85DEC26EDF7C}"/>
                </a:ext>
              </a:extLst>
            </p:cNvPr>
            <p:cNvSpPr>
              <a:spLocks noChangeArrowheads="1"/>
            </p:cNvSpPr>
            <p:nvPr/>
          </p:nvSpPr>
          <p:spPr bwMode="auto">
            <a:xfrm>
              <a:off x="3408" y="2352"/>
              <a:ext cx="576" cy="480"/>
            </a:xfrm>
            <a:prstGeom prst="flowChartDocument">
              <a:avLst/>
            </a:prstGeom>
            <a:solidFill>
              <a:schemeClr val="bg2"/>
            </a:solidFill>
            <a:ln w="12700" cap="sq">
              <a:solidFill>
                <a:schemeClr val="tx1"/>
              </a:solidFill>
              <a:miter lim="800000"/>
              <a:headEnd type="none" w="sm" len="sm"/>
              <a:tailEnd type="none" w="sm" len="sm"/>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000" dirty="0">
                  <a:solidFill>
                    <a:schemeClr val="tx1"/>
                  </a:solidFill>
                  <a:latin typeface="Roboto" panose="02000000000000000000" pitchFamily="2" charset="0"/>
                  <a:ea typeface="Roboto" panose="02000000000000000000" pitchFamily="2" charset="0"/>
                </a:rPr>
                <a:t>New Value Stream Plan</a:t>
              </a:r>
            </a:p>
          </p:txBody>
        </p:sp>
        <p:sp>
          <p:nvSpPr>
            <p:cNvPr id="15" name="Line 14">
              <a:extLst>
                <a:ext uri="{FF2B5EF4-FFF2-40B4-BE49-F238E27FC236}">
                  <a16:creationId xmlns:a16="http://schemas.microsoft.com/office/drawing/2014/main" id="{256FF31B-D6B7-DF71-620B-E7953E678848}"/>
                </a:ext>
              </a:extLst>
            </p:cNvPr>
            <p:cNvSpPr>
              <a:spLocks noChangeShapeType="1"/>
            </p:cNvSpPr>
            <p:nvPr/>
          </p:nvSpPr>
          <p:spPr bwMode="auto">
            <a:xfrm>
              <a:off x="3552" y="2256"/>
              <a:ext cx="96" cy="96"/>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6" name="Line 15">
              <a:extLst>
                <a:ext uri="{FF2B5EF4-FFF2-40B4-BE49-F238E27FC236}">
                  <a16:creationId xmlns:a16="http://schemas.microsoft.com/office/drawing/2014/main" id="{653B73A2-A467-1C35-61E9-AA734EB42C5E}"/>
                </a:ext>
              </a:extLst>
            </p:cNvPr>
            <p:cNvSpPr>
              <a:spLocks noChangeShapeType="1"/>
            </p:cNvSpPr>
            <p:nvPr/>
          </p:nvSpPr>
          <p:spPr bwMode="auto">
            <a:xfrm>
              <a:off x="3216" y="2256"/>
              <a:ext cx="96" cy="576"/>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cxnSp>
          <p:nvCxnSpPr>
            <p:cNvPr id="17" name="AutoShape 16">
              <a:extLst>
                <a:ext uri="{FF2B5EF4-FFF2-40B4-BE49-F238E27FC236}">
                  <a16:creationId xmlns:a16="http://schemas.microsoft.com/office/drawing/2014/main" id="{C0FEDC03-960A-E5E8-EEDF-35ECB9F599EF}"/>
                </a:ext>
              </a:extLst>
            </p:cNvPr>
            <p:cNvCxnSpPr>
              <a:cxnSpLocks noChangeShapeType="1"/>
              <a:stCxn id="6" idx="3"/>
              <a:endCxn id="11" idx="1"/>
            </p:cNvCxnSpPr>
            <p:nvPr/>
          </p:nvCxnSpPr>
          <p:spPr bwMode="auto">
            <a:xfrm>
              <a:off x="1152" y="2040"/>
              <a:ext cx="624" cy="0"/>
            </a:xfrm>
            <a:prstGeom prst="straightConnector1">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cxnSp>
          <p:nvCxnSpPr>
            <p:cNvPr id="18" name="AutoShape 17">
              <a:extLst>
                <a:ext uri="{FF2B5EF4-FFF2-40B4-BE49-F238E27FC236}">
                  <a16:creationId xmlns:a16="http://schemas.microsoft.com/office/drawing/2014/main" id="{4D4A7694-19EC-D685-B218-0FDE0A361C9F}"/>
                </a:ext>
              </a:extLst>
            </p:cNvPr>
            <p:cNvCxnSpPr>
              <a:cxnSpLocks noChangeShapeType="1"/>
              <a:stCxn id="11" idx="3"/>
              <a:endCxn id="12" idx="1"/>
            </p:cNvCxnSpPr>
            <p:nvPr/>
          </p:nvCxnSpPr>
          <p:spPr bwMode="auto">
            <a:xfrm>
              <a:off x="2544" y="2040"/>
              <a:ext cx="576" cy="0"/>
            </a:xfrm>
            <a:prstGeom prst="straightConnector1">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cxnSp>
          <p:nvCxnSpPr>
            <p:cNvPr id="19" name="AutoShape 18">
              <a:extLst>
                <a:ext uri="{FF2B5EF4-FFF2-40B4-BE49-F238E27FC236}">
                  <a16:creationId xmlns:a16="http://schemas.microsoft.com/office/drawing/2014/main" id="{ED03D9A0-14BC-B2BC-CB4B-878317A406FE}"/>
                </a:ext>
              </a:extLst>
            </p:cNvPr>
            <p:cNvCxnSpPr>
              <a:cxnSpLocks noChangeShapeType="1"/>
              <a:stCxn id="12" idx="3"/>
              <a:endCxn id="26" idx="1"/>
            </p:cNvCxnSpPr>
            <p:nvPr/>
          </p:nvCxnSpPr>
          <p:spPr bwMode="auto">
            <a:xfrm>
              <a:off x="3792" y="2040"/>
              <a:ext cx="624" cy="0"/>
            </a:xfrm>
            <a:prstGeom prst="straightConnector1">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sp>
          <p:nvSpPr>
            <p:cNvPr id="20" name="Line 19">
              <a:extLst>
                <a:ext uri="{FF2B5EF4-FFF2-40B4-BE49-F238E27FC236}">
                  <a16:creationId xmlns:a16="http://schemas.microsoft.com/office/drawing/2014/main" id="{FE959E02-5600-6670-C795-EBE1EBD31ACA}"/>
                </a:ext>
              </a:extLst>
            </p:cNvPr>
            <p:cNvSpPr>
              <a:spLocks noChangeShapeType="1"/>
            </p:cNvSpPr>
            <p:nvPr/>
          </p:nvSpPr>
          <p:spPr bwMode="auto">
            <a:xfrm flipV="1">
              <a:off x="1200" y="1566"/>
              <a:ext cx="1920" cy="18"/>
            </a:xfrm>
            <a:prstGeom prst="line">
              <a:avLst/>
            </a:prstGeom>
            <a:noFill/>
            <a:ln w="28575" cap="sq">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1" name="Text Box 20">
              <a:extLst>
                <a:ext uri="{FF2B5EF4-FFF2-40B4-BE49-F238E27FC236}">
                  <a16:creationId xmlns:a16="http://schemas.microsoft.com/office/drawing/2014/main" id="{E9C42EED-19DC-1914-4E14-115A2EEEAA16}"/>
                </a:ext>
              </a:extLst>
            </p:cNvPr>
            <p:cNvSpPr txBox="1">
              <a:spLocks noChangeArrowheads="1"/>
            </p:cNvSpPr>
            <p:nvPr/>
          </p:nvSpPr>
          <p:spPr bwMode="auto">
            <a:xfrm>
              <a:off x="1728" y="1488"/>
              <a:ext cx="864" cy="197"/>
            </a:xfrm>
            <a:prstGeom prst="rect">
              <a:avLst/>
            </a:prstGeom>
            <a:solidFill>
              <a:schemeClr val="bg1"/>
            </a:solidFill>
            <a:ln w="12700" cap="sq">
              <a:solidFill>
                <a:schemeClr val="tx1"/>
              </a:solidFill>
              <a:miter lim="800000"/>
              <a:headEnd type="none" w="sm" len="sm"/>
              <a:tailEnd type="none" w="sm" len="sm"/>
            </a:ln>
          </p:spPr>
          <p:txBody>
            <a:bodyP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50000"/>
                </a:spcBef>
              </a:pPr>
              <a:r>
                <a:rPr lang="en-US" altLang="en-US" sz="1000" dirty="0">
                  <a:solidFill>
                    <a:schemeClr val="tx1"/>
                  </a:solidFill>
                  <a:latin typeface="Roboto" panose="02000000000000000000" pitchFamily="2" charset="0"/>
                  <a:ea typeface="Roboto" panose="02000000000000000000" pitchFamily="2" charset="0"/>
                </a:rPr>
                <a:t>Approx. 6 Months</a:t>
              </a:r>
            </a:p>
          </p:txBody>
        </p:sp>
        <p:sp>
          <p:nvSpPr>
            <p:cNvPr id="22" name="Text Box 21">
              <a:extLst>
                <a:ext uri="{FF2B5EF4-FFF2-40B4-BE49-F238E27FC236}">
                  <a16:creationId xmlns:a16="http://schemas.microsoft.com/office/drawing/2014/main" id="{448FA7E8-EFF5-559D-8E0E-58C8F8411954}"/>
                </a:ext>
              </a:extLst>
            </p:cNvPr>
            <p:cNvSpPr txBox="1">
              <a:spLocks noChangeArrowheads="1"/>
            </p:cNvSpPr>
            <p:nvPr/>
          </p:nvSpPr>
          <p:spPr bwMode="auto">
            <a:xfrm>
              <a:off x="1776" y="2400"/>
              <a:ext cx="8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30000"/>
                </a:spcBef>
              </a:pPr>
              <a:r>
                <a:rPr lang="en-US" altLang="en-US" sz="1000" b="0" dirty="0">
                  <a:solidFill>
                    <a:schemeClr val="tx1"/>
                  </a:solidFill>
                  <a:latin typeface="Roboto" panose="02000000000000000000" pitchFamily="2" charset="0"/>
                  <a:ea typeface="Roboto" panose="02000000000000000000" pitchFamily="2" charset="0"/>
                </a:rPr>
                <a:t>Kaizen events and other improvement and transformational activities</a:t>
              </a:r>
            </a:p>
          </p:txBody>
        </p:sp>
        <p:sp>
          <p:nvSpPr>
            <p:cNvPr id="23" name="Rectangle 22">
              <a:extLst>
                <a:ext uri="{FF2B5EF4-FFF2-40B4-BE49-F238E27FC236}">
                  <a16:creationId xmlns:a16="http://schemas.microsoft.com/office/drawing/2014/main" id="{9E4F6284-9D4D-ADEC-6316-6489417AB8E7}"/>
                </a:ext>
              </a:extLst>
            </p:cNvPr>
            <p:cNvSpPr>
              <a:spLocks noChangeArrowheads="1"/>
            </p:cNvSpPr>
            <p:nvPr/>
          </p:nvSpPr>
          <p:spPr bwMode="auto">
            <a:xfrm>
              <a:off x="1536" y="3360"/>
              <a:ext cx="1872" cy="576"/>
            </a:xfrm>
            <a:prstGeom prst="rect">
              <a:avLst/>
            </a:prstGeom>
            <a:solidFill>
              <a:schemeClr val="accent5"/>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rPr>
                <a:t>Begin implementation of </a:t>
              </a:r>
              <a:r>
                <a:rPr lang="en-US" altLang="en-US" sz="1200" u="sng" dirty="0">
                  <a:solidFill>
                    <a:schemeClr val="bg1"/>
                  </a:solidFill>
                  <a:latin typeface="Roboto" panose="02000000000000000000" pitchFamily="2" charset="0"/>
                  <a:ea typeface="Roboto" panose="02000000000000000000" pitchFamily="2" charset="0"/>
                </a:rPr>
                <a:t>pacing</a:t>
              </a:r>
              <a:r>
                <a:rPr lang="en-US" altLang="en-US" sz="1200" dirty="0">
                  <a:solidFill>
                    <a:schemeClr val="bg1"/>
                  </a:solidFill>
                  <a:latin typeface="Roboto" panose="02000000000000000000" pitchFamily="2" charset="0"/>
                  <a:ea typeface="Roboto" panose="02000000000000000000" pitchFamily="2" charset="0"/>
                </a:rPr>
                <a:t> transformation activities (&gt;6 months) required to achieve  long-term </a:t>
              </a:r>
              <a:r>
                <a:rPr lang="ja-JP" altLang="en-US" sz="1200" dirty="0">
                  <a:solidFill>
                    <a:schemeClr val="bg1"/>
                  </a:solidFill>
                  <a:latin typeface="Roboto" panose="02000000000000000000" pitchFamily="2" charset="0"/>
                </a:rPr>
                <a:t>“</a:t>
              </a:r>
              <a:r>
                <a:rPr lang="en-US" altLang="ja-JP" sz="1200" dirty="0">
                  <a:solidFill>
                    <a:schemeClr val="bg1"/>
                  </a:solidFill>
                  <a:latin typeface="Roboto" panose="02000000000000000000" pitchFamily="2" charset="0"/>
                  <a:ea typeface="Roboto" panose="02000000000000000000" pitchFamily="2" charset="0"/>
                </a:rPr>
                <a:t>vision</a:t>
              </a:r>
              <a:r>
                <a:rPr lang="ja-JP" altLang="en-US" sz="1200" dirty="0">
                  <a:solidFill>
                    <a:schemeClr val="bg1"/>
                  </a:solidFill>
                  <a:latin typeface="Roboto" panose="02000000000000000000" pitchFamily="2" charset="0"/>
                </a:rPr>
                <a:t>”</a:t>
              </a:r>
              <a:r>
                <a:rPr lang="en-US" altLang="ja-JP" sz="1200" dirty="0">
                  <a:solidFill>
                    <a:schemeClr val="bg1"/>
                  </a:solidFill>
                  <a:latin typeface="Roboto" panose="02000000000000000000" pitchFamily="2" charset="0"/>
                  <a:ea typeface="Roboto" panose="02000000000000000000" pitchFamily="2" charset="0"/>
                </a:rPr>
                <a:t> </a:t>
              </a:r>
              <a:endParaRPr lang="en-US" altLang="en-US" sz="1200" dirty="0">
                <a:solidFill>
                  <a:schemeClr val="bg1"/>
                </a:solidFill>
                <a:latin typeface="Roboto" panose="02000000000000000000" pitchFamily="2" charset="0"/>
                <a:ea typeface="Roboto" panose="02000000000000000000" pitchFamily="2" charset="0"/>
              </a:endParaRPr>
            </a:p>
          </p:txBody>
        </p:sp>
        <p:sp>
          <p:nvSpPr>
            <p:cNvPr id="24" name="AutoShape 23">
              <a:extLst>
                <a:ext uri="{FF2B5EF4-FFF2-40B4-BE49-F238E27FC236}">
                  <a16:creationId xmlns:a16="http://schemas.microsoft.com/office/drawing/2014/main" id="{06864B9A-7E5E-DCBB-6FF6-9172E4D3B2C0}"/>
                </a:ext>
              </a:extLst>
            </p:cNvPr>
            <p:cNvSpPr>
              <a:spLocks noChangeArrowheads="1"/>
            </p:cNvSpPr>
            <p:nvPr/>
          </p:nvSpPr>
          <p:spPr bwMode="auto">
            <a:xfrm>
              <a:off x="624" y="3456"/>
              <a:ext cx="576" cy="384"/>
            </a:xfrm>
            <a:prstGeom prst="flowChartDocument">
              <a:avLst/>
            </a:prstGeom>
            <a:solidFill>
              <a:schemeClr val="accent5"/>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000" dirty="0">
                  <a:latin typeface="Roboto" panose="02000000000000000000" pitchFamily="2" charset="0"/>
                  <a:ea typeface="Roboto" panose="02000000000000000000" pitchFamily="2" charset="0"/>
                </a:rPr>
                <a:t>Long-term</a:t>
              </a:r>
            </a:p>
            <a:p>
              <a:pPr>
                <a:lnSpc>
                  <a:spcPct val="100000"/>
                </a:lnSpc>
                <a:spcBef>
                  <a:spcPct val="30000"/>
                </a:spcBef>
              </a:pPr>
              <a:r>
                <a:rPr lang="en-US" altLang="en-US" sz="1000" dirty="0">
                  <a:latin typeface="Roboto" panose="02000000000000000000" pitchFamily="2" charset="0"/>
                  <a:ea typeface="Roboto" panose="02000000000000000000" pitchFamily="2" charset="0"/>
                </a:rPr>
                <a:t>Vision</a:t>
              </a:r>
            </a:p>
          </p:txBody>
        </p:sp>
        <p:cxnSp>
          <p:nvCxnSpPr>
            <p:cNvPr id="25" name="AutoShape 24">
              <a:extLst>
                <a:ext uri="{FF2B5EF4-FFF2-40B4-BE49-F238E27FC236}">
                  <a16:creationId xmlns:a16="http://schemas.microsoft.com/office/drawing/2014/main" id="{3F4118C2-DF39-36F6-EB6E-EB1941676290}"/>
                </a:ext>
              </a:extLst>
            </p:cNvPr>
            <p:cNvCxnSpPr>
              <a:cxnSpLocks noChangeShapeType="1"/>
              <a:stCxn id="24" idx="3"/>
              <a:endCxn id="23" idx="1"/>
            </p:cNvCxnSpPr>
            <p:nvPr/>
          </p:nvCxnSpPr>
          <p:spPr bwMode="auto">
            <a:xfrm>
              <a:off x="1200" y="3648"/>
              <a:ext cx="336" cy="0"/>
            </a:xfrm>
            <a:prstGeom prst="straightConnector1">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sp>
          <p:nvSpPr>
            <p:cNvPr id="26" name="AutoShape 25">
              <a:extLst>
                <a:ext uri="{FF2B5EF4-FFF2-40B4-BE49-F238E27FC236}">
                  <a16:creationId xmlns:a16="http://schemas.microsoft.com/office/drawing/2014/main" id="{9C465291-16F4-6826-F098-B47BA390E7C9}"/>
                </a:ext>
              </a:extLst>
            </p:cNvPr>
            <p:cNvSpPr>
              <a:spLocks noChangeArrowheads="1"/>
            </p:cNvSpPr>
            <p:nvPr/>
          </p:nvSpPr>
          <p:spPr bwMode="auto">
            <a:xfrm>
              <a:off x="4416" y="1800"/>
              <a:ext cx="960" cy="480"/>
            </a:xfrm>
            <a:prstGeom prst="flowChartAlternateProcess">
              <a:avLst/>
            </a:prstGeom>
            <a:solidFill>
              <a:schemeClr val="accent5"/>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40000"/>
                <a:buFont typeface="Wingdings" panose="05000000000000000000"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000" dirty="0">
                  <a:solidFill>
                    <a:schemeClr val="bg1"/>
                  </a:solidFill>
                  <a:latin typeface="Roboto" panose="02000000000000000000" pitchFamily="2" charset="0"/>
                  <a:ea typeface="Roboto" panose="02000000000000000000" pitchFamily="2" charset="0"/>
                </a:rPr>
                <a:t>Convergence of future VSM and long-term </a:t>
              </a:r>
              <a:r>
                <a:rPr lang="ja-JP" altLang="en-US" sz="1000" dirty="0">
                  <a:solidFill>
                    <a:schemeClr val="bg1"/>
                  </a:solidFill>
                  <a:latin typeface="Roboto" panose="02000000000000000000" pitchFamily="2" charset="0"/>
                </a:rPr>
                <a:t>“</a:t>
              </a:r>
              <a:r>
                <a:rPr lang="en-US" altLang="ja-JP" sz="1000" dirty="0">
                  <a:solidFill>
                    <a:schemeClr val="bg1"/>
                  </a:solidFill>
                  <a:latin typeface="Roboto" panose="02000000000000000000" pitchFamily="2" charset="0"/>
                  <a:ea typeface="Roboto" panose="02000000000000000000" pitchFamily="2" charset="0"/>
                </a:rPr>
                <a:t>Vision</a:t>
              </a:r>
              <a:r>
                <a:rPr lang="ja-JP" altLang="en-US" sz="1000" dirty="0">
                  <a:solidFill>
                    <a:schemeClr val="bg1"/>
                  </a:solidFill>
                  <a:latin typeface="Roboto" panose="02000000000000000000" pitchFamily="2" charset="0"/>
                </a:rPr>
                <a:t>” </a:t>
              </a:r>
              <a:r>
                <a:rPr lang="en-US" altLang="en-US" sz="1000" dirty="0">
                  <a:solidFill>
                    <a:schemeClr val="bg1"/>
                  </a:solidFill>
                  <a:latin typeface="Roboto" panose="02000000000000000000" pitchFamily="2" charset="0"/>
                  <a:ea typeface="Roboto" panose="02000000000000000000" pitchFamily="2" charset="0"/>
                </a:rPr>
                <a:t>transformation</a:t>
              </a:r>
            </a:p>
          </p:txBody>
        </p:sp>
        <p:cxnSp>
          <p:nvCxnSpPr>
            <p:cNvPr id="27" name="AutoShape 26">
              <a:extLst>
                <a:ext uri="{FF2B5EF4-FFF2-40B4-BE49-F238E27FC236}">
                  <a16:creationId xmlns:a16="http://schemas.microsoft.com/office/drawing/2014/main" id="{39D71650-D0EF-F2AB-E718-756558E0F73F}"/>
                </a:ext>
              </a:extLst>
            </p:cNvPr>
            <p:cNvCxnSpPr>
              <a:cxnSpLocks noChangeShapeType="1"/>
              <a:stCxn id="23" idx="3"/>
              <a:endCxn id="26" idx="2"/>
            </p:cNvCxnSpPr>
            <p:nvPr/>
          </p:nvCxnSpPr>
          <p:spPr bwMode="auto">
            <a:xfrm flipV="1">
              <a:off x="3408" y="2280"/>
              <a:ext cx="1488" cy="1368"/>
            </a:xfrm>
            <a:prstGeom prst="bentConnector2">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cxnSp>
        <p:cxnSp>
          <p:nvCxnSpPr>
            <p:cNvPr id="28" name="AutoShape 27">
              <a:extLst>
                <a:ext uri="{FF2B5EF4-FFF2-40B4-BE49-F238E27FC236}">
                  <a16:creationId xmlns:a16="http://schemas.microsoft.com/office/drawing/2014/main" id="{28F1CD0E-2562-AF97-24AE-35E88F29F738}"/>
                </a:ext>
              </a:extLst>
            </p:cNvPr>
            <p:cNvCxnSpPr>
              <a:cxnSpLocks noChangeShapeType="1"/>
              <a:stCxn id="7" idx="2"/>
              <a:endCxn id="24" idx="0"/>
            </p:cNvCxnSpPr>
            <p:nvPr/>
          </p:nvCxnSpPr>
          <p:spPr bwMode="auto">
            <a:xfrm>
              <a:off x="816" y="3213"/>
              <a:ext cx="96" cy="243"/>
            </a:xfrm>
            <a:prstGeom prst="straightConnector1">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cxnSp>
        <p:grpSp>
          <p:nvGrpSpPr>
            <p:cNvPr id="29" name="Group 28">
              <a:extLst>
                <a:ext uri="{FF2B5EF4-FFF2-40B4-BE49-F238E27FC236}">
                  <a16:creationId xmlns:a16="http://schemas.microsoft.com/office/drawing/2014/main" id="{C0DD24E1-002E-D167-DB8A-5657D7D7E53A}"/>
                </a:ext>
              </a:extLst>
            </p:cNvPr>
            <p:cNvGrpSpPr>
              <a:grpSpLocks/>
            </p:cNvGrpSpPr>
            <p:nvPr/>
          </p:nvGrpSpPr>
          <p:grpSpPr bwMode="auto">
            <a:xfrm>
              <a:off x="4056" y="1968"/>
              <a:ext cx="96" cy="144"/>
              <a:chOff x="4056" y="1968"/>
              <a:chExt cx="96" cy="144"/>
            </a:xfrm>
          </p:grpSpPr>
          <p:sp>
            <p:nvSpPr>
              <p:cNvPr id="32" name="Rectangle 29">
                <a:extLst>
                  <a:ext uri="{FF2B5EF4-FFF2-40B4-BE49-F238E27FC236}">
                    <a16:creationId xmlns:a16="http://schemas.microsoft.com/office/drawing/2014/main" id="{975A2EE6-4C9F-E0CC-61E9-5510F87E916C}"/>
                  </a:ext>
                </a:extLst>
              </p:cNvPr>
              <p:cNvSpPr>
                <a:spLocks noChangeArrowheads="1"/>
              </p:cNvSpPr>
              <p:nvPr/>
            </p:nvSpPr>
            <p:spPr bwMode="auto">
              <a:xfrm>
                <a:off x="4080" y="1968"/>
                <a:ext cx="48" cy="1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endParaRPr>
              </a:p>
            </p:txBody>
          </p:sp>
          <p:sp>
            <p:nvSpPr>
              <p:cNvPr id="33" name="Line 30">
                <a:extLst>
                  <a:ext uri="{FF2B5EF4-FFF2-40B4-BE49-F238E27FC236}">
                    <a16:creationId xmlns:a16="http://schemas.microsoft.com/office/drawing/2014/main" id="{ABDC0C13-6032-5409-4D66-E1CA8BBF156F}"/>
                  </a:ext>
                </a:extLst>
              </p:cNvPr>
              <p:cNvSpPr>
                <a:spLocks noChangeShapeType="1"/>
              </p:cNvSpPr>
              <p:nvPr/>
            </p:nvSpPr>
            <p:spPr bwMode="auto">
              <a:xfrm flipH="1">
                <a:off x="4056" y="1968"/>
                <a:ext cx="48" cy="1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4" name="Line 31">
                <a:extLst>
                  <a:ext uri="{FF2B5EF4-FFF2-40B4-BE49-F238E27FC236}">
                    <a16:creationId xmlns:a16="http://schemas.microsoft.com/office/drawing/2014/main" id="{ED3E8D80-4F74-C326-535D-7A45A43A00EE}"/>
                  </a:ext>
                </a:extLst>
              </p:cNvPr>
              <p:cNvSpPr>
                <a:spLocks noChangeShapeType="1"/>
              </p:cNvSpPr>
              <p:nvPr/>
            </p:nvSpPr>
            <p:spPr bwMode="auto">
              <a:xfrm flipH="1">
                <a:off x="4104" y="1968"/>
                <a:ext cx="48" cy="1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30" name="Line 32">
              <a:extLst>
                <a:ext uri="{FF2B5EF4-FFF2-40B4-BE49-F238E27FC236}">
                  <a16:creationId xmlns:a16="http://schemas.microsoft.com/office/drawing/2014/main" id="{88FD5A59-8CA7-AA5C-D983-CF055F85763E}"/>
                </a:ext>
              </a:extLst>
            </p:cNvPr>
            <p:cNvSpPr>
              <a:spLocks noChangeShapeType="1"/>
            </p:cNvSpPr>
            <p:nvPr/>
          </p:nvSpPr>
          <p:spPr bwMode="auto">
            <a:xfrm>
              <a:off x="1200" y="1440"/>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1" name="Line 33">
              <a:extLst>
                <a:ext uri="{FF2B5EF4-FFF2-40B4-BE49-F238E27FC236}">
                  <a16:creationId xmlns:a16="http://schemas.microsoft.com/office/drawing/2014/main" id="{27807819-8280-F4A1-1978-87CE50163D4B}"/>
                </a:ext>
              </a:extLst>
            </p:cNvPr>
            <p:cNvSpPr>
              <a:spLocks noChangeShapeType="1"/>
            </p:cNvSpPr>
            <p:nvPr/>
          </p:nvSpPr>
          <p:spPr bwMode="auto">
            <a:xfrm>
              <a:off x="3120" y="1440"/>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4198120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Role of Leadership in VSM</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10000"/>
          </a:bodyPr>
          <a:lstStyle/>
          <a:p>
            <a:r>
              <a:rPr lang="en-US" dirty="0"/>
              <a:t>Define and communicate the long-term “vision” for the business regularly</a:t>
            </a:r>
          </a:p>
          <a:p>
            <a:pPr lvl="1"/>
            <a:r>
              <a:rPr lang="en-US" dirty="0"/>
              <a:t>No sense in making short term improvements to a process that may be outsourced, eliminated or fundamentally transformed in the near future</a:t>
            </a:r>
          </a:p>
          <a:p>
            <a:r>
              <a:rPr lang="en-US" dirty="0"/>
              <a:t>Identify key value streams to be addressed by the business</a:t>
            </a:r>
          </a:p>
          <a:p>
            <a:pPr lvl="1"/>
            <a:r>
              <a:rPr lang="en-US" dirty="0"/>
              <a:t>Prioritized according to business need and strategy</a:t>
            </a:r>
          </a:p>
          <a:p>
            <a:pPr lvl="1"/>
            <a:r>
              <a:rPr lang="en-US" dirty="0"/>
              <a:t>Not every business process will need to be addressed by VSM</a:t>
            </a:r>
          </a:p>
          <a:p>
            <a:r>
              <a:rPr lang="en-US" dirty="0"/>
              <a:t>Provide sponsorship and support for VSM events and implementation</a:t>
            </a:r>
          </a:p>
          <a:p>
            <a:pPr lvl="1"/>
            <a:r>
              <a:rPr lang="en-US" dirty="0"/>
              <a:t>Internal/external resources and funding</a:t>
            </a:r>
          </a:p>
          <a:p>
            <a:pPr lvl="1"/>
            <a:r>
              <a:rPr lang="en-US" dirty="0"/>
              <a:t>Executive decision-making</a:t>
            </a:r>
          </a:p>
          <a:p>
            <a:pPr lvl="1"/>
            <a:r>
              <a:rPr lang="en-US" dirty="0"/>
              <a:t>Empowerment of teams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14</a:t>
            </a:fld>
            <a:endParaRPr lang="en-US"/>
          </a:p>
        </p:txBody>
      </p:sp>
    </p:spTree>
    <p:extLst>
      <p:ext uri="{BB962C8B-B14F-4D97-AF65-F5344CB8AC3E}">
        <p14:creationId xmlns:p14="http://schemas.microsoft.com/office/powerpoint/2010/main" val="3631675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Role of the Value Stream Manager</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The Value Stream Manager is the business process “owner”</a:t>
            </a:r>
          </a:p>
          <a:p>
            <a:r>
              <a:rPr lang="en-US" dirty="0"/>
              <a:t>Oversees, charters and typically leads VSM events</a:t>
            </a:r>
          </a:p>
          <a:p>
            <a:r>
              <a:rPr lang="en-US" dirty="0"/>
              <a:t>“Owns” the Value Stream Plan</a:t>
            </a:r>
          </a:p>
          <a:p>
            <a:pPr lvl="1"/>
            <a:r>
              <a:rPr lang="en-US" dirty="0"/>
              <a:t>Responsible for overseeing the completion of kaizen and other CI improvement activities that are identified on the VS Plan</a:t>
            </a:r>
          </a:p>
          <a:p>
            <a:pPr lvl="1"/>
            <a:r>
              <a:rPr lang="en-US" dirty="0"/>
              <a:t>Provides leadership in resolving issues and removing obstacles that affect reaching the future state in the prescribed timeframe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15</a:t>
            </a:fld>
            <a:endParaRPr lang="en-US"/>
          </a:p>
        </p:txBody>
      </p:sp>
    </p:spTree>
    <p:extLst>
      <p:ext uri="{BB962C8B-B14F-4D97-AF65-F5344CB8AC3E}">
        <p14:creationId xmlns:p14="http://schemas.microsoft.com/office/powerpoint/2010/main" val="2435107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Role of the Value Stream Manager</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“Owns” the operational aspects of the end-to-end process, even if it crosses organizational boundaries</a:t>
            </a:r>
          </a:p>
          <a:p>
            <a:pPr lvl="1"/>
            <a:r>
              <a:rPr lang="en-US" dirty="0"/>
              <a:t>Reports (solid or dotted line) to the level where all VS processes and functions report to</a:t>
            </a:r>
          </a:p>
          <a:p>
            <a:pPr lvl="1"/>
            <a:r>
              <a:rPr lang="en-US" dirty="0"/>
              <a:t>Ensures that the future state operational model is viable and achieves the benefits envisioned during the VSM event</a:t>
            </a:r>
          </a:p>
          <a:p>
            <a:r>
              <a:rPr lang="en-US" dirty="0"/>
              <a:t>Continues the VSM process through the second and subsequent cycles</a:t>
            </a:r>
          </a:p>
          <a:p>
            <a:r>
              <a:rPr lang="en-US" dirty="0"/>
              <a:t>Maintains the linkage between VSM and strategic vision of the business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16</a:t>
            </a:fld>
            <a:endParaRPr lang="en-US"/>
          </a:p>
        </p:txBody>
      </p:sp>
    </p:spTree>
    <p:extLst>
      <p:ext uri="{BB962C8B-B14F-4D97-AF65-F5344CB8AC3E}">
        <p14:creationId xmlns:p14="http://schemas.microsoft.com/office/powerpoint/2010/main" val="18137381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Site Plan</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A single plan and schedule of all kaizen and continuous improvement events for a particular facility.</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17</a:t>
            </a:fld>
            <a:endParaRPr lang="en-US"/>
          </a:p>
        </p:txBody>
      </p:sp>
      <p:graphicFrame>
        <p:nvGraphicFramePr>
          <p:cNvPr id="4" name="Group 4">
            <a:extLst>
              <a:ext uri="{FF2B5EF4-FFF2-40B4-BE49-F238E27FC236}">
                <a16:creationId xmlns:a16="http://schemas.microsoft.com/office/drawing/2014/main" id="{14D12EAE-0CB7-7A18-9CA9-6E92B87D3FFE}"/>
              </a:ext>
            </a:extLst>
          </p:cNvPr>
          <p:cNvGraphicFramePr>
            <a:graphicFrameLocks/>
          </p:cNvGraphicFramePr>
          <p:nvPr>
            <p:extLst>
              <p:ext uri="{D42A27DB-BD31-4B8C-83A1-F6EECF244321}">
                <p14:modId xmlns:p14="http://schemas.microsoft.com/office/powerpoint/2010/main" val="893296450"/>
              </p:ext>
            </p:extLst>
          </p:nvPr>
        </p:nvGraphicFramePr>
        <p:xfrm>
          <a:off x="1437641" y="2570765"/>
          <a:ext cx="9316719" cy="3776411"/>
        </p:xfrm>
        <a:graphic>
          <a:graphicData uri="http://schemas.openxmlformats.org/drawingml/2006/table">
            <a:tbl>
              <a:tblPr/>
              <a:tblGrid>
                <a:gridCol w="732735">
                  <a:extLst>
                    <a:ext uri="{9D8B030D-6E8A-4147-A177-3AD203B41FA5}">
                      <a16:colId xmlns:a16="http://schemas.microsoft.com/office/drawing/2014/main" val="20000"/>
                    </a:ext>
                  </a:extLst>
                </a:gridCol>
                <a:gridCol w="1875946">
                  <a:extLst>
                    <a:ext uri="{9D8B030D-6E8A-4147-A177-3AD203B41FA5}">
                      <a16:colId xmlns:a16="http://schemas.microsoft.com/office/drawing/2014/main" val="20001"/>
                    </a:ext>
                  </a:extLst>
                </a:gridCol>
                <a:gridCol w="892965">
                  <a:extLst>
                    <a:ext uri="{9D8B030D-6E8A-4147-A177-3AD203B41FA5}">
                      <a16:colId xmlns:a16="http://schemas.microsoft.com/office/drawing/2014/main" val="20002"/>
                    </a:ext>
                  </a:extLst>
                </a:gridCol>
                <a:gridCol w="1204423">
                  <a:extLst>
                    <a:ext uri="{9D8B030D-6E8A-4147-A177-3AD203B41FA5}">
                      <a16:colId xmlns:a16="http://schemas.microsoft.com/office/drawing/2014/main" val="20003"/>
                    </a:ext>
                  </a:extLst>
                </a:gridCol>
                <a:gridCol w="948774">
                  <a:extLst>
                    <a:ext uri="{9D8B030D-6E8A-4147-A177-3AD203B41FA5}">
                      <a16:colId xmlns:a16="http://schemas.microsoft.com/office/drawing/2014/main" val="20004"/>
                    </a:ext>
                  </a:extLst>
                </a:gridCol>
                <a:gridCol w="898366">
                  <a:extLst>
                    <a:ext uri="{9D8B030D-6E8A-4147-A177-3AD203B41FA5}">
                      <a16:colId xmlns:a16="http://schemas.microsoft.com/office/drawing/2014/main" val="20005"/>
                    </a:ext>
                  </a:extLst>
                </a:gridCol>
                <a:gridCol w="806549">
                  <a:extLst>
                    <a:ext uri="{9D8B030D-6E8A-4147-A177-3AD203B41FA5}">
                      <a16:colId xmlns:a16="http://schemas.microsoft.com/office/drawing/2014/main" val="20006"/>
                    </a:ext>
                  </a:extLst>
                </a:gridCol>
                <a:gridCol w="1956961">
                  <a:extLst>
                    <a:ext uri="{9D8B030D-6E8A-4147-A177-3AD203B41FA5}">
                      <a16:colId xmlns:a16="http://schemas.microsoft.com/office/drawing/2014/main" val="20007"/>
                    </a:ext>
                  </a:extLst>
                </a:gridCol>
              </a:tblGrid>
              <a:tr h="476855">
                <a:tc gridSpan="8">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Sample Site Plan excerpt showing scheduled events from two different Value Streams (New Mortgage and Debt Consolidation)</a:t>
                      </a:r>
                    </a:p>
                  </a:txBody>
                  <a:tcPr marT="45713" marB="45713"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11570">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WEEK</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AREA/CELL</a:t>
                      </a:r>
                      <a:endPar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VSM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TOOL</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VS Plan Number</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STATUS</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SENSEI</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COMMENTS</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1570">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3-Jan</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Mailroom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New Mortgage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Standard work</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3</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complete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see kaizen results sheet</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1570">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3-Jan</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Data Entry</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New Mortgage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Standard Work</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8</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complete</a:t>
                      </a:r>
                      <a:endPar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see kaizen results sheet</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1570">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10-Jan</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Data Entry</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New Mortgage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Supermarket</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4</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complete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PRE-RUN Kanban Calculator</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1570">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10-Jan</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Underwriting</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Debt Consol</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Standard work</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6</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complete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see kaizen results sheet</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48356">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17-Jan</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NO EVENTS</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solid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solid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solid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solid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solid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 out</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1570">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24-Jan</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Package Preparation</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New Mortgage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Standard Work</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2</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complete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DEMAND QUESTIONS</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1570">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24-Jan</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Mailroom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Debt Consol</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Standard work</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complete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DEMAND QUESTIONS</a:t>
                      </a:r>
                      <a:endPar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228231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2"/>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18</a:t>
            </a:fld>
            <a:endParaRPr lang="en-US" dirty="0"/>
          </a:p>
        </p:txBody>
      </p:sp>
    </p:spTree>
    <p:extLst>
      <p:ext uri="{BB962C8B-B14F-4D97-AF65-F5344CB8AC3E}">
        <p14:creationId xmlns:p14="http://schemas.microsoft.com/office/powerpoint/2010/main" val="2295948624"/>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14043</TotalTime>
  <Words>2370</Words>
  <Application>Microsoft Office PowerPoint</Application>
  <PresentationFormat>Widescreen</PresentationFormat>
  <Paragraphs>338</Paragraphs>
  <Slides>18</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Roboto</vt:lpstr>
      <vt:lpstr>Roboto Medium</vt:lpstr>
      <vt:lpstr>Times New Roman</vt:lpstr>
      <vt:lpstr>Wingdings</vt:lpstr>
      <vt:lpstr>Office Theme</vt:lpstr>
      <vt:lpstr>PowerPoint Presentation</vt:lpstr>
      <vt:lpstr>PowerPoint Presentation</vt:lpstr>
      <vt:lpstr>PowerPoint Presentation</vt:lpstr>
      <vt:lpstr>Value Stream Mapping Defined</vt:lpstr>
      <vt:lpstr>The “i” in VSMi </vt:lpstr>
      <vt:lpstr>Value Stream Map and Process Map Distinction</vt:lpstr>
      <vt:lpstr>When to Use Value Stream Mapping</vt:lpstr>
      <vt:lpstr>Value Stream Mapping Linkage to Strategy</vt:lpstr>
      <vt:lpstr>Value Stream Mapping Roadmap to Success</vt:lpstr>
      <vt:lpstr>Value Stream Mapping Process</vt:lpstr>
      <vt:lpstr>Value Stream Mapping Session Agenda</vt:lpstr>
      <vt:lpstr>The Value Stream Plan</vt:lpstr>
      <vt:lpstr>VSM in Context</vt:lpstr>
      <vt:lpstr>Role of Leadership in VSM</vt:lpstr>
      <vt:lpstr>Role of the Value Stream Manager</vt:lpstr>
      <vt:lpstr>Role of the Value Stream Manager</vt:lpstr>
      <vt:lpstr>Site Plan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385</cp:revision>
  <dcterms:created xsi:type="dcterms:W3CDTF">2023-02-08T22:10:20Z</dcterms:created>
  <dcterms:modified xsi:type="dcterms:W3CDTF">2024-07-24T16:44:45Z</dcterms:modified>
</cp:coreProperties>
</file>