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258" r:id="rId2"/>
    <p:sldId id="283" r:id="rId3"/>
    <p:sldId id="284" r:id="rId4"/>
    <p:sldId id="351" r:id="rId5"/>
    <p:sldId id="352" r:id="rId6"/>
    <p:sldId id="353" r:id="rId7"/>
    <p:sldId id="354" r:id="rId8"/>
    <p:sldId id="355" r:id="rId9"/>
    <p:sldId id="382" r:id="rId10"/>
    <p:sldId id="357" r:id="rId11"/>
    <p:sldId id="358" r:id="rId12"/>
    <p:sldId id="359" r:id="rId13"/>
    <p:sldId id="360" r:id="rId14"/>
    <p:sldId id="365" r:id="rId15"/>
    <p:sldId id="366" r:id="rId16"/>
    <p:sldId id="361" r:id="rId17"/>
    <p:sldId id="362" r:id="rId18"/>
    <p:sldId id="363" r:id="rId19"/>
    <p:sldId id="364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1849" autoAdjust="0"/>
  </p:normalViewPr>
  <p:slideViewPr>
    <p:cSldViewPr snapToGrid="0">
      <p:cViewPr varScale="1">
        <p:scale>
          <a:sx n="90" d="100"/>
          <a:sy n="90" d="100"/>
        </p:scale>
        <p:origin x="138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36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7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71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74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85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3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19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72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Kaikaku is the Japanese term for "radical change". In business, Kaikaku is concerned with making fundamental and </a:t>
            </a:r>
            <a:r>
              <a:rPr lang="en-US"/>
              <a:t>radical changes, </a:t>
            </a:r>
            <a:r>
              <a:rPr lang="en-US" dirty="0"/>
              <a:t>unlike Kaizen which is focused on incremental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75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45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1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06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21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51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55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67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57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44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11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89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0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626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61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98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372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08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161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186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771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435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553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ＭＳ Ｐゴシック" charset="0"/>
                <a:cs typeface="+mn-cs"/>
              </a:rPr>
              <a:t>NOTE: </a:t>
            </a:r>
            <a:r>
              <a:rPr lang="en-US" b="0" dirty="0">
                <a:ea typeface="ＭＳ Ｐゴシック" charset="0"/>
                <a:cs typeface="+mn-cs"/>
              </a:rPr>
              <a:t>Allot 15 minutes for discussion and another 3 minutes per group to report out after the discussion is complete.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539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2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LDSHP LESSONS PRESENTATION ENG REV3.0</a:t>
            </a:r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motortrend.com/features/consumer/112_0702_2007_power_list_01z+Fujio_Cho+Toyota_Motor_Corporation_chairman2.jp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motortrend.com/features/consumer/112_0702_2007_power_list_01z+Fujio_Cho+Toyota_Motor_Corporation_chairman2.jpg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Leadership Lessons from Toyota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3517106" y="2278809"/>
            <a:ext cx="5157787" cy="23003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This document contains confidential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and proprietary information owned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by Lean Horizons Consulting, LLC.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Any disclosure, use, copying or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distribution of this information without the express written consent of Lean Horizons Consulting is strictly prohibited.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A6FCFA-DB7B-71C3-70EC-F677EBA23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Lean Transformation Experience so far…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/>
          <a:lstStyle/>
          <a:p>
            <a:r>
              <a:rPr lang="en-US" dirty="0"/>
              <a:t>Lean will work anywhere</a:t>
            </a:r>
          </a:p>
          <a:p>
            <a:pPr lvl="1"/>
            <a:r>
              <a:rPr lang="en-US" dirty="0"/>
              <a:t>Any industry</a:t>
            </a:r>
          </a:p>
          <a:p>
            <a:pPr lvl="1"/>
            <a:r>
              <a:rPr lang="en-US" dirty="0"/>
              <a:t>Any location</a:t>
            </a:r>
          </a:p>
          <a:p>
            <a:pPr lvl="1"/>
            <a:r>
              <a:rPr lang="en-US" dirty="0"/>
              <a:t>Any culture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8" descr="bigstockphoto_World_Map_In_Silver_574866">
            <a:extLst>
              <a:ext uri="{FF2B5EF4-FFF2-40B4-BE49-F238E27FC236}">
                <a16:creationId xmlns:a16="http://schemas.microsoft.com/office/drawing/2014/main" id="{7ADD21F2-6F91-9604-BB49-FAD379ECDF2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2617724"/>
            <a:ext cx="5181600" cy="2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21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Lean Transformation: from what to what?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9A98A2D-ED91-2A30-AB47-D9B363339228}"/>
              </a:ext>
            </a:extLst>
          </p:cNvPr>
          <p:cNvSpPr/>
          <p:nvPr/>
        </p:nvSpPr>
        <p:spPr>
          <a:xfrm>
            <a:off x="3122295" y="1840230"/>
            <a:ext cx="5947410" cy="4492918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716A7-C7E6-799C-AC1A-2937BF2CCDC0}"/>
              </a:ext>
            </a:extLst>
          </p:cNvPr>
          <p:cNvSpPr txBox="1"/>
          <p:nvPr/>
        </p:nvSpPr>
        <p:spPr>
          <a:xfrm>
            <a:off x="3047048" y="3655492"/>
            <a:ext cx="60979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>
                <a:latin typeface="Roboto" panose="02000000000000000000" pitchFamily="2" charset="0"/>
                <a:ea typeface="Roboto" panose="02000000000000000000" pitchFamily="2" charset="0"/>
              </a:rPr>
              <a:t>Narrow definition: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Tools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Cost cutting</a:t>
            </a:r>
            <a:b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en-US" sz="2400" u="sng" dirty="0">
                <a:latin typeface="Roboto" panose="02000000000000000000" pitchFamily="2" charset="0"/>
                <a:ea typeface="Roboto" panose="02000000000000000000" pitchFamily="2" charset="0"/>
              </a:rPr>
              <a:t>Broader definition: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Thinking, systematic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Entire enterprise, business system</a:t>
            </a:r>
          </a:p>
        </p:txBody>
      </p:sp>
    </p:spTree>
    <p:extLst>
      <p:ext uri="{BB962C8B-B14F-4D97-AF65-F5344CB8AC3E}">
        <p14:creationId xmlns:p14="http://schemas.microsoft.com/office/powerpoint/2010/main" val="376126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Lean Transformation Experience 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Lean will work anywhere, but</a:t>
            </a:r>
          </a:p>
          <a:p>
            <a:pPr lvl="1"/>
            <a:r>
              <a:rPr lang="en-US" dirty="0"/>
              <a:t>Many companies have tried…</a:t>
            </a:r>
          </a:p>
          <a:p>
            <a:pPr lvl="1"/>
            <a:r>
              <a:rPr lang="en-US" dirty="0"/>
              <a:t>Not every company is successful…</a:t>
            </a:r>
          </a:p>
          <a:p>
            <a:pPr lvl="1"/>
            <a:r>
              <a:rPr lang="en-US" dirty="0"/>
              <a:t>In fact, most aren’t…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E1F544-9536-F9A8-09C9-CC5F0DDAE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57" y="3933825"/>
            <a:ext cx="4992687" cy="1233488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WHY??</a:t>
            </a:r>
          </a:p>
        </p:txBody>
      </p:sp>
    </p:spTree>
    <p:extLst>
      <p:ext uri="{BB962C8B-B14F-4D97-AF65-F5344CB8AC3E}">
        <p14:creationId xmlns:p14="http://schemas.microsoft.com/office/powerpoint/2010/main" val="34327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Organization Must Address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BD4581-81D2-FFFD-E9A6-6928065C50FC}"/>
              </a:ext>
            </a:extLst>
          </p:cNvPr>
          <p:cNvGrpSpPr/>
          <p:nvPr/>
        </p:nvGrpSpPr>
        <p:grpSpPr>
          <a:xfrm>
            <a:off x="1083945" y="1789703"/>
            <a:ext cx="10024110" cy="4549327"/>
            <a:chOff x="457200" y="1536700"/>
            <a:chExt cx="8266113" cy="47035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405E15-36D2-9BF1-5AE1-B95A230C8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1971675"/>
              <a:ext cx="1908175" cy="568325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Purpose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C7EEFC08-F068-5D16-AC67-871DB1D39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2894013"/>
              <a:ext cx="1908175" cy="568325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A35020E3-D9F9-430D-9E56-1FA2AB0A7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786188"/>
              <a:ext cx="1908175" cy="568325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People</a:t>
              </a: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B84FF2C7-0690-DE9F-B222-0C2E861A4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8" y="2792413"/>
              <a:ext cx="825023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D2FBBAE1-29E2-2D83-1E18-70A1B43B5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63" y="3697288"/>
              <a:ext cx="820578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64EE4A1-60DB-5C60-7B8B-251584A9F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4645025"/>
              <a:ext cx="823595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5FCE3A0C-83F2-7C08-B279-AA499D24B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550" y="1954213"/>
              <a:ext cx="4970463" cy="521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Provide value to customers cost-effectively in order </a:t>
              </a:r>
              <a:b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prosper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B695E3-575C-E0A2-BEDF-88CE0C74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2898774"/>
              <a:ext cx="4981575" cy="521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Through primary value streams for design, make, use, and support streams</a:t>
              </a:r>
              <a:endParaRPr lang="en-US" altLang="en-US" sz="1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6709315-E279-D425-597B-2C96EAF9E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3790950"/>
              <a:ext cx="4970463" cy="521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 engaging employees touching value streams (including support streams) to sustain and improve them</a:t>
              </a:r>
              <a:endParaRPr lang="en-US" altLang="en-US" sz="1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88A432C9-A77D-CF27-EFDD-42CE4E5892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963" y="1824038"/>
              <a:ext cx="8250237" cy="158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76361D4B-A6AF-804E-67EE-4FDAB1550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8" y="1536700"/>
              <a:ext cx="4371699" cy="326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Points		           	    	  Descriptions</a:t>
              </a:r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D3E15258-DD1B-5F90-82B5-96384A241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2079625"/>
              <a:ext cx="400050" cy="36671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6FF174B7-70F7-EC9C-1A4D-87A51EB18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005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5F63E0F4-E3D5-E9E8-3ADD-4DD3A4671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894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5CE8D9DA-B0F4-DE57-0FDF-1AF068DB8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75" y="4862513"/>
              <a:ext cx="8199438" cy="11176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5000"/>
                </a:lnSpc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Defining purpose and specifying process while/by </a:t>
              </a:r>
              <a:b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aligning people is the central task of management</a:t>
              </a:r>
            </a:p>
          </p:txBody>
        </p:sp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0AF89E13-3FFB-A3C6-7E7D-D75DF2F72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67" y="6054725"/>
              <a:ext cx="2425902" cy="1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en-US" altLang="en-US" sz="700" i="1" dirty="0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06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Lean Transformation Some Lessons Learned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Cherry-picking the tools is </a:t>
            </a:r>
            <a:br>
              <a:rPr lang="en-US" dirty="0"/>
            </a:br>
            <a:r>
              <a:rPr lang="en-US" dirty="0"/>
              <a:t>not enough</a:t>
            </a:r>
          </a:p>
          <a:p>
            <a:r>
              <a:rPr lang="en-US" dirty="0"/>
              <a:t>The tools comprise a system</a:t>
            </a:r>
          </a:p>
          <a:p>
            <a:r>
              <a:rPr lang="en-US" dirty="0"/>
              <a:t>Integrated, holistic</a:t>
            </a:r>
          </a:p>
          <a:p>
            <a:r>
              <a:rPr lang="en-US" dirty="0"/>
              <a:t>Technical side, “soft side”</a:t>
            </a:r>
          </a:p>
          <a:p>
            <a:r>
              <a:rPr lang="en-US" dirty="0"/>
              <a:t>A way of thinking underlies the tools and system</a:t>
            </a:r>
          </a:p>
          <a:p>
            <a:r>
              <a:rPr lang="en-US" dirty="0"/>
              <a:t>Learn the thinking through doing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8" name="Picture 8" descr="bigstockphoto_Picking_cherries__767104">
            <a:extLst>
              <a:ext uri="{FF2B5EF4-FFF2-40B4-BE49-F238E27FC236}">
                <a16:creationId xmlns:a16="http://schemas.microsoft.com/office/drawing/2014/main" id="{E67FA726-46CB-2F4E-CD3C-C8F41ADF6AE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718" y="2330228"/>
            <a:ext cx="2226564" cy="3342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379" y="1907285"/>
            <a:ext cx="3695242" cy="31521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Techniques </a:t>
            </a:r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System Thinking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C3028DE7-E2B5-81AB-ED6C-12D15D7D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6616" y="6155348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54256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Most of the leader’s job at Toyota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dirty="0"/>
              <a:t>First, get each person </a:t>
            </a:r>
            <a:br>
              <a:rPr lang="en-US" dirty="0"/>
            </a:br>
            <a:r>
              <a:rPr lang="en-US" dirty="0"/>
              <a:t>to take initiative to solve problems and improve his or her job</a:t>
            </a:r>
          </a:p>
          <a:p>
            <a:r>
              <a:rPr lang="en-US" dirty="0"/>
              <a:t>Second, ensure that each person’s job is aligned to provide value for the customer and prosperity for </a:t>
            </a:r>
            <a:br>
              <a:rPr lang="en-US" dirty="0"/>
            </a:br>
            <a:r>
              <a:rPr lang="en-US" dirty="0"/>
              <a:t>the company</a:t>
            </a:r>
          </a:p>
          <a:p>
            <a:r>
              <a:rPr lang="en-US" dirty="0"/>
              <a:t>Third, develop his/her people</a:t>
            </a:r>
          </a:p>
          <a:p>
            <a:pPr lvl="1"/>
            <a:r>
              <a:rPr lang="en-US" dirty="0"/>
              <a:t>“If the learner hasn’t learned, the teacher hasn’t taught”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9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568" y="1919775"/>
            <a:ext cx="1858201" cy="316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Leadership Role</a:t>
            </a:r>
          </a:p>
        </p:txBody>
      </p:sp>
      <p:pic>
        <p:nvPicPr>
          <p:cNvPr id="5" name="Picture 8" descr="bigstockphoto_Persistent_Thinking_727474">
            <a:extLst>
              <a:ext uri="{FF2B5EF4-FFF2-40B4-BE49-F238E27FC236}">
                <a16:creationId xmlns:a16="http://schemas.microsoft.com/office/drawing/2014/main" id="{4C5EA71A-06BA-D586-3E45-4D0E1C64188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8" y="2465102"/>
            <a:ext cx="4626864" cy="3072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0">
            <a:extLst>
              <a:ext uri="{FF2B5EF4-FFF2-40B4-BE49-F238E27FC236}">
                <a16:creationId xmlns:a16="http://schemas.microsoft.com/office/drawing/2014/main" id="{6C0E78F7-DADA-8B3F-A286-5580A4919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2137" y="6155348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409502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Leadership: Three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10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BD4581-81D2-FFFD-E9A6-6928065C50FC}"/>
              </a:ext>
            </a:extLst>
          </p:cNvPr>
          <p:cNvGrpSpPr/>
          <p:nvPr/>
        </p:nvGrpSpPr>
        <p:grpSpPr>
          <a:xfrm>
            <a:off x="1083945" y="1789703"/>
            <a:ext cx="10024110" cy="4549327"/>
            <a:chOff x="457200" y="1536700"/>
            <a:chExt cx="8266113" cy="47035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405E15-36D2-9BF1-5AE1-B95A230C8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1971675"/>
              <a:ext cx="1908175" cy="568325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Old “Dictator”</a:t>
              </a:r>
              <a:b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Style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C7EEFC08-F068-5D16-AC67-871DB1D39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2894013"/>
              <a:ext cx="1908175" cy="568325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1970’s</a:t>
              </a:r>
              <a:b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“Empowerment Style”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A35020E3-D9F9-430D-9E56-1FA2AB0A7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786188"/>
              <a:ext cx="1908175" cy="568325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Lean Style</a:t>
              </a: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B84FF2C7-0690-DE9F-B222-0C2E861A4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8" y="2792413"/>
              <a:ext cx="825023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D2FBBAE1-29E2-2D83-1E18-70A1B43B5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63" y="3697288"/>
              <a:ext cx="820578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64EE4A1-60DB-5C60-7B8B-251584A9F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4645025"/>
              <a:ext cx="823595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5FCE3A0C-83F2-7C08-B279-AA499D24B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550" y="1954213"/>
              <a:ext cx="4970463" cy="298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“Do it my way…”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B695E3-575C-E0A2-BEDF-88CE0C74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2898774"/>
              <a:ext cx="4981575" cy="298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“Do it your way…”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6709315-E279-D425-597B-2C96EAF9E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3790950"/>
              <a:ext cx="4970463" cy="621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“Follow me… and we’ll figure this out together”</a:t>
              </a:r>
            </a:p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 lean leader leads by Kaikaku and Kaizen</a:t>
              </a: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88A432C9-A77D-CF27-EFDD-42CE4E5892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963" y="1824038"/>
              <a:ext cx="8250237" cy="158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76361D4B-A6AF-804E-67EE-4FDAB1550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8" y="1536700"/>
              <a:ext cx="4514462" cy="326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Three Models		           	   Descriptions</a:t>
              </a:r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D3E15258-DD1B-5F90-82B5-96384A241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2079625"/>
              <a:ext cx="400050" cy="36671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6FF174B7-70F7-EC9C-1A4D-87A51EB18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005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5F63E0F4-E3D5-E9E8-3ADD-4DD3A4671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894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5CE8D9DA-B0F4-DE57-0FDF-1AF068DB8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75" y="4862513"/>
              <a:ext cx="8199438" cy="11176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b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5000"/>
                </a:lnSpc>
              </a:pPr>
              <a:r>
                <a:rPr lang="en-US" alt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“Lead the organization as if you have no power.”</a:t>
              </a:r>
            </a:p>
            <a:p>
              <a:pPr algn="r">
                <a:lnSpc>
                  <a:spcPct val="115000"/>
                </a:lnSpc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- Kan Higashi and Gary </a:t>
              </a:r>
              <a:r>
                <a:rPr lang="en-US" altLang="en-US" sz="1400" dirty="0" err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Convis</a:t>
              </a: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NUMMI’s Senior Japanese and Senior American Leaders </a:t>
              </a:r>
            </a:p>
          </p:txBody>
        </p:sp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0AF89E13-3FFB-A3C6-7E7D-D75DF2F72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67" y="6054725"/>
              <a:ext cx="2425902" cy="1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en-US" altLang="en-US" sz="700" i="1" dirty="0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39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Chairman Cho of Toyota: Three Keys to Lean Leadership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dirty="0"/>
              <a:t>Go See</a:t>
            </a:r>
          </a:p>
          <a:p>
            <a:pPr lvl="1"/>
            <a:r>
              <a:rPr lang="en-US" dirty="0"/>
              <a:t>“Senior Management must spend time on the front lines”</a:t>
            </a:r>
          </a:p>
          <a:p>
            <a:r>
              <a:rPr lang="en-US" dirty="0"/>
              <a:t>Ask Why</a:t>
            </a:r>
          </a:p>
          <a:p>
            <a:pPr lvl="1"/>
            <a:r>
              <a:rPr lang="en-US" dirty="0"/>
              <a:t>“Use the “Why?” technique daily”</a:t>
            </a:r>
          </a:p>
          <a:p>
            <a:r>
              <a:rPr lang="en-US" dirty="0"/>
              <a:t>Show Respect</a:t>
            </a:r>
          </a:p>
          <a:p>
            <a:pPr lvl="1"/>
            <a:r>
              <a:rPr lang="en-US" dirty="0"/>
              <a:t>“Respect your people.”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11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55" y="1906259"/>
            <a:ext cx="4628190" cy="316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Fujio Cho, Chairman of Toyota Motor Corp.</a:t>
            </a:r>
          </a:p>
        </p:txBody>
      </p:sp>
      <p:pic>
        <p:nvPicPr>
          <p:cNvPr id="8" name="Picture 13" descr="112_0702_2007_power_list_01z+Fujio_Cho+Toyota_Motor_Corporation_chairman2">
            <a:hlinkClick r:id="rId3"/>
            <a:extLst>
              <a:ext uri="{FF2B5EF4-FFF2-40B4-BE49-F238E27FC236}">
                <a16:creationId xmlns:a16="http://schemas.microsoft.com/office/drawing/2014/main" id="{D52E3267-55C4-0401-EFE5-F3214AB4608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381178"/>
            <a:ext cx="5181600" cy="3240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11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134621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Leadership at Toyota: From managing numbers to managing the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 at Toyota, like leaders anywhere, want to see </a:t>
            </a:r>
            <a:br>
              <a:rPr lang="en-US" dirty="0"/>
            </a:br>
            <a:r>
              <a:rPr lang="en-US" dirty="0"/>
              <a:t>measurable results</a:t>
            </a:r>
          </a:p>
          <a:p>
            <a:r>
              <a:rPr lang="en-US" dirty="0"/>
              <a:t>But they know that the financial result is a result of the process</a:t>
            </a:r>
          </a:p>
          <a:p>
            <a:r>
              <a:rPr lang="en-US" dirty="0"/>
              <a:t>They also realize that the financial result is the result of the past performance of that process</a:t>
            </a:r>
          </a:p>
          <a:p>
            <a:r>
              <a:rPr lang="en-US" dirty="0"/>
              <a:t>Far better is to create a process than can be managed right NOW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6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Leadership at Toyota: From the Five Who’s to the Five Whys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Toyota leaders don’t jump to conclusion or solutions – they try to first size up the situation and then ask “Why?”</a:t>
            </a:r>
          </a:p>
          <a:p>
            <a:r>
              <a:rPr lang="en-US" dirty="0"/>
              <a:t>This focuses on the work and problem at hand, avoiding the finger-pointing and search for where to place the blame</a:t>
            </a:r>
          </a:p>
          <a:p>
            <a:r>
              <a:rPr lang="en-US" dirty="0"/>
              <a:t>It also keeps responsibility (ownership, accountability, authority-as-needed) with the person who is doing the work</a:t>
            </a:r>
          </a:p>
          <a:p>
            <a:r>
              <a:rPr lang="en-US" dirty="0"/>
              <a:t>This is what truly engages and empowers the workforce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9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Leadership at Toyota: From Problem-hiding to Problem-solving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actions at Toyota revolve around planning and problem-solving</a:t>
            </a:r>
          </a:p>
          <a:p>
            <a:r>
              <a:rPr lang="en-US" dirty="0"/>
              <a:t>It is assumed that there will be problems, that everything will not go according to plan</a:t>
            </a:r>
          </a:p>
          <a:p>
            <a:r>
              <a:rPr lang="en-US" dirty="0"/>
              <a:t>“No problem is problem.”</a:t>
            </a:r>
          </a:p>
          <a:p>
            <a:r>
              <a:rPr lang="en-US" dirty="0"/>
              <a:t>For the system to work, problems must be exposed and dealt with forthrightly</a:t>
            </a:r>
          </a:p>
          <a:p>
            <a:r>
              <a:rPr lang="en-US" dirty="0"/>
              <a:t>Hiding problems will undermine the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12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Leadership at Toyota: Control with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Toyota’s way provides extraordinary focus, direction, “control”</a:t>
            </a:r>
          </a:p>
          <a:p>
            <a:r>
              <a:rPr lang="en-US" dirty="0"/>
              <a:t>While at the same time providing maximum flexibility</a:t>
            </a:r>
          </a:p>
          <a:p>
            <a:r>
              <a:rPr lang="en-US" dirty="0"/>
              <a:t>This way of working can resolve the age-old dilemma that encumbers all large organizations: control vs. flexibility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03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Leadership at Toyota: From p-D-p-D to P-D-C-A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Toyota would say this is essentially the P-D-C-A management cycle they learned from Dr. Deming</a:t>
            </a:r>
          </a:p>
          <a:p>
            <a:r>
              <a:rPr lang="en-US" dirty="0"/>
              <a:t>Probably. Yet this is precisely the thing that most companies can’t seem to do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E1F544-9536-F9A8-09C9-CC5F0DDAE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57" y="3933825"/>
            <a:ext cx="4992687" cy="1233488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WHY??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F087DD40-CFA2-2F52-BA88-DE5EF5966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224" y="4826000"/>
            <a:ext cx="4501552" cy="241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200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Surely one major reason for this is the way we lead and manage</a:t>
            </a:r>
          </a:p>
        </p:txBody>
      </p:sp>
    </p:spTree>
    <p:extLst>
      <p:ext uri="{BB962C8B-B14F-4D97-AF65-F5344CB8AC3E}">
        <p14:creationId xmlns:p14="http://schemas.microsoft.com/office/powerpoint/2010/main" val="1533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p-D-p-D Tail-chasing to P-D-C-A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17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DD6E3C-C302-B6AE-97B6-587E36E89147}"/>
              </a:ext>
            </a:extLst>
          </p:cNvPr>
          <p:cNvGrpSpPr/>
          <p:nvPr/>
        </p:nvGrpSpPr>
        <p:grpSpPr>
          <a:xfrm>
            <a:off x="1246188" y="1840229"/>
            <a:ext cx="9699625" cy="4393903"/>
            <a:chOff x="644525" y="1566863"/>
            <a:chExt cx="7893244" cy="4667270"/>
          </a:xfrm>
        </p:grpSpPr>
        <p:sp>
          <p:nvSpPr>
            <p:cNvPr id="3" name="AutoShape 4">
              <a:extLst>
                <a:ext uri="{FF2B5EF4-FFF2-40B4-BE49-F238E27FC236}">
                  <a16:creationId xmlns:a16="http://schemas.microsoft.com/office/drawing/2014/main" id="{81696AC3-4F22-D4FB-DFDF-BDCAA85D13A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021013" y="1566863"/>
              <a:ext cx="3105150" cy="1200150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i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Grasp the situation</a:t>
              </a:r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5F80C14B-1BC4-9BE8-8751-2D810BC84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363" y="2930525"/>
              <a:ext cx="4108450" cy="3135313"/>
            </a:xfrm>
            <a:prstGeom prst="ellipse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69D180C2-A235-A07B-CBA1-7E31607C7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3588" y="2917825"/>
              <a:ext cx="0" cy="3135313"/>
            </a:xfrm>
            <a:prstGeom prst="line">
              <a:avLst/>
            </a:prstGeom>
            <a:noFill/>
            <a:ln w="57150" cap="sq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E010819F-B7C5-C720-2603-9107E34E2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1425" y="4529138"/>
              <a:ext cx="4121150" cy="0"/>
            </a:xfrm>
            <a:prstGeom prst="line">
              <a:avLst/>
            </a:prstGeom>
            <a:noFill/>
            <a:ln w="57150" cap="sq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FE01A364-5830-DA74-4B04-452E5B228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496" y="3714750"/>
              <a:ext cx="633507" cy="316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Roboto" panose="02000000000000000000" pitchFamily="2" charset="0"/>
                  <a:ea typeface="Roboto" panose="02000000000000000000" pitchFamily="2" charset="0"/>
                </a:rPr>
                <a:t>ACT</a:t>
              </a:r>
            </a:p>
          </p:txBody>
        </p:sp>
        <p:grpSp>
          <p:nvGrpSpPr>
            <p:cNvPr id="9" name="Group 21">
              <a:extLst>
                <a:ext uri="{FF2B5EF4-FFF2-40B4-BE49-F238E27FC236}">
                  <a16:creationId xmlns:a16="http://schemas.microsoft.com/office/drawing/2014/main" id="{BE75A696-29E7-43F0-8DF3-F494EEC85E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8888" y="2714626"/>
              <a:ext cx="3335338" cy="1295401"/>
              <a:chOff x="3193" y="1710"/>
              <a:chExt cx="2101" cy="816"/>
            </a:xfrm>
          </p:grpSpPr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FC10AB3C-26B0-931E-296C-033C270318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3" y="2327"/>
                <a:ext cx="490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PLAN</a:t>
                </a:r>
              </a:p>
            </p:txBody>
          </p:sp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961854A7-875E-48F0-98BB-8939B443A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0" y="1710"/>
                <a:ext cx="1344" cy="292"/>
              </a:xfrm>
              <a:prstGeom prst="rect">
                <a:avLst/>
              </a:prstGeom>
              <a:solidFill>
                <a:schemeClr val="accent3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HYPOTHESIS</a:t>
                </a:r>
              </a:p>
            </p:txBody>
          </p:sp>
        </p:grpSp>
        <p:grpSp>
          <p:nvGrpSpPr>
            <p:cNvPr id="12" name="Group 22">
              <a:extLst>
                <a:ext uri="{FF2B5EF4-FFF2-40B4-BE49-F238E27FC236}">
                  <a16:creationId xmlns:a16="http://schemas.microsoft.com/office/drawing/2014/main" id="{714B9389-BB73-9504-E7C4-E2E18AE6D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3988" y="5089525"/>
              <a:ext cx="3235325" cy="866775"/>
              <a:chOff x="3297" y="3206"/>
              <a:chExt cx="2038" cy="546"/>
            </a:xfrm>
          </p:grpSpPr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2B54DA68-C7A5-56F6-AC01-E8EA7C3922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7" y="3206"/>
                <a:ext cx="311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DO</a:t>
                </a: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AA31DC66-E19A-D487-7F14-CA5BDF60B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1" y="3460"/>
                <a:ext cx="1344" cy="292"/>
              </a:xfrm>
              <a:prstGeom prst="rect">
                <a:avLst/>
              </a:prstGeom>
              <a:solidFill>
                <a:schemeClr val="bg2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TRY</a:t>
                </a:r>
              </a:p>
            </p:txBody>
          </p:sp>
        </p:grp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083BEC6D-04F1-D436-91CF-B5E6496B7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5" y="2709863"/>
              <a:ext cx="2133600" cy="46355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Roboto" panose="02000000000000000000" pitchFamily="2" charset="0"/>
                  <a:ea typeface="Roboto" panose="02000000000000000000" pitchFamily="2" charset="0"/>
                </a:rPr>
                <a:t>ADJUST</a:t>
              </a:r>
            </a:p>
          </p:txBody>
        </p:sp>
        <p:grpSp>
          <p:nvGrpSpPr>
            <p:cNvPr id="16" name="Group 23">
              <a:extLst>
                <a:ext uri="{FF2B5EF4-FFF2-40B4-BE49-F238E27FC236}">
                  <a16:creationId xmlns:a16="http://schemas.microsoft.com/office/drawing/2014/main" id="{F2339E0D-B7A7-4284-4F1C-58F48F84A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613" y="5094288"/>
              <a:ext cx="3360737" cy="857250"/>
              <a:chOff x="447" y="3209"/>
              <a:chExt cx="2117" cy="540"/>
            </a:xfrm>
          </p:grpSpPr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409EFF8A-01F1-2650-BB91-3FA9258643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" y="3209"/>
                <a:ext cx="583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CHECK</a:t>
                </a:r>
              </a:p>
            </p:txBody>
          </p:sp>
          <p:sp>
            <p:nvSpPr>
              <p:cNvPr id="18" name="Rectangle 16">
                <a:extLst>
                  <a:ext uri="{FF2B5EF4-FFF2-40B4-BE49-F238E27FC236}">
                    <a16:creationId xmlns:a16="http://schemas.microsoft.com/office/drawing/2014/main" id="{0D2C2F3C-AB44-BDA8-4288-46AE6AC22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3457"/>
                <a:ext cx="1344" cy="292"/>
              </a:xfrm>
              <a:prstGeom prst="rect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REFLECT</a:t>
                </a:r>
              </a:p>
            </p:txBody>
          </p:sp>
        </p:grp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1E6723FA-3649-84D3-4DE3-E9654EC6C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5938" y="6054725"/>
              <a:ext cx="2941831" cy="179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700" i="1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7229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Impact and role of Lean at different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18</a:t>
            </a:fld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9A98A2D-ED91-2A30-AB47-D9B363339228}"/>
              </a:ext>
            </a:extLst>
          </p:cNvPr>
          <p:cNvSpPr/>
          <p:nvPr/>
        </p:nvSpPr>
        <p:spPr>
          <a:xfrm>
            <a:off x="1672591" y="1965960"/>
            <a:ext cx="8846819" cy="3474720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Group 67">
            <a:extLst>
              <a:ext uri="{FF2B5EF4-FFF2-40B4-BE49-F238E27FC236}">
                <a16:creationId xmlns:a16="http://schemas.microsoft.com/office/drawing/2014/main" id="{4CD13CE8-F514-F608-B370-51B944D8D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140659"/>
              </p:ext>
            </p:extLst>
          </p:nvPr>
        </p:nvGraphicFramePr>
        <p:xfrm>
          <a:off x="523875" y="1965961"/>
          <a:ext cx="11144250" cy="3474720"/>
        </p:xfrm>
        <a:graphic>
          <a:graphicData uri="http://schemas.openxmlformats.org/drawingml/2006/table">
            <a:tbl>
              <a:tblPr/>
              <a:tblGrid>
                <a:gridCol w="3477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1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528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Role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Impact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206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Must provide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vision and incentive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SENIOR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MANAGEMENT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Likes the results 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359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Must lead the actual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operational change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MIDDLE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MANAGEMENT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Left with changed,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uncertain role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627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Must </a:t>
                      </a:r>
                      <a:r>
                        <a:rPr kumimoji="0" lang="ja-JP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MS PGothic" panose="020B0600070205080204" pitchFamily="34" charset="-128"/>
                        </a:rPr>
                        <a:t>“</a:t>
                      </a:r>
                      <a:r>
                        <a:rPr kumimoji="0" lang="en-US" altLang="ja-JP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</a:t>
                      </a:r>
                      <a:r>
                        <a:rPr kumimoji="0" lang="ja-JP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MS PGothic" panose="020B0600070205080204" pitchFamily="34" charset="-128"/>
                        </a:rPr>
                        <a:t>”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FRONT LINES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Likes the </a:t>
                      </a:r>
                      <a:b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involvement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71">
            <a:extLst>
              <a:ext uri="{FF2B5EF4-FFF2-40B4-BE49-F238E27FC236}">
                <a16:creationId xmlns:a16="http://schemas.microsoft.com/office/drawing/2014/main" id="{FB55E9F5-7FCD-0A9D-8AAB-5EFAE5C3C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281" y="5648960"/>
            <a:ext cx="8199438" cy="682625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altLang="en-US"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challenge at the Mid-management and First Line Supervisory Level</a:t>
            </a:r>
          </a:p>
        </p:txBody>
      </p:sp>
      <p:sp>
        <p:nvSpPr>
          <p:cNvPr id="6" name="Text Box 72">
            <a:extLst>
              <a:ext uri="{FF2B5EF4-FFF2-40B4-BE49-F238E27FC236}">
                <a16:creationId xmlns:a16="http://schemas.microsoft.com/office/drawing/2014/main" id="{3A2222ED-DEDD-4165-68FE-59C71B458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9574" y="5893645"/>
            <a:ext cx="1188279" cy="437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147654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Role of Leadership?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19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923B59-F631-EE21-4143-96E0970E502D}"/>
              </a:ext>
            </a:extLst>
          </p:cNvPr>
          <p:cNvGrpSpPr/>
          <p:nvPr/>
        </p:nvGrpSpPr>
        <p:grpSpPr>
          <a:xfrm>
            <a:off x="762318" y="1931669"/>
            <a:ext cx="10667365" cy="4355860"/>
            <a:chOff x="396875" y="1558925"/>
            <a:chExt cx="8312150" cy="4733231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C9128ED2-E13E-AD1A-AE7F-6892F1C3B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225" y="1582738"/>
              <a:ext cx="6878638" cy="3946525"/>
            </a:xfrm>
            <a:prstGeom prst="rect">
              <a:avLst/>
            </a:prstGeom>
            <a:solidFill>
              <a:schemeClr val="bg2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Line 5">
              <a:extLst>
                <a:ext uri="{FF2B5EF4-FFF2-40B4-BE49-F238E27FC236}">
                  <a16:creationId xmlns:a16="http://schemas.microsoft.com/office/drawing/2014/main" id="{65BE4179-269B-10EA-5FE8-F054748EDC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0225" y="1612900"/>
              <a:ext cx="6850063" cy="390207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Text Box 6">
              <a:extLst>
                <a:ext uri="{FF2B5EF4-FFF2-40B4-BE49-F238E27FC236}">
                  <a16:creationId xmlns:a16="http://schemas.microsoft.com/office/drawing/2014/main" id="{530BCAE6-C914-2C33-284B-7EDE502D6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638" y="1558925"/>
              <a:ext cx="974533" cy="476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Senior</a:t>
              </a:r>
              <a:b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Management</a:t>
              </a:r>
            </a:p>
          </p:txBody>
        </p:sp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1CB06CF2-11B7-CD92-45AD-E7A149C83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75" y="4997450"/>
              <a:ext cx="852123" cy="289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Front Lines</a:t>
              </a: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7A4B1689-F1CF-A4ED-BBF7-276296717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38" y="2017713"/>
              <a:ext cx="0" cy="29464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6256B8B1-4508-A31A-37C4-D4FF846C2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75" y="3068638"/>
              <a:ext cx="974533" cy="4768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Middle</a:t>
              </a:r>
              <a:b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Management</a:t>
              </a:r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A98F1B6C-6E56-E3A6-4590-8C478CF0D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088" y="5746750"/>
              <a:ext cx="6865937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Text Box 11">
              <a:extLst>
                <a:ext uri="{FF2B5EF4-FFF2-40B4-BE49-F238E27FC236}">
                  <a16:creationId xmlns:a16="http://schemas.microsoft.com/office/drawing/2014/main" id="{8FF76416-7E5A-9018-568C-A729A5989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75" y="5632450"/>
              <a:ext cx="649773" cy="3166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FOCUS</a:t>
              </a:r>
            </a:p>
          </p:txBody>
        </p:sp>
        <p:sp>
          <p:nvSpPr>
            <p:cNvPr id="27" name="Text Box 12">
              <a:extLst>
                <a:ext uri="{FF2B5EF4-FFF2-40B4-BE49-F238E27FC236}">
                  <a16:creationId xmlns:a16="http://schemas.microsoft.com/office/drawing/2014/main" id="{5EE98976-6974-1568-1484-8AAE5876E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6150" y="2111375"/>
              <a:ext cx="2126186" cy="94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SYSTEM KAIZEN</a:t>
              </a:r>
            </a:p>
            <a:p>
              <a:endParaRPr lang="en-US" altLang="en-US"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Eliminate Muri and Mura</a:t>
              </a:r>
            </a:p>
          </p:txBody>
        </p:sp>
        <p:sp>
          <p:nvSpPr>
            <p:cNvPr id="28" name="Text Box 13">
              <a:extLst>
                <a:ext uri="{FF2B5EF4-FFF2-40B4-BE49-F238E27FC236}">
                  <a16:creationId xmlns:a16="http://schemas.microsoft.com/office/drawing/2014/main" id="{265F24CD-C903-A886-80CC-6DFB473BB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942" y="4121150"/>
              <a:ext cx="2163708" cy="94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PROCESS-STEP  KAIZEN</a:t>
              </a:r>
            </a:p>
            <a:p>
              <a:pPr algn="r"/>
              <a:endParaRPr lang="en-US" altLang="en-US"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r"/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Eliminate Muda</a:t>
              </a:r>
            </a:p>
          </p:txBody>
        </p:sp>
        <p:sp>
          <p:nvSpPr>
            <p:cNvPr id="29" name="Text Box 14">
              <a:extLst>
                <a:ext uri="{FF2B5EF4-FFF2-40B4-BE49-F238E27FC236}">
                  <a16:creationId xmlns:a16="http://schemas.microsoft.com/office/drawing/2014/main" id="{C4DFE943-DFB2-D3F7-94D8-EFCAA4424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550" y="6097205"/>
              <a:ext cx="2292313" cy="194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700" i="1" dirty="0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6434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Eiji Toyoda on MUDA in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“The people at the top are flag-wavers. It is pure MUDA to wave your flag if no one will follow. Waving the flag is a way that gets people to follow you is what makes a decision a good decision and a leader a good leader.”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20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Core Toyota 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“You can understand everything about a company that is important by observing from a good spot on the </a:t>
            </a:r>
            <a:br>
              <a:rPr lang="en-US" sz="2400" dirty="0"/>
            </a:br>
            <a:r>
              <a:rPr lang="en-US" sz="2400" dirty="0"/>
              <a:t>plant floor.”</a:t>
            </a:r>
          </a:p>
          <a:p>
            <a:r>
              <a:rPr lang="en-US" sz="2400" dirty="0"/>
              <a:t>“Data of course is important, but I place greater emphasis </a:t>
            </a:r>
            <a:br>
              <a:rPr lang="en-US" sz="2400" dirty="0"/>
            </a:br>
            <a:r>
              <a:rPr lang="en-US" sz="2400" dirty="0"/>
              <a:t>on facts”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21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1968" y="6176963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  <p:pic>
        <p:nvPicPr>
          <p:cNvPr id="5" name="Content Placeholder 4" descr="bigstockphoto_Tatami_Workshop_54065">
            <a:extLst>
              <a:ext uri="{FF2B5EF4-FFF2-40B4-BE49-F238E27FC236}">
                <a16:creationId xmlns:a16="http://schemas.microsoft.com/office/drawing/2014/main" id="{D8D8421C-874C-A39C-4FC4-8A9D1AA87A1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284" y="2277650"/>
            <a:ext cx="4599432" cy="344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6">
            <a:extLst>
              <a:ext uri="{FF2B5EF4-FFF2-40B4-BE49-F238E27FC236}">
                <a16:creationId xmlns:a16="http://schemas.microsoft.com/office/drawing/2014/main" id="{4A0321DE-F224-2A67-52CD-5D3DDE092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857" y="5433576"/>
            <a:ext cx="1478290" cy="29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 Taiichi Ohno</a:t>
            </a:r>
          </a:p>
        </p:txBody>
      </p:sp>
    </p:spTree>
    <p:extLst>
      <p:ext uri="{BB962C8B-B14F-4D97-AF65-F5344CB8AC3E}">
        <p14:creationId xmlns:p14="http://schemas.microsoft.com/office/powerpoint/2010/main" val="1554749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Another take on What is “Lean”?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true lean system should be:</a:t>
            </a:r>
          </a:p>
          <a:p>
            <a:r>
              <a:rPr lang="en-US" dirty="0"/>
              <a:t>Simple and practical</a:t>
            </a:r>
          </a:p>
          <a:p>
            <a:r>
              <a:rPr lang="en-US" dirty="0"/>
              <a:t>Consistently solving real business problems and making improvements in the way work is performed:</a:t>
            </a:r>
          </a:p>
          <a:p>
            <a:pPr lvl="1"/>
            <a:r>
              <a:rPr lang="en-US" dirty="0"/>
              <a:t>At each level of the company</a:t>
            </a:r>
          </a:p>
          <a:p>
            <a:pPr lvl="1"/>
            <a:r>
              <a:rPr lang="en-US" dirty="0"/>
              <a:t>In each activity of the company</a:t>
            </a:r>
          </a:p>
          <a:p>
            <a:pPr lvl="1"/>
            <a:r>
              <a:rPr lang="en-US" dirty="0"/>
              <a:t>In real time</a:t>
            </a:r>
          </a:p>
          <a:p>
            <a:pPr lvl="1"/>
            <a:r>
              <a:rPr lang="en-US" dirty="0"/>
              <a:t>At the root cause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72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From “LEAN” to “LEA</a:t>
            </a:r>
            <a:r>
              <a:rPr lang="en-US" sz="4000" i="1" u="sng" dirty="0"/>
              <a:t>R</a:t>
            </a:r>
            <a:r>
              <a:rPr lang="en-US" sz="4000" dirty="0"/>
              <a:t>N”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Arguably what Toyota accomplished in its early days that has enabled it to continue to thrive is simply that it learned to learn</a:t>
            </a:r>
          </a:p>
          <a:p>
            <a:r>
              <a:rPr lang="en-US" sz="2400" dirty="0"/>
              <a:t>Getting people to think and take initiative is they key!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23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1968" y="6176963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3146B0-E88D-AEC4-5A89-2FFC2FD37C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526883" y="1870557"/>
            <a:ext cx="3804234" cy="42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8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Toyota Chairman, Fujio Cho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dirty="0"/>
              <a:t>“Many good companies try to practice kaizen and use various TPS tools. But what is important is having all the elements together as a system. It must be practiced every day in a very consistent manner – not in spurts – in a concrete way on the shop floor.”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24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55" y="1906259"/>
            <a:ext cx="4628190" cy="316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Fujio Cho, Chairman of Toyota Motor Corp.</a:t>
            </a:r>
          </a:p>
        </p:txBody>
      </p:sp>
      <p:pic>
        <p:nvPicPr>
          <p:cNvPr id="8" name="Picture 13" descr="112_0702_2007_power_list_01z+Fujio_Cho+Toyota_Motor_Corporation_chairman2">
            <a:hlinkClick r:id="rId3"/>
            <a:extLst>
              <a:ext uri="{FF2B5EF4-FFF2-40B4-BE49-F238E27FC236}">
                <a16:creationId xmlns:a16="http://schemas.microsoft.com/office/drawing/2014/main" id="{D52E3267-55C4-0401-EFE5-F3214AB4608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381178"/>
            <a:ext cx="5181600" cy="3240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11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1612459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25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969F0F6-297B-2449-9272-FDA364BD3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2736442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6FB9755F-4464-E22C-86A5-13D2923BE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37325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Phase of Simple Kaizen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Aim: Plant floor waste elimination</a:t>
            </a:r>
          </a:p>
          <a:p>
            <a:r>
              <a:rPr lang="en-US" dirty="0"/>
              <a:t>Characteristic: Fun, freewheeling</a:t>
            </a:r>
          </a:p>
          <a:p>
            <a:r>
              <a:rPr lang="en-US" dirty="0"/>
              <a:t>Activity: Kaizen “events”</a:t>
            </a:r>
          </a:p>
          <a:p>
            <a:r>
              <a:rPr lang="en-US" dirty="0"/>
              <a:t>Good: Lots of activity, front line involvement, quick improvement</a:t>
            </a:r>
          </a:p>
          <a:p>
            <a:r>
              <a:rPr lang="en-US" dirty="0"/>
              <a:t>Typical problems: Kamikaze or Drive-by Kaizen: no systematic rooting out of causes of waste, no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27</a:t>
            </a:fld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60DBFFA-92C9-6FAC-C16F-241DDA60D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2649580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28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EAFA3AAA-0A0C-6624-F213-ACB1C0D02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3164504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Phase of 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Aim: Create a system to eliminate waste systematically</a:t>
            </a:r>
          </a:p>
          <a:p>
            <a:r>
              <a:rPr lang="en-US" dirty="0"/>
              <a:t>Typical Characteristic: Big programs</a:t>
            </a:r>
          </a:p>
          <a:p>
            <a:r>
              <a:rPr lang="en-US" dirty="0"/>
              <a:t>Activity: Systematic linking of the tools, binder, CD or Intranet creation, assessment tools, scorecards</a:t>
            </a:r>
          </a:p>
          <a:p>
            <a:r>
              <a:rPr lang="en-US" dirty="0"/>
              <a:t>Good: System awareness, involvement of some non-production functions, some corporate-wide awareness</a:t>
            </a:r>
          </a:p>
          <a:p>
            <a:r>
              <a:rPr lang="en-US" dirty="0"/>
              <a:t>Typical problems: Bureaucratic, not “fun”, cost vs. benefit unclear, slow, mid-</a:t>
            </a:r>
            <a:r>
              <a:rPr lang="en-US" dirty="0" err="1"/>
              <a:t>mgmt</a:t>
            </a:r>
            <a:r>
              <a:rPr lang="en-US" dirty="0"/>
              <a:t> stuck in the middle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29</a:t>
            </a:fld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497A35F-7C65-5620-5CC9-4593174E9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4003457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30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7690FD94-D80C-8989-D490-48F30F7D0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4283704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Phase of Enterprise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Aim: Survival</a:t>
            </a:r>
          </a:p>
          <a:p>
            <a:r>
              <a:rPr lang="en-US" dirty="0"/>
              <a:t>Activity: Customer-focused, systematic elimination of sources of waste</a:t>
            </a:r>
          </a:p>
          <a:p>
            <a:r>
              <a:rPr lang="en-US" dirty="0"/>
              <a:t>Characteristic: Disciplined, demanding, steady, long-term focus</a:t>
            </a:r>
          </a:p>
          <a:p>
            <a:r>
              <a:rPr lang="en-US" dirty="0"/>
              <a:t>Problem: “Disciplined, demanding, steady, long-term focus…”</a:t>
            </a:r>
          </a:p>
          <a:p>
            <a:r>
              <a:rPr lang="en-US" dirty="0"/>
              <a:t>Good: Helps organization achieve goals, solving problems, engaging all levels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57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Most Organizations Struggle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 is not clearly defined in terms of solving the customer’s problems or addressing the business need</a:t>
            </a:r>
          </a:p>
          <a:p>
            <a:r>
              <a:rPr lang="en-US" dirty="0"/>
              <a:t>Processes are not clearly specified and visible to everyone</a:t>
            </a:r>
          </a:p>
          <a:p>
            <a:r>
              <a:rPr lang="en-US" dirty="0"/>
              <a:t>People are not engaged in optimizing the whole value stream rather than the point they manage. (And they lack technical competence and a scientific method (PDCA) for improvement)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3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ED7-5CF9-6F4B-B4A8-2DBF8D85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3C390-D307-7FFC-DADE-918C5180FE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33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506B7-1A57-1322-5AB5-DA8522EE7602}"/>
              </a:ext>
            </a:extLst>
          </p:cNvPr>
          <p:cNvSpPr/>
          <p:nvPr/>
        </p:nvSpPr>
        <p:spPr>
          <a:xfrm>
            <a:off x="838200" y="2359748"/>
            <a:ext cx="972234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Review key learnings from Leadership Lessons from Toyota.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B5F6-F271-06CD-2A6A-E79F5245CD15}"/>
              </a:ext>
            </a:extLst>
          </p:cNvPr>
          <p:cNvSpPr txBox="1"/>
          <p:nvPr/>
        </p:nvSpPr>
        <p:spPr>
          <a:xfrm>
            <a:off x="838200" y="1822526"/>
            <a:ext cx="160300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Objective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4F381-2B48-C111-2724-726B0390290F}"/>
              </a:ext>
            </a:extLst>
          </p:cNvPr>
          <p:cNvSpPr txBox="1"/>
          <p:nvPr/>
        </p:nvSpPr>
        <p:spPr>
          <a:xfrm>
            <a:off x="838200" y="2913476"/>
            <a:ext cx="202299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Instructions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7B47-98C9-F770-8D4E-7D91CF39F5A7}"/>
              </a:ext>
            </a:extLst>
          </p:cNvPr>
          <p:cNvSpPr/>
          <p:nvPr/>
        </p:nvSpPr>
        <p:spPr>
          <a:xfrm>
            <a:off x="818941" y="3486027"/>
            <a:ext cx="4419809" cy="231858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In small groups, discuss each individual’s key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learnings from Leadership Lessons from Toyota, and how you will apply these learnings 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beyond this event.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On a sheet of </a:t>
            </a:r>
            <a:r>
              <a:rPr kumimoji="0" lang="en-U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chartpaper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, decide on the top 3 key learnings you discussed and report back to 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group.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14B3B-0CE2-FDFF-2FB9-215236316256}"/>
              </a:ext>
            </a:extLst>
          </p:cNvPr>
          <p:cNvSpPr txBox="1"/>
          <p:nvPr/>
        </p:nvSpPr>
        <p:spPr>
          <a:xfrm>
            <a:off x="5879250" y="2903037"/>
            <a:ext cx="296876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Time to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5230A-07BD-F376-25CA-177CC1D4233F}"/>
              </a:ext>
            </a:extLst>
          </p:cNvPr>
          <p:cNvSpPr txBox="1"/>
          <p:nvPr/>
        </p:nvSpPr>
        <p:spPr>
          <a:xfrm>
            <a:off x="5879250" y="4126034"/>
            <a:ext cx="188833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Deliverable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30399-8FDB-50CD-E8FD-8E286DE1A2EA}"/>
              </a:ext>
            </a:extLst>
          </p:cNvPr>
          <p:cNvSpPr/>
          <p:nvPr/>
        </p:nvSpPr>
        <p:spPr>
          <a:xfrm>
            <a:off x="5879250" y="3486558"/>
            <a:ext cx="468129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15 minutes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F6BD6-975A-3700-5E69-322EFF4F722E}"/>
              </a:ext>
            </a:extLst>
          </p:cNvPr>
          <p:cNvSpPr/>
          <p:nvPr/>
        </p:nvSpPr>
        <p:spPr>
          <a:xfrm>
            <a:off x="5879250" y="4613368"/>
            <a:ext cx="4681292" cy="841256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Report out on group’s</a:t>
            </a:r>
            <a:b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top 3 key learnings.</a:t>
            </a:r>
          </a:p>
        </p:txBody>
      </p:sp>
    </p:spTree>
    <p:extLst>
      <p:ext uri="{BB962C8B-B14F-4D97-AF65-F5344CB8AC3E}">
        <p14:creationId xmlns:p14="http://schemas.microsoft.com/office/powerpoint/2010/main" val="3757894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15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14058</TotalTime>
  <Words>2018</Words>
  <Application>Microsoft Office PowerPoint</Application>
  <PresentationFormat>Widescreen</PresentationFormat>
  <Paragraphs>324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MS PGothic</vt:lpstr>
      <vt:lpstr>Arial</vt:lpstr>
      <vt:lpstr>Calibri</vt:lpstr>
      <vt:lpstr>Roboto</vt:lpstr>
      <vt:lpstr>Roboto Medium</vt:lpstr>
      <vt:lpstr>Wingdings</vt:lpstr>
      <vt:lpstr>Office Theme</vt:lpstr>
      <vt:lpstr>PowerPoint Presentation</vt:lpstr>
      <vt:lpstr>PowerPoint Presentation</vt:lpstr>
      <vt:lpstr>PowerPoint Presentation</vt:lpstr>
      <vt:lpstr>Lean Transformation Experience so far…</vt:lpstr>
      <vt:lpstr>Lean Transformation: from what to what?</vt:lpstr>
      <vt:lpstr>Lean Transformation Experience so far…</vt:lpstr>
      <vt:lpstr>Every Organization Must Address</vt:lpstr>
      <vt:lpstr>Lean Transformation Some Lessons Learned</vt:lpstr>
      <vt:lpstr>Most of the leader’s job at Toyota</vt:lpstr>
      <vt:lpstr>Leadership: Three Models</vt:lpstr>
      <vt:lpstr>Chairman Cho of Toyota: Three Keys to Lean Leadership</vt:lpstr>
      <vt:lpstr>Leadership at Toyota: From managing numbers to managing the process</vt:lpstr>
      <vt:lpstr>Leadership at Toyota: From the Five Who’s to the Five Whys</vt:lpstr>
      <vt:lpstr>Leadership at Toyota: From Problem-hiding to Problem-solving</vt:lpstr>
      <vt:lpstr>Leadership at Toyota: Control with Flexibility</vt:lpstr>
      <vt:lpstr>Leadership at Toyota: From p-D-p-D to P-D-C-A</vt:lpstr>
      <vt:lpstr>From p-D-p-D Tail-chasing to P-D-C-A Cycle</vt:lpstr>
      <vt:lpstr>Impact and role of Lean at different levels</vt:lpstr>
      <vt:lpstr>What is the Role of Leadership?</vt:lpstr>
      <vt:lpstr>Eiji Toyoda on MUDA in Leadership</vt:lpstr>
      <vt:lpstr>Core Toyota View</vt:lpstr>
      <vt:lpstr>Another take on What is “Lean”? </vt:lpstr>
      <vt:lpstr>From “LEAN” to “LEARN”</vt:lpstr>
      <vt:lpstr>Toyota Chairman, Fujio Cho</vt:lpstr>
      <vt:lpstr>Three Phases of Lean Transformation</vt:lpstr>
      <vt:lpstr>Three Phases of Lean Transformation</vt:lpstr>
      <vt:lpstr>The Phase of Simple Kaizen</vt:lpstr>
      <vt:lpstr>Three Phases of Lean Transformation</vt:lpstr>
      <vt:lpstr>The Phase of System Implementation</vt:lpstr>
      <vt:lpstr>Three Phases of Lean Transformation</vt:lpstr>
      <vt:lpstr>The Phase of Enterprise Transformation</vt:lpstr>
      <vt:lpstr>Most Organizations Struggle</vt:lpstr>
      <vt:lpstr>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396</cp:revision>
  <dcterms:created xsi:type="dcterms:W3CDTF">2023-02-08T22:10:20Z</dcterms:created>
  <dcterms:modified xsi:type="dcterms:W3CDTF">2024-07-24T21:14:47Z</dcterms:modified>
</cp:coreProperties>
</file>