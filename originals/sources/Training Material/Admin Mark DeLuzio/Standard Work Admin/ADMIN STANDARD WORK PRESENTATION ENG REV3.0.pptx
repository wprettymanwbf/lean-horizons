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66"/>
  </p:notesMasterIdLst>
  <p:sldIdLst>
    <p:sldId id="258" r:id="rId2"/>
    <p:sldId id="283" r:id="rId3"/>
    <p:sldId id="284" r:id="rId4"/>
    <p:sldId id="285" r:id="rId5"/>
    <p:sldId id="351" r:id="rId6"/>
    <p:sldId id="352" r:id="rId7"/>
    <p:sldId id="353" r:id="rId8"/>
    <p:sldId id="354" r:id="rId9"/>
    <p:sldId id="355" r:id="rId10"/>
    <p:sldId id="356" r:id="rId11"/>
    <p:sldId id="357" r:id="rId12"/>
    <p:sldId id="358" r:id="rId13"/>
    <p:sldId id="359" r:id="rId14"/>
    <p:sldId id="360" r:id="rId15"/>
    <p:sldId id="361" r:id="rId16"/>
    <p:sldId id="362" r:id="rId17"/>
    <p:sldId id="363" r:id="rId18"/>
    <p:sldId id="365" r:id="rId19"/>
    <p:sldId id="366" r:id="rId20"/>
    <p:sldId id="367" r:id="rId21"/>
    <p:sldId id="368" r:id="rId22"/>
    <p:sldId id="369" r:id="rId23"/>
    <p:sldId id="370" r:id="rId24"/>
    <p:sldId id="371" r:id="rId25"/>
    <p:sldId id="372" r:id="rId26"/>
    <p:sldId id="373" r:id="rId27"/>
    <p:sldId id="374" r:id="rId28"/>
    <p:sldId id="375" r:id="rId29"/>
    <p:sldId id="376" r:id="rId30"/>
    <p:sldId id="377" r:id="rId31"/>
    <p:sldId id="378" r:id="rId32"/>
    <p:sldId id="379" r:id="rId33"/>
    <p:sldId id="380" r:id="rId34"/>
    <p:sldId id="381" r:id="rId35"/>
    <p:sldId id="383" r:id="rId36"/>
    <p:sldId id="382" r:id="rId37"/>
    <p:sldId id="384" r:id="rId38"/>
    <p:sldId id="385" r:id="rId39"/>
    <p:sldId id="386" r:id="rId40"/>
    <p:sldId id="387" r:id="rId41"/>
    <p:sldId id="388" r:id="rId42"/>
    <p:sldId id="389" r:id="rId43"/>
    <p:sldId id="390" r:id="rId44"/>
    <p:sldId id="391" r:id="rId45"/>
    <p:sldId id="392" r:id="rId46"/>
    <p:sldId id="393" r:id="rId47"/>
    <p:sldId id="394" r:id="rId48"/>
    <p:sldId id="395" r:id="rId49"/>
    <p:sldId id="396" r:id="rId50"/>
    <p:sldId id="397" r:id="rId51"/>
    <p:sldId id="398" r:id="rId52"/>
    <p:sldId id="399" r:id="rId53"/>
    <p:sldId id="400" r:id="rId54"/>
    <p:sldId id="401" r:id="rId55"/>
    <p:sldId id="402" r:id="rId56"/>
    <p:sldId id="403" r:id="rId57"/>
    <p:sldId id="404" r:id="rId58"/>
    <p:sldId id="405" r:id="rId59"/>
    <p:sldId id="406" r:id="rId60"/>
    <p:sldId id="407" r:id="rId61"/>
    <p:sldId id="408" r:id="rId62"/>
    <p:sldId id="409" r:id="rId63"/>
    <p:sldId id="410" r:id="rId64"/>
    <p:sldId id="411" r:id="rId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7B6AAEF-3415-5D22-AFDC-F31A005CEED7}" name="Joe Rutz" initials="JR" userId="S::joe.rutz@leancoachingllc.com::74172d3c-f68f-4a41-af3d-37d02d9c966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2222"/>
    <a:srgbClr val="FFB627"/>
    <a:srgbClr val="177E89"/>
    <a:srgbClr val="8EDCE6"/>
    <a:srgbClr val="F1BF98"/>
    <a:srgbClr val="2EC4B6"/>
    <a:srgbClr val="BDDBD0"/>
    <a:srgbClr val="2D7DD2"/>
    <a:srgbClr val="62929E"/>
    <a:srgbClr val="B3DE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81849" autoAdjust="0"/>
  </p:normalViewPr>
  <p:slideViewPr>
    <p:cSldViewPr snapToGrid="0">
      <p:cViewPr varScale="1">
        <p:scale>
          <a:sx n="67" d="100"/>
          <a:sy n="67" d="100"/>
        </p:scale>
        <p:origin x="1286" y="62"/>
      </p:cViewPr>
      <p:guideLst/>
    </p:cSldViewPr>
  </p:slideViewPr>
  <p:notesTextViewPr>
    <p:cViewPr>
      <p:scale>
        <a:sx n="3" d="2"/>
        <a:sy n="3" d="2"/>
      </p:scale>
      <p:origin x="0" y="0"/>
    </p:cViewPr>
  </p:notesTextViewPr>
  <p:sorterViewPr>
    <p:cViewPr varScale="1">
      <p:scale>
        <a:sx n="100" d="100"/>
        <a:sy n="100" d="100"/>
      </p:scale>
      <p:origin x="0" y="-12528"/>
    </p:cViewPr>
  </p:sorterViewPr>
  <p:notesViewPr>
    <p:cSldViewPr snapToGrid="0">
      <p:cViewPr varScale="1">
        <p:scale>
          <a:sx n="62" d="100"/>
          <a:sy n="62" d="100"/>
        </p:scale>
        <p:origin x="3226" y="77"/>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71"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86C400-5EB2-4620-B71B-A7454A7EC846}" type="datetimeFigureOut">
              <a:rPr lang="en-US" smtClean="0"/>
              <a:t>9/29/2023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CD8548-F1A2-4EDF-A416-5F2BB6B8F64C}" type="slidenum">
              <a:rPr lang="en-US" smtClean="0"/>
              <a:t>‹#›</a:t>
            </a:fld>
            <a:endParaRPr lang="en-US"/>
          </a:p>
        </p:txBody>
      </p:sp>
    </p:spTree>
    <p:extLst>
      <p:ext uri="{BB962C8B-B14F-4D97-AF65-F5344CB8AC3E}">
        <p14:creationId xmlns:p14="http://schemas.microsoft.com/office/powerpoint/2010/main" val="1973237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a:t>
            </a:fld>
            <a:endParaRPr lang="en-US"/>
          </a:p>
        </p:txBody>
      </p:sp>
    </p:spTree>
    <p:extLst>
      <p:ext uri="{BB962C8B-B14F-4D97-AF65-F5344CB8AC3E}">
        <p14:creationId xmlns:p14="http://schemas.microsoft.com/office/powerpoint/2010/main" val="41688216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a:t>
            </a:fld>
            <a:endParaRPr lang="en-US"/>
          </a:p>
        </p:txBody>
      </p:sp>
    </p:spTree>
    <p:extLst>
      <p:ext uri="{BB962C8B-B14F-4D97-AF65-F5344CB8AC3E}">
        <p14:creationId xmlns:p14="http://schemas.microsoft.com/office/powerpoint/2010/main" val="22171805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a:t>
            </a:fld>
            <a:endParaRPr lang="en-US"/>
          </a:p>
        </p:txBody>
      </p:sp>
    </p:spTree>
    <p:extLst>
      <p:ext uri="{BB962C8B-B14F-4D97-AF65-F5344CB8AC3E}">
        <p14:creationId xmlns:p14="http://schemas.microsoft.com/office/powerpoint/2010/main" val="9056465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 </a:t>
            </a:r>
            <a:r>
              <a:rPr lang="en-US" altLang="en-US" dirty="0">
                <a:latin typeface="Arial" panose="020B0604020202020204" pitchFamily="34" charset="0"/>
              </a:rPr>
              <a:t>Perform Group Introductions. Pick an ice-breaker or exercise to warm the team up to the event. (Icebreaker Example: Everyone uses their name tent and writes a </a:t>
            </a:r>
            <a:r>
              <a:rPr lang="ja-JP" altLang="en-US" dirty="0">
                <a:latin typeface="Arial" panose="020B0604020202020204" pitchFamily="34" charset="0"/>
              </a:rPr>
              <a:t>“</a:t>
            </a:r>
            <a:r>
              <a:rPr lang="en-US" altLang="ja-JP" dirty="0">
                <a:latin typeface="Arial" panose="020B0604020202020204" pitchFamily="34" charset="0"/>
              </a:rPr>
              <a:t>Personal License Plate</a:t>
            </a:r>
            <a:r>
              <a:rPr lang="ja-JP" altLang="en-US" dirty="0">
                <a:latin typeface="Arial" panose="020B0604020202020204" pitchFamily="34" charset="0"/>
              </a:rPr>
              <a:t>”</a:t>
            </a:r>
            <a:r>
              <a:rPr lang="en-US" altLang="ja-JP" dirty="0">
                <a:latin typeface="Arial" panose="020B0604020202020204" pitchFamily="34" charset="0"/>
              </a:rPr>
              <a:t> in which they have 2 minutes to creatively use a total of 7 letters or numbers to tell us something about themselves. Examples </a:t>
            </a:r>
            <a:r>
              <a:rPr lang="ja-JP" altLang="en-US" dirty="0">
                <a:latin typeface="Arial" panose="020B0604020202020204" pitchFamily="34" charset="0"/>
              </a:rPr>
              <a:t>“</a:t>
            </a:r>
            <a:r>
              <a:rPr lang="en-US" altLang="ja-JP" dirty="0">
                <a:latin typeface="Arial" panose="020B0604020202020204" pitchFamily="34" charset="0"/>
              </a:rPr>
              <a:t>LV2SAIL</a:t>
            </a:r>
            <a:r>
              <a:rPr lang="ja-JP" altLang="en-US" dirty="0">
                <a:latin typeface="Arial" panose="020B0604020202020204" pitchFamily="34" charset="0"/>
              </a:rPr>
              <a:t>”</a:t>
            </a:r>
            <a:r>
              <a:rPr lang="en-US" altLang="ja-JP" dirty="0">
                <a:latin typeface="Arial" panose="020B0604020202020204" pitchFamily="34" charset="0"/>
              </a:rPr>
              <a:t> OR </a:t>
            </a:r>
            <a:r>
              <a:rPr lang="ja-JP" altLang="en-US" dirty="0">
                <a:latin typeface="Arial" panose="020B0604020202020204" pitchFamily="34" charset="0"/>
              </a:rPr>
              <a:t>“</a:t>
            </a:r>
            <a:r>
              <a:rPr lang="en-US" altLang="ja-JP" dirty="0">
                <a:latin typeface="Arial" panose="020B0604020202020204" pitchFamily="34" charset="0"/>
              </a:rPr>
              <a:t>DADOV5</a:t>
            </a:r>
            <a:r>
              <a:rPr lang="ja-JP" altLang="en-US" dirty="0">
                <a:latin typeface="Arial" panose="020B0604020202020204" pitchFamily="34" charset="0"/>
              </a:rPr>
              <a:t>”</a:t>
            </a:r>
            <a:r>
              <a:rPr lang="en-US" altLang="ja-JP" dirty="0">
                <a:latin typeface="Arial" panose="020B0604020202020204" pitchFamily="34" charset="0"/>
              </a:rPr>
              <a:t> </a:t>
            </a:r>
          </a:p>
          <a:p>
            <a:r>
              <a:rPr lang="en-US" altLang="en-US" b="1" dirty="0">
                <a:latin typeface="Arial" panose="020B0604020202020204" pitchFamily="34" charset="0"/>
              </a:rPr>
              <a:t>DO</a:t>
            </a:r>
            <a:r>
              <a:rPr lang="en-US" altLang="en-US" dirty="0">
                <a:latin typeface="Arial" panose="020B0604020202020204" pitchFamily="34" charset="0"/>
              </a:rPr>
              <a:t>: Review Event Ground Rules. </a:t>
            </a: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Does anyone have any rules they would like to see added?</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Does everyone agree to these?</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a:t>
            </a:fld>
            <a:endParaRPr lang="en-US"/>
          </a:p>
        </p:txBody>
      </p:sp>
    </p:spTree>
    <p:extLst>
      <p:ext uri="{BB962C8B-B14F-4D97-AF65-F5344CB8AC3E}">
        <p14:creationId xmlns:p14="http://schemas.microsoft.com/office/powerpoint/2010/main" val="13057167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Introduce the notion of Standard Work and the goal of this event.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a:t>
            </a:fld>
            <a:endParaRPr lang="en-US"/>
          </a:p>
        </p:txBody>
      </p:sp>
    </p:spTree>
    <p:extLst>
      <p:ext uri="{BB962C8B-B14F-4D97-AF65-F5344CB8AC3E}">
        <p14:creationId xmlns:p14="http://schemas.microsoft.com/office/powerpoint/2010/main" val="12134576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Kaizen is a methodology used for the implementation of improvements. A key benefit is that the structure of the kaizen event is primarily encompassed in a 5 day period (including implementation). This is the opposite of project oriented improvements which tend to take weeks and months. </a:t>
            </a: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The key steps are to identify waste and eliminate waste.</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Kaizen is a continuous improvement mindset. Everything that we do today can be improved. Kaizen has no end.</a:t>
            </a:r>
            <a:r>
              <a:rPr lang="ja-JP" altLang="en-US" dirty="0">
                <a:latin typeface="Arial" panose="020B0604020202020204" pitchFamily="34" charset="0"/>
              </a:rPr>
              <a:t>”</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a:t>
            </a:fld>
            <a:endParaRPr lang="en-US"/>
          </a:p>
        </p:txBody>
      </p:sp>
    </p:spTree>
    <p:extLst>
      <p:ext uri="{BB962C8B-B14F-4D97-AF65-F5344CB8AC3E}">
        <p14:creationId xmlns:p14="http://schemas.microsoft.com/office/powerpoint/2010/main" val="20464630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Introduce the notion of Standard Work and the goal of this event. </a:t>
            </a: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Standard Work is a foundational element of the Toyota Production System.</a:t>
            </a:r>
            <a:r>
              <a:rPr lang="ja-JP" altLang="en-US" dirty="0">
                <a:latin typeface="Arial" panose="020B0604020202020204" pitchFamily="34" charset="0"/>
              </a:rPr>
              <a:t>”</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a:t>
            </a:fld>
            <a:endParaRPr lang="en-US"/>
          </a:p>
        </p:txBody>
      </p:sp>
    </p:spTree>
    <p:extLst>
      <p:ext uri="{BB962C8B-B14F-4D97-AF65-F5344CB8AC3E}">
        <p14:creationId xmlns:p14="http://schemas.microsoft.com/office/powerpoint/2010/main" val="3764170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We just discussed the straight forward definition of standard work. There are subtleties that distinguish standard work. Note, the separate focus of the Front Line Associate and of the equipment and systems. After the separate focus, there is a combined focus of the interaction between the Front Line Associate and the equipment and systems. Standard work is not the same as traditional timing of task study. The differences include (TAKT time–customer demand, expects the Front Line Associate to perform multiple repetitive operations within a work sequence and does not promote the building of unnecessary queues).</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8</a:t>
            </a:fld>
            <a:endParaRPr lang="en-US"/>
          </a:p>
        </p:txBody>
      </p:sp>
    </p:spTree>
    <p:extLst>
      <p:ext uri="{BB962C8B-B14F-4D97-AF65-F5344CB8AC3E}">
        <p14:creationId xmlns:p14="http://schemas.microsoft.com/office/powerpoint/2010/main" val="34974059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Productivity is equal to output over input. Improving productivity is an outcome of standard work. Standard work affects both the numerator and denominator.</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r>
              <a:rPr lang="en-US" altLang="en-US" dirty="0">
                <a:latin typeface="Arial" panose="020B0604020202020204" pitchFamily="34" charset="0"/>
              </a:rPr>
              <a:t>There are </a:t>
            </a:r>
            <a:r>
              <a:rPr lang="en-US" altLang="en-US" u="sng" dirty="0">
                <a:latin typeface="Arial" panose="020B0604020202020204" pitchFamily="34" charset="0"/>
              </a:rPr>
              <a:t>only</a:t>
            </a:r>
            <a:r>
              <a:rPr lang="en-US" altLang="en-US" dirty="0">
                <a:latin typeface="Arial" panose="020B0604020202020204" pitchFamily="34" charset="0"/>
              </a:rPr>
              <a:t> two ways to improve productivity.  </a:t>
            </a:r>
          </a:p>
          <a:p>
            <a:r>
              <a:rPr lang="en-US" altLang="en-US" dirty="0">
                <a:latin typeface="Arial" panose="020B0604020202020204" pitchFamily="34" charset="0"/>
              </a:rPr>
              <a:t>Output (e.g. – products/services) goes up with the same level of input (e.g. – man hours/number of associates required)</a:t>
            </a:r>
          </a:p>
          <a:p>
            <a:r>
              <a:rPr lang="en-US" altLang="en-US" dirty="0">
                <a:latin typeface="Arial" panose="020B0604020202020204" pitchFamily="34" charset="0"/>
              </a:rPr>
              <a:t>Inputs (e.g. – man hours/number of associates) goes down with the same demand level (e.g. – products/services)</a:t>
            </a: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9</a:t>
            </a:fld>
            <a:endParaRPr lang="en-US"/>
          </a:p>
        </p:txBody>
      </p:sp>
    </p:spTree>
    <p:extLst>
      <p:ext uri="{BB962C8B-B14F-4D97-AF65-F5344CB8AC3E}">
        <p14:creationId xmlns:p14="http://schemas.microsoft.com/office/powerpoint/2010/main" val="10303821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lnSpc>
                <a:spcPct val="80000"/>
              </a:lnSpc>
            </a:pPr>
            <a:r>
              <a:rPr lang="en-US" altLang="en-US" sz="800" b="1" dirty="0">
                <a:latin typeface="Arial" panose="020B0604020202020204" pitchFamily="34" charset="0"/>
              </a:rPr>
              <a:t>SAY:</a:t>
            </a:r>
            <a:r>
              <a:rPr lang="en-US" altLang="en-US" sz="800" dirty="0">
                <a:latin typeface="Arial" panose="020B0604020202020204" pitchFamily="34" charset="0"/>
              </a:rPr>
              <a:t> </a:t>
            </a:r>
            <a:r>
              <a:rPr lang="ja-JP" altLang="en-US" sz="800" dirty="0">
                <a:latin typeface="Arial" panose="020B0604020202020204" pitchFamily="34" charset="0"/>
              </a:rPr>
              <a:t>“</a:t>
            </a:r>
            <a:r>
              <a:rPr lang="en-US" altLang="ja-JP" sz="800" dirty="0">
                <a:latin typeface="Arial" panose="020B0604020202020204" pitchFamily="34" charset="0"/>
              </a:rPr>
              <a:t>When thinking about the world standard for a continuous improvement culture you have to look to Toyota.  They have been pursuing a lean strategy for the past 60 years and it has become a cornerstone for their success.  Standard work is one of the foundations for their lean strategy and in order for this to work there are several things that every Toyota employee knows about their job.</a:t>
            </a:r>
          </a:p>
          <a:p>
            <a:pPr marL="228600" indent="-228600">
              <a:lnSpc>
                <a:spcPct val="80000"/>
              </a:lnSpc>
            </a:pPr>
            <a:endParaRPr lang="en-US" altLang="en-US" sz="800" dirty="0">
              <a:latin typeface="Arial" panose="020B0604020202020204" pitchFamily="34" charset="0"/>
            </a:endParaRPr>
          </a:p>
          <a:p>
            <a:pPr marL="228600" indent="-228600">
              <a:lnSpc>
                <a:spcPct val="80000"/>
              </a:lnSpc>
            </a:pPr>
            <a:r>
              <a:rPr lang="en-US" altLang="en-US" sz="800" dirty="0">
                <a:latin typeface="Arial" panose="020B0604020202020204" pitchFamily="34" charset="0"/>
              </a:rPr>
              <a:t>	Toyota, like any business, has many processes that adhere to their philosophy.  Most make a mistake in thinking that their methods only apply to manufacturing since most readily associate Toyota as synonymous with cars.  Toyota, like your business, has many more processes that involve movement of papers, decision making, trouble shooting, daily management, problem solving, etc. that they apply these principals to.  If they only used this method in their car manufacturing part of the business they simply would not be the world leader they are today.  These processes must be applied anywhere there are people and processes used to conduct an output desired by internal or external needs or customers.</a:t>
            </a:r>
          </a:p>
          <a:p>
            <a:pPr marL="228600" indent="-228600">
              <a:lnSpc>
                <a:spcPct val="80000"/>
              </a:lnSpc>
            </a:pPr>
            <a:endParaRPr lang="en-US" altLang="en-US" sz="800" dirty="0">
              <a:latin typeface="Arial" panose="020B0604020202020204" pitchFamily="34" charset="0"/>
            </a:endParaRPr>
          </a:p>
          <a:p>
            <a:pPr marL="228600" indent="-228600">
              <a:lnSpc>
                <a:spcPct val="80000"/>
              </a:lnSpc>
            </a:pPr>
            <a:r>
              <a:rPr lang="en-US" altLang="en-US" sz="800" dirty="0">
                <a:latin typeface="Arial" panose="020B0604020202020204" pitchFamily="34" charset="0"/>
              </a:rPr>
              <a:t>They are:</a:t>
            </a:r>
          </a:p>
          <a:p>
            <a:pPr marL="228600" indent="-228600">
              <a:lnSpc>
                <a:spcPct val="80000"/>
              </a:lnSpc>
              <a:buFontTx/>
              <a:buAutoNum type="arabicPeriod"/>
            </a:pPr>
            <a:r>
              <a:rPr lang="en-US" altLang="en-US" sz="800" dirty="0">
                <a:latin typeface="Arial" panose="020B0604020202020204" pitchFamily="34" charset="0"/>
              </a:rPr>
              <a:t>How do you do this work?</a:t>
            </a:r>
          </a:p>
          <a:p>
            <a:pPr marL="685800" lvl="1" indent="-228600">
              <a:lnSpc>
                <a:spcPct val="80000"/>
              </a:lnSpc>
            </a:pPr>
            <a:r>
              <a:rPr lang="en-US" altLang="en-US" sz="800" dirty="0">
                <a:latin typeface="Arial" panose="020B0604020202020204" pitchFamily="34" charset="0"/>
              </a:rPr>
              <a:t>This means that the work sequence and instructions are documented, applicable, and clearly understood.</a:t>
            </a:r>
          </a:p>
          <a:p>
            <a:pPr marL="228600" indent="-228600">
              <a:lnSpc>
                <a:spcPct val="80000"/>
              </a:lnSpc>
              <a:buFontTx/>
              <a:buAutoNum type="arabicPeriod"/>
            </a:pPr>
            <a:r>
              <a:rPr lang="en-US" altLang="en-US" sz="800" dirty="0">
                <a:latin typeface="Arial" panose="020B0604020202020204" pitchFamily="34" charset="0"/>
              </a:rPr>
              <a:t>How do you know that you are doing this work correctly?</a:t>
            </a:r>
          </a:p>
          <a:p>
            <a:pPr marL="685800" lvl="1" indent="-228600">
              <a:lnSpc>
                <a:spcPct val="80000"/>
              </a:lnSpc>
            </a:pPr>
            <a:r>
              <a:rPr lang="en-US" altLang="en-US" sz="800" dirty="0">
                <a:latin typeface="Arial" panose="020B0604020202020204" pitchFamily="34" charset="0"/>
              </a:rPr>
              <a:t>This is accomplished through a combination of training and qualification for the employee as well as visual management systems and feedback loops that let the employee know if they deviate from the process.</a:t>
            </a:r>
          </a:p>
          <a:p>
            <a:pPr marL="228600" indent="-228600">
              <a:lnSpc>
                <a:spcPct val="80000"/>
              </a:lnSpc>
              <a:buFontTx/>
              <a:buAutoNum type="arabicPeriod"/>
            </a:pPr>
            <a:r>
              <a:rPr lang="en-US" altLang="en-US" sz="800" dirty="0">
                <a:latin typeface="Arial" panose="020B0604020202020204" pitchFamily="34" charset="0"/>
              </a:rPr>
              <a:t>How do you know that the outcome is free of defects?</a:t>
            </a:r>
          </a:p>
          <a:p>
            <a:pPr marL="685800" lvl="1" indent="-228600">
              <a:lnSpc>
                <a:spcPct val="80000"/>
              </a:lnSpc>
            </a:pPr>
            <a:r>
              <a:rPr lang="en-US" altLang="en-US" sz="800" dirty="0">
                <a:latin typeface="Arial" panose="020B0604020202020204" pitchFamily="34" charset="0"/>
              </a:rPr>
              <a:t>Again this relates to the visual management systems and feedback loops which allow the employee to identify any abnormalities but in addition there is a fundamental belief that a good process can</a:t>
            </a:r>
            <a:r>
              <a:rPr lang="ja-JP" altLang="en-US" sz="800" dirty="0">
                <a:latin typeface="Arial" panose="020B0604020202020204" pitchFamily="34" charset="0"/>
              </a:rPr>
              <a:t>’</a:t>
            </a:r>
            <a:r>
              <a:rPr lang="en-US" altLang="ja-JP" sz="800" dirty="0">
                <a:latin typeface="Arial" panose="020B0604020202020204" pitchFamily="34" charset="0"/>
              </a:rPr>
              <a:t>t yield a bad result.  Because of this belief Toyota invests an incredible amount of effort in developing and constantly improving their processes.  If there is an abnormality or defect the first thing that they do is check to insure that the employee followed the process.  If the process was followed and there was a defect they will then attack the process to determine what failed and allowed the abnormality.  They will then install a root cause fix so that the problem cannot arise again.  This sequence ties back to the cycle of improvement and the Deming cycle.</a:t>
            </a:r>
          </a:p>
          <a:p>
            <a:pPr marL="228600" indent="-228600">
              <a:lnSpc>
                <a:spcPct val="80000"/>
              </a:lnSpc>
              <a:buFontTx/>
              <a:buAutoNum type="arabicPeriod"/>
            </a:pPr>
            <a:r>
              <a:rPr lang="en-US" altLang="en-US" sz="800" dirty="0">
                <a:latin typeface="Arial" panose="020B0604020202020204" pitchFamily="34" charset="0"/>
              </a:rPr>
              <a:t>What do you do if you have a problem?</a:t>
            </a:r>
          </a:p>
          <a:p>
            <a:pPr marL="685800" lvl="1" indent="-228600">
              <a:lnSpc>
                <a:spcPct val="80000"/>
              </a:lnSpc>
            </a:pPr>
            <a:r>
              <a:rPr lang="en-US" altLang="en-US" sz="800" dirty="0">
                <a:latin typeface="Arial" panose="020B0604020202020204" pitchFamily="34" charset="0"/>
              </a:rPr>
              <a:t>The lines of escalation are clearly understood and the process is straight forward.</a:t>
            </a:r>
          </a:p>
          <a:p>
            <a:pPr marL="1143000" lvl="2" indent="-228600">
              <a:lnSpc>
                <a:spcPct val="80000"/>
              </a:lnSpc>
              <a:buFontTx/>
              <a:buAutoNum type="arabicPeriod"/>
            </a:pPr>
            <a:r>
              <a:rPr lang="en-US" altLang="en-US" sz="800" dirty="0">
                <a:latin typeface="Arial" panose="020B0604020202020204" pitchFamily="34" charset="0"/>
              </a:rPr>
              <a:t>Stop work to prevent production of further defects.  It </a:t>
            </a:r>
            <a:r>
              <a:rPr lang="en-US" altLang="en-US" sz="800" dirty="0" err="1">
                <a:latin typeface="Arial" panose="020B0604020202020204" pitchFamily="34" charset="0"/>
              </a:rPr>
              <a:t>doesn</a:t>
            </a:r>
            <a:r>
              <a:rPr lang="ja-JP" altLang="en-US" sz="800" dirty="0">
                <a:latin typeface="Arial" panose="020B0604020202020204" pitchFamily="34" charset="0"/>
              </a:rPr>
              <a:t>’</a:t>
            </a:r>
            <a:r>
              <a:rPr lang="en-US" altLang="ja-JP" sz="800" dirty="0">
                <a:latin typeface="Arial" panose="020B0604020202020204" pitchFamily="34" charset="0"/>
              </a:rPr>
              <a:t>t matter if it is a car or a financial transaction work is stopped to prevent passing a defect on to the next process.</a:t>
            </a:r>
          </a:p>
          <a:p>
            <a:pPr marL="1143000" lvl="2" indent="-228600">
              <a:lnSpc>
                <a:spcPct val="80000"/>
              </a:lnSpc>
              <a:buFontTx/>
              <a:buAutoNum type="arabicPeriod"/>
            </a:pPr>
            <a:r>
              <a:rPr lang="en-US" altLang="en-US" sz="800" dirty="0">
                <a:latin typeface="Arial" panose="020B0604020202020204" pitchFamily="34" charset="0"/>
              </a:rPr>
              <a:t>The correct, pre-identified, resource is notified.  This may be a team leader, supervisor, manager, technician, or the pope;  who ever it is has been identified in advance and when they are notified this becomes their #1 priority.</a:t>
            </a:r>
          </a:p>
          <a:p>
            <a:pPr marL="1143000" lvl="2" indent="-228600">
              <a:lnSpc>
                <a:spcPct val="80000"/>
              </a:lnSpc>
              <a:buFontTx/>
              <a:buAutoNum type="arabicPeriod"/>
            </a:pPr>
            <a:endParaRPr lang="en-US" altLang="en-US" sz="800" dirty="0">
              <a:latin typeface="Arial" panose="020B0604020202020204" pitchFamily="34" charset="0"/>
            </a:endParaRPr>
          </a:p>
          <a:p>
            <a:pPr marL="228600" indent="-228600">
              <a:lnSpc>
                <a:spcPct val="80000"/>
              </a:lnSpc>
            </a:pPr>
            <a:r>
              <a:rPr lang="en-US" altLang="en-US" sz="800" b="1" dirty="0">
                <a:latin typeface="Arial" panose="020B0604020202020204" pitchFamily="34" charset="0"/>
              </a:rPr>
              <a:t>SAY:</a:t>
            </a:r>
            <a:r>
              <a:rPr lang="en-US" altLang="en-US" sz="800" dirty="0">
                <a:latin typeface="Arial" panose="020B0604020202020204" pitchFamily="34" charset="0"/>
              </a:rPr>
              <a:t> The ultimate take away for this slide is that for all tasks, the work shall be highly specified as to content, sequence, timing and outcome.  I know that if I do these things in this way at this rate I will get this output, it is as simple as that.</a:t>
            </a:r>
            <a:r>
              <a:rPr lang="ja-JP" altLang="en-US" sz="800" dirty="0">
                <a:latin typeface="Arial" panose="020B0604020202020204" pitchFamily="34" charset="0"/>
              </a:rPr>
              <a:t>”</a:t>
            </a:r>
            <a:endParaRPr lang="en-US" altLang="ja-JP" sz="800" dirty="0">
              <a:latin typeface="Arial" panose="020B0604020202020204" pitchFamily="34" charset="0"/>
            </a:endParaRPr>
          </a:p>
          <a:p>
            <a:pPr marL="228600" indent="-228600"/>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10</a:t>
            </a:fld>
            <a:endParaRPr lang="en-US"/>
          </a:p>
        </p:txBody>
      </p:sp>
    </p:spTree>
    <p:extLst>
      <p:ext uri="{BB962C8B-B14F-4D97-AF65-F5344CB8AC3E}">
        <p14:creationId xmlns:p14="http://schemas.microsoft.com/office/powerpoint/2010/main" val="29201619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800" b="1" dirty="0">
                <a:latin typeface="Arial" panose="020B0604020202020204" pitchFamily="34" charset="0"/>
              </a:rPr>
              <a:t>SAY:</a:t>
            </a:r>
            <a:r>
              <a:rPr lang="en-US" altLang="en-US" sz="800" dirty="0">
                <a:latin typeface="Arial" panose="020B0604020202020204" pitchFamily="34" charset="0"/>
              </a:rPr>
              <a:t> </a:t>
            </a:r>
            <a:r>
              <a:rPr lang="ja-JP" altLang="en-US" sz="800" dirty="0">
                <a:latin typeface="Arial" panose="020B0604020202020204" pitchFamily="34" charset="0"/>
              </a:rPr>
              <a:t>“</a:t>
            </a:r>
            <a:r>
              <a:rPr lang="en-US" altLang="ja-JP" sz="800" dirty="0">
                <a:latin typeface="Arial" panose="020B0604020202020204" pitchFamily="34" charset="0"/>
              </a:rPr>
              <a:t>The three elements of Standard Work are Takt Time, Work Sequence, and Standard WIP. We will go into each of these in more detail.</a:t>
            </a:r>
            <a:r>
              <a:rPr lang="ja-JP" altLang="en-US" sz="800" dirty="0">
                <a:latin typeface="Arial" panose="020B0604020202020204" pitchFamily="34" charset="0"/>
              </a:rPr>
              <a:t>”</a:t>
            </a:r>
            <a:endParaRPr lang="en-US" altLang="ja-JP" sz="800" dirty="0">
              <a:latin typeface="Arial" panose="020B0604020202020204" pitchFamily="34" charset="0"/>
            </a:endParaRPr>
          </a:p>
          <a:p>
            <a:endParaRPr lang="en-US" altLang="en-US" sz="8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11</a:t>
            </a:fld>
            <a:endParaRPr lang="en-US"/>
          </a:p>
        </p:txBody>
      </p:sp>
    </p:spTree>
    <p:extLst>
      <p:ext uri="{BB962C8B-B14F-4D97-AF65-F5344CB8AC3E}">
        <p14:creationId xmlns:p14="http://schemas.microsoft.com/office/powerpoint/2010/main" val="435989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Have the discussion around knowing who your various customers may be for a process. What might not be considered value-adding to one customer, may be considered value-adding to another. </a:t>
            </a:r>
          </a:p>
          <a:p>
            <a:endParaRPr lang="en-US" altLang="en-US" dirty="0">
              <a:latin typeface="Arial" panose="020B0604020202020204" pitchFamily="34" charset="0"/>
            </a:endParaRPr>
          </a:p>
          <a:p>
            <a:r>
              <a:rPr lang="en-US" altLang="en-US" dirty="0">
                <a:latin typeface="Arial" panose="020B0604020202020204" pitchFamily="34" charset="0"/>
              </a:rPr>
              <a:t>Define or stipulate that there are internal and external customers in any process.  They could be referred to as the </a:t>
            </a:r>
            <a:r>
              <a:rPr lang="ja-JP" altLang="en-US" dirty="0">
                <a:latin typeface="Arial" panose="020B0604020202020204" pitchFamily="34" charset="0"/>
              </a:rPr>
              <a:t>“</a:t>
            </a:r>
            <a:r>
              <a:rPr lang="en-US" altLang="ja-JP" dirty="0">
                <a:latin typeface="Arial" panose="020B0604020202020204" pitchFamily="34" charset="0"/>
              </a:rPr>
              <a:t>little C</a:t>
            </a:r>
            <a:r>
              <a:rPr lang="ja-JP" altLang="en-US" dirty="0">
                <a:latin typeface="Arial" panose="020B0604020202020204" pitchFamily="34" charset="0"/>
              </a:rPr>
              <a:t>”</a:t>
            </a:r>
            <a:r>
              <a:rPr lang="en-US" altLang="ja-JP" dirty="0">
                <a:latin typeface="Arial" panose="020B0604020202020204" pitchFamily="34" charset="0"/>
              </a:rPr>
              <a:t> and </a:t>
            </a:r>
            <a:r>
              <a:rPr lang="ja-JP" altLang="en-US" dirty="0">
                <a:latin typeface="Arial" panose="020B0604020202020204" pitchFamily="34" charset="0"/>
              </a:rPr>
              <a:t>“</a:t>
            </a:r>
            <a:r>
              <a:rPr lang="en-US" altLang="ja-JP" dirty="0">
                <a:latin typeface="Arial" panose="020B0604020202020204" pitchFamily="34" charset="0"/>
              </a:rPr>
              <a:t>big C</a:t>
            </a:r>
            <a:r>
              <a:rPr lang="ja-JP" altLang="en-US" dirty="0">
                <a:latin typeface="Arial" panose="020B0604020202020204" pitchFamily="34" charset="0"/>
              </a:rPr>
              <a:t>”</a:t>
            </a:r>
            <a:r>
              <a:rPr lang="en-US" altLang="ja-JP" dirty="0">
                <a:latin typeface="Arial" panose="020B0604020202020204" pitchFamily="34" charset="0"/>
              </a:rPr>
              <a:t>.  We all have customers that we must satisfy and it is possible that none of them are the actual end customer that buys the products or services.</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12</a:t>
            </a:fld>
            <a:endParaRPr lang="en-US"/>
          </a:p>
        </p:txBody>
      </p:sp>
    </p:spTree>
    <p:extLst>
      <p:ext uri="{BB962C8B-B14F-4D97-AF65-F5344CB8AC3E}">
        <p14:creationId xmlns:p14="http://schemas.microsoft.com/office/powerpoint/2010/main" val="28058806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In the previous slide, the definitions of Value Added (VA) and Non-Value Added (NVA) were introduced. This slide continues to help define the difference between VA and NVA, and helps provide a visual representation.</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It is helpful to use a process as an example. One easy example is a paying an invoice, that goes through several operations that are VA; cutting of the check, signing of the check, etc. Mention the 95/5 split, but it</a:t>
            </a:r>
            <a:r>
              <a:rPr lang="ja-JP" altLang="en-US" dirty="0">
                <a:latin typeface="Arial" panose="020B0604020202020204" pitchFamily="34" charset="0"/>
              </a:rPr>
              <a:t>’</a:t>
            </a:r>
            <a:r>
              <a:rPr lang="en-US" altLang="ja-JP" dirty="0">
                <a:latin typeface="Arial" panose="020B0604020202020204" pitchFamily="34" charset="0"/>
              </a:rPr>
              <a:t>s better to use an example that the audience experiences. Get the audience to tell you how long the VA steps take for one of their processes; 10 seconds to cut the check, 1 day in the inbox, 10 seconds to have the check signed, 1 day to mail, etc. Then ask for the estimated lead time. Next, do the math to give the % split. Administrative tasks are normally much less than 5% VA.</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r>
              <a:rPr lang="en-US" altLang="en-US" dirty="0">
                <a:latin typeface="Arial" panose="020B0604020202020204" pitchFamily="34" charset="0"/>
              </a:rPr>
              <a:t>History: The in the 90</a:t>
            </a:r>
            <a:r>
              <a:rPr lang="ja-JP" altLang="en-US" dirty="0">
                <a:latin typeface="Arial" panose="020B0604020202020204" pitchFamily="34" charset="0"/>
              </a:rPr>
              <a:t>’</a:t>
            </a:r>
            <a:r>
              <a:rPr lang="en-US" altLang="ja-JP" dirty="0">
                <a:latin typeface="Arial" panose="020B0604020202020204" pitchFamily="34" charset="0"/>
              </a:rPr>
              <a:t>s, Boston Consulting Group a global consulting company, conducted a study of several businesses and industries to determine the amount of activity conducted in the process of delivering products or services to the customer.  What they found was that 95% of the activity in these business done on a daily or recurring basis had no value to the customer buying the products or services.  What remained was only 5% which actually applied to what the customer wanted.</a:t>
            </a:r>
          </a:p>
          <a:p>
            <a:endParaRPr lang="en-US" altLang="en-US" dirty="0">
              <a:latin typeface="Arial" panose="020B0604020202020204" pitchFamily="34" charset="0"/>
            </a:endParaRPr>
          </a:p>
          <a:p>
            <a:r>
              <a:rPr lang="en-US" altLang="en-US" dirty="0">
                <a:latin typeface="Arial" panose="020B0604020202020204" pitchFamily="34" charset="0"/>
              </a:rPr>
              <a:t>It should be mentioned that this study and the 95/5 rule does not mean that 95% of the actions we do have no value meaning that we have no value.  Simply put it means that much of what we do does not convert into something a customer is willing to pay for.  An example of this would be what a customer pays for when they take an airline flight.  When purchasing a ticket as a customer you simply want to get from one destination to another.  You do not desire to pay for things that do not relate to you direct flight.  Have the class detail some of the things that happen to complete a flight and discuss whether they add value.</a:t>
            </a:r>
          </a:p>
        </p:txBody>
      </p:sp>
      <p:sp>
        <p:nvSpPr>
          <p:cNvPr id="4" name="Slide Number Placeholder 3"/>
          <p:cNvSpPr>
            <a:spLocks noGrp="1"/>
          </p:cNvSpPr>
          <p:nvPr>
            <p:ph type="sldNum" sz="quarter" idx="5"/>
          </p:nvPr>
        </p:nvSpPr>
        <p:spPr/>
        <p:txBody>
          <a:bodyPr/>
          <a:lstStyle/>
          <a:p>
            <a:fld id="{AECD8548-F1A2-4EDF-A416-5F2BB6B8F64C}" type="slidenum">
              <a:rPr lang="en-US" smtClean="0"/>
              <a:t>13</a:t>
            </a:fld>
            <a:endParaRPr lang="en-US"/>
          </a:p>
        </p:txBody>
      </p:sp>
    </p:spTree>
    <p:extLst>
      <p:ext uri="{BB962C8B-B14F-4D97-AF65-F5344CB8AC3E}">
        <p14:creationId xmlns:p14="http://schemas.microsoft.com/office/powerpoint/2010/main" val="36482238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One point to make is that we are focusing on eliminating waste, not trying to improve value added steps.</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As waste is eliminated or reduced, lead time is reduced, cost is reduced, quality is improved by reducing the number of opportunities, and queues reduced. Predictability is improved, which reduces variation.</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14</a:t>
            </a:fld>
            <a:endParaRPr lang="en-US"/>
          </a:p>
        </p:txBody>
      </p:sp>
    </p:spTree>
    <p:extLst>
      <p:ext uri="{BB962C8B-B14F-4D97-AF65-F5344CB8AC3E}">
        <p14:creationId xmlns:p14="http://schemas.microsoft.com/office/powerpoint/2010/main" val="28802452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15</a:t>
            </a:fld>
            <a:endParaRPr lang="en-US"/>
          </a:p>
        </p:txBody>
      </p:sp>
    </p:spTree>
    <p:extLst>
      <p:ext uri="{BB962C8B-B14F-4D97-AF65-F5344CB8AC3E}">
        <p14:creationId xmlns:p14="http://schemas.microsoft.com/office/powerpoint/2010/main" val="7526318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section objectives on slide.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16</a:t>
            </a:fld>
            <a:endParaRPr lang="en-US"/>
          </a:p>
        </p:txBody>
      </p:sp>
    </p:spTree>
    <p:extLst>
      <p:ext uri="{BB962C8B-B14F-4D97-AF65-F5344CB8AC3E}">
        <p14:creationId xmlns:p14="http://schemas.microsoft.com/office/powerpoint/2010/main" val="27919126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TAKT time is defined as the rate at which you should produce one transaction or unit of work based on the rate of sales to meet customer demand.  TAKT time should be expressed in seconds and is calculated by </a:t>
            </a:r>
            <a:r>
              <a:rPr lang="en-US" altLang="ja-JP" i="1" dirty="0">
                <a:latin typeface="Arial" panose="020B0604020202020204" pitchFamily="34" charset="0"/>
              </a:rPr>
              <a:t>(read the equation).</a:t>
            </a:r>
            <a:r>
              <a:rPr lang="ja-JP" altLang="en-US" i="1" dirty="0">
                <a:latin typeface="Arial" panose="020B0604020202020204" pitchFamily="34" charset="0"/>
              </a:rPr>
              <a:t>”</a:t>
            </a:r>
            <a:endParaRPr lang="en-US" altLang="ja-JP" i="1" dirty="0">
              <a:latin typeface="Arial" panose="020B0604020202020204" pitchFamily="34" charset="0"/>
            </a:endParaRPr>
          </a:p>
          <a:p>
            <a:endParaRPr lang="en-US" altLang="en-US" i="1" dirty="0">
              <a:latin typeface="Arial" panose="020B0604020202020204" pitchFamily="34" charset="0"/>
            </a:endParaRPr>
          </a:p>
          <a:p>
            <a:r>
              <a:rPr lang="en-US" altLang="en-US" dirty="0">
                <a:latin typeface="Arial" panose="020B0604020202020204" pitchFamily="34" charset="0"/>
              </a:rPr>
              <a:t>Every process regardless of where it happens has a takt time.  You must define who your customer is and then determine what demand.  This does not just apply to manufacturing.</a:t>
            </a:r>
          </a:p>
          <a:p>
            <a:endParaRPr lang="en-US" altLang="en-US" i="1" dirty="0">
              <a:latin typeface="Arial" panose="020B0604020202020204" pitchFamily="34" charset="0"/>
            </a:endParaRP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17</a:t>
            </a:fld>
            <a:endParaRPr lang="en-US"/>
          </a:p>
        </p:txBody>
      </p:sp>
    </p:spTree>
    <p:extLst>
      <p:ext uri="{BB962C8B-B14F-4D97-AF65-F5344CB8AC3E}">
        <p14:creationId xmlns:p14="http://schemas.microsoft.com/office/powerpoint/2010/main" val="39713830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spcBef>
                <a:spcPct val="0"/>
              </a:spcBef>
            </a:pPr>
            <a:r>
              <a:rPr lang="en-US" altLang="en-US" b="1" dirty="0">
                <a:latin typeface="Arial" panose="020B0604020202020204" pitchFamily="34" charset="0"/>
              </a:rPr>
              <a:t>REFERENCE FOR MORE ON ORIGINS OF TAKT TIME:</a:t>
            </a:r>
            <a:r>
              <a:rPr lang="en-US" altLang="en-US" dirty="0">
                <a:latin typeface="Arial" panose="020B0604020202020204" pitchFamily="34" charset="0"/>
              </a:rPr>
              <a:t> </a:t>
            </a:r>
            <a:br>
              <a:rPr lang="en-US" altLang="en-US" dirty="0">
                <a:latin typeface="Arial" panose="020B0604020202020204" pitchFamily="34" charset="0"/>
              </a:rPr>
            </a:br>
            <a:r>
              <a:rPr lang="en-US" altLang="en-US" dirty="0">
                <a:latin typeface="Arial" panose="020B0604020202020204" pitchFamily="34" charset="0"/>
              </a:rPr>
              <a:t>This term is an interesting example of a word moving from region to region until it is now becoming standard in German, Japanese, and English. The word itself, meaning a precision interval of time, as in musical meter, was first introduced in German industry as it embraced mass production in the 1930s. German aircraft firms moved aircraft fuselages ahead to the next workstation at steady intervals determined by the Takt time. Mitsubishi imported the term in its German form for its own aircraft production efforts in Japan and the term was later taken up by Toyota. It has only crept into English in the last decade as lean thinking has spread. For the historical details see </a:t>
            </a:r>
            <a:r>
              <a:rPr lang="en-US" altLang="en-US" dirty="0" err="1">
                <a:latin typeface="Arial" panose="020B0604020202020204" pitchFamily="34" charset="0"/>
              </a:rPr>
              <a:t>Kazou</a:t>
            </a:r>
            <a:r>
              <a:rPr lang="en-US" altLang="en-US" dirty="0">
                <a:latin typeface="Arial" panose="020B0604020202020204" pitchFamily="34" charset="0"/>
              </a:rPr>
              <a:t> Wada, "The Emergence of the 'Flow Production' Method in Japan," in </a:t>
            </a:r>
            <a:r>
              <a:rPr lang="en-US" altLang="en-US" dirty="0" err="1">
                <a:latin typeface="Arial" panose="020B0604020202020204" pitchFamily="34" charset="0"/>
              </a:rPr>
              <a:t>Haruhito</a:t>
            </a:r>
            <a:r>
              <a:rPr lang="en-US" altLang="en-US" dirty="0">
                <a:latin typeface="Arial" panose="020B0604020202020204" pitchFamily="34" charset="0"/>
              </a:rPr>
              <a:t> </a:t>
            </a:r>
            <a:r>
              <a:rPr lang="en-US" altLang="en-US" dirty="0" err="1">
                <a:latin typeface="Arial" panose="020B0604020202020204" pitchFamily="34" charset="0"/>
              </a:rPr>
              <a:t>Shiomi</a:t>
            </a:r>
            <a:r>
              <a:rPr lang="en-US" altLang="en-US" dirty="0">
                <a:latin typeface="Arial" panose="020B0604020202020204" pitchFamily="34" charset="0"/>
              </a:rPr>
              <a:t> and Kazuo Wada, Fordism Transformed: The Development of Production Methods in the Automobile Industry (Oxford: Oxford University Press, 1995.</a:t>
            </a:r>
            <a:br>
              <a:rPr lang="en-US" altLang="en-US" dirty="0">
                <a:latin typeface="Arial" panose="020B0604020202020204" pitchFamily="34" charset="0"/>
              </a:rPr>
            </a:br>
            <a:r>
              <a:rPr lang="en-US" altLang="en-US" dirty="0">
                <a:latin typeface="Arial" panose="020B0604020202020204" pitchFamily="34" charset="0"/>
              </a:rPr>
              <a:t>Later research led to the information that the specific German production line in question was the one for the Junker airplane. </a:t>
            </a:r>
          </a:p>
          <a:p>
            <a:pPr>
              <a:lnSpc>
                <a:spcPct val="90000"/>
              </a:lnSpc>
            </a:pPr>
            <a:r>
              <a:rPr lang="en-US" altLang="en-US" dirty="0">
                <a:latin typeface="Arial" panose="020B0604020202020204" pitchFamily="34" charset="0"/>
              </a:rPr>
              <a:t>Source:</a:t>
            </a:r>
          </a:p>
          <a:p>
            <a:pPr>
              <a:lnSpc>
                <a:spcPct val="90000"/>
              </a:lnSpc>
            </a:pPr>
            <a:r>
              <a:rPr lang="en-US" altLang="en-US" dirty="0">
                <a:latin typeface="Arial" panose="020B0604020202020204" pitchFamily="34" charset="0"/>
              </a:rPr>
              <a:t>James P. Womack </a:t>
            </a:r>
          </a:p>
          <a:p>
            <a:pPr>
              <a:lnSpc>
                <a:spcPct val="90000"/>
              </a:lnSpc>
            </a:pPr>
            <a:r>
              <a:rPr lang="en-US" altLang="en-US" dirty="0">
                <a:latin typeface="Arial" panose="020B0604020202020204" pitchFamily="34" charset="0"/>
              </a:rPr>
              <a:t>and Daniel T. Jones,</a:t>
            </a:r>
          </a:p>
          <a:p>
            <a:pPr>
              <a:lnSpc>
                <a:spcPct val="90000"/>
              </a:lnSpc>
            </a:pPr>
            <a:r>
              <a:rPr lang="en-US" altLang="en-US" u="sng" dirty="0">
                <a:latin typeface="Arial" panose="020B0604020202020204" pitchFamily="34" charset="0"/>
              </a:rPr>
              <a:t>Lean Thinking, 1996</a:t>
            </a:r>
            <a:endParaRPr lang="en-US" altLang="en-US" dirty="0">
              <a:latin typeface="Arial" panose="020B0604020202020204" pitchFamily="34" charset="0"/>
            </a:endParaRPr>
          </a:p>
          <a:p>
            <a:pPr>
              <a:lnSpc>
                <a:spcPct val="90000"/>
              </a:lnSpc>
            </a:pPr>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TAKT time is defined as the rate at which you should produce one part based on the rate of sales to meet customer demand.  TAKT time should be expressed in seconds and is calculated by </a:t>
            </a:r>
            <a:r>
              <a:rPr lang="en-US" altLang="ja-JP" i="1" dirty="0">
                <a:latin typeface="Arial" panose="020B0604020202020204" pitchFamily="34" charset="0"/>
              </a:rPr>
              <a:t>(read the equation).</a:t>
            </a:r>
            <a:r>
              <a:rPr lang="ja-JP" altLang="en-US" i="1" dirty="0">
                <a:latin typeface="Arial" panose="020B0604020202020204" pitchFamily="34" charset="0"/>
              </a:rPr>
              <a:t>”</a:t>
            </a:r>
            <a:endParaRPr lang="en-US" altLang="ja-JP" i="1" dirty="0">
              <a:latin typeface="Arial" panose="020B0604020202020204" pitchFamily="34" charset="0"/>
            </a:endParaRP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18</a:t>
            </a:fld>
            <a:endParaRPr lang="en-US"/>
          </a:p>
        </p:txBody>
      </p:sp>
    </p:spTree>
    <p:extLst>
      <p:ext uri="{BB962C8B-B14F-4D97-AF65-F5344CB8AC3E}">
        <p14:creationId xmlns:p14="http://schemas.microsoft.com/office/powerpoint/2010/main" val="39890833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 </a:t>
            </a:r>
            <a:r>
              <a:rPr lang="en-US" altLang="en-US" dirty="0">
                <a:latin typeface="Arial" panose="020B0604020202020204" pitchFamily="34" charset="0"/>
              </a:rPr>
              <a:t>Review the definition for TAKT time here and the exact calculation. Here is a simple template you can use to properly categorize the elements of TAKT time.  Your actual calculation may be a little more difficult, but will follow the same fundamentals.</a:t>
            </a:r>
          </a:p>
          <a:p>
            <a:endParaRPr lang="en-US" altLang="en-US" dirty="0">
              <a:latin typeface="Arial" panose="020B0604020202020204" pitchFamily="34" charset="0"/>
            </a:endParaRPr>
          </a:p>
          <a:p>
            <a:r>
              <a:rPr lang="en-US" altLang="en-US" b="1" dirty="0">
                <a:latin typeface="Arial" panose="020B0604020202020204" pitchFamily="34" charset="0"/>
              </a:rPr>
              <a:t>DO: </a:t>
            </a:r>
            <a:r>
              <a:rPr lang="en-US" altLang="en-US" dirty="0">
                <a:latin typeface="Arial" panose="020B0604020202020204" pitchFamily="34" charset="0"/>
              </a:rPr>
              <a:t>Based on the amount provided on the slide, 190 units for daily demand, the TAKT Time equation would be:</a:t>
            </a:r>
          </a:p>
          <a:p>
            <a:endParaRPr lang="en-US" altLang="en-US" dirty="0">
              <a:latin typeface="Arial" panose="020B0604020202020204" pitchFamily="34" charset="0"/>
            </a:endParaRPr>
          </a:p>
          <a:p>
            <a:r>
              <a:rPr lang="en-US" altLang="en-US" dirty="0">
                <a:latin typeface="Arial" panose="020B0604020202020204" pitchFamily="34" charset="0"/>
              </a:rPr>
              <a:t>450 min avail x 60 sec = 27,000 sec per shift</a:t>
            </a:r>
          </a:p>
          <a:p>
            <a:r>
              <a:rPr lang="en-US" altLang="en-US" dirty="0">
                <a:latin typeface="Arial" panose="020B0604020202020204" pitchFamily="34" charset="0"/>
              </a:rPr>
              <a:t>27,000 sec/190 units/shift = 143 seconds</a:t>
            </a:r>
          </a:p>
          <a:p>
            <a:endParaRPr lang="en-US" altLang="en-US" dirty="0">
              <a:latin typeface="Arial" panose="020B0604020202020204" pitchFamily="34" charset="0"/>
            </a:endParaRPr>
          </a:p>
          <a:p>
            <a:r>
              <a:rPr lang="en-US" altLang="en-US" dirty="0">
                <a:latin typeface="Arial" panose="020B0604020202020204" pitchFamily="34" charset="0"/>
              </a:rPr>
              <a:t>TAKT Time = 143 seconds per piece (meaning the customer needs us to make one unit every 143 seconds)</a:t>
            </a: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19</a:t>
            </a:fld>
            <a:endParaRPr lang="en-US"/>
          </a:p>
        </p:txBody>
      </p:sp>
    </p:spTree>
    <p:extLst>
      <p:ext uri="{BB962C8B-B14F-4D97-AF65-F5344CB8AC3E}">
        <p14:creationId xmlns:p14="http://schemas.microsoft.com/office/powerpoint/2010/main" val="26140970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Review definitions on the slide and then speak specifically to each type on the following slides. </a:t>
            </a:r>
          </a:p>
          <a:p>
            <a:r>
              <a:rPr lang="en-US" altLang="en-US" b="1" dirty="0">
                <a:latin typeface="Arial" panose="020B0604020202020204" pitchFamily="34" charset="0"/>
              </a:rPr>
              <a:t>SAY:</a:t>
            </a:r>
            <a:r>
              <a:rPr lang="en-US" altLang="en-US" dirty="0">
                <a:latin typeface="Arial" panose="020B0604020202020204" pitchFamily="34" charset="0"/>
              </a:rPr>
              <a:t>  Equipment could be a fax machine, copy machine, printer, etc.</a:t>
            </a:r>
          </a:p>
        </p:txBody>
      </p:sp>
      <p:sp>
        <p:nvSpPr>
          <p:cNvPr id="4" name="Slide Number Placeholder 3"/>
          <p:cNvSpPr>
            <a:spLocks noGrp="1"/>
          </p:cNvSpPr>
          <p:nvPr>
            <p:ph type="sldNum" sz="quarter" idx="5"/>
          </p:nvPr>
        </p:nvSpPr>
        <p:spPr/>
        <p:txBody>
          <a:bodyPr/>
          <a:lstStyle/>
          <a:p>
            <a:fld id="{AECD8548-F1A2-4EDF-A416-5F2BB6B8F64C}" type="slidenum">
              <a:rPr lang="en-US" smtClean="0"/>
              <a:t>20</a:t>
            </a:fld>
            <a:endParaRPr lang="en-US"/>
          </a:p>
        </p:txBody>
      </p:sp>
    </p:spTree>
    <p:extLst>
      <p:ext uri="{BB962C8B-B14F-4D97-AF65-F5344CB8AC3E}">
        <p14:creationId xmlns:p14="http://schemas.microsoft.com/office/powerpoint/2010/main" val="24459809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The Associate process time is the time it takes an Associate to complete one full process in his/her assigned work sequence.</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21</a:t>
            </a:fld>
            <a:endParaRPr lang="en-US"/>
          </a:p>
        </p:txBody>
      </p:sp>
    </p:spTree>
    <p:extLst>
      <p:ext uri="{BB962C8B-B14F-4D97-AF65-F5344CB8AC3E}">
        <p14:creationId xmlns:p14="http://schemas.microsoft.com/office/powerpoint/2010/main" val="38729214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In calculating Equipment process time remember that this has nothing to do with the Associate.  It is the time it takes a piece of equipment to completely finish one full process.</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r>
              <a:rPr lang="en-US" altLang="en-US" b="1" dirty="0">
                <a:latin typeface="Arial" panose="020B0604020202020204" pitchFamily="34" charset="0"/>
              </a:rPr>
              <a:t>NOTE</a:t>
            </a:r>
            <a:r>
              <a:rPr lang="en-US" altLang="en-US" dirty="0">
                <a:latin typeface="Arial" panose="020B0604020202020204" pitchFamily="34" charset="0"/>
              </a:rPr>
              <a:t>:  People commonly confuse the time required for a report to run in the background with operator process time (processing time).  They need to know the difference.</a:t>
            </a:r>
          </a:p>
          <a:p>
            <a:endParaRPr lang="en-US" altLang="en-US" dirty="0">
              <a:latin typeface="Arial" panose="020B0604020202020204" pitchFamily="34" charset="0"/>
            </a:endParaRPr>
          </a:p>
          <a:p>
            <a:r>
              <a:rPr lang="en-US" altLang="en-US" dirty="0">
                <a:latin typeface="Arial" panose="020B0604020202020204" pitchFamily="34" charset="0"/>
              </a:rPr>
              <a:t>Example: think of a washing machine for your clothes.  The machine does the work and rarely do we stand there and assist or watch it.  The time the machine spends washing the clothes is the equipment process time and is separate from the time spent by the person who loads/unloads the machine.</a:t>
            </a: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22</a:t>
            </a:fld>
            <a:endParaRPr lang="en-US"/>
          </a:p>
        </p:txBody>
      </p:sp>
    </p:spTree>
    <p:extLst>
      <p:ext uri="{BB962C8B-B14F-4D97-AF65-F5344CB8AC3E}">
        <p14:creationId xmlns:p14="http://schemas.microsoft.com/office/powerpoint/2010/main" val="41155624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The third type of process time to define is Processing process time. The equipment process time plus the manual time it takes the Associate to unload, load and process start the equipment</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23</a:t>
            </a:fld>
            <a:endParaRPr lang="en-US"/>
          </a:p>
        </p:txBody>
      </p:sp>
    </p:spTree>
    <p:extLst>
      <p:ext uri="{BB962C8B-B14F-4D97-AF65-F5344CB8AC3E}">
        <p14:creationId xmlns:p14="http://schemas.microsoft.com/office/powerpoint/2010/main" val="34002203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200" b="1" dirty="0">
                <a:latin typeface="Arial" panose="020B0604020202020204" pitchFamily="34" charset="0"/>
              </a:rPr>
              <a:t>ANSWERS:</a:t>
            </a:r>
            <a:r>
              <a:rPr lang="en-US" altLang="en-US" sz="1200" dirty="0">
                <a:latin typeface="Arial" panose="020B0604020202020204" pitchFamily="34" charset="0"/>
              </a:rPr>
              <a:t> (post on a chart paper or whiteboard in the room)</a:t>
            </a:r>
          </a:p>
          <a:p>
            <a:r>
              <a:rPr lang="en-US" altLang="en-US" sz="1200" dirty="0">
                <a:latin typeface="Arial" panose="020B0604020202020204" pitchFamily="34" charset="0"/>
              </a:rPr>
              <a:t>Total Associate Process Time: Total Associate Process time is the sum of the time it takes to process the print request on the computer and send to plotter, to check the quality of the print, and the time to process the release form</a:t>
            </a:r>
          </a:p>
          <a:p>
            <a:endParaRPr lang="en-US" altLang="en-US" sz="1200" dirty="0">
              <a:latin typeface="Arial" panose="020B0604020202020204" pitchFamily="34" charset="0"/>
            </a:endParaRPr>
          </a:p>
          <a:p>
            <a:r>
              <a:rPr lang="en-US" altLang="en-US" sz="1200" dirty="0">
                <a:latin typeface="Arial" panose="020B0604020202020204" pitchFamily="34" charset="0"/>
              </a:rPr>
              <a:t>Process request on computer:  	6 minutes</a:t>
            </a:r>
          </a:p>
          <a:p>
            <a:r>
              <a:rPr lang="en-US" altLang="en-US" sz="1200" dirty="0">
                <a:latin typeface="Arial" panose="020B0604020202020204" pitchFamily="34" charset="0"/>
              </a:rPr>
              <a:t>Check Quality of print		3 minutes</a:t>
            </a:r>
          </a:p>
          <a:p>
            <a:r>
              <a:rPr lang="en-US" altLang="en-US" sz="1200" u="sng" dirty="0">
                <a:latin typeface="Arial" panose="020B0604020202020204" pitchFamily="34" charset="0"/>
              </a:rPr>
              <a:t>Process drawing release	:   	6 minutes </a:t>
            </a:r>
          </a:p>
          <a:p>
            <a:r>
              <a:rPr lang="en-US" altLang="en-US" sz="1200" dirty="0">
                <a:latin typeface="Arial" panose="020B0604020202020204" pitchFamily="34" charset="0"/>
              </a:rPr>
              <a:t>Total                                 	15 minutes </a:t>
            </a:r>
          </a:p>
          <a:p>
            <a:endParaRPr lang="en-US" altLang="en-US" sz="1200" dirty="0">
              <a:latin typeface="Arial" panose="020B0604020202020204" pitchFamily="34" charset="0"/>
            </a:endParaRPr>
          </a:p>
          <a:p>
            <a:r>
              <a:rPr lang="en-US" altLang="en-US" sz="1200" dirty="0">
                <a:latin typeface="Arial" panose="020B0604020202020204" pitchFamily="34" charset="0"/>
              </a:rPr>
              <a:t>Processing Time for plotter: The processing time for the plotter is the plotting time itself.  The downloading of the next job is done during the plotter run time.  </a:t>
            </a:r>
          </a:p>
          <a:p>
            <a:r>
              <a:rPr lang="en-US" altLang="en-US" sz="1200" dirty="0">
                <a:latin typeface="Arial" panose="020B0604020202020204" pitchFamily="34" charset="0"/>
              </a:rPr>
              <a:t>So, 10 minutes.</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24</a:t>
            </a:fld>
            <a:endParaRPr lang="en-US"/>
          </a:p>
        </p:txBody>
      </p:sp>
    </p:spTree>
    <p:extLst>
      <p:ext uri="{BB962C8B-B14F-4D97-AF65-F5344CB8AC3E}">
        <p14:creationId xmlns:p14="http://schemas.microsoft.com/office/powerpoint/2010/main" val="5925373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NOTE:</a:t>
            </a:r>
            <a:r>
              <a:rPr lang="en-US" altLang="en-US" dirty="0">
                <a:latin typeface="Arial" panose="020B0604020202020204" pitchFamily="34" charset="0"/>
              </a:rPr>
              <a:t> The information on this slide corresponds to the exercise on the previous slide. </a:t>
            </a: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25</a:t>
            </a:fld>
            <a:endParaRPr lang="en-US"/>
          </a:p>
        </p:txBody>
      </p:sp>
    </p:spTree>
    <p:extLst>
      <p:ext uri="{BB962C8B-B14F-4D97-AF65-F5344CB8AC3E}">
        <p14:creationId xmlns:p14="http://schemas.microsoft.com/office/powerpoint/2010/main" val="4444534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 </a:t>
            </a:r>
            <a:r>
              <a:rPr lang="en-US" altLang="en-US" dirty="0">
                <a:latin typeface="Arial" panose="020B0604020202020204" pitchFamily="34" charset="0"/>
              </a:rPr>
              <a:t>First have the class work in pairs to answer the question. Call on people for the answers. Discuss. </a:t>
            </a:r>
          </a:p>
          <a:p>
            <a:r>
              <a:rPr lang="en-US" altLang="en-US" b="1" dirty="0">
                <a:latin typeface="Arial" panose="020B0604020202020204" pitchFamily="34" charset="0"/>
              </a:rPr>
              <a:t>ANSWERS: </a:t>
            </a:r>
            <a:r>
              <a:rPr lang="en-US" altLang="en-US" dirty="0">
                <a:latin typeface="Arial" panose="020B0604020202020204" pitchFamily="34" charset="0"/>
              </a:rPr>
              <a:t>Some options:  Work overtime, kaizen the process to understand the process time of the bottleneck equipment, work additional shifts</a:t>
            </a:r>
          </a:p>
          <a:p>
            <a:r>
              <a:rPr lang="en-US" altLang="en-US" b="1" dirty="0">
                <a:latin typeface="Arial" panose="020B0604020202020204" pitchFamily="34" charset="0"/>
              </a:rPr>
              <a:t>NOTE: </a:t>
            </a:r>
            <a:r>
              <a:rPr lang="en-US" altLang="en-US" dirty="0">
                <a:latin typeface="Arial" panose="020B0604020202020204" pitchFamily="34" charset="0"/>
              </a:rPr>
              <a:t>The term </a:t>
            </a:r>
            <a:r>
              <a:rPr lang="ja-JP" altLang="en-US" dirty="0">
                <a:latin typeface="Arial" panose="020B0604020202020204" pitchFamily="34" charset="0"/>
              </a:rPr>
              <a:t>“</a:t>
            </a:r>
            <a:r>
              <a:rPr lang="en-US" altLang="ja-JP" dirty="0">
                <a:latin typeface="Arial" panose="020B0604020202020204" pitchFamily="34" charset="0"/>
              </a:rPr>
              <a:t>bottleneck</a:t>
            </a:r>
            <a:r>
              <a:rPr lang="ja-JP" altLang="en-US" dirty="0">
                <a:latin typeface="Arial" panose="020B0604020202020204" pitchFamily="34" charset="0"/>
              </a:rPr>
              <a:t>”</a:t>
            </a:r>
            <a:r>
              <a:rPr lang="en-US" altLang="ja-JP" dirty="0">
                <a:latin typeface="Arial" panose="020B0604020202020204" pitchFamily="34" charset="0"/>
              </a:rPr>
              <a:t> refers to the process/machine where processing time is greater than TAKT time. When flow is in place, each process must be able to product to TAKT time or less in order to meet customer demand. </a:t>
            </a: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26</a:t>
            </a:fld>
            <a:endParaRPr lang="en-US"/>
          </a:p>
        </p:txBody>
      </p:sp>
    </p:spTree>
    <p:extLst>
      <p:ext uri="{BB962C8B-B14F-4D97-AF65-F5344CB8AC3E}">
        <p14:creationId xmlns:p14="http://schemas.microsoft.com/office/powerpoint/2010/main" val="32584369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Review objectives of the section.</a:t>
            </a:r>
          </a:p>
          <a:p>
            <a:r>
              <a:rPr lang="en-US" altLang="en-US" b="1" dirty="0">
                <a:latin typeface="Arial" panose="020B0604020202020204" pitchFamily="34" charset="0"/>
              </a:rPr>
              <a:t>NOTE:</a:t>
            </a:r>
            <a:r>
              <a:rPr lang="en-US" altLang="en-US" dirty="0">
                <a:latin typeface="Arial" panose="020B0604020202020204" pitchFamily="34" charset="0"/>
              </a:rPr>
              <a:t> Work flow refers to the unit of information or transaction that is being processed (</a:t>
            </a:r>
            <a:r>
              <a:rPr lang="en-US" altLang="en-US" dirty="0" err="1">
                <a:latin typeface="Arial" panose="020B0604020202020204" pitchFamily="34" charset="0"/>
              </a:rPr>
              <a:t>ie</a:t>
            </a:r>
            <a:r>
              <a:rPr lang="en-US" altLang="en-US" dirty="0">
                <a:latin typeface="Arial" panose="020B0604020202020204" pitchFamily="34" charset="0"/>
              </a:rPr>
              <a:t>: invoice, receipt, application, spec sheet, </a:t>
            </a:r>
            <a:r>
              <a:rPr lang="en-US" altLang="en-US" dirty="0" err="1">
                <a:latin typeface="Arial" panose="020B0604020202020204" pitchFamily="34" charset="0"/>
              </a:rPr>
              <a:t>etc</a:t>
            </a:r>
            <a:r>
              <a:rPr lang="en-US" altLang="en-US" dirty="0">
                <a:latin typeface="Arial" panose="020B0604020202020204" pitchFamily="34" charset="0"/>
              </a:rPr>
              <a:t>).</a:t>
            </a: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27</a:t>
            </a:fld>
            <a:endParaRPr lang="en-US"/>
          </a:p>
        </p:txBody>
      </p:sp>
    </p:spTree>
    <p:extLst>
      <p:ext uri="{BB962C8B-B14F-4D97-AF65-F5344CB8AC3E}">
        <p14:creationId xmlns:p14="http://schemas.microsoft.com/office/powerpoint/2010/main" val="37842444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Work sequence is defined as the specific order in which an Associate performs the manual steps of a process for one transaction or unit of work.</a:t>
            </a:r>
            <a:r>
              <a:rPr lang="ja-JP" altLang="en-US" dirty="0">
                <a:latin typeface="Arial" panose="020B0604020202020204" pitchFamily="34" charset="0"/>
              </a:rPr>
              <a:t>”</a:t>
            </a:r>
            <a:r>
              <a:rPr lang="en-US" altLang="ja-JP" dirty="0">
                <a:latin typeface="Arial" panose="020B0604020202020204" pitchFamily="34" charset="0"/>
              </a:rPr>
              <a:t>  </a:t>
            </a: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28</a:t>
            </a:fld>
            <a:endParaRPr lang="en-US"/>
          </a:p>
        </p:txBody>
      </p:sp>
    </p:spTree>
    <p:extLst>
      <p:ext uri="{BB962C8B-B14F-4D97-AF65-F5344CB8AC3E}">
        <p14:creationId xmlns:p14="http://schemas.microsoft.com/office/powerpoint/2010/main" val="43407651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To determine the number of associates needed, sum the total Associate Process times and divide by the TAKT time. This result is the number of associates required to produce at TAKT time.</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29</a:t>
            </a:fld>
            <a:endParaRPr lang="en-US"/>
          </a:p>
        </p:txBody>
      </p:sp>
    </p:spTree>
    <p:extLst>
      <p:ext uri="{BB962C8B-B14F-4D97-AF65-F5344CB8AC3E}">
        <p14:creationId xmlns:p14="http://schemas.microsoft.com/office/powerpoint/2010/main" val="42428312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In most cases, when the number of Associates needed is calculated, the result will not be a whole number.  The recommended staffing based on the calculation is: </a:t>
            </a:r>
            <a:r>
              <a:rPr lang="en-US" altLang="ja-JP" i="1" dirty="0">
                <a:latin typeface="Arial" panose="020B0604020202020204" pitchFamily="34" charset="0"/>
              </a:rPr>
              <a:t>(read chart).  </a:t>
            </a:r>
            <a:r>
              <a:rPr lang="en-US" altLang="ja-JP" dirty="0">
                <a:latin typeface="Arial" panose="020B0604020202020204" pitchFamily="34" charset="0"/>
              </a:rPr>
              <a:t>In the early stages this guideline can be very helpful.  Many times people, in their zest to make change, will remove any and all fractional heads.  Recommendation is to not fall into that trap. This will help ensure a high probability of success.</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30</a:t>
            </a:fld>
            <a:endParaRPr lang="en-US"/>
          </a:p>
        </p:txBody>
      </p:sp>
    </p:spTree>
    <p:extLst>
      <p:ext uri="{BB962C8B-B14F-4D97-AF65-F5344CB8AC3E}">
        <p14:creationId xmlns:p14="http://schemas.microsoft.com/office/powerpoint/2010/main" val="39365013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We will now do some exercises to demonstrate the interaction between TAKT time, number of Associates and work sequence for each Associate.  Remember to pick up raw material (RM) and place the finished good (FG) into the finished good container.</a:t>
            </a:r>
            <a:r>
              <a:rPr lang="ja-JP" altLang="en-US" dirty="0">
                <a:latin typeface="Arial" panose="020B0604020202020204" pitchFamily="34" charset="0"/>
              </a:rPr>
              <a:t>”</a:t>
            </a:r>
            <a:r>
              <a:rPr lang="en-US" altLang="ja-JP" dirty="0">
                <a:latin typeface="Arial" panose="020B0604020202020204" pitchFamily="34" charset="0"/>
              </a:rPr>
              <a:t>  </a:t>
            </a: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31</a:t>
            </a:fld>
            <a:endParaRPr lang="en-US"/>
          </a:p>
        </p:txBody>
      </p:sp>
    </p:spTree>
    <p:extLst>
      <p:ext uri="{BB962C8B-B14F-4D97-AF65-F5344CB8AC3E}">
        <p14:creationId xmlns:p14="http://schemas.microsoft.com/office/powerpoint/2010/main" val="309726538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1" dirty="0">
                <a:ea typeface="+mn-ea"/>
              </a:rPr>
              <a:t>ANSWERS:</a:t>
            </a:r>
          </a:p>
          <a:p>
            <a:pPr>
              <a:defRPr/>
            </a:pPr>
            <a:r>
              <a:rPr lang="en-US" dirty="0">
                <a:ea typeface="+mn-ea"/>
              </a:rPr>
              <a:t>450 x 60 = 27,000 sec available time</a:t>
            </a:r>
          </a:p>
          <a:p>
            <a:pPr>
              <a:defRPr/>
            </a:pPr>
            <a:r>
              <a:rPr lang="en-US" b="1" dirty="0">
                <a:ea typeface="+mn-ea"/>
              </a:rPr>
              <a:t>Takt Time = 27,000/18 invoices = 1,500 seconds</a:t>
            </a:r>
          </a:p>
          <a:p>
            <a:pPr>
              <a:defRPr/>
            </a:pPr>
            <a:endParaRPr lang="en-US" dirty="0">
              <a:ea typeface="+mn-ea"/>
            </a:endParaRPr>
          </a:p>
          <a:p>
            <a:pPr>
              <a:defRPr/>
            </a:pPr>
            <a:r>
              <a:rPr lang="en-US" dirty="0">
                <a:ea typeface="+mn-ea"/>
              </a:rPr>
              <a:t>Associate 1:	Receives  3.5min (210sec)</a:t>
            </a:r>
          </a:p>
          <a:p>
            <a:pPr>
              <a:defRPr/>
            </a:pPr>
            <a:r>
              <a:rPr lang="en-US" dirty="0">
                <a:ea typeface="+mn-ea"/>
              </a:rPr>
              <a:t>	Data Entry, Verification  9 min (540sec)</a:t>
            </a:r>
          </a:p>
          <a:p>
            <a:pPr>
              <a:defRPr/>
            </a:pPr>
            <a:r>
              <a:rPr lang="en-US" dirty="0">
                <a:ea typeface="+mn-ea"/>
              </a:rPr>
              <a:t>	Process Check  7.5 min (450sec)</a:t>
            </a:r>
          </a:p>
          <a:p>
            <a:pPr>
              <a:defRPr/>
            </a:pPr>
            <a:r>
              <a:rPr lang="en-US" dirty="0">
                <a:ea typeface="+mn-ea"/>
              </a:rPr>
              <a:t>	</a:t>
            </a:r>
            <a:r>
              <a:rPr lang="en-US" u="sng" dirty="0">
                <a:ea typeface="+mn-ea"/>
              </a:rPr>
              <a:t>Mail check  5 min (300sec)</a:t>
            </a:r>
          </a:p>
          <a:p>
            <a:pPr>
              <a:defRPr/>
            </a:pPr>
            <a:r>
              <a:rPr lang="en-US" dirty="0">
                <a:ea typeface="+mn-ea"/>
              </a:rPr>
              <a:t>	Total:  25 min process time for associate #1 (1,500sec)</a:t>
            </a:r>
          </a:p>
          <a:p>
            <a:pPr>
              <a:defRPr/>
            </a:pPr>
            <a:endParaRPr lang="en-US" dirty="0">
              <a:ea typeface="+mn-ea"/>
            </a:endParaRPr>
          </a:p>
          <a:p>
            <a:pPr>
              <a:defRPr/>
            </a:pPr>
            <a:r>
              <a:rPr lang="en-US" dirty="0">
                <a:ea typeface="+mn-ea"/>
              </a:rPr>
              <a:t>Number of Associates = </a:t>
            </a:r>
            <a:r>
              <a:rPr lang="en-US" dirty="0">
                <a:effectLst>
                  <a:outerShdw blurRad="38100" dist="38100" dir="2700000" algn="tl">
                    <a:srgbClr val="C0C0C0"/>
                  </a:outerShdw>
                </a:effectLst>
                <a:ea typeface="+mn-ea"/>
              </a:rPr>
              <a:t>(Sum of process times)/(takt time) </a:t>
            </a:r>
            <a:r>
              <a:rPr lang="en-US" dirty="0">
                <a:ea typeface="+mn-ea"/>
              </a:rPr>
              <a:t>= (210 + 540 +450+ 300)/1500</a:t>
            </a:r>
          </a:p>
          <a:p>
            <a:pPr>
              <a:defRPr/>
            </a:pPr>
            <a:endParaRPr lang="en-US" dirty="0">
              <a:ea typeface="+mn-ea"/>
            </a:endParaRPr>
          </a:p>
          <a:p>
            <a:pPr>
              <a:defRPr/>
            </a:pPr>
            <a:r>
              <a:rPr lang="en-US" b="1" dirty="0">
                <a:solidFill>
                  <a:srgbClr val="0070C0"/>
                </a:solidFill>
                <a:ea typeface="+mn-ea"/>
              </a:rPr>
              <a:t># of Associates =1,500sec/1,500sec = 1 associate</a:t>
            </a:r>
          </a:p>
          <a:p>
            <a:pPr>
              <a:defRPr/>
            </a:pPr>
            <a:endParaRPr lang="en-US" dirty="0">
              <a:ea typeface="+mn-ea"/>
            </a:endParaRPr>
          </a:p>
          <a:p>
            <a:pPr>
              <a:defRPr/>
            </a:pPr>
            <a:endParaRPr lang="en-US" dirty="0">
              <a:ea typeface="+mn-ea"/>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32</a:t>
            </a:fld>
            <a:endParaRPr lang="en-US"/>
          </a:p>
        </p:txBody>
      </p:sp>
    </p:spTree>
    <p:extLst>
      <p:ext uri="{BB962C8B-B14F-4D97-AF65-F5344CB8AC3E}">
        <p14:creationId xmlns:p14="http://schemas.microsoft.com/office/powerpoint/2010/main" val="10689849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ANSWERS:</a:t>
            </a:r>
          </a:p>
          <a:p>
            <a:r>
              <a:rPr lang="en-US" altLang="en-US" dirty="0">
                <a:latin typeface="Arial" panose="020B0604020202020204" pitchFamily="34" charset="0"/>
              </a:rPr>
              <a:t>Takt Time = 750 seconds (12.5 minutes)</a:t>
            </a:r>
          </a:p>
          <a:p>
            <a:endParaRPr lang="en-US" altLang="en-US" dirty="0">
              <a:latin typeface="Arial" panose="020B0604020202020204" pitchFamily="34" charset="0"/>
            </a:endParaRPr>
          </a:p>
          <a:p>
            <a:r>
              <a:rPr lang="en-US" altLang="en-US" dirty="0">
                <a:latin typeface="Arial" panose="020B0604020202020204" pitchFamily="34" charset="0"/>
              </a:rPr>
              <a:t>Number of Associates = (Sum of process times)/(takt time) = (210 +540+ 450 + 300)/750 seconds</a:t>
            </a:r>
          </a:p>
          <a:p>
            <a:endParaRPr lang="en-US" altLang="en-US" dirty="0">
              <a:latin typeface="Arial" panose="020B0604020202020204" pitchFamily="34" charset="0"/>
            </a:endParaRPr>
          </a:p>
          <a:p>
            <a:r>
              <a:rPr lang="en-US" altLang="en-US" dirty="0">
                <a:latin typeface="Arial" panose="020B0604020202020204" pitchFamily="34" charset="0"/>
              </a:rPr>
              <a:t>Number of Associates = 1500sec/750sec = 2 operator</a:t>
            </a:r>
          </a:p>
          <a:p>
            <a:endParaRPr lang="en-US" altLang="en-US" dirty="0">
              <a:latin typeface="Arial" panose="020B0604020202020204" pitchFamily="34" charset="0"/>
            </a:endParaRPr>
          </a:p>
          <a:p>
            <a:r>
              <a:rPr lang="en-US" altLang="en-US" dirty="0">
                <a:latin typeface="Arial" panose="020B0604020202020204" pitchFamily="34" charset="0"/>
              </a:rPr>
              <a:t>Associate 1:	Receives  3.5min (210sec)</a:t>
            </a:r>
          </a:p>
          <a:p>
            <a:r>
              <a:rPr lang="en-US" altLang="en-US" dirty="0">
                <a:latin typeface="Arial" panose="020B0604020202020204" pitchFamily="34" charset="0"/>
              </a:rPr>
              <a:t>	</a:t>
            </a:r>
            <a:r>
              <a:rPr lang="en-US" altLang="en-US" u="sng" dirty="0">
                <a:latin typeface="Arial" panose="020B0604020202020204" pitchFamily="34" charset="0"/>
              </a:rPr>
              <a:t>Data Entry, Verification  9 min (540sec)</a:t>
            </a:r>
          </a:p>
          <a:p>
            <a:r>
              <a:rPr lang="en-US" altLang="en-US" dirty="0">
                <a:latin typeface="Arial" panose="020B0604020202020204" pitchFamily="34" charset="0"/>
              </a:rPr>
              <a:t>	Total:  12.5 min process time (750sec)</a:t>
            </a:r>
          </a:p>
          <a:p>
            <a:endParaRPr lang="en-US" altLang="en-US" dirty="0">
              <a:latin typeface="Arial" panose="020B0604020202020204" pitchFamily="34" charset="0"/>
            </a:endParaRPr>
          </a:p>
          <a:p>
            <a:r>
              <a:rPr lang="en-US" altLang="en-US" dirty="0">
                <a:latin typeface="Arial" panose="020B0604020202020204" pitchFamily="34" charset="0"/>
              </a:rPr>
              <a:t>Associate 2:	Process Check  7.5 min (450sec)</a:t>
            </a:r>
          </a:p>
          <a:p>
            <a:r>
              <a:rPr lang="en-US" altLang="en-US" dirty="0">
                <a:latin typeface="Arial" panose="020B0604020202020204" pitchFamily="34" charset="0"/>
              </a:rPr>
              <a:t>	</a:t>
            </a:r>
            <a:r>
              <a:rPr lang="en-US" altLang="en-US" u="sng" dirty="0">
                <a:latin typeface="Arial" panose="020B0604020202020204" pitchFamily="34" charset="0"/>
              </a:rPr>
              <a:t>Mail check  5 min (300sec)</a:t>
            </a:r>
          </a:p>
          <a:p>
            <a:r>
              <a:rPr lang="en-US" altLang="en-US" dirty="0">
                <a:latin typeface="Arial" panose="020B0604020202020204" pitchFamily="34" charset="0"/>
              </a:rPr>
              <a:t>	Total:  12.5 min process time (750sec)</a:t>
            </a: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33</a:t>
            </a:fld>
            <a:endParaRPr lang="en-US"/>
          </a:p>
        </p:txBody>
      </p:sp>
    </p:spTree>
    <p:extLst>
      <p:ext uri="{BB962C8B-B14F-4D97-AF65-F5344CB8AC3E}">
        <p14:creationId xmlns:p14="http://schemas.microsoft.com/office/powerpoint/2010/main" val="292578127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Review objectives of the section.</a:t>
            </a: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34</a:t>
            </a:fld>
            <a:endParaRPr lang="en-US"/>
          </a:p>
        </p:txBody>
      </p:sp>
    </p:spTree>
    <p:extLst>
      <p:ext uri="{BB962C8B-B14F-4D97-AF65-F5344CB8AC3E}">
        <p14:creationId xmlns:p14="http://schemas.microsoft.com/office/powerpoint/2010/main" val="222523495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A common term used in standard work is Standard Work-in-Process.  The common abbreviations are WIP or SWIP.  Standard WIP is defined as the amount of jobs/work required on the line that will allow the Associate to flow efficiently.</a:t>
            </a:r>
            <a:r>
              <a:rPr lang="ja-JP" altLang="en-US" dirty="0">
                <a:latin typeface="Arial" panose="020B0604020202020204" pitchFamily="34" charset="0"/>
              </a:rPr>
              <a:t>”</a:t>
            </a:r>
            <a:r>
              <a:rPr lang="en-US" altLang="ja-JP" dirty="0">
                <a:latin typeface="Arial" panose="020B0604020202020204" pitchFamily="34" charset="0"/>
              </a:rPr>
              <a:t> </a:t>
            </a: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35</a:t>
            </a:fld>
            <a:endParaRPr lang="en-US"/>
          </a:p>
        </p:txBody>
      </p:sp>
    </p:spTree>
    <p:extLst>
      <p:ext uri="{BB962C8B-B14F-4D97-AF65-F5344CB8AC3E}">
        <p14:creationId xmlns:p14="http://schemas.microsoft.com/office/powerpoint/2010/main" val="88907263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For this layout the Standard WIP is 3 pieces.  </a:t>
            </a:r>
          </a:p>
          <a:p>
            <a:r>
              <a:rPr lang="en-US" altLang="en-US" dirty="0">
                <a:latin typeface="Arial" panose="020B0604020202020204" pitchFamily="34" charset="0"/>
              </a:rPr>
              <a:t>As and example, Plotting machine process time is 10 minutes.  During the process time of the plotter, the associate will be Mailing out the previous print request(5 min) and Retrieving the next print request(5 min).  Thus, a need for 1 WIP at both Retrieve Print and Mail Routing, while 1 WIP is being processed in the Plotter.  Total of 3.</a:t>
            </a:r>
          </a:p>
          <a:p>
            <a:endParaRPr lang="en-US" altLang="en-US" dirty="0">
              <a:latin typeface="Arial" panose="020B0604020202020204" pitchFamily="34" charset="0"/>
            </a:endParaRPr>
          </a:p>
          <a:p>
            <a:r>
              <a:rPr lang="en-US" altLang="en-US" dirty="0">
                <a:latin typeface="Arial" panose="020B0604020202020204" pitchFamily="34" charset="0"/>
              </a:rPr>
              <a:t>Later we will explain the process for determining how many and where to place the Standard WIP.  During the long plotting process, Mail routing is prepared and next print request is processed.</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36</a:t>
            </a:fld>
            <a:endParaRPr lang="en-US"/>
          </a:p>
        </p:txBody>
      </p:sp>
    </p:spTree>
    <p:extLst>
      <p:ext uri="{BB962C8B-B14F-4D97-AF65-F5344CB8AC3E}">
        <p14:creationId xmlns:p14="http://schemas.microsoft.com/office/powerpoint/2010/main" val="183057306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Review objectives of the section.</a:t>
            </a:r>
          </a:p>
          <a:p>
            <a:endParaRPr lang="en-US" altLang="en-US" dirty="0">
              <a:latin typeface="Arial" panose="020B0604020202020204" pitchFamily="34" charset="0"/>
            </a:endParaRP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 Process Capacity Sheet is rarely applied in administrative standard work.  It gauges if the current equipment has the appropriate throughput capacity.</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37</a:t>
            </a:fld>
            <a:endParaRPr lang="en-US"/>
          </a:p>
        </p:txBody>
      </p:sp>
    </p:spTree>
    <p:extLst>
      <p:ext uri="{BB962C8B-B14F-4D97-AF65-F5344CB8AC3E}">
        <p14:creationId xmlns:p14="http://schemas.microsoft.com/office/powerpoint/2010/main" val="231960165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There are five forms used for documenting standard work: Time Observation Form, Process Capacity Form, Standard Work Combination Sheet, Standard Work Sheet and the Associate Loading Chart. We will now review the contents of each of these forms.</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r>
              <a:rPr lang="en-US" altLang="en-US" dirty="0">
                <a:latin typeface="Arial" panose="020B0604020202020204" pitchFamily="34" charset="0"/>
              </a:rPr>
              <a:t>Without the completed Standard Work documentation there is no Standard Work.</a:t>
            </a: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38</a:t>
            </a:fld>
            <a:endParaRPr lang="en-US"/>
          </a:p>
        </p:txBody>
      </p:sp>
    </p:spTree>
    <p:extLst>
      <p:ext uri="{BB962C8B-B14F-4D97-AF65-F5344CB8AC3E}">
        <p14:creationId xmlns:p14="http://schemas.microsoft.com/office/powerpoint/2010/main" val="254138293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 </a:t>
            </a:r>
            <a:r>
              <a:rPr lang="ja-JP" altLang="en-US" dirty="0">
                <a:latin typeface="Arial" panose="020B0604020202020204" pitchFamily="34" charset="0"/>
              </a:rPr>
              <a:t>“</a:t>
            </a:r>
            <a:r>
              <a:rPr lang="en-US" altLang="ja-JP" dirty="0">
                <a:latin typeface="Arial" panose="020B0604020202020204" pitchFamily="34" charset="0"/>
              </a:rPr>
              <a:t>The first form is the Time Observation Form. It is used to document the process time of the operator. The expectation is you can monitor the operator for 7–10 </a:t>
            </a:r>
            <a:r>
              <a:rPr lang="en-US" altLang="ja-JP" dirty="0" err="1">
                <a:latin typeface="Arial" panose="020B0604020202020204" pitchFamily="34" charset="0"/>
              </a:rPr>
              <a:t>processs</a:t>
            </a:r>
            <a:r>
              <a:rPr lang="en-US" altLang="ja-JP" dirty="0">
                <a:latin typeface="Arial" panose="020B0604020202020204" pitchFamily="34" charset="0"/>
              </a:rPr>
              <a:t> of the operator executing a task.  You will record the lowest observable task time as the observed time to complete a task. </a:t>
            </a:r>
            <a:r>
              <a:rPr lang="en-US" altLang="ja-JP" b="1" dirty="0">
                <a:latin typeface="Arial" panose="020B0604020202020204" pitchFamily="34" charset="0"/>
              </a:rPr>
              <a:t>This assumes you do find abnormalities during the observation. </a:t>
            </a:r>
            <a:r>
              <a:rPr lang="en-US" altLang="ja-JP" dirty="0">
                <a:latin typeface="Arial" panose="020B0604020202020204" pitchFamily="34" charset="0"/>
              </a:rPr>
              <a:t>An abnormality may be something like the operator misses a step and is then able to have an observable time well below the other observable times.  The Time Observation form is a key input to the Standard Work Combination Sheet.</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r>
              <a:rPr lang="en-US" altLang="en-US" b="1" dirty="0">
                <a:latin typeface="Arial" panose="020B0604020202020204" pitchFamily="34" charset="0"/>
              </a:rPr>
              <a:t>NOTE: </a:t>
            </a:r>
            <a:r>
              <a:rPr lang="ja-JP" altLang="en-US" dirty="0">
                <a:latin typeface="Arial" panose="020B0604020202020204" pitchFamily="34" charset="0"/>
              </a:rPr>
              <a:t>“</a:t>
            </a:r>
            <a:r>
              <a:rPr lang="en-US" altLang="ja-JP" dirty="0">
                <a:latin typeface="Arial" panose="020B0604020202020204" pitchFamily="34" charset="0"/>
              </a:rPr>
              <a:t>The reason we take the lowest observable time and not the lowest </a:t>
            </a:r>
            <a:r>
              <a:rPr lang="ja-JP" altLang="en-US" dirty="0">
                <a:latin typeface="Arial" panose="020B0604020202020204" pitchFamily="34" charset="0"/>
              </a:rPr>
              <a:t>“</a:t>
            </a:r>
            <a:r>
              <a:rPr lang="en-US" altLang="ja-JP" dirty="0">
                <a:latin typeface="Arial" panose="020B0604020202020204" pitchFamily="34" charset="0"/>
              </a:rPr>
              <a:t>repeatable task time</a:t>
            </a:r>
            <a:r>
              <a:rPr lang="ja-JP" altLang="en-US" dirty="0">
                <a:latin typeface="Arial" panose="020B0604020202020204" pitchFamily="34" charset="0"/>
              </a:rPr>
              <a:t>”</a:t>
            </a:r>
            <a:r>
              <a:rPr lang="en-US" altLang="ja-JP" dirty="0">
                <a:latin typeface="Arial" panose="020B0604020202020204" pitchFamily="34" charset="0"/>
              </a:rPr>
              <a:t> is because Standard Work is a tool used for improvement. If the operators were observed being able to do a task at a certain time (barring any abnormalities that would discount the observation), then that time should be used as the benchmark to strive towards. Standard Work is a tool used for improvement, not documentation.</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39</a:t>
            </a:fld>
            <a:endParaRPr lang="en-US"/>
          </a:p>
        </p:txBody>
      </p:sp>
    </p:spTree>
    <p:extLst>
      <p:ext uri="{BB962C8B-B14F-4D97-AF65-F5344CB8AC3E}">
        <p14:creationId xmlns:p14="http://schemas.microsoft.com/office/powerpoint/2010/main" val="263365190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The first step in completing the time observation form is to record the process step in sequence.</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40</a:t>
            </a:fld>
            <a:endParaRPr lang="en-US"/>
          </a:p>
        </p:txBody>
      </p:sp>
    </p:spTree>
    <p:extLst>
      <p:ext uri="{BB962C8B-B14F-4D97-AF65-F5344CB8AC3E}">
        <p14:creationId xmlns:p14="http://schemas.microsoft.com/office/powerpoint/2010/main" val="279943243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Then, using a running stopwatch, record the time when each task is completed. If you miss one time, keep going.</a:t>
            </a:r>
            <a:r>
              <a:rPr lang="ja-JP" altLang="en-US" dirty="0">
                <a:latin typeface="Arial" panose="020B0604020202020204" pitchFamily="34" charset="0"/>
              </a:rPr>
              <a:t>”</a:t>
            </a:r>
            <a:r>
              <a:rPr lang="en-US" altLang="ja-JP" dirty="0">
                <a:latin typeface="Arial" panose="020B0604020202020204" pitchFamily="34" charset="0"/>
              </a:rPr>
              <a:t>  </a:t>
            </a: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41</a:t>
            </a:fld>
            <a:endParaRPr lang="en-US"/>
          </a:p>
        </p:txBody>
      </p:sp>
    </p:spTree>
    <p:extLst>
      <p:ext uri="{BB962C8B-B14F-4D97-AF65-F5344CB8AC3E}">
        <p14:creationId xmlns:p14="http://schemas.microsoft.com/office/powerpoint/2010/main" val="72272505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pPr>
            <a:r>
              <a:rPr lang="en-US" altLang="en-US" b="1" dirty="0">
                <a:latin typeface="Arial" panose="020B0604020202020204" pitchFamily="34" charset="0"/>
              </a:rPr>
              <a:t>SAY: </a:t>
            </a:r>
            <a:r>
              <a:rPr lang="ja-JP" altLang="en-US" dirty="0">
                <a:solidFill>
                  <a:srgbClr val="FF0000"/>
                </a:solidFill>
                <a:latin typeface="Arial" panose="020B0604020202020204" pitchFamily="34" charset="0"/>
              </a:rPr>
              <a:t>“</a:t>
            </a:r>
            <a:r>
              <a:rPr lang="en-US" altLang="ja-JP" dirty="0">
                <a:solidFill>
                  <a:srgbClr val="FF0000"/>
                </a:solidFill>
                <a:latin typeface="Arial" panose="020B0604020202020204" pitchFamily="34" charset="0"/>
              </a:rPr>
              <a:t>Now, place the lowest observable time to complete each process step into the column </a:t>
            </a:r>
            <a:r>
              <a:rPr lang="ja-JP" altLang="en-US" dirty="0">
                <a:solidFill>
                  <a:srgbClr val="FF0000"/>
                </a:solidFill>
                <a:latin typeface="Arial" panose="020B0604020202020204" pitchFamily="34" charset="0"/>
              </a:rPr>
              <a:t>“</a:t>
            </a:r>
            <a:r>
              <a:rPr lang="en-US" altLang="ja-JP" dirty="0">
                <a:solidFill>
                  <a:srgbClr val="FF0000"/>
                </a:solidFill>
                <a:latin typeface="Arial" panose="020B0604020202020204" pitchFamily="34" charset="0"/>
              </a:rPr>
              <a:t>Lowest Elemental Time.</a:t>
            </a:r>
            <a:r>
              <a:rPr lang="ja-JP" altLang="en-US" dirty="0">
                <a:solidFill>
                  <a:srgbClr val="FF0000"/>
                </a:solidFill>
                <a:latin typeface="Arial" panose="020B0604020202020204" pitchFamily="34" charset="0"/>
              </a:rPr>
              <a:t>”</a:t>
            </a:r>
            <a:r>
              <a:rPr lang="en-US" altLang="ja-JP" dirty="0">
                <a:solidFill>
                  <a:srgbClr val="FF0000"/>
                </a:solidFill>
                <a:latin typeface="Arial" panose="020B0604020202020204" pitchFamily="34" charset="0"/>
              </a:rPr>
              <a:t> Then add those times in that </a:t>
            </a:r>
            <a:r>
              <a:rPr lang="ja-JP" altLang="en-US" dirty="0">
                <a:solidFill>
                  <a:srgbClr val="FF0000"/>
                </a:solidFill>
                <a:latin typeface="Arial" panose="020B0604020202020204" pitchFamily="34" charset="0"/>
              </a:rPr>
              <a:t>“</a:t>
            </a:r>
            <a:r>
              <a:rPr lang="en-US" altLang="ja-JP" dirty="0">
                <a:solidFill>
                  <a:srgbClr val="FF0000"/>
                </a:solidFill>
                <a:latin typeface="Arial" panose="020B0604020202020204" pitchFamily="34" charset="0"/>
              </a:rPr>
              <a:t>Lowest Elemental Time</a:t>
            </a:r>
            <a:r>
              <a:rPr lang="ja-JP" altLang="en-US" dirty="0">
                <a:solidFill>
                  <a:srgbClr val="FF0000"/>
                </a:solidFill>
                <a:latin typeface="Arial" panose="020B0604020202020204" pitchFamily="34" charset="0"/>
              </a:rPr>
              <a:t>”</a:t>
            </a:r>
            <a:r>
              <a:rPr lang="en-US" altLang="ja-JP" dirty="0">
                <a:solidFill>
                  <a:srgbClr val="FF0000"/>
                </a:solidFill>
                <a:latin typeface="Arial" panose="020B0604020202020204" pitchFamily="34" charset="0"/>
              </a:rPr>
              <a:t> column and post the sum in the bottom row of that column (in our case 25 secs).  Look at the bottom row labeled </a:t>
            </a:r>
            <a:r>
              <a:rPr lang="ja-JP" altLang="en-US" dirty="0">
                <a:solidFill>
                  <a:srgbClr val="FF0000"/>
                </a:solidFill>
                <a:latin typeface="Arial" panose="020B0604020202020204" pitchFamily="34" charset="0"/>
              </a:rPr>
              <a:t>“</a:t>
            </a:r>
            <a:r>
              <a:rPr lang="en-US" altLang="ja-JP" dirty="0">
                <a:solidFill>
                  <a:srgbClr val="FF0000"/>
                </a:solidFill>
                <a:latin typeface="Arial" panose="020B0604020202020204" pitchFamily="34" charset="0"/>
              </a:rPr>
              <a:t>Time for 1 process</a:t>
            </a:r>
            <a:r>
              <a:rPr lang="ja-JP" altLang="en-US" dirty="0">
                <a:solidFill>
                  <a:srgbClr val="FF0000"/>
                </a:solidFill>
                <a:latin typeface="Arial" panose="020B0604020202020204" pitchFamily="34" charset="0"/>
              </a:rPr>
              <a:t>”</a:t>
            </a:r>
            <a:r>
              <a:rPr lang="en-US" altLang="ja-JP" dirty="0">
                <a:solidFill>
                  <a:srgbClr val="FF0000"/>
                </a:solidFill>
                <a:latin typeface="Arial" panose="020B0604020202020204" pitchFamily="34" charset="0"/>
              </a:rPr>
              <a:t>, find the shortest process and post that number in bottom row of the column labeled </a:t>
            </a:r>
            <a:r>
              <a:rPr lang="ja-JP" altLang="en-US" dirty="0">
                <a:solidFill>
                  <a:srgbClr val="FF0000"/>
                </a:solidFill>
                <a:latin typeface="Arial" panose="020B0604020202020204" pitchFamily="34" charset="0"/>
              </a:rPr>
              <a:t>“</a:t>
            </a:r>
            <a:r>
              <a:rPr lang="en-US" altLang="ja-JP" dirty="0">
                <a:solidFill>
                  <a:srgbClr val="FF0000"/>
                </a:solidFill>
                <a:latin typeface="Arial" panose="020B0604020202020204" pitchFamily="34" charset="0"/>
              </a:rPr>
              <a:t>Adjusted elemental time</a:t>
            </a:r>
            <a:r>
              <a:rPr lang="ja-JP" altLang="en-US" dirty="0">
                <a:solidFill>
                  <a:srgbClr val="FF0000"/>
                </a:solidFill>
                <a:latin typeface="Arial" panose="020B0604020202020204" pitchFamily="34" charset="0"/>
              </a:rPr>
              <a:t>”</a:t>
            </a:r>
            <a:r>
              <a:rPr lang="en-US" altLang="ja-JP" dirty="0">
                <a:solidFill>
                  <a:srgbClr val="FF0000"/>
                </a:solidFill>
                <a:latin typeface="Arial" panose="020B0604020202020204" pitchFamily="34" charset="0"/>
              </a:rPr>
              <a:t>.  Compare the sum of the lowest elemental times to the lowest </a:t>
            </a:r>
            <a:r>
              <a:rPr lang="ja-JP" altLang="en-US" dirty="0">
                <a:solidFill>
                  <a:srgbClr val="FF0000"/>
                </a:solidFill>
                <a:latin typeface="Arial" panose="020B0604020202020204" pitchFamily="34" charset="0"/>
              </a:rPr>
              <a:t>“</a:t>
            </a:r>
            <a:r>
              <a:rPr lang="en-US" altLang="ja-JP" dirty="0">
                <a:solidFill>
                  <a:srgbClr val="FF0000"/>
                </a:solidFill>
                <a:latin typeface="Arial" panose="020B0604020202020204" pitchFamily="34" charset="0"/>
              </a:rPr>
              <a:t>Time for 1 process</a:t>
            </a:r>
            <a:r>
              <a:rPr lang="ja-JP" altLang="en-US" dirty="0">
                <a:solidFill>
                  <a:srgbClr val="FF0000"/>
                </a:solidFill>
                <a:latin typeface="Arial" panose="020B0604020202020204" pitchFamily="34" charset="0"/>
              </a:rPr>
              <a:t>”</a:t>
            </a:r>
            <a:r>
              <a:rPr lang="en-US" altLang="ja-JP" dirty="0">
                <a:solidFill>
                  <a:srgbClr val="FF0000"/>
                </a:solidFill>
                <a:latin typeface="Arial" panose="020B0604020202020204" pitchFamily="34" charset="0"/>
              </a:rPr>
              <a:t>.  If the sum in the </a:t>
            </a:r>
            <a:r>
              <a:rPr lang="ja-JP" altLang="en-US" dirty="0">
                <a:solidFill>
                  <a:srgbClr val="FF0000"/>
                </a:solidFill>
                <a:latin typeface="Arial" panose="020B0604020202020204" pitchFamily="34" charset="0"/>
              </a:rPr>
              <a:t>“</a:t>
            </a:r>
            <a:r>
              <a:rPr lang="en-US" altLang="ja-JP" dirty="0">
                <a:solidFill>
                  <a:srgbClr val="FF0000"/>
                </a:solidFill>
                <a:latin typeface="Arial" panose="020B0604020202020204" pitchFamily="34" charset="0"/>
              </a:rPr>
              <a:t>Lowest Elemental Time</a:t>
            </a:r>
            <a:r>
              <a:rPr lang="ja-JP" altLang="en-US" dirty="0">
                <a:solidFill>
                  <a:srgbClr val="FF0000"/>
                </a:solidFill>
                <a:latin typeface="Arial" panose="020B0604020202020204" pitchFamily="34" charset="0"/>
              </a:rPr>
              <a:t>”</a:t>
            </a:r>
            <a:r>
              <a:rPr lang="en-US" altLang="ja-JP" dirty="0">
                <a:solidFill>
                  <a:srgbClr val="FF0000"/>
                </a:solidFill>
                <a:latin typeface="Arial" panose="020B0604020202020204" pitchFamily="34" charset="0"/>
              </a:rPr>
              <a:t> column is less than the lowest </a:t>
            </a:r>
            <a:r>
              <a:rPr lang="ja-JP" altLang="en-US" dirty="0">
                <a:solidFill>
                  <a:srgbClr val="FF0000"/>
                </a:solidFill>
                <a:latin typeface="Arial" panose="020B0604020202020204" pitchFamily="34" charset="0"/>
              </a:rPr>
              <a:t>“</a:t>
            </a:r>
            <a:r>
              <a:rPr lang="en-US" altLang="ja-JP" dirty="0">
                <a:solidFill>
                  <a:srgbClr val="FF0000"/>
                </a:solidFill>
                <a:latin typeface="Arial" panose="020B0604020202020204" pitchFamily="34" charset="0"/>
              </a:rPr>
              <a:t>Time for 1 process</a:t>
            </a:r>
            <a:r>
              <a:rPr lang="ja-JP" altLang="en-US" dirty="0">
                <a:solidFill>
                  <a:srgbClr val="FF0000"/>
                </a:solidFill>
                <a:latin typeface="Arial" panose="020B0604020202020204" pitchFamily="34" charset="0"/>
              </a:rPr>
              <a:t>”</a:t>
            </a:r>
            <a:r>
              <a:rPr lang="en-US" altLang="ja-JP" dirty="0">
                <a:solidFill>
                  <a:srgbClr val="FF0000"/>
                </a:solidFill>
                <a:latin typeface="Arial" panose="020B0604020202020204" pitchFamily="34" charset="0"/>
              </a:rPr>
              <a:t>, post the difference in the last row of the column labeled </a:t>
            </a:r>
            <a:r>
              <a:rPr lang="ja-JP" altLang="en-US" dirty="0">
                <a:solidFill>
                  <a:srgbClr val="FF0000"/>
                </a:solidFill>
                <a:latin typeface="Arial" panose="020B0604020202020204" pitchFamily="34" charset="0"/>
              </a:rPr>
              <a:t>“</a:t>
            </a:r>
            <a:r>
              <a:rPr lang="en-US" altLang="ja-JP" dirty="0">
                <a:solidFill>
                  <a:srgbClr val="FF0000"/>
                </a:solidFill>
                <a:latin typeface="Arial" panose="020B0604020202020204" pitchFamily="34" charset="0"/>
              </a:rPr>
              <a:t>Adjustment</a:t>
            </a:r>
            <a:r>
              <a:rPr lang="ja-JP" altLang="en-US" dirty="0">
                <a:solidFill>
                  <a:srgbClr val="FF0000"/>
                </a:solidFill>
                <a:latin typeface="Arial" panose="020B0604020202020204" pitchFamily="34" charset="0"/>
              </a:rPr>
              <a:t>”</a:t>
            </a:r>
            <a:r>
              <a:rPr lang="en-US" altLang="ja-JP" dirty="0">
                <a:solidFill>
                  <a:srgbClr val="FF0000"/>
                </a:solidFill>
                <a:latin typeface="Arial" panose="020B0604020202020204" pitchFamily="34" charset="0"/>
              </a:rPr>
              <a:t>.  Also, post that number in the </a:t>
            </a:r>
            <a:r>
              <a:rPr lang="ja-JP" altLang="en-US" dirty="0">
                <a:solidFill>
                  <a:srgbClr val="FF0000"/>
                </a:solidFill>
                <a:latin typeface="Arial" panose="020B0604020202020204" pitchFamily="34" charset="0"/>
              </a:rPr>
              <a:t>“</a:t>
            </a:r>
            <a:r>
              <a:rPr lang="en-US" altLang="ja-JP" dirty="0">
                <a:solidFill>
                  <a:srgbClr val="FF0000"/>
                </a:solidFill>
                <a:latin typeface="Arial" panose="020B0604020202020204" pitchFamily="34" charset="0"/>
              </a:rPr>
              <a:t>Adjustment</a:t>
            </a:r>
            <a:r>
              <a:rPr lang="ja-JP" altLang="en-US" dirty="0">
                <a:solidFill>
                  <a:srgbClr val="FF0000"/>
                </a:solidFill>
                <a:latin typeface="Arial" panose="020B0604020202020204" pitchFamily="34" charset="0"/>
              </a:rPr>
              <a:t>”</a:t>
            </a:r>
            <a:r>
              <a:rPr lang="en-US" altLang="ja-JP" dirty="0">
                <a:solidFill>
                  <a:srgbClr val="FF0000"/>
                </a:solidFill>
                <a:latin typeface="Arial" panose="020B0604020202020204" pitchFamily="34" charset="0"/>
              </a:rPr>
              <a:t> column next to the larger* elemental time(s).  Then post the total of each Lowest Elemental Time and its Adjustment in the </a:t>
            </a:r>
            <a:r>
              <a:rPr lang="ja-JP" altLang="en-US" dirty="0">
                <a:solidFill>
                  <a:srgbClr val="FF0000"/>
                </a:solidFill>
                <a:latin typeface="Arial" panose="020B0604020202020204" pitchFamily="34" charset="0"/>
              </a:rPr>
              <a:t>“</a:t>
            </a:r>
            <a:r>
              <a:rPr lang="en-US" altLang="ja-JP" dirty="0">
                <a:solidFill>
                  <a:srgbClr val="FF0000"/>
                </a:solidFill>
                <a:latin typeface="Arial" panose="020B0604020202020204" pitchFamily="34" charset="0"/>
              </a:rPr>
              <a:t>Adjusted Elemental Time</a:t>
            </a:r>
            <a:r>
              <a:rPr lang="ja-JP" altLang="en-US" dirty="0">
                <a:solidFill>
                  <a:srgbClr val="FF0000"/>
                </a:solidFill>
                <a:latin typeface="Arial" panose="020B0604020202020204" pitchFamily="34" charset="0"/>
              </a:rPr>
              <a:t>”</a:t>
            </a:r>
            <a:r>
              <a:rPr lang="en-US" altLang="ja-JP" dirty="0">
                <a:solidFill>
                  <a:srgbClr val="FF0000"/>
                </a:solidFill>
                <a:latin typeface="Arial" panose="020B0604020202020204" pitchFamily="34" charset="0"/>
              </a:rPr>
              <a:t> column and assure that the actual sum of Adjusted Elemental Times matches the number we posted in the last row of the </a:t>
            </a:r>
            <a:r>
              <a:rPr lang="ja-JP" altLang="en-US" dirty="0">
                <a:solidFill>
                  <a:srgbClr val="FF0000"/>
                </a:solidFill>
                <a:latin typeface="Arial" panose="020B0604020202020204" pitchFamily="34" charset="0"/>
              </a:rPr>
              <a:t>“</a:t>
            </a:r>
            <a:r>
              <a:rPr lang="en-US" altLang="ja-JP" dirty="0">
                <a:solidFill>
                  <a:srgbClr val="FF0000"/>
                </a:solidFill>
                <a:latin typeface="Arial" panose="020B0604020202020204" pitchFamily="34" charset="0"/>
              </a:rPr>
              <a:t>Adjusted Elemental Time</a:t>
            </a:r>
            <a:r>
              <a:rPr lang="ja-JP" altLang="en-US" dirty="0">
                <a:solidFill>
                  <a:srgbClr val="FF0000"/>
                </a:solidFill>
                <a:latin typeface="Arial" panose="020B0604020202020204" pitchFamily="34" charset="0"/>
              </a:rPr>
              <a:t>”</a:t>
            </a:r>
            <a:r>
              <a:rPr lang="en-US" altLang="ja-JP" dirty="0">
                <a:solidFill>
                  <a:srgbClr val="FF0000"/>
                </a:solidFill>
                <a:latin typeface="Arial" panose="020B0604020202020204" pitchFamily="34" charset="0"/>
              </a:rPr>
              <a:t> column. </a:t>
            </a:r>
          </a:p>
          <a:p>
            <a:pPr>
              <a:lnSpc>
                <a:spcPct val="90000"/>
              </a:lnSpc>
            </a:pPr>
            <a:r>
              <a:rPr lang="en-US" altLang="en-US" dirty="0">
                <a:solidFill>
                  <a:srgbClr val="FF0000"/>
                </a:solidFill>
                <a:latin typeface="Arial" panose="020B0604020202020204" pitchFamily="34" charset="0"/>
              </a:rPr>
              <a:t>* We do it to the larger since the % effect is the smallest there.</a:t>
            </a:r>
            <a:r>
              <a:rPr lang="ja-JP" altLang="en-US" dirty="0">
                <a:solidFill>
                  <a:srgbClr val="FF0000"/>
                </a:solidFill>
                <a:latin typeface="Arial" panose="020B0604020202020204" pitchFamily="34" charset="0"/>
              </a:rPr>
              <a:t>”</a:t>
            </a:r>
            <a:endParaRPr lang="en-US" altLang="ja-JP" dirty="0">
              <a:solidFill>
                <a:srgbClr val="FF0000"/>
              </a:solidFill>
              <a:latin typeface="Arial" panose="020B0604020202020204" pitchFamily="34" charset="0"/>
            </a:endParaRPr>
          </a:p>
          <a:p>
            <a:pPr>
              <a:lnSpc>
                <a:spcPct val="90000"/>
              </a:lnSpc>
            </a:pPr>
            <a:endParaRPr lang="en-US" altLang="en-US" dirty="0">
              <a:solidFill>
                <a:srgbClr val="FF0000"/>
              </a:solidFill>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42</a:t>
            </a:fld>
            <a:endParaRPr lang="en-US"/>
          </a:p>
        </p:txBody>
      </p:sp>
    </p:spTree>
    <p:extLst>
      <p:ext uri="{BB962C8B-B14F-4D97-AF65-F5344CB8AC3E}">
        <p14:creationId xmlns:p14="http://schemas.microsoft.com/office/powerpoint/2010/main" val="149615507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The Time Observation sheet needs to be completed for each Associate. Don</a:t>
            </a:r>
            <a:r>
              <a:rPr lang="ja-JP" altLang="en-US" dirty="0">
                <a:latin typeface="Arial" panose="020B0604020202020204" pitchFamily="34" charset="0"/>
              </a:rPr>
              <a:t>’</a:t>
            </a:r>
            <a:r>
              <a:rPr lang="en-US" altLang="ja-JP" dirty="0">
                <a:latin typeface="Arial" panose="020B0604020202020204" pitchFamily="34" charset="0"/>
              </a:rPr>
              <a:t>t hesitate to allow the Associate to observe other Associates doing the task. Though it is noble for you to try to perform the tasks, do so at a different time; unless you maintain current certification for the task, do not use your time in the time observations. Keep the stopwatch running so if you miss a time you can keep going. Have logical observation points for each process step. It is okay to note ideas for kaizen on your sheet, they will be discussed later. Note abnormalities spotted during the observation.</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43</a:t>
            </a:fld>
            <a:endParaRPr lang="en-US"/>
          </a:p>
        </p:txBody>
      </p:sp>
    </p:spTree>
    <p:extLst>
      <p:ext uri="{BB962C8B-B14F-4D97-AF65-F5344CB8AC3E}">
        <p14:creationId xmlns:p14="http://schemas.microsoft.com/office/powerpoint/2010/main" val="190717164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The Standard Work Combination Sheet is the graphical representation of the interaction between the Associate and the equipment. The Standard Work Combination Sheet provides the repeatable standard for the Associates to follow. There is a comparison relative between the process times and the TAKT time, and it provides an opportunity to identify areas for improvement.</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44</a:t>
            </a:fld>
            <a:endParaRPr lang="en-US"/>
          </a:p>
        </p:txBody>
      </p:sp>
    </p:spTree>
    <p:extLst>
      <p:ext uri="{BB962C8B-B14F-4D97-AF65-F5344CB8AC3E}">
        <p14:creationId xmlns:p14="http://schemas.microsoft.com/office/powerpoint/2010/main" val="37050809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The Standard Work Combination Sheet looks like this. The first operation is to pick the raw material (2 seconds of manual time), then, operation #2 is to unload and start the mill. In this step, there are 4 seconds of manual time, 65 seconds of automatic time and three seconds of walk time to get to the third station. TAKT time is shown on the work combination sheet is shown in red. In this case the Associate can complete all tasks in 70 seconds, the TAKT time is 77 seconds. In this case, the Associate can complete all tasks in less than the TAKT time.</a:t>
            </a:r>
            <a:r>
              <a:rPr lang="ja-JP" altLang="en-US" dirty="0">
                <a:latin typeface="Arial" panose="020B0604020202020204" pitchFamily="34" charset="0"/>
              </a:rPr>
              <a:t>”</a:t>
            </a:r>
            <a:r>
              <a:rPr lang="en-US" altLang="ja-JP" dirty="0">
                <a:latin typeface="Arial" panose="020B0604020202020204" pitchFamily="34" charset="0"/>
              </a:rPr>
              <a:t>  </a:t>
            </a: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45</a:t>
            </a:fld>
            <a:endParaRPr lang="en-US"/>
          </a:p>
        </p:txBody>
      </p:sp>
    </p:spTree>
    <p:extLst>
      <p:ext uri="{BB962C8B-B14F-4D97-AF65-F5344CB8AC3E}">
        <p14:creationId xmlns:p14="http://schemas.microsoft.com/office/powerpoint/2010/main" val="230742368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Here are some tips for Standard Work Combination sheets. Use one sheet per Associate and post the sheet at the Associate</a:t>
            </a:r>
            <a:r>
              <a:rPr lang="ja-JP" altLang="en-US" dirty="0">
                <a:latin typeface="Arial" panose="020B0604020202020204" pitchFamily="34" charset="0"/>
              </a:rPr>
              <a:t>’</a:t>
            </a:r>
            <a:r>
              <a:rPr lang="en-US" altLang="ja-JP" dirty="0">
                <a:latin typeface="Arial" panose="020B0604020202020204" pitchFamily="34" charset="0"/>
              </a:rPr>
              <a:t>s work station.  Create playbooks for the various TAKT times at which you plan to operate. Always date your document.  Work Combination Sheets do not replace more detailed work instructions. As is the case with many of the Lean tools, use the combination sheets to highlight kaizen opportunities.</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46</a:t>
            </a:fld>
            <a:endParaRPr lang="en-US"/>
          </a:p>
        </p:txBody>
      </p:sp>
    </p:spTree>
    <p:extLst>
      <p:ext uri="{BB962C8B-B14F-4D97-AF65-F5344CB8AC3E}">
        <p14:creationId xmlns:p14="http://schemas.microsoft.com/office/powerpoint/2010/main" val="353728131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Similarly, in this case the current process exceeds the takt time by 74 seconds.  In order for the process to meet customer demand the processing time needs to be reduced by 25%</a:t>
            </a:r>
            <a:r>
              <a:rPr lang="ja-JP" altLang="en-US" dirty="0">
                <a:latin typeface="Arial" panose="020B0604020202020204" pitchFamily="34" charset="0"/>
              </a:rPr>
              <a:t>”</a:t>
            </a:r>
            <a:endParaRPr lang="en-US" altLang="en-US" b="1"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47</a:t>
            </a:fld>
            <a:endParaRPr lang="en-US"/>
          </a:p>
        </p:txBody>
      </p:sp>
    </p:spTree>
    <p:extLst>
      <p:ext uri="{BB962C8B-B14F-4D97-AF65-F5344CB8AC3E}">
        <p14:creationId xmlns:p14="http://schemas.microsoft.com/office/powerpoint/2010/main" val="363329304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b="1" dirty="0">
                <a:latin typeface="Arial" panose="020B0604020202020204" pitchFamily="34" charset="0"/>
              </a:rPr>
              <a:t>SAY: </a:t>
            </a:r>
            <a:r>
              <a:rPr lang="en-US" altLang="en-US" dirty="0">
                <a:latin typeface="Arial" panose="020B0604020202020204" pitchFamily="34" charset="0"/>
              </a:rPr>
              <a:t> In this case the opposite is true.  Here the Associate has a 64 second wait on each call.  A logical thing to do is to see if it is possible t shift work from the first call to the second call Associate to allow the overall operation to support the customers demand.</a:t>
            </a:r>
            <a:r>
              <a:rPr lang="ja-JP" altLang="en-US" dirty="0">
                <a:latin typeface="Arial" panose="020B0604020202020204" pitchFamily="34" charset="0"/>
              </a:rPr>
              <a:t>”</a:t>
            </a:r>
            <a:endParaRPr lang="en-US" altLang="en-US" b="1"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48</a:t>
            </a:fld>
            <a:endParaRPr lang="en-US"/>
          </a:p>
        </p:txBody>
      </p:sp>
    </p:spTree>
    <p:extLst>
      <p:ext uri="{BB962C8B-B14F-4D97-AF65-F5344CB8AC3E}">
        <p14:creationId xmlns:p14="http://schemas.microsoft.com/office/powerpoint/2010/main" val="136354609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b="1" dirty="0">
                <a:latin typeface="Arial" panose="020B0604020202020204" pitchFamily="34" charset="0"/>
              </a:rPr>
              <a:t>SAY: </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Here we see the same thing as the previous sheet.</a:t>
            </a:r>
            <a:r>
              <a:rPr lang="ja-JP" altLang="en-US" dirty="0">
                <a:latin typeface="Arial" panose="020B0604020202020204" pitchFamily="34" charset="0"/>
              </a:rPr>
              <a:t>”</a:t>
            </a:r>
            <a:endParaRPr lang="en-US" altLang="en-US" b="1"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49</a:t>
            </a:fld>
            <a:endParaRPr lang="en-US"/>
          </a:p>
        </p:txBody>
      </p:sp>
    </p:spTree>
    <p:extLst>
      <p:ext uri="{BB962C8B-B14F-4D97-AF65-F5344CB8AC3E}">
        <p14:creationId xmlns:p14="http://schemas.microsoft.com/office/powerpoint/2010/main" val="10692519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Here are some tips for Standard Work Combination sheets. Use one sheet per Associate and post the sheet at the Associate</a:t>
            </a:r>
            <a:r>
              <a:rPr lang="ja-JP" altLang="en-US" dirty="0">
                <a:latin typeface="Arial" panose="020B0604020202020204" pitchFamily="34" charset="0"/>
              </a:rPr>
              <a:t>’</a:t>
            </a:r>
            <a:r>
              <a:rPr lang="en-US" altLang="ja-JP" dirty="0">
                <a:latin typeface="Arial" panose="020B0604020202020204" pitchFamily="34" charset="0"/>
              </a:rPr>
              <a:t>s work station.  Create playbooks for the various TAKT times at which you plan to operate. Always date your document.  Work Combination Sheets do not replace more detailed work instructions. As is the case with many of the Lean tools, use the combination sheets to highlight kaizen opportunities.</a:t>
            </a:r>
            <a:r>
              <a:rPr lang="ja-JP" altLang="en-US" dirty="0">
                <a:latin typeface="Arial" panose="020B0604020202020204" pitchFamily="34" charset="0"/>
              </a:rPr>
              <a:t>”</a:t>
            </a:r>
            <a:endParaRPr lang="en-US" altLang="ja-JP">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50</a:t>
            </a:fld>
            <a:endParaRPr lang="en-US"/>
          </a:p>
        </p:txBody>
      </p:sp>
    </p:spTree>
    <p:extLst>
      <p:ext uri="{BB962C8B-B14F-4D97-AF65-F5344CB8AC3E}">
        <p14:creationId xmlns:p14="http://schemas.microsoft.com/office/powerpoint/2010/main" val="40312231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For each demand level, represented by the different TAKT times, the Standard Work Sheets represent a </a:t>
            </a:r>
            <a:r>
              <a:rPr lang="ja-JP" altLang="en-US" dirty="0">
                <a:latin typeface="Arial" panose="020B0604020202020204" pitchFamily="34" charset="0"/>
              </a:rPr>
              <a:t>‘</a:t>
            </a:r>
            <a:r>
              <a:rPr lang="en-US" altLang="ja-JP" dirty="0">
                <a:latin typeface="Arial" panose="020B0604020202020204" pitchFamily="34" charset="0"/>
              </a:rPr>
              <a:t>play.</a:t>
            </a:r>
            <a:r>
              <a:rPr lang="ja-JP" altLang="en-US" dirty="0">
                <a:latin typeface="Arial" panose="020B0604020202020204" pitchFamily="34" charset="0"/>
              </a:rPr>
              <a:t>’</a:t>
            </a:r>
            <a:r>
              <a:rPr lang="en-US" altLang="ja-JP" dirty="0">
                <a:latin typeface="Arial" panose="020B0604020202020204" pitchFamily="34" charset="0"/>
              </a:rPr>
              <a:t>  For each play, there are sets of Associate Loading Charts, Standard Work Combination Sheets, Standard Work Sheets and daily output goals.</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51</a:t>
            </a:fld>
            <a:endParaRPr lang="en-US"/>
          </a:p>
        </p:txBody>
      </p:sp>
    </p:spTree>
    <p:extLst>
      <p:ext uri="{BB962C8B-B14F-4D97-AF65-F5344CB8AC3E}">
        <p14:creationId xmlns:p14="http://schemas.microsoft.com/office/powerpoint/2010/main" val="57287835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Here is an example of a portion of a playbook that details how the number of Associates change when demand changes.</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52</a:t>
            </a:fld>
            <a:endParaRPr lang="en-US"/>
          </a:p>
        </p:txBody>
      </p:sp>
    </p:spTree>
    <p:extLst>
      <p:ext uri="{BB962C8B-B14F-4D97-AF65-F5344CB8AC3E}">
        <p14:creationId xmlns:p14="http://schemas.microsoft.com/office/powerpoint/2010/main" val="236648486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The Standard Work Sheet visually details the work sequence of an Associate and shows the Associate</a:t>
            </a:r>
            <a:r>
              <a:rPr lang="ja-JP" altLang="en-US" dirty="0">
                <a:latin typeface="Arial" panose="020B0604020202020204" pitchFamily="34" charset="0"/>
              </a:rPr>
              <a:t>’</a:t>
            </a:r>
            <a:r>
              <a:rPr lang="en-US" altLang="ja-JP" dirty="0">
                <a:latin typeface="Arial" panose="020B0604020202020204" pitchFamily="34" charset="0"/>
              </a:rPr>
              <a:t>s work sequence with respect to the physical work area. The Standard Work Sheet shows the Standard WIP requirements, gauge and safety conditions. These are useful in visually detailing Associate assignments and are an audit tool that should be used by supervisors. The Standard Work Sheet is also the tool to use to help train new Associates assigned to an area.</a:t>
            </a:r>
            <a:r>
              <a:rPr lang="ja-JP" altLang="en-US" dirty="0">
                <a:latin typeface="Arial" panose="020B0604020202020204" pitchFamily="34" charset="0"/>
              </a:rPr>
              <a:t>”</a:t>
            </a:r>
            <a:r>
              <a:rPr lang="en-US" altLang="ja-JP" dirty="0">
                <a:latin typeface="Arial" panose="020B0604020202020204" pitchFamily="34" charset="0"/>
              </a:rPr>
              <a:t> </a:t>
            </a: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53</a:t>
            </a:fld>
            <a:endParaRPr lang="en-US"/>
          </a:p>
        </p:txBody>
      </p:sp>
    </p:spTree>
    <p:extLst>
      <p:ext uri="{BB962C8B-B14F-4D97-AF65-F5344CB8AC3E}">
        <p14:creationId xmlns:p14="http://schemas.microsoft.com/office/powerpoint/2010/main" val="424127176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This chart highlights the Standard Work Sheet. Note the identification of the SWIP, key safety locations and sequence of the associate.</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54</a:t>
            </a:fld>
            <a:endParaRPr lang="en-US"/>
          </a:p>
        </p:txBody>
      </p:sp>
    </p:spTree>
    <p:extLst>
      <p:ext uri="{BB962C8B-B14F-4D97-AF65-F5344CB8AC3E}">
        <p14:creationId xmlns:p14="http://schemas.microsoft.com/office/powerpoint/2010/main" val="35128960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The next Standard Work document is the Associate Loading Chart. In this chart the process time for all Associates is detailed.  It compares the Associate process times to TAKT time. It allows the supervisor to understand manning requirements at a glance.  The Associate Loading Chart facilitates kaizen opportunities that may exist and incorporates the least Associate concept.</a:t>
            </a:r>
            <a:r>
              <a:rPr lang="ja-JP" altLang="en-US" dirty="0">
                <a:latin typeface="Arial" panose="020B0604020202020204" pitchFamily="34" charset="0"/>
              </a:rPr>
              <a:t>”</a:t>
            </a:r>
            <a:endParaRPr lang="en-US" altLang="ja-JP">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55</a:t>
            </a:fld>
            <a:endParaRPr lang="en-US"/>
          </a:p>
        </p:txBody>
      </p:sp>
    </p:spTree>
    <p:extLst>
      <p:ext uri="{BB962C8B-B14F-4D97-AF65-F5344CB8AC3E}">
        <p14:creationId xmlns:p14="http://schemas.microsoft.com/office/powerpoint/2010/main" val="402623640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pPr>
            <a:r>
              <a:rPr lang="en-US" altLang="en-US" b="1" dirty="0">
                <a:latin typeface="Arial" panose="020B0604020202020204" pitchFamily="34" charset="0"/>
              </a:rPr>
              <a:t>SAY: </a:t>
            </a:r>
            <a:r>
              <a:rPr lang="ja-JP" altLang="en-US" dirty="0">
                <a:latin typeface="Arial" panose="020B0604020202020204" pitchFamily="34" charset="0"/>
              </a:rPr>
              <a:t>“</a:t>
            </a:r>
            <a:r>
              <a:rPr lang="en-US" altLang="ja-JP" dirty="0">
                <a:latin typeface="Arial" panose="020B0604020202020204" pitchFamily="34" charset="0"/>
              </a:rPr>
              <a:t>This page should help understand Operator Loading Charts. The first graph shows the operator loads and the TAKT time. Note how operations A and C exceed TAKT time. Operator A &amp; C are items that should be addressed in kaizen activities. In the second chart, we show the traditional picture of the Operator Loading Chart as compared to TAKT time. In this case, each operator is equally loaded and is less than the TAKT time. In the least operator method the operators are loaded to TAKT time and the amount of work remaining is given to the least operator. </a:t>
            </a:r>
          </a:p>
          <a:p>
            <a:pPr>
              <a:lnSpc>
                <a:spcPct val="90000"/>
              </a:lnSpc>
            </a:pPr>
            <a:r>
              <a:rPr lang="en-US" altLang="en-US" dirty="0">
                <a:solidFill>
                  <a:srgbClr val="FF0000"/>
                </a:solidFill>
                <a:latin typeface="Arial" panose="020B0604020202020204" pitchFamily="34" charset="0"/>
              </a:rPr>
              <a:t>We always want to make opportunities for improvement visual – </a:t>
            </a:r>
            <a:r>
              <a:rPr lang="ja-JP" altLang="en-US" dirty="0">
                <a:solidFill>
                  <a:srgbClr val="FF0000"/>
                </a:solidFill>
                <a:latin typeface="Arial" panose="020B0604020202020204" pitchFamily="34" charset="0"/>
              </a:rPr>
              <a:t>“</a:t>
            </a:r>
            <a:r>
              <a:rPr lang="en-US" altLang="ja-JP" dirty="0">
                <a:solidFill>
                  <a:srgbClr val="FF0000"/>
                </a:solidFill>
                <a:latin typeface="Arial" panose="020B0604020202020204" pitchFamily="34" charset="0"/>
              </a:rPr>
              <a:t>Make it visual, make it ugly</a:t>
            </a:r>
            <a:r>
              <a:rPr lang="ja-JP" altLang="en-US" dirty="0">
                <a:solidFill>
                  <a:srgbClr val="FF0000"/>
                </a:solidFill>
                <a:latin typeface="Arial" panose="020B0604020202020204" pitchFamily="34" charset="0"/>
              </a:rPr>
              <a:t>”</a:t>
            </a:r>
            <a:r>
              <a:rPr lang="en-US" altLang="ja-JP" dirty="0">
                <a:solidFill>
                  <a:srgbClr val="FF0000"/>
                </a:solidFill>
                <a:latin typeface="Arial" panose="020B0604020202020204" pitchFamily="34" charset="0"/>
              </a:rPr>
              <a:t>.  When we use the one called </a:t>
            </a:r>
            <a:r>
              <a:rPr lang="ja-JP" altLang="en-US" dirty="0">
                <a:solidFill>
                  <a:srgbClr val="FF0000"/>
                </a:solidFill>
                <a:latin typeface="Arial" panose="020B0604020202020204" pitchFamily="34" charset="0"/>
              </a:rPr>
              <a:t>“</a:t>
            </a:r>
            <a:r>
              <a:rPr lang="en-US" altLang="ja-JP" dirty="0">
                <a:solidFill>
                  <a:srgbClr val="FF0000"/>
                </a:solidFill>
                <a:latin typeface="Arial" panose="020B0604020202020204" pitchFamily="34" charset="0"/>
              </a:rPr>
              <a:t>front loaded</a:t>
            </a:r>
            <a:r>
              <a:rPr lang="ja-JP" altLang="en-US" dirty="0">
                <a:solidFill>
                  <a:srgbClr val="FF0000"/>
                </a:solidFill>
                <a:latin typeface="Arial" panose="020B0604020202020204" pitchFamily="34" charset="0"/>
              </a:rPr>
              <a:t>”</a:t>
            </a:r>
            <a:r>
              <a:rPr lang="en-US" altLang="ja-JP" dirty="0">
                <a:solidFill>
                  <a:srgbClr val="FF0000"/>
                </a:solidFill>
                <a:latin typeface="Arial" panose="020B0604020202020204" pitchFamily="34" charset="0"/>
              </a:rPr>
              <a:t> a casual observer can stop at the cell, watch for one process and see that 4 people are working all the time and one is working half the time.  This prompts the observer to ask – can we eliminate some NVA work to eliminate the 5</a:t>
            </a:r>
            <a:r>
              <a:rPr lang="en-US" altLang="ja-JP" baseline="30000" dirty="0">
                <a:solidFill>
                  <a:srgbClr val="FF0000"/>
                </a:solidFill>
                <a:latin typeface="Arial" panose="020B0604020202020204" pitchFamily="34" charset="0"/>
              </a:rPr>
              <a:t>th</a:t>
            </a:r>
            <a:r>
              <a:rPr lang="en-US" altLang="ja-JP" dirty="0">
                <a:solidFill>
                  <a:srgbClr val="FF0000"/>
                </a:solidFill>
                <a:latin typeface="Arial" panose="020B0604020202020204" pitchFamily="34" charset="0"/>
              </a:rPr>
              <a:t> position?  – or – can we move appropriate work from another cell into this cell to load that 5</a:t>
            </a:r>
            <a:r>
              <a:rPr lang="en-US" altLang="ja-JP" baseline="30000" dirty="0">
                <a:solidFill>
                  <a:srgbClr val="FF0000"/>
                </a:solidFill>
                <a:latin typeface="Arial" panose="020B0604020202020204" pitchFamily="34" charset="0"/>
              </a:rPr>
              <a:t>th</a:t>
            </a:r>
            <a:r>
              <a:rPr lang="en-US" altLang="ja-JP" dirty="0">
                <a:solidFill>
                  <a:srgbClr val="FF0000"/>
                </a:solidFill>
                <a:latin typeface="Arial" panose="020B0604020202020204" pitchFamily="34" charset="0"/>
              </a:rPr>
              <a:t> person up more efficiently.  In the </a:t>
            </a:r>
            <a:r>
              <a:rPr lang="ja-JP" altLang="en-US" dirty="0">
                <a:solidFill>
                  <a:srgbClr val="FF0000"/>
                </a:solidFill>
                <a:latin typeface="Arial" panose="020B0604020202020204" pitchFamily="34" charset="0"/>
              </a:rPr>
              <a:t>“</a:t>
            </a:r>
            <a:r>
              <a:rPr lang="en-US" altLang="ja-JP" dirty="0">
                <a:solidFill>
                  <a:srgbClr val="FF0000"/>
                </a:solidFill>
                <a:latin typeface="Arial" panose="020B0604020202020204" pitchFamily="34" charset="0"/>
              </a:rPr>
              <a:t>traditional</a:t>
            </a:r>
            <a:r>
              <a:rPr lang="ja-JP" altLang="en-US" dirty="0">
                <a:solidFill>
                  <a:srgbClr val="FF0000"/>
                </a:solidFill>
                <a:latin typeface="Arial" panose="020B0604020202020204" pitchFamily="34" charset="0"/>
              </a:rPr>
              <a:t>”</a:t>
            </a:r>
            <a:r>
              <a:rPr lang="en-US" altLang="ja-JP" dirty="0">
                <a:solidFill>
                  <a:srgbClr val="FF0000"/>
                </a:solidFill>
                <a:latin typeface="Arial" panose="020B0604020202020204" pitchFamily="34" charset="0"/>
              </a:rPr>
              <a:t> method all the casual observer can see is everyone is busy but can</a:t>
            </a:r>
            <a:r>
              <a:rPr lang="ja-JP" altLang="en-US" dirty="0">
                <a:solidFill>
                  <a:srgbClr val="FF0000"/>
                </a:solidFill>
                <a:latin typeface="Arial" panose="020B0604020202020204" pitchFamily="34" charset="0"/>
              </a:rPr>
              <a:t>’</a:t>
            </a:r>
            <a:r>
              <a:rPr lang="en-US" altLang="ja-JP" dirty="0">
                <a:solidFill>
                  <a:srgbClr val="FF0000"/>
                </a:solidFill>
                <a:latin typeface="Arial" panose="020B0604020202020204" pitchFamily="34" charset="0"/>
              </a:rPr>
              <a:t>t see that they are cycling faster than necessary and therefore has too many people.</a:t>
            </a:r>
          </a:p>
          <a:p>
            <a:pPr>
              <a:lnSpc>
                <a:spcPct val="90000"/>
              </a:lnSpc>
            </a:pPr>
            <a:r>
              <a:rPr lang="en-US" altLang="en-US" dirty="0">
                <a:solidFill>
                  <a:srgbClr val="FF0000"/>
                </a:solidFill>
                <a:latin typeface="Arial" panose="020B0604020202020204" pitchFamily="34" charset="0"/>
              </a:rPr>
              <a:t>We put the partly loaded person at the end rather than the beginning since they could go faster and thus overproduce (waste) thus building inventory (waste) in front of the next person.</a:t>
            </a:r>
            <a:r>
              <a:rPr lang="ja-JP" altLang="en-US" dirty="0">
                <a:solidFill>
                  <a:srgbClr val="FF0000"/>
                </a:solidFill>
                <a:latin typeface="Arial" panose="020B0604020202020204" pitchFamily="34" charset="0"/>
              </a:rPr>
              <a:t>”</a:t>
            </a:r>
            <a:endParaRPr lang="en-US" altLang="ja-JP" dirty="0">
              <a:solidFill>
                <a:srgbClr val="FF0000"/>
              </a:solidFill>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56</a:t>
            </a:fld>
            <a:endParaRPr lang="en-US"/>
          </a:p>
        </p:txBody>
      </p:sp>
    </p:spTree>
    <p:extLst>
      <p:ext uri="{BB962C8B-B14F-4D97-AF65-F5344CB8AC3E}">
        <p14:creationId xmlns:p14="http://schemas.microsoft.com/office/powerpoint/2010/main" val="319851254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b="1" dirty="0">
                <a:latin typeface="Arial" panose="020B0604020202020204" pitchFamily="34" charset="0"/>
              </a:rPr>
              <a:t>SAY:  </a:t>
            </a:r>
            <a:r>
              <a:rPr lang="ja-JP" altLang="en-US" dirty="0">
                <a:latin typeface="Arial" panose="020B0604020202020204" pitchFamily="34" charset="0"/>
              </a:rPr>
              <a:t>“</a:t>
            </a:r>
            <a:r>
              <a:rPr lang="en-US" altLang="ja-JP" dirty="0">
                <a:latin typeface="Arial" panose="020B0604020202020204" pitchFamily="34" charset="0"/>
              </a:rPr>
              <a:t>Here again is an example from one of our businesses.  By applying standard work we were able to determine that only 1.6 ~ really 2 people were needed to support the current demand.</a:t>
            </a:r>
            <a:r>
              <a:rPr lang="ja-JP" altLang="en-US" dirty="0">
                <a:latin typeface="Arial" panose="020B0604020202020204" pitchFamily="34" charset="0"/>
              </a:rPr>
              <a:t>”</a:t>
            </a:r>
            <a:endParaRPr lang="en-US" altLang="ja-JP" dirty="0">
              <a:latin typeface="Arial" panose="020B0604020202020204" pitchFamily="34" charset="0"/>
            </a:endParaRPr>
          </a:p>
          <a:p>
            <a:pPr eaLnBrk="1" hangingPunct="1"/>
            <a:endParaRPr lang="en-US" altLang="en-US" dirty="0">
              <a:latin typeface="Arial" panose="020B0604020202020204" pitchFamily="34" charset="0"/>
            </a:endParaRPr>
          </a:p>
          <a:p>
            <a:pPr eaLnBrk="1" hangingPunct="1"/>
            <a:r>
              <a:rPr lang="en-US" altLang="en-US" b="1" dirty="0">
                <a:latin typeface="Arial" panose="020B0604020202020204" pitchFamily="34" charset="0"/>
              </a:rPr>
              <a:t>SAY:  </a:t>
            </a:r>
            <a:r>
              <a:rPr lang="ja-JP" altLang="en-US" dirty="0">
                <a:latin typeface="Arial" panose="020B0604020202020204" pitchFamily="34" charset="0"/>
              </a:rPr>
              <a:t>“</a:t>
            </a:r>
            <a:r>
              <a:rPr lang="en-US" altLang="ja-JP" dirty="0">
                <a:latin typeface="Arial" panose="020B0604020202020204" pitchFamily="34" charset="0"/>
              </a:rPr>
              <a:t>When comparing this to the actual staffing we see that there are 6 people doing the job on a full time basis.  This should raise the question in managements mind as to what else are they doing that we may not have captured and how do we separate this other work so that I can have just 2 people performing this task?</a:t>
            </a:r>
            <a:r>
              <a:rPr lang="ja-JP" altLang="en-US" dirty="0">
                <a:latin typeface="Arial" panose="020B0604020202020204" pitchFamily="34" charset="0"/>
              </a:rPr>
              <a:t>”</a:t>
            </a:r>
            <a:endParaRPr lang="en-US" altLang="ja-JP" b="1"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57</a:t>
            </a:fld>
            <a:endParaRPr lang="en-US"/>
          </a:p>
        </p:txBody>
      </p:sp>
    </p:spTree>
    <p:extLst>
      <p:ext uri="{BB962C8B-B14F-4D97-AF65-F5344CB8AC3E}">
        <p14:creationId xmlns:p14="http://schemas.microsoft.com/office/powerpoint/2010/main" val="42247406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 </a:t>
            </a:r>
            <a:r>
              <a:rPr lang="ja-JP" altLang="en-US" dirty="0">
                <a:latin typeface="Arial" panose="020B0604020202020204" pitchFamily="34" charset="0"/>
              </a:rPr>
              <a:t>“</a:t>
            </a:r>
            <a:r>
              <a:rPr lang="en-US" altLang="ja-JP" dirty="0">
                <a:latin typeface="Arial" panose="020B0604020202020204" pitchFamily="34" charset="0"/>
              </a:rPr>
              <a:t>Here is a form we recommend you use to track the kaizen results. This makes it easier to have a visual of the improvements made to date and the opportunities that still exist.</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r>
              <a:rPr lang="en-US" altLang="en-US" b="1" dirty="0">
                <a:latin typeface="Arial" panose="020B0604020202020204" pitchFamily="34" charset="0"/>
              </a:rPr>
              <a:t>NOTE: </a:t>
            </a:r>
            <a:r>
              <a:rPr lang="en-US" altLang="en-US" dirty="0">
                <a:latin typeface="Arial" panose="020B0604020202020204" pitchFamily="34" charset="0"/>
              </a:rPr>
              <a:t>This form is in excel and additional measurements could be added per the event objectives. </a:t>
            </a: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58</a:t>
            </a:fld>
            <a:endParaRPr lang="en-US"/>
          </a:p>
        </p:txBody>
      </p:sp>
    </p:spTree>
    <p:extLst>
      <p:ext uri="{BB962C8B-B14F-4D97-AF65-F5344CB8AC3E}">
        <p14:creationId xmlns:p14="http://schemas.microsoft.com/office/powerpoint/2010/main" val="389819109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Cover report-out guidelines.</a:t>
            </a:r>
          </a:p>
        </p:txBody>
      </p:sp>
      <p:sp>
        <p:nvSpPr>
          <p:cNvPr id="4" name="Slide Number Placeholder 3"/>
          <p:cNvSpPr>
            <a:spLocks noGrp="1"/>
          </p:cNvSpPr>
          <p:nvPr>
            <p:ph type="sldNum" sz="quarter" idx="5"/>
          </p:nvPr>
        </p:nvSpPr>
        <p:spPr/>
        <p:txBody>
          <a:bodyPr/>
          <a:lstStyle/>
          <a:p>
            <a:fld id="{AECD8548-F1A2-4EDF-A416-5F2BB6B8F64C}" type="slidenum">
              <a:rPr lang="en-US" smtClean="0"/>
              <a:t>59</a:t>
            </a:fld>
            <a:endParaRPr lang="en-US"/>
          </a:p>
        </p:txBody>
      </p:sp>
    </p:spTree>
    <p:extLst>
      <p:ext uri="{BB962C8B-B14F-4D97-AF65-F5344CB8AC3E}">
        <p14:creationId xmlns:p14="http://schemas.microsoft.com/office/powerpoint/2010/main" val="115091833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60</a:t>
            </a:fld>
            <a:endParaRPr lang="en-US"/>
          </a:p>
        </p:txBody>
      </p:sp>
    </p:spTree>
    <p:extLst>
      <p:ext uri="{BB962C8B-B14F-4D97-AF65-F5344CB8AC3E}">
        <p14:creationId xmlns:p14="http://schemas.microsoft.com/office/powerpoint/2010/main" val="290802850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In reviewing flow concepts, note how there are quality products produced at TAKT time.  Flow supports improved utilization of people through higher productivity and proper staffing by design. It also enables the continuous flow of work and associates and provides immediate feedback, flow information, and exposes problems to the organization.</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61</a:t>
            </a:fld>
            <a:endParaRPr lang="en-US"/>
          </a:p>
        </p:txBody>
      </p:sp>
    </p:spTree>
    <p:extLst>
      <p:ext uri="{BB962C8B-B14F-4D97-AF65-F5344CB8AC3E}">
        <p14:creationId xmlns:p14="http://schemas.microsoft.com/office/powerpoint/2010/main" val="130433463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In closing, if a process is not documented, there is no process. The more consistent the operations, the better the quality.  Without a standard, there can be no improvement. Standard Work is a dynamic tool used by management and should not be used to </a:t>
            </a:r>
            <a:r>
              <a:rPr lang="ja-JP" altLang="en-US" dirty="0">
                <a:latin typeface="Arial" panose="020B0604020202020204" pitchFamily="34" charset="0"/>
              </a:rPr>
              <a:t>“</a:t>
            </a:r>
            <a:r>
              <a:rPr lang="en-US" altLang="ja-JP" dirty="0">
                <a:latin typeface="Arial" panose="020B0604020202020204" pitchFamily="34" charset="0"/>
              </a:rPr>
              <a:t>justify</a:t>
            </a:r>
            <a:r>
              <a:rPr lang="ja-JP" altLang="en-US" dirty="0">
                <a:latin typeface="Arial" panose="020B0604020202020204" pitchFamily="34" charset="0"/>
              </a:rPr>
              <a:t>”</a:t>
            </a:r>
            <a:r>
              <a:rPr lang="en-US" altLang="ja-JP" dirty="0">
                <a:latin typeface="Arial" panose="020B0604020202020204" pitchFamily="34" charset="0"/>
              </a:rPr>
              <a:t> laying off associates. Standard Work should be no older than 30 days.</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62</a:t>
            </a:fld>
            <a:endParaRPr lang="en-US"/>
          </a:p>
        </p:txBody>
      </p:sp>
    </p:spTree>
    <p:extLst>
      <p:ext uri="{BB962C8B-B14F-4D97-AF65-F5344CB8AC3E}">
        <p14:creationId xmlns:p14="http://schemas.microsoft.com/office/powerpoint/2010/main" val="314222429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This is a strong statement.</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SAY:</a:t>
            </a:r>
            <a:r>
              <a:rPr lang="en-US" altLang="en-US" dirty="0">
                <a:latin typeface="Arial" panose="020B0604020202020204" pitchFamily="34" charset="0"/>
              </a:rPr>
              <a:t> The founders of </a:t>
            </a:r>
            <a:r>
              <a:rPr lang="en-US" altLang="en-US" dirty="0" err="1">
                <a:latin typeface="Arial" panose="020B0604020202020204" pitchFamily="34" charset="0"/>
              </a:rPr>
              <a:t>Shingijutsu</a:t>
            </a:r>
            <a:r>
              <a:rPr lang="en-US" altLang="en-US" dirty="0">
                <a:latin typeface="Arial" panose="020B0604020202020204" pitchFamily="34" charset="0"/>
              </a:rPr>
              <a:t> Consultants have direct ties/lineage to Taichi Ohno and the Toyota Production System. Mr. </a:t>
            </a:r>
            <a:r>
              <a:rPr lang="en-US" altLang="en-US" dirty="0" err="1">
                <a:latin typeface="Arial" panose="020B0604020202020204" pitchFamily="34" charset="0"/>
              </a:rPr>
              <a:t>Niwa</a:t>
            </a:r>
            <a:r>
              <a:rPr lang="en-US" altLang="en-US" dirty="0">
                <a:latin typeface="Arial" panose="020B0604020202020204" pitchFamily="34" charset="0"/>
              </a:rPr>
              <a:t> was one of the original partners. What do you think he meant by this statement?</a:t>
            </a: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Standard Work is a foundational element of the Toyota Production System. A lack of understanding of these concepts translates into a poor understanding of the Toyota Production System.</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63</a:t>
            </a:fld>
            <a:endParaRPr lang="en-US"/>
          </a:p>
        </p:txBody>
      </p:sp>
    </p:spTree>
    <p:extLst>
      <p:ext uri="{BB962C8B-B14F-4D97-AF65-F5344CB8AC3E}">
        <p14:creationId xmlns:p14="http://schemas.microsoft.com/office/powerpoint/2010/main" val="125899480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64</a:t>
            </a:fld>
            <a:endParaRPr lang="en-US"/>
          </a:p>
        </p:txBody>
      </p:sp>
    </p:spTree>
    <p:extLst>
      <p:ext uri="{BB962C8B-B14F-4D97-AF65-F5344CB8AC3E}">
        <p14:creationId xmlns:p14="http://schemas.microsoft.com/office/powerpoint/2010/main" val="132715629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6" name="Picture 5" descr="Logo&#10;&#10;Description automatically generated">
            <a:extLst>
              <a:ext uri="{FF2B5EF4-FFF2-40B4-BE49-F238E27FC236}">
                <a16:creationId xmlns:a16="http://schemas.microsoft.com/office/drawing/2014/main" id="{7B85E90D-7DD7-92B5-E387-8C0441E41AC3}"/>
              </a:ext>
            </a:extLst>
          </p:cNvPr>
          <p:cNvPicPr>
            <a:picLocks noChangeAspect="1"/>
          </p:cNvPicPr>
          <p:nvPr userDrawn="1"/>
        </p:nvPicPr>
        <p:blipFill>
          <a:blip r:embed="rId2"/>
          <a:stretch>
            <a:fillRect/>
          </a:stretch>
        </p:blipFill>
        <p:spPr>
          <a:xfrm>
            <a:off x="2385391" y="1950112"/>
            <a:ext cx="7772400" cy="2590800"/>
          </a:xfrm>
          <a:prstGeom prst="rect">
            <a:avLst/>
          </a:prstGeom>
        </p:spPr>
      </p:pic>
    </p:spTree>
    <p:extLst>
      <p:ext uri="{BB962C8B-B14F-4D97-AF65-F5344CB8AC3E}">
        <p14:creationId xmlns:p14="http://schemas.microsoft.com/office/powerpoint/2010/main" val="185623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685360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DFA04139-8C44-65B7-CCE0-3C7273396743}"/>
              </a:ext>
            </a:extLst>
          </p:cNvPr>
          <p:cNvPicPr>
            <a:picLocks noChangeAspect="1"/>
          </p:cNvPicPr>
          <p:nvPr userDrawn="1"/>
        </p:nvPicPr>
        <p:blipFill>
          <a:blip r:embed="rId2"/>
          <a:stretch>
            <a:fillRect/>
          </a:stretch>
        </p:blipFill>
        <p:spPr>
          <a:xfrm>
            <a:off x="10041954" y="6012921"/>
            <a:ext cx="1825625" cy="365125"/>
          </a:xfrm>
          <a:prstGeom prst="rect">
            <a:avLst/>
          </a:prstGeom>
        </p:spPr>
      </p:pic>
    </p:spTree>
    <p:extLst>
      <p:ext uri="{BB962C8B-B14F-4D97-AF65-F5344CB8AC3E}">
        <p14:creationId xmlns:p14="http://schemas.microsoft.com/office/powerpoint/2010/main" val="1340546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640B0-16F5-BFBE-E22F-812ED893EE45}"/>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A30DE2FD-1979-A3D6-90A4-45D744A02739}"/>
              </a:ext>
            </a:extLst>
          </p:cNvPr>
          <p:cNvSpPr>
            <a:spLocks noGrp="1"/>
          </p:cNvSpPr>
          <p:nvPr>
            <p:ph type="subTitle" idx="1"/>
          </p:nvPr>
        </p:nvSpPr>
        <p:spPr>
          <a:xfrm>
            <a:off x="1524000" y="3800722"/>
            <a:ext cx="9144000" cy="1457077"/>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7" name="Picture 6">
            <a:extLst>
              <a:ext uri="{FF2B5EF4-FFF2-40B4-BE49-F238E27FC236}">
                <a16:creationId xmlns:a16="http://schemas.microsoft.com/office/drawing/2014/main" id="{79394B0F-E5B4-CFAF-7473-46BB2646C463}"/>
              </a:ext>
            </a:extLst>
          </p:cNvPr>
          <p:cNvPicPr>
            <a:picLocks noChangeAspect="1"/>
          </p:cNvPicPr>
          <p:nvPr userDrawn="1"/>
        </p:nvPicPr>
        <p:blipFill>
          <a:blip r:embed="rId2"/>
          <a:stretch>
            <a:fillRect/>
          </a:stretch>
        </p:blipFill>
        <p:spPr>
          <a:xfrm>
            <a:off x="4126380" y="3556319"/>
            <a:ext cx="3939240" cy="45719"/>
          </a:xfrm>
          <a:prstGeom prst="rect">
            <a:avLst/>
          </a:prstGeom>
        </p:spPr>
      </p:pic>
    </p:spTree>
    <p:extLst>
      <p:ext uri="{BB962C8B-B14F-4D97-AF65-F5344CB8AC3E}">
        <p14:creationId xmlns:p14="http://schemas.microsoft.com/office/powerpoint/2010/main" val="2626065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36242-F70A-0032-2B4B-BCCF0734FAF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D039E81F-378B-8CF2-E1C3-1D9054EF71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EDBCBB7B-054A-FE83-5F7C-FE4A1CDFEEBA}"/>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1611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EA9C9-FDCA-934D-785B-BFD907843A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695437-1877-C6A2-EE04-3EF98092E16F}"/>
              </a:ext>
            </a:extLst>
          </p:cNvPr>
          <p:cNvSpPr>
            <a:spLocks noGrp="1"/>
          </p:cNvSpPr>
          <p:nvPr>
            <p:ph type="body" idx="1"/>
          </p:nvPr>
        </p:nvSpPr>
        <p:spPr>
          <a:xfrm>
            <a:off x="831850" y="4715123"/>
            <a:ext cx="10515600" cy="137452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428720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8C054-8592-E116-8DB0-D7814A8CDB6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B35C802A-EC64-E4D9-44D3-54E728E3E9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EA5B75-CA16-4AC3-A34C-C3C4FF82FD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23186D81-5D29-FE58-C442-6A6A0689DB5B}"/>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0594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62F87-A7AE-9269-55EC-7B1C8A4D2FA0}"/>
              </a:ext>
            </a:extLst>
          </p:cNvPr>
          <p:cNvSpPr>
            <a:spLocks noGrp="1"/>
          </p:cNvSpPr>
          <p:nvPr>
            <p:ph type="title"/>
          </p:nvPr>
        </p:nvSpPr>
        <p:spPr>
          <a:xfrm>
            <a:off x="839788" y="668337"/>
            <a:ext cx="10515600" cy="1022351"/>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23727D69-EB01-A889-0CC3-A64B4F7DAB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F1EC85-625B-CEAA-F97D-EF024B15F2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D5D1D7-7D1D-2F5D-8D5E-152CC8269A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D830EE-92A6-15ED-D99F-35788F37AD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74CBFE9C-CE1B-ED6E-1745-391F9496BE1D}"/>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3515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D9D87-BBC7-C5DC-191E-E5E1CA2BC2BE}"/>
              </a:ext>
            </a:extLst>
          </p:cNvPr>
          <p:cNvSpPr>
            <a:spLocks noGrp="1"/>
          </p:cNvSpPr>
          <p:nvPr>
            <p:ph type="title"/>
          </p:nvPr>
        </p:nvSpPr>
        <p:spPr/>
        <p:txBody>
          <a:bodyPr/>
          <a:lstStyle/>
          <a:p>
            <a:r>
              <a:rPr lang="en-US" dirty="0"/>
              <a:t>Click to edit Master title style</a:t>
            </a:r>
          </a:p>
        </p:txBody>
      </p:sp>
      <p:cxnSp>
        <p:nvCxnSpPr>
          <p:cNvPr id="6" name="Straight Connector 5">
            <a:extLst>
              <a:ext uri="{FF2B5EF4-FFF2-40B4-BE49-F238E27FC236}">
                <a16:creationId xmlns:a16="http://schemas.microsoft.com/office/drawing/2014/main" id="{7E55C65A-BA96-51C7-B6FE-07AB4FB9C96C}"/>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5302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C6C847F-0B94-F947-B172-F99DB133759E}"/>
              </a:ext>
            </a:extLst>
          </p:cNvPr>
          <p:cNvSpPr>
            <a:spLocks noGrp="1"/>
          </p:cNvSpPr>
          <p:nvPr>
            <p:ph type="sldNum" sz="quarter" idx="11"/>
          </p:nvPr>
        </p:nvSpPr>
        <p:spPr/>
        <p:txBody>
          <a:bodyPr/>
          <a:lstStyle/>
          <a:p>
            <a:fld id="{CC6D4273-7FC1-0947-B9FE-19CB3C0D1FB6}" type="slidenum">
              <a:rPr lang="en-US" smtClean="0"/>
              <a:pPr/>
              <a:t>‹#›</a:t>
            </a:fld>
            <a:endParaRPr lang="en-US" dirty="0"/>
          </a:p>
        </p:txBody>
      </p:sp>
      <p:sp>
        <p:nvSpPr>
          <p:cNvPr id="7" name="TextBox 6">
            <a:extLst>
              <a:ext uri="{FF2B5EF4-FFF2-40B4-BE49-F238E27FC236}">
                <a16:creationId xmlns:a16="http://schemas.microsoft.com/office/drawing/2014/main" id="{5C21B1ED-B2E3-19AE-DDFC-B157A0140513}"/>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2067797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5009C-FECA-9E9B-9F45-5710762AEB4B}"/>
              </a:ext>
            </a:extLst>
          </p:cNvPr>
          <p:cNvSpPr>
            <a:spLocks noGrp="1"/>
          </p:cNvSpPr>
          <p:nvPr>
            <p:ph type="title"/>
          </p:nvPr>
        </p:nvSpPr>
        <p:spPr>
          <a:xfrm>
            <a:off x="839788" y="457200"/>
            <a:ext cx="3932237" cy="1465029"/>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925B4662-A656-519F-E5DC-FEF8051A04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555F82-CA62-EC30-181A-37223E01FDD3}"/>
              </a:ext>
            </a:extLst>
          </p:cNvPr>
          <p:cNvSpPr>
            <a:spLocks noGrp="1"/>
          </p:cNvSpPr>
          <p:nvPr>
            <p:ph type="body" sz="half" idx="2"/>
          </p:nvPr>
        </p:nvSpPr>
        <p:spPr>
          <a:xfrm>
            <a:off x="839788" y="2146852"/>
            <a:ext cx="3932237" cy="372213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EB026B9A-5C7E-C150-5C07-A68A167F0F67}"/>
              </a:ext>
            </a:extLst>
          </p:cNvPr>
          <p:cNvCxnSpPr>
            <a:cxnSpLocks/>
          </p:cNvCxnSpPr>
          <p:nvPr userDrawn="1"/>
        </p:nvCxnSpPr>
        <p:spPr>
          <a:xfrm>
            <a:off x="838200" y="1922229"/>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92259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35D53-C186-1B2C-FD72-2AC470B82098}"/>
              </a:ext>
            </a:extLst>
          </p:cNvPr>
          <p:cNvSpPr>
            <a:spLocks noGrp="1"/>
          </p:cNvSpPr>
          <p:nvPr>
            <p:ph type="title"/>
          </p:nvPr>
        </p:nvSpPr>
        <p:spPr>
          <a:xfrm>
            <a:off x="839788" y="457200"/>
            <a:ext cx="3932237" cy="1463045"/>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8C7372F6-C6B1-D2F4-8DED-EF3C3DBEAA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566E1FE-9DAE-4781-C70A-CF8F68AAFDD6}"/>
              </a:ext>
            </a:extLst>
          </p:cNvPr>
          <p:cNvSpPr>
            <a:spLocks noGrp="1"/>
          </p:cNvSpPr>
          <p:nvPr>
            <p:ph type="body" sz="half" idx="2"/>
          </p:nvPr>
        </p:nvSpPr>
        <p:spPr>
          <a:xfrm>
            <a:off x="839788" y="2148836"/>
            <a:ext cx="3932237" cy="372015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6BBD52B6-C25E-E933-F2B7-D40B2BFDF83D}"/>
              </a:ext>
            </a:extLst>
          </p:cNvPr>
          <p:cNvCxnSpPr>
            <a:cxnSpLocks/>
          </p:cNvCxnSpPr>
          <p:nvPr userDrawn="1"/>
        </p:nvCxnSpPr>
        <p:spPr>
          <a:xfrm>
            <a:off x="838200" y="1920245"/>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0194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F5CEA-F0B2-6EAB-4435-59D188AF38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2B515F-CCC6-5F3D-26FA-AF419F9D87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E155FD7A-35A4-E3BB-30E7-93993A9F2FCF}"/>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28601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EEA24E-3139-367F-63CD-6BE14639C42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D504B8-9AC5-F3B2-2873-A2C2344601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3289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C7573B6-84E2-B075-59F6-13B735C1EA0C}"/>
              </a:ext>
            </a:extLst>
          </p:cNvPr>
          <p:cNvPicPr>
            <a:picLocks noChangeAspect="1"/>
          </p:cNvPicPr>
          <p:nvPr userDrawn="1"/>
        </p:nvPicPr>
        <p:blipFill>
          <a:blip r:embed="rId16"/>
          <a:src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AF899C9A-A2FC-CD4A-1E66-538BA9DCD182}"/>
              </a:ext>
            </a:extLst>
          </p:cNvPr>
          <p:cNvSpPr>
            <a:spLocks noGrp="1"/>
          </p:cNvSpPr>
          <p:nvPr>
            <p:ph type="title"/>
          </p:nvPr>
        </p:nvSpPr>
        <p:spPr>
          <a:xfrm>
            <a:off x="838200" y="681037"/>
            <a:ext cx="10515600" cy="100965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5BEC040-D756-ECEA-9BEA-816A77F6A3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0655B500-689F-3416-FFFA-6EFE369BF707}"/>
              </a:ext>
            </a:extLst>
          </p:cNvPr>
          <p:cNvSpPr>
            <a:spLocks noGrp="1"/>
          </p:cNvSpPr>
          <p:nvPr>
            <p:ph type="sldNum" sz="quarter" idx="4"/>
          </p:nvPr>
        </p:nvSpPr>
        <p:spPr>
          <a:xfrm>
            <a:off x="8595078" y="6333148"/>
            <a:ext cx="2743200" cy="365125"/>
          </a:xfrm>
          <a:prstGeom prst="rect">
            <a:avLst/>
          </a:prstGeom>
        </p:spPr>
        <p:txBody>
          <a:bodyPr vert="horz" lIns="91440" tIns="45720" rIns="91440" bIns="45720" rtlCol="0" anchor="ctr"/>
          <a:lstStyle>
            <a:lvl1pPr algn="r">
              <a:defRPr sz="1200">
                <a:solidFill>
                  <a:schemeClr val="tx1"/>
                </a:solidFill>
              </a:defRPr>
            </a:lvl1pPr>
          </a:lstStyle>
          <a:p>
            <a:fld id="{CC6D4273-7FC1-0947-B9FE-19CB3C0D1FB6}" type="slidenum">
              <a:rPr lang="en-US" smtClean="0"/>
              <a:pPr/>
              <a:t>‹#›</a:t>
            </a:fld>
            <a:endParaRPr lang="en-US" dirty="0"/>
          </a:p>
        </p:txBody>
      </p:sp>
      <p:pic>
        <p:nvPicPr>
          <p:cNvPr id="10" name="Picture 9" descr="Logo&#10;&#10;Description automatically generated">
            <a:extLst>
              <a:ext uri="{FF2B5EF4-FFF2-40B4-BE49-F238E27FC236}">
                <a16:creationId xmlns:a16="http://schemas.microsoft.com/office/drawing/2014/main" id="{83AB58F5-18C5-C368-94F4-CC4D543C8982}"/>
              </a:ext>
            </a:extLst>
          </p:cNvPr>
          <p:cNvPicPr>
            <a:picLocks noChangeAspect="1"/>
          </p:cNvPicPr>
          <p:nvPr userDrawn="1"/>
        </p:nvPicPr>
        <p:blipFill>
          <a:blip r:embed="rId17"/>
          <a:stretch>
            <a:fillRect/>
          </a:stretch>
        </p:blipFill>
        <p:spPr>
          <a:xfrm>
            <a:off x="10650147" y="311856"/>
            <a:ext cx="1376262" cy="275252"/>
          </a:xfrm>
          <a:prstGeom prst="rect">
            <a:avLst/>
          </a:prstGeom>
        </p:spPr>
      </p:pic>
      <p:cxnSp>
        <p:nvCxnSpPr>
          <p:cNvPr id="16" name="Straight Connector 15">
            <a:extLst>
              <a:ext uri="{FF2B5EF4-FFF2-40B4-BE49-F238E27FC236}">
                <a16:creationId xmlns:a16="http://schemas.microsoft.com/office/drawing/2014/main" id="{BFFEF531-ADF4-AB70-CB0F-227DD4FA1B4F}"/>
              </a:ext>
            </a:extLst>
          </p:cNvPr>
          <p:cNvCxnSpPr/>
          <p:nvPr userDrawn="1"/>
        </p:nvCxnSpPr>
        <p:spPr>
          <a:xfrm>
            <a:off x="838200" y="6382347"/>
            <a:ext cx="10515599"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7AF5F83-88DF-460F-82C5-C2709D4DF5D2}"/>
              </a:ext>
            </a:extLst>
          </p:cNvPr>
          <p:cNvSpPr txBox="1"/>
          <p:nvPr userDrawn="1"/>
        </p:nvSpPr>
        <p:spPr>
          <a:xfrm>
            <a:off x="838200" y="6389310"/>
            <a:ext cx="4171934" cy="400110"/>
          </a:xfrm>
          <a:prstGeom prst="rect">
            <a:avLst/>
          </a:prstGeom>
          <a:noFill/>
        </p:spPr>
        <p:txBody>
          <a:bodyPr wrap="square" rtlCol="0">
            <a:spAutoFit/>
          </a:bodyPr>
          <a:lstStyle/>
          <a:p>
            <a:r>
              <a:rPr lang="en-US" sz="1000" dirty="0"/>
              <a:t>ADMIN STANDARD WORK PRESENTATION ENG REV3.0</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76B0F1ED-1C44-DFD6-E7DA-038409D9167D}"/>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3092232385"/>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Roboto Medium" panose="02000000000000000000" pitchFamily="2" charset="0"/>
          <a:ea typeface="Roboto Medium" panose="02000000000000000000" pitchFamily="2" charset="0"/>
          <a:cs typeface="Roboto Medium" panose="0200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2.xml"/><Relationship Id="rId1" Type="http://schemas.openxmlformats.org/officeDocument/2006/relationships/slideLayout" Target="../slideLayouts/slideLayout10.xml"/><Relationship Id="rId4" Type="http://schemas.openxmlformats.org/officeDocument/2006/relationships/image" Target="../media/image5.gi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9.jpeg"/><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10.jpe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6.xml"/><Relationship Id="rId1" Type="http://schemas.openxmlformats.org/officeDocument/2006/relationships/slideLayout" Target="../slideLayouts/slideLayout9.xml"/><Relationship Id="rId6" Type="http://schemas.openxmlformats.org/officeDocument/2006/relationships/image" Target="../media/image15.png"/><Relationship Id="rId5" Type="http://schemas.openxmlformats.org/officeDocument/2006/relationships/image" Target="../media/image14.jpeg"/><Relationship Id="rId4" Type="http://schemas.openxmlformats.org/officeDocument/2006/relationships/image" Target="../media/image13.jpe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4.png"/><Relationship Id="rId7" Type="http://schemas.openxmlformats.org/officeDocument/2006/relationships/image" Target="../media/image27.png"/><Relationship Id="rId2" Type="http://schemas.openxmlformats.org/officeDocument/2006/relationships/notesSlide" Target="../notesSlides/notesSlide51.xml"/><Relationship Id="rId1" Type="http://schemas.openxmlformats.org/officeDocument/2006/relationships/slideLayout" Target="../slideLayouts/slideLayout7.xml"/><Relationship Id="rId6" Type="http://schemas.openxmlformats.org/officeDocument/2006/relationships/image" Target="../media/image26.wmf"/><Relationship Id="rId5" Type="http://schemas.openxmlformats.org/officeDocument/2006/relationships/oleObject" Target="../embeddings/oleObject1.bin"/><Relationship Id="rId4" Type="http://schemas.openxmlformats.org/officeDocument/2006/relationships/image" Target="../media/image25.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4.xml"/><Relationship Id="rId1" Type="http://schemas.openxmlformats.org/officeDocument/2006/relationships/slideLayout" Target="../slideLayouts/slideLayout9.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58.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9.xml"/></Relationships>
</file>

<file path=ppt/slides/_rels/slide6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64.xml"/><Relationship Id="rId1" Type="http://schemas.openxmlformats.org/officeDocument/2006/relationships/slideLayout" Target="../slideLayouts/slideLayout10.xml"/><Relationship Id="rId4" Type="http://schemas.openxmlformats.org/officeDocument/2006/relationships/image" Target="../media/image5.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9B60FA6-6E24-C6E2-C35D-A4139BCE2E8B}"/>
              </a:ext>
            </a:extLst>
          </p:cNvPr>
          <p:cNvPicPr>
            <a:picLocks noChangeAspect="1"/>
          </p:cNvPicPr>
          <p:nvPr/>
        </p:nvPicPr>
        <p:blipFill>
          <a:blip r:embed="rId3"/>
          <a:stretch>
            <a:fillRect/>
          </a:stretch>
        </p:blipFill>
        <p:spPr>
          <a:xfrm>
            <a:off x="4747929" y="4846192"/>
            <a:ext cx="2696138" cy="45719"/>
          </a:xfrm>
          <a:prstGeom prst="rect">
            <a:avLst/>
          </a:prstGeom>
        </p:spPr>
      </p:pic>
      <p:sp>
        <p:nvSpPr>
          <p:cNvPr id="5" name="TextBox 4">
            <a:extLst>
              <a:ext uri="{FF2B5EF4-FFF2-40B4-BE49-F238E27FC236}">
                <a16:creationId xmlns:a16="http://schemas.microsoft.com/office/drawing/2014/main" id="{0BF4BEED-3D12-D343-768A-9E83F9558AE0}"/>
              </a:ext>
            </a:extLst>
          </p:cNvPr>
          <p:cNvSpPr txBox="1"/>
          <p:nvPr/>
        </p:nvSpPr>
        <p:spPr>
          <a:xfrm>
            <a:off x="668594" y="4138306"/>
            <a:ext cx="10746658" cy="646331"/>
          </a:xfrm>
          <a:prstGeom prst="rect">
            <a:avLst/>
          </a:prstGeom>
          <a:noFill/>
        </p:spPr>
        <p:txBody>
          <a:bodyPr wrap="square" rtlCol="0">
            <a:spAutoFit/>
          </a:bodyPr>
          <a:lstStyle/>
          <a:p>
            <a:pPr algn="ctr"/>
            <a:r>
              <a:rPr lang="en-US" sz="3600" dirty="0">
                <a:latin typeface="Roboto" panose="02000000000000000000" pitchFamily="2" charset="0"/>
                <a:ea typeface="Roboto" panose="02000000000000000000" pitchFamily="2" charset="0"/>
                <a:cs typeface="Roboto" panose="02000000000000000000" pitchFamily="2" charset="0"/>
              </a:rPr>
              <a:t>Administrative Standard Work</a:t>
            </a:r>
          </a:p>
        </p:txBody>
      </p:sp>
      <p:sp>
        <p:nvSpPr>
          <p:cNvPr id="3" name="Slide Number Placeholder 2">
            <a:extLst>
              <a:ext uri="{FF2B5EF4-FFF2-40B4-BE49-F238E27FC236}">
                <a16:creationId xmlns:a16="http://schemas.microsoft.com/office/drawing/2014/main" id="{DCEF716D-CC64-6765-89C4-B03733484518}"/>
              </a:ext>
            </a:extLst>
          </p:cNvPr>
          <p:cNvSpPr>
            <a:spLocks noGrp="1"/>
          </p:cNvSpPr>
          <p:nvPr>
            <p:ph type="sldNum" sz="quarter" idx="4"/>
          </p:nvPr>
        </p:nvSpPr>
        <p:spPr>
          <a:xfrm>
            <a:off x="8595078" y="6386632"/>
            <a:ext cx="2743200" cy="331932"/>
          </a:xfrm>
          <a:prstGeom prst="rect">
            <a:avLst/>
          </a:prstGeom>
        </p:spPr>
        <p:txBody>
          <a:bodyPr vert="horz" lIns="91440" tIns="45720" rIns="91440" bIns="45720" rtlCol="0" anchor="ct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a:t>
            </a:fld>
            <a:endParaRPr lang="en-US"/>
          </a:p>
        </p:txBody>
      </p:sp>
    </p:spTree>
    <p:extLst>
      <p:ext uri="{BB962C8B-B14F-4D97-AF65-F5344CB8AC3E}">
        <p14:creationId xmlns:p14="http://schemas.microsoft.com/office/powerpoint/2010/main" val="5527953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01234-A0AA-5598-26B5-033CE6FE23E5}"/>
              </a:ext>
            </a:extLst>
          </p:cNvPr>
          <p:cNvSpPr txBox="1">
            <a:spLocks/>
          </p:cNvSpPr>
          <p:nvPr/>
        </p:nvSpPr>
        <p:spPr>
          <a:xfrm>
            <a:off x="606705" y="793843"/>
            <a:ext cx="10515600" cy="1022351"/>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dirty="0">
                <a:solidFill>
                  <a:schemeClr val="tx1"/>
                </a:solidFill>
                <a:latin typeface="Roboto Medium"/>
                <a:cs typeface="Roboto"/>
              </a:rPr>
              <a:t>Other</a:t>
            </a:r>
            <a:r>
              <a:rPr lang="en-US" dirty="0">
                <a:solidFill>
                  <a:schemeClr val="tx1"/>
                </a:solidFill>
                <a:latin typeface="Roboto Medium"/>
                <a:cs typeface="Roboto Medium"/>
              </a:rPr>
              <a:t> Modules In This Series:</a:t>
            </a:r>
          </a:p>
        </p:txBody>
      </p:sp>
      <p:pic>
        <p:nvPicPr>
          <p:cNvPr id="3" name="Picture 2">
            <a:extLst>
              <a:ext uri="{FF2B5EF4-FFF2-40B4-BE49-F238E27FC236}">
                <a16:creationId xmlns:a16="http://schemas.microsoft.com/office/drawing/2014/main" id="{5DF3825E-B951-729D-1675-8A890DAAC766}"/>
              </a:ext>
            </a:extLst>
          </p:cNvPr>
          <p:cNvPicPr>
            <a:picLocks noChangeAspect="1"/>
          </p:cNvPicPr>
          <p:nvPr/>
        </p:nvPicPr>
        <p:blipFill>
          <a:blip r:embed="rId3"/>
          <a:stretch>
            <a:fillRect/>
          </a:stretch>
        </p:blipFill>
        <p:spPr>
          <a:xfrm>
            <a:off x="605117" y="1638489"/>
            <a:ext cx="3939240" cy="45719"/>
          </a:xfrm>
          <a:prstGeom prst="rect">
            <a:avLst/>
          </a:prstGeom>
        </p:spPr>
      </p:pic>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5839258" y="116664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chemeClr val="tx1"/>
                </a:solidFill>
              </a:rPr>
              <a:t>5S</a:t>
            </a:r>
          </a:p>
          <a:p>
            <a:pPr marL="0" indent="0" algn="r">
              <a:buNone/>
            </a:pPr>
            <a:r>
              <a:rPr lang="en-US" sz="1400" dirty="0">
                <a:solidFill>
                  <a:schemeClr val="tx1"/>
                </a:solidFill>
              </a:rPr>
              <a:t>Standard Work</a:t>
            </a:r>
          </a:p>
          <a:p>
            <a:pPr marL="0" indent="0" algn="r">
              <a:buNone/>
            </a:pPr>
            <a:r>
              <a:rPr lang="en-US" sz="1400" dirty="0">
                <a:solidFill>
                  <a:schemeClr val="tx1"/>
                </a:solidFill>
              </a:rPr>
              <a:t>Total Productive Maintenance (TPM)</a:t>
            </a:r>
          </a:p>
          <a:p>
            <a:pPr marL="0" indent="0" algn="r">
              <a:buNone/>
            </a:pPr>
            <a:r>
              <a:rPr lang="en-US" sz="1400" dirty="0">
                <a:solidFill>
                  <a:schemeClr val="tx1"/>
                </a:solidFill>
              </a:rPr>
              <a:t>Administrative Lean</a:t>
            </a:r>
          </a:p>
          <a:p>
            <a:pPr marL="0" indent="0" algn="r">
              <a:buNone/>
            </a:pPr>
            <a:r>
              <a:rPr lang="en-US" sz="1400" dirty="0">
                <a:solidFill>
                  <a:schemeClr val="tx1"/>
                </a:solidFill>
              </a:rPr>
              <a:t>Cell Design/ Production Preparation Process (3P)</a:t>
            </a:r>
          </a:p>
          <a:p>
            <a:pPr marL="0" indent="0" algn="r">
              <a:buNone/>
            </a:pPr>
            <a:r>
              <a:rPr lang="en-US" sz="1400" dirty="0">
                <a:solidFill>
                  <a:schemeClr val="tx1"/>
                </a:solidFill>
              </a:rPr>
              <a:t>Kaizen</a:t>
            </a:r>
          </a:p>
          <a:p>
            <a:pPr marL="0" indent="0" algn="r">
              <a:buNone/>
            </a:pPr>
            <a:r>
              <a:rPr lang="en-US" sz="1400" dirty="0">
                <a:solidFill>
                  <a:schemeClr val="tx1"/>
                </a:solidFill>
              </a:rPr>
              <a:t>Kanban</a:t>
            </a:r>
          </a:p>
          <a:p>
            <a:pPr marL="0" indent="0" algn="r">
              <a:buNone/>
            </a:pPr>
            <a:r>
              <a:rPr lang="en-US" sz="1400" dirty="0">
                <a:solidFill>
                  <a:schemeClr val="tx1"/>
                </a:solidFill>
              </a:rPr>
              <a:t>Problem Solving</a:t>
            </a:r>
          </a:p>
          <a:p>
            <a:pPr marL="0" indent="0" algn="r">
              <a:buNone/>
            </a:pPr>
            <a:r>
              <a:rPr lang="en-US" sz="1400" dirty="0" err="1">
                <a:solidFill>
                  <a:schemeClr val="tx1"/>
                </a:solidFill>
              </a:rPr>
              <a:t>Poka</a:t>
            </a:r>
            <a:r>
              <a:rPr lang="en-US" sz="1400" dirty="0">
                <a:solidFill>
                  <a:schemeClr val="tx1"/>
                </a:solidFill>
              </a:rPr>
              <a:t> Yoke Quality Systems</a:t>
            </a:r>
          </a:p>
          <a:p>
            <a:pPr marL="0" indent="0" algn="r">
              <a:buNone/>
            </a:pPr>
            <a:r>
              <a:rPr lang="en-US" sz="1400" dirty="0">
                <a:solidFill>
                  <a:schemeClr val="tx1"/>
                </a:solidFill>
              </a:rPr>
              <a:t>Transaction Process Improvement (TPI)</a:t>
            </a:r>
          </a:p>
          <a:p>
            <a:pPr marL="0" indent="0" algn="r">
              <a:buNone/>
            </a:pPr>
            <a:r>
              <a:rPr lang="en-US" sz="1400" dirty="0">
                <a:solidFill>
                  <a:schemeClr val="tx1"/>
                </a:solidFill>
              </a:rPr>
              <a:t>Cause &amp; Effect Diagram with the Additions of Cards (CEDAC)</a:t>
            </a:r>
          </a:p>
          <a:p>
            <a:pPr marL="0" indent="0" algn="r">
              <a:buNone/>
            </a:pPr>
            <a:r>
              <a:rPr lang="en-US" sz="1400" dirty="0">
                <a:solidFill>
                  <a:schemeClr val="tx1"/>
                </a:solidFill>
              </a:rPr>
              <a:t>Single Minute Exchange of Dies (SMED)</a:t>
            </a:r>
          </a:p>
          <a:p>
            <a:pPr marL="0" indent="0" algn="r">
              <a:buNone/>
            </a:pPr>
            <a:r>
              <a:rPr lang="en-US" sz="1400" dirty="0">
                <a:solidFill>
                  <a:schemeClr val="tx1"/>
                </a:solidFill>
              </a:rPr>
              <a:t>Value Stream Mapping (</a:t>
            </a:r>
            <a:r>
              <a:rPr lang="en-US" sz="1400" dirty="0" err="1">
                <a:solidFill>
                  <a:schemeClr val="tx1"/>
                </a:solidFill>
              </a:rPr>
              <a:t>VSMi</a:t>
            </a:r>
            <a:r>
              <a:rPr lang="en-US" sz="1400" dirty="0">
                <a:solidFill>
                  <a:schemeClr val="tx1"/>
                </a:solidFill>
              </a:rPr>
              <a:t>®)</a:t>
            </a:r>
          </a:p>
          <a:p>
            <a:pPr marL="0" indent="0" algn="r">
              <a:buNone/>
            </a:pPr>
            <a:r>
              <a:rPr lang="en-US" sz="1400" dirty="0">
                <a:solidFill>
                  <a:schemeClr val="tx1"/>
                </a:solidFill>
              </a:rPr>
              <a:t>Visual Management</a:t>
            </a:r>
          </a:p>
          <a:p>
            <a:pPr marL="0" indent="0" algn="r">
              <a:buNone/>
            </a:pPr>
            <a:r>
              <a:rPr lang="en-US" sz="1400" dirty="0">
                <a:solidFill>
                  <a:schemeClr val="tx1"/>
                </a:solidFill>
              </a:rPr>
              <a:t>Managing Daily Process Excellence</a:t>
            </a:r>
          </a:p>
        </p:txBody>
      </p:sp>
      <p:pic>
        <p:nvPicPr>
          <p:cNvPr id="11" name="Picture 10">
            <a:extLst>
              <a:ext uri="{FF2B5EF4-FFF2-40B4-BE49-F238E27FC236}">
                <a16:creationId xmlns:a16="http://schemas.microsoft.com/office/drawing/2014/main" id="{11F73560-3A07-DDBC-A93D-9C2969C3C8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
        <p:nvSpPr>
          <p:cNvPr id="13" name="Steve Jones">
            <a:extLst>
              <a:ext uri="{FF2B5EF4-FFF2-40B4-BE49-F238E27FC236}">
                <a16:creationId xmlns:a16="http://schemas.microsoft.com/office/drawing/2014/main" id="{32D7D26D-2286-A78A-74DF-8555FD64C346}"/>
              </a:ext>
            </a:extLst>
          </p:cNvPr>
          <p:cNvSpPr/>
          <p:nvPr/>
        </p:nvSpPr>
        <p:spPr>
          <a:xfrm>
            <a:off x="1069695" y="4201690"/>
            <a:ext cx="3475310" cy="199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ctr">
            <a:spAutoFit/>
          </a:bodyPr>
          <a:lstStyle>
            <a:lvl1pPr defTabSz="1155700">
              <a:lnSpc>
                <a:spcPct val="80000"/>
              </a:lnSpc>
              <a:defRPr sz="3000" b="1">
                <a:solidFill>
                  <a:srgbClr val="FFFFFF"/>
                </a:solidFill>
              </a:defRPr>
            </a:lvl1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14" name="Head of Management Dept.">
            <a:extLst>
              <a:ext uri="{FF2B5EF4-FFF2-40B4-BE49-F238E27FC236}">
                <a16:creationId xmlns:a16="http://schemas.microsoft.com/office/drawing/2014/main" id="{13AAF857-F867-C38A-47E8-4FCE37EF32C8}"/>
              </a:ext>
            </a:extLst>
          </p:cNvPr>
          <p:cNvSpPr/>
          <p:nvPr/>
        </p:nvSpPr>
        <p:spPr>
          <a:xfrm>
            <a:off x="1367375" y="4590893"/>
            <a:ext cx="2879948" cy="83817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defTabSz="1155700">
              <a:defRPr sz="3000">
                <a:solidFill>
                  <a:srgbClr val="5D616E"/>
                </a:solidFill>
              </a:defRPr>
            </a:lvl1pPr>
          </a:lstStyle>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 DeLuzio, President and CEO</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+1.860.234.0915</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TextBox 14">
            <a:extLst>
              <a:ext uri="{FF2B5EF4-FFF2-40B4-BE49-F238E27FC236}">
                <a16:creationId xmlns:a16="http://schemas.microsoft.com/office/drawing/2014/main" id="{1729F7AC-495A-4FB8-042F-1DBECD3DB7C9}"/>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latin typeface="Roboto" panose="02000000000000000000" pitchFamily="2" charset="0"/>
              <a:ea typeface="Roboto" panose="02000000000000000000" pitchFamily="2" charset="0"/>
              <a:cs typeface="Roboto" panose="02000000000000000000" pitchFamily="2" charset="0"/>
            </a:endParaRPr>
          </a:p>
        </p:txBody>
      </p:sp>
      <p:sp>
        <p:nvSpPr>
          <p:cNvPr id="18" name="Slide Number Placeholder 17">
            <a:extLst>
              <a:ext uri="{FF2B5EF4-FFF2-40B4-BE49-F238E27FC236}">
                <a16:creationId xmlns:a16="http://schemas.microsoft.com/office/drawing/2014/main" id="{F71C8E8F-D781-AA13-E1D1-E5284A242753}"/>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a:t>
            </a:fld>
            <a:endParaRPr lang="en-US" dirty="0"/>
          </a:p>
        </p:txBody>
      </p:sp>
    </p:spTree>
    <p:extLst>
      <p:ext uri="{BB962C8B-B14F-4D97-AF65-F5344CB8AC3E}">
        <p14:creationId xmlns:p14="http://schemas.microsoft.com/office/powerpoint/2010/main" val="8110293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3517106" y="2278809"/>
            <a:ext cx="5157787" cy="23003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solidFill>
                  <a:schemeClr val="tx1"/>
                </a:solidFill>
              </a:rPr>
              <a:t>This document contains confidential</a:t>
            </a:r>
            <a:br>
              <a:rPr lang="en-US" sz="2000" dirty="0">
                <a:solidFill>
                  <a:schemeClr val="tx1"/>
                </a:solidFill>
              </a:rPr>
            </a:br>
            <a:r>
              <a:rPr lang="en-US" sz="2000" dirty="0">
                <a:solidFill>
                  <a:schemeClr val="tx1"/>
                </a:solidFill>
              </a:rPr>
              <a:t>and proprietary information owned</a:t>
            </a:r>
            <a:br>
              <a:rPr lang="en-US" sz="2000" dirty="0">
                <a:solidFill>
                  <a:schemeClr val="tx1"/>
                </a:solidFill>
              </a:rPr>
            </a:br>
            <a:r>
              <a:rPr lang="en-US" sz="2000" dirty="0">
                <a:solidFill>
                  <a:schemeClr val="tx1"/>
                </a:solidFill>
              </a:rPr>
              <a:t> by Lean Horizons Consulting, LLC.</a:t>
            </a:r>
            <a:br>
              <a:rPr lang="en-US" sz="2000" dirty="0">
                <a:solidFill>
                  <a:schemeClr val="tx1"/>
                </a:solidFill>
              </a:rPr>
            </a:br>
            <a:br>
              <a:rPr lang="en-US" sz="2000" dirty="0">
                <a:solidFill>
                  <a:schemeClr val="tx1"/>
                </a:solidFill>
              </a:rPr>
            </a:br>
            <a:r>
              <a:rPr lang="en-US" sz="2000" dirty="0">
                <a:solidFill>
                  <a:schemeClr val="tx1"/>
                </a:solidFill>
              </a:rPr>
              <a:t>Any disclosure, use, copying or</a:t>
            </a:r>
            <a:br>
              <a:rPr lang="en-US" sz="2000" dirty="0">
                <a:solidFill>
                  <a:schemeClr val="tx1"/>
                </a:solidFill>
              </a:rPr>
            </a:br>
            <a:r>
              <a:rPr lang="en-US" sz="2000" dirty="0">
                <a:solidFill>
                  <a:schemeClr val="tx1"/>
                </a:solidFill>
              </a:rPr>
              <a:t>distribution of this information without the express written consent of Lean Horizons Consulting is strictly prohibited.</a:t>
            </a:r>
          </a:p>
        </p:txBody>
      </p:sp>
      <p:sp>
        <p:nvSpPr>
          <p:cNvPr id="12" name="Slide Number Placeholder 11">
            <a:extLst>
              <a:ext uri="{FF2B5EF4-FFF2-40B4-BE49-F238E27FC236}">
                <a16:creationId xmlns:a16="http://schemas.microsoft.com/office/drawing/2014/main" id="{C8A6FCFA-DB7B-71C3-70EC-F677EBA239A7}"/>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a:t>
            </a:fld>
            <a:endParaRPr lang="en-US"/>
          </a:p>
        </p:txBody>
      </p:sp>
    </p:spTree>
    <p:extLst>
      <p:ext uri="{BB962C8B-B14F-4D97-AF65-F5344CB8AC3E}">
        <p14:creationId xmlns:p14="http://schemas.microsoft.com/office/powerpoint/2010/main" val="3785296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61B1F-82BB-20AA-556E-27FE22CCD7A0}"/>
              </a:ext>
            </a:extLst>
          </p:cNvPr>
          <p:cNvSpPr>
            <a:spLocks noGrp="1"/>
          </p:cNvSpPr>
          <p:nvPr>
            <p:ph type="title"/>
          </p:nvPr>
        </p:nvSpPr>
        <p:spPr/>
        <p:txBody>
          <a:bodyPr>
            <a:normAutofit/>
          </a:bodyPr>
          <a:lstStyle/>
          <a:p>
            <a:r>
              <a:rPr lang="en-US" sz="4000" dirty="0">
                <a:latin typeface="Roboto Medium"/>
                <a:ea typeface="Roboto Medium"/>
                <a:cs typeface="Roboto Medium"/>
              </a:rPr>
              <a:t>Ground Rules for Event</a:t>
            </a:r>
          </a:p>
        </p:txBody>
      </p:sp>
      <p:sp>
        <p:nvSpPr>
          <p:cNvPr id="3" name="Content Placeholder 2">
            <a:extLst>
              <a:ext uri="{FF2B5EF4-FFF2-40B4-BE49-F238E27FC236}">
                <a16:creationId xmlns:a16="http://schemas.microsoft.com/office/drawing/2014/main" id="{D1CAA202-895A-70BD-7319-C214C2BDD1B2}"/>
              </a:ext>
            </a:extLst>
          </p:cNvPr>
          <p:cNvSpPr>
            <a:spLocks noGrp="1"/>
          </p:cNvSpPr>
          <p:nvPr>
            <p:ph idx="1"/>
          </p:nvPr>
        </p:nvSpPr>
        <p:spPr/>
        <p:txBody>
          <a:bodyPr/>
          <a:lstStyle/>
          <a:p>
            <a:r>
              <a:rPr lang="en-US" altLang="en-US" sz="2800" dirty="0"/>
              <a:t>Safety first (use personal protective equipment)</a:t>
            </a:r>
          </a:p>
          <a:p>
            <a:r>
              <a:rPr lang="en-US" altLang="en-US" sz="2800" dirty="0"/>
              <a:t>Active participation by all</a:t>
            </a:r>
          </a:p>
          <a:p>
            <a:r>
              <a:rPr lang="en-US" altLang="en-US" sz="2800" dirty="0"/>
              <a:t>Start and end on time</a:t>
            </a:r>
          </a:p>
          <a:p>
            <a:r>
              <a:rPr lang="en-US" altLang="en-US" sz="2800" dirty="0"/>
              <a:t>All electronic gadgets (phones, pagers, </a:t>
            </a:r>
            <a:r>
              <a:rPr lang="en-US" altLang="en-US" sz="2800" dirty="0" err="1"/>
              <a:t>etc</a:t>
            </a:r>
            <a:r>
              <a:rPr lang="en-US" altLang="en-US" sz="2800" dirty="0"/>
              <a:t>) turned to </a:t>
            </a:r>
            <a:r>
              <a:rPr lang="ja-JP" altLang="en-US" sz="2800" dirty="0"/>
              <a:t>“</a:t>
            </a:r>
            <a:r>
              <a:rPr lang="en-US" altLang="ja-JP" sz="2800" dirty="0"/>
              <a:t>off</a:t>
            </a:r>
            <a:r>
              <a:rPr lang="ja-JP" altLang="en-US" sz="2800" dirty="0"/>
              <a:t>”</a:t>
            </a:r>
            <a:r>
              <a:rPr lang="en-US" altLang="ja-JP" sz="2800" dirty="0"/>
              <a:t> or </a:t>
            </a:r>
            <a:r>
              <a:rPr lang="ja-JP" altLang="en-US" sz="2800" dirty="0"/>
              <a:t>“</a:t>
            </a:r>
            <a:r>
              <a:rPr lang="en-US" altLang="ja-JP" sz="2800" dirty="0"/>
              <a:t>silent</a:t>
            </a:r>
            <a:r>
              <a:rPr lang="ja-JP" altLang="en-US" sz="2800" dirty="0"/>
              <a:t>”</a:t>
            </a:r>
            <a:endParaRPr lang="en-US" altLang="ja-JP" sz="2800" dirty="0"/>
          </a:p>
          <a:p>
            <a:r>
              <a:rPr lang="en-US" altLang="en-US" sz="2800" dirty="0"/>
              <a:t>Computers to be used only when instructed</a:t>
            </a:r>
          </a:p>
          <a:p>
            <a:r>
              <a:rPr lang="en-US" altLang="en-US" sz="2800" dirty="0"/>
              <a:t>Keep an open mind to change</a:t>
            </a:r>
          </a:p>
          <a:p>
            <a:r>
              <a:rPr lang="en-US" altLang="en-US" sz="2800" dirty="0"/>
              <a:t>Don</a:t>
            </a:r>
            <a:r>
              <a:rPr lang="ja-JP" altLang="en-US" sz="2800" dirty="0"/>
              <a:t>’</a:t>
            </a:r>
            <a:r>
              <a:rPr lang="en-US" altLang="ja-JP" sz="2800" dirty="0"/>
              <a:t>t let </a:t>
            </a:r>
            <a:r>
              <a:rPr lang="ja-JP" altLang="en-US" sz="2800" dirty="0"/>
              <a:t>“</a:t>
            </a:r>
            <a:r>
              <a:rPr lang="en-US" altLang="ja-JP" sz="2800" dirty="0"/>
              <a:t>perfect</a:t>
            </a:r>
            <a:r>
              <a:rPr lang="ja-JP" altLang="en-US" sz="2800" dirty="0"/>
              <a:t>”</a:t>
            </a:r>
            <a:r>
              <a:rPr lang="en-US" altLang="ja-JP" sz="2800" dirty="0"/>
              <a:t> get in the way of </a:t>
            </a:r>
            <a:r>
              <a:rPr lang="ja-JP" altLang="en-US" sz="2800" dirty="0"/>
              <a:t>“</a:t>
            </a:r>
            <a:r>
              <a:rPr lang="en-US" altLang="ja-JP" sz="2800" dirty="0"/>
              <a:t>better</a:t>
            </a:r>
            <a:r>
              <a:rPr lang="ja-JP" altLang="en-US" sz="2800" dirty="0"/>
              <a:t>”</a:t>
            </a:r>
            <a:endParaRPr lang="en-US" altLang="en-US" sz="2800" dirty="0"/>
          </a:p>
        </p:txBody>
      </p:sp>
      <p:sp>
        <p:nvSpPr>
          <p:cNvPr id="8" name="Slide Number Placeholder 7">
            <a:extLst>
              <a:ext uri="{FF2B5EF4-FFF2-40B4-BE49-F238E27FC236}">
                <a16:creationId xmlns:a16="http://schemas.microsoft.com/office/drawing/2014/main" id="{42705716-A551-625A-37E2-96047D07B497}"/>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4</a:t>
            </a:fld>
            <a:endParaRPr lang="en-US"/>
          </a:p>
        </p:txBody>
      </p:sp>
    </p:spTree>
    <p:extLst>
      <p:ext uri="{BB962C8B-B14F-4D97-AF65-F5344CB8AC3E}">
        <p14:creationId xmlns:p14="http://schemas.microsoft.com/office/powerpoint/2010/main" val="2726188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Goal of Standard Work Module</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To define Standard Work and apply the Standard Work process and tools to achieve a target goal for your business. </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a:t>
            </a:fld>
            <a:endParaRPr lang="en-US"/>
          </a:p>
        </p:txBody>
      </p:sp>
      <p:grpSp>
        <p:nvGrpSpPr>
          <p:cNvPr id="9" name="Group 8">
            <a:extLst>
              <a:ext uri="{FF2B5EF4-FFF2-40B4-BE49-F238E27FC236}">
                <a16:creationId xmlns:a16="http://schemas.microsoft.com/office/drawing/2014/main" id="{73F83C5F-01DC-99F1-D42F-860102D3FB4C}"/>
              </a:ext>
            </a:extLst>
          </p:cNvPr>
          <p:cNvGrpSpPr/>
          <p:nvPr/>
        </p:nvGrpSpPr>
        <p:grpSpPr>
          <a:xfrm>
            <a:off x="1729105" y="3429000"/>
            <a:ext cx="8028542" cy="1891030"/>
            <a:chOff x="1603375" y="3835400"/>
            <a:chExt cx="5735638" cy="1350963"/>
          </a:xfrm>
        </p:grpSpPr>
        <p:sp>
          <p:nvSpPr>
            <p:cNvPr id="4" name="AutoShape 9">
              <a:extLst>
                <a:ext uri="{FF2B5EF4-FFF2-40B4-BE49-F238E27FC236}">
                  <a16:creationId xmlns:a16="http://schemas.microsoft.com/office/drawing/2014/main" id="{53A8133C-B6BE-F47E-D91A-0845803C88CC}"/>
                </a:ext>
              </a:extLst>
            </p:cNvPr>
            <p:cNvSpPr>
              <a:spLocks noChangeArrowheads="1"/>
            </p:cNvSpPr>
            <p:nvPr/>
          </p:nvSpPr>
          <p:spPr bwMode="auto">
            <a:xfrm>
              <a:off x="5738813" y="3835400"/>
              <a:ext cx="1600200" cy="1346200"/>
            </a:xfrm>
            <a:prstGeom prst="homePlate">
              <a:avLst>
                <a:gd name="adj" fmla="val 11155"/>
              </a:avLst>
            </a:prstGeom>
            <a:solidFill>
              <a:schemeClr val="accent1"/>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2000">
                  <a:solidFill>
                    <a:schemeClr val="bg1"/>
                  </a:solidFill>
                  <a:latin typeface="Roboto" panose="02000000000000000000" pitchFamily="2" charset="0"/>
                  <a:ea typeface="Roboto" panose="02000000000000000000" pitchFamily="2" charset="0"/>
                </a:rPr>
                <a:t>Standard</a:t>
              </a:r>
              <a:br>
                <a:rPr lang="en-US" altLang="en-US" sz="2000">
                  <a:solidFill>
                    <a:schemeClr val="bg1"/>
                  </a:solidFill>
                  <a:latin typeface="Roboto" panose="02000000000000000000" pitchFamily="2" charset="0"/>
                  <a:ea typeface="Roboto" panose="02000000000000000000" pitchFamily="2" charset="0"/>
                </a:rPr>
              </a:br>
              <a:r>
                <a:rPr lang="en-US" altLang="en-US" sz="2000">
                  <a:solidFill>
                    <a:schemeClr val="bg1"/>
                  </a:solidFill>
                  <a:latin typeface="Roboto" panose="02000000000000000000" pitchFamily="2" charset="0"/>
                  <a:ea typeface="Roboto" panose="02000000000000000000" pitchFamily="2" charset="0"/>
                </a:rPr>
                <a:t>Work</a:t>
              </a:r>
              <a:br>
                <a:rPr lang="en-US" altLang="en-US" sz="2000">
                  <a:solidFill>
                    <a:schemeClr val="bg1"/>
                  </a:solidFill>
                  <a:latin typeface="Roboto" panose="02000000000000000000" pitchFamily="2" charset="0"/>
                  <a:ea typeface="Roboto" panose="02000000000000000000" pitchFamily="2" charset="0"/>
                </a:rPr>
              </a:br>
              <a:r>
                <a:rPr lang="en-US" altLang="en-US" sz="2000">
                  <a:solidFill>
                    <a:schemeClr val="bg1"/>
                  </a:solidFill>
                  <a:latin typeface="Roboto" panose="02000000000000000000" pitchFamily="2" charset="0"/>
                  <a:ea typeface="Roboto" panose="02000000000000000000" pitchFamily="2" charset="0"/>
                </a:rPr>
                <a:t>     Documentation</a:t>
              </a:r>
            </a:p>
          </p:txBody>
        </p:sp>
        <p:sp>
          <p:nvSpPr>
            <p:cNvPr id="6" name="AutoShape 10">
              <a:extLst>
                <a:ext uri="{FF2B5EF4-FFF2-40B4-BE49-F238E27FC236}">
                  <a16:creationId xmlns:a16="http://schemas.microsoft.com/office/drawing/2014/main" id="{628F8213-411B-A7ED-F1AD-09DE6D25C7E8}"/>
                </a:ext>
              </a:extLst>
            </p:cNvPr>
            <p:cNvSpPr>
              <a:spLocks noChangeArrowheads="1"/>
            </p:cNvSpPr>
            <p:nvPr/>
          </p:nvSpPr>
          <p:spPr bwMode="auto">
            <a:xfrm>
              <a:off x="4398963" y="3835400"/>
              <a:ext cx="1600200" cy="1346200"/>
            </a:xfrm>
            <a:prstGeom prst="homePlate">
              <a:avLst>
                <a:gd name="adj" fmla="val 11155"/>
              </a:avLst>
            </a:prstGeom>
            <a:solidFill>
              <a:schemeClr val="accent1"/>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2000">
                  <a:solidFill>
                    <a:schemeClr val="bg1"/>
                  </a:solidFill>
                  <a:latin typeface="Roboto" panose="02000000000000000000" pitchFamily="2" charset="0"/>
                  <a:ea typeface="Roboto" panose="02000000000000000000" pitchFamily="2" charset="0"/>
                </a:rPr>
                <a:t>Standard</a:t>
              </a:r>
              <a:br>
                <a:rPr lang="en-US" altLang="en-US" sz="2000">
                  <a:solidFill>
                    <a:schemeClr val="bg1"/>
                  </a:solidFill>
                  <a:latin typeface="Roboto" panose="02000000000000000000" pitchFamily="2" charset="0"/>
                  <a:ea typeface="Roboto" panose="02000000000000000000" pitchFamily="2" charset="0"/>
                </a:rPr>
              </a:br>
              <a:r>
                <a:rPr lang="en-US" altLang="en-US" sz="2000">
                  <a:solidFill>
                    <a:schemeClr val="bg1"/>
                  </a:solidFill>
                  <a:latin typeface="Roboto" panose="02000000000000000000" pitchFamily="2" charset="0"/>
                  <a:ea typeface="Roboto" panose="02000000000000000000" pitchFamily="2" charset="0"/>
                </a:rPr>
                <a:t>Work In</a:t>
              </a:r>
              <a:br>
                <a:rPr lang="en-US" altLang="en-US" sz="2000">
                  <a:solidFill>
                    <a:schemeClr val="bg1"/>
                  </a:solidFill>
                  <a:latin typeface="Roboto" panose="02000000000000000000" pitchFamily="2" charset="0"/>
                  <a:ea typeface="Roboto" panose="02000000000000000000" pitchFamily="2" charset="0"/>
                </a:rPr>
              </a:br>
              <a:r>
                <a:rPr lang="en-US" altLang="en-US" sz="2000">
                  <a:solidFill>
                    <a:schemeClr val="bg1"/>
                  </a:solidFill>
                  <a:latin typeface="Roboto" panose="02000000000000000000" pitchFamily="2" charset="0"/>
                  <a:ea typeface="Roboto" panose="02000000000000000000" pitchFamily="2" charset="0"/>
                </a:rPr>
                <a:t>Process</a:t>
              </a:r>
              <a:br>
                <a:rPr lang="en-US" altLang="en-US" sz="2000">
                  <a:solidFill>
                    <a:schemeClr val="bg1"/>
                  </a:solidFill>
                  <a:latin typeface="Roboto" panose="02000000000000000000" pitchFamily="2" charset="0"/>
                  <a:ea typeface="Roboto" panose="02000000000000000000" pitchFamily="2" charset="0"/>
                </a:rPr>
              </a:br>
              <a:r>
                <a:rPr lang="en-US" altLang="en-US" sz="2000">
                  <a:solidFill>
                    <a:schemeClr val="bg1"/>
                  </a:solidFill>
                  <a:latin typeface="Roboto" panose="02000000000000000000" pitchFamily="2" charset="0"/>
                  <a:ea typeface="Roboto" panose="02000000000000000000" pitchFamily="2" charset="0"/>
                </a:rPr>
                <a:t>(WIP)</a:t>
              </a:r>
            </a:p>
          </p:txBody>
        </p:sp>
        <p:sp>
          <p:nvSpPr>
            <p:cNvPr id="7" name="AutoShape 3">
              <a:extLst>
                <a:ext uri="{FF2B5EF4-FFF2-40B4-BE49-F238E27FC236}">
                  <a16:creationId xmlns:a16="http://schemas.microsoft.com/office/drawing/2014/main" id="{6FE540A8-36D1-C5AC-18F7-28D714F6603E}"/>
                </a:ext>
              </a:extLst>
            </p:cNvPr>
            <p:cNvSpPr>
              <a:spLocks noChangeArrowheads="1"/>
            </p:cNvSpPr>
            <p:nvPr/>
          </p:nvSpPr>
          <p:spPr bwMode="auto">
            <a:xfrm>
              <a:off x="2943225" y="3840163"/>
              <a:ext cx="1600200" cy="1346200"/>
            </a:xfrm>
            <a:prstGeom prst="homePlate">
              <a:avLst>
                <a:gd name="adj" fmla="val 11155"/>
              </a:avLst>
            </a:prstGeom>
            <a:solidFill>
              <a:schemeClr val="accent1"/>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2000">
                  <a:solidFill>
                    <a:schemeClr val="bg1"/>
                  </a:solidFill>
                  <a:latin typeface="Roboto" panose="02000000000000000000" pitchFamily="2" charset="0"/>
                  <a:ea typeface="Roboto" panose="02000000000000000000" pitchFamily="2" charset="0"/>
                </a:rPr>
                <a:t>Work</a:t>
              </a:r>
              <a:br>
                <a:rPr lang="en-US" altLang="en-US" sz="2000">
                  <a:solidFill>
                    <a:schemeClr val="bg1"/>
                  </a:solidFill>
                  <a:latin typeface="Roboto" panose="02000000000000000000" pitchFamily="2" charset="0"/>
                  <a:ea typeface="Roboto" panose="02000000000000000000" pitchFamily="2" charset="0"/>
                </a:rPr>
              </a:br>
              <a:r>
                <a:rPr lang="en-US" altLang="en-US" sz="2000">
                  <a:solidFill>
                    <a:schemeClr val="bg1"/>
                  </a:solidFill>
                  <a:latin typeface="Roboto" panose="02000000000000000000" pitchFamily="2" charset="0"/>
                  <a:ea typeface="Roboto" panose="02000000000000000000" pitchFamily="2" charset="0"/>
                </a:rPr>
                <a:t>Sequence</a:t>
              </a:r>
            </a:p>
          </p:txBody>
        </p:sp>
        <p:sp>
          <p:nvSpPr>
            <p:cNvPr id="8" name="AutoShape 4">
              <a:extLst>
                <a:ext uri="{FF2B5EF4-FFF2-40B4-BE49-F238E27FC236}">
                  <a16:creationId xmlns:a16="http://schemas.microsoft.com/office/drawing/2014/main" id="{2365E74D-CD90-5431-54F9-31AD4F4EB7C4}"/>
                </a:ext>
              </a:extLst>
            </p:cNvPr>
            <p:cNvSpPr>
              <a:spLocks noChangeArrowheads="1"/>
            </p:cNvSpPr>
            <p:nvPr/>
          </p:nvSpPr>
          <p:spPr bwMode="auto">
            <a:xfrm>
              <a:off x="1603375" y="3840163"/>
              <a:ext cx="1600200" cy="1346200"/>
            </a:xfrm>
            <a:prstGeom prst="homePlate">
              <a:avLst>
                <a:gd name="adj" fmla="val 11155"/>
              </a:avLst>
            </a:prstGeom>
            <a:solidFill>
              <a:schemeClr val="accent1"/>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2000" dirty="0">
                  <a:solidFill>
                    <a:schemeClr val="bg1"/>
                  </a:solidFill>
                  <a:latin typeface="Roboto" panose="02000000000000000000" pitchFamily="2" charset="0"/>
                  <a:ea typeface="Roboto" panose="02000000000000000000" pitchFamily="2" charset="0"/>
                </a:rPr>
                <a:t>Takt</a:t>
              </a:r>
              <a:br>
                <a:rPr lang="en-US" altLang="en-US" sz="2000" dirty="0">
                  <a:solidFill>
                    <a:schemeClr val="bg1"/>
                  </a:solidFill>
                  <a:latin typeface="Roboto" panose="02000000000000000000" pitchFamily="2" charset="0"/>
                  <a:ea typeface="Roboto" panose="02000000000000000000" pitchFamily="2" charset="0"/>
                </a:rPr>
              </a:br>
              <a:r>
                <a:rPr lang="en-US" altLang="en-US" sz="2000" dirty="0">
                  <a:solidFill>
                    <a:schemeClr val="bg1"/>
                  </a:solidFill>
                  <a:latin typeface="Roboto" panose="02000000000000000000" pitchFamily="2" charset="0"/>
                  <a:ea typeface="Roboto" panose="02000000000000000000" pitchFamily="2" charset="0"/>
                </a:rPr>
                <a:t>Time vs.</a:t>
              </a:r>
              <a:br>
                <a:rPr lang="en-US" altLang="en-US" sz="2000" dirty="0">
                  <a:solidFill>
                    <a:schemeClr val="bg1"/>
                  </a:solidFill>
                  <a:latin typeface="Roboto" panose="02000000000000000000" pitchFamily="2" charset="0"/>
                  <a:ea typeface="Roboto" panose="02000000000000000000" pitchFamily="2" charset="0"/>
                </a:rPr>
              </a:br>
              <a:r>
                <a:rPr lang="en-US" altLang="en-US" sz="2000" dirty="0">
                  <a:solidFill>
                    <a:schemeClr val="bg1"/>
                  </a:solidFill>
                  <a:latin typeface="Roboto" panose="02000000000000000000" pitchFamily="2" charset="0"/>
                  <a:ea typeface="Roboto" panose="02000000000000000000" pitchFamily="2" charset="0"/>
                </a:rPr>
                <a:t>Process Time</a:t>
              </a:r>
            </a:p>
          </p:txBody>
        </p:sp>
      </p:grpSp>
    </p:spTree>
    <p:extLst>
      <p:ext uri="{BB962C8B-B14F-4D97-AF65-F5344CB8AC3E}">
        <p14:creationId xmlns:p14="http://schemas.microsoft.com/office/powerpoint/2010/main" val="12744831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Cycle of Improvement</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a:t>
            </a:fld>
            <a:endParaRPr lang="en-US"/>
          </a:p>
        </p:txBody>
      </p:sp>
      <p:grpSp>
        <p:nvGrpSpPr>
          <p:cNvPr id="3" name="Group 29">
            <a:extLst>
              <a:ext uri="{FF2B5EF4-FFF2-40B4-BE49-F238E27FC236}">
                <a16:creationId xmlns:a16="http://schemas.microsoft.com/office/drawing/2014/main" id="{5A87F8E5-BED9-95D6-32AE-5D2DEC0312F3}"/>
              </a:ext>
            </a:extLst>
          </p:cNvPr>
          <p:cNvGrpSpPr>
            <a:grpSpLocks/>
          </p:cNvGrpSpPr>
          <p:nvPr/>
        </p:nvGrpSpPr>
        <p:grpSpPr bwMode="auto">
          <a:xfrm>
            <a:off x="2263458" y="1940025"/>
            <a:ext cx="7665085" cy="4140733"/>
            <a:chOff x="1188134" y="1940471"/>
            <a:chExt cx="6906005" cy="3792673"/>
          </a:xfrm>
        </p:grpSpPr>
        <p:sp>
          <p:nvSpPr>
            <p:cNvPr id="5" name="Rectangle 4">
              <a:extLst>
                <a:ext uri="{FF2B5EF4-FFF2-40B4-BE49-F238E27FC236}">
                  <a16:creationId xmlns:a16="http://schemas.microsoft.com/office/drawing/2014/main" id="{C8E446F5-0B6E-AC65-8C92-C0E404637FEF}"/>
                </a:ext>
              </a:extLst>
            </p:cNvPr>
            <p:cNvSpPr>
              <a:spLocks noChangeArrowheads="1"/>
            </p:cNvSpPr>
            <p:nvPr/>
          </p:nvSpPr>
          <p:spPr bwMode="auto">
            <a:xfrm>
              <a:off x="3825117" y="5001262"/>
              <a:ext cx="1443116" cy="731882"/>
            </a:xfrm>
            <a:prstGeom prst="rect">
              <a:avLst/>
            </a:prstGeom>
            <a:noFill/>
            <a:ln w="34925">
              <a:solidFill>
                <a:schemeClr val="tx1"/>
              </a:solidFill>
              <a:miter lim="800000"/>
              <a:headEnd/>
              <a:tailEnd/>
            </a:ln>
          </p:spPr>
          <p:txBody>
            <a:bodyPr lIns="92075" tIns="46038" rIns="92075" bIns="46038" anchor="ctr"/>
            <a:lstStyle/>
            <a:p>
              <a:pPr algn="ctr">
                <a:lnSpc>
                  <a:spcPct val="80000"/>
                </a:lnSpc>
                <a:spcBef>
                  <a:spcPct val="20000"/>
                </a:spcBef>
                <a:defRPr/>
              </a:pPr>
              <a:r>
                <a:rPr lang="en-US" sz="1600" dirty="0">
                  <a:solidFill>
                    <a:schemeClr val="tx1"/>
                  </a:solidFill>
                  <a:latin typeface="Roboto" panose="02000000000000000000" pitchFamily="2" charset="0"/>
                  <a:ea typeface="Roboto" panose="02000000000000000000" pitchFamily="2" charset="0"/>
                  <a:cs typeface="Arial" pitchFamily="34" charset="0"/>
                </a:rPr>
                <a:t>Root Cause</a:t>
              </a:r>
            </a:p>
            <a:p>
              <a:pPr algn="ctr">
                <a:lnSpc>
                  <a:spcPct val="80000"/>
                </a:lnSpc>
                <a:spcBef>
                  <a:spcPct val="20000"/>
                </a:spcBef>
                <a:defRPr/>
              </a:pPr>
              <a:endParaRPr lang="en-US" sz="1600" dirty="0">
                <a:solidFill>
                  <a:schemeClr val="tx1"/>
                </a:solidFill>
                <a:latin typeface="Roboto" panose="02000000000000000000" pitchFamily="2" charset="0"/>
                <a:ea typeface="Roboto" panose="02000000000000000000" pitchFamily="2" charset="0"/>
                <a:cs typeface="Arial" pitchFamily="34" charset="0"/>
              </a:endParaRPr>
            </a:p>
          </p:txBody>
        </p:sp>
        <p:sp>
          <p:nvSpPr>
            <p:cNvPr id="6" name="Rectangle 12">
              <a:extLst>
                <a:ext uri="{FF2B5EF4-FFF2-40B4-BE49-F238E27FC236}">
                  <a16:creationId xmlns:a16="http://schemas.microsoft.com/office/drawing/2014/main" id="{A6204989-6D4C-64CE-4576-056402943906}"/>
                </a:ext>
              </a:extLst>
            </p:cNvPr>
            <p:cNvSpPr>
              <a:spLocks noChangeArrowheads="1"/>
            </p:cNvSpPr>
            <p:nvPr/>
          </p:nvSpPr>
          <p:spPr bwMode="auto">
            <a:xfrm>
              <a:off x="3782250" y="1940471"/>
              <a:ext cx="1528846" cy="731882"/>
            </a:xfrm>
            <a:prstGeom prst="rect">
              <a:avLst/>
            </a:prstGeom>
            <a:noFill/>
            <a:ln w="34925">
              <a:solidFill>
                <a:schemeClr val="tx1"/>
              </a:solidFill>
              <a:miter lim="800000"/>
              <a:headEnd/>
              <a:tailEnd/>
            </a:ln>
          </p:spPr>
          <p:txBody>
            <a:bodyPr lIns="92075" tIns="46038" rIns="92075" bIns="46038" anchor="ctr"/>
            <a:lstStyle/>
            <a:p>
              <a:pPr algn="ctr">
                <a:lnSpc>
                  <a:spcPct val="80000"/>
                </a:lnSpc>
                <a:spcBef>
                  <a:spcPct val="20000"/>
                </a:spcBef>
                <a:defRPr/>
              </a:pPr>
              <a:r>
                <a:rPr lang="en-US" sz="1600" dirty="0">
                  <a:solidFill>
                    <a:schemeClr val="tx1"/>
                  </a:solidFill>
                  <a:latin typeface="Roboto" panose="02000000000000000000" pitchFamily="2" charset="0"/>
                  <a:ea typeface="Roboto" panose="02000000000000000000" pitchFamily="2" charset="0"/>
                  <a:cs typeface="Arial" pitchFamily="34" charset="0"/>
                </a:rPr>
                <a:t>Standardize/</a:t>
              </a:r>
            </a:p>
            <a:p>
              <a:pPr algn="ctr">
                <a:lnSpc>
                  <a:spcPct val="80000"/>
                </a:lnSpc>
                <a:spcBef>
                  <a:spcPct val="20000"/>
                </a:spcBef>
                <a:defRPr/>
              </a:pPr>
              <a:r>
                <a:rPr lang="en-US" sz="1600" dirty="0">
                  <a:solidFill>
                    <a:schemeClr val="tx1"/>
                  </a:solidFill>
                  <a:latin typeface="Roboto" panose="02000000000000000000" pitchFamily="2" charset="0"/>
                  <a:ea typeface="Roboto" panose="02000000000000000000" pitchFamily="2" charset="0"/>
                  <a:cs typeface="Arial" pitchFamily="34" charset="0"/>
                </a:rPr>
                <a:t>Adherence</a:t>
              </a:r>
            </a:p>
          </p:txBody>
        </p:sp>
        <p:sp>
          <p:nvSpPr>
            <p:cNvPr id="7" name="Rectangle 13">
              <a:extLst>
                <a:ext uri="{FF2B5EF4-FFF2-40B4-BE49-F238E27FC236}">
                  <a16:creationId xmlns:a16="http://schemas.microsoft.com/office/drawing/2014/main" id="{90875B03-B469-5194-474A-1356F190C3E9}"/>
                </a:ext>
              </a:extLst>
            </p:cNvPr>
            <p:cNvSpPr>
              <a:spLocks noChangeArrowheads="1"/>
            </p:cNvSpPr>
            <p:nvPr/>
          </p:nvSpPr>
          <p:spPr bwMode="auto">
            <a:xfrm>
              <a:off x="5936608" y="3386678"/>
              <a:ext cx="2157531" cy="731881"/>
            </a:xfrm>
            <a:prstGeom prst="rect">
              <a:avLst/>
            </a:prstGeom>
            <a:noFill/>
            <a:ln w="34925">
              <a:solidFill>
                <a:schemeClr val="tx1"/>
              </a:solidFill>
              <a:miter lim="800000"/>
              <a:headEnd/>
              <a:tailEnd/>
            </a:ln>
          </p:spPr>
          <p:txBody>
            <a:bodyPr lIns="92075" tIns="46038" rIns="92075" bIns="46038" anchor="ctr"/>
            <a:lstStyle/>
            <a:p>
              <a:pPr algn="ctr">
                <a:lnSpc>
                  <a:spcPct val="80000"/>
                </a:lnSpc>
                <a:spcBef>
                  <a:spcPct val="20000"/>
                </a:spcBef>
                <a:defRPr/>
              </a:pPr>
              <a:r>
                <a:rPr lang="en-US" sz="1600" dirty="0">
                  <a:solidFill>
                    <a:schemeClr val="tx1"/>
                  </a:solidFill>
                  <a:latin typeface="Roboto" panose="02000000000000000000" pitchFamily="2" charset="0"/>
                  <a:ea typeface="Roboto" panose="02000000000000000000" pitchFamily="2" charset="0"/>
                  <a:cs typeface="Arial" pitchFamily="34" charset="0"/>
                </a:rPr>
                <a:t>Expose and</a:t>
              </a:r>
            </a:p>
            <a:p>
              <a:pPr algn="ctr">
                <a:lnSpc>
                  <a:spcPct val="80000"/>
                </a:lnSpc>
                <a:spcBef>
                  <a:spcPct val="20000"/>
                </a:spcBef>
                <a:defRPr/>
              </a:pPr>
              <a:r>
                <a:rPr lang="en-US" sz="1600" dirty="0">
                  <a:solidFill>
                    <a:schemeClr val="tx1"/>
                  </a:solidFill>
                  <a:latin typeface="Roboto" panose="02000000000000000000" pitchFamily="2" charset="0"/>
                  <a:ea typeface="Roboto" panose="02000000000000000000" pitchFamily="2" charset="0"/>
                  <a:cs typeface="Arial" pitchFamily="34" charset="0"/>
                </a:rPr>
                <a:t>Quantify Problems</a:t>
              </a:r>
            </a:p>
          </p:txBody>
        </p:sp>
        <p:sp>
          <p:nvSpPr>
            <p:cNvPr id="8" name="Rectangle 14">
              <a:extLst>
                <a:ext uri="{FF2B5EF4-FFF2-40B4-BE49-F238E27FC236}">
                  <a16:creationId xmlns:a16="http://schemas.microsoft.com/office/drawing/2014/main" id="{2F4BC893-7F25-AF7D-4526-A8E925443927}"/>
                </a:ext>
              </a:extLst>
            </p:cNvPr>
            <p:cNvSpPr>
              <a:spLocks noChangeArrowheads="1"/>
            </p:cNvSpPr>
            <p:nvPr/>
          </p:nvSpPr>
          <p:spPr bwMode="auto">
            <a:xfrm>
              <a:off x="1188134" y="3432718"/>
              <a:ext cx="2049576" cy="731882"/>
            </a:xfrm>
            <a:prstGeom prst="rect">
              <a:avLst/>
            </a:prstGeom>
            <a:noFill/>
            <a:ln w="34925">
              <a:solidFill>
                <a:schemeClr val="tx1"/>
              </a:solidFill>
              <a:miter lim="800000"/>
              <a:headEnd/>
              <a:tailEnd/>
            </a:ln>
          </p:spPr>
          <p:txBody>
            <a:bodyPr lIns="92075" tIns="46038" rIns="92075" bIns="46038" anchor="ctr"/>
            <a:lstStyle/>
            <a:p>
              <a:pPr algn="ctr">
                <a:lnSpc>
                  <a:spcPct val="80000"/>
                </a:lnSpc>
                <a:spcBef>
                  <a:spcPct val="20000"/>
                </a:spcBef>
                <a:defRPr/>
              </a:pPr>
              <a:r>
                <a:rPr lang="en-US" sz="1600" dirty="0">
                  <a:solidFill>
                    <a:schemeClr val="tx1"/>
                  </a:solidFill>
                  <a:latin typeface="Roboto" panose="02000000000000000000" pitchFamily="2" charset="0"/>
                  <a:ea typeface="Roboto" panose="02000000000000000000" pitchFamily="2" charset="0"/>
                  <a:cs typeface="Arial" pitchFamily="34" charset="0"/>
                </a:rPr>
                <a:t>Implement</a:t>
              </a:r>
            </a:p>
            <a:p>
              <a:pPr algn="ctr">
                <a:lnSpc>
                  <a:spcPct val="80000"/>
                </a:lnSpc>
                <a:spcBef>
                  <a:spcPct val="20000"/>
                </a:spcBef>
                <a:defRPr/>
              </a:pPr>
              <a:r>
                <a:rPr lang="en-US" sz="1600" dirty="0">
                  <a:solidFill>
                    <a:schemeClr val="tx1"/>
                  </a:solidFill>
                  <a:latin typeface="Roboto" panose="02000000000000000000" pitchFamily="2" charset="0"/>
                  <a:ea typeface="Roboto" panose="02000000000000000000" pitchFamily="2" charset="0"/>
                  <a:cs typeface="Arial" pitchFamily="34" charset="0"/>
                </a:rPr>
                <a:t>Solutions</a:t>
              </a:r>
            </a:p>
          </p:txBody>
        </p:sp>
        <p:cxnSp>
          <p:nvCxnSpPr>
            <p:cNvPr id="9" name="AutoShape 26">
              <a:extLst>
                <a:ext uri="{FF2B5EF4-FFF2-40B4-BE49-F238E27FC236}">
                  <a16:creationId xmlns:a16="http://schemas.microsoft.com/office/drawing/2014/main" id="{C2632F68-AC75-C4D0-A546-B8231D67755F}"/>
                </a:ext>
              </a:extLst>
            </p:cNvPr>
            <p:cNvCxnSpPr>
              <a:cxnSpLocks noChangeShapeType="1"/>
              <a:stCxn id="7" idx="2"/>
              <a:endCxn id="5" idx="3"/>
            </p:cNvCxnSpPr>
            <p:nvPr/>
          </p:nvCxnSpPr>
          <p:spPr bwMode="auto">
            <a:xfrm rot="5400000">
              <a:off x="5517739" y="3869607"/>
              <a:ext cx="1248454" cy="1746554"/>
            </a:xfrm>
            <a:prstGeom prst="bentConnector2">
              <a:avLst/>
            </a:prstGeom>
            <a:noFill/>
            <a:ln w="57150">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0" name="AutoShape 27">
              <a:extLst>
                <a:ext uri="{FF2B5EF4-FFF2-40B4-BE49-F238E27FC236}">
                  <a16:creationId xmlns:a16="http://schemas.microsoft.com/office/drawing/2014/main" id="{D0724F71-F741-31F5-2414-E07294A47F9A}"/>
                </a:ext>
              </a:extLst>
            </p:cNvPr>
            <p:cNvCxnSpPr>
              <a:cxnSpLocks noChangeShapeType="1"/>
              <a:stCxn id="5" idx="1"/>
              <a:endCxn id="8" idx="2"/>
            </p:cNvCxnSpPr>
            <p:nvPr/>
          </p:nvCxnSpPr>
          <p:spPr bwMode="auto">
            <a:xfrm rot="10800000">
              <a:off x="2212537" y="4164695"/>
              <a:ext cx="1612435" cy="1202417"/>
            </a:xfrm>
            <a:prstGeom prst="bentConnector2">
              <a:avLst/>
            </a:prstGeom>
            <a:noFill/>
            <a:ln w="57150">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1" name="AutoShape 28">
              <a:extLst>
                <a:ext uri="{FF2B5EF4-FFF2-40B4-BE49-F238E27FC236}">
                  <a16:creationId xmlns:a16="http://schemas.microsoft.com/office/drawing/2014/main" id="{A750B50C-6547-E06D-56AD-BB595BF99F25}"/>
                </a:ext>
              </a:extLst>
            </p:cNvPr>
            <p:cNvCxnSpPr>
              <a:cxnSpLocks noChangeShapeType="1"/>
              <a:stCxn id="8" idx="0"/>
              <a:endCxn id="6" idx="1"/>
            </p:cNvCxnSpPr>
            <p:nvPr/>
          </p:nvCxnSpPr>
          <p:spPr bwMode="auto">
            <a:xfrm rot="5400000" flipH="1" flipV="1">
              <a:off x="2434434" y="2084902"/>
              <a:ext cx="1126306" cy="1569328"/>
            </a:xfrm>
            <a:prstGeom prst="bentConnector2">
              <a:avLst/>
            </a:prstGeom>
            <a:noFill/>
            <a:ln w="57150">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2" name="AutoShape 29">
              <a:extLst>
                <a:ext uri="{FF2B5EF4-FFF2-40B4-BE49-F238E27FC236}">
                  <a16:creationId xmlns:a16="http://schemas.microsoft.com/office/drawing/2014/main" id="{9EEE9259-7842-5FF3-3D73-F39A74C00964}"/>
                </a:ext>
              </a:extLst>
            </p:cNvPr>
            <p:cNvCxnSpPr>
              <a:cxnSpLocks noChangeShapeType="1"/>
              <a:stCxn id="6" idx="3"/>
              <a:endCxn id="7" idx="0"/>
            </p:cNvCxnSpPr>
            <p:nvPr/>
          </p:nvCxnSpPr>
          <p:spPr bwMode="auto">
            <a:xfrm>
              <a:off x="5311097" y="2306412"/>
              <a:ext cx="1704277" cy="1080266"/>
            </a:xfrm>
            <a:prstGeom prst="bentConnector2">
              <a:avLst/>
            </a:prstGeom>
            <a:noFill/>
            <a:ln w="57150">
              <a:solidFill>
                <a:schemeClr val="tx1"/>
              </a:solidFill>
              <a:miter lim="800000"/>
              <a:headEnd/>
              <a:tailEnd type="triangle" w="med" len="me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28371176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2800" dirty="0"/>
              <a:t>Standard Work:  There can be no improvement without a standard</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A tool that defines the interaction of people and their environment when processing a product or service</a:t>
            </a:r>
          </a:p>
          <a:p>
            <a:r>
              <a:rPr lang="en-US" dirty="0"/>
              <a:t>It details the work of the associate and work sequence used to produce any product or service</a:t>
            </a:r>
          </a:p>
          <a:p>
            <a:r>
              <a:rPr lang="en-US" dirty="0"/>
              <a:t>It provides a routine for consistency of an operation</a:t>
            </a:r>
          </a:p>
          <a:p>
            <a:r>
              <a:rPr lang="en-US" dirty="0"/>
              <a:t>It details best processes we currently know and understand</a:t>
            </a:r>
          </a:p>
          <a:p>
            <a:r>
              <a:rPr lang="en-US" dirty="0"/>
              <a:t>Provides a basis for improvement by defining the normal and highlighting the abnormal</a:t>
            </a:r>
          </a:p>
          <a:p>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a:t>
            </a:fld>
            <a:endParaRPr lang="en-US"/>
          </a:p>
        </p:txBody>
      </p:sp>
    </p:spTree>
    <p:extLst>
      <p:ext uri="{BB962C8B-B14F-4D97-AF65-F5344CB8AC3E}">
        <p14:creationId xmlns:p14="http://schemas.microsoft.com/office/powerpoint/2010/main" val="4331731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dirty="0"/>
              <a:t>Standard Work Characteristics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fontScale="92500" lnSpcReduction="10000"/>
          </a:bodyPr>
          <a:lstStyle/>
          <a:p>
            <a:pPr marL="514350" indent="-514350">
              <a:buFont typeface="+mj-lt"/>
              <a:buAutoNum type="arabicPeriod"/>
            </a:pPr>
            <a:r>
              <a:rPr lang="en-US" dirty="0"/>
              <a:t>Is a documented process.</a:t>
            </a:r>
          </a:p>
          <a:p>
            <a:pPr marL="514350" indent="-514350">
              <a:buFont typeface="+mj-lt"/>
              <a:buAutoNum type="arabicPeriod"/>
            </a:pPr>
            <a:r>
              <a:rPr lang="en-US" dirty="0"/>
              <a:t>Process must be repetitive to apply Standard Work concepts.</a:t>
            </a:r>
          </a:p>
          <a:p>
            <a:pPr marL="514350" indent="-514350">
              <a:buFont typeface="+mj-lt"/>
              <a:buAutoNum type="arabicPeriod"/>
            </a:pPr>
            <a:r>
              <a:rPr lang="en-US" dirty="0"/>
              <a:t>Separate focus on the Associate.</a:t>
            </a:r>
          </a:p>
          <a:p>
            <a:pPr marL="514350" indent="-514350">
              <a:buFont typeface="+mj-lt"/>
              <a:buAutoNum type="arabicPeriod"/>
            </a:pPr>
            <a:r>
              <a:rPr lang="en-US" dirty="0"/>
              <a:t>Separate focus on the equipment (computer, printer, fax) and systems.</a:t>
            </a:r>
          </a:p>
          <a:p>
            <a:pPr marL="514350" indent="-514350">
              <a:buFont typeface="+mj-lt"/>
              <a:buAutoNum type="arabicPeriod"/>
            </a:pPr>
            <a:r>
              <a:rPr lang="en-US" dirty="0"/>
              <a:t>Combined focus on the interaction of Associate and equipment.</a:t>
            </a:r>
          </a:p>
          <a:p>
            <a:pPr marL="514350" indent="-514350">
              <a:buFont typeface="+mj-lt"/>
              <a:buAutoNum type="arabicPeriod"/>
            </a:pPr>
            <a:r>
              <a:rPr lang="en-US" dirty="0"/>
              <a:t>Is different than a traditional timing of task study:</a:t>
            </a:r>
          </a:p>
          <a:p>
            <a:pPr lvl="1"/>
            <a:r>
              <a:rPr lang="en-US" dirty="0"/>
              <a:t>Takes customer demand and expectation into consideration</a:t>
            </a:r>
          </a:p>
          <a:p>
            <a:pPr lvl="1"/>
            <a:r>
              <a:rPr lang="en-US" dirty="0"/>
              <a:t>Expects that the Associate will perform multiple, repetitive tasks within a work sequence</a:t>
            </a:r>
          </a:p>
          <a:p>
            <a:pPr lvl="1"/>
            <a:r>
              <a:rPr lang="en-US" dirty="0"/>
              <a:t>Does not promote the building of unnecessary queues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8</a:t>
            </a:fld>
            <a:endParaRPr lang="en-US"/>
          </a:p>
        </p:txBody>
      </p:sp>
    </p:spTree>
    <p:extLst>
      <p:ext uri="{BB962C8B-B14F-4D97-AF65-F5344CB8AC3E}">
        <p14:creationId xmlns:p14="http://schemas.microsoft.com/office/powerpoint/2010/main" val="14646230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Standard Work Improves Productivity</a:t>
            </a:r>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a:xfrm>
            <a:off x="6245224" y="3516947"/>
            <a:ext cx="5181600" cy="959645"/>
          </a:xfrm>
        </p:spPr>
        <p:txBody>
          <a:bodyPr/>
          <a:lstStyle/>
          <a:p>
            <a:r>
              <a:rPr lang="en-US" dirty="0"/>
              <a:t>Standard Work impacts both sides of the equation</a:t>
            </a:r>
          </a:p>
          <a:p>
            <a:endParaRPr lang="en-US" dirty="0"/>
          </a:p>
          <a:p>
            <a:endParaRPr lang="en-US" dirty="0"/>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9</a:t>
            </a:fld>
            <a:endParaRPr lang="en-US"/>
          </a:p>
        </p:txBody>
      </p:sp>
      <p:grpSp>
        <p:nvGrpSpPr>
          <p:cNvPr id="19" name="Group 18">
            <a:extLst>
              <a:ext uri="{FF2B5EF4-FFF2-40B4-BE49-F238E27FC236}">
                <a16:creationId xmlns:a16="http://schemas.microsoft.com/office/drawing/2014/main" id="{1844AF30-0FA1-2DEE-642F-46FBD83ABDE5}"/>
              </a:ext>
            </a:extLst>
          </p:cNvPr>
          <p:cNvGrpSpPr/>
          <p:nvPr/>
        </p:nvGrpSpPr>
        <p:grpSpPr>
          <a:xfrm>
            <a:off x="765176" y="2234406"/>
            <a:ext cx="5254625" cy="3533775"/>
            <a:chOff x="495300" y="1571625"/>
            <a:chExt cx="5254625" cy="3533775"/>
          </a:xfrm>
        </p:grpSpPr>
        <p:sp>
          <p:nvSpPr>
            <p:cNvPr id="5" name="Rectangle 2">
              <a:extLst>
                <a:ext uri="{FF2B5EF4-FFF2-40B4-BE49-F238E27FC236}">
                  <a16:creationId xmlns:a16="http://schemas.microsoft.com/office/drawing/2014/main" id="{A6DD30FD-AD83-96AF-D2F0-297B19185271}"/>
                </a:ext>
              </a:extLst>
            </p:cNvPr>
            <p:cNvSpPr>
              <a:spLocks noChangeArrowheads="1"/>
            </p:cNvSpPr>
            <p:nvPr/>
          </p:nvSpPr>
          <p:spPr bwMode="auto">
            <a:xfrm>
              <a:off x="495300" y="1571625"/>
              <a:ext cx="5254625" cy="3533775"/>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7" name="Rectangle 19">
              <a:extLst>
                <a:ext uri="{FF2B5EF4-FFF2-40B4-BE49-F238E27FC236}">
                  <a16:creationId xmlns:a16="http://schemas.microsoft.com/office/drawing/2014/main" id="{007C0EC7-6565-D0CF-24E0-E179C2175319}"/>
                </a:ext>
              </a:extLst>
            </p:cNvPr>
            <p:cNvSpPr>
              <a:spLocks noChangeArrowheads="1"/>
            </p:cNvSpPr>
            <p:nvPr/>
          </p:nvSpPr>
          <p:spPr bwMode="auto">
            <a:xfrm>
              <a:off x="1824038" y="1973263"/>
              <a:ext cx="12192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Aft>
                  <a:spcPct val="0"/>
                </a:spcAft>
                <a:buClrTx/>
                <a:buSzTx/>
                <a:buFontTx/>
                <a:buNone/>
              </a:pPr>
              <a:r>
                <a:rPr lang="en-US" altLang="en-US" sz="3600" b="0">
                  <a:latin typeface="Roboto" panose="02000000000000000000" pitchFamily="2" charset="0"/>
                  <a:ea typeface="Roboto" panose="02000000000000000000" pitchFamily="2" charset="0"/>
                </a:rPr>
                <a:t>P =</a:t>
              </a:r>
            </a:p>
          </p:txBody>
        </p:sp>
        <p:sp>
          <p:nvSpPr>
            <p:cNvPr id="8" name="Rectangle 20">
              <a:extLst>
                <a:ext uri="{FF2B5EF4-FFF2-40B4-BE49-F238E27FC236}">
                  <a16:creationId xmlns:a16="http://schemas.microsoft.com/office/drawing/2014/main" id="{D65938C2-9D02-D0D4-3048-C7444DBFFF0A}"/>
                </a:ext>
              </a:extLst>
            </p:cNvPr>
            <p:cNvSpPr>
              <a:spLocks noChangeArrowheads="1"/>
            </p:cNvSpPr>
            <p:nvPr/>
          </p:nvSpPr>
          <p:spPr bwMode="auto">
            <a:xfrm>
              <a:off x="1071563" y="1808163"/>
              <a:ext cx="4246562"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Aft>
                  <a:spcPct val="0"/>
                </a:spcAft>
                <a:buClrTx/>
                <a:buSzTx/>
                <a:buFontTx/>
                <a:buNone/>
              </a:pPr>
              <a:r>
                <a:rPr lang="en-US" altLang="en-US" sz="2400">
                  <a:latin typeface="Roboto" panose="02000000000000000000" pitchFamily="2" charset="0"/>
                  <a:ea typeface="Roboto" panose="02000000000000000000" pitchFamily="2" charset="0"/>
                </a:rPr>
                <a:t>    		Output </a:t>
              </a:r>
            </a:p>
            <a:p>
              <a:pPr eaLnBrk="1" hangingPunct="1">
                <a:lnSpc>
                  <a:spcPct val="100000"/>
                </a:lnSpc>
                <a:spcAft>
                  <a:spcPct val="0"/>
                </a:spcAft>
                <a:buClrTx/>
                <a:buSzTx/>
                <a:buFontTx/>
                <a:buNone/>
              </a:pPr>
              <a:r>
                <a:rPr lang="en-US" altLang="en-US" sz="2400">
                  <a:latin typeface="Roboto" panose="02000000000000000000" pitchFamily="2" charset="0"/>
                  <a:ea typeface="Roboto" panose="02000000000000000000" pitchFamily="2" charset="0"/>
                </a:rPr>
                <a:t>   		 Input </a:t>
              </a:r>
            </a:p>
          </p:txBody>
        </p:sp>
        <p:sp>
          <p:nvSpPr>
            <p:cNvPr id="9" name="Line 21">
              <a:extLst>
                <a:ext uri="{FF2B5EF4-FFF2-40B4-BE49-F238E27FC236}">
                  <a16:creationId xmlns:a16="http://schemas.microsoft.com/office/drawing/2014/main" id="{ADE0E34E-1127-E529-C575-E4B9B6579386}"/>
                </a:ext>
              </a:extLst>
            </p:cNvPr>
            <p:cNvSpPr>
              <a:spLocks noChangeShapeType="1"/>
            </p:cNvSpPr>
            <p:nvPr/>
          </p:nvSpPr>
          <p:spPr bwMode="auto">
            <a:xfrm>
              <a:off x="2816225" y="2335213"/>
              <a:ext cx="1116013" cy="1587"/>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0" name="Line 23">
              <a:extLst>
                <a:ext uri="{FF2B5EF4-FFF2-40B4-BE49-F238E27FC236}">
                  <a16:creationId xmlns:a16="http://schemas.microsoft.com/office/drawing/2014/main" id="{0FCDCC8E-B44C-4EC4-1E76-56EDC97A19F6}"/>
                </a:ext>
              </a:extLst>
            </p:cNvPr>
            <p:cNvSpPr>
              <a:spLocks noChangeShapeType="1"/>
            </p:cNvSpPr>
            <p:nvPr/>
          </p:nvSpPr>
          <p:spPr bwMode="auto">
            <a:xfrm flipV="1">
              <a:off x="2668588" y="3725863"/>
              <a:ext cx="0" cy="357187"/>
            </a:xfrm>
            <a:prstGeom prst="line">
              <a:avLst/>
            </a:prstGeom>
            <a:noFill/>
            <a:ln w="571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1" name="Line 24">
              <a:extLst>
                <a:ext uri="{FF2B5EF4-FFF2-40B4-BE49-F238E27FC236}">
                  <a16:creationId xmlns:a16="http://schemas.microsoft.com/office/drawing/2014/main" id="{CA72A807-230E-ABCE-C2F0-29B1EDDA54F1}"/>
                </a:ext>
              </a:extLst>
            </p:cNvPr>
            <p:cNvSpPr>
              <a:spLocks noChangeShapeType="1"/>
            </p:cNvSpPr>
            <p:nvPr/>
          </p:nvSpPr>
          <p:spPr bwMode="auto">
            <a:xfrm rot="120000">
              <a:off x="2603500" y="4198938"/>
              <a:ext cx="14288" cy="354012"/>
            </a:xfrm>
            <a:prstGeom prst="line">
              <a:avLst/>
            </a:prstGeom>
            <a:noFill/>
            <a:ln w="571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8" name="Rectangle 22">
              <a:extLst>
                <a:ext uri="{FF2B5EF4-FFF2-40B4-BE49-F238E27FC236}">
                  <a16:creationId xmlns:a16="http://schemas.microsoft.com/office/drawing/2014/main" id="{3B6AE65D-28C7-2F80-BC5E-53C8B4662434}"/>
                </a:ext>
              </a:extLst>
            </p:cNvPr>
            <p:cNvSpPr>
              <a:spLocks noChangeArrowheads="1"/>
            </p:cNvSpPr>
            <p:nvPr/>
          </p:nvSpPr>
          <p:spPr bwMode="auto">
            <a:xfrm>
              <a:off x="822643" y="3467577"/>
              <a:ext cx="4821237"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Aft>
                  <a:spcPct val="0"/>
                </a:spcAft>
                <a:buClrTx/>
                <a:buSzTx/>
                <a:buFontTx/>
                <a:buNone/>
              </a:pPr>
              <a:r>
                <a:rPr lang="en-US" altLang="en-US" sz="1800" dirty="0">
                  <a:latin typeface="Roboto" panose="02000000000000000000" pitchFamily="2" charset="0"/>
                  <a:ea typeface="Roboto" panose="02000000000000000000" pitchFamily="2" charset="0"/>
                </a:rPr>
                <a:t>To improve productivity:</a:t>
              </a:r>
            </a:p>
            <a:p>
              <a:pPr eaLnBrk="1" hangingPunct="1">
                <a:lnSpc>
                  <a:spcPct val="100000"/>
                </a:lnSpc>
                <a:spcAft>
                  <a:spcPct val="0"/>
                </a:spcAft>
                <a:buClrTx/>
                <a:buSzTx/>
                <a:buFontTx/>
                <a:buNone/>
              </a:pPr>
              <a:r>
                <a:rPr lang="en-US" altLang="en-US" sz="1800" dirty="0">
                  <a:latin typeface="Roboto" panose="02000000000000000000" pitchFamily="2" charset="0"/>
                  <a:ea typeface="Roboto" panose="02000000000000000000" pitchFamily="2" charset="0"/>
                </a:rPr>
                <a:t>Output must go ___ at same input level</a:t>
              </a:r>
            </a:p>
            <a:p>
              <a:pPr eaLnBrk="1" hangingPunct="1">
                <a:lnSpc>
                  <a:spcPct val="100000"/>
                </a:lnSpc>
                <a:spcAft>
                  <a:spcPct val="0"/>
                </a:spcAft>
                <a:buClrTx/>
                <a:buSzTx/>
                <a:buFontTx/>
                <a:buNone/>
              </a:pPr>
              <a:r>
                <a:rPr lang="en-US" altLang="en-US" sz="1800" dirty="0">
                  <a:latin typeface="Roboto" panose="02000000000000000000" pitchFamily="2" charset="0"/>
                  <a:ea typeface="Roboto" panose="02000000000000000000" pitchFamily="2" charset="0"/>
                </a:rPr>
                <a:t>Input must go ____ at same output level</a:t>
              </a:r>
            </a:p>
          </p:txBody>
        </p:sp>
      </p:grpSp>
    </p:spTree>
    <p:extLst>
      <p:ext uri="{BB962C8B-B14F-4D97-AF65-F5344CB8AC3E}">
        <p14:creationId xmlns:p14="http://schemas.microsoft.com/office/powerpoint/2010/main" val="7016160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dirty="0"/>
              <a:t>What an Associate Must Know</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pPr marL="514350" indent="-514350">
              <a:buFont typeface="+mj-lt"/>
              <a:buAutoNum type="arabicPeriod"/>
            </a:pPr>
            <a:r>
              <a:rPr lang="en-US" dirty="0"/>
              <a:t>How do you do this work?</a:t>
            </a:r>
          </a:p>
          <a:p>
            <a:pPr marL="514350" indent="-514350">
              <a:buFont typeface="+mj-lt"/>
              <a:buAutoNum type="arabicPeriod"/>
            </a:pPr>
            <a:r>
              <a:rPr lang="en-US" dirty="0"/>
              <a:t>How do you know you are doing this work correctly?</a:t>
            </a:r>
          </a:p>
          <a:p>
            <a:pPr marL="514350" indent="-514350">
              <a:buFont typeface="+mj-lt"/>
              <a:buAutoNum type="arabicPeriod"/>
            </a:pPr>
            <a:r>
              <a:rPr lang="en-US" dirty="0"/>
              <a:t>How do you know the outcome is free of defects?</a:t>
            </a:r>
          </a:p>
          <a:p>
            <a:pPr marL="514350" indent="-514350">
              <a:buFont typeface="+mj-lt"/>
              <a:buAutoNum type="arabicPeriod"/>
            </a:pPr>
            <a:r>
              <a:rPr lang="en-US" dirty="0"/>
              <a:t>What do you do if there is a problem?</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10</a:t>
            </a:fld>
            <a:endParaRPr lang="en-US"/>
          </a:p>
        </p:txBody>
      </p:sp>
      <p:sp>
        <p:nvSpPr>
          <p:cNvPr id="4" name="Text Box 27">
            <a:extLst>
              <a:ext uri="{FF2B5EF4-FFF2-40B4-BE49-F238E27FC236}">
                <a16:creationId xmlns:a16="http://schemas.microsoft.com/office/drawing/2014/main" id="{772A903A-CF45-B3BF-42D6-14C4DCFD0E35}"/>
              </a:ext>
            </a:extLst>
          </p:cNvPr>
          <p:cNvSpPr txBox="1">
            <a:spLocks noChangeArrowheads="1"/>
          </p:cNvSpPr>
          <p:nvPr/>
        </p:nvSpPr>
        <p:spPr bwMode="auto">
          <a:xfrm>
            <a:off x="1977232" y="4883167"/>
            <a:ext cx="8237537" cy="871521"/>
          </a:xfrm>
          <a:prstGeom prst="rect">
            <a:avLst/>
          </a:prstGeom>
          <a:solidFill>
            <a:schemeClr val="bg2"/>
          </a:solidFill>
          <a:ln w="25400">
            <a:solidFill>
              <a:schemeClr val="tx1"/>
            </a:solidFill>
            <a:miter lim="800000"/>
            <a:headEnd/>
            <a:tailEnd/>
          </a:ln>
        </p:spPr>
        <p:txBody>
          <a:bodyPr anchor="b" anchorCtr="1">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800" b="0" i="1" dirty="0">
                <a:latin typeface="Roboto" panose="02000000000000000000" pitchFamily="2" charset="0"/>
                <a:ea typeface="Roboto" panose="02000000000000000000" pitchFamily="2" charset="0"/>
              </a:rPr>
              <a:t>Rule #1:  Work shall be highly specified as to </a:t>
            </a:r>
          </a:p>
          <a:p>
            <a:pPr algn="ctr">
              <a:lnSpc>
                <a:spcPct val="80000"/>
              </a:lnSpc>
              <a:spcBef>
                <a:spcPct val="20000"/>
              </a:spcBef>
              <a:spcAft>
                <a:spcPct val="0"/>
              </a:spcAft>
              <a:buClrTx/>
              <a:buSzTx/>
              <a:buFontTx/>
              <a:buNone/>
            </a:pPr>
            <a:r>
              <a:rPr lang="en-US" altLang="en-US" sz="2800" b="0" i="1" dirty="0">
                <a:latin typeface="Roboto" panose="02000000000000000000" pitchFamily="2" charset="0"/>
                <a:ea typeface="Roboto" panose="02000000000000000000" pitchFamily="2" charset="0"/>
              </a:rPr>
              <a:t>Content, Sequence, Timing and Outcome</a:t>
            </a:r>
          </a:p>
        </p:txBody>
      </p:sp>
    </p:spTree>
    <p:extLst>
      <p:ext uri="{BB962C8B-B14F-4D97-AF65-F5344CB8AC3E}">
        <p14:creationId xmlns:p14="http://schemas.microsoft.com/office/powerpoint/2010/main" val="1194289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ou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dirty="0"/>
              <a:t>Elements of Standard Work</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pPr marL="514350" indent="-514350">
              <a:buFont typeface="+mj-lt"/>
              <a:buAutoNum type="arabicPeriod"/>
            </a:pPr>
            <a:r>
              <a:rPr lang="en-US" dirty="0"/>
              <a:t>Takt Time</a:t>
            </a:r>
          </a:p>
          <a:p>
            <a:pPr lvl="1"/>
            <a:r>
              <a:rPr lang="en-US" dirty="0"/>
              <a:t>The rate of customer demand</a:t>
            </a:r>
          </a:p>
          <a:p>
            <a:pPr marL="514350" indent="-514350">
              <a:buFont typeface="+mj-lt"/>
              <a:buAutoNum type="arabicPeriod"/>
            </a:pPr>
            <a:r>
              <a:rPr lang="en-US" dirty="0"/>
              <a:t>Work Sequence</a:t>
            </a:r>
          </a:p>
          <a:p>
            <a:pPr lvl="1"/>
            <a:r>
              <a:rPr lang="en-US" dirty="0"/>
              <a:t>The order in which the work tasks are always performed</a:t>
            </a:r>
          </a:p>
          <a:p>
            <a:pPr marL="514350" indent="-514350">
              <a:buFont typeface="+mj-lt"/>
              <a:buAutoNum type="arabicPeriod"/>
            </a:pPr>
            <a:r>
              <a:rPr lang="en-US" dirty="0"/>
              <a:t>Standard Work in Process</a:t>
            </a:r>
          </a:p>
          <a:p>
            <a:pPr lvl="1"/>
            <a:r>
              <a:rPr lang="en-US" dirty="0"/>
              <a:t>The minimum number of transactions in the process, at anytime, required for the process to function properly</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11</a:t>
            </a:fld>
            <a:endParaRPr lang="en-US"/>
          </a:p>
        </p:txBody>
      </p:sp>
    </p:spTree>
    <p:extLst>
      <p:ext uri="{BB962C8B-B14F-4D97-AF65-F5344CB8AC3E}">
        <p14:creationId xmlns:p14="http://schemas.microsoft.com/office/powerpoint/2010/main" val="18901229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lstStyle/>
          <a:p>
            <a:r>
              <a:rPr lang="en-US" dirty="0"/>
              <a:t>Value Added vs. Non-Value Added</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p:txBody>
          <a:bodyPr/>
          <a:lstStyle/>
          <a:p>
            <a:r>
              <a:rPr lang="en-US" dirty="0"/>
              <a:t>Non-Value Adding Process</a:t>
            </a:r>
          </a:p>
        </p:txBody>
      </p:sp>
      <p:sp>
        <p:nvSpPr>
          <p:cNvPr id="4" name="Content Placeholder 3">
            <a:extLst>
              <a:ext uri="{FF2B5EF4-FFF2-40B4-BE49-F238E27FC236}">
                <a16:creationId xmlns:a16="http://schemas.microsoft.com/office/drawing/2014/main" id="{2E3BC3A4-C860-76B2-2DD3-B03AB882C853}"/>
              </a:ext>
            </a:extLst>
          </p:cNvPr>
          <p:cNvSpPr>
            <a:spLocks noGrp="1"/>
          </p:cNvSpPr>
          <p:nvPr>
            <p:ph sz="half" idx="2"/>
          </p:nvPr>
        </p:nvSpPr>
        <p:spPr/>
        <p:txBody>
          <a:bodyPr/>
          <a:lstStyle/>
          <a:p>
            <a:r>
              <a:rPr lang="en-US" dirty="0"/>
              <a:t>Those process steps that take time, resources, or space, but do not add value to the product or service</a:t>
            </a:r>
          </a:p>
          <a:p>
            <a:endParaRPr lang="en-US" dirty="0"/>
          </a:p>
        </p:txBody>
      </p:sp>
      <p:sp>
        <p:nvSpPr>
          <p:cNvPr id="5" name="Text Placeholder 4">
            <a:extLst>
              <a:ext uri="{FF2B5EF4-FFF2-40B4-BE49-F238E27FC236}">
                <a16:creationId xmlns:a16="http://schemas.microsoft.com/office/drawing/2014/main" id="{D97C3043-C5C3-113A-8520-6B843B812614}"/>
              </a:ext>
            </a:extLst>
          </p:cNvPr>
          <p:cNvSpPr>
            <a:spLocks noGrp="1"/>
          </p:cNvSpPr>
          <p:nvPr>
            <p:ph type="body" sz="quarter" idx="3"/>
          </p:nvPr>
        </p:nvSpPr>
        <p:spPr/>
        <p:txBody>
          <a:bodyPr/>
          <a:lstStyle/>
          <a:p>
            <a:r>
              <a:rPr lang="en-US" dirty="0"/>
              <a:t>Value Adding Process</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p:txBody>
          <a:bodyPr/>
          <a:lstStyle/>
          <a:p>
            <a:r>
              <a:rPr lang="en-US" dirty="0"/>
              <a:t>A process step that transforms or shapes a product or service which is eventually sold to a customer</a:t>
            </a:r>
          </a:p>
          <a:p>
            <a:endParaRPr lang="en-US" dirty="0"/>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12</a:t>
            </a:fld>
            <a:endParaRPr lang="en-US"/>
          </a:p>
        </p:txBody>
      </p:sp>
      <p:sp>
        <p:nvSpPr>
          <p:cNvPr id="7" name="Text Box 27">
            <a:extLst>
              <a:ext uri="{FF2B5EF4-FFF2-40B4-BE49-F238E27FC236}">
                <a16:creationId xmlns:a16="http://schemas.microsoft.com/office/drawing/2014/main" id="{385D3179-3A50-84BE-E269-2D4E28736E12}"/>
              </a:ext>
            </a:extLst>
          </p:cNvPr>
          <p:cNvSpPr txBox="1">
            <a:spLocks noChangeArrowheads="1"/>
          </p:cNvSpPr>
          <p:nvPr/>
        </p:nvSpPr>
        <p:spPr bwMode="auto">
          <a:xfrm>
            <a:off x="1977232" y="5314055"/>
            <a:ext cx="8237537" cy="440633"/>
          </a:xfrm>
          <a:prstGeom prst="rect">
            <a:avLst/>
          </a:prstGeom>
          <a:solidFill>
            <a:schemeClr val="bg2"/>
          </a:solidFill>
          <a:ln w="25400">
            <a:solidFill>
              <a:schemeClr val="tx1"/>
            </a:solidFill>
            <a:miter lim="800000"/>
            <a:headEnd/>
            <a:tailEnd/>
          </a:ln>
        </p:spPr>
        <p:txBody>
          <a:bodyPr anchor="b" anchorCtr="1">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800" b="0" i="1" dirty="0">
                <a:latin typeface="Roboto" panose="02000000000000000000" pitchFamily="2" charset="0"/>
                <a:ea typeface="Roboto" panose="02000000000000000000" pitchFamily="2" charset="0"/>
              </a:rPr>
              <a:t>Who is the customer?</a:t>
            </a:r>
          </a:p>
        </p:txBody>
      </p:sp>
    </p:spTree>
    <p:extLst>
      <p:ext uri="{BB962C8B-B14F-4D97-AF65-F5344CB8AC3E}">
        <p14:creationId xmlns:p14="http://schemas.microsoft.com/office/powerpoint/2010/main" val="2447268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ou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lstStyle/>
          <a:p>
            <a:r>
              <a:rPr lang="en-US" dirty="0"/>
              <a:t>Value Added vs. Non-Value Added</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p:txBody>
          <a:bodyPr/>
          <a:lstStyle/>
          <a:p>
            <a:r>
              <a:rPr lang="en-US" dirty="0"/>
              <a:t>XYZ Value Stream</a:t>
            </a:r>
          </a:p>
        </p:txBody>
      </p:sp>
      <p:sp>
        <p:nvSpPr>
          <p:cNvPr id="5" name="Text Placeholder 4">
            <a:extLst>
              <a:ext uri="{FF2B5EF4-FFF2-40B4-BE49-F238E27FC236}">
                <a16:creationId xmlns:a16="http://schemas.microsoft.com/office/drawing/2014/main" id="{D97C3043-C5C3-113A-8520-6B843B812614}"/>
              </a:ext>
            </a:extLst>
          </p:cNvPr>
          <p:cNvSpPr>
            <a:spLocks noGrp="1"/>
          </p:cNvSpPr>
          <p:nvPr>
            <p:ph type="body" sz="quarter" idx="3"/>
          </p:nvPr>
        </p:nvSpPr>
        <p:spPr>
          <a:xfrm>
            <a:off x="6531016" y="1681163"/>
            <a:ext cx="5183188" cy="823912"/>
          </a:xfrm>
        </p:spPr>
        <p:txBody>
          <a:bodyPr/>
          <a:lstStyle/>
          <a:p>
            <a:r>
              <a:rPr lang="en-US" dirty="0"/>
              <a:t>Non-value added activity increases </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a:xfrm>
            <a:off x="6531016" y="2505075"/>
            <a:ext cx="5183188" cy="3684588"/>
          </a:xfrm>
        </p:spPr>
        <p:txBody>
          <a:bodyPr>
            <a:normAutofit/>
          </a:bodyPr>
          <a:lstStyle/>
          <a:p>
            <a:r>
              <a:rPr lang="en-US" dirty="0"/>
              <a:t>Lead times</a:t>
            </a:r>
          </a:p>
          <a:p>
            <a:r>
              <a:rPr lang="en-US" dirty="0"/>
              <a:t>Adds cost</a:t>
            </a:r>
          </a:p>
          <a:p>
            <a:r>
              <a:rPr lang="en-US" dirty="0"/>
              <a:t>Creates opportunities for errors</a:t>
            </a:r>
          </a:p>
          <a:p>
            <a:r>
              <a:rPr lang="en-US" dirty="0"/>
              <a:t>Increases queues and inboxes</a:t>
            </a:r>
          </a:p>
          <a:p>
            <a:r>
              <a:rPr lang="en-US" dirty="0"/>
              <a:t>Inhibits Flow</a:t>
            </a:r>
          </a:p>
          <a:p>
            <a:endParaRPr lang="en-US" dirty="0"/>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13</a:t>
            </a:fld>
            <a:endParaRPr lang="en-US"/>
          </a:p>
        </p:txBody>
      </p:sp>
      <p:pic>
        <p:nvPicPr>
          <p:cNvPr id="9" name="Picture 6">
            <a:extLst>
              <a:ext uri="{FF2B5EF4-FFF2-40B4-BE49-F238E27FC236}">
                <a16:creationId xmlns:a16="http://schemas.microsoft.com/office/drawing/2014/main" id="{BB1B37C3-18F2-69A6-E949-0B7E4697B161}"/>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148385" y="2812647"/>
            <a:ext cx="5947615" cy="26687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AutoShape 4">
            <a:extLst>
              <a:ext uri="{FF2B5EF4-FFF2-40B4-BE49-F238E27FC236}">
                <a16:creationId xmlns:a16="http://schemas.microsoft.com/office/drawing/2014/main" id="{B4A873BF-8708-C6AE-A2C9-7B745CE1A065}"/>
              </a:ext>
            </a:extLst>
          </p:cNvPr>
          <p:cNvSpPr>
            <a:spLocks noChangeArrowheads="1"/>
          </p:cNvSpPr>
          <p:nvPr/>
        </p:nvSpPr>
        <p:spPr bwMode="auto">
          <a:xfrm>
            <a:off x="6076970" y="2505075"/>
            <a:ext cx="285750" cy="2493962"/>
          </a:xfrm>
          <a:prstGeom prst="rightArrow">
            <a:avLst>
              <a:gd name="adj1" fmla="val 67278"/>
              <a:gd name="adj2" fmla="val 72222"/>
            </a:avLst>
          </a:prstGeom>
          <a:solidFill>
            <a:schemeClr val="accent1"/>
          </a:solidFill>
          <a:ln w="1905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endParaRPr>
          </a:p>
        </p:txBody>
      </p:sp>
    </p:spTree>
    <p:extLst>
      <p:ext uri="{BB962C8B-B14F-4D97-AF65-F5344CB8AC3E}">
        <p14:creationId xmlns:p14="http://schemas.microsoft.com/office/powerpoint/2010/main" val="646483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lstStyle/>
          <a:p>
            <a:r>
              <a:rPr lang="en-US" dirty="0"/>
              <a:t>Value Added vs. Non-Value Added</a:t>
            </a:r>
          </a:p>
        </p:txBody>
      </p:sp>
      <p:sp>
        <p:nvSpPr>
          <p:cNvPr id="5" name="Text Placeholder 4">
            <a:extLst>
              <a:ext uri="{FF2B5EF4-FFF2-40B4-BE49-F238E27FC236}">
                <a16:creationId xmlns:a16="http://schemas.microsoft.com/office/drawing/2014/main" id="{D97C3043-C5C3-113A-8520-6B843B812614}"/>
              </a:ext>
            </a:extLst>
          </p:cNvPr>
          <p:cNvSpPr>
            <a:spLocks noGrp="1"/>
          </p:cNvSpPr>
          <p:nvPr>
            <p:ph type="body" sz="quarter" idx="3"/>
          </p:nvPr>
        </p:nvSpPr>
        <p:spPr>
          <a:xfrm>
            <a:off x="6531016" y="1681163"/>
            <a:ext cx="5183188" cy="823912"/>
          </a:xfrm>
        </p:spPr>
        <p:txBody>
          <a:bodyPr>
            <a:normAutofit fontScale="92500"/>
          </a:bodyPr>
          <a:lstStyle/>
          <a:p>
            <a:r>
              <a:rPr lang="en-US" dirty="0"/>
              <a:t>Lean tools help identify and eliminate waste from our processes, leading to: </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a:xfrm>
            <a:off x="6531016" y="2505075"/>
            <a:ext cx="5183188" cy="3684588"/>
          </a:xfrm>
        </p:spPr>
        <p:txBody>
          <a:bodyPr>
            <a:normAutofit/>
          </a:bodyPr>
          <a:lstStyle/>
          <a:p>
            <a:r>
              <a:rPr lang="en-US" dirty="0"/>
              <a:t>Reduced costs and lead time</a:t>
            </a:r>
          </a:p>
          <a:p>
            <a:r>
              <a:rPr lang="en-US" dirty="0"/>
              <a:t>Faster response</a:t>
            </a:r>
          </a:p>
          <a:p>
            <a:r>
              <a:rPr lang="en-US" dirty="0"/>
              <a:t>Improved quality</a:t>
            </a:r>
          </a:p>
          <a:p>
            <a:r>
              <a:rPr lang="en-US" dirty="0"/>
              <a:t>Reduced queues</a:t>
            </a:r>
          </a:p>
          <a:p>
            <a:r>
              <a:rPr lang="en-US" dirty="0"/>
              <a:t>Better predictability </a:t>
            </a:r>
          </a:p>
          <a:p>
            <a:endParaRPr lang="en-US" dirty="0"/>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14</a:t>
            </a:fld>
            <a:endParaRPr lang="en-US"/>
          </a:p>
        </p:txBody>
      </p:sp>
      <p:sp>
        <p:nvSpPr>
          <p:cNvPr id="10" name="AutoShape 4">
            <a:extLst>
              <a:ext uri="{FF2B5EF4-FFF2-40B4-BE49-F238E27FC236}">
                <a16:creationId xmlns:a16="http://schemas.microsoft.com/office/drawing/2014/main" id="{B4A873BF-8708-C6AE-A2C9-7B745CE1A065}"/>
              </a:ext>
            </a:extLst>
          </p:cNvPr>
          <p:cNvSpPr>
            <a:spLocks noChangeArrowheads="1"/>
          </p:cNvSpPr>
          <p:nvPr/>
        </p:nvSpPr>
        <p:spPr bwMode="auto">
          <a:xfrm>
            <a:off x="6076970" y="2505075"/>
            <a:ext cx="285750" cy="2493962"/>
          </a:xfrm>
          <a:prstGeom prst="rightArrow">
            <a:avLst>
              <a:gd name="adj1" fmla="val 67278"/>
              <a:gd name="adj2" fmla="val 72222"/>
            </a:avLst>
          </a:prstGeom>
          <a:solidFill>
            <a:schemeClr val="accent1"/>
          </a:solidFill>
          <a:ln w="1905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endParaRPr>
          </a:p>
        </p:txBody>
      </p:sp>
      <p:grpSp>
        <p:nvGrpSpPr>
          <p:cNvPr id="72" name="Group 71">
            <a:extLst>
              <a:ext uri="{FF2B5EF4-FFF2-40B4-BE49-F238E27FC236}">
                <a16:creationId xmlns:a16="http://schemas.microsoft.com/office/drawing/2014/main" id="{C6B872FB-6111-42A3-52E2-1ADA0CB02B29}"/>
              </a:ext>
            </a:extLst>
          </p:cNvPr>
          <p:cNvGrpSpPr/>
          <p:nvPr/>
        </p:nvGrpSpPr>
        <p:grpSpPr>
          <a:xfrm>
            <a:off x="839788" y="1905001"/>
            <a:ext cx="4530725" cy="4291231"/>
            <a:chOff x="561975" y="1639888"/>
            <a:chExt cx="4530725" cy="4291231"/>
          </a:xfrm>
        </p:grpSpPr>
        <p:sp>
          <p:nvSpPr>
            <p:cNvPr id="12" name="Rectangle 15">
              <a:extLst>
                <a:ext uri="{FF2B5EF4-FFF2-40B4-BE49-F238E27FC236}">
                  <a16:creationId xmlns:a16="http://schemas.microsoft.com/office/drawing/2014/main" id="{6F498412-7721-F6FB-9B50-C34E3FBED299}"/>
                </a:ext>
              </a:extLst>
            </p:cNvPr>
            <p:cNvSpPr>
              <a:spLocks noChangeArrowheads="1"/>
            </p:cNvSpPr>
            <p:nvPr/>
          </p:nvSpPr>
          <p:spPr bwMode="auto">
            <a:xfrm>
              <a:off x="744538" y="1639888"/>
              <a:ext cx="69850" cy="831850"/>
            </a:xfrm>
            <a:prstGeom prst="rect">
              <a:avLst/>
            </a:prstGeom>
            <a:solidFill>
              <a:schemeClr val="accent5"/>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13" name="Rectangle 16">
              <a:extLst>
                <a:ext uri="{FF2B5EF4-FFF2-40B4-BE49-F238E27FC236}">
                  <a16:creationId xmlns:a16="http://schemas.microsoft.com/office/drawing/2014/main" id="{C1326920-CBCE-A7C3-40FB-49076A8A3BBE}"/>
                </a:ext>
              </a:extLst>
            </p:cNvPr>
            <p:cNvSpPr>
              <a:spLocks noChangeArrowheads="1"/>
            </p:cNvSpPr>
            <p:nvPr/>
          </p:nvSpPr>
          <p:spPr bwMode="auto">
            <a:xfrm>
              <a:off x="815975" y="2455863"/>
              <a:ext cx="261938" cy="830262"/>
            </a:xfrm>
            <a:prstGeom prst="rect">
              <a:avLst/>
            </a:prstGeom>
            <a:solidFill>
              <a:schemeClr val="accent1"/>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14" name="WordArt 17">
              <a:extLst>
                <a:ext uri="{FF2B5EF4-FFF2-40B4-BE49-F238E27FC236}">
                  <a16:creationId xmlns:a16="http://schemas.microsoft.com/office/drawing/2014/main" id="{6FB97685-BB40-E63D-875C-798A30135B97}"/>
                </a:ext>
              </a:extLst>
            </p:cNvPr>
            <p:cNvSpPr>
              <a:spLocks noChangeArrowheads="1" noChangeShapeType="1" noTextEdit="1"/>
            </p:cNvSpPr>
            <p:nvPr/>
          </p:nvSpPr>
          <p:spPr bwMode="auto">
            <a:xfrm>
              <a:off x="841375" y="2717800"/>
              <a:ext cx="209550" cy="277813"/>
            </a:xfrm>
            <a:prstGeom prst="rect">
              <a:avLst/>
            </a:prstGeom>
          </p:spPr>
          <p:txBody>
            <a:bodyPr wrap="none" fromWordArt="1">
              <a:prstTxWarp prst="textPlain">
                <a:avLst>
                  <a:gd name="adj" fmla="val 50000"/>
                </a:avLst>
              </a:prstTxWarp>
            </a:bodyPr>
            <a:lstStyle/>
            <a:p>
              <a:r>
                <a:rPr lang="en-US" sz="2000" kern="10" dirty="0">
                  <a:ln w="9525">
                    <a:solidFill>
                      <a:srgbClr val="000000"/>
                    </a:solidFill>
                    <a:round/>
                    <a:headEnd/>
                    <a:tailEnd/>
                  </a:ln>
                  <a:solidFill>
                    <a:schemeClr val="tx2"/>
                  </a:solidFill>
                  <a:latin typeface="Arial Black" panose="020B0A04020102020204" pitchFamily="34" charset="0"/>
                </a:rPr>
                <a:t>$</a:t>
              </a:r>
            </a:p>
          </p:txBody>
        </p:sp>
        <p:sp>
          <p:nvSpPr>
            <p:cNvPr id="15" name="Rectangle 18">
              <a:extLst>
                <a:ext uri="{FF2B5EF4-FFF2-40B4-BE49-F238E27FC236}">
                  <a16:creationId xmlns:a16="http://schemas.microsoft.com/office/drawing/2014/main" id="{610400FF-6CA6-A764-495B-B2903881DFFF}"/>
                </a:ext>
              </a:extLst>
            </p:cNvPr>
            <p:cNvSpPr>
              <a:spLocks noChangeArrowheads="1"/>
            </p:cNvSpPr>
            <p:nvPr/>
          </p:nvSpPr>
          <p:spPr bwMode="auto">
            <a:xfrm>
              <a:off x="1090613" y="1639888"/>
              <a:ext cx="209550" cy="831850"/>
            </a:xfrm>
            <a:prstGeom prst="rect">
              <a:avLst/>
            </a:prstGeom>
            <a:solidFill>
              <a:schemeClr val="accent5"/>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16" name="Rectangle 19">
              <a:extLst>
                <a:ext uri="{FF2B5EF4-FFF2-40B4-BE49-F238E27FC236}">
                  <a16:creationId xmlns:a16="http://schemas.microsoft.com/office/drawing/2014/main" id="{88961B0B-1084-3399-4A8C-393F10A9213F}"/>
                </a:ext>
              </a:extLst>
            </p:cNvPr>
            <p:cNvSpPr>
              <a:spLocks noChangeArrowheads="1"/>
            </p:cNvSpPr>
            <p:nvPr/>
          </p:nvSpPr>
          <p:spPr bwMode="auto">
            <a:xfrm>
              <a:off x="1303338" y="2457450"/>
              <a:ext cx="349250" cy="830263"/>
            </a:xfrm>
            <a:prstGeom prst="rect">
              <a:avLst/>
            </a:prstGeom>
            <a:solidFill>
              <a:schemeClr val="accent1"/>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17" name="WordArt 20">
              <a:extLst>
                <a:ext uri="{FF2B5EF4-FFF2-40B4-BE49-F238E27FC236}">
                  <a16:creationId xmlns:a16="http://schemas.microsoft.com/office/drawing/2014/main" id="{0FBF1712-27D8-C57A-313B-1F0D28CE5409}"/>
                </a:ext>
              </a:extLst>
            </p:cNvPr>
            <p:cNvSpPr>
              <a:spLocks noChangeArrowheads="1" noChangeShapeType="1" noTextEdit="1"/>
            </p:cNvSpPr>
            <p:nvPr/>
          </p:nvSpPr>
          <p:spPr bwMode="auto">
            <a:xfrm>
              <a:off x="1339850" y="2733675"/>
              <a:ext cx="209550" cy="277813"/>
            </a:xfrm>
            <a:prstGeom prst="rect">
              <a:avLst/>
            </a:prstGeom>
          </p:spPr>
          <p:txBody>
            <a:bodyPr wrap="none" fromWordArt="1">
              <a:prstTxWarp prst="textPlain">
                <a:avLst>
                  <a:gd name="adj" fmla="val 50000"/>
                </a:avLst>
              </a:prstTxWarp>
            </a:bodyPr>
            <a:lstStyle/>
            <a:p>
              <a:r>
                <a:rPr lang="en-US" sz="2000" kern="10" dirty="0">
                  <a:ln w="9525">
                    <a:solidFill>
                      <a:srgbClr val="000000"/>
                    </a:solidFill>
                    <a:round/>
                    <a:headEnd/>
                    <a:tailEnd/>
                  </a:ln>
                  <a:solidFill>
                    <a:schemeClr val="tx2"/>
                  </a:solidFill>
                  <a:latin typeface="Arial Black" panose="020B0A04020102020204" pitchFamily="34" charset="0"/>
                </a:rPr>
                <a:t>$</a:t>
              </a:r>
            </a:p>
          </p:txBody>
        </p:sp>
        <p:sp>
          <p:nvSpPr>
            <p:cNvPr id="18" name="Rectangle 21">
              <a:extLst>
                <a:ext uri="{FF2B5EF4-FFF2-40B4-BE49-F238E27FC236}">
                  <a16:creationId xmlns:a16="http://schemas.microsoft.com/office/drawing/2014/main" id="{B4D87BC8-0FF3-6E32-E4CD-7146D191DA3D}"/>
                </a:ext>
              </a:extLst>
            </p:cNvPr>
            <p:cNvSpPr>
              <a:spLocks noChangeArrowheads="1"/>
            </p:cNvSpPr>
            <p:nvPr/>
          </p:nvSpPr>
          <p:spPr bwMode="auto">
            <a:xfrm>
              <a:off x="1651000" y="1654175"/>
              <a:ext cx="69850" cy="831850"/>
            </a:xfrm>
            <a:prstGeom prst="rect">
              <a:avLst/>
            </a:prstGeom>
            <a:solidFill>
              <a:schemeClr val="accent5"/>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19" name="Rectangle 22">
              <a:extLst>
                <a:ext uri="{FF2B5EF4-FFF2-40B4-BE49-F238E27FC236}">
                  <a16:creationId xmlns:a16="http://schemas.microsoft.com/office/drawing/2014/main" id="{22F0D25C-14BB-EE11-9E09-68DC8E0B1364}"/>
                </a:ext>
              </a:extLst>
            </p:cNvPr>
            <p:cNvSpPr>
              <a:spLocks noChangeArrowheads="1"/>
            </p:cNvSpPr>
            <p:nvPr/>
          </p:nvSpPr>
          <p:spPr bwMode="auto">
            <a:xfrm>
              <a:off x="1749425" y="2457450"/>
              <a:ext cx="317500" cy="801688"/>
            </a:xfrm>
            <a:prstGeom prst="rect">
              <a:avLst/>
            </a:prstGeom>
            <a:solidFill>
              <a:schemeClr val="accent1"/>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20" name="WordArt 23">
              <a:extLst>
                <a:ext uri="{FF2B5EF4-FFF2-40B4-BE49-F238E27FC236}">
                  <a16:creationId xmlns:a16="http://schemas.microsoft.com/office/drawing/2014/main" id="{6806B097-5670-7EE0-71EC-E4B86B7321C7}"/>
                </a:ext>
              </a:extLst>
            </p:cNvPr>
            <p:cNvSpPr>
              <a:spLocks noChangeArrowheads="1" noChangeShapeType="1" noTextEdit="1"/>
            </p:cNvSpPr>
            <p:nvPr/>
          </p:nvSpPr>
          <p:spPr bwMode="auto">
            <a:xfrm>
              <a:off x="1804988" y="2717800"/>
              <a:ext cx="209550" cy="277813"/>
            </a:xfrm>
            <a:prstGeom prst="rect">
              <a:avLst/>
            </a:prstGeom>
          </p:spPr>
          <p:txBody>
            <a:bodyPr wrap="none" fromWordArt="1">
              <a:prstTxWarp prst="textPlain">
                <a:avLst>
                  <a:gd name="adj" fmla="val 50000"/>
                </a:avLst>
              </a:prstTxWarp>
            </a:bodyPr>
            <a:lstStyle/>
            <a:p>
              <a:r>
                <a:rPr lang="en-US" sz="2000" kern="10">
                  <a:ln w="9525">
                    <a:solidFill>
                      <a:srgbClr val="000000"/>
                    </a:solidFill>
                    <a:round/>
                    <a:headEnd/>
                    <a:tailEnd/>
                  </a:ln>
                  <a:solidFill>
                    <a:schemeClr val="tx2"/>
                  </a:solidFill>
                  <a:latin typeface="Arial Black" panose="020B0A04020102020204" pitchFamily="34" charset="0"/>
                </a:rPr>
                <a:t>$</a:t>
              </a:r>
            </a:p>
          </p:txBody>
        </p:sp>
        <p:sp>
          <p:nvSpPr>
            <p:cNvPr id="21" name="Rectangle 24">
              <a:extLst>
                <a:ext uri="{FF2B5EF4-FFF2-40B4-BE49-F238E27FC236}">
                  <a16:creationId xmlns:a16="http://schemas.microsoft.com/office/drawing/2014/main" id="{B914AB77-23AC-2AAB-D9EB-B13245150941}"/>
                </a:ext>
              </a:extLst>
            </p:cNvPr>
            <p:cNvSpPr>
              <a:spLocks noChangeArrowheads="1"/>
            </p:cNvSpPr>
            <p:nvPr/>
          </p:nvSpPr>
          <p:spPr bwMode="auto">
            <a:xfrm>
              <a:off x="2052638" y="1652588"/>
              <a:ext cx="139700" cy="831850"/>
            </a:xfrm>
            <a:prstGeom prst="rect">
              <a:avLst/>
            </a:prstGeom>
            <a:solidFill>
              <a:schemeClr val="accent5"/>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22" name="Rectangle 25">
              <a:extLst>
                <a:ext uri="{FF2B5EF4-FFF2-40B4-BE49-F238E27FC236}">
                  <a16:creationId xmlns:a16="http://schemas.microsoft.com/office/drawing/2014/main" id="{790380DC-CF4B-64E5-A50A-95B3BCFB0944}"/>
                </a:ext>
              </a:extLst>
            </p:cNvPr>
            <p:cNvSpPr>
              <a:spLocks noChangeArrowheads="1"/>
            </p:cNvSpPr>
            <p:nvPr/>
          </p:nvSpPr>
          <p:spPr bwMode="auto">
            <a:xfrm>
              <a:off x="2206625" y="2455863"/>
              <a:ext cx="592138" cy="815975"/>
            </a:xfrm>
            <a:prstGeom prst="rect">
              <a:avLst/>
            </a:prstGeom>
            <a:solidFill>
              <a:schemeClr val="accent1"/>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23" name="Rectangle 26">
              <a:extLst>
                <a:ext uri="{FF2B5EF4-FFF2-40B4-BE49-F238E27FC236}">
                  <a16:creationId xmlns:a16="http://schemas.microsoft.com/office/drawing/2014/main" id="{0135579A-B4D4-045D-0FD8-D5C2C02237E3}"/>
                </a:ext>
              </a:extLst>
            </p:cNvPr>
            <p:cNvSpPr>
              <a:spLocks noChangeArrowheads="1"/>
            </p:cNvSpPr>
            <p:nvPr/>
          </p:nvSpPr>
          <p:spPr bwMode="auto">
            <a:xfrm>
              <a:off x="2813050" y="1654175"/>
              <a:ext cx="209550" cy="831850"/>
            </a:xfrm>
            <a:prstGeom prst="rect">
              <a:avLst/>
            </a:prstGeom>
            <a:solidFill>
              <a:schemeClr val="accent5"/>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24" name="WordArt 27">
              <a:extLst>
                <a:ext uri="{FF2B5EF4-FFF2-40B4-BE49-F238E27FC236}">
                  <a16:creationId xmlns:a16="http://schemas.microsoft.com/office/drawing/2014/main" id="{FF39990A-917B-F1D3-C854-EDCFE4C59D9C}"/>
                </a:ext>
              </a:extLst>
            </p:cNvPr>
            <p:cNvSpPr>
              <a:spLocks noChangeArrowheads="1" noChangeShapeType="1" noTextEdit="1"/>
            </p:cNvSpPr>
            <p:nvPr/>
          </p:nvSpPr>
          <p:spPr bwMode="auto">
            <a:xfrm>
              <a:off x="2233613" y="2493963"/>
              <a:ext cx="209550" cy="276225"/>
            </a:xfrm>
            <a:prstGeom prst="rect">
              <a:avLst/>
            </a:prstGeom>
          </p:spPr>
          <p:txBody>
            <a:bodyPr wrap="none" fromWordArt="1">
              <a:prstTxWarp prst="textPlain">
                <a:avLst>
                  <a:gd name="adj" fmla="val 50000"/>
                </a:avLst>
              </a:prstTxWarp>
            </a:bodyPr>
            <a:lstStyle/>
            <a:p>
              <a:r>
                <a:rPr lang="en-US" sz="2000" kern="10">
                  <a:ln w="9525">
                    <a:solidFill>
                      <a:srgbClr val="000000"/>
                    </a:solidFill>
                    <a:round/>
                    <a:headEnd/>
                    <a:tailEnd/>
                  </a:ln>
                  <a:solidFill>
                    <a:schemeClr val="tx2"/>
                  </a:solidFill>
                  <a:latin typeface="Arial Black" panose="020B0A04020102020204" pitchFamily="34" charset="0"/>
                </a:rPr>
                <a:t>$</a:t>
              </a:r>
            </a:p>
          </p:txBody>
        </p:sp>
        <p:sp>
          <p:nvSpPr>
            <p:cNvPr id="25" name="WordArt 28">
              <a:extLst>
                <a:ext uri="{FF2B5EF4-FFF2-40B4-BE49-F238E27FC236}">
                  <a16:creationId xmlns:a16="http://schemas.microsoft.com/office/drawing/2014/main" id="{9C090FCB-AAE8-6957-514B-1C35683436E7}"/>
                </a:ext>
              </a:extLst>
            </p:cNvPr>
            <p:cNvSpPr>
              <a:spLocks noChangeArrowheads="1" noChangeShapeType="1" noTextEdit="1"/>
            </p:cNvSpPr>
            <p:nvPr/>
          </p:nvSpPr>
          <p:spPr bwMode="auto">
            <a:xfrm>
              <a:off x="2509838" y="2854325"/>
              <a:ext cx="209550" cy="277813"/>
            </a:xfrm>
            <a:prstGeom prst="rect">
              <a:avLst/>
            </a:prstGeom>
          </p:spPr>
          <p:txBody>
            <a:bodyPr wrap="none" fromWordArt="1">
              <a:prstTxWarp prst="textPlain">
                <a:avLst>
                  <a:gd name="adj" fmla="val 50000"/>
                </a:avLst>
              </a:prstTxWarp>
            </a:bodyPr>
            <a:lstStyle/>
            <a:p>
              <a:r>
                <a:rPr lang="en-US" sz="2000" kern="10" dirty="0">
                  <a:ln w="9525">
                    <a:solidFill>
                      <a:srgbClr val="000000"/>
                    </a:solidFill>
                    <a:round/>
                    <a:headEnd/>
                    <a:tailEnd/>
                  </a:ln>
                  <a:solidFill>
                    <a:schemeClr val="tx2"/>
                  </a:solidFill>
                  <a:latin typeface="Arial Black" panose="020B0A04020102020204" pitchFamily="34" charset="0"/>
                </a:rPr>
                <a:t>$</a:t>
              </a:r>
            </a:p>
          </p:txBody>
        </p:sp>
        <p:sp>
          <p:nvSpPr>
            <p:cNvPr id="26" name="Rectangle 29">
              <a:extLst>
                <a:ext uri="{FF2B5EF4-FFF2-40B4-BE49-F238E27FC236}">
                  <a16:creationId xmlns:a16="http://schemas.microsoft.com/office/drawing/2014/main" id="{FBE0EC60-07A4-E003-73E4-258C3701F1EC}"/>
                </a:ext>
              </a:extLst>
            </p:cNvPr>
            <p:cNvSpPr>
              <a:spLocks noChangeArrowheads="1"/>
            </p:cNvSpPr>
            <p:nvPr/>
          </p:nvSpPr>
          <p:spPr bwMode="auto">
            <a:xfrm>
              <a:off x="2992438" y="2486025"/>
              <a:ext cx="419100" cy="830263"/>
            </a:xfrm>
            <a:prstGeom prst="rect">
              <a:avLst/>
            </a:prstGeom>
            <a:solidFill>
              <a:schemeClr val="accent1"/>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27" name="Rectangle 30">
              <a:extLst>
                <a:ext uri="{FF2B5EF4-FFF2-40B4-BE49-F238E27FC236}">
                  <a16:creationId xmlns:a16="http://schemas.microsoft.com/office/drawing/2014/main" id="{42CAA173-DDFE-356F-9BD2-7398308FE890}"/>
                </a:ext>
              </a:extLst>
            </p:cNvPr>
            <p:cNvSpPr>
              <a:spLocks noChangeArrowheads="1"/>
            </p:cNvSpPr>
            <p:nvPr/>
          </p:nvSpPr>
          <p:spPr bwMode="auto">
            <a:xfrm>
              <a:off x="3398838" y="1668463"/>
              <a:ext cx="69850" cy="831850"/>
            </a:xfrm>
            <a:prstGeom prst="rect">
              <a:avLst/>
            </a:prstGeom>
            <a:solidFill>
              <a:schemeClr val="accent5"/>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28" name="Rectangle 31">
              <a:extLst>
                <a:ext uri="{FF2B5EF4-FFF2-40B4-BE49-F238E27FC236}">
                  <a16:creationId xmlns:a16="http://schemas.microsoft.com/office/drawing/2014/main" id="{5D431288-5E97-D524-3D85-153679401D39}"/>
                </a:ext>
              </a:extLst>
            </p:cNvPr>
            <p:cNvSpPr>
              <a:spLocks noChangeArrowheads="1"/>
            </p:cNvSpPr>
            <p:nvPr/>
          </p:nvSpPr>
          <p:spPr bwMode="auto">
            <a:xfrm>
              <a:off x="3482975" y="2486025"/>
              <a:ext cx="628650" cy="830263"/>
            </a:xfrm>
            <a:prstGeom prst="rect">
              <a:avLst/>
            </a:prstGeom>
            <a:solidFill>
              <a:schemeClr val="accent1"/>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29" name="Rectangle 32">
              <a:extLst>
                <a:ext uri="{FF2B5EF4-FFF2-40B4-BE49-F238E27FC236}">
                  <a16:creationId xmlns:a16="http://schemas.microsoft.com/office/drawing/2014/main" id="{A7DABF03-41A4-C403-0AC4-1FE7F220F59E}"/>
                </a:ext>
              </a:extLst>
            </p:cNvPr>
            <p:cNvSpPr>
              <a:spLocks noChangeArrowheads="1"/>
            </p:cNvSpPr>
            <p:nvPr/>
          </p:nvSpPr>
          <p:spPr bwMode="auto">
            <a:xfrm>
              <a:off x="4111625" y="1654175"/>
              <a:ext cx="69850" cy="831850"/>
            </a:xfrm>
            <a:prstGeom prst="rect">
              <a:avLst/>
            </a:prstGeom>
            <a:solidFill>
              <a:schemeClr val="accent5"/>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30" name="Rectangle 33">
              <a:extLst>
                <a:ext uri="{FF2B5EF4-FFF2-40B4-BE49-F238E27FC236}">
                  <a16:creationId xmlns:a16="http://schemas.microsoft.com/office/drawing/2014/main" id="{B43119F6-6430-1FAA-67E8-977E9ADAFFEB}"/>
                </a:ext>
              </a:extLst>
            </p:cNvPr>
            <p:cNvSpPr>
              <a:spLocks noChangeArrowheads="1"/>
            </p:cNvSpPr>
            <p:nvPr/>
          </p:nvSpPr>
          <p:spPr bwMode="auto">
            <a:xfrm>
              <a:off x="4208463" y="2487613"/>
              <a:ext cx="812800" cy="785812"/>
            </a:xfrm>
            <a:prstGeom prst="rect">
              <a:avLst/>
            </a:prstGeom>
            <a:solidFill>
              <a:schemeClr val="accent1"/>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31" name="Rectangle 34">
              <a:extLst>
                <a:ext uri="{FF2B5EF4-FFF2-40B4-BE49-F238E27FC236}">
                  <a16:creationId xmlns:a16="http://schemas.microsoft.com/office/drawing/2014/main" id="{A56CA240-B4E8-373C-D1B0-6B3C5E13C7B4}"/>
                </a:ext>
              </a:extLst>
            </p:cNvPr>
            <p:cNvSpPr>
              <a:spLocks noChangeArrowheads="1"/>
            </p:cNvSpPr>
            <p:nvPr/>
          </p:nvSpPr>
          <p:spPr bwMode="auto">
            <a:xfrm>
              <a:off x="5006975" y="1668463"/>
              <a:ext cx="69850" cy="831850"/>
            </a:xfrm>
            <a:prstGeom prst="rect">
              <a:avLst/>
            </a:prstGeom>
            <a:solidFill>
              <a:schemeClr val="accent5"/>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32" name="Line 35">
              <a:extLst>
                <a:ext uri="{FF2B5EF4-FFF2-40B4-BE49-F238E27FC236}">
                  <a16:creationId xmlns:a16="http://schemas.microsoft.com/office/drawing/2014/main" id="{19A44568-E4B8-2B9A-A7E1-6E47E9767D2A}"/>
                </a:ext>
              </a:extLst>
            </p:cNvPr>
            <p:cNvSpPr>
              <a:spLocks noChangeShapeType="1"/>
            </p:cNvSpPr>
            <p:nvPr/>
          </p:nvSpPr>
          <p:spPr bwMode="auto">
            <a:xfrm>
              <a:off x="744538" y="2457450"/>
              <a:ext cx="0" cy="1352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33" name="Line 36">
              <a:extLst>
                <a:ext uri="{FF2B5EF4-FFF2-40B4-BE49-F238E27FC236}">
                  <a16:creationId xmlns:a16="http://schemas.microsoft.com/office/drawing/2014/main" id="{77E0F413-D60A-DD44-8B4A-1673C6AE36D5}"/>
                </a:ext>
              </a:extLst>
            </p:cNvPr>
            <p:cNvSpPr>
              <a:spLocks noChangeShapeType="1"/>
            </p:cNvSpPr>
            <p:nvPr/>
          </p:nvSpPr>
          <p:spPr bwMode="auto">
            <a:xfrm flipH="1">
              <a:off x="561975" y="2244725"/>
              <a:ext cx="128588" cy="14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4" name="Line 37">
              <a:extLst>
                <a:ext uri="{FF2B5EF4-FFF2-40B4-BE49-F238E27FC236}">
                  <a16:creationId xmlns:a16="http://schemas.microsoft.com/office/drawing/2014/main" id="{A5F8F687-4842-99CB-5062-6E8A93522D66}"/>
                </a:ext>
              </a:extLst>
            </p:cNvPr>
            <p:cNvSpPr>
              <a:spLocks noChangeShapeType="1"/>
            </p:cNvSpPr>
            <p:nvPr/>
          </p:nvSpPr>
          <p:spPr bwMode="auto">
            <a:xfrm>
              <a:off x="565150" y="2259013"/>
              <a:ext cx="0" cy="2155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5" name="Line 38">
              <a:extLst>
                <a:ext uri="{FF2B5EF4-FFF2-40B4-BE49-F238E27FC236}">
                  <a16:creationId xmlns:a16="http://schemas.microsoft.com/office/drawing/2014/main" id="{333FEA47-D90F-C5F5-5D3A-51031C5F32DD}"/>
                </a:ext>
              </a:extLst>
            </p:cNvPr>
            <p:cNvSpPr>
              <a:spLocks noChangeShapeType="1"/>
            </p:cNvSpPr>
            <p:nvPr/>
          </p:nvSpPr>
          <p:spPr bwMode="auto">
            <a:xfrm>
              <a:off x="576263" y="4416425"/>
              <a:ext cx="3238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cxnSp>
          <p:nvCxnSpPr>
            <p:cNvPr id="36" name="AutoShape 40">
              <a:extLst>
                <a:ext uri="{FF2B5EF4-FFF2-40B4-BE49-F238E27FC236}">
                  <a16:creationId xmlns:a16="http://schemas.microsoft.com/office/drawing/2014/main" id="{21FA105F-33CE-6937-1B36-29D270F02E24}"/>
                </a:ext>
              </a:extLst>
            </p:cNvPr>
            <p:cNvCxnSpPr>
              <a:cxnSpLocks noChangeShapeType="1"/>
            </p:cNvCxnSpPr>
            <p:nvPr/>
          </p:nvCxnSpPr>
          <p:spPr bwMode="auto">
            <a:xfrm rot="10800000">
              <a:off x="1004888" y="3300413"/>
              <a:ext cx="369887" cy="307975"/>
            </a:xfrm>
            <a:prstGeom prst="curvedConnector3">
              <a:avLst>
                <a:gd name="adj1" fmla="val 49787"/>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7" name="Text Box 41">
              <a:extLst>
                <a:ext uri="{FF2B5EF4-FFF2-40B4-BE49-F238E27FC236}">
                  <a16:creationId xmlns:a16="http://schemas.microsoft.com/office/drawing/2014/main" id="{4C8D12B8-A26F-301A-217E-346468334A48}"/>
                </a:ext>
              </a:extLst>
            </p:cNvPr>
            <p:cNvSpPr txBox="1">
              <a:spLocks noChangeArrowheads="1"/>
            </p:cNvSpPr>
            <p:nvPr/>
          </p:nvSpPr>
          <p:spPr bwMode="auto">
            <a:xfrm>
              <a:off x="1417638" y="3471863"/>
              <a:ext cx="6318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200" dirty="0">
                  <a:latin typeface="Roboto" panose="02000000000000000000" pitchFamily="2" charset="0"/>
                  <a:ea typeface="Roboto" panose="02000000000000000000" pitchFamily="2" charset="0"/>
                </a:rPr>
                <a:t>Waste</a:t>
              </a:r>
            </a:p>
          </p:txBody>
        </p:sp>
        <p:cxnSp>
          <p:nvCxnSpPr>
            <p:cNvPr id="38" name="AutoShape 42">
              <a:extLst>
                <a:ext uri="{FF2B5EF4-FFF2-40B4-BE49-F238E27FC236}">
                  <a16:creationId xmlns:a16="http://schemas.microsoft.com/office/drawing/2014/main" id="{42B4C27A-6E21-6F5A-AF68-925AFEE27058}"/>
                </a:ext>
              </a:extLst>
            </p:cNvPr>
            <p:cNvCxnSpPr>
              <a:cxnSpLocks noChangeShapeType="1"/>
            </p:cNvCxnSpPr>
            <p:nvPr/>
          </p:nvCxnSpPr>
          <p:spPr bwMode="auto">
            <a:xfrm rot="16200000">
              <a:off x="1878806" y="3442494"/>
              <a:ext cx="307975" cy="26988"/>
            </a:xfrm>
            <a:prstGeom prst="curvedConnector3">
              <a:avLst>
                <a:gd name="adj1" fmla="val 50000"/>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9" name="Text Box 43">
              <a:extLst>
                <a:ext uri="{FF2B5EF4-FFF2-40B4-BE49-F238E27FC236}">
                  <a16:creationId xmlns:a16="http://schemas.microsoft.com/office/drawing/2014/main" id="{6B4518FC-1113-818A-B339-32C21B767A2D}"/>
                </a:ext>
              </a:extLst>
            </p:cNvPr>
            <p:cNvSpPr txBox="1">
              <a:spLocks noChangeArrowheads="1"/>
            </p:cNvSpPr>
            <p:nvPr/>
          </p:nvSpPr>
          <p:spPr bwMode="auto">
            <a:xfrm>
              <a:off x="2208213" y="3590925"/>
              <a:ext cx="1314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800" dirty="0">
                  <a:latin typeface="Roboto" panose="02000000000000000000" pitchFamily="2" charset="0"/>
                  <a:ea typeface="Roboto" panose="02000000000000000000" pitchFamily="2" charset="0"/>
                </a:rPr>
                <a:t>Lead Time</a:t>
              </a:r>
            </a:p>
          </p:txBody>
        </p:sp>
        <p:cxnSp>
          <p:nvCxnSpPr>
            <p:cNvPr id="40" name="AutoShape 45">
              <a:extLst>
                <a:ext uri="{FF2B5EF4-FFF2-40B4-BE49-F238E27FC236}">
                  <a16:creationId xmlns:a16="http://schemas.microsoft.com/office/drawing/2014/main" id="{94EE51FC-5110-889A-05A5-AE4E05C72390}"/>
                </a:ext>
              </a:extLst>
            </p:cNvPr>
            <p:cNvCxnSpPr>
              <a:cxnSpLocks noChangeShapeType="1"/>
            </p:cNvCxnSpPr>
            <p:nvPr/>
          </p:nvCxnSpPr>
          <p:spPr bwMode="auto">
            <a:xfrm rot="10800000">
              <a:off x="3594100" y="3271838"/>
              <a:ext cx="768350" cy="279400"/>
            </a:xfrm>
            <a:prstGeom prst="curvedConnector3">
              <a:avLst>
                <a:gd name="adj1" fmla="val 50000"/>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1" name="Text Box 46">
              <a:extLst>
                <a:ext uri="{FF2B5EF4-FFF2-40B4-BE49-F238E27FC236}">
                  <a16:creationId xmlns:a16="http://schemas.microsoft.com/office/drawing/2014/main" id="{576F7143-B365-2FC3-EB60-5C45FD907166}"/>
                </a:ext>
              </a:extLst>
            </p:cNvPr>
            <p:cNvSpPr txBox="1">
              <a:spLocks noChangeArrowheads="1"/>
            </p:cNvSpPr>
            <p:nvPr/>
          </p:nvSpPr>
          <p:spPr bwMode="auto">
            <a:xfrm>
              <a:off x="4319588" y="3443288"/>
              <a:ext cx="6318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200">
                  <a:latin typeface="Roboto" panose="02000000000000000000" pitchFamily="2" charset="0"/>
                  <a:ea typeface="Roboto" panose="02000000000000000000" pitchFamily="2" charset="0"/>
                </a:rPr>
                <a:t>Waste</a:t>
              </a:r>
            </a:p>
          </p:txBody>
        </p:sp>
        <p:cxnSp>
          <p:nvCxnSpPr>
            <p:cNvPr id="42" name="AutoShape 47">
              <a:extLst>
                <a:ext uri="{FF2B5EF4-FFF2-40B4-BE49-F238E27FC236}">
                  <a16:creationId xmlns:a16="http://schemas.microsoft.com/office/drawing/2014/main" id="{8459F338-7DB9-8A79-D7C2-A22A0397C731}"/>
                </a:ext>
              </a:extLst>
            </p:cNvPr>
            <p:cNvCxnSpPr>
              <a:cxnSpLocks noChangeShapeType="1"/>
            </p:cNvCxnSpPr>
            <p:nvPr/>
          </p:nvCxnSpPr>
          <p:spPr bwMode="auto">
            <a:xfrm rot="16200000">
              <a:off x="4784725" y="3365500"/>
              <a:ext cx="279400" cy="152400"/>
            </a:xfrm>
            <a:prstGeom prst="curvedConnector3">
              <a:avLst>
                <a:gd name="adj1" fmla="val 50000"/>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3" name="WordArt 48">
              <a:extLst>
                <a:ext uri="{FF2B5EF4-FFF2-40B4-BE49-F238E27FC236}">
                  <a16:creationId xmlns:a16="http://schemas.microsoft.com/office/drawing/2014/main" id="{301CE87C-E2BE-C20A-A81F-B06B9F021F47}"/>
                </a:ext>
              </a:extLst>
            </p:cNvPr>
            <p:cNvSpPr>
              <a:spLocks noChangeArrowheads="1" noChangeShapeType="1" noTextEdit="1"/>
            </p:cNvSpPr>
            <p:nvPr/>
          </p:nvSpPr>
          <p:spPr bwMode="auto">
            <a:xfrm>
              <a:off x="3089275" y="2740025"/>
              <a:ext cx="209550" cy="276225"/>
            </a:xfrm>
            <a:prstGeom prst="rect">
              <a:avLst/>
            </a:prstGeom>
          </p:spPr>
          <p:txBody>
            <a:bodyPr wrap="none" fromWordArt="1">
              <a:prstTxWarp prst="textPlain">
                <a:avLst>
                  <a:gd name="adj" fmla="val 50000"/>
                </a:avLst>
              </a:prstTxWarp>
            </a:bodyPr>
            <a:lstStyle/>
            <a:p>
              <a:r>
                <a:rPr lang="en-US" sz="2000" kern="10">
                  <a:ln w="9525">
                    <a:solidFill>
                      <a:srgbClr val="000000"/>
                    </a:solidFill>
                    <a:round/>
                    <a:headEnd/>
                    <a:tailEnd/>
                  </a:ln>
                  <a:solidFill>
                    <a:schemeClr val="tx2"/>
                  </a:solidFill>
                  <a:latin typeface="Arial Black" panose="020B0A04020102020204" pitchFamily="34" charset="0"/>
                </a:rPr>
                <a:t>$</a:t>
              </a:r>
            </a:p>
          </p:txBody>
        </p:sp>
        <p:sp>
          <p:nvSpPr>
            <p:cNvPr id="44" name="WordArt 49">
              <a:extLst>
                <a:ext uri="{FF2B5EF4-FFF2-40B4-BE49-F238E27FC236}">
                  <a16:creationId xmlns:a16="http://schemas.microsoft.com/office/drawing/2014/main" id="{DA84552A-4958-A2AB-80E1-2032A21EB8B8}"/>
                </a:ext>
              </a:extLst>
            </p:cNvPr>
            <p:cNvSpPr>
              <a:spLocks noChangeArrowheads="1" noChangeShapeType="1" noTextEdit="1"/>
            </p:cNvSpPr>
            <p:nvPr/>
          </p:nvSpPr>
          <p:spPr bwMode="auto">
            <a:xfrm>
              <a:off x="3854450" y="2563813"/>
              <a:ext cx="209550" cy="277812"/>
            </a:xfrm>
            <a:prstGeom prst="rect">
              <a:avLst/>
            </a:prstGeom>
          </p:spPr>
          <p:txBody>
            <a:bodyPr wrap="none" fromWordArt="1">
              <a:prstTxWarp prst="textPlain">
                <a:avLst>
                  <a:gd name="adj" fmla="val 50000"/>
                </a:avLst>
              </a:prstTxWarp>
            </a:bodyPr>
            <a:lstStyle/>
            <a:p>
              <a:r>
                <a:rPr lang="en-US" sz="2000" kern="10">
                  <a:ln w="9525">
                    <a:solidFill>
                      <a:srgbClr val="000000"/>
                    </a:solidFill>
                    <a:round/>
                    <a:headEnd/>
                    <a:tailEnd/>
                  </a:ln>
                  <a:solidFill>
                    <a:schemeClr val="tx2"/>
                  </a:solidFill>
                  <a:latin typeface="Arial Black" panose="020B0A04020102020204" pitchFamily="34" charset="0"/>
                </a:rPr>
                <a:t>$</a:t>
              </a:r>
            </a:p>
          </p:txBody>
        </p:sp>
        <p:sp>
          <p:nvSpPr>
            <p:cNvPr id="45" name="WordArt 50">
              <a:extLst>
                <a:ext uri="{FF2B5EF4-FFF2-40B4-BE49-F238E27FC236}">
                  <a16:creationId xmlns:a16="http://schemas.microsoft.com/office/drawing/2014/main" id="{07D61F0E-4204-1F02-B8B5-7FE9A692A61D}"/>
                </a:ext>
              </a:extLst>
            </p:cNvPr>
            <p:cNvSpPr>
              <a:spLocks noChangeArrowheads="1" noChangeShapeType="1" noTextEdit="1"/>
            </p:cNvSpPr>
            <p:nvPr/>
          </p:nvSpPr>
          <p:spPr bwMode="auto">
            <a:xfrm>
              <a:off x="3549650" y="2955925"/>
              <a:ext cx="209550" cy="277813"/>
            </a:xfrm>
            <a:prstGeom prst="rect">
              <a:avLst/>
            </a:prstGeom>
          </p:spPr>
          <p:txBody>
            <a:bodyPr wrap="none" fromWordArt="1">
              <a:prstTxWarp prst="textPlain">
                <a:avLst>
                  <a:gd name="adj" fmla="val 50000"/>
                </a:avLst>
              </a:prstTxWarp>
            </a:bodyPr>
            <a:lstStyle/>
            <a:p>
              <a:r>
                <a:rPr lang="en-US" sz="2000" kern="10">
                  <a:ln w="9525">
                    <a:solidFill>
                      <a:srgbClr val="000000"/>
                    </a:solidFill>
                    <a:round/>
                    <a:headEnd/>
                    <a:tailEnd/>
                  </a:ln>
                  <a:solidFill>
                    <a:schemeClr val="tx2"/>
                  </a:solidFill>
                  <a:latin typeface="Arial Black" panose="020B0A04020102020204" pitchFamily="34" charset="0"/>
                </a:rPr>
                <a:t>$</a:t>
              </a:r>
            </a:p>
          </p:txBody>
        </p:sp>
        <p:sp>
          <p:nvSpPr>
            <p:cNvPr id="46" name="WordArt 51">
              <a:extLst>
                <a:ext uri="{FF2B5EF4-FFF2-40B4-BE49-F238E27FC236}">
                  <a16:creationId xmlns:a16="http://schemas.microsoft.com/office/drawing/2014/main" id="{AAFCD250-F2CC-9F72-1634-C11445478066}"/>
                </a:ext>
              </a:extLst>
            </p:cNvPr>
            <p:cNvSpPr>
              <a:spLocks noChangeArrowheads="1" noChangeShapeType="1" noTextEdit="1"/>
            </p:cNvSpPr>
            <p:nvPr/>
          </p:nvSpPr>
          <p:spPr bwMode="auto">
            <a:xfrm>
              <a:off x="4711700" y="2549525"/>
              <a:ext cx="209550" cy="277813"/>
            </a:xfrm>
            <a:prstGeom prst="rect">
              <a:avLst/>
            </a:prstGeom>
          </p:spPr>
          <p:txBody>
            <a:bodyPr wrap="none" fromWordArt="1">
              <a:prstTxWarp prst="textPlain">
                <a:avLst>
                  <a:gd name="adj" fmla="val 50000"/>
                </a:avLst>
              </a:prstTxWarp>
            </a:bodyPr>
            <a:lstStyle/>
            <a:p>
              <a:r>
                <a:rPr lang="en-US" sz="2000" kern="10" dirty="0">
                  <a:ln w="9525">
                    <a:solidFill>
                      <a:srgbClr val="000000"/>
                    </a:solidFill>
                    <a:round/>
                    <a:headEnd/>
                    <a:tailEnd/>
                  </a:ln>
                  <a:solidFill>
                    <a:schemeClr val="tx2"/>
                  </a:solidFill>
                  <a:latin typeface="Arial Black" panose="020B0A04020102020204" pitchFamily="34" charset="0"/>
                </a:rPr>
                <a:t>$</a:t>
              </a:r>
            </a:p>
          </p:txBody>
        </p:sp>
        <p:sp>
          <p:nvSpPr>
            <p:cNvPr id="47" name="WordArt 52">
              <a:extLst>
                <a:ext uri="{FF2B5EF4-FFF2-40B4-BE49-F238E27FC236}">
                  <a16:creationId xmlns:a16="http://schemas.microsoft.com/office/drawing/2014/main" id="{236CDEBA-E685-C4FB-F580-49B814FD17D0}"/>
                </a:ext>
              </a:extLst>
            </p:cNvPr>
            <p:cNvSpPr>
              <a:spLocks noChangeArrowheads="1" noChangeShapeType="1" noTextEdit="1"/>
            </p:cNvSpPr>
            <p:nvPr/>
          </p:nvSpPr>
          <p:spPr bwMode="auto">
            <a:xfrm>
              <a:off x="4289425" y="2940050"/>
              <a:ext cx="209550" cy="277813"/>
            </a:xfrm>
            <a:prstGeom prst="rect">
              <a:avLst/>
            </a:prstGeom>
          </p:spPr>
          <p:txBody>
            <a:bodyPr wrap="none" fromWordArt="1">
              <a:prstTxWarp prst="textPlain">
                <a:avLst>
                  <a:gd name="adj" fmla="val 50000"/>
                </a:avLst>
              </a:prstTxWarp>
            </a:bodyPr>
            <a:lstStyle/>
            <a:p>
              <a:r>
                <a:rPr lang="en-US" sz="2000" kern="10">
                  <a:ln w="9525">
                    <a:solidFill>
                      <a:srgbClr val="000000"/>
                    </a:solidFill>
                    <a:round/>
                    <a:headEnd/>
                    <a:tailEnd/>
                  </a:ln>
                  <a:solidFill>
                    <a:schemeClr val="tx2"/>
                  </a:solidFill>
                  <a:latin typeface="Arial Black" panose="020B0A04020102020204" pitchFamily="34" charset="0"/>
                </a:rPr>
                <a:t>$</a:t>
              </a:r>
            </a:p>
          </p:txBody>
        </p:sp>
        <p:sp>
          <p:nvSpPr>
            <p:cNvPr id="48" name="Line 53">
              <a:extLst>
                <a:ext uri="{FF2B5EF4-FFF2-40B4-BE49-F238E27FC236}">
                  <a16:creationId xmlns:a16="http://schemas.microsoft.com/office/drawing/2014/main" id="{807202D2-CBFF-C61D-4AF4-688DC0F7103A}"/>
                </a:ext>
              </a:extLst>
            </p:cNvPr>
            <p:cNvSpPr>
              <a:spLocks noChangeShapeType="1"/>
            </p:cNvSpPr>
            <p:nvPr/>
          </p:nvSpPr>
          <p:spPr bwMode="auto">
            <a:xfrm flipH="1">
              <a:off x="744538" y="3813175"/>
              <a:ext cx="146843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49" name="Line 56">
              <a:extLst>
                <a:ext uri="{FF2B5EF4-FFF2-40B4-BE49-F238E27FC236}">
                  <a16:creationId xmlns:a16="http://schemas.microsoft.com/office/drawing/2014/main" id="{DD69ACC5-3945-83B0-3B1C-C73E164D85F7}"/>
                </a:ext>
              </a:extLst>
            </p:cNvPr>
            <p:cNvSpPr>
              <a:spLocks noChangeShapeType="1"/>
            </p:cNvSpPr>
            <p:nvPr/>
          </p:nvSpPr>
          <p:spPr bwMode="auto">
            <a:xfrm>
              <a:off x="3556000" y="3783013"/>
              <a:ext cx="15367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50" name="Line 57">
              <a:extLst>
                <a:ext uri="{FF2B5EF4-FFF2-40B4-BE49-F238E27FC236}">
                  <a16:creationId xmlns:a16="http://schemas.microsoft.com/office/drawing/2014/main" id="{0E779F9D-FEF6-BBFE-BC17-44D0F53BFB02}"/>
                </a:ext>
              </a:extLst>
            </p:cNvPr>
            <p:cNvSpPr>
              <a:spLocks noChangeShapeType="1"/>
            </p:cNvSpPr>
            <p:nvPr/>
          </p:nvSpPr>
          <p:spPr bwMode="auto">
            <a:xfrm>
              <a:off x="5092700" y="2486025"/>
              <a:ext cx="0" cy="13081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nvGrpSpPr>
            <p:cNvPr id="51" name="Group 58">
              <a:extLst>
                <a:ext uri="{FF2B5EF4-FFF2-40B4-BE49-F238E27FC236}">
                  <a16:creationId xmlns:a16="http://schemas.microsoft.com/office/drawing/2014/main" id="{EEEEE22D-C2E5-8A9C-3F6A-1206AB2714BB}"/>
                </a:ext>
              </a:extLst>
            </p:cNvPr>
            <p:cNvGrpSpPr>
              <a:grpSpLocks/>
            </p:cNvGrpSpPr>
            <p:nvPr/>
          </p:nvGrpSpPr>
          <p:grpSpPr bwMode="auto">
            <a:xfrm>
              <a:off x="1512888" y="3889375"/>
              <a:ext cx="1476375" cy="1846263"/>
              <a:chOff x="1248" y="2458"/>
              <a:chExt cx="1536" cy="1584"/>
            </a:xfrm>
          </p:grpSpPr>
          <p:sp>
            <p:nvSpPr>
              <p:cNvPr id="52" name="Rectangle 59">
                <a:extLst>
                  <a:ext uri="{FF2B5EF4-FFF2-40B4-BE49-F238E27FC236}">
                    <a16:creationId xmlns:a16="http://schemas.microsoft.com/office/drawing/2014/main" id="{BF36CA70-E238-AB42-91A3-69B5110A8D68}"/>
                  </a:ext>
                </a:extLst>
              </p:cNvPr>
              <p:cNvSpPr>
                <a:spLocks noChangeArrowheads="1"/>
              </p:cNvSpPr>
              <p:nvPr/>
            </p:nvSpPr>
            <p:spPr bwMode="auto">
              <a:xfrm>
                <a:off x="1536" y="2458"/>
                <a:ext cx="144" cy="576"/>
              </a:xfrm>
              <a:prstGeom prst="rect">
                <a:avLst/>
              </a:prstGeom>
              <a:solidFill>
                <a:schemeClr val="accent5"/>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53" name="Rectangle 60">
                <a:extLst>
                  <a:ext uri="{FF2B5EF4-FFF2-40B4-BE49-F238E27FC236}">
                    <a16:creationId xmlns:a16="http://schemas.microsoft.com/office/drawing/2014/main" id="{806CFF60-0678-3CD6-621E-0A030B67B931}"/>
                  </a:ext>
                </a:extLst>
              </p:cNvPr>
              <p:cNvSpPr>
                <a:spLocks noChangeArrowheads="1"/>
              </p:cNvSpPr>
              <p:nvPr/>
            </p:nvSpPr>
            <p:spPr bwMode="auto">
              <a:xfrm>
                <a:off x="1728" y="2458"/>
                <a:ext cx="48" cy="576"/>
              </a:xfrm>
              <a:prstGeom prst="rect">
                <a:avLst/>
              </a:prstGeom>
              <a:solidFill>
                <a:schemeClr val="accent5"/>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54" name="Rectangle 61">
                <a:extLst>
                  <a:ext uri="{FF2B5EF4-FFF2-40B4-BE49-F238E27FC236}">
                    <a16:creationId xmlns:a16="http://schemas.microsoft.com/office/drawing/2014/main" id="{7C97D364-8C07-D128-5A05-7461AD4334DB}"/>
                  </a:ext>
                </a:extLst>
              </p:cNvPr>
              <p:cNvSpPr>
                <a:spLocks noChangeArrowheads="1"/>
              </p:cNvSpPr>
              <p:nvPr/>
            </p:nvSpPr>
            <p:spPr bwMode="auto">
              <a:xfrm>
                <a:off x="1920" y="2458"/>
                <a:ext cx="96" cy="576"/>
              </a:xfrm>
              <a:prstGeom prst="rect">
                <a:avLst/>
              </a:prstGeom>
              <a:solidFill>
                <a:schemeClr val="accent5"/>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55" name="Rectangle 62">
                <a:extLst>
                  <a:ext uri="{FF2B5EF4-FFF2-40B4-BE49-F238E27FC236}">
                    <a16:creationId xmlns:a16="http://schemas.microsoft.com/office/drawing/2014/main" id="{E7B2A1CE-8185-1412-FC59-5E20307553F9}"/>
                  </a:ext>
                </a:extLst>
              </p:cNvPr>
              <p:cNvSpPr>
                <a:spLocks noChangeArrowheads="1"/>
              </p:cNvSpPr>
              <p:nvPr/>
            </p:nvSpPr>
            <p:spPr bwMode="auto">
              <a:xfrm>
                <a:off x="2160" y="2458"/>
                <a:ext cx="144" cy="576"/>
              </a:xfrm>
              <a:prstGeom prst="rect">
                <a:avLst/>
              </a:prstGeom>
              <a:solidFill>
                <a:schemeClr val="accent5"/>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56" name="Rectangle 63">
                <a:extLst>
                  <a:ext uri="{FF2B5EF4-FFF2-40B4-BE49-F238E27FC236}">
                    <a16:creationId xmlns:a16="http://schemas.microsoft.com/office/drawing/2014/main" id="{4F055DDF-0475-EFD4-FFD9-B219CA24BC4F}"/>
                  </a:ext>
                </a:extLst>
              </p:cNvPr>
              <p:cNvSpPr>
                <a:spLocks noChangeArrowheads="1"/>
              </p:cNvSpPr>
              <p:nvPr/>
            </p:nvSpPr>
            <p:spPr bwMode="auto">
              <a:xfrm>
                <a:off x="2496" y="2458"/>
                <a:ext cx="48" cy="576"/>
              </a:xfrm>
              <a:prstGeom prst="rect">
                <a:avLst/>
              </a:prstGeom>
              <a:solidFill>
                <a:schemeClr val="accent5"/>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57" name="Rectangle 64">
                <a:extLst>
                  <a:ext uri="{FF2B5EF4-FFF2-40B4-BE49-F238E27FC236}">
                    <a16:creationId xmlns:a16="http://schemas.microsoft.com/office/drawing/2014/main" id="{6EE21DA0-F02D-95AC-F08B-775AB28C65C3}"/>
                  </a:ext>
                </a:extLst>
              </p:cNvPr>
              <p:cNvSpPr>
                <a:spLocks noChangeArrowheads="1"/>
              </p:cNvSpPr>
              <p:nvPr/>
            </p:nvSpPr>
            <p:spPr bwMode="auto">
              <a:xfrm>
                <a:off x="2640" y="2458"/>
                <a:ext cx="48" cy="576"/>
              </a:xfrm>
              <a:prstGeom prst="rect">
                <a:avLst/>
              </a:prstGeom>
              <a:solidFill>
                <a:schemeClr val="accent5"/>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58" name="Rectangle 65">
                <a:extLst>
                  <a:ext uri="{FF2B5EF4-FFF2-40B4-BE49-F238E27FC236}">
                    <a16:creationId xmlns:a16="http://schemas.microsoft.com/office/drawing/2014/main" id="{67A2C117-9F05-D43F-101A-20CA9218FE8E}"/>
                  </a:ext>
                </a:extLst>
              </p:cNvPr>
              <p:cNvSpPr>
                <a:spLocks noChangeArrowheads="1"/>
              </p:cNvSpPr>
              <p:nvPr/>
            </p:nvSpPr>
            <p:spPr bwMode="auto">
              <a:xfrm flipH="1">
                <a:off x="2736" y="2458"/>
                <a:ext cx="48" cy="576"/>
              </a:xfrm>
              <a:prstGeom prst="rect">
                <a:avLst/>
              </a:prstGeom>
              <a:solidFill>
                <a:schemeClr val="accent5"/>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59" name="Rectangle 66">
                <a:extLst>
                  <a:ext uri="{FF2B5EF4-FFF2-40B4-BE49-F238E27FC236}">
                    <a16:creationId xmlns:a16="http://schemas.microsoft.com/office/drawing/2014/main" id="{273F6C9C-8380-35F8-FFF4-C8C3C31CF0EF}"/>
                  </a:ext>
                </a:extLst>
              </p:cNvPr>
              <p:cNvSpPr>
                <a:spLocks noChangeArrowheads="1"/>
              </p:cNvSpPr>
              <p:nvPr/>
            </p:nvSpPr>
            <p:spPr bwMode="auto">
              <a:xfrm>
                <a:off x="1680" y="3034"/>
                <a:ext cx="48" cy="576"/>
              </a:xfrm>
              <a:prstGeom prst="rect">
                <a:avLst/>
              </a:prstGeom>
              <a:solidFill>
                <a:schemeClr val="accent1"/>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60" name="Rectangle 67">
                <a:extLst>
                  <a:ext uri="{FF2B5EF4-FFF2-40B4-BE49-F238E27FC236}">
                    <a16:creationId xmlns:a16="http://schemas.microsoft.com/office/drawing/2014/main" id="{8106ECB0-F37F-6744-633B-049C1C86C920}"/>
                  </a:ext>
                </a:extLst>
              </p:cNvPr>
              <p:cNvSpPr>
                <a:spLocks noChangeArrowheads="1"/>
              </p:cNvSpPr>
              <p:nvPr/>
            </p:nvSpPr>
            <p:spPr bwMode="auto">
              <a:xfrm>
                <a:off x="1776" y="3034"/>
                <a:ext cx="144" cy="576"/>
              </a:xfrm>
              <a:prstGeom prst="rect">
                <a:avLst/>
              </a:prstGeom>
              <a:solidFill>
                <a:schemeClr val="accent1"/>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61" name="Rectangle 68">
                <a:extLst>
                  <a:ext uri="{FF2B5EF4-FFF2-40B4-BE49-F238E27FC236}">
                    <a16:creationId xmlns:a16="http://schemas.microsoft.com/office/drawing/2014/main" id="{26D7E4F8-DD3E-BCF6-DFD8-71D4FF424B33}"/>
                  </a:ext>
                </a:extLst>
              </p:cNvPr>
              <p:cNvSpPr>
                <a:spLocks noChangeArrowheads="1"/>
              </p:cNvSpPr>
              <p:nvPr/>
            </p:nvSpPr>
            <p:spPr bwMode="auto">
              <a:xfrm>
                <a:off x="1296" y="3034"/>
                <a:ext cx="240" cy="576"/>
              </a:xfrm>
              <a:prstGeom prst="rect">
                <a:avLst/>
              </a:prstGeom>
              <a:solidFill>
                <a:schemeClr val="accent1"/>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62" name="Rectangle 69">
                <a:extLst>
                  <a:ext uri="{FF2B5EF4-FFF2-40B4-BE49-F238E27FC236}">
                    <a16:creationId xmlns:a16="http://schemas.microsoft.com/office/drawing/2014/main" id="{3F6DD9A6-E217-B226-0377-28386DE778DF}"/>
                  </a:ext>
                </a:extLst>
              </p:cNvPr>
              <p:cNvSpPr>
                <a:spLocks noChangeArrowheads="1"/>
              </p:cNvSpPr>
              <p:nvPr/>
            </p:nvSpPr>
            <p:spPr bwMode="auto">
              <a:xfrm>
                <a:off x="2016" y="3034"/>
                <a:ext cx="144" cy="576"/>
              </a:xfrm>
              <a:prstGeom prst="rect">
                <a:avLst/>
              </a:prstGeom>
              <a:solidFill>
                <a:schemeClr val="accent1"/>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63" name="Rectangle 70">
                <a:extLst>
                  <a:ext uri="{FF2B5EF4-FFF2-40B4-BE49-F238E27FC236}">
                    <a16:creationId xmlns:a16="http://schemas.microsoft.com/office/drawing/2014/main" id="{82195926-DA43-E43B-260B-269335E87A15}"/>
                  </a:ext>
                </a:extLst>
              </p:cNvPr>
              <p:cNvSpPr>
                <a:spLocks noChangeArrowheads="1"/>
              </p:cNvSpPr>
              <p:nvPr/>
            </p:nvSpPr>
            <p:spPr bwMode="auto">
              <a:xfrm>
                <a:off x="2304" y="3034"/>
                <a:ext cx="192" cy="576"/>
              </a:xfrm>
              <a:prstGeom prst="rect">
                <a:avLst/>
              </a:prstGeom>
              <a:solidFill>
                <a:schemeClr val="accent1"/>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64" name="Rectangle 71">
                <a:extLst>
                  <a:ext uri="{FF2B5EF4-FFF2-40B4-BE49-F238E27FC236}">
                    <a16:creationId xmlns:a16="http://schemas.microsoft.com/office/drawing/2014/main" id="{2836C005-AE50-4CF9-C218-68448024CE8D}"/>
                  </a:ext>
                </a:extLst>
              </p:cNvPr>
              <p:cNvSpPr>
                <a:spLocks noChangeArrowheads="1"/>
              </p:cNvSpPr>
              <p:nvPr/>
            </p:nvSpPr>
            <p:spPr bwMode="auto">
              <a:xfrm>
                <a:off x="2544" y="3034"/>
                <a:ext cx="96" cy="576"/>
              </a:xfrm>
              <a:prstGeom prst="rect">
                <a:avLst/>
              </a:prstGeom>
              <a:solidFill>
                <a:schemeClr val="accent1"/>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65" name="Rectangle 72">
                <a:extLst>
                  <a:ext uri="{FF2B5EF4-FFF2-40B4-BE49-F238E27FC236}">
                    <a16:creationId xmlns:a16="http://schemas.microsoft.com/office/drawing/2014/main" id="{F39F8EAF-3D48-5361-16D9-1F4707EBEE96}"/>
                  </a:ext>
                </a:extLst>
              </p:cNvPr>
              <p:cNvSpPr>
                <a:spLocks noChangeArrowheads="1"/>
              </p:cNvSpPr>
              <p:nvPr/>
            </p:nvSpPr>
            <p:spPr bwMode="auto">
              <a:xfrm>
                <a:off x="2688" y="3034"/>
                <a:ext cx="48" cy="576"/>
              </a:xfrm>
              <a:prstGeom prst="rect">
                <a:avLst/>
              </a:prstGeom>
              <a:solidFill>
                <a:schemeClr val="accent1"/>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66" name="Rectangle 73">
                <a:extLst>
                  <a:ext uri="{FF2B5EF4-FFF2-40B4-BE49-F238E27FC236}">
                    <a16:creationId xmlns:a16="http://schemas.microsoft.com/office/drawing/2014/main" id="{39414CB5-1959-1E10-3C1A-D4A3C3983B78}"/>
                  </a:ext>
                </a:extLst>
              </p:cNvPr>
              <p:cNvSpPr>
                <a:spLocks noChangeArrowheads="1"/>
              </p:cNvSpPr>
              <p:nvPr/>
            </p:nvSpPr>
            <p:spPr bwMode="auto">
              <a:xfrm>
                <a:off x="1248" y="2458"/>
                <a:ext cx="48" cy="576"/>
              </a:xfrm>
              <a:prstGeom prst="rect">
                <a:avLst/>
              </a:prstGeom>
              <a:solidFill>
                <a:schemeClr val="accent5"/>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67" name="Line 74">
                <a:extLst>
                  <a:ext uri="{FF2B5EF4-FFF2-40B4-BE49-F238E27FC236}">
                    <a16:creationId xmlns:a16="http://schemas.microsoft.com/office/drawing/2014/main" id="{1D878651-52E9-F693-E1B7-14F548E86AA2}"/>
                  </a:ext>
                </a:extLst>
              </p:cNvPr>
              <p:cNvSpPr>
                <a:spLocks noChangeShapeType="1"/>
              </p:cNvSpPr>
              <p:nvPr/>
            </p:nvSpPr>
            <p:spPr bwMode="auto">
              <a:xfrm>
                <a:off x="1248" y="3034"/>
                <a:ext cx="0" cy="100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68" name="Line 75">
                <a:extLst>
                  <a:ext uri="{FF2B5EF4-FFF2-40B4-BE49-F238E27FC236}">
                    <a16:creationId xmlns:a16="http://schemas.microsoft.com/office/drawing/2014/main" id="{53486373-9A1C-DECA-DAB7-536D1F8F10C5}"/>
                  </a:ext>
                </a:extLst>
              </p:cNvPr>
              <p:cNvSpPr>
                <a:spLocks noChangeShapeType="1"/>
              </p:cNvSpPr>
              <p:nvPr/>
            </p:nvSpPr>
            <p:spPr bwMode="auto">
              <a:xfrm>
                <a:off x="2784" y="3034"/>
                <a:ext cx="0" cy="100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69" name="Line 76">
                <a:extLst>
                  <a:ext uri="{FF2B5EF4-FFF2-40B4-BE49-F238E27FC236}">
                    <a16:creationId xmlns:a16="http://schemas.microsoft.com/office/drawing/2014/main" id="{98BC2A37-5159-0D03-3304-3314C8C9AF20}"/>
                  </a:ext>
                </a:extLst>
              </p:cNvPr>
              <p:cNvSpPr>
                <a:spLocks noChangeShapeType="1"/>
              </p:cNvSpPr>
              <p:nvPr/>
            </p:nvSpPr>
            <p:spPr bwMode="auto">
              <a:xfrm flipH="1">
                <a:off x="1248" y="3994"/>
                <a:ext cx="28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70" name="Line 77">
                <a:extLst>
                  <a:ext uri="{FF2B5EF4-FFF2-40B4-BE49-F238E27FC236}">
                    <a16:creationId xmlns:a16="http://schemas.microsoft.com/office/drawing/2014/main" id="{5D1A9667-76B2-DD89-7078-31D7B4B85EAA}"/>
                  </a:ext>
                </a:extLst>
              </p:cNvPr>
              <p:cNvSpPr>
                <a:spLocks noChangeShapeType="1"/>
              </p:cNvSpPr>
              <p:nvPr/>
            </p:nvSpPr>
            <p:spPr bwMode="auto">
              <a:xfrm>
                <a:off x="2592" y="3994"/>
                <a:ext cx="19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sp>
          <p:nvSpPr>
            <p:cNvPr id="71" name="Text Box 78">
              <a:extLst>
                <a:ext uri="{FF2B5EF4-FFF2-40B4-BE49-F238E27FC236}">
                  <a16:creationId xmlns:a16="http://schemas.microsoft.com/office/drawing/2014/main" id="{37EEBAE3-0A73-090A-405F-EBE84BC71497}"/>
                </a:ext>
              </a:extLst>
            </p:cNvPr>
            <p:cNvSpPr txBox="1">
              <a:spLocks noChangeArrowheads="1"/>
            </p:cNvSpPr>
            <p:nvPr/>
          </p:nvSpPr>
          <p:spPr bwMode="auto">
            <a:xfrm>
              <a:off x="1844675" y="5284788"/>
              <a:ext cx="90922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2400" b="0">
                  <a:latin typeface="Roboto" panose="02000000000000000000" pitchFamily="2" charset="0"/>
                  <a:ea typeface="Roboto" panose="02000000000000000000" pitchFamily="2" charset="0"/>
                </a:rPr>
                <a:t>  </a:t>
              </a:r>
              <a:r>
                <a:rPr lang="en-US" altLang="en-US" sz="1200">
                  <a:latin typeface="Roboto" panose="02000000000000000000" pitchFamily="2" charset="0"/>
                  <a:ea typeface="Roboto" panose="02000000000000000000" pitchFamily="2" charset="0"/>
                </a:rPr>
                <a:t>New </a:t>
              </a:r>
            </a:p>
            <a:p>
              <a:pPr eaLnBrk="1" hangingPunct="1">
                <a:lnSpc>
                  <a:spcPct val="100000"/>
                </a:lnSpc>
                <a:spcBef>
                  <a:spcPct val="0"/>
                </a:spcBef>
                <a:spcAft>
                  <a:spcPct val="0"/>
                </a:spcAft>
                <a:buClrTx/>
                <a:buSzTx/>
                <a:buFontTx/>
                <a:buNone/>
              </a:pPr>
              <a:r>
                <a:rPr lang="en-US" altLang="en-US" sz="1200">
                  <a:latin typeface="Roboto" panose="02000000000000000000" pitchFamily="2" charset="0"/>
                  <a:ea typeface="Roboto" panose="02000000000000000000" pitchFamily="2" charset="0"/>
                </a:rPr>
                <a:t>Lead Time</a:t>
              </a:r>
            </a:p>
          </p:txBody>
        </p:sp>
      </p:grpSp>
    </p:spTree>
    <p:extLst>
      <p:ext uri="{BB962C8B-B14F-4D97-AF65-F5344CB8AC3E}">
        <p14:creationId xmlns:p14="http://schemas.microsoft.com/office/powerpoint/2010/main" val="35736103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 Standard Work Charter Review</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15</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59748"/>
            <a:ext cx="972234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Review the Standard Work Charter for the event against charter criteria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 a team review the event charter and answer the following questions:</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What is the business need for this event?</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Who is the owner?</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What are the goals for this event?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15-30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13368"/>
            <a:ext cx="4681292" cy="841256"/>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Make any modifications</a:t>
            </a:r>
            <a:b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br>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to charter as necessary. </a:t>
            </a:r>
          </a:p>
        </p:txBody>
      </p:sp>
    </p:spTree>
    <p:extLst>
      <p:ext uri="{BB962C8B-B14F-4D97-AF65-F5344CB8AC3E}">
        <p14:creationId xmlns:p14="http://schemas.microsoft.com/office/powerpoint/2010/main" val="42945341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16</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TAKT Time vs. Process Time</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dirty="0"/>
              <a:t>Define “takt time”</a:t>
            </a:r>
          </a:p>
          <a:p>
            <a:r>
              <a:rPr lang="en-US" dirty="0"/>
              <a:t>Calculate takt time</a:t>
            </a:r>
          </a:p>
          <a:p>
            <a:r>
              <a:rPr lang="en-US" dirty="0"/>
              <a:t>Differentiate process time from takt time</a:t>
            </a:r>
          </a:p>
          <a:p>
            <a:r>
              <a:rPr lang="en-US" dirty="0"/>
              <a:t>Identify types of process time</a:t>
            </a:r>
          </a:p>
          <a:p>
            <a:r>
              <a:rPr lang="en-US" dirty="0"/>
              <a:t>Calculate number of Associates</a:t>
            </a:r>
          </a:p>
          <a:p>
            <a:r>
              <a:rPr lang="en-US" dirty="0"/>
              <a:t>Calculate process time</a:t>
            </a:r>
          </a:p>
          <a:p>
            <a:endParaRPr lang="en-US" dirty="0"/>
          </a:p>
          <a:p>
            <a:endParaRPr lang="en-US" dirty="0"/>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C87A7FF0-98F8-9B45-43F5-1EE0B5702A07}"/>
              </a:ext>
            </a:extLst>
          </p:cNvPr>
          <p:cNvGrpSpPr/>
          <p:nvPr/>
        </p:nvGrpSpPr>
        <p:grpSpPr>
          <a:xfrm>
            <a:off x="699911" y="837132"/>
            <a:ext cx="5850075" cy="659880"/>
            <a:chOff x="699911" y="837132"/>
            <a:chExt cx="5850075" cy="659880"/>
          </a:xfrm>
        </p:grpSpPr>
        <p:sp>
          <p:nvSpPr>
            <p:cNvPr id="4" name="AutoShape 9">
              <a:extLst>
                <a:ext uri="{FF2B5EF4-FFF2-40B4-BE49-F238E27FC236}">
                  <a16:creationId xmlns:a16="http://schemas.microsoft.com/office/drawing/2014/main" id="{717DD1F3-5C6B-CA24-C474-C85FEE3DF5E7}"/>
                </a:ext>
              </a:extLst>
            </p:cNvPr>
            <p:cNvSpPr>
              <a:spLocks noChangeArrowheads="1"/>
            </p:cNvSpPr>
            <p:nvPr/>
          </p:nvSpPr>
          <p:spPr bwMode="auto">
            <a:xfrm>
              <a:off x="4971710" y="837132"/>
              <a:ext cx="1578276" cy="659879"/>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Documentation</a:t>
              </a:r>
            </a:p>
          </p:txBody>
        </p:sp>
        <p:grpSp>
          <p:nvGrpSpPr>
            <p:cNvPr id="13" name="Group 12">
              <a:extLst>
                <a:ext uri="{FF2B5EF4-FFF2-40B4-BE49-F238E27FC236}">
                  <a16:creationId xmlns:a16="http://schemas.microsoft.com/office/drawing/2014/main" id="{DADE2756-B973-0064-D4DD-52D3744FBA6B}"/>
                </a:ext>
              </a:extLst>
            </p:cNvPr>
            <p:cNvGrpSpPr/>
            <p:nvPr/>
          </p:nvGrpSpPr>
          <p:grpSpPr>
            <a:xfrm>
              <a:off x="699911" y="837133"/>
              <a:ext cx="4425950" cy="659879"/>
              <a:chOff x="5627530" y="641179"/>
              <a:chExt cx="6564470" cy="804977"/>
            </a:xfrm>
          </p:grpSpPr>
          <p:sp>
            <p:nvSpPr>
              <p:cNvPr id="14" name="AutoShape 9">
                <a:extLst>
                  <a:ext uri="{FF2B5EF4-FFF2-40B4-BE49-F238E27FC236}">
                    <a16:creationId xmlns:a16="http://schemas.microsoft.com/office/drawing/2014/main" id="{FF83B6EB-BAFE-C193-44C8-50C54ED609A3}"/>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Standard WIP</a:t>
                </a:r>
              </a:p>
            </p:txBody>
          </p:sp>
          <p:sp>
            <p:nvSpPr>
              <p:cNvPr id="15" name="AutoShape 10">
                <a:extLst>
                  <a:ext uri="{FF2B5EF4-FFF2-40B4-BE49-F238E27FC236}">
                    <a16:creationId xmlns:a16="http://schemas.microsoft.com/office/drawing/2014/main" id="{386767CB-AD12-A8CE-F49D-60EB435EC2D3}"/>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Work </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Sequence</a:t>
                </a:r>
              </a:p>
            </p:txBody>
          </p:sp>
          <p:sp>
            <p:nvSpPr>
              <p:cNvPr id="16" name="AutoShape 11">
                <a:extLst>
                  <a:ext uri="{FF2B5EF4-FFF2-40B4-BE49-F238E27FC236}">
                    <a16:creationId xmlns:a16="http://schemas.microsoft.com/office/drawing/2014/main" id="{C2EFD1F9-72F5-1220-34C5-1283C9247686}"/>
                  </a:ext>
                </a:extLst>
              </p:cNvPr>
              <p:cNvSpPr>
                <a:spLocks noChangeArrowheads="1"/>
              </p:cNvSpPr>
              <p:nvPr/>
            </p:nvSpPr>
            <p:spPr bwMode="auto">
              <a:xfrm>
                <a:off x="5627530" y="641179"/>
                <a:ext cx="2340864" cy="804977"/>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latin typeface="Roboto" panose="02000000000000000000" pitchFamily="2" charset="0"/>
                    <a:ea typeface="Roboto" panose="02000000000000000000" pitchFamily="2" charset="0"/>
                    <a:cs typeface="Roboto" panose="02000000000000000000" pitchFamily="2" charset="0"/>
                  </a:rPr>
                  <a:t>Takt Time vs.</a:t>
                </a:r>
                <a:br>
                  <a:rPr lang="en-US" altLang="en-US" sz="1200" dirty="0">
                    <a:latin typeface="Roboto" panose="02000000000000000000" pitchFamily="2" charset="0"/>
                    <a:ea typeface="Roboto" panose="02000000000000000000" pitchFamily="2" charset="0"/>
                    <a:cs typeface="Roboto" panose="02000000000000000000" pitchFamily="2" charset="0"/>
                  </a:rPr>
                </a:br>
                <a:r>
                  <a:rPr lang="en-US" altLang="en-US" sz="1200" dirty="0">
                    <a:latin typeface="Roboto" panose="02000000000000000000" pitchFamily="2" charset="0"/>
                    <a:ea typeface="Roboto" panose="02000000000000000000" pitchFamily="2" charset="0"/>
                    <a:cs typeface="Roboto" panose="02000000000000000000" pitchFamily="2" charset="0"/>
                  </a:rPr>
                  <a:t>Process Time</a:t>
                </a:r>
              </a:p>
            </p:txBody>
          </p:sp>
        </p:grpSp>
      </p:grpSp>
    </p:spTree>
    <p:extLst>
      <p:ext uri="{BB962C8B-B14F-4D97-AF65-F5344CB8AC3E}">
        <p14:creationId xmlns:p14="http://schemas.microsoft.com/office/powerpoint/2010/main" val="11634017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TAKT Time</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17</a:t>
            </a:fld>
            <a:endParaRPr lang="en-US"/>
          </a:p>
        </p:txBody>
      </p:sp>
      <p:grpSp>
        <p:nvGrpSpPr>
          <p:cNvPr id="16" name="Group 15">
            <a:extLst>
              <a:ext uri="{FF2B5EF4-FFF2-40B4-BE49-F238E27FC236}">
                <a16:creationId xmlns:a16="http://schemas.microsoft.com/office/drawing/2014/main" id="{E459EE76-BE5E-9E41-5B74-5766BBE9B3C6}"/>
              </a:ext>
            </a:extLst>
          </p:cNvPr>
          <p:cNvGrpSpPr/>
          <p:nvPr/>
        </p:nvGrpSpPr>
        <p:grpSpPr>
          <a:xfrm>
            <a:off x="1323340" y="2085975"/>
            <a:ext cx="9545320" cy="3908425"/>
            <a:chOff x="838200" y="2085975"/>
            <a:chExt cx="8213725" cy="3249613"/>
          </a:xfrm>
        </p:grpSpPr>
        <p:grpSp>
          <p:nvGrpSpPr>
            <p:cNvPr id="3" name="Group 3">
              <a:extLst>
                <a:ext uri="{FF2B5EF4-FFF2-40B4-BE49-F238E27FC236}">
                  <a16:creationId xmlns:a16="http://schemas.microsoft.com/office/drawing/2014/main" id="{F33CC1EF-93A5-10D7-58AA-6EA2E0EBB045}"/>
                </a:ext>
              </a:extLst>
            </p:cNvPr>
            <p:cNvGrpSpPr>
              <a:grpSpLocks/>
            </p:cNvGrpSpPr>
            <p:nvPr/>
          </p:nvGrpSpPr>
          <p:grpSpPr bwMode="auto">
            <a:xfrm>
              <a:off x="862012" y="2235200"/>
              <a:ext cx="8189913" cy="466725"/>
              <a:chOff x="562" y="1785"/>
              <a:chExt cx="4831" cy="294"/>
            </a:xfrm>
          </p:grpSpPr>
          <p:sp>
            <p:nvSpPr>
              <p:cNvPr id="5" name="AutoShape 4">
                <a:extLst>
                  <a:ext uri="{FF2B5EF4-FFF2-40B4-BE49-F238E27FC236}">
                    <a16:creationId xmlns:a16="http://schemas.microsoft.com/office/drawing/2014/main" id="{5D84D664-07C7-B409-9B2E-0F484CFD6B9C}"/>
                  </a:ext>
                </a:extLst>
              </p:cNvPr>
              <p:cNvSpPr>
                <a:spLocks noChangeArrowheads="1"/>
              </p:cNvSpPr>
              <p:nvPr/>
            </p:nvSpPr>
            <p:spPr bwMode="auto">
              <a:xfrm>
                <a:off x="3660" y="1785"/>
                <a:ext cx="1733" cy="294"/>
              </a:xfrm>
              <a:prstGeom prst="homePlate">
                <a:avLst>
                  <a:gd name="adj" fmla="val 48603"/>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1800">
                    <a:solidFill>
                      <a:schemeClr val="bg1"/>
                    </a:solidFill>
                    <a:latin typeface="Roboto" panose="02000000000000000000" pitchFamily="2" charset="0"/>
                    <a:ea typeface="Roboto" panose="02000000000000000000" pitchFamily="2" charset="0"/>
                  </a:rPr>
                  <a:t>Origin</a:t>
                </a:r>
              </a:p>
            </p:txBody>
          </p:sp>
          <p:sp>
            <p:nvSpPr>
              <p:cNvPr id="6" name="AutoShape 5">
                <a:extLst>
                  <a:ext uri="{FF2B5EF4-FFF2-40B4-BE49-F238E27FC236}">
                    <a16:creationId xmlns:a16="http://schemas.microsoft.com/office/drawing/2014/main" id="{397FB19D-58E8-CC48-70FA-02F5E2D9BFCE}"/>
                  </a:ext>
                </a:extLst>
              </p:cNvPr>
              <p:cNvSpPr>
                <a:spLocks noChangeArrowheads="1"/>
              </p:cNvSpPr>
              <p:nvPr/>
            </p:nvSpPr>
            <p:spPr bwMode="auto">
              <a:xfrm>
                <a:off x="2105" y="1785"/>
                <a:ext cx="1733" cy="294"/>
              </a:xfrm>
              <a:prstGeom prst="homePlate">
                <a:avLst>
                  <a:gd name="adj" fmla="val 48603"/>
                </a:avLst>
              </a:prstGeom>
              <a:solidFill>
                <a:schemeClr val="accent2"/>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1800">
                    <a:latin typeface="Roboto" panose="02000000000000000000" pitchFamily="2" charset="0"/>
                    <a:ea typeface="Roboto" panose="02000000000000000000" pitchFamily="2" charset="0"/>
                  </a:rPr>
                  <a:t>Calculation</a:t>
                </a:r>
              </a:p>
            </p:txBody>
          </p:sp>
          <p:sp>
            <p:nvSpPr>
              <p:cNvPr id="7" name="AutoShape 6">
                <a:extLst>
                  <a:ext uri="{FF2B5EF4-FFF2-40B4-BE49-F238E27FC236}">
                    <a16:creationId xmlns:a16="http://schemas.microsoft.com/office/drawing/2014/main" id="{D9350E00-CF12-100D-8AAE-0394B8F4711B}"/>
                  </a:ext>
                </a:extLst>
              </p:cNvPr>
              <p:cNvSpPr>
                <a:spLocks noChangeArrowheads="1"/>
              </p:cNvSpPr>
              <p:nvPr/>
            </p:nvSpPr>
            <p:spPr bwMode="auto">
              <a:xfrm>
                <a:off x="562" y="1785"/>
                <a:ext cx="1733" cy="294"/>
              </a:xfrm>
              <a:prstGeom prst="homePlate">
                <a:avLst>
                  <a:gd name="adj" fmla="val 48603"/>
                </a:avLst>
              </a:prstGeom>
              <a:solidFill>
                <a:schemeClr val="bg2"/>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1800" dirty="0">
                    <a:latin typeface="Roboto" panose="02000000000000000000" pitchFamily="2" charset="0"/>
                    <a:ea typeface="Roboto" panose="02000000000000000000" pitchFamily="2" charset="0"/>
                  </a:rPr>
                  <a:t>Definition</a:t>
                </a:r>
              </a:p>
            </p:txBody>
          </p:sp>
        </p:grpSp>
        <p:sp>
          <p:nvSpPr>
            <p:cNvPr id="8" name="Rectangle 7">
              <a:extLst>
                <a:ext uri="{FF2B5EF4-FFF2-40B4-BE49-F238E27FC236}">
                  <a16:creationId xmlns:a16="http://schemas.microsoft.com/office/drawing/2014/main" id="{0E08FB0D-FFEC-9970-590D-1637D209B41B}"/>
                </a:ext>
              </a:extLst>
            </p:cNvPr>
            <p:cNvSpPr>
              <a:spLocks noChangeArrowheads="1"/>
            </p:cNvSpPr>
            <p:nvPr/>
          </p:nvSpPr>
          <p:spPr bwMode="auto">
            <a:xfrm>
              <a:off x="866775" y="2752725"/>
              <a:ext cx="2716212" cy="153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20000"/>
                </a:spcAft>
                <a:buClr>
                  <a:schemeClr val="tx1"/>
                </a:buClr>
                <a:buFont typeface="Arial" panose="020B0604020202020204" pitchFamily="34" charset="0"/>
                <a:buChar char="•"/>
              </a:pPr>
              <a:r>
                <a:rPr lang="en-US" altLang="en-US" sz="1600" dirty="0">
                  <a:latin typeface="Roboto" panose="02000000000000000000" pitchFamily="2" charset="0"/>
                  <a:ea typeface="Roboto" panose="02000000000000000000" pitchFamily="2" charset="0"/>
                </a:rPr>
                <a:t>How often you should perform a task, based on the rate to meet customer requirements</a:t>
              </a:r>
            </a:p>
          </p:txBody>
        </p:sp>
        <p:sp>
          <p:nvSpPr>
            <p:cNvPr id="9" name="Rectangle 8">
              <a:extLst>
                <a:ext uri="{FF2B5EF4-FFF2-40B4-BE49-F238E27FC236}">
                  <a16:creationId xmlns:a16="http://schemas.microsoft.com/office/drawing/2014/main" id="{2F0E33F3-DDF6-DA64-C447-22C347C8D5BE}"/>
                </a:ext>
              </a:extLst>
            </p:cNvPr>
            <p:cNvSpPr>
              <a:spLocks noChangeArrowheads="1"/>
            </p:cNvSpPr>
            <p:nvPr/>
          </p:nvSpPr>
          <p:spPr bwMode="auto">
            <a:xfrm>
              <a:off x="3627437" y="2774950"/>
              <a:ext cx="25273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20000"/>
                </a:spcAft>
                <a:buClr>
                  <a:schemeClr val="tx1"/>
                </a:buClr>
                <a:buFont typeface="Arial" panose="020B0604020202020204" pitchFamily="34" charset="0"/>
                <a:buChar char="•"/>
              </a:pPr>
              <a:r>
                <a:rPr lang="en-US" altLang="en-US" sz="1600" dirty="0">
                  <a:latin typeface="Roboto" panose="02000000000000000000" pitchFamily="2" charset="0"/>
                  <a:ea typeface="Roboto" panose="02000000000000000000" pitchFamily="2" charset="0"/>
                </a:rPr>
                <a:t>Available Working Time (per shift) </a:t>
              </a:r>
            </a:p>
            <a:p>
              <a:pPr eaLnBrk="1" hangingPunct="1">
                <a:lnSpc>
                  <a:spcPct val="100000"/>
                </a:lnSpc>
                <a:spcBef>
                  <a:spcPct val="0"/>
                </a:spcBef>
                <a:spcAft>
                  <a:spcPct val="20000"/>
                </a:spcAft>
                <a:buClr>
                  <a:schemeClr val="tx1"/>
                </a:buClr>
                <a:buFont typeface="Arial" panose="020B0604020202020204" pitchFamily="34" charset="0"/>
                <a:buChar char="•"/>
              </a:pPr>
              <a:r>
                <a:rPr lang="en-US" altLang="en-US" sz="1600" dirty="0">
                  <a:latin typeface="Roboto" panose="02000000000000000000" pitchFamily="2" charset="0"/>
                  <a:ea typeface="Roboto" panose="02000000000000000000" pitchFamily="2" charset="0"/>
                </a:rPr>
                <a:t>Customer Demand (in units) </a:t>
              </a:r>
            </a:p>
            <a:p>
              <a:pPr eaLnBrk="1" hangingPunct="1">
                <a:lnSpc>
                  <a:spcPct val="100000"/>
                </a:lnSpc>
                <a:spcBef>
                  <a:spcPct val="0"/>
                </a:spcBef>
                <a:spcAft>
                  <a:spcPct val="20000"/>
                </a:spcAft>
                <a:buClr>
                  <a:schemeClr val="tx1"/>
                </a:buClr>
                <a:buFont typeface="Arial" panose="020B0604020202020204" pitchFamily="34" charset="0"/>
                <a:buChar char="•"/>
              </a:pPr>
              <a:r>
                <a:rPr lang="en-US" altLang="en-US" sz="1600" dirty="0">
                  <a:latin typeface="Roboto" panose="02000000000000000000" pitchFamily="2" charset="0"/>
                  <a:ea typeface="Roboto" panose="02000000000000000000" pitchFamily="2" charset="0"/>
                </a:rPr>
                <a:t>Expressed in seconds</a:t>
              </a:r>
            </a:p>
          </p:txBody>
        </p:sp>
        <p:sp>
          <p:nvSpPr>
            <p:cNvPr id="10" name="Rectangle 9">
              <a:extLst>
                <a:ext uri="{FF2B5EF4-FFF2-40B4-BE49-F238E27FC236}">
                  <a16:creationId xmlns:a16="http://schemas.microsoft.com/office/drawing/2014/main" id="{847BE63F-9215-3F03-C363-451B53949A5A}"/>
                </a:ext>
              </a:extLst>
            </p:cNvPr>
            <p:cNvSpPr>
              <a:spLocks noChangeArrowheads="1"/>
            </p:cNvSpPr>
            <p:nvPr/>
          </p:nvSpPr>
          <p:spPr bwMode="auto">
            <a:xfrm>
              <a:off x="6280150" y="2760663"/>
              <a:ext cx="2527300" cy="153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20000"/>
                </a:spcAft>
                <a:buClr>
                  <a:schemeClr val="tx1"/>
                </a:buClr>
                <a:buFont typeface="Arial" panose="020B0604020202020204" pitchFamily="34" charset="0"/>
                <a:buChar char="•"/>
              </a:pPr>
              <a:r>
                <a:rPr lang="en-US" altLang="en-US" sz="1600">
                  <a:latin typeface="Roboto" panose="02000000000000000000" pitchFamily="2" charset="0"/>
                  <a:ea typeface="Roboto" panose="02000000000000000000" pitchFamily="2" charset="0"/>
                </a:rPr>
                <a:t>German</a:t>
              </a:r>
            </a:p>
            <a:p>
              <a:pPr eaLnBrk="1" hangingPunct="1">
                <a:lnSpc>
                  <a:spcPct val="100000"/>
                </a:lnSpc>
                <a:spcBef>
                  <a:spcPct val="0"/>
                </a:spcBef>
                <a:spcAft>
                  <a:spcPct val="20000"/>
                </a:spcAft>
                <a:buClr>
                  <a:schemeClr val="tx1"/>
                </a:buClr>
                <a:buFont typeface="Arial" panose="020B0604020202020204" pitchFamily="34" charset="0"/>
                <a:buChar char="•"/>
              </a:pPr>
              <a:r>
                <a:rPr lang="en-US" altLang="en-US" sz="1600">
                  <a:latin typeface="Roboto" panose="02000000000000000000" pitchFamily="2" charset="0"/>
                  <a:ea typeface="Roboto" panose="02000000000000000000" pitchFamily="2" charset="0"/>
                </a:rPr>
                <a:t>Translated means a precision of musical meter</a:t>
              </a:r>
            </a:p>
            <a:p>
              <a:pPr eaLnBrk="1" hangingPunct="1">
                <a:lnSpc>
                  <a:spcPct val="100000"/>
                </a:lnSpc>
                <a:spcBef>
                  <a:spcPct val="0"/>
                </a:spcBef>
                <a:spcAft>
                  <a:spcPct val="0"/>
                </a:spcAft>
                <a:buClr>
                  <a:schemeClr val="tx1"/>
                </a:buClr>
                <a:buFont typeface="Arial" panose="020B0604020202020204" pitchFamily="34" charset="0"/>
                <a:buChar char="•"/>
              </a:pPr>
              <a:endParaRPr lang="en-US" altLang="en-US" sz="1600">
                <a:latin typeface="Roboto" panose="02000000000000000000" pitchFamily="2" charset="0"/>
                <a:ea typeface="Roboto" panose="02000000000000000000" pitchFamily="2" charset="0"/>
              </a:endParaRPr>
            </a:p>
          </p:txBody>
        </p:sp>
        <p:sp>
          <p:nvSpPr>
            <p:cNvPr id="11" name="Oval 10">
              <a:extLst>
                <a:ext uri="{FF2B5EF4-FFF2-40B4-BE49-F238E27FC236}">
                  <a16:creationId xmlns:a16="http://schemas.microsoft.com/office/drawing/2014/main" id="{6259752F-6352-70AE-8577-FA0AE9363EF0}"/>
                </a:ext>
              </a:extLst>
            </p:cNvPr>
            <p:cNvSpPr>
              <a:spLocks noChangeArrowheads="1"/>
            </p:cNvSpPr>
            <p:nvPr/>
          </p:nvSpPr>
          <p:spPr bwMode="auto">
            <a:xfrm>
              <a:off x="992187" y="2089150"/>
              <a:ext cx="323850" cy="287338"/>
            </a:xfrm>
            <a:prstGeom prst="ellipse">
              <a:avLst/>
            </a:prstGeom>
            <a:solidFill>
              <a:schemeClr val="bg1"/>
            </a:solidFill>
            <a:ln w="19050" cap="sq">
              <a:solidFill>
                <a:srgbClr val="000066"/>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600" dirty="0">
                  <a:latin typeface="Roboto" panose="02000000000000000000" pitchFamily="2" charset="0"/>
                  <a:ea typeface="Roboto" panose="02000000000000000000" pitchFamily="2" charset="0"/>
                </a:rPr>
                <a:t>1</a:t>
              </a:r>
            </a:p>
          </p:txBody>
        </p:sp>
        <p:sp>
          <p:nvSpPr>
            <p:cNvPr id="12" name="Oval 11">
              <a:extLst>
                <a:ext uri="{FF2B5EF4-FFF2-40B4-BE49-F238E27FC236}">
                  <a16:creationId xmlns:a16="http://schemas.microsoft.com/office/drawing/2014/main" id="{3499317C-C91A-D4E5-4A65-F5334EF211CF}"/>
                </a:ext>
              </a:extLst>
            </p:cNvPr>
            <p:cNvSpPr>
              <a:spLocks noChangeArrowheads="1"/>
            </p:cNvSpPr>
            <p:nvPr/>
          </p:nvSpPr>
          <p:spPr bwMode="auto">
            <a:xfrm>
              <a:off x="3663950" y="2097088"/>
              <a:ext cx="323850" cy="287337"/>
            </a:xfrm>
            <a:prstGeom prst="ellipse">
              <a:avLst/>
            </a:prstGeom>
            <a:solidFill>
              <a:schemeClr val="bg1"/>
            </a:solidFill>
            <a:ln w="19050" cap="sq">
              <a:solidFill>
                <a:srgbClr val="000066"/>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600">
                  <a:latin typeface="Roboto" panose="02000000000000000000" pitchFamily="2" charset="0"/>
                  <a:ea typeface="Roboto" panose="02000000000000000000" pitchFamily="2" charset="0"/>
                </a:rPr>
                <a:t>2</a:t>
              </a:r>
            </a:p>
          </p:txBody>
        </p:sp>
        <p:sp>
          <p:nvSpPr>
            <p:cNvPr id="13" name="Oval 12">
              <a:extLst>
                <a:ext uri="{FF2B5EF4-FFF2-40B4-BE49-F238E27FC236}">
                  <a16:creationId xmlns:a16="http://schemas.microsoft.com/office/drawing/2014/main" id="{9CD5BA8C-36FC-D4FD-B1B4-173EE0AD6180}"/>
                </a:ext>
              </a:extLst>
            </p:cNvPr>
            <p:cNvSpPr>
              <a:spLocks noChangeArrowheads="1"/>
            </p:cNvSpPr>
            <p:nvPr/>
          </p:nvSpPr>
          <p:spPr bwMode="auto">
            <a:xfrm>
              <a:off x="6186487" y="2085975"/>
              <a:ext cx="323850" cy="287338"/>
            </a:xfrm>
            <a:prstGeom prst="ellipse">
              <a:avLst/>
            </a:prstGeom>
            <a:solidFill>
              <a:schemeClr val="bg1"/>
            </a:solidFill>
            <a:ln w="19050" cap="sq">
              <a:solidFill>
                <a:srgbClr val="000066"/>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600">
                  <a:latin typeface="Roboto" panose="02000000000000000000" pitchFamily="2" charset="0"/>
                  <a:ea typeface="Roboto" panose="02000000000000000000" pitchFamily="2" charset="0"/>
                </a:rPr>
                <a:t>3</a:t>
              </a:r>
            </a:p>
          </p:txBody>
        </p:sp>
        <p:sp>
          <p:nvSpPr>
            <p:cNvPr id="14" name="AutoShape 13">
              <a:extLst>
                <a:ext uri="{FF2B5EF4-FFF2-40B4-BE49-F238E27FC236}">
                  <a16:creationId xmlns:a16="http://schemas.microsoft.com/office/drawing/2014/main" id="{5BC8D421-9516-4D1A-2C10-FA2769891FC9}"/>
                </a:ext>
              </a:extLst>
            </p:cNvPr>
            <p:cNvSpPr>
              <a:spLocks noChangeArrowheads="1"/>
            </p:cNvSpPr>
            <p:nvPr/>
          </p:nvSpPr>
          <p:spPr bwMode="auto">
            <a:xfrm>
              <a:off x="838200" y="4814888"/>
              <a:ext cx="8204200" cy="520700"/>
            </a:xfrm>
            <a:prstGeom prst="homePlate">
              <a:avLst>
                <a:gd name="adj" fmla="val 32169"/>
              </a:avLst>
            </a:prstGeom>
            <a:solidFill>
              <a:schemeClr val="accent4"/>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1800">
                  <a:solidFill>
                    <a:schemeClr val="bg1"/>
                  </a:solidFill>
                  <a:latin typeface="Roboto" panose="02000000000000000000" pitchFamily="2" charset="0"/>
                  <a:ea typeface="Roboto" panose="02000000000000000000" pitchFamily="2" charset="0"/>
                </a:rPr>
                <a:t>Takt time measures the </a:t>
              </a:r>
              <a:r>
                <a:rPr lang="ja-JP" altLang="en-US" sz="1800">
                  <a:solidFill>
                    <a:schemeClr val="bg1"/>
                  </a:solidFill>
                  <a:latin typeface="Roboto" panose="02000000000000000000" pitchFamily="2" charset="0"/>
                </a:rPr>
                <a:t>“</a:t>
              </a:r>
              <a:r>
                <a:rPr lang="en-US" altLang="ja-JP" sz="1800">
                  <a:solidFill>
                    <a:schemeClr val="bg1"/>
                  </a:solidFill>
                  <a:latin typeface="Roboto" panose="02000000000000000000" pitchFamily="2" charset="0"/>
                  <a:ea typeface="Roboto" panose="02000000000000000000" pitchFamily="2" charset="0"/>
                </a:rPr>
                <a:t>beat</a:t>
              </a:r>
              <a:r>
                <a:rPr lang="ja-JP" altLang="en-US" sz="1800">
                  <a:solidFill>
                    <a:schemeClr val="bg1"/>
                  </a:solidFill>
                  <a:latin typeface="Roboto" panose="02000000000000000000" pitchFamily="2" charset="0"/>
                </a:rPr>
                <a:t>”</a:t>
              </a:r>
              <a:r>
                <a:rPr lang="en-US" altLang="ja-JP" sz="1800">
                  <a:solidFill>
                    <a:schemeClr val="bg1"/>
                  </a:solidFill>
                  <a:latin typeface="Roboto" panose="02000000000000000000" pitchFamily="2" charset="0"/>
                  <a:ea typeface="Roboto" panose="02000000000000000000" pitchFamily="2" charset="0"/>
                </a:rPr>
                <a:t> of customer demand</a:t>
              </a:r>
              <a:endParaRPr lang="en-US" altLang="en-US" sz="1800">
                <a:solidFill>
                  <a:schemeClr val="bg1"/>
                </a:solidFill>
                <a:latin typeface="Roboto" panose="02000000000000000000" pitchFamily="2" charset="0"/>
                <a:ea typeface="Roboto" panose="02000000000000000000" pitchFamily="2" charset="0"/>
              </a:endParaRPr>
            </a:p>
          </p:txBody>
        </p:sp>
        <p:sp>
          <p:nvSpPr>
            <p:cNvPr id="15" name="Line 22">
              <a:extLst>
                <a:ext uri="{FF2B5EF4-FFF2-40B4-BE49-F238E27FC236}">
                  <a16:creationId xmlns:a16="http://schemas.microsoft.com/office/drawing/2014/main" id="{8F1DB097-2DD3-877A-88BD-600BDE07CCAA}"/>
                </a:ext>
              </a:extLst>
            </p:cNvPr>
            <p:cNvSpPr>
              <a:spLocks noChangeShapeType="1"/>
            </p:cNvSpPr>
            <p:nvPr/>
          </p:nvSpPr>
          <p:spPr bwMode="auto">
            <a:xfrm flipV="1">
              <a:off x="3987800" y="3221038"/>
              <a:ext cx="2126199" cy="826"/>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grpSp>
        <p:nvGrpSpPr>
          <p:cNvPr id="31" name="Group 30">
            <a:extLst>
              <a:ext uri="{FF2B5EF4-FFF2-40B4-BE49-F238E27FC236}">
                <a16:creationId xmlns:a16="http://schemas.microsoft.com/office/drawing/2014/main" id="{19845426-BE77-63F6-D039-92B5D4A60529}"/>
              </a:ext>
            </a:extLst>
          </p:cNvPr>
          <p:cNvGrpSpPr/>
          <p:nvPr/>
        </p:nvGrpSpPr>
        <p:grpSpPr>
          <a:xfrm>
            <a:off x="838200" y="297639"/>
            <a:ext cx="4220210" cy="301303"/>
            <a:chOff x="838200" y="297639"/>
            <a:chExt cx="4220210" cy="301303"/>
          </a:xfrm>
        </p:grpSpPr>
        <p:sp>
          <p:nvSpPr>
            <p:cNvPr id="32" name="AutoShape 9">
              <a:extLst>
                <a:ext uri="{FF2B5EF4-FFF2-40B4-BE49-F238E27FC236}">
                  <a16:creationId xmlns:a16="http://schemas.microsoft.com/office/drawing/2014/main" id="{9CC02A63-B217-0F6F-0F72-69731E0F9FF9}"/>
                </a:ext>
              </a:extLst>
            </p:cNvPr>
            <p:cNvSpPr>
              <a:spLocks noChangeArrowheads="1"/>
            </p:cNvSpPr>
            <p:nvPr/>
          </p:nvSpPr>
          <p:spPr bwMode="auto">
            <a:xfrm>
              <a:off x="1779225" y="298454"/>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33" name="Group 32">
              <a:extLst>
                <a:ext uri="{FF2B5EF4-FFF2-40B4-BE49-F238E27FC236}">
                  <a16:creationId xmlns:a16="http://schemas.microsoft.com/office/drawing/2014/main" id="{CDA5E1F5-D56E-A6E7-4474-FE1C6AB243D4}"/>
                </a:ext>
              </a:extLst>
            </p:cNvPr>
            <p:cNvGrpSpPr/>
            <p:nvPr/>
          </p:nvGrpSpPr>
          <p:grpSpPr>
            <a:xfrm>
              <a:off x="838200" y="297639"/>
              <a:ext cx="4220210" cy="301303"/>
              <a:chOff x="838200" y="297639"/>
              <a:chExt cx="4220210" cy="301303"/>
            </a:xfrm>
          </p:grpSpPr>
          <p:grpSp>
            <p:nvGrpSpPr>
              <p:cNvPr id="34" name="Group 33">
                <a:extLst>
                  <a:ext uri="{FF2B5EF4-FFF2-40B4-BE49-F238E27FC236}">
                    <a16:creationId xmlns:a16="http://schemas.microsoft.com/office/drawing/2014/main" id="{327F6C6C-17CC-C838-9BF4-56868988039D}"/>
                  </a:ext>
                </a:extLst>
              </p:cNvPr>
              <p:cNvGrpSpPr/>
              <p:nvPr/>
            </p:nvGrpSpPr>
            <p:grpSpPr>
              <a:xfrm>
                <a:off x="838200" y="297639"/>
                <a:ext cx="1060167" cy="290657"/>
                <a:chOff x="826426" y="4041857"/>
                <a:chExt cx="1060167" cy="290657"/>
              </a:xfrm>
            </p:grpSpPr>
            <p:sp>
              <p:nvSpPr>
                <p:cNvPr id="36" name="AutoShape 9">
                  <a:extLst>
                    <a:ext uri="{FF2B5EF4-FFF2-40B4-BE49-F238E27FC236}">
                      <a16:creationId xmlns:a16="http://schemas.microsoft.com/office/drawing/2014/main" id="{7D3EC3E9-4428-3B25-9A90-C3ECD17CC9CB}"/>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7" name="AutoShape 11">
                  <a:extLst>
                    <a:ext uri="{FF2B5EF4-FFF2-40B4-BE49-F238E27FC236}">
                      <a16:creationId xmlns:a16="http://schemas.microsoft.com/office/drawing/2014/main" id="{8CC50B55-EE64-854A-4CF8-556D48773E80}"/>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8" name="AutoShape 10">
                  <a:extLst>
                    <a:ext uri="{FF2B5EF4-FFF2-40B4-BE49-F238E27FC236}">
                      <a16:creationId xmlns:a16="http://schemas.microsoft.com/office/drawing/2014/main" id="{EB5FF4B3-5892-0434-240A-1620CE9A7C75}"/>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35" name="TextBox 34">
                <a:extLst>
                  <a:ext uri="{FF2B5EF4-FFF2-40B4-BE49-F238E27FC236}">
                    <a16:creationId xmlns:a16="http://schemas.microsoft.com/office/drawing/2014/main" id="{32F4D44B-D303-69E7-3050-3824CD6A2FCC}"/>
                  </a:ext>
                </a:extLst>
              </p:cNvPr>
              <p:cNvSpPr txBox="1"/>
              <p:nvPr/>
            </p:nvSpPr>
            <p:spPr>
              <a:xfrm>
                <a:off x="219045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TAKT Time vs. Process Time</a:t>
                </a:r>
              </a:p>
            </p:txBody>
          </p:sp>
        </p:grpSp>
      </p:grpSp>
    </p:spTree>
    <p:extLst>
      <p:ext uri="{BB962C8B-B14F-4D97-AF65-F5344CB8AC3E}">
        <p14:creationId xmlns:p14="http://schemas.microsoft.com/office/powerpoint/2010/main" val="18307179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lstStyle/>
          <a:p>
            <a:r>
              <a:rPr lang="en-US" dirty="0"/>
              <a:t>TAKT Time Example</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a:xfrm>
            <a:off x="938213" y="2633663"/>
            <a:ext cx="5157787" cy="823912"/>
          </a:xfrm>
        </p:spPr>
        <p:txBody>
          <a:bodyPr>
            <a:normAutofit/>
          </a:bodyPr>
          <a:lstStyle/>
          <a:p>
            <a:r>
              <a:rPr lang="en-US" dirty="0"/>
              <a:t>Takt Time Definition</a:t>
            </a:r>
          </a:p>
        </p:txBody>
      </p:sp>
      <p:sp>
        <p:nvSpPr>
          <p:cNvPr id="4" name="Content Placeholder 3">
            <a:extLst>
              <a:ext uri="{FF2B5EF4-FFF2-40B4-BE49-F238E27FC236}">
                <a16:creationId xmlns:a16="http://schemas.microsoft.com/office/drawing/2014/main" id="{2E3BC3A4-C860-76B2-2DD3-B03AB882C853}"/>
              </a:ext>
            </a:extLst>
          </p:cNvPr>
          <p:cNvSpPr>
            <a:spLocks noGrp="1"/>
          </p:cNvSpPr>
          <p:nvPr>
            <p:ph sz="half" idx="2"/>
          </p:nvPr>
        </p:nvSpPr>
        <p:spPr>
          <a:xfrm>
            <a:off x="938213" y="3457575"/>
            <a:ext cx="5157787" cy="1836737"/>
          </a:xfrm>
        </p:spPr>
        <p:txBody>
          <a:bodyPr>
            <a:normAutofit fontScale="92500" lnSpcReduction="10000"/>
          </a:bodyPr>
          <a:lstStyle/>
          <a:p>
            <a:r>
              <a:rPr lang="en-US" dirty="0"/>
              <a:t>How often does “something” need to exit the value stream in order to support the overall demand for the product of service. </a:t>
            </a:r>
          </a:p>
          <a:p>
            <a:endParaRPr lang="en-US" dirty="0"/>
          </a:p>
        </p:txBody>
      </p:sp>
      <p:sp>
        <p:nvSpPr>
          <p:cNvPr id="5" name="Text Placeholder 4">
            <a:extLst>
              <a:ext uri="{FF2B5EF4-FFF2-40B4-BE49-F238E27FC236}">
                <a16:creationId xmlns:a16="http://schemas.microsoft.com/office/drawing/2014/main" id="{D97C3043-C5C3-113A-8520-6B843B812614}"/>
              </a:ext>
            </a:extLst>
          </p:cNvPr>
          <p:cNvSpPr>
            <a:spLocks noGrp="1"/>
          </p:cNvSpPr>
          <p:nvPr>
            <p:ph type="body" sz="quarter" idx="3"/>
          </p:nvPr>
        </p:nvSpPr>
        <p:spPr/>
        <p:txBody>
          <a:bodyPr>
            <a:normAutofit/>
          </a:bodyPr>
          <a:lstStyle/>
          <a:p>
            <a:r>
              <a:rPr lang="en-US" dirty="0"/>
              <a:t>Takt Time Calculation</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a:xfrm>
            <a:off x="6172200" y="4352925"/>
            <a:ext cx="5183188" cy="1836737"/>
          </a:xfrm>
        </p:spPr>
        <p:txBody>
          <a:bodyPr>
            <a:normAutofit fontScale="92500" lnSpcReduction="10000"/>
          </a:bodyPr>
          <a:lstStyle/>
          <a:p>
            <a:pPr marL="0" indent="0">
              <a:buNone/>
            </a:pPr>
            <a:r>
              <a:rPr lang="en-US" b="1" dirty="0"/>
              <a:t>Note on Takt Time</a:t>
            </a:r>
          </a:p>
          <a:p>
            <a:r>
              <a:rPr lang="en-US" dirty="0"/>
              <a:t>Takt Time can be very     beneficial in determining the approximate level of staffing required to support demand.</a:t>
            </a:r>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18</a:t>
            </a:fld>
            <a:endParaRPr lang="en-US"/>
          </a:p>
        </p:txBody>
      </p:sp>
      <p:grpSp>
        <p:nvGrpSpPr>
          <p:cNvPr id="7" name="Group 6">
            <a:extLst>
              <a:ext uri="{FF2B5EF4-FFF2-40B4-BE49-F238E27FC236}">
                <a16:creationId xmlns:a16="http://schemas.microsoft.com/office/drawing/2014/main" id="{8A6628C0-2DCD-7879-6748-998634D8AF89}"/>
              </a:ext>
            </a:extLst>
          </p:cNvPr>
          <p:cNvGrpSpPr/>
          <p:nvPr/>
        </p:nvGrpSpPr>
        <p:grpSpPr>
          <a:xfrm>
            <a:off x="838200" y="297639"/>
            <a:ext cx="4220210" cy="301303"/>
            <a:chOff x="838200" y="297639"/>
            <a:chExt cx="4220210" cy="301303"/>
          </a:xfrm>
        </p:grpSpPr>
        <p:sp>
          <p:nvSpPr>
            <p:cNvPr id="9" name="AutoShape 9">
              <a:extLst>
                <a:ext uri="{FF2B5EF4-FFF2-40B4-BE49-F238E27FC236}">
                  <a16:creationId xmlns:a16="http://schemas.microsoft.com/office/drawing/2014/main" id="{A62B060D-4245-91B9-6A54-65D7D3134BFF}"/>
                </a:ext>
              </a:extLst>
            </p:cNvPr>
            <p:cNvSpPr>
              <a:spLocks noChangeArrowheads="1"/>
            </p:cNvSpPr>
            <p:nvPr/>
          </p:nvSpPr>
          <p:spPr bwMode="auto">
            <a:xfrm>
              <a:off x="1779225" y="298454"/>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C27E5D57-982E-A93D-C177-CF3C8AC2331A}"/>
                </a:ext>
              </a:extLst>
            </p:cNvPr>
            <p:cNvGrpSpPr/>
            <p:nvPr/>
          </p:nvGrpSpPr>
          <p:grpSpPr>
            <a:xfrm>
              <a:off x="838200" y="297639"/>
              <a:ext cx="4220210" cy="301303"/>
              <a:chOff x="838200" y="297639"/>
              <a:chExt cx="4220210" cy="301303"/>
            </a:xfrm>
          </p:grpSpPr>
          <p:grpSp>
            <p:nvGrpSpPr>
              <p:cNvPr id="11" name="Group 10">
                <a:extLst>
                  <a:ext uri="{FF2B5EF4-FFF2-40B4-BE49-F238E27FC236}">
                    <a16:creationId xmlns:a16="http://schemas.microsoft.com/office/drawing/2014/main" id="{ADC3356D-1854-3C0D-36BC-119C2F617065}"/>
                  </a:ext>
                </a:extLst>
              </p:cNvPr>
              <p:cNvGrpSpPr/>
              <p:nvPr/>
            </p:nvGrpSpPr>
            <p:grpSpPr>
              <a:xfrm>
                <a:off x="838200" y="297639"/>
                <a:ext cx="1060167" cy="290657"/>
                <a:chOff x="826426" y="4041857"/>
                <a:chExt cx="1060167" cy="290657"/>
              </a:xfrm>
            </p:grpSpPr>
            <p:sp>
              <p:nvSpPr>
                <p:cNvPr id="13" name="AutoShape 9">
                  <a:extLst>
                    <a:ext uri="{FF2B5EF4-FFF2-40B4-BE49-F238E27FC236}">
                      <a16:creationId xmlns:a16="http://schemas.microsoft.com/office/drawing/2014/main" id="{1A6FA083-7678-667E-8AAE-42A8F4DFE079}"/>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11">
                  <a:extLst>
                    <a:ext uri="{FF2B5EF4-FFF2-40B4-BE49-F238E27FC236}">
                      <a16:creationId xmlns:a16="http://schemas.microsoft.com/office/drawing/2014/main" id="{C6E5EB34-AC73-2D76-93DF-8F8805B9DF4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5" name="AutoShape 10">
                  <a:extLst>
                    <a:ext uri="{FF2B5EF4-FFF2-40B4-BE49-F238E27FC236}">
                      <a16:creationId xmlns:a16="http://schemas.microsoft.com/office/drawing/2014/main" id="{C2DFF3D7-966F-1CFC-78EB-BB22587686A2}"/>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12" name="TextBox 11">
                <a:extLst>
                  <a:ext uri="{FF2B5EF4-FFF2-40B4-BE49-F238E27FC236}">
                    <a16:creationId xmlns:a16="http://schemas.microsoft.com/office/drawing/2014/main" id="{33467040-9D17-5D29-21DD-7DF39B543E03}"/>
                  </a:ext>
                </a:extLst>
              </p:cNvPr>
              <p:cNvSpPr txBox="1"/>
              <p:nvPr/>
            </p:nvSpPr>
            <p:spPr>
              <a:xfrm>
                <a:off x="219045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TAKT Time vs. Process Time</a:t>
                </a:r>
              </a:p>
            </p:txBody>
          </p:sp>
        </p:grpSp>
      </p:grpSp>
      <p:sp>
        <p:nvSpPr>
          <p:cNvPr id="16" name="Rectangle 12">
            <a:extLst>
              <a:ext uri="{FF2B5EF4-FFF2-40B4-BE49-F238E27FC236}">
                <a16:creationId xmlns:a16="http://schemas.microsoft.com/office/drawing/2014/main" id="{73445F04-5DBB-3239-1190-24FF9AD80597}"/>
              </a:ext>
            </a:extLst>
          </p:cNvPr>
          <p:cNvSpPr>
            <a:spLocks noChangeArrowheads="1"/>
          </p:cNvSpPr>
          <p:nvPr/>
        </p:nvSpPr>
        <p:spPr bwMode="auto">
          <a:xfrm>
            <a:off x="7014210" y="3457575"/>
            <a:ext cx="3702050" cy="682625"/>
          </a:xfrm>
          <a:prstGeom prst="rect">
            <a:avLst/>
          </a:prstGeom>
          <a:noFill/>
          <a:ln w="9525">
            <a:noFill/>
            <a:miter lim="800000"/>
            <a:headEnd/>
            <a:tailEnd/>
          </a:ln>
        </p:spPr>
        <p:txBody>
          <a:bodyPr/>
          <a:lstStyle/>
          <a:p>
            <a:pPr marL="342900" indent="-342900">
              <a:lnSpc>
                <a:spcPct val="80000"/>
              </a:lnSpc>
              <a:spcBef>
                <a:spcPct val="20000"/>
              </a:spcBef>
              <a:buClr>
                <a:schemeClr val="accent1"/>
              </a:buClr>
              <a:buSzPct val="90000"/>
              <a:buFont typeface="Wingdings" pitchFamily="2" charset="2"/>
              <a:buNone/>
              <a:tabLst>
                <a:tab pos="3086100" algn="l"/>
              </a:tabLst>
              <a:defRPr/>
            </a:pPr>
            <a:r>
              <a:rPr lang="en-US" sz="1600" dirty="0">
                <a:solidFill>
                  <a:srgbClr val="FF0000"/>
                </a:solidFill>
                <a:latin typeface="Roboto" panose="02000000000000000000" pitchFamily="2" charset="0"/>
                <a:ea typeface="Roboto" panose="02000000000000000000" pitchFamily="2" charset="0"/>
                <a:cs typeface="Arial" pitchFamily="34" charset="0"/>
              </a:rPr>
              <a:t>     450 minutes/day</a:t>
            </a:r>
          </a:p>
          <a:p>
            <a:pPr marL="342900" indent="-342900" algn="ctr">
              <a:lnSpc>
                <a:spcPct val="75000"/>
              </a:lnSpc>
              <a:spcBef>
                <a:spcPct val="20000"/>
              </a:spcBef>
              <a:buClr>
                <a:schemeClr val="accent1"/>
              </a:buClr>
              <a:buSzPct val="90000"/>
              <a:buFont typeface="Wingdings" pitchFamily="2" charset="2"/>
              <a:buNone/>
              <a:tabLst>
                <a:tab pos="3086100" algn="l"/>
              </a:tabLst>
              <a:defRPr/>
            </a:pPr>
            <a:r>
              <a:rPr lang="en-US" sz="1600" baseline="30000" dirty="0">
                <a:solidFill>
                  <a:srgbClr val="FF0000"/>
                </a:solidFill>
                <a:latin typeface="Roboto" panose="02000000000000000000" pitchFamily="2" charset="0"/>
                <a:ea typeface="Roboto" panose="02000000000000000000" pitchFamily="2" charset="0"/>
                <a:cs typeface="Arial" pitchFamily="34" charset="0"/>
              </a:rPr>
              <a:t>_____________________________ </a:t>
            </a:r>
            <a:r>
              <a:rPr lang="en-US" sz="1600" dirty="0">
                <a:solidFill>
                  <a:srgbClr val="FF0000"/>
                </a:solidFill>
                <a:latin typeface="Roboto" panose="02000000000000000000" pitchFamily="2" charset="0"/>
                <a:ea typeface="Roboto" panose="02000000000000000000" pitchFamily="2" charset="0"/>
                <a:cs typeface="Arial" pitchFamily="34" charset="0"/>
              </a:rPr>
              <a:t>= .5 min/app</a:t>
            </a:r>
          </a:p>
          <a:p>
            <a:pPr marL="342900" indent="-342900">
              <a:lnSpc>
                <a:spcPct val="75000"/>
              </a:lnSpc>
              <a:spcBef>
                <a:spcPct val="20000"/>
              </a:spcBef>
              <a:buClr>
                <a:schemeClr val="accent1"/>
              </a:buClr>
              <a:buSzPct val="90000"/>
              <a:buFont typeface="Wingdings" pitchFamily="2" charset="2"/>
              <a:buNone/>
              <a:tabLst>
                <a:tab pos="3086100" algn="l"/>
              </a:tabLst>
              <a:defRPr/>
            </a:pPr>
            <a:r>
              <a:rPr lang="en-US" sz="1600" dirty="0">
                <a:solidFill>
                  <a:srgbClr val="FF0000"/>
                </a:solidFill>
                <a:latin typeface="Roboto" panose="02000000000000000000" pitchFamily="2" charset="0"/>
                <a:ea typeface="Roboto" panose="02000000000000000000" pitchFamily="2" charset="0"/>
                <a:cs typeface="Arial" pitchFamily="34" charset="0"/>
              </a:rPr>
              <a:t>   900 applications/day</a:t>
            </a:r>
          </a:p>
        </p:txBody>
      </p:sp>
      <p:sp>
        <p:nvSpPr>
          <p:cNvPr id="17" name="Rectangle 17">
            <a:extLst>
              <a:ext uri="{FF2B5EF4-FFF2-40B4-BE49-F238E27FC236}">
                <a16:creationId xmlns:a16="http://schemas.microsoft.com/office/drawing/2014/main" id="{36B996AA-CAAE-9542-460D-BE63A1008D03}"/>
              </a:ext>
            </a:extLst>
          </p:cNvPr>
          <p:cNvSpPr>
            <a:spLocks noChangeArrowheads="1"/>
          </p:cNvSpPr>
          <p:nvPr/>
        </p:nvSpPr>
        <p:spPr bwMode="auto">
          <a:xfrm>
            <a:off x="7077710" y="2505075"/>
            <a:ext cx="3376613" cy="682625"/>
          </a:xfrm>
          <a:prstGeom prst="rect">
            <a:avLst/>
          </a:prstGeom>
          <a:noFill/>
          <a:ln w="9525">
            <a:noFill/>
            <a:miter lim="800000"/>
            <a:headEnd/>
            <a:tailEnd/>
          </a:ln>
        </p:spPr>
        <p:txBody>
          <a:bodyPr/>
          <a:lstStyle/>
          <a:p>
            <a:pPr marL="342900" indent="-342900" algn="ctr">
              <a:lnSpc>
                <a:spcPct val="80000"/>
              </a:lnSpc>
              <a:spcBef>
                <a:spcPct val="20000"/>
              </a:spcBef>
              <a:buClr>
                <a:schemeClr val="accent1"/>
              </a:buClr>
              <a:buSzPct val="90000"/>
              <a:buFont typeface="Wingdings" pitchFamily="2" charset="2"/>
              <a:buNone/>
              <a:tabLst>
                <a:tab pos="3086100" algn="l"/>
              </a:tabLst>
              <a:defRPr/>
            </a:pPr>
            <a:r>
              <a:rPr lang="en-US" sz="1600" dirty="0">
                <a:solidFill>
                  <a:schemeClr val="tx1"/>
                </a:solidFill>
                <a:latin typeface="Roboto" panose="02000000000000000000" pitchFamily="2" charset="0"/>
                <a:ea typeface="Roboto" panose="02000000000000000000" pitchFamily="2" charset="0"/>
                <a:cs typeface="Arial" pitchFamily="34" charset="0"/>
              </a:rPr>
              <a:t>Available Working Time</a:t>
            </a:r>
          </a:p>
          <a:p>
            <a:pPr marL="342900" indent="-342900" algn="ctr">
              <a:lnSpc>
                <a:spcPct val="75000"/>
              </a:lnSpc>
              <a:spcBef>
                <a:spcPct val="20000"/>
              </a:spcBef>
              <a:buClr>
                <a:schemeClr val="accent1"/>
              </a:buClr>
              <a:buSzPct val="90000"/>
              <a:buFont typeface="Wingdings" pitchFamily="2" charset="2"/>
              <a:buNone/>
              <a:tabLst>
                <a:tab pos="3086100" algn="l"/>
              </a:tabLst>
              <a:defRPr/>
            </a:pPr>
            <a:r>
              <a:rPr lang="en-US" sz="1600" baseline="30000" dirty="0">
                <a:solidFill>
                  <a:schemeClr val="tx1"/>
                </a:solidFill>
                <a:latin typeface="Roboto" panose="02000000000000000000" pitchFamily="2" charset="0"/>
                <a:ea typeface="Roboto" panose="02000000000000000000" pitchFamily="2" charset="0"/>
                <a:cs typeface="Arial" pitchFamily="34" charset="0"/>
              </a:rPr>
              <a:t>_____________________________</a:t>
            </a:r>
            <a:endParaRPr lang="en-US" sz="1600" u="sng" dirty="0">
              <a:solidFill>
                <a:schemeClr val="tx1"/>
              </a:solidFill>
              <a:latin typeface="Roboto" panose="02000000000000000000" pitchFamily="2" charset="0"/>
              <a:ea typeface="Roboto" panose="02000000000000000000" pitchFamily="2" charset="0"/>
              <a:cs typeface="Arial" pitchFamily="34" charset="0"/>
            </a:endParaRPr>
          </a:p>
          <a:p>
            <a:pPr marL="342900" indent="-342900" algn="ctr">
              <a:lnSpc>
                <a:spcPct val="75000"/>
              </a:lnSpc>
              <a:spcBef>
                <a:spcPct val="20000"/>
              </a:spcBef>
              <a:buClr>
                <a:schemeClr val="accent1"/>
              </a:buClr>
              <a:buSzPct val="90000"/>
              <a:buFont typeface="Wingdings" pitchFamily="2" charset="2"/>
              <a:buNone/>
              <a:tabLst>
                <a:tab pos="3086100" algn="l"/>
              </a:tabLst>
              <a:defRPr/>
            </a:pPr>
            <a:r>
              <a:rPr lang="en-US" sz="1600" dirty="0">
                <a:solidFill>
                  <a:schemeClr val="tx1"/>
                </a:solidFill>
                <a:latin typeface="Roboto" panose="02000000000000000000" pitchFamily="2" charset="0"/>
                <a:ea typeface="Roboto" panose="02000000000000000000" pitchFamily="2" charset="0"/>
                <a:cs typeface="Arial" pitchFamily="34" charset="0"/>
              </a:rPr>
              <a:t>Customer Demand</a:t>
            </a:r>
          </a:p>
        </p:txBody>
      </p:sp>
    </p:spTree>
    <p:extLst>
      <p:ext uri="{BB962C8B-B14F-4D97-AF65-F5344CB8AC3E}">
        <p14:creationId xmlns:p14="http://schemas.microsoft.com/office/powerpoint/2010/main" val="22123311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lstStyle/>
          <a:p>
            <a:r>
              <a:rPr lang="en-US" dirty="0"/>
              <a:t>Calculating TAKT Time Example</a:t>
            </a:r>
          </a:p>
        </p:txBody>
      </p:sp>
      <p:sp>
        <p:nvSpPr>
          <p:cNvPr id="5" name="Text Placeholder 4">
            <a:extLst>
              <a:ext uri="{FF2B5EF4-FFF2-40B4-BE49-F238E27FC236}">
                <a16:creationId xmlns:a16="http://schemas.microsoft.com/office/drawing/2014/main" id="{D97C3043-C5C3-113A-8520-6B843B812614}"/>
              </a:ext>
            </a:extLst>
          </p:cNvPr>
          <p:cNvSpPr>
            <a:spLocks noGrp="1"/>
          </p:cNvSpPr>
          <p:nvPr>
            <p:ph type="body" sz="quarter" idx="3"/>
          </p:nvPr>
        </p:nvSpPr>
        <p:spPr/>
        <p:txBody>
          <a:bodyPr>
            <a:normAutofit/>
          </a:bodyPr>
          <a:lstStyle/>
          <a:p>
            <a:r>
              <a:rPr lang="en-US" dirty="0"/>
              <a:t>Takt Time Calculation</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a:xfrm>
            <a:off x="6172200" y="4352925"/>
            <a:ext cx="5183188" cy="1836737"/>
          </a:xfrm>
        </p:spPr>
        <p:txBody>
          <a:bodyPr>
            <a:normAutofit/>
          </a:bodyPr>
          <a:lstStyle/>
          <a:p>
            <a:pPr marL="0" indent="0">
              <a:buNone/>
            </a:pPr>
            <a:r>
              <a:rPr lang="en-US" b="1" dirty="0"/>
              <a:t>Example</a:t>
            </a:r>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19</a:t>
            </a:fld>
            <a:endParaRPr lang="en-US"/>
          </a:p>
        </p:txBody>
      </p:sp>
      <p:grpSp>
        <p:nvGrpSpPr>
          <p:cNvPr id="7" name="Group 6">
            <a:extLst>
              <a:ext uri="{FF2B5EF4-FFF2-40B4-BE49-F238E27FC236}">
                <a16:creationId xmlns:a16="http://schemas.microsoft.com/office/drawing/2014/main" id="{8A6628C0-2DCD-7879-6748-998634D8AF89}"/>
              </a:ext>
            </a:extLst>
          </p:cNvPr>
          <p:cNvGrpSpPr/>
          <p:nvPr/>
        </p:nvGrpSpPr>
        <p:grpSpPr>
          <a:xfrm>
            <a:off x="838200" y="297639"/>
            <a:ext cx="4220210" cy="301303"/>
            <a:chOff x="838200" y="297639"/>
            <a:chExt cx="4220210" cy="301303"/>
          </a:xfrm>
        </p:grpSpPr>
        <p:sp>
          <p:nvSpPr>
            <p:cNvPr id="9" name="AutoShape 9">
              <a:extLst>
                <a:ext uri="{FF2B5EF4-FFF2-40B4-BE49-F238E27FC236}">
                  <a16:creationId xmlns:a16="http://schemas.microsoft.com/office/drawing/2014/main" id="{A62B060D-4245-91B9-6A54-65D7D3134BFF}"/>
                </a:ext>
              </a:extLst>
            </p:cNvPr>
            <p:cNvSpPr>
              <a:spLocks noChangeArrowheads="1"/>
            </p:cNvSpPr>
            <p:nvPr/>
          </p:nvSpPr>
          <p:spPr bwMode="auto">
            <a:xfrm>
              <a:off x="1779225" y="298454"/>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C27E5D57-982E-A93D-C177-CF3C8AC2331A}"/>
                </a:ext>
              </a:extLst>
            </p:cNvPr>
            <p:cNvGrpSpPr/>
            <p:nvPr/>
          </p:nvGrpSpPr>
          <p:grpSpPr>
            <a:xfrm>
              <a:off x="838200" y="297639"/>
              <a:ext cx="4220210" cy="301303"/>
              <a:chOff x="838200" y="297639"/>
              <a:chExt cx="4220210" cy="301303"/>
            </a:xfrm>
          </p:grpSpPr>
          <p:grpSp>
            <p:nvGrpSpPr>
              <p:cNvPr id="11" name="Group 10">
                <a:extLst>
                  <a:ext uri="{FF2B5EF4-FFF2-40B4-BE49-F238E27FC236}">
                    <a16:creationId xmlns:a16="http://schemas.microsoft.com/office/drawing/2014/main" id="{ADC3356D-1854-3C0D-36BC-119C2F617065}"/>
                  </a:ext>
                </a:extLst>
              </p:cNvPr>
              <p:cNvGrpSpPr/>
              <p:nvPr/>
            </p:nvGrpSpPr>
            <p:grpSpPr>
              <a:xfrm>
                <a:off x="838200" y="297639"/>
                <a:ext cx="1060167" cy="290657"/>
                <a:chOff x="826426" y="4041857"/>
                <a:chExt cx="1060167" cy="290657"/>
              </a:xfrm>
            </p:grpSpPr>
            <p:sp>
              <p:nvSpPr>
                <p:cNvPr id="13" name="AutoShape 9">
                  <a:extLst>
                    <a:ext uri="{FF2B5EF4-FFF2-40B4-BE49-F238E27FC236}">
                      <a16:creationId xmlns:a16="http://schemas.microsoft.com/office/drawing/2014/main" id="{1A6FA083-7678-667E-8AAE-42A8F4DFE079}"/>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11">
                  <a:extLst>
                    <a:ext uri="{FF2B5EF4-FFF2-40B4-BE49-F238E27FC236}">
                      <a16:creationId xmlns:a16="http://schemas.microsoft.com/office/drawing/2014/main" id="{C6E5EB34-AC73-2D76-93DF-8F8805B9DF4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5" name="AutoShape 10">
                  <a:extLst>
                    <a:ext uri="{FF2B5EF4-FFF2-40B4-BE49-F238E27FC236}">
                      <a16:creationId xmlns:a16="http://schemas.microsoft.com/office/drawing/2014/main" id="{C2DFF3D7-966F-1CFC-78EB-BB22587686A2}"/>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12" name="TextBox 11">
                <a:extLst>
                  <a:ext uri="{FF2B5EF4-FFF2-40B4-BE49-F238E27FC236}">
                    <a16:creationId xmlns:a16="http://schemas.microsoft.com/office/drawing/2014/main" id="{33467040-9D17-5D29-21DD-7DF39B543E03}"/>
                  </a:ext>
                </a:extLst>
              </p:cNvPr>
              <p:cNvSpPr txBox="1"/>
              <p:nvPr/>
            </p:nvSpPr>
            <p:spPr>
              <a:xfrm>
                <a:off x="219045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TAKT Time vs. Process Time</a:t>
                </a:r>
              </a:p>
            </p:txBody>
          </p:sp>
        </p:grpSp>
      </p:grpSp>
      <p:sp>
        <p:nvSpPr>
          <p:cNvPr id="16" name="Rectangle 12">
            <a:extLst>
              <a:ext uri="{FF2B5EF4-FFF2-40B4-BE49-F238E27FC236}">
                <a16:creationId xmlns:a16="http://schemas.microsoft.com/office/drawing/2014/main" id="{73445F04-5DBB-3239-1190-24FF9AD80597}"/>
              </a:ext>
            </a:extLst>
          </p:cNvPr>
          <p:cNvSpPr>
            <a:spLocks noChangeArrowheads="1"/>
          </p:cNvSpPr>
          <p:nvPr/>
        </p:nvSpPr>
        <p:spPr bwMode="auto">
          <a:xfrm>
            <a:off x="7014210" y="3457575"/>
            <a:ext cx="3702050" cy="682625"/>
          </a:xfrm>
          <a:prstGeom prst="rect">
            <a:avLst/>
          </a:prstGeom>
          <a:noFill/>
          <a:ln w="9525">
            <a:noFill/>
            <a:miter lim="800000"/>
            <a:headEnd/>
            <a:tailEnd/>
          </a:ln>
        </p:spPr>
        <p:txBody>
          <a:bodyPr/>
          <a:lstStyle/>
          <a:p>
            <a:pPr marL="342900" indent="-342900">
              <a:lnSpc>
                <a:spcPct val="80000"/>
              </a:lnSpc>
              <a:spcBef>
                <a:spcPct val="20000"/>
              </a:spcBef>
              <a:buClr>
                <a:schemeClr val="accent1"/>
              </a:buClr>
              <a:buSzPct val="90000"/>
              <a:buFont typeface="Wingdings" pitchFamily="2" charset="2"/>
              <a:buNone/>
              <a:tabLst>
                <a:tab pos="3086100" algn="l"/>
              </a:tabLst>
              <a:defRPr/>
            </a:pPr>
            <a:r>
              <a:rPr lang="en-US" sz="1600" dirty="0">
                <a:solidFill>
                  <a:srgbClr val="FF0000"/>
                </a:solidFill>
                <a:latin typeface="Roboto" panose="02000000000000000000" pitchFamily="2" charset="0"/>
                <a:ea typeface="Roboto" panose="02000000000000000000" pitchFamily="2" charset="0"/>
                <a:cs typeface="Arial" pitchFamily="34" charset="0"/>
              </a:rPr>
              <a:t>Customer Demand = 190 apps</a:t>
            </a:r>
          </a:p>
        </p:txBody>
      </p:sp>
      <p:sp>
        <p:nvSpPr>
          <p:cNvPr id="17" name="Rectangle 17">
            <a:extLst>
              <a:ext uri="{FF2B5EF4-FFF2-40B4-BE49-F238E27FC236}">
                <a16:creationId xmlns:a16="http://schemas.microsoft.com/office/drawing/2014/main" id="{36B996AA-CAAE-9542-460D-BE63A1008D03}"/>
              </a:ext>
            </a:extLst>
          </p:cNvPr>
          <p:cNvSpPr>
            <a:spLocks noChangeArrowheads="1"/>
          </p:cNvSpPr>
          <p:nvPr/>
        </p:nvSpPr>
        <p:spPr bwMode="auto">
          <a:xfrm>
            <a:off x="7077710" y="2505075"/>
            <a:ext cx="3376613" cy="682625"/>
          </a:xfrm>
          <a:prstGeom prst="rect">
            <a:avLst/>
          </a:prstGeom>
          <a:noFill/>
          <a:ln w="9525">
            <a:noFill/>
            <a:miter lim="800000"/>
            <a:headEnd/>
            <a:tailEnd/>
          </a:ln>
        </p:spPr>
        <p:txBody>
          <a:bodyPr/>
          <a:lstStyle/>
          <a:p>
            <a:pPr marL="342900" indent="-342900" algn="ctr">
              <a:lnSpc>
                <a:spcPct val="80000"/>
              </a:lnSpc>
              <a:spcBef>
                <a:spcPct val="20000"/>
              </a:spcBef>
              <a:buClr>
                <a:schemeClr val="accent1"/>
              </a:buClr>
              <a:buSzPct val="90000"/>
              <a:buFont typeface="Wingdings" pitchFamily="2" charset="2"/>
              <a:buNone/>
              <a:tabLst>
                <a:tab pos="3086100" algn="l"/>
              </a:tabLst>
              <a:defRPr/>
            </a:pPr>
            <a:r>
              <a:rPr lang="en-US" sz="1600" dirty="0">
                <a:solidFill>
                  <a:schemeClr val="tx1"/>
                </a:solidFill>
                <a:latin typeface="Roboto" panose="02000000000000000000" pitchFamily="2" charset="0"/>
                <a:ea typeface="Roboto" panose="02000000000000000000" pitchFamily="2" charset="0"/>
                <a:cs typeface="Arial" pitchFamily="34" charset="0"/>
              </a:rPr>
              <a:t>Available Working Time</a:t>
            </a:r>
          </a:p>
          <a:p>
            <a:pPr marL="342900" indent="-342900" algn="ctr">
              <a:lnSpc>
                <a:spcPct val="75000"/>
              </a:lnSpc>
              <a:spcBef>
                <a:spcPct val="20000"/>
              </a:spcBef>
              <a:buClr>
                <a:schemeClr val="accent1"/>
              </a:buClr>
              <a:buSzPct val="90000"/>
              <a:buFont typeface="Wingdings" pitchFamily="2" charset="2"/>
              <a:buNone/>
              <a:tabLst>
                <a:tab pos="3086100" algn="l"/>
              </a:tabLst>
              <a:defRPr/>
            </a:pPr>
            <a:r>
              <a:rPr lang="en-US" sz="1600" baseline="30000" dirty="0">
                <a:solidFill>
                  <a:schemeClr val="tx1"/>
                </a:solidFill>
                <a:latin typeface="Roboto" panose="02000000000000000000" pitchFamily="2" charset="0"/>
                <a:ea typeface="Roboto" panose="02000000000000000000" pitchFamily="2" charset="0"/>
                <a:cs typeface="Arial" pitchFamily="34" charset="0"/>
              </a:rPr>
              <a:t>_____________________________</a:t>
            </a:r>
            <a:endParaRPr lang="en-US" sz="1600" u="sng" dirty="0">
              <a:solidFill>
                <a:schemeClr val="tx1"/>
              </a:solidFill>
              <a:latin typeface="Roboto" panose="02000000000000000000" pitchFamily="2" charset="0"/>
              <a:ea typeface="Roboto" panose="02000000000000000000" pitchFamily="2" charset="0"/>
              <a:cs typeface="Arial" pitchFamily="34" charset="0"/>
            </a:endParaRPr>
          </a:p>
          <a:p>
            <a:pPr marL="342900" indent="-342900" algn="ctr">
              <a:lnSpc>
                <a:spcPct val="75000"/>
              </a:lnSpc>
              <a:spcBef>
                <a:spcPct val="20000"/>
              </a:spcBef>
              <a:buClr>
                <a:schemeClr val="accent1"/>
              </a:buClr>
              <a:buSzPct val="90000"/>
              <a:buFont typeface="Wingdings" pitchFamily="2" charset="2"/>
              <a:buNone/>
              <a:tabLst>
                <a:tab pos="3086100" algn="l"/>
              </a:tabLst>
              <a:defRPr/>
            </a:pPr>
            <a:r>
              <a:rPr lang="en-US" sz="1600" dirty="0">
                <a:solidFill>
                  <a:schemeClr val="tx1"/>
                </a:solidFill>
                <a:latin typeface="Roboto" panose="02000000000000000000" pitchFamily="2" charset="0"/>
                <a:ea typeface="Roboto" panose="02000000000000000000" pitchFamily="2" charset="0"/>
                <a:cs typeface="Arial" pitchFamily="34" charset="0"/>
              </a:rPr>
              <a:t>Customer Demand</a:t>
            </a:r>
          </a:p>
        </p:txBody>
      </p:sp>
      <p:grpSp>
        <p:nvGrpSpPr>
          <p:cNvPr id="28" name="Group 27">
            <a:extLst>
              <a:ext uri="{FF2B5EF4-FFF2-40B4-BE49-F238E27FC236}">
                <a16:creationId xmlns:a16="http://schemas.microsoft.com/office/drawing/2014/main" id="{CF6E6554-E664-0119-5627-A0FA81CDD4AF}"/>
              </a:ext>
            </a:extLst>
          </p:cNvPr>
          <p:cNvGrpSpPr/>
          <p:nvPr/>
        </p:nvGrpSpPr>
        <p:grpSpPr>
          <a:xfrm>
            <a:off x="699453" y="1951990"/>
            <a:ext cx="5320348" cy="4237672"/>
            <a:chOff x="699453" y="1951990"/>
            <a:chExt cx="4414838" cy="3506788"/>
          </a:xfrm>
        </p:grpSpPr>
        <p:sp>
          <p:nvSpPr>
            <p:cNvPr id="22" name="Rectangle 2">
              <a:extLst>
                <a:ext uri="{FF2B5EF4-FFF2-40B4-BE49-F238E27FC236}">
                  <a16:creationId xmlns:a16="http://schemas.microsoft.com/office/drawing/2014/main" id="{8BF6FE3F-6EE4-E6CE-4A9D-CC2CE4F59270}"/>
                </a:ext>
              </a:extLst>
            </p:cNvPr>
            <p:cNvSpPr>
              <a:spLocks noChangeArrowheads="1"/>
            </p:cNvSpPr>
            <p:nvPr/>
          </p:nvSpPr>
          <p:spPr bwMode="auto">
            <a:xfrm>
              <a:off x="699453" y="1951990"/>
              <a:ext cx="4414838" cy="3506788"/>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a:solidFill>
                  <a:schemeClr val="bg1"/>
                </a:solidFill>
                <a:latin typeface="Roboto" panose="02000000000000000000" pitchFamily="2" charset="0"/>
                <a:ea typeface="Roboto" panose="02000000000000000000" pitchFamily="2" charset="0"/>
              </a:endParaRPr>
            </a:p>
          </p:txBody>
        </p:sp>
        <p:sp>
          <p:nvSpPr>
            <p:cNvPr id="23" name="Rectangle 11">
              <a:extLst>
                <a:ext uri="{FF2B5EF4-FFF2-40B4-BE49-F238E27FC236}">
                  <a16:creationId xmlns:a16="http://schemas.microsoft.com/office/drawing/2014/main" id="{30B17256-790E-6682-2CD0-5B722BAF13C6}"/>
                </a:ext>
              </a:extLst>
            </p:cNvPr>
            <p:cNvSpPr>
              <a:spLocks noChangeArrowheads="1"/>
            </p:cNvSpPr>
            <p:nvPr/>
          </p:nvSpPr>
          <p:spPr bwMode="auto">
            <a:xfrm>
              <a:off x="850266" y="2288540"/>
              <a:ext cx="4127500" cy="2462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Aft>
                  <a:spcPct val="0"/>
                </a:spcAft>
                <a:buClrTx/>
                <a:buSzTx/>
                <a:buFontTx/>
                <a:buNone/>
              </a:pPr>
              <a:r>
                <a:rPr lang="en-US" altLang="en-US" sz="1400" b="0">
                  <a:latin typeface="Roboto" panose="02000000000000000000" pitchFamily="2" charset="0"/>
                  <a:ea typeface="Roboto" panose="02000000000000000000" pitchFamily="2" charset="0"/>
                </a:rPr>
                <a:t>____ </a:t>
              </a:r>
              <a:r>
                <a:rPr lang="en-US" altLang="en-US" sz="1400">
                  <a:latin typeface="Roboto" panose="02000000000000000000" pitchFamily="2" charset="0"/>
                  <a:ea typeface="Roboto" panose="02000000000000000000" pitchFamily="2" charset="0"/>
                </a:rPr>
                <a:t>Hrs = _________  Minutes (Based on 			  standard work shift)</a:t>
              </a:r>
            </a:p>
            <a:p>
              <a:pPr eaLnBrk="1" hangingPunct="1">
                <a:lnSpc>
                  <a:spcPct val="100000"/>
                </a:lnSpc>
                <a:spcAft>
                  <a:spcPct val="0"/>
                </a:spcAft>
                <a:buClrTx/>
                <a:buSzTx/>
                <a:buFontTx/>
                <a:buNone/>
              </a:pPr>
              <a:r>
                <a:rPr lang="en-US" altLang="en-US" sz="1400">
                  <a:latin typeface="Roboto" panose="02000000000000000000" pitchFamily="2" charset="0"/>
                  <a:ea typeface="Roboto" panose="02000000000000000000" pitchFamily="2" charset="0"/>
                </a:rPr>
                <a:t>	- ________  Minutes (Break Time)</a:t>
              </a:r>
            </a:p>
            <a:p>
              <a:pPr eaLnBrk="1" hangingPunct="1">
                <a:lnSpc>
                  <a:spcPct val="100000"/>
                </a:lnSpc>
                <a:spcAft>
                  <a:spcPct val="0"/>
                </a:spcAft>
                <a:buClrTx/>
                <a:buSzTx/>
                <a:buFontTx/>
                <a:buNone/>
              </a:pPr>
              <a:r>
                <a:rPr lang="en-US" altLang="en-US" sz="1400">
                  <a:latin typeface="Roboto" panose="02000000000000000000" pitchFamily="2" charset="0"/>
                  <a:ea typeface="Roboto" panose="02000000000000000000" pitchFamily="2" charset="0"/>
                </a:rPr>
                <a:t>	- ________   Minutes (Wash Time)</a:t>
              </a:r>
            </a:p>
            <a:p>
              <a:pPr eaLnBrk="1" hangingPunct="1">
                <a:lnSpc>
                  <a:spcPct val="100000"/>
                </a:lnSpc>
                <a:spcAft>
                  <a:spcPct val="0"/>
                </a:spcAft>
                <a:buClrTx/>
                <a:buSzTx/>
                <a:buFontTx/>
                <a:buNone/>
              </a:pPr>
              <a:r>
                <a:rPr lang="en-US" altLang="en-US" sz="1400">
                  <a:latin typeface="Roboto" panose="02000000000000000000" pitchFamily="2" charset="0"/>
                  <a:ea typeface="Roboto" panose="02000000000000000000" pitchFamily="2" charset="0"/>
                </a:rPr>
                <a:t>	- ________   Minutes (Clean-up)</a:t>
              </a:r>
            </a:p>
            <a:p>
              <a:pPr eaLnBrk="1" hangingPunct="1">
                <a:lnSpc>
                  <a:spcPct val="100000"/>
                </a:lnSpc>
                <a:spcAft>
                  <a:spcPct val="0"/>
                </a:spcAft>
                <a:buClrTx/>
                <a:buSzTx/>
                <a:buFontTx/>
                <a:buNone/>
              </a:pPr>
              <a:endParaRPr lang="en-US" altLang="en-US" sz="1400">
                <a:latin typeface="Roboto" panose="02000000000000000000" pitchFamily="2" charset="0"/>
                <a:ea typeface="Roboto" panose="02000000000000000000" pitchFamily="2" charset="0"/>
              </a:endParaRPr>
            </a:p>
            <a:p>
              <a:pPr eaLnBrk="1" hangingPunct="1">
                <a:lnSpc>
                  <a:spcPct val="100000"/>
                </a:lnSpc>
                <a:spcAft>
                  <a:spcPct val="0"/>
                </a:spcAft>
                <a:buClrTx/>
                <a:buSzTx/>
                <a:buFontTx/>
                <a:buNone/>
              </a:pPr>
              <a:r>
                <a:rPr lang="en-US" altLang="en-US" sz="1400">
                  <a:latin typeface="Roboto" panose="02000000000000000000" pitchFamily="2" charset="0"/>
                  <a:ea typeface="Roboto" panose="02000000000000000000" pitchFamily="2" charset="0"/>
                </a:rPr>
                <a:t>Total	 ______ Available Minutes per Shift</a:t>
              </a:r>
            </a:p>
            <a:p>
              <a:pPr eaLnBrk="1" hangingPunct="1">
                <a:lnSpc>
                  <a:spcPct val="100000"/>
                </a:lnSpc>
                <a:spcAft>
                  <a:spcPct val="0"/>
                </a:spcAft>
                <a:buClrTx/>
                <a:buSzTx/>
                <a:buFontTx/>
                <a:buNone/>
              </a:pPr>
              <a:endParaRPr lang="en-US" altLang="en-US" sz="1400">
                <a:latin typeface="Roboto" panose="02000000000000000000" pitchFamily="2" charset="0"/>
                <a:ea typeface="Roboto" panose="02000000000000000000" pitchFamily="2" charset="0"/>
              </a:endParaRPr>
            </a:p>
          </p:txBody>
        </p:sp>
        <p:sp>
          <p:nvSpPr>
            <p:cNvPr id="24" name="Text Box 13">
              <a:extLst>
                <a:ext uri="{FF2B5EF4-FFF2-40B4-BE49-F238E27FC236}">
                  <a16:creationId xmlns:a16="http://schemas.microsoft.com/office/drawing/2014/main" id="{DA5E0D38-A1EC-1FF5-AC11-9F28C29D8A43}"/>
                </a:ext>
              </a:extLst>
            </p:cNvPr>
            <p:cNvSpPr txBox="1">
              <a:spLocks noChangeArrowheads="1"/>
            </p:cNvSpPr>
            <p:nvPr/>
          </p:nvSpPr>
          <p:spPr bwMode="auto">
            <a:xfrm>
              <a:off x="924031" y="2240406"/>
              <a:ext cx="30168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600">
                  <a:latin typeface="Roboto" panose="02000000000000000000" pitchFamily="2" charset="0"/>
                  <a:ea typeface="Roboto" panose="02000000000000000000" pitchFamily="2" charset="0"/>
                </a:rPr>
                <a:t>8</a:t>
              </a:r>
            </a:p>
          </p:txBody>
        </p:sp>
        <p:sp>
          <p:nvSpPr>
            <p:cNvPr id="25" name="Text Box 14">
              <a:extLst>
                <a:ext uri="{FF2B5EF4-FFF2-40B4-BE49-F238E27FC236}">
                  <a16:creationId xmlns:a16="http://schemas.microsoft.com/office/drawing/2014/main" id="{A107AFB1-A97D-E96C-8AE6-A90C3709DD53}"/>
                </a:ext>
              </a:extLst>
            </p:cNvPr>
            <p:cNvSpPr txBox="1">
              <a:spLocks noChangeArrowheads="1"/>
            </p:cNvSpPr>
            <p:nvPr/>
          </p:nvSpPr>
          <p:spPr bwMode="auto">
            <a:xfrm>
              <a:off x="1740260" y="2231546"/>
              <a:ext cx="53572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600" dirty="0">
                  <a:latin typeface="Roboto" panose="02000000000000000000" pitchFamily="2" charset="0"/>
                  <a:ea typeface="Roboto" panose="02000000000000000000" pitchFamily="2" charset="0"/>
                </a:rPr>
                <a:t>480</a:t>
              </a:r>
            </a:p>
          </p:txBody>
        </p:sp>
        <p:sp>
          <p:nvSpPr>
            <p:cNvPr id="26" name="Text Box 15">
              <a:extLst>
                <a:ext uri="{FF2B5EF4-FFF2-40B4-BE49-F238E27FC236}">
                  <a16:creationId xmlns:a16="http://schemas.microsoft.com/office/drawing/2014/main" id="{78D079BC-C449-CB35-C50F-EE795C8A171C}"/>
                </a:ext>
              </a:extLst>
            </p:cNvPr>
            <p:cNvSpPr txBox="1">
              <a:spLocks noChangeArrowheads="1"/>
            </p:cNvSpPr>
            <p:nvPr/>
          </p:nvSpPr>
          <p:spPr bwMode="auto">
            <a:xfrm>
              <a:off x="1857280" y="2680378"/>
              <a:ext cx="41870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600" dirty="0">
                  <a:latin typeface="Roboto" panose="02000000000000000000" pitchFamily="2" charset="0"/>
                  <a:ea typeface="Roboto" panose="02000000000000000000" pitchFamily="2" charset="0"/>
                </a:rPr>
                <a:t>30</a:t>
              </a:r>
            </a:p>
          </p:txBody>
        </p:sp>
        <p:sp>
          <p:nvSpPr>
            <p:cNvPr id="27" name="Text Box 16">
              <a:extLst>
                <a:ext uri="{FF2B5EF4-FFF2-40B4-BE49-F238E27FC236}">
                  <a16:creationId xmlns:a16="http://schemas.microsoft.com/office/drawing/2014/main" id="{915AF171-E36A-C985-F02D-2087ABB104F0}"/>
                </a:ext>
              </a:extLst>
            </p:cNvPr>
            <p:cNvSpPr txBox="1">
              <a:spLocks noChangeArrowheads="1"/>
            </p:cNvSpPr>
            <p:nvPr/>
          </p:nvSpPr>
          <p:spPr bwMode="auto">
            <a:xfrm>
              <a:off x="1668826" y="3705384"/>
              <a:ext cx="53572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600" dirty="0">
                  <a:latin typeface="Roboto" panose="02000000000000000000" pitchFamily="2" charset="0"/>
                  <a:ea typeface="Roboto" panose="02000000000000000000" pitchFamily="2" charset="0"/>
                </a:rPr>
                <a:t>450</a:t>
              </a:r>
            </a:p>
          </p:txBody>
        </p:sp>
      </p:grpSp>
      <p:grpSp>
        <p:nvGrpSpPr>
          <p:cNvPr id="32" name="Group 31">
            <a:extLst>
              <a:ext uri="{FF2B5EF4-FFF2-40B4-BE49-F238E27FC236}">
                <a16:creationId xmlns:a16="http://schemas.microsoft.com/office/drawing/2014/main" id="{4688A9BA-D351-A67A-A189-AFF9FDF2D21F}"/>
              </a:ext>
            </a:extLst>
          </p:cNvPr>
          <p:cNvGrpSpPr/>
          <p:nvPr/>
        </p:nvGrpSpPr>
        <p:grpSpPr>
          <a:xfrm>
            <a:off x="8042910" y="4328771"/>
            <a:ext cx="3449637" cy="1767387"/>
            <a:chOff x="8042910" y="4328771"/>
            <a:chExt cx="3449637" cy="1767387"/>
          </a:xfrm>
        </p:grpSpPr>
        <p:sp>
          <p:nvSpPr>
            <p:cNvPr id="29" name="Rectangle 8">
              <a:extLst>
                <a:ext uri="{FF2B5EF4-FFF2-40B4-BE49-F238E27FC236}">
                  <a16:creationId xmlns:a16="http://schemas.microsoft.com/office/drawing/2014/main" id="{E04740A7-3E84-1336-A99A-DEC2AD35F27E}"/>
                </a:ext>
              </a:extLst>
            </p:cNvPr>
            <p:cNvSpPr>
              <a:spLocks noChangeArrowheads="1"/>
            </p:cNvSpPr>
            <p:nvPr/>
          </p:nvSpPr>
          <p:spPr bwMode="auto">
            <a:xfrm>
              <a:off x="8042910" y="4372133"/>
              <a:ext cx="3449637" cy="172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400" dirty="0">
                  <a:latin typeface="Roboto" panose="02000000000000000000" pitchFamily="2" charset="0"/>
                  <a:ea typeface="Roboto" panose="02000000000000000000" pitchFamily="2" charset="0"/>
                </a:rPr>
                <a:t>________ Minutes Available x 60 = ________ Seconds per shift</a:t>
              </a:r>
            </a:p>
            <a:p>
              <a:pPr eaLnBrk="1" hangingPunct="1">
                <a:lnSpc>
                  <a:spcPct val="100000"/>
                </a:lnSpc>
                <a:spcBef>
                  <a:spcPct val="0"/>
                </a:spcBef>
                <a:spcAft>
                  <a:spcPct val="0"/>
                </a:spcAft>
                <a:buClrTx/>
                <a:buSzTx/>
                <a:buFontTx/>
                <a:buNone/>
              </a:pPr>
              <a:endParaRPr lang="en-US" altLang="en-US" sz="1400" dirty="0">
                <a:latin typeface="Roboto" panose="02000000000000000000" pitchFamily="2" charset="0"/>
                <a:ea typeface="Roboto" panose="02000000000000000000" pitchFamily="2" charset="0"/>
              </a:endParaRPr>
            </a:p>
            <a:p>
              <a:pPr eaLnBrk="1" hangingPunct="1">
                <a:lnSpc>
                  <a:spcPct val="100000"/>
                </a:lnSpc>
                <a:spcBef>
                  <a:spcPct val="0"/>
                </a:spcBef>
                <a:spcAft>
                  <a:spcPct val="0"/>
                </a:spcAft>
                <a:buClrTx/>
                <a:buSzTx/>
                <a:buFontTx/>
                <a:buNone/>
              </a:pPr>
              <a:r>
                <a:rPr lang="en-US" altLang="en-US" sz="1400" dirty="0">
                  <a:latin typeface="Roboto" panose="02000000000000000000" pitchFamily="2" charset="0"/>
                  <a:ea typeface="Roboto" panose="02000000000000000000" pitchFamily="2" charset="0"/>
                </a:rPr>
                <a:t>________ Seconds Divided by _____ pcs/shift = _______ Seconds</a:t>
              </a:r>
            </a:p>
            <a:p>
              <a:pPr eaLnBrk="1" hangingPunct="1">
                <a:lnSpc>
                  <a:spcPct val="100000"/>
                </a:lnSpc>
                <a:spcBef>
                  <a:spcPct val="0"/>
                </a:spcBef>
                <a:spcAft>
                  <a:spcPct val="0"/>
                </a:spcAft>
                <a:buClrTx/>
                <a:buSzTx/>
                <a:buFontTx/>
                <a:buNone/>
              </a:pPr>
              <a:r>
                <a:rPr lang="en-US" altLang="en-US" sz="1400" dirty="0">
                  <a:latin typeface="Roboto" panose="02000000000000000000" pitchFamily="2" charset="0"/>
                  <a:ea typeface="Roboto" panose="02000000000000000000" pitchFamily="2" charset="0"/>
                </a:rPr>
                <a:t>	          </a:t>
              </a:r>
            </a:p>
            <a:p>
              <a:pPr eaLnBrk="1" hangingPunct="1">
                <a:lnSpc>
                  <a:spcPct val="100000"/>
                </a:lnSpc>
                <a:spcBef>
                  <a:spcPct val="0"/>
                </a:spcBef>
                <a:spcAft>
                  <a:spcPct val="0"/>
                </a:spcAft>
                <a:buClrTx/>
                <a:buSzTx/>
                <a:buFontTx/>
                <a:buNone/>
              </a:pPr>
              <a:r>
                <a:rPr lang="en-US" altLang="en-US" sz="1400" dirty="0">
                  <a:solidFill>
                    <a:srgbClr val="FC0128"/>
                  </a:solidFill>
                  <a:latin typeface="Roboto" panose="02000000000000000000" pitchFamily="2" charset="0"/>
                  <a:ea typeface="Roboto" panose="02000000000000000000" pitchFamily="2" charset="0"/>
                </a:rPr>
                <a:t>TAKT Time = __________ Seconds </a:t>
              </a:r>
              <a:br>
                <a:rPr lang="en-US" altLang="en-US" sz="1400" dirty="0">
                  <a:solidFill>
                    <a:srgbClr val="FC0128"/>
                  </a:solidFill>
                  <a:latin typeface="Roboto" panose="02000000000000000000" pitchFamily="2" charset="0"/>
                  <a:ea typeface="Roboto" panose="02000000000000000000" pitchFamily="2" charset="0"/>
                </a:rPr>
              </a:br>
              <a:r>
                <a:rPr lang="en-US" altLang="en-US" sz="1400" dirty="0">
                  <a:solidFill>
                    <a:srgbClr val="FC0128"/>
                  </a:solidFill>
                  <a:latin typeface="Roboto" panose="02000000000000000000" pitchFamily="2" charset="0"/>
                  <a:ea typeface="Roboto" panose="02000000000000000000" pitchFamily="2" charset="0"/>
                </a:rPr>
                <a:t>per Piece</a:t>
              </a:r>
            </a:p>
            <a:p>
              <a:pPr eaLnBrk="1" hangingPunct="1">
                <a:lnSpc>
                  <a:spcPct val="100000"/>
                </a:lnSpc>
                <a:spcAft>
                  <a:spcPct val="0"/>
                </a:spcAft>
                <a:buClrTx/>
                <a:buSzTx/>
                <a:buFontTx/>
                <a:buNone/>
              </a:pPr>
              <a:endParaRPr lang="en-US" altLang="en-US" sz="1400" dirty="0">
                <a:solidFill>
                  <a:srgbClr val="FF3300"/>
                </a:solidFill>
                <a:latin typeface="Roboto" panose="02000000000000000000" pitchFamily="2" charset="0"/>
                <a:ea typeface="Roboto" panose="02000000000000000000" pitchFamily="2" charset="0"/>
              </a:endParaRPr>
            </a:p>
          </p:txBody>
        </p:sp>
        <p:sp>
          <p:nvSpPr>
            <p:cNvPr id="30" name="Text Box 17">
              <a:extLst>
                <a:ext uri="{FF2B5EF4-FFF2-40B4-BE49-F238E27FC236}">
                  <a16:creationId xmlns:a16="http://schemas.microsoft.com/office/drawing/2014/main" id="{9FE35FAB-C838-E287-504A-65097A4E3571}"/>
                </a:ext>
              </a:extLst>
            </p:cNvPr>
            <p:cNvSpPr txBox="1">
              <a:spLocks noChangeArrowheads="1"/>
            </p:cNvSpPr>
            <p:nvPr/>
          </p:nvSpPr>
          <p:spPr bwMode="auto">
            <a:xfrm>
              <a:off x="8228070" y="4328771"/>
              <a:ext cx="53572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600" dirty="0">
                  <a:latin typeface="Roboto" panose="02000000000000000000" pitchFamily="2" charset="0"/>
                  <a:ea typeface="Roboto" panose="02000000000000000000" pitchFamily="2" charset="0"/>
                </a:rPr>
                <a:t>450</a:t>
              </a:r>
            </a:p>
          </p:txBody>
        </p:sp>
        <p:sp>
          <p:nvSpPr>
            <p:cNvPr id="31" name="Text Box 19">
              <a:extLst>
                <a:ext uri="{FF2B5EF4-FFF2-40B4-BE49-F238E27FC236}">
                  <a16:creationId xmlns:a16="http://schemas.microsoft.com/office/drawing/2014/main" id="{E98789D8-B08D-1546-15B7-891E4FA29343}"/>
                </a:ext>
              </a:extLst>
            </p:cNvPr>
            <p:cNvSpPr txBox="1">
              <a:spLocks noChangeArrowheads="1"/>
            </p:cNvSpPr>
            <p:nvPr/>
          </p:nvSpPr>
          <p:spPr bwMode="auto">
            <a:xfrm>
              <a:off x="10390823" y="4923423"/>
              <a:ext cx="53572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600">
                  <a:latin typeface="Roboto" panose="02000000000000000000" pitchFamily="2" charset="0"/>
                  <a:ea typeface="Roboto" panose="02000000000000000000" pitchFamily="2" charset="0"/>
                </a:rPr>
                <a:t>190</a:t>
              </a:r>
            </a:p>
          </p:txBody>
        </p:sp>
      </p:grpSp>
    </p:spTree>
    <p:extLst>
      <p:ext uri="{BB962C8B-B14F-4D97-AF65-F5344CB8AC3E}">
        <p14:creationId xmlns:p14="http://schemas.microsoft.com/office/powerpoint/2010/main" val="29722131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Three Types of Process Time</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20</a:t>
            </a:fld>
            <a:endParaRPr lang="en-US"/>
          </a:p>
        </p:txBody>
      </p:sp>
      <p:grpSp>
        <p:nvGrpSpPr>
          <p:cNvPr id="16" name="Group 15">
            <a:extLst>
              <a:ext uri="{FF2B5EF4-FFF2-40B4-BE49-F238E27FC236}">
                <a16:creationId xmlns:a16="http://schemas.microsoft.com/office/drawing/2014/main" id="{E459EE76-BE5E-9E41-5B74-5766BBE9B3C6}"/>
              </a:ext>
            </a:extLst>
          </p:cNvPr>
          <p:cNvGrpSpPr/>
          <p:nvPr/>
        </p:nvGrpSpPr>
        <p:grpSpPr>
          <a:xfrm>
            <a:off x="1323340" y="2085975"/>
            <a:ext cx="9545320" cy="3908425"/>
            <a:chOff x="838200" y="2085975"/>
            <a:chExt cx="8213725" cy="3249613"/>
          </a:xfrm>
        </p:grpSpPr>
        <p:grpSp>
          <p:nvGrpSpPr>
            <p:cNvPr id="3" name="Group 3">
              <a:extLst>
                <a:ext uri="{FF2B5EF4-FFF2-40B4-BE49-F238E27FC236}">
                  <a16:creationId xmlns:a16="http://schemas.microsoft.com/office/drawing/2014/main" id="{F33CC1EF-93A5-10D7-58AA-6EA2E0EBB045}"/>
                </a:ext>
              </a:extLst>
            </p:cNvPr>
            <p:cNvGrpSpPr>
              <a:grpSpLocks/>
            </p:cNvGrpSpPr>
            <p:nvPr/>
          </p:nvGrpSpPr>
          <p:grpSpPr bwMode="auto">
            <a:xfrm>
              <a:off x="862012" y="2235200"/>
              <a:ext cx="8189913" cy="466725"/>
              <a:chOff x="562" y="1785"/>
              <a:chExt cx="4831" cy="294"/>
            </a:xfrm>
          </p:grpSpPr>
          <p:sp>
            <p:nvSpPr>
              <p:cNvPr id="5" name="AutoShape 4">
                <a:extLst>
                  <a:ext uri="{FF2B5EF4-FFF2-40B4-BE49-F238E27FC236}">
                    <a16:creationId xmlns:a16="http://schemas.microsoft.com/office/drawing/2014/main" id="{5D84D664-07C7-B409-9B2E-0F484CFD6B9C}"/>
                  </a:ext>
                </a:extLst>
              </p:cNvPr>
              <p:cNvSpPr>
                <a:spLocks noChangeArrowheads="1"/>
              </p:cNvSpPr>
              <p:nvPr/>
            </p:nvSpPr>
            <p:spPr bwMode="auto">
              <a:xfrm>
                <a:off x="3660" y="1785"/>
                <a:ext cx="1733" cy="294"/>
              </a:xfrm>
              <a:prstGeom prst="homePlate">
                <a:avLst>
                  <a:gd name="adj" fmla="val 48603"/>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 Total Processing Time</a:t>
                </a:r>
              </a:p>
            </p:txBody>
          </p:sp>
          <p:sp>
            <p:nvSpPr>
              <p:cNvPr id="6" name="AutoShape 5">
                <a:extLst>
                  <a:ext uri="{FF2B5EF4-FFF2-40B4-BE49-F238E27FC236}">
                    <a16:creationId xmlns:a16="http://schemas.microsoft.com/office/drawing/2014/main" id="{397FB19D-58E8-CC48-70FA-02F5E2D9BFCE}"/>
                  </a:ext>
                </a:extLst>
              </p:cNvPr>
              <p:cNvSpPr>
                <a:spLocks noChangeArrowheads="1"/>
              </p:cNvSpPr>
              <p:nvPr/>
            </p:nvSpPr>
            <p:spPr bwMode="auto">
              <a:xfrm>
                <a:off x="2105" y="1785"/>
                <a:ext cx="1733" cy="294"/>
              </a:xfrm>
              <a:prstGeom prst="homePlate">
                <a:avLst>
                  <a:gd name="adj" fmla="val 48603"/>
                </a:avLst>
              </a:prstGeom>
              <a:solidFill>
                <a:schemeClr val="accent2"/>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1800" dirty="0">
                    <a:latin typeface="Roboto" panose="02000000000000000000" pitchFamily="2" charset="0"/>
                    <a:ea typeface="Roboto" panose="02000000000000000000" pitchFamily="2" charset="0"/>
                  </a:rPr>
                  <a:t> Equipment Process Time</a:t>
                </a:r>
              </a:p>
            </p:txBody>
          </p:sp>
          <p:sp>
            <p:nvSpPr>
              <p:cNvPr id="7" name="AutoShape 6">
                <a:extLst>
                  <a:ext uri="{FF2B5EF4-FFF2-40B4-BE49-F238E27FC236}">
                    <a16:creationId xmlns:a16="http://schemas.microsoft.com/office/drawing/2014/main" id="{D9350E00-CF12-100D-8AAE-0394B8F4711B}"/>
                  </a:ext>
                </a:extLst>
              </p:cNvPr>
              <p:cNvSpPr>
                <a:spLocks noChangeArrowheads="1"/>
              </p:cNvSpPr>
              <p:nvPr/>
            </p:nvSpPr>
            <p:spPr bwMode="auto">
              <a:xfrm>
                <a:off x="562" y="1785"/>
                <a:ext cx="1733" cy="294"/>
              </a:xfrm>
              <a:prstGeom prst="homePlate">
                <a:avLst>
                  <a:gd name="adj" fmla="val 48603"/>
                </a:avLst>
              </a:prstGeom>
              <a:solidFill>
                <a:schemeClr val="bg2"/>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1800" dirty="0">
                    <a:latin typeface="Roboto" panose="02000000000000000000" pitchFamily="2" charset="0"/>
                    <a:ea typeface="Roboto" panose="02000000000000000000" pitchFamily="2" charset="0"/>
                  </a:rPr>
                  <a:t>Associate Process Time</a:t>
                </a:r>
              </a:p>
            </p:txBody>
          </p:sp>
        </p:grpSp>
        <p:sp>
          <p:nvSpPr>
            <p:cNvPr id="8" name="Rectangle 7">
              <a:extLst>
                <a:ext uri="{FF2B5EF4-FFF2-40B4-BE49-F238E27FC236}">
                  <a16:creationId xmlns:a16="http://schemas.microsoft.com/office/drawing/2014/main" id="{0E08FB0D-FFEC-9970-590D-1637D209B41B}"/>
                </a:ext>
              </a:extLst>
            </p:cNvPr>
            <p:cNvSpPr>
              <a:spLocks noChangeArrowheads="1"/>
            </p:cNvSpPr>
            <p:nvPr/>
          </p:nvSpPr>
          <p:spPr bwMode="auto">
            <a:xfrm>
              <a:off x="866775" y="2752725"/>
              <a:ext cx="2716212" cy="153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20000"/>
                </a:spcAft>
                <a:buClr>
                  <a:schemeClr val="tx1"/>
                </a:buClr>
                <a:buFont typeface="Arial" panose="020B0604020202020204" pitchFamily="34" charset="0"/>
                <a:buChar char="•"/>
              </a:pPr>
              <a:r>
                <a:rPr lang="en-US" altLang="en-US" sz="1600" dirty="0">
                  <a:latin typeface="Roboto" panose="02000000000000000000" pitchFamily="2" charset="0"/>
                  <a:ea typeface="Roboto" panose="02000000000000000000" pitchFamily="2" charset="0"/>
                </a:rPr>
                <a:t>The amount of time it takes an Associate to complete one full process in his/her assigned work sequence </a:t>
              </a:r>
            </a:p>
          </p:txBody>
        </p:sp>
        <p:sp>
          <p:nvSpPr>
            <p:cNvPr id="9" name="Rectangle 8">
              <a:extLst>
                <a:ext uri="{FF2B5EF4-FFF2-40B4-BE49-F238E27FC236}">
                  <a16:creationId xmlns:a16="http://schemas.microsoft.com/office/drawing/2014/main" id="{2F0E33F3-DDF6-DA64-C447-22C347C8D5BE}"/>
                </a:ext>
              </a:extLst>
            </p:cNvPr>
            <p:cNvSpPr>
              <a:spLocks noChangeArrowheads="1"/>
            </p:cNvSpPr>
            <p:nvPr/>
          </p:nvSpPr>
          <p:spPr bwMode="auto">
            <a:xfrm>
              <a:off x="3627437" y="2774950"/>
              <a:ext cx="25273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20000"/>
                </a:spcAft>
                <a:buClr>
                  <a:schemeClr val="tx1"/>
                </a:buClr>
                <a:buFont typeface="Arial" panose="020B0604020202020204" pitchFamily="34" charset="0"/>
                <a:buChar char="•"/>
              </a:pPr>
              <a:r>
                <a:rPr lang="en-US" altLang="en-US" sz="1600" dirty="0">
                  <a:latin typeface="Roboto" panose="02000000000000000000" pitchFamily="2" charset="0"/>
                  <a:ea typeface="Roboto" panose="02000000000000000000" pitchFamily="2" charset="0"/>
                </a:rPr>
                <a:t>Defined as the amount of time it takes a piece of equipment to completely finish one full process (start/stop time)</a:t>
              </a:r>
            </a:p>
          </p:txBody>
        </p:sp>
        <p:sp>
          <p:nvSpPr>
            <p:cNvPr id="10" name="Rectangle 9">
              <a:extLst>
                <a:ext uri="{FF2B5EF4-FFF2-40B4-BE49-F238E27FC236}">
                  <a16:creationId xmlns:a16="http://schemas.microsoft.com/office/drawing/2014/main" id="{847BE63F-9215-3F03-C363-451B53949A5A}"/>
                </a:ext>
              </a:extLst>
            </p:cNvPr>
            <p:cNvSpPr>
              <a:spLocks noChangeArrowheads="1"/>
            </p:cNvSpPr>
            <p:nvPr/>
          </p:nvSpPr>
          <p:spPr bwMode="auto">
            <a:xfrm>
              <a:off x="6280150" y="2760663"/>
              <a:ext cx="2527300" cy="153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20000"/>
                </a:spcAft>
                <a:buClr>
                  <a:schemeClr val="tx1"/>
                </a:buClr>
                <a:buFont typeface="Arial" panose="020B0604020202020204" pitchFamily="34" charset="0"/>
                <a:buChar char="•"/>
              </a:pPr>
              <a:r>
                <a:rPr lang="en-US" altLang="en-US" sz="1600" dirty="0">
                  <a:latin typeface="Roboto" panose="02000000000000000000" pitchFamily="2" charset="0"/>
                  <a:ea typeface="Roboto" panose="02000000000000000000" pitchFamily="2" charset="0"/>
                </a:rPr>
                <a:t>The equipment process time PLUS the manual time it takes an Associate to complete one process and amortized time to setup next job</a:t>
              </a:r>
            </a:p>
            <a:p>
              <a:pPr eaLnBrk="1" hangingPunct="1">
                <a:lnSpc>
                  <a:spcPct val="100000"/>
                </a:lnSpc>
                <a:spcBef>
                  <a:spcPct val="0"/>
                </a:spcBef>
                <a:spcAft>
                  <a:spcPct val="20000"/>
                </a:spcAft>
                <a:buClr>
                  <a:schemeClr val="tx1"/>
                </a:buClr>
                <a:buFont typeface="Arial" panose="020B0604020202020204" pitchFamily="34" charset="0"/>
                <a:buChar char="•"/>
              </a:pPr>
              <a:endParaRPr lang="en-US" altLang="en-US" sz="1600" dirty="0">
                <a:latin typeface="Roboto" panose="02000000000000000000" pitchFamily="2" charset="0"/>
                <a:ea typeface="Roboto" panose="02000000000000000000" pitchFamily="2" charset="0"/>
              </a:endParaRPr>
            </a:p>
          </p:txBody>
        </p:sp>
        <p:sp>
          <p:nvSpPr>
            <p:cNvPr id="11" name="Oval 10">
              <a:extLst>
                <a:ext uri="{FF2B5EF4-FFF2-40B4-BE49-F238E27FC236}">
                  <a16:creationId xmlns:a16="http://schemas.microsoft.com/office/drawing/2014/main" id="{6259752F-6352-70AE-8577-FA0AE9363EF0}"/>
                </a:ext>
              </a:extLst>
            </p:cNvPr>
            <p:cNvSpPr>
              <a:spLocks noChangeArrowheads="1"/>
            </p:cNvSpPr>
            <p:nvPr/>
          </p:nvSpPr>
          <p:spPr bwMode="auto">
            <a:xfrm>
              <a:off x="992187" y="2089150"/>
              <a:ext cx="323850" cy="287338"/>
            </a:xfrm>
            <a:prstGeom prst="ellipse">
              <a:avLst/>
            </a:prstGeom>
            <a:solidFill>
              <a:schemeClr val="bg1"/>
            </a:solidFill>
            <a:ln w="19050" cap="sq">
              <a:solidFill>
                <a:srgbClr val="000066"/>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600" dirty="0">
                  <a:latin typeface="Roboto" panose="02000000000000000000" pitchFamily="2" charset="0"/>
                  <a:ea typeface="Roboto" panose="02000000000000000000" pitchFamily="2" charset="0"/>
                </a:rPr>
                <a:t>1</a:t>
              </a:r>
            </a:p>
          </p:txBody>
        </p:sp>
        <p:sp>
          <p:nvSpPr>
            <p:cNvPr id="12" name="Oval 11">
              <a:extLst>
                <a:ext uri="{FF2B5EF4-FFF2-40B4-BE49-F238E27FC236}">
                  <a16:creationId xmlns:a16="http://schemas.microsoft.com/office/drawing/2014/main" id="{3499317C-C91A-D4E5-4A65-F5334EF211CF}"/>
                </a:ext>
              </a:extLst>
            </p:cNvPr>
            <p:cNvSpPr>
              <a:spLocks noChangeArrowheads="1"/>
            </p:cNvSpPr>
            <p:nvPr/>
          </p:nvSpPr>
          <p:spPr bwMode="auto">
            <a:xfrm>
              <a:off x="3663950" y="2097088"/>
              <a:ext cx="323850" cy="287337"/>
            </a:xfrm>
            <a:prstGeom prst="ellipse">
              <a:avLst/>
            </a:prstGeom>
            <a:solidFill>
              <a:schemeClr val="bg1"/>
            </a:solidFill>
            <a:ln w="19050" cap="sq">
              <a:solidFill>
                <a:srgbClr val="000066"/>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600">
                  <a:latin typeface="Roboto" panose="02000000000000000000" pitchFamily="2" charset="0"/>
                  <a:ea typeface="Roboto" panose="02000000000000000000" pitchFamily="2" charset="0"/>
                </a:rPr>
                <a:t>2</a:t>
              </a:r>
            </a:p>
          </p:txBody>
        </p:sp>
        <p:sp>
          <p:nvSpPr>
            <p:cNvPr id="13" name="Oval 12">
              <a:extLst>
                <a:ext uri="{FF2B5EF4-FFF2-40B4-BE49-F238E27FC236}">
                  <a16:creationId xmlns:a16="http://schemas.microsoft.com/office/drawing/2014/main" id="{9CD5BA8C-36FC-D4FD-B1B4-173EE0AD6180}"/>
                </a:ext>
              </a:extLst>
            </p:cNvPr>
            <p:cNvSpPr>
              <a:spLocks noChangeArrowheads="1"/>
            </p:cNvSpPr>
            <p:nvPr/>
          </p:nvSpPr>
          <p:spPr bwMode="auto">
            <a:xfrm>
              <a:off x="6186487" y="2085975"/>
              <a:ext cx="323850" cy="287338"/>
            </a:xfrm>
            <a:prstGeom prst="ellipse">
              <a:avLst/>
            </a:prstGeom>
            <a:solidFill>
              <a:schemeClr val="bg1"/>
            </a:solidFill>
            <a:ln w="19050" cap="sq">
              <a:solidFill>
                <a:srgbClr val="000066"/>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600">
                  <a:latin typeface="Roboto" panose="02000000000000000000" pitchFamily="2" charset="0"/>
                  <a:ea typeface="Roboto" panose="02000000000000000000" pitchFamily="2" charset="0"/>
                </a:rPr>
                <a:t>3</a:t>
              </a:r>
            </a:p>
          </p:txBody>
        </p:sp>
        <p:sp>
          <p:nvSpPr>
            <p:cNvPr id="14" name="AutoShape 13">
              <a:extLst>
                <a:ext uri="{FF2B5EF4-FFF2-40B4-BE49-F238E27FC236}">
                  <a16:creationId xmlns:a16="http://schemas.microsoft.com/office/drawing/2014/main" id="{5BC8D421-9516-4D1A-2C10-FA2769891FC9}"/>
                </a:ext>
              </a:extLst>
            </p:cNvPr>
            <p:cNvSpPr>
              <a:spLocks noChangeArrowheads="1"/>
            </p:cNvSpPr>
            <p:nvPr/>
          </p:nvSpPr>
          <p:spPr bwMode="auto">
            <a:xfrm>
              <a:off x="838200" y="4814888"/>
              <a:ext cx="8204200" cy="520700"/>
            </a:xfrm>
            <a:prstGeom prst="homePlate">
              <a:avLst>
                <a:gd name="adj" fmla="val 32169"/>
              </a:avLst>
            </a:prstGeom>
            <a:solidFill>
              <a:schemeClr val="accent4"/>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Process Time is NOT to be confused with Takt Time</a:t>
              </a:r>
            </a:p>
          </p:txBody>
        </p:sp>
      </p:grpSp>
      <p:grpSp>
        <p:nvGrpSpPr>
          <p:cNvPr id="31" name="Group 30">
            <a:extLst>
              <a:ext uri="{FF2B5EF4-FFF2-40B4-BE49-F238E27FC236}">
                <a16:creationId xmlns:a16="http://schemas.microsoft.com/office/drawing/2014/main" id="{19845426-BE77-63F6-D039-92B5D4A60529}"/>
              </a:ext>
            </a:extLst>
          </p:cNvPr>
          <p:cNvGrpSpPr/>
          <p:nvPr/>
        </p:nvGrpSpPr>
        <p:grpSpPr>
          <a:xfrm>
            <a:off x="838200" y="297639"/>
            <a:ext cx="4220210" cy="301303"/>
            <a:chOff x="838200" y="297639"/>
            <a:chExt cx="4220210" cy="301303"/>
          </a:xfrm>
        </p:grpSpPr>
        <p:sp>
          <p:nvSpPr>
            <p:cNvPr id="32" name="AutoShape 9">
              <a:extLst>
                <a:ext uri="{FF2B5EF4-FFF2-40B4-BE49-F238E27FC236}">
                  <a16:creationId xmlns:a16="http://schemas.microsoft.com/office/drawing/2014/main" id="{9CC02A63-B217-0F6F-0F72-69731E0F9FF9}"/>
                </a:ext>
              </a:extLst>
            </p:cNvPr>
            <p:cNvSpPr>
              <a:spLocks noChangeArrowheads="1"/>
            </p:cNvSpPr>
            <p:nvPr/>
          </p:nvSpPr>
          <p:spPr bwMode="auto">
            <a:xfrm>
              <a:off x="1779225" y="298454"/>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33" name="Group 32">
              <a:extLst>
                <a:ext uri="{FF2B5EF4-FFF2-40B4-BE49-F238E27FC236}">
                  <a16:creationId xmlns:a16="http://schemas.microsoft.com/office/drawing/2014/main" id="{CDA5E1F5-D56E-A6E7-4474-FE1C6AB243D4}"/>
                </a:ext>
              </a:extLst>
            </p:cNvPr>
            <p:cNvGrpSpPr/>
            <p:nvPr/>
          </p:nvGrpSpPr>
          <p:grpSpPr>
            <a:xfrm>
              <a:off x="838200" y="297639"/>
              <a:ext cx="4220210" cy="301303"/>
              <a:chOff x="838200" y="297639"/>
              <a:chExt cx="4220210" cy="301303"/>
            </a:xfrm>
          </p:grpSpPr>
          <p:grpSp>
            <p:nvGrpSpPr>
              <p:cNvPr id="34" name="Group 33">
                <a:extLst>
                  <a:ext uri="{FF2B5EF4-FFF2-40B4-BE49-F238E27FC236}">
                    <a16:creationId xmlns:a16="http://schemas.microsoft.com/office/drawing/2014/main" id="{327F6C6C-17CC-C838-9BF4-56868988039D}"/>
                  </a:ext>
                </a:extLst>
              </p:cNvPr>
              <p:cNvGrpSpPr/>
              <p:nvPr/>
            </p:nvGrpSpPr>
            <p:grpSpPr>
              <a:xfrm>
                <a:off x="838200" y="297639"/>
                <a:ext cx="1060167" cy="290657"/>
                <a:chOff x="826426" y="4041857"/>
                <a:chExt cx="1060167" cy="290657"/>
              </a:xfrm>
            </p:grpSpPr>
            <p:sp>
              <p:nvSpPr>
                <p:cNvPr id="36" name="AutoShape 9">
                  <a:extLst>
                    <a:ext uri="{FF2B5EF4-FFF2-40B4-BE49-F238E27FC236}">
                      <a16:creationId xmlns:a16="http://schemas.microsoft.com/office/drawing/2014/main" id="{7D3EC3E9-4428-3B25-9A90-C3ECD17CC9CB}"/>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7" name="AutoShape 11">
                  <a:extLst>
                    <a:ext uri="{FF2B5EF4-FFF2-40B4-BE49-F238E27FC236}">
                      <a16:creationId xmlns:a16="http://schemas.microsoft.com/office/drawing/2014/main" id="{8CC50B55-EE64-854A-4CF8-556D48773E80}"/>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8" name="AutoShape 10">
                  <a:extLst>
                    <a:ext uri="{FF2B5EF4-FFF2-40B4-BE49-F238E27FC236}">
                      <a16:creationId xmlns:a16="http://schemas.microsoft.com/office/drawing/2014/main" id="{EB5FF4B3-5892-0434-240A-1620CE9A7C75}"/>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35" name="TextBox 34">
                <a:extLst>
                  <a:ext uri="{FF2B5EF4-FFF2-40B4-BE49-F238E27FC236}">
                    <a16:creationId xmlns:a16="http://schemas.microsoft.com/office/drawing/2014/main" id="{32F4D44B-D303-69E7-3050-3824CD6A2FCC}"/>
                  </a:ext>
                </a:extLst>
              </p:cNvPr>
              <p:cNvSpPr txBox="1"/>
              <p:nvPr/>
            </p:nvSpPr>
            <p:spPr>
              <a:xfrm>
                <a:off x="219045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TAKT Time vs. Process Time</a:t>
                </a:r>
              </a:p>
            </p:txBody>
          </p:sp>
        </p:grpSp>
      </p:grpSp>
    </p:spTree>
    <p:extLst>
      <p:ext uri="{BB962C8B-B14F-4D97-AF65-F5344CB8AC3E}">
        <p14:creationId xmlns:p14="http://schemas.microsoft.com/office/powerpoint/2010/main" val="31649162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lstStyle/>
          <a:p>
            <a:r>
              <a:rPr lang="en-US" dirty="0"/>
              <a:t>Associate Process Time Defined</a:t>
            </a:r>
          </a:p>
        </p:txBody>
      </p:sp>
      <p:sp>
        <p:nvSpPr>
          <p:cNvPr id="5" name="Text Placeholder 4">
            <a:extLst>
              <a:ext uri="{FF2B5EF4-FFF2-40B4-BE49-F238E27FC236}">
                <a16:creationId xmlns:a16="http://schemas.microsoft.com/office/drawing/2014/main" id="{D97C3043-C5C3-113A-8520-6B843B812614}"/>
              </a:ext>
            </a:extLst>
          </p:cNvPr>
          <p:cNvSpPr>
            <a:spLocks noGrp="1"/>
          </p:cNvSpPr>
          <p:nvPr>
            <p:ph type="body" sz="quarter" idx="3"/>
          </p:nvPr>
        </p:nvSpPr>
        <p:spPr>
          <a:xfrm>
            <a:off x="838200" y="1769915"/>
            <a:ext cx="5183188" cy="823912"/>
          </a:xfrm>
        </p:spPr>
        <p:txBody>
          <a:bodyPr>
            <a:normAutofit/>
          </a:bodyPr>
          <a:lstStyle/>
          <a:p>
            <a:r>
              <a:rPr lang="en-US" dirty="0"/>
              <a:t>Associate Process Time</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a:xfrm>
            <a:off x="6531016" y="2505075"/>
            <a:ext cx="5183188" cy="3684588"/>
          </a:xfrm>
        </p:spPr>
        <p:txBody>
          <a:bodyPr>
            <a:normAutofit/>
          </a:bodyPr>
          <a:lstStyle/>
          <a:p>
            <a:r>
              <a:rPr lang="en-US" dirty="0"/>
              <a:t>The amount of time it takes an Associate to complete one full process in his/her assigned work sequence </a:t>
            </a:r>
          </a:p>
          <a:p>
            <a:r>
              <a:rPr lang="en-US" dirty="0"/>
              <a:t>Example: It takes the Associate 10 minutes to perform operation 1-2-3 and return back to 1, ready to begin another process</a:t>
            </a:r>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21</a:t>
            </a:fld>
            <a:endParaRPr lang="en-US"/>
          </a:p>
        </p:txBody>
      </p:sp>
      <p:sp>
        <p:nvSpPr>
          <p:cNvPr id="10" name="AutoShape 4">
            <a:extLst>
              <a:ext uri="{FF2B5EF4-FFF2-40B4-BE49-F238E27FC236}">
                <a16:creationId xmlns:a16="http://schemas.microsoft.com/office/drawing/2014/main" id="{B4A873BF-8708-C6AE-A2C9-7B745CE1A065}"/>
              </a:ext>
            </a:extLst>
          </p:cNvPr>
          <p:cNvSpPr>
            <a:spLocks noChangeArrowheads="1"/>
          </p:cNvSpPr>
          <p:nvPr/>
        </p:nvSpPr>
        <p:spPr bwMode="auto">
          <a:xfrm>
            <a:off x="6076970" y="2505075"/>
            <a:ext cx="285750" cy="2493962"/>
          </a:xfrm>
          <a:prstGeom prst="rightArrow">
            <a:avLst>
              <a:gd name="adj1" fmla="val 67278"/>
              <a:gd name="adj2" fmla="val 72222"/>
            </a:avLst>
          </a:prstGeom>
          <a:solidFill>
            <a:schemeClr val="accent1"/>
          </a:solidFill>
          <a:ln w="1905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endParaRPr>
          </a:p>
        </p:txBody>
      </p:sp>
      <p:grpSp>
        <p:nvGrpSpPr>
          <p:cNvPr id="3" name="Group 2">
            <a:extLst>
              <a:ext uri="{FF2B5EF4-FFF2-40B4-BE49-F238E27FC236}">
                <a16:creationId xmlns:a16="http://schemas.microsoft.com/office/drawing/2014/main" id="{7F73BD49-C7C2-30B0-C6DB-E4A84362E7FC}"/>
              </a:ext>
            </a:extLst>
          </p:cNvPr>
          <p:cNvGrpSpPr/>
          <p:nvPr/>
        </p:nvGrpSpPr>
        <p:grpSpPr>
          <a:xfrm>
            <a:off x="838200" y="297639"/>
            <a:ext cx="4220210" cy="301303"/>
            <a:chOff x="838200" y="297639"/>
            <a:chExt cx="4220210" cy="301303"/>
          </a:xfrm>
        </p:grpSpPr>
        <p:sp>
          <p:nvSpPr>
            <p:cNvPr id="4" name="AutoShape 9">
              <a:extLst>
                <a:ext uri="{FF2B5EF4-FFF2-40B4-BE49-F238E27FC236}">
                  <a16:creationId xmlns:a16="http://schemas.microsoft.com/office/drawing/2014/main" id="{8320119E-92C1-826A-855D-D0D0123EA3D0}"/>
                </a:ext>
              </a:extLst>
            </p:cNvPr>
            <p:cNvSpPr>
              <a:spLocks noChangeArrowheads="1"/>
            </p:cNvSpPr>
            <p:nvPr/>
          </p:nvSpPr>
          <p:spPr bwMode="auto">
            <a:xfrm>
              <a:off x="1779225" y="298454"/>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7" name="Group 6">
              <a:extLst>
                <a:ext uri="{FF2B5EF4-FFF2-40B4-BE49-F238E27FC236}">
                  <a16:creationId xmlns:a16="http://schemas.microsoft.com/office/drawing/2014/main" id="{04665EBD-CE25-125F-ECEF-7FE29A68F024}"/>
                </a:ext>
              </a:extLst>
            </p:cNvPr>
            <p:cNvGrpSpPr/>
            <p:nvPr/>
          </p:nvGrpSpPr>
          <p:grpSpPr>
            <a:xfrm>
              <a:off x="838200" y="297639"/>
              <a:ext cx="4220210" cy="301303"/>
              <a:chOff x="838200" y="297639"/>
              <a:chExt cx="4220210" cy="301303"/>
            </a:xfrm>
          </p:grpSpPr>
          <p:grpSp>
            <p:nvGrpSpPr>
              <p:cNvPr id="9" name="Group 8">
                <a:extLst>
                  <a:ext uri="{FF2B5EF4-FFF2-40B4-BE49-F238E27FC236}">
                    <a16:creationId xmlns:a16="http://schemas.microsoft.com/office/drawing/2014/main" id="{A167AE2E-68EE-39AC-73E0-C9B2F31D6C09}"/>
                  </a:ext>
                </a:extLst>
              </p:cNvPr>
              <p:cNvGrpSpPr/>
              <p:nvPr/>
            </p:nvGrpSpPr>
            <p:grpSpPr>
              <a:xfrm>
                <a:off x="838200" y="297639"/>
                <a:ext cx="1060167" cy="290657"/>
                <a:chOff x="826426" y="4041857"/>
                <a:chExt cx="1060167" cy="290657"/>
              </a:xfrm>
            </p:grpSpPr>
            <p:sp>
              <p:nvSpPr>
                <p:cNvPr id="73" name="AutoShape 9">
                  <a:extLst>
                    <a:ext uri="{FF2B5EF4-FFF2-40B4-BE49-F238E27FC236}">
                      <a16:creationId xmlns:a16="http://schemas.microsoft.com/office/drawing/2014/main" id="{036048DD-8DC1-1A0E-E18C-D02A72688027}"/>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4" name="AutoShape 11">
                  <a:extLst>
                    <a:ext uri="{FF2B5EF4-FFF2-40B4-BE49-F238E27FC236}">
                      <a16:creationId xmlns:a16="http://schemas.microsoft.com/office/drawing/2014/main" id="{E438935C-2120-A63B-3ABF-0DC2E5D2E100}"/>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5" name="AutoShape 10">
                  <a:extLst>
                    <a:ext uri="{FF2B5EF4-FFF2-40B4-BE49-F238E27FC236}">
                      <a16:creationId xmlns:a16="http://schemas.microsoft.com/office/drawing/2014/main" id="{BFC36A99-ACEC-3200-8079-C0E65BF590CC}"/>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11" name="TextBox 10">
                <a:extLst>
                  <a:ext uri="{FF2B5EF4-FFF2-40B4-BE49-F238E27FC236}">
                    <a16:creationId xmlns:a16="http://schemas.microsoft.com/office/drawing/2014/main" id="{C0508D28-5452-39E6-2E3D-78131EB41070}"/>
                  </a:ext>
                </a:extLst>
              </p:cNvPr>
              <p:cNvSpPr txBox="1"/>
              <p:nvPr/>
            </p:nvSpPr>
            <p:spPr>
              <a:xfrm>
                <a:off x="219045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TAKT Time vs. Process Time</a:t>
                </a:r>
              </a:p>
            </p:txBody>
          </p:sp>
        </p:grpSp>
      </p:grpSp>
      <p:grpSp>
        <p:nvGrpSpPr>
          <p:cNvPr id="76" name="Group 27">
            <a:extLst>
              <a:ext uri="{FF2B5EF4-FFF2-40B4-BE49-F238E27FC236}">
                <a16:creationId xmlns:a16="http://schemas.microsoft.com/office/drawing/2014/main" id="{3CC227DD-5EF1-791C-8115-916B5F8F520E}"/>
              </a:ext>
            </a:extLst>
          </p:cNvPr>
          <p:cNvGrpSpPr>
            <a:grpSpLocks/>
          </p:cNvGrpSpPr>
          <p:nvPr/>
        </p:nvGrpSpPr>
        <p:grpSpPr bwMode="auto">
          <a:xfrm>
            <a:off x="1479550" y="2673054"/>
            <a:ext cx="4133049" cy="3545689"/>
            <a:chOff x="1479550" y="2077309"/>
            <a:chExt cx="3618821" cy="4153996"/>
          </a:xfrm>
        </p:grpSpPr>
        <p:sp>
          <p:nvSpPr>
            <p:cNvPr id="77" name="Line 14">
              <a:extLst>
                <a:ext uri="{FF2B5EF4-FFF2-40B4-BE49-F238E27FC236}">
                  <a16:creationId xmlns:a16="http://schemas.microsoft.com/office/drawing/2014/main" id="{7C5AAC09-84FD-79CC-4273-4BCD29400AE6}"/>
                </a:ext>
              </a:extLst>
            </p:cNvPr>
            <p:cNvSpPr>
              <a:spLocks noChangeShapeType="1"/>
            </p:cNvSpPr>
            <p:nvPr/>
          </p:nvSpPr>
          <p:spPr bwMode="auto">
            <a:xfrm>
              <a:off x="3344779" y="3092116"/>
              <a:ext cx="975638" cy="1087290"/>
            </a:xfrm>
            <a:prstGeom prst="line">
              <a:avLst/>
            </a:prstGeom>
            <a:noFill/>
            <a:ln w="9525">
              <a:solidFill>
                <a:schemeClr val="tx1"/>
              </a:solidFill>
              <a:round/>
              <a:headEnd type="triangle" w="lg" len="lg"/>
              <a:tailEnd type="triangle" w="lg" len="lg"/>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78" name="Line 15">
              <a:extLst>
                <a:ext uri="{FF2B5EF4-FFF2-40B4-BE49-F238E27FC236}">
                  <a16:creationId xmlns:a16="http://schemas.microsoft.com/office/drawing/2014/main" id="{E7267DA8-90C8-BE1B-10D8-245552425485}"/>
                </a:ext>
              </a:extLst>
            </p:cNvPr>
            <p:cNvSpPr>
              <a:spLocks noChangeShapeType="1"/>
            </p:cNvSpPr>
            <p:nvPr/>
          </p:nvSpPr>
          <p:spPr bwMode="auto">
            <a:xfrm flipV="1">
              <a:off x="3057044" y="4668252"/>
              <a:ext cx="1093851" cy="899067"/>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79" name="Line 16">
              <a:extLst>
                <a:ext uri="{FF2B5EF4-FFF2-40B4-BE49-F238E27FC236}">
                  <a16:creationId xmlns:a16="http://schemas.microsoft.com/office/drawing/2014/main" id="{70BC1DA1-9284-AA5D-7B6C-54C363CE0904}"/>
                </a:ext>
              </a:extLst>
            </p:cNvPr>
            <p:cNvSpPr>
              <a:spLocks noChangeShapeType="1"/>
            </p:cNvSpPr>
            <p:nvPr/>
          </p:nvSpPr>
          <p:spPr bwMode="auto">
            <a:xfrm rot="-180000">
              <a:off x="1479550" y="3027796"/>
              <a:ext cx="1293233" cy="61105"/>
            </a:xfrm>
            <a:prstGeom prst="line">
              <a:avLst/>
            </a:prstGeom>
            <a:noFill/>
            <a:ln w="9525">
              <a:solidFill>
                <a:schemeClr val="tx1"/>
              </a:solidFill>
              <a:round/>
              <a:headEnd type="triangle" w="lg" len="lg"/>
              <a:tailEnd type="triangle" w="med" len="me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nvGrpSpPr>
            <p:cNvPr id="80" name="Group 36">
              <a:extLst>
                <a:ext uri="{FF2B5EF4-FFF2-40B4-BE49-F238E27FC236}">
                  <a16:creationId xmlns:a16="http://schemas.microsoft.com/office/drawing/2014/main" id="{4143EA53-35F5-B9F4-D6B7-04931B044CBE}"/>
                </a:ext>
              </a:extLst>
            </p:cNvPr>
            <p:cNvGrpSpPr>
              <a:grpSpLocks/>
            </p:cNvGrpSpPr>
            <p:nvPr/>
          </p:nvGrpSpPr>
          <p:grpSpPr bwMode="auto">
            <a:xfrm>
              <a:off x="1710963" y="3646906"/>
              <a:ext cx="568518" cy="1115288"/>
              <a:chOff x="3808" y="2227"/>
              <a:chExt cx="368" cy="1164"/>
            </a:xfrm>
          </p:grpSpPr>
          <p:sp>
            <p:nvSpPr>
              <p:cNvPr id="88" name="Freeform 37">
                <a:extLst>
                  <a:ext uri="{FF2B5EF4-FFF2-40B4-BE49-F238E27FC236}">
                    <a16:creationId xmlns:a16="http://schemas.microsoft.com/office/drawing/2014/main" id="{A87963A5-3A53-8082-DD6F-126C778161B3}"/>
                  </a:ext>
                </a:extLst>
              </p:cNvPr>
              <p:cNvSpPr>
                <a:spLocks/>
              </p:cNvSpPr>
              <p:nvPr/>
            </p:nvSpPr>
            <p:spPr bwMode="auto">
              <a:xfrm>
                <a:off x="3808" y="2429"/>
                <a:ext cx="368" cy="962"/>
              </a:xfrm>
              <a:custGeom>
                <a:avLst/>
                <a:gdLst>
                  <a:gd name="T0" fmla="*/ 93 w 386"/>
                  <a:gd name="T1" fmla="*/ 0 h 902"/>
                  <a:gd name="T2" fmla="*/ 138 w 386"/>
                  <a:gd name="T3" fmla="*/ 0 h 902"/>
                  <a:gd name="T4" fmla="*/ 146 w 386"/>
                  <a:gd name="T5" fmla="*/ 0 h 902"/>
                  <a:gd name="T6" fmla="*/ 157 w 386"/>
                  <a:gd name="T7" fmla="*/ 0 h 902"/>
                  <a:gd name="T8" fmla="*/ 167 w 386"/>
                  <a:gd name="T9" fmla="*/ 7 h 902"/>
                  <a:gd name="T10" fmla="*/ 184 w 386"/>
                  <a:gd name="T11" fmla="*/ 75 h 902"/>
                  <a:gd name="T12" fmla="*/ 197 w 386"/>
                  <a:gd name="T13" fmla="*/ 306 h 902"/>
                  <a:gd name="T14" fmla="*/ 197 w 386"/>
                  <a:gd name="T15" fmla="*/ 327 h 902"/>
                  <a:gd name="T16" fmla="*/ 197 w 386"/>
                  <a:gd name="T17" fmla="*/ 972 h 902"/>
                  <a:gd name="T18" fmla="*/ 197 w 386"/>
                  <a:gd name="T19" fmla="*/ 977 h 902"/>
                  <a:gd name="T20" fmla="*/ 193 w 386"/>
                  <a:gd name="T21" fmla="*/ 1042 h 902"/>
                  <a:gd name="T22" fmla="*/ 177 w 386"/>
                  <a:gd name="T23" fmla="*/ 1076 h 902"/>
                  <a:gd name="T24" fmla="*/ 163 w 386"/>
                  <a:gd name="T25" fmla="*/ 1036 h 902"/>
                  <a:gd name="T26" fmla="*/ 160 w 386"/>
                  <a:gd name="T27" fmla="*/ 977 h 902"/>
                  <a:gd name="T28" fmla="*/ 160 w 386"/>
                  <a:gd name="T29" fmla="*/ 968 h 902"/>
                  <a:gd name="T30" fmla="*/ 160 w 386"/>
                  <a:gd name="T31" fmla="*/ 378 h 902"/>
                  <a:gd name="T32" fmla="*/ 151 w 386"/>
                  <a:gd name="T33" fmla="*/ 378 h 902"/>
                  <a:gd name="T34" fmla="*/ 151 w 386"/>
                  <a:gd name="T35" fmla="*/ 2038 h 902"/>
                  <a:gd name="T36" fmla="*/ 151 w 386"/>
                  <a:gd name="T37" fmla="*/ 2073 h 902"/>
                  <a:gd name="T38" fmla="*/ 146 w 386"/>
                  <a:gd name="T39" fmla="*/ 2160 h 902"/>
                  <a:gd name="T40" fmla="*/ 128 w 386"/>
                  <a:gd name="T41" fmla="*/ 2220 h 902"/>
                  <a:gd name="T42" fmla="*/ 112 w 386"/>
                  <a:gd name="T43" fmla="*/ 2185 h 902"/>
                  <a:gd name="T44" fmla="*/ 106 w 386"/>
                  <a:gd name="T45" fmla="*/ 2075 h 902"/>
                  <a:gd name="T46" fmla="*/ 106 w 386"/>
                  <a:gd name="T47" fmla="*/ 2041 h 902"/>
                  <a:gd name="T48" fmla="*/ 106 w 386"/>
                  <a:gd name="T49" fmla="*/ 1071 h 902"/>
                  <a:gd name="T50" fmla="*/ 97 w 386"/>
                  <a:gd name="T51" fmla="*/ 1065 h 902"/>
                  <a:gd name="T52" fmla="*/ 100 w 386"/>
                  <a:gd name="T53" fmla="*/ 1065 h 902"/>
                  <a:gd name="T54" fmla="*/ 90 w 386"/>
                  <a:gd name="T55" fmla="*/ 1071 h 902"/>
                  <a:gd name="T56" fmla="*/ 90 w 386"/>
                  <a:gd name="T57" fmla="*/ 2041 h 902"/>
                  <a:gd name="T58" fmla="*/ 90 w 386"/>
                  <a:gd name="T59" fmla="*/ 2075 h 902"/>
                  <a:gd name="T60" fmla="*/ 88 w 386"/>
                  <a:gd name="T61" fmla="*/ 2141 h 902"/>
                  <a:gd name="T62" fmla="*/ 85 w 386"/>
                  <a:gd name="T63" fmla="*/ 2185 h 902"/>
                  <a:gd name="T64" fmla="*/ 69 w 386"/>
                  <a:gd name="T65" fmla="*/ 2220 h 902"/>
                  <a:gd name="T66" fmla="*/ 51 w 386"/>
                  <a:gd name="T67" fmla="*/ 2170 h 902"/>
                  <a:gd name="T68" fmla="*/ 47 w 386"/>
                  <a:gd name="T69" fmla="*/ 2073 h 902"/>
                  <a:gd name="T70" fmla="*/ 47 w 386"/>
                  <a:gd name="T71" fmla="*/ 2038 h 902"/>
                  <a:gd name="T72" fmla="*/ 47 w 386"/>
                  <a:gd name="T73" fmla="*/ 378 h 902"/>
                  <a:gd name="T74" fmla="*/ 36 w 386"/>
                  <a:gd name="T75" fmla="*/ 378 h 902"/>
                  <a:gd name="T76" fmla="*/ 36 w 386"/>
                  <a:gd name="T77" fmla="*/ 968 h 902"/>
                  <a:gd name="T78" fmla="*/ 36 w 386"/>
                  <a:gd name="T79" fmla="*/ 977 h 902"/>
                  <a:gd name="T80" fmla="*/ 33 w 386"/>
                  <a:gd name="T81" fmla="*/ 1032 h 902"/>
                  <a:gd name="T82" fmla="*/ 29 w 386"/>
                  <a:gd name="T83" fmla="*/ 1062 h 902"/>
                  <a:gd name="T84" fmla="*/ 20 w 386"/>
                  <a:gd name="T85" fmla="*/ 1076 h 902"/>
                  <a:gd name="T86" fmla="*/ 9 w 386"/>
                  <a:gd name="T87" fmla="*/ 1042 h 902"/>
                  <a:gd name="T88" fmla="*/ 0 w 386"/>
                  <a:gd name="T89" fmla="*/ 977 h 902"/>
                  <a:gd name="T90" fmla="*/ 0 w 386"/>
                  <a:gd name="T91" fmla="*/ 972 h 902"/>
                  <a:gd name="T92" fmla="*/ 0 w 386"/>
                  <a:gd name="T93" fmla="*/ 327 h 902"/>
                  <a:gd name="T94" fmla="*/ 0 w 386"/>
                  <a:gd name="T95" fmla="*/ 306 h 902"/>
                  <a:gd name="T96" fmla="*/ 13 w 386"/>
                  <a:gd name="T97" fmla="*/ 79 h 902"/>
                  <a:gd name="T98" fmla="*/ 30 w 386"/>
                  <a:gd name="T99" fmla="*/ 7 h 902"/>
                  <a:gd name="T100" fmla="*/ 40 w 386"/>
                  <a:gd name="T101" fmla="*/ 1 h 902"/>
                  <a:gd name="T102" fmla="*/ 51 w 386"/>
                  <a:gd name="T103" fmla="*/ 0 h 902"/>
                  <a:gd name="T104" fmla="*/ 60 w 386"/>
                  <a:gd name="T105" fmla="*/ 0 h 902"/>
                  <a:gd name="T106" fmla="*/ 104 w 386"/>
                  <a:gd name="T107" fmla="*/ 0 h 902"/>
                  <a:gd name="T108" fmla="*/ 93 w 386"/>
                  <a:gd name="T109" fmla="*/ 0 h 90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386"/>
                  <a:gd name="T166" fmla="*/ 0 h 902"/>
                  <a:gd name="T167" fmla="*/ 386 w 386"/>
                  <a:gd name="T168" fmla="*/ 902 h 902"/>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386" h="902">
                    <a:moveTo>
                      <a:pt x="183" y="0"/>
                    </a:moveTo>
                    <a:lnTo>
                      <a:pt x="269" y="0"/>
                    </a:lnTo>
                    <a:lnTo>
                      <a:pt x="283" y="0"/>
                    </a:lnTo>
                    <a:lnTo>
                      <a:pt x="306" y="0"/>
                    </a:lnTo>
                    <a:lnTo>
                      <a:pt x="326" y="7"/>
                    </a:lnTo>
                    <a:lnTo>
                      <a:pt x="357" y="31"/>
                    </a:lnTo>
                    <a:lnTo>
                      <a:pt x="385" y="124"/>
                    </a:lnTo>
                    <a:lnTo>
                      <a:pt x="385" y="133"/>
                    </a:lnTo>
                    <a:lnTo>
                      <a:pt x="385" y="394"/>
                    </a:lnTo>
                    <a:lnTo>
                      <a:pt x="385" y="398"/>
                    </a:lnTo>
                    <a:lnTo>
                      <a:pt x="377" y="424"/>
                    </a:lnTo>
                    <a:lnTo>
                      <a:pt x="347" y="436"/>
                    </a:lnTo>
                    <a:lnTo>
                      <a:pt x="318" y="419"/>
                    </a:lnTo>
                    <a:lnTo>
                      <a:pt x="314" y="398"/>
                    </a:lnTo>
                    <a:lnTo>
                      <a:pt x="313" y="392"/>
                    </a:lnTo>
                    <a:lnTo>
                      <a:pt x="313" y="154"/>
                    </a:lnTo>
                    <a:lnTo>
                      <a:pt x="294" y="154"/>
                    </a:lnTo>
                    <a:lnTo>
                      <a:pt x="294" y="827"/>
                    </a:lnTo>
                    <a:lnTo>
                      <a:pt x="294" y="841"/>
                    </a:lnTo>
                    <a:lnTo>
                      <a:pt x="287" y="878"/>
                    </a:lnTo>
                    <a:lnTo>
                      <a:pt x="251" y="901"/>
                    </a:lnTo>
                    <a:lnTo>
                      <a:pt x="219" y="887"/>
                    </a:lnTo>
                    <a:lnTo>
                      <a:pt x="207" y="842"/>
                    </a:lnTo>
                    <a:lnTo>
                      <a:pt x="207" y="829"/>
                    </a:lnTo>
                    <a:lnTo>
                      <a:pt x="207" y="434"/>
                    </a:lnTo>
                    <a:lnTo>
                      <a:pt x="189" y="433"/>
                    </a:lnTo>
                    <a:lnTo>
                      <a:pt x="195" y="433"/>
                    </a:lnTo>
                    <a:lnTo>
                      <a:pt x="175" y="434"/>
                    </a:lnTo>
                    <a:lnTo>
                      <a:pt x="175" y="829"/>
                    </a:lnTo>
                    <a:lnTo>
                      <a:pt x="175" y="842"/>
                    </a:lnTo>
                    <a:lnTo>
                      <a:pt x="173" y="868"/>
                    </a:lnTo>
                    <a:lnTo>
                      <a:pt x="166" y="887"/>
                    </a:lnTo>
                    <a:lnTo>
                      <a:pt x="133" y="901"/>
                    </a:lnTo>
                    <a:lnTo>
                      <a:pt x="99" y="880"/>
                    </a:lnTo>
                    <a:lnTo>
                      <a:pt x="91" y="841"/>
                    </a:lnTo>
                    <a:lnTo>
                      <a:pt x="91" y="827"/>
                    </a:lnTo>
                    <a:lnTo>
                      <a:pt x="91" y="154"/>
                    </a:lnTo>
                    <a:lnTo>
                      <a:pt x="70" y="154"/>
                    </a:lnTo>
                    <a:lnTo>
                      <a:pt x="70" y="392"/>
                    </a:lnTo>
                    <a:lnTo>
                      <a:pt x="70" y="398"/>
                    </a:lnTo>
                    <a:lnTo>
                      <a:pt x="66" y="418"/>
                    </a:lnTo>
                    <a:lnTo>
                      <a:pt x="57" y="430"/>
                    </a:lnTo>
                    <a:lnTo>
                      <a:pt x="37" y="436"/>
                    </a:lnTo>
                    <a:lnTo>
                      <a:pt x="9" y="424"/>
                    </a:lnTo>
                    <a:lnTo>
                      <a:pt x="0" y="398"/>
                    </a:lnTo>
                    <a:lnTo>
                      <a:pt x="0" y="394"/>
                    </a:lnTo>
                    <a:lnTo>
                      <a:pt x="0" y="133"/>
                    </a:lnTo>
                    <a:lnTo>
                      <a:pt x="0" y="124"/>
                    </a:lnTo>
                    <a:lnTo>
                      <a:pt x="27" y="32"/>
                    </a:lnTo>
                    <a:lnTo>
                      <a:pt x="58" y="7"/>
                    </a:lnTo>
                    <a:lnTo>
                      <a:pt x="77" y="1"/>
                    </a:lnTo>
                    <a:lnTo>
                      <a:pt x="101" y="0"/>
                    </a:lnTo>
                    <a:lnTo>
                      <a:pt x="117" y="0"/>
                    </a:lnTo>
                    <a:lnTo>
                      <a:pt x="202" y="0"/>
                    </a:lnTo>
                    <a:lnTo>
                      <a:pt x="183" y="0"/>
                    </a:lnTo>
                  </a:path>
                </a:pathLst>
              </a:custGeom>
              <a:solidFill>
                <a:schemeClr val="accent4"/>
              </a:solidFill>
              <a:ln w="3175" cap="rnd">
                <a:solidFill>
                  <a:schemeClr val="tx1"/>
                </a:solidFill>
                <a:round/>
                <a:headEnd/>
                <a:tailEnd/>
              </a:ln>
            </p:spPr>
            <p:txBody>
              <a:bodyPr/>
              <a:lstStyle/>
              <a:p>
                <a:endParaRPr lang="en-US">
                  <a:latin typeface="Roboto" panose="02000000000000000000" pitchFamily="2" charset="0"/>
                  <a:ea typeface="Roboto" panose="02000000000000000000" pitchFamily="2" charset="0"/>
                </a:endParaRPr>
              </a:p>
            </p:txBody>
          </p:sp>
          <p:sp>
            <p:nvSpPr>
              <p:cNvPr id="89" name="Oval 38">
                <a:extLst>
                  <a:ext uri="{FF2B5EF4-FFF2-40B4-BE49-F238E27FC236}">
                    <a16:creationId xmlns:a16="http://schemas.microsoft.com/office/drawing/2014/main" id="{424A23CB-C647-CB9A-3DEE-0F682FBA912D}"/>
                  </a:ext>
                </a:extLst>
              </p:cNvPr>
              <p:cNvSpPr>
                <a:spLocks noChangeArrowheads="1"/>
              </p:cNvSpPr>
              <p:nvPr/>
            </p:nvSpPr>
            <p:spPr bwMode="auto">
              <a:xfrm>
                <a:off x="3927" y="2227"/>
                <a:ext cx="128" cy="157"/>
              </a:xfrm>
              <a:prstGeom prst="ellipse">
                <a:avLst/>
              </a:prstGeom>
              <a:solidFill>
                <a:schemeClr val="accent4"/>
              </a:solidFill>
              <a:ln w="3175">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grpSp>
        <p:sp>
          <p:nvSpPr>
            <p:cNvPr id="81" name="Line 16">
              <a:extLst>
                <a:ext uri="{FF2B5EF4-FFF2-40B4-BE49-F238E27FC236}">
                  <a16:creationId xmlns:a16="http://schemas.microsoft.com/office/drawing/2014/main" id="{46B4121C-C10D-17C9-7091-139C01DD5F85}"/>
                </a:ext>
              </a:extLst>
            </p:cNvPr>
            <p:cNvSpPr>
              <a:spLocks noChangeShapeType="1"/>
            </p:cNvSpPr>
            <p:nvPr/>
          </p:nvSpPr>
          <p:spPr bwMode="auto">
            <a:xfrm rot="10620000">
              <a:off x="1554847" y="5364888"/>
              <a:ext cx="743180" cy="45719"/>
            </a:xfrm>
            <a:prstGeom prst="line">
              <a:avLst/>
            </a:prstGeom>
            <a:noFill/>
            <a:ln w="9525">
              <a:solidFill>
                <a:schemeClr val="tx1"/>
              </a:solidFill>
              <a:round/>
              <a:headEnd type="triangle" w="lg" len="lg"/>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pic>
          <p:nvPicPr>
            <p:cNvPr id="82" name="Picture 2" descr="C:\Program Files\Microsoft Office\MEDIA\CAGCAT10\j0285750.wmf">
              <a:extLst>
                <a:ext uri="{FF2B5EF4-FFF2-40B4-BE49-F238E27FC236}">
                  <a16:creationId xmlns:a16="http://schemas.microsoft.com/office/drawing/2014/main" id="{F434A79B-05A5-5791-7A9B-BDE2CBA3EE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12570" y="5077828"/>
              <a:ext cx="990600" cy="608013"/>
            </a:xfrm>
            <a:prstGeom prst="rect">
              <a:avLst/>
            </a:prstGeom>
            <a:solidFill>
              <a:schemeClr val="bg1"/>
            </a:solidFill>
            <a:ln w="19050">
              <a:solidFill>
                <a:schemeClr val="tx1"/>
              </a:solidFill>
              <a:miter lim="800000"/>
              <a:headEnd/>
              <a:tailEnd/>
            </a:ln>
          </p:spPr>
        </p:pic>
        <p:pic>
          <p:nvPicPr>
            <p:cNvPr id="83" name="Picture 3" descr="C:\Users\Glenn\AppData\Local\Microsoft\Windows\Temporary Internet Files\Content.IE5\WSVMTVN1\MCj04339060000[1].png">
              <a:extLst>
                <a:ext uri="{FF2B5EF4-FFF2-40B4-BE49-F238E27FC236}">
                  <a16:creationId xmlns:a16="http://schemas.microsoft.com/office/drawing/2014/main" id="{008C6FA1-690B-8DC5-8AE7-F4E8FEAFEE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63377" y="3705225"/>
              <a:ext cx="965200" cy="966788"/>
            </a:xfrm>
            <a:prstGeom prst="rect">
              <a:avLst/>
            </a:prstGeom>
            <a:solidFill>
              <a:schemeClr val="bg1"/>
            </a:solidFill>
            <a:ln w="19050">
              <a:solidFill>
                <a:schemeClr val="tx1"/>
              </a:solidFill>
              <a:miter lim="800000"/>
              <a:headEnd/>
              <a:tailEnd/>
            </a:ln>
          </p:spPr>
        </p:pic>
        <p:pic>
          <p:nvPicPr>
            <p:cNvPr id="84" name="Picture 5" descr="C:\Users\Glenn\AppData\Local\Microsoft\Windows\Temporary Internet Files\Content.IE5\5OVT9OZR\MPj04229540000[1].jpg">
              <a:extLst>
                <a:ext uri="{FF2B5EF4-FFF2-40B4-BE49-F238E27FC236}">
                  <a16:creationId xmlns:a16="http://schemas.microsoft.com/office/drawing/2014/main" id="{A6AF4D17-34ED-1667-8B8C-DC15EC9F206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b="16055"/>
            <a:stretch>
              <a:fillRect/>
            </a:stretch>
          </p:blipFill>
          <p:spPr bwMode="auto">
            <a:xfrm>
              <a:off x="2490537" y="2575176"/>
              <a:ext cx="855746" cy="938045"/>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85" name="TextBox 84">
              <a:extLst>
                <a:ext uri="{FF2B5EF4-FFF2-40B4-BE49-F238E27FC236}">
                  <a16:creationId xmlns:a16="http://schemas.microsoft.com/office/drawing/2014/main" id="{93E05256-791B-0DA9-3059-ABA1387568E0}"/>
                </a:ext>
              </a:extLst>
            </p:cNvPr>
            <p:cNvSpPr txBox="1"/>
            <p:nvPr/>
          </p:nvSpPr>
          <p:spPr>
            <a:xfrm>
              <a:off x="2575048" y="5690436"/>
              <a:ext cx="313274" cy="540869"/>
            </a:xfrm>
            <a:prstGeom prst="rect">
              <a:avLst/>
            </a:prstGeom>
            <a:noFill/>
          </p:spPr>
          <p:txBody>
            <a:bodyPr wrap="none">
              <a:spAutoFit/>
            </a:bodyPr>
            <a:lstStyle/>
            <a:p>
              <a:pPr eaLnBrk="1" hangingPunct="1">
                <a:defRPr/>
              </a:pPr>
              <a:r>
                <a:rPr lang="en-US" sz="2400" dirty="0">
                  <a:solidFill>
                    <a:schemeClr val="tx1"/>
                  </a:solidFill>
                  <a:latin typeface="Roboto" panose="02000000000000000000" pitchFamily="2" charset="0"/>
                  <a:ea typeface="Roboto" panose="02000000000000000000" pitchFamily="2" charset="0"/>
                  <a:cs typeface="Arial" pitchFamily="34" charset="0"/>
                </a:rPr>
                <a:t>1</a:t>
              </a:r>
            </a:p>
          </p:txBody>
        </p:sp>
        <p:sp>
          <p:nvSpPr>
            <p:cNvPr id="86" name="TextBox 85">
              <a:extLst>
                <a:ext uri="{FF2B5EF4-FFF2-40B4-BE49-F238E27FC236}">
                  <a16:creationId xmlns:a16="http://schemas.microsoft.com/office/drawing/2014/main" id="{2CDE8821-6479-B0B9-B609-E96AF4172333}"/>
                </a:ext>
              </a:extLst>
            </p:cNvPr>
            <p:cNvSpPr txBox="1"/>
            <p:nvPr/>
          </p:nvSpPr>
          <p:spPr>
            <a:xfrm>
              <a:off x="4785097" y="3941842"/>
              <a:ext cx="313274" cy="540869"/>
            </a:xfrm>
            <a:prstGeom prst="rect">
              <a:avLst/>
            </a:prstGeom>
            <a:noFill/>
          </p:spPr>
          <p:txBody>
            <a:bodyPr wrap="none">
              <a:spAutoFit/>
            </a:bodyPr>
            <a:lstStyle/>
            <a:p>
              <a:pPr eaLnBrk="1" hangingPunct="1">
                <a:defRPr/>
              </a:pPr>
              <a:r>
                <a:rPr lang="en-US" sz="2400" dirty="0">
                  <a:solidFill>
                    <a:schemeClr val="tx1"/>
                  </a:solidFill>
                  <a:latin typeface="Roboto" panose="02000000000000000000" pitchFamily="2" charset="0"/>
                  <a:ea typeface="Roboto" panose="02000000000000000000" pitchFamily="2" charset="0"/>
                  <a:cs typeface="Arial" pitchFamily="34" charset="0"/>
                </a:rPr>
                <a:t>2</a:t>
              </a:r>
            </a:p>
          </p:txBody>
        </p:sp>
        <p:sp>
          <p:nvSpPr>
            <p:cNvPr id="87" name="TextBox 86">
              <a:extLst>
                <a:ext uri="{FF2B5EF4-FFF2-40B4-BE49-F238E27FC236}">
                  <a16:creationId xmlns:a16="http://schemas.microsoft.com/office/drawing/2014/main" id="{BC9DE504-7EE9-1908-1184-F26CDEEB5578}"/>
                </a:ext>
              </a:extLst>
            </p:cNvPr>
            <p:cNvSpPr txBox="1"/>
            <p:nvPr/>
          </p:nvSpPr>
          <p:spPr>
            <a:xfrm>
              <a:off x="2738580" y="2077309"/>
              <a:ext cx="313274" cy="540869"/>
            </a:xfrm>
            <a:prstGeom prst="rect">
              <a:avLst/>
            </a:prstGeom>
            <a:noFill/>
          </p:spPr>
          <p:txBody>
            <a:bodyPr wrap="none">
              <a:spAutoFit/>
            </a:bodyPr>
            <a:lstStyle/>
            <a:p>
              <a:pPr eaLnBrk="1" hangingPunct="1">
                <a:defRPr/>
              </a:pPr>
              <a:r>
                <a:rPr lang="en-US" sz="2400" dirty="0">
                  <a:solidFill>
                    <a:schemeClr val="tx1"/>
                  </a:solidFill>
                  <a:latin typeface="Roboto" panose="02000000000000000000" pitchFamily="2" charset="0"/>
                  <a:ea typeface="Roboto" panose="02000000000000000000" pitchFamily="2" charset="0"/>
                  <a:cs typeface="Arial" pitchFamily="34" charset="0"/>
                </a:rPr>
                <a:t>3</a:t>
              </a:r>
            </a:p>
          </p:txBody>
        </p:sp>
      </p:grpSp>
    </p:spTree>
    <p:extLst>
      <p:ext uri="{BB962C8B-B14F-4D97-AF65-F5344CB8AC3E}">
        <p14:creationId xmlns:p14="http://schemas.microsoft.com/office/powerpoint/2010/main" val="4151387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lstStyle/>
          <a:p>
            <a:r>
              <a:rPr lang="en-US" dirty="0"/>
              <a:t>Equipment Process Time Defined</a:t>
            </a:r>
          </a:p>
        </p:txBody>
      </p:sp>
      <p:sp>
        <p:nvSpPr>
          <p:cNvPr id="5" name="Text Placeholder 4">
            <a:extLst>
              <a:ext uri="{FF2B5EF4-FFF2-40B4-BE49-F238E27FC236}">
                <a16:creationId xmlns:a16="http://schemas.microsoft.com/office/drawing/2014/main" id="{D97C3043-C5C3-113A-8520-6B843B812614}"/>
              </a:ext>
            </a:extLst>
          </p:cNvPr>
          <p:cNvSpPr>
            <a:spLocks noGrp="1"/>
          </p:cNvSpPr>
          <p:nvPr>
            <p:ph type="body" sz="quarter" idx="3"/>
          </p:nvPr>
        </p:nvSpPr>
        <p:spPr>
          <a:xfrm>
            <a:off x="838200" y="1769915"/>
            <a:ext cx="5183188" cy="823912"/>
          </a:xfrm>
        </p:spPr>
        <p:txBody>
          <a:bodyPr>
            <a:normAutofit/>
          </a:bodyPr>
          <a:lstStyle/>
          <a:p>
            <a:r>
              <a:rPr lang="en-US" dirty="0"/>
              <a:t>Traditional Batch Processing</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a:xfrm>
            <a:off x="6531016" y="2505075"/>
            <a:ext cx="5183188" cy="3684588"/>
          </a:xfrm>
        </p:spPr>
        <p:txBody>
          <a:bodyPr>
            <a:normAutofit/>
          </a:bodyPr>
          <a:lstStyle/>
          <a:p>
            <a:r>
              <a:rPr lang="en-US" dirty="0"/>
              <a:t>Defined as the amount of time it takes a </a:t>
            </a:r>
            <a:r>
              <a:rPr lang="en-US" u="sng" dirty="0"/>
              <a:t>piece of equipment</a:t>
            </a:r>
            <a:r>
              <a:rPr lang="en-US" dirty="0"/>
              <a:t> to completely finish one full process (start/stop time)</a:t>
            </a:r>
          </a:p>
          <a:p>
            <a:r>
              <a:rPr lang="en-US" dirty="0"/>
              <a:t>Has nothing to do with the actual hands on work of the Associate</a:t>
            </a:r>
          </a:p>
          <a:p>
            <a:endParaRPr lang="en-US" dirty="0"/>
          </a:p>
          <a:p>
            <a:endParaRPr lang="en-US" dirty="0"/>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22</a:t>
            </a:fld>
            <a:endParaRPr lang="en-US"/>
          </a:p>
        </p:txBody>
      </p:sp>
      <p:sp>
        <p:nvSpPr>
          <p:cNvPr id="10" name="AutoShape 4">
            <a:extLst>
              <a:ext uri="{FF2B5EF4-FFF2-40B4-BE49-F238E27FC236}">
                <a16:creationId xmlns:a16="http://schemas.microsoft.com/office/drawing/2014/main" id="{B4A873BF-8708-C6AE-A2C9-7B745CE1A065}"/>
              </a:ext>
            </a:extLst>
          </p:cNvPr>
          <p:cNvSpPr>
            <a:spLocks noChangeArrowheads="1"/>
          </p:cNvSpPr>
          <p:nvPr/>
        </p:nvSpPr>
        <p:spPr bwMode="auto">
          <a:xfrm>
            <a:off x="6076970" y="2505075"/>
            <a:ext cx="285750" cy="2493962"/>
          </a:xfrm>
          <a:prstGeom prst="rightArrow">
            <a:avLst>
              <a:gd name="adj1" fmla="val 67278"/>
              <a:gd name="adj2" fmla="val 72222"/>
            </a:avLst>
          </a:prstGeom>
          <a:solidFill>
            <a:schemeClr val="accent1"/>
          </a:solidFill>
          <a:ln w="1905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endParaRPr>
          </a:p>
        </p:txBody>
      </p:sp>
      <p:grpSp>
        <p:nvGrpSpPr>
          <p:cNvPr id="3" name="Group 2">
            <a:extLst>
              <a:ext uri="{FF2B5EF4-FFF2-40B4-BE49-F238E27FC236}">
                <a16:creationId xmlns:a16="http://schemas.microsoft.com/office/drawing/2014/main" id="{7F73BD49-C7C2-30B0-C6DB-E4A84362E7FC}"/>
              </a:ext>
            </a:extLst>
          </p:cNvPr>
          <p:cNvGrpSpPr/>
          <p:nvPr/>
        </p:nvGrpSpPr>
        <p:grpSpPr>
          <a:xfrm>
            <a:off x="838200" y="297639"/>
            <a:ext cx="4220210" cy="301303"/>
            <a:chOff x="838200" y="297639"/>
            <a:chExt cx="4220210" cy="301303"/>
          </a:xfrm>
        </p:grpSpPr>
        <p:sp>
          <p:nvSpPr>
            <p:cNvPr id="4" name="AutoShape 9">
              <a:extLst>
                <a:ext uri="{FF2B5EF4-FFF2-40B4-BE49-F238E27FC236}">
                  <a16:creationId xmlns:a16="http://schemas.microsoft.com/office/drawing/2014/main" id="{8320119E-92C1-826A-855D-D0D0123EA3D0}"/>
                </a:ext>
              </a:extLst>
            </p:cNvPr>
            <p:cNvSpPr>
              <a:spLocks noChangeArrowheads="1"/>
            </p:cNvSpPr>
            <p:nvPr/>
          </p:nvSpPr>
          <p:spPr bwMode="auto">
            <a:xfrm>
              <a:off x="1779225" y="298454"/>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7" name="Group 6">
              <a:extLst>
                <a:ext uri="{FF2B5EF4-FFF2-40B4-BE49-F238E27FC236}">
                  <a16:creationId xmlns:a16="http://schemas.microsoft.com/office/drawing/2014/main" id="{04665EBD-CE25-125F-ECEF-7FE29A68F024}"/>
                </a:ext>
              </a:extLst>
            </p:cNvPr>
            <p:cNvGrpSpPr/>
            <p:nvPr/>
          </p:nvGrpSpPr>
          <p:grpSpPr>
            <a:xfrm>
              <a:off x="838200" y="297639"/>
              <a:ext cx="4220210" cy="301303"/>
              <a:chOff x="838200" y="297639"/>
              <a:chExt cx="4220210" cy="301303"/>
            </a:xfrm>
          </p:grpSpPr>
          <p:grpSp>
            <p:nvGrpSpPr>
              <p:cNvPr id="9" name="Group 8">
                <a:extLst>
                  <a:ext uri="{FF2B5EF4-FFF2-40B4-BE49-F238E27FC236}">
                    <a16:creationId xmlns:a16="http://schemas.microsoft.com/office/drawing/2014/main" id="{A167AE2E-68EE-39AC-73E0-C9B2F31D6C09}"/>
                  </a:ext>
                </a:extLst>
              </p:cNvPr>
              <p:cNvGrpSpPr/>
              <p:nvPr/>
            </p:nvGrpSpPr>
            <p:grpSpPr>
              <a:xfrm>
                <a:off x="838200" y="297639"/>
                <a:ext cx="1060167" cy="290657"/>
                <a:chOff x="826426" y="4041857"/>
                <a:chExt cx="1060167" cy="290657"/>
              </a:xfrm>
            </p:grpSpPr>
            <p:sp>
              <p:nvSpPr>
                <p:cNvPr id="73" name="AutoShape 9">
                  <a:extLst>
                    <a:ext uri="{FF2B5EF4-FFF2-40B4-BE49-F238E27FC236}">
                      <a16:creationId xmlns:a16="http://schemas.microsoft.com/office/drawing/2014/main" id="{036048DD-8DC1-1A0E-E18C-D02A72688027}"/>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4" name="AutoShape 11">
                  <a:extLst>
                    <a:ext uri="{FF2B5EF4-FFF2-40B4-BE49-F238E27FC236}">
                      <a16:creationId xmlns:a16="http://schemas.microsoft.com/office/drawing/2014/main" id="{E438935C-2120-A63B-3ABF-0DC2E5D2E100}"/>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5" name="AutoShape 10">
                  <a:extLst>
                    <a:ext uri="{FF2B5EF4-FFF2-40B4-BE49-F238E27FC236}">
                      <a16:creationId xmlns:a16="http://schemas.microsoft.com/office/drawing/2014/main" id="{BFC36A99-ACEC-3200-8079-C0E65BF590CC}"/>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11" name="TextBox 10">
                <a:extLst>
                  <a:ext uri="{FF2B5EF4-FFF2-40B4-BE49-F238E27FC236}">
                    <a16:creationId xmlns:a16="http://schemas.microsoft.com/office/drawing/2014/main" id="{C0508D28-5452-39E6-2E3D-78131EB41070}"/>
                  </a:ext>
                </a:extLst>
              </p:cNvPr>
              <p:cNvSpPr txBox="1"/>
              <p:nvPr/>
            </p:nvSpPr>
            <p:spPr>
              <a:xfrm>
                <a:off x="219045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TAKT Time vs. Process Time</a:t>
                </a:r>
              </a:p>
            </p:txBody>
          </p:sp>
        </p:grpSp>
      </p:grpSp>
      <p:grpSp>
        <p:nvGrpSpPr>
          <p:cNvPr id="22" name="Group 21">
            <a:extLst>
              <a:ext uri="{FF2B5EF4-FFF2-40B4-BE49-F238E27FC236}">
                <a16:creationId xmlns:a16="http://schemas.microsoft.com/office/drawing/2014/main" id="{020B618E-A618-7671-89E1-6DBA4A24E662}"/>
              </a:ext>
            </a:extLst>
          </p:cNvPr>
          <p:cNvGrpSpPr/>
          <p:nvPr/>
        </p:nvGrpSpPr>
        <p:grpSpPr>
          <a:xfrm>
            <a:off x="1147635" y="2673054"/>
            <a:ext cx="3532822" cy="3220402"/>
            <a:chOff x="376238" y="1900238"/>
            <a:chExt cx="4292600" cy="3841702"/>
          </a:xfrm>
        </p:grpSpPr>
        <p:grpSp>
          <p:nvGrpSpPr>
            <p:cNvPr id="12" name="Group 14">
              <a:extLst>
                <a:ext uri="{FF2B5EF4-FFF2-40B4-BE49-F238E27FC236}">
                  <a16:creationId xmlns:a16="http://schemas.microsoft.com/office/drawing/2014/main" id="{857C0E7C-A85E-466D-34AB-B6E7F57845DC}"/>
                </a:ext>
              </a:extLst>
            </p:cNvPr>
            <p:cNvGrpSpPr>
              <a:grpSpLocks/>
            </p:cNvGrpSpPr>
            <p:nvPr/>
          </p:nvGrpSpPr>
          <p:grpSpPr bwMode="auto">
            <a:xfrm>
              <a:off x="376238" y="1998663"/>
              <a:ext cx="1903412" cy="1643062"/>
              <a:chOff x="256" y="2304"/>
              <a:chExt cx="1849" cy="1452"/>
            </a:xfrm>
          </p:grpSpPr>
          <p:sp>
            <p:nvSpPr>
              <p:cNvPr id="13" name="Oval 15">
                <a:extLst>
                  <a:ext uri="{FF2B5EF4-FFF2-40B4-BE49-F238E27FC236}">
                    <a16:creationId xmlns:a16="http://schemas.microsoft.com/office/drawing/2014/main" id="{F422AC39-C4B3-D773-7D90-BBE18EE41711}"/>
                  </a:ext>
                </a:extLst>
              </p:cNvPr>
              <p:cNvSpPr>
                <a:spLocks noChangeArrowheads="1"/>
              </p:cNvSpPr>
              <p:nvPr/>
            </p:nvSpPr>
            <p:spPr bwMode="auto">
              <a:xfrm>
                <a:off x="1091" y="2304"/>
                <a:ext cx="997" cy="816"/>
              </a:xfrm>
              <a:prstGeom prst="ellipse">
                <a:avLst/>
              </a:prstGeom>
              <a:solidFill>
                <a:srgbClr val="008000"/>
              </a:solidFill>
              <a:ln>
                <a:noFill/>
              </a:ln>
              <a:extLst>
                <a:ext uri="{91240B29-F687-4F45-9708-019B960494DF}">
                  <a14:hiddenLine xmlns:a14="http://schemas.microsoft.com/office/drawing/2010/main" w="57150">
                    <a:solidFill>
                      <a:srgbClr val="000000"/>
                    </a:solidFill>
                    <a:round/>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2800">
                    <a:solidFill>
                      <a:schemeClr val="bg1"/>
                    </a:solidFill>
                    <a:latin typeface="Roboto" panose="02000000000000000000" pitchFamily="2" charset="0"/>
                    <a:ea typeface="Roboto" panose="02000000000000000000" pitchFamily="2" charset="0"/>
                  </a:rPr>
                  <a:t>GO</a:t>
                </a:r>
              </a:p>
            </p:txBody>
          </p:sp>
          <p:sp>
            <p:nvSpPr>
              <p:cNvPr id="14" name="Text Box 16">
                <a:extLst>
                  <a:ext uri="{FF2B5EF4-FFF2-40B4-BE49-F238E27FC236}">
                    <a16:creationId xmlns:a16="http://schemas.microsoft.com/office/drawing/2014/main" id="{BD926F25-2D9C-FAC3-D5D5-23D4B6A8D98E}"/>
                  </a:ext>
                </a:extLst>
              </p:cNvPr>
              <p:cNvSpPr txBox="1">
                <a:spLocks noChangeArrowheads="1"/>
              </p:cNvSpPr>
              <p:nvPr/>
            </p:nvSpPr>
            <p:spPr bwMode="auto">
              <a:xfrm>
                <a:off x="256" y="3243"/>
                <a:ext cx="1849" cy="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600">
                    <a:latin typeface="Roboto" panose="02000000000000000000" pitchFamily="2" charset="0"/>
                    <a:ea typeface="Roboto" panose="02000000000000000000" pitchFamily="2" charset="0"/>
                  </a:rPr>
                  <a:t>1. Hit Process Start</a:t>
                </a:r>
              </a:p>
            </p:txBody>
          </p:sp>
        </p:grpSp>
        <p:grpSp>
          <p:nvGrpSpPr>
            <p:cNvPr id="15" name="Group 20">
              <a:extLst>
                <a:ext uri="{FF2B5EF4-FFF2-40B4-BE49-F238E27FC236}">
                  <a16:creationId xmlns:a16="http://schemas.microsoft.com/office/drawing/2014/main" id="{C9C4491F-5F8E-B5F7-C11C-39F3C18A1354}"/>
                </a:ext>
              </a:extLst>
            </p:cNvPr>
            <p:cNvGrpSpPr>
              <a:grpSpLocks/>
            </p:cNvGrpSpPr>
            <p:nvPr/>
          </p:nvGrpSpPr>
          <p:grpSpPr bwMode="auto">
            <a:xfrm>
              <a:off x="1122363" y="3990976"/>
              <a:ext cx="2236851" cy="1750964"/>
              <a:chOff x="3698" y="2325"/>
              <a:chExt cx="1545" cy="1138"/>
            </a:xfrm>
          </p:grpSpPr>
          <p:sp>
            <p:nvSpPr>
              <p:cNvPr id="16" name="AutoShape 21">
                <a:extLst>
                  <a:ext uri="{FF2B5EF4-FFF2-40B4-BE49-F238E27FC236}">
                    <a16:creationId xmlns:a16="http://schemas.microsoft.com/office/drawing/2014/main" id="{C3F8D300-139F-E7FF-E3C7-4A455A80A68C}"/>
                  </a:ext>
                </a:extLst>
              </p:cNvPr>
              <p:cNvSpPr>
                <a:spLocks noChangeArrowheads="1"/>
              </p:cNvSpPr>
              <p:nvPr/>
            </p:nvSpPr>
            <p:spPr bwMode="auto">
              <a:xfrm>
                <a:off x="4176" y="2325"/>
                <a:ext cx="864" cy="816"/>
              </a:xfrm>
              <a:prstGeom prst="octagon">
                <a:avLst>
                  <a:gd name="adj" fmla="val 29287"/>
                </a:avLst>
              </a:prstGeom>
              <a:solidFill>
                <a:srgbClr val="FF0000"/>
              </a:solidFill>
              <a:ln w="57150">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2800">
                    <a:solidFill>
                      <a:schemeClr val="bg1"/>
                    </a:solidFill>
                    <a:latin typeface="Roboto" panose="02000000000000000000" pitchFamily="2" charset="0"/>
                    <a:ea typeface="Roboto" panose="02000000000000000000" pitchFamily="2" charset="0"/>
                  </a:rPr>
                  <a:t>STOP</a:t>
                </a:r>
              </a:p>
            </p:txBody>
          </p:sp>
          <p:sp>
            <p:nvSpPr>
              <p:cNvPr id="17" name="Text Box 22">
                <a:extLst>
                  <a:ext uri="{FF2B5EF4-FFF2-40B4-BE49-F238E27FC236}">
                    <a16:creationId xmlns:a16="http://schemas.microsoft.com/office/drawing/2014/main" id="{35B1FE72-FE8D-F9D3-0CD3-C0E90728689A}"/>
                  </a:ext>
                </a:extLst>
              </p:cNvPr>
              <p:cNvSpPr txBox="1">
                <a:spLocks noChangeArrowheads="1"/>
              </p:cNvSpPr>
              <p:nvPr/>
            </p:nvSpPr>
            <p:spPr bwMode="auto">
              <a:xfrm>
                <a:off x="3698" y="3243"/>
                <a:ext cx="1545"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600">
                    <a:latin typeface="Roboto" panose="02000000000000000000" pitchFamily="2" charset="0"/>
                    <a:ea typeface="Roboto" panose="02000000000000000000" pitchFamily="2" charset="0"/>
                  </a:rPr>
                  <a:t>3. Equipment Finished</a:t>
                </a:r>
              </a:p>
            </p:txBody>
          </p:sp>
        </p:grpSp>
        <p:sp>
          <p:nvSpPr>
            <p:cNvPr id="18" name="Line 23">
              <a:extLst>
                <a:ext uri="{FF2B5EF4-FFF2-40B4-BE49-F238E27FC236}">
                  <a16:creationId xmlns:a16="http://schemas.microsoft.com/office/drawing/2014/main" id="{DF91944B-8076-D6B8-A45D-7A9BD20B568E}"/>
                </a:ext>
              </a:extLst>
            </p:cNvPr>
            <p:cNvSpPr>
              <a:spLocks noChangeShapeType="1"/>
            </p:cNvSpPr>
            <p:nvPr/>
          </p:nvSpPr>
          <p:spPr bwMode="auto">
            <a:xfrm>
              <a:off x="1885950" y="3016250"/>
              <a:ext cx="554038" cy="1588"/>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pic>
          <p:nvPicPr>
            <p:cNvPr id="19" name="Picture 2" descr="C:\Users\Glenn\AppData\Local\Microsoft\Windows\Temporary Internet Files\Content.IE5\WSVMTVN1\MCj04339060000[1].png">
              <a:extLst>
                <a:ext uri="{FF2B5EF4-FFF2-40B4-BE49-F238E27FC236}">
                  <a16:creationId xmlns:a16="http://schemas.microsoft.com/office/drawing/2014/main" id="{A91A7299-0E19-C29D-F4B0-684A96164E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0250" y="1900238"/>
              <a:ext cx="1398588" cy="140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3" descr="C:\Users\Glenn\AppData\Local\Microsoft\Windows\Temporary Internet Files\Content.IE5\ERG1IU1Z\MPj04221830000[1].jpg">
              <a:extLst>
                <a:ext uri="{FF2B5EF4-FFF2-40B4-BE49-F238E27FC236}">
                  <a16:creationId xmlns:a16="http://schemas.microsoft.com/office/drawing/2014/main" id="{5637B82B-BFD8-4B14-37EB-707F65B669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2925" t="7895" r="40926" b="6667"/>
            <a:stretch>
              <a:fillRect/>
            </a:stretch>
          </p:blipFill>
          <p:spPr bwMode="auto">
            <a:xfrm>
              <a:off x="409575" y="2033588"/>
              <a:ext cx="762000" cy="938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Line 24">
              <a:extLst>
                <a:ext uri="{FF2B5EF4-FFF2-40B4-BE49-F238E27FC236}">
                  <a16:creationId xmlns:a16="http://schemas.microsoft.com/office/drawing/2014/main" id="{826A007B-29BA-08EB-2778-3E90A63D1DCD}"/>
                </a:ext>
              </a:extLst>
            </p:cNvPr>
            <p:cNvSpPr>
              <a:spLocks noChangeShapeType="1"/>
            </p:cNvSpPr>
            <p:nvPr/>
          </p:nvSpPr>
          <p:spPr bwMode="auto">
            <a:xfrm flipH="1">
              <a:off x="3211513" y="3816350"/>
              <a:ext cx="393700" cy="649288"/>
            </a:xfrm>
            <a:prstGeom prst="line">
              <a:avLst/>
            </a:prstGeom>
            <a:noFill/>
            <a:ln w="571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42429235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Total Process Time Defined</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The equipment process time PLUS the manual time it takes an Associate to enter data or load/start the equipment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23</a:t>
            </a:fld>
            <a:endParaRPr lang="en-US"/>
          </a:p>
        </p:txBody>
      </p:sp>
      <p:grpSp>
        <p:nvGrpSpPr>
          <p:cNvPr id="4" name="Group 3">
            <a:extLst>
              <a:ext uri="{FF2B5EF4-FFF2-40B4-BE49-F238E27FC236}">
                <a16:creationId xmlns:a16="http://schemas.microsoft.com/office/drawing/2014/main" id="{0018464F-4105-829D-CCFA-3632A04DE6A9}"/>
              </a:ext>
            </a:extLst>
          </p:cNvPr>
          <p:cNvGrpSpPr/>
          <p:nvPr/>
        </p:nvGrpSpPr>
        <p:grpSpPr>
          <a:xfrm>
            <a:off x="838200" y="297639"/>
            <a:ext cx="4220210" cy="301303"/>
            <a:chOff x="838200" y="297639"/>
            <a:chExt cx="4220210" cy="301303"/>
          </a:xfrm>
        </p:grpSpPr>
        <p:sp>
          <p:nvSpPr>
            <p:cNvPr id="6" name="AutoShape 9">
              <a:extLst>
                <a:ext uri="{FF2B5EF4-FFF2-40B4-BE49-F238E27FC236}">
                  <a16:creationId xmlns:a16="http://schemas.microsoft.com/office/drawing/2014/main" id="{25F74CB0-1DAA-496A-BE3F-C4712BFC4A1D}"/>
                </a:ext>
              </a:extLst>
            </p:cNvPr>
            <p:cNvSpPr>
              <a:spLocks noChangeArrowheads="1"/>
            </p:cNvSpPr>
            <p:nvPr/>
          </p:nvSpPr>
          <p:spPr bwMode="auto">
            <a:xfrm>
              <a:off x="1779225" y="298454"/>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7" name="Group 6">
              <a:extLst>
                <a:ext uri="{FF2B5EF4-FFF2-40B4-BE49-F238E27FC236}">
                  <a16:creationId xmlns:a16="http://schemas.microsoft.com/office/drawing/2014/main" id="{BB14D8AC-FB2C-F5C8-5495-8AF247E1B95C}"/>
                </a:ext>
              </a:extLst>
            </p:cNvPr>
            <p:cNvGrpSpPr/>
            <p:nvPr/>
          </p:nvGrpSpPr>
          <p:grpSpPr>
            <a:xfrm>
              <a:off x="838200" y="297639"/>
              <a:ext cx="4220210" cy="301303"/>
              <a:chOff x="838200" y="297639"/>
              <a:chExt cx="4220210" cy="301303"/>
            </a:xfrm>
          </p:grpSpPr>
          <p:grpSp>
            <p:nvGrpSpPr>
              <p:cNvPr id="8" name="Group 7">
                <a:extLst>
                  <a:ext uri="{FF2B5EF4-FFF2-40B4-BE49-F238E27FC236}">
                    <a16:creationId xmlns:a16="http://schemas.microsoft.com/office/drawing/2014/main" id="{1B59F1FA-0DCA-5EEF-43C4-346D8E9E5685}"/>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643D5443-980D-F543-4C96-F9B44ACBC80F}"/>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1445F1F2-67F7-143E-6C25-77A8568D19F5}"/>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0">
                  <a:extLst>
                    <a:ext uri="{FF2B5EF4-FFF2-40B4-BE49-F238E27FC236}">
                      <a16:creationId xmlns:a16="http://schemas.microsoft.com/office/drawing/2014/main" id="{DB7E7E1E-9080-F609-56CD-CC09204FADF2}"/>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9" name="TextBox 8">
                <a:extLst>
                  <a:ext uri="{FF2B5EF4-FFF2-40B4-BE49-F238E27FC236}">
                    <a16:creationId xmlns:a16="http://schemas.microsoft.com/office/drawing/2014/main" id="{E82D278A-C297-82CC-E2CA-0AD1BE2B1EBA}"/>
                  </a:ext>
                </a:extLst>
              </p:cNvPr>
              <p:cNvSpPr txBox="1"/>
              <p:nvPr/>
            </p:nvSpPr>
            <p:spPr>
              <a:xfrm>
                <a:off x="219045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TAKT Time vs. Process Time</a:t>
                </a:r>
              </a:p>
            </p:txBody>
          </p:sp>
        </p:grpSp>
      </p:grpSp>
    </p:spTree>
    <p:extLst>
      <p:ext uri="{BB962C8B-B14F-4D97-AF65-F5344CB8AC3E}">
        <p14:creationId xmlns:p14="http://schemas.microsoft.com/office/powerpoint/2010/main" val="28648514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 Process Time</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24</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59748"/>
            <a:ext cx="972234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Calculate types of process time.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Use the information on the following slide to </a:t>
            </a:r>
            <a:b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calculate the following:</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Total Associate Process Time</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Processing Time for equipment time</a:t>
            </a:r>
          </a:p>
          <a:p>
            <a:pPr marL="0" marR="0" indent="0" algn="l" defTabSz="584200" rtl="0" fontAlgn="auto" latinLnBrk="0" hangingPunct="0">
              <a:lnSpc>
                <a:spcPct val="100000"/>
              </a:lnSpc>
              <a:spcBef>
                <a:spcPts val="0"/>
              </a:spcBef>
              <a:spcAft>
                <a:spcPts val="0"/>
              </a:spcAft>
              <a:buClrTx/>
              <a:buSzTx/>
              <a:buFontTx/>
              <a:buNone/>
              <a:tabLst/>
            </a:pPr>
            <a:endPar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1336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Discuss answers as a class</a:t>
            </a:r>
          </a:p>
        </p:txBody>
      </p:sp>
      <p:grpSp>
        <p:nvGrpSpPr>
          <p:cNvPr id="3" name="Group 2">
            <a:extLst>
              <a:ext uri="{FF2B5EF4-FFF2-40B4-BE49-F238E27FC236}">
                <a16:creationId xmlns:a16="http://schemas.microsoft.com/office/drawing/2014/main" id="{6F3FAE3A-8887-5606-B7A4-28E15C394E3A}"/>
              </a:ext>
            </a:extLst>
          </p:cNvPr>
          <p:cNvGrpSpPr/>
          <p:nvPr/>
        </p:nvGrpSpPr>
        <p:grpSpPr>
          <a:xfrm>
            <a:off x="838200" y="297639"/>
            <a:ext cx="4220210" cy="301303"/>
            <a:chOff x="838200" y="297639"/>
            <a:chExt cx="4220210" cy="301303"/>
          </a:xfrm>
        </p:grpSpPr>
        <p:sp>
          <p:nvSpPr>
            <p:cNvPr id="4" name="AutoShape 9">
              <a:extLst>
                <a:ext uri="{FF2B5EF4-FFF2-40B4-BE49-F238E27FC236}">
                  <a16:creationId xmlns:a16="http://schemas.microsoft.com/office/drawing/2014/main" id="{5D6EE472-FC89-DAC4-2F02-D0457FE1AA96}"/>
                </a:ext>
              </a:extLst>
            </p:cNvPr>
            <p:cNvSpPr>
              <a:spLocks noChangeArrowheads="1"/>
            </p:cNvSpPr>
            <p:nvPr/>
          </p:nvSpPr>
          <p:spPr bwMode="auto">
            <a:xfrm>
              <a:off x="1779225" y="298454"/>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6" name="Group 5">
              <a:extLst>
                <a:ext uri="{FF2B5EF4-FFF2-40B4-BE49-F238E27FC236}">
                  <a16:creationId xmlns:a16="http://schemas.microsoft.com/office/drawing/2014/main" id="{4E969BA5-892E-A955-00FF-49B90A335154}"/>
                </a:ext>
              </a:extLst>
            </p:cNvPr>
            <p:cNvGrpSpPr/>
            <p:nvPr/>
          </p:nvGrpSpPr>
          <p:grpSpPr>
            <a:xfrm>
              <a:off x="838200" y="297639"/>
              <a:ext cx="4220210" cy="301303"/>
              <a:chOff x="838200" y="297639"/>
              <a:chExt cx="4220210" cy="301303"/>
            </a:xfrm>
          </p:grpSpPr>
          <p:grpSp>
            <p:nvGrpSpPr>
              <p:cNvPr id="7" name="Group 6">
                <a:extLst>
                  <a:ext uri="{FF2B5EF4-FFF2-40B4-BE49-F238E27FC236}">
                    <a16:creationId xmlns:a16="http://schemas.microsoft.com/office/drawing/2014/main" id="{A1ABC3EC-C871-A0A0-0FE6-52145B944AF3}"/>
                  </a:ext>
                </a:extLst>
              </p:cNvPr>
              <p:cNvGrpSpPr/>
              <p:nvPr/>
            </p:nvGrpSpPr>
            <p:grpSpPr>
              <a:xfrm>
                <a:off x="838200" y="297639"/>
                <a:ext cx="1060167" cy="290657"/>
                <a:chOff x="826426" y="4041857"/>
                <a:chExt cx="1060167" cy="290657"/>
              </a:xfrm>
            </p:grpSpPr>
            <p:sp>
              <p:nvSpPr>
                <p:cNvPr id="9" name="AutoShape 9">
                  <a:extLst>
                    <a:ext uri="{FF2B5EF4-FFF2-40B4-BE49-F238E27FC236}">
                      <a16:creationId xmlns:a16="http://schemas.microsoft.com/office/drawing/2014/main" id="{0EC4E8D6-5BE7-84DF-518A-F9858F95DD9D}"/>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5D264791-259F-D55D-BE6C-415E40A0AE0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10">
                  <a:extLst>
                    <a:ext uri="{FF2B5EF4-FFF2-40B4-BE49-F238E27FC236}">
                      <a16:creationId xmlns:a16="http://schemas.microsoft.com/office/drawing/2014/main" id="{BAF19BB5-AC00-B891-93FC-9EBF3560AF80}"/>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8" name="TextBox 7">
                <a:extLst>
                  <a:ext uri="{FF2B5EF4-FFF2-40B4-BE49-F238E27FC236}">
                    <a16:creationId xmlns:a16="http://schemas.microsoft.com/office/drawing/2014/main" id="{436D503A-19AC-A40B-C631-53C6DDBDD421}"/>
                  </a:ext>
                </a:extLst>
              </p:cNvPr>
              <p:cNvSpPr txBox="1"/>
              <p:nvPr/>
            </p:nvSpPr>
            <p:spPr>
              <a:xfrm>
                <a:off x="219045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TAKT Time vs. Process Time</a:t>
                </a:r>
              </a:p>
            </p:txBody>
          </p:sp>
        </p:grpSp>
      </p:grpSp>
    </p:spTree>
    <p:extLst>
      <p:ext uri="{BB962C8B-B14F-4D97-AF65-F5344CB8AC3E}">
        <p14:creationId xmlns:p14="http://schemas.microsoft.com/office/powerpoint/2010/main" val="12781107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Exercise: Process Time</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fontScale="92500"/>
          </a:bodyPr>
          <a:lstStyle/>
          <a:p>
            <a:r>
              <a:rPr lang="en-US" dirty="0"/>
              <a:t>Associate process time for processing the drawing print request via computer is 6 minutes, retrieving drawing and sending to plotter</a:t>
            </a:r>
          </a:p>
          <a:p>
            <a:r>
              <a:rPr lang="en-US" dirty="0"/>
              <a:t>On average, plotter takes 10 minutes to plot print</a:t>
            </a:r>
          </a:p>
          <a:p>
            <a:r>
              <a:rPr lang="en-US" dirty="0"/>
              <a:t>Associate checks if print is correct number and the quality of the print, which takes 3 minutes</a:t>
            </a:r>
          </a:p>
          <a:p>
            <a:r>
              <a:rPr lang="en-US" dirty="0"/>
              <a:t>Associate fills out release forms and routes print to the proper person via mail drop, which takes 6 minutes.</a:t>
            </a:r>
          </a:p>
          <a:p>
            <a:r>
              <a:rPr lang="en-US" dirty="0"/>
              <a:t>On average, associate must refill or change paper type on the plotter 5 times per day, requiring 5 minutes per setup</a:t>
            </a:r>
          </a:p>
          <a:p>
            <a:r>
              <a:rPr lang="en-US" dirty="0"/>
              <a:t>Associate then repeats process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25</a:t>
            </a:fld>
            <a:endParaRPr lang="en-US"/>
          </a:p>
        </p:txBody>
      </p:sp>
      <p:grpSp>
        <p:nvGrpSpPr>
          <p:cNvPr id="4" name="Group 3">
            <a:extLst>
              <a:ext uri="{FF2B5EF4-FFF2-40B4-BE49-F238E27FC236}">
                <a16:creationId xmlns:a16="http://schemas.microsoft.com/office/drawing/2014/main" id="{0018464F-4105-829D-CCFA-3632A04DE6A9}"/>
              </a:ext>
            </a:extLst>
          </p:cNvPr>
          <p:cNvGrpSpPr/>
          <p:nvPr/>
        </p:nvGrpSpPr>
        <p:grpSpPr>
          <a:xfrm>
            <a:off x="838200" y="297639"/>
            <a:ext cx="4220210" cy="301303"/>
            <a:chOff x="838200" y="297639"/>
            <a:chExt cx="4220210" cy="301303"/>
          </a:xfrm>
        </p:grpSpPr>
        <p:sp>
          <p:nvSpPr>
            <p:cNvPr id="6" name="AutoShape 9">
              <a:extLst>
                <a:ext uri="{FF2B5EF4-FFF2-40B4-BE49-F238E27FC236}">
                  <a16:creationId xmlns:a16="http://schemas.microsoft.com/office/drawing/2014/main" id="{25F74CB0-1DAA-496A-BE3F-C4712BFC4A1D}"/>
                </a:ext>
              </a:extLst>
            </p:cNvPr>
            <p:cNvSpPr>
              <a:spLocks noChangeArrowheads="1"/>
            </p:cNvSpPr>
            <p:nvPr/>
          </p:nvSpPr>
          <p:spPr bwMode="auto">
            <a:xfrm>
              <a:off x="1779225" y="298454"/>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7" name="Group 6">
              <a:extLst>
                <a:ext uri="{FF2B5EF4-FFF2-40B4-BE49-F238E27FC236}">
                  <a16:creationId xmlns:a16="http://schemas.microsoft.com/office/drawing/2014/main" id="{BB14D8AC-FB2C-F5C8-5495-8AF247E1B95C}"/>
                </a:ext>
              </a:extLst>
            </p:cNvPr>
            <p:cNvGrpSpPr/>
            <p:nvPr/>
          </p:nvGrpSpPr>
          <p:grpSpPr>
            <a:xfrm>
              <a:off x="838200" y="297639"/>
              <a:ext cx="4220210" cy="301303"/>
              <a:chOff x="838200" y="297639"/>
              <a:chExt cx="4220210" cy="301303"/>
            </a:xfrm>
          </p:grpSpPr>
          <p:grpSp>
            <p:nvGrpSpPr>
              <p:cNvPr id="8" name="Group 7">
                <a:extLst>
                  <a:ext uri="{FF2B5EF4-FFF2-40B4-BE49-F238E27FC236}">
                    <a16:creationId xmlns:a16="http://schemas.microsoft.com/office/drawing/2014/main" id="{1B59F1FA-0DCA-5EEF-43C4-346D8E9E5685}"/>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643D5443-980D-F543-4C96-F9B44ACBC80F}"/>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1445F1F2-67F7-143E-6C25-77A8568D19F5}"/>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0">
                  <a:extLst>
                    <a:ext uri="{FF2B5EF4-FFF2-40B4-BE49-F238E27FC236}">
                      <a16:creationId xmlns:a16="http://schemas.microsoft.com/office/drawing/2014/main" id="{DB7E7E1E-9080-F609-56CD-CC09204FADF2}"/>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9" name="TextBox 8">
                <a:extLst>
                  <a:ext uri="{FF2B5EF4-FFF2-40B4-BE49-F238E27FC236}">
                    <a16:creationId xmlns:a16="http://schemas.microsoft.com/office/drawing/2014/main" id="{E82D278A-C297-82CC-E2CA-0AD1BE2B1EBA}"/>
                  </a:ext>
                </a:extLst>
              </p:cNvPr>
              <p:cNvSpPr txBox="1"/>
              <p:nvPr/>
            </p:nvSpPr>
            <p:spPr>
              <a:xfrm>
                <a:off x="219045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TAKT Time vs. Process Time</a:t>
                </a:r>
              </a:p>
            </p:txBody>
          </p:sp>
        </p:grpSp>
      </p:grpSp>
    </p:spTree>
    <p:extLst>
      <p:ext uri="{BB962C8B-B14F-4D97-AF65-F5344CB8AC3E}">
        <p14:creationId xmlns:p14="http://schemas.microsoft.com/office/powerpoint/2010/main" val="40957748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 Takt Time</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26</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59748"/>
            <a:ext cx="972234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Use takt time and process time to make decisions.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pairs, read and answer the following.</a:t>
            </a: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Consider the following data:</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Your bottleneck plotter in Engineering has </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 process time of 10 minutes.</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The takt time for the print process is 8 minutes (one shift operation)</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What are your options? What would you do?</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1336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Discuss answers as a class</a:t>
            </a:r>
          </a:p>
        </p:txBody>
      </p:sp>
      <p:grpSp>
        <p:nvGrpSpPr>
          <p:cNvPr id="3" name="Group 2">
            <a:extLst>
              <a:ext uri="{FF2B5EF4-FFF2-40B4-BE49-F238E27FC236}">
                <a16:creationId xmlns:a16="http://schemas.microsoft.com/office/drawing/2014/main" id="{6F3FAE3A-8887-5606-B7A4-28E15C394E3A}"/>
              </a:ext>
            </a:extLst>
          </p:cNvPr>
          <p:cNvGrpSpPr/>
          <p:nvPr/>
        </p:nvGrpSpPr>
        <p:grpSpPr>
          <a:xfrm>
            <a:off x="838200" y="297639"/>
            <a:ext cx="4220210" cy="301303"/>
            <a:chOff x="838200" y="297639"/>
            <a:chExt cx="4220210" cy="301303"/>
          </a:xfrm>
        </p:grpSpPr>
        <p:sp>
          <p:nvSpPr>
            <p:cNvPr id="4" name="AutoShape 9">
              <a:extLst>
                <a:ext uri="{FF2B5EF4-FFF2-40B4-BE49-F238E27FC236}">
                  <a16:creationId xmlns:a16="http://schemas.microsoft.com/office/drawing/2014/main" id="{5D6EE472-FC89-DAC4-2F02-D0457FE1AA96}"/>
                </a:ext>
              </a:extLst>
            </p:cNvPr>
            <p:cNvSpPr>
              <a:spLocks noChangeArrowheads="1"/>
            </p:cNvSpPr>
            <p:nvPr/>
          </p:nvSpPr>
          <p:spPr bwMode="auto">
            <a:xfrm>
              <a:off x="1779225" y="298454"/>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6" name="Group 5">
              <a:extLst>
                <a:ext uri="{FF2B5EF4-FFF2-40B4-BE49-F238E27FC236}">
                  <a16:creationId xmlns:a16="http://schemas.microsoft.com/office/drawing/2014/main" id="{4E969BA5-892E-A955-00FF-49B90A335154}"/>
                </a:ext>
              </a:extLst>
            </p:cNvPr>
            <p:cNvGrpSpPr/>
            <p:nvPr/>
          </p:nvGrpSpPr>
          <p:grpSpPr>
            <a:xfrm>
              <a:off x="838200" y="297639"/>
              <a:ext cx="4220210" cy="301303"/>
              <a:chOff x="838200" y="297639"/>
              <a:chExt cx="4220210" cy="301303"/>
            </a:xfrm>
          </p:grpSpPr>
          <p:grpSp>
            <p:nvGrpSpPr>
              <p:cNvPr id="7" name="Group 6">
                <a:extLst>
                  <a:ext uri="{FF2B5EF4-FFF2-40B4-BE49-F238E27FC236}">
                    <a16:creationId xmlns:a16="http://schemas.microsoft.com/office/drawing/2014/main" id="{A1ABC3EC-C871-A0A0-0FE6-52145B944AF3}"/>
                  </a:ext>
                </a:extLst>
              </p:cNvPr>
              <p:cNvGrpSpPr/>
              <p:nvPr/>
            </p:nvGrpSpPr>
            <p:grpSpPr>
              <a:xfrm>
                <a:off x="838200" y="297639"/>
                <a:ext cx="1060167" cy="290657"/>
                <a:chOff x="826426" y="4041857"/>
                <a:chExt cx="1060167" cy="290657"/>
              </a:xfrm>
            </p:grpSpPr>
            <p:sp>
              <p:nvSpPr>
                <p:cNvPr id="9" name="AutoShape 9">
                  <a:extLst>
                    <a:ext uri="{FF2B5EF4-FFF2-40B4-BE49-F238E27FC236}">
                      <a16:creationId xmlns:a16="http://schemas.microsoft.com/office/drawing/2014/main" id="{0EC4E8D6-5BE7-84DF-518A-F9858F95DD9D}"/>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5D264791-259F-D55D-BE6C-415E40A0AE0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10">
                  <a:extLst>
                    <a:ext uri="{FF2B5EF4-FFF2-40B4-BE49-F238E27FC236}">
                      <a16:creationId xmlns:a16="http://schemas.microsoft.com/office/drawing/2014/main" id="{BAF19BB5-AC00-B891-93FC-9EBF3560AF80}"/>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8" name="TextBox 7">
                <a:extLst>
                  <a:ext uri="{FF2B5EF4-FFF2-40B4-BE49-F238E27FC236}">
                    <a16:creationId xmlns:a16="http://schemas.microsoft.com/office/drawing/2014/main" id="{436D503A-19AC-A40B-C631-53C6DDBDD421}"/>
                  </a:ext>
                </a:extLst>
              </p:cNvPr>
              <p:cNvSpPr txBox="1"/>
              <p:nvPr/>
            </p:nvSpPr>
            <p:spPr>
              <a:xfrm>
                <a:off x="219045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TAKT Time vs. Process Time</a:t>
                </a:r>
              </a:p>
            </p:txBody>
          </p:sp>
        </p:grpSp>
      </p:grpSp>
    </p:spTree>
    <p:extLst>
      <p:ext uri="{BB962C8B-B14F-4D97-AF65-F5344CB8AC3E}">
        <p14:creationId xmlns:p14="http://schemas.microsoft.com/office/powerpoint/2010/main" val="13528624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27</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Work Sequence </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dirty="0"/>
              <a:t>Define “work sequence”</a:t>
            </a:r>
          </a:p>
          <a:p>
            <a:r>
              <a:rPr lang="en-US" dirty="0"/>
              <a:t>Differentiate Associate Flow vs. Work Flow</a:t>
            </a:r>
          </a:p>
          <a:p>
            <a:r>
              <a:rPr lang="en-US" dirty="0"/>
              <a:t>Determine work sequence </a:t>
            </a:r>
          </a:p>
          <a:p>
            <a:r>
              <a:rPr lang="en-US" dirty="0"/>
              <a:t>Calculating number of Associates</a:t>
            </a:r>
          </a:p>
          <a:p>
            <a:endParaRPr lang="en-US" dirty="0"/>
          </a:p>
          <a:p>
            <a:endParaRPr lang="en-US" dirty="0"/>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C87A7FF0-98F8-9B45-43F5-1EE0B5702A07}"/>
              </a:ext>
            </a:extLst>
          </p:cNvPr>
          <p:cNvGrpSpPr/>
          <p:nvPr/>
        </p:nvGrpSpPr>
        <p:grpSpPr>
          <a:xfrm>
            <a:off x="699911" y="837132"/>
            <a:ext cx="5850075" cy="659880"/>
            <a:chOff x="699911" y="837132"/>
            <a:chExt cx="5850075" cy="659880"/>
          </a:xfrm>
        </p:grpSpPr>
        <p:sp>
          <p:nvSpPr>
            <p:cNvPr id="4" name="AutoShape 9">
              <a:extLst>
                <a:ext uri="{FF2B5EF4-FFF2-40B4-BE49-F238E27FC236}">
                  <a16:creationId xmlns:a16="http://schemas.microsoft.com/office/drawing/2014/main" id="{717DD1F3-5C6B-CA24-C474-C85FEE3DF5E7}"/>
                </a:ext>
              </a:extLst>
            </p:cNvPr>
            <p:cNvSpPr>
              <a:spLocks noChangeArrowheads="1"/>
            </p:cNvSpPr>
            <p:nvPr/>
          </p:nvSpPr>
          <p:spPr bwMode="auto">
            <a:xfrm>
              <a:off x="4971710" y="837132"/>
              <a:ext cx="1578276" cy="659879"/>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Documentation</a:t>
              </a:r>
            </a:p>
          </p:txBody>
        </p:sp>
        <p:grpSp>
          <p:nvGrpSpPr>
            <p:cNvPr id="13" name="Group 12">
              <a:extLst>
                <a:ext uri="{FF2B5EF4-FFF2-40B4-BE49-F238E27FC236}">
                  <a16:creationId xmlns:a16="http://schemas.microsoft.com/office/drawing/2014/main" id="{DADE2756-B973-0064-D4DD-52D3744FBA6B}"/>
                </a:ext>
              </a:extLst>
            </p:cNvPr>
            <p:cNvGrpSpPr/>
            <p:nvPr/>
          </p:nvGrpSpPr>
          <p:grpSpPr>
            <a:xfrm>
              <a:off x="699911" y="837133"/>
              <a:ext cx="4425950" cy="659879"/>
              <a:chOff x="5627530" y="641179"/>
              <a:chExt cx="6564470" cy="804977"/>
            </a:xfrm>
          </p:grpSpPr>
          <p:sp>
            <p:nvSpPr>
              <p:cNvPr id="14" name="AutoShape 9">
                <a:extLst>
                  <a:ext uri="{FF2B5EF4-FFF2-40B4-BE49-F238E27FC236}">
                    <a16:creationId xmlns:a16="http://schemas.microsoft.com/office/drawing/2014/main" id="{FF83B6EB-BAFE-C193-44C8-50C54ED609A3}"/>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Standard WIP</a:t>
                </a:r>
              </a:p>
            </p:txBody>
          </p:sp>
          <p:sp>
            <p:nvSpPr>
              <p:cNvPr id="15" name="AutoShape 10">
                <a:extLst>
                  <a:ext uri="{FF2B5EF4-FFF2-40B4-BE49-F238E27FC236}">
                    <a16:creationId xmlns:a16="http://schemas.microsoft.com/office/drawing/2014/main" id="{386767CB-AD12-A8CE-F49D-60EB435EC2D3}"/>
                  </a:ext>
                </a:extLst>
              </p:cNvPr>
              <p:cNvSpPr>
                <a:spLocks noChangeArrowheads="1"/>
              </p:cNvSpPr>
              <p:nvPr/>
            </p:nvSpPr>
            <p:spPr bwMode="auto">
              <a:xfrm>
                <a:off x="7737856" y="641180"/>
                <a:ext cx="2342768" cy="804976"/>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Work </a:t>
                </a:r>
                <a:br>
                  <a:rPr lang="en-US" altLang="en-US" sz="1200" dirty="0">
                    <a:latin typeface="Roboto" panose="02000000000000000000" pitchFamily="2" charset="0"/>
                    <a:ea typeface="Roboto" panose="02000000000000000000" pitchFamily="2" charset="0"/>
                  </a:rPr>
                </a:br>
                <a:r>
                  <a:rPr lang="en-US" altLang="en-US" sz="1200" dirty="0">
                    <a:latin typeface="Roboto" panose="02000000000000000000" pitchFamily="2" charset="0"/>
                    <a:ea typeface="Roboto" panose="02000000000000000000" pitchFamily="2" charset="0"/>
                  </a:rPr>
                  <a:t>Sequence</a:t>
                </a:r>
              </a:p>
            </p:txBody>
          </p:sp>
          <p:sp>
            <p:nvSpPr>
              <p:cNvPr id="16" name="AutoShape 11">
                <a:extLst>
                  <a:ext uri="{FF2B5EF4-FFF2-40B4-BE49-F238E27FC236}">
                    <a16:creationId xmlns:a16="http://schemas.microsoft.com/office/drawing/2014/main" id="{C2EFD1F9-72F5-1220-34C5-1283C9247686}"/>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Takt Time vs.</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Process Time</a:t>
                </a:r>
              </a:p>
            </p:txBody>
          </p:sp>
        </p:grpSp>
      </p:grpSp>
    </p:spTree>
    <p:extLst>
      <p:ext uri="{BB962C8B-B14F-4D97-AF65-F5344CB8AC3E}">
        <p14:creationId xmlns:p14="http://schemas.microsoft.com/office/powerpoint/2010/main" val="32622800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Work Sequence Defined</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28</a:t>
            </a:fld>
            <a:endParaRPr lang="en-US"/>
          </a:p>
        </p:txBody>
      </p:sp>
      <p:grpSp>
        <p:nvGrpSpPr>
          <p:cNvPr id="3" name="Group 2">
            <a:extLst>
              <a:ext uri="{FF2B5EF4-FFF2-40B4-BE49-F238E27FC236}">
                <a16:creationId xmlns:a16="http://schemas.microsoft.com/office/drawing/2014/main" id="{9138D14C-88B7-B6DC-1004-6D348D00700A}"/>
              </a:ext>
            </a:extLst>
          </p:cNvPr>
          <p:cNvGrpSpPr/>
          <p:nvPr/>
        </p:nvGrpSpPr>
        <p:grpSpPr>
          <a:xfrm>
            <a:off x="838200" y="297639"/>
            <a:ext cx="4220210" cy="301303"/>
            <a:chOff x="838200" y="297639"/>
            <a:chExt cx="4220210" cy="301303"/>
          </a:xfrm>
        </p:grpSpPr>
        <p:sp>
          <p:nvSpPr>
            <p:cNvPr id="5" name="AutoShape 9">
              <a:extLst>
                <a:ext uri="{FF2B5EF4-FFF2-40B4-BE49-F238E27FC236}">
                  <a16:creationId xmlns:a16="http://schemas.microsoft.com/office/drawing/2014/main" id="{2E4F8554-3FAC-719F-3CE3-69F13FD35F7A}"/>
                </a:ext>
              </a:extLst>
            </p:cNvPr>
            <p:cNvSpPr>
              <a:spLocks noChangeArrowheads="1"/>
            </p:cNvSpPr>
            <p:nvPr/>
          </p:nvSpPr>
          <p:spPr bwMode="auto">
            <a:xfrm>
              <a:off x="1779225" y="298454"/>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6" name="Group 5">
              <a:extLst>
                <a:ext uri="{FF2B5EF4-FFF2-40B4-BE49-F238E27FC236}">
                  <a16:creationId xmlns:a16="http://schemas.microsoft.com/office/drawing/2014/main" id="{4C8ADEDF-B63A-ACAE-B2E8-800155B7C3C7}"/>
                </a:ext>
              </a:extLst>
            </p:cNvPr>
            <p:cNvGrpSpPr/>
            <p:nvPr/>
          </p:nvGrpSpPr>
          <p:grpSpPr>
            <a:xfrm>
              <a:off x="838200" y="297639"/>
              <a:ext cx="4220210" cy="301303"/>
              <a:chOff x="838200" y="297639"/>
              <a:chExt cx="4220210" cy="301303"/>
            </a:xfrm>
          </p:grpSpPr>
          <p:grpSp>
            <p:nvGrpSpPr>
              <p:cNvPr id="7" name="Group 6">
                <a:extLst>
                  <a:ext uri="{FF2B5EF4-FFF2-40B4-BE49-F238E27FC236}">
                    <a16:creationId xmlns:a16="http://schemas.microsoft.com/office/drawing/2014/main" id="{A1741378-9B7F-423B-0AFB-C314EBB23C54}"/>
                  </a:ext>
                </a:extLst>
              </p:cNvPr>
              <p:cNvGrpSpPr/>
              <p:nvPr/>
            </p:nvGrpSpPr>
            <p:grpSpPr>
              <a:xfrm>
                <a:off x="838200" y="297639"/>
                <a:ext cx="1060167" cy="290657"/>
                <a:chOff x="826426" y="4041857"/>
                <a:chExt cx="1060167" cy="290657"/>
              </a:xfrm>
            </p:grpSpPr>
            <p:sp>
              <p:nvSpPr>
                <p:cNvPr id="9" name="AutoShape 9">
                  <a:extLst>
                    <a:ext uri="{FF2B5EF4-FFF2-40B4-BE49-F238E27FC236}">
                      <a16:creationId xmlns:a16="http://schemas.microsoft.com/office/drawing/2014/main" id="{A6F453CD-EAE5-B87F-2F2C-9C8C8D0D0D5E}"/>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C7DAA629-FE32-A150-364F-84B516B305D0}"/>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0">
                  <a:extLst>
                    <a:ext uri="{FF2B5EF4-FFF2-40B4-BE49-F238E27FC236}">
                      <a16:creationId xmlns:a16="http://schemas.microsoft.com/office/drawing/2014/main" id="{953754D6-828D-706F-52E3-523148985599}"/>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8" name="TextBox 7">
                <a:extLst>
                  <a:ext uri="{FF2B5EF4-FFF2-40B4-BE49-F238E27FC236}">
                    <a16:creationId xmlns:a16="http://schemas.microsoft.com/office/drawing/2014/main" id="{9680AC0D-A01C-67C4-FCD6-DD79D30CCA94}"/>
                  </a:ext>
                </a:extLst>
              </p:cNvPr>
              <p:cNvSpPr txBox="1"/>
              <p:nvPr/>
            </p:nvSpPr>
            <p:spPr>
              <a:xfrm>
                <a:off x="219045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Work Sequence</a:t>
                </a:r>
              </a:p>
            </p:txBody>
          </p:sp>
        </p:grpSp>
      </p:grpSp>
      <p:sp>
        <p:nvSpPr>
          <p:cNvPr id="18" name="Rectangle 3">
            <a:extLst>
              <a:ext uri="{FF2B5EF4-FFF2-40B4-BE49-F238E27FC236}">
                <a16:creationId xmlns:a16="http://schemas.microsoft.com/office/drawing/2014/main" id="{BC5B9727-9890-779E-AD6B-5889D77DE160}"/>
              </a:ext>
            </a:extLst>
          </p:cNvPr>
          <p:cNvSpPr>
            <a:spLocks noChangeArrowheads="1"/>
          </p:cNvSpPr>
          <p:nvPr/>
        </p:nvSpPr>
        <p:spPr bwMode="auto">
          <a:xfrm>
            <a:off x="7566660" y="2521493"/>
            <a:ext cx="3452812" cy="2592890"/>
          </a:xfrm>
          <a:prstGeom prst="rect">
            <a:avLst/>
          </a:prstGeom>
          <a:noFill/>
          <a:ln w="9525">
            <a:noFill/>
            <a:miter lim="800000"/>
            <a:headEnd/>
            <a:tailEnd/>
          </a:ln>
          <a:effectLst/>
        </p:spPr>
        <p:txBody>
          <a:bodyPr wrap="square" lIns="71438" tIns="36513" rIns="71438" bIns="36513">
            <a:spAutoFit/>
          </a:bodyPr>
          <a:lstStyle/>
          <a:p>
            <a:pPr marL="285750" indent="-285750" defTabSz="708025">
              <a:lnSpc>
                <a:spcPct val="115000"/>
              </a:lnSpc>
              <a:spcBef>
                <a:spcPct val="20000"/>
              </a:spcBef>
              <a:spcAft>
                <a:spcPct val="20000"/>
              </a:spcAft>
              <a:buClr>
                <a:schemeClr val="tx1"/>
              </a:buClr>
              <a:buSzPct val="90000"/>
              <a:buFont typeface="Arial" panose="020B0604020202020204" pitchFamily="34" charset="0"/>
              <a:buChar char="•"/>
              <a:defRPr/>
            </a:pPr>
            <a:r>
              <a:rPr lang="en-US" sz="2400" dirty="0">
                <a:solidFill>
                  <a:schemeClr val="tx1"/>
                </a:solidFill>
                <a:latin typeface="Roboto" panose="02000000000000000000" pitchFamily="2" charset="0"/>
                <a:ea typeface="Roboto" panose="02000000000000000000" pitchFamily="2" charset="0"/>
              </a:rPr>
              <a:t>The specific order in which an associate performs manual steps of a process for one transaction or unit of work</a:t>
            </a:r>
          </a:p>
        </p:txBody>
      </p:sp>
      <p:grpSp>
        <p:nvGrpSpPr>
          <p:cNvPr id="33" name="Group 32">
            <a:extLst>
              <a:ext uri="{FF2B5EF4-FFF2-40B4-BE49-F238E27FC236}">
                <a16:creationId xmlns:a16="http://schemas.microsoft.com/office/drawing/2014/main" id="{ED8E2CE1-62D2-BEEC-2413-4F4ABB0A4654}"/>
              </a:ext>
            </a:extLst>
          </p:cNvPr>
          <p:cNvGrpSpPr/>
          <p:nvPr/>
        </p:nvGrpSpPr>
        <p:grpSpPr>
          <a:xfrm>
            <a:off x="371802" y="2521493"/>
            <a:ext cx="6505257" cy="2592889"/>
            <a:chOff x="398463" y="2584450"/>
            <a:chExt cx="5465762" cy="2268538"/>
          </a:xfrm>
        </p:grpSpPr>
        <p:sp>
          <p:nvSpPr>
            <p:cNvPr id="12" name="Line 5">
              <a:extLst>
                <a:ext uri="{FF2B5EF4-FFF2-40B4-BE49-F238E27FC236}">
                  <a16:creationId xmlns:a16="http://schemas.microsoft.com/office/drawing/2014/main" id="{1E95BE60-DB78-1799-2C6E-AD96A983BF00}"/>
                </a:ext>
              </a:extLst>
            </p:cNvPr>
            <p:cNvSpPr>
              <a:spLocks noChangeShapeType="1"/>
            </p:cNvSpPr>
            <p:nvPr/>
          </p:nvSpPr>
          <p:spPr bwMode="auto">
            <a:xfrm>
              <a:off x="398463" y="4460875"/>
              <a:ext cx="43989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pic>
          <p:nvPicPr>
            <p:cNvPr id="13" name="Picture 35" descr="icon">
              <a:extLst>
                <a:ext uri="{FF2B5EF4-FFF2-40B4-BE49-F238E27FC236}">
                  <a16:creationId xmlns:a16="http://schemas.microsoft.com/office/drawing/2014/main" id="{5522272E-9985-33C3-DA19-FD7777E88A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5013" y="4138613"/>
              <a:ext cx="933450"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36" descr="icon">
              <a:extLst>
                <a:ext uri="{FF2B5EF4-FFF2-40B4-BE49-F238E27FC236}">
                  <a16:creationId xmlns:a16="http://schemas.microsoft.com/office/drawing/2014/main" id="{37FAA371-E173-A164-A5F1-A4E0E30E47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16213" y="4130675"/>
              <a:ext cx="933450"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Line 4">
              <a:extLst>
                <a:ext uri="{FF2B5EF4-FFF2-40B4-BE49-F238E27FC236}">
                  <a16:creationId xmlns:a16="http://schemas.microsoft.com/office/drawing/2014/main" id="{5408A81B-2DC2-8339-E969-96F114A4A971}"/>
                </a:ext>
              </a:extLst>
            </p:cNvPr>
            <p:cNvSpPr>
              <a:spLocks noChangeShapeType="1"/>
            </p:cNvSpPr>
            <p:nvPr/>
          </p:nvSpPr>
          <p:spPr bwMode="auto">
            <a:xfrm>
              <a:off x="398463" y="2984500"/>
              <a:ext cx="4265612" cy="0"/>
            </a:xfrm>
            <a:prstGeom prst="line">
              <a:avLst/>
            </a:prstGeom>
            <a:noFill/>
            <a:ln w="9525">
              <a:solidFill>
                <a:schemeClr val="tx1"/>
              </a:solidFill>
              <a:round/>
              <a:headEnd type="triangle" w="lg" len="lg"/>
              <a:tailEnd type="triangle" w="med" len="med"/>
            </a:ln>
            <a:extLst>
              <a:ext uri="{909E8E84-426E-40DD-AFC4-6F175D3DCCD1}">
                <a14:hiddenFill xmlns:a14="http://schemas.microsoft.com/office/drawing/2010/main">
                  <a:noFill/>
                </a14:hiddenFill>
              </a:ext>
            </a:extLst>
          </p:spPr>
          <p:txBody>
            <a:bodyPr/>
            <a:lstStyle/>
            <a:p>
              <a:endParaRPr lang="en-US"/>
            </a:p>
          </p:txBody>
        </p:sp>
        <p:pic>
          <p:nvPicPr>
            <p:cNvPr id="16" name="Picture 34" descr="icon">
              <a:extLst>
                <a:ext uri="{FF2B5EF4-FFF2-40B4-BE49-F238E27FC236}">
                  <a16:creationId xmlns:a16="http://schemas.microsoft.com/office/drawing/2014/main" id="{4D8B0390-55C2-F5BA-77F4-04A63C4BE0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0338" y="2603500"/>
              <a:ext cx="933450"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33" descr="icon">
              <a:extLst>
                <a:ext uri="{FF2B5EF4-FFF2-40B4-BE49-F238E27FC236}">
                  <a16:creationId xmlns:a16="http://schemas.microsoft.com/office/drawing/2014/main" id="{2D76476F-3B12-0A3C-F54E-08FED96814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1050" y="2584450"/>
              <a:ext cx="933450"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Line 2">
              <a:extLst>
                <a:ext uri="{FF2B5EF4-FFF2-40B4-BE49-F238E27FC236}">
                  <a16:creationId xmlns:a16="http://schemas.microsoft.com/office/drawing/2014/main" id="{868E313B-1215-FAE4-62EF-7E7C54A6A606}"/>
                </a:ext>
              </a:extLst>
            </p:cNvPr>
            <p:cNvSpPr>
              <a:spLocks noChangeShapeType="1"/>
            </p:cNvSpPr>
            <p:nvPr/>
          </p:nvSpPr>
          <p:spPr bwMode="auto">
            <a:xfrm>
              <a:off x="4953000" y="2919413"/>
              <a:ext cx="800100" cy="7699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 name="Line 3">
              <a:extLst>
                <a:ext uri="{FF2B5EF4-FFF2-40B4-BE49-F238E27FC236}">
                  <a16:creationId xmlns:a16="http://schemas.microsoft.com/office/drawing/2014/main" id="{79171EC6-8B37-8A43-FA74-A87CE4435831}"/>
                </a:ext>
              </a:extLst>
            </p:cNvPr>
            <p:cNvSpPr>
              <a:spLocks noChangeShapeType="1"/>
            </p:cNvSpPr>
            <p:nvPr/>
          </p:nvSpPr>
          <p:spPr bwMode="auto">
            <a:xfrm flipV="1">
              <a:off x="4864100" y="3817938"/>
              <a:ext cx="800100" cy="7715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 name="Rectangle 8">
              <a:extLst>
                <a:ext uri="{FF2B5EF4-FFF2-40B4-BE49-F238E27FC236}">
                  <a16:creationId xmlns:a16="http://schemas.microsoft.com/office/drawing/2014/main" id="{333FC022-4AA4-F403-1E35-3E027C53DAFE}"/>
                </a:ext>
              </a:extLst>
            </p:cNvPr>
            <p:cNvSpPr>
              <a:spLocks noChangeArrowheads="1"/>
            </p:cNvSpPr>
            <p:nvPr/>
          </p:nvSpPr>
          <p:spPr bwMode="auto">
            <a:xfrm>
              <a:off x="5330825" y="3519488"/>
              <a:ext cx="533400" cy="384175"/>
            </a:xfrm>
            <a:prstGeom prst="rect">
              <a:avLst/>
            </a:prstGeom>
            <a:solidFill>
              <a:schemeClr val="accent1"/>
            </a:solidFill>
            <a:ln w="9525">
              <a:solidFill>
                <a:schemeClr val="tx1"/>
              </a:solidFill>
              <a:miter lim="800000"/>
              <a:headEnd/>
              <a:tailEnd/>
            </a:ln>
          </p:spPr>
          <p:txBody>
            <a:bodyPr wrap="none" anchor="ctr"/>
            <a:lstStyle/>
            <a:p>
              <a:pPr algn="ctr">
                <a:lnSpc>
                  <a:spcPct val="80000"/>
                </a:lnSpc>
                <a:spcBef>
                  <a:spcPct val="20000"/>
                </a:spcBef>
                <a:defRPr/>
              </a:pPr>
              <a:r>
                <a:rPr lang="en-US" sz="2400" dirty="0">
                  <a:solidFill>
                    <a:schemeClr val="bg1"/>
                  </a:solidFill>
                  <a:latin typeface="+mn-lt"/>
                  <a:ea typeface="+mn-ea"/>
                  <a:cs typeface="Arial" pitchFamily="34" charset="0"/>
                </a:rPr>
                <a:t>6</a:t>
              </a:r>
            </a:p>
          </p:txBody>
        </p:sp>
        <p:sp>
          <p:nvSpPr>
            <p:cNvPr id="22" name="Rectangle 12">
              <a:extLst>
                <a:ext uri="{FF2B5EF4-FFF2-40B4-BE49-F238E27FC236}">
                  <a16:creationId xmlns:a16="http://schemas.microsoft.com/office/drawing/2014/main" id="{F7A787FE-6D76-1778-6D59-787742EF94FF}"/>
                </a:ext>
              </a:extLst>
            </p:cNvPr>
            <p:cNvSpPr>
              <a:spLocks noChangeArrowheads="1"/>
            </p:cNvSpPr>
            <p:nvPr/>
          </p:nvSpPr>
          <p:spPr bwMode="auto">
            <a:xfrm>
              <a:off x="4464050" y="4267200"/>
              <a:ext cx="533400" cy="385763"/>
            </a:xfrm>
            <a:prstGeom prst="rect">
              <a:avLst/>
            </a:prstGeom>
            <a:solidFill>
              <a:schemeClr val="accent1"/>
            </a:solidFill>
            <a:ln w="9525">
              <a:solidFill>
                <a:schemeClr val="tx1"/>
              </a:solidFill>
              <a:miter lim="800000"/>
              <a:headEnd/>
              <a:tailEnd/>
            </a:ln>
          </p:spPr>
          <p:txBody>
            <a:bodyPr wrap="none" anchor="ctr"/>
            <a:lstStyle/>
            <a:p>
              <a:pPr algn="ctr">
                <a:lnSpc>
                  <a:spcPct val="80000"/>
                </a:lnSpc>
                <a:spcBef>
                  <a:spcPct val="20000"/>
                </a:spcBef>
                <a:defRPr/>
              </a:pPr>
              <a:r>
                <a:rPr lang="en-US" sz="2400" dirty="0">
                  <a:solidFill>
                    <a:schemeClr val="bg1"/>
                  </a:solidFill>
                  <a:latin typeface="+mn-lt"/>
                  <a:ea typeface="+mn-ea"/>
                  <a:cs typeface="Arial" pitchFamily="34" charset="0"/>
                </a:rPr>
                <a:t>5</a:t>
              </a:r>
            </a:p>
          </p:txBody>
        </p:sp>
        <p:sp>
          <p:nvSpPr>
            <p:cNvPr id="23" name="Rectangle 17">
              <a:extLst>
                <a:ext uri="{FF2B5EF4-FFF2-40B4-BE49-F238E27FC236}">
                  <a16:creationId xmlns:a16="http://schemas.microsoft.com/office/drawing/2014/main" id="{6412E842-34CB-B7E1-E145-05D1998377FD}"/>
                </a:ext>
              </a:extLst>
            </p:cNvPr>
            <p:cNvSpPr>
              <a:spLocks noChangeArrowheads="1"/>
            </p:cNvSpPr>
            <p:nvPr/>
          </p:nvSpPr>
          <p:spPr bwMode="auto">
            <a:xfrm>
              <a:off x="4464050" y="2790825"/>
              <a:ext cx="533400" cy="385763"/>
            </a:xfrm>
            <a:prstGeom prst="rect">
              <a:avLst/>
            </a:prstGeom>
            <a:solidFill>
              <a:schemeClr val="accent1"/>
            </a:solidFill>
            <a:ln w="9525">
              <a:solidFill>
                <a:schemeClr val="tx1"/>
              </a:solidFill>
              <a:miter lim="800000"/>
              <a:headEnd/>
              <a:tailEnd/>
            </a:ln>
          </p:spPr>
          <p:txBody>
            <a:bodyPr wrap="none" anchor="ctr"/>
            <a:lstStyle/>
            <a:p>
              <a:pPr algn="ctr">
                <a:lnSpc>
                  <a:spcPct val="80000"/>
                </a:lnSpc>
                <a:spcBef>
                  <a:spcPct val="20000"/>
                </a:spcBef>
                <a:defRPr/>
              </a:pPr>
              <a:r>
                <a:rPr lang="en-US" sz="2400" dirty="0">
                  <a:solidFill>
                    <a:schemeClr val="bg1"/>
                  </a:solidFill>
                  <a:latin typeface="+mn-lt"/>
                  <a:ea typeface="+mn-ea"/>
                  <a:cs typeface="Arial" pitchFamily="34" charset="0"/>
                </a:rPr>
                <a:t>7</a:t>
              </a:r>
            </a:p>
          </p:txBody>
        </p:sp>
        <p:sp>
          <p:nvSpPr>
            <p:cNvPr id="24" name="Rectangle 9">
              <a:extLst>
                <a:ext uri="{FF2B5EF4-FFF2-40B4-BE49-F238E27FC236}">
                  <a16:creationId xmlns:a16="http://schemas.microsoft.com/office/drawing/2014/main" id="{C28C6751-E6CA-65E2-7EEE-EE82F23E2C15}"/>
                </a:ext>
              </a:extLst>
            </p:cNvPr>
            <p:cNvSpPr>
              <a:spLocks noChangeArrowheads="1"/>
            </p:cNvSpPr>
            <p:nvPr/>
          </p:nvSpPr>
          <p:spPr bwMode="auto">
            <a:xfrm>
              <a:off x="1565275" y="4267200"/>
              <a:ext cx="533400" cy="385763"/>
            </a:xfrm>
            <a:prstGeom prst="rect">
              <a:avLst/>
            </a:prstGeom>
            <a:solidFill>
              <a:schemeClr val="accent5"/>
            </a:solidFill>
            <a:ln w="9525">
              <a:solidFill>
                <a:schemeClr val="tx1"/>
              </a:solidFill>
              <a:miter lim="800000"/>
              <a:headEnd/>
              <a:tailEnd/>
            </a:ln>
            <a:effectLst/>
          </p:spPr>
          <p:txBody>
            <a:bodyPr wrap="none" anchor="ctr"/>
            <a:lstStyle/>
            <a:p>
              <a:pPr algn="ctr">
                <a:lnSpc>
                  <a:spcPct val="80000"/>
                </a:lnSpc>
                <a:spcBef>
                  <a:spcPct val="20000"/>
                </a:spcBef>
                <a:defRPr/>
              </a:pPr>
              <a:r>
                <a:rPr lang="en-US" sz="2400" dirty="0">
                  <a:latin typeface="+mn-lt"/>
                  <a:ea typeface="+mn-ea"/>
                </a:rPr>
                <a:t>2</a:t>
              </a:r>
            </a:p>
          </p:txBody>
        </p:sp>
        <p:sp>
          <p:nvSpPr>
            <p:cNvPr id="25" name="Rectangle 10">
              <a:extLst>
                <a:ext uri="{FF2B5EF4-FFF2-40B4-BE49-F238E27FC236}">
                  <a16:creationId xmlns:a16="http://schemas.microsoft.com/office/drawing/2014/main" id="{2D435348-03E3-75FE-E369-EE79D853DCDB}"/>
                </a:ext>
              </a:extLst>
            </p:cNvPr>
            <p:cNvSpPr>
              <a:spLocks noChangeArrowheads="1"/>
            </p:cNvSpPr>
            <p:nvPr/>
          </p:nvSpPr>
          <p:spPr bwMode="auto">
            <a:xfrm>
              <a:off x="2532063" y="4267200"/>
              <a:ext cx="533400" cy="385763"/>
            </a:xfrm>
            <a:prstGeom prst="rect">
              <a:avLst/>
            </a:prstGeom>
            <a:solidFill>
              <a:schemeClr val="accent2"/>
            </a:solidFill>
            <a:ln w="9525">
              <a:solidFill>
                <a:schemeClr val="tx1"/>
              </a:solidFill>
              <a:miter lim="800000"/>
              <a:headEnd/>
              <a:tailEnd/>
            </a:ln>
          </p:spPr>
          <p:txBody>
            <a:bodyPr wrap="none" anchor="ctr"/>
            <a:lstStyle/>
            <a:p>
              <a:pPr algn="ctr">
                <a:lnSpc>
                  <a:spcPct val="80000"/>
                </a:lnSpc>
                <a:spcBef>
                  <a:spcPct val="20000"/>
                </a:spcBef>
                <a:defRPr/>
              </a:pPr>
              <a:r>
                <a:rPr lang="en-US" sz="2400" dirty="0">
                  <a:latin typeface="+mn-lt"/>
                  <a:ea typeface="+mn-ea"/>
                  <a:cs typeface="Arial" pitchFamily="34" charset="0"/>
                </a:rPr>
                <a:t>3</a:t>
              </a:r>
            </a:p>
          </p:txBody>
        </p:sp>
        <p:sp>
          <p:nvSpPr>
            <p:cNvPr id="26" name="Rectangle 11">
              <a:extLst>
                <a:ext uri="{FF2B5EF4-FFF2-40B4-BE49-F238E27FC236}">
                  <a16:creationId xmlns:a16="http://schemas.microsoft.com/office/drawing/2014/main" id="{D76F16DF-4C5D-A423-3F52-1730760810D0}"/>
                </a:ext>
              </a:extLst>
            </p:cNvPr>
            <p:cNvSpPr>
              <a:spLocks noChangeArrowheads="1"/>
            </p:cNvSpPr>
            <p:nvPr/>
          </p:nvSpPr>
          <p:spPr bwMode="auto">
            <a:xfrm>
              <a:off x="3497263" y="4267200"/>
              <a:ext cx="533400" cy="385763"/>
            </a:xfrm>
            <a:prstGeom prst="rect">
              <a:avLst/>
            </a:prstGeom>
            <a:solidFill>
              <a:schemeClr val="accent2"/>
            </a:solidFill>
            <a:ln w="9525">
              <a:solidFill>
                <a:schemeClr val="tx1"/>
              </a:solidFill>
              <a:miter lim="800000"/>
              <a:headEnd/>
              <a:tailEnd/>
            </a:ln>
          </p:spPr>
          <p:txBody>
            <a:bodyPr wrap="none" anchor="ctr"/>
            <a:lstStyle/>
            <a:p>
              <a:pPr algn="ctr">
                <a:lnSpc>
                  <a:spcPct val="80000"/>
                </a:lnSpc>
                <a:spcBef>
                  <a:spcPct val="20000"/>
                </a:spcBef>
                <a:defRPr/>
              </a:pPr>
              <a:r>
                <a:rPr lang="en-US" sz="2400" dirty="0">
                  <a:latin typeface="+mn-lt"/>
                  <a:ea typeface="+mn-ea"/>
                  <a:cs typeface="Arial" pitchFamily="34" charset="0"/>
                </a:rPr>
                <a:t>4</a:t>
              </a:r>
            </a:p>
          </p:txBody>
        </p:sp>
        <p:sp>
          <p:nvSpPr>
            <p:cNvPr id="27" name="Rectangle 13">
              <a:extLst>
                <a:ext uri="{FF2B5EF4-FFF2-40B4-BE49-F238E27FC236}">
                  <a16:creationId xmlns:a16="http://schemas.microsoft.com/office/drawing/2014/main" id="{CD264369-DB6D-4CFB-7473-D321680BF300}"/>
                </a:ext>
              </a:extLst>
            </p:cNvPr>
            <p:cNvSpPr>
              <a:spLocks noChangeArrowheads="1"/>
            </p:cNvSpPr>
            <p:nvPr/>
          </p:nvSpPr>
          <p:spPr bwMode="auto">
            <a:xfrm>
              <a:off x="598488" y="4267200"/>
              <a:ext cx="533400" cy="385763"/>
            </a:xfrm>
            <a:prstGeom prst="rect">
              <a:avLst/>
            </a:prstGeom>
            <a:solidFill>
              <a:schemeClr val="accent5"/>
            </a:solidFill>
            <a:ln w="9525">
              <a:solidFill>
                <a:schemeClr val="tx1"/>
              </a:solidFill>
              <a:miter lim="800000"/>
              <a:headEnd/>
              <a:tailEnd/>
            </a:ln>
            <a:effectLst/>
          </p:spPr>
          <p:txBody>
            <a:bodyPr wrap="none" anchor="ctr"/>
            <a:lstStyle/>
            <a:p>
              <a:pPr algn="ctr">
                <a:lnSpc>
                  <a:spcPct val="80000"/>
                </a:lnSpc>
                <a:spcBef>
                  <a:spcPct val="20000"/>
                </a:spcBef>
                <a:defRPr/>
              </a:pPr>
              <a:r>
                <a:rPr lang="en-US" sz="2400" dirty="0">
                  <a:latin typeface="+mn-lt"/>
                  <a:ea typeface="+mn-ea"/>
                </a:rPr>
                <a:t>1</a:t>
              </a:r>
            </a:p>
          </p:txBody>
        </p:sp>
        <p:sp>
          <p:nvSpPr>
            <p:cNvPr id="28" name="Rectangle 14">
              <a:extLst>
                <a:ext uri="{FF2B5EF4-FFF2-40B4-BE49-F238E27FC236}">
                  <a16:creationId xmlns:a16="http://schemas.microsoft.com/office/drawing/2014/main" id="{F4278B22-60A9-921A-503D-770DE30E1CAB}"/>
                </a:ext>
              </a:extLst>
            </p:cNvPr>
            <p:cNvSpPr>
              <a:spLocks noChangeArrowheads="1"/>
            </p:cNvSpPr>
            <p:nvPr/>
          </p:nvSpPr>
          <p:spPr bwMode="auto">
            <a:xfrm>
              <a:off x="1565275" y="2790825"/>
              <a:ext cx="533400" cy="385763"/>
            </a:xfrm>
            <a:prstGeom prst="rect">
              <a:avLst/>
            </a:prstGeom>
            <a:solidFill>
              <a:schemeClr val="accent5"/>
            </a:solidFill>
            <a:ln w="9525">
              <a:solidFill>
                <a:schemeClr val="tx1"/>
              </a:solidFill>
              <a:miter lim="800000"/>
              <a:headEnd/>
              <a:tailEnd/>
            </a:ln>
            <a:effectLst/>
          </p:spPr>
          <p:txBody>
            <a:bodyPr wrap="none" anchor="ctr"/>
            <a:lstStyle/>
            <a:p>
              <a:pPr algn="ctr">
                <a:lnSpc>
                  <a:spcPct val="80000"/>
                </a:lnSpc>
                <a:spcBef>
                  <a:spcPct val="20000"/>
                </a:spcBef>
                <a:defRPr/>
              </a:pPr>
              <a:r>
                <a:rPr lang="en-US" sz="2400" dirty="0">
                  <a:latin typeface="+mn-lt"/>
                  <a:ea typeface="+mn-ea"/>
                </a:rPr>
                <a:t>10</a:t>
              </a:r>
            </a:p>
          </p:txBody>
        </p:sp>
        <p:sp>
          <p:nvSpPr>
            <p:cNvPr id="29" name="Rectangle 15">
              <a:extLst>
                <a:ext uri="{FF2B5EF4-FFF2-40B4-BE49-F238E27FC236}">
                  <a16:creationId xmlns:a16="http://schemas.microsoft.com/office/drawing/2014/main" id="{508CC325-6ADD-E5CA-D387-7EB34F76EFA7}"/>
                </a:ext>
              </a:extLst>
            </p:cNvPr>
            <p:cNvSpPr>
              <a:spLocks noChangeArrowheads="1"/>
            </p:cNvSpPr>
            <p:nvPr/>
          </p:nvSpPr>
          <p:spPr bwMode="auto">
            <a:xfrm>
              <a:off x="2532063" y="2790825"/>
              <a:ext cx="533400" cy="385763"/>
            </a:xfrm>
            <a:prstGeom prst="rect">
              <a:avLst/>
            </a:prstGeom>
            <a:solidFill>
              <a:schemeClr val="accent2"/>
            </a:solidFill>
            <a:ln w="9525">
              <a:solidFill>
                <a:schemeClr val="tx1"/>
              </a:solidFill>
              <a:miter lim="800000"/>
              <a:headEnd/>
              <a:tailEnd/>
            </a:ln>
          </p:spPr>
          <p:txBody>
            <a:bodyPr wrap="none" anchor="ctr"/>
            <a:lstStyle/>
            <a:p>
              <a:pPr algn="ctr">
                <a:lnSpc>
                  <a:spcPct val="80000"/>
                </a:lnSpc>
                <a:spcBef>
                  <a:spcPct val="20000"/>
                </a:spcBef>
                <a:defRPr/>
              </a:pPr>
              <a:r>
                <a:rPr lang="en-US" sz="2400" dirty="0">
                  <a:latin typeface="+mn-lt"/>
                  <a:ea typeface="+mn-ea"/>
                  <a:cs typeface="Arial" pitchFamily="34" charset="0"/>
                </a:rPr>
                <a:t>9</a:t>
              </a:r>
            </a:p>
          </p:txBody>
        </p:sp>
        <p:sp>
          <p:nvSpPr>
            <p:cNvPr id="30" name="Rectangle 16">
              <a:extLst>
                <a:ext uri="{FF2B5EF4-FFF2-40B4-BE49-F238E27FC236}">
                  <a16:creationId xmlns:a16="http://schemas.microsoft.com/office/drawing/2014/main" id="{58A8CB08-C550-59C7-EA85-09C526995581}"/>
                </a:ext>
              </a:extLst>
            </p:cNvPr>
            <p:cNvSpPr>
              <a:spLocks noChangeArrowheads="1"/>
            </p:cNvSpPr>
            <p:nvPr/>
          </p:nvSpPr>
          <p:spPr bwMode="auto">
            <a:xfrm>
              <a:off x="3497263" y="2790825"/>
              <a:ext cx="533400" cy="385763"/>
            </a:xfrm>
            <a:prstGeom prst="rect">
              <a:avLst/>
            </a:prstGeom>
            <a:solidFill>
              <a:schemeClr val="accent2"/>
            </a:solidFill>
            <a:ln w="9525">
              <a:solidFill>
                <a:schemeClr val="tx1"/>
              </a:solidFill>
              <a:miter lim="800000"/>
              <a:headEnd/>
              <a:tailEnd/>
            </a:ln>
          </p:spPr>
          <p:txBody>
            <a:bodyPr wrap="none" anchor="ctr"/>
            <a:lstStyle/>
            <a:p>
              <a:pPr algn="ctr">
                <a:lnSpc>
                  <a:spcPct val="80000"/>
                </a:lnSpc>
                <a:spcBef>
                  <a:spcPct val="20000"/>
                </a:spcBef>
                <a:defRPr/>
              </a:pPr>
              <a:r>
                <a:rPr lang="en-US" sz="2400" dirty="0">
                  <a:latin typeface="+mn-lt"/>
                  <a:ea typeface="+mn-ea"/>
                  <a:cs typeface="Arial" pitchFamily="34" charset="0"/>
                </a:rPr>
                <a:t>8</a:t>
              </a:r>
            </a:p>
          </p:txBody>
        </p:sp>
        <p:sp>
          <p:nvSpPr>
            <p:cNvPr id="31" name="Rectangle 18">
              <a:extLst>
                <a:ext uri="{FF2B5EF4-FFF2-40B4-BE49-F238E27FC236}">
                  <a16:creationId xmlns:a16="http://schemas.microsoft.com/office/drawing/2014/main" id="{567BE228-D8A1-98D5-F36E-0E11D8F88EF5}"/>
                </a:ext>
              </a:extLst>
            </p:cNvPr>
            <p:cNvSpPr>
              <a:spLocks noChangeArrowheads="1"/>
            </p:cNvSpPr>
            <p:nvPr/>
          </p:nvSpPr>
          <p:spPr bwMode="auto">
            <a:xfrm>
              <a:off x="598488" y="2790825"/>
              <a:ext cx="533400" cy="385763"/>
            </a:xfrm>
            <a:prstGeom prst="rect">
              <a:avLst/>
            </a:prstGeom>
            <a:solidFill>
              <a:schemeClr val="accent5"/>
            </a:solidFill>
            <a:ln w="9525">
              <a:solidFill>
                <a:schemeClr val="tx1"/>
              </a:solidFill>
              <a:miter lim="800000"/>
              <a:headEnd/>
              <a:tailEnd/>
            </a:ln>
            <a:effectLst/>
          </p:spPr>
          <p:txBody>
            <a:bodyPr wrap="none" anchor="ctr"/>
            <a:lstStyle/>
            <a:p>
              <a:pPr algn="ctr">
                <a:lnSpc>
                  <a:spcPct val="80000"/>
                </a:lnSpc>
                <a:spcBef>
                  <a:spcPct val="20000"/>
                </a:spcBef>
                <a:defRPr/>
              </a:pPr>
              <a:r>
                <a:rPr lang="en-US" sz="2400" dirty="0">
                  <a:latin typeface="+mn-lt"/>
                  <a:ea typeface="+mn-ea"/>
                </a:rPr>
                <a:t>11</a:t>
              </a:r>
            </a:p>
          </p:txBody>
        </p:sp>
        <p:pic>
          <p:nvPicPr>
            <p:cNvPr id="32" name="Picture 37" descr="icon">
              <a:extLst>
                <a:ext uri="{FF2B5EF4-FFF2-40B4-BE49-F238E27FC236}">
                  <a16:creationId xmlns:a16="http://schemas.microsoft.com/office/drawing/2014/main" id="{75D92D83-22C8-FC6F-5EE0-04B2A4E2DA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02138" y="3416300"/>
              <a:ext cx="933450"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20802470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3200" dirty="0"/>
              <a:t>Determining Total Number of Associates Needed</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29</a:t>
            </a:fld>
            <a:endParaRPr lang="en-US"/>
          </a:p>
        </p:txBody>
      </p:sp>
      <p:grpSp>
        <p:nvGrpSpPr>
          <p:cNvPr id="3" name="Group 2">
            <a:extLst>
              <a:ext uri="{FF2B5EF4-FFF2-40B4-BE49-F238E27FC236}">
                <a16:creationId xmlns:a16="http://schemas.microsoft.com/office/drawing/2014/main" id="{9138D14C-88B7-B6DC-1004-6D348D00700A}"/>
              </a:ext>
            </a:extLst>
          </p:cNvPr>
          <p:cNvGrpSpPr/>
          <p:nvPr/>
        </p:nvGrpSpPr>
        <p:grpSpPr>
          <a:xfrm>
            <a:off x="838200" y="297639"/>
            <a:ext cx="4220210" cy="301303"/>
            <a:chOff x="838200" y="297639"/>
            <a:chExt cx="4220210" cy="301303"/>
          </a:xfrm>
        </p:grpSpPr>
        <p:sp>
          <p:nvSpPr>
            <p:cNvPr id="5" name="AutoShape 9">
              <a:extLst>
                <a:ext uri="{FF2B5EF4-FFF2-40B4-BE49-F238E27FC236}">
                  <a16:creationId xmlns:a16="http://schemas.microsoft.com/office/drawing/2014/main" id="{2E4F8554-3FAC-719F-3CE3-69F13FD35F7A}"/>
                </a:ext>
              </a:extLst>
            </p:cNvPr>
            <p:cNvSpPr>
              <a:spLocks noChangeArrowheads="1"/>
            </p:cNvSpPr>
            <p:nvPr/>
          </p:nvSpPr>
          <p:spPr bwMode="auto">
            <a:xfrm>
              <a:off x="1779225" y="298454"/>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6" name="Group 5">
              <a:extLst>
                <a:ext uri="{FF2B5EF4-FFF2-40B4-BE49-F238E27FC236}">
                  <a16:creationId xmlns:a16="http://schemas.microsoft.com/office/drawing/2014/main" id="{4C8ADEDF-B63A-ACAE-B2E8-800155B7C3C7}"/>
                </a:ext>
              </a:extLst>
            </p:cNvPr>
            <p:cNvGrpSpPr/>
            <p:nvPr/>
          </p:nvGrpSpPr>
          <p:grpSpPr>
            <a:xfrm>
              <a:off x="838200" y="297639"/>
              <a:ext cx="4220210" cy="301303"/>
              <a:chOff x="838200" y="297639"/>
              <a:chExt cx="4220210" cy="301303"/>
            </a:xfrm>
          </p:grpSpPr>
          <p:grpSp>
            <p:nvGrpSpPr>
              <p:cNvPr id="7" name="Group 6">
                <a:extLst>
                  <a:ext uri="{FF2B5EF4-FFF2-40B4-BE49-F238E27FC236}">
                    <a16:creationId xmlns:a16="http://schemas.microsoft.com/office/drawing/2014/main" id="{A1741378-9B7F-423B-0AFB-C314EBB23C54}"/>
                  </a:ext>
                </a:extLst>
              </p:cNvPr>
              <p:cNvGrpSpPr/>
              <p:nvPr/>
            </p:nvGrpSpPr>
            <p:grpSpPr>
              <a:xfrm>
                <a:off x="838200" y="297639"/>
                <a:ext cx="1060167" cy="290657"/>
                <a:chOff x="826426" y="4041857"/>
                <a:chExt cx="1060167" cy="290657"/>
              </a:xfrm>
            </p:grpSpPr>
            <p:sp>
              <p:nvSpPr>
                <p:cNvPr id="9" name="AutoShape 9">
                  <a:extLst>
                    <a:ext uri="{FF2B5EF4-FFF2-40B4-BE49-F238E27FC236}">
                      <a16:creationId xmlns:a16="http://schemas.microsoft.com/office/drawing/2014/main" id="{A6F453CD-EAE5-B87F-2F2C-9C8C8D0D0D5E}"/>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C7DAA629-FE32-A150-364F-84B516B305D0}"/>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0">
                  <a:extLst>
                    <a:ext uri="{FF2B5EF4-FFF2-40B4-BE49-F238E27FC236}">
                      <a16:creationId xmlns:a16="http://schemas.microsoft.com/office/drawing/2014/main" id="{953754D6-828D-706F-52E3-523148985599}"/>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8" name="TextBox 7">
                <a:extLst>
                  <a:ext uri="{FF2B5EF4-FFF2-40B4-BE49-F238E27FC236}">
                    <a16:creationId xmlns:a16="http://schemas.microsoft.com/office/drawing/2014/main" id="{9680AC0D-A01C-67C4-FCD6-DD79D30CCA94}"/>
                  </a:ext>
                </a:extLst>
              </p:cNvPr>
              <p:cNvSpPr txBox="1"/>
              <p:nvPr/>
            </p:nvSpPr>
            <p:spPr>
              <a:xfrm>
                <a:off x="219045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Work Sequence</a:t>
                </a:r>
              </a:p>
            </p:txBody>
          </p:sp>
        </p:grpSp>
      </p:grpSp>
      <p:grpSp>
        <p:nvGrpSpPr>
          <p:cNvPr id="53" name="Group 52">
            <a:extLst>
              <a:ext uri="{FF2B5EF4-FFF2-40B4-BE49-F238E27FC236}">
                <a16:creationId xmlns:a16="http://schemas.microsoft.com/office/drawing/2014/main" id="{53CD746A-53F0-7DB2-20B6-D070648130D4}"/>
              </a:ext>
            </a:extLst>
          </p:cNvPr>
          <p:cNvGrpSpPr/>
          <p:nvPr/>
        </p:nvGrpSpPr>
        <p:grpSpPr>
          <a:xfrm>
            <a:off x="1271017" y="1902460"/>
            <a:ext cx="9370313" cy="4109720"/>
            <a:chOff x="457200" y="1536700"/>
            <a:chExt cx="8264525" cy="3765550"/>
          </a:xfrm>
        </p:grpSpPr>
        <p:sp>
          <p:nvSpPr>
            <p:cNvPr id="34" name="Rectangle 4">
              <a:extLst>
                <a:ext uri="{FF2B5EF4-FFF2-40B4-BE49-F238E27FC236}">
                  <a16:creationId xmlns:a16="http://schemas.microsoft.com/office/drawing/2014/main" id="{EECB2929-2157-71C1-62A9-11582488494A}"/>
                </a:ext>
              </a:extLst>
            </p:cNvPr>
            <p:cNvSpPr>
              <a:spLocks noChangeArrowheads="1"/>
            </p:cNvSpPr>
            <p:nvPr/>
          </p:nvSpPr>
          <p:spPr bwMode="auto">
            <a:xfrm>
              <a:off x="1196975" y="1971675"/>
              <a:ext cx="1908175" cy="568325"/>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400" dirty="0">
                  <a:latin typeface="Roboto" panose="02000000000000000000" pitchFamily="2" charset="0"/>
                  <a:ea typeface="Roboto" panose="02000000000000000000" pitchFamily="2" charset="0"/>
                </a:rPr>
                <a:t>Calculation for</a:t>
              </a:r>
              <a:br>
                <a:rPr lang="en-US" altLang="en-US" sz="1400" dirty="0">
                  <a:latin typeface="Roboto" panose="02000000000000000000" pitchFamily="2" charset="0"/>
                  <a:ea typeface="Roboto" panose="02000000000000000000" pitchFamily="2" charset="0"/>
                </a:rPr>
              </a:br>
              <a:r>
                <a:rPr lang="en-US" altLang="en-US" sz="1400" dirty="0">
                  <a:latin typeface="Roboto" panose="02000000000000000000" pitchFamily="2" charset="0"/>
                  <a:ea typeface="Roboto" panose="02000000000000000000" pitchFamily="2" charset="0"/>
                </a:rPr>
                <a:t>Total # of Associates</a:t>
              </a:r>
            </a:p>
          </p:txBody>
        </p:sp>
        <p:sp>
          <p:nvSpPr>
            <p:cNvPr id="35" name="Rectangle 5">
              <a:extLst>
                <a:ext uri="{FF2B5EF4-FFF2-40B4-BE49-F238E27FC236}">
                  <a16:creationId xmlns:a16="http://schemas.microsoft.com/office/drawing/2014/main" id="{43972F31-0DA5-569E-0F73-B5A4703CC358}"/>
                </a:ext>
              </a:extLst>
            </p:cNvPr>
            <p:cNvSpPr>
              <a:spLocks noChangeArrowheads="1"/>
            </p:cNvSpPr>
            <p:nvPr/>
          </p:nvSpPr>
          <p:spPr bwMode="auto">
            <a:xfrm>
              <a:off x="1196975" y="2894013"/>
              <a:ext cx="1908175" cy="568325"/>
            </a:xfrm>
            <a:prstGeom prst="rect">
              <a:avLst/>
            </a:prstGeom>
            <a:solidFill>
              <a:schemeClr val="bg2"/>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400" dirty="0">
                  <a:latin typeface="Roboto" panose="02000000000000000000" pitchFamily="2" charset="0"/>
                  <a:ea typeface="Roboto" panose="02000000000000000000" pitchFamily="2" charset="0"/>
                </a:rPr>
                <a:t>Example</a:t>
              </a:r>
            </a:p>
          </p:txBody>
        </p:sp>
        <p:sp>
          <p:nvSpPr>
            <p:cNvPr id="36" name="Line 8">
              <a:extLst>
                <a:ext uri="{FF2B5EF4-FFF2-40B4-BE49-F238E27FC236}">
                  <a16:creationId xmlns:a16="http://schemas.microsoft.com/office/drawing/2014/main" id="{4357CA27-F723-86C4-5BEC-16BEE6E5D5FF}"/>
                </a:ext>
              </a:extLst>
            </p:cNvPr>
            <p:cNvSpPr>
              <a:spLocks noChangeShapeType="1"/>
            </p:cNvSpPr>
            <p:nvPr/>
          </p:nvSpPr>
          <p:spPr bwMode="auto">
            <a:xfrm>
              <a:off x="471488" y="2792413"/>
              <a:ext cx="8250237"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37" name="Line 9">
              <a:extLst>
                <a:ext uri="{FF2B5EF4-FFF2-40B4-BE49-F238E27FC236}">
                  <a16:creationId xmlns:a16="http://schemas.microsoft.com/office/drawing/2014/main" id="{749A5652-D6F5-2D64-4774-8217BF0E63A6}"/>
                </a:ext>
              </a:extLst>
            </p:cNvPr>
            <p:cNvSpPr>
              <a:spLocks noChangeShapeType="1"/>
            </p:cNvSpPr>
            <p:nvPr/>
          </p:nvSpPr>
          <p:spPr bwMode="auto">
            <a:xfrm>
              <a:off x="487363" y="4240213"/>
              <a:ext cx="8205787"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38" name="Rectangle 12">
              <a:extLst>
                <a:ext uri="{FF2B5EF4-FFF2-40B4-BE49-F238E27FC236}">
                  <a16:creationId xmlns:a16="http://schemas.microsoft.com/office/drawing/2014/main" id="{EB58748A-1A58-B071-269A-27BA5588CB5A}"/>
                </a:ext>
              </a:extLst>
            </p:cNvPr>
            <p:cNvSpPr>
              <a:spLocks noChangeArrowheads="1"/>
            </p:cNvSpPr>
            <p:nvPr/>
          </p:nvSpPr>
          <p:spPr bwMode="auto">
            <a:xfrm>
              <a:off x="3638550" y="1954213"/>
              <a:ext cx="4970463" cy="264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45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Sum of the Total Associate Process Times</a:t>
              </a:r>
            </a:p>
          </p:txBody>
        </p:sp>
        <p:sp>
          <p:nvSpPr>
            <p:cNvPr id="39" name="Rectangle 13">
              <a:extLst>
                <a:ext uri="{FF2B5EF4-FFF2-40B4-BE49-F238E27FC236}">
                  <a16:creationId xmlns:a16="http://schemas.microsoft.com/office/drawing/2014/main" id="{966F2B8D-47B2-9C90-8BC4-C535C6C57077}"/>
                </a:ext>
              </a:extLst>
            </p:cNvPr>
            <p:cNvSpPr>
              <a:spLocks noChangeArrowheads="1"/>
            </p:cNvSpPr>
            <p:nvPr/>
          </p:nvSpPr>
          <p:spPr bwMode="auto">
            <a:xfrm>
              <a:off x="3641725" y="2898775"/>
              <a:ext cx="4981575" cy="264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45000"/>
                </a:spcBef>
                <a:spcAft>
                  <a:spcPct val="0"/>
                </a:spcAft>
                <a:buClr>
                  <a:schemeClr val="tx1"/>
                </a:buClr>
                <a:buFont typeface="Arial" panose="020B0604020202020204" pitchFamily="34" charset="0"/>
                <a:buChar char="•"/>
              </a:pPr>
              <a:r>
                <a:rPr lang="en-US" altLang="en-US" sz="1400">
                  <a:latin typeface="Roboto" panose="02000000000000000000" pitchFamily="2" charset="0"/>
                  <a:ea typeface="Roboto" panose="02000000000000000000" pitchFamily="2" charset="0"/>
                </a:rPr>
                <a:t>Total Process Time = 270 seconds</a:t>
              </a:r>
              <a:endParaRPr lang="en-US" altLang="en-US" sz="1400" b="0">
                <a:latin typeface="Roboto" panose="02000000000000000000" pitchFamily="2" charset="0"/>
                <a:ea typeface="Roboto" panose="02000000000000000000" pitchFamily="2" charset="0"/>
              </a:endParaRPr>
            </a:p>
          </p:txBody>
        </p:sp>
        <p:sp>
          <p:nvSpPr>
            <p:cNvPr id="40" name="Rectangle 14">
              <a:extLst>
                <a:ext uri="{FF2B5EF4-FFF2-40B4-BE49-F238E27FC236}">
                  <a16:creationId xmlns:a16="http://schemas.microsoft.com/office/drawing/2014/main" id="{08BA108C-4349-CDD2-7826-077E3CDC7BEF}"/>
                </a:ext>
              </a:extLst>
            </p:cNvPr>
            <p:cNvSpPr>
              <a:spLocks noChangeArrowheads="1"/>
            </p:cNvSpPr>
            <p:nvPr/>
          </p:nvSpPr>
          <p:spPr bwMode="auto">
            <a:xfrm>
              <a:off x="3641725" y="3790950"/>
              <a:ext cx="4970463" cy="264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45000"/>
                </a:spcBef>
                <a:spcAft>
                  <a:spcPct val="0"/>
                </a:spcAft>
                <a:buClr>
                  <a:schemeClr val="tx1"/>
                </a:buClr>
                <a:buFont typeface="Arial" panose="020B0604020202020204" pitchFamily="34" charset="0"/>
                <a:buChar char="•"/>
              </a:pPr>
              <a:r>
                <a:rPr lang="en-US" altLang="en-US" sz="1400">
                  <a:latin typeface="Roboto" panose="02000000000000000000" pitchFamily="2" charset="0"/>
                  <a:ea typeface="Roboto" panose="02000000000000000000" pitchFamily="2" charset="0"/>
                </a:rPr>
                <a:t>Total Number of Associates Needed = 3.5 Associates</a:t>
              </a:r>
              <a:endParaRPr lang="en-US" altLang="en-US" sz="1400" b="0">
                <a:latin typeface="Roboto" panose="02000000000000000000" pitchFamily="2" charset="0"/>
                <a:ea typeface="Roboto" panose="02000000000000000000" pitchFamily="2" charset="0"/>
              </a:endParaRPr>
            </a:p>
          </p:txBody>
        </p:sp>
        <p:sp>
          <p:nvSpPr>
            <p:cNvPr id="41" name="Line 16">
              <a:extLst>
                <a:ext uri="{FF2B5EF4-FFF2-40B4-BE49-F238E27FC236}">
                  <a16:creationId xmlns:a16="http://schemas.microsoft.com/office/drawing/2014/main" id="{B4A59831-46AA-BD0D-4AE1-EA3A0AD13FA6}"/>
                </a:ext>
              </a:extLst>
            </p:cNvPr>
            <p:cNvSpPr>
              <a:spLocks noChangeShapeType="1"/>
            </p:cNvSpPr>
            <p:nvPr/>
          </p:nvSpPr>
          <p:spPr bwMode="auto">
            <a:xfrm flipV="1">
              <a:off x="461963" y="1824038"/>
              <a:ext cx="8250237" cy="15875"/>
            </a:xfrm>
            <a:prstGeom prst="line">
              <a:avLst/>
            </a:prstGeom>
            <a:noFill/>
            <a:ln w="38100">
              <a:solidFill>
                <a:srgbClr val="000066"/>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42" name="Text Box 17">
              <a:extLst>
                <a:ext uri="{FF2B5EF4-FFF2-40B4-BE49-F238E27FC236}">
                  <a16:creationId xmlns:a16="http://schemas.microsoft.com/office/drawing/2014/main" id="{E7877A12-1DFA-E611-27C4-DDB6ACAC640B}"/>
                </a:ext>
              </a:extLst>
            </p:cNvPr>
            <p:cNvSpPr txBox="1">
              <a:spLocks noChangeArrowheads="1"/>
            </p:cNvSpPr>
            <p:nvPr/>
          </p:nvSpPr>
          <p:spPr bwMode="auto">
            <a:xfrm>
              <a:off x="471488" y="1536700"/>
              <a:ext cx="4574032" cy="338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800" dirty="0">
                  <a:latin typeface="Roboto" panose="02000000000000000000" pitchFamily="2" charset="0"/>
                  <a:ea typeface="Roboto" panose="02000000000000000000" pitchFamily="2" charset="0"/>
                </a:rPr>
                <a:t>Points		           	             Descriptions</a:t>
              </a:r>
            </a:p>
          </p:txBody>
        </p:sp>
        <p:sp>
          <p:nvSpPr>
            <p:cNvPr id="43" name="Oval 18">
              <a:extLst>
                <a:ext uri="{FF2B5EF4-FFF2-40B4-BE49-F238E27FC236}">
                  <a16:creationId xmlns:a16="http://schemas.microsoft.com/office/drawing/2014/main" id="{68759855-EA97-0FF8-BFD0-CB1C47EE322A}"/>
                </a:ext>
              </a:extLst>
            </p:cNvPr>
            <p:cNvSpPr>
              <a:spLocks noChangeArrowheads="1"/>
            </p:cNvSpPr>
            <p:nvPr/>
          </p:nvSpPr>
          <p:spPr bwMode="auto">
            <a:xfrm>
              <a:off x="519113" y="2079625"/>
              <a:ext cx="400050" cy="366713"/>
            </a:xfrm>
            <a:prstGeom prst="ellipse">
              <a:avLst/>
            </a:prstGeom>
            <a:solidFill>
              <a:schemeClr val="accent1"/>
            </a:solidFill>
            <a:ln w="12700" cap="sq">
              <a:solidFill>
                <a:srgbClr val="8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1</a:t>
              </a:r>
            </a:p>
          </p:txBody>
        </p:sp>
        <p:sp>
          <p:nvSpPr>
            <p:cNvPr id="44" name="Oval 19">
              <a:extLst>
                <a:ext uri="{FF2B5EF4-FFF2-40B4-BE49-F238E27FC236}">
                  <a16:creationId xmlns:a16="http://schemas.microsoft.com/office/drawing/2014/main" id="{78E4804F-3D13-53CA-8F32-D5AE1FAD829B}"/>
                </a:ext>
              </a:extLst>
            </p:cNvPr>
            <p:cNvSpPr>
              <a:spLocks noChangeArrowheads="1"/>
            </p:cNvSpPr>
            <p:nvPr/>
          </p:nvSpPr>
          <p:spPr bwMode="auto">
            <a:xfrm>
              <a:off x="519113" y="3005138"/>
              <a:ext cx="400050" cy="366712"/>
            </a:xfrm>
            <a:prstGeom prst="ellipse">
              <a:avLst/>
            </a:prstGeom>
            <a:solidFill>
              <a:schemeClr val="accent1"/>
            </a:solidFill>
            <a:ln w="12700" cap="sq">
              <a:solidFill>
                <a:srgbClr val="8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2</a:t>
              </a:r>
            </a:p>
          </p:txBody>
        </p:sp>
        <p:sp>
          <p:nvSpPr>
            <p:cNvPr id="45" name="Text Box 23">
              <a:extLst>
                <a:ext uri="{FF2B5EF4-FFF2-40B4-BE49-F238E27FC236}">
                  <a16:creationId xmlns:a16="http://schemas.microsoft.com/office/drawing/2014/main" id="{BE145ECB-34B5-ABB3-EC65-E0323B3FE970}"/>
                </a:ext>
              </a:extLst>
            </p:cNvPr>
            <p:cNvSpPr txBox="1">
              <a:spLocks noChangeArrowheads="1"/>
            </p:cNvSpPr>
            <p:nvPr/>
          </p:nvSpPr>
          <p:spPr bwMode="auto">
            <a:xfrm>
              <a:off x="4995863" y="2281238"/>
              <a:ext cx="886756" cy="2820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400">
                  <a:latin typeface="Roboto" panose="02000000000000000000" pitchFamily="2" charset="0"/>
                  <a:ea typeface="Roboto" panose="02000000000000000000" pitchFamily="2" charset="0"/>
                </a:rPr>
                <a:t>Takt Time</a:t>
              </a:r>
            </a:p>
          </p:txBody>
        </p:sp>
        <p:sp>
          <p:nvSpPr>
            <p:cNvPr id="46" name="Line 24">
              <a:extLst>
                <a:ext uri="{FF2B5EF4-FFF2-40B4-BE49-F238E27FC236}">
                  <a16:creationId xmlns:a16="http://schemas.microsoft.com/office/drawing/2014/main" id="{52254BB5-49F6-B055-FC4D-20BC80D99804}"/>
                </a:ext>
              </a:extLst>
            </p:cNvPr>
            <p:cNvSpPr>
              <a:spLocks noChangeShapeType="1"/>
            </p:cNvSpPr>
            <p:nvPr/>
          </p:nvSpPr>
          <p:spPr bwMode="auto">
            <a:xfrm>
              <a:off x="3946525" y="2273300"/>
              <a:ext cx="3208338"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47" name="Text Box 25">
              <a:extLst>
                <a:ext uri="{FF2B5EF4-FFF2-40B4-BE49-F238E27FC236}">
                  <a16:creationId xmlns:a16="http://schemas.microsoft.com/office/drawing/2014/main" id="{7F7FA764-2778-D2E0-9836-ABC1630529B1}"/>
                </a:ext>
              </a:extLst>
            </p:cNvPr>
            <p:cNvSpPr txBox="1">
              <a:spLocks noChangeArrowheads="1"/>
            </p:cNvSpPr>
            <p:nvPr/>
          </p:nvSpPr>
          <p:spPr bwMode="auto">
            <a:xfrm>
              <a:off x="4440238" y="3205163"/>
              <a:ext cx="1876439" cy="2820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400">
                  <a:latin typeface="Roboto" panose="02000000000000000000" pitchFamily="2" charset="0"/>
                  <a:ea typeface="Roboto" panose="02000000000000000000" pitchFamily="2" charset="0"/>
                </a:rPr>
                <a:t>Takt Time = 77 seconds</a:t>
              </a:r>
            </a:p>
          </p:txBody>
        </p:sp>
        <p:sp>
          <p:nvSpPr>
            <p:cNvPr id="48" name="Line 26">
              <a:extLst>
                <a:ext uri="{FF2B5EF4-FFF2-40B4-BE49-F238E27FC236}">
                  <a16:creationId xmlns:a16="http://schemas.microsoft.com/office/drawing/2014/main" id="{4D9CBD2F-936C-1649-29B1-A7F6550D6F94}"/>
                </a:ext>
              </a:extLst>
            </p:cNvPr>
            <p:cNvSpPr>
              <a:spLocks noChangeShapeType="1"/>
            </p:cNvSpPr>
            <p:nvPr/>
          </p:nvSpPr>
          <p:spPr bwMode="auto">
            <a:xfrm>
              <a:off x="3970338" y="3197225"/>
              <a:ext cx="3208337"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49" name="Rectangle 27">
              <a:extLst>
                <a:ext uri="{FF2B5EF4-FFF2-40B4-BE49-F238E27FC236}">
                  <a16:creationId xmlns:a16="http://schemas.microsoft.com/office/drawing/2014/main" id="{FBC0B67F-E59B-0F0C-8DF5-13110B4B7197}"/>
                </a:ext>
              </a:extLst>
            </p:cNvPr>
            <p:cNvSpPr>
              <a:spLocks noChangeArrowheads="1"/>
            </p:cNvSpPr>
            <p:nvPr/>
          </p:nvSpPr>
          <p:spPr bwMode="auto">
            <a:xfrm>
              <a:off x="1196975" y="4443413"/>
              <a:ext cx="1908175" cy="568325"/>
            </a:xfrm>
            <a:prstGeom prst="rect">
              <a:avLst/>
            </a:prstGeom>
            <a:solidFill>
              <a:schemeClr val="accent3"/>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Question</a:t>
              </a:r>
            </a:p>
          </p:txBody>
        </p:sp>
        <p:sp>
          <p:nvSpPr>
            <p:cNvPr id="50" name="Line 28">
              <a:extLst>
                <a:ext uri="{FF2B5EF4-FFF2-40B4-BE49-F238E27FC236}">
                  <a16:creationId xmlns:a16="http://schemas.microsoft.com/office/drawing/2014/main" id="{A385E6BC-399A-0251-0F45-7692076B5B56}"/>
                </a:ext>
              </a:extLst>
            </p:cNvPr>
            <p:cNvSpPr>
              <a:spLocks noChangeShapeType="1"/>
            </p:cNvSpPr>
            <p:nvPr/>
          </p:nvSpPr>
          <p:spPr bwMode="auto">
            <a:xfrm>
              <a:off x="457200" y="5302250"/>
              <a:ext cx="8235950"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51" name="Rectangle 29">
              <a:extLst>
                <a:ext uri="{FF2B5EF4-FFF2-40B4-BE49-F238E27FC236}">
                  <a16:creationId xmlns:a16="http://schemas.microsoft.com/office/drawing/2014/main" id="{E9FC029F-3138-5F7A-4B2D-DE45A03AF78B}"/>
                </a:ext>
              </a:extLst>
            </p:cNvPr>
            <p:cNvSpPr>
              <a:spLocks noChangeArrowheads="1"/>
            </p:cNvSpPr>
            <p:nvPr/>
          </p:nvSpPr>
          <p:spPr bwMode="auto">
            <a:xfrm>
              <a:off x="3641725" y="4448175"/>
              <a:ext cx="4970463" cy="264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45000"/>
                </a:spcBef>
                <a:spcAft>
                  <a:spcPct val="0"/>
                </a:spcAft>
                <a:buClr>
                  <a:schemeClr val="tx1"/>
                </a:buClr>
                <a:buFont typeface="Arial" panose="020B0604020202020204" pitchFamily="34" charset="0"/>
                <a:buChar char="•"/>
              </a:pPr>
              <a:r>
                <a:rPr lang="en-US" altLang="en-US" sz="1400">
                  <a:latin typeface="Roboto" panose="02000000000000000000" pitchFamily="2" charset="0"/>
                  <a:ea typeface="Roboto" panose="02000000000000000000" pitchFamily="2" charset="0"/>
                </a:rPr>
                <a:t>How do you staff for 3.5 Associates?</a:t>
              </a:r>
              <a:endParaRPr lang="en-US" altLang="en-US" sz="1400" b="0">
                <a:latin typeface="Roboto" panose="02000000000000000000" pitchFamily="2" charset="0"/>
                <a:ea typeface="Roboto" panose="02000000000000000000" pitchFamily="2" charset="0"/>
              </a:endParaRPr>
            </a:p>
          </p:txBody>
        </p:sp>
        <p:sp>
          <p:nvSpPr>
            <p:cNvPr id="52" name="Oval 30">
              <a:extLst>
                <a:ext uri="{FF2B5EF4-FFF2-40B4-BE49-F238E27FC236}">
                  <a16:creationId xmlns:a16="http://schemas.microsoft.com/office/drawing/2014/main" id="{F253A955-D58B-27ED-F9E3-1F9280B56EB3}"/>
                </a:ext>
              </a:extLst>
            </p:cNvPr>
            <p:cNvSpPr>
              <a:spLocks noChangeArrowheads="1"/>
            </p:cNvSpPr>
            <p:nvPr/>
          </p:nvSpPr>
          <p:spPr bwMode="auto">
            <a:xfrm>
              <a:off x="519113" y="4551363"/>
              <a:ext cx="400050" cy="366712"/>
            </a:xfrm>
            <a:prstGeom prst="ellipse">
              <a:avLst/>
            </a:prstGeom>
            <a:solidFill>
              <a:schemeClr val="accent1"/>
            </a:solidFill>
            <a:ln w="12700" cap="sq">
              <a:solidFill>
                <a:srgbClr val="8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3</a:t>
              </a:r>
            </a:p>
          </p:txBody>
        </p:sp>
      </p:grpSp>
    </p:spTree>
    <p:extLst>
      <p:ext uri="{BB962C8B-B14F-4D97-AF65-F5344CB8AC3E}">
        <p14:creationId xmlns:p14="http://schemas.microsoft.com/office/powerpoint/2010/main" val="561203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Partial Associate—Guidelines </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30</a:t>
            </a:fld>
            <a:endParaRPr lang="en-US"/>
          </a:p>
        </p:txBody>
      </p:sp>
      <p:grpSp>
        <p:nvGrpSpPr>
          <p:cNvPr id="3" name="Group 2">
            <a:extLst>
              <a:ext uri="{FF2B5EF4-FFF2-40B4-BE49-F238E27FC236}">
                <a16:creationId xmlns:a16="http://schemas.microsoft.com/office/drawing/2014/main" id="{E59B3CBF-5ABE-A498-69B8-907927981904}"/>
              </a:ext>
            </a:extLst>
          </p:cNvPr>
          <p:cNvGrpSpPr/>
          <p:nvPr/>
        </p:nvGrpSpPr>
        <p:grpSpPr>
          <a:xfrm>
            <a:off x="838200" y="297639"/>
            <a:ext cx="4220210" cy="301303"/>
            <a:chOff x="838200" y="297639"/>
            <a:chExt cx="4220210" cy="301303"/>
          </a:xfrm>
        </p:grpSpPr>
        <p:sp>
          <p:nvSpPr>
            <p:cNvPr id="5" name="AutoShape 9">
              <a:extLst>
                <a:ext uri="{FF2B5EF4-FFF2-40B4-BE49-F238E27FC236}">
                  <a16:creationId xmlns:a16="http://schemas.microsoft.com/office/drawing/2014/main" id="{2FA2C170-C446-6B5B-AAB0-CE615D97A889}"/>
                </a:ext>
              </a:extLst>
            </p:cNvPr>
            <p:cNvSpPr>
              <a:spLocks noChangeArrowheads="1"/>
            </p:cNvSpPr>
            <p:nvPr/>
          </p:nvSpPr>
          <p:spPr bwMode="auto">
            <a:xfrm>
              <a:off x="1779225" y="298454"/>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6" name="Group 5">
              <a:extLst>
                <a:ext uri="{FF2B5EF4-FFF2-40B4-BE49-F238E27FC236}">
                  <a16:creationId xmlns:a16="http://schemas.microsoft.com/office/drawing/2014/main" id="{9C2BB869-711E-EDCF-3E70-9D220EA50D3A}"/>
                </a:ext>
              </a:extLst>
            </p:cNvPr>
            <p:cNvGrpSpPr/>
            <p:nvPr/>
          </p:nvGrpSpPr>
          <p:grpSpPr>
            <a:xfrm>
              <a:off x="838200" y="297639"/>
              <a:ext cx="4220210" cy="301303"/>
              <a:chOff x="838200" y="297639"/>
              <a:chExt cx="4220210" cy="301303"/>
            </a:xfrm>
          </p:grpSpPr>
          <p:grpSp>
            <p:nvGrpSpPr>
              <p:cNvPr id="7" name="Group 6">
                <a:extLst>
                  <a:ext uri="{FF2B5EF4-FFF2-40B4-BE49-F238E27FC236}">
                    <a16:creationId xmlns:a16="http://schemas.microsoft.com/office/drawing/2014/main" id="{2610C34F-6578-4FE5-65A3-F08C785B5BBF}"/>
                  </a:ext>
                </a:extLst>
              </p:cNvPr>
              <p:cNvGrpSpPr/>
              <p:nvPr/>
            </p:nvGrpSpPr>
            <p:grpSpPr>
              <a:xfrm>
                <a:off x="838200" y="297639"/>
                <a:ext cx="1060167" cy="290657"/>
                <a:chOff x="826426" y="4041857"/>
                <a:chExt cx="1060167" cy="290657"/>
              </a:xfrm>
            </p:grpSpPr>
            <p:sp>
              <p:nvSpPr>
                <p:cNvPr id="9" name="AutoShape 9">
                  <a:extLst>
                    <a:ext uri="{FF2B5EF4-FFF2-40B4-BE49-F238E27FC236}">
                      <a16:creationId xmlns:a16="http://schemas.microsoft.com/office/drawing/2014/main" id="{C4BAC9EF-B7C5-7987-4E79-A6A74B4DFB2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A747822C-FF49-93E1-752C-68C5CBA2D385}"/>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0">
                  <a:extLst>
                    <a:ext uri="{FF2B5EF4-FFF2-40B4-BE49-F238E27FC236}">
                      <a16:creationId xmlns:a16="http://schemas.microsoft.com/office/drawing/2014/main" id="{F7978C6F-E01F-648B-74C4-F93F25FFC582}"/>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8" name="TextBox 7">
                <a:extLst>
                  <a:ext uri="{FF2B5EF4-FFF2-40B4-BE49-F238E27FC236}">
                    <a16:creationId xmlns:a16="http://schemas.microsoft.com/office/drawing/2014/main" id="{16C8119E-347B-1271-DC3C-C23ABFB31C8E}"/>
                  </a:ext>
                </a:extLst>
              </p:cNvPr>
              <p:cNvSpPr txBox="1"/>
              <p:nvPr/>
            </p:nvSpPr>
            <p:spPr>
              <a:xfrm>
                <a:off x="219045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Work Sequence</a:t>
                </a:r>
              </a:p>
            </p:txBody>
          </p:sp>
        </p:grpSp>
      </p:grpSp>
      <p:graphicFrame>
        <p:nvGraphicFramePr>
          <p:cNvPr id="12" name="Group 11">
            <a:extLst>
              <a:ext uri="{FF2B5EF4-FFF2-40B4-BE49-F238E27FC236}">
                <a16:creationId xmlns:a16="http://schemas.microsoft.com/office/drawing/2014/main" id="{E968F98E-4F5F-4941-71A4-DB7EFEF0AA7E}"/>
              </a:ext>
            </a:extLst>
          </p:cNvPr>
          <p:cNvGraphicFramePr>
            <a:graphicFrameLocks/>
          </p:cNvGraphicFramePr>
          <p:nvPr>
            <p:extLst>
              <p:ext uri="{D42A27DB-BD31-4B8C-83A1-F6EECF244321}">
                <p14:modId xmlns:p14="http://schemas.microsoft.com/office/powerpoint/2010/main" val="2267438097"/>
              </p:ext>
            </p:extLst>
          </p:nvPr>
        </p:nvGraphicFramePr>
        <p:xfrm>
          <a:off x="2013744" y="1795767"/>
          <a:ext cx="8164513" cy="4432301"/>
        </p:xfrm>
        <a:graphic>
          <a:graphicData uri="http://schemas.openxmlformats.org/drawingml/2006/table">
            <a:tbl>
              <a:tblPr/>
              <a:tblGrid>
                <a:gridCol w="1843088">
                  <a:extLst>
                    <a:ext uri="{9D8B030D-6E8A-4147-A177-3AD203B41FA5}">
                      <a16:colId xmlns:a16="http://schemas.microsoft.com/office/drawing/2014/main" val="20000"/>
                    </a:ext>
                  </a:extLst>
                </a:gridCol>
                <a:gridCol w="6321425">
                  <a:extLst>
                    <a:ext uri="{9D8B030D-6E8A-4147-A177-3AD203B41FA5}">
                      <a16:colId xmlns:a16="http://schemas.microsoft.com/office/drawing/2014/main" val="20001"/>
                    </a:ext>
                  </a:extLst>
                </a:gridCol>
              </a:tblGrid>
              <a:tr h="1035050">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1800" b="1" i="0" u="none" strike="noStrike" cap="none" normalizeH="0" baseline="0" dirty="0">
                          <a:ln>
                            <a:noFill/>
                          </a:ln>
                          <a:solidFill>
                            <a:schemeClr val="bg1"/>
                          </a:solidFill>
                          <a:effectLst/>
                          <a:latin typeface="Roboto" panose="02000000000000000000" pitchFamily="2" charset="0"/>
                          <a:ea typeface="Roboto" panose="02000000000000000000" pitchFamily="2" charset="0"/>
                          <a:cs typeface="Arial" charset="0"/>
                        </a:rPr>
                        <a:t>Remainder in # of Associates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1800" b="1" i="0" u="none" strike="noStrike" cap="none" normalizeH="0" baseline="0" dirty="0">
                          <a:ln>
                            <a:noFill/>
                          </a:ln>
                          <a:solidFill>
                            <a:schemeClr val="bg1"/>
                          </a:solidFill>
                          <a:effectLst/>
                          <a:latin typeface="Roboto" panose="02000000000000000000" pitchFamily="2" charset="0"/>
                          <a:ea typeface="Roboto" panose="02000000000000000000" pitchFamily="2" charset="0"/>
                          <a:cs typeface="Arial" charset="0"/>
                        </a:rPr>
                        <a:t>Guideline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solidFill>
                  </a:tcPr>
                </a:tc>
                <a:extLst>
                  <a:ext uri="{0D108BD9-81ED-4DB2-BD59-A6C34878D82A}">
                    <a16:rowId xmlns:a16="http://schemas.microsoft.com/office/drawing/2014/main" val="10000"/>
                  </a:ext>
                </a:extLst>
              </a:tr>
              <a:tr h="1131888">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1800" b="1" i="0" u="none" strike="noStrike" cap="none" normalizeH="0" baseline="0" dirty="0">
                          <a:ln>
                            <a:noFill/>
                          </a:ln>
                          <a:solidFill>
                            <a:schemeClr val="bg1"/>
                          </a:solidFill>
                          <a:effectLst/>
                          <a:latin typeface="Roboto" panose="02000000000000000000" pitchFamily="2" charset="0"/>
                          <a:ea typeface="Roboto" panose="02000000000000000000" pitchFamily="2" charset="0"/>
                          <a:cs typeface="Arial" charset="0"/>
                        </a:rPr>
                        <a:t>&lt;.3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solid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18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charset="0"/>
                        </a:rPr>
                        <a:t>Do not add another Associate. Look for waste and kaizen opportunities to eliminate this work.</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133475">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1800" b="1" i="0" u="none" strike="noStrike" cap="none" normalizeH="0" baseline="0" dirty="0">
                          <a:ln>
                            <a:noFill/>
                          </a:ln>
                          <a:solidFill>
                            <a:schemeClr val="bg1"/>
                          </a:solidFill>
                          <a:effectLst/>
                          <a:latin typeface="Roboto" panose="02000000000000000000" pitchFamily="2" charset="0"/>
                          <a:ea typeface="Roboto" panose="02000000000000000000" pitchFamily="2" charset="0"/>
                          <a:cs typeface="Arial" charset="0"/>
                        </a:rPr>
                        <a:t>.3 - .5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solid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18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charset="0"/>
                        </a:rPr>
                        <a:t>Do not add another Associate yet. Run area for two weeks and evaluate if enough waste exists to reduce the Associate process time.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131888">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1800" b="1" i="0" u="none" strike="noStrike" cap="none" normalizeH="0" baseline="0" dirty="0">
                          <a:ln>
                            <a:noFill/>
                          </a:ln>
                          <a:solidFill>
                            <a:schemeClr val="bg1"/>
                          </a:solidFill>
                          <a:effectLst/>
                          <a:latin typeface="Roboto" panose="02000000000000000000" pitchFamily="2" charset="0"/>
                          <a:ea typeface="Roboto" panose="02000000000000000000" pitchFamily="2" charset="0"/>
                          <a:cs typeface="Arial" charset="0"/>
                        </a:rPr>
                        <a:t>&gt;.5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tx2"/>
                    </a:solid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18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charset="0"/>
                        </a:rPr>
                        <a:t>Add another Associate if necessary and continue to reduce waste and Associate process time which will eventually eliminate the need for this associate.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1449422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 Putting it all together</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31</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236637"/>
            <a:ext cx="9722342" cy="718145"/>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Calculate the takt time, number of Associates, and determine the best </a:t>
            </a:r>
            <a:b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work sequence for each Associate.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small groups, calculate takt time, number of</a:t>
            </a:r>
            <a:b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Associates, and determine the work sequence for each of the examples on the following three slides.</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15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59513"/>
            <a:ext cx="4681292" cy="121058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For each example, determine takt time, number of Associates, and work sequence</a:t>
            </a:r>
          </a:p>
        </p:txBody>
      </p:sp>
      <p:grpSp>
        <p:nvGrpSpPr>
          <p:cNvPr id="20" name="Group 19">
            <a:extLst>
              <a:ext uri="{FF2B5EF4-FFF2-40B4-BE49-F238E27FC236}">
                <a16:creationId xmlns:a16="http://schemas.microsoft.com/office/drawing/2014/main" id="{D7279C89-E6D6-8A8F-904B-ED22289F6FD8}"/>
              </a:ext>
            </a:extLst>
          </p:cNvPr>
          <p:cNvGrpSpPr/>
          <p:nvPr/>
        </p:nvGrpSpPr>
        <p:grpSpPr>
          <a:xfrm>
            <a:off x="838200" y="297639"/>
            <a:ext cx="4220210" cy="301303"/>
            <a:chOff x="838200" y="297639"/>
            <a:chExt cx="4220210" cy="301303"/>
          </a:xfrm>
        </p:grpSpPr>
        <p:sp>
          <p:nvSpPr>
            <p:cNvPr id="21" name="AutoShape 9">
              <a:extLst>
                <a:ext uri="{FF2B5EF4-FFF2-40B4-BE49-F238E27FC236}">
                  <a16:creationId xmlns:a16="http://schemas.microsoft.com/office/drawing/2014/main" id="{A2CF2D1A-B280-2188-48CA-3F5BFC124FFD}"/>
                </a:ext>
              </a:extLst>
            </p:cNvPr>
            <p:cNvSpPr>
              <a:spLocks noChangeArrowheads="1"/>
            </p:cNvSpPr>
            <p:nvPr/>
          </p:nvSpPr>
          <p:spPr bwMode="auto">
            <a:xfrm>
              <a:off x="1779225" y="298454"/>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2" name="Group 21">
              <a:extLst>
                <a:ext uri="{FF2B5EF4-FFF2-40B4-BE49-F238E27FC236}">
                  <a16:creationId xmlns:a16="http://schemas.microsoft.com/office/drawing/2014/main" id="{99FE207C-53B5-D7FA-C500-D03F10658059}"/>
                </a:ext>
              </a:extLst>
            </p:cNvPr>
            <p:cNvGrpSpPr/>
            <p:nvPr/>
          </p:nvGrpSpPr>
          <p:grpSpPr>
            <a:xfrm>
              <a:off x="838200" y="297639"/>
              <a:ext cx="4220210" cy="301303"/>
              <a:chOff x="838200" y="297639"/>
              <a:chExt cx="4220210" cy="301303"/>
            </a:xfrm>
          </p:grpSpPr>
          <p:grpSp>
            <p:nvGrpSpPr>
              <p:cNvPr id="23" name="Group 22">
                <a:extLst>
                  <a:ext uri="{FF2B5EF4-FFF2-40B4-BE49-F238E27FC236}">
                    <a16:creationId xmlns:a16="http://schemas.microsoft.com/office/drawing/2014/main" id="{7B916310-E2BA-3C15-6A72-4A284848EE45}"/>
                  </a:ext>
                </a:extLst>
              </p:cNvPr>
              <p:cNvGrpSpPr/>
              <p:nvPr/>
            </p:nvGrpSpPr>
            <p:grpSpPr>
              <a:xfrm>
                <a:off x="838200" y="297639"/>
                <a:ext cx="1060167" cy="290657"/>
                <a:chOff x="826426" y="4041857"/>
                <a:chExt cx="1060167" cy="290657"/>
              </a:xfrm>
            </p:grpSpPr>
            <p:sp>
              <p:nvSpPr>
                <p:cNvPr id="25" name="AutoShape 9">
                  <a:extLst>
                    <a:ext uri="{FF2B5EF4-FFF2-40B4-BE49-F238E27FC236}">
                      <a16:creationId xmlns:a16="http://schemas.microsoft.com/office/drawing/2014/main" id="{DC87D0E3-B779-0AD1-B749-3F06BE54902B}"/>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6" name="AutoShape 11">
                  <a:extLst>
                    <a:ext uri="{FF2B5EF4-FFF2-40B4-BE49-F238E27FC236}">
                      <a16:creationId xmlns:a16="http://schemas.microsoft.com/office/drawing/2014/main" id="{B5B75ED1-DC31-33E5-6826-CB6C236A1405}"/>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7" name="AutoShape 10">
                  <a:extLst>
                    <a:ext uri="{FF2B5EF4-FFF2-40B4-BE49-F238E27FC236}">
                      <a16:creationId xmlns:a16="http://schemas.microsoft.com/office/drawing/2014/main" id="{9024CCF3-AEB1-51F4-F018-0F7B45AB48CC}"/>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24" name="TextBox 23">
                <a:extLst>
                  <a:ext uri="{FF2B5EF4-FFF2-40B4-BE49-F238E27FC236}">
                    <a16:creationId xmlns:a16="http://schemas.microsoft.com/office/drawing/2014/main" id="{304168D0-7C34-540F-48FE-13A0658FD0C2}"/>
                  </a:ext>
                </a:extLst>
              </p:cNvPr>
              <p:cNvSpPr txBox="1"/>
              <p:nvPr/>
            </p:nvSpPr>
            <p:spPr>
              <a:xfrm>
                <a:off x="219045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Work Sequence</a:t>
                </a:r>
              </a:p>
            </p:txBody>
          </p:sp>
        </p:grpSp>
      </p:grpSp>
    </p:spTree>
    <p:extLst>
      <p:ext uri="{BB962C8B-B14F-4D97-AF65-F5344CB8AC3E}">
        <p14:creationId xmlns:p14="http://schemas.microsoft.com/office/powerpoint/2010/main" val="37553130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Exercise</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32</a:t>
            </a:fld>
            <a:endParaRPr lang="en-US"/>
          </a:p>
        </p:txBody>
      </p:sp>
      <p:grpSp>
        <p:nvGrpSpPr>
          <p:cNvPr id="3" name="Group 2">
            <a:extLst>
              <a:ext uri="{FF2B5EF4-FFF2-40B4-BE49-F238E27FC236}">
                <a16:creationId xmlns:a16="http://schemas.microsoft.com/office/drawing/2014/main" id="{E59B3CBF-5ABE-A498-69B8-907927981904}"/>
              </a:ext>
            </a:extLst>
          </p:cNvPr>
          <p:cNvGrpSpPr/>
          <p:nvPr/>
        </p:nvGrpSpPr>
        <p:grpSpPr>
          <a:xfrm>
            <a:off x="838200" y="297639"/>
            <a:ext cx="4220210" cy="301303"/>
            <a:chOff x="838200" y="297639"/>
            <a:chExt cx="4220210" cy="301303"/>
          </a:xfrm>
        </p:grpSpPr>
        <p:sp>
          <p:nvSpPr>
            <p:cNvPr id="5" name="AutoShape 9">
              <a:extLst>
                <a:ext uri="{FF2B5EF4-FFF2-40B4-BE49-F238E27FC236}">
                  <a16:creationId xmlns:a16="http://schemas.microsoft.com/office/drawing/2014/main" id="{2FA2C170-C446-6B5B-AAB0-CE615D97A889}"/>
                </a:ext>
              </a:extLst>
            </p:cNvPr>
            <p:cNvSpPr>
              <a:spLocks noChangeArrowheads="1"/>
            </p:cNvSpPr>
            <p:nvPr/>
          </p:nvSpPr>
          <p:spPr bwMode="auto">
            <a:xfrm>
              <a:off x="1779225" y="298454"/>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6" name="Group 5">
              <a:extLst>
                <a:ext uri="{FF2B5EF4-FFF2-40B4-BE49-F238E27FC236}">
                  <a16:creationId xmlns:a16="http://schemas.microsoft.com/office/drawing/2014/main" id="{9C2BB869-711E-EDCF-3E70-9D220EA50D3A}"/>
                </a:ext>
              </a:extLst>
            </p:cNvPr>
            <p:cNvGrpSpPr/>
            <p:nvPr/>
          </p:nvGrpSpPr>
          <p:grpSpPr>
            <a:xfrm>
              <a:off x="838200" y="297639"/>
              <a:ext cx="4220210" cy="301303"/>
              <a:chOff x="838200" y="297639"/>
              <a:chExt cx="4220210" cy="301303"/>
            </a:xfrm>
          </p:grpSpPr>
          <p:grpSp>
            <p:nvGrpSpPr>
              <p:cNvPr id="7" name="Group 6">
                <a:extLst>
                  <a:ext uri="{FF2B5EF4-FFF2-40B4-BE49-F238E27FC236}">
                    <a16:creationId xmlns:a16="http://schemas.microsoft.com/office/drawing/2014/main" id="{2610C34F-6578-4FE5-65A3-F08C785B5BBF}"/>
                  </a:ext>
                </a:extLst>
              </p:cNvPr>
              <p:cNvGrpSpPr/>
              <p:nvPr/>
            </p:nvGrpSpPr>
            <p:grpSpPr>
              <a:xfrm>
                <a:off x="838200" y="297639"/>
                <a:ext cx="1060167" cy="290657"/>
                <a:chOff x="826426" y="4041857"/>
                <a:chExt cx="1060167" cy="290657"/>
              </a:xfrm>
            </p:grpSpPr>
            <p:sp>
              <p:nvSpPr>
                <p:cNvPr id="9" name="AutoShape 9">
                  <a:extLst>
                    <a:ext uri="{FF2B5EF4-FFF2-40B4-BE49-F238E27FC236}">
                      <a16:creationId xmlns:a16="http://schemas.microsoft.com/office/drawing/2014/main" id="{C4BAC9EF-B7C5-7987-4E79-A6A74B4DFB2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A747822C-FF49-93E1-752C-68C5CBA2D385}"/>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0">
                  <a:extLst>
                    <a:ext uri="{FF2B5EF4-FFF2-40B4-BE49-F238E27FC236}">
                      <a16:creationId xmlns:a16="http://schemas.microsoft.com/office/drawing/2014/main" id="{F7978C6F-E01F-648B-74C4-F93F25FFC582}"/>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8" name="TextBox 7">
                <a:extLst>
                  <a:ext uri="{FF2B5EF4-FFF2-40B4-BE49-F238E27FC236}">
                    <a16:creationId xmlns:a16="http://schemas.microsoft.com/office/drawing/2014/main" id="{16C8119E-347B-1271-DC3C-C23ABFB31C8E}"/>
                  </a:ext>
                </a:extLst>
              </p:cNvPr>
              <p:cNvSpPr txBox="1"/>
              <p:nvPr/>
            </p:nvSpPr>
            <p:spPr>
              <a:xfrm>
                <a:off x="219045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Work Sequence</a:t>
                </a:r>
              </a:p>
            </p:txBody>
          </p:sp>
        </p:grpSp>
      </p:grpSp>
      <p:sp>
        <p:nvSpPr>
          <p:cNvPr id="22" name="Text Box 91">
            <a:extLst>
              <a:ext uri="{FF2B5EF4-FFF2-40B4-BE49-F238E27FC236}">
                <a16:creationId xmlns:a16="http://schemas.microsoft.com/office/drawing/2014/main" id="{7E925B36-8BE5-6D78-AE90-A08E106AEAE2}"/>
              </a:ext>
            </a:extLst>
          </p:cNvPr>
          <p:cNvSpPr txBox="1">
            <a:spLocks noChangeArrowheads="1"/>
          </p:cNvSpPr>
          <p:nvPr/>
        </p:nvSpPr>
        <p:spPr bwMode="auto">
          <a:xfrm>
            <a:off x="838200" y="2119948"/>
            <a:ext cx="4766048"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800" dirty="0">
                <a:latin typeface="Roboto" panose="02000000000000000000" pitchFamily="2" charset="0"/>
                <a:ea typeface="Roboto" panose="02000000000000000000" pitchFamily="2" charset="0"/>
              </a:rPr>
              <a:t>Daily Demand: 18 invoices</a:t>
            </a:r>
          </a:p>
          <a:p>
            <a:pPr eaLnBrk="1" hangingPunct="1">
              <a:lnSpc>
                <a:spcPct val="100000"/>
              </a:lnSpc>
              <a:spcBef>
                <a:spcPct val="0"/>
              </a:spcBef>
              <a:spcAft>
                <a:spcPct val="0"/>
              </a:spcAft>
              <a:buClrTx/>
              <a:buSzTx/>
              <a:buFontTx/>
              <a:buNone/>
            </a:pPr>
            <a:r>
              <a:rPr lang="en-US" altLang="en-US" sz="1800" dirty="0">
                <a:latin typeface="Roboto" panose="02000000000000000000" pitchFamily="2" charset="0"/>
                <a:ea typeface="Roboto" panose="02000000000000000000" pitchFamily="2" charset="0"/>
              </a:rPr>
              <a:t>Available Time: 450 minutes</a:t>
            </a:r>
          </a:p>
          <a:p>
            <a:pPr eaLnBrk="1" hangingPunct="1">
              <a:lnSpc>
                <a:spcPct val="100000"/>
              </a:lnSpc>
              <a:spcBef>
                <a:spcPct val="0"/>
              </a:spcBef>
              <a:spcAft>
                <a:spcPct val="0"/>
              </a:spcAft>
              <a:buClrTx/>
              <a:buSzTx/>
              <a:buFontTx/>
              <a:buNone/>
            </a:pPr>
            <a:endParaRPr lang="en-US" altLang="en-US" sz="1800" dirty="0">
              <a:latin typeface="Roboto" panose="02000000000000000000" pitchFamily="2" charset="0"/>
              <a:ea typeface="Roboto" panose="02000000000000000000" pitchFamily="2" charset="0"/>
            </a:endParaRPr>
          </a:p>
          <a:p>
            <a:pPr eaLnBrk="1" hangingPunct="1">
              <a:lnSpc>
                <a:spcPct val="100000"/>
              </a:lnSpc>
              <a:spcBef>
                <a:spcPct val="0"/>
              </a:spcBef>
              <a:spcAft>
                <a:spcPct val="0"/>
              </a:spcAft>
              <a:buClrTx/>
              <a:buSzTx/>
              <a:buFontTx/>
              <a:buNone/>
            </a:pPr>
            <a:r>
              <a:rPr lang="en-US" altLang="en-US" sz="1800" dirty="0">
                <a:latin typeface="Roboto" panose="02000000000000000000" pitchFamily="2" charset="0"/>
                <a:ea typeface="Roboto" panose="02000000000000000000" pitchFamily="2" charset="0"/>
              </a:rPr>
              <a:t>Takt Time: _________________</a:t>
            </a:r>
          </a:p>
          <a:p>
            <a:pPr eaLnBrk="1" hangingPunct="1">
              <a:lnSpc>
                <a:spcPct val="100000"/>
              </a:lnSpc>
              <a:spcBef>
                <a:spcPct val="0"/>
              </a:spcBef>
              <a:spcAft>
                <a:spcPct val="0"/>
              </a:spcAft>
              <a:buClrTx/>
              <a:buSzTx/>
              <a:buFontTx/>
              <a:buNone/>
            </a:pPr>
            <a:r>
              <a:rPr lang="en-US" altLang="en-US" sz="1800" dirty="0">
                <a:latin typeface="Roboto" panose="02000000000000000000" pitchFamily="2" charset="0"/>
                <a:ea typeface="Roboto" panose="02000000000000000000" pitchFamily="2" charset="0"/>
              </a:rPr>
              <a:t>Number of Associates: _______</a:t>
            </a:r>
          </a:p>
          <a:p>
            <a:pPr eaLnBrk="1" hangingPunct="1">
              <a:lnSpc>
                <a:spcPct val="100000"/>
              </a:lnSpc>
              <a:spcBef>
                <a:spcPct val="0"/>
              </a:spcBef>
              <a:spcAft>
                <a:spcPct val="0"/>
              </a:spcAft>
              <a:buClrTx/>
              <a:buSzTx/>
              <a:buFontTx/>
              <a:buNone/>
            </a:pPr>
            <a:endParaRPr lang="en-US" altLang="en-US" sz="1800" dirty="0">
              <a:latin typeface="Roboto" panose="02000000000000000000" pitchFamily="2" charset="0"/>
              <a:ea typeface="Roboto" panose="02000000000000000000" pitchFamily="2" charset="0"/>
            </a:endParaRPr>
          </a:p>
          <a:p>
            <a:pPr eaLnBrk="1" hangingPunct="1">
              <a:lnSpc>
                <a:spcPct val="100000"/>
              </a:lnSpc>
              <a:spcBef>
                <a:spcPct val="0"/>
              </a:spcBef>
              <a:spcAft>
                <a:spcPct val="0"/>
              </a:spcAft>
              <a:buClrTx/>
              <a:buSzTx/>
              <a:buFontTx/>
              <a:buNone/>
            </a:pPr>
            <a:r>
              <a:rPr lang="en-US" altLang="en-US" sz="1800" dirty="0">
                <a:latin typeface="Roboto" panose="02000000000000000000" pitchFamily="2" charset="0"/>
                <a:ea typeface="Roboto" panose="02000000000000000000" pitchFamily="2" charset="0"/>
              </a:rPr>
              <a:t>Draw the work sequence for each associate:</a:t>
            </a:r>
          </a:p>
        </p:txBody>
      </p:sp>
      <p:grpSp>
        <p:nvGrpSpPr>
          <p:cNvPr id="30" name="Group 29">
            <a:extLst>
              <a:ext uri="{FF2B5EF4-FFF2-40B4-BE49-F238E27FC236}">
                <a16:creationId xmlns:a16="http://schemas.microsoft.com/office/drawing/2014/main" id="{44A2E8BD-3AA9-5388-62FE-C65EE8B34F11}"/>
              </a:ext>
            </a:extLst>
          </p:cNvPr>
          <p:cNvGrpSpPr/>
          <p:nvPr/>
        </p:nvGrpSpPr>
        <p:grpSpPr>
          <a:xfrm>
            <a:off x="6805614" y="2754630"/>
            <a:ext cx="4007166" cy="3018790"/>
            <a:chOff x="1976438" y="3519488"/>
            <a:chExt cx="3197225" cy="2436812"/>
          </a:xfrm>
        </p:grpSpPr>
        <p:sp>
          <p:nvSpPr>
            <p:cNvPr id="21" name="Rectangle 7">
              <a:extLst>
                <a:ext uri="{FF2B5EF4-FFF2-40B4-BE49-F238E27FC236}">
                  <a16:creationId xmlns:a16="http://schemas.microsoft.com/office/drawing/2014/main" id="{9ED49F68-462C-035F-1D96-CB87EF93EC44}"/>
                </a:ext>
              </a:extLst>
            </p:cNvPr>
            <p:cNvSpPr>
              <a:spLocks noChangeArrowheads="1"/>
            </p:cNvSpPr>
            <p:nvPr/>
          </p:nvSpPr>
          <p:spPr bwMode="auto">
            <a:xfrm>
              <a:off x="1984375" y="5072063"/>
              <a:ext cx="1228725" cy="884237"/>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600" b="0">
                  <a:latin typeface="Roboto" panose="02000000000000000000" pitchFamily="2" charset="0"/>
                  <a:ea typeface="Roboto" panose="02000000000000000000" pitchFamily="2" charset="0"/>
                </a:rPr>
                <a:t>Receive</a:t>
              </a:r>
            </a:p>
            <a:p>
              <a:pPr eaLnBrk="1" hangingPunct="1">
                <a:lnSpc>
                  <a:spcPct val="100000"/>
                </a:lnSpc>
                <a:spcBef>
                  <a:spcPct val="0"/>
                </a:spcBef>
                <a:spcAft>
                  <a:spcPct val="0"/>
                </a:spcAft>
                <a:buClrTx/>
                <a:buSzTx/>
                <a:buFontTx/>
                <a:buNone/>
              </a:pPr>
              <a:r>
                <a:rPr lang="en-US" altLang="en-US" sz="1600" b="0">
                  <a:latin typeface="Roboto" panose="02000000000000000000" pitchFamily="2" charset="0"/>
                  <a:ea typeface="Roboto" panose="02000000000000000000" pitchFamily="2" charset="0"/>
                </a:rPr>
                <a:t>3.5 min.</a:t>
              </a:r>
            </a:p>
          </p:txBody>
        </p:sp>
        <p:sp>
          <p:nvSpPr>
            <p:cNvPr id="23" name="Rectangle 7">
              <a:extLst>
                <a:ext uri="{FF2B5EF4-FFF2-40B4-BE49-F238E27FC236}">
                  <a16:creationId xmlns:a16="http://schemas.microsoft.com/office/drawing/2014/main" id="{091A0874-43DA-9049-F37F-63F8E205A985}"/>
                </a:ext>
              </a:extLst>
            </p:cNvPr>
            <p:cNvSpPr>
              <a:spLocks noChangeArrowheads="1"/>
            </p:cNvSpPr>
            <p:nvPr/>
          </p:nvSpPr>
          <p:spPr bwMode="auto">
            <a:xfrm>
              <a:off x="3941763" y="5068888"/>
              <a:ext cx="1227137" cy="882650"/>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600" b="0">
                  <a:latin typeface="Roboto" panose="02000000000000000000" pitchFamily="2" charset="0"/>
                  <a:ea typeface="Roboto" panose="02000000000000000000" pitchFamily="2" charset="0"/>
                </a:rPr>
                <a:t>Data Entry, Verification</a:t>
              </a:r>
            </a:p>
            <a:p>
              <a:pPr eaLnBrk="1" hangingPunct="1">
                <a:lnSpc>
                  <a:spcPct val="100000"/>
                </a:lnSpc>
                <a:spcBef>
                  <a:spcPct val="0"/>
                </a:spcBef>
                <a:spcAft>
                  <a:spcPct val="0"/>
                </a:spcAft>
                <a:buClrTx/>
                <a:buSzTx/>
                <a:buFontTx/>
                <a:buNone/>
              </a:pPr>
              <a:r>
                <a:rPr lang="en-US" altLang="en-US" sz="1600" b="0">
                  <a:latin typeface="Roboto" panose="02000000000000000000" pitchFamily="2" charset="0"/>
                  <a:ea typeface="Roboto" panose="02000000000000000000" pitchFamily="2" charset="0"/>
                </a:rPr>
                <a:t>9 min</a:t>
              </a:r>
            </a:p>
          </p:txBody>
        </p:sp>
        <p:sp>
          <p:nvSpPr>
            <p:cNvPr id="24" name="Rectangle 7">
              <a:extLst>
                <a:ext uri="{FF2B5EF4-FFF2-40B4-BE49-F238E27FC236}">
                  <a16:creationId xmlns:a16="http://schemas.microsoft.com/office/drawing/2014/main" id="{3C217449-3AB3-6DAB-7F69-8C1C62DD0154}"/>
                </a:ext>
              </a:extLst>
            </p:cNvPr>
            <p:cNvSpPr>
              <a:spLocks noChangeArrowheads="1"/>
            </p:cNvSpPr>
            <p:nvPr/>
          </p:nvSpPr>
          <p:spPr bwMode="auto">
            <a:xfrm>
              <a:off x="1976438" y="3524250"/>
              <a:ext cx="1228725" cy="882650"/>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600" b="0">
                  <a:latin typeface="Roboto" panose="02000000000000000000" pitchFamily="2" charset="0"/>
                  <a:ea typeface="Roboto" panose="02000000000000000000" pitchFamily="2" charset="0"/>
                </a:rPr>
                <a:t>Mail</a:t>
              </a:r>
            </a:p>
            <a:p>
              <a:pPr eaLnBrk="1" hangingPunct="1">
                <a:lnSpc>
                  <a:spcPct val="100000"/>
                </a:lnSpc>
                <a:spcBef>
                  <a:spcPct val="0"/>
                </a:spcBef>
                <a:spcAft>
                  <a:spcPct val="0"/>
                </a:spcAft>
                <a:buClrTx/>
                <a:buSzTx/>
                <a:buFontTx/>
                <a:buNone/>
              </a:pPr>
              <a:r>
                <a:rPr lang="en-US" altLang="en-US" sz="1600" b="0">
                  <a:latin typeface="Roboto" panose="02000000000000000000" pitchFamily="2" charset="0"/>
                  <a:ea typeface="Roboto" panose="02000000000000000000" pitchFamily="2" charset="0"/>
                </a:rPr>
                <a:t>Check</a:t>
              </a:r>
            </a:p>
            <a:p>
              <a:pPr eaLnBrk="1" hangingPunct="1">
                <a:lnSpc>
                  <a:spcPct val="100000"/>
                </a:lnSpc>
                <a:spcBef>
                  <a:spcPct val="0"/>
                </a:spcBef>
                <a:spcAft>
                  <a:spcPct val="0"/>
                </a:spcAft>
                <a:buClrTx/>
                <a:buSzTx/>
                <a:buFontTx/>
                <a:buNone/>
              </a:pPr>
              <a:r>
                <a:rPr lang="en-US" altLang="en-US" sz="1600" b="0">
                  <a:latin typeface="Roboto" panose="02000000000000000000" pitchFamily="2" charset="0"/>
                  <a:ea typeface="Roboto" panose="02000000000000000000" pitchFamily="2" charset="0"/>
                </a:rPr>
                <a:t>5 min</a:t>
              </a:r>
            </a:p>
            <a:p>
              <a:pPr eaLnBrk="1" hangingPunct="1">
                <a:lnSpc>
                  <a:spcPct val="100000"/>
                </a:lnSpc>
                <a:spcBef>
                  <a:spcPct val="0"/>
                </a:spcBef>
                <a:spcAft>
                  <a:spcPct val="0"/>
                </a:spcAft>
                <a:buClrTx/>
                <a:buSzTx/>
                <a:buFontTx/>
                <a:buNone/>
              </a:pPr>
              <a:endParaRPr lang="en-US" altLang="en-US" sz="1600" b="0">
                <a:latin typeface="Roboto" panose="02000000000000000000" pitchFamily="2" charset="0"/>
                <a:ea typeface="Roboto" panose="02000000000000000000" pitchFamily="2" charset="0"/>
              </a:endParaRPr>
            </a:p>
          </p:txBody>
        </p:sp>
        <p:sp>
          <p:nvSpPr>
            <p:cNvPr id="25" name="Rectangle 7">
              <a:extLst>
                <a:ext uri="{FF2B5EF4-FFF2-40B4-BE49-F238E27FC236}">
                  <a16:creationId xmlns:a16="http://schemas.microsoft.com/office/drawing/2014/main" id="{2814E631-520B-C8CE-439A-2C65EC674273}"/>
                </a:ext>
              </a:extLst>
            </p:cNvPr>
            <p:cNvSpPr>
              <a:spLocks noChangeArrowheads="1"/>
            </p:cNvSpPr>
            <p:nvPr/>
          </p:nvSpPr>
          <p:spPr bwMode="auto">
            <a:xfrm>
              <a:off x="3946525" y="3519488"/>
              <a:ext cx="1227138" cy="884237"/>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600" b="0">
                  <a:latin typeface="Roboto" panose="02000000000000000000" pitchFamily="2" charset="0"/>
                  <a:ea typeface="Roboto" panose="02000000000000000000" pitchFamily="2" charset="0"/>
                </a:rPr>
                <a:t>Process Check</a:t>
              </a:r>
            </a:p>
            <a:p>
              <a:pPr eaLnBrk="1" hangingPunct="1">
                <a:lnSpc>
                  <a:spcPct val="100000"/>
                </a:lnSpc>
                <a:spcBef>
                  <a:spcPct val="0"/>
                </a:spcBef>
                <a:spcAft>
                  <a:spcPct val="0"/>
                </a:spcAft>
                <a:buClrTx/>
                <a:buSzTx/>
                <a:buFontTx/>
                <a:buNone/>
              </a:pPr>
              <a:r>
                <a:rPr lang="en-US" altLang="en-US" sz="1600" b="0">
                  <a:latin typeface="Roboto" panose="02000000000000000000" pitchFamily="2" charset="0"/>
                  <a:ea typeface="Roboto" panose="02000000000000000000" pitchFamily="2" charset="0"/>
                </a:rPr>
                <a:t>7.5 min</a:t>
              </a:r>
            </a:p>
            <a:p>
              <a:pPr eaLnBrk="1" hangingPunct="1">
                <a:lnSpc>
                  <a:spcPct val="100000"/>
                </a:lnSpc>
                <a:spcBef>
                  <a:spcPct val="0"/>
                </a:spcBef>
                <a:spcAft>
                  <a:spcPct val="0"/>
                </a:spcAft>
                <a:buClrTx/>
                <a:buSzTx/>
                <a:buFontTx/>
                <a:buNone/>
              </a:pPr>
              <a:endParaRPr lang="en-US" altLang="en-US" sz="1600" b="0">
                <a:latin typeface="Roboto" panose="02000000000000000000" pitchFamily="2" charset="0"/>
                <a:ea typeface="Roboto" panose="02000000000000000000" pitchFamily="2" charset="0"/>
              </a:endParaRPr>
            </a:p>
          </p:txBody>
        </p:sp>
        <p:sp>
          <p:nvSpPr>
            <p:cNvPr id="26" name="Oval 74">
              <a:extLst>
                <a:ext uri="{FF2B5EF4-FFF2-40B4-BE49-F238E27FC236}">
                  <a16:creationId xmlns:a16="http://schemas.microsoft.com/office/drawing/2014/main" id="{7D4980B1-E1BA-7512-5776-01D1398081E7}"/>
                </a:ext>
              </a:extLst>
            </p:cNvPr>
            <p:cNvSpPr>
              <a:spLocks noChangeArrowheads="1"/>
            </p:cNvSpPr>
            <p:nvPr/>
          </p:nvSpPr>
          <p:spPr bwMode="auto">
            <a:xfrm>
              <a:off x="2406650" y="4776788"/>
              <a:ext cx="252413" cy="265112"/>
            </a:xfrm>
            <a:prstGeom prst="ellipse">
              <a:avLst/>
            </a:prstGeom>
            <a:solidFill>
              <a:schemeClr val="bg1"/>
            </a:solidFill>
            <a:ln w="12700" cap="sq">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1</a:t>
              </a:r>
            </a:p>
          </p:txBody>
        </p:sp>
        <p:sp>
          <p:nvSpPr>
            <p:cNvPr id="27" name="Oval 75">
              <a:extLst>
                <a:ext uri="{FF2B5EF4-FFF2-40B4-BE49-F238E27FC236}">
                  <a16:creationId xmlns:a16="http://schemas.microsoft.com/office/drawing/2014/main" id="{9EA45439-5A85-1A07-24FF-1EB717827CE4}"/>
                </a:ext>
              </a:extLst>
            </p:cNvPr>
            <p:cNvSpPr>
              <a:spLocks noChangeArrowheads="1"/>
            </p:cNvSpPr>
            <p:nvPr/>
          </p:nvSpPr>
          <p:spPr bwMode="auto">
            <a:xfrm>
              <a:off x="4411663" y="4772025"/>
              <a:ext cx="252412" cy="265113"/>
            </a:xfrm>
            <a:prstGeom prst="ellipse">
              <a:avLst/>
            </a:prstGeom>
            <a:solidFill>
              <a:schemeClr val="bg1"/>
            </a:solidFill>
            <a:ln w="12700" cap="sq">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2</a:t>
              </a:r>
            </a:p>
          </p:txBody>
        </p:sp>
        <p:sp>
          <p:nvSpPr>
            <p:cNvPr id="28" name="Oval 76">
              <a:extLst>
                <a:ext uri="{FF2B5EF4-FFF2-40B4-BE49-F238E27FC236}">
                  <a16:creationId xmlns:a16="http://schemas.microsoft.com/office/drawing/2014/main" id="{0338AF97-B402-2912-7C14-EF5C564DBD4A}"/>
                </a:ext>
              </a:extLst>
            </p:cNvPr>
            <p:cNvSpPr>
              <a:spLocks noChangeArrowheads="1"/>
            </p:cNvSpPr>
            <p:nvPr/>
          </p:nvSpPr>
          <p:spPr bwMode="auto">
            <a:xfrm>
              <a:off x="2401888" y="4424363"/>
              <a:ext cx="252412" cy="263525"/>
            </a:xfrm>
            <a:prstGeom prst="ellipse">
              <a:avLst/>
            </a:prstGeom>
            <a:solidFill>
              <a:schemeClr val="bg1"/>
            </a:solidFill>
            <a:ln w="12700" cap="sq">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4</a:t>
              </a:r>
            </a:p>
          </p:txBody>
        </p:sp>
        <p:sp>
          <p:nvSpPr>
            <p:cNvPr id="29" name="Oval 77">
              <a:extLst>
                <a:ext uri="{FF2B5EF4-FFF2-40B4-BE49-F238E27FC236}">
                  <a16:creationId xmlns:a16="http://schemas.microsoft.com/office/drawing/2014/main" id="{44D2C6A5-AB7A-381F-A1F3-874CEC1E31B3}"/>
                </a:ext>
              </a:extLst>
            </p:cNvPr>
            <p:cNvSpPr>
              <a:spLocks noChangeArrowheads="1"/>
            </p:cNvSpPr>
            <p:nvPr/>
          </p:nvSpPr>
          <p:spPr bwMode="auto">
            <a:xfrm>
              <a:off x="4411663" y="4435475"/>
              <a:ext cx="252412" cy="265113"/>
            </a:xfrm>
            <a:prstGeom prst="ellipse">
              <a:avLst/>
            </a:prstGeom>
            <a:solidFill>
              <a:schemeClr val="bg1"/>
            </a:solidFill>
            <a:ln w="12700" cap="sq">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3</a:t>
              </a:r>
            </a:p>
          </p:txBody>
        </p:sp>
      </p:grpSp>
    </p:spTree>
    <p:extLst>
      <p:ext uri="{BB962C8B-B14F-4D97-AF65-F5344CB8AC3E}">
        <p14:creationId xmlns:p14="http://schemas.microsoft.com/office/powerpoint/2010/main" val="41843203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Exercise</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33</a:t>
            </a:fld>
            <a:endParaRPr lang="en-US"/>
          </a:p>
        </p:txBody>
      </p:sp>
      <p:grpSp>
        <p:nvGrpSpPr>
          <p:cNvPr id="3" name="Group 2">
            <a:extLst>
              <a:ext uri="{FF2B5EF4-FFF2-40B4-BE49-F238E27FC236}">
                <a16:creationId xmlns:a16="http://schemas.microsoft.com/office/drawing/2014/main" id="{E59B3CBF-5ABE-A498-69B8-907927981904}"/>
              </a:ext>
            </a:extLst>
          </p:cNvPr>
          <p:cNvGrpSpPr/>
          <p:nvPr/>
        </p:nvGrpSpPr>
        <p:grpSpPr>
          <a:xfrm>
            <a:off x="838200" y="297639"/>
            <a:ext cx="4220210" cy="301303"/>
            <a:chOff x="838200" y="297639"/>
            <a:chExt cx="4220210" cy="301303"/>
          </a:xfrm>
        </p:grpSpPr>
        <p:sp>
          <p:nvSpPr>
            <p:cNvPr id="5" name="AutoShape 9">
              <a:extLst>
                <a:ext uri="{FF2B5EF4-FFF2-40B4-BE49-F238E27FC236}">
                  <a16:creationId xmlns:a16="http://schemas.microsoft.com/office/drawing/2014/main" id="{2FA2C170-C446-6B5B-AAB0-CE615D97A889}"/>
                </a:ext>
              </a:extLst>
            </p:cNvPr>
            <p:cNvSpPr>
              <a:spLocks noChangeArrowheads="1"/>
            </p:cNvSpPr>
            <p:nvPr/>
          </p:nvSpPr>
          <p:spPr bwMode="auto">
            <a:xfrm>
              <a:off x="1779225" y="298454"/>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6" name="Group 5">
              <a:extLst>
                <a:ext uri="{FF2B5EF4-FFF2-40B4-BE49-F238E27FC236}">
                  <a16:creationId xmlns:a16="http://schemas.microsoft.com/office/drawing/2014/main" id="{9C2BB869-711E-EDCF-3E70-9D220EA50D3A}"/>
                </a:ext>
              </a:extLst>
            </p:cNvPr>
            <p:cNvGrpSpPr/>
            <p:nvPr/>
          </p:nvGrpSpPr>
          <p:grpSpPr>
            <a:xfrm>
              <a:off x="838200" y="297639"/>
              <a:ext cx="4220210" cy="301303"/>
              <a:chOff x="838200" y="297639"/>
              <a:chExt cx="4220210" cy="301303"/>
            </a:xfrm>
          </p:grpSpPr>
          <p:grpSp>
            <p:nvGrpSpPr>
              <p:cNvPr id="7" name="Group 6">
                <a:extLst>
                  <a:ext uri="{FF2B5EF4-FFF2-40B4-BE49-F238E27FC236}">
                    <a16:creationId xmlns:a16="http://schemas.microsoft.com/office/drawing/2014/main" id="{2610C34F-6578-4FE5-65A3-F08C785B5BBF}"/>
                  </a:ext>
                </a:extLst>
              </p:cNvPr>
              <p:cNvGrpSpPr/>
              <p:nvPr/>
            </p:nvGrpSpPr>
            <p:grpSpPr>
              <a:xfrm>
                <a:off x="838200" y="297639"/>
                <a:ext cx="1060167" cy="290657"/>
                <a:chOff x="826426" y="4041857"/>
                <a:chExt cx="1060167" cy="290657"/>
              </a:xfrm>
            </p:grpSpPr>
            <p:sp>
              <p:nvSpPr>
                <p:cNvPr id="9" name="AutoShape 9">
                  <a:extLst>
                    <a:ext uri="{FF2B5EF4-FFF2-40B4-BE49-F238E27FC236}">
                      <a16:creationId xmlns:a16="http://schemas.microsoft.com/office/drawing/2014/main" id="{C4BAC9EF-B7C5-7987-4E79-A6A74B4DFB2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A747822C-FF49-93E1-752C-68C5CBA2D385}"/>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0">
                  <a:extLst>
                    <a:ext uri="{FF2B5EF4-FFF2-40B4-BE49-F238E27FC236}">
                      <a16:creationId xmlns:a16="http://schemas.microsoft.com/office/drawing/2014/main" id="{F7978C6F-E01F-648B-74C4-F93F25FFC582}"/>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8" name="TextBox 7">
                <a:extLst>
                  <a:ext uri="{FF2B5EF4-FFF2-40B4-BE49-F238E27FC236}">
                    <a16:creationId xmlns:a16="http://schemas.microsoft.com/office/drawing/2014/main" id="{16C8119E-347B-1271-DC3C-C23ABFB31C8E}"/>
                  </a:ext>
                </a:extLst>
              </p:cNvPr>
              <p:cNvSpPr txBox="1"/>
              <p:nvPr/>
            </p:nvSpPr>
            <p:spPr>
              <a:xfrm>
                <a:off x="219045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Work Sequence</a:t>
                </a:r>
              </a:p>
            </p:txBody>
          </p:sp>
        </p:grpSp>
      </p:grpSp>
      <p:sp>
        <p:nvSpPr>
          <p:cNvPr id="22" name="Text Box 91">
            <a:extLst>
              <a:ext uri="{FF2B5EF4-FFF2-40B4-BE49-F238E27FC236}">
                <a16:creationId xmlns:a16="http://schemas.microsoft.com/office/drawing/2014/main" id="{7E925B36-8BE5-6D78-AE90-A08E106AEAE2}"/>
              </a:ext>
            </a:extLst>
          </p:cNvPr>
          <p:cNvSpPr txBox="1">
            <a:spLocks noChangeArrowheads="1"/>
          </p:cNvSpPr>
          <p:nvPr/>
        </p:nvSpPr>
        <p:spPr bwMode="auto">
          <a:xfrm>
            <a:off x="838200" y="2119948"/>
            <a:ext cx="4766048"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800" dirty="0">
                <a:latin typeface="Roboto" panose="02000000000000000000" pitchFamily="2" charset="0"/>
                <a:ea typeface="Roboto" panose="02000000000000000000" pitchFamily="2" charset="0"/>
              </a:rPr>
              <a:t>Daily Demand: 36 invoices</a:t>
            </a:r>
          </a:p>
          <a:p>
            <a:pPr eaLnBrk="1" hangingPunct="1">
              <a:lnSpc>
                <a:spcPct val="100000"/>
              </a:lnSpc>
              <a:spcBef>
                <a:spcPct val="0"/>
              </a:spcBef>
              <a:spcAft>
                <a:spcPct val="0"/>
              </a:spcAft>
              <a:buClrTx/>
              <a:buSzTx/>
              <a:buFontTx/>
              <a:buNone/>
            </a:pPr>
            <a:r>
              <a:rPr lang="en-US" altLang="en-US" sz="1800" dirty="0">
                <a:latin typeface="Roboto" panose="02000000000000000000" pitchFamily="2" charset="0"/>
                <a:ea typeface="Roboto" panose="02000000000000000000" pitchFamily="2" charset="0"/>
              </a:rPr>
              <a:t>Available Time: 450 minutes</a:t>
            </a:r>
          </a:p>
          <a:p>
            <a:pPr eaLnBrk="1" hangingPunct="1">
              <a:lnSpc>
                <a:spcPct val="100000"/>
              </a:lnSpc>
              <a:spcBef>
                <a:spcPct val="0"/>
              </a:spcBef>
              <a:spcAft>
                <a:spcPct val="0"/>
              </a:spcAft>
              <a:buClrTx/>
              <a:buSzTx/>
              <a:buFontTx/>
              <a:buNone/>
            </a:pPr>
            <a:endParaRPr lang="en-US" altLang="en-US" sz="1800" dirty="0">
              <a:latin typeface="Roboto" panose="02000000000000000000" pitchFamily="2" charset="0"/>
              <a:ea typeface="Roboto" panose="02000000000000000000" pitchFamily="2" charset="0"/>
            </a:endParaRPr>
          </a:p>
          <a:p>
            <a:pPr eaLnBrk="1" hangingPunct="1">
              <a:lnSpc>
                <a:spcPct val="100000"/>
              </a:lnSpc>
              <a:spcBef>
                <a:spcPct val="0"/>
              </a:spcBef>
              <a:spcAft>
                <a:spcPct val="0"/>
              </a:spcAft>
              <a:buClrTx/>
              <a:buSzTx/>
              <a:buFontTx/>
              <a:buNone/>
            </a:pPr>
            <a:r>
              <a:rPr lang="en-US" altLang="en-US" sz="1800" dirty="0">
                <a:latin typeface="Roboto" panose="02000000000000000000" pitchFamily="2" charset="0"/>
                <a:ea typeface="Roboto" panose="02000000000000000000" pitchFamily="2" charset="0"/>
              </a:rPr>
              <a:t>Takt Time: _________________</a:t>
            </a:r>
          </a:p>
          <a:p>
            <a:pPr eaLnBrk="1" hangingPunct="1">
              <a:lnSpc>
                <a:spcPct val="100000"/>
              </a:lnSpc>
              <a:spcBef>
                <a:spcPct val="0"/>
              </a:spcBef>
              <a:spcAft>
                <a:spcPct val="0"/>
              </a:spcAft>
              <a:buClrTx/>
              <a:buSzTx/>
              <a:buFontTx/>
              <a:buNone/>
            </a:pPr>
            <a:r>
              <a:rPr lang="en-US" altLang="en-US" sz="1800" dirty="0">
                <a:latin typeface="Roboto" panose="02000000000000000000" pitchFamily="2" charset="0"/>
                <a:ea typeface="Roboto" panose="02000000000000000000" pitchFamily="2" charset="0"/>
              </a:rPr>
              <a:t>Number of Associates: _______</a:t>
            </a:r>
          </a:p>
          <a:p>
            <a:pPr eaLnBrk="1" hangingPunct="1">
              <a:lnSpc>
                <a:spcPct val="100000"/>
              </a:lnSpc>
              <a:spcBef>
                <a:spcPct val="0"/>
              </a:spcBef>
              <a:spcAft>
                <a:spcPct val="0"/>
              </a:spcAft>
              <a:buClrTx/>
              <a:buSzTx/>
              <a:buFontTx/>
              <a:buNone/>
            </a:pPr>
            <a:endParaRPr lang="en-US" altLang="en-US" sz="1800" dirty="0">
              <a:latin typeface="Roboto" panose="02000000000000000000" pitchFamily="2" charset="0"/>
              <a:ea typeface="Roboto" panose="02000000000000000000" pitchFamily="2" charset="0"/>
            </a:endParaRPr>
          </a:p>
          <a:p>
            <a:pPr eaLnBrk="1" hangingPunct="1">
              <a:lnSpc>
                <a:spcPct val="100000"/>
              </a:lnSpc>
              <a:spcBef>
                <a:spcPct val="0"/>
              </a:spcBef>
              <a:spcAft>
                <a:spcPct val="0"/>
              </a:spcAft>
              <a:buClrTx/>
              <a:buSzTx/>
              <a:buFontTx/>
              <a:buNone/>
            </a:pPr>
            <a:r>
              <a:rPr lang="en-US" altLang="en-US" sz="1800" dirty="0">
                <a:latin typeface="Roboto" panose="02000000000000000000" pitchFamily="2" charset="0"/>
                <a:ea typeface="Roboto" panose="02000000000000000000" pitchFamily="2" charset="0"/>
              </a:rPr>
              <a:t>Draw the work sequence for each associate:</a:t>
            </a:r>
          </a:p>
        </p:txBody>
      </p:sp>
      <p:grpSp>
        <p:nvGrpSpPr>
          <p:cNvPr id="30" name="Group 29">
            <a:extLst>
              <a:ext uri="{FF2B5EF4-FFF2-40B4-BE49-F238E27FC236}">
                <a16:creationId xmlns:a16="http://schemas.microsoft.com/office/drawing/2014/main" id="{44A2E8BD-3AA9-5388-62FE-C65EE8B34F11}"/>
              </a:ext>
            </a:extLst>
          </p:cNvPr>
          <p:cNvGrpSpPr/>
          <p:nvPr/>
        </p:nvGrpSpPr>
        <p:grpSpPr>
          <a:xfrm>
            <a:off x="6805614" y="2754630"/>
            <a:ext cx="4007166" cy="3018790"/>
            <a:chOff x="1976438" y="3519488"/>
            <a:chExt cx="3197225" cy="2436812"/>
          </a:xfrm>
        </p:grpSpPr>
        <p:sp>
          <p:nvSpPr>
            <p:cNvPr id="21" name="Rectangle 7">
              <a:extLst>
                <a:ext uri="{FF2B5EF4-FFF2-40B4-BE49-F238E27FC236}">
                  <a16:creationId xmlns:a16="http://schemas.microsoft.com/office/drawing/2014/main" id="{9ED49F68-462C-035F-1D96-CB87EF93EC44}"/>
                </a:ext>
              </a:extLst>
            </p:cNvPr>
            <p:cNvSpPr>
              <a:spLocks noChangeArrowheads="1"/>
            </p:cNvSpPr>
            <p:nvPr/>
          </p:nvSpPr>
          <p:spPr bwMode="auto">
            <a:xfrm>
              <a:off x="1984375" y="5072063"/>
              <a:ext cx="1228725" cy="884237"/>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600" b="0">
                  <a:latin typeface="Roboto" panose="02000000000000000000" pitchFamily="2" charset="0"/>
                  <a:ea typeface="Roboto" panose="02000000000000000000" pitchFamily="2" charset="0"/>
                </a:rPr>
                <a:t>Receive</a:t>
              </a:r>
            </a:p>
            <a:p>
              <a:pPr eaLnBrk="1" hangingPunct="1">
                <a:lnSpc>
                  <a:spcPct val="100000"/>
                </a:lnSpc>
                <a:spcBef>
                  <a:spcPct val="0"/>
                </a:spcBef>
                <a:spcAft>
                  <a:spcPct val="0"/>
                </a:spcAft>
                <a:buClrTx/>
                <a:buSzTx/>
                <a:buFontTx/>
                <a:buNone/>
              </a:pPr>
              <a:r>
                <a:rPr lang="en-US" altLang="en-US" sz="1600" b="0">
                  <a:latin typeface="Roboto" panose="02000000000000000000" pitchFamily="2" charset="0"/>
                  <a:ea typeface="Roboto" panose="02000000000000000000" pitchFamily="2" charset="0"/>
                </a:rPr>
                <a:t>3.5 min.</a:t>
              </a:r>
            </a:p>
          </p:txBody>
        </p:sp>
        <p:sp>
          <p:nvSpPr>
            <p:cNvPr id="23" name="Rectangle 7">
              <a:extLst>
                <a:ext uri="{FF2B5EF4-FFF2-40B4-BE49-F238E27FC236}">
                  <a16:creationId xmlns:a16="http://schemas.microsoft.com/office/drawing/2014/main" id="{091A0874-43DA-9049-F37F-63F8E205A985}"/>
                </a:ext>
              </a:extLst>
            </p:cNvPr>
            <p:cNvSpPr>
              <a:spLocks noChangeArrowheads="1"/>
            </p:cNvSpPr>
            <p:nvPr/>
          </p:nvSpPr>
          <p:spPr bwMode="auto">
            <a:xfrm>
              <a:off x="3941763" y="5068888"/>
              <a:ext cx="1227137" cy="882650"/>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600" b="0">
                  <a:latin typeface="Roboto" panose="02000000000000000000" pitchFamily="2" charset="0"/>
                  <a:ea typeface="Roboto" panose="02000000000000000000" pitchFamily="2" charset="0"/>
                </a:rPr>
                <a:t>Data Entry, Verification</a:t>
              </a:r>
            </a:p>
            <a:p>
              <a:pPr eaLnBrk="1" hangingPunct="1">
                <a:lnSpc>
                  <a:spcPct val="100000"/>
                </a:lnSpc>
                <a:spcBef>
                  <a:spcPct val="0"/>
                </a:spcBef>
                <a:spcAft>
                  <a:spcPct val="0"/>
                </a:spcAft>
                <a:buClrTx/>
                <a:buSzTx/>
                <a:buFontTx/>
                <a:buNone/>
              </a:pPr>
              <a:r>
                <a:rPr lang="en-US" altLang="en-US" sz="1600" b="0">
                  <a:latin typeface="Roboto" panose="02000000000000000000" pitchFamily="2" charset="0"/>
                  <a:ea typeface="Roboto" panose="02000000000000000000" pitchFamily="2" charset="0"/>
                </a:rPr>
                <a:t>9 min</a:t>
              </a:r>
            </a:p>
          </p:txBody>
        </p:sp>
        <p:sp>
          <p:nvSpPr>
            <p:cNvPr id="24" name="Rectangle 7">
              <a:extLst>
                <a:ext uri="{FF2B5EF4-FFF2-40B4-BE49-F238E27FC236}">
                  <a16:creationId xmlns:a16="http://schemas.microsoft.com/office/drawing/2014/main" id="{3C217449-3AB3-6DAB-7F69-8C1C62DD0154}"/>
                </a:ext>
              </a:extLst>
            </p:cNvPr>
            <p:cNvSpPr>
              <a:spLocks noChangeArrowheads="1"/>
            </p:cNvSpPr>
            <p:nvPr/>
          </p:nvSpPr>
          <p:spPr bwMode="auto">
            <a:xfrm>
              <a:off x="1976438" y="3524250"/>
              <a:ext cx="1228725" cy="882650"/>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600" b="0">
                  <a:latin typeface="Roboto" panose="02000000000000000000" pitchFamily="2" charset="0"/>
                  <a:ea typeface="Roboto" panose="02000000000000000000" pitchFamily="2" charset="0"/>
                </a:rPr>
                <a:t>Mail</a:t>
              </a:r>
            </a:p>
            <a:p>
              <a:pPr eaLnBrk="1" hangingPunct="1">
                <a:lnSpc>
                  <a:spcPct val="100000"/>
                </a:lnSpc>
                <a:spcBef>
                  <a:spcPct val="0"/>
                </a:spcBef>
                <a:spcAft>
                  <a:spcPct val="0"/>
                </a:spcAft>
                <a:buClrTx/>
                <a:buSzTx/>
                <a:buFontTx/>
                <a:buNone/>
              </a:pPr>
              <a:r>
                <a:rPr lang="en-US" altLang="en-US" sz="1600" b="0">
                  <a:latin typeface="Roboto" panose="02000000000000000000" pitchFamily="2" charset="0"/>
                  <a:ea typeface="Roboto" panose="02000000000000000000" pitchFamily="2" charset="0"/>
                </a:rPr>
                <a:t>Check</a:t>
              </a:r>
            </a:p>
            <a:p>
              <a:pPr eaLnBrk="1" hangingPunct="1">
                <a:lnSpc>
                  <a:spcPct val="100000"/>
                </a:lnSpc>
                <a:spcBef>
                  <a:spcPct val="0"/>
                </a:spcBef>
                <a:spcAft>
                  <a:spcPct val="0"/>
                </a:spcAft>
                <a:buClrTx/>
                <a:buSzTx/>
                <a:buFontTx/>
                <a:buNone/>
              </a:pPr>
              <a:r>
                <a:rPr lang="en-US" altLang="en-US" sz="1600" b="0">
                  <a:latin typeface="Roboto" panose="02000000000000000000" pitchFamily="2" charset="0"/>
                  <a:ea typeface="Roboto" panose="02000000000000000000" pitchFamily="2" charset="0"/>
                </a:rPr>
                <a:t>5 min</a:t>
              </a:r>
            </a:p>
            <a:p>
              <a:pPr eaLnBrk="1" hangingPunct="1">
                <a:lnSpc>
                  <a:spcPct val="100000"/>
                </a:lnSpc>
                <a:spcBef>
                  <a:spcPct val="0"/>
                </a:spcBef>
                <a:spcAft>
                  <a:spcPct val="0"/>
                </a:spcAft>
                <a:buClrTx/>
                <a:buSzTx/>
                <a:buFontTx/>
                <a:buNone/>
              </a:pPr>
              <a:endParaRPr lang="en-US" altLang="en-US" sz="1600" b="0">
                <a:latin typeface="Roboto" panose="02000000000000000000" pitchFamily="2" charset="0"/>
                <a:ea typeface="Roboto" panose="02000000000000000000" pitchFamily="2" charset="0"/>
              </a:endParaRPr>
            </a:p>
          </p:txBody>
        </p:sp>
        <p:sp>
          <p:nvSpPr>
            <p:cNvPr id="25" name="Rectangle 7">
              <a:extLst>
                <a:ext uri="{FF2B5EF4-FFF2-40B4-BE49-F238E27FC236}">
                  <a16:creationId xmlns:a16="http://schemas.microsoft.com/office/drawing/2014/main" id="{2814E631-520B-C8CE-439A-2C65EC674273}"/>
                </a:ext>
              </a:extLst>
            </p:cNvPr>
            <p:cNvSpPr>
              <a:spLocks noChangeArrowheads="1"/>
            </p:cNvSpPr>
            <p:nvPr/>
          </p:nvSpPr>
          <p:spPr bwMode="auto">
            <a:xfrm>
              <a:off x="3946525" y="3519488"/>
              <a:ext cx="1227138" cy="884237"/>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600" b="0">
                  <a:latin typeface="Roboto" panose="02000000000000000000" pitchFamily="2" charset="0"/>
                  <a:ea typeface="Roboto" panose="02000000000000000000" pitchFamily="2" charset="0"/>
                </a:rPr>
                <a:t>Process Check</a:t>
              </a:r>
            </a:p>
            <a:p>
              <a:pPr eaLnBrk="1" hangingPunct="1">
                <a:lnSpc>
                  <a:spcPct val="100000"/>
                </a:lnSpc>
                <a:spcBef>
                  <a:spcPct val="0"/>
                </a:spcBef>
                <a:spcAft>
                  <a:spcPct val="0"/>
                </a:spcAft>
                <a:buClrTx/>
                <a:buSzTx/>
                <a:buFontTx/>
                <a:buNone/>
              </a:pPr>
              <a:r>
                <a:rPr lang="en-US" altLang="en-US" sz="1600" b="0">
                  <a:latin typeface="Roboto" panose="02000000000000000000" pitchFamily="2" charset="0"/>
                  <a:ea typeface="Roboto" panose="02000000000000000000" pitchFamily="2" charset="0"/>
                </a:rPr>
                <a:t>7.5 min</a:t>
              </a:r>
            </a:p>
            <a:p>
              <a:pPr eaLnBrk="1" hangingPunct="1">
                <a:lnSpc>
                  <a:spcPct val="100000"/>
                </a:lnSpc>
                <a:spcBef>
                  <a:spcPct val="0"/>
                </a:spcBef>
                <a:spcAft>
                  <a:spcPct val="0"/>
                </a:spcAft>
                <a:buClrTx/>
                <a:buSzTx/>
                <a:buFontTx/>
                <a:buNone/>
              </a:pPr>
              <a:endParaRPr lang="en-US" altLang="en-US" sz="1600" b="0">
                <a:latin typeface="Roboto" panose="02000000000000000000" pitchFamily="2" charset="0"/>
                <a:ea typeface="Roboto" panose="02000000000000000000" pitchFamily="2" charset="0"/>
              </a:endParaRPr>
            </a:p>
          </p:txBody>
        </p:sp>
        <p:sp>
          <p:nvSpPr>
            <p:cNvPr id="26" name="Oval 74">
              <a:extLst>
                <a:ext uri="{FF2B5EF4-FFF2-40B4-BE49-F238E27FC236}">
                  <a16:creationId xmlns:a16="http://schemas.microsoft.com/office/drawing/2014/main" id="{7D4980B1-E1BA-7512-5776-01D1398081E7}"/>
                </a:ext>
              </a:extLst>
            </p:cNvPr>
            <p:cNvSpPr>
              <a:spLocks noChangeArrowheads="1"/>
            </p:cNvSpPr>
            <p:nvPr/>
          </p:nvSpPr>
          <p:spPr bwMode="auto">
            <a:xfrm>
              <a:off x="2406650" y="4776788"/>
              <a:ext cx="252413" cy="265112"/>
            </a:xfrm>
            <a:prstGeom prst="ellipse">
              <a:avLst/>
            </a:prstGeom>
            <a:solidFill>
              <a:schemeClr val="bg1"/>
            </a:solidFill>
            <a:ln w="12700" cap="sq">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1</a:t>
              </a:r>
            </a:p>
          </p:txBody>
        </p:sp>
        <p:sp>
          <p:nvSpPr>
            <p:cNvPr id="27" name="Oval 75">
              <a:extLst>
                <a:ext uri="{FF2B5EF4-FFF2-40B4-BE49-F238E27FC236}">
                  <a16:creationId xmlns:a16="http://schemas.microsoft.com/office/drawing/2014/main" id="{9EA45439-5A85-1A07-24FF-1EB717827CE4}"/>
                </a:ext>
              </a:extLst>
            </p:cNvPr>
            <p:cNvSpPr>
              <a:spLocks noChangeArrowheads="1"/>
            </p:cNvSpPr>
            <p:nvPr/>
          </p:nvSpPr>
          <p:spPr bwMode="auto">
            <a:xfrm>
              <a:off x="4411663" y="4772025"/>
              <a:ext cx="252412" cy="265113"/>
            </a:xfrm>
            <a:prstGeom prst="ellipse">
              <a:avLst/>
            </a:prstGeom>
            <a:solidFill>
              <a:schemeClr val="bg1"/>
            </a:solidFill>
            <a:ln w="12700" cap="sq">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2</a:t>
              </a:r>
            </a:p>
          </p:txBody>
        </p:sp>
        <p:sp>
          <p:nvSpPr>
            <p:cNvPr id="28" name="Oval 76">
              <a:extLst>
                <a:ext uri="{FF2B5EF4-FFF2-40B4-BE49-F238E27FC236}">
                  <a16:creationId xmlns:a16="http://schemas.microsoft.com/office/drawing/2014/main" id="{0338AF97-B402-2912-7C14-EF5C564DBD4A}"/>
                </a:ext>
              </a:extLst>
            </p:cNvPr>
            <p:cNvSpPr>
              <a:spLocks noChangeArrowheads="1"/>
            </p:cNvSpPr>
            <p:nvPr/>
          </p:nvSpPr>
          <p:spPr bwMode="auto">
            <a:xfrm>
              <a:off x="2401888" y="4424363"/>
              <a:ext cx="252412" cy="263525"/>
            </a:xfrm>
            <a:prstGeom prst="ellipse">
              <a:avLst/>
            </a:prstGeom>
            <a:solidFill>
              <a:schemeClr val="bg1"/>
            </a:solidFill>
            <a:ln w="12700" cap="sq">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4</a:t>
              </a:r>
            </a:p>
          </p:txBody>
        </p:sp>
        <p:sp>
          <p:nvSpPr>
            <p:cNvPr id="29" name="Oval 77">
              <a:extLst>
                <a:ext uri="{FF2B5EF4-FFF2-40B4-BE49-F238E27FC236}">
                  <a16:creationId xmlns:a16="http://schemas.microsoft.com/office/drawing/2014/main" id="{44D2C6A5-AB7A-381F-A1F3-874CEC1E31B3}"/>
                </a:ext>
              </a:extLst>
            </p:cNvPr>
            <p:cNvSpPr>
              <a:spLocks noChangeArrowheads="1"/>
            </p:cNvSpPr>
            <p:nvPr/>
          </p:nvSpPr>
          <p:spPr bwMode="auto">
            <a:xfrm>
              <a:off x="4411663" y="4435475"/>
              <a:ext cx="252412" cy="265113"/>
            </a:xfrm>
            <a:prstGeom prst="ellipse">
              <a:avLst/>
            </a:prstGeom>
            <a:solidFill>
              <a:schemeClr val="bg1"/>
            </a:solidFill>
            <a:ln w="12700" cap="sq">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3</a:t>
              </a:r>
            </a:p>
          </p:txBody>
        </p:sp>
      </p:grpSp>
    </p:spTree>
    <p:extLst>
      <p:ext uri="{BB962C8B-B14F-4D97-AF65-F5344CB8AC3E}">
        <p14:creationId xmlns:p14="http://schemas.microsoft.com/office/powerpoint/2010/main" val="16591248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34</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Standard Work In Process (WIP) </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dirty="0"/>
              <a:t>Define Standard Work in Process (WIP) </a:t>
            </a:r>
          </a:p>
          <a:p>
            <a:r>
              <a:rPr lang="en-US" dirty="0"/>
              <a:t>Calculate Standard WIP</a:t>
            </a:r>
          </a:p>
          <a:p>
            <a:endParaRPr lang="en-US" dirty="0"/>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C87A7FF0-98F8-9B45-43F5-1EE0B5702A07}"/>
              </a:ext>
            </a:extLst>
          </p:cNvPr>
          <p:cNvGrpSpPr/>
          <p:nvPr/>
        </p:nvGrpSpPr>
        <p:grpSpPr>
          <a:xfrm>
            <a:off x="699911" y="837132"/>
            <a:ext cx="5850075" cy="659880"/>
            <a:chOff x="699911" y="837132"/>
            <a:chExt cx="5850075" cy="659880"/>
          </a:xfrm>
        </p:grpSpPr>
        <p:sp>
          <p:nvSpPr>
            <p:cNvPr id="4" name="AutoShape 9">
              <a:extLst>
                <a:ext uri="{FF2B5EF4-FFF2-40B4-BE49-F238E27FC236}">
                  <a16:creationId xmlns:a16="http://schemas.microsoft.com/office/drawing/2014/main" id="{717DD1F3-5C6B-CA24-C474-C85FEE3DF5E7}"/>
                </a:ext>
              </a:extLst>
            </p:cNvPr>
            <p:cNvSpPr>
              <a:spLocks noChangeArrowheads="1"/>
            </p:cNvSpPr>
            <p:nvPr/>
          </p:nvSpPr>
          <p:spPr bwMode="auto">
            <a:xfrm>
              <a:off x="4971710" y="837132"/>
              <a:ext cx="1578276" cy="659879"/>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Documentation</a:t>
              </a:r>
            </a:p>
          </p:txBody>
        </p:sp>
        <p:grpSp>
          <p:nvGrpSpPr>
            <p:cNvPr id="13" name="Group 12">
              <a:extLst>
                <a:ext uri="{FF2B5EF4-FFF2-40B4-BE49-F238E27FC236}">
                  <a16:creationId xmlns:a16="http://schemas.microsoft.com/office/drawing/2014/main" id="{DADE2756-B973-0064-D4DD-52D3744FBA6B}"/>
                </a:ext>
              </a:extLst>
            </p:cNvPr>
            <p:cNvGrpSpPr/>
            <p:nvPr/>
          </p:nvGrpSpPr>
          <p:grpSpPr>
            <a:xfrm>
              <a:off x="699911" y="837133"/>
              <a:ext cx="4425950" cy="659879"/>
              <a:chOff x="5627530" y="641179"/>
              <a:chExt cx="6564470" cy="804977"/>
            </a:xfrm>
          </p:grpSpPr>
          <p:sp>
            <p:nvSpPr>
              <p:cNvPr id="14" name="AutoShape 9">
                <a:extLst>
                  <a:ext uri="{FF2B5EF4-FFF2-40B4-BE49-F238E27FC236}">
                    <a16:creationId xmlns:a16="http://schemas.microsoft.com/office/drawing/2014/main" id="{FF83B6EB-BAFE-C193-44C8-50C54ED609A3}"/>
                  </a:ext>
                </a:extLst>
              </p:cNvPr>
              <p:cNvSpPr>
                <a:spLocks noChangeArrowheads="1"/>
              </p:cNvSpPr>
              <p:nvPr/>
            </p:nvSpPr>
            <p:spPr bwMode="auto">
              <a:xfrm>
                <a:off x="9851136" y="641179"/>
                <a:ext cx="2340864" cy="804977"/>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Standard WIP</a:t>
                </a:r>
              </a:p>
            </p:txBody>
          </p:sp>
          <p:sp>
            <p:nvSpPr>
              <p:cNvPr id="15" name="AutoShape 10">
                <a:extLst>
                  <a:ext uri="{FF2B5EF4-FFF2-40B4-BE49-F238E27FC236}">
                    <a16:creationId xmlns:a16="http://schemas.microsoft.com/office/drawing/2014/main" id="{386767CB-AD12-A8CE-F49D-60EB435EC2D3}"/>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Work </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Sequence</a:t>
                </a:r>
              </a:p>
            </p:txBody>
          </p:sp>
          <p:sp>
            <p:nvSpPr>
              <p:cNvPr id="16" name="AutoShape 11">
                <a:extLst>
                  <a:ext uri="{FF2B5EF4-FFF2-40B4-BE49-F238E27FC236}">
                    <a16:creationId xmlns:a16="http://schemas.microsoft.com/office/drawing/2014/main" id="{C2EFD1F9-72F5-1220-34C5-1283C9247686}"/>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Takt Time vs.</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Process Time</a:t>
                </a:r>
              </a:p>
            </p:txBody>
          </p:sp>
        </p:grpSp>
      </p:grpSp>
    </p:spTree>
    <p:extLst>
      <p:ext uri="{BB962C8B-B14F-4D97-AF65-F5344CB8AC3E}">
        <p14:creationId xmlns:p14="http://schemas.microsoft.com/office/powerpoint/2010/main" val="19414841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Standard WIP</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35</a:t>
            </a:fld>
            <a:endParaRPr lang="en-US"/>
          </a:p>
        </p:txBody>
      </p:sp>
      <p:grpSp>
        <p:nvGrpSpPr>
          <p:cNvPr id="35" name="Group 34">
            <a:extLst>
              <a:ext uri="{FF2B5EF4-FFF2-40B4-BE49-F238E27FC236}">
                <a16:creationId xmlns:a16="http://schemas.microsoft.com/office/drawing/2014/main" id="{463D7A64-6747-6E5F-428D-0B875C41310E}"/>
              </a:ext>
            </a:extLst>
          </p:cNvPr>
          <p:cNvGrpSpPr/>
          <p:nvPr/>
        </p:nvGrpSpPr>
        <p:grpSpPr>
          <a:xfrm>
            <a:off x="838200" y="1879600"/>
            <a:ext cx="9517380" cy="4121150"/>
            <a:chOff x="457200" y="1536700"/>
            <a:chExt cx="8255000" cy="3754438"/>
          </a:xfrm>
        </p:grpSpPr>
        <p:sp>
          <p:nvSpPr>
            <p:cNvPr id="12" name="Rectangle 4">
              <a:extLst>
                <a:ext uri="{FF2B5EF4-FFF2-40B4-BE49-F238E27FC236}">
                  <a16:creationId xmlns:a16="http://schemas.microsoft.com/office/drawing/2014/main" id="{6C69E0A4-C882-5FDA-1DDB-B398AB677ABE}"/>
                </a:ext>
              </a:extLst>
            </p:cNvPr>
            <p:cNvSpPr>
              <a:spLocks noChangeArrowheads="1"/>
            </p:cNvSpPr>
            <p:nvPr/>
          </p:nvSpPr>
          <p:spPr bwMode="auto">
            <a:xfrm>
              <a:off x="1196975" y="2200275"/>
              <a:ext cx="1908175" cy="663575"/>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1400" dirty="0">
                  <a:latin typeface="Roboto" panose="02000000000000000000" pitchFamily="2" charset="0"/>
                  <a:ea typeface="Roboto" panose="02000000000000000000" pitchFamily="2" charset="0"/>
                </a:rPr>
                <a:t>Standard Work</a:t>
              </a:r>
              <a:br>
                <a:rPr lang="en-US" altLang="en-US" sz="1400" dirty="0">
                  <a:latin typeface="Roboto" panose="02000000000000000000" pitchFamily="2" charset="0"/>
                  <a:ea typeface="Roboto" panose="02000000000000000000" pitchFamily="2" charset="0"/>
                </a:rPr>
              </a:br>
              <a:r>
                <a:rPr lang="en-US" altLang="en-US" sz="1400" dirty="0">
                  <a:latin typeface="Roboto" panose="02000000000000000000" pitchFamily="2" charset="0"/>
                  <a:ea typeface="Roboto" panose="02000000000000000000" pitchFamily="2" charset="0"/>
                </a:rPr>
                <a:t>In Process</a:t>
              </a:r>
              <a:br>
                <a:rPr lang="en-US" altLang="en-US" sz="1400" dirty="0">
                  <a:latin typeface="Roboto" panose="02000000000000000000" pitchFamily="2" charset="0"/>
                  <a:ea typeface="Roboto" panose="02000000000000000000" pitchFamily="2" charset="0"/>
                </a:rPr>
              </a:br>
              <a:r>
                <a:rPr lang="en-US" altLang="en-US" sz="1400" dirty="0">
                  <a:latin typeface="Roboto" panose="02000000000000000000" pitchFamily="2" charset="0"/>
                  <a:ea typeface="Roboto" panose="02000000000000000000" pitchFamily="2" charset="0"/>
                </a:rPr>
                <a:t>(WIP)</a:t>
              </a:r>
            </a:p>
          </p:txBody>
        </p:sp>
        <p:sp>
          <p:nvSpPr>
            <p:cNvPr id="13" name="Line 9">
              <a:extLst>
                <a:ext uri="{FF2B5EF4-FFF2-40B4-BE49-F238E27FC236}">
                  <a16:creationId xmlns:a16="http://schemas.microsoft.com/office/drawing/2014/main" id="{E30D93A9-DBAF-3842-F0AA-52F708CAAAAC}"/>
                </a:ext>
              </a:extLst>
            </p:cNvPr>
            <p:cNvSpPr>
              <a:spLocks noChangeShapeType="1"/>
            </p:cNvSpPr>
            <p:nvPr/>
          </p:nvSpPr>
          <p:spPr bwMode="auto">
            <a:xfrm>
              <a:off x="487363" y="3721100"/>
              <a:ext cx="8205787"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4" name="Line 10">
              <a:extLst>
                <a:ext uri="{FF2B5EF4-FFF2-40B4-BE49-F238E27FC236}">
                  <a16:creationId xmlns:a16="http://schemas.microsoft.com/office/drawing/2014/main" id="{09B07DD6-8C79-4D6D-87C0-4048F3B755D5}"/>
                </a:ext>
              </a:extLst>
            </p:cNvPr>
            <p:cNvSpPr>
              <a:spLocks noChangeShapeType="1"/>
            </p:cNvSpPr>
            <p:nvPr/>
          </p:nvSpPr>
          <p:spPr bwMode="auto">
            <a:xfrm>
              <a:off x="457200" y="5291138"/>
              <a:ext cx="8235950"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5" name="Rectangle 12">
              <a:extLst>
                <a:ext uri="{FF2B5EF4-FFF2-40B4-BE49-F238E27FC236}">
                  <a16:creationId xmlns:a16="http://schemas.microsoft.com/office/drawing/2014/main" id="{CDC511ED-7F22-7A26-9F7F-0317455CAB8B}"/>
                </a:ext>
              </a:extLst>
            </p:cNvPr>
            <p:cNvSpPr>
              <a:spLocks noChangeArrowheads="1"/>
            </p:cNvSpPr>
            <p:nvPr/>
          </p:nvSpPr>
          <p:spPr bwMode="auto">
            <a:xfrm>
              <a:off x="3638550" y="2182813"/>
              <a:ext cx="4970463" cy="113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45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Minimum amount of work in process that will allow the associate to flow the work efficiently</a:t>
              </a:r>
            </a:p>
            <a:p>
              <a:pPr eaLnBrk="1" hangingPunct="1">
                <a:lnSpc>
                  <a:spcPct val="100000"/>
                </a:lnSpc>
                <a:spcBef>
                  <a:spcPct val="45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Any time the process time of a process or the lead time of an external process is longer than takt time work is needed in the form of Standard WIP</a:t>
              </a:r>
            </a:p>
          </p:txBody>
        </p:sp>
        <p:sp>
          <p:nvSpPr>
            <p:cNvPr id="16" name="Line 16">
              <a:extLst>
                <a:ext uri="{FF2B5EF4-FFF2-40B4-BE49-F238E27FC236}">
                  <a16:creationId xmlns:a16="http://schemas.microsoft.com/office/drawing/2014/main" id="{5F1756A4-9DAA-A7DC-7735-C41E37B2ADA5}"/>
                </a:ext>
              </a:extLst>
            </p:cNvPr>
            <p:cNvSpPr>
              <a:spLocks noChangeShapeType="1"/>
            </p:cNvSpPr>
            <p:nvPr/>
          </p:nvSpPr>
          <p:spPr bwMode="auto">
            <a:xfrm flipV="1">
              <a:off x="461963" y="1809750"/>
              <a:ext cx="8250237" cy="15875"/>
            </a:xfrm>
            <a:prstGeom prst="line">
              <a:avLst/>
            </a:prstGeom>
            <a:noFill/>
            <a:ln w="38100">
              <a:solidFill>
                <a:srgbClr val="000066"/>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7" name="Text Box 17">
              <a:extLst>
                <a:ext uri="{FF2B5EF4-FFF2-40B4-BE49-F238E27FC236}">
                  <a16:creationId xmlns:a16="http://schemas.microsoft.com/office/drawing/2014/main" id="{EDDE1E8E-38B2-613B-DC0D-F36BC03DCBF4}"/>
                </a:ext>
              </a:extLst>
            </p:cNvPr>
            <p:cNvSpPr txBox="1">
              <a:spLocks noChangeArrowheads="1"/>
            </p:cNvSpPr>
            <p:nvPr/>
          </p:nvSpPr>
          <p:spPr bwMode="auto">
            <a:xfrm>
              <a:off x="471488" y="1536700"/>
              <a:ext cx="3997625" cy="336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800">
                  <a:latin typeface="Roboto" panose="02000000000000000000" pitchFamily="2" charset="0"/>
                  <a:ea typeface="Roboto" panose="02000000000000000000" pitchFamily="2" charset="0"/>
                </a:rPr>
                <a:t>Points		           	      Descriptions</a:t>
              </a:r>
            </a:p>
          </p:txBody>
        </p:sp>
        <p:sp>
          <p:nvSpPr>
            <p:cNvPr id="18" name="Oval 18">
              <a:extLst>
                <a:ext uri="{FF2B5EF4-FFF2-40B4-BE49-F238E27FC236}">
                  <a16:creationId xmlns:a16="http://schemas.microsoft.com/office/drawing/2014/main" id="{423F8424-8ADF-BC24-A30B-3C73A31717E0}"/>
                </a:ext>
              </a:extLst>
            </p:cNvPr>
            <p:cNvSpPr>
              <a:spLocks noChangeArrowheads="1"/>
            </p:cNvSpPr>
            <p:nvPr/>
          </p:nvSpPr>
          <p:spPr bwMode="auto">
            <a:xfrm>
              <a:off x="519113" y="2308225"/>
              <a:ext cx="400050" cy="366713"/>
            </a:xfrm>
            <a:prstGeom prst="ellipse">
              <a:avLst/>
            </a:prstGeom>
            <a:solidFill>
              <a:schemeClr val="accent1"/>
            </a:solidFill>
            <a:ln w="12700" cap="sq">
              <a:solidFill>
                <a:srgbClr val="8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1</a:t>
              </a:r>
            </a:p>
          </p:txBody>
        </p:sp>
        <p:grpSp>
          <p:nvGrpSpPr>
            <p:cNvPr id="19" name="Group 26">
              <a:extLst>
                <a:ext uri="{FF2B5EF4-FFF2-40B4-BE49-F238E27FC236}">
                  <a16:creationId xmlns:a16="http://schemas.microsoft.com/office/drawing/2014/main" id="{D434ADF6-E79E-5B98-3394-87D639DCA204}"/>
                </a:ext>
              </a:extLst>
            </p:cNvPr>
            <p:cNvGrpSpPr>
              <a:grpSpLocks/>
            </p:cNvGrpSpPr>
            <p:nvPr/>
          </p:nvGrpSpPr>
          <p:grpSpPr bwMode="auto">
            <a:xfrm>
              <a:off x="519113" y="4191000"/>
              <a:ext cx="8093075" cy="575665"/>
              <a:chOff x="519113" y="3457575"/>
              <a:chExt cx="8093075" cy="575665"/>
            </a:xfrm>
          </p:grpSpPr>
          <p:sp>
            <p:nvSpPr>
              <p:cNvPr id="20" name="Rectangle 6">
                <a:extLst>
                  <a:ext uri="{FF2B5EF4-FFF2-40B4-BE49-F238E27FC236}">
                    <a16:creationId xmlns:a16="http://schemas.microsoft.com/office/drawing/2014/main" id="{1459CA23-0E0A-05A6-33AD-D1C859364F05}"/>
                  </a:ext>
                </a:extLst>
              </p:cNvPr>
              <p:cNvSpPr>
                <a:spLocks noChangeArrowheads="1"/>
              </p:cNvSpPr>
              <p:nvPr/>
            </p:nvSpPr>
            <p:spPr bwMode="auto">
              <a:xfrm>
                <a:off x="1196975" y="3457575"/>
                <a:ext cx="1908175" cy="568325"/>
              </a:xfrm>
              <a:prstGeom prst="rect">
                <a:avLst/>
              </a:prstGeom>
              <a:solidFill>
                <a:schemeClr val="bg2"/>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1400">
                    <a:latin typeface="Roboto" panose="02000000000000000000" pitchFamily="2" charset="0"/>
                    <a:ea typeface="Roboto" panose="02000000000000000000" pitchFamily="2" charset="0"/>
                  </a:rPr>
                  <a:t>Standard WIP</a:t>
                </a: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Calculation</a:t>
                </a:r>
              </a:p>
            </p:txBody>
          </p:sp>
          <p:sp>
            <p:nvSpPr>
              <p:cNvPr id="31" name="Rectangle 14">
                <a:extLst>
                  <a:ext uri="{FF2B5EF4-FFF2-40B4-BE49-F238E27FC236}">
                    <a16:creationId xmlns:a16="http://schemas.microsoft.com/office/drawing/2014/main" id="{243806A5-E883-5A07-ED69-0D6E13051F44}"/>
                  </a:ext>
                </a:extLst>
              </p:cNvPr>
              <p:cNvSpPr>
                <a:spLocks noChangeArrowheads="1"/>
              </p:cNvSpPr>
              <p:nvPr/>
            </p:nvSpPr>
            <p:spPr bwMode="auto">
              <a:xfrm>
                <a:off x="3641725" y="3462338"/>
                <a:ext cx="4970463" cy="2634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45000"/>
                  </a:spcBef>
                  <a:spcAft>
                    <a:spcPct val="0"/>
                  </a:spcAft>
                  <a:buClr>
                    <a:schemeClr val="tx1"/>
                  </a:buClr>
                  <a:buFont typeface="Arial" panose="020B0604020202020204" pitchFamily="34" charset="0"/>
                  <a:buChar char="•"/>
                </a:pPr>
                <a:r>
                  <a:rPr lang="en-US" altLang="en-US" sz="1400">
                    <a:latin typeface="Roboto" panose="02000000000000000000" pitchFamily="2" charset="0"/>
                    <a:ea typeface="Roboto" panose="02000000000000000000" pitchFamily="2" charset="0"/>
                  </a:rPr>
                  <a:t>Process Time</a:t>
                </a:r>
                <a:endParaRPr lang="en-US" altLang="en-US" sz="1400" b="0">
                  <a:latin typeface="Roboto" panose="02000000000000000000" pitchFamily="2" charset="0"/>
                  <a:ea typeface="Roboto" panose="02000000000000000000" pitchFamily="2" charset="0"/>
                </a:endParaRPr>
              </a:p>
            </p:txBody>
          </p:sp>
          <p:sp>
            <p:nvSpPr>
              <p:cNvPr id="32" name="Oval 20">
                <a:extLst>
                  <a:ext uri="{FF2B5EF4-FFF2-40B4-BE49-F238E27FC236}">
                    <a16:creationId xmlns:a16="http://schemas.microsoft.com/office/drawing/2014/main" id="{13833759-17E0-9E71-1607-0889B49119F9}"/>
                  </a:ext>
                </a:extLst>
              </p:cNvPr>
              <p:cNvSpPr>
                <a:spLocks noChangeArrowheads="1"/>
              </p:cNvSpPr>
              <p:nvPr/>
            </p:nvSpPr>
            <p:spPr bwMode="auto">
              <a:xfrm>
                <a:off x="519113" y="3565525"/>
                <a:ext cx="400050" cy="366713"/>
              </a:xfrm>
              <a:prstGeom prst="ellipse">
                <a:avLst/>
              </a:prstGeom>
              <a:solidFill>
                <a:schemeClr val="accent1"/>
              </a:solidFill>
              <a:ln w="12700" cap="sq">
                <a:solidFill>
                  <a:srgbClr val="8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2</a:t>
                </a:r>
              </a:p>
            </p:txBody>
          </p:sp>
          <p:sp>
            <p:nvSpPr>
              <p:cNvPr id="33" name="Text Box 26">
                <a:extLst>
                  <a:ext uri="{FF2B5EF4-FFF2-40B4-BE49-F238E27FC236}">
                    <a16:creationId xmlns:a16="http://schemas.microsoft.com/office/drawing/2014/main" id="{1B6D7700-C21D-B857-EA7B-0B9167D614AD}"/>
                  </a:ext>
                </a:extLst>
              </p:cNvPr>
              <p:cNvSpPr txBox="1">
                <a:spLocks noChangeArrowheads="1"/>
              </p:cNvSpPr>
              <p:nvPr/>
            </p:nvSpPr>
            <p:spPr bwMode="auto">
              <a:xfrm>
                <a:off x="3895725" y="3752850"/>
                <a:ext cx="872047" cy="280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400">
                    <a:latin typeface="Roboto" panose="02000000000000000000" pitchFamily="2" charset="0"/>
                    <a:ea typeface="Roboto" panose="02000000000000000000" pitchFamily="2" charset="0"/>
                  </a:rPr>
                  <a:t>Takt Time</a:t>
                </a:r>
              </a:p>
            </p:txBody>
          </p:sp>
          <p:sp>
            <p:nvSpPr>
              <p:cNvPr id="34" name="Line 27">
                <a:extLst>
                  <a:ext uri="{FF2B5EF4-FFF2-40B4-BE49-F238E27FC236}">
                    <a16:creationId xmlns:a16="http://schemas.microsoft.com/office/drawing/2014/main" id="{1C9E8085-EA3E-62F9-1727-6009294A2A2C}"/>
                  </a:ext>
                </a:extLst>
              </p:cNvPr>
              <p:cNvSpPr>
                <a:spLocks noChangeShapeType="1"/>
              </p:cNvSpPr>
              <p:nvPr/>
            </p:nvSpPr>
            <p:spPr bwMode="auto">
              <a:xfrm>
                <a:off x="3875088" y="3744913"/>
                <a:ext cx="1074737"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grpSp>
      <p:grpSp>
        <p:nvGrpSpPr>
          <p:cNvPr id="21" name="Group 20">
            <a:extLst>
              <a:ext uri="{FF2B5EF4-FFF2-40B4-BE49-F238E27FC236}">
                <a16:creationId xmlns:a16="http://schemas.microsoft.com/office/drawing/2014/main" id="{4C594360-F859-DDCD-9F93-058651F8D46A}"/>
              </a:ext>
            </a:extLst>
          </p:cNvPr>
          <p:cNvGrpSpPr/>
          <p:nvPr/>
        </p:nvGrpSpPr>
        <p:grpSpPr>
          <a:xfrm>
            <a:off x="838200" y="297639"/>
            <a:ext cx="4220210" cy="301303"/>
            <a:chOff x="838200" y="297639"/>
            <a:chExt cx="4220210" cy="301303"/>
          </a:xfrm>
        </p:grpSpPr>
        <p:sp>
          <p:nvSpPr>
            <p:cNvPr id="22" name="AutoShape 9">
              <a:extLst>
                <a:ext uri="{FF2B5EF4-FFF2-40B4-BE49-F238E27FC236}">
                  <a16:creationId xmlns:a16="http://schemas.microsoft.com/office/drawing/2014/main" id="{57A8649C-319B-3F78-3F0E-13EB909E1930}"/>
                </a:ext>
              </a:extLst>
            </p:cNvPr>
            <p:cNvSpPr>
              <a:spLocks noChangeArrowheads="1"/>
            </p:cNvSpPr>
            <p:nvPr/>
          </p:nvSpPr>
          <p:spPr bwMode="auto">
            <a:xfrm>
              <a:off x="1779225" y="298454"/>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3" name="Group 22">
              <a:extLst>
                <a:ext uri="{FF2B5EF4-FFF2-40B4-BE49-F238E27FC236}">
                  <a16:creationId xmlns:a16="http://schemas.microsoft.com/office/drawing/2014/main" id="{E6758519-FED0-060E-C3B8-2D07B2C2BE28}"/>
                </a:ext>
              </a:extLst>
            </p:cNvPr>
            <p:cNvGrpSpPr/>
            <p:nvPr/>
          </p:nvGrpSpPr>
          <p:grpSpPr>
            <a:xfrm>
              <a:off x="838200" y="297639"/>
              <a:ext cx="4220210" cy="301303"/>
              <a:chOff x="838200" y="297639"/>
              <a:chExt cx="4220210" cy="301303"/>
            </a:xfrm>
          </p:grpSpPr>
          <p:grpSp>
            <p:nvGrpSpPr>
              <p:cNvPr id="24" name="Group 23">
                <a:extLst>
                  <a:ext uri="{FF2B5EF4-FFF2-40B4-BE49-F238E27FC236}">
                    <a16:creationId xmlns:a16="http://schemas.microsoft.com/office/drawing/2014/main" id="{DFD2F196-4630-9953-A517-E7FC5A5954C2}"/>
                  </a:ext>
                </a:extLst>
              </p:cNvPr>
              <p:cNvGrpSpPr/>
              <p:nvPr/>
            </p:nvGrpSpPr>
            <p:grpSpPr>
              <a:xfrm>
                <a:off x="838200" y="297639"/>
                <a:ext cx="1060167" cy="290657"/>
                <a:chOff x="826426" y="4041857"/>
                <a:chExt cx="1060167" cy="290657"/>
              </a:xfrm>
            </p:grpSpPr>
            <p:sp>
              <p:nvSpPr>
                <p:cNvPr id="26" name="AutoShape 9">
                  <a:extLst>
                    <a:ext uri="{FF2B5EF4-FFF2-40B4-BE49-F238E27FC236}">
                      <a16:creationId xmlns:a16="http://schemas.microsoft.com/office/drawing/2014/main" id="{D99D1B9C-1D79-D75E-6BC0-4F2A24A95904}"/>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7" name="AutoShape 11">
                  <a:extLst>
                    <a:ext uri="{FF2B5EF4-FFF2-40B4-BE49-F238E27FC236}">
                      <a16:creationId xmlns:a16="http://schemas.microsoft.com/office/drawing/2014/main" id="{5C9D18A6-814B-0341-54A5-1DEBBDCFDEF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8" name="AutoShape 10">
                  <a:extLst>
                    <a:ext uri="{FF2B5EF4-FFF2-40B4-BE49-F238E27FC236}">
                      <a16:creationId xmlns:a16="http://schemas.microsoft.com/office/drawing/2014/main" id="{4CC9CE90-0D56-DBE5-DF6D-AEF51488AB2D}"/>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25" name="TextBox 24">
                <a:extLst>
                  <a:ext uri="{FF2B5EF4-FFF2-40B4-BE49-F238E27FC236}">
                    <a16:creationId xmlns:a16="http://schemas.microsoft.com/office/drawing/2014/main" id="{7FA3A7C4-3CAC-7087-F64F-4CE18C781E0F}"/>
                  </a:ext>
                </a:extLst>
              </p:cNvPr>
              <p:cNvSpPr txBox="1"/>
              <p:nvPr/>
            </p:nvSpPr>
            <p:spPr>
              <a:xfrm>
                <a:off x="219045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Standard WIP</a:t>
                </a:r>
              </a:p>
            </p:txBody>
          </p:sp>
        </p:grpSp>
      </p:grpSp>
    </p:spTree>
    <p:extLst>
      <p:ext uri="{BB962C8B-B14F-4D97-AF65-F5344CB8AC3E}">
        <p14:creationId xmlns:p14="http://schemas.microsoft.com/office/powerpoint/2010/main" val="22520102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Standard WIP</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36</a:t>
            </a:fld>
            <a:endParaRPr lang="en-US"/>
          </a:p>
        </p:txBody>
      </p:sp>
      <p:grpSp>
        <p:nvGrpSpPr>
          <p:cNvPr id="3" name="Group 2">
            <a:extLst>
              <a:ext uri="{FF2B5EF4-FFF2-40B4-BE49-F238E27FC236}">
                <a16:creationId xmlns:a16="http://schemas.microsoft.com/office/drawing/2014/main" id="{E59B3CBF-5ABE-A498-69B8-907927981904}"/>
              </a:ext>
            </a:extLst>
          </p:cNvPr>
          <p:cNvGrpSpPr/>
          <p:nvPr/>
        </p:nvGrpSpPr>
        <p:grpSpPr>
          <a:xfrm>
            <a:off x="838200" y="297639"/>
            <a:ext cx="4220210" cy="301303"/>
            <a:chOff x="838200" y="297639"/>
            <a:chExt cx="4220210" cy="301303"/>
          </a:xfrm>
        </p:grpSpPr>
        <p:sp>
          <p:nvSpPr>
            <p:cNvPr id="5" name="AutoShape 9">
              <a:extLst>
                <a:ext uri="{FF2B5EF4-FFF2-40B4-BE49-F238E27FC236}">
                  <a16:creationId xmlns:a16="http://schemas.microsoft.com/office/drawing/2014/main" id="{2FA2C170-C446-6B5B-AAB0-CE615D97A889}"/>
                </a:ext>
              </a:extLst>
            </p:cNvPr>
            <p:cNvSpPr>
              <a:spLocks noChangeArrowheads="1"/>
            </p:cNvSpPr>
            <p:nvPr/>
          </p:nvSpPr>
          <p:spPr bwMode="auto">
            <a:xfrm>
              <a:off x="1779225" y="298454"/>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6" name="Group 5">
              <a:extLst>
                <a:ext uri="{FF2B5EF4-FFF2-40B4-BE49-F238E27FC236}">
                  <a16:creationId xmlns:a16="http://schemas.microsoft.com/office/drawing/2014/main" id="{9C2BB869-711E-EDCF-3E70-9D220EA50D3A}"/>
                </a:ext>
              </a:extLst>
            </p:cNvPr>
            <p:cNvGrpSpPr/>
            <p:nvPr/>
          </p:nvGrpSpPr>
          <p:grpSpPr>
            <a:xfrm>
              <a:off x="838200" y="297639"/>
              <a:ext cx="4220210" cy="301303"/>
              <a:chOff x="838200" y="297639"/>
              <a:chExt cx="4220210" cy="301303"/>
            </a:xfrm>
          </p:grpSpPr>
          <p:grpSp>
            <p:nvGrpSpPr>
              <p:cNvPr id="7" name="Group 6">
                <a:extLst>
                  <a:ext uri="{FF2B5EF4-FFF2-40B4-BE49-F238E27FC236}">
                    <a16:creationId xmlns:a16="http://schemas.microsoft.com/office/drawing/2014/main" id="{2610C34F-6578-4FE5-65A3-F08C785B5BBF}"/>
                  </a:ext>
                </a:extLst>
              </p:cNvPr>
              <p:cNvGrpSpPr/>
              <p:nvPr/>
            </p:nvGrpSpPr>
            <p:grpSpPr>
              <a:xfrm>
                <a:off x="838200" y="297639"/>
                <a:ext cx="1060167" cy="290657"/>
                <a:chOff x="826426" y="4041857"/>
                <a:chExt cx="1060167" cy="290657"/>
              </a:xfrm>
            </p:grpSpPr>
            <p:sp>
              <p:nvSpPr>
                <p:cNvPr id="9" name="AutoShape 9">
                  <a:extLst>
                    <a:ext uri="{FF2B5EF4-FFF2-40B4-BE49-F238E27FC236}">
                      <a16:creationId xmlns:a16="http://schemas.microsoft.com/office/drawing/2014/main" id="{C4BAC9EF-B7C5-7987-4E79-A6A74B4DFB2A}"/>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0" name="AutoShape 11">
                  <a:extLst>
                    <a:ext uri="{FF2B5EF4-FFF2-40B4-BE49-F238E27FC236}">
                      <a16:creationId xmlns:a16="http://schemas.microsoft.com/office/drawing/2014/main" id="{A747822C-FF49-93E1-752C-68C5CBA2D385}"/>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0">
                  <a:extLst>
                    <a:ext uri="{FF2B5EF4-FFF2-40B4-BE49-F238E27FC236}">
                      <a16:creationId xmlns:a16="http://schemas.microsoft.com/office/drawing/2014/main" id="{F7978C6F-E01F-648B-74C4-F93F25FFC582}"/>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8" name="TextBox 7">
                <a:extLst>
                  <a:ext uri="{FF2B5EF4-FFF2-40B4-BE49-F238E27FC236}">
                    <a16:creationId xmlns:a16="http://schemas.microsoft.com/office/drawing/2014/main" id="{16C8119E-347B-1271-DC3C-C23ABFB31C8E}"/>
                  </a:ext>
                </a:extLst>
              </p:cNvPr>
              <p:cNvSpPr txBox="1"/>
              <p:nvPr/>
            </p:nvSpPr>
            <p:spPr>
              <a:xfrm>
                <a:off x="219045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Standard WIP</a:t>
                </a:r>
              </a:p>
            </p:txBody>
          </p:sp>
        </p:grpSp>
      </p:grpSp>
      <p:grpSp>
        <p:nvGrpSpPr>
          <p:cNvPr id="58" name="Group 57">
            <a:extLst>
              <a:ext uri="{FF2B5EF4-FFF2-40B4-BE49-F238E27FC236}">
                <a16:creationId xmlns:a16="http://schemas.microsoft.com/office/drawing/2014/main" id="{969BB246-94E1-8219-77AB-C137E62273B6}"/>
              </a:ext>
            </a:extLst>
          </p:cNvPr>
          <p:cNvGrpSpPr/>
          <p:nvPr/>
        </p:nvGrpSpPr>
        <p:grpSpPr>
          <a:xfrm>
            <a:off x="1129348" y="1782615"/>
            <a:ext cx="9933305" cy="4492070"/>
            <a:chOff x="593725" y="1641475"/>
            <a:chExt cx="7672388" cy="4492070"/>
          </a:xfrm>
        </p:grpSpPr>
        <p:sp>
          <p:nvSpPr>
            <p:cNvPr id="36" name="Rectangle 4">
              <a:extLst>
                <a:ext uri="{FF2B5EF4-FFF2-40B4-BE49-F238E27FC236}">
                  <a16:creationId xmlns:a16="http://schemas.microsoft.com/office/drawing/2014/main" id="{3278C57E-2D33-F1C8-C360-45DB42F71689}"/>
                </a:ext>
              </a:extLst>
            </p:cNvPr>
            <p:cNvSpPr>
              <a:spLocks noChangeArrowheads="1"/>
            </p:cNvSpPr>
            <p:nvPr/>
          </p:nvSpPr>
          <p:spPr bwMode="auto">
            <a:xfrm>
              <a:off x="766763" y="1641475"/>
              <a:ext cx="7499350" cy="3968750"/>
            </a:xfrm>
            <a:prstGeom prst="rect">
              <a:avLst/>
            </a:prstGeom>
            <a:solidFill>
              <a:srgbClr val="B2B2B2"/>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37" name="Text Box 5">
              <a:extLst>
                <a:ext uri="{FF2B5EF4-FFF2-40B4-BE49-F238E27FC236}">
                  <a16:creationId xmlns:a16="http://schemas.microsoft.com/office/drawing/2014/main" id="{005D0968-A927-DFCE-4200-E7618FF1F38E}"/>
                </a:ext>
              </a:extLst>
            </p:cNvPr>
            <p:cNvSpPr txBox="1">
              <a:spLocks noChangeArrowheads="1"/>
            </p:cNvSpPr>
            <p:nvPr/>
          </p:nvSpPr>
          <p:spPr bwMode="auto">
            <a:xfrm>
              <a:off x="593725" y="5764213"/>
              <a:ext cx="28777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800">
                  <a:latin typeface="Roboto" panose="02000000000000000000" pitchFamily="2" charset="0"/>
                  <a:ea typeface="Roboto" panose="02000000000000000000" pitchFamily="2" charset="0"/>
                </a:rPr>
                <a:t>Standard Work in Process</a:t>
              </a:r>
            </a:p>
          </p:txBody>
        </p:sp>
        <p:sp>
          <p:nvSpPr>
            <p:cNvPr id="38" name="Rectangle 19">
              <a:extLst>
                <a:ext uri="{FF2B5EF4-FFF2-40B4-BE49-F238E27FC236}">
                  <a16:creationId xmlns:a16="http://schemas.microsoft.com/office/drawing/2014/main" id="{0F8D3A91-01CC-EB9E-73C6-E0D0E3805D8F}"/>
                </a:ext>
              </a:extLst>
            </p:cNvPr>
            <p:cNvSpPr>
              <a:spLocks noChangeArrowheads="1"/>
            </p:cNvSpPr>
            <p:nvPr/>
          </p:nvSpPr>
          <p:spPr bwMode="auto">
            <a:xfrm>
              <a:off x="3595688" y="5221288"/>
              <a:ext cx="1784143"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600">
                  <a:solidFill>
                    <a:schemeClr val="bg1"/>
                  </a:solidFill>
                  <a:latin typeface="Roboto" panose="02000000000000000000" pitchFamily="2" charset="0"/>
                  <a:ea typeface="Roboto" panose="02000000000000000000" pitchFamily="2" charset="0"/>
                </a:rPr>
                <a:t>Standard WIP = 3</a:t>
              </a:r>
            </a:p>
          </p:txBody>
        </p:sp>
        <p:grpSp>
          <p:nvGrpSpPr>
            <p:cNvPr id="39" name="Group 68">
              <a:extLst>
                <a:ext uri="{FF2B5EF4-FFF2-40B4-BE49-F238E27FC236}">
                  <a16:creationId xmlns:a16="http://schemas.microsoft.com/office/drawing/2014/main" id="{482E2C01-A637-92B7-5692-3486AED07A03}"/>
                </a:ext>
              </a:extLst>
            </p:cNvPr>
            <p:cNvGrpSpPr>
              <a:grpSpLocks/>
            </p:cNvGrpSpPr>
            <p:nvPr/>
          </p:nvGrpSpPr>
          <p:grpSpPr bwMode="auto">
            <a:xfrm>
              <a:off x="6034088" y="2632075"/>
              <a:ext cx="1590675" cy="1454150"/>
              <a:chOff x="5613958" y="3096010"/>
              <a:chExt cx="823912" cy="804862"/>
            </a:xfrm>
          </p:grpSpPr>
          <p:sp>
            <p:nvSpPr>
              <p:cNvPr id="40" name="Rectangle 26">
                <a:extLst>
                  <a:ext uri="{FF2B5EF4-FFF2-40B4-BE49-F238E27FC236}">
                    <a16:creationId xmlns:a16="http://schemas.microsoft.com/office/drawing/2014/main" id="{A1F57E65-7F7C-6BB4-5E18-1D9D7CD2F71F}"/>
                  </a:ext>
                </a:extLst>
              </p:cNvPr>
              <p:cNvSpPr>
                <a:spLocks noChangeArrowheads="1"/>
              </p:cNvSpPr>
              <p:nvPr/>
            </p:nvSpPr>
            <p:spPr bwMode="auto">
              <a:xfrm>
                <a:off x="5613958" y="3096010"/>
                <a:ext cx="823912" cy="804862"/>
              </a:xfrm>
              <a:prstGeom prst="rect">
                <a:avLst/>
              </a:prstGeom>
              <a:solidFill>
                <a:schemeClr val="bg2"/>
              </a:solidFill>
              <a:ln w="12700">
                <a:solidFill>
                  <a:srgbClr val="000000"/>
                </a:solidFill>
                <a:miter lim="800000"/>
                <a:headEnd/>
                <a:tailEnd/>
              </a:ln>
            </p:spPr>
            <p:txBody>
              <a:bodyPr wrap="none"/>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600">
                    <a:latin typeface="Roboto" panose="02000000000000000000" pitchFamily="2" charset="0"/>
                    <a:ea typeface="Roboto" panose="02000000000000000000" pitchFamily="2" charset="0"/>
                  </a:rPr>
                  <a:t>1.  Retrieve Print</a:t>
                </a:r>
              </a:p>
            </p:txBody>
          </p:sp>
          <p:sp>
            <p:nvSpPr>
              <p:cNvPr id="41" name="Oval 29" descr="Wide downward diagonal">
                <a:extLst>
                  <a:ext uri="{FF2B5EF4-FFF2-40B4-BE49-F238E27FC236}">
                    <a16:creationId xmlns:a16="http://schemas.microsoft.com/office/drawing/2014/main" id="{7DC30AA4-9CA5-C46E-399C-7AB10E0867C0}"/>
                  </a:ext>
                </a:extLst>
              </p:cNvPr>
              <p:cNvSpPr>
                <a:spLocks noChangeArrowheads="1"/>
              </p:cNvSpPr>
              <p:nvPr/>
            </p:nvSpPr>
            <p:spPr bwMode="auto">
              <a:xfrm>
                <a:off x="6183271" y="3509318"/>
                <a:ext cx="217530" cy="207105"/>
              </a:xfrm>
              <a:prstGeom prst="ellipse">
                <a:avLst/>
              </a:prstGeom>
              <a:blipFill dpi="0" rotWithShape="0">
                <a:blip r:embed="rId3"/>
                <a:srcRect/>
                <a:tile tx="0" ty="0" sx="100000" sy="100000" flip="none" algn="tl"/>
              </a:blipFill>
              <a:ln w="12700">
                <a:solidFill>
                  <a:srgbClr val="000000"/>
                </a:solidFill>
                <a:round/>
                <a:headEnd/>
                <a:tailEnd/>
              </a:ln>
            </p:spPr>
            <p:txBody>
              <a:bodyPr wrap="none"/>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grpSp>
        <p:sp>
          <p:nvSpPr>
            <p:cNvPr id="42" name="Oval 29" descr="Wide downward diagonal">
              <a:extLst>
                <a:ext uri="{FF2B5EF4-FFF2-40B4-BE49-F238E27FC236}">
                  <a16:creationId xmlns:a16="http://schemas.microsoft.com/office/drawing/2014/main" id="{10B30488-0B10-F1D4-C9AC-60828199C338}"/>
                </a:ext>
              </a:extLst>
            </p:cNvPr>
            <p:cNvSpPr>
              <a:spLocks noChangeArrowheads="1"/>
            </p:cNvSpPr>
            <p:nvPr/>
          </p:nvSpPr>
          <p:spPr bwMode="auto">
            <a:xfrm>
              <a:off x="3636963" y="5745163"/>
              <a:ext cx="439737" cy="371475"/>
            </a:xfrm>
            <a:prstGeom prst="ellipse">
              <a:avLst/>
            </a:prstGeom>
            <a:blipFill dpi="0" rotWithShape="0">
              <a:blip r:embed="rId3"/>
              <a:srcRect/>
              <a:tile tx="0" ty="0" sx="100000" sy="100000" flip="none" algn="tl"/>
            </a:blip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cxnSp>
          <p:nvCxnSpPr>
            <p:cNvPr id="43" name="Straight Arrow Connector 70">
              <a:extLst>
                <a:ext uri="{FF2B5EF4-FFF2-40B4-BE49-F238E27FC236}">
                  <a16:creationId xmlns:a16="http://schemas.microsoft.com/office/drawing/2014/main" id="{7E3056E3-29BD-962D-2AAE-2F8241E5BDC8}"/>
                </a:ext>
              </a:extLst>
            </p:cNvPr>
            <p:cNvCxnSpPr>
              <a:cxnSpLocks noChangeShapeType="1"/>
            </p:cNvCxnSpPr>
            <p:nvPr/>
          </p:nvCxnSpPr>
          <p:spPr bwMode="auto">
            <a:xfrm rot="5280000" flipH="1" flipV="1">
              <a:off x="6530181" y="4402932"/>
              <a:ext cx="652463" cy="19050"/>
            </a:xfrm>
            <a:prstGeom prst="straightConnector1">
              <a:avLst/>
            </a:prstGeom>
            <a:noFill/>
            <a:ln w="12700" cap="sq">
              <a:solidFill>
                <a:schemeClr val="tx1"/>
              </a:solidFill>
              <a:round/>
              <a:headEnd/>
              <a:tailEnd type="triangle" w="lg" len="lg"/>
            </a:ln>
            <a:extLst>
              <a:ext uri="{909E8E84-426E-40DD-AFC4-6F175D3DCCD1}">
                <a14:hiddenFill xmlns:a14="http://schemas.microsoft.com/office/drawing/2010/main">
                  <a:noFill/>
                </a14:hiddenFill>
              </a:ext>
            </a:extLst>
          </p:spPr>
        </p:cxnSp>
        <p:sp>
          <p:nvSpPr>
            <p:cNvPr id="44" name="Rectangle 25">
              <a:extLst>
                <a:ext uri="{FF2B5EF4-FFF2-40B4-BE49-F238E27FC236}">
                  <a16:creationId xmlns:a16="http://schemas.microsoft.com/office/drawing/2014/main" id="{C9FAA0F3-8A80-57DF-6B4A-B5D5E1B3EFC2}"/>
                </a:ext>
              </a:extLst>
            </p:cNvPr>
            <p:cNvSpPr>
              <a:spLocks noChangeArrowheads="1"/>
            </p:cNvSpPr>
            <p:nvPr/>
          </p:nvSpPr>
          <p:spPr bwMode="auto">
            <a:xfrm>
              <a:off x="6442075" y="4738688"/>
              <a:ext cx="809625" cy="582016"/>
            </a:xfrm>
            <a:prstGeom prst="rect">
              <a:avLst/>
            </a:prstGeom>
            <a:solidFill>
              <a:schemeClr val="bg2"/>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600">
                  <a:latin typeface="Roboto" panose="02000000000000000000" pitchFamily="2" charset="0"/>
                  <a:ea typeface="Roboto" panose="02000000000000000000" pitchFamily="2" charset="0"/>
                </a:rPr>
                <a:t>Dwg</a:t>
              </a:r>
            </a:p>
            <a:p>
              <a:pPr eaLnBrk="1" hangingPunct="1">
                <a:lnSpc>
                  <a:spcPct val="100000"/>
                </a:lnSpc>
                <a:spcBef>
                  <a:spcPct val="0"/>
                </a:spcBef>
                <a:spcAft>
                  <a:spcPct val="0"/>
                </a:spcAft>
                <a:buClrTx/>
                <a:buSzTx/>
                <a:buFontTx/>
                <a:buNone/>
              </a:pPr>
              <a:r>
                <a:rPr lang="en-US" altLang="en-US" sz="1600">
                  <a:latin typeface="Roboto" panose="02000000000000000000" pitchFamily="2" charset="0"/>
                  <a:ea typeface="Roboto" panose="02000000000000000000" pitchFamily="2" charset="0"/>
                </a:rPr>
                <a:t>Request</a:t>
              </a:r>
            </a:p>
          </p:txBody>
        </p:sp>
        <p:pic>
          <p:nvPicPr>
            <p:cNvPr id="45" name="Picture 73" descr="computer_1.bmp">
              <a:extLst>
                <a:ext uri="{FF2B5EF4-FFF2-40B4-BE49-F238E27FC236}">
                  <a16:creationId xmlns:a16="http://schemas.microsoft.com/office/drawing/2014/main" id="{6906E6BE-D682-6580-AE94-B5B398D8DBDA}"/>
                </a:ext>
              </a:extLst>
            </p:cNvPr>
            <p:cNvPicPr>
              <a:picLocks noChangeAspect="1"/>
            </p:cNvPicPr>
            <p:nvPr/>
          </p:nvPicPr>
          <p:blipFill>
            <a:blip r:embed="rId4">
              <a:extLst>
                <a:ext uri="{28A0092B-C50C-407E-A947-70E740481C1C}">
                  <a14:useLocalDpi xmlns:a14="http://schemas.microsoft.com/office/drawing/2010/main" val="0"/>
                </a:ext>
              </a:extLst>
            </a:blip>
            <a:srcRect l="8919" t="2701" r="3586" b="3799"/>
            <a:stretch>
              <a:fillRect/>
            </a:stretch>
          </p:blipFill>
          <p:spPr bwMode="auto">
            <a:xfrm>
              <a:off x="6054725" y="2978150"/>
              <a:ext cx="1012825" cy="1074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6" name="Group 74">
              <a:extLst>
                <a:ext uri="{FF2B5EF4-FFF2-40B4-BE49-F238E27FC236}">
                  <a16:creationId xmlns:a16="http://schemas.microsoft.com/office/drawing/2014/main" id="{C0189F8B-5CBF-49C9-A72D-4196288C70F4}"/>
                </a:ext>
              </a:extLst>
            </p:cNvPr>
            <p:cNvGrpSpPr>
              <a:grpSpLocks/>
            </p:cNvGrpSpPr>
            <p:nvPr/>
          </p:nvGrpSpPr>
          <p:grpSpPr bwMode="auto">
            <a:xfrm>
              <a:off x="3616325" y="1746250"/>
              <a:ext cx="1590675" cy="1454150"/>
              <a:chOff x="5613958" y="3096010"/>
              <a:chExt cx="823912" cy="804862"/>
            </a:xfrm>
          </p:grpSpPr>
          <p:sp>
            <p:nvSpPr>
              <p:cNvPr id="47" name="Rectangle 26">
                <a:extLst>
                  <a:ext uri="{FF2B5EF4-FFF2-40B4-BE49-F238E27FC236}">
                    <a16:creationId xmlns:a16="http://schemas.microsoft.com/office/drawing/2014/main" id="{C7B55450-7A52-20FF-F320-9B9B0F8C5A90}"/>
                  </a:ext>
                </a:extLst>
              </p:cNvPr>
              <p:cNvSpPr>
                <a:spLocks noChangeArrowheads="1"/>
              </p:cNvSpPr>
              <p:nvPr/>
            </p:nvSpPr>
            <p:spPr bwMode="auto">
              <a:xfrm>
                <a:off x="5613958" y="3096010"/>
                <a:ext cx="823912" cy="804862"/>
              </a:xfrm>
              <a:prstGeom prst="rect">
                <a:avLst/>
              </a:prstGeom>
              <a:solidFill>
                <a:schemeClr val="bg2"/>
              </a:solidFill>
              <a:ln w="12700">
                <a:solidFill>
                  <a:srgbClr val="000000"/>
                </a:solidFill>
                <a:miter lim="800000"/>
                <a:headEnd/>
                <a:tailEnd/>
              </a:ln>
            </p:spPr>
            <p:txBody>
              <a:bodyPr wrap="none"/>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600">
                    <a:latin typeface="Roboto" panose="02000000000000000000" pitchFamily="2" charset="0"/>
                    <a:ea typeface="Roboto" panose="02000000000000000000" pitchFamily="2" charset="0"/>
                  </a:rPr>
                  <a:t>2.  Plot Drawing</a:t>
                </a:r>
              </a:p>
            </p:txBody>
          </p:sp>
          <p:sp>
            <p:nvSpPr>
              <p:cNvPr id="48" name="Oval 29" descr="Wide downward diagonal">
                <a:extLst>
                  <a:ext uri="{FF2B5EF4-FFF2-40B4-BE49-F238E27FC236}">
                    <a16:creationId xmlns:a16="http://schemas.microsoft.com/office/drawing/2014/main" id="{32F1E396-E546-2FC6-DE6A-9772A53CF600}"/>
                  </a:ext>
                </a:extLst>
              </p:cNvPr>
              <p:cNvSpPr>
                <a:spLocks noChangeArrowheads="1"/>
              </p:cNvSpPr>
              <p:nvPr/>
            </p:nvSpPr>
            <p:spPr bwMode="auto">
              <a:xfrm>
                <a:off x="6183271" y="3509318"/>
                <a:ext cx="217530" cy="207105"/>
              </a:xfrm>
              <a:prstGeom prst="ellipse">
                <a:avLst/>
              </a:prstGeom>
              <a:blipFill dpi="0" rotWithShape="0">
                <a:blip r:embed="rId3"/>
                <a:srcRect/>
                <a:tile tx="0" ty="0" sx="100000" sy="100000" flip="none" algn="tl"/>
              </a:blipFill>
              <a:ln w="12700">
                <a:solidFill>
                  <a:srgbClr val="000000"/>
                </a:solidFill>
                <a:round/>
                <a:headEnd/>
                <a:tailEnd/>
              </a:ln>
            </p:spPr>
            <p:txBody>
              <a:bodyPr wrap="none"/>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grpSp>
        <p:pic>
          <p:nvPicPr>
            <p:cNvPr id="49" name="Picture 77" descr="plotter.bmp">
              <a:extLst>
                <a:ext uri="{FF2B5EF4-FFF2-40B4-BE49-F238E27FC236}">
                  <a16:creationId xmlns:a16="http://schemas.microsoft.com/office/drawing/2014/main" id="{7AB644D2-06E4-DBF5-D639-B55797ED1A3D}"/>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656013" y="2051050"/>
              <a:ext cx="1052512" cy="111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0" name="Straight Arrow Connector 78">
              <a:extLst>
                <a:ext uri="{FF2B5EF4-FFF2-40B4-BE49-F238E27FC236}">
                  <a16:creationId xmlns:a16="http://schemas.microsoft.com/office/drawing/2014/main" id="{024109FD-6FFD-724C-4ACF-0DB32905CEA0}"/>
                </a:ext>
              </a:extLst>
            </p:cNvPr>
            <p:cNvCxnSpPr>
              <a:cxnSpLocks noChangeShapeType="1"/>
              <a:endCxn id="47" idx="3"/>
            </p:cNvCxnSpPr>
            <p:nvPr/>
          </p:nvCxnSpPr>
          <p:spPr bwMode="auto">
            <a:xfrm rot="10800000">
              <a:off x="5207000" y="2473325"/>
              <a:ext cx="822325" cy="479425"/>
            </a:xfrm>
            <a:prstGeom prst="straightConnector1">
              <a:avLst/>
            </a:prstGeom>
            <a:noFill/>
            <a:ln w="12700" cap="sq">
              <a:solidFill>
                <a:schemeClr val="tx1"/>
              </a:solidFill>
              <a:round/>
              <a:headEnd/>
              <a:tailEnd type="triangle" w="lg" len="lg"/>
            </a:ln>
            <a:extLst>
              <a:ext uri="{909E8E84-426E-40DD-AFC4-6F175D3DCCD1}">
                <a14:hiddenFill xmlns:a14="http://schemas.microsoft.com/office/drawing/2010/main">
                  <a:noFill/>
                </a14:hiddenFill>
              </a:ext>
            </a:extLst>
          </p:spPr>
        </p:cxnSp>
        <p:grpSp>
          <p:nvGrpSpPr>
            <p:cNvPr id="51" name="Group 81">
              <a:extLst>
                <a:ext uri="{FF2B5EF4-FFF2-40B4-BE49-F238E27FC236}">
                  <a16:creationId xmlns:a16="http://schemas.microsoft.com/office/drawing/2014/main" id="{4D8A9A5A-F6D7-BA8B-8F58-4294282A73A1}"/>
                </a:ext>
              </a:extLst>
            </p:cNvPr>
            <p:cNvGrpSpPr>
              <a:grpSpLocks/>
            </p:cNvGrpSpPr>
            <p:nvPr/>
          </p:nvGrpSpPr>
          <p:grpSpPr bwMode="auto">
            <a:xfrm>
              <a:off x="1173163" y="2665413"/>
              <a:ext cx="1590675" cy="1454150"/>
              <a:chOff x="5613958" y="3096010"/>
              <a:chExt cx="823912" cy="804862"/>
            </a:xfrm>
          </p:grpSpPr>
          <p:sp>
            <p:nvSpPr>
              <p:cNvPr id="52" name="Rectangle 26">
                <a:extLst>
                  <a:ext uri="{FF2B5EF4-FFF2-40B4-BE49-F238E27FC236}">
                    <a16:creationId xmlns:a16="http://schemas.microsoft.com/office/drawing/2014/main" id="{5AED584F-0EEE-7BF3-7C8D-60CEABBB14CD}"/>
                  </a:ext>
                </a:extLst>
              </p:cNvPr>
              <p:cNvSpPr>
                <a:spLocks noChangeArrowheads="1"/>
              </p:cNvSpPr>
              <p:nvPr/>
            </p:nvSpPr>
            <p:spPr bwMode="auto">
              <a:xfrm>
                <a:off x="5613958" y="3096010"/>
                <a:ext cx="823912" cy="804862"/>
              </a:xfrm>
              <a:prstGeom prst="rect">
                <a:avLst/>
              </a:prstGeom>
              <a:solidFill>
                <a:schemeClr val="bg2"/>
              </a:solidFill>
              <a:ln w="12700">
                <a:solidFill>
                  <a:srgbClr val="000000"/>
                </a:solidFill>
                <a:miter lim="800000"/>
                <a:headEnd/>
                <a:tailEnd/>
              </a:ln>
            </p:spPr>
            <p:txBody>
              <a:bodyPr wrap="none"/>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600">
                    <a:latin typeface="Roboto" panose="02000000000000000000" pitchFamily="2" charset="0"/>
                    <a:ea typeface="Roboto" panose="02000000000000000000" pitchFamily="2" charset="0"/>
                  </a:rPr>
                  <a:t>3.  Mail Routing</a:t>
                </a:r>
              </a:p>
            </p:txBody>
          </p:sp>
          <p:sp>
            <p:nvSpPr>
              <p:cNvPr id="53" name="Oval 29" descr="Wide downward diagonal">
                <a:extLst>
                  <a:ext uri="{FF2B5EF4-FFF2-40B4-BE49-F238E27FC236}">
                    <a16:creationId xmlns:a16="http://schemas.microsoft.com/office/drawing/2014/main" id="{12D8E277-D71B-C1F9-F8AB-6BED0FAE28B8}"/>
                  </a:ext>
                </a:extLst>
              </p:cNvPr>
              <p:cNvSpPr>
                <a:spLocks noChangeArrowheads="1"/>
              </p:cNvSpPr>
              <p:nvPr/>
            </p:nvSpPr>
            <p:spPr bwMode="auto">
              <a:xfrm>
                <a:off x="6183271" y="3509318"/>
                <a:ext cx="217530" cy="207105"/>
              </a:xfrm>
              <a:prstGeom prst="ellipse">
                <a:avLst/>
              </a:prstGeom>
              <a:blipFill dpi="0" rotWithShape="0">
                <a:blip r:embed="rId3"/>
                <a:srcRect/>
                <a:tile tx="0" ty="0" sx="100000" sy="100000" flip="none" algn="tl"/>
              </a:blipFill>
              <a:ln w="12700">
                <a:solidFill>
                  <a:srgbClr val="000000"/>
                </a:solidFill>
                <a:round/>
                <a:headEnd/>
                <a:tailEnd/>
              </a:ln>
            </p:spPr>
            <p:txBody>
              <a:bodyPr wrap="none"/>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grpSp>
        <p:cxnSp>
          <p:nvCxnSpPr>
            <p:cNvPr id="54" name="Straight Arrow Connector 85">
              <a:extLst>
                <a:ext uri="{FF2B5EF4-FFF2-40B4-BE49-F238E27FC236}">
                  <a16:creationId xmlns:a16="http://schemas.microsoft.com/office/drawing/2014/main" id="{4A9F9BF2-1F1C-EF8B-5C7B-0E9EF05F0A12}"/>
                </a:ext>
              </a:extLst>
            </p:cNvPr>
            <p:cNvCxnSpPr>
              <a:cxnSpLocks noChangeShapeType="1"/>
              <a:stCxn id="47" idx="1"/>
              <a:endCxn id="52" idx="3"/>
            </p:cNvCxnSpPr>
            <p:nvPr/>
          </p:nvCxnSpPr>
          <p:spPr bwMode="auto">
            <a:xfrm rot="10800000" flipV="1">
              <a:off x="2763838" y="2473325"/>
              <a:ext cx="852487" cy="919163"/>
            </a:xfrm>
            <a:prstGeom prst="straightConnector1">
              <a:avLst/>
            </a:prstGeom>
            <a:noFill/>
            <a:ln w="12700" cap="sq">
              <a:solidFill>
                <a:schemeClr val="tx1"/>
              </a:solidFill>
              <a:round/>
              <a:headEnd/>
              <a:tailEnd type="triangle" w="lg" len="lg"/>
            </a:ln>
            <a:extLst>
              <a:ext uri="{909E8E84-426E-40DD-AFC4-6F175D3DCCD1}">
                <a14:hiddenFill xmlns:a14="http://schemas.microsoft.com/office/drawing/2010/main">
                  <a:noFill/>
                </a14:hiddenFill>
              </a:ext>
            </a:extLst>
          </p:spPr>
        </p:cxnSp>
        <p:pic>
          <p:nvPicPr>
            <p:cNvPr id="55" name="Picture 88" descr="mail.bmp">
              <a:extLst>
                <a:ext uri="{FF2B5EF4-FFF2-40B4-BE49-F238E27FC236}">
                  <a16:creationId xmlns:a16="http://schemas.microsoft.com/office/drawing/2014/main" id="{31E0E63E-D234-2C62-1522-86D08FFFE89E}"/>
                </a:ext>
              </a:extLst>
            </p:cNvPr>
            <p:cNvPicPr>
              <a:picLocks noChangeAspect="1"/>
            </p:cNvPicPr>
            <p:nvPr/>
          </p:nvPicPr>
          <p:blipFill>
            <a:blip r:embed="rId6">
              <a:extLst>
                <a:ext uri="{28A0092B-C50C-407E-A947-70E740481C1C}">
                  <a14:useLocalDpi xmlns:a14="http://schemas.microsoft.com/office/drawing/2010/main" val="0"/>
                </a:ext>
              </a:extLst>
            </a:blip>
            <a:srcRect l="26080" t="20721" r="15135" b="8109"/>
            <a:stretch>
              <a:fillRect/>
            </a:stretch>
          </p:blipFill>
          <p:spPr bwMode="auto">
            <a:xfrm>
              <a:off x="1198563" y="3200400"/>
              <a:ext cx="993775"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6" name="Straight Arrow Connector 89">
              <a:extLst>
                <a:ext uri="{FF2B5EF4-FFF2-40B4-BE49-F238E27FC236}">
                  <a16:creationId xmlns:a16="http://schemas.microsoft.com/office/drawing/2014/main" id="{254EBBE0-B0DF-8915-A5FD-62CF634EE9D7}"/>
                </a:ext>
              </a:extLst>
            </p:cNvPr>
            <p:cNvCxnSpPr>
              <a:cxnSpLocks noChangeShapeType="1"/>
            </p:cNvCxnSpPr>
            <p:nvPr/>
          </p:nvCxnSpPr>
          <p:spPr bwMode="auto">
            <a:xfrm rot="5160000">
              <a:off x="1647825" y="4398963"/>
              <a:ext cx="600075" cy="41275"/>
            </a:xfrm>
            <a:prstGeom prst="straightConnector1">
              <a:avLst/>
            </a:prstGeom>
            <a:noFill/>
            <a:ln w="12700" cap="sq">
              <a:solidFill>
                <a:schemeClr val="tx1"/>
              </a:solidFill>
              <a:round/>
              <a:headEnd/>
              <a:tailEnd type="triangle" w="lg" len="lg"/>
            </a:ln>
            <a:extLst>
              <a:ext uri="{909E8E84-426E-40DD-AFC4-6F175D3DCCD1}">
                <a14:hiddenFill xmlns:a14="http://schemas.microsoft.com/office/drawing/2010/main">
                  <a:noFill/>
                </a14:hiddenFill>
              </a:ext>
            </a:extLst>
          </p:spPr>
        </p:cxnSp>
        <p:sp>
          <p:nvSpPr>
            <p:cNvPr id="57" name="Rectangle 25">
              <a:extLst>
                <a:ext uri="{FF2B5EF4-FFF2-40B4-BE49-F238E27FC236}">
                  <a16:creationId xmlns:a16="http://schemas.microsoft.com/office/drawing/2014/main" id="{D72A9028-A60B-EF56-0160-9A7D98FDBE1B}"/>
                </a:ext>
              </a:extLst>
            </p:cNvPr>
            <p:cNvSpPr>
              <a:spLocks noChangeArrowheads="1"/>
            </p:cNvSpPr>
            <p:nvPr/>
          </p:nvSpPr>
          <p:spPr bwMode="auto">
            <a:xfrm>
              <a:off x="1541463" y="4718050"/>
              <a:ext cx="949325" cy="582016"/>
            </a:xfrm>
            <a:prstGeom prst="rect">
              <a:avLst/>
            </a:prstGeom>
            <a:solidFill>
              <a:schemeClr val="bg2"/>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600" dirty="0">
                  <a:latin typeface="Roboto" panose="02000000000000000000" pitchFamily="2" charset="0"/>
                  <a:ea typeface="Roboto" panose="02000000000000000000" pitchFamily="2" charset="0"/>
                </a:rPr>
                <a:t>To</a:t>
              </a:r>
            </a:p>
            <a:p>
              <a:pPr eaLnBrk="1" hangingPunct="1">
                <a:lnSpc>
                  <a:spcPct val="100000"/>
                </a:lnSpc>
                <a:spcBef>
                  <a:spcPct val="0"/>
                </a:spcBef>
                <a:spcAft>
                  <a:spcPct val="0"/>
                </a:spcAft>
                <a:buClrTx/>
                <a:buSzTx/>
                <a:buFontTx/>
                <a:buNone/>
              </a:pPr>
              <a:r>
                <a:rPr lang="en-US" altLang="en-US" sz="1600" dirty="0">
                  <a:latin typeface="Roboto" panose="02000000000000000000" pitchFamily="2" charset="0"/>
                  <a:ea typeface="Roboto" panose="02000000000000000000" pitchFamily="2" charset="0"/>
                </a:rPr>
                <a:t>Customer</a:t>
              </a:r>
            </a:p>
          </p:txBody>
        </p:sp>
      </p:grpSp>
    </p:spTree>
    <p:extLst>
      <p:ext uri="{BB962C8B-B14F-4D97-AF65-F5344CB8AC3E}">
        <p14:creationId xmlns:p14="http://schemas.microsoft.com/office/powerpoint/2010/main" val="18169174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37</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Standard Work Documentation </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normAutofit lnSpcReduction="10000"/>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dirty="0"/>
              <a:t>Identify components and use of the Standard Work Documentation:</a:t>
            </a:r>
          </a:p>
          <a:p>
            <a:pPr lvl="1"/>
            <a:r>
              <a:rPr lang="en-US" dirty="0"/>
              <a:t>Time Observation Form</a:t>
            </a:r>
          </a:p>
          <a:p>
            <a:pPr lvl="1"/>
            <a:r>
              <a:rPr lang="en-US" dirty="0"/>
              <a:t>Process Capacity Sheet</a:t>
            </a:r>
          </a:p>
          <a:p>
            <a:pPr lvl="1"/>
            <a:r>
              <a:rPr lang="en-US" dirty="0"/>
              <a:t>Standard Work Combination Sheet</a:t>
            </a:r>
          </a:p>
          <a:p>
            <a:pPr lvl="1"/>
            <a:r>
              <a:rPr lang="en-US" dirty="0"/>
              <a:t>Standard Work Sheet</a:t>
            </a:r>
          </a:p>
          <a:p>
            <a:pPr lvl="1"/>
            <a:r>
              <a:rPr lang="en-US" dirty="0"/>
              <a:t>Associate Loading Chart</a:t>
            </a:r>
          </a:p>
          <a:p>
            <a:r>
              <a:rPr lang="en-US" dirty="0"/>
              <a:t>Define purpose of Standard Work Playbook</a:t>
            </a:r>
          </a:p>
          <a:p>
            <a:r>
              <a:rPr lang="en-US" dirty="0"/>
              <a:t>Identify components of the Kaizen Results Form</a:t>
            </a:r>
          </a:p>
          <a:p>
            <a:endParaRPr lang="en-US" dirty="0"/>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C87A7FF0-98F8-9B45-43F5-1EE0B5702A07}"/>
              </a:ext>
            </a:extLst>
          </p:cNvPr>
          <p:cNvGrpSpPr/>
          <p:nvPr/>
        </p:nvGrpSpPr>
        <p:grpSpPr>
          <a:xfrm>
            <a:off x="699911" y="837132"/>
            <a:ext cx="5850075" cy="659880"/>
            <a:chOff x="699911" y="837132"/>
            <a:chExt cx="5850075" cy="659880"/>
          </a:xfrm>
        </p:grpSpPr>
        <p:sp>
          <p:nvSpPr>
            <p:cNvPr id="4" name="AutoShape 9">
              <a:extLst>
                <a:ext uri="{FF2B5EF4-FFF2-40B4-BE49-F238E27FC236}">
                  <a16:creationId xmlns:a16="http://schemas.microsoft.com/office/drawing/2014/main" id="{717DD1F3-5C6B-CA24-C474-C85FEE3DF5E7}"/>
                </a:ext>
              </a:extLst>
            </p:cNvPr>
            <p:cNvSpPr>
              <a:spLocks noChangeArrowheads="1"/>
            </p:cNvSpPr>
            <p:nvPr/>
          </p:nvSpPr>
          <p:spPr bwMode="auto">
            <a:xfrm>
              <a:off x="4971710" y="837132"/>
              <a:ext cx="1578276" cy="659879"/>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Documentation</a:t>
              </a:r>
            </a:p>
          </p:txBody>
        </p:sp>
        <p:grpSp>
          <p:nvGrpSpPr>
            <p:cNvPr id="13" name="Group 12">
              <a:extLst>
                <a:ext uri="{FF2B5EF4-FFF2-40B4-BE49-F238E27FC236}">
                  <a16:creationId xmlns:a16="http://schemas.microsoft.com/office/drawing/2014/main" id="{DADE2756-B973-0064-D4DD-52D3744FBA6B}"/>
                </a:ext>
              </a:extLst>
            </p:cNvPr>
            <p:cNvGrpSpPr/>
            <p:nvPr/>
          </p:nvGrpSpPr>
          <p:grpSpPr>
            <a:xfrm>
              <a:off x="699911" y="837133"/>
              <a:ext cx="4425950" cy="659879"/>
              <a:chOff x="5627530" y="641179"/>
              <a:chExt cx="6564470" cy="804977"/>
            </a:xfrm>
          </p:grpSpPr>
          <p:sp>
            <p:nvSpPr>
              <p:cNvPr id="14" name="AutoShape 9">
                <a:extLst>
                  <a:ext uri="{FF2B5EF4-FFF2-40B4-BE49-F238E27FC236}">
                    <a16:creationId xmlns:a16="http://schemas.microsoft.com/office/drawing/2014/main" id="{FF83B6EB-BAFE-C193-44C8-50C54ED609A3}"/>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Standard WIP</a:t>
                </a:r>
              </a:p>
            </p:txBody>
          </p:sp>
          <p:sp>
            <p:nvSpPr>
              <p:cNvPr id="15" name="AutoShape 10">
                <a:extLst>
                  <a:ext uri="{FF2B5EF4-FFF2-40B4-BE49-F238E27FC236}">
                    <a16:creationId xmlns:a16="http://schemas.microsoft.com/office/drawing/2014/main" id="{386767CB-AD12-A8CE-F49D-60EB435EC2D3}"/>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Work </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Sequence</a:t>
                </a:r>
              </a:p>
            </p:txBody>
          </p:sp>
          <p:sp>
            <p:nvSpPr>
              <p:cNvPr id="16" name="AutoShape 11">
                <a:extLst>
                  <a:ext uri="{FF2B5EF4-FFF2-40B4-BE49-F238E27FC236}">
                    <a16:creationId xmlns:a16="http://schemas.microsoft.com/office/drawing/2014/main" id="{C2EFD1F9-72F5-1220-34C5-1283C9247686}"/>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Takt Time vs.</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Process Time</a:t>
                </a:r>
              </a:p>
            </p:txBody>
          </p:sp>
        </p:grpSp>
      </p:grpSp>
    </p:spTree>
    <p:extLst>
      <p:ext uri="{BB962C8B-B14F-4D97-AF65-F5344CB8AC3E}">
        <p14:creationId xmlns:p14="http://schemas.microsoft.com/office/powerpoint/2010/main" val="20020714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fontScale="90000"/>
          </a:bodyPr>
          <a:lstStyle/>
          <a:p>
            <a:r>
              <a:rPr lang="en-US" dirty="0"/>
              <a:t>Standard Work Documentation Forms are Management Tools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Time Observation Form</a:t>
            </a:r>
          </a:p>
          <a:p>
            <a:r>
              <a:rPr lang="en-US" dirty="0"/>
              <a:t>Process Capacity Form</a:t>
            </a:r>
          </a:p>
          <a:p>
            <a:pPr lvl="1"/>
            <a:r>
              <a:rPr lang="en-US" dirty="0"/>
              <a:t>Rarely used in an administrative setting</a:t>
            </a:r>
          </a:p>
          <a:p>
            <a:r>
              <a:rPr lang="en-US" dirty="0"/>
              <a:t>Standard Work Combination Sheet</a:t>
            </a:r>
          </a:p>
          <a:p>
            <a:r>
              <a:rPr lang="en-US" dirty="0"/>
              <a:t>Standard Work Sheet</a:t>
            </a:r>
          </a:p>
          <a:p>
            <a:r>
              <a:rPr lang="en-US" dirty="0"/>
              <a:t>Associate Loading Chart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38</a:t>
            </a:fld>
            <a:endParaRPr lang="en-US"/>
          </a:p>
        </p:txBody>
      </p:sp>
      <p:grpSp>
        <p:nvGrpSpPr>
          <p:cNvPr id="4" name="Group 3">
            <a:extLst>
              <a:ext uri="{FF2B5EF4-FFF2-40B4-BE49-F238E27FC236}">
                <a16:creationId xmlns:a16="http://schemas.microsoft.com/office/drawing/2014/main" id="{68B43806-C085-B892-8E50-7696A18CD9F0}"/>
              </a:ext>
            </a:extLst>
          </p:cNvPr>
          <p:cNvGrpSpPr/>
          <p:nvPr/>
        </p:nvGrpSpPr>
        <p:grpSpPr>
          <a:xfrm>
            <a:off x="838200" y="297639"/>
            <a:ext cx="4545330" cy="301303"/>
            <a:chOff x="838200" y="297639"/>
            <a:chExt cx="4545330" cy="301303"/>
          </a:xfrm>
        </p:grpSpPr>
        <p:sp>
          <p:nvSpPr>
            <p:cNvPr id="6" name="AutoShape 9">
              <a:extLst>
                <a:ext uri="{FF2B5EF4-FFF2-40B4-BE49-F238E27FC236}">
                  <a16:creationId xmlns:a16="http://schemas.microsoft.com/office/drawing/2014/main" id="{0B27A768-EE8C-8FFD-7782-F5A549A977AA}"/>
                </a:ext>
              </a:extLst>
            </p:cNvPr>
            <p:cNvSpPr>
              <a:spLocks noChangeArrowheads="1"/>
            </p:cNvSpPr>
            <p:nvPr/>
          </p:nvSpPr>
          <p:spPr bwMode="auto">
            <a:xfrm>
              <a:off x="1779225" y="298454"/>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7" name="Group 6">
              <a:extLst>
                <a:ext uri="{FF2B5EF4-FFF2-40B4-BE49-F238E27FC236}">
                  <a16:creationId xmlns:a16="http://schemas.microsoft.com/office/drawing/2014/main" id="{663992D9-BF0C-A952-1DDD-B669A9932737}"/>
                </a:ext>
              </a:extLst>
            </p:cNvPr>
            <p:cNvGrpSpPr/>
            <p:nvPr/>
          </p:nvGrpSpPr>
          <p:grpSpPr>
            <a:xfrm>
              <a:off x="838200" y="297639"/>
              <a:ext cx="4545330" cy="301303"/>
              <a:chOff x="838200" y="297639"/>
              <a:chExt cx="4545330" cy="301303"/>
            </a:xfrm>
          </p:grpSpPr>
          <p:grpSp>
            <p:nvGrpSpPr>
              <p:cNvPr id="8" name="Group 7">
                <a:extLst>
                  <a:ext uri="{FF2B5EF4-FFF2-40B4-BE49-F238E27FC236}">
                    <a16:creationId xmlns:a16="http://schemas.microsoft.com/office/drawing/2014/main" id="{3D989A41-542C-35CD-AF4A-CB43CD262BD5}"/>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056BF4DA-50EB-E510-F1A7-DA29C2D84C6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711F63DC-1CB9-178B-C803-D3EAFF7E308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B75C5D4F-D63F-B68C-2CD1-F542E984CD7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9" name="TextBox 8">
                <a:extLst>
                  <a:ext uri="{FF2B5EF4-FFF2-40B4-BE49-F238E27FC236}">
                    <a16:creationId xmlns:a16="http://schemas.microsoft.com/office/drawing/2014/main" id="{0E3936B2-5343-B810-B777-5AD66D5FB9C6}"/>
                  </a:ext>
                </a:extLst>
              </p:cNvPr>
              <p:cNvSpPr txBox="1"/>
              <p:nvPr/>
            </p:nvSpPr>
            <p:spPr>
              <a:xfrm>
                <a:off x="2190452" y="307580"/>
                <a:ext cx="31930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Standard Work Documentation</a:t>
                </a:r>
              </a:p>
            </p:txBody>
          </p:sp>
        </p:grpSp>
      </p:grpSp>
    </p:spTree>
    <p:extLst>
      <p:ext uri="{BB962C8B-B14F-4D97-AF65-F5344CB8AC3E}">
        <p14:creationId xmlns:p14="http://schemas.microsoft.com/office/powerpoint/2010/main" val="39756380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dirty="0"/>
              <a:t>Time Observation Form</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Used to document process time of an Associate and his/her complete work sequence</a:t>
            </a:r>
          </a:p>
          <a:p>
            <a:r>
              <a:rPr lang="en-US" dirty="0"/>
              <a:t>7-10 observations typically taken</a:t>
            </a:r>
          </a:p>
          <a:p>
            <a:r>
              <a:rPr lang="en-US" dirty="0"/>
              <a:t>Lowest observable process used</a:t>
            </a:r>
          </a:p>
          <a:p>
            <a:r>
              <a:rPr lang="en-US" dirty="0"/>
              <a:t>Key input to Standard Work Combination Sheet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39</a:t>
            </a:fld>
            <a:endParaRPr lang="en-US"/>
          </a:p>
        </p:txBody>
      </p:sp>
      <p:grpSp>
        <p:nvGrpSpPr>
          <p:cNvPr id="4" name="Group 3">
            <a:extLst>
              <a:ext uri="{FF2B5EF4-FFF2-40B4-BE49-F238E27FC236}">
                <a16:creationId xmlns:a16="http://schemas.microsoft.com/office/drawing/2014/main" id="{68B43806-C085-B892-8E50-7696A18CD9F0}"/>
              </a:ext>
            </a:extLst>
          </p:cNvPr>
          <p:cNvGrpSpPr/>
          <p:nvPr/>
        </p:nvGrpSpPr>
        <p:grpSpPr>
          <a:xfrm>
            <a:off x="838200" y="297639"/>
            <a:ext cx="4545330" cy="301303"/>
            <a:chOff x="838200" y="297639"/>
            <a:chExt cx="4545330" cy="301303"/>
          </a:xfrm>
        </p:grpSpPr>
        <p:sp>
          <p:nvSpPr>
            <p:cNvPr id="6" name="AutoShape 9">
              <a:extLst>
                <a:ext uri="{FF2B5EF4-FFF2-40B4-BE49-F238E27FC236}">
                  <a16:creationId xmlns:a16="http://schemas.microsoft.com/office/drawing/2014/main" id="{0B27A768-EE8C-8FFD-7782-F5A549A977AA}"/>
                </a:ext>
              </a:extLst>
            </p:cNvPr>
            <p:cNvSpPr>
              <a:spLocks noChangeArrowheads="1"/>
            </p:cNvSpPr>
            <p:nvPr/>
          </p:nvSpPr>
          <p:spPr bwMode="auto">
            <a:xfrm>
              <a:off x="1779225" y="298454"/>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7" name="Group 6">
              <a:extLst>
                <a:ext uri="{FF2B5EF4-FFF2-40B4-BE49-F238E27FC236}">
                  <a16:creationId xmlns:a16="http://schemas.microsoft.com/office/drawing/2014/main" id="{663992D9-BF0C-A952-1DDD-B669A9932737}"/>
                </a:ext>
              </a:extLst>
            </p:cNvPr>
            <p:cNvGrpSpPr/>
            <p:nvPr/>
          </p:nvGrpSpPr>
          <p:grpSpPr>
            <a:xfrm>
              <a:off x="838200" y="297639"/>
              <a:ext cx="4545330" cy="301303"/>
              <a:chOff x="838200" y="297639"/>
              <a:chExt cx="4545330" cy="301303"/>
            </a:xfrm>
          </p:grpSpPr>
          <p:grpSp>
            <p:nvGrpSpPr>
              <p:cNvPr id="8" name="Group 7">
                <a:extLst>
                  <a:ext uri="{FF2B5EF4-FFF2-40B4-BE49-F238E27FC236}">
                    <a16:creationId xmlns:a16="http://schemas.microsoft.com/office/drawing/2014/main" id="{3D989A41-542C-35CD-AF4A-CB43CD262BD5}"/>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056BF4DA-50EB-E510-F1A7-DA29C2D84C6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711F63DC-1CB9-178B-C803-D3EAFF7E308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B75C5D4F-D63F-B68C-2CD1-F542E984CD7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9" name="TextBox 8">
                <a:extLst>
                  <a:ext uri="{FF2B5EF4-FFF2-40B4-BE49-F238E27FC236}">
                    <a16:creationId xmlns:a16="http://schemas.microsoft.com/office/drawing/2014/main" id="{0E3936B2-5343-B810-B777-5AD66D5FB9C6}"/>
                  </a:ext>
                </a:extLst>
              </p:cNvPr>
              <p:cNvSpPr txBox="1"/>
              <p:nvPr/>
            </p:nvSpPr>
            <p:spPr>
              <a:xfrm>
                <a:off x="2190452" y="307580"/>
                <a:ext cx="31930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Standard Work Documentation</a:t>
                </a:r>
              </a:p>
            </p:txBody>
          </p:sp>
        </p:grpSp>
      </p:grpSp>
    </p:spTree>
    <p:extLst>
      <p:ext uri="{BB962C8B-B14F-4D97-AF65-F5344CB8AC3E}">
        <p14:creationId xmlns:p14="http://schemas.microsoft.com/office/powerpoint/2010/main" val="18697162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dirty="0"/>
              <a:t>Time Observation Form</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40</a:t>
            </a:fld>
            <a:endParaRPr lang="en-US"/>
          </a:p>
        </p:txBody>
      </p:sp>
      <p:grpSp>
        <p:nvGrpSpPr>
          <p:cNvPr id="4" name="Group 3">
            <a:extLst>
              <a:ext uri="{FF2B5EF4-FFF2-40B4-BE49-F238E27FC236}">
                <a16:creationId xmlns:a16="http://schemas.microsoft.com/office/drawing/2014/main" id="{68B43806-C085-B892-8E50-7696A18CD9F0}"/>
              </a:ext>
            </a:extLst>
          </p:cNvPr>
          <p:cNvGrpSpPr/>
          <p:nvPr/>
        </p:nvGrpSpPr>
        <p:grpSpPr>
          <a:xfrm>
            <a:off x="838200" y="297639"/>
            <a:ext cx="4545330" cy="301303"/>
            <a:chOff x="838200" y="297639"/>
            <a:chExt cx="4545330" cy="301303"/>
          </a:xfrm>
        </p:grpSpPr>
        <p:sp>
          <p:nvSpPr>
            <p:cNvPr id="6" name="AutoShape 9">
              <a:extLst>
                <a:ext uri="{FF2B5EF4-FFF2-40B4-BE49-F238E27FC236}">
                  <a16:creationId xmlns:a16="http://schemas.microsoft.com/office/drawing/2014/main" id="{0B27A768-EE8C-8FFD-7782-F5A549A977AA}"/>
                </a:ext>
              </a:extLst>
            </p:cNvPr>
            <p:cNvSpPr>
              <a:spLocks noChangeArrowheads="1"/>
            </p:cNvSpPr>
            <p:nvPr/>
          </p:nvSpPr>
          <p:spPr bwMode="auto">
            <a:xfrm>
              <a:off x="1779225" y="298454"/>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7" name="Group 6">
              <a:extLst>
                <a:ext uri="{FF2B5EF4-FFF2-40B4-BE49-F238E27FC236}">
                  <a16:creationId xmlns:a16="http://schemas.microsoft.com/office/drawing/2014/main" id="{663992D9-BF0C-A952-1DDD-B669A9932737}"/>
                </a:ext>
              </a:extLst>
            </p:cNvPr>
            <p:cNvGrpSpPr/>
            <p:nvPr/>
          </p:nvGrpSpPr>
          <p:grpSpPr>
            <a:xfrm>
              <a:off x="838200" y="297639"/>
              <a:ext cx="4545330" cy="301303"/>
              <a:chOff x="838200" y="297639"/>
              <a:chExt cx="4545330" cy="301303"/>
            </a:xfrm>
          </p:grpSpPr>
          <p:grpSp>
            <p:nvGrpSpPr>
              <p:cNvPr id="8" name="Group 7">
                <a:extLst>
                  <a:ext uri="{FF2B5EF4-FFF2-40B4-BE49-F238E27FC236}">
                    <a16:creationId xmlns:a16="http://schemas.microsoft.com/office/drawing/2014/main" id="{3D989A41-542C-35CD-AF4A-CB43CD262BD5}"/>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056BF4DA-50EB-E510-F1A7-DA29C2D84C6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711F63DC-1CB9-178B-C803-D3EAFF7E308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B75C5D4F-D63F-B68C-2CD1-F542E984CD7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9" name="TextBox 8">
                <a:extLst>
                  <a:ext uri="{FF2B5EF4-FFF2-40B4-BE49-F238E27FC236}">
                    <a16:creationId xmlns:a16="http://schemas.microsoft.com/office/drawing/2014/main" id="{0E3936B2-5343-B810-B777-5AD66D5FB9C6}"/>
                  </a:ext>
                </a:extLst>
              </p:cNvPr>
              <p:cNvSpPr txBox="1"/>
              <p:nvPr/>
            </p:nvSpPr>
            <p:spPr>
              <a:xfrm>
                <a:off x="2190452" y="307580"/>
                <a:ext cx="31930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Standard Work Documentation</a:t>
                </a:r>
              </a:p>
            </p:txBody>
          </p:sp>
        </p:grpSp>
      </p:grpSp>
      <p:pic>
        <p:nvPicPr>
          <p:cNvPr id="15" name="Picture 39" descr="time obs1">
            <a:extLst>
              <a:ext uri="{FF2B5EF4-FFF2-40B4-BE49-F238E27FC236}">
                <a16:creationId xmlns:a16="http://schemas.microsoft.com/office/drawing/2014/main" id="{A232932B-CC1D-41F7-F313-70FBB0D1CA3C}"/>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167096" y="1825625"/>
            <a:ext cx="5857809"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 Box 25">
            <a:extLst>
              <a:ext uri="{FF2B5EF4-FFF2-40B4-BE49-F238E27FC236}">
                <a16:creationId xmlns:a16="http://schemas.microsoft.com/office/drawing/2014/main" id="{4AC7BF44-2228-39AF-9E1C-F57A296E7691}"/>
              </a:ext>
            </a:extLst>
          </p:cNvPr>
          <p:cNvSpPr txBox="1">
            <a:spLocks noChangeArrowheads="1"/>
          </p:cNvSpPr>
          <p:nvPr/>
        </p:nvSpPr>
        <p:spPr bwMode="auto">
          <a:xfrm>
            <a:off x="3429000" y="5526393"/>
            <a:ext cx="5334000" cy="461665"/>
          </a:xfrm>
          <a:prstGeom prst="rect">
            <a:avLst/>
          </a:prstGeom>
          <a:solidFill>
            <a:schemeClr val="accent1"/>
          </a:solidFill>
          <a:ln w="28575">
            <a:solidFill>
              <a:schemeClr val="tx1"/>
            </a:solidFill>
            <a:miter lim="800000"/>
            <a:headEnd/>
            <a:tailEnd/>
          </a:ln>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Tx/>
              <a:buSzTx/>
              <a:buFontTx/>
              <a:buNone/>
            </a:pPr>
            <a:r>
              <a:rPr lang="en-US" altLang="en-US" sz="2400" b="0" dirty="0">
                <a:solidFill>
                  <a:schemeClr val="bg1"/>
                </a:solidFill>
                <a:latin typeface="Roboto" panose="02000000000000000000" pitchFamily="2" charset="0"/>
                <a:ea typeface="Roboto" panose="02000000000000000000" pitchFamily="2" charset="0"/>
              </a:rPr>
              <a:t>Step 1: List the process sequence.</a:t>
            </a:r>
          </a:p>
        </p:txBody>
      </p:sp>
    </p:spTree>
    <p:extLst>
      <p:ext uri="{BB962C8B-B14F-4D97-AF65-F5344CB8AC3E}">
        <p14:creationId xmlns:p14="http://schemas.microsoft.com/office/powerpoint/2010/main" val="41866313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dirty="0"/>
              <a:t>Time Observation Form</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41</a:t>
            </a:fld>
            <a:endParaRPr lang="en-US"/>
          </a:p>
        </p:txBody>
      </p:sp>
      <p:grpSp>
        <p:nvGrpSpPr>
          <p:cNvPr id="4" name="Group 3">
            <a:extLst>
              <a:ext uri="{FF2B5EF4-FFF2-40B4-BE49-F238E27FC236}">
                <a16:creationId xmlns:a16="http://schemas.microsoft.com/office/drawing/2014/main" id="{68B43806-C085-B892-8E50-7696A18CD9F0}"/>
              </a:ext>
            </a:extLst>
          </p:cNvPr>
          <p:cNvGrpSpPr/>
          <p:nvPr/>
        </p:nvGrpSpPr>
        <p:grpSpPr>
          <a:xfrm>
            <a:off x="838200" y="297639"/>
            <a:ext cx="4545330" cy="301303"/>
            <a:chOff x="838200" y="297639"/>
            <a:chExt cx="4545330" cy="301303"/>
          </a:xfrm>
        </p:grpSpPr>
        <p:sp>
          <p:nvSpPr>
            <p:cNvPr id="6" name="AutoShape 9">
              <a:extLst>
                <a:ext uri="{FF2B5EF4-FFF2-40B4-BE49-F238E27FC236}">
                  <a16:creationId xmlns:a16="http://schemas.microsoft.com/office/drawing/2014/main" id="{0B27A768-EE8C-8FFD-7782-F5A549A977AA}"/>
                </a:ext>
              </a:extLst>
            </p:cNvPr>
            <p:cNvSpPr>
              <a:spLocks noChangeArrowheads="1"/>
            </p:cNvSpPr>
            <p:nvPr/>
          </p:nvSpPr>
          <p:spPr bwMode="auto">
            <a:xfrm>
              <a:off x="1779225" y="298454"/>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7" name="Group 6">
              <a:extLst>
                <a:ext uri="{FF2B5EF4-FFF2-40B4-BE49-F238E27FC236}">
                  <a16:creationId xmlns:a16="http://schemas.microsoft.com/office/drawing/2014/main" id="{663992D9-BF0C-A952-1DDD-B669A9932737}"/>
                </a:ext>
              </a:extLst>
            </p:cNvPr>
            <p:cNvGrpSpPr/>
            <p:nvPr/>
          </p:nvGrpSpPr>
          <p:grpSpPr>
            <a:xfrm>
              <a:off x="838200" y="297639"/>
              <a:ext cx="4545330" cy="301303"/>
              <a:chOff x="838200" y="297639"/>
              <a:chExt cx="4545330" cy="301303"/>
            </a:xfrm>
          </p:grpSpPr>
          <p:grpSp>
            <p:nvGrpSpPr>
              <p:cNvPr id="8" name="Group 7">
                <a:extLst>
                  <a:ext uri="{FF2B5EF4-FFF2-40B4-BE49-F238E27FC236}">
                    <a16:creationId xmlns:a16="http://schemas.microsoft.com/office/drawing/2014/main" id="{3D989A41-542C-35CD-AF4A-CB43CD262BD5}"/>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056BF4DA-50EB-E510-F1A7-DA29C2D84C6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711F63DC-1CB9-178B-C803-D3EAFF7E308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B75C5D4F-D63F-B68C-2CD1-F542E984CD7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9" name="TextBox 8">
                <a:extLst>
                  <a:ext uri="{FF2B5EF4-FFF2-40B4-BE49-F238E27FC236}">
                    <a16:creationId xmlns:a16="http://schemas.microsoft.com/office/drawing/2014/main" id="{0E3936B2-5343-B810-B777-5AD66D5FB9C6}"/>
                  </a:ext>
                </a:extLst>
              </p:cNvPr>
              <p:cNvSpPr txBox="1"/>
              <p:nvPr/>
            </p:nvSpPr>
            <p:spPr>
              <a:xfrm>
                <a:off x="2190452" y="307580"/>
                <a:ext cx="31930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Standard Work Documentation</a:t>
                </a:r>
              </a:p>
            </p:txBody>
          </p:sp>
        </p:grpSp>
      </p:grpSp>
      <p:pic>
        <p:nvPicPr>
          <p:cNvPr id="18" name="Picture 38" descr="time obs2">
            <a:extLst>
              <a:ext uri="{FF2B5EF4-FFF2-40B4-BE49-F238E27FC236}">
                <a16:creationId xmlns:a16="http://schemas.microsoft.com/office/drawing/2014/main" id="{634AD5BA-223E-201E-8B8A-C808F022AC93}"/>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167095" y="1825625"/>
            <a:ext cx="5857809"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ext Box 25">
            <a:extLst>
              <a:ext uri="{FF2B5EF4-FFF2-40B4-BE49-F238E27FC236}">
                <a16:creationId xmlns:a16="http://schemas.microsoft.com/office/drawing/2014/main" id="{695B6C9E-DAEF-489F-7788-642E1437E7CD}"/>
              </a:ext>
            </a:extLst>
          </p:cNvPr>
          <p:cNvSpPr txBox="1">
            <a:spLocks noChangeArrowheads="1"/>
          </p:cNvSpPr>
          <p:nvPr/>
        </p:nvSpPr>
        <p:spPr bwMode="auto">
          <a:xfrm>
            <a:off x="2895600" y="5376228"/>
            <a:ext cx="6400800" cy="461665"/>
          </a:xfrm>
          <a:prstGeom prst="rect">
            <a:avLst/>
          </a:prstGeom>
          <a:solidFill>
            <a:schemeClr val="accent1"/>
          </a:solidFill>
          <a:ln w="28575">
            <a:solidFill>
              <a:schemeClr val="tx1"/>
            </a:solidFill>
            <a:miter lim="800000"/>
            <a:headEnd/>
            <a:tailEnd/>
          </a:ln>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Aft>
                <a:spcPct val="0"/>
              </a:spcAft>
              <a:buClrTx/>
              <a:buSzTx/>
              <a:buFontTx/>
              <a:buNone/>
            </a:pPr>
            <a:r>
              <a:rPr lang="en-US" altLang="en-US" sz="2400" b="0">
                <a:solidFill>
                  <a:schemeClr val="bg1"/>
                </a:solidFill>
                <a:latin typeface="Roboto" panose="02000000000000000000" pitchFamily="2" charset="0"/>
                <a:ea typeface="Roboto" panose="02000000000000000000" pitchFamily="2" charset="0"/>
              </a:rPr>
              <a:t>Step 2: Record time with a running stopwatch</a:t>
            </a:r>
          </a:p>
        </p:txBody>
      </p:sp>
    </p:spTree>
    <p:extLst>
      <p:ext uri="{BB962C8B-B14F-4D97-AF65-F5344CB8AC3E}">
        <p14:creationId xmlns:p14="http://schemas.microsoft.com/office/powerpoint/2010/main" val="16179642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dirty="0"/>
              <a:t>Time Observation Form</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42</a:t>
            </a:fld>
            <a:endParaRPr lang="en-US"/>
          </a:p>
        </p:txBody>
      </p:sp>
      <p:grpSp>
        <p:nvGrpSpPr>
          <p:cNvPr id="4" name="Group 3">
            <a:extLst>
              <a:ext uri="{FF2B5EF4-FFF2-40B4-BE49-F238E27FC236}">
                <a16:creationId xmlns:a16="http://schemas.microsoft.com/office/drawing/2014/main" id="{68B43806-C085-B892-8E50-7696A18CD9F0}"/>
              </a:ext>
            </a:extLst>
          </p:cNvPr>
          <p:cNvGrpSpPr/>
          <p:nvPr/>
        </p:nvGrpSpPr>
        <p:grpSpPr>
          <a:xfrm>
            <a:off x="838200" y="297639"/>
            <a:ext cx="4545330" cy="301303"/>
            <a:chOff x="838200" y="297639"/>
            <a:chExt cx="4545330" cy="301303"/>
          </a:xfrm>
        </p:grpSpPr>
        <p:sp>
          <p:nvSpPr>
            <p:cNvPr id="6" name="AutoShape 9">
              <a:extLst>
                <a:ext uri="{FF2B5EF4-FFF2-40B4-BE49-F238E27FC236}">
                  <a16:creationId xmlns:a16="http://schemas.microsoft.com/office/drawing/2014/main" id="{0B27A768-EE8C-8FFD-7782-F5A549A977AA}"/>
                </a:ext>
              </a:extLst>
            </p:cNvPr>
            <p:cNvSpPr>
              <a:spLocks noChangeArrowheads="1"/>
            </p:cNvSpPr>
            <p:nvPr/>
          </p:nvSpPr>
          <p:spPr bwMode="auto">
            <a:xfrm>
              <a:off x="1779225" y="298454"/>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7" name="Group 6">
              <a:extLst>
                <a:ext uri="{FF2B5EF4-FFF2-40B4-BE49-F238E27FC236}">
                  <a16:creationId xmlns:a16="http://schemas.microsoft.com/office/drawing/2014/main" id="{663992D9-BF0C-A952-1DDD-B669A9932737}"/>
                </a:ext>
              </a:extLst>
            </p:cNvPr>
            <p:cNvGrpSpPr/>
            <p:nvPr/>
          </p:nvGrpSpPr>
          <p:grpSpPr>
            <a:xfrm>
              <a:off x="838200" y="297639"/>
              <a:ext cx="4545330" cy="301303"/>
              <a:chOff x="838200" y="297639"/>
              <a:chExt cx="4545330" cy="301303"/>
            </a:xfrm>
          </p:grpSpPr>
          <p:grpSp>
            <p:nvGrpSpPr>
              <p:cNvPr id="8" name="Group 7">
                <a:extLst>
                  <a:ext uri="{FF2B5EF4-FFF2-40B4-BE49-F238E27FC236}">
                    <a16:creationId xmlns:a16="http://schemas.microsoft.com/office/drawing/2014/main" id="{3D989A41-542C-35CD-AF4A-CB43CD262BD5}"/>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056BF4DA-50EB-E510-F1A7-DA29C2D84C6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711F63DC-1CB9-178B-C803-D3EAFF7E308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B75C5D4F-D63F-B68C-2CD1-F542E984CD7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9" name="TextBox 8">
                <a:extLst>
                  <a:ext uri="{FF2B5EF4-FFF2-40B4-BE49-F238E27FC236}">
                    <a16:creationId xmlns:a16="http://schemas.microsoft.com/office/drawing/2014/main" id="{0E3936B2-5343-B810-B777-5AD66D5FB9C6}"/>
                  </a:ext>
                </a:extLst>
              </p:cNvPr>
              <p:cNvSpPr txBox="1"/>
              <p:nvPr/>
            </p:nvSpPr>
            <p:spPr>
              <a:xfrm>
                <a:off x="2190452" y="307580"/>
                <a:ext cx="31930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Standard Work Documentation</a:t>
                </a:r>
              </a:p>
            </p:txBody>
          </p:sp>
        </p:grpSp>
      </p:grpSp>
      <p:pic>
        <p:nvPicPr>
          <p:cNvPr id="13" name="Picture 2" descr="time obs3">
            <a:extLst>
              <a:ext uri="{FF2B5EF4-FFF2-40B4-BE49-F238E27FC236}">
                <a16:creationId xmlns:a16="http://schemas.microsoft.com/office/drawing/2014/main" id="{4E41C8F5-7615-4AB8-5557-F46795E34418}"/>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898367" y="1825625"/>
            <a:ext cx="8525793"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 Box 13">
            <a:extLst>
              <a:ext uri="{FF2B5EF4-FFF2-40B4-BE49-F238E27FC236}">
                <a16:creationId xmlns:a16="http://schemas.microsoft.com/office/drawing/2014/main" id="{DA85486F-6860-FAFC-FDC0-7ED7006754A2}"/>
              </a:ext>
            </a:extLst>
          </p:cNvPr>
          <p:cNvSpPr txBox="1">
            <a:spLocks noChangeArrowheads="1"/>
          </p:cNvSpPr>
          <p:nvPr/>
        </p:nvSpPr>
        <p:spPr bwMode="auto">
          <a:xfrm>
            <a:off x="4320699" y="5177473"/>
            <a:ext cx="3550602" cy="461665"/>
          </a:xfrm>
          <a:prstGeom prst="rect">
            <a:avLst/>
          </a:prstGeom>
          <a:solidFill>
            <a:schemeClr val="accent1"/>
          </a:solidFill>
          <a:ln w="28575">
            <a:solidFill>
              <a:schemeClr val="tx1"/>
            </a:solidFill>
            <a:miter lim="800000"/>
            <a:headEnd/>
            <a:tailEnd/>
          </a:ln>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Aft>
                <a:spcPct val="0"/>
              </a:spcAft>
              <a:buClrTx/>
              <a:buSzTx/>
              <a:buFontTx/>
              <a:buNone/>
            </a:pPr>
            <a:r>
              <a:rPr lang="en-US" altLang="en-US" sz="2400" b="0">
                <a:solidFill>
                  <a:schemeClr val="bg1"/>
                </a:solidFill>
                <a:latin typeface="Roboto" panose="02000000000000000000" pitchFamily="2" charset="0"/>
                <a:ea typeface="Roboto" panose="02000000000000000000" pitchFamily="2" charset="0"/>
              </a:rPr>
              <a:t>Step 3: Do calculations.</a:t>
            </a:r>
          </a:p>
        </p:txBody>
      </p:sp>
      <p:sp>
        <p:nvSpPr>
          <p:cNvPr id="15" name="Oval 6">
            <a:extLst>
              <a:ext uri="{FF2B5EF4-FFF2-40B4-BE49-F238E27FC236}">
                <a16:creationId xmlns:a16="http://schemas.microsoft.com/office/drawing/2014/main" id="{5998F384-CE4C-5985-9EA3-DE817ABD6966}"/>
              </a:ext>
            </a:extLst>
          </p:cNvPr>
          <p:cNvSpPr>
            <a:spLocks noChangeArrowheads="1"/>
          </p:cNvSpPr>
          <p:nvPr/>
        </p:nvSpPr>
        <p:spPr bwMode="auto">
          <a:xfrm>
            <a:off x="4674680" y="2638933"/>
            <a:ext cx="223391" cy="201803"/>
          </a:xfrm>
          <a:prstGeom prst="ellipse">
            <a:avLst/>
          </a:prstGeom>
          <a:noFill/>
          <a:ln w="571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endParaRPr>
          </a:p>
        </p:txBody>
      </p:sp>
      <p:sp>
        <p:nvSpPr>
          <p:cNvPr id="16" name="Oval 6">
            <a:extLst>
              <a:ext uri="{FF2B5EF4-FFF2-40B4-BE49-F238E27FC236}">
                <a16:creationId xmlns:a16="http://schemas.microsoft.com/office/drawing/2014/main" id="{6C3B6429-DBA8-22C3-A6C5-63F53BE52390}"/>
              </a:ext>
            </a:extLst>
          </p:cNvPr>
          <p:cNvSpPr>
            <a:spLocks noChangeArrowheads="1"/>
          </p:cNvSpPr>
          <p:nvPr/>
        </p:nvSpPr>
        <p:spPr bwMode="auto">
          <a:xfrm>
            <a:off x="5937872" y="2882488"/>
            <a:ext cx="223391" cy="201803"/>
          </a:xfrm>
          <a:prstGeom prst="ellipse">
            <a:avLst/>
          </a:prstGeom>
          <a:noFill/>
          <a:ln w="571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endParaRPr>
          </a:p>
        </p:txBody>
      </p:sp>
      <p:sp>
        <p:nvSpPr>
          <p:cNvPr id="17" name="Oval 6">
            <a:extLst>
              <a:ext uri="{FF2B5EF4-FFF2-40B4-BE49-F238E27FC236}">
                <a16:creationId xmlns:a16="http://schemas.microsoft.com/office/drawing/2014/main" id="{AAF9E557-9E3B-3130-16C1-42B5F5E606DD}"/>
              </a:ext>
            </a:extLst>
          </p:cNvPr>
          <p:cNvSpPr>
            <a:spLocks noChangeArrowheads="1"/>
          </p:cNvSpPr>
          <p:nvPr/>
        </p:nvSpPr>
        <p:spPr bwMode="auto">
          <a:xfrm>
            <a:off x="4674680" y="3138805"/>
            <a:ext cx="223391" cy="201803"/>
          </a:xfrm>
          <a:prstGeom prst="ellipse">
            <a:avLst/>
          </a:prstGeom>
          <a:noFill/>
          <a:ln w="571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endParaRPr>
          </a:p>
        </p:txBody>
      </p:sp>
      <p:sp>
        <p:nvSpPr>
          <p:cNvPr id="20" name="Oval 6">
            <a:extLst>
              <a:ext uri="{FF2B5EF4-FFF2-40B4-BE49-F238E27FC236}">
                <a16:creationId xmlns:a16="http://schemas.microsoft.com/office/drawing/2014/main" id="{835D8CDF-6C2D-B5A3-EC7D-11C49415A0BA}"/>
              </a:ext>
            </a:extLst>
          </p:cNvPr>
          <p:cNvSpPr>
            <a:spLocks noChangeArrowheads="1"/>
          </p:cNvSpPr>
          <p:nvPr/>
        </p:nvSpPr>
        <p:spPr bwMode="auto">
          <a:xfrm>
            <a:off x="5095304" y="3400648"/>
            <a:ext cx="223391" cy="201803"/>
          </a:xfrm>
          <a:prstGeom prst="ellipse">
            <a:avLst/>
          </a:prstGeom>
          <a:noFill/>
          <a:ln w="571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endParaRPr>
          </a:p>
        </p:txBody>
      </p:sp>
      <p:sp>
        <p:nvSpPr>
          <p:cNvPr id="21" name="Oval 6">
            <a:extLst>
              <a:ext uri="{FF2B5EF4-FFF2-40B4-BE49-F238E27FC236}">
                <a16:creationId xmlns:a16="http://schemas.microsoft.com/office/drawing/2014/main" id="{1E59141F-6A13-0588-1EF9-FF52846E01EB}"/>
              </a:ext>
            </a:extLst>
          </p:cNvPr>
          <p:cNvSpPr>
            <a:spLocks noChangeArrowheads="1"/>
          </p:cNvSpPr>
          <p:nvPr/>
        </p:nvSpPr>
        <p:spPr bwMode="auto">
          <a:xfrm>
            <a:off x="4674680" y="3638677"/>
            <a:ext cx="223391" cy="201803"/>
          </a:xfrm>
          <a:prstGeom prst="ellipse">
            <a:avLst/>
          </a:prstGeom>
          <a:noFill/>
          <a:ln w="571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endParaRPr>
          </a:p>
        </p:txBody>
      </p:sp>
      <p:sp>
        <p:nvSpPr>
          <p:cNvPr id="22" name="Oval 6">
            <a:extLst>
              <a:ext uri="{FF2B5EF4-FFF2-40B4-BE49-F238E27FC236}">
                <a16:creationId xmlns:a16="http://schemas.microsoft.com/office/drawing/2014/main" id="{4C911851-C5C6-ED21-6071-35642CC7D5B0}"/>
              </a:ext>
            </a:extLst>
          </p:cNvPr>
          <p:cNvSpPr>
            <a:spLocks noChangeArrowheads="1"/>
          </p:cNvSpPr>
          <p:nvPr/>
        </p:nvSpPr>
        <p:spPr bwMode="auto">
          <a:xfrm>
            <a:off x="5095304" y="3900392"/>
            <a:ext cx="223391" cy="201803"/>
          </a:xfrm>
          <a:prstGeom prst="ellipse">
            <a:avLst/>
          </a:prstGeom>
          <a:noFill/>
          <a:ln w="571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endParaRPr>
          </a:p>
        </p:txBody>
      </p:sp>
      <p:sp>
        <p:nvSpPr>
          <p:cNvPr id="23" name="Oval 6">
            <a:extLst>
              <a:ext uri="{FF2B5EF4-FFF2-40B4-BE49-F238E27FC236}">
                <a16:creationId xmlns:a16="http://schemas.microsoft.com/office/drawing/2014/main" id="{4BFC68BE-58AB-9E4B-F0C3-75BA6AE2BAF0}"/>
              </a:ext>
            </a:extLst>
          </p:cNvPr>
          <p:cNvSpPr>
            <a:spLocks noChangeArrowheads="1"/>
          </p:cNvSpPr>
          <p:nvPr/>
        </p:nvSpPr>
        <p:spPr bwMode="auto">
          <a:xfrm>
            <a:off x="6777800" y="4122058"/>
            <a:ext cx="223391" cy="201803"/>
          </a:xfrm>
          <a:prstGeom prst="ellipse">
            <a:avLst/>
          </a:prstGeom>
          <a:noFill/>
          <a:ln w="571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endParaRPr>
          </a:p>
        </p:txBody>
      </p:sp>
      <p:sp>
        <p:nvSpPr>
          <p:cNvPr id="24" name="Oval 6">
            <a:extLst>
              <a:ext uri="{FF2B5EF4-FFF2-40B4-BE49-F238E27FC236}">
                <a16:creationId xmlns:a16="http://schemas.microsoft.com/office/drawing/2014/main" id="{4350C6D3-123B-53FF-B271-603A3C19A932}"/>
              </a:ext>
            </a:extLst>
          </p:cNvPr>
          <p:cNvSpPr>
            <a:spLocks noChangeArrowheads="1"/>
          </p:cNvSpPr>
          <p:nvPr/>
        </p:nvSpPr>
        <p:spPr bwMode="auto">
          <a:xfrm>
            <a:off x="4571652" y="5933662"/>
            <a:ext cx="326419" cy="294875"/>
          </a:xfrm>
          <a:prstGeom prst="ellipse">
            <a:avLst/>
          </a:prstGeom>
          <a:noFill/>
          <a:ln w="571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endParaRPr>
          </a:p>
        </p:txBody>
      </p:sp>
      <p:sp>
        <p:nvSpPr>
          <p:cNvPr id="25" name="Oval 6">
            <a:extLst>
              <a:ext uri="{FF2B5EF4-FFF2-40B4-BE49-F238E27FC236}">
                <a16:creationId xmlns:a16="http://schemas.microsoft.com/office/drawing/2014/main" id="{6FE077CB-A8C5-6E0D-1BC5-65F3B4D297E4}"/>
              </a:ext>
            </a:extLst>
          </p:cNvPr>
          <p:cNvSpPr>
            <a:spLocks noChangeArrowheads="1"/>
          </p:cNvSpPr>
          <p:nvPr/>
        </p:nvSpPr>
        <p:spPr bwMode="auto">
          <a:xfrm>
            <a:off x="9576468" y="3340608"/>
            <a:ext cx="326419" cy="294875"/>
          </a:xfrm>
          <a:prstGeom prst="ellipse">
            <a:avLst/>
          </a:prstGeom>
          <a:noFill/>
          <a:ln w="571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endParaRPr>
          </a:p>
        </p:txBody>
      </p:sp>
      <p:sp>
        <p:nvSpPr>
          <p:cNvPr id="26" name="Oval 6">
            <a:extLst>
              <a:ext uri="{FF2B5EF4-FFF2-40B4-BE49-F238E27FC236}">
                <a16:creationId xmlns:a16="http://schemas.microsoft.com/office/drawing/2014/main" id="{DBB42943-7E86-98AB-31FA-2FD7345E5D24}"/>
              </a:ext>
            </a:extLst>
          </p:cNvPr>
          <p:cNvSpPr>
            <a:spLocks noChangeArrowheads="1"/>
          </p:cNvSpPr>
          <p:nvPr/>
        </p:nvSpPr>
        <p:spPr bwMode="auto">
          <a:xfrm>
            <a:off x="10130423" y="3340034"/>
            <a:ext cx="326419" cy="294875"/>
          </a:xfrm>
          <a:prstGeom prst="ellipse">
            <a:avLst/>
          </a:prstGeom>
          <a:noFill/>
          <a:ln w="571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endParaRPr>
          </a:p>
        </p:txBody>
      </p:sp>
      <p:sp>
        <p:nvSpPr>
          <p:cNvPr id="27" name="Oval 6">
            <a:extLst>
              <a:ext uri="{FF2B5EF4-FFF2-40B4-BE49-F238E27FC236}">
                <a16:creationId xmlns:a16="http://schemas.microsoft.com/office/drawing/2014/main" id="{383855F9-6553-9462-0B84-82BFBB0EEFBF}"/>
              </a:ext>
            </a:extLst>
          </p:cNvPr>
          <p:cNvSpPr>
            <a:spLocks noChangeArrowheads="1"/>
          </p:cNvSpPr>
          <p:nvPr/>
        </p:nvSpPr>
        <p:spPr bwMode="auto">
          <a:xfrm>
            <a:off x="10130423" y="5933661"/>
            <a:ext cx="326419" cy="294875"/>
          </a:xfrm>
          <a:prstGeom prst="ellipse">
            <a:avLst/>
          </a:prstGeom>
          <a:noFill/>
          <a:ln w="571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endParaRPr>
          </a:p>
        </p:txBody>
      </p:sp>
      <p:sp>
        <p:nvSpPr>
          <p:cNvPr id="28" name="Oval 6">
            <a:extLst>
              <a:ext uri="{FF2B5EF4-FFF2-40B4-BE49-F238E27FC236}">
                <a16:creationId xmlns:a16="http://schemas.microsoft.com/office/drawing/2014/main" id="{71C6118A-2658-5559-474C-2EE63CB63564}"/>
              </a:ext>
            </a:extLst>
          </p:cNvPr>
          <p:cNvSpPr>
            <a:spLocks noChangeArrowheads="1"/>
          </p:cNvSpPr>
          <p:nvPr/>
        </p:nvSpPr>
        <p:spPr bwMode="auto">
          <a:xfrm>
            <a:off x="8995617" y="2545861"/>
            <a:ext cx="326419" cy="1989563"/>
          </a:xfrm>
          <a:prstGeom prst="ellipse">
            <a:avLst/>
          </a:prstGeom>
          <a:noFill/>
          <a:ln w="571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endParaRPr>
          </a:p>
        </p:txBody>
      </p:sp>
    </p:spTree>
    <p:extLst>
      <p:ext uri="{BB962C8B-B14F-4D97-AF65-F5344CB8AC3E}">
        <p14:creationId xmlns:p14="http://schemas.microsoft.com/office/powerpoint/2010/main" val="41763362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dirty="0"/>
              <a:t>Time Observation Tips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One form per Associate</a:t>
            </a:r>
          </a:p>
          <a:p>
            <a:r>
              <a:rPr lang="en-US" dirty="0"/>
              <a:t>Let Associates do the time observation</a:t>
            </a:r>
          </a:p>
          <a:p>
            <a:r>
              <a:rPr lang="en-US" dirty="0"/>
              <a:t>If you miss a time, keep going – don’t stop</a:t>
            </a:r>
          </a:p>
          <a:p>
            <a:r>
              <a:rPr lang="en-US" dirty="0"/>
              <a:t>Make sure your observation points are logical</a:t>
            </a:r>
          </a:p>
          <a:p>
            <a:r>
              <a:rPr lang="en-US" dirty="0"/>
              <a:t>Note any areas for kaizen as you are taking times</a:t>
            </a:r>
          </a:p>
          <a:p>
            <a:r>
              <a:rPr lang="en-US" dirty="0"/>
              <a:t>Note abnormalities</a:t>
            </a:r>
          </a:p>
          <a:p>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43</a:t>
            </a:fld>
            <a:endParaRPr lang="en-US"/>
          </a:p>
        </p:txBody>
      </p:sp>
      <p:grpSp>
        <p:nvGrpSpPr>
          <p:cNvPr id="4" name="Group 3">
            <a:extLst>
              <a:ext uri="{FF2B5EF4-FFF2-40B4-BE49-F238E27FC236}">
                <a16:creationId xmlns:a16="http://schemas.microsoft.com/office/drawing/2014/main" id="{68B43806-C085-B892-8E50-7696A18CD9F0}"/>
              </a:ext>
            </a:extLst>
          </p:cNvPr>
          <p:cNvGrpSpPr/>
          <p:nvPr/>
        </p:nvGrpSpPr>
        <p:grpSpPr>
          <a:xfrm>
            <a:off x="838200" y="297639"/>
            <a:ext cx="4545330" cy="301303"/>
            <a:chOff x="838200" y="297639"/>
            <a:chExt cx="4545330" cy="301303"/>
          </a:xfrm>
        </p:grpSpPr>
        <p:sp>
          <p:nvSpPr>
            <p:cNvPr id="6" name="AutoShape 9">
              <a:extLst>
                <a:ext uri="{FF2B5EF4-FFF2-40B4-BE49-F238E27FC236}">
                  <a16:creationId xmlns:a16="http://schemas.microsoft.com/office/drawing/2014/main" id="{0B27A768-EE8C-8FFD-7782-F5A549A977AA}"/>
                </a:ext>
              </a:extLst>
            </p:cNvPr>
            <p:cNvSpPr>
              <a:spLocks noChangeArrowheads="1"/>
            </p:cNvSpPr>
            <p:nvPr/>
          </p:nvSpPr>
          <p:spPr bwMode="auto">
            <a:xfrm>
              <a:off x="1779225" y="298454"/>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7" name="Group 6">
              <a:extLst>
                <a:ext uri="{FF2B5EF4-FFF2-40B4-BE49-F238E27FC236}">
                  <a16:creationId xmlns:a16="http://schemas.microsoft.com/office/drawing/2014/main" id="{663992D9-BF0C-A952-1DDD-B669A9932737}"/>
                </a:ext>
              </a:extLst>
            </p:cNvPr>
            <p:cNvGrpSpPr/>
            <p:nvPr/>
          </p:nvGrpSpPr>
          <p:grpSpPr>
            <a:xfrm>
              <a:off x="838200" y="297639"/>
              <a:ext cx="4545330" cy="301303"/>
              <a:chOff x="838200" y="297639"/>
              <a:chExt cx="4545330" cy="301303"/>
            </a:xfrm>
          </p:grpSpPr>
          <p:grpSp>
            <p:nvGrpSpPr>
              <p:cNvPr id="8" name="Group 7">
                <a:extLst>
                  <a:ext uri="{FF2B5EF4-FFF2-40B4-BE49-F238E27FC236}">
                    <a16:creationId xmlns:a16="http://schemas.microsoft.com/office/drawing/2014/main" id="{3D989A41-542C-35CD-AF4A-CB43CD262BD5}"/>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056BF4DA-50EB-E510-F1A7-DA29C2D84C6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711F63DC-1CB9-178B-C803-D3EAFF7E308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B75C5D4F-D63F-B68C-2CD1-F542E984CD7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9" name="TextBox 8">
                <a:extLst>
                  <a:ext uri="{FF2B5EF4-FFF2-40B4-BE49-F238E27FC236}">
                    <a16:creationId xmlns:a16="http://schemas.microsoft.com/office/drawing/2014/main" id="{0E3936B2-5343-B810-B777-5AD66D5FB9C6}"/>
                  </a:ext>
                </a:extLst>
              </p:cNvPr>
              <p:cNvSpPr txBox="1"/>
              <p:nvPr/>
            </p:nvSpPr>
            <p:spPr>
              <a:xfrm>
                <a:off x="2190452" y="307580"/>
                <a:ext cx="31930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Standard Work Documentation</a:t>
                </a:r>
              </a:p>
            </p:txBody>
          </p:sp>
        </p:grpSp>
      </p:grpSp>
    </p:spTree>
    <p:extLst>
      <p:ext uri="{BB962C8B-B14F-4D97-AF65-F5344CB8AC3E}">
        <p14:creationId xmlns:p14="http://schemas.microsoft.com/office/powerpoint/2010/main" val="160533844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dirty="0"/>
              <a:t>Standard Work Combination Sheet</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Graphically “combines” the interaction of the Associate and equipment</a:t>
            </a:r>
          </a:p>
          <a:p>
            <a:r>
              <a:rPr lang="en-US" dirty="0"/>
              <a:t>Provides for a repeatable standard to follow </a:t>
            </a:r>
          </a:p>
          <a:p>
            <a:r>
              <a:rPr lang="en-US" dirty="0"/>
              <a:t>Compares relative process times with TAKT Times</a:t>
            </a:r>
          </a:p>
          <a:p>
            <a:r>
              <a:rPr lang="en-US" dirty="0"/>
              <a:t>Used to identify areas for improvement</a:t>
            </a:r>
          </a:p>
          <a:p>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44</a:t>
            </a:fld>
            <a:endParaRPr lang="en-US"/>
          </a:p>
        </p:txBody>
      </p:sp>
      <p:grpSp>
        <p:nvGrpSpPr>
          <p:cNvPr id="4" name="Group 3">
            <a:extLst>
              <a:ext uri="{FF2B5EF4-FFF2-40B4-BE49-F238E27FC236}">
                <a16:creationId xmlns:a16="http://schemas.microsoft.com/office/drawing/2014/main" id="{68B43806-C085-B892-8E50-7696A18CD9F0}"/>
              </a:ext>
            </a:extLst>
          </p:cNvPr>
          <p:cNvGrpSpPr/>
          <p:nvPr/>
        </p:nvGrpSpPr>
        <p:grpSpPr>
          <a:xfrm>
            <a:off x="838200" y="297639"/>
            <a:ext cx="4545330" cy="301303"/>
            <a:chOff x="838200" y="297639"/>
            <a:chExt cx="4545330" cy="301303"/>
          </a:xfrm>
        </p:grpSpPr>
        <p:sp>
          <p:nvSpPr>
            <p:cNvPr id="6" name="AutoShape 9">
              <a:extLst>
                <a:ext uri="{FF2B5EF4-FFF2-40B4-BE49-F238E27FC236}">
                  <a16:creationId xmlns:a16="http://schemas.microsoft.com/office/drawing/2014/main" id="{0B27A768-EE8C-8FFD-7782-F5A549A977AA}"/>
                </a:ext>
              </a:extLst>
            </p:cNvPr>
            <p:cNvSpPr>
              <a:spLocks noChangeArrowheads="1"/>
            </p:cNvSpPr>
            <p:nvPr/>
          </p:nvSpPr>
          <p:spPr bwMode="auto">
            <a:xfrm>
              <a:off x="1779225" y="298454"/>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7" name="Group 6">
              <a:extLst>
                <a:ext uri="{FF2B5EF4-FFF2-40B4-BE49-F238E27FC236}">
                  <a16:creationId xmlns:a16="http://schemas.microsoft.com/office/drawing/2014/main" id="{663992D9-BF0C-A952-1DDD-B669A9932737}"/>
                </a:ext>
              </a:extLst>
            </p:cNvPr>
            <p:cNvGrpSpPr/>
            <p:nvPr/>
          </p:nvGrpSpPr>
          <p:grpSpPr>
            <a:xfrm>
              <a:off x="838200" y="297639"/>
              <a:ext cx="4545330" cy="301303"/>
              <a:chOff x="838200" y="297639"/>
              <a:chExt cx="4545330" cy="301303"/>
            </a:xfrm>
          </p:grpSpPr>
          <p:grpSp>
            <p:nvGrpSpPr>
              <p:cNvPr id="8" name="Group 7">
                <a:extLst>
                  <a:ext uri="{FF2B5EF4-FFF2-40B4-BE49-F238E27FC236}">
                    <a16:creationId xmlns:a16="http://schemas.microsoft.com/office/drawing/2014/main" id="{3D989A41-542C-35CD-AF4A-CB43CD262BD5}"/>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056BF4DA-50EB-E510-F1A7-DA29C2D84C6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711F63DC-1CB9-178B-C803-D3EAFF7E308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B75C5D4F-D63F-B68C-2CD1-F542E984CD7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9" name="TextBox 8">
                <a:extLst>
                  <a:ext uri="{FF2B5EF4-FFF2-40B4-BE49-F238E27FC236}">
                    <a16:creationId xmlns:a16="http://schemas.microsoft.com/office/drawing/2014/main" id="{0E3936B2-5343-B810-B777-5AD66D5FB9C6}"/>
                  </a:ext>
                </a:extLst>
              </p:cNvPr>
              <p:cNvSpPr txBox="1"/>
              <p:nvPr/>
            </p:nvSpPr>
            <p:spPr>
              <a:xfrm>
                <a:off x="2190452" y="307580"/>
                <a:ext cx="31930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Standard Work Documentation</a:t>
                </a:r>
              </a:p>
            </p:txBody>
          </p:sp>
        </p:grpSp>
      </p:grpSp>
    </p:spTree>
    <p:extLst>
      <p:ext uri="{BB962C8B-B14F-4D97-AF65-F5344CB8AC3E}">
        <p14:creationId xmlns:p14="http://schemas.microsoft.com/office/powerpoint/2010/main" val="244653251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dirty="0"/>
              <a:t>Standard Work Combination Sheet </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45</a:t>
            </a:fld>
            <a:endParaRPr lang="en-US"/>
          </a:p>
        </p:txBody>
      </p:sp>
      <p:grpSp>
        <p:nvGrpSpPr>
          <p:cNvPr id="4" name="Group 3">
            <a:extLst>
              <a:ext uri="{FF2B5EF4-FFF2-40B4-BE49-F238E27FC236}">
                <a16:creationId xmlns:a16="http://schemas.microsoft.com/office/drawing/2014/main" id="{68B43806-C085-B892-8E50-7696A18CD9F0}"/>
              </a:ext>
            </a:extLst>
          </p:cNvPr>
          <p:cNvGrpSpPr/>
          <p:nvPr/>
        </p:nvGrpSpPr>
        <p:grpSpPr>
          <a:xfrm>
            <a:off x="838200" y="297639"/>
            <a:ext cx="4545330" cy="301303"/>
            <a:chOff x="838200" y="297639"/>
            <a:chExt cx="4545330" cy="301303"/>
          </a:xfrm>
        </p:grpSpPr>
        <p:sp>
          <p:nvSpPr>
            <p:cNvPr id="6" name="AutoShape 9">
              <a:extLst>
                <a:ext uri="{FF2B5EF4-FFF2-40B4-BE49-F238E27FC236}">
                  <a16:creationId xmlns:a16="http://schemas.microsoft.com/office/drawing/2014/main" id="{0B27A768-EE8C-8FFD-7782-F5A549A977AA}"/>
                </a:ext>
              </a:extLst>
            </p:cNvPr>
            <p:cNvSpPr>
              <a:spLocks noChangeArrowheads="1"/>
            </p:cNvSpPr>
            <p:nvPr/>
          </p:nvSpPr>
          <p:spPr bwMode="auto">
            <a:xfrm>
              <a:off x="1779225" y="298454"/>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7" name="Group 6">
              <a:extLst>
                <a:ext uri="{FF2B5EF4-FFF2-40B4-BE49-F238E27FC236}">
                  <a16:creationId xmlns:a16="http://schemas.microsoft.com/office/drawing/2014/main" id="{663992D9-BF0C-A952-1DDD-B669A9932737}"/>
                </a:ext>
              </a:extLst>
            </p:cNvPr>
            <p:cNvGrpSpPr/>
            <p:nvPr/>
          </p:nvGrpSpPr>
          <p:grpSpPr>
            <a:xfrm>
              <a:off x="838200" y="297639"/>
              <a:ext cx="4545330" cy="301303"/>
              <a:chOff x="838200" y="297639"/>
              <a:chExt cx="4545330" cy="301303"/>
            </a:xfrm>
          </p:grpSpPr>
          <p:grpSp>
            <p:nvGrpSpPr>
              <p:cNvPr id="8" name="Group 7">
                <a:extLst>
                  <a:ext uri="{FF2B5EF4-FFF2-40B4-BE49-F238E27FC236}">
                    <a16:creationId xmlns:a16="http://schemas.microsoft.com/office/drawing/2014/main" id="{3D989A41-542C-35CD-AF4A-CB43CD262BD5}"/>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056BF4DA-50EB-E510-F1A7-DA29C2D84C6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711F63DC-1CB9-178B-C803-D3EAFF7E308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B75C5D4F-D63F-B68C-2CD1-F542E984CD7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9" name="TextBox 8">
                <a:extLst>
                  <a:ext uri="{FF2B5EF4-FFF2-40B4-BE49-F238E27FC236}">
                    <a16:creationId xmlns:a16="http://schemas.microsoft.com/office/drawing/2014/main" id="{0E3936B2-5343-B810-B777-5AD66D5FB9C6}"/>
                  </a:ext>
                </a:extLst>
              </p:cNvPr>
              <p:cNvSpPr txBox="1"/>
              <p:nvPr/>
            </p:nvSpPr>
            <p:spPr>
              <a:xfrm>
                <a:off x="2190452" y="307580"/>
                <a:ext cx="31930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Standard Work Documentation</a:t>
                </a:r>
              </a:p>
            </p:txBody>
          </p:sp>
        </p:grpSp>
      </p:grpSp>
      <p:pic>
        <p:nvPicPr>
          <p:cNvPr id="13" name="Picture 11" descr="SWCS_walk_sample.jpg">
            <a:extLst>
              <a:ext uri="{FF2B5EF4-FFF2-40B4-BE49-F238E27FC236}">
                <a16:creationId xmlns:a16="http://schemas.microsoft.com/office/drawing/2014/main" id="{CE15BDF8-0D23-D84F-380A-CE8FC2BB8733}"/>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304763" y="1825625"/>
            <a:ext cx="7582473"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Freeform 335">
            <a:extLst>
              <a:ext uri="{FF2B5EF4-FFF2-40B4-BE49-F238E27FC236}">
                <a16:creationId xmlns:a16="http://schemas.microsoft.com/office/drawing/2014/main" id="{96384903-10EA-B5EB-8265-E90A58B1633A}"/>
              </a:ext>
            </a:extLst>
          </p:cNvPr>
          <p:cNvSpPr>
            <a:spLocks/>
          </p:cNvSpPr>
          <p:nvPr/>
        </p:nvSpPr>
        <p:spPr bwMode="auto">
          <a:xfrm>
            <a:off x="7882890" y="3883978"/>
            <a:ext cx="1150620" cy="555625"/>
          </a:xfrm>
          <a:custGeom>
            <a:avLst/>
            <a:gdLst>
              <a:gd name="T0" fmla="*/ 0 w 1003"/>
              <a:gd name="T1" fmla="*/ 2147483646 h 630"/>
              <a:gd name="T2" fmla="*/ 2147483646 w 1003"/>
              <a:gd name="T3" fmla="*/ 2147483646 h 630"/>
              <a:gd name="T4" fmla="*/ 2147483646 w 1003"/>
              <a:gd name="T5" fmla="*/ 2147483646 h 630"/>
              <a:gd name="T6" fmla="*/ 2147483646 w 1003"/>
              <a:gd name="T7" fmla="*/ 2147483646 h 630"/>
              <a:gd name="T8" fmla="*/ 2147483646 w 1003"/>
              <a:gd name="T9" fmla="*/ 2147483646 h 630"/>
              <a:gd name="T10" fmla="*/ 2147483646 w 1003"/>
              <a:gd name="T11" fmla="*/ 2147483646 h 630"/>
              <a:gd name="T12" fmla="*/ 2147483646 w 1003"/>
              <a:gd name="T13" fmla="*/ 0 h 630"/>
              <a:gd name="T14" fmla="*/ 2147483646 w 1003"/>
              <a:gd name="T15" fmla="*/ 2147483646 h 630"/>
              <a:gd name="T16" fmla="*/ 2147483646 w 1003"/>
              <a:gd name="T17" fmla="*/ 2147483646 h 630"/>
              <a:gd name="T18" fmla="*/ 2147483646 w 1003"/>
              <a:gd name="T19" fmla="*/ 0 h 630"/>
              <a:gd name="T20" fmla="*/ 0 w 1003"/>
              <a:gd name="T21" fmla="*/ 2147483646 h 63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03"/>
              <a:gd name="T34" fmla="*/ 0 h 630"/>
              <a:gd name="T35" fmla="*/ 1003 w 1003"/>
              <a:gd name="T36" fmla="*/ 630 h 63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03" h="630">
                <a:moveTo>
                  <a:pt x="0" y="315"/>
                </a:moveTo>
                <a:lnTo>
                  <a:pt x="202" y="630"/>
                </a:lnTo>
                <a:lnTo>
                  <a:pt x="202" y="473"/>
                </a:lnTo>
                <a:lnTo>
                  <a:pt x="802" y="473"/>
                </a:lnTo>
                <a:lnTo>
                  <a:pt x="802" y="630"/>
                </a:lnTo>
                <a:lnTo>
                  <a:pt x="1003" y="315"/>
                </a:lnTo>
                <a:lnTo>
                  <a:pt x="802" y="0"/>
                </a:lnTo>
                <a:lnTo>
                  <a:pt x="802" y="158"/>
                </a:lnTo>
                <a:lnTo>
                  <a:pt x="202" y="158"/>
                </a:lnTo>
                <a:lnTo>
                  <a:pt x="202" y="0"/>
                </a:lnTo>
                <a:lnTo>
                  <a:pt x="0" y="315"/>
                </a:lnTo>
                <a:close/>
              </a:path>
            </a:pathLst>
          </a:custGeom>
          <a:solidFill>
            <a:schemeClr val="accent1"/>
          </a:solidFill>
          <a:ln w="9525">
            <a:solidFill>
              <a:srgbClr val="000000"/>
            </a:solidFill>
            <a:round/>
            <a:headEnd/>
            <a:tailEnd/>
          </a:ln>
        </p:spPr>
        <p:txBody>
          <a:bodyPr/>
          <a:lstStyle/>
          <a:p>
            <a:endParaRPr lang="en-US"/>
          </a:p>
        </p:txBody>
      </p:sp>
      <p:sp>
        <p:nvSpPr>
          <p:cNvPr id="15" name="AutoShape 6">
            <a:extLst>
              <a:ext uri="{FF2B5EF4-FFF2-40B4-BE49-F238E27FC236}">
                <a16:creationId xmlns:a16="http://schemas.microsoft.com/office/drawing/2014/main" id="{96F57D0D-DD91-C03A-4DB9-BAF906A34EB4}"/>
              </a:ext>
            </a:extLst>
          </p:cNvPr>
          <p:cNvSpPr>
            <a:spLocks noChangeArrowheads="1"/>
          </p:cNvSpPr>
          <p:nvPr/>
        </p:nvSpPr>
        <p:spPr bwMode="auto">
          <a:xfrm>
            <a:off x="7034848" y="4683179"/>
            <a:ext cx="1839912" cy="1197185"/>
          </a:xfrm>
          <a:prstGeom prst="irregularSeal1">
            <a:avLst/>
          </a:prstGeom>
          <a:solidFill>
            <a:schemeClr val="bg1"/>
          </a:solidFill>
          <a:ln w="38100">
            <a:solidFill>
              <a:schemeClr val="accent1"/>
            </a:solidFill>
            <a:miter lim="800000"/>
            <a:headEnd/>
            <a:tailEnd/>
          </a:ln>
        </p:spPr>
        <p:txBody>
          <a:bodyPr anchor="ct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latin typeface="Roboto" panose="02000000000000000000" pitchFamily="2" charset="0"/>
                <a:ea typeface="Roboto" panose="02000000000000000000" pitchFamily="2" charset="0"/>
              </a:rPr>
              <a:t>Wait Time</a:t>
            </a:r>
          </a:p>
          <a:p>
            <a:pPr algn="ctr">
              <a:lnSpc>
                <a:spcPct val="80000"/>
              </a:lnSpc>
              <a:spcBef>
                <a:spcPct val="20000"/>
              </a:spcBef>
              <a:spcAft>
                <a:spcPct val="0"/>
              </a:spcAft>
              <a:buClrTx/>
              <a:buSzTx/>
              <a:buFontTx/>
              <a:buNone/>
            </a:pPr>
            <a:r>
              <a:rPr lang="en-US" altLang="en-US" sz="1200" dirty="0">
                <a:latin typeface="Roboto" panose="02000000000000000000" pitchFamily="2" charset="0"/>
                <a:ea typeface="Roboto" panose="02000000000000000000" pitchFamily="2" charset="0"/>
              </a:rPr>
              <a:t>13 Seconds</a:t>
            </a:r>
          </a:p>
        </p:txBody>
      </p:sp>
    </p:spTree>
    <p:extLst>
      <p:ext uri="{BB962C8B-B14F-4D97-AF65-F5344CB8AC3E}">
        <p14:creationId xmlns:p14="http://schemas.microsoft.com/office/powerpoint/2010/main" val="7115125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dirty="0"/>
              <a:t>Standard Work Combination Sheet Tips </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46</a:t>
            </a:fld>
            <a:endParaRPr lang="en-US"/>
          </a:p>
        </p:txBody>
      </p:sp>
      <p:grpSp>
        <p:nvGrpSpPr>
          <p:cNvPr id="4" name="Group 3">
            <a:extLst>
              <a:ext uri="{FF2B5EF4-FFF2-40B4-BE49-F238E27FC236}">
                <a16:creationId xmlns:a16="http://schemas.microsoft.com/office/drawing/2014/main" id="{68B43806-C085-B892-8E50-7696A18CD9F0}"/>
              </a:ext>
            </a:extLst>
          </p:cNvPr>
          <p:cNvGrpSpPr/>
          <p:nvPr/>
        </p:nvGrpSpPr>
        <p:grpSpPr>
          <a:xfrm>
            <a:off x="838200" y="297639"/>
            <a:ext cx="4545330" cy="301303"/>
            <a:chOff x="838200" y="297639"/>
            <a:chExt cx="4545330" cy="301303"/>
          </a:xfrm>
        </p:grpSpPr>
        <p:sp>
          <p:nvSpPr>
            <p:cNvPr id="6" name="AutoShape 9">
              <a:extLst>
                <a:ext uri="{FF2B5EF4-FFF2-40B4-BE49-F238E27FC236}">
                  <a16:creationId xmlns:a16="http://schemas.microsoft.com/office/drawing/2014/main" id="{0B27A768-EE8C-8FFD-7782-F5A549A977AA}"/>
                </a:ext>
              </a:extLst>
            </p:cNvPr>
            <p:cNvSpPr>
              <a:spLocks noChangeArrowheads="1"/>
            </p:cNvSpPr>
            <p:nvPr/>
          </p:nvSpPr>
          <p:spPr bwMode="auto">
            <a:xfrm>
              <a:off x="1779225" y="298454"/>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7" name="Group 6">
              <a:extLst>
                <a:ext uri="{FF2B5EF4-FFF2-40B4-BE49-F238E27FC236}">
                  <a16:creationId xmlns:a16="http://schemas.microsoft.com/office/drawing/2014/main" id="{663992D9-BF0C-A952-1DDD-B669A9932737}"/>
                </a:ext>
              </a:extLst>
            </p:cNvPr>
            <p:cNvGrpSpPr/>
            <p:nvPr/>
          </p:nvGrpSpPr>
          <p:grpSpPr>
            <a:xfrm>
              <a:off x="838200" y="297639"/>
              <a:ext cx="4545330" cy="301303"/>
              <a:chOff x="838200" y="297639"/>
              <a:chExt cx="4545330" cy="301303"/>
            </a:xfrm>
          </p:grpSpPr>
          <p:grpSp>
            <p:nvGrpSpPr>
              <p:cNvPr id="8" name="Group 7">
                <a:extLst>
                  <a:ext uri="{FF2B5EF4-FFF2-40B4-BE49-F238E27FC236}">
                    <a16:creationId xmlns:a16="http://schemas.microsoft.com/office/drawing/2014/main" id="{3D989A41-542C-35CD-AF4A-CB43CD262BD5}"/>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056BF4DA-50EB-E510-F1A7-DA29C2D84C6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711F63DC-1CB9-178B-C803-D3EAFF7E308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B75C5D4F-D63F-B68C-2CD1-F542E984CD7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9" name="TextBox 8">
                <a:extLst>
                  <a:ext uri="{FF2B5EF4-FFF2-40B4-BE49-F238E27FC236}">
                    <a16:creationId xmlns:a16="http://schemas.microsoft.com/office/drawing/2014/main" id="{0E3936B2-5343-B810-B777-5AD66D5FB9C6}"/>
                  </a:ext>
                </a:extLst>
              </p:cNvPr>
              <p:cNvSpPr txBox="1"/>
              <p:nvPr/>
            </p:nvSpPr>
            <p:spPr>
              <a:xfrm>
                <a:off x="2190452" y="307580"/>
                <a:ext cx="31930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Standard Work Documentation</a:t>
                </a:r>
              </a:p>
            </p:txBody>
          </p:sp>
        </p:grpSp>
      </p:grpSp>
      <p:pic>
        <p:nvPicPr>
          <p:cNvPr id="16" name="Picture 12" descr="SWCS_tip_sample.jpg">
            <a:extLst>
              <a:ext uri="{FF2B5EF4-FFF2-40B4-BE49-F238E27FC236}">
                <a16:creationId xmlns:a16="http://schemas.microsoft.com/office/drawing/2014/main" id="{7EB7FDA0-DA9E-5D7E-16C7-20128F739F8F}"/>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287166" y="1825625"/>
            <a:ext cx="7617667"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AutoShape 6">
            <a:extLst>
              <a:ext uri="{FF2B5EF4-FFF2-40B4-BE49-F238E27FC236}">
                <a16:creationId xmlns:a16="http://schemas.microsoft.com/office/drawing/2014/main" id="{4C48E8F3-14EE-0741-8B4B-5E474E879AA5}"/>
              </a:ext>
            </a:extLst>
          </p:cNvPr>
          <p:cNvSpPr>
            <a:spLocks noChangeArrowheads="1"/>
          </p:cNvSpPr>
          <p:nvPr/>
        </p:nvSpPr>
        <p:spPr bwMode="auto">
          <a:xfrm>
            <a:off x="7310619" y="3093139"/>
            <a:ext cx="1868106" cy="1837557"/>
          </a:xfrm>
          <a:prstGeom prst="irregularSeal1">
            <a:avLst/>
          </a:prstGeom>
          <a:solidFill>
            <a:schemeClr val="bg1"/>
          </a:solidFill>
          <a:ln w="38100">
            <a:solidFill>
              <a:srgbClr val="FF0000"/>
            </a:solidFill>
            <a:miter lim="800000"/>
            <a:headEnd/>
            <a:tailEnd/>
          </a:ln>
        </p:spPr>
        <p:txBody>
          <a:bodyPr wrap="square" anchor="ct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Wait Time</a:t>
            </a:r>
          </a:p>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180 Seconds</a:t>
            </a:r>
          </a:p>
        </p:txBody>
      </p:sp>
      <p:sp>
        <p:nvSpPr>
          <p:cNvPr id="18" name="Line 63">
            <a:extLst>
              <a:ext uri="{FF2B5EF4-FFF2-40B4-BE49-F238E27FC236}">
                <a16:creationId xmlns:a16="http://schemas.microsoft.com/office/drawing/2014/main" id="{AFFE42F9-80B9-1BFD-732D-F67FE177B260}"/>
              </a:ext>
            </a:extLst>
          </p:cNvPr>
          <p:cNvSpPr>
            <a:spLocks noChangeShapeType="1"/>
          </p:cNvSpPr>
          <p:nvPr/>
        </p:nvSpPr>
        <p:spPr bwMode="auto">
          <a:xfrm rot="21480000">
            <a:off x="7566203" y="5474918"/>
            <a:ext cx="1611991" cy="43864"/>
          </a:xfrm>
          <a:prstGeom prst="line">
            <a:avLst/>
          </a:prstGeom>
          <a:noFill/>
          <a:ln w="38100" cmpd="dbl">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en-US"/>
          </a:p>
        </p:txBody>
      </p:sp>
    </p:spTree>
    <p:extLst>
      <p:ext uri="{BB962C8B-B14F-4D97-AF65-F5344CB8AC3E}">
        <p14:creationId xmlns:p14="http://schemas.microsoft.com/office/powerpoint/2010/main" val="337427444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3200" dirty="0"/>
              <a:t>Standard Work Combination Sheet, Up-sell call 1st Attempt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47</a:t>
            </a:fld>
            <a:endParaRPr lang="en-US"/>
          </a:p>
        </p:txBody>
      </p:sp>
      <p:grpSp>
        <p:nvGrpSpPr>
          <p:cNvPr id="4" name="Group 3">
            <a:extLst>
              <a:ext uri="{FF2B5EF4-FFF2-40B4-BE49-F238E27FC236}">
                <a16:creationId xmlns:a16="http://schemas.microsoft.com/office/drawing/2014/main" id="{68B43806-C085-B892-8E50-7696A18CD9F0}"/>
              </a:ext>
            </a:extLst>
          </p:cNvPr>
          <p:cNvGrpSpPr/>
          <p:nvPr/>
        </p:nvGrpSpPr>
        <p:grpSpPr>
          <a:xfrm>
            <a:off x="838200" y="297639"/>
            <a:ext cx="4545330" cy="301303"/>
            <a:chOff x="838200" y="297639"/>
            <a:chExt cx="4545330" cy="301303"/>
          </a:xfrm>
        </p:grpSpPr>
        <p:sp>
          <p:nvSpPr>
            <p:cNvPr id="6" name="AutoShape 9">
              <a:extLst>
                <a:ext uri="{FF2B5EF4-FFF2-40B4-BE49-F238E27FC236}">
                  <a16:creationId xmlns:a16="http://schemas.microsoft.com/office/drawing/2014/main" id="{0B27A768-EE8C-8FFD-7782-F5A549A977AA}"/>
                </a:ext>
              </a:extLst>
            </p:cNvPr>
            <p:cNvSpPr>
              <a:spLocks noChangeArrowheads="1"/>
            </p:cNvSpPr>
            <p:nvPr/>
          </p:nvSpPr>
          <p:spPr bwMode="auto">
            <a:xfrm>
              <a:off x="1779225" y="298454"/>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7" name="Group 6">
              <a:extLst>
                <a:ext uri="{FF2B5EF4-FFF2-40B4-BE49-F238E27FC236}">
                  <a16:creationId xmlns:a16="http://schemas.microsoft.com/office/drawing/2014/main" id="{663992D9-BF0C-A952-1DDD-B669A9932737}"/>
                </a:ext>
              </a:extLst>
            </p:cNvPr>
            <p:cNvGrpSpPr/>
            <p:nvPr/>
          </p:nvGrpSpPr>
          <p:grpSpPr>
            <a:xfrm>
              <a:off x="838200" y="297639"/>
              <a:ext cx="4545330" cy="301303"/>
              <a:chOff x="838200" y="297639"/>
              <a:chExt cx="4545330" cy="301303"/>
            </a:xfrm>
          </p:grpSpPr>
          <p:grpSp>
            <p:nvGrpSpPr>
              <p:cNvPr id="8" name="Group 7">
                <a:extLst>
                  <a:ext uri="{FF2B5EF4-FFF2-40B4-BE49-F238E27FC236}">
                    <a16:creationId xmlns:a16="http://schemas.microsoft.com/office/drawing/2014/main" id="{3D989A41-542C-35CD-AF4A-CB43CD262BD5}"/>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056BF4DA-50EB-E510-F1A7-DA29C2D84C6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711F63DC-1CB9-178B-C803-D3EAFF7E308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B75C5D4F-D63F-B68C-2CD1-F542E984CD7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9" name="TextBox 8">
                <a:extLst>
                  <a:ext uri="{FF2B5EF4-FFF2-40B4-BE49-F238E27FC236}">
                    <a16:creationId xmlns:a16="http://schemas.microsoft.com/office/drawing/2014/main" id="{0E3936B2-5343-B810-B777-5AD66D5FB9C6}"/>
                  </a:ext>
                </a:extLst>
              </p:cNvPr>
              <p:cNvSpPr txBox="1"/>
              <p:nvPr/>
            </p:nvSpPr>
            <p:spPr>
              <a:xfrm>
                <a:off x="2190452" y="307580"/>
                <a:ext cx="31930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Standard Work Documentation</a:t>
                </a:r>
              </a:p>
            </p:txBody>
          </p:sp>
        </p:grpSp>
      </p:grpSp>
      <p:pic>
        <p:nvPicPr>
          <p:cNvPr id="13" name="Picture 408" descr="Upsell_1b.jpg">
            <a:extLst>
              <a:ext uri="{FF2B5EF4-FFF2-40B4-BE49-F238E27FC236}">
                <a16:creationId xmlns:a16="http://schemas.microsoft.com/office/drawing/2014/main" id="{AEA61300-0459-7243-C1FB-0B003941BA88}"/>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151470" y="1825625"/>
            <a:ext cx="788906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Freeform 387">
            <a:extLst>
              <a:ext uri="{FF2B5EF4-FFF2-40B4-BE49-F238E27FC236}">
                <a16:creationId xmlns:a16="http://schemas.microsoft.com/office/drawing/2014/main" id="{1DBEDD23-9E39-D933-E8EA-90F5AD75FC8F}"/>
              </a:ext>
            </a:extLst>
          </p:cNvPr>
          <p:cNvSpPr>
            <a:spLocks/>
          </p:cNvSpPr>
          <p:nvPr/>
        </p:nvSpPr>
        <p:spPr bwMode="auto">
          <a:xfrm>
            <a:off x="9016678" y="3985067"/>
            <a:ext cx="1023852" cy="560388"/>
          </a:xfrm>
          <a:custGeom>
            <a:avLst/>
            <a:gdLst>
              <a:gd name="T0" fmla="*/ 0 w 1255"/>
              <a:gd name="T1" fmla="*/ 2147483646 h 706"/>
              <a:gd name="T2" fmla="*/ 2147483646 w 1255"/>
              <a:gd name="T3" fmla="*/ 2147483646 h 706"/>
              <a:gd name="T4" fmla="*/ 2147483646 w 1255"/>
              <a:gd name="T5" fmla="*/ 2147483646 h 706"/>
              <a:gd name="T6" fmla="*/ 2147483646 w 1255"/>
              <a:gd name="T7" fmla="*/ 2147483646 h 706"/>
              <a:gd name="T8" fmla="*/ 2147483646 w 1255"/>
              <a:gd name="T9" fmla="*/ 2147483646 h 706"/>
              <a:gd name="T10" fmla="*/ 2147483646 w 1255"/>
              <a:gd name="T11" fmla="*/ 2147483646 h 706"/>
              <a:gd name="T12" fmla="*/ 2147483646 w 1255"/>
              <a:gd name="T13" fmla="*/ 0 h 706"/>
              <a:gd name="T14" fmla="*/ 2147483646 w 1255"/>
              <a:gd name="T15" fmla="*/ 2147483646 h 706"/>
              <a:gd name="T16" fmla="*/ 2147483646 w 1255"/>
              <a:gd name="T17" fmla="*/ 2147483646 h 706"/>
              <a:gd name="T18" fmla="*/ 2147483646 w 1255"/>
              <a:gd name="T19" fmla="*/ 0 h 706"/>
              <a:gd name="T20" fmla="*/ 0 w 1255"/>
              <a:gd name="T21" fmla="*/ 2147483646 h 70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55"/>
              <a:gd name="T34" fmla="*/ 0 h 706"/>
              <a:gd name="T35" fmla="*/ 1255 w 1255"/>
              <a:gd name="T36" fmla="*/ 706 h 70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55" h="706">
                <a:moveTo>
                  <a:pt x="0" y="353"/>
                </a:moveTo>
                <a:lnTo>
                  <a:pt x="252" y="706"/>
                </a:lnTo>
                <a:lnTo>
                  <a:pt x="252" y="529"/>
                </a:lnTo>
                <a:lnTo>
                  <a:pt x="1004" y="529"/>
                </a:lnTo>
                <a:lnTo>
                  <a:pt x="1004" y="706"/>
                </a:lnTo>
                <a:lnTo>
                  <a:pt x="1255" y="353"/>
                </a:lnTo>
                <a:lnTo>
                  <a:pt x="1004" y="0"/>
                </a:lnTo>
                <a:lnTo>
                  <a:pt x="1004" y="176"/>
                </a:lnTo>
                <a:lnTo>
                  <a:pt x="252" y="176"/>
                </a:lnTo>
                <a:lnTo>
                  <a:pt x="252" y="0"/>
                </a:lnTo>
                <a:lnTo>
                  <a:pt x="0" y="353"/>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Roboto" panose="02000000000000000000" pitchFamily="2" charset="0"/>
              <a:ea typeface="Roboto" panose="02000000000000000000" pitchFamily="2" charset="0"/>
            </a:endParaRPr>
          </a:p>
        </p:txBody>
      </p:sp>
      <p:sp>
        <p:nvSpPr>
          <p:cNvPr id="15" name="Rectangle 7">
            <a:extLst>
              <a:ext uri="{FF2B5EF4-FFF2-40B4-BE49-F238E27FC236}">
                <a16:creationId xmlns:a16="http://schemas.microsoft.com/office/drawing/2014/main" id="{F714C77E-7DD4-BC6F-3B02-2F8FB6E56570}"/>
              </a:ext>
            </a:extLst>
          </p:cNvPr>
          <p:cNvSpPr>
            <a:spLocks noChangeArrowheads="1"/>
          </p:cNvSpPr>
          <p:nvPr/>
        </p:nvSpPr>
        <p:spPr bwMode="auto">
          <a:xfrm>
            <a:off x="6442618" y="5491605"/>
            <a:ext cx="4032250" cy="457200"/>
          </a:xfrm>
          <a:prstGeom prst="rect">
            <a:avLst/>
          </a:prstGeom>
          <a:solidFill>
            <a:schemeClr val="accent4"/>
          </a:solidFill>
          <a:ln w="12700">
            <a:noFill/>
            <a:miter lim="800000"/>
            <a:headEnd/>
            <a:tailEnd/>
          </a:ln>
        </p:spPr>
        <p:txBody>
          <a:bodyPr wrap="none" anchor="ctr"/>
          <a:lstStyle/>
          <a:p>
            <a:pPr algn="ctr">
              <a:lnSpc>
                <a:spcPct val="80000"/>
              </a:lnSpc>
              <a:spcBef>
                <a:spcPct val="20000"/>
              </a:spcBef>
              <a:defRPr/>
            </a:pPr>
            <a:r>
              <a:rPr lang="en-US" sz="2000" b="0" dirty="0">
                <a:solidFill>
                  <a:schemeClr val="bg1"/>
                </a:solidFill>
                <a:latin typeface="Roboto" panose="02000000000000000000" pitchFamily="2" charset="0"/>
                <a:ea typeface="Roboto" panose="02000000000000000000" pitchFamily="2" charset="0"/>
              </a:rPr>
              <a:t>Reduce Processing time by 25% </a:t>
            </a:r>
            <a:endParaRPr lang="en-AU" sz="2000" b="0" dirty="0">
              <a:solidFill>
                <a:schemeClr val="bg1"/>
              </a:solidFill>
              <a:latin typeface="Roboto" panose="02000000000000000000" pitchFamily="2" charset="0"/>
              <a:ea typeface="Roboto" panose="02000000000000000000" pitchFamily="2" charset="0"/>
            </a:endParaRPr>
          </a:p>
        </p:txBody>
      </p:sp>
      <p:sp>
        <p:nvSpPr>
          <p:cNvPr id="19" name="AutoShape 6">
            <a:extLst>
              <a:ext uri="{FF2B5EF4-FFF2-40B4-BE49-F238E27FC236}">
                <a16:creationId xmlns:a16="http://schemas.microsoft.com/office/drawing/2014/main" id="{09BC8EAE-5789-5D37-E1E8-20AE47976FBF}"/>
              </a:ext>
            </a:extLst>
          </p:cNvPr>
          <p:cNvSpPr>
            <a:spLocks noChangeArrowheads="1"/>
          </p:cNvSpPr>
          <p:nvPr/>
        </p:nvSpPr>
        <p:spPr bwMode="auto">
          <a:xfrm>
            <a:off x="9131843" y="2406866"/>
            <a:ext cx="1748360" cy="1716542"/>
          </a:xfrm>
          <a:prstGeom prst="irregularSeal1">
            <a:avLst/>
          </a:prstGeom>
          <a:solidFill>
            <a:schemeClr val="bg1"/>
          </a:solidFill>
          <a:ln w="38100">
            <a:solidFill>
              <a:srgbClr val="FF0000"/>
            </a:solidFill>
            <a:miter lim="800000"/>
            <a:headEnd/>
            <a:tailEnd/>
          </a:ln>
        </p:spPr>
        <p:txBody>
          <a:bodyPr wrap="square" anchor="ct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Need To Improve Process</a:t>
            </a:r>
          </a:p>
        </p:txBody>
      </p:sp>
      <p:sp>
        <p:nvSpPr>
          <p:cNvPr id="20" name="Text Box 2">
            <a:extLst>
              <a:ext uri="{FF2B5EF4-FFF2-40B4-BE49-F238E27FC236}">
                <a16:creationId xmlns:a16="http://schemas.microsoft.com/office/drawing/2014/main" id="{7F82D3D6-1FBC-6A78-19C0-BD5F3B5A48AF}"/>
              </a:ext>
            </a:extLst>
          </p:cNvPr>
          <p:cNvSpPr txBox="1">
            <a:spLocks noChangeArrowheads="1"/>
          </p:cNvSpPr>
          <p:nvPr/>
        </p:nvSpPr>
        <p:spPr bwMode="auto">
          <a:xfrm>
            <a:off x="215919" y="3358859"/>
            <a:ext cx="2060179" cy="906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200" dirty="0">
                <a:solidFill>
                  <a:srgbClr val="00B050"/>
                </a:solidFill>
                <a:latin typeface="Roboto" panose="02000000000000000000" pitchFamily="2" charset="0"/>
                <a:ea typeface="Roboto" panose="02000000000000000000" pitchFamily="2" charset="0"/>
              </a:rPr>
              <a:t>PT reduction- Fax from Desk top</a:t>
            </a:r>
          </a:p>
          <a:p>
            <a:pPr>
              <a:lnSpc>
                <a:spcPct val="80000"/>
              </a:lnSpc>
              <a:spcBef>
                <a:spcPct val="20000"/>
              </a:spcBef>
              <a:spcAft>
                <a:spcPct val="0"/>
              </a:spcAft>
              <a:buClrTx/>
              <a:buSzTx/>
              <a:buFontTx/>
              <a:buNone/>
            </a:pPr>
            <a:r>
              <a:rPr lang="en-US" altLang="en-US" sz="1200" dirty="0">
                <a:solidFill>
                  <a:srgbClr val="00B050"/>
                </a:solidFill>
                <a:latin typeface="Roboto" panose="02000000000000000000" pitchFamily="2" charset="0"/>
                <a:ea typeface="Roboto" panose="02000000000000000000" pitchFamily="2" charset="0"/>
              </a:rPr>
              <a:t>WS- Call Logic</a:t>
            </a:r>
          </a:p>
          <a:p>
            <a:pPr>
              <a:lnSpc>
                <a:spcPct val="80000"/>
              </a:lnSpc>
              <a:spcBef>
                <a:spcPct val="20000"/>
              </a:spcBef>
              <a:spcAft>
                <a:spcPct val="0"/>
              </a:spcAft>
              <a:buClrTx/>
              <a:buSzTx/>
              <a:buFontTx/>
              <a:buNone/>
            </a:pPr>
            <a:r>
              <a:rPr lang="en-US" altLang="en-US" sz="1200" dirty="0">
                <a:solidFill>
                  <a:srgbClr val="00B050"/>
                </a:solidFill>
                <a:latin typeface="Roboto" panose="02000000000000000000" pitchFamily="2" charset="0"/>
                <a:ea typeface="Roboto" panose="02000000000000000000" pitchFamily="2" charset="0"/>
              </a:rPr>
              <a:t>WS- System &amp; Doc notations</a:t>
            </a:r>
            <a:endParaRPr lang="en-AU" altLang="en-US" sz="1200" dirty="0">
              <a:solidFill>
                <a:srgbClr val="00B050"/>
              </a:solidFill>
              <a:latin typeface="Roboto" panose="02000000000000000000" pitchFamily="2" charset="0"/>
              <a:ea typeface="Roboto" panose="02000000000000000000" pitchFamily="2" charset="0"/>
            </a:endParaRPr>
          </a:p>
        </p:txBody>
      </p:sp>
      <p:sp>
        <p:nvSpPr>
          <p:cNvPr id="21" name="Text Box 3">
            <a:extLst>
              <a:ext uri="{FF2B5EF4-FFF2-40B4-BE49-F238E27FC236}">
                <a16:creationId xmlns:a16="http://schemas.microsoft.com/office/drawing/2014/main" id="{8B4EDA6D-B06E-0533-484D-61CC7D88FB11}"/>
              </a:ext>
            </a:extLst>
          </p:cNvPr>
          <p:cNvSpPr txBox="1">
            <a:spLocks noChangeArrowheads="1"/>
          </p:cNvSpPr>
          <p:nvPr/>
        </p:nvSpPr>
        <p:spPr bwMode="auto">
          <a:xfrm>
            <a:off x="209167" y="4504312"/>
            <a:ext cx="1874291" cy="537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200" dirty="0">
                <a:latin typeface="Roboto" panose="02000000000000000000" pitchFamily="2" charset="0"/>
                <a:ea typeface="Roboto" panose="02000000000000000000" pitchFamily="2" charset="0"/>
              </a:rPr>
              <a:t>PT Reduction- One Screen to Access APHP queues</a:t>
            </a:r>
            <a:endParaRPr lang="en-AU" altLang="en-US" sz="1200" dirty="0">
              <a:latin typeface="Roboto" panose="02000000000000000000" pitchFamily="2" charset="0"/>
              <a:ea typeface="Roboto" panose="02000000000000000000" pitchFamily="2" charset="0"/>
            </a:endParaRPr>
          </a:p>
        </p:txBody>
      </p:sp>
      <p:sp>
        <p:nvSpPr>
          <p:cNvPr id="22" name="Text Box 4">
            <a:extLst>
              <a:ext uri="{FF2B5EF4-FFF2-40B4-BE49-F238E27FC236}">
                <a16:creationId xmlns:a16="http://schemas.microsoft.com/office/drawing/2014/main" id="{A5A7B019-E5D1-BEF7-617E-C82FC3812197}"/>
              </a:ext>
            </a:extLst>
          </p:cNvPr>
          <p:cNvSpPr txBox="1">
            <a:spLocks noChangeArrowheads="1"/>
          </p:cNvSpPr>
          <p:nvPr/>
        </p:nvSpPr>
        <p:spPr bwMode="auto">
          <a:xfrm>
            <a:off x="215919" y="2625607"/>
            <a:ext cx="1972015" cy="426271"/>
          </a:xfrm>
          <a:prstGeom prst="rect">
            <a:avLst/>
          </a:prstGeom>
          <a:noFill/>
          <a:ln w="12700">
            <a:noFill/>
            <a:miter lim="800000"/>
            <a:headEnd/>
            <a:tailEnd/>
          </a:ln>
        </p:spPr>
        <p:txBody>
          <a:bodyPr wrap="none">
            <a:spAutoFit/>
          </a:bodyPr>
          <a:lstStyle/>
          <a:p>
            <a:pPr>
              <a:lnSpc>
                <a:spcPct val="80000"/>
              </a:lnSpc>
              <a:spcBef>
                <a:spcPct val="20000"/>
              </a:spcBef>
              <a:defRPr/>
            </a:pPr>
            <a:r>
              <a:rPr lang="en-US" sz="1200" dirty="0">
                <a:solidFill>
                  <a:schemeClr val="tx1"/>
                </a:solidFill>
                <a:latin typeface="Roboto" panose="02000000000000000000" pitchFamily="2" charset="0"/>
                <a:ea typeface="Roboto" panose="02000000000000000000" pitchFamily="2" charset="0"/>
              </a:rPr>
              <a:t>Processing Time=368 Sec</a:t>
            </a:r>
          </a:p>
          <a:p>
            <a:pPr>
              <a:lnSpc>
                <a:spcPct val="80000"/>
              </a:lnSpc>
              <a:spcBef>
                <a:spcPct val="20000"/>
              </a:spcBef>
              <a:defRPr/>
            </a:pPr>
            <a:r>
              <a:rPr lang="en-US" sz="1200" dirty="0">
                <a:solidFill>
                  <a:schemeClr val="tx1"/>
                </a:solidFill>
                <a:latin typeface="Roboto" panose="02000000000000000000" pitchFamily="2" charset="0"/>
                <a:ea typeface="Roboto" panose="02000000000000000000" pitchFamily="2" charset="0"/>
              </a:rPr>
              <a:t>Takt Time =- 294 Sec</a:t>
            </a:r>
            <a:endParaRPr lang="en-AU" sz="1200" dirty="0">
              <a:solidFill>
                <a:schemeClr val="tx1"/>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65784074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3200" dirty="0"/>
              <a:t>Standard Work Combination Sheet, Up-sell call 2nd attempt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48</a:t>
            </a:fld>
            <a:endParaRPr lang="en-US"/>
          </a:p>
        </p:txBody>
      </p:sp>
      <p:grpSp>
        <p:nvGrpSpPr>
          <p:cNvPr id="4" name="Group 3">
            <a:extLst>
              <a:ext uri="{FF2B5EF4-FFF2-40B4-BE49-F238E27FC236}">
                <a16:creationId xmlns:a16="http://schemas.microsoft.com/office/drawing/2014/main" id="{68B43806-C085-B892-8E50-7696A18CD9F0}"/>
              </a:ext>
            </a:extLst>
          </p:cNvPr>
          <p:cNvGrpSpPr/>
          <p:nvPr/>
        </p:nvGrpSpPr>
        <p:grpSpPr>
          <a:xfrm>
            <a:off x="838200" y="297639"/>
            <a:ext cx="4545330" cy="301303"/>
            <a:chOff x="838200" y="297639"/>
            <a:chExt cx="4545330" cy="301303"/>
          </a:xfrm>
        </p:grpSpPr>
        <p:sp>
          <p:nvSpPr>
            <p:cNvPr id="6" name="AutoShape 9">
              <a:extLst>
                <a:ext uri="{FF2B5EF4-FFF2-40B4-BE49-F238E27FC236}">
                  <a16:creationId xmlns:a16="http://schemas.microsoft.com/office/drawing/2014/main" id="{0B27A768-EE8C-8FFD-7782-F5A549A977AA}"/>
                </a:ext>
              </a:extLst>
            </p:cNvPr>
            <p:cNvSpPr>
              <a:spLocks noChangeArrowheads="1"/>
            </p:cNvSpPr>
            <p:nvPr/>
          </p:nvSpPr>
          <p:spPr bwMode="auto">
            <a:xfrm>
              <a:off x="1779225" y="298454"/>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7" name="Group 6">
              <a:extLst>
                <a:ext uri="{FF2B5EF4-FFF2-40B4-BE49-F238E27FC236}">
                  <a16:creationId xmlns:a16="http://schemas.microsoft.com/office/drawing/2014/main" id="{663992D9-BF0C-A952-1DDD-B669A9932737}"/>
                </a:ext>
              </a:extLst>
            </p:cNvPr>
            <p:cNvGrpSpPr/>
            <p:nvPr/>
          </p:nvGrpSpPr>
          <p:grpSpPr>
            <a:xfrm>
              <a:off x="838200" y="297639"/>
              <a:ext cx="4545330" cy="301303"/>
              <a:chOff x="838200" y="297639"/>
              <a:chExt cx="4545330" cy="301303"/>
            </a:xfrm>
          </p:grpSpPr>
          <p:grpSp>
            <p:nvGrpSpPr>
              <p:cNvPr id="8" name="Group 7">
                <a:extLst>
                  <a:ext uri="{FF2B5EF4-FFF2-40B4-BE49-F238E27FC236}">
                    <a16:creationId xmlns:a16="http://schemas.microsoft.com/office/drawing/2014/main" id="{3D989A41-542C-35CD-AF4A-CB43CD262BD5}"/>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056BF4DA-50EB-E510-F1A7-DA29C2D84C6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711F63DC-1CB9-178B-C803-D3EAFF7E308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B75C5D4F-D63F-B68C-2CD1-F542E984CD7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9" name="TextBox 8">
                <a:extLst>
                  <a:ext uri="{FF2B5EF4-FFF2-40B4-BE49-F238E27FC236}">
                    <a16:creationId xmlns:a16="http://schemas.microsoft.com/office/drawing/2014/main" id="{0E3936B2-5343-B810-B777-5AD66D5FB9C6}"/>
                  </a:ext>
                </a:extLst>
              </p:cNvPr>
              <p:cNvSpPr txBox="1"/>
              <p:nvPr/>
            </p:nvSpPr>
            <p:spPr>
              <a:xfrm>
                <a:off x="2190452" y="307580"/>
                <a:ext cx="31930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Standard Work Documentation</a:t>
                </a:r>
              </a:p>
            </p:txBody>
          </p:sp>
        </p:grpSp>
      </p:grpSp>
      <p:pic>
        <p:nvPicPr>
          <p:cNvPr id="16" name="Picture 351" descr="Upsell_2.jpg">
            <a:extLst>
              <a:ext uri="{FF2B5EF4-FFF2-40B4-BE49-F238E27FC236}">
                <a16:creationId xmlns:a16="http://schemas.microsoft.com/office/drawing/2014/main" id="{3889A3E0-23A5-7C81-A090-21C64DFA9FAF}"/>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231752" y="1825625"/>
            <a:ext cx="7728495"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Freeform 335">
            <a:extLst>
              <a:ext uri="{FF2B5EF4-FFF2-40B4-BE49-F238E27FC236}">
                <a16:creationId xmlns:a16="http://schemas.microsoft.com/office/drawing/2014/main" id="{47D9443A-75C2-7879-C44C-FDEE24987885}"/>
              </a:ext>
            </a:extLst>
          </p:cNvPr>
          <p:cNvSpPr>
            <a:spLocks/>
          </p:cNvSpPr>
          <p:nvPr/>
        </p:nvSpPr>
        <p:spPr bwMode="auto">
          <a:xfrm>
            <a:off x="8336315" y="4874691"/>
            <a:ext cx="517525" cy="555625"/>
          </a:xfrm>
          <a:custGeom>
            <a:avLst/>
            <a:gdLst>
              <a:gd name="T0" fmla="*/ 0 w 1003"/>
              <a:gd name="T1" fmla="*/ 2147483646 h 630"/>
              <a:gd name="T2" fmla="*/ 2147483646 w 1003"/>
              <a:gd name="T3" fmla="*/ 2147483646 h 630"/>
              <a:gd name="T4" fmla="*/ 2147483646 w 1003"/>
              <a:gd name="T5" fmla="*/ 2147483646 h 630"/>
              <a:gd name="T6" fmla="*/ 2147483646 w 1003"/>
              <a:gd name="T7" fmla="*/ 2147483646 h 630"/>
              <a:gd name="T8" fmla="*/ 2147483646 w 1003"/>
              <a:gd name="T9" fmla="*/ 2147483646 h 630"/>
              <a:gd name="T10" fmla="*/ 2147483646 w 1003"/>
              <a:gd name="T11" fmla="*/ 2147483646 h 630"/>
              <a:gd name="T12" fmla="*/ 2147483646 w 1003"/>
              <a:gd name="T13" fmla="*/ 0 h 630"/>
              <a:gd name="T14" fmla="*/ 2147483646 w 1003"/>
              <a:gd name="T15" fmla="*/ 2147483646 h 630"/>
              <a:gd name="T16" fmla="*/ 2147483646 w 1003"/>
              <a:gd name="T17" fmla="*/ 2147483646 h 630"/>
              <a:gd name="T18" fmla="*/ 2147483646 w 1003"/>
              <a:gd name="T19" fmla="*/ 0 h 630"/>
              <a:gd name="T20" fmla="*/ 0 w 1003"/>
              <a:gd name="T21" fmla="*/ 2147483646 h 63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03"/>
              <a:gd name="T34" fmla="*/ 0 h 630"/>
              <a:gd name="T35" fmla="*/ 1003 w 1003"/>
              <a:gd name="T36" fmla="*/ 630 h 63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03" h="630">
                <a:moveTo>
                  <a:pt x="0" y="315"/>
                </a:moveTo>
                <a:lnTo>
                  <a:pt x="202" y="630"/>
                </a:lnTo>
                <a:lnTo>
                  <a:pt x="202" y="473"/>
                </a:lnTo>
                <a:lnTo>
                  <a:pt x="802" y="473"/>
                </a:lnTo>
                <a:lnTo>
                  <a:pt x="802" y="630"/>
                </a:lnTo>
                <a:lnTo>
                  <a:pt x="1003" y="315"/>
                </a:lnTo>
                <a:lnTo>
                  <a:pt x="802" y="0"/>
                </a:lnTo>
                <a:lnTo>
                  <a:pt x="802" y="158"/>
                </a:lnTo>
                <a:lnTo>
                  <a:pt x="202" y="158"/>
                </a:lnTo>
                <a:lnTo>
                  <a:pt x="202" y="0"/>
                </a:lnTo>
                <a:lnTo>
                  <a:pt x="0" y="315"/>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 name="AutoShape 6">
            <a:extLst>
              <a:ext uri="{FF2B5EF4-FFF2-40B4-BE49-F238E27FC236}">
                <a16:creationId xmlns:a16="http://schemas.microsoft.com/office/drawing/2014/main" id="{8FDEEB9E-6246-A476-6C36-C56A21B73BFC}"/>
              </a:ext>
            </a:extLst>
          </p:cNvPr>
          <p:cNvSpPr>
            <a:spLocks noChangeArrowheads="1"/>
          </p:cNvSpPr>
          <p:nvPr/>
        </p:nvSpPr>
        <p:spPr bwMode="auto">
          <a:xfrm>
            <a:off x="7380058" y="2943303"/>
            <a:ext cx="1473782" cy="1508367"/>
          </a:xfrm>
          <a:prstGeom prst="irregularSeal1">
            <a:avLst/>
          </a:prstGeom>
          <a:solidFill>
            <a:schemeClr val="bg1"/>
          </a:solidFill>
          <a:ln w="38100">
            <a:solidFill>
              <a:srgbClr val="FF0000"/>
            </a:solidFill>
            <a:miter lim="800000"/>
            <a:headEnd/>
            <a:tailEnd/>
          </a:ln>
        </p:spPr>
        <p:txBody>
          <a:bodyPr wrap="square" anchor="ct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latin typeface="Roboto" panose="02000000000000000000" pitchFamily="2" charset="0"/>
                <a:ea typeface="Roboto" panose="02000000000000000000" pitchFamily="2" charset="0"/>
              </a:rPr>
              <a:t>Wait Time/ Capacity</a:t>
            </a:r>
          </a:p>
        </p:txBody>
      </p:sp>
      <p:sp>
        <p:nvSpPr>
          <p:cNvPr id="23" name="Rectangle 6">
            <a:extLst>
              <a:ext uri="{FF2B5EF4-FFF2-40B4-BE49-F238E27FC236}">
                <a16:creationId xmlns:a16="http://schemas.microsoft.com/office/drawing/2014/main" id="{6FC3FB2A-863A-D06D-602D-FACDDA35A3A5}"/>
              </a:ext>
            </a:extLst>
          </p:cNvPr>
          <p:cNvSpPr>
            <a:spLocks noChangeArrowheads="1"/>
          </p:cNvSpPr>
          <p:nvPr/>
        </p:nvSpPr>
        <p:spPr bwMode="auto">
          <a:xfrm>
            <a:off x="6615575" y="5775597"/>
            <a:ext cx="4308475" cy="714375"/>
          </a:xfrm>
          <a:prstGeom prst="rect">
            <a:avLst/>
          </a:prstGeom>
          <a:solidFill>
            <a:schemeClr val="accent1"/>
          </a:solidFill>
          <a:ln>
            <a:noFill/>
          </a:ln>
          <a:extLst>
            <a:ext uri="{91240B29-F687-4F45-9708-019B960494DF}">
              <a14:hiddenLine xmlns:a14="http://schemas.microsoft.com/office/drawing/2010/main" w="12700">
                <a:solidFill>
                  <a:srgbClr val="000000"/>
                </a:solidFill>
                <a:miter lim="800000"/>
                <a:headEnd/>
                <a:tailEnd/>
              </a14:hiddenLine>
            </a:ext>
          </a:extLst>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000" b="0" dirty="0">
                <a:solidFill>
                  <a:schemeClr val="bg1"/>
                </a:solidFill>
                <a:latin typeface="Roboto" panose="02000000000000000000" pitchFamily="2" charset="0"/>
                <a:ea typeface="Roboto" panose="02000000000000000000" pitchFamily="2" charset="0"/>
              </a:rPr>
              <a:t>Reduce Processing time by 35%</a:t>
            </a:r>
          </a:p>
          <a:p>
            <a:pPr algn="ctr">
              <a:lnSpc>
                <a:spcPct val="80000"/>
              </a:lnSpc>
              <a:spcBef>
                <a:spcPct val="20000"/>
              </a:spcBef>
              <a:spcAft>
                <a:spcPct val="0"/>
              </a:spcAft>
              <a:buClrTx/>
              <a:buSzTx/>
              <a:buFontTx/>
              <a:buNone/>
            </a:pPr>
            <a:r>
              <a:rPr lang="en-US" altLang="en-US" sz="2000" b="0" dirty="0">
                <a:solidFill>
                  <a:schemeClr val="bg1"/>
                </a:solidFill>
                <a:latin typeface="Roboto" panose="02000000000000000000" pitchFamily="2" charset="0"/>
                <a:ea typeface="Roboto" panose="02000000000000000000" pitchFamily="2" charset="0"/>
              </a:rPr>
              <a:t>…Capacity for Growth</a:t>
            </a:r>
            <a:endParaRPr lang="en-AU" altLang="en-US" sz="2000" b="0" dirty="0">
              <a:solidFill>
                <a:schemeClr val="bg1"/>
              </a:solidFill>
              <a:latin typeface="Roboto" panose="02000000000000000000" pitchFamily="2" charset="0"/>
              <a:ea typeface="Roboto" panose="02000000000000000000" pitchFamily="2" charset="0"/>
            </a:endParaRPr>
          </a:p>
        </p:txBody>
      </p:sp>
      <p:sp>
        <p:nvSpPr>
          <p:cNvPr id="24" name="Text Box 2">
            <a:extLst>
              <a:ext uri="{FF2B5EF4-FFF2-40B4-BE49-F238E27FC236}">
                <a16:creationId xmlns:a16="http://schemas.microsoft.com/office/drawing/2014/main" id="{6BD99FEC-4D03-0D9B-200A-9D578A854869}"/>
              </a:ext>
            </a:extLst>
          </p:cNvPr>
          <p:cNvSpPr txBox="1">
            <a:spLocks noChangeArrowheads="1"/>
          </p:cNvSpPr>
          <p:nvPr/>
        </p:nvSpPr>
        <p:spPr bwMode="auto">
          <a:xfrm>
            <a:off x="275453" y="3246697"/>
            <a:ext cx="2185660" cy="1313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solidFill>
                  <a:srgbClr val="00B050"/>
                </a:solidFill>
                <a:latin typeface="Roboto" panose="02000000000000000000" pitchFamily="2" charset="0"/>
                <a:ea typeface="Roboto" panose="02000000000000000000" pitchFamily="2" charset="0"/>
              </a:rPr>
              <a:t>PT reduction- Fax from Desk top</a:t>
            </a:r>
          </a:p>
          <a:p>
            <a:pPr>
              <a:lnSpc>
                <a:spcPct val="80000"/>
              </a:lnSpc>
              <a:spcBef>
                <a:spcPct val="20000"/>
              </a:spcBef>
              <a:spcAft>
                <a:spcPct val="0"/>
              </a:spcAft>
              <a:buClrTx/>
              <a:buSzTx/>
              <a:buFontTx/>
              <a:buNone/>
            </a:pPr>
            <a:r>
              <a:rPr lang="en-US" altLang="en-US" sz="1800" dirty="0">
                <a:solidFill>
                  <a:srgbClr val="00B050"/>
                </a:solidFill>
                <a:latin typeface="Roboto" panose="02000000000000000000" pitchFamily="2" charset="0"/>
                <a:ea typeface="Roboto" panose="02000000000000000000" pitchFamily="2" charset="0"/>
              </a:rPr>
              <a:t>WS- Call Logic</a:t>
            </a:r>
          </a:p>
          <a:p>
            <a:pPr>
              <a:lnSpc>
                <a:spcPct val="80000"/>
              </a:lnSpc>
              <a:spcBef>
                <a:spcPct val="20000"/>
              </a:spcBef>
              <a:spcAft>
                <a:spcPct val="0"/>
              </a:spcAft>
              <a:buClrTx/>
              <a:buSzTx/>
              <a:buFontTx/>
              <a:buNone/>
            </a:pPr>
            <a:r>
              <a:rPr lang="en-US" altLang="en-US" sz="1800" dirty="0">
                <a:solidFill>
                  <a:srgbClr val="00B050"/>
                </a:solidFill>
                <a:latin typeface="Roboto" panose="02000000000000000000" pitchFamily="2" charset="0"/>
                <a:ea typeface="Roboto" panose="02000000000000000000" pitchFamily="2" charset="0"/>
              </a:rPr>
              <a:t>WS- System &amp; Doc notations</a:t>
            </a:r>
          </a:p>
        </p:txBody>
      </p:sp>
      <p:sp>
        <p:nvSpPr>
          <p:cNvPr id="25" name="Text Box 3">
            <a:extLst>
              <a:ext uri="{FF2B5EF4-FFF2-40B4-BE49-F238E27FC236}">
                <a16:creationId xmlns:a16="http://schemas.microsoft.com/office/drawing/2014/main" id="{F2DCE927-D8B2-6743-F91C-EF0718F06EC7}"/>
              </a:ext>
            </a:extLst>
          </p:cNvPr>
          <p:cNvSpPr txBox="1">
            <a:spLocks noChangeArrowheads="1"/>
          </p:cNvSpPr>
          <p:nvPr/>
        </p:nvSpPr>
        <p:spPr bwMode="auto">
          <a:xfrm>
            <a:off x="275453" y="4794559"/>
            <a:ext cx="1782737" cy="98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solidFill>
                  <a:srgbClr val="FFC000"/>
                </a:solidFill>
                <a:latin typeface="Roboto" panose="02000000000000000000" pitchFamily="2" charset="0"/>
                <a:ea typeface="Roboto" panose="02000000000000000000" pitchFamily="2" charset="0"/>
              </a:rPr>
              <a:t>PT Reduction- One Screen to Access APHP queues</a:t>
            </a:r>
            <a:endParaRPr lang="en-AU" altLang="en-US" sz="1800" dirty="0">
              <a:solidFill>
                <a:srgbClr val="FFC000"/>
              </a:solidFill>
              <a:latin typeface="Roboto" panose="02000000000000000000" pitchFamily="2" charset="0"/>
              <a:ea typeface="Roboto" panose="02000000000000000000" pitchFamily="2" charset="0"/>
            </a:endParaRPr>
          </a:p>
        </p:txBody>
      </p:sp>
      <p:sp>
        <p:nvSpPr>
          <p:cNvPr id="26" name="Text Box 4">
            <a:extLst>
              <a:ext uri="{FF2B5EF4-FFF2-40B4-BE49-F238E27FC236}">
                <a16:creationId xmlns:a16="http://schemas.microsoft.com/office/drawing/2014/main" id="{14C9C610-4821-C268-6029-C533EE89F016}"/>
              </a:ext>
            </a:extLst>
          </p:cNvPr>
          <p:cNvSpPr txBox="1">
            <a:spLocks noChangeArrowheads="1"/>
          </p:cNvSpPr>
          <p:nvPr/>
        </p:nvSpPr>
        <p:spPr bwMode="auto">
          <a:xfrm>
            <a:off x="275453" y="1912158"/>
            <a:ext cx="1824037" cy="1036438"/>
          </a:xfrm>
          <a:prstGeom prst="rect">
            <a:avLst/>
          </a:prstGeom>
          <a:noFill/>
          <a:ln w="12700">
            <a:noFill/>
            <a:miter lim="800000"/>
            <a:headEnd/>
            <a:tailEnd/>
          </a:ln>
        </p:spPr>
        <p:txBody>
          <a:bodyPr wrap="square">
            <a:spAutoFit/>
          </a:bodyPr>
          <a:lstStyle/>
          <a:p>
            <a:pPr>
              <a:lnSpc>
                <a:spcPct val="80000"/>
              </a:lnSpc>
              <a:spcBef>
                <a:spcPct val="20000"/>
              </a:spcBef>
              <a:defRPr/>
            </a:pPr>
            <a:r>
              <a:rPr lang="en-US" dirty="0">
                <a:solidFill>
                  <a:schemeClr val="tx1"/>
                </a:solidFill>
                <a:latin typeface="Roboto" panose="02000000000000000000" pitchFamily="2" charset="0"/>
                <a:ea typeface="Roboto" panose="02000000000000000000" pitchFamily="2" charset="0"/>
              </a:rPr>
              <a:t>Processing Time = 250 Sec</a:t>
            </a:r>
          </a:p>
          <a:p>
            <a:pPr>
              <a:lnSpc>
                <a:spcPct val="80000"/>
              </a:lnSpc>
              <a:spcBef>
                <a:spcPct val="20000"/>
              </a:spcBef>
              <a:defRPr/>
            </a:pPr>
            <a:r>
              <a:rPr lang="en-US" dirty="0">
                <a:solidFill>
                  <a:schemeClr val="tx1"/>
                </a:solidFill>
                <a:latin typeface="Roboto" panose="02000000000000000000" pitchFamily="2" charset="0"/>
                <a:ea typeface="Roboto" panose="02000000000000000000" pitchFamily="2" charset="0"/>
              </a:rPr>
              <a:t>Takt Time 314 Sec</a:t>
            </a:r>
            <a:endParaRPr lang="en-AU" dirty="0">
              <a:solidFill>
                <a:schemeClr val="tx1"/>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58975815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3200" dirty="0"/>
              <a:t>Standard Work Combination Sheet, Up-sell call 2nd attempt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49</a:t>
            </a:fld>
            <a:endParaRPr lang="en-US"/>
          </a:p>
        </p:txBody>
      </p:sp>
      <p:grpSp>
        <p:nvGrpSpPr>
          <p:cNvPr id="4" name="Group 3">
            <a:extLst>
              <a:ext uri="{FF2B5EF4-FFF2-40B4-BE49-F238E27FC236}">
                <a16:creationId xmlns:a16="http://schemas.microsoft.com/office/drawing/2014/main" id="{68B43806-C085-B892-8E50-7696A18CD9F0}"/>
              </a:ext>
            </a:extLst>
          </p:cNvPr>
          <p:cNvGrpSpPr/>
          <p:nvPr/>
        </p:nvGrpSpPr>
        <p:grpSpPr>
          <a:xfrm>
            <a:off x="838200" y="297639"/>
            <a:ext cx="4545330" cy="301303"/>
            <a:chOff x="838200" y="297639"/>
            <a:chExt cx="4545330" cy="301303"/>
          </a:xfrm>
        </p:grpSpPr>
        <p:sp>
          <p:nvSpPr>
            <p:cNvPr id="6" name="AutoShape 9">
              <a:extLst>
                <a:ext uri="{FF2B5EF4-FFF2-40B4-BE49-F238E27FC236}">
                  <a16:creationId xmlns:a16="http://schemas.microsoft.com/office/drawing/2014/main" id="{0B27A768-EE8C-8FFD-7782-F5A549A977AA}"/>
                </a:ext>
              </a:extLst>
            </p:cNvPr>
            <p:cNvSpPr>
              <a:spLocks noChangeArrowheads="1"/>
            </p:cNvSpPr>
            <p:nvPr/>
          </p:nvSpPr>
          <p:spPr bwMode="auto">
            <a:xfrm>
              <a:off x="1779225" y="298454"/>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7" name="Group 6">
              <a:extLst>
                <a:ext uri="{FF2B5EF4-FFF2-40B4-BE49-F238E27FC236}">
                  <a16:creationId xmlns:a16="http://schemas.microsoft.com/office/drawing/2014/main" id="{663992D9-BF0C-A952-1DDD-B669A9932737}"/>
                </a:ext>
              </a:extLst>
            </p:cNvPr>
            <p:cNvGrpSpPr/>
            <p:nvPr/>
          </p:nvGrpSpPr>
          <p:grpSpPr>
            <a:xfrm>
              <a:off x="838200" y="297639"/>
              <a:ext cx="4545330" cy="301303"/>
              <a:chOff x="838200" y="297639"/>
              <a:chExt cx="4545330" cy="301303"/>
            </a:xfrm>
          </p:grpSpPr>
          <p:grpSp>
            <p:nvGrpSpPr>
              <p:cNvPr id="8" name="Group 7">
                <a:extLst>
                  <a:ext uri="{FF2B5EF4-FFF2-40B4-BE49-F238E27FC236}">
                    <a16:creationId xmlns:a16="http://schemas.microsoft.com/office/drawing/2014/main" id="{3D989A41-542C-35CD-AF4A-CB43CD262BD5}"/>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056BF4DA-50EB-E510-F1A7-DA29C2D84C6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711F63DC-1CB9-178B-C803-D3EAFF7E308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B75C5D4F-D63F-B68C-2CD1-F542E984CD7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9" name="TextBox 8">
                <a:extLst>
                  <a:ext uri="{FF2B5EF4-FFF2-40B4-BE49-F238E27FC236}">
                    <a16:creationId xmlns:a16="http://schemas.microsoft.com/office/drawing/2014/main" id="{0E3936B2-5343-B810-B777-5AD66D5FB9C6}"/>
                  </a:ext>
                </a:extLst>
              </p:cNvPr>
              <p:cNvSpPr txBox="1"/>
              <p:nvPr/>
            </p:nvSpPr>
            <p:spPr>
              <a:xfrm>
                <a:off x="2190452" y="307580"/>
                <a:ext cx="31930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Standard Work Documentation</a:t>
                </a:r>
              </a:p>
            </p:txBody>
          </p:sp>
        </p:grpSp>
      </p:grpSp>
      <p:sp>
        <p:nvSpPr>
          <p:cNvPr id="24" name="Text Box 2">
            <a:extLst>
              <a:ext uri="{FF2B5EF4-FFF2-40B4-BE49-F238E27FC236}">
                <a16:creationId xmlns:a16="http://schemas.microsoft.com/office/drawing/2014/main" id="{6BD99FEC-4D03-0D9B-200A-9D578A854869}"/>
              </a:ext>
            </a:extLst>
          </p:cNvPr>
          <p:cNvSpPr txBox="1">
            <a:spLocks noChangeArrowheads="1"/>
          </p:cNvSpPr>
          <p:nvPr/>
        </p:nvSpPr>
        <p:spPr bwMode="auto">
          <a:xfrm>
            <a:off x="275453" y="3026226"/>
            <a:ext cx="2185660" cy="2255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solidFill>
                  <a:srgbClr val="00B050"/>
                </a:solidFill>
                <a:latin typeface="Roboto" panose="02000000000000000000" pitchFamily="2" charset="0"/>
                <a:ea typeface="Roboto" panose="02000000000000000000" pitchFamily="2" charset="0"/>
              </a:rPr>
              <a:t>PT reduction- Automated </a:t>
            </a:r>
            <a:r>
              <a:rPr lang="en-US" altLang="en-US" sz="1800" dirty="0" err="1">
                <a:solidFill>
                  <a:srgbClr val="00B050"/>
                </a:solidFill>
                <a:latin typeface="Roboto" panose="02000000000000000000" pitchFamily="2" charset="0"/>
                <a:ea typeface="Roboto" panose="02000000000000000000" pitchFamily="2" charset="0"/>
              </a:rPr>
              <a:t>xls</a:t>
            </a:r>
            <a:r>
              <a:rPr lang="en-US" altLang="en-US" sz="1800" dirty="0">
                <a:solidFill>
                  <a:srgbClr val="00B050"/>
                </a:solidFill>
                <a:latin typeface="Roboto" panose="02000000000000000000" pitchFamily="2" charset="0"/>
                <a:ea typeface="Roboto" panose="02000000000000000000" pitchFamily="2" charset="0"/>
              </a:rPr>
              <a:t> </a:t>
            </a:r>
          </a:p>
          <a:p>
            <a:pPr>
              <a:lnSpc>
                <a:spcPct val="80000"/>
              </a:lnSpc>
              <a:spcBef>
                <a:spcPct val="20000"/>
              </a:spcBef>
              <a:spcAft>
                <a:spcPct val="0"/>
              </a:spcAft>
              <a:buClrTx/>
              <a:buSzTx/>
              <a:buFontTx/>
              <a:buNone/>
            </a:pPr>
            <a:r>
              <a:rPr lang="en-US" altLang="en-US" sz="1800" dirty="0">
                <a:solidFill>
                  <a:srgbClr val="00B050"/>
                </a:solidFill>
                <a:latin typeface="Roboto" panose="02000000000000000000" pitchFamily="2" charset="0"/>
                <a:ea typeface="Roboto" panose="02000000000000000000" pitchFamily="2" charset="0"/>
              </a:rPr>
              <a:t>Checklist for decision making</a:t>
            </a:r>
          </a:p>
          <a:p>
            <a:pPr>
              <a:lnSpc>
                <a:spcPct val="80000"/>
              </a:lnSpc>
              <a:spcBef>
                <a:spcPct val="20000"/>
              </a:spcBef>
              <a:spcAft>
                <a:spcPct val="0"/>
              </a:spcAft>
              <a:buClrTx/>
              <a:buSzTx/>
              <a:buFontTx/>
              <a:buNone/>
            </a:pPr>
            <a:r>
              <a:rPr lang="en-US" altLang="en-US" sz="1800" dirty="0">
                <a:solidFill>
                  <a:srgbClr val="00B050"/>
                </a:solidFill>
                <a:latin typeface="Roboto" panose="02000000000000000000" pitchFamily="2" charset="0"/>
                <a:ea typeface="Roboto" panose="02000000000000000000" pitchFamily="2" charset="0"/>
              </a:rPr>
              <a:t>PT reduction- Eliminate Cal print-out</a:t>
            </a:r>
          </a:p>
          <a:p>
            <a:pPr>
              <a:lnSpc>
                <a:spcPct val="80000"/>
              </a:lnSpc>
              <a:spcBef>
                <a:spcPct val="20000"/>
              </a:spcBef>
              <a:spcAft>
                <a:spcPct val="0"/>
              </a:spcAft>
              <a:buClrTx/>
              <a:buSzTx/>
              <a:buFontTx/>
              <a:buNone/>
            </a:pPr>
            <a:r>
              <a:rPr lang="en-US" altLang="en-US" sz="1800" dirty="0">
                <a:solidFill>
                  <a:srgbClr val="00B050"/>
                </a:solidFill>
                <a:latin typeface="Roboto" panose="02000000000000000000" pitchFamily="2" charset="0"/>
                <a:ea typeface="Roboto" panose="02000000000000000000" pitchFamily="2" charset="0"/>
              </a:rPr>
              <a:t>WS- System &amp; Doc notations</a:t>
            </a:r>
          </a:p>
        </p:txBody>
      </p:sp>
      <p:sp>
        <p:nvSpPr>
          <p:cNvPr id="25" name="Text Box 3">
            <a:extLst>
              <a:ext uri="{FF2B5EF4-FFF2-40B4-BE49-F238E27FC236}">
                <a16:creationId xmlns:a16="http://schemas.microsoft.com/office/drawing/2014/main" id="{F2DCE927-D8B2-6743-F91C-EF0718F06EC7}"/>
              </a:ext>
            </a:extLst>
          </p:cNvPr>
          <p:cNvSpPr txBox="1">
            <a:spLocks noChangeArrowheads="1"/>
          </p:cNvSpPr>
          <p:nvPr/>
        </p:nvSpPr>
        <p:spPr bwMode="auto">
          <a:xfrm>
            <a:off x="313593" y="5348928"/>
            <a:ext cx="1782737" cy="98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PT Reduction- One Screen to Access APHP queues</a:t>
            </a:r>
          </a:p>
        </p:txBody>
      </p:sp>
      <p:sp>
        <p:nvSpPr>
          <p:cNvPr id="26" name="Text Box 4">
            <a:extLst>
              <a:ext uri="{FF2B5EF4-FFF2-40B4-BE49-F238E27FC236}">
                <a16:creationId xmlns:a16="http://schemas.microsoft.com/office/drawing/2014/main" id="{14C9C610-4821-C268-6029-C533EE89F016}"/>
              </a:ext>
            </a:extLst>
          </p:cNvPr>
          <p:cNvSpPr txBox="1">
            <a:spLocks noChangeArrowheads="1"/>
          </p:cNvSpPr>
          <p:nvPr/>
        </p:nvSpPr>
        <p:spPr bwMode="auto">
          <a:xfrm>
            <a:off x="275453" y="1912158"/>
            <a:ext cx="1824037" cy="1036438"/>
          </a:xfrm>
          <a:prstGeom prst="rect">
            <a:avLst/>
          </a:prstGeom>
          <a:noFill/>
          <a:ln w="12700">
            <a:noFill/>
            <a:miter lim="800000"/>
            <a:headEnd/>
            <a:tailEnd/>
          </a:ln>
        </p:spPr>
        <p:txBody>
          <a:bodyPr wrap="square">
            <a:spAutoFit/>
          </a:bodyPr>
          <a:lstStyle/>
          <a:p>
            <a:pPr>
              <a:lnSpc>
                <a:spcPct val="80000"/>
              </a:lnSpc>
              <a:spcBef>
                <a:spcPct val="20000"/>
              </a:spcBef>
              <a:defRPr/>
            </a:pPr>
            <a:r>
              <a:rPr lang="en-US" dirty="0">
                <a:solidFill>
                  <a:schemeClr val="tx1"/>
                </a:solidFill>
                <a:latin typeface="Roboto" panose="02000000000000000000" pitchFamily="2" charset="0"/>
                <a:ea typeface="Roboto" panose="02000000000000000000" pitchFamily="2" charset="0"/>
              </a:rPr>
              <a:t>Processing Time = 478 Sec</a:t>
            </a:r>
          </a:p>
          <a:p>
            <a:pPr>
              <a:lnSpc>
                <a:spcPct val="80000"/>
              </a:lnSpc>
              <a:spcBef>
                <a:spcPct val="20000"/>
              </a:spcBef>
              <a:defRPr/>
            </a:pPr>
            <a:r>
              <a:rPr lang="en-US" dirty="0">
                <a:solidFill>
                  <a:schemeClr val="tx1"/>
                </a:solidFill>
                <a:latin typeface="Roboto" panose="02000000000000000000" pitchFamily="2" charset="0"/>
                <a:ea typeface="Roboto" panose="02000000000000000000" pitchFamily="2" charset="0"/>
              </a:rPr>
              <a:t>Takt Time = 575 Sec</a:t>
            </a:r>
          </a:p>
        </p:txBody>
      </p:sp>
      <p:pic>
        <p:nvPicPr>
          <p:cNvPr id="13" name="Picture 377" descr="SWCS_Upsell.jpg">
            <a:extLst>
              <a:ext uri="{FF2B5EF4-FFF2-40B4-BE49-F238E27FC236}">
                <a16:creationId xmlns:a16="http://schemas.microsoft.com/office/drawing/2014/main" id="{42FE7DB8-1B86-A35A-E794-5BC8D1D28DF4}"/>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134469" y="1825625"/>
            <a:ext cx="7923061"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AutoShape 6">
            <a:extLst>
              <a:ext uri="{FF2B5EF4-FFF2-40B4-BE49-F238E27FC236}">
                <a16:creationId xmlns:a16="http://schemas.microsoft.com/office/drawing/2014/main" id="{1B66236A-55B5-91F7-4D87-DE81AC767CA2}"/>
              </a:ext>
            </a:extLst>
          </p:cNvPr>
          <p:cNvSpPr>
            <a:spLocks noChangeArrowheads="1"/>
          </p:cNvSpPr>
          <p:nvPr/>
        </p:nvSpPr>
        <p:spPr bwMode="auto">
          <a:xfrm>
            <a:off x="7988300" y="3018074"/>
            <a:ext cx="1594774" cy="1508367"/>
          </a:xfrm>
          <a:prstGeom prst="irregularSeal1">
            <a:avLst/>
          </a:prstGeom>
          <a:solidFill>
            <a:schemeClr val="bg1"/>
          </a:solidFill>
          <a:ln w="38100">
            <a:solidFill>
              <a:srgbClr val="FF0000"/>
            </a:solidFill>
            <a:miter lim="800000"/>
            <a:headEnd/>
            <a:tailEnd/>
          </a:ln>
        </p:spPr>
        <p:txBody>
          <a:bodyPr wrap="square" anchor="ct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latin typeface="Roboto" panose="02000000000000000000" pitchFamily="2" charset="0"/>
                <a:ea typeface="Roboto" panose="02000000000000000000" pitchFamily="2" charset="0"/>
              </a:rPr>
              <a:t>Wait Time/ Capacity</a:t>
            </a:r>
          </a:p>
        </p:txBody>
      </p:sp>
      <p:sp>
        <p:nvSpPr>
          <p:cNvPr id="15" name="Rectangle 6">
            <a:extLst>
              <a:ext uri="{FF2B5EF4-FFF2-40B4-BE49-F238E27FC236}">
                <a16:creationId xmlns:a16="http://schemas.microsoft.com/office/drawing/2014/main" id="{594A0796-6472-A7AD-A391-2787E53F8257}"/>
              </a:ext>
            </a:extLst>
          </p:cNvPr>
          <p:cNvSpPr>
            <a:spLocks noChangeArrowheads="1"/>
          </p:cNvSpPr>
          <p:nvPr/>
        </p:nvSpPr>
        <p:spPr bwMode="auto">
          <a:xfrm>
            <a:off x="7346950" y="4696638"/>
            <a:ext cx="4006850" cy="633413"/>
          </a:xfrm>
          <a:prstGeom prst="rect">
            <a:avLst/>
          </a:prstGeom>
          <a:solidFill>
            <a:schemeClr val="accent1"/>
          </a:solidFill>
          <a:ln>
            <a:noFill/>
          </a:ln>
          <a:extLst>
            <a:ext uri="{91240B29-F687-4F45-9708-019B960494DF}">
              <a14:hiddenLine xmlns:a14="http://schemas.microsoft.com/office/drawing/2010/main" w="12700">
                <a:solidFill>
                  <a:srgbClr val="000000"/>
                </a:solidFill>
                <a:miter lim="800000"/>
                <a:headEnd/>
                <a:tailEnd/>
              </a14:hiddenLine>
            </a:ext>
          </a:extLst>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800" b="0" dirty="0">
                <a:solidFill>
                  <a:schemeClr val="bg1"/>
                </a:solidFill>
                <a:latin typeface="Roboto" panose="02000000000000000000" pitchFamily="2" charset="0"/>
                <a:ea typeface="Roboto" panose="02000000000000000000" pitchFamily="2" charset="0"/>
              </a:rPr>
              <a:t>Reduce Processing time by 35%</a:t>
            </a:r>
          </a:p>
          <a:p>
            <a:pPr algn="ctr">
              <a:lnSpc>
                <a:spcPct val="80000"/>
              </a:lnSpc>
              <a:spcBef>
                <a:spcPct val="20000"/>
              </a:spcBef>
              <a:spcAft>
                <a:spcPct val="0"/>
              </a:spcAft>
              <a:buClrTx/>
              <a:buSzTx/>
              <a:buFontTx/>
              <a:buNone/>
            </a:pPr>
            <a:r>
              <a:rPr lang="en-US" altLang="en-US" sz="1800" b="0" dirty="0">
                <a:solidFill>
                  <a:schemeClr val="bg1"/>
                </a:solidFill>
                <a:latin typeface="Roboto" panose="02000000000000000000" pitchFamily="2" charset="0"/>
                <a:ea typeface="Roboto" panose="02000000000000000000" pitchFamily="2" charset="0"/>
              </a:rPr>
              <a:t>…Capacity for Growth</a:t>
            </a:r>
            <a:endParaRPr lang="en-AU" altLang="en-US" sz="1800" b="0" dirty="0">
              <a:solidFill>
                <a:schemeClr val="bg1"/>
              </a:solidFill>
              <a:latin typeface="Roboto" panose="02000000000000000000" pitchFamily="2" charset="0"/>
              <a:ea typeface="Roboto" panose="02000000000000000000" pitchFamily="2" charset="0"/>
            </a:endParaRPr>
          </a:p>
        </p:txBody>
      </p:sp>
      <p:sp>
        <p:nvSpPr>
          <p:cNvPr id="19" name="Freeform 335">
            <a:extLst>
              <a:ext uri="{FF2B5EF4-FFF2-40B4-BE49-F238E27FC236}">
                <a16:creationId xmlns:a16="http://schemas.microsoft.com/office/drawing/2014/main" id="{2E15CC6E-3661-E479-917F-D9ADCA7733DF}"/>
              </a:ext>
            </a:extLst>
          </p:cNvPr>
          <p:cNvSpPr>
            <a:spLocks/>
          </p:cNvSpPr>
          <p:nvPr/>
        </p:nvSpPr>
        <p:spPr bwMode="auto">
          <a:xfrm>
            <a:off x="8975867" y="5497784"/>
            <a:ext cx="709612" cy="555625"/>
          </a:xfrm>
          <a:custGeom>
            <a:avLst/>
            <a:gdLst>
              <a:gd name="T0" fmla="*/ 0 w 1003"/>
              <a:gd name="T1" fmla="*/ 2147483646 h 630"/>
              <a:gd name="T2" fmla="*/ 2147483646 w 1003"/>
              <a:gd name="T3" fmla="*/ 2147483646 h 630"/>
              <a:gd name="T4" fmla="*/ 2147483646 w 1003"/>
              <a:gd name="T5" fmla="*/ 2147483646 h 630"/>
              <a:gd name="T6" fmla="*/ 2147483646 w 1003"/>
              <a:gd name="T7" fmla="*/ 2147483646 h 630"/>
              <a:gd name="T8" fmla="*/ 2147483646 w 1003"/>
              <a:gd name="T9" fmla="*/ 2147483646 h 630"/>
              <a:gd name="T10" fmla="*/ 2147483646 w 1003"/>
              <a:gd name="T11" fmla="*/ 2147483646 h 630"/>
              <a:gd name="T12" fmla="*/ 2147483646 w 1003"/>
              <a:gd name="T13" fmla="*/ 0 h 630"/>
              <a:gd name="T14" fmla="*/ 2147483646 w 1003"/>
              <a:gd name="T15" fmla="*/ 2147483646 h 630"/>
              <a:gd name="T16" fmla="*/ 2147483646 w 1003"/>
              <a:gd name="T17" fmla="*/ 2147483646 h 630"/>
              <a:gd name="T18" fmla="*/ 2147483646 w 1003"/>
              <a:gd name="T19" fmla="*/ 0 h 630"/>
              <a:gd name="T20" fmla="*/ 0 w 1003"/>
              <a:gd name="T21" fmla="*/ 2147483646 h 63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03"/>
              <a:gd name="T34" fmla="*/ 0 h 630"/>
              <a:gd name="T35" fmla="*/ 1003 w 1003"/>
              <a:gd name="T36" fmla="*/ 630 h 63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03" h="630">
                <a:moveTo>
                  <a:pt x="0" y="315"/>
                </a:moveTo>
                <a:lnTo>
                  <a:pt x="202" y="630"/>
                </a:lnTo>
                <a:lnTo>
                  <a:pt x="202" y="473"/>
                </a:lnTo>
                <a:lnTo>
                  <a:pt x="802" y="473"/>
                </a:lnTo>
                <a:lnTo>
                  <a:pt x="802" y="630"/>
                </a:lnTo>
                <a:lnTo>
                  <a:pt x="1003" y="315"/>
                </a:lnTo>
                <a:lnTo>
                  <a:pt x="802" y="0"/>
                </a:lnTo>
                <a:lnTo>
                  <a:pt x="802" y="158"/>
                </a:lnTo>
                <a:lnTo>
                  <a:pt x="202" y="158"/>
                </a:lnTo>
                <a:lnTo>
                  <a:pt x="202" y="0"/>
                </a:lnTo>
                <a:lnTo>
                  <a:pt x="0" y="315"/>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42438808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dirty="0"/>
              <a:t>Standard Work Combination Tips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One sheet per Associate</a:t>
            </a:r>
          </a:p>
          <a:p>
            <a:r>
              <a:rPr lang="en-US" dirty="0"/>
              <a:t>Post at the Associate’s workstation</a:t>
            </a:r>
          </a:p>
          <a:p>
            <a:r>
              <a:rPr lang="en-US" dirty="0"/>
              <a:t>Create “playbook” with various TAKT Times</a:t>
            </a:r>
          </a:p>
          <a:p>
            <a:r>
              <a:rPr lang="en-US" dirty="0"/>
              <a:t>Always date your documentation</a:t>
            </a:r>
          </a:p>
          <a:p>
            <a:r>
              <a:rPr lang="en-US" dirty="0"/>
              <a:t>Combination Sheets do not replace more detailed work instructions</a:t>
            </a:r>
          </a:p>
          <a:p>
            <a:r>
              <a:rPr lang="en-US" dirty="0"/>
              <a:t>Use Combo Sheets to highlight kaizen opportunities</a:t>
            </a:r>
          </a:p>
          <a:p>
            <a:r>
              <a:rPr lang="en-US" dirty="0"/>
              <a:t>Always draw TAKT Time in </a:t>
            </a:r>
            <a:r>
              <a:rPr lang="en-US" dirty="0">
                <a:solidFill>
                  <a:schemeClr val="accent1"/>
                </a:solidFill>
              </a:rPr>
              <a:t>red</a:t>
            </a:r>
          </a:p>
          <a:p>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50</a:t>
            </a:fld>
            <a:endParaRPr lang="en-US"/>
          </a:p>
        </p:txBody>
      </p:sp>
      <p:grpSp>
        <p:nvGrpSpPr>
          <p:cNvPr id="4" name="Group 3">
            <a:extLst>
              <a:ext uri="{FF2B5EF4-FFF2-40B4-BE49-F238E27FC236}">
                <a16:creationId xmlns:a16="http://schemas.microsoft.com/office/drawing/2014/main" id="{68B43806-C085-B892-8E50-7696A18CD9F0}"/>
              </a:ext>
            </a:extLst>
          </p:cNvPr>
          <p:cNvGrpSpPr/>
          <p:nvPr/>
        </p:nvGrpSpPr>
        <p:grpSpPr>
          <a:xfrm>
            <a:off x="838200" y="297639"/>
            <a:ext cx="4545330" cy="301303"/>
            <a:chOff x="838200" y="297639"/>
            <a:chExt cx="4545330" cy="301303"/>
          </a:xfrm>
        </p:grpSpPr>
        <p:sp>
          <p:nvSpPr>
            <p:cNvPr id="6" name="AutoShape 9">
              <a:extLst>
                <a:ext uri="{FF2B5EF4-FFF2-40B4-BE49-F238E27FC236}">
                  <a16:creationId xmlns:a16="http://schemas.microsoft.com/office/drawing/2014/main" id="{0B27A768-EE8C-8FFD-7782-F5A549A977AA}"/>
                </a:ext>
              </a:extLst>
            </p:cNvPr>
            <p:cNvSpPr>
              <a:spLocks noChangeArrowheads="1"/>
            </p:cNvSpPr>
            <p:nvPr/>
          </p:nvSpPr>
          <p:spPr bwMode="auto">
            <a:xfrm>
              <a:off x="1779225" y="298454"/>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7" name="Group 6">
              <a:extLst>
                <a:ext uri="{FF2B5EF4-FFF2-40B4-BE49-F238E27FC236}">
                  <a16:creationId xmlns:a16="http://schemas.microsoft.com/office/drawing/2014/main" id="{663992D9-BF0C-A952-1DDD-B669A9932737}"/>
                </a:ext>
              </a:extLst>
            </p:cNvPr>
            <p:cNvGrpSpPr/>
            <p:nvPr/>
          </p:nvGrpSpPr>
          <p:grpSpPr>
            <a:xfrm>
              <a:off x="838200" y="297639"/>
              <a:ext cx="4545330" cy="301303"/>
              <a:chOff x="838200" y="297639"/>
              <a:chExt cx="4545330" cy="301303"/>
            </a:xfrm>
          </p:grpSpPr>
          <p:grpSp>
            <p:nvGrpSpPr>
              <p:cNvPr id="8" name="Group 7">
                <a:extLst>
                  <a:ext uri="{FF2B5EF4-FFF2-40B4-BE49-F238E27FC236}">
                    <a16:creationId xmlns:a16="http://schemas.microsoft.com/office/drawing/2014/main" id="{3D989A41-542C-35CD-AF4A-CB43CD262BD5}"/>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056BF4DA-50EB-E510-F1A7-DA29C2D84C6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711F63DC-1CB9-178B-C803-D3EAFF7E308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B75C5D4F-D63F-B68C-2CD1-F542E984CD7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9" name="TextBox 8">
                <a:extLst>
                  <a:ext uri="{FF2B5EF4-FFF2-40B4-BE49-F238E27FC236}">
                    <a16:creationId xmlns:a16="http://schemas.microsoft.com/office/drawing/2014/main" id="{0E3936B2-5343-B810-B777-5AD66D5FB9C6}"/>
                  </a:ext>
                </a:extLst>
              </p:cNvPr>
              <p:cNvSpPr txBox="1"/>
              <p:nvPr/>
            </p:nvSpPr>
            <p:spPr>
              <a:xfrm>
                <a:off x="2190452" y="307580"/>
                <a:ext cx="31930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Standard Work Documentation</a:t>
                </a:r>
              </a:p>
            </p:txBody>
          </p:sp>
        </p:grpSp>
      </p:grpSp>
    </p:spTree>
    <p:extLst>
      <p:ext uri="{BB962C8B-B14F-4D97-AF65-F5344CB8AC3E}">
        <p14:creationId xmlns:p14="http://schemas.microsoft.com/office/powerpoint/2010/main" val="162049812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Standard Work Playbook</a:t>
            </a:r>
          </a:p>
        </p:txBody>
      </p:sp>
      <p:sp>
        <p:nvSpPr>
          <p:cNvPr id="3" name="Content Placeholder 2">
            <a:extLst>
              <a:ext uri="{FF2B5EF4-FFF2-40B4-BE49-F238E27FC236}">
                <a16:creationId xmlns:a16="http://schemas.microsoft.com/office/drawing/2014/main" id="{23C83347-F741-264E-7C36-00DE92F01451}"/>
              </a:ext>
            </a:extLst>
          </p:cNvPr>
          <p:cNvSpPr>
            <a:spLocks noGrp="1"/>
          </p:cNvSpPr>
          <p:nvPr>
            <p:ph sz="half" idx="1"/>
          </p:nvPr>
        </p:nvSpPr>
        <p:spPr/>
        <p:txBody>
          <a:bodyPr/>
          <a:lstStyle/>
          <a:p>
            <a:r>
              <a:rPr lang="en-US" dirty="0"/>
              <a:t>Each Demand level has a “Play”</a:t>
            </a:r>
          </a:p>
          <a:p>
            <a:endParaRPr lang="en-US" dirty="0"/>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p:txBody>
          <a:bodyPr/>
          <a:lstStyle/>
          <a:p>
            <a:r>
              <a:rPr lang="en-US" dirty="0"/>
              <a:t>For each Play:</a:t>
            </a:r>
          </a:p>
          <a:p>
            <a:pPr lvl="1"/>
            <a:r>
              <a:rPr lang="en-US" dirty="0"/>
              <a:t>Associate Loading Chart</a:t>
            </a:r>
          </a:p>
          <a:p>
            <a:pPr lvl="1"/>
            <a:r>
              <a:rPr lang="en-US" dirty="0"/>
              <a:t>Standard Work Combination Sheets </a:t>
            </a:r>
          </a:p>
          <a:p>
            <a:pPr lvl="1"/>
            <a:r>
              <a:rPr lang="en-US" dirty="0"/>
              <a:t>Standard Work Sheets</a:t>
            </a:r>
          </a:p>
          <a:p>
            <a:pPr lvl="1"/>
            <a:r>
              <a:rPr lang="en-US" dirty="0"/>
              <a:t>Daily Output Goals</a:t>
            </a:r>
          </a:p>
          <a:p>
            <a:endParaRPr lang="en-US" dirty="0"/>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51</a:t>
            </a:fld>
            <a:endParaRPr lang="en-US"/>
          </a:p>
        </p:txBody>
      </p:sp>
      <p:grpSp>
        <p:nvGrpSpPr>
          <p:cNvPr id="5" name="Group 4">
            <a:extLst>
              <a:ext uri="{FF2B5EF4-FFF2-40B4-BE49-F238E27FC236}">
                <a16:creationId xmlns:a16="http://schemas.microsoft.com/office/drawing/2014/main" id="{98D0D9C8-EBE6-EE7C-03A9-09868283B1C5}"/>
              </a:ext>
            </a:extLst>
          </p:cNvPr>
          <p:cNvGrpSpPr/>
          <p:nvPr/>
        </p:nvGrpSpPr>
        <p:grpSpPr>
          <a:xfrm>
            <a:off x="838200" y="297639"/>
            <a:ext cx="4545330" cy="301303"/>
            <a:chOff x="838200" y="297639"/>
            <a:chExt cx="4545330" cy="301303"/>
          </a:xfrm>
        </p:grpSpPr>
        <p:sp>
          <p:nvSpPr>
            <p:cNvPr id="7" name="AutoShape 9">
              <a:extLst>
                <a:ext uri="{FF2B5EF4-FFF2-40B4-BE49-F238E27FC236}">
                  <a16:creationId xmlns:a16="http://schemas.microsoft.com/office/drawing/2014/main" id="{79FB64E1-3EC2-C028-6C96-CFD37AED296C}"/>
                </a:ext>
              </a:extLst>
            </p:cNvPr>
            <p:cNvSpPr>
              <a:spLocks noChangeArrowheads="1"/>
            </p:cNvSpPr>
            <p:nvPr/>
          </p:nvSpPr>
          <p:spPr bwMode="auto">
            <a:xfrm>
              <a:off x="1779225" y="298454"/>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8" name="Group 7">
              <a:extLst>
                <a:ext uri="{FF2B5EF4-FFF2-40B4-BE49-F238E27FC236}">
                  <a16:creationId xmlns:a16="http://schemas.microsoft.com/office/drawing/2014/main" id="{D1211650-977B-9EC5-49CC-3E9A9A5B2B11}"/>
                </a:ext>
              </a:extLst>
            </p:cNvPr>
            <p:cNvGrpSpPr/>
            <p:nvPr/>
          </p:nvGrpSpPr>
          <p:grpSpPr>
            <a:xfrm>
              <a:off x="838200" y="297639"/>
              <a:ext cx="4545330" cy="301303"/>
              <a:chOff x="838200" y="297639"/>
              <a:chExt cx="4545330" cy="301303"/>
            </a:xfrm>
          </p:grpSpPr>
          <p:grpSp>
            <p:nvGrpSpPr>
              <p:cNvPr id="9" name="Group 8">
                <a:extLst>
                  <a:ext uri="{FF2B5EF4-FFF2-40B4-BE49-F238E27FC236}">
                    <a16:creationId xmlns:a16="http://schemas.microsoft.com/office/drawing/2014/main" id="{2763C8F8-1817-50DB-FA17-31565A6FC0D1}"/>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28C87C84-C666-DA7E-428F-35313BD7976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6A9DD5BF-4E99-9384-A4C8-C761ACD8C3A5}"/>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DA9B60A7-620E-373B-6CF8-72CE151623F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10" name="TextBox 9">
                <a:extLst>
                  <a:ext uri="{FF2B5EF4-FFF2-40B4-BE49-F238E27FC236}">
                    <a16:creationId xmlns:a16="http://schemas.microsoft.com/office/drawing/2014/main" id="{BADE92BD-4497-A318-87C0-4849A561368E}"/>
                  </a:ext>
                </a:extLst>
              </p:cNvPr>
              <p:cNvSpPr txBox="1"/>
              <p:nvPr/>
            </p:nvSpPr>
            <p:spPr>
              <a:xfrm>
                <a:off x="2190452" y="307580"/>
                <a:ext cx="31930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Standard Work Documentation</a:t>
                </a:r>
              </a:p>
            </p:txBody>
          </p:sp>
        </p:grpSp>
      </p:grpSp>
      <p:grpSp>
        <p:nvGrpSpPr>
          <p:cNvPr id="22" name="Group 21">
            <a:extLst>
              <a:ext uri="{FF2B5EF4-FFF2-40B4-BE49-F238E27FC236}">
                <a16:creationId xmlns:a16="http://schemas.microsoft.com/office/drawing/2014/main" id="{7C98BE84-F097-EB8A-388C-744F83DD9234}"/>
              </a:ext>
            </a:extLst>
          </p:cNvPr>
          <p:cNvGrpSpPr/>
          <p:nvPr/>
        </p:nvGrpSpPr>
        <p:grpSpPr>
          <a:xfrm>
            <a:off x="685800" y="2651919"/>
            <a:ext cx="5646420" cy="3282000"/>
            <a:chOff x="547688" y="2149475"/>
            <a:chExt cx="5059362" cy="2690813"/>
          </a:xfrm>
        </p:grpSpPr>
        <p:sp>
          <p:nvSpPr>
            <p:cNvPr id="14" name="AutoShape 160">
              <a:extLst>
                <a:ext uri="{FF2B5EF4-FFF2-40B4-BE49-F238E27FC236}">
                  <a16:creationId xmlns:a16="http://schemas.microsoft.com/office/drawing/2014/main" id="{55AFFB20-10E7-C368-32BC-887CF8DC3AF4}"/>
                </a:ext>
              </a:extLst>
            </p:cNvPr>
            <p:cNvSpPr>
              <a:spLocks noChangeArrowheads="1"/>
            </p:cNvSpPr>
            <p:nvPr/>
          </p:nvSpPr>
          <p:spPr bwMode="auto">
            <a:xfrm rot="5400000" flipH="1">
              <a:off x="1387475" y="2935288"/>
              <a:ext cx="1828800" cy="1981200"/>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2147483646 w 21600"/>
                <a:gd name="T9" fmla="*/ 2147483646 h 21600"/>
                <a:gd name="T10" fmla="*/ 2147483646 w 21600"/>
                <a:gd name="T11" fmla="*/ 2147483646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chemeClr val="accent1"/>
            </a:solidFill>
            <a:ln w="9525">
              <a:solidFill>
                <a:schemeClr val="tx1"/>
              </a:solidFill>
              <a:miter lim="800000"/>
              <a:headEnd/>
              <a:tailEnd/>
            </a:ln>
          </p:spPr>
          <p:txBody>
            <a:bodyPr rot="10800000" vert="eaVert" wrap="none" anchor="ctr"/>
            <a:lstStyle/>
            <a:p>
              <a:endParaRPr lang="en-US"/>
            </a:p>
          </p:txBody>
        </p:sp>
        <p:pic>
          <p:nvPicPr>
            <p:cNvPr id="15" name="Picture 155" descr="std work sheet b">
              <a:extLst>
                <a:ext uri="{FF2B5EF4-FFF2-40B4-BE49-F238E27FC236}">
                  <a16:creationId xmlns:a16="http://schemas.microsoft.com/office/drawing/2014/main" id="{686DCD9F-EC00-309C-3902-BF9FCF53D6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7688" y="3722688"/>
              <a:ext cx="1449387" cy="1049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AutoShape 156">
              <a:extLst>
                <a:ext uri="{FF2B5EF4-FFF2-40B4-BE49-F238E27FC236}">
                  <a16:creationId xmlns:a16="http://schemas.microsoft.com/office/drawing/2014/main" id="{F0F0D77A-E405-89E7-CA1A-4BC08E1F1C13}"/>
                </a:ext>
              </a:extLst>
            </p:cNvPr>
            <p:cNvSpPr>
              <a:spLocks noChangeArrowheads="1"/>
            </p:cNvSpPr>
            <p:nvPr/>
          </p:nvSpPr>
          <p:spPr bwMode="auto">
            <a:xfrm>
              <a:off x="3140075" y="3533775"/>
              <a:ext cx="2466975" cy="1135063"/>
            </a:xfrm>
            <a:prstGeom prst="leftArrowCallout">
              <a:avLst>
                <a:gd name="adj1" fmla="val 25000"/>
                <a:gd name="adj2" fmla="val 25000"/>
                <a:gd name="adj3" fmla="val 46668"/>
                <a:gd name="adj4" fmla="val 66667"/>
              </a:avLst>
            </a:prstGeom>
            <a:solidFill>
              <a:schemeClr val="bg1"/>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1200">
                <a:solidFill>
                  <a:schemeClr val="bg1"/>
                </a:solidFill>
              </a:endParaRPr>
            </a:p>
          </p:txBody>
        </p:sp>
        <p:pic>
          <p:nvPicPr>
            <p:cNvPr id="17" name="Picture 151" descr="std work sheet">
              <a:extLst>
                <a:ext uri="{FF2B5EF4-FFF2-40B4-BE49-F238E27FC236}">
                  <a16:creationId xmlns:a16="http://schemas.microsoft.com/office/drawing/2014/main" id="{1957CAE9-69B7-4D65-4E1A-5D8CBF5A6AD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41763" y="3605213"/>
              <a:ext cx="1628775" cy="106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8" name="Object 158">
              <a:extLst>
                <a:ext uri="{FF2B5EF4-FFF2-40B4-BE49-F238E27FC236}">
                  <a16:creationId xmlns:a16="http://schemas.microsoft.com/office/drawing/2014/main" id="{E0346F9E-6392-6794-3D0B-36FC3D3D88DC}"/>
                </a:ext>
              </a:extLst>
            </p:cNvPr>
            <p:cNvGraphicFramePr>
              <a:graphicFrameLocks noChangeAspect="1"/>
            </p:cNvGraphicFramePr>
            <p:nvPr>
              <p:extLst>
                <p:ext uri="{D42A27DB-BD31-4B8C-83A1-F6EECF244321}">
                  <p14:modId xmlns:p14="http://schemas.microsoft.com/office/powerpoint/2010/main" val="1577098621"/>
                </p:ext>
              </p:extLst>
            </p:nvPr>
          </p:nvGraphicFramePr>
          <p:xfrm>
            <a:off x="2795588" y="2149475"/>
            <a:ext cx="2747962" cy="858838"/>
          </p:xfrm>
          <a:graphic>
            <a:graphicData uri="http://schemas.openxmlformats.org/presentationml/2006/ole">
              <mc:AlternateContent xmlns:mc="http://schemas.openxmlformats.org/markup-compatibility/2006">
                <mc:Choice xmlns:v="urn:schemas-microsoft-com:vml" Requires="v">
                  <p:oleObj name="Worksheet" r:id="rId5" imgW="5833872" imgH="1822704" progId="Excel.Sheet.8">
                    <p:embed/>
                  </p:oleObj>
                </mc:Choice>
                <mc:Fallback>
                  <p:oleObj name="Worksheet" r:id="rId5" imgW="5833872" imgH="1822704" progId="Excel.Sheet.8">
                    <p:embed/>
                    <p:pic>
                      <p:nvPicPr>
                        <p:cNvPr id="107534" name="Object 158">
                          <a:extLst>
                            <a:ext uri="{FF2B5EF4-FFF2-40B4-BE49-F238E27FC236}">
                              <a16:creationId xmlns:a16="http://schemas.microsoft.com/office/drawing/2014/main" id="{20F7299C-B860-4C4B-6403-BA0000DD437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95588" y="2149475"/>
                          <a:ext cx="2747962" cy="85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9" name="Picture 25" descr="icon">
              <a:extLst>
                <a:ext uri="{FF2B5EF4-FFF2-40B4-BE49-F238E27FC236}">
                  <a16:creationId xmlns:a16="http://schemas.microsoft.com/office/drawing/2014/main" id="{1E335B1D-973F-A92A-687E-5D452167CB65}"/>
                </a:ext>
              </a:extLst>
            </p:cNvPr>
            <p:cNvPicPr>
              <a:picLocks noChangeAspect="1" noChangeArrowheads="1"/>
            </p:cNvPicPr>
            <p:nvPr/>
          </p:nvPicPr>
          <p:blipFill>
            <a:blip r:embed="rId7">
              <a:extLst>
                <a:ext uri="{BEBA8EAE-BF5A-486C-A8C5-ECC9F3942E4B}">
                  <a14:imgProps xmlns:a14="http://schemas.microsoft.com/office/drawing/2010/main">
                    <a14:imgLayer r:embed="rId8">
                      <a14:imgEffect>
                        <a14:backgroundRemoval t="2667" b="88000" l="7143" r="91837">
                          <a14:foregroundMark x1="72449" y1="2667" x2="84694" y2="33333"/>
                          <a14:foregroundMark x1="91837" y1="50667" x2="91837" y2="50667"/>
                          <a14:foregroundMark x1="7143" y1="54667" x2="7143" y2="54667"/>
                        </a14:backgroundRemoval>
                      </a14:imgEffect>
                    </a14:imgLayer>
                  </a14:imgProps>
                </a:ext>
                <a:ext uri="{28A0092B-C50C-407E-A947-70E740481C1C}">
                  <a14:useLocalDpi xmlns:a14="http://schemas.microsoft.com/office/drawing/2010/main" val="0"/>
                </a:ext>
              </a:extLst>
            </a:blip>
            <a:srcRect/>
            <a:stretch>
              <a:fillRect/>
            </a:stretch>
          </p:blipFill>
          <p:spPr bwMode="auto">
            <a:xfrm>
              <a:off x="2436813" y="3076575"/>
              <a:ext cx="663575"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3" name="Picture 25" descr="icon">
            <a:extLst>
              <a:ext uri="{FF2B5EF4-FFF2-40B4-BE49-F238E27FC236}">
                <a16:creationId xmlns:a16="http://schemas.microsoft.com/office/drawing/2014/main" id="{C03ED5E1-7E92-7A91-DF51-E67A25F49082}"/>
              </a:ext>
            </a:extLst>
          </p:cNvPr>
          <p:cNvPicPr>
            <a:picLocks noChangeAspect="1" noChangeArrowheads="1"/>
          </p:cNvPicPr>
          <p:nvPr/>
        </p:nvPicPr>
        <p:blipFill>
          <a:blip r:embed="rId7">
            <a:extLst>
              <a:ext uri="{BEBA8EAE-BF5A-486C-A8C5-ECC9F3942E4B}">
                <a14:imgProps xmlns:a14="http://schemas.microsoft.com/office/drawing/2010/main">
                  <a14:imgLayer r:embed="rId8">
                    <a14:imgEffect>
                      <a14:backgroundRemoval t="2667" b="88000" l="7143" r="91837">
                        <a14:foregroundMark x1="72449" y1="2667" x2="84694" y2="33333"/>
                        <a14:foregroundMark x1="91837" y1="50667" x2="91837" y2="50667"/>
                        <a14:foregroundMark x1="7143" y1="54667" x2="7143" y2="54667"/>
                      </a14:backgroundRemoval>
                    </a14:imgEffect>
                  </a14:imgLayer>
                </a14:imgProps>
              </a:ext>
              <a:ext uri="{28A0092B-C50C-407E-A947-70E740481C1C}">
                <a14:useLocalDpi xmlns:a14="http://schemas.microsoft.com/office/drawing/2010/main" val="0"/>
              </a:ext>
            </a:extLst>
          </a:blip>
          <a:srcRect/>
          <a:stretch>
            <a:fillRect/>
          </a:stretch>
        </p:blipFill>
        <p:spPr bwMode="auto">
          <a:xfrm>
            <a:off x="2957958" y="4679963"/>
            <a:ext cx="740572" cy="619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Picture 25" descr="icon">
            <a:extLst>
              <a:ext uri="{FF2B5EF4-FFF2-40B4-BE49-F238E27FC236}">
                <a16:creationId xmlns:a16="http://schemas.microsoft.com/office/drawing/2014/main" id="{33773B75-5BCF-05F6-712F-DF91DDEB0553}"/>
              </a:ext>
            </a:extLst>
          </p:cNvPr>
          <p:cNvPicPr>
            <a:picLocks noChangeAspect="1" noChangeArrowheads="1"/>
          </p:cNvPicPr>
          <p:nvPr/>
        </p:nvPicPr>
        <p:blipFill>
          <a:blip r:embed="rId7">
            <a:extLst>
              <a:ext uri="{BEBA8EAE-BF5A-486C-A8C5-ECC9F3942E4B}">
                <a14:imgProps xmlns:a14="http://schemas.microsoft.com/office/drawing/2010/main">
                  <a14:imgLayer r:embed="rId8">
                    <a14:imgEffect>
                      <a14:backgroundRemoval t="2667" b="88000" l="7143" r="91837">
                        <a14:foregroundMark x1="72449" y1="2667" x2="84694" y2="33333"/>
                        <a14:foregroundMark x1="91837" y1="50667" x2="91837" y2="50667"/>
                        <a14:foregroundMark x1="7143" y1="54667" x2="7143" y2="54667"/>
                      </a14:backgroundRemoval>
                    </a14:imgEffect>
                  </a14:imgLayer>
                </a14:imgProps>
              </a:ext>
              <a:ext uri="{28A0092B-C50C-407E-A947-70E740481C1C}">
                <a14:useLocalDpi xmlns:a14="http://schemas.microsoft.com/office/drawing/2010/main" val="0"/>
              </a:ext>
            </a:extLst>
          </a:blip>
          <a:srcRect/>
          <a:stretch>
            <a:fillRect/>
          </a:stretch>
        </p:blipFill>
        <p:spPr bwMode="auto">
          <a:xfrm>
            <a:off x="2686020" y="5267339"/>
            <a:ext cx="740572" cy="619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155469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Playbook</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52</a:t>
            </a:fld>
            <a:endParaRPr lang="en-US"/>
          </a:p>
        </p:txBody>
      </p:sp>
      <p:grpSp>
        <p:nvGrpSpPr>
          <p:cNvPr id="3" name="Group 2">
            <a:extLst>
              <a:ext uri="{FF2B5EF4-FFF2-40B4-BE49-F238E27FC236}">
                <a16:creationId xmlns:a16="http://schemas.microsoft.com/office/drawing/2014/main" id="{0F8E94FB-A7D4-59CD-8F48-F51939E0999F}"/>
              </a:ext>
            </a:extLst>
          </p:cNvPr>
          <p:cNvGrpSpPr/>
          <p:nvPr/>
        </p:nvGrpSpPr>
        <p:grpSpPr>
          <a:xfrm>
            <a:off x="838200" y="297639"/>
            <a:ext cx="4545330" cy="301303"/>
            <a:chOff x="838200" y="297639"/>
            <a:chExt cx="4545330" cy="301303"/>
          </a:xfrm>
        </p:grpSpPr>
        <p:sp>
          <p:nvSpPr>
            <p:cNvPr id="5" name="AutoShape 9">
              <a:extLst>
                <a:ext uri="{FF2B5EF4-FFF2-40B4-BE49-F238E27FC236}">
                  <a16:creationId xmlns:a16="http://schemas.microsoft.com/office/drawing/2014/main" id="{A165E689-2EEE-79DE-BD54-FD401BDB7D73}"/>
                </a:ext>
              </a:extLst>
            </p:cNvPr>
            <p:cNvSpPr>
              <a:spLocks noChangeArrowheads="1"/>
            </p:cNvSpPr>
            <p:nvPr/>
          </p:nvSpPr>
          <p:spPr bwMode="auto">
            <a:xfrm>
              <a:off x="1779225" y="298454"/>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6" name="Group 5">
              <a:extLst>
                <a:ext uri="{FF2B5EF4-FFF2-40B4-BE49-F238E27FC236}">
                  <a16:creationId xmlns:a16="http://schemas.microsoft.com/office/drawing/2014/main" id="{B73423EC-4AF6-A049-7D0F-C62AC552AB3D}"/>
                </a:ext>
              </a:extLst>
            </p:cNvPr>
            <p:cNvGrpSpPr/>
            <p:nvPr/>
          </p:nvGrpSpPr>
          <p:grpSpPr>
            <a:xfrm>
              <a:off x="838200" y="297639"/>
              <a:ext cx="4545330" cy="301303"/>
              <a:chOff x="838200" y="297639"/>
              <a:chExt cx="4545330" cy="301303"/>
            </a:xfrm>
          </p:grpSpPr>
          <p:grpSp>
            <p:nvGrpSpPr>
              <p:cNvPr id="7" name="Group 6">
                <a:extLst>
                  <a:ext uri="{FF2B5EF4-FFF2-40B4-BE49-F238E27FC236}">
                    <a16:creationId xmlns:a16="http://schemas.microsoft.com/office/drawing/2014/main" id="{8ABFA839-419A-65D6-1008-358D67E6CE3B}"/>
                  </a:ext>
                </a:extLst>
              </p:cNvPr>
              <p:cNvGrpSpPr/>
              <p:nvPr/>
            </p:nvGrpSpPr>
            <p:grpSpPr>
              <a:xfrm>
                <a:off x="838200" y="297639"/>
                <a:ext cx="1060167" cy="290657"/>
                <a:chOff x="826426" y="4041857"/>
                <a:chExt cx="1060167" cy="290657"/>
              </a:xfrm>
            </p:grpSpPr>
            <p:sp>
              <p:nvSpPr>
                <p:cNvPr id="9" name="AutoShape 9">
                  <a:extLst>
                    <a:ext uri="{FF2B5EF4-FFF2-40B4-BE49-F238E27FC236}">
                      <a16:creationId xmlns:a16="http://schemas.microsoft.com/office/drawing/2014/main" id="{BC657085-6381-3383-53C1-9C5BA22908C5}"/>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0" name="AutoShape 11">
                  <a:extLst>
                    <a:ext uri="{FF2B5EF4-FFF2-40B4-BE49-F238E27FC236}">
                      <a16:creationId xmlns:a16="http://schemas.microsoft.com/office/drawing/2014/main" id="{3A44F5E7-4A3F-FD2C-38C4-060AF8878008}"/>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0">
                  <a:extLst>
                    <a:ext uri="{FF2B5EF4-FFF2-40B4-BE49-F238E27FC236}">
                      <a16:creationId xmlns:a16="http://schemas.microsoft.com/office/drawing/2014/main" id="{97E0C715-5368-EBFB-80FC-9D9E1631158B}"/>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8" name="TextBox 7">
                <a:extLst>
                  <a:ext uri="{FF2B5EF4-FFF2-40B4-BE49-F238E27FC236}">
                    <a16:creationId xmlns:a16="http://schemas.microsoft.com/office/drawing/2014/main" id="{57801F87-ACE8-3C34-2D2E-978BBAD0937F}"/>
                  </a:ext>
                </a:extLst>
              </p:cNvPr>
              <p:cNvSpPr txBox="1"/>
              <p:nvPr/>
            </p:nvSpPr>
            <p:spPr>
              <a:xfrm>
                <a:off x="2190452" y="307580"/>
                <a:ext cx="31930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Standard Work Documentation</a:t>
                </a:r>
              </a:p>
            </p:txBody>
          </p:sp>
        </p:grpSp>
      </p:grpSp>
      <p:graphicFrame>
        <p:nvGraphicFramePr>
          <p:cNvPr id="12" name="Group 55">
            <a:extLst>
              <a:ext uri="{FF2B5EF4-FFF2-40B4-BE49-F238E27FC236}">
                <a16:creationId xmlns:a16="http://schemas.microsoft.com/office/drawing/2014/main" id="{A2A6ED7C-71A1-B933-4D63-81CDB3EF7B5E}"/>
              </a:ext>
            </a:extLst>
          </p:cNvPr>
          <p:cNvGraphicFramePr>
            <a:graphicFrameLocks noGrp="1"/>
          </p:cNvGraphicFramePr>
          <p:nvPr>
            <p:extLst>
              <p:ext uri="{D42A27DB-BD31-4B8C-83A1-F6EECF244321}">
                <p14:modId xmlns:p14="http://schemas.microsoft.com/office/powerpoint/2010/main" val="2383713429"/>
              </p:ext>
            </p:extLst>
          </p:nvPr>
        </p:nvGraphicFramePr>
        <p:xfrm>
          <a:off x="2785933" y="1864535"/>
          <a:ext cx="6620135" cy="4294766"/>
        </p:xfrm>
        <a:graphic>
          <a:graphicData uri="http://schemas.openxmlformats.org/drawingml/2006/table">
            <a:tbl>
              <a:tblPr/>
              <a:tblGrid>
                <a:gridCol w="2206091">
                  <a:extLst>
                    <a:ext uri="{9D8B030D-6E8A-4147-A177-3AD203B41FA5}">
                      <a16:colId xmlns:a16="http://schemas.microsoft.com/office/drawing/2014/main" val="20000"/>
                    </a:ext>
                  </a:extLst>
                </a:gridCol>
                <a:gridCol w="2207953">
                  <a:extLst>
                    <a:ext uri="{9D8B030D-6E8A-4147-A177-3AD203B41FA5}">
                      <a16:colId xmlns:a16="http://schemas.microsoft.com/office/drawing/2014/main" val="20001"/>
                    </a:ext>
                  </a:extLst>
                </a:gridCol>
                <a:gridCol w="2206091">
                  <a:extLst>
                    <a:ext uri="{9D8B030D-6E8A-4147-A177-3AD203B41FA5}">
                      <a16:colId xmlns:a16="http://schemas.microsoft.com/office/drawing/2014/main" val="20002"/>
                    </a:ext>
                  </a:extLst>
                </a:gridCol>
              </a:tblGrid>
              <a:tr h="489725">
                <a:tc gridSpan="3">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bg1"/>
                          </a:solidFill>
                          <a:effectLst/>
                          <a:latin typeface="Roboto" panose="02000000000000000000" pitchFamily="2" charset="0"/>
                          <a:ea typeface="Roboto" panose="02000000000000000000" pitchFamily="2" charset="0"/>
                          <a:cs typeface="Arial" charset="0"/>
                        </a:rPr>
                        <a:t>Associate Play Book Matrix</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bg1"/>
                          </a:solidFill>
                          <a:effectLst/>
                          <a:latin typeface="Roboto" panose="02000000000000000000" pitchFamily="2" charset="0"/>
                          <a:ea typeface="Roboto" panose="02000000000000000000" pitchFamily="2" charset="0"/>
                          <a:cs typeface="Arial" charset="0"/>
                        </a:rPr>
                        <a:t>(For all incoming paper based applications)</a:t>
                      </a:r>
                    </a:p>
                  </a:txBody>
                  <a:tcPr marT="45727" marB="4572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897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charset="0"/>
                        </a:rPr>
                        <a:t>Maximum</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charset="0"/>
                        </a:rPr>
                        <a:t>Applications</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charset="0"/>
                        </a:rPr>
                        <a:t>Minimum</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charset="0"/>
                        </a:rPr>
                        <a:t>Applications</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charset="0"/>
                        </a:rPr>
                        <a:t>Associates</a:t>
                      </a:r>
                    </a:p>
                  </a:txBody>
                  <a:tcPr marT="45727" marB="4572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46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charset="0"/>
                        </a:rPr>
                        <a:t>1,200</a:t>
                      </a: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charset="0"/>
                        </a:rPr>
                        <a:t>1,001</a:t>
                      </a: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charset="0"/>
                        </a:rPr>
                        <a:t>14</a:t>
                      </a:r>
                    </a:p>
                  </a:txBody>
                  <a:tcPr marT="45727" marB="4572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46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charset="0"/>
                        </a:rPr>
                        <a:t>1,000</a:t>
                      </a: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charset="0"/>
                        </a:rPr>
                        <a:t>801</a:t>
                      </a: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charset="0"/>
                        </a:rPr>
                        <a:t>12</a:t>
                      </a:r>
                    </a:p>
                  </a:txBody>
                  <a:tcPr marT="45727" marB="4572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646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charset="0"/>
                        </a:rPr>
                        <a:t>800</a:t>
                      </a: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charset="0"/>
                        </a:rPr>
                        <a:t>601</a:t>
                      </a: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charset="0"/>
                        </a:rPr>
                        <a:t>10</a:t>
                      </a:r>
                    </a:p>
                  </a:txBody>
                  <a:tcPr marT="45727" marB="4572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784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charset="0"/>
                        </a:rPr>
                        <a:t>600</a:t>
                      </a: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charset="0"/>
                        </a:rPr>
                        <a:t>401</a:t>
                      </a: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charset="0"/>
                        </a:rPr>
                        <a:t>7</a:t>
                      </a:r>
                    </a:p>
                  </a:txBody>
                  <a:tcPr marT="45727" marB="4572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9646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charset="0"/>
                        </a:rPr>
                        <a:t>400</a:t>
                      </a: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charset="0"/>
                        </a:rPr>
                        <a:t>201</a:t>
                      </a: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charset="0"/>
                        </a:rPr>
                        <a:t>5</a:t>
                      </a:r>
                    </a:p>
                  </a:txBody>
                  <a:tcPr marT="45727" marB="4572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9646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charset="0"/>
                        </a:rPr>
                        <a:t>200</a:t>
                      </a: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charset="0"/>
                        </a:rPr>
                        <a:t>101</a:t>
                      </a: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charset="0"/>
                        </a:rPr>
                        <a:t>3</a:t>
                      </a:r>
                    </a:p>
                  </a:txBody>
                  <a:tcPr marT="45727" marB="4572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9646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charset="0"/>
                        </a:rPr>
                        <a:t>100</a:t>
                      </a: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charset="0"/>
                        </a:rPr>
                        <a:t>51</a:t>
                      </a: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charset="0"/>
                        </a:rPr>
                        <a:t>2</a:t>
                      </a:r>
                    </a:p>
                  </a:txBody>
                  <a:tcPr marT="45727" marB="4572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9646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charset="0"/>
                        </a:rPr>
                        <a:t>50</a:t>
                      </a: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charset="0"/>
                        </a:rPr>
                        <a:t>1</a:t>
                      </a: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charset="0"/>
                        </a:rPr>
                        <a:t>1</a:t>
                      </a:r>
                    </a:p>
                  </a:txBody>
                  <a:tcPr marT="45727" marB="4572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47914392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dirty="0"/>
              <a:t>Standard Work Sheet</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Details the work sequence of Associate visually</a:t>
            </a:r>
          </a:p>
          <a:p>
            <a:r>
              <a:rPr lang="en-US" dirty="0"/>
              <a:t>Shows the Associate’s work sequence in respect to the physical work area</a:t>
            </a:r>
          </a:p>
          <a:p>
            <a:r>
              <a:rPr lang="en-US" dirty="0"/>
              <a:t>Highlights Standard WIP requirements, inspect, and safety precautions</a:t>
            </a:r>
          </a:p>
          <a:p>
            <a:r>
              <a:rPr lang="en-US" dirty="0"/>
              <a:t>Useful in visually detailing Associate assignments</a:t>
            </a:r>
          </a:p>
          <a:p>
            <a:r>
              <a:rPr lang="en-US" dirty="0"/>
              <a:t>Also used as an audit tool for supervisors</a:t>
            </a:r>
          </a:p>
          <a:p>
            <a:r>
              <a:rPr lang="en-US" dirty="0"/>
              <a:t>Helpful when new Associates are assigned to the work area</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53</a:t>
            </a:fld>
            <a:endParaRPr lang="en-US"/>
          </a:p>
        </p:txBody>
      </p:sp>
      <p:grpSp>
        <p:nvGrpSpPr>
          <p:cNvPr id="4" name="Group 3">
            <a:extLst>
              <a:ext uri="{FF2B5EF4-FFF2-40B4-BE49-F238E27FC236}">
                <a16:creationId xmlns:a16="http://schemas.microsoft.com/office/drawing/2014/main" id="{68B43806-C085-B892-8E50-7696A18CD9F0}"/>
              </a:ext>
            </a:extLst>
          </p:cNvPr>
          <p:cNvGrpSpPr/>
          <p:nvPr/>
        </p:nvGrpSpPr>
        <p:grpSpPr>
          <a:xfrm>
            <a:off x="838200" y="297639"/>
            <a:ext cx="4545330" cy="301303"/>
            <a:chOff x="838200" y="297639"/>
            <a:chExt cx="4545330" cy="301303"/>
          </a:xfrm>
        </p:grpSpPr>
        <p:sp>
          <p:nvSpPr>
            <p:cNvPr id="6" name="AutoShape 9">
              <a:extLst>
                <a:ext uri="{FF2B5EF4-FFF2-40B4-BE49-F238E27FC236}">
                  <a16:creationId xmlns:a16="http://schemas.microsoft.com/office/drawing/2014/main" id="{0B27A768-EE8C-8FFD-7782-F5A549A977AA}"/>
                </a:ext>
              </a:extLst>
            </p:cNvPr>
            <p:cNvSpPr>
              <a:spLocks noChangeArrowheads="1"/>
            </p:cNvSpPr>
            <p:nvPr/>
          </p:nvSpPr>
          <p:spPr bwMode="auto">
            <a:xfrm>
              <a:off x="1779225" y="298454"/>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7" name="Group 6">
              <a:extLst>
                <a:ext uri="{FF2B5EF4-FFF2-40B4-BE49-F238E27FC236}">
                  <a16:creationId xmlns:a16="http://schemas.microsoft.com/office/drawing/2014/main" id="{663992D9-BF0C-A952-1DDD-B669A9932737}"/>
                </a:ext>
              </a:extLst>
            </p:cNvPr>
            <p:cNvGrpSpPr/>
            <p:nvPr/>
          </p:nvGrpSpPr>
          <p:grpSpPr>
            <a:xfrm>
              <a:off x="838200" y="297639"/>
              <a:ext cx="4545330" cy="301303"/>
              <a:chOff x="838200" y="297639"/>
              <a:chExt cx="4545330" cy="301303"/>
            </a:xfrm>
          </p:grpSpPr>
          <p:grpSp>
            <p:nvGrpSpPr>
              <p:cNvPr id="8" name="Group 7">
                <a:extLst>
                  <a:ext uri="{FF2B5EF4-FFF2-40B4-BE49-F238E27FC236}">
                    <a16:creationId xmlns:a16="http://schemas.microsoft.com/office/drawing/2014/main" id="{3D989A41-542C-35CD-AF4A-CB43CD262BD5}"/>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056BF4DA-50EB-E510-F1A7-DA29C2D84C6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711F63DC-1CB9-178B-C803-D3EAFF7E308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B75C5D4F-D63F-B68C-2CD1-F542E984CD7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9" name="TextBox 8">
                <a:extLst>
                  <a:ext uri="{FF2B5EF4-FFF2-40B4-BE49-F238E27FC236}">
                    <a16:creationId xmlns:a16="http://schemas.microsoft.com/office/drawing/2014/main" id="{0E3936B2-5343-B810-B777-5AD66D5FB9C6}"/>
                  </a:ext>
                </a:extLst>
              </p:cNvPr>
              <p:cNvSpPr txBox="1"/>
              <p:nvPr/>
            </p:nvSpPr>
            <p:spPr>
              <a:xfrm>
                <a:off x="2190452" y="307580"/>
                <a:ext cx="31930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Standard Work Documentation</a:t>
                </a:r>
              </a:p>
            </p:txBody>
          </p:sp>
        </p:grpSp>
      </p:grpSp>
    </p:spTree>
    <p:extLst>
      <p:ext uri="{BB962C8B-B14F-4D97-AF65-F5344CB8AC3E}">
        <p14:creationId xmlns:p14="http://schemas.microsoft.com/office/powerpoint/2010/main" val="45845929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Standard Work Sheet </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54</a:t>
            </a:fld>
            <a:endParaRPr lang="en-US"/>
          </a:p>
        </p:txBody>
      </p:sp>
      <p:grpSp>
        <p:nvGrpSpPr>
          <p:cNvPr id="3" name="Group 2">
            <a:extLst>
              <a:ext uri="{FF2B5EF4-FFF2-40B4-BE49-F238E27FC236}">
                <a16:creationId xmlns:a16="http://schemas.microsoft.com/office/drawing/2014/main" id="{0F8E94FB-A7D4-59CD-8F48-F51939E0999F}"/>
              </a:ext>
            </a:extLst>
          </p:cNvPr>
          <p:cNvGrpSpPr/>
          <p:nvPr/>
        </p:nvGrpSpPr>
        <p:grpSpPr>
          <a:xfrm>
            <a:off x="838200" y="297639"/>
            <a:ext cx="4545330" cy="301303"/>
            <a:chOff x="838200" y="297639"/>
            <a:chExt cx="4545330" cy="301303"/>
          </a:xfrm>
        </p:grpSpPr>
        <p:sp>
          <p:nvSpPr>
            <p:cNvPr id="5" name="AutoShape 9">
              <a:extLst>
                <a:ext uri="{FF2B5EF4-FFF2-40B4-BE49-F238E27FC236}">
                  <a16:creationId xmlns:a16="http://schemas.microsoft.com/office/drawing/2014/main" id="{A165E689-2EEE-79DE-BD54-FD401BDB7D73}"/>
                </a:ext>
              </a:extLst>
            </p:cNvPr>
            <p:cNvSpPr>
              <a:spLocks noChangeArrowheads="1"/>
            </p:cNvSpPr>
            <p:nvPr/>
          </p:nvSpPr>
          <p:spPr bwMode="auto">
            <a:xfrm>
              <a:off x="1779225" y="298454"/>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6" name="Group 5">
              <a:extLst>
                <a:ext uri="{FF2B5EF4-FFF2-40B4-BE49-F238E27FC236}">
                  <a16:creationId xmlns:a16="http://schemas.microsoft.com/office/drawing/2014/main" id="{B73423EC-4AF6-A049-7D0F-C62AC552AB3D}"/>
                </a:ext>
              </a:extLst>
            </p:cNvPr>
            <p:cNvGrpSpPr/>
            <p:nvPr/>
          </p:nvGrpSpPr>
          <p:grpSpPr>
            <a:xfrm>
              <a:off x="838200" y="297639"/>
              <a:ext cx="4545330" cy="301303"/>
              <a:chOff x="838200" y="297639"/>
              <a:chExt cx="4545330" cy="301303"/>
            </a:xfrm>
          </p:grpSpPr>
          <p:grpSp>
            <p:nvGrpSpPr>
              <p:cNvPr id="7" name="Group 6">
                <a:extLst>
                  <a:ext uri="{FF2B5EF4-FFF2-40B4-BE49-F238E27FC236}">
                    <a16:creationId xmlns:a16="http://schemas.microsoft.com/office/drawing/2014/main" id="{8ABFA839-419A-65D6-1008-358D67E6CE3B}"/>
                  </a:ext>
                </a:extLst>
              </p:cNvPr>
              <p:cNvGrpSpPr/>
              <p:nvPr/>
            </p:nvGrpSpPr>
            <p:grpSpPr>
              <a:xfrm>
                <a:off x="838200" y="297639"/>
                <a:ext cx="1060167" cy="290657"/>
                <a:chOff x="826426" y="4041857"/>
                <a:chExt cx="1060167" cy="290657"/>
              </a:xfrm>
            </p:grpSpPr>
            <p:sp>
              <p:nvSpPr>
                <p:cNvPr id="9" name="AutoShape 9">
                  <a:extLst>
                    <a:ext uri="{FF2B5EF4-FFF2-40B4-BE49-F238E27FC236}">
                      <a16:creationId xmlns:a16="http://schemas.microsoft.com/office/drawing/2014/main" id="{BC657085-6381-3383-53C1-9C5BA22908C5}"/>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0" name="AutoShape 11">
                  <a:extLst>
                    <a:ext uri="{FF2B5EF4-FFF2-40B4-BE49-F238E27FC236}">
                      <a16:creationId xmlns:a16="http://schemas.microsoft.com/office/drawing/2014/main" id="{3A44F5E7-4A3F-FD2C-38C4-060AF8878008}"/>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0">
                  <a:extLst>
                    <a:ext uri="{FF2B5EF4-FFF2-40B4-BE49-F238E27FC236}">
                      <a16:creationId xmlns:a16="http://schemas.microsoft.com/office/drawing/2014/main" id="{97E0C715-5368-EBFB-80FC-9D9E1631158B}"/>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8" name="TextBox 7">
                <a:extLst>
                  <a:ext uri="{FF2B5EF4-FFF2-40B4-BE49-F238E27FC236}">
                    <a16:creationId xmlns:a16="http://schemas.microsoft.com/office/drawing/2014/main" id="{57801F87-ACE8-3C34-2D2E-978BBAD0937F}"/>
                  </a:ext>
                </a:extLst>
              </p:cNvPr>
              <p:cNvSpPr txBox="1"/>
              <p:nvPr/>
            </p:nvSpPr>
            <p:spPr>
              <a:xfrm>
                <a:off x="2190452" y="307580"/>
                <a:ext cx="31930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Standard Work Documentation</a:t>
                </a:r>
              </a:p>
            </p:txBody>
          </p:sp>
        </p:grpSp>
      </p:grpSp>
      <p:pic>
        <p:nvPicPr>
          <p:cNvPr id="13" name="Picture 3">
            <a:extLst>
              <a:ext uri="{FF2B5EF4-FFF2-40B4-BE49-F238E27FC236}">
                <a16:creationId xmlns:a16="http://schemas.microsoft.com/office/drawing/2014/main" id="{B4F39966-5569-1CA2-5153-2686857495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8772" y="1808240"/>
            <a:ext cx="7674457" cy="4407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6227478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dirty="0"/>
              <a:t>Associate Loading Chart</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Details the process time for Associates</a:t>
            </a:r>
          </a:p>
          <a:p>
            <a:r>
              <a:rPr lang="en-US" dirty="0"/>
              <a:t>Compares Associate process times to TAKT time</a:t>
            </a:r>
          </a:p>
          <a:p>
            <a:r>
              <a:rPr lang="en-US" dirty="0"/>
              <a:t>Allows supervisor to understand manning requirements at a glance</a:t>
            </a:r>
          </a:p>
          <a:p>
            <a:r>
              <a:rPr lang="en-US" dirty="0"/>
              <a:t>Facilitates the kaizen opportunities that may exist</a:t>
            </a:r>
          </a:p>
          <a:p>
            <a:r>
              <a:rPr lang="en-US" dirty="0"/>
              <a:t>Incorporates “Least Associate” concept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55</a:t>
            </a:fld>
            <a:endParaRPr lang="en-US"/>
          </a:p>
        </p:txBody>
      </p:sp>
      <p:grpSp>
        <p:nvGrpSpPr>
          <p:cNvPr id="4" name="Group 3">
            <a:extLst>
              <a:ext uri="{FF2B5EF4-FFF2-40B4-BE49-F238E27FC236}">
                <a16:creationId xmlns:a16="http://schemas.microsoft.com/office/drawing/2014/main" id="{68B43806-C085-B892-8E50-7696A18CD9F0}"/>
              </a:ext>
            </a:extLst>
          </p:cNvPr>
          <p:cNvGrpSpPr/>
          <p:nvPr/>
        </p:nvGrpSpPr>
        <p:grpSpPr>
          <a:xfrm>
            <a:off x="838200" y="297639"/>
            <a:ext cx="4545330" cy="301303"/>
            <a:chOff x="838200" y="297639"/>
            <a:chExt cx="4545330" cy="301303"/>
          </a:xfrm>
        </p:grpSpPr>
        <p:sp>
          <p:nvSpPr>
            <p:cNvPr id="6" name="AutoShape 9">
              <a:extLst>
                <a:ext uri="{FF2B5EF4-FFF2-40B4-BE49-F238E27FC236}">
                  <a16:creationId xmlns:a16="http://schemas.microsoft.com/office/drawing/2014/main" id="{0B27A768-EE8C-8FFD-7782-F5A549A977AA}"/>
                </a:ext>
              </a:extLst>
            </p:cNvPr>
            <p:cNvSpPr>
              <a:spLocks noChangeArrowheads="1"/>
            </p:cNvSpPr>
            <p:nvPr/>
          </p:nvSpPr>
          <p:spPr bwMode="auto">
            <a:xfrm>
              <a:off x="1779225" y="298454"/>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7" name="Group 6">
              <a:extLst>
                <a:ext uri="{FF2B5EF4-FFF2-40B4-BE49-F238E27FC236}">
                  <a16:creationId xmlns:a16="http://schemas.microsoft.com/office/drawing/2014/main" id="{663992D9-BF0C-A952-1DDD-B669A9932737}"/>
                </a:ext>
              </a:extLst>
            </p:cNvPr>
            <p:cNvGrpSpPr/>
            <p:nvPr/>
          </p:nvGrpSpPr>
          <p:grpSpPr>
            <a:xfrm>
              <a:off x="838200" y="297639"/>
              <a:ext cx="4545330" cy="301303"/>
              <a:chOff x="838200" y="297639"/>
              <a:chExt cx="4545330" cy="301303"/>
            </a:xfrm>
          </p:grpSpPr>
          <p:grpSp>
            <p:nvGrpSpPr>
              <p:cNvPr id="8" name="Group 7">
                <a:extLst>
                  <a:ext uri="{FF2B5EF4-FFF2-40B4-BE49-F238E27FC236}">
                    <a16:creationId xmlns:a16="http://schemas.microsoft.com/office/drawing/2014/main" id="{3D989A41-542C-35CD-AF4A-CB43CD262BD5}"/>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056BF4DA-50EB-E510-F1A7-DA29C2D84C6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711F63DC-1CB9-178B-C803-D3EAFF7E308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B75C5D4F-D63F-B68C-2CD1-F542E984CD7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9" name="TextBox 8">
                <a:extLst>
                  <a:ext uri="{FF2B5EF4-FFF2-40B4-BE49-F238E27FC236}">
                    <a16:creationId xmlns:a16="http://schemas.microsoft.com/office/drawing/2014/main" id="{0E3936B2-5343-B810-B777-5AD66D5FB9C6}"/>
                  </a:ext>
                </a:extLst>
              </p:cNvPr>
              <p:cNvSpPr txBox="1"/>
              <p:nvPr/>
            </p:nvSpPr>
            <p:spPr>
              <a:xfrm>
                <a:off x="2190452" y="307580"/>
                <a:ext cx="31930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Standard Work Documentation</a:t>
                </a:r>
              </a:p>
            </p:txBody>
          </p:sp>
        </p:grpSp>
      </p:grpSp>
    </p:spTree>
    <p:extLst>
      <p:ext uri="{BB962C8B-B14F-4D97-AF65-F5344CB8AC3E}">
        <p14:creationId xmlns:p14="http://schemas.microsoft.com/office/powerpoint/2010/main" val="291118288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dirty="0"/>
              <a:t>Associate Loading Chart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56</a:t>
            </a:fld>
            <a:endParaRPr lang="en-US"/>
          </a:p>
        </p:txBody>
      </p:sp>
      <p:grpSp>
        <p:nvGrpSpPr>
          <p:cNvPr id="4" name="Group 3">
            <a:extLst>
              <a:ext uri="{FF2B5EF4-FFF2-40B4-BE49-F238E27FC236}">
                <a16:creationId xmlns:a16="http://schemas.microsoft.com/office/drawing/2014/main" id="{68B43806-C085-B892-8E50-7696A18CD9F0}"/>
              </a:ext>
            </a:extLst>
          </p:cNvPr>
          <p:cNvGrpSpPr/>
          <p:nvPr/>
        </p:nvGrpSpPr>
        <p:grpSpPr>
          <a:xfrm>
            <a:off x="838200" y="297639"/>
            <a:ext cx="4545330" cy="301303"/>
            <a:chOff x="838200" y="297639"/>
            <a:chExt cx="4545330" cy="301303"/>
          </a:xfrm>
        </p:grpSpPr>
        <p:sp>
          <p:nvSpPr>
            <p:cNvPr id="6" name="AutoShape 9">
              <a:extLst>
                <a:ext uri="{FF2B5EF4-FFF2-40B4-BE49-F238E27FC236}">
                  <a16:creationId xmlns:a16="http://schemas.microsoft.com/office/drawing/2014/main" id="{0B27A768-EE8C-8FFD-7782-F5A549A977AA}"/>
                </a:ext>
              </a:extLst>
            </p:cNvPr>
            <p:cNvSpPr>
              <a:spLocks noChangeArrowheads="1"/>
            </p:cNvSpPr>
            <p:nvPr/>
          </p:nvSpPr>
          <p:spPr bwMode="auto">
            <a:xfrm>
              <a:off x="1779225" y="298454"/>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7" name="Group 6">
              <a:extLst>
                <a:ext uri="{FF2B5EF4-FFF2-40B4-BE49-F238E27FC236}">
                  <a16:creationId xmlns:a16="http://schemas.microsoft.com/office/drawing/2014/main" id="{663992D9-BF0C-A952-1DDD-B669A9932737}"/>
                </a:ext>
              </a:extLst>
            </p:cNvPr>
            <p:cNvGrpSpPr/>
            <p:nvPr/>
          </p:nvGrpSpPr>
          <p:grpSpPr>
            <a:xfrm>
              <a:off x="838200" y="297639"/>
              <a:ext cx="4545330" cy="301303"/>
              <a:chOff x="838200" y="297639"/>
              <a:chExt cx="4545330" cy="301303"/>
            </a:xfrm>
          </p:grpSpPr>
          <p:grpSp>
            <p:nvGrpSpPr>
              <p:cNvPr id="8" name="Group 7">
                <a:extLst>
                  <a:ext uri="{FF2B5EF4-FFF2-40B4-BE49-F238E27FC236}">
                    <a16:creationId xmlns:a16="http://schemas.microsoft.com/office/drawing/2014/main" id="{3D989A41-542C-35CD-AF4A-CB43CD262BD5}"/>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056BF4DA-50EB-E510-F1A7-DA29C2D84C6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711F63DC-1CB9-178B-C803-D3EAFF7E308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B75C5D4F-D63F-B68C-2CD1-F542E984CD7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9" name="TextBox 8">
                <a:extLst>
                  <a:ext uri="{FF2B5EF4-FFF2-40B4-BE49-F238E27FC236}">
                    <a16:creationId xmlns:a16="http://schemas.microsoft.com/office/drawing/2014/main" id="{0E3936B2-5343-B810-B777-5AD66D5FB9C6}"/>
                  </a:ext>
                </a:extLst>
              </p:cNvPr>
              <p:cNvSpPr txBox="1"/>
              <p:nvPr/>
            </p:nvSpPr>
            <p:spPr>
              <a:xfrm>
                <a:off x="2190452" y="307580"/>
                <a:ext cx="31930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Standard Work Documentation</a:t>
                </a:r>
              </a:p>
            </p:txBody>
          </p:sp>
        </p:grpSp>
      </p:grpSp>
      <p:grpSp>
        <p:nvGrpSpPr>
          <p:cNvPr id="63" name="Group 62">
            <a:extLst>
              <a:ext uri="{FF2B5EF4-FFF2-40B4-BE49-F238E27FC236}">
                <a16:creationId xmlns:a16="http://schemas.microsoft.com/office/drawing/2014/main" id="{445359F8-725C-D6CB-BDF2-2C21DFA786D8}"/>
              </a:ext>
            </a:extLst>
          </p:cNvPr>
          <p:cNvGrpSpPr/>
          <p:nvPr/>
        </p:nvGrpSpPr>
        <p:grpSpPr>
          <a:xfrm>
            <a:off x="942340" y="1782615"/>
            <a:ext cx="9783480" cy="4592637"/>
            <a:chOff x="450850" y="1338263"/>
            <a:chExt cx="8202613" cy="4592637"/>
          </a:xfrm>
        </p:grpSpPr>
        <p:sp>
          <p:nvSpPr>
            <p:cNvPr id="15" name="Rectangle 3">
              <a:extLst>
                <a:ext uri="{FF2B5EF4-FFF2-40B4-BE49-F238E27FC236}">
                  <a16:creationId xmlns:a16="http://schemas.microsoft.com/office/drawing/2014/main" id="{FC35933B-8B44-D14C-BB17-3F1243E36A7A}"/>
                </a:ext>
              </a:extLst>
            </p:cNvPr>
            <p:cNvSpPr txBox="1">
              <a:spLocks noChangeArrowheads="1"/>
            </p:cNvSpPr>
            <p:nvPr/>
          </p:nvSpPr>
          <p:spPr>
            <a:xfrm>
              <a:off x="488950" y="1498600"/>
              <a:ext cx="8164513" cy="44323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en-US" altLang="en-US" sz="1800"/>
                <a:t> </a:t>
              </a:r>
            </a:p>
          </p:txBody>
        </p:sp>
        <p:sp>
          <p:nvSpPr>
            <p:cNvPr id="16" name="Line 65">
              <a:extLst>
                <a:ext uri="{FF2B5EF4-FFF2-40B4-BE49-F238E27FC236}">
                  <a16:creationId xmlns:a16="http://schemas.microsoft.com/office/drawing/2014/main" id="{7ECF95AC-5E99-BD49-596B-74CCE109B316}"/>
                </a:ext>
              </a:extLst>
            </p:cNvPr>
            <p:cNvSpPr>
              <a:spLocks noChangeShapeType="1"/>
            </p:cNvSpPr>
            <p:nvPr/>
          </p:nvSpPr>
          <p:spPr bwMode="auto">
            <a:xfrm>
              <a:off x="450850" y="1403350"/>
              <a:ext cx="0" cy="120491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7" name="Line 66">
              <a:extLst>
                <a:ext uri="{FF2B5EF4-FFF2-40B4-BE49-F238E27FC236}">
                  <a16:creationId xmlns:a16="http://schemas.microsoft.com/office/drawing/2014/main" id="{46D0BFB9-812E-AC93-3CFF-31A56D590DC9}"/>
                </a:ext>
              </a:extLst>
            </p:cNvPr>
            <p:cNvSpPr>
              <a:spLocks noChangeShapeType="1"/>
            </p:cNvSpPr>
            <p:nvPr/>
          </p:nvSpPr>
          <p:spPr bwMode="auto">
            <a:xfrm>
              <a:off x="455613" y="2609850"/>
              <a:ext cx="2449512"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8" name="Rectangle 67">
              <a:extLst>
                <a:ext uri="{FF2B5EF4-FFF2-40B4-BE49-F238E27FC236}">
                  <a16:creationId xmlns:a16="http://schemas.microsoft.com/office/drawing/2014/main" id="{F8B3621E-425F-1172-4B03-3562F8D923C6}"/>
                </a:ext>
              </a:extLst>
            </p:cNvPr>
            <p:cNvSpPr>
              <a:spLocks noChangeArrowheads="1"/>
            </p:cNvSpPr>
            <p:nvPr/>
          </p:nvSpPr>
          <p:spPr bwMode="auto">
            <a:xfrm>
              <a:off x="588963" y="1338263"/>
              <a:ext cx="322262" cy="126365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1200">
                <a:latin typeface="Roboto" panose="02000000000000000000" pitchFamily="2" charset="0"/>
                <a:ea typeface="Roboto" panose="02000000000000000000" pitchFamily="2" charset="0"/>
              </a:endParaRPr>
            </a:p>
          </p:txBody>
        </p:sp>
        <p:sp>
          <p:nvSpPr>
            <p:cNvPr id="19" name="Rectangle 68">
              <a:extLst>
                <a:ext uri="{FF2B5EF4-FFF2-40B4-BE49-F238E27FC236}">
                  <a16:creationId xmlns:a16="http://schemas.microsoft.com/office/drawing/2014/main" id="{AB021675-49B9-8943-9CCA-8DA5B534BC0D}"/>
                </a:ext>
              </a:extLst>
            </p:cNvPr>
            <p:cNvSpPr>
              <a:spLocks noChangeArrowheads="1"/>
            </p:cNvSpPr>
            <p:nvPr/>
          </p:nvSpPr>
          <p:spPr bwMode="auto">
            <a:xfrm>
              <a:off x="2555875" y="1646238"/>
              <a:ext cx="301625" cy="95726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1200">
                <a:latin typeface="Roboto" panose="02000000000000000000" pitchFamily="2" charset="0"/>
                <a:ea typeface="Roboto" panose="02000000000000000000" pitchFamily="2" charset="0"/>
              </a:endParaRPr>
            </a:p>
          </p:txBody>
        </p:sp>
        <p:sp>
          <p:nvSpPr>
            <p:cNvPr id="20" name="Rectangle 69">
              <a:extLst>
                <a:ext uri="{FF2B5EF4-FFF2-40B4-BE49-F238E27FC236}">
                  <a16:creationId xmlns:a16="http://schemas.microsoft.com/office/drawing/2014/main" id="{F057D38C-272F-A168-2B40-A547D8911D64}"/>
                </a:ext>
              </a:extLst>
            </p:cNvPr>
            <p:cNvSpPr>
              <a:spLocks noChangeArrowheads="1"/>
            </p:cNvSpPr>
            <p:nvPr/>
          </p:nvSpPr>
          <p:spPr bwMode="auto">
            <a:xfrm>
              <a:off x="2065338" y="2133600"/>
              <a:ext cx="323850" cy="461963"/>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1200">
                <a:latin typeface="Roboto" panose="02000000000000000000" pitchFamily="2" charset="0"/>
                <a:ea typeface="Roboto" panose="02000000000000000000" pitchFamily="2" charset="0"/>
              </a:endParaRPr>
            </a:p>
          </p:txBody>
        </p:sp>
        <p:sp>
          <p:nvSpPr>
            <p:cNvPr id="21" name="Rectangle 71">
              <a:extLst>
                <a:ext uri="{FF2B5EF4-FFF2-40B4-BE49-F238E27FC236}">
                  <a16:creationId xmlns:a16="http://schemas.microsoft.com/office/drawing/2014/main" id="{E7DE3812-7A21-E5C4-B0D8-B27ABD4BE7AD}"/>
                </a:ext>
              </a:extLst>
            </p:cNvPr>
            <p:cNvSpPr>
              <a:spLocks noChangeArrowheads="1"/>
            </p:cNvSpPr>
            <p:nvPr/>
          </p:nvSpPr>
          <p:spPr bwMode="auto">
            <a:xfrm>
              <a:off x="1074738" y="1738313"/>
              <a:ext cx="347662" cy="85725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1200">
                <a:latin typeface="Roboto" panose="02000000000000000000" pitchFamily="2" charset="0"/>
                <a:ea typeface="Roboto" panose="02000000000000000000" pitchFamily="2" charset="0"/>
              </a:endParaRPr>
            </a:p>
          </p:txBody>
        </p:sp>
        <p:sp>
          <p:nvSpPr>
            <p:cNvPr id="22" name="Rectangle 72">
              <a:extLst>
                <a:ext uri="{FF2B5EF4-FFF2-40B4-BE49-F238E27FC236}">
                  <a16:creationId xmlns:a16="http://schemas.microsoft.com/office/drawing/2014/main" id="{EAA80413-5EDE-DB97-52BE-4B5AB1268B56}"/>
                </a:ext>
              </a:extLst>
            </p:cNvPr>
            <p:cNvSpPr>
              <a:spLocks noChangeArrowheads="1"/>
            </p:cNvSpPr>
            <p:nvPr/>
          </p:nvSpPr>
          <p:spPr bwMode="auto">
            <a:xfrm>
              <a:off x="1108075" y="2365375"/>
              <a:ext cx="237885"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200">
                  <a:latin typeface="Roboto" panose="02000000000000000000" pitchFamily="2" charset="0"/>
                  <a:ea typeface="Roboto" panose="02000000000000000000" pitchFamily="2" charset="0"/>
                </a:rPr>
                <a:t>B</a:t>
              </a:r>
            </a:p>
          </p:txBody>
        </p:sp>
        <p:sp>
          <p:nvSpPr>
            <p:cNvPr id="23" name="Rectangle 73">
              <a:extLst>
                <a:ext uri="{FF2B5EF4-FFF2-40B4-BE49-F238E27FC236}">
                  <a16:creationId xmlns:a16="http://schemas.microsoft.com/office/drawing/2014/main" id="{7B01E37E-6B8D-4666-57D6-53B2A562E966}"/>
                </a:ext>
              </a:extLst>
            </p:cNvPr>
            <p:cNvSpPr>
              <a:spLocks noChangeArrowheads="1"/>
            </p:cNvSpPr>
            <p:nvPr/>
          </p:nvSpPr>
          <p:spPr bwMode="auto">
            <a:xfrm>
              <a:off x="1601788" y="2365375"/>
              <a:ext cx="240573"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200">
                  <a:latin typeface="Roboto" panose="02000000000000000000" pitchFamily="2" charset="0"/>
                  <a:ea typeface="Roboto" panose="02000000000000000000" pitchFamily="2" charset="0"/>
                </a:rPr>
                <a:t>C</a:t>
              </a:r>
            </a:p>
          </p:txBody>
        </p:sp>
        <p:sp>
          <p:nvSpPr>
            <p:cNvPr id="24" name="Rectangle 74">
              <a:extLst>
                <a:ext uri="{FF2B5EF4-FFF2-40B4-BE49-F238E27FC236}">
                  <a16:creationId xmlns:a16="http://schemas.microsoft.com/office/drawing/2014/main" id="{C4A950B2-D1D8-10C8-33BC-BF382FAAC0CA}"/>
                </a:ext>
              </a:extLst>
            </p:cNvPr>
            <p:cNvSpPr>
              <a:spLocks noChangeArrowheads="1"/>
            </p:cNvSpPr>
            <p:nvPr/>
          </p:nvSpPr>
          <p:spPr bwMode="auto">
            <a:xfrm>
              <a:off x="2081213" y="2365375"/>
              <a:ext cx="239229"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200">
                  <a:latin typeface="Roboto" panose="02000000000000000000" pitchFamily="2" charset="0"/>
                  <a:ea typeface="Roboto" panose="02000000000000000000" pitchFamily="2" charset="0"/>
                </a:rPr>
                <a:t>D</a:t>
              </a:r>
            </a:p>
          </p:txBody>
        </p:sp>
        <p:sp>
          <p:nvSpPr>
            <p:cNvPr id="25" name="Rectangle 75">
              <a:extLst>
                <a:ext uri="{FF2B5EF4-FFF2-40B4-BE49-F238E27FC236}">
                  <a16:creationId xmlns:a16="http://schemas.microsoft.com/office/drawing/2014/main" id="{AC31F35F-5351-6CCF-F1F8-2B5191D60A22}"/>
                </a:ext>
              </a:extLst>
            </p:cNvPr>
            <p:cNvSpPr>
              <a:spLocks noChangeArrowheads="1"/>
            </p:cNvSpPr>
            <p:nvPr/>
          </p:nvSpPr>
          <p:spPr bwMode="auto">
            <a:xfrm>
              <a:off x="2571750" y="2365375"/>
              <a:ext cx="228476"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200">
                  <a:latin typeface="Roboto" panose="02000000000000000000" pitchFamily="2" charset="0"/>
                  <a:ea typeface="Roboto" panose="02000000000000000000" pitchFamily="2" charset="0"/>
                </a:rPr>
                <a:t>E</a:t>
              </a:r>
            </a:p>
          </p:txBody>
        </p:sp>
        <p:sp>
          <p:nvSpPr>
            <p:cNvPr id="26" name="Rectangle 76">
              <a:extLst>
                <a:ext uri="{FF2B5EF4-FFF2-40B4-BE49-F238E27FC236}">
                  <a16:creationId xmlns:a16="http://schemas.microsoft.com/office/drawing/2014/main" id="{441656ED-4263-3B64-8295-77045A0A814B}"/>
                </a:ext>
              </a:extLst>
            </p:cNvPr>
            <p:cNvSpPr>
              <a:spLocks noChangeArrowheads="1"/>
            </p:cNvSpPr>
            <p:nvPr/>
          </p:nvSpPr>
          <p:spPr bwMode="auto">
            <a:xfrm>
              <a:off x="601663" y="2365375"/>
              <a:ext cx="243261"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200">
                  <a:latin typeface="Roboto" panose="02000000000000000000" pitchFamily="2" charset="0"/>
                  <a:ea typeface="Roboto" panose="02000000000000000000" pitchFamily="2" charset="0"/>
                </a:rPr>
                <a:t>A</a:t>
              </a:r>
            </a:p>
          </p:txBody>
        </p:sp>
        <p:sp>
          <p:nvSpPr>
            <p:cNvPr id="27" name="Rectangle 77">
              <a:extLst>
                <a:ext uri="{FF2B5EF4-FFF2-40B4-BE49-F238E27FC236}">
                  <a16:creationId xmlns:a16="http://schemas.microsoft.com/office/drawing/2014/main" id="{E3DAD86B-624D-D0F9-E80C-45E268C77CCC}"/>
                </a:ext>
              </a:extLst>
            </p:cNvPr>
            <p:cNvSpPr>
              <a:spLocks noChangeArrowheads="1"/>
            </p:cNvSpPr>
            <p:nvPr/>
          </p:nvSpPr>
          <p:spPr bwMode="auto">
            <a:xfrm>
              <a:off x="2816225" y="1376363"/>
              <a:ext cx="903155"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latin typeface="Roboto" panose="02000000000000000000" pitchFamily="2" charset="0"/>
                  <a:ea typeface="Roboto" panose="02000000000000000000" pitchFamily="2" charset="0"/>
                </a:rPr>
                <a:t>TAKT Time</a:t>
              </a:r>
            </a:p>
          </p:txBody>
        </p:sp>
        <p:sp>
          <p:nvSpPr>
            <p:cNvPr id="28" name="Rectangle 78">
              <a:extLst>
                <a:ext uri="{FF2B5EF4-FFF2-40B4-BE49-F238E27FC236}">
                  <a16:creationId xmlns:a16="http://schemas.microsoft.com/office/drawing/2014/main" id="{6472B9CF-BA2F-861C-321F-729C63CF9633}"/>
                </a:ext>
              </a:extLst>
            </p:cNvPr>
            <p:cNvSpPr>
              <a:spLocks noChangeArrowheads="1"/>
            </p:cNvSpPr>
            <p:nvPr/>
          </p:nvSpPr>
          <p:spPr bwMode="auto">
            <a:xfrm>
              <a:off x="1009810" y="2671763"/>
              <a:ext cx="1009331"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2400">
                  <a:latin typeface="Roboto" panose="02000000000000000000" pitchFamily="2" charset="0"/>
                  <a:ea typeface="Roboto" panose="02000000000000000000" pitchFamily="2" charset="0"/>
                </a:rPr>
                <a:t>Natural</a:t>
              </a:r>
            </a:p>
          </p:txBody>
        </p:sp>
        <p:sp>
          <p:nvSpPr>
            <p:cNvPr id="29" name="Line 79">
              <a:extLst>
                <a:ext uri="{FF2B5EF4-FFF2-40B4-BE49-F238E27FC236}">
                  <a16:creationId xmlns:a16="http://schemas.microsoft.com/office/drawing/2014/main" id="{6E8BEF1D-7730-03B1-8305-C4C1B1B17416}"/>
                </a:ext>
              </a:extLst>
            </p:cNvPr>
            <p:cNvSpPr>
              <a:spLocks noChangeShapeType="1"/>
            </p:cNvSpPr>
            <p:nvPr/>
          </p:nvSpPr>
          <p:spPr bwMode="auto">
            <a:xfrm>
              <a:off x="450850" y="1490663"/>
              <a:ext cx="2392363" cy="0"/>
            </a:xfrm>
            <a:prstGeom prst="line">
              <a:avLst/>
            </a:prstGeom>
            <a:noFill/>
            <a:ln w="50800">
              <a:solidFill>
                <a:srgbClr val="FF003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nvGrpSpPr>
            <p:cNvPr id="30" name="Group 80">
              <a:extLst>
                <a:ext uri="{FF2B5EF4-FFF2-40B4-BE49-F238E27FC236}">
                  <a16:creationId xmlns:a16="http://schemas.microsoft.com/office/drawing/2014/main" id="{F727F10F-9120-D270-1C62-35474977AEEF}"/>
                </a:ext>
              </a:extLst>
            </p:cNvPr>
            <p:cNvGrpSpPr>
              <a:grpSpLocks/>
            </p:cNvGrpSpPr>
            <p:nvPr/>
          </p:nvGrpSpPr>
          <p:grpSpPr bwMode="auto">
            <a:xfrm>
              <a:off x="2643188" y="2803526"/>
              <a:ext cx="3205163" cy="1592263"/>
              <a:chOff x="1793" y="2287"/>
              <a:chExt cx="2019" cy="1003"/>
            </a:xfrm>
          </p:grpSpPr>
          <p:sp>
            <p:nvSpPr>
              <p:cNvPr id="31" name="Line 81">
                <a:extLst>
                  <a:ext uri="{FF2B5EF4-FFF2-40B4-BE49-F238E27FC236}">
                    <a16:creationId xmlns:a16="http://schemas.microsoft.com/office/drawing/2014/main" id="{6E9E7AF1-A11D-5BEB-3A2D-CA536B196104}"/>
                  </a:ext>
                </a:extLst>
              </p:cNvPr>
              <p:cNvSpPr>
                <a:spLocks noChangeShapeType="1"/>
              </p:cNvSpPr>
              <p:nvPr/>
            </p:nvSpPr>
            <p:spPr bwMode="auto">
              <a:xfrm>
                <a:off x="1793" y="2287"/>
                <a:ext cx="0" cy="67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32" name="Line 82">
                <a:extLst>
                  <a:ext uri="{FF2B5EF4-FFF2-40B4-BE49-F238E27FC236}">
                    <a16:creationId xmlns:a16="http://schemas.microsoft.com/office/drawing/2014/main" id="{20590CC6-B2C7-4C0B-EE6B-5EA7127C525D}"/>
                  </a:ext>
                </a:extLst>
              </p:cNvPr>
              <p:cNvSpPr>
                <a:spLocks noChangeShapeType="1"/>
              </p:cNvSpPr>
              <p:nvPr/>
            </p:nvSpPr>
            <p:spPr bwMode="auto">
              <a:xfrm>
                <a:off x="1796" y="2965"/>
                <a:ext cx="149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33" name="Rectangle 83">
                <a:extLst>
                  <a:ext uri="{FF2B5EF4-FFF2-40B4-BE49-F238E27FC236}">
                    <a16:creationId xmlns:a16="http://schemas.microsoft.com/office/drawing/2014/main" id="{2D55F438-A66C-374D-5A77-9449C2D28684}"/>
                  </a:ext>
                </a:extLst>
              </p:cNvPr>
              <p:cNvSpPr>
                <a:spLocks noChangeArrowheads="1"/>
              </p:cNvSpPr>
              <p:nvPr/>
            </p:nvSpPr>
            <p:spPr bwMode="auto">
              <a:xfrm>
                <a:off x="1875" y="2481"/>
                <a:ext cx="201" cy="479"/>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1200">
                  <a:latin typeface="Roboto" panose="02000000000000000000" pitchFamily="2" charset="0"/>
                  <a:ea typeface="Roboto" panose="02000000000000000000" pitchFamily="2" charset="0"/>
                </a:endParaRPr>
              </a:p>
            </p:txBody>
          </p:sp>
          <p:sp>
            <p:nvSpPr>
              <p:cNvPr id="34" name="Rectangle 84">
                <a:extLst>
                  <a:ext uri="{FF2B5EF4-FFF2-40B4-BE49-F238E27FC236}">
                    <a16:creationId xmlns:a16="http://schemas.microsoft.com/office/drawing/2014/main" id="{DA4A34E3-9572-13E8-6125-EC0A5195AD6F}"/>
                  </a:ext>
                </a:extLst>
              </p:cNvPr>
              <p:cNvSpPr>
                <a:spLocks noChangeArrowheads="1"/>
              </p:cNvSpPr>
              <p:nvPr/>
            </p:nvSpPr>
            <p:spPr bwMode="auto">
              <a:xfrm>
                <a:off x="3072" y="2481"/>
                <a:ext cx="193" cy="478"/>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1200">
                  <a:latin typeface="Roboto" panose="02000000000000000000" pitchFamily="2" charset="0"/>
                  <a:ea typeface="Roboto" panose="02000000000000000000" pitchFamily="2" charset="0"/>
                </a:endParaRPr>
              </a:p>
            </p:txBody>
          </p:sp>
          <p:sp>
            <p:nvSpPr>
              <p:cNvPr id="35" name="Rectangle 85">
                <a:extLst>
                  <a:ext uri="{FF2B5EF4-FFF2-40B4-BE49-F238E27FC236}">
                    <a16:creationId xmlns:a16="http://schemas.microsoft.com/office/drawing/2014/main" id="{64C550A8-BEB3-303A-6CDA-ACC845576550}"/>
                  </a:ext>
                </a:extLst>
              </p:cNvPr>
              <p:cNvSpPr>
                <a:spLocks noChangeArrowheads="1"/>
              </p:cNvSpPr>
              <p:nvPr/>
            </p:nvSpPr>
            <p:spPr bwMode="auto">
              <a:xfrm>
                <a:off x="2485" y="2481"/>
                <a:ext cx="202" cy="479"/>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1200">
                  <a:latin typeface="Roboto" panose="02000000000000000000" pitchFamily="2" charset="0"/>
                  <a:ea typeface="Roboto" panose="02000000000000000000" pitchFamily="2" charset="0"/>
                </a:endParaRPr>
              </a:p>
            </p:txBody>
          </p:sp>
          <p:sp>
            <p:nvSpPr>
              <p:cNvPr id="36" name="Rectangle 86">
                <a:extLst>
                  <a:ext uri="{FF2B5EF4-FFF2-40B4-BE49-F238E27FC236}">
                    <a16:creationId xmlns:a16="http://schemas.microsoft.com/office/drawing/2014/main" id="{B11D857C-C128-369B-4A92-E0D078B5DE7A}"/>
                  </a:ext>
                </a:extLst>
              </p:cNvPr>
              <p:cNvSpPr>
                <a:spLocks noChangeArrowheads="1"/>
              </p:cNvSpPr>
              <p:nvPr/>
            </p:nvSpPr>
            <p:spPr bwMode="auto">
              <a:xfrm>
                <a:off x="2193" y="2820"/>
                <a:ext cx="150"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200">
                    <a:latin typeface="Roboto" panose="02000000000000000000" pitchFamily="2" charset="0"/>
                    <a:ea typeface="Roboto" panose="02000000000000000000" pitchFamily="2" charset="0"/>
                  </a:rPr>
                  <a:t>B</a:t>
                </a:r>
              </a:p>
            </p:txBody>
          </p:sp>
          <p:sp>
            <p:nvSpPr>
              <p:cNvPr id="37" name="Rectangle 87">
                <a:extLst>
                  <a:ext uri="{FF2B5EF4-FFF2-40B4-BE49-F238E27FC236}">
                    <a16:creationId xmlns:a16="http://schemas.microsoft.com/office/drawing/2014/main" id="{29928D01-2338-4AF4-0C98-511026C14D63}"/>
                  </a:ext>
                </a:extLst>
              </p:cNvPr>
              <p:cNvSpPr>
                <a:spLocks noChangeArrowheads="1"/>
              </p:cNvSpPr>
              <p:nvPr/>
            </p:nvSpPr>
            <p:spPr bwMode="auto">
              <a:xfrm>
                <a:off x="2494" y="2820"/>
                <a:ext cx="152"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200">
                    <a:latin typeface="Roboto" panose="02000000000000000000" pitchFamily="2" charset="0"/>
                    <a:ea typeface="Roboto" panose="02000000000000000000" pitchFamily="2" charset="0"/>
                  </a:rPr>
                  <a:t>C</a:t>
                </a:r>
              </a:p>
            </p:txBody>
          </p:sp>
          <p:sp>
            <p:nvSpPr>
              <p:cNvPr id="38" name="Rectangle 88">
                <a:extLst>
                  <a:ext uri="{FF2B5EF4-FFF2-40B4-BE49-F238E27FC236}">
                    <a16:creationId xmlns:a16="http://schemas.microsoft.com/office/drawing/2014/main" id="{CA39CF52-4A8D-95FA-5E4A-249C96510792}"/>
                  </a:ext>
                </a:extLst>
              </p:cNvPr>
              <p:cNvSpPr>
                <a:spLocks noChangeArrowheads="1"/>
              </p:cNvSpPr>
              <p:nvPr/>
            </p:nvSpPr>
            <p:spPr bwMode="auto">
              <a:xfrm>
                <a:off x="2770" y="2820"/>
                <a:ext cx="151"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200">
                    <a:latin typeface="Roboto" panose="02000000000000000000" pitchFamily="2" charset="0"/>
                    <a:ea typeface="Roboto" panose="02000000000000000000" pitchFamily="2" charset="0"/>
                  </a:rPr>
                  <a:t>D</a:t>
                </a:r>
              </a:p>
            </p:txBody>
          </p:sp>
          <p:sp>
            <p:nvSpPr>
              <p:cNvPr id="39" name="Rectangle 89">
                <a:extLst>
                  <a:ext uri="{FF2B5EF4-FFF2-40B4-BE49-F238E27FC236}">
                    <a16:creationId xmlns:a16="http://schemas.microsoft.com/office/drawing/2014/main" id="{D91B315C-8066-90D3-D558-BB5660082DB5}"/>
                  </a:ext>
                </a:extLst>
              </p:cNvPr>
              <p:cNvSpPr>
                <a:spLocks noChangeArrowheads="1"/>
              </p:cNvSpPr>
              <p:nvPr/>
            </p:nvSpPr>
            <p:spPr bwMode="auto">
              <a:xfrm>
                <a:off x="3083" y="2820"/>
                <a:ext cx="144"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200">
                    <a:latin typeface="Roboto" panose="02000000000000000000" pitchFamily="2" charset="0"/>
                    <a:ea typeface="Roboto" panose="02000000000000000000" pitchFamily="2" charset="0"/>
                  </a:rPr>
                  <a:t>E</a:t>
                </a:r>
              </a:p>
            </p:txBody>
          </p:sp>
          <p:sp>
            <p:nvSpPr>
              <p:cNvPr id="40" name="Rectangle 90">
                <a:extLst>
                  <a:ext uri="{FF2B5EF4-FFF2-40B4-BE49-F238E27FC236}">
                    <a16:creationId xmlns:a16="http://schemas.microsoft.com/office/drawing/2014/main" id="{4124044C-3FBC-0530-A9E7-16B1A305FD03}"/>
                  </a:ext>
                </a:extLst>
              </p:cNvPr>
              <p:cNvSpPr>
                <a:spLocks noChangeArrowheads="1"/>
              </p:cNvSpPr>
              <p:nvPr/>
            </p:nvSpPr>
            <p:spPr bwMode="auto">
              <a:xfrm>
                <a:off x="1882" y="2820"/>
                <a:ext cx="153"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200">
                    <a:latin typeface="Roboto" panose="02000000000000000000" pitchFamily="2" charset="0"/>
                    <a:ea typeface="Roboto" panose="02000000000000000000" pitchFamily="2" charset="0"/>
                  </a:rPr>
                  <a:t>A</a:t>
                </a:r>
              </a:p>
            </p:txBody>
          </p:sp>
          <p:sp>
            <p:nvSpPr>
              <p:cNvPr id="41" name="Rectangle 91">
                <a:extLst>
                  <a:ext uri="{FF2B5EF4-FFF2-40B4-BE49-F238E27FC236}">
                    <a16:creationId xmlns:a16="http://schemas.microsoft.com/office/drawing/2014/main" id="{352DB4A8-1D97-EF00-32D4-5BE69F445B20}"/>
                  </a:ext>
                </a:extLst>
              </p:cNvPr>
              <p:cNvSpPr>
                <a:spLocks noChangeArrowheads="1"/>
              </p:cNvSpPr>
              <p:nvPr/>
            </p:nvSpPr>
            <p:spPr bwMode="auto">
              <a:xfrm>
                <a:off x="3243" y="2336"/>
                <a:ext cx="56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latin typeface="Roboto" panose="02000000000000000000" pitchFamily="2" charset="0"/>
                    <a:ea typeface="Roboto" panose="02000000000000000000" pitchFamily="2" charset="0"/>
                  </a:rPr>
                  <a:t>TAKT Time</a:t>
                </a:r>
              </a:p>
            </p:txBody>
          </p:sp>
          <p:sp>
            <p:nvSpPr>
              <p:cNvPr id="42" name="Rectangle 92">
                <a:extLst>
                  <a:ext uri="{FF2B5EF4-FFF2-40B4-BE49-F238E27FC236}">
                    <a16:creationId xmlns:a16="http://schemas.microsoft.com/office/drawing/2014/main" id="{8CEB1328-BFE6-86A6-8D02-4571A6CA0852}"/>
                  </a:ext>
                </a:extLst>
              </p:cNvPr>
              <p:cNvSpPr>
                <a:spLocks noChangeArrowheads="1"/>
              </p:cNvSpPr>
              <p:nvPr/>
            </p:nvSpPr>
            <p:spPr bwMode="auto">
              <a:xfrm>
                <a:off x="2182" y="2481"/>
                <a:ext cx="199" cy="479"/>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1200">
                  <a:latin typeface="Roboto" panose="02000000000000000000" pitchFamily="2" charset="0"/>
                  <a:ea typeface="Roboto" panose="02000000000000000000" pitchFamily="2" charset="0"/>
                </a:endParaRPr>
              </a:p>
            </p:txBody>
          </p:sp>
          <p:sp>
            <p:nvSpPr>
              <p:cNvPr id="43" name="Rectangle 93">
                <a:extLst>
                  <a:ext uri="{FF2B5EF4-FFF2-40B4-BE49-F238E27FC236}">
                    <a16:creationId xmlns:a16="http://schemas.microsoft.com/office/drawing/2014/main" id="{919B0FB0-8E25-FDBD-128C-5DEE8C505ED2}"/>
                  </a:ext>
                </a:extLst>
              </p:cNvPr>
              <p:cNvSpPr>
                <a:spLocks noChangeArrowheads="1"/>
              </p:cNvSpPr>
              <p:nvPr/>
            </p:nvSpPr>
            <p:spPr bwMode="auto">
              <a:xfrm>
                <a:off x="2137" y="2999"/>
                <a:ext cx="89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2400">
                    <a:latin typeface="Roboto" panose="02000000000000000000" pitchFamily="2" charset="0"/>
                    <a:ea typeface="Roboto" panose="02000000000000000000" pitchFamily="2" charset="0"/>
                  </a:rPr>
                  <a:t>Traditional</a:t>
                </a:r>
              </a:p>
            </p:txBody>
          </p:sp>
          <p:sp>
            <p:nvSpPr>
              <p:cNvPr id="44" name="Rectangle 94">
                <a:extLst>
                  <a:ext uri="{FF2B5EF4-FFF2-40B4-BE49-F238E27FC236}">
                    <a16:creationId xmlns:a16="http://schemas.microsoft.com/office/drawing/2014/main" id="{E8B3F6CC-6204-D308-B9CC-9A210C7197E1}"/>
                  </a:ext>
                </a:extLst>
              </p:cNvPr>
              <p:cNvSpPr>
                <a:spLocks noChangeArrowheads="1"/>
              </p:cNvSpPr>
              <p:nvPr/>
            </p:nvSpPr>
            <p:spPr bwMode="auto">
              <a:xfrm>
                <a:off x="2761" y="2481"/>
                <a:ext cx="202" cy="479"/>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1200">
                  <a:latin typeface="Roboto" panose="02000000000000000000" pitchFamily="2" charset="0"/>
                  <a:ea typeface="Roboto" panose="02000000000000000000" pitchFamily="2" charset="0"/>
                </a:endParaRPr>
              </a:p>
            </p:txBody>
          </p:sp>
          <p:sp>
            <p:nvSpPr>
              <p:cNvPr id="45" name="Line 95">
                <a:extLst>
                  <a:ext uri="{FF2B5EF4-FFF2-40B4-BE49-F238E27FC236}">
                    <a16:creationId xmlns:a16="http://schemas.microsoft.com/office/drawing/2014/main" id="{4962452B-5D1C-E4D7-06B9-55AFC3A4D536}"/>
                  </a:ext>
                </a:extLst>
              </p:cNvPr>
              <p:cNvSpPr>
                <a:spLocks noChangeShapeType="1"/>
              </p:cNvSpPr>
              <p:nvPr/>
            </p:nvSpPr>
            <p:spPr bwMode="auto">
              <a:xfrm>
                <a:off x="1793" y="2379"/>
                <a:ext cx="1455" cy="0"/>
              </a:xfrm>
              <a:prstGeom prst="line">
                <a:avLst/>
              </a:prstGeom>
              <a:noFill/>
              <a:ln w="50800">
                <a:solidFill>
                  <a:srgbClr val="FF003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grpSp>
          <p:nvGrpSpPr>
            <p:cNvPr id="46" name="Group 96">
              <a:extLst>
                <a:ext uri="{FF2B5EF4-FFF2-40B4-BE49-F238E27FC236}">
                  <a16:creationId xmlns:a16="http://schemas.microsoft.com/office/drawing/2014/main" id="{1CC640BE-5046-9ED6-A450-C4AB19C9B844}"/>
                </a:ext>
              </a:extLst>
            </p:cNvPr>
            <p:cNvGrpSpPr>
              <a:grpSpLocks/>
            </p:cNvGrpSpPr>
            <p:nvPr/>
          </p:nvGrpSpPr>
          <p:grpSpPr bwMode="auto">
            <a:xfrm>
              <a:off x="4848225" y="4260852"/>
              <a:ext cx="3656013" cy="1601788"/>
              <a:chOff x="3255" y="3306"/>
              <a:chExt cx="2303" cy="1009"/>
            </a:xfrm>
          </p:grpSpPr>
          <p:sp>
            <p:nvSpPr>
              <p:cNvPr id="47" name="Rectangle 97">
                <a:extLst>
                  <a:ext uri="{FF2B5EF4-FFF2-40B4-BE49-F238E27FC236}">
                    <a16:creationId xmlns:a16="http://schemas.microsoft.com/office/drawing/2014/main" id="{C09644B2-10F3-4155-6832-13C20A181DFB}"/>
                  </a:ext>
                </a:extLst>
              </p:cNvPr>
              <p:cNvSpPr>
                <a:spLocks noChangeArrowheads="1"/>
              </p:cNvSpPr>
              <p:nvPr/>
            </p:nvSpPr>
            <p:spPr bwMode="auto">
              <a:xfrm>
                <a:off x="3655" y="3840"/>
                <a:ext cx="150"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200">
                    <a:latin typeface="Roboto" panose="02000000000000000000" pitchFamily="2" charset="0"/>
                    <a:ea typeface="Roboto" panose="02000000000000000000" pitchFamily="2" charset="0"/>
                  </a:rPr>
                  <a:t>B</a:t>
                </a:r>
              </a:p>
            </p:txBody>
          </p:sp>
          <p:sp>
            <p:nvSpPr>
              <p:cNvPr id="48" name="Rectangle 98">
                <a:extLst>
                  <a:ext uri="{FF2B5EF4-FFF2-40B4-BE49-F238E27FC236}">
                    <a16:creationId xmlns:a16="http://schemas.microsoft.com/office/drawing/2014/main" id="{F71C27DE-3E9A-BEC3-AD1B-03AE94F38DF5}"/>
                  </a:ext>
                </a:extLst>
              </p:cNvPr>
              <p:cNvSpPr>
                <a:spLocks noChangeArrowheads="1"/>
              </p:cNvSpPr>
              <p:nvPr/>
            </p:nvSpPr>
            <p:spPr bwMode="auto">
              <a:xfrm>
                <a:off x="3956" y="3840"/>
                <a:ext cx="152"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200">
                    <a:latin typeface="Roboto" panose="02000000000000000000" pitchFamily="2" charset="0"/>
                    <a:ea typeface="Roboto" panose="02000000000000000000" pitchFamily="2" charset="0"/>
                  </a:rPr>
                  <a:t>C</a:t>
                </a:r>
              </a:p>
            </p:txBody>
          </p:sp>
          <p:sp>
            <p:nvSpPr>
              <p:cNvPr id="49" name="Rectangle 99">
                <a:extLst>
                  <a:ext uri="{FF2B5EF4-FFF2-40B4-BE49-F238E27FC236}">
                    <a16:creationId xmlns:a16="http://schemas.microsoft.com/office/drawing/2014/main" id="{243FFA7D-9AEC-BADC-A86D-2DB1488FC153}"/>
                  </a:ext>
                </a:extLst>
              </p:cNvPr>
              <p:cNvSpPr>
                <a:spLocks noChangeArrowheads="1"/>
              </p:cNvSpPr>
              <p:nvPr/>
            </p:nvSpPr>
            <p:spPr bwMode="auto">
              <a:xfrm>
                <a:off x="4247" y="3840"/>
                <a:ext cx="151"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200">
                    <a:latin typeface="Roboto" panose="02000000000000000000" pitchFamily="2" charset="0"/>
                    <a:ea typeface="Roboto" panose="02000000000000000000" pitchFamily="2" charset="0"/>
                  </a:rPr>
                  <a:t>D</a:t>
                </a:r>
              </a:p>
            </p:txBody>
          </p:sp>
          <p:sp>
            <p:nvSpPr>
              <p:cNvPr id="50" name="Rectangle 100">
                <a:extLst>
                  <a:ext uri="{FF2B5EF4-FFF2-40B4-BE49-F238E27FC236}">
                    <a16:creationId xmlns:a16="http://schemas.microsoft.com/office/drawing/2014/main" id="{43C54FCE-38B7-A843-F99D-72E2927BADE4}"/>
                  </a:ext>
                </a:extLst>
              </p:cNvPr>
              <p:cNvSpPr>
                <a:spLocks noChangeArrowheads="1"/>
              </p:cNvSpPr>
              <p:nvPr/>
            </p:nvSpPr>
            <p:spPr bwMode="auto">
              <a:xfrm>
                <a:off x="4541" y="3840"/>
                <a:ext cx="144"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200">
                    <a:latin typeface="Roboto" panose="02000000000000000000" pitchFamily="2" charset="0"/>
                    <a:ea typeface="Roboto" panose="02000000000000000000" pitchFamily="2" charset="0"/>
                  </a:rPr>
                  <a:t>E</a:t>
                </a:r>
              </a:p>
            </p:txBody>
          </p:sp>
          <p:sp>
            <p:nvSpPr>
              <p:cNvPr id="51" name="Rectangle 101">
                <a:extLst>
                  <a:ext uri="{FF2B5EF4-FFF2-40B4-BE49-F238E27FC236}">
                    <a16:creationId xmlns:a16="http://schemas.microsoft.com/office/drawing/2014/main" id="{7D648F9A-4453-75E2-54DC-B0A6FCD5AF9D}"/>
                  </a:ext>
                </a:extLst>
              </p:cNvPr>
              <p:cNvSpPr>
                <a:spLocks noChangeArrowheads="1"/>
              </p:cNvSpPr>
              <p:nvPr/>
            </p:nvSpPr>
            <p:spPr bwMode="auto">
              <a:xfrm>
                <a:off x="3344" y="3840"/>
                <a:ext cx="153"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200">
                    <a:latin typeface="Roboto" panose="02000000000000000000" pitchFamily="2" charset="0"/>
                    <a:ea typeface="Roboto" panose="02000000000000000000" pitchFamily="2" charset="0"/>
                  </a:rPr>
                  <a:t>A</a:t>
                </a:r>
              </a:p>
            </p:txBody>
          </p:sp>
          <p:sp>
            <p:nvSpPr>
              <p:cNvPr id="52" name="Line 102">
                <a:extLst>
                  <a:ext uri="{FF2B5EF4-FFF2-40B4-BE49-F238E27FC236}">
                    <a16:creationId xmlns:a16="http://schemas.microsoft.com/office/drawing/2014/main" id="{C3FD6DB5-4513-78F4-6B56-FF60BD9A90EB}"/>
                  </a:ext>
                </a:extLst>
              </p:cNvPr>
              <p:cNvSpPr>
                <a:spLocks noChangeShapeType="1"/>
              </p:cNvSpPr>
              <p:nvPr/>
            </p:nvSpPr>
            <p:spPr bwMode="auto">
              <a:xfrm>
                <a:off x="3255" y="3306"/>
                <a:ext cx="0" cy="67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53" name="Line 103">
                <a:extLst>
                  <a:ext uri="{FF2B5EF4-FFF2-40B4-BE49-F238E27FC236}">
                    <a16:creationId xmlns:a16="http://schemas.microsoft.com/office/drawing/2014/main" id="{554419C0-2F03-349B-8D16-D23C7CC7869B}"/>
                  </a:ext>
                </a:extLst>
              </p:cNvPr>
              <p:cNvSpPr>
                <a:spLocks noChangeShapeType="1"/>
              </p:cNvSpPr>
              <p:nvPr/>
            </p:nvSpPr>
            <p:spPr bwMode="auto">
              <a:xfrm>
                <a:off x="3258" y="3984"/>
                <a:ext cx="149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54" name="Rectangle 104">
                <a:extLst>
                  <a:ext uri="{FF2B5EF4-FFF2-40B4-BE49-F238E27FC236}">
                    <a16:creationId xmlns:a16="http://schemas.microsoft.com/office/drawing/2014/main" id="{57C12BEE-0397-3922-4F68-728EFDECEC09}"/>
                  </a:ext>
                </a:extLst>
              </p:cNvPr>
              <p:cNvSpPr>
                <a:spLocks noChangeArrowheads="1"/>
              </p:cNvSpPr>
              <p:nvPr/>
            </p:nvSpPr>
            <p:spPr bwMode="auto">
              <a:xfrm>
                <a:off x="3339" y="3409"/>
                <a:ext cx="196" cy="57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1200">
                  <a:latin typeface="Roboto" panose="02000000000000000000" pitchFamily="2" charset="0"/>
                  <a:ea typeface="Roboto" panose="02000000000000000000" pitchFamily="2" charset="0"/>
                </a:endParaRPr>
              </a:p>
            </p:txBody>
          </p:sp>
          <p:sp>
            <p:nvSpPr>
              <p:cNvPr id="55" name="Rectangle 105">
                <a:extLst>
                  <a:ext uri="{FF2B5EF4-FFF2-40B4-BE49-F238E27FC236}">
                    <a16:creationId xmlns:a16="http://schemas.microsoft.com/office/drawing/2014/main" id="{0474E0B7-C0DD-7F60-73DB-AFEF59F03418}"/>
                  </a:ext>
                </a:extLst>
              </p:cNvPr>
              <p:cNvSpPr>
                <a:spLocks noChangeArrowheads="1"/>
              </p:cNvSpPr>
              <p:nvPr/>
            </p:nvSpPr>
            <p:spPr bwMode="auto">
              <a:xfrm>
                <a:off x="4518" y="3707"/>
                <a:ext cx="216" cy="274"/>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1200">
                  <a:latin typeface="Roboto" panose="02000000000000000000" pitchFamily="2" charset="0"/>
                  <a:ea typeface="Roboto" panose="02000000000000000000" pitchFamily="2" charset="0"/>
                </a:endParaRPr>
              </a:p>
            </p:txBody>
          </p:sp>
          <p:sp>
            <p:nvSpPr>
              <p:cNvPr id="56" name="Rectangle 106">
                <a:extLst>
                  <a:ext uri="{FF2B5EF4-FFF2-40B4-BE49-F238E27FC236}">
                    <a16:creationId xmlns:a16="http://schemas.microsoft.com/office/drawing/2014/main" id="{35B285E7-81AC-D8D7-8AF9-6D3D11114D01}"/>
                  </a:ext>
                </a:extLst>
              </p:cNvPr>
              <p:cNvSpPr>
                <a:spLocks noChangeArrowheads="1"/>
              </p:cNvSpPr>
              <p:nvPr/>
            </p:nvSpPr>
            <p:spPr bwMode="auto">
              <a:xfrm>
                <a:off x="4241" y="3409"/>
                <a:ext cx="197" cy="57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1200">
                  <a:latin typeface="Roboto" panose="02000000000000000000" pitchFamily="2" charset="0"/>
                  <a:ea typeface="Roboto" panose="02000000000000000000" pitchFamily="2" charset="0"/>
                </a:endParaRPr>
              </a:p>
            </p:txBody>
          </p:sp>
          <p:sp>
            <p:nvSpPr>
              <p:cNvPr id="57" name="Rectangle 107">
                <a:extLst>
                  <a:ext uri="{FF2B5EF4-FFF2-40B4-BE49-F238E27FC236}">
                    <a16:creationId xmlns:a16="http://schemas.microsoft.com/office/drawing/2014/main" id="{6293C0A5-FC40-21EC-25C7-296B381BBDB0}"/>
                  </a:ext>
                </a:extLst>
              </p:cNvPr>
              <p:cNvSpPr>
                <a:spLocks noChangeArrowheads="1"/>
              </p:cNvSpPr>
              <p:nvPr/>
            </p:nvSpPr>
            <p:spPr bwMode="auto">
              <a:xfrm>
                <a:off x="3950" y="3409"/>
                <a:ext cx="196" cy="57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1200">
                  <a:latin typeface="Roboto" panose="02000000000000000000" pitchFamily="2" charset="0"/>
                  <a:ea typeface="Roboto" panose="02000000000000000000" pitchFamily="2" charset="0"/>
                </a:endParaRPr>
              </a:p>
            </p:txBody>
          </p:sp>
          <p:sp>
            <p:nvSpPr>
              <p:cNvPr id="58" name="Rectangle 108">
                <a:extLst>
                  <a:ext uri="{FF2B5EF4-FFF2-40B4-BE49-F238E27FC236}">
                    <a16:creationId xmlns:a16="http://schemas.microsoft.com/office/drawing/2014/main" id="{157C00D7-9E2A-A3A1-3F40-A0AF71E05F38}"/>
                  </a:ext>
                </a:extLst>
              </p:cNvPr>
              <p:cNvSpPr>
                <a:spLocks noChangeArrowheads="1"/>
              </p:cNvSpPr>
              <p:nvPr/>
            </p:nvSpPr>
            <p:spPr bwMode="auto">
              <a:xfrm>
                <a:off x="4705" y="3355"/>
                <a:ext cx="56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latin typeface="Roboto" panose="02000000000000000000" pitchFamily="2" charset="0"/>
                    <a:ea typeface="Roboto" panose="02000000000000000000" pitchFamily="2" charset="0"/>
                  </a:rPr>
                  <a:t>TAKT Time</a:t>
                </a:r>
              </a:p>
            </p:txBody>
          </p:sp>
          <p:sp>
            <p:nvSpPr>
              <p:cNvPr id="59" name="Rectangle 109">
                <a:extLst>
                  <a:ext uri="{FF2B5EF4-FFF2-40B4-BE49-F238E27FC236}">
                    <a16:creationId xmlns:a16="http://schemas.microsoft.com/office/drawing/2014/main" id="{9F51FF3A-0F02-3BFE-80DB-31B71C10C04C}"/>
                  </a:ext>
                </a:extLst>
              </p:cNvPr>
              <p:cNvSpPr>
                <a:spLocks noChangeArrowheads="1"/>
              </p:cNvSpPr>
              <p:nvPr/>
            </p:nvSpPr>
            <p:spPr bwMode="auto">
              <a:xfrm>
                <a:off x="4722" y="3643"/>
                <a:ext cx="83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latin typeface="Roboto" panose="02000000000000000000" pitchFamily="2" charset="0"/>
                    <a:ea typeface="Roboto" panose="02000000000000000000" pitchFamily="2" charset="0"/>
                  </a:rPr>
                  <a:t>"Least Associate"</a:t>
                </a:r>
              </a:p>
            </p:txBody>
          </p:sp>
          <p:sp>
            <p:nvSpPr>
              <p:cNvPr id="60" name="Rectangle 110">
                <a:extLst>
                  <a:ext uri="{FF2B5EF4-FFF2-40B4-BE49-F238E27FC236}">
                    <a16:creationId xmlns:a16="http://schemas.microsoft.com/office/drawing/2014/main" id="{34182691-447C-C79A-2038-E7A8854FD744}"/>
                  </a:ext>
                </a:extLst>
              </p:cNvPr>
              <p:cNvSpPr>
                <a:spLocks noChangeArrowheads="1"/>
              </p:cNvSpPr>
              <p:nvPr/>
            </p:nvSpPr>
            <p:spPr bwMode="auto">
              <a:xfrm>
                <a:off x="3645" y="3409"/>
                <a:ext cx="197" cy="57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1200">
                  <a:latin typeface="Roboto" panose="02000000000000000000" pitchFamily="2" charset="0"/>
                  <a:ea typeface="Roboto" panose="02000000000000000000" pitchFamily="2" charset="0"/>
                </a:endParaRPr>
              </a:p>
            </p:txBody>
          </p:sp>
          <p:sp>
            <p:nvSpPr>
              <p:cNvPr id="61" name="Rectangle 111">
                <a:extLst>
                  <a:ext uri="{FF2B5EF4-FFF2-40B4-BE49-F238E27FC236}">
                    <a16:creationId xmlns:a16="http://schemas.microsoft.com/office/drawing/2014/main" id="{6E02C11C-69E7-DD7F-3843-C4711CF933E2}"/>
                  </a:ext>
                </a:extLst>
              </p:cNvPr>
              <p:cNvSpPr>
                <a:spLocks noChangeArrowheads="1"/>
              </p:cNvSpPr>
              <p:nvPr/>
            </p:nvSpPr>
            <p:spPr bwMode="auto">
              <a:xfrm>
                <a:off x="3483" y="4024"/>
                <a:ext cx="106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2400" dirty="0">
                    <a:latin typeface="Roboto" panose="02000000000000000000" pitchFamily="2" charset="0"/>
                    <a:ea typeface="Roboto" panose="02000000000000000000" pitchFamily="2" charset="0"/>
                  </a:rPr>
                  <a:t>Front Loaded</a:t>
                </a:r>
              </a:p>
            </p:txBody>
          </p:sp>
          <p:sp>
            <p:nvSpPr>
              <p:cNvPr id="62" name="Line 112">
                <a:extLst>
                  <a:ext uri="{FF2B5EF4-FFF2-40B4-BE49-F238E27FC236}">
                    <a16:creationId xmlns:a16="http://schemas.microsoft.com/office/drawing/2014/main" id="{E89F3061-E96F-884E-E96E-925243CE5A0A}"/>
                  </a:ext>
                </a:extLst>
              </p:cNvPr>
              <p:cNvSpPr>
                <a:spLocks noChangeShapeType="1"/>
              </p:cNvSpPr>
              <p:nvPr/>
            </p:nvSpPr>
            <p:spPr bwMode="auto">
              <a:xfrm>
                <a:off x="3255" y="3410"/>
                <a:ext cx="1455" cy="0"/>
              </a:xfrm>
              <a:prstGeom prst="line">
                <a:avLst/>
              </a:prstGeom>
              <a:noFill/>
              <a:ln w="50800">
                <a:solidFill>
                  <a:srgbClr val="FF003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grpSp>
    </p:spTree>
    <p:extLst>
      <p:ext uri="{BB962C8B-B14F-4D97-AF65-F5344CB8AC3E}">
        <p14:creationId xmlns:p14="http://schemas.microsoft.com/office/powerpoint/2010/main" val="4004495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dirty="0"/>
              <a:t>Takt/Process Time Graph</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57</a:t>
            </a:fld>
            <a:endParaRPr lang="en-US"/>
          </a:p>
        </p:txBody>
      </p:sp>
      <p:grpSp>
        <p:nvGrpSpPr>
          <p:cNvPr id="4" name="Group 3">
            <a:extLst>
              <a:ext uri="{FF2B5EF4-FFF2-40B4-BE49-F238E27FC236}">
                <a16:creationId xmlns:a16="http://schemas.microsoft.com/office/drawing/2014/main" id="{68B43806-C085-B892-8E50-7696A18CD9F0}"/>
              </a:ext>
            </a:extLst>
          </p:cNvPr>
          <p:cNvGrpSpPr/>
          <p:nvPr/>
        </p:nvGrpSpPr>
        <p:grpSpPr>
          <a:xfrm>
            <a:off x="838200" y="297639"/>
            <a:ext cx="4545330" cy="301303"/>
            <a:chOff x="838200" y="297639"/>
            <a:chExt cx="4545330" cy="301303"/>
          </a:xfrm>
        </p:grpSpPr>
        <p:sp>
          <p:nvSpPr>
            <p:cNvPr id="6" name="AutoShape 9">
              <a:extLst>
                <a:ext uri="{FF2B5EF4-FFF2-40B4-BE49-F238E27FC236}">
                  <a16:creationId xmlns:a16="http://schemas.microsoft.com/office/drawing/2014/main" id="{0B27A768-EE8C-8FFD-7782-F5A549A977AA}"/>
                </a:ext>
              </a:extLst>
            </p:cNvPr>
            <p:cNvSpPr>
              <a:spLocks noChangeArrowheads="1"/>
            </p:cNvSpPr>
            <p:nvPr/>
          </p:nvSpPr>
          <p:spPr bwMode="auto">
            <a:xfrm>
              <a:off x="1779225" y="298454"/>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7" name="Group 6">
              <a:extLst>
                <a:ext uri="{FF2B5EF4-FFF2-40B4-BE49-F238E27FC236}">
                  <a16:creationId xmlns:a16="http://schemas.microsoft.com/office/drawing/2014/main" id="{663992D9-BF0C-A952-1DDD-B669A9932737}"/>
                </a:ext>
              </a:extLst>
            </p:cNvPr>
            <p:cNvGrpSpPr/>
            <p:nvPr/>
          </p:nvGrpSpPr>
          <p:grpSpPr>
            <a:xfrm>
              <a:off x="838200" y="297639"/>
              <a:ext cx="4545330" cy="301303"/>
              <a:chOff x="838200" y="297639"/>
              <a:chExt cx="4545330" cy="301303"/>
            </a:xfrm>
          </p:grpSpPr>
          <p:grpSp>
            <p:nvGrpSpPr>
              <p:cNvPr id="8" name="Group 7">
                <a:extLst>
                  <a:ext uri="{FF2B5EF4-FFF2-40B4-BE49-F238E27FC236}">
                    <a16:creationId xmlns:a16="http://schemas.microsoft.com/office/drawing/2014/main" id="{3D989A41-542C-35CD-AF4A-CB43CD262BD5}"/>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056BF4DA-50EB-E510-F1A7-DA29C2D84C6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711F63DC-1CB9-178B-C803-D3EAFF7E308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B75C5D4F-D63F-B68C-2CD1-F542E984CD7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9" name="TextBox 8">
                <a:extLst>
                  <a:ext uri="{FF2B5EF4-FFF2-40B4-BE49-F238E27FC236}">
                    <a16:creationId xmlns:a16="http://schemas.microsoft.com/office/drawing/2014/main" id="{0E3936B2-5343-B810-B777-5AD66D5FB9C6}"/>
                  </a:ext>
                </a:extLst>
              </p:cNvPr>
              <p:cNvSpPr txBox="1"/>
              <p:nvPr/>
            </p:nvSpPr>
            <p:spPr>
              <a:xfrm>
                <a:off x="2190452" y="307580"/>
                <a:ext cx="31930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Standard Work Documentation</a:t>
                </a:r>
              </a:p>
            </p:txBody>
          </p:sp>
        </p:grpSp>
      </p:grpSp>
      <p:grpSp>
        <p:nvGrpSpPr>
          <p:cNvPr id="76" name="Group 75">
            <a:extLst>
              <a:ext uri="{FF2B5EF4-FFF2-40B4-BE49-F238E27FC236}">
                <a16:creationId xmlns:a16="http://schemas.microsoft.com/office/drawing/2014/main" id="{02652716-1DBD-19F5-2596-1587F1DB2148}"/>
              </a:ext>
            </a:extLst>
          </p:cNvPr>
          <p:cNvGrpSpPr/>
          <p:nvPr/>
        </p:nvGrpSpPr>
        <p:grpSpPr>
          <a:xfrm>
            <a:off x="914400" y="2000250"/>
            <a:ext cx="8263890" cy="4095750"/>
            <a:chOff x="914400" y="1524000"/>
            <a:chExt cx="6629400" cy="4572000"/>
          </a:xfrm>
        </p:grpSpPr>
        <p:sp>
          <p:nvSpPr>
            <p:cNvPr id="3" name="Line 2">
              <a:extLst>
                <a:ext uri="{FF2B5EF4-FFF2-40B4-BE49-F238E27FC236}">
                  <a16:creationId xmlns:a16="http://schemas.microsoft.com/office/drawing/2014/main" id="{5C10EA4E-6E6D-C14C-456E-753AFD1C89B8}"/>
                </a:ext>
              </a:extLst>
            </p:cNvPr>
            <p:cNvSpPr>
              <a:spLocks noChangeShapeType="1"/>
            </p:cNvSpPr>
            <p:nvPr/>
          </p:nvSpPr>
          <p:spPr bwMode="auto">
            <a:xfrm>
              <a:off x="1676400" y="1981200"/>
              <a:ext cx="0" cy="3200400"/>
            </a:xfrm>
            <a:prstGeom prst="line">
              <a:avLst/>
            </a:prstGeom>
            <a:noFill/>
            <a:ln w="28575">
              <a:solidFill>
                <a:schemeClr val="tx1"/>
              </a:solidFill>
              <a:round/>
              <a:headEnd type="none" w="sm" len="sm"/>
              <a:tailEnd type="none" w="sm" len="sm"/>
            </a:ln>
          </p:spPr>
          <p:txBody>
            <a:bodyPr/>
            <a:lstStyle/>
            <a:p>
              <a:pPr eaLnBrk="1" hangingPunct="1">
                <a:defRPr/>
              </a:pPr>
              <a:endParaRPr lang="en-US" dirty="0">
                <a:solidFill>
                  <a:schemeClr val="accent1"/>
                </a:solidFill>
                <a:latin typeface="+mn-lt"/>
                <a:ea typeface="+mn-ea"/>
                <a:cs typeface="Arial" pitchFamily="34" charset="0"/>
              </a:endParaRPr>
            </a:p>
          </p:txBody>
        </p:sp>
        <p:sp>
          <p:nvSpPr>
            <p:cNvPr id="13" name="Line 3">
              <a:extLst>
                <a:ext uri="{FF2B5EF4-FFF2-40B4-BE49-F238E27FC236}">
                  <a16:creationId xmlns:a16="http://schemas.microsoft.com/office/drawing/2014/main" id="{04DEE597-2FC9-9B8A-5064-AB9614BCA1D2}"/>
                </a:ext>
              </a:extLst>
            </p:cNvPr>
            <p:cNvSpPr>
              <a:spLocks noChangeShapeType="1"/>
            </p:cNvSpPr>
            <p:nvPr/>
          </p:nvSpPr>
          <p:spPr bwMode="auto">
            <a:xfrm>
              <a:off x="1676400" y="5181600"/>
              <a:ext cx="5181600" cy="0"/>
            </a:xfrm>
            <a:prstGeom prst="line">
              <a:avLst/>
            </a:prstGeom>
            <a:noFill/>
            <a:ln w="28575">
              <a:solidFill>
                <a:schemeClr val="tx1"/>
              </a:solidFill>
              <a:round/>
              <a:headEnd type="none" w="sm" len="sm"/>
              <a:tailEnd type="none" w="sm" len="sm"/>
            </a:ln>
          </p:spPr>
          <p:txBody>
            <a:bodyPr/>
            <a:lstStyle/>
            <a:p>
              <a:pPr eaLnBrk="1" hangingPunct="1">
                <a:defRPr/>
              </a:pPr>
              <a:endParaRPr lang="en-US" dirty="0">
                <a:solidFill>
                  <a:schemeClr val="accent1"/>
                </a:solidFill>
                <a:latin typeface="+mn-lt"/>
                <a:ea typeface="+mn-ea"/>
                <a:cs typeface="Arial" pitchFamily="34" charset="0"/>
              </a:endParaRPr>
            </a:p>
          </p:txBody>
        </p:sp>
        <p:sp>
          <p:nvSpPr>
            <p:cNvPr id="14" name="Rectangle 4">
              <a:extLst>
                <a:ext uri="{FF2B5EF4-FFF2-40B4-BE49-F238E27FC236}">
                  <a16:creationId xmlns:a16="http://schemas.microsoft.com/office/drawing/2014/main" id="{D6CD8A52-78A7-5C94-0A42-48A517984AA4}"/>
                </a:ext>
              </a:extLst>
            </p:cNvPr>
            <p:cNvSpPr>
              <a:spLocks noChangeArrowheads="1"/>
            </p:cNvSpPr>
            <p:nvPr/>
          </p:nvSpPr>
          <p:spPr bwMode="auto">
            <a:xfrm rot="16219170">
              <a:off x="190500" y="3162300"/>
              <a:ext cx="22098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000" dirty="0">
                  <a:latin typeface="Roboto" panose="02000000000000000000" pitchFamily="2" charset="0"/>
                  <a:ea typeface="Roboto" panose="02000000000000000000" pitchFamily="2" charset="0"/>
                </a:rPr>
                <a:t>Process Time</a:t>
              </a:r>
            </a:p>
          </p:txBody>
        </p:sp>
        <p:sp>
          <p:nvSpPr>
            <p:cNvPr id="64" name="Rectangle 5">
              <a:extLst>
                <a:ext uri="{FF2B5EF4-FFF2-40B4-BE49-F238E27FC236}">
                  <a16:creationId xmlns:a16="http://schemas.microsoft.com/office/drawing/2014/main" id="{6A74818E-974C-935D-281C-1B73BCAD1184}"/>
                </a:ext>
              </a:extLst>
            </p:cNvPr>
            <p:cNvSpPr>
              <a:spLocks noChangeArrowheads="1"/>
            </p:cNvSpPr>
            <p:nvPr/>
          </p:nvSpPr>
          <p:spPr bwMode="auto">
            <a:xfrm rot="14754">
              <a:off x="3505200" y="5334000"/>
              <a:ext cx="2209800" cy="762000"/>
            </a:xfrm>
            <a:prstGeom prst="rect">
              <a:avLst/>
            </a:prstGeom>
            <a:noFill/>
            <a:ln w="12700">
              <a:noFill/>
              <a:miter lim="800000"/>
              <a:headEnd type="none" w="sm" len="sm"/>
              <a:tailEnd type="none" w="sm" len="sm"/>
            </a:ln>
          </p:spPr>
          <p:txBody>
            <a:bodyPr wrap="none" anchor="ctr"/>
            <a:lstStyle/>
            <a:p>
              <a:pPr algn="ctr">
                <a:lnSpc>
                  <a:spcPct val="80000"/>
                </a:lnSpc>
                <a:spcBef>
                  <a:spcPct val="20000"/>
                </a:spcBef>
                <a:defRPr/>
              </a:pPr>
              <a:r>
                <a:rPr lang="en-US" sz="2000" dirty="0">
                  <a:latin typeface="Roboto" panose="02000000000000000000" pitchFamily="2" charset="0"/>
                  <a:ea typeface="Roboto" panose="02000000000000000000" pitchFamily="2" charset="0"/>
                  <a:cs typeface="Arial" pitchFamily="34" charset="0"/>
                </a:rPr>
                <a:t>Associates</a:t>
              </a:r>
            </a:p>
          </p:txBody>
        </p:sp>
        <p:sp>
          <p:nvSpPr>
            <p:cNvPr id="65" name="Line 6">
              <a:extLst>
                <a:ext uri="{FF2B5EF4-FFF2-40B4-BE49-F238E27FC236}">
                  <a16:creationId xmlns:a16="http://schemas.microsoft.com/office/drawing/2014/main" id="{61020CC3-4151-0414-349C-51178E34B5DE}"/>
                </a:ext>
              </a:extLst>
            </p:cNvPr>
            <p:cNvSpPr>
              <a:spLocks noChangeShapeType="1"/>
            </p:cNvSpPr>
            <p:nvPr/>
          </p:nvSpPr>
          <p:spPr bwMode="auto">
            <a:xfrm>
              <a:off x="1676400" y="2590800"/>
              <a:ext cx="4800600" cy="0"/>
            </a:xfrm>
            <a:prstGeom prst="line">
              <a:avLst/>
            </a:prstGeom>
            <a:noFill/>
            <a:ln w="38100">
              <a:solidFill>
                <a:srgbClr val="FF0000"/>
              </a:solidFill>
              <a:round/>
              <a:headEnd type="none" w="sm" len="sm"/>
              <a:tailEnd type="none" w="sm" len="sm"/>
            </a:ln>
          </p:spPr>
          <p:txBody>
            <a:bodyPr/>
            <a:lstStyle/>
            <a:p>
              <a:pPr eaLnBrk="1" hangingPunct="1">
                <a:defRPr/>
              </a:pPr>
              <a:endParaRPr lang="en-US" dirty="0">
                <a:solidFill>
                  <a:schemeClr val="accent1"/>
                </a:solidFill>
                <a:latin typeface="+mn-lt"/>
                <a:ea typeface="+mn-ea"/>
                <a:cs typeface="Arial" pitchFamily="34" charset="0"/>
              </a:endParaRPr>
            </a:p>
          </p:txBody>
        </p:sp>
        <p:sp>
          <p:nvSpPr>
            <p:cNvPr id="66" name="Rectangle 7">
              <a:extLst>
                <a:ext uri="{FF2B5EF4-FFF2-40B4-BE49-F238E27FC236}">
                  <a16:creationId xmlns:a16="http://schemas.microsoft.com/office/drawing/2014/main" id="{19CDF884-793E-B3CC-B33A-037B70490690}"/>
                </a:ext>
              </a:extLst>
            </p:cNvPr>
            <p:cNvSpPr>
              <a:spLocks noChangeArrowheads="1"/>
            </p:cNvSpPr>
            <p:nvPr/>
          </p:nvSpPr>
          <p:spPr bwMode="auto">
            <a:xfrm rot="14754">
              <a:off x="2438400" y="1524000"/>
              <a:ext cx="4724400" cy="762000"/>
            </a:xfrm>
            <a:prstGeom prst="rect">
              <a:avLst/>
            </a:prstGeom>
            <a:noFill/>
            <a:ln w="12700">
              <a:noFill/>
              <a:miter lim="800000"/>
              <a:headEnd type="none" w="sm" len="sm"/>
              <a:tailEnd type="none" w="sm" len="sm"/>
            </a:ln>
          </p:spPr>
          <p:txBody>
            <a:bodyPr wrap="none" anchor="ctr"/>
            <a:lstStyle/>
            <a:p>
              <a:pPr algn="ctr">
                <a:lnSpc>
                  <a:spcPct val="80000"/>
                </a:lnSpc>
                <a:spcBef>
                  <a:spcPct val="20000"/>
                </a:spcBef>
                <a:defRPr/>
              </a:pPr>
              <a:r>
                <a:rPr lang="en-US" sz="2000" dirty="0">
                  <a:latin typeface="Roboto" panose="02000000000000000000" pitchFamily="2" charset="0"/>
                  <a:ea typeface="Roboto" panose="02000000000000000000" pitchFamily="2" charset="0"/>
                  <a:cs typeface="Arial" pitchFamily="34" charset="0"/>
                </a:rPr>
                <a:t>Takt Time : 14:22</a:t>
              </a:r>
            </a:p>
            <a:p>
              <a:pPr algn="ctr">
                <a:lnSpc>
                  <a:spcPct val="80000"/>
                </a:lnSpc>
                <a:spcBef>
                  <a:spcPct val="20000"/>
                </a:spcBef>
                <a:defRPr/>
              </a:pPr>
              <a:endParaRPr lang="en-US" sz="2000" dirty="0">
                <a:latin typeface="Roboto" panose="02000000000000000000" pitchFamily="2" charset="0"/>
                <a:ea typeface="Roboto" panose="02000000000000000000" pitchFamily="2" charset="0"/>
                <a:cs typeface="Arial" pitchFamily="34" charset="0"/>
              </a:endParaRPr>
            </a:p>
            <a:p>
              <a:pPr algn="ctr">
                <a:lnSpc>
                  <a:spcPct val="80000"/>
                </a:lnSpc>
                <a:spcBef>
                  <a:spcPct val="20000"/>
                </a:spcBef>
                <a:defRPr/>
              </a:pPr>
              <a:r>
                <a:rPr lang="en-US" sz="2000" dirty="0">
                  <a:latin typeface="Roboto" panose="02000000000000000000" pitchFamily="2" charset="0"/>
                  <a:ea typeface="Roboto" panose="02000000000000000000" pitchFamily="2" charset="0"/>
                  <a:cs typeface="Arial" pitchFamily="34" charset="0"/>
                </a:rPr>
                <a:t>= 1.6 shifts</a:t>
              </a:r>
            </a:p>
          </p:txBody>
        </p:sp>
        <p:sp>
          <p:nvSpPr>
            <p:cNvPr id="67" name="Rectangle 8">
              <a:extLst>
                <a:ext uri="{FF2B5EF4-FFF2-40B4-BE49-F238E27FC236}">
                  <a16:creationId xmlns:a16="http://schemas.microsoft.com/office/drawing/2014/main" id="{7CDF031A-5A47-47EE-532F-8773ABAE55C6}"/>
                </a:ext>
              </a:extLst>
            </p:cNvPr>
            <p:cNvSpPr>
              <a:spLocks noChangeArrowheads="1"/>
            </p:cNvSpPr>
            <p:nvPr/>
          </p:nvSpPr>
          <p:spPr bwMode="auto">
            <a:xfrm rot="14754">
              <a:off x="2057400" y="5257800"/>
              <a:ext cx="533400" cy="228600"/>
            </a:xfrm>
            <a:prstGeom prst="rect">
              <a:avLst/>
            </a:prstGeom>
            <a:noFill/>
            <a:ln w="12700">
              <a:noFill/>
              <a:miter lim="800000"/>
              <a:headEnd type="none" w="sm" len="sm"/>
              <a:tailEnd type="none" w="sm" len="sm"/>
            </a:ln>
          </p:spPr>
          <p:txBody>
            <a:bodyPr wrap="none" anchor="ctr"/>
            <a:lstStyle/>
            <a:p>
              <a:pPr algn="ctr">
                <a:lnSpc>
                  <a:spcPct val="80000"/>
                </a:lnSpc>
                <a:spcBef>
                  <a:spcPct val="20000"/>
                </a:spcBef>
                <a:defRPr/>
              </a:pPr>
              <a:r>
                <a:rPr lang="en-US" sz="2000" dirty="0">
                  <a:latin typeface="Roboto" panose="02000000000000000000" pitchFamily="2" charset="0"/>
                  <a:ea typeface="Roboto" panose="02000000000000000000" pitchFamily="2" charset="0"/>
                  <a:cs typeface="Arial" pitchFamily="34" charset="0"/>
                </a:rPr>
                <a:t>1</a:t>
              </a:r>
            </a:p>
          </p:txBody>
        </p:sp>
        <p:sp>
          <p:nvSpPr>
            <p:cNvPr id="68" name="Rectangle 9">
              <a:extLst>
                <a:ext uri="{FF2B5EF4-FFF2-40B4-BE49-F238E27FC236}">
                  <a16:creationId xmlns:a16="http://schemas.microsoft.com/office/drawing/2014/main" id="{F59F2F5D-9F4B-D0FD-BD55-061276E0FC73}"/>
                </a:ext>
              </a:extLst>
            </p:cNvPr>
            <p:cNvSpPr>
              <a:spLocks noChangeArrowheads="1"/>
            </p:cNvSpPr>
            <p:nvPr/>
          </p:nvSpPr>
          <p:spPr bwMode="auto">
            <a:xfrm rot="14754">
              <a:off x="2971800" y="5257800"/>
              <a:ext cx="533400" cy="228600"/>
            </a:xfrm>
            <a:prstGeom prst="rect">
              <a:avLst/>
            </a:prstGeom>
            <a:noFill/>
            <a:ln w="12700">
              <a:noFill/>
              <a:miter lim="800000"/>
              <a:headEnd type="none" w="sm" len="sm"/>
              <a:tailEnd type="none" w="sm" len="sm"/>
            </a:ln>
          </p:spPr>
          <p:txBody>
            <a:bodyPr wrap="none" anchor="ctr"/>
            <a:lstStyle/>
            <a:p>
              <a:pPr algn="ctr">
                <a:lnSpc>
                  <a:spcPct val="80000"/>
                </a:lnSpc>
                <a:spcBef>
                  <a:spcPct val="20000"/>
                </a:spcBef>
                <a:defRPr/>
              </a:pPr>
              <a:r>
                <a:rPr lang="en-US" sz="2000" dirty="0">
                  <a:latin typeface="Roboto" panose="02000000000000000000" pitchFamily="2" charset="0"/>
                  <a:ea typeface="Roboto" panose="02000000000000000000" pitchFamily="2" charset="0"/>
                  <a:cs typeface="Arial" pitchFamily="34" charset="0"/>
                </a:rPr>
                <a:t>2</a:t>
              </a:r>
            </a:p>
          </p:txBody>
        </p:sp>
        <p:sp>
          <p:nvSpPr>
            <p:cNvPr id="69" name="Rectangle 10">
              <a:extLst>
                <a:ext uri="{FF2B5EF4-FFF2-40B4-BE49-F238E27FC236}">
                  <a16:creationId xmlns:a16="http://schemas.microsoft.com/office/drawing/2014/main" id="{B761C9B8-BFB8-448E-987B-CF7866B881B2}"/>
                </a:ext>
              </a:extLst>
            </p:cNvPr>
            <p:cNvSpPr>
              <a:spLocks noChangeArrowheads="1"/>
            </p:cNvSpPr>
            <p:nvPr/>
          </p:nvSpPr>
          <p:spPr bwMode="auto">
            <a:xfrm rot="14754">
              <a:off x="3886200" y="5257800"/>
              <a:ext cx="533400" cy="228600"/>
            </a:xfrm>
            <a:prstGeom prst="rect">
              <a:avLst/>
            </a:prstGeom>
            <a:noFill/>
            <a:ln w="12700">
              <a:noFill/>
              <a:miter lim="800000"/>
              <a:headEnd type="none" w="sm" len="sm"/>
              <a:tailEnd type="none" w="sm" len="sm"/>
            </a:ln>
          </p:spPr>
          <p:txBody>
            <a:bodyPr wrap="none" anchor="ctr"/>
            <a:lstStyle/>
            <a:p>
              <a:pPr algn="ctr">
                <a:lnSpc>
                  <a:spcPct val="80000"/>
                </a:lnSpc>
                <a:spcBef>
                  <a:spcPct val="20000"/>
                </a:spcBef>
                <a:defRPr/>
              </a:pPr>
              <a:r>
                <a:rPr lang="en-US" sz="2000" dirty="0">
                  <a:latin typeface="Roboto" panose="02000000000000000000" pitchFamily="2" charset="0"/>
                  <a:ea typeface="Roboto" panose="02000000000000000000" pitchFamily="2" charset="0"/>
                  <a:cs typeface="Arial" pitchFamily="34" charset="0"/>
                </a:rPr>
                <a:t>3</a:t>
              </a:r>
            </a:p>
          </p:txBody>
        </p:sp>
        <p:sp>
          <p:nvSpPr>
            <p:cNvPr id="70" name="Rectangle 11">
              <a:extLst>
                <a:ext uri="{FF2B5EF4-FFF2-40B4-BE49-F238E27FC236}">
                  <a16:creationId xmlns:a16="http://schemas.microsoft.com/office/drawing/2014/main" id="{3488D5B0-CB51-F55B-30DD-2698E937FAEE}"/>
                </a:ext>
              </a:extLst>
            </p:cNvPr>
            <p:cNvSpPr>
              <a:spLocks noChangeArrowheads="1"/>
            </p:cNvSpPr>
            <p:nvPr/>
          </p:nvSpPr>
          <p:spPr bwMode="auto">
            <a:xfrm rot="14754">
              <a:off x="4800600" y="5257800"/>
              <a:ext cx="533400" cy="228600"/>
            </a:xfrm>
            <a:prstGeom prst="rect">
              <a:avLst/>
            </a:prstGeom>
            <a:noFill/>
            <a:ln w="12700">
              <a:noFill/>
              <a:miter lim="800000"/>
              <a:headEnd type="none" w="sm" len="sm"/>
              <a:tailEnd type="none" w="sm" len="sm"/>
            </a:ln>
          </p:spPr>
          <p:txBody>
            <a:bodyPr wrap="none" anchor="ctr"/>
            <a:lstStyle/>
            <a:p>
              <a:pPr algn="ctr">
                <a:lnSpc>
                  <a:spcPct val="80000"/>
                </a:lnSpc>
                <a:spcBef>
                  <a:spcPct val="20000"/>
                </a:spcBef>
                <a:defRPr/>
              </a:pPr>
              <a:r>
                <a:rPr lang="en-US" sz="2000" dirty="0">
                  <a:latin typeface="Roboto" panose="02000000000000000000" pitchFamily="2" charset="0"/>
                  <a:ea typeface="Roboto" panose="02000000000000000000" pitchFamily="2" charset="0"/>
                  <a:cs typeface="Arial" pitchFamily="34" charset="0"/>
                </a:rPr>
                <a:t>4</a:t>
              </a:r>
            </a:p>
          </p:txBody>
        </p:sp>
        <p:sp>
          <p:nvSpPr>
            <p:cNvPr id="71" name="Rectangle 12">
              <a:extLst>
                <a:ext uri="{FF2B5EF4-FFF2-40B4-BE49-F238E27FC236}">
                  <a16:creationId xmlns:a16="http://schemas.microsoft.com/office/drawing/2014/main" id="{D35EA646-A318-77C3-420D-C92BCFD5C6BC}"/>
                </a:ext>
              </a:extLst>
            </p:cNvPr>
            <p:cNvSpPr>
              <a:spLocks noChangeArrowheads="1"/>
            </p:cNvSpPr>
            <p:nvPr/>
          </p:nvSpPr>
          <p:spPr bwMode="auto">
            <a:xfrm rot="14754">
              <a:off x="6553200" y="5257800"/>
              <a:ext cx="533400" cy="228600"/>
            </a:xfrm>
            <a:prstGeom prst="rect">
              <a:avLst/>
            </a:prstGeom>
            <a:noFill/>
            <a:ln w="12700">
              <a:noFill/>
              <a:miter lim="800000"/>
              <a:headEnd type="none" w="sm" len="sm"/>
              <a:tailEnd type="none" w="sm" len="sm"/>
            </a:ln>
          </p:spPr>
          <p:txBody>
            <a:bodyPr wrap="none" anchor="ctr"/>
            <a:lstStyle/>
            <a:p>
              <a:pPr algn="ctr">
                <a:lnSpc>
                  <a:spcPct val="80000"/>
                </a:lnSpc>
                <a:spcBef>
                  <a:spcPct val="20000"/>
                </a:spcBef>
                <a:defRPr/>
              </a:pPr>
              <a:r>
                <a:rPr lang="en-US" sz="2000" dirty="0">
                  <a:latin typeface="Roboto" panose="02000000000000000000" pitchFamily="2" charset="0"/>
                  <a:ea typeface="Roboto" panose="02000000000000000000" pitchFamily="2" charset="0"/>
                  <a:cs typeface="Arial" pitchFamily="34" charset="0"/>
                </a:rPr>
                <a:t>6</a:t>
              </a:r>
            </a:p>
          </p:txBody>
        </p:sp>
        <p:sp>
          <p:nvSpPr>
            <p:cNvPr id="72" name="Rectangle 14" descr="Wide upward diagonal">
              <a:extLst>
                <a:ext uri="{FF2B5EF4-FFF2-40B4-BE49-F238E27FC236}">
                  <a16:creationId xmlns:a16="http://schemas.microsoft.com/office/drawing/2014/main" id="{B887FD50-080C-BBEF-B1F0-B0276AA1A206}"/>
                </a:ext>
              </a:extLst>
            </p:cNvPr>
            <p:cNvSpPr>
              <a:spLocks noChangeArrowheads="1"/>
            </p:cNvSpPr>
            <p:nvPr/>
          </p:nvSpPr>
          <p:spPr bwMode="auto">
            <a:xfrm>
              <a:off x="2133600" y="2590800"/>
              <a:ext cx="457200" cy="2590800"/>
            </a:xfrm>
            <a:prstGeom prst="rect">
              <a:avLst/>
            </a:prstGeom>
            <a:pattFill prst="wdUpDiag">
              <a:fgClr>
                <a:schemeClr val="accent5"/>
              </a:fgClr>
              <a:bgClr>
                <a:srgbClr val="FFFFFF"/>
              </a:bgClr>
            </a:pattFill>
            <a:ln w="12700">
              <a:solidFill>
                <a:schemeClr val="tx1"/>
              </a:solidFill>
              <a:miter lim="800000"/>
              <a:headEnd type="none" w="sm" len="sm"/>
              <a:tailEnd type="none" w="sm" len="sm"/>
            </a:ln>
          </p:spPr>
          <p:txBody>
            <a:bodyPr wrap="none" anchor="ctr"/>
            <a:lstStyle/>
            <a:p>
              <a:pPr algn="ctr">
                <a:lnSpc>
                  <a:spcPct val="80000"/>
                </a:lnSpc>
                <a:spcBef>
                  <a:spcPct val="20000"/>
                </a:spcBef>
                <a:defRPr/>
              </a:pPr>
              <a:endParaRPr lang="en-US" dirty="0">
                <a:solidFill>
                  <a:schemeClr val="accent1"/>
                </a:solidFill>
                <a:latin typeface="+mn-lt"/>
                <a:ea typeface="+mn-ea"/>
                <a:cs typeface="Arial" pitchFamily="34" charset="0"/>
              </a:endParaRPr>
            </a:p>
          </p:txBody>
        </p:sp>
        <p:sp>
          <p:nvSpPr>
            <p:cNvPr id="73" name="Rectangle 15" descr="Wide upward diagonal">
              <a:extLst>
                <a:ext uri="{FF2B5EF4-FFF2-40B4-BE49-F238E27FC236}">
                  <a16:creationId xmlns:a16="http://schemas.microsoft.com/office/drawing/2014/main" id="{6951AC3D-A508-B74B-05E3-AD80B8405CC9}"/>
                </a:ext>
              </a:extLst>
            </p:cNvPr>
            <p:cNvSpPr>
              <a:spLocks noChangeArrowheads="1"/>
            </p:cNvSpPr>
            <p:nvPr/>
          </p:nvSpPr>
          <p:spPr bwMode="auto">
            <a:xfrm>
              <a:off x="3124200" y="3810000"/>
              <a:ext cx="457200" cy="1371600"/>
            </a:xfrm>
            <a:prstGeom prst="rect">
              <a:avLst/>
            </a:prstGeom>
            <a:pattFill prst="wdUpDiag">
              <a:fgClr>
                <a:schemeClr val="accent5"/>
              </a:fgClr>
              <a:bgClr>
                <a:srgbClr val="FFFFFF"/>
              </a:bgClr>
            </a:pattFill>
            <a:ln w="12700">
              <a:solidFill>
                <a:schemeClr val="tx1"/>
              </a:solidFill>
              <a:miter lim="800000"/>
              <a:headEnd type="none" w="sm" len="sm"/>
              <a:tailEnd type="none" w="sm" len="sm"/>
            </a:ln>
          </p:spPr>
          <p:txBody>
            <a:bodyPr wrap="none" anchor="ctr"/>
            <a:lstStyle/>
            <a:p>
              <a:pPr algn="ctr">
                <a:lnSpc>
                  <a:spcPct val="80000"/>
                </a:lnSpc>
                <a:spcBef>
                  <a:spcPct val="20000"/>
                </a:spcBef>
                <a:defRPr/>
              </a:pPr>
              <a:endParaRPr lang="en-US" dirty="0">
                <a:solidFill>
                  <a:schemeClr val="accent1"/>
                </a:solidFill>
                <a:latin typeface="+mn-lt"/>
                <a:ea typeface="+mn-ea"/>
                <a:cs typeface="Arial" pitchFamily="34" charset="0"/>
              </a:endParaRPr>
            </a:p>
          </p:txBody>
        </p:sp>
        <p:sp>
          <p:nvSpPr>
            <p:cNvPr id="74" name="Rectangle 16">
              <a:extLst>
                <a:ext uri="{FF2B5EF4-FFF2-40B4-BE49-F238E27FC236}">
                  <a16:creationId xmlns:a16="http://schemas.microsoft.com/office/drawing/2014/main" id="{5D66F8A2-CEA4-2C5E-A04F-5210127542A0}"/>
                </a:ext>
              </a:extLst>
            </p:cNvPr>
            <p:cNvSpPr>
              <a:spLocks noChangeArrowheads="1"/>
            </p:cNvSpPr>
            <p:nvPr/>
          </p:nvSpPr>
          <p:spPr bwMode="auto">
            <a:xfrm rot="14754">
              <a:off x="4572000" y="2965450"/>
              <a:ext cx="2971800" cy="762000"/>
            </a:xfrm>
            <a:prstGeom prst="rect">
              <a:avLst/>
            </a:prstGeom>
            <a:noFill/>
            <a:ln w="12700">
              <a:noFill/>
              <a:miter lim="800000"/>
              <a:headEnd type="none" w="sm" len="sm"/>
              <a:tailEnd type="none" w="sm" len="sm"/>
            </a:ln>
          </p:spPr>
          <p:txBody>
            <a:bodyPr wrap="none" anchor="ctr"/>
            <a:lstStyle/>
            <a:p>
              <a:pPr algn="ctr">
                <a:lnSpc>
                  <a:spcPct val="80000"/>
                </a:lnSpc>
                <a:spcBef>
                  <a:spcPct val="20000"/>
                </a:spcBef>
                <a:defRPr/>
              </a:pPr>
              <a:r>
                <a:rPr lang="en-US" sz="1600" dirty="0">
                  <a:latin typeface="Roboto" panose="02000000000000000000" pitchFamily="2" charset="0"/>
                  <a:ea typeface="Roboto" panose="02000000000000000000" pitchFamily="2" charset="0"/>
                  <a:cs typeface="Arial" pitchFamily="34" charset="0"/>
                </a:rPr>
                <a:t>Current Resources = 6</a:t>
              </a:r>
            </a:p>
            <a:p>
              <a:pPr algn="ctr">
                <a:lnSpc>
                  <a:spcPct val="80000"/>
                </a:lnSpc>
                <a:spcBef>
                  <a:spcPct val="20000"/>
                </a:spcBef>
                <a:defRPr/>
              </a:pPr>
              <a:endParaRPr lang="en-US" sz="1600" dirty="0">
                <a:latin typeface="Roboto" panose="02000000000000000000" pitchFamily="2" charset="0"/>
                <a:ea typeface="Roboto" panose="02000000000000000000" pitchFamily="2" charset="0"/>
                <a:cs typeface="Arial" pitchFamily="34" charset="0"/>
              </a:endParaRPr>
            </a:p>
          </p:txBody>
        </p:sp>
        <p:sp>
          <p:nvSpPr>
            <p:cNvPr id="75" name="Rectangle 18">
              <a:extLst>
                <a:ext uri="{FF2B5EF4-FFF2-40B4-BE49-F238E27FC236}">
                  <a16:creationId xmlns:a16="http://schemas.microsoft.com/office/drawing/2014/main" id="{2C7BA87F-EFBE-B9B1-8D8B-8C44D2999ABB}"/>
                </a:ext>
              </a:extLst>
            </p:cNvPr>
            <p:cNvSpPr>
              <a:spLocks noChangeArrowheads="1"/>
            </p:cNvSpPr>
            <p:nvPr/>
          </p:nvSpPr>
          <p:spPr bwMode="auto">
            <a:xfrm rot="14754">
              <a:off x="5715000" y="5257800"/>
              <a:ext cx="533400" cy="228600"/>
            </a:xfrm>
            <a:prstGeom prst="rect">
              <a:avLst/>
            </a:prstGeom>
            <a:noFill/>
            <a:ln w="12700">
              <a:noFill/>
              <a:miter lim="800000"/>
              <a:headEnd type="none" w="sm" len="sm"/>
              <a:tailEnd type="none" w="sm" len="sm"/>
            </a:ln>
          </p:spPr>
          <p:txBody>
            <a:bodyPr wrap="none" anchor="ctr"/>
            <a:lstStyle/>
            <a:p>
              <a:pPr algn="ctr">
                <a:lnSpc>
                  <a:spcPct val="80000"/>
                </a:lnSpc>
                <a:spcBef>
                  <a:spcPct val="20000"/>
                </a:spcBef>
                <a:defRPr/>
              </a:pPr>
              <a:r>
                <a:rPr lang="en-US" sz="2000" dirty="0">
                  <a:latin typeface="Roboto" panose="02000000000000000000" pitchFamily="2" charset="0"/>
                  <a:ea typeface="Roboto" panose="02000000000000000000" pitchFamily="2" charset="0"/>
                  <a:cs typeface="Arial" pitchFamily="34" charset="0"/>
                </a:rPr>
                <a:t>5</a:t>
              </a:r>
            </a:p>
          </p:txBody>
        </p:sp>
      </p:grpSp>
    </p:spTree>
    <p:extLst>
      <p:ext uri="{BB962C8B-B14F-4D97-AF65-F5344CB8AC3E}">
        <p14:creationId xmlns:p14="http://schemas.microsoft.com/office/powerpoint/2010/main" val="73587777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dirty="0"/>
              <a:t>Kaizen Results </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58</a:t>
            </a:fld>
            <a:endParaRPr lang="en-US"/>
          </a:p>
        </p:txBody>
      </p:sp>
      <p:grpSp>
        <p:nvGrpSpPr>
          <p:cNvPr id="4" name="Group 3">
            <a:extLst>
              <a:ext uri="{FF2B5EF4-FFF2-40B4-BE49-F238E27FC236}">
                <a16:creationId xmlns:a16="http://schemas.microsoft.com/office/drawing/2014/main" id="{68B43806-C085-B892-8E50-7696A18CD9F0}"/>
              </a:ext>
            </a:extLst>
          </p:cNvPr>
          <p:cNvGrpSpPr/>
          <p:nvPr/>
        </p:nvGrpSpPr>
        <p:grpSpPr>
          <a:xfrm>
            <a:off x="838200" y="297639"/>
            <a:ext cx="4545330" cy="301303"/>
            <a:chOff x="838200" y="297639"/>
            <a:chExt cx="4545330" cy="301303"/>
          </a:xfrm>
        </p:grpSpPr>
        <p:sp>
          <p:nvSpPr>
            <p:cNvPr id="6" name="AutoShape 9">
              <a:extLst>
                <a:ext uri="{FF2B5EF4-FFF2-40B4-BE49-F238E27FC236}">
                  <a16:creationId xmlns:a16="http://schemas.microsoft.com/office/drawing/2014/main" id="{0B27A768-EE8C-8FFD-7782-F5A549A977AA}"/>
                </a:ext>
              </a:extLst>
            </p:cNvPr>
            <p:cNvSpPr>
              <a:spLocks noChangeArrowheads="1"/>
            </p:cNvSpPr>
            <p:nvPr/>
          </p:nvSpPr>
          <p:spPr bwMode="auto">
            <a:xfrm>
              <a:off x="1779225" y="298454"/>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7" name="Group 6">
              <a:extLst>
                <a:ext uri="{FF2B5EF4-FFF2-40B4-BE49-F238E27FC236}">
                  <a16:creationId xmlns:a16="http://schemas.microsoft.com/office/drawing/2014/main" id="{663992D9-BF0C-A952-1DDD-B669A9932737}"/>
                </a:ext>
              </a:extLst>
            </p:cNvPr>
            <p:cNvGrpSpPr/>
            <p:nvPr/>
          </p:nvGrpSpPr>
          <p:grpSpPr>
            <a:xfrm>
              <a:off x="838200" y="297639"/>
              <a:ext cx="4545330" cy="301303"/>
              <a:chOff x="838200" y="297639"/>
              <a:chExt cx="4545330" cy="301303"/>
            </a:xfrm>
          </p:grpSpPr>
          <p:grpSp>
            <p:nvGrpSpPr>
              <p:cNvPr id="8" name="Group 7">
                <a:extLst>
                  <a:ext uri="{FF2B5EF4-FFF2-40B4-BE49-F238E27FC236}">
                    <a16:creationId xmlns:a16="http://schemas.microsoft.com/office/drawing/2014/main" id="{3D989A41-542C-35CD-AF4A-CB43CD262BD5}"/>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056BF4DA-50EB-E510-F1A7-DA29C2D84C6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711F63DC-1CB9-178B-C803-D3EAFF7E308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B75C5D4F-D63F-B68C-2CD1-F542E984CD7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9" name="TextBox 8">
                <a:extLst>
                  <a:ext uri="{FF2B5EF4-FFF2-40B4-BE49-F238E27FC236}">
                    <a16:creationId xmlns:a16="http://schemas.microsoft.com/office/drawing/2014/main" id="{0E3936B2-5343-B810-B777-5AD66D5FB9C6}"/>
                  </a:ext>
                </a:extLst>
              </p:cNvPr>
              <p:cNvSpPr txBox="1"/>
              <p:nvPr/>
            </p:nvSpPr>
            <p:spPr>
              <a:xfrm>
                <a:off x="2190452" y="307580"/>
                <a:ext cx="31930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Standard Work Documentation</a:t>
                </a:r>
              </a:p>
            </p:txBody>
          </p:sp>
        </p:grpSp>
      </p:grpSp>
      <p:pic>
        <p:nvPicPr>
          <p:cNvPr id="15" name="Picture 12" descr="Kaizen Summary">
            <a:extLst>
              <a:ext uri="{FF2B5EF4-FFF2-40B4-BE49-F238E27FC236}">
                <a16:creationId xmlns:a16="http://schemas.microsoft.com/office/drawing/2014/main" id="{6AC4727E-5513-F2BB-3AF9-49749896F7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78714" y="1772783"/>
            <a:ext cx="4834573" cy="4620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4542796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3600" dirty="0"/>
              <a:t>Prepare for Final Report-Out to Management</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lnSpcReduction="10000"/>
          </a:bodyPr>
          <a:lstStyle/>
          <a:p>
            <a:r>
              <a:rPr lang="en-US" dirty="0"/>
              <a:t>All team members should contribute to the final report-out presentation to management</a:t>
            </a:r>
          </a:p>
          <a:p>
            <a:r>
              <a:rPr lang="en-US" dirty="0"/>
              <a:t>Report-out should include</a:t>
            </a:r>
          </a:p>
          <a:p>
            <a:pPr lvl="1"/>
            <a:r>
              <a:rPr lang="en-US" dirty="0"/>
              <a:t>Introduction of Team</a:t>
            </a:r>
          </a:p>
          <a:p>
            <a:pPr lvl="1"/>
            <a:r>
              <a:rPr lang="en-US" dirty="0"/>
              <a:t>Review of Event Charter</a:t>
            </a:r>
          </a:p>
          <a:p>
            <a:pPr lvl="1"/>
            <a:r>
              <a:rPr lang="en-US" dirty="0"/>
              <a:t>Review of Former Process and Documentation Forms</a:t>
            </a:r>
          </a:p>
          <a:p>
            <a:pPr lvl="1"/>
            <a:r>
              <a:rPr lang="en-US" dirty="0"/>
              <a:t>Review of Improvement Opportunities Identified and Implemented</a:t>
            </a:r>
          </a:p>
          <a:p>
            <a:pPr lvl="1"/>
            <a:r>
              <a:rPr lang="en-US" dirty="0"/>
              <a:t>Review of Standard Work Documentation and Kaizen Results Form</a:t>
            </a:r>
          </a:p>
          <a:p>
            <a:pPr lvl="1"/>
            <a:r>
              <a:rPr lang="en-US" dirty="0"/>
              <a:t>Review of Kaizen Newspaper</a:t>
            </a:r>
          </a:p>
          <a:p>
            <a:r>
              <a:rPr lang="en-US" dirty="0"/>
              <a:t>Typical Report-Out times are 15 minutes for presentation and 15 minutes for questions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59</a:t>
            </a:fld>
            <a:endParaRPr lang="en-US"/>
          </a:p>
        </p:txBody>
      </p:sp>
      <p:grpSp>
        <p:nvGrpSpPr>
          <p:cNvPr id="4" name="Group 3">
            <a:extLst>
              <a:ext uri="{FF2B5EF4-FFF2-40B4-BE49-F238E27FC236}">
                <a16:creationId xmlns:a16="http://schemas.microsoft.com/office/drawing/2014/main" id="{68B43806-C085-B892-8E50-7696A18CD9F0}"/>
              </a:ext>
            </a:extLst>
          </p:cNvPr>
          <p:cNvGrpSpPr/>
          <p:nvPr/>
        </p:nvGrpSpPr>
        <p:grpSpPr>
          <a:xfrm>
            <a:off x="838200" y="297639"/>
            <a:ext cx="4545330" cy="301303"/>
            <a:chOff x="838200" y="297639"/>
            <a:chExt cx="4545330" cy="301303"/>
          </a:xfrm>
        </p:grpSpPr>
        <p:sp>
          <p:nvSpPr>
            <p:cNvPr id="6" name="AutoShape 9">
              <a:extLst>
                <a:ext uri="{FF2B5EF4-FFF2-40B4-BE49-F238E27FC236}">
                  <a16:creationId xmlns:a16="http://schemas.microsoft.com/office/drawing/2014/main" id="{0B27A768-EE8C-8FFD-7782-F5A549A977AA}"/>
                </a:ext>
              </a:extLst>
            </p:cNvPr>
            <p:cNvSpPr>
              <a:spLocks noChangeArrowheads="1"/>
            </p:cNvSpPr>
            <p:nvPr/>
          </p:nvSpPr>
          <p:spPr bwMode="auto">
            <a:xfrm>
              <a:off x="1779225" y="298454"/>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7" name="Group 6">
              <a:extLst>
                <a:ext uri="{FF2B5EF4-FFF2-40B4-BE49-F238E27FC236}">
                  <a16:creationId xmlns:a16="http://schemas.microsoft.com/office/drawing/2014/main" id="{663992D9-BF0C-A952-1DDD-B669A9932737}"/>
                </a:ext>
              </a:extLst>
            </p:cNvPr>
            <p:cNvGrpSpPr/>
            <p:nvPr/>
          </p:nvGrpSpPr>
          <p:grpSpPr>
            <a:xfrm>
              <a:off x="838200" y="297639"/>
              <a:ext cx="4545330" cy="301303"/>
              <a:chOff x="838200" y="297639"/>
              <a:chExt cx="4545330" cy="301303"/>
            </a:xfrm>
          </p:grpSpPr>
          <p:grpSp>
            <p:nvGrpSpPr>
              <p:cNvPr id="8" name="Group 7">
                <a:extLst>
                  <a:ext uri="{FF2B5EF4-FFF2-40B4-BE49-F238E27FC236}">
                    <a16:creationId xmlns:a16="http://schemas.microsoft.com/office/drawing/2014/main" id="{3D989A41-542C-35CD-AF4A-CB43CD262BD5}"/>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056BF4DA-50EB-E510-F1A7-DA29C2D84C6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711F63DC-1CB9-178B-C803-D3EAFF7E308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B75C5D4F-D63F-B68C-2CD1-F542E984CD7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9" name="TextBox 8">
                <a:extLst>
                  <a:ext uri="{FF2B5EF4-FFF2-40B4-BE49-F238E27FC236}">
                    <a16:creationId xmlns:a16="http://schemas.microsoft.com/office/drawing/2014/main" id="{0E3936B2-5343-B810-B777-5AD66D5FB9C6}"/>
                  </a:ext>
                </a:extLst>
              </p:cNvPr>
              <p:cNvSpPr txBox="1"/>
              <p:nvPr/>
            </p:nvSpPr>
            <p:spPr>
              <a:xfrm>
                <a:off x="2190452" y="307580"/>
                <a:ext cx="31930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Standard Work Documentation</a:t>
                </a:r>
              </a:p>
            </p:txBody>
          </p:sp>
        </p:grpSp>
      </p:grpSp>
    </p:spTree>
    <p:extLst>
      <p:ext uri="{BB962C8B-B14F-4D97-AF65-F5344CB8AC3E}">
        <p14:creationId xmlns:p14="http://schemas.microsoft.com/office/powerpoint/2010/main" val="244576594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3600" dirty="0"/>
              <a:t>Review Exercise</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pPr marL="0" indent="0">
              <a:buNone/>
            </a:pPr>
            <a:r>
              <a:rPr lang="en-US" b="1" dirty="0"/>
              <a:t>2 Minute Review</a:t>
            </a:r>
          </a:p>
          <a:p>
            <a:r>
              <a:rPr lang="en-US" dirty="0"/>
              <a:t>In pairs, or in small groups, spend 2 minutes discussing key learning's and take-aways from this Standard Work Event thus far</a:t>
            </a:r>
          </a:p>
          <a:p>
            <a:r>
              <a:rPr lang="en-US" dirty="0"/>
              <a:t>One person from each group will share one learning that was discussed with the rest of the class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60</a:t>
            </a:fld>
            <a:endParaRPr lang="en-US"/>
          </a:p>
        </p:txBody>
      </p:sp>
    </p:spTree>
    <p:extLst>
      <p:ext uri="{BB962C8B-B14F-4D97-AF65-F5344CB8AC3E}">
        <p14:creationId xmlns:p14="http://schemas.microsoft.com/office/powerpoint/2010/main" val="411571659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Standard Work Summary</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lnSpcReduction="10000"/>
          </a:bodyPr>
          <a:lstStyle/>
          <a:p>
            <a:r>
              <a:rPr lang="en-US" dirty="0"/>
              <a:t>Quality products produced at TAKT time</a:t>
            </a:r>
          </a:p>
          <a:p>
            <a:r>
              <a:rPr lang="en-US" dirty="0"/>
              <a:t>Productive utilization of people</a:t>
            </a:r>
          </a:p>
          <a:p>
            <a:pPr lvl="1"/>
            <a:r>
              <a:rPr lang="en-US" dirty="0"/>
              <a:t>Associates should operate</a:t>
            </a:r>
          </a:p>
          <a:p>
            <a:pPr lvl="1"/>
            <a:r>
              <a:rPr lang="en-US" dirty="0"/>
              <a:t>High associate productivity through loading to TAKT time</a:t>
            </a:r>
          </a:p>
          <a:p>
            <a:pPr lvl="1"/>
            <a:r>
              <a:rPr lang="en-US" dirty="0"/>
              <a:t>Designed for minimum and maximum manning</a:t>
            </a:r>
          </a:p>
          <a:p>
            <a:r>
              <a:rPr lang="en-US" dirty="0"/>
              <a:t>Continuous flow, and flow of Associates</a:t>
            </a:r>
          </a:p>
          <a:p>
            <a:pPr lvl="1"/>
            <a:r>
              <a:rPr lang="en-US" dirty="0"/>
              <a:t>Workstation optimized for presentation of work; design supports continuous associate movement but minimizes wasted motion</a:t>
            </a:r>
          </a:p>
          <a:p>
            <a:r>
              <a:rPr lang="en-US" dirty="0"/>
              <a:t>Immediate flow information/feedback</a:t>
            </a:r>
          </a:p>
          <a:p>
            <a:r>
              <a:rPr lang="en-US" dirty="0"/>
              <a:t>Expose problems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61</a:t>
            </a:fld>
            <a:endParaRPr lang="en-US"/>
          </a:p>
        </p:txBody>
      </p:sp>
    </p:spTree>
    <p:extLst>
      <p:ext uri="{BB962C8B-B14F-4D97-AF65-F5344CB8AC3E}">
        <p14:creationId xmlns:p14="http://schemas.microsoft.com/office/powerpoint/2010/main" val="238228080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Standard Work Summary</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If a process is not documented, there is no process</a:t>
            </a:r>
          </a:p>
          <a:p>
            <a:r>
              <a:rPr lang="en-US" dirty="0"/>
              <a:t>Consistency in operations = improved quality</a:t>
            </a:r>
          </a:p>
          <a:p>
            <a:r>
              <a:rPr lang="en-US" dirty="0"/>
              <a:t>Without a standard, there can be no consistent improvement</a:t>
            </a:r>
          </a:p>
          <a:p>
            <a:r>
              <a:rPr lang="en-US" dirty="0"/>
              <a:t>Standard Work is dynamic, not stagnant</a:t>
            </a:r>
          </a:p>
          <a:p>
            <a:r>
              <a:rPr lang="en-US" dirty="0"/>
              <a:t>Standard Work is a management tool</a:t>
            </a:r>
          </a:p>
          <a:p>
            <a:r>
              <a:rPr lang="en-US" dirty="0"/>
              <a:t>Do not use Standard Work to lay off Associates</a:t>
            </a:r>
          </a:p>
          <a:p>
            <a:r>
              <a:rPr lang="en-US" dirty="0"/>
              <a:t>If Standard Work is &gt;30 days old, ask questions</a:t>
            </a:r>
          </a:p>
          <a:p>
            <a:pPr lvl="1"/>
            <a:r>
              <a:rPr lang="en-US" dirty="0"/>
              <a:t> Has demand changed?</a:t>
            </a:r>
          </a:p>
          <a:p>
            <a:pPr lvl="1"/>
            <a:r>
              <a:rPr lang="en-US" dirty="0"/>
              <a:t> Have improvements been made?</a:t>
            </a:r>
          </a:p>
          <a:p>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62</a:t>
            </a:fld>
            <a:endParaRPr lang="en-US"/>
          </a:p>
        </p:txBody>
      </p:sp>
    </p:spTree>
    <p:extLst>
      <p:ext uri="{BB962C8B-B14F-4D97-AF65-F5344CB8AC3E}">
        <p14:creationId xmlns:p14="http://schemas.microsoft.com/office/powerpoint/2010/main" val="132944647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Standard Work Summary</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63</a:t>
            </a:fld>
            <a:endParaRPr lang="en-US"/>
          </a:p>
        </p:txBody>
      </p:sp>
      <p:sp>
        <p:nvSpPr>
          <p:cNvPr id="12" name="Rectangle 3">
            <a:extLst>
              <a:ext uri="{FF2B5EF4-FFF2-40B4-BE49-F238E27FC236}">
                <a16:creationId xmlns:a16="http://schemas.microsoft.com/office/drawing/2014/main" id="{09BDA70E-1372-22B4-70C9-B41E9A682F43}"/>
              </a:ext>
            </a:extLst>
          </p:cNvPr>
          <p:cNvSpPr txBox="1">
            <a:spLocks noChangeArrowheads="1"/>
          </p:cNvSpPr>
          <p:nvPr/>
        </p:nvSpPr>
        <p:spPr>
          <a:xfrm>
            <a:off x="2013744" y="2788603"/>
            <a:ext cx="8164513" cy="2036762"/>
          </a:xfrm>
          <a:prstGeom prst="rect">
            <a:avLst/>
          </a:prstGeom>
          <a:solidFill>
            <a:schemeClr val="accent1"/>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ja-JP" altLang="en-US" sz="3200" dirty="0">
                <a:solidFill>
                  <a:schemeClr val="bg1"/>
                </a:solidFill>
              </a:rPr>
              <a:t>“</a:t>
            </a:r>
            <a:r>
              <a:rPr lang="en-US" altLang="ja-JP" sz="3200" dirty="0">
                <a:solidFill>
                  <a:schemeClr val="bg1"/>
                </a:solidFill>
              </a:rPr>
              <a:t>If you don</a:t>
            </a:r>
            <a:r>
              <a:rPr lang="ja-JP" altLang="en-US" sz="3200" dirty="0">
                <a:solidFill>
                  <a:schemeClr val="bg1"/>
                </a:solidFill>
              </a:rPr>
              <a:t>’</a:t>
            </a:r>
            <a:r>
              <a:rPr lang="en-US" altLang="ja-JP" sz="3200" dirty="0">
                <a:solidFill>
                  <a:schemeClr val="bg1"/>
                </a:solidFill>
              </a:rPr>
              <a:t>t understand Standard Work, you don</a:t>
            </a:r>
            <a:r>
              <a:rPr lang="ja-JP" altLang="en-US" sz="3200" dirty="0">
                <a:solidFill>
                  <a:schemeClr val="bg1"/>
                </a:solidFill>
              </a:rPr>
              <a:t>’</a:t>
            </a:r>
            <a:r>
              <a:rPr lang="en-US" altLang="ja-JP" sz="3200" dirty="0">
                <a:solidFill>
                  <a:schemeClr val="bg1"/>
                </a:solidFill>
              </a:rPr>
              <a:t>t understand the Toyota Production System.</a:t>
            </a:r>
            <a:r>
              <a:rPr lang="ja-JP" altLang="en-US" sz="3200" dirty="0">
                <a:solidFill>
                  <a:schemeClr val="bg1"/>
                </a:solidFill>
              </a:rPr>
              <a:t>”</a:t>
            </a:r>
            <a:endParaRPr lang="en-US" altLang="ja-JP" sz="3200" dirty="0">
              <a:solidFill>
                <a:schemeClr val="bg1"/>
              </a:solidFill>
            </a:endParaRPr>
          </a:p>
          <a:p>
            <a:pPr>
              <a:buFont typeface="Wingdings" panose="05000000000000000000" pitchFamily="2" charset="2"/>
              <a:buNone/>
            </a:pPr>
            <a:r>
              <a:rPr lang="en-US" altLang="en-US" sz="1800" dirty="0">
                <a:solidFill>
                  <a:schemeClr val="bg1"/>
                </a:solidFill>
              </a:rPr>
              <a:t>						</a:t>
            </a:r>
            <a:r>
              <a:rPr lang="en-US" altLang="en-US" sz="1800" dirty="0" err="1">
                <a:solidFill>
                  <a:schemeClr val="bg1"/>
                </a:solidFill>
              </a:rPr>
              <a:t>Senji</a:t>
            </a:r>
            <a:r>
              <a:rPr lang="en-US" altLang="en-US" sz="1800" dirty="0">
                <a:solidFill>
                  <a:schemeClr val="bg1"/>
                </a:solidFill>
              </a:rPr>
              <a:t> </a:t>
            </a:r>
            <a:r>
              <a:rPr lang="en-US" altLang="en-US" sz="1800" dirty="0" err="1">
                <a:solidFill>
                  <a:schemeClr val="bg1"/>
                </a:solidFill>
              </a:rPr>
              <a:t>Niwa</a:t>
            </a:r>
            <a:r>
              <a:rPr lang="en-US" altLang="en-US" sz="1800" dirty="0">
                <a:solidFill>
                  <a:schemeClr val="bg1"/>
                </a:solidFill>
              </a:rPr>
              <a:t> (1989)                    					</a:t>
            </a:r>
            <a:r>
              <a:rPr lang="en-US" altLang="en-US" sz="1800" dirty="0" err="1">
                <a:solidFill>
                  <a:schemeClr val="bg1"/>
                </a:solidFill>
              </a:rPr>
              <a:t>Shingijutsu</a:t>
            </a:r>
            <a:r>
              <a:rPr lang="en-US" altLang="en-US" sz="1800" dirty="0">
                <a:solidFill>
                  <a:schemeClr val="bg1"/>
                </a:solidFill>
              </a:rPr>
              <a:t> Co., Ltd.</a:t>
            </a:r>
          </a:p>
          <a:p>
            <a:endParaRPr lang="en-US" altLang="en-US" sz="1800" dirty="0">
              <a:solidFill>
                <a:schemeClr val="bg1"/>
              </a:solidFill>
            </a:endParaRPr>
          </a:p>
          <a:p>
            <a:endParaRPr lang="en-US" altLang="en-US" sz="1800" dirty="0"/>
          </a:p>
        </p:txBody>
      </p:sp>
    </p:spTree>
    <p:extLst>
      <p:ext uri="{BB962C8B-B14F-4D97-AF65-F5344CB8AC3E}">
        <p14:creationId xmlns:p14="http://schemas.microsoft.com/office/powerpoint/2010/main" val="326094032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01234-A0AA-5598-26B5-033CE6FE23E5}"/>
              </a:ext>
            </a:extLst>
          </p:cNvPr>
          <p:cNvSpPr txBox="1">
            <a:spLocks/>
          </p:cNvSpPr>
          <p:nvPr/>
        </p:nvSpPr>
        <p:spPr>
          <a:xfrm>
            <a:off x="606705" y="793843"/>
            <a:ext cx="10515600" cy="1022351"/>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dirty="0">
                <a:solidFill>
                  <a:schemeClr val="tx1"/>
                </a:solidFill>
                <a:latin typeface="Roboto Medium"/>
                <a:cs typeface="Roboto"/>
              </a:rPr>
              <a:t>Other</a:t>
            </a:r>
            <a:r>
              <a:rPr lang="en-US" dirty="0">
                <a:solidFill>
                  <a:schemeClr val="tx1"/>
                </a:solidFill>
                <a:latin typeface="Roboto Medium"/>
                <a:cs typeface="Roboto Medium"/>
              </a:rPr>
              <a:t> Modules In This Series:</a:t>
            </a:r>
          </a:p>
        </p:txBody>
      </p:sp>
      <p:pic>
        <p:nvPicPr>
          <p:cNvPr id="3" name="Picture 2">
            <a:extLst>
              <a:ext uri="{FF2B5EF4-FFF2-40B4-BE49-F238E27FC236}">
                <a16:creationId xmlns:a16="http://schemas.microsoft.com/office/drawing/2014/main" id="{5DF3825E-B951-729D-1675-8A890DAAC766}"/>
              </a:ext>
            </a:extLst>
          </p:cNvPr>
          <p:cNvPicPr>
            <a:picLocks noChangeAspect="1"/>
          </p:cNvPicPr>
          <p:nvPr/>
        </p:nvPicPr>
        <p:blipFill>
          <a:blip r:embed="rId3"/>
          <a:stretch>
            <a:fillRect/>
          </a:stretch>
        </p:blipFill>
        <p:spPr>
          <a:xfrm>
            <a:off x="605117" y="1638489"/>
            <a:ext cx="3939240" cy="45719"/>
          </a:xfrm>
          <a:prstGeom prst="rect">
            <a:avLst/>
          </a:prstGeom>
        </p:spPr>
      </p:pic>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5839258" y="116664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chemeClr val="tx1"/>
                </a:solidFill>
              </a:rPr>
              <a:t>5S</a:t>
            </a:r>
          </a:p>
          <a:p>
            <a:pPr marL="0" indent="0" algn="r">
              <a:buNone/>
            </a:pPr>
            <a:r>
              <a:rPr lang="en-US" sz="1400" dirty="0">
                <a:solidFill>
                  <a:schemeClr val="tx1"/>
                </a:solidFill>
              </a:rPr>
              <a:t>Standard Work</a:t>
            </a:r>
          </a:p>
          <a:p>
            <a:pPr marL="0" indent="0" algn="r">
              <a:buNone/>
            </a:pPr>
            <a:r>
              <a:rPr lang="en-US" sz="1400" dirty="0">
                <a:solidFill>
                  <a:schemeClr val="tx1"/>
                </a:solidFill>
              </a:rPr>
              <a:t>Total Productive Maintenance (TPM)</a:t>
            </a:r>
          </a:p>
          <a:p>
            <a:pPr marL="0" indent="0" algn="r">
              <a:buNone/>
            </a:pPr>
            <a:r>
              <a:rPr lang="en-US" sz="1400" dirty="0">
                <a:solidFill>
                  <a:schemeClr val="tx1"/>
                </a:solidFill>
              </a:rPr>
              <a:t>Administrative Lean</a:t>
            </a:r>
          </a:p>
          <a:p>
            <a:pPr marL="0" indent="0" algn="r">
              <a:buNone/>
            </a:pPr>
            <a:r>
              <a:rPr lang="en-US" sz="1400" dirty="0">
                <a:solidFill>
                  <a:schemeClr val="tx1"/>
                </a:solidFill>
              </a:rPr>
              <a:t>Cell Design/ Production Preparation Process (3P)</a:t>
            </a:r>
          </a:p>
          <a:p>
            <a:pPr marL="0" indent="0" algn="r">
              <a:buNone/>
            </a:pPr>
            <a:r>
              <a:rPr lang="en-US" sz="1400" dirty="0">
                <a:solidFill>
                  <a:schemeClr val="tx1"/>
                </a:solidFill>
              </a:rPr>
              <a:t>Kaizen</a:t>
            </a:r>
          </a:p>
          <a:p>
            <a:pPr marL="0" indent="0" algn="r">
              <a:buNone/>
            </a:pPr>
            <a:r>
              <a:rPr lang="en-US" sz="1400" dirty="0">
                <a:solidFill>
                  <a:schemeClr val="tx1"/>
                </a:solidFill>
              </a:rPr>
              <a:t>Kanban</a:t>
            </a:r>
          </a:p>
          <a:p>
            <a:pPr marL="0" indent="0" algn="r">
              <a:buNone/>
            </a:pPr>
            <a:r>
              <a:rPr lang="en-US" sz="1400" dirty="0">
                <a:solidFill>
                  <a:schemeClr val="tx1"/>
                </a:solidFill>
              </a:rPr>
              <a:t>Problem Solving</a:t>
            </a:r>
          </a:p>
          <a:p>
            <a:pPr marL="0" indent="0" algn="r">
              <a:buNone/>
            </a:pPr>
            <a:r>
              <a:rPr lang="en-US" sz="1400" dirty="0" err="1">
                <a:solidFill>
                  <a:schemeClr val="tx1"/>
                </a:solidFill>
              </a:rPr>
              <a:t>Poka</a:t>
            </a:r>
            <a:r>
              <a:rPr lang="en-US" sz="1400" dirty="0">
                <a:solidFill>
                  <a:schemeClr val="tx1"/>
                </a:solidFill>
              </a:rPr>
              <a:t> Yoke Quality Systems</a:t>
            </a:r>
          </a:p>
          <a:p>
            <a:pPr marL="0" indent="0" algn="r">
              <a:buNone/>
            </a:pPr>
            <a:r>
              <a:rPr lang="en-US" sz="1400" dirty="0">
                <a:solidFill>
                  <a:schemeClr val="tx1"/>
                </a:solidFill>
              </a:rPr>
              <a:t>Transaction Process Improvement (TPI)</a:t>
            </a:r>
          </a:p>
          <a:p>
            <a:pPr marL="0" indent="0" algn="r">
              <a:buNone/>
            </a:pPr>
            <a:r>
              <a:rPr lang="en-US" sz="1400" dirty="0">
                <a:solidFill>
                  <a:schemeClr val="tx1"/>
                </a:solidFill>
              </a:rPr>
              <a:t>Cause &amp; Effect Diagram with the Additions of Cards (CEDAC)</a:t>
            </a:r>
          </a:p>
          <a:p>
            <a:pPr marL="0" indent="0" algn="r">
              <a:buNone/>
            </a:pPr>
            <a:r>
              <a:rPr lang="en-US" sz="1400" dirty="0">
                <a:solidFill>
                  <a:schemeClr val="tx1"/>
                </a:solidFill>
              </a:rPr>
              <a:t>Single Minute Exchange of Dies (SMED)</a:t>
            </a:r>
          </a:p>
          <a:p>
            <a:pPr marL="0" indent="0" algn="r">
              <a:buNone/>
            </a:pPr>
            <a:r>
              <a:rPr lang="en-US" sz="1400" dirty="0">
                <a:solidFill>
                  <a:schemeClr val="tx1"/>
                </a:solidFill>
              </a:rPr>
              <a:t>Value Stream Mapping (</a:t>
            </a:r>
            <a:r>
              <a:rPr lang="en-US" sz="1400" dirty="0" err="1">
                <a:solidFill>
                  <a:schemeClr val="tx1"/>
                </a:solidFill>
              </a:rPr>
              <a:t>VSMi</a:t>
            </a:r>
            <a:r>
              <a:rPr lang="en-US" sz="1400" dirty="0">
                <a:solidFill>
                  <a:schemeClr val="tx1"/>
                </a:solidFill>
              </a:rPr>
              <a:t>®)</a:t>
            </a:r>
          </a:p>
          <a:p>
            <a:pPr marL="0" indent="0" algn="r">
              <a:buNone/>
            </a:pPr>
            <a:r>
              <a:rPr lang="en-US" sz="1400" dirty="0">
                <a:solidFill>
                  <a:schemeClr val="tx1"/>
                </a:solidFill>
              </a:rPr>
              <a:t>Visual Management</a:t>
            </a:r>
          </a:p>
          <a:p>
            <a:pPr marL="0" indent="0" algn="r">
              <a:buNone/>
            </a:pPr>
            <a:r>
              <a:rPr lang="en-US" sz="1400" dirty="0">
                <a:solidFill>
                  <a:schemeClr val="tx1"/>
                </a:solidFill>
              </a:rPr>
              <a:t>Managing Daily Process Excellence</a:t>
            </a:r>
          </a:p>
        </p:txBody>
      </p:sp>
      <p:pic>
        <p:nvPicPr>
          <p:cNvPr id="11" name="Picture 10">
            <a:extLst>
              <a:ext uri="{FF2B5EF4-FFF2-40B4-BE49-F238E27FC236}">
                <a16:creationId xmlns:a16="http://schemas.microsoft.com/office/drawing/2014/main" id="{11F73560-3A07-DDBC-A93D-9C2969C3C8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
        <p:nvSpPr>
          <p:cNvPr id="13" name="Steve Jones">
            <a:extLst>
              <a:ext uri="{FF2B5EF4-FFF2-40B4-BE49-F238E27FC236}">
                <a16:creationId xmlns:a16="http://schemas.microsoft.com/office/drawing/2014/main" id="{32D7D26D-2286-A78A-74DF-8555FD64C346}"/>
              </a:ext>
            </a:extLst>
          </p:cNvPr>
          <p:cNvSpPr/>
          <p:nvPr/>
        </p:nvSpPr>
        <p:spPr>
          <a:xfrm>
            <a:off x="1069695" y="4201690"/>
            <a:ext cx="3475310" cy="199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ctr">
            <a:spAutoFit/>
          </a:bodyPr>
          <a:lstStyle>
            <a:lvl1pPr defTabSz="1155700">
              <a:lnSpc>
                <a:spcPct val="80000"/>
              </a:lnSpc>
              <a:defRPr sz="3000" b="1">
                <a:solidFill>
                  <a:srgbClr val="FFFFFF"/>
                </a:solidFill>
              </a:defRPr>
            </a:lvl1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14" name="Head of Management Dept.">
            <a:extLst>
              <a:ext uri="{FF2B5EF4-FFF2-40B4-BE49-F238E27FC236}">
                <a16:creationId xmlns:a16="http://schemas.microsoft.com/office/drawing/2014/main" id="{13AAF857-F867-C38A-47E8-4FCE37EF32C8}"/>
              </a:ext>
            </a:extLst>
          </p:cNvPr>
          <p:cNvSpPr/>
          <p:nvPr/>
        </p:nvSpPr>
        <p:spPr>
          <a:xfrm>
            <a:off x="1367375" y="4590893"/>
            <a:ext cx="2879948" cy="83817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defTabSz="1155700">
              <a:defRPr sz="3000">
                <a:solidFill>
                  <a:srgbClr val="5D616E"/>
                </a:solidFill>
              </a:defRPr>
            </a:lvl1pPr>
          </a:lstStyle>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 DeLuzio, President and CEO</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+1.860.234.0915</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TextBox 14">
            <a:extLst>
              <a:ext uri="{FF2B5EF4-FFF2-40B4-BE49-F238E27FC236}">
                <a16:creationId xmlns:a16="http://schemas.microsoft.com/office/drawing/2014/main" id="{1729F7AC-495A-4FB8-042F-1DBECD3DB7C9}"/>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latin typeface="Roboto" panose="02000000000000000000" pitchFamily="2" charset="0"/>
              <a:ea typeface="Roboto" panose="02000000000000000000" pitchFamily="2" charset="0"/>
              <a:cs typeface="Roboto" panose="02000000000000000000" pitchFamily="2" charset="0"/>
            </a:endParaRPr>
          </a:p>
        </p:txBody>
      </p:sp>
      <p:sp>
        <p:nvSpPr>
          <p:cNvPr id="18" name="Slide Number Placeholder 17">
            <a:extLst>
              <a:ext uri="{FF2B5EF4-FFF2-40B4-BE49-F238E27FC236}">
                <a16:creationId xmlns:a16="http://schemas.microsoft.com/office/drawing/2014/main" id="{F71C8E8F-D781-AA13-E1D1-E5284A242753}"/>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64</a:t>
            </a:fld>
            <a:endParaRPr lang="en-US" dirty="0"/>
          </a:p>
        </p:txBody>
      </p:sp>
    </p:spTree>
    <p:extLst>
      <p:ext uri="{BB962C8B-B14F-4D97-AF65-F5344CB8AC3E}">
        <p14:creationId xmlns:p14="http://schemas.microsoft.com/office/powerpoint/2010/main" val="987190569"/>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EE3228"/>
      </a:accent1>
      <a:accent2>
        <a:srgbClr val="FDCA40"/>
      </a:accent2>
      <a:accent3>
        <a:srgbClr val="939598"/>
      </a:accent3>
      <a:accent4>
        <a:srgbClr val="76939F"/>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14123</TotalTime>
  <Words>8700</Words>
  <Application>Microsoft Office PowerPoint</Application>
  <PresentationFormat>Widescreen</PresentationFormat>
  <Paragraphs>952</Paragraphs>
  <Slides>64</Slides>
  <Notes>64</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64</vt:i4>
      </vt:variant>
    </vt:vector>
  </HeadingPairs>
  <TitlesOfParts>
    <vt:vector size="72" baseType="lpstr">
      <vt:lpstr>Arial</vt:lpstr>
      <vt:lpstr>Arial Black</vt:lpstr>
      <vt:lpstr>Calibri</vt:lpstr>
      <vt:lpstr>Roboto</vt:lpstr>
      <vt:lpstr>Roboto Medium</vt:lpstr>
      <vt:lpstr>Wingdings</vt:lpstr>
      <vt:lpstr>Office Theme</vt:lpstr>
      <vt:lpstr>Worksheet</vt:lpstr>
      <vt:lpstr>PowerPoint Presentation</vt:lpstr>
      <vt:lpstr>PowerPoint Presentation</vt:lpstr>
      <vt:lpstr>PowerPoint Presentation</vt:lpstr>
      <vt:lpstr>Ground Rules for Event</vt:lpstr>
      <vt:lpstr>Goal of Standard Work Module</vt:lpstr>
      <vt:lpstr>Cycle of Improvement</vt:lpstr>
      <vt:lpstr>Standard Work:  There can be no improvement without a standard</vt:lpstr>
      <vt:lpstr>Standard Work Characteristics</vt:lpstr>
      <vt:lpstr>Standard Work Improves Productivity</vt:lpstr>
      <vt:lpstr>What an Associate Must Know</vt:lpstr>
      <vt:lpstr>Elements of Standard Work</vt:lpstr>
      <vt:lpstr>Value Added vs. Non-Value Added</vt:lpstr>
      <vt:lpstr>Value Added vs. Non-Value Added</vt:lpstr>
      <vt:lpstr>Value Added vs. Non-Value Added</vt:lpstr>
      <vt:lpstr>Exercise: Standard Work Charter Review</vt:lpstr>
      <vt:lpstr>TAKT Time vs. Process Time</vt:lpstr>
      <vt:lpstr>TAKT Time</vt:lpstr>
      <vt:lpstr>TAKT Time Example</vt:lpstr>
      <vt:lpstr>Calculating TAKT Time Example</vt:lpstr>
      <vt:lpstr>Three Types of Process Time</vt:lpstr>
      <vt:lpstr>Associate Process Time Defined</vt:lpstr>
      <vt:lpstr>Equipment Process Time Defined</vt:lpstr>
      <vt:lpstr>Total Process Time Defined</vt:lpstr>
      <vt:lpstr>Exercise: Process Time</vt:lpstr>
      <vt:lpstr>Exercise: Process Time</vt:lpstr>
      <vt:lpstr>Exercise: Takt Time</vt:lpstr>
      <vt:lpstr>Work Sequence </vt:lpstr>
      <vt:lpstr>Work Sequence Defined</vt:lpstr>
      <vt:lpstr>Determining Total Number of Associates Needed</vt:lpstr>
      <vt:lpstr>Partial Associate—Guidelines </vt:lpstr>
      <vt:lpstr>Exercise: Putting it all together</vt:lpstr>
      <vt:lpstr>Exercise</vt:lpstr>
      <vt:lpstr>Exercise</vt:lpstr>
      <vt:lpstr>Standard Work In Process (WIP) </vt:lpstr>
      <vt:lpstr>Standard WIP</vt:lpstr>
      <vt:lpstr>Standard WIP</vt:lpstr>
      <vt:lpstr>Standard Work Documentation </vt:lpstr>
      <vt:lpstr>Standard Work Documentation Forms are Management Tools</vt:lpstr>
      <vt:lpstr>Time Observation Form</vt:lpstr>
      <vt:lpstr>Time Observation Form</vt:lpstr>
      <vt:lpstr>Time Observation Form</vt:lpstr>
      <vt:lpstr>Time Observation Form</vt:lpstr>
      <vt:lpstr>Time Observation Tips</vt:lpstr>
      <vt:lpstr>Standard Work Combination Sheet</vt:lpstr>
      <vt:lpstr>Standard Work Combination Sheet </vt:lpstr>
      <vt:lpstr>Standard Work Combination Sheet Tips </vt:lpstr>
      <vt:lpstr>Standard Work Combination Sheet, Up-sell call 1st Attempt</vt:lpstr>
      <vt:lpstr>Standard Work Combination Sheet, Up-sell call 2nd attempt</vt:lpstr>
      <vt:lpstr>Standard Work Combination Sheet, Up-sell call 2nd attempt</vt:lpstr>
      <vt:lpstr>Standard Work Combination Tips</vt:lpstr>
      <vt:lpstr>Standard Work Playbook</vt:lpstr>
      <vt:lpstr>Playbook</vt:lpstr>
      <vt:lpstr>Standard Work Sheet</vt:lpstr>
      <vt:lpstr>Standard Work Sheet </vt:lpstr>
      <vt:lpstr>Associate Loading Chart</vt:lpstr>
      <vt:lpstr>Associate Loading Chart</vt:lpstr>
      <vt:lpstr>Takt/Process Time Graph</vt:lpstr>
      <vt:lpstr>Kaizen Results </vt:lpstr>
      <vt:lpstr>Prepare for Final Report-Out to Management</vt:lpstr>
      <vt:lpstr>Review Exercise</vt:lpstr>
      <vt:lpstr>Standard Work Summary</vt:lpstr>
      <vt:lpstr>Standard Work Summary</vt:lpstr>
      <vt:lpstr>Standard Work 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Justin Santiago</dc:creator>
  <cp:lastModifiedBy>Scott DeLuzio</cp:lastModifiedBy>
  <cp:revision>429</cp:revision>
  <dcterms:created xsi:type="dcterms:W3CDTF">2023-02-08T22:10:20Z</dcterms:created>
  <dcterms:modified xsi:type="dcterms:W3CDTF">2023-09-29T21:08:30Z</dcterms:modified>
</cp:coreProperties>
</file>