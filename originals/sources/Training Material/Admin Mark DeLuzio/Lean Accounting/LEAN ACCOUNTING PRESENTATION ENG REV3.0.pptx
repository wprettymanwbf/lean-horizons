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1"/>
  </p:notesMasterIdLst>
  <p:sldIdLst>
    <p:sldId id="258" r:id="rId2"/>
    <p:sldId id="283" r:id="rId3"/>
    <p:sldId id="284" r:id="rId4"/>
    <p:sldId id="285" r:id="rId5"/>
    <p:sldId id="314" r:id="rId6"/>
    <p:sldId id="315" r:id="rId7"/>
    <p:sldId id="369" r:id="rId8"/>
    <p:sldId id="370" r:id="rId9"/>
    <p:sldId id="371" r:id="rId10"/>
    <p:sldId id="301" r:id="rId11"/>
    <p:sldId id="1393" r:id="rId12"/>
    <p:sldId id="336" r:id="rId13"/>
    <p:sldId id="1394" r:id="rId14"/>
    <p:sldId id="1395" r:id="rId15"/>
    <p:sldId id="1396" r:id="rId16"/>
    <p:sldId id="1397" r:id="rId17"/>
    <p:sldId id="1398" r:id="rId18"/>
    <p:sldId id="1399" r:id="rId19"/>
    <p:sldId id="1400" r:id="rId20"/>
    <p:sldId id="1401" r:id="rId21"/>
    <p:sldId id="1402" r:id="rId22"/>
    <p:sldId id="1403" r:id="rId23"/>
    <p:sldId id="1404" r:id="rId24"/>
    <p:sldId id="1405" r:id="rId25"/>
    <p:sldId id="1406" r:id="rId26"/>
    <p:sldId id="1407" r:id="rId27"/>
    <p:sldId id="1408" r:id="rId28"/>
    <p:sldId id="1409" r:id="rId29"/>
    <p:sldId id="1410" r:id="rId30"/>
    <p:sldId id="1411" r:id="rId31"/>
    <p:sldId id="1412" r:id="rId32"/>
    <p:sldId id="1413" r:id="rId33"/>
    <p:sldId id="1414" r:id="rId34"/>
    <p:sldId id="1415" r:id="rId35"/>
    <p:sldId id="1416" r:id="rId36"/>
    <p:sldId id="1417" r:id="rId37"/>
    <p:sldId id="1418" r:id="rId38"/>
    <p:sldId id="1419" r:id="rId39"/>
    <p:sldId id="1420" r:id="rId40"/>
    <p:sldId id="1421" r:id="rId41"/>
    <p:sldId id="1422" r:id="rId42"/>
    <p:sldId id="1423" r:id="rId43"/>
    <p:sldId id="1424" r:id="rId44"/>
    <p:sldId id="1425" r:id="rId45"/>
    <p:sldId id="1426" r:id="rId46"/>
    <p:sldId id="1427" r:id="rId47"/>
    <p:sldId id="1428" r:id="rId48"/>
    <p:sldId id="1429" r:id="rId49"/>
    <p:sldId id="313" r:id="rId50"/>
  </p:sldIdLst>
  <p:sldSz cx="12192000" cy="6858000"/>
  <p:notesSz cx="6858000" cy="9144000"/>
  <p:custDataLst>
    <p:tags r:id="rId5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B6AAEF-3415-5D22-AFDC-F31A005CEED7}" name="Joe Rutz" initials="JR" userId="S::joe.rutz@leancoachingllc.com::74172d3c-f68f-4a41-af3d-37d02d9c96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222"/>
    <a:srgbClr val="FFB627"/>
    <a:srgbClr val="177E89"/>
    <a:srgbClr val="8EDCE6"/>
    <a:srgbClr val="F1BF98"/>
    <a:srgbClr val="2EC4B6"/>
    <a:srgbClr val="BDDBD0"/>
    <a:srgbClr val="2D7DD2"/>
    <a:srgbClr val="62929E"/>
    <a:srgbClr val="B3DE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81849" autoAdjust="0"/>
  </p:normalViewPr>
  <p:slideViewPr>
    <p:cSldViewPr snapToGrid="0">
      <p:cViewPr varScale="1">
        <p:scale>
          <a:sx n="69" d="100"/>
          <a:sy n="69" d="100"/>
        </p:scale>
        <p:origin x="924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252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8/10/relationships/authors" Target="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6C400-5EB2-4620-B71B-A7454A7EC846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D8548-F1A2-4EDF-A416-5F2BB6B8F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3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</a:rPr>
              <a:t>DO:</a:t>
            </a:r>
            <a:r>
              <a:rPr lang="en-US" altLang="en-US" dirty="0">
                <a:latin typeface="Arial" panose="020B0604020202020204" pitchFamily="34" charset="0"/>
              </a:rPr>
              <a:t> Ask the group if they have any ground rules to add (capture them on chart paper). 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Ask the group if they agree to these ground rules. </a:t>
            </a:r>
          </a:p>
          <a:p>
            <a:endParaRPr lang="en-US" altLang="en-US" dirty="0">
              <a:latin typeface="Arial" panose="020B0604020202020204" pitchFamily="34" charset="0"/>
            </a:endParaRPr>
          </a:p>
          <a:p>
            <a:r>
              <a:rPr lang="en-US" altLang="en-US" b="1" dirty="0">
                <a:latin typeface="Arial" panose="020B0604020202020204" pitchFamily="34" charset="0"/>
              </a:rPr>
              <a:t>DO:</a:t>
            </a:r>
            <a:r>
              <a:rPr lang="en-US" altLang="en-US" dirty="0">
                <a:latin typeface="Arial" panose="020B0604020202020204" pitchFamily="34" charset="0"/>
              </a:rPr>
              <a:t> Perform Group Introductions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7167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</a:rPr>
              <a:t>DO:</a:t>
            </a:r>
            <a:r>
              <a:rPr lang="en-US" altLang="en-US" dirty="0">
                <a:latin typeface="Arial" panose="020B0604020202020204" pitchFamily="34" charset="0"/>
              </a:rPr>
              <a:t> Explain that you will discuss the difference between push and pull systems.  Remind the class of the definition of a Kanban system.</a:t>
            </a:r>
          </a:p>
          <a:p>
            <a:r>
              <a:rPr lang="en-US" altLang="en-US" b="1" dirty="0">
                <a:latin typeface="Arial" panose="020B0604020202020204" pitchFamily="34" charset="0"/>
              </a:rPr>
              <a:t>DO:</a:t>
            </a:r>
            <a:r>
              <a:rPr lang="en-US" altLang="en-US" dirty="0">
                <a:latin typeface="Arial" panose="020B0604020202020204" pitchFamily="34" charset="0"/>
              </a:rPr>
              <a:t> Review objectives of this section.</a:t>
            </a:r>
          </a:p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611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b="1" dirty="0">
                <a:latin typeface="Arial" panose="020B0604020202020204" pitchFamily="34" charset="0"/>
              </a:rPr>
              <a:t>NOTE:</a:t>
            </a:r>
            <a:r>
              <a:rPr lang="en-US" altLang="en-US" dirty="0">
                <a:latin typeface="Arial" panose="020B0604020202020204" pitchFamily="34" charset="0"/>
              </a:rPr>
              <a:t> Lean creates the need for less effort, less equipment, less time, less space…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785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17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753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ea typeface="ＭＳ Ｐゴシック" charset="0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680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2294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0010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401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6198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3004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5049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1910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982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7B85E90D-7DD7-92B5-E387-8C0441E41A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85391" y="1950112"/>
            <a:ext cx="77724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36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FA04139-8C44-65B7-CCE0-3C72733967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1954" y="6012921"/>
            <a:ext cx="18256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546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40B0-16F5-BFBE-E22F-812ED893E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DE2FD-1979-A3D6-90A4-45D744A02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00722"/>
            <a:ext cx="9144000" cy="145707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394B0F-E5B4-CFAF-7473-46BB2646C4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6380" y="3556319"/>
            <a:ext cx="393924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65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6242-F70A-0032-2B4B-BCCF0734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9E81F-378B-8CF2-E1C3-1D9054EF7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BCBB7B-054A-FE83-5F7C-FE4A1CDFEEBA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61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A9C9-FDCA-934D-785B-BFD907843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95437-1877-C6A2-EE04-3EF98092E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15123"/>
            <a:ext cx="10515600" cy="137452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8720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8C054-8592-E116-8DB0-D7814A8CD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802A-EC64-E4D9-44D3-54E728E3E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A5B75-CA16-4AC3-A34C-C3C4FF82F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186D81-5D29-FE58-C442-6A6A0689DB5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59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2F87-A7AE-9269-55EC-7B1C8A4D2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7"/>
            <a:ext cx="10515600" cy="102235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27D69-EB01-A889-0CC3-A64B4F7DA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F1EC85-625B-CEAA-F97D-EF024B15F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5D1D7-7D1D-2F5D-8D5E-152CC8269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D830EE-92A6-15ED-D99F-35788F37AD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CBFE9C-CE1B-ED6E-1745-391F9496BE1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51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D9D87-BBC7-C5DC-191E-E5E1CA2B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55C65A-BA96-51C7-B6FE-07AB4FB9C96C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30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C847F-0B94-F947-B172-F99DB13375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6D4273-7FC1-0947-B9FE-19CB3C0D1F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21B1ED-B2E3-19AE-DDFC-B157A0140513}"/>
              </a:ext>
            </a:extLst>
          </p:cNvPr>
          <p:cNvSpPr txBox="1"/>
          <p:nvPr userDrawn="1"/>
        </p:nvSpPr>
        <p:spPr>
          <a:xfrm>
            <a:off x="4205176" y="638478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Lean Horizons Consulting, LLC 2023. All Rights Reserved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797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009C-FECA-9E9B-9F45-5710762AE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502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B4662-A656-519F-E5DC-FEF8051A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555F82-CA62-EC30-181A-37223E01F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6852"/>
            <a:ext cx="3932237" cy="37221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026B9A-5C7E-C150-5C07-A68A167F0F67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2229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225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5D53-C186-1B2C-FD72-2AC470B82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304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7372F6-C6B1-D2F4-8DED-EF3C3DBEAA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6E1FE-9DAE-4781-C70A-CF8F68AAF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8836"/>
            <a:ext cx="3932237" cy="372015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BD52B6-C25E-E933-F2B7-D40B2BFDF83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0245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194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F5CEA-F0B2-6EAB-4435-59D188AF3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515F-CCC6-5F3D-26FA-AF419F9D8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55FD7A-35A4-E3BB-30E7-93993A9F2FCF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86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EEA24E-3139-367F-63CD-6BE14639C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504B8-9AC5-F3B2-2873-A2C234460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3289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C7573B6-84E2-B075-59F6-13B735C1EA0C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99C9A-A2FC-CD4A-1E66-538BA9DCD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EC040-D756-ECEA-9BEA-816A77F6A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5B500-689F-3416-FFFA-6EFE369BF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C6D4273-7FC1-0947-B9FE-19CB3C0D1FB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83AB58F5-18C5-C368-94F4-CC4D543C898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650147" y="311856"/>
            <a:ext cx="1376262" cy="27525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FEF531-ADF4-AB70-CB0F-227DD4FA1B4F}"/>
              </a:ext>
            </a:extLst>
          </p:cNvPr>
          <p:cNvCxnSpPr/>
          <p:nvPr userDrawn="1"/>
        </p:nvCxnSpPr>
        <p:spPr>
          <a:xfrm>
            <a:off x="838200" y="6382347"/>
            <a:ext cx="10515599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7AF5F83-88DF-460F-82C5-C2709D4DF5D2}"/>
              </a:ext>
            </a:extLst>
          </p:cNvPr>
          <p:cNvSpPr txBox="1"/>
          <p:nvPr userDrawn="1"/>
        </p:nvSpPr>
        <p:spPr>
          <a:xfrm>
            <a:off x="838200" y="6389310"/>
            <a:ext cx="41719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LEAN ACCOUNTING PRESENTATION ENG REV3.0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0F1ED-1C44-DFD6-E7DA-038409D9167D}"/>
              </a:ext>
            </a:extLst>
          </p:cNvPr>
          <p:cNvSpPr txBox="1"/>
          <p:nvPr userDrawn="1"/>
        </p:nvSpPr>
        <p:spPr>
          <a:xfrm>
            <a:off x="4205176" y="638478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Lean Horizons Consulting, LLC 2023. All Rights Reserved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23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microsoft.com/office/2007/relationships/hdphoto" Target="../media/hdphoto5.wdp"/><Relationship Id="rId3" Type="http://schemas.openxmlformats.org/officeDocument/2006/relationships/image" Target="../media/image7.jpeg"/><Relationship Id="rId7" Type="http://schemas.microsoft.com/office/2007/relationships/hdphoto" Target="../media/hdphoto2.wdp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microsoft.com/office/2007/relationships/hdphoto" Target="../media/hdphoto4.wdp"/><Relationship Id="rId5" Type="http://schemas.microsoft.com/office/2007/relationships/hdphoto" Target="../media/hdphoto1.wdp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B60FA6-6E24-C6E2-C35D-A4139BCE2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929" y="4846192"/>
            <a:ext cx="2696138" cy="457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F4BEED-3D12-D343-768A-9E83F9558AE0}"/>
              </a:ext>
            </a:extLst>
          </p:cNvPr>
          <p:cNvSpPr txBox="1"/>
          <p:nvPr/>
        </p:nvSpPr>
        <p:spPr>
          <a:xfrm>
            <a:off x="668594" y="4138306"/>
            <a:ext cx="10746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Lean Accounting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EF716D-CC64-6765-89C4-B03733484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95078" y="6386632"/>
            <a:ext cx="27432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6D4273-7FC1-0947-B9FE-19CB3C0D1FB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A99680C-117B-5657-AA0F-BCBECAEAD6BE}"/>
              </a:ext>
            </a:extLst>
          </p:cNvPr>
          <p:cNvSpPr txBox="1">
            <a:spLocks/>
          </p:cNvSpPr>
          <p:nvPr/>
        </p:nvSpPr>
        <p:spPr>
          <a:xfrm>
            <a:off x="1524000" y="4953466"/>
            <a:ext cx="9144000" cy="5091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 eaLnBrk="0" fontAlgn="base" hangingPunct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400" b="0" kern="1200" dirty="0">
                <a:effectLst/>
                <a:cs typeface="+mn-cs"/>
              </a:rPr>
              <a:t>Management Accounting in a Lean Environment</a:t>
            </a:r>
            <a:endParaRPr lang="en-US" sz="3600" dirty="0">
              <a:effectLst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2795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01234-A0AA-5598-26B5-033CE6FE23E5}"/>
              </a:ext>
            </a:extLst>
          </p:cNvPr>
          <p:cNvSpPr txBox="1">
            <a:spLocks/>
          </p:cNvSpPr>
          <p:nvPr/>
        </p:nvSpPr>
        <p:spPr>
          <a:xfrm>
            <a:off x="606705" y="793843"/>
            <a:ext cx="10515600" cy="1022351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Roboto Medium"/>
                <a:cs typeface="Roboto"/>
              </a:rPr>
              <a:t>Other</a:t>
            </a:r>
            <a:r>
              <a:rPr lang="en-US" dirty="0">
                <a:solidFill>
                  <a:schemeClr val="tx1"/>
                </a:solidFill>
                <a:latin typeface="Roboto Medium"/>
                <a:cs typeface="Roboto Medium"/>
              </a:rPr>
              <a:t> Modules In This Series: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F3825E-B951-729D-1675-8A890DAAC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17" y="1638489"/>
            <a:ext cx="3939240" cy="4571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14E55-E875-9B78-1E43-35D121FD9751}"/>
              </a:ext>
            </a:extLst>
          </p:cNvPr>
          <p:cNvSpPr txBox="1">
            <a:spLocks/>
          </p:cNvSpPr>
          <p:nvPr/>
        </p:nvSpPr>
        <p:spPr>
          <a:xfrm>
            <a:off x="5839258" y="1166648"/>
            <a:ext cx="5157787" cy="3684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5S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Standard Work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Total Productive Maintenance (TPM)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Administrative Lean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Cell Design/ Production Preparation Process (3P)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Kaizen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Kanban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Problem Solving</a:t>
            </a:r>
          </a:p>
          <a:p>
            <a:pPr marL="0" indent="0" algn="r">
              <a:buNone/>
            </a:pPr>
            <a:r>
              <a:rPr lang="en-US" sz="1400" dirty="0" err="1">
                <a:solidFill>
                  <a:schemeClr val="tx1"/>
                </a:solidFill>
              </a:rPr>
              <a:t>Poka</a:t>
            </a:r>
            <a:r>
              <a:rPr lang="en-US" sz="1400" dirty="0">
                <a:solidFill>
                  <a:schemeClr val="tx1"/>
                </a:solidFill>
              </a:rPr>
              <a:t> Yoke Quality Systems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Transaction Process Improvement (TPI)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Cause &amp; Effect Diagram with the Additions of Cards (CEDAC)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Single Minute Exchange of Dies (SMED)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Value Stream Mapping (</a:t>
            </a:r>
            <a:r>
              <a:rPr lang="en-US" sz="1400" dirty="0" err="1">
                <a:solidFill>
                  <a:schemeClr val="tx1"/>
                </a:solidFill>
              </a:rPr>
              <a:t>VSMi</a:t>
            </a:r>
            <a:r>
              <a:rPr lang="en-US" sz="1400" dirty="0">
                <a:solidFill>
                  <a:schemeClr val="tx1"/>
                </a:solidFill>
              </a:rPr>
              <a:t>®)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Visual Management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Managing Daily Process Excellence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F73560-3A07-DDBC-A93D-9C2969C3C8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142" y="2039270"/>
            <a:ext cx="2945426" cy="1754165"/>
          </a:xfrm>
          <a:prstGeom prst="rect">
            <a:avLst/>
          </a:prstGeom>
        </p:spPr>
      </p:pic>
      <p:sp>
        <p:nvSpPr>
          <p:cNvPr id="13" name="Steve Jones">
            <a:extLst>
              <a:ext uri="{FF2B5EF4-FFF2-40B4-BE49-F238E27FC236}">
                <a16:creationId xmlns:a16="http://schemas.microsoft.com/office/drawing/2014/main" id="{32D7D26D-2286-A78A-74DF-8555FD64C346}"/>
              </a:ext>
            </a:extLst>
          </p:cNvPr>
          <p:cNvSpPr/>
          <p:nvPr/>
        </p:nvSpPr>
        <p:spPr>
          <a:xfrm>
            <a:off x="1069695" y="4201690"/>
            <a:ext cx="3475310" cy="199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defTabSz="1155700">
              <a:lnSpc>
                <a:spcPct val="80000"/>
              </a:lnSpc>
              <a:defRPr sz="3000" b="1">
                <a:solidFill>
                  <a:srgbClr val="FFFFFF"/>
                </a:solidFill>
              </a:defRPr>
            </a:lvl1pPr>
          </a:lstStyle>
          <a:p>
            <a:r>
              <a:rPr lang="en-US" sz="1600" dirty="0">
                <a:solidFill>
                  <a:srgbClr val="EE322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More Information Please Contact:</a:t>
            </a:r>
          </a:p>
        </p:txBody>
      </p:sp>
      <p:sp>
        <p:nvSpPr>
          <p:cNvPr id="14" name="Head of Management Dept.">
            <a:extLst>
              <a:ext uri="{FF2B5EF4-FFF2-40B4-BE49-F238E27FC236}">
                <a16:creationId xmlns:a16="http://schemas.microsoft.com/office/drawing/2014/main" id="{13AAF857-F867-C38A-47E8-4FCE37EF32C8}"/>
              </a:ext>
            </a:extLst>
          </p:cNvPr>
          <p:cNvSpPr/>
          <p:nvPr/>
        </p:nvSpPr>
        <p:spPr>
          <a:xfrm>
            <a:off x="1367375" y="4590893"/>
            <a:ext cx="2879948" cy="83817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defTabSz="1155700">
              <a:defRPr sz="3000">
                <a:solidFill>
                  <a:srgbClr val="5D616E"/>
                </a:solidFill>
              </a:defRPr>
            </a:lvl1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 DeLuzio, President and CEO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+1.860.234.0915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mark.deluzio@leanhorizons.com</a:t>
            </a:r>
            <a:endParaRPr sz="1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29F7AC-495A-4FB8-042F-1DBECD3DB7C9}"/>
              </a:ext>
            </a:extLst>
          </p:cNvPr>
          <p:cNvSpPr txBox="1"/>
          <p:nvPr/>
        </p:nvSpPr>
        <p:spPr>
          <a:xfrm>
            <a:off x="6291" y="5619244"/>
            <a:ext cx="5602115" cy="2664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Strategically Creating Value Through the Elimination of Waste</a:t>
            </a:r>
            <a:endParaRPr lang="en-US" alt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71C8E8F-D781-AA13-E1D1-E5284A2427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029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14E55-E875-9B78-1E43-35D121FD9751}"/>
              </a:ext>
            </a:extLst>
          </p:cNvPr>
          <p:cNvSpPr txBox="1">
            <a:spLocks/>
          </p:cNvSpPr>
          <p:nvPr/>
        </p:nvSpPr>
        <p:spPr>
          <a:xfrm>
            <a:off x="3517106" y="2278809"/>
            <a:ext cx="5157787" cy="23003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This document contains confidential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and proprietary information owned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by Lean Horizons Consulting, LLC.</a:t>
            </a:r>
            <a:br>
              <a:rPr lang="en-US" sz="2000" dirty="0">
                <a:solidFill>
                  <a:schemeClr val="tx1"/>
                </a:solidFill>
              </a:rPr>
            </a:b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Any disclosure, use, copying or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distribution of this information without the express written consent of Lean Horizons Consulting is strictly prohibited.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8A6FCFA-DB7B-71C3-70EC-F677EBA239A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96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61B1F-82BB-20AA-556E-27FE22CCD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Roboto Medium"/>
                <a:ea typeface="Roboto Medium"/>
                <a:cs typeface="Roboto Medium"/>
              </a:rPr>
              <a:t>Ground Rules for 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AA202-895A-70BD-7319-C214C2BDD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Active participation by all</a:t>
            </a:r>
          </a:p>
          <a:p>
            <a:r>
              <a:rPr lang="en-US" altLang="en-US" dirty="0"/>
              <a:t>Start and end on time</a:t>
            </a:r>
          </a:p>
          <a:p>
            <a:r>
              <a:rPr lang="en-US" altLang="en-US" dirty="0"/>
              <a:t>All electronic gadgets (phones, pagers, etc.) turned to </a:t>
            </a:r>
            <a:r>
              <a:rPr lang="ja-JP" altLang="en-US" dirty="0"/>
              <a:t>“</a:t>
            </a:r>
            <a:r>
              <a:rPr lang="en-US" altLang="ja-JP" dirty="0"/>
              <a:t>off</a:t>
            </a:r>
            <a:r>
              <a:rPr lang="ja-JP" altLang="en-US" dirty="0"/>
              <a:t>”</a:t>
            </a:r>
            <a:r>
              <a:rPr lang="en-US" altLang="ja-JP" dirty="0"/>
              <a:t> or </a:t>
            </a:r>
            <a:r>
              <a:rPr lang="ja-JP" altLang="en-US" dirty="0"/>
              <a:t>“</a:t>
            </a:r>
            <a:r>
              <a:rPr lang="en-US" altLang="ja-JP" dirty="0"/>
              <a:t>silent.</a:t>
            </a:r>
            <a:r>
              <a:rPr lang="ja-JP" altLang="en-US" dirty="0"/>
              <a:t>”</a:t>
            </a:r>
            <a:endParaRPr lang="en-US" altLang="ja-JP" dirty="0"/>
          </a:p>
          <a:p>
            <a:r>
              <a:rPr lang="en-US" altLang="en-US" dirty="0"/>
              <a:t>Computers to be used only when instructed</a:t>
            </a:r>
          </a:p>
          <a:p>
            <a:r>
              <a:rPr lang="en-US" altLang="en-US" dirty="0"/>
              <a:t>Keep an open mind to change</a:t>
            </a:r>
          </a:p>
          <a:p>
            <a:r>
              <a:rPr lang="en-US" altLang="en-US" dirty="0"/>
              <a:t>Don</a:t>
            </a:r>
            <a:r>
              <a:rPr lang="ja-JP" altLang="en-US" dirty="0"/>
              <a:t>’</a:t>
            </a:r>
            <a:r>
              <a:rPr lang="en-US" altLang="ja-JP" dirty="0"/>
              <a:t>t let </a:t>
            </a:r>
            <a:r>
              <a:rPr lang="ja-JP" altLang="en-US" dirty="0"/>
              <a:t>“</a:t>
            </a:r>
            <a:r>
              <a:rPr lang="en-US" altLang="ja-JP" dirty="0"/>
              <a:t>perfect</a:t>
            </a:r>
            <a:r>
              <a:rPr lang="ja-JP" altLang="en-US" dirty="0"/>
              <a:t>”</a:t>
            </a:r>
            <a:r>
              <a:rPr lang="en-US" altLang="ja-JP" dirty="0"/>
              <a:t> get in the way of </a:t>
            </a:r>
            <a:r>
              <a:rPr lang="ja-JP" altLang="en-US" dirty="0"/>
              <a:t>“</a:t>
            </a:r>
            <a:r>
              <a:rPr lang="en-US" altLang="ja-JP" dirty="0"/>
              <a:t>better.</a:t>
            </a:r>
            <a:r>
              <a:rPr lang="ja-JP" altLang="en-US" dirty="0"/>
              <a:t>”</a:t>
            </a:r>
            <a:endParaRPr lang="en-US" alt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2705716-A551-625A-37E2-96047D07B4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6188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Goal of the Introduction to Lean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identify how traditional accounting practices do not support Lean efforts in an organization and the need to establish an Accounting Management System for Lean success.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5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4FA1C03-BF3A-6FD4-2286-E6FE4F28808C}"/>
              </a:ext>
            </a:extLst>
          </p:cNvPr>
          <p:cNvGrpSpPr/>
          <p:nvPr/>
        </p:nvGrpSpPr>
        <p:grpSpPr>
          <a:xfrm>
            <a:off x="1371124" y="3840162"/>
            <a:ext cx="9449752" cy="1954847"/>
            <a:chOff x="471488" y="3840163"/>
            <a:chExt cx="8253412" cy="1346200"/>
          </a:xfrm>
        </p:grpSpPr>
        <p:sp>
          <p:nvSpPr>
            <p:cNvPr id="4" name="AutoShape 3">
              <a:extLst>
                <a:ext uri="{FF2B5EF4-FFF2-40B4-BE49-F238E27FC236}">
                  <a16:creationId xmlns:a16="http://schemas.microsoft.com/office/drawing/2014/main" id="{6D696CB8-68ED-0AD5-417F-E1866B2936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7725" y="3840163"/>
              <a:ext cx="1527175" cy="1346200"/>
            </a:xfrm>
            <a:prstGeom prst="homePlate">
              <a:avLst>
                <a:gd name="adj" fmla="val 10646"/>
              </a:avLst>
            </a:prstGeom>
            <a:solidFill>
              <a:schemeClr val="accent1"/>
            </a:solidFill>
            <a:ln w="12700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Roboto" panose="02000000000000000000" pitchFamily="2" charset="0"/>
                  <a:ea typeface="Roboto" panose="02000000000000000000" pitchFamily="2" charset="0"/>
                </a:rPr>
                <a:t>Cultural</a:t>
              </a:r>
              <a:br>
                <a:rPr lang="en-US" altLang="en-US" sz="1600"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600">
                  <a:latin typeface="Roboto" panose="02000000000000000000" pitchFamily="2" charset="0"/>
                  <a:ea typeface="Roboto" panose="02000000000000000000" pitchFamily="2" charset="0"/>
                </a:rPr>
                <a:t>Change</a:t>
              </a:r>
            </a:p>
          </p:txBody>
        </p:sp>
        <p:sp>
          <p:nvSpPr>
            <p:cNvPr id="6" name="AutoShape 4">
              <a:extLst>
                <a:ext uri="{FF2B5EF4-FFF2-40B4-BE49-F238E27FC236}">
                  <a16:creationId xmlns:a16="http://schemas.microsoft.com/office/drawing/2014/main" id="{42E05E1E-7A9D-6AB8-ADC9-DABB5AB21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8988" y="3840163"/>
              <a:ext cx="1600200" cy="1346200"/>
            </a:xfrm>
            <a:prstGeom prst="homePlate">
              <a:avLst>
                <a:gd name="adj" fmla="val 11155"/>
              </a:avLst>
            </a:prstGeom>
            <a:solidFill>
              <a:schemeClr val="accent1"/>
            </a:solidFill>
            <a:ln w="12700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Roboto" panose="02000000000000000000" pitchFamily="2" charset="0"/>
                  <a:ea typeface="Roboto" panose="02000000000000000000" pitchFamily="2" charset="0"/>
                </a:rPr>
                <a:t>LBS </a:t>
              </a:r>
              <a:br>
                <a:rPr lang="en-US" altLang="en-US" sz="1600"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600">
                  <a:latin typeface="Roboto" panose="02000000000000000000" pitchFamily="2" charset="0"/>
                  <a:ea typeface="Roboto" panose="02000000000000000000" pitchFamily="2" charset="0"/>
                </a:rPr>
                <a:t>    Infrastructure</a:t>
              </a:r>
            </a:p>
          </p:txBody>
        </p:sp>
        <p:sp>
          <p:nvSpPr>
            <p:cNvPr id="7" name="AutoShape 5">
              <a:extLst>
                <a:ext uri="{FF2B5EF4-FFF2-40B4-BE49-F238E27FC236}">
                  <a16:creationId xmlns:a16="http://schemas.microsoft.com/office/drawing/2014/main" id="{67B87FD3-82A0-DA1E-5951-8B7FF7043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4850" y="3840163"/>
              <a:ext cx="1600200" cy="1346200"/>
            </a:xfrm>
            <a:prstGeom prst="homePlate">
              <a:avLst>
                <a:gd name="adj" fmla="val 11155"/>
              </a:avLst>
            </a:prstGeom>
            <a:solidFill>
              <a:schemeClr val="accent1"/>
            </a:solidFill>
            <a:ln w="12700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Roboto" panose="02000000000000000000" pitchFamily="2" charset="0"/>
                  <a:ea typeface="Roboto" panose="02000000000000000000" pitchFamily="2" charset="0"/>
                </a:rPr>
                <a:t>LBS Tools</a:t>
              </a:r>
            </a:p>
          </p:txBody>
        </p:sp>
        <p:sp>
          <p:nvSpPr>
            <p:cNvPr id="8" name="AutoShape 6">
              <a:extLst>
                <a:ext uri="{FF2B5EF4-FFF2-40B4-BE49-F238E27FC236}">
                  <a16:creationId xmlns:a16="http://schemas.microsoft.com/office/drawing/2014/main" id="{8181E055-1BA0-60C5-161C-FAB33FA119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5000" y="3840163"/>
              <a:ext cx="1600200" cy="1346200"/>
            </a:xfrm>
            <a:prstGeom prst="homePlate">
              <a:avLst>
                <a:gd name="adj" fmla="val 11155"/>
              </a:avLst>
            </a:prstGeom>
            <a:solidFill>
              <a:schemeClr val="accent1"/>
            </a:solidFill>
            <a:ln w="12700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Roboto" panose="02000000000000000000" pitchFamily="2" charset="0"/>
                  <a:ea typeface="Roboto" panose="02000000000000000000" pitchFamily="2" charset="0"/>
                </a:rPr>
                <a:t>Lean</a:t>
              </a:r>
              <a:br>
                <a:rPr lang="en-US" altLang="en-US" sz="1600"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600">
                  <a:latin typeface="Roboto" panose="02000000000000000000" pitchFamily="2" charset="0"/>
                  <a:ea typeface="Roboto" panose="02000000000000000000" pitchFamily="2" charset="0"/>
                </a:rPr>
                <a:t>    Fundamentals</a:t>
              </a:r>
            </a:p>
          </p:txBody>
        </p:sp>
        <p:sp>
          <p:nvSpPr>
            <p:cNvPr id="9" name="AutoShape 7">
              <a:extLst>
                <a:ext uri="{FF2B5EF4-FFF2-40B4-BE49-F238E27FC236}">
                  <a16:creationId xmlns:a16="http://schemas.microsoft.com/office/drawing/2014/main" id="{E855F8BD-7FCD-DF05-6020-DF86E8F20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8800" y="3840163"/>
              <a:ext cx="1600200" cy="1346200"/>
            </a:xfrm>
            <a:prstGeom prst="homePlate">
              <a:avLst>
                <a:gd name="adj" fmla="val 11155"/>
              </a:avLst>
            </a:prstGeom>
            <a:solidFill>
              <a:schemeClr val="accent1"/>
            </a:solidFill>
            <a:ln w="12700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Roboto" panose="02000000000000000000" pitchFamily="2" charset="0"/>
                  <a:ea typeface="Roboto" panose="02000000000000000000" pitchFamily="2" charset="0"/>
                </a:rPr>
                <a:t>     Strategic</a:t>
              </a:r>
              <a:br>
                <a:rPr lang="en-US" altLang="en-US" sz="1600"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600">
                  <a:latin typeface="Roboto" panose="02000000000000000000" pitchFamily="2" charset="0"/>
                  <a:ea typeface="Roboto" panose="02000000000000000000" pitchFamily="2" charset="0"/>
                </a:rPr>
                <a:t>     Deployment </a:t>
              </a:r>
            </a:p>
          </p:txBody>
        </p:sp>
        <p:sp>
          <p:nvSpPr>
            <p:cNvPr id="10" name="AutoShape 8">
              <a:extLst>
                <a:ext uri="{FF2B5EF4-FFF2-40B4-BE49-F238E27FC236}">
                  <a16:creationId xmlns:a16="http://schemas.microsoft.com/office/drawing/2014/main" id="{D253D5E7-7C5B-D6FD-D332-2BBD0EFA90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488" y="3840163"/>
              <a:ext cx="1585912" cy="1346200"/>
            </a:xfrm>
            <a:prstGeom prst="homePlate">
              <a:avLst>
                <a:gd name="adj" fmla="val 11055"/>
              </a:avLst>
            </a:prstGeom>
            <a:solidFill>
              <a:schemeClr val="accent1"/>
            </a:solidFill>
            <a:ln w="12700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Roboto" panose="02000000000000000000" pitchFamily="2" charset="0"/>
                  <a:ea typeface="Roboto" panose="02000000000000000000" pitchFamily="2" charset="0"/>
                </a:rPr>
                <a:t>Lean</a:t>
              </a:r>
              <a:br>
                <a:rPr lang="en-US" altLang="en-US" sz="1600"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600">
                  <a:latin typeface="Roboto" panose="02000000000000000000" pitchFamily="2" charset="0"/>
                  <a:ea typeface="Roboto" panose="02000000000000000000" pitchFamily="2" charset="0"/>
                </a:rPr>
                <a:t>Fundamentals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9957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Why do accountants need to understand Lean?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Lean is a cultural change</a:t>
            </a:r>
          </a:p>
          <a:p>
            <a:r>
              <a:rPr lang="en-US" dirty="0"/>
              <a:t>Lean changes the entire organization</a:t>
            </a:r>
          </a:p>
          <a:p>
            <a:r>
              <a:rPr lang="en-US" dirty="0"/>
              <a:t>Without understanding Lean, the accountant will never understand why accounting systems must change</a:t>
            </a:r>
          </a:p>
          <a:p>
            <a:r>
              <a:rPr lang="en-US" dirty="0"/>
              <a:t>Accountants resist “throwing away” traditional accounting beliefs—they are therefore viewed as impediments to progress in a Lean world</a:t>
            </a:r>
          </a:p>
          <a:p>
            <a:r>
              <a:rPr lang="en-US" dirty="0"/>
              <a:t>Lean Education and Shop Floor Education is critical </a:t>
            </a:r>
          </a:p>
          <a:p>
            <a:pPr lvl="1"/>
            <a:r>
              <a:rPr lang="en-US" dirty="0"/>
              <a:t>Move your desk if necessary!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6</a:t>
            </a:fld>
            <a:endParaRPr lang="en-US"/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AFE371E7-3C9C-6E15-44C8-8FCE2392D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7231" y="5907961"/>
            <a:ext cx="8237538" cy="369332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b" anchorCtr="1">
            <a:spAutoFit/>
          </a:bodyPr>
          <a:lstStyle>
            <a:lvl1pPr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Clr>
                <a:srgbClr val="014B1F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1800" b="0" i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Accountants can destroy a Lean Implementation</a:t>
            </a:r>
            <a:endParaRPr lang="en-US" altLang="en-US" sz="1400" b="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487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11FF7-095F-D1A9-6784-C53D538A36F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77BA17-B180-9889-85DC-DBE8C080CFB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99911" y="1497012"/>
            <a:ext cx="9815689" cy="100965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4000" dirty="0">
                <a:latin typeface="Roboto Medium"/>
                <a:ea typeface="Roboto Medium"/>
                <a:cs typeface="Roboto Medium"/>
              </a:rPr>
              <a:t>Lean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34846-F3D4-20E7-25C0-91FCF7736CB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22489" y="250666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Objectives:</a:t>
            </a:r>
          </a:p>
          <a:p>
            <a:r>
              <a:rPr lang="en-US" sz="2400" dirty="0"/>
              <a:t>Define lean</a:t>
            </a:r>
          </a:p>
          <a:p>
            <a:r>
              <a:rPr lang="en-US" sz="2400" dirty="0"/>
              <a:t>Define and identify hidden wastes</a:t>
            </a:r>
          </a:p>
          <a:p>
            <a:r>
              <a:rPr lang="en-US" sz="2400" dirty="0"/>
              <a:t>Differentiate Batch and Queue Manufacturing from Cellularization and Flow Production</a:t>
            </a:r>
          </a:p>
          <a:p>
            <a:r>
              <a:rPr lang="en-US" sz="2400" dirty="0"/>
              <a:t>Identify key Lean tools and their interrelationship</a:t>
            </a:r>
          </a:p>
          <a:p>
            <a:endParaRPr lang="en-US" sz="2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F07BA82-F1D2-01EE-36D7-0CE1E1021337}"/>
              </a:ext>
            </a:extLst>
          </p:cNvPr>
          <p:cNvGrpSpPr/>
          <p:nvPr/>
        </p:nvGrpSpPr>
        <p:grpSpPr>
          <a:xfrm>
            <a:off x="699911" y="837133"/>
            <a:ext cx="4425950" cy="659879"/>
            <a:chOff x="5627530" y="641179"/>
            <a:chExt cx="6564470" cy="804977"/>
          </a:xfrm>
        </p:grpSpPr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E658DE7F-EAE7-7BD9-8492-805CBFCFF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51136" y="641179"/>
              <a:ext cx="2340864" cy="804977"/>
            </a:xfrm>
            <a:prstGeom prst="homePlate">
              <a:avLst>
                <a:gd name="adj" fmla="val 29912"/>
              </a:avLst>
            </a:prstGeom>
            <a:solidFill>
              <a:srgbClr val="222222"/>
            </a:solidFill>
            <a:ln w="12700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Impact on MAS</a:t>
              </a:r>
            </a:p>
          </p:txBody>
        </p:sp>
        <p:sp>
          <p:nvSpPr>
            <p:cNvPr id="8" name="AutoShape 10">
              <a:extLst>
                <a:ext uri="{FF2B5EF4-FFF2-40B4-BE49-F238E27FC236}">
                  <a16:creationId xmlns:a16="http://schemas.microsoft.com/office/drawing/2014/main" id="{3B341166-AC1F-8D30-9314-0FB3D9483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7856" y="641180"/>
              <a:ext cx="2342768" cy="804976"/>
            </a:xfrm>
            <a:prstGeom prst="homePlate">
              <a:avLst>
                <a:gd name="adj" fmla="val 29912"/>
              </a:avLst>
            </a:prstGeom>
            <a:solidFill>
              <a:srgbClr val="222222"/>
            </a:solidFill>
            <a:ln w="12700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Problems with Traditional MAS</a:t>
              </a:r>
            </a:p>
          </p:txBody>
        </p:sp>
        <p:sp>
          <p:nvSpPr>
            <p:cNvPr id="9" name="AutoShape 11">
              <a:extLst>
                <a:ext uri="{FF2B5EF4-FFF2-40B4-BE49-F238E27FC236}">
                  <a16:creationId xmlns:a16="http://schemas.microsoft.com/office/drawing/2014/main" id="{2AB16F46-B5FA-96F3-91C2-07B2F2F1CC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7530" y="641179"/>
              <a:ext cx="2340864" cy="804977"/>
            </a:xfrm>
            <a:prstGeom prst="homePlate">
              <a:avLst>
                <a:gd name="adj" fmla="val 29912"/>
              </a:avLst>
            </a:prstGeom>
            <a:solidFill>
              <a:srgbClr val="FFB627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Fundamentals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4FB0DFD-2D15-952D-9825-996B08251FD4}"/>
              </a:ext>
            </a:extLst>
          </p:cNvPr>
          <p:cNvCxnSpPr/>
          <p:nvPr/>
        </p:nvCxnSpPr>
        <p:spPr>
          <a:xfrm>
            <a:off x="699911" y="2386919"/>
            <a:ext cx="388297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30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What Is Lean?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First, let’s describe what Lean is not</a:t>
            </a:r>
          </a:p>
          <a:p>
            <a:pPr lvl="1"/>
            <a:r>
              <a:rPr lang="en-US" sz="2800" dirty="0"/>
              <a:t>Not an inventory reduction program</a:t>
            </a:r>
          </a:p>
          <a:p>
            <a:pPr lvl="1"/>
            <a:r>
              <a:rPr lang="en-US" sz="2800" dirty="0"/>
              <a:t>Not a headcount reduction program</a:t>
            </a:r>
          </a:p>
          <a:p>
            <a:pPr lvl="1"/>
            <a:r>
              <a:rPr lang="en-US" sz="2800" dirty="0"/>
              <a:t>Not a key supplier program </a:t>
            </a:r>
          </a:p>
          <a:p>
            <a:pPr lvl="1"/>
            <a:r>
              <a:rPr lang="en-US" sz="2800" dirty="0"/>
              <a:t>Not the re-configuration of a shop into cells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8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024630" cy="315930"/>
            <a:chOff x="838200" y="297639"/>
            <a:chExt cx="402463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286795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Fundamentals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2546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“Lean?”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6678" y="2308894"/>
            <a:ext cx="5181600" cy="288821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“The relentless pursuit of the elimination of waste from every business process with the ultimate goal of providing World-Class quality, delivery and service to our customers at the lowest possible cost.”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9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7C4F7ED-2764-D972-E0A4-DC5E93417343}"/>
              </a:ext>
            </a:extLst>
          </p:cNvPr>
          <p:cNvGrpSpPr/>
          <p:nvPr/>
        </p:nvGrpSpPr>
        <p:grpSpPr>
          <a:xfrm>
            <a:off x="838200" y="297639"/>
            <a:ext cx="4024630" cy="315930"/>
            <a:chOff x="838200" y="297639"/>
            <a:chExt cx="4024630" cy="31593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C4DEAA-8C29-F0E2-40ED-C55C821A206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43676B2A-6599-8359-991D-60802F424F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0" name="AutoShape 11">
                <a:extLst>
                  <a:ext uri="{FF2B5EF4-FFF2-40B4-BE49-F238E27FC236}">
                    <a16:creationId xmlns:a16="http://schemas.microsoft.com/office/drawing/2014/main" id="{211FA5D5-24F8-BAA1-C30E-600D431F34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1" name="AutoShape 10">
                <a:extLst>
                  <a:ext uri="{FF2B5EF4-FFF2-40B4-BE49-F238E27FC236}">
                    <a16:creationId xmlns:a16="http://schemas.microsoft.com/office/drawing/2014/main" id="{EBD9868B-93FF-89C5-A234-8459A9C593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610465D-A580-9E89-78ED-C770301F1848}"/>
                </a:ext>
              </a:extLst>
            </p:cNvPr>
            <p:cNvSpPr txBox="1"/>
            <p:nvPr/>
          </p:nvSpPr>
          <p:spPr>
            <a:xfrm>
              <a:off x="1994872" y="322207"/>
              <a:ext cx="286795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Fundamentals</a:t>
              </a:r>
            </a:p>
          </p:txBody>
        </p:sp>
      </p:grpSp>
      <p:pic>
        <p:nvPicPr>
          <p:cNvPr id="12" name="Picture 4" descr="bigstockphoto_World_Map_In_Silver_574866">
            <a:extLst>
              <a:ext uri="{FF2B5EF4-FFF2-40B4-BE49-F238E27FC236}">
                <a16:creationId xmlns:a16="http://schemas.microsoft.com/office/drawing/2014/main" id="{607C1EE3-D1B6-224E-06EC-401332C3574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78" y="2308895"/>
            <a:ext cx="5411893" cy="288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3686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B9463-4CDE-3EF7-2811-BC679B707FF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49E0832-AACB-CAE5-0C64-3DF068BB6CCF}"/>
              </a:ext>
            </a:extLst>
          </p:cNvPr>
          <p:cNvGrpSpPr/>
          <p:nvPr/>
        </p:nvGrpSpPr>
        <p:grpSpPr>
          <a:xfrm>
            <a:off x="1028700" y="1687909"/>
            <a:ext cx="10103132" cy="4202981"/>
            <a:chOff x="8281557" y="4737895"/>
            <a:chExt cx="7821249" cy="4240215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A1B8612-05F1-EDC5-7187-0E57D310DA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81557" y="4737895"/>
              <a:ext cx="7821249" cy="4240215"/>
              <a:chOff x="1128079" y="2791379"/>
              <a:chExt cx="6619312" cy="2792502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9027B07-B3E6-7ECD-4074-39A89A45A30B}"/>
                  </a:ext>
                </a:extLst>
              </p:cNvPr>
              <p:cNvSpPr/>
              <p:nvPr/>
            </p:nvSpPr>
            <p:spPr>
              <a:xfrm>
                <a:off x="1142550" y="2791379"/>
                <a:ext cx="6604841" cy="12068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9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9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9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9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defRPr/>
                </a:pPr>
                <a:endParaRPr lang="en-US" sz="675"/>
              </a:p>
            </p:txBody>
          </p:sp>
          <p:pic>
            <p:nvPicPr>
              <p:cNvPr id="18" name="Picture 17" descr="&#10;">
                <a:extLst>
                  <a:ext uri="{FF2B5EF4-FFF2-40B4-BE49-F238E27FC236}">
                    <a16:creationId xmlns:a16="http://schemas.microsoft.com/office/drawing/2014/main" id="{DDA0E773-9090-6F53-2E7D-C1CD023D13D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28079" y="2791379"/>
                <a:ext cx="2753267" cy="11685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18823BE-7B7A-4A69-0694-6DCD968CCE67}"/>
                  </a:ext>
                </a:extLst>
              </p:cNvPr>
              <p:cNvSpPr/>
              <p:nvPr/>
            </p:nvSpPr>
            <p:spPr>
              <a:xfrm>
                <a:off x="1142550" y="3960236"/>
                <a:ext cx="6604841" cy="1613190"/>
              </a:xfrm>
              <a:prstGeom prst="rect">
                <a:avLst/>
              </a:prstGeom>
              <a:solidFill>
                <a:srgbClr val="A4C9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9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9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9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9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defRPr/>
                </a:pPr>
                <a:endParaRPr lang="en-US" sz="675"/>
              </a:p>
            </p:txBody>
          </p:sp>
          <p:pic>
            <p:nvPicPr>
              <p:cNvPr id="20" name="Picture 19" descr="Image result for rock clipart">
                <a:extLst>
                  <a:ext uri="{FF2B5EF4-FFF2-40B4-BE49-F238E27FC236}">
                    <a16:creationId xmlns:a16="http://schemas.microsoft.com/office/drawing/2014/main" id="{C998EC1D-1DBC-C872-717E-1C2517258DB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duotone>
                  <a:prstClr val="black"/>
                  <a:srgbClr val="FEFEFE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3226" b="93548" l="10000" r="90000">
                            <a14:foregroundMark x1="56667" y1="8065" x2="56667" y2="8065"/>
                            <a14:foregroundMark x1="58148" y1="3226" x2="58148" y2="3226"/>
                            <a14:foregroundMark x1="75926" y1="88172" x2="75926" y2="88172"/>
                            <a14:foregroundMark x1="79259" y1="84409" x2="69259" y2="87634"/>
                            <a14:foregroundMark x1="85926" y1="93548" x2="82593" y2="92473"/>
                          </a14:backgroundRemoval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93656" y="4140689"/>
                <a:ext cx="1929315" cy="1329084"/>
              </a:xfrm>
              <a:prstGeom prst="rect">
                <a:avLst/>
              </a:prstGeom>
              <a:solidFill>
                <a:srgbClr val="A4C9F9"/>
              </a:solidFill>
              <a:ln>
                <a:noFill/>
              </a:ln>
              <a:effectLst/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036D77DD-E4A8-6170-EE9D-085A3DB095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000000">
                      <a:alpha val="0"/>
                    </a:srgbClr>
                  </a:clrFrom>
                  <a:clrTo>
                    <a:srgbClr val="000000">
                      <a:alpha val="0"/>
                    </a:srgbClr>
                  </a:clrTo>
                </a:clrChange>
                <a:duotone>
                  <a:prstClr val="black"/>
                  <a:srgbClr val="FEFEFE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1667" b="97917" l="1429" r="97143">
                            <a14:foregroundMark x1="10476" y1="42083" x2="10952" y2="72500"/>
                            <a14:foregroundMark x1="10952" y1="72500" x2="12381" y2="76250"/>
                            <a14:foregroundMark x1="6667" y1="65000" x2="5238" y2="61250"/>
                            <a14:foregroundMark x1="2381" y1="57917" x2="2381" y2="57917"/>
                            <a14:foregroundMark x1="1429" y1="43750" x2="1429" y2="43750"/>
                            <a14:foregroundMark x1="3333" y1="67083" x2="3333" y2="67083"/>
                            <a14:foregroundMark x1="9048" y1="81250" x2="9048" y2="81250"/>
                            <a14:foregroundMark x1="20000" y1="84583" x2="20000" y2="84583"/>
                            <a14:foregroundMark x1="24762" y1="95000" x2="19048" y2="95417"/>
                            <a14:foregroundMark x1="42381" y1="97917" x2="42381" y2="97917"/>
                            <a14:foregroundMark x1="50952" y1="97500" x2="50952" y2="97500"/>
                            <a14:foregroundMark x1="60000" y1="96250" x2="60000" y2="96250"/>
                            <a14:foregroundMark x1="68095" y1="94583" x2="68095" y2="94583"/>
                            <a14:foregroundMark x1="81429" y1="90417" x2="81429" y2="90417"/>
                            <a14:foregroundMark x1="90000" y1="85833" x2="90000" y2="85833"/>
                            <a14:foregroundMark x1="94762" y1="75417" x2="94762" y2="75417"/>
                            <a14:foregroundMark x1="82381" y1="74583" x2="82381" y2="74583"/>
                            <a14:foregroundMark x1="95714" y1="68750" x2="95714" y2="68750"/>
                            <a14:foregroundMark x1="97143" y1="62917" x2="97143" y2="62917"/>
                            <a14:foregroundMark x1="57143" y1="60833" x2="57143" y2="60833"/>
                            <a14:foregroundMark x1="79524" y1="48750" x2="79524" y2="48750"/>
                            <a14:foregroundMark x1="80476" y1="40000" x2="80476" y2="40000"/>
                            <a14:foregroundMark x1="75714" y1="25417" x2="75714" y2="25417"/>
                            <a14:foregroundMark x1="59048" y1="13333" x2="59048" y2="13333"/>
                            <a14:foregroundMark x1="69524" y1="12917" x2="69524" y2="12917"/>
                            <a14:foregroundMark x1="17143" y1="30833" x2="17143" y2="30833"/>
                            <a14:foregroundMark x1="11905" y1="27500" x2="11905" y2="27500"/>
                            <a14:foregroundMark x1="38571" y1="1667" x2="41905" y2="6667"/>
                            <a14:foregroundMark x1="31905" y1="15000" x2="31905" y2="15000"/>
                            <a14:backgroundMark x1="12381" y1="5000" x2="7143" y2="17917"/>
                            <a14:backgroundMark x1="79524" y1="5833" x2="94286" y2="17500"/>
                            <a14:backgroundMark x1="94286" y1="92500" x2="83810" y2="99167"/>
                            <a14:backgroundMark x1="3333" y1="95000" x2="11429" y2="98750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023995" y="4261518"/>
                <a:ext cx="1106856" cy="1264979"/>
              </a:xfrm>
              <a:prstGeom prst="rect">
                <a:avLst/>
              </a:prstGeom>
              <a:solidFill>
                <a:srgbClr val="A4C9F9"/>
              </a:solidFill>
              <a:ln>
                <a:noFill/>
              </a:ln>
              <a:effectLst/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912684F8-17F2-3DFD-B500-463FDDA19C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rgbClr val="FEFEFE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2917" b="99167" l="2381" r="97143">
                            <a14:foregroundMark x1="36190" y1="6250" x2="60000" y2="34167"/>
                            <a14:foregroundMark x1="60000" y1="34167" x2="67619" y2="87083"/>
                            <a14:foregroundMark x1="67619" y1="87083" x2="40000" y2="92083"/>
                            <a14:foregroundMark x1="40000" y1="92083" x2="12381" y2="85000"/>
                            <a14:foregroundMark x1="12381" y1="85000" x2="2381" y2="62083"/>
                            <a14:foregroundMark x1="2381" y1="62083" x2="14286" y2="25833"/>
                            <a14:foregroundMark x1="14286" y1="25833" x2="32381" y2="8750"/>
                            <a14:foregroundMark x1="32381" y1="8750" x2="58571" y2="4167"/>
                            <a14:foregroundMark x1="58571" y1="4167" x2="94762" y2="62500"/>
                            <a14:foregroundMark x1="94762" y1="62500" x2="91905" y2="81250"/>
                            <a14:foregroundMark x1="91905" y1="81250" x2="65714" y2="93750"/>
                            <a14:foregroundMark x1="65714" y1="93750" x2="20952" y2="95417"/>
                            <a14:foregroundMark x1="16190" y1="18750" x2="2857" y2="53333"/>
                            <a14:foregroundMark x1="2857" y1="53333" x2="9048" y2="85417"/>
                            <a14:foregroundMark x1="79524" y1="49583" x2="75238" y2="42083"/>
                            <a14:foregroundMark x1="57619" y1="65000" x2="56190" y2="52917"/>
                            <a14:foregroundMark x1="14286" y1="56250" x2="14762" y2="46667"/>
                            <a14:foregroundMark x1="19048" y1="14583" x2="36190" y2="3333"/>
                            <a14:foregroundMark x1="36190" y1="3333" x2="59524" y2="8750"/>
                            <a14:foregroundMark x1="59524" y1="8750" x2="57619" y2="12500"/>
                            <a14:foregroundMark x1="50000" y1="2917" x2="41429" y2="2917"/>
                            <a14:foregroundMark x1="31429" y1="15833" x2="28571" y2="20417"/>
                            <a14:foregroundMark x1="60000" y1="15833" x2="59048" y2="18333"/>
                            <a14:foregroundMark x1="13333" y1="60417" x2="13333" y2="61250"/>
                            <a14:foregroundMark x1="20952" y1="79583" x2="20952" y2="79583"/>
                            <a14:foregroundMark x1="6190" y1="87083" x2="9524" y2="89167"/>
                            <a14:foregroundMark x1="34286" y1="99167" x2="34286" y2="99167"/>
                            <a14:foregroundMark x1="82857" y1="76250" x2="82857" y2="76250"/>
                            <a14:foregroundMark x1="91429" y1="63750" x2="91429" y2="63750"/>
                            <a14:foregroundMark x1="97143" y1="62917" x2="97143" y2="62917"/>
                            <a14:foregroundMark x1="75714" y1="24583" x2="75714" y2="24583"/>
                            <a14:foregroundMark x1="70000" y1="14167" x2="70000" y2="14167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806175" y="4652806"/>
                <a:ext cx="814690" cy="9310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6E813264-4C26-2DFD-7EAC-0A2651EEC9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duotone>
                  <a:prstClr val="black"/>
                  <a:srgbClr val="FEFEFE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2660" b="96809" l="1866" r="97015">
                            <a14:foregroundMark x1="18284" y1="23936" x2="39552" y2="55851"/>
                            <a14:foregroundMark x1="39552" y1="55851" x2="42910" y2="74468"/>
                            <a14:foregroundMark x1="42910" y1="74468" x2="50746" y2="82447"/>
                            <a14:foregroundMark x1="50746" y1="82447" x2="72761" y2="86702"/>
                            <a14:foregroundMark x1="7836" y1="65957" x2="18657" y2="92021"/>
                            <a14:foregroundMark x1="18657" y1="92021" x2="19403" y2="93617"/>
                            <a14:foregroundMark x1="4104" y1="61170" x2="3731" y2="69681"/>
                            <a14:foregroundMark x1="72015" y1="19149" x2="83955" y2="37234"/>
                            <a14:foregroundMark x1="71642" y1="3191" x2="71642" y2="3191"/>
                            <a14:foregroundMark x1="89552" y1="51596" x2="89552" y2="51596"/>
                            <a14:foregroundMark x1="93657" y1="44681" x2="94776" y2="50000"/>
                            <a14:foregroundMark x1="97761" y1="45213" x2="97761" y2="45213"/>
                            <a14:foregroundMark x1="28358" y1="88298" x2="26119" y2="89894"/>
                            <a14:foregroundMark x1="23507" y1="97340" x2="23507" y2="97340"/>
                            <a14:foregroundMark x1="1866" y1="70745" x2="1866" y2="70745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261651" y="3994637"/>
                <a:ext cx="1915024" cy="13433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  <p:sp>
            <p:nvSpPr>
              <p:cNvPr id="24" name="Freeform 22">
                <a:extLst>
                  <a:ext uri="{FF2B5EF4-FFF2-40B4-BE49-F238E27FC236}">
                    <a16:creationId xmlns:a16="http://schemas.microsoft.com/office/drawing/2014/main" id="{832865C2-1836-A6EC-DD30-F1BB3B6D51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2550" y="3748002"/>
                <a:ext cx="6590061" cy="247781"/>
              </a:xfrm>
              <a:custGeom>
                <a:avLst/>
                <a:gdLst>
                  <a:gd name="T0" fmla="*/ 1 w 9966"/>
                  <a:gd name="T1" fmla="*/ 1 h 415"/>
                  <a:gd name="T2" fmla="*/ 1 w 9966"/>
                  <a:gd name="T3" fmla="*/ 1 h 415"/>
                  <a:gd name="T4" fmla="*/ 1 w 9966"/>
                  <a:gd name="T5" fmla="*/ 1 h 415"/>
                  <a:gd name="T6" fmla="*/ 1 w 9966"/>
                  <a:gd name="T7" fmla="*/ 1 h 415"/>
                  <a:gd name="T8" fmla="*/ 1 w 9966"/>
                  <a:gd name="T9" fmla="*/ 1 h 415"/>
                  <a:gd name="T10" fmla="*/ 1 w 9966"/>
                  <a:gd name="T11" fmla="*/ 1 h 415"/>
                  <a:gd name="T12" fmla="*/ 1 w 9966"/>
                  <a:gd name="T13" fmla="*/ 1 h 415"/>
                  <a:gd name="T14" fmla="*/ 1 w 9966"/>
                  <a:gd name="T15" fmla="*/ 1 h 415"/>
                  <a:gd name="T16" fmla="*/ 1 w 9966"/>
                  <a:gd name="T17" fmla="*/ 1 h 415"/>
                  <a:gd name="T18" fmla="*/ 1 w 9966"/>
                  <a:gd name="T19" fmla="*/ 1 h 415"/>
                  <a:gd name="T20" fmla="*/ 1 w 9966"/>
                  <a:gd name="T21" fmla="*/ 1 h 415"/>
                  <a:gd name="T22" fmla="*/ 1 w 9966"/>
                  <a:gd name="T23" fmla="*/ 1 h 415"/>
                  <a:gd name="T24" fmla="*/ 1 w 9966"/>
                  <a:gd name="T25" fmla="*/ 1 h 415"/>
                  <a:gd name="T26" fmla="*/ 1 w 9966"/>
                  <a:gd name="T27" fmla="*/ 1 h 415"/>
                  <a:gd name="T28" fmla="*/ 1 w 9966"/>
                  <a:gd name="T29" fmla="*/ 1 h 415"/>
                  <a:gd name="T30" fmla="*/ 1 w 9966"/>
                  <a:gd name="T31" fmla="*/ 1 h 415"/>
                  <a:gd name="T32" fmla="*/ 1 w 9966"/>
                  <a:gd name="T33" fmla="*/ 1 h 415"/>
                  <a:gd name="T34" fmla="*/ 1 w 9966"/>
                  <a:gd name="T35" fmla="*/ 1 h 415"/>
                  <a:gd name="T36" fmla="*/ 1 w 9966"/>
                  <a:gd name="T37" fmla="*/ 1 h 415"/>
                  <a:gd name="T38" fmla="*/ 1 w 9966"/>
                  <a:gd name="T39" fmla="*/ 1 h 415"/>
                  <a:gd name="T40" fmla="*/ 1 w 9966"/>
                  <a:gd name="T41" fmla="*/ 1 h 415"/>
                  <a:gd name="T42" fmla="*/ 1 w 9966"/>
                  <a:gd name="T43" fmla="*/ 1 h 415"/>
                  <a:gd name="T44" fmla="*/ 1 w 9966"/>
                  <a:gd name="T45" fmla="*/ 1 h 415"/>
                  <a:gd name="T46" fmla="*/ 1 w 9966"/>
                  <a:gd name="T47" fmla="*/ 1 h 415"/>
                  <a:gd name="T48" fmla="*/ 1 w 9966"/>
                  <a:gd name="T49" fmla="*/ 1 h 415"/>
                  <a:gd name="T50" fmla="*/ 1 w 9966"/>
                  <a:gd name="T51" fmla="*/ 1 h 415"/>
                  <a:gd name="T52" fmla="*/ 1 w 9966"/>
                  <a:gd name="T53" fmla="*/ 1 h 415"/>
                  <a:gd name="T54" fmla="*/ 1 w 9966"/>
                  <a:gd name="T55" fmla="*/ 1 h 415"/>
                  <a:gd name="T56" fmla="*/ 1 w 9966"/>
                  <a:gd name="T57" fmla="*/ 1 h 415"/>
                  <a:gd name="T58" fmla="*/ 1 w 9966"/>
                  <a:gd name="T59" fmla="*/ 1 h 415"/>
                  <a:gd name="T60" fmla="*/ 1 w 9966"/>
                  <a:gd name="T61" fmla="*/ 1 h 415"/>
                  <a:gd name="T62" fmla="*/ 1 w 9966"/>
                  <a:gd name="T63" fmla="*/ 1 h 415"/>
                  <a:gd name="T64" fmla="*/ 1 w 9966"/>
                  <a:gd name="T65" fmla="*/ 1 h 415"/>
                  <a:gd name="T66" fmla="*/ 1 w 9966"/>
                  <a:gd name="T67" fmla="*/ 1 h 415"/>
                  <a:gd name="T68" fmla="*/ 1 w 9966"/>
                  <a:gd name="T69" fmla="*/ 1 h 415"/>
                  <a:gd name="T70" fmla="*/ 1 w 9966"/>
                  <a:gd name="T71" fmla="*/ 1 h 415"/>
                  <a:gd name="T72" fmla="*/ 1 w 9966"/>
                  <a:gd name="T73" fmla="*/ 1 h 415"/>
                  <a:gd name="T74" fmla="*/ 1 w 9966"/>
                  <a:gd name="T75" fmla="*/ 1 h 415"/>
                  <a:gd name="T76" fmla="*/ 1 w 9966"/>
                  <a:gd name="T77" fmla="*/ 1 h 415"/>
                  <a:gd name="T78" fmla="*/ 1 w 9966"/>
                  <a:gd name="T79" fmla="*/ 1 h 415"/>
                  <a:gd name="T80" fmla="*/ 1 w 9966"/>
                  <a:gd name="T81" fmla="*/ 1 h 415"/>
                  <a:gd name="T82" fmla="*/ 1 w 9966"/>
                  <a:gd name="T83" fmla="*/ 1 h 415"/>
                  <a:gd name="T84" fmla="*/ 1 w 9966"/>
                  <a:gd name="T85" fmla="*/ 1 h 415"/>
                  <a:gd name="T86" fmla="*/ 1 w 9966"/>
                  <a:gd name="T87" fmla="*/ 1 h 415"/>
                  <a:gd name="T88" fmla="*/ 1 w 9966"/>
                  <a:gd name="T89" fmla="*/ 1 h 415"/>
                  <a:gd name="T90" fmla="*/ 1 w 9966"/>
                  <a:gd name="T91" fmla="*/ 1 h 415"/>
                  <a:gd name="T92" fmla="*/ 1 w 9966"/>
                  <a:gd name="T93" fmla="*/ 1 h 415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9966"/>
                  <a:gd name="T142" fmla="*/ 0 h 415"/>
                  <a:gd name="T143" fmla="*/ 9966 w 9966"/>
                  <a:gd name="T144" fmla="*/ 415 h 415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9966" h="415">
                    <a:moveTo>
                      <a:pt x="0" y="415"/>
                    </a:moveTo>
                    <a:lnTo>
                      <a:pt x="352" y="280"/>
                    </a:lnTo>
                    <a:lnTo>
                      <a:pt x="643" y="186"/>
                    </a:lnTo>
                    <a:lnTo>
                      <a:pt x="877" y="138"/>
                    </a:lnTo>
                    <a:lnTo>
                      <a:pt x="897" y="138"/>
                    </a:lnTo>
                    <a:lnTo>
                      <a:pt x="920" y="139"/>
                    </a:lnTo>
                    <a:lnTo>
                      <a:pt x="969" y="145"/>
                    </a:lnTo>
                    <a:lnTo>
                      <a:pt x="1076" y="167"/>
                    </a:lnTo>
                    <a:lnTo>
                      <a:pt x="1316" y="240"/>
                    </a:lnTo>
                    <a:lnTo>
                      <a:pt x="1553" y="313"/>
                    </a:lnTo>
                    <a:lnTo>
                      <a:pt x="1660" y="338"/>
                    </a:lnTo>
                    <a:lnTo>
                      <a:pt x="1709" y="344"/>
                    </a:lnTo>
                    <a:lnTo>
                      <a:pt x="1731" y="346"/>
                    </a:lnTo>
                    <a:lnTo>
                      <a:pt x="1754" y="347"/>
                    </a:lnTo>
                    <a:lnTo>
                      <a:pt x="1858" y="334"/>
                    </a:lnTo>
                    <a:lnTo>
                      <a:pt x="1981" y="302"/>
                    </a:lnTo>
                    <a:lnTo>
                      <a:pt x="2250" y="206"/>
                    </a:lnTo>
                    <a:lnTo>
                      <a:pt x="2519" y="112"/>
                    </a:lnTo>
                    <a:lnTo>
                      <a:pt x="2640" y="81"/>
                    </a:lnTo>
                    <a:lnTo>
                      <a:pt x="2695" y="72"/>
                    </a:lnTo>
                    <a:lnTo>
                      <a:pt x="2720" y="71"/>
                    </a:lnTo>
                    <a:lnTo>
                      <a:pt x="2747" y="70"/>
                    </a:lnTo>
                    <a:lnTo>
                      <a:pt x="2767" y="70"/>
                    </a:lnTo>
                    <a:lnTo>
                      <a:pt x="2790" y="72"/>
                    </a:lnTo>
                    <a:lnTo>
                      <a:pt x="2839" y="81"/>
                    </a:lnTo>
                    <a:lnTo>
                      <a:pt x="2946" y="113"/>
                    </a:lnTo>
                    <a:lnTo>
                      <a:pt x="3184" y="210"/>
                    </a:lnTo>
                    <a:lnTo>
                      <a:pt x="3420" y="305"/>
                    </a:lnTo>
                    <a:lnTo>
                      <a:pt x="3527" y="336"/>
                    </a:lnTo>
                    <a:lnTo>
                      <a:pt x="3576" y="344"/>
                    </a:lnTo>
                    <a:lnTo>
                      <a:pt x="3599" y="346"/>
                    </a:lnTo>
                    <a:lnTo>
                      <a:pt x="3622" y="347"/>
                    </a:lnTo>
                    <a:lnTo>
                      <a:pt x="3701" y="336"/>
                    </a:lnTo>
                    <a:lnTo>
                      <a:pt x="3792" y="303"/>
                    </a:lnTo>
                    <a:lnTo>
                      <a:pt x="3991" y="209"/>
                    </a:lnTo>
                    <a:lnTo>
                      <a:pt x="4190" y="115"/>
                    </a:lnTo>
                    <a:lnTo>
                      <a:pt x="4280" y="83"/>
                    </a:lnTo>
                    <a:lnTo>
                      <a:pt x="4361" y="70"/>
                    </a:lnTo>
                    <a:lnTo>
                      <a:pt x="4381" y="70"/>
                    </a:lnTo>
                    <a:lnTo>
                      <a:pt x="4404" y="71"/>
                    </a:lnTo>
                    <a:lnTo>
                      <a:pt x="4453" y="80"/>
                    </a:lnTo>
                    <a:lnTo>
                      <a:pt x="4562" y="112"/>
                    </a:lnTo>
                    <a:lnTo>
                      <a:pt x="4799" y="211"/>
                    </a:lnTo>
                    <a:lnTo>
                      <a:pt x="5036" y="308"/>
                    </a:lnTo>
                    <a:lnTo>
                      <a:pt x="5142" y="338"/>
                    </a:lnTo>
                    <a:lnTo>
                      <a:pt x="5191" y="344"/>
                    </a:lnTo>
                    <a:lnTo>
                      <a:pt x="5214" y="346"/>
                    </a:lnTo>
                    <a:lnTo>
                      <a:pt x="5238" y="347"/>
                    </a:lnTo>
                    <a:lnTo>
                      <a:pt x="5315" y="329"/>
                    </a:lnTo>
                    <a:lnTo>
                      <a:pt x="5404" y="290"/>
                    </a:lnTo>
                    <a:lnTo>
                      <a:pt x="5594" y="176"/>
                    </a:lnTo>
                    <a:lnTo>
                      <a:pt x="5784" y="62"/>
                    </a:lnTo>
                    <a:lnTo>
                      <a:pt x="5871" y="22"/>
                    </a:lnTo>
                    <a:lnTo>
                      <a:pt x="5952" y="1"/>
                    </a:lnTo>
                    <a:lnTo>
                      <a:pt x="6001" y="0"/>
                    </a:lnTo>
                    <a:lnTo>
                      <a:pt x="6028" y="1"/>
                    </a:lnTo>
                    <a:lnTo>
                      <a:pt x="6057" y="5"/>
                    </a:lnTo>
                    <a:lnTo>
                      <a:pt x="6179" y="34"/>
                    </a:lnTo>
                    <a:lnTo>
                      <a:pt x="6449" y="133"/>
                    </a:lnTo>
                    <a:lnTo>
                      <a:pt x="6717" y="234"/>
                    </a:lnTo>
                    <a:lnTo>
                      <a:pt x="6838" y="266"/>
                    </a:lnTo>
                    <a:lnTo>
                      <a:pt x="6894" y="275"/>
                    </a:lnTo>
                    <a:lnTo>
                      <a:pt x="6918" y="276"/>
                    </a:lnTo>
                    <a:lnTo>
                      <a:pt x="6945" y="277"/>
                    </a:lnTo>
                    <a:lnTo>
                      <a:pt x="7028" y="265"/>
                    </a:lnTo>
                    <a:lnTo>
                      <a:pt x="7125" y="231"/>
                    </a:lnTo>
                    <a:lnTo>
                      <a:pt x="7337" y="135"/>
                    </a:lnTo>
                    <a:lnTo>
                      <a:pt x="7548" y="41"/>
                    </a:lnTo>
                    <a:lnTo>
                      <a:pt x="7643" y="12"/>
                    </a:lnTo>
                    <a:lnTo>
                      <a:pt x="7686" y="3"/>
                    </a:lnTo>
                    <a:lnTo>
                      <a:pt x="7706" y="2"/>
                    </a:lnTo>
                    <a:lnTo>
                      <a:pt x="7729" y="1"/>
                    </a:lnTo>
                    <a:lnTo>
                      <a:pt x="7745" y="1"/>
                    </a:lnTo>
                    <a:lnTo>
                      <a:pt x="7763" y="3"/>
                    </a:lnTo>
                    <a:lnTo>
                      <a:pt x="7801" y="12"/>
                    </a:lnTo>
                    <a:lnTo>
                      <a:pt x="7883" y="44"/>
                    </a:lnTo>
                    <a:lnTo>
                      <a:pt x="8063" y="139"/>
                    </a:lnTo>
                    <a:lnTo>
                      <a:pt x="8241" y="234"/>
                    </a:lnTo>
                    <a:lnTo>
                      <a:pt x="8324" y="266"/>
                    </a:lnTo>
                    <a:lnTo>
                      <a:pt x="8361" y="275"/>
                    </a:lnTo>
                    <a:lnTo>
                      <a:pt x="8378" y="276"/>
                    </a:lnTo>
                    <a:lnTo>
                      <a:pt x="8398" y="277"/>
                    </a:lnTo>
                    <a:lnTo>
                      <a:pt x="8466" y="267"/>
                    </a:lnTo>
                    <a:lnTo>
                      <a:pt x="8542" y="235"/>
                    </a:lnTo>
                    <a:lnTo>
                      <a:pt x="8709" y="141"/>
                    </a:lnTo>
                    <a:lnTo>
                      <a:pt x="8875" y="46"/>
                    </a:lnTo>
                    <a:lnTo>
                      <a:pt x="8952" y="14"/>
                    </a:lnTo>
                    <a:lnTo>
                      <a:pt x="9021" y="1"/>
                    </a:lnTo>
                    <a:lnTo>
                      <a:pt x="9044" y="1"/>
                    </a:lnTo>
                    <a:lnTo>
                      <a:pt x="9072" y="2"/>
                    </a:lnTo>
                    <a:lnTo>
                      <a:pt x="9132" y="12"/>
                    </a:lnTo>
                    <a:lnTo>
                      <a:pt x="9273" y="51"/>
                    </a:lnTo>
                    <a:lnTo>
                      <a:pt x="9587" y="170"/>
                    </a:lnTo>
                    <a:lnTo>
                      <a:pt x="9966" y="347"/>
                    </a:lnTo>
                  </a:path>
                </a:pathLst>
              </a:custGeom>
              <a:solidFill>
                <a:srgbClr val="A4C9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98" tIns="34299" rIns="68598" bIns="34299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9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9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9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9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defRPr/>
                </a:pPr>
                <a:endParaRPr lang="en-US" sz="675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045C54DD-1965-503F-D73E-327F84A482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8432" y="4108646"/>
                <a:ext cx="536931" cy="201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400" dirty="0">
                    <a:solidFill>
                      <a:schemeClr val="bg1"/>
                    </a:solidFill>
                    <a:latin typeface="+mn-lt"/>
                  </a:rPr>
                  <a:t>Long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7440901-A299-6DAE-E2D1-3EB69B6904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02379" y="4288276"/>
                <a:ext cx="383156" cy="928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400" dirty="0">
                    <a:solidFill>
                      <a:schemeClr val="bg1"/>
                    </a:solidFill>
                    <a:latin typeface="+mn-lt"/>
                  </a:rPr>
                  <a:t>Set-Up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D5B37EB-5D44-2278-2869-402ADCB09B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87511" y="4439142"/>
                <a:ext cx="343431" cy="928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400" dirty="0">
                    <a:solidFill>
                      <a:schemeClr val="bg1"/>
                    </a:solidFill>
                    <a:latin typeface="+mn-lt"/>
                  </a:rPr>
                  <a:t>  Time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02CF09F-7F1F-64F3-3F75-3449CEFAC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8056" y="4596118"/>
                <a:ext cx="354964" cy="928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bg1"/>
                    </a:solidFill>
                    <a:latin typeface="+mn-lt"/>
                  </a:rPr>
                  <a:t>  Poor 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6F578C6-0D51-E88C-230F-8268EB8302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2899" y="4809294"/>
                <a:ext cx="388922" cy="928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bg1"/>
                    </a:solidFill>
                    <a:latin typeface="+mn-lt"/>
                  </a:rPr>
                  <a:t>Quality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CDFB818-4367-6B0D-DA09-9BF09820F3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364" y="5017944"/>
                <a:ext cx="406863" cy="928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400" dirty="0">
                    <a:solidFill>
                      <a:schemeClr val="bg1"/>
                    </a:solidFill>
                    <a:latin typeface="+mn-lt"/>
                  </a:rPr>
                  <a:t>Lack of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2E61AB7-5F03-0661-6936-9E69F5C88E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1134" y="5160936"/>
                <a:ext cx="461325" cy="928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400" dirty="0">
                    <a:solidFill>
                      <a:schemeClr val="bg1"/>
                    </a:solidFill>
                    <a:latin typeface="+mn-lt"/>
                  </a:rPr>
                  <a:t>Training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18B77EC-74DA-8E3E-5CDA-B998E18A5F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5026" y="4704364"/>
                <a:ext cx="536931" cy="928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400" dirty="0">
                    <a:solidFill>
                      <a:schemeClr val="bg1"/>
                    </a:solidFill>
                    <a:latin typeface="+mn-lt"/>
                  </a:rPr>
                  <a:t>  Machine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795AE7E-0E73-3C55-A921-F556F3C851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1218" y="4894008"/>
                <a:ext cx="639447" cy="928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400" dirty="0">
                    <a:solidFill>
                      <a:schemeClr val="bg1"/>
                    </a:solidFill>
                    <a:latin typeface="+mn-lt"/>
                  </a:rPr>
                  <a:t>Down-Time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30AFDB2-63DE-20DF-A740-36FA669D3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1704" y="4842641"/>
                <a:ext cx="416474" cy="928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bg1"/>
                    </a:solidFill>
                    <a:latin typeface="+mn-lt"/>
                  </a:rPr>
                  <a:t>     Poor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0C461A8-1072-670C-D671-4C5E957D4B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5536" y="5058201"/>
                <a:ext cx="618944" cy="928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900" b="1" kern="12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bg1"/>
                    </a:solidFill>
                    <a:latin typeface="+mn-lt"/>
                  </a:rPr>
                  <a:t>Scheduling</a:t>
                </a:r>
              </a:p>
            </p:txBody>
          </p:sp>
        </p:grpSp>
        <p:sp>
          <p:nvSpPr>
            <p:cNvPr id="13" name="Text Box 40">
              <a:extLst>
                <a:ext uri="{FF2B5EF4-FFF2-40B4-BE49-F238E27FC236}">
                  <a16:creationId xmlns:a16="http://schemas.microsoft.com/office/drawing/2014/main" id="{5E49BFF9-D048-58D5-794D-2B50C8E374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43640" y="6532288"/>
              <a:ext cx="3258592" cy="2180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900" b="1" kern="12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900" b="1" kern="12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900" b="1" kern="12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900" b="1" kern="12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900" b="1" kern="12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900" b="1" kern="12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900" b="1" kern="12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900" b="1" kern="12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900" b="1" kern="12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algn="ctr" defTabSz="685983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u="sng" dirty="0">
                  <a:solidFill>
                    <a:schemeClr val="tx1"/>
                  </a:solidFill>
                  <a:latin typeface="+mn-lt"/>
                  <a:ea typeface="+mn-ea"/>
                </a:rPr>
                <a:t>Sea of Excess Inventory,  Manpower, Equipment 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A3C8548-033F-C0B0-7AF1-E398713DE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16490" y="7145698"/>
              <a:ext cx="977481" cy="285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900" b="1" kern="12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900" b="1" kern="12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900" b="1" kern="12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900" b="1" kern="12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900" b="1" kern="12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900" b="1" kern="12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900" b="1" kern="12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900" b="1" kern="12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900" b="1" kern="12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400" dirty="0">
                  <a:solidFill>
                    <a:schemeClr val="bg1"/>
                  </a:solidFill>
                  <a:latin typeface="+mn-lt"/>
                </a:rPr>
                <a:t>  No Standard Work</a:t>
              </a:r>
            </a:p>
          </p:txBody>
        </p:sp>
        <p:pic>
          <p:nvPicPr>
            <p:cNvPr id="16" name="Picture 15" descr="Image result for alligator">
              <a:extLst>
                <a:ext uri="{FF2B5EF4-FFF2-40B4-BE49-F238E27FC236}">
                  <a16:creationId xmlns:a16="http://schemas.microsoft.com/office/drawing/2014/main" id="{7CE2DAAC-2820-F737-EC86-523EB233E1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duotone>
                <a:prstClr val="black"/>
                <a:srgbClr val="006699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7752" b="95349" l="1279" r="98721">
                          <a14:foregroundMark x1="2558" y1="9302" x2="12020" y2="31008"/>
                          <a14:foregroundMark x1="1279" y1="21705" x2="1279" y2="21705"/>
                          <a14:foregroundMark x1="24297" y1="16279" x2="27110" y2="27907"/>
                          <a14:foregroundMark x1="35294" y1="92248" x2="33504" y2="96124"/>
                          <a14:foregroundMark x1="89003" y1="44961" x2="95141" y2="35659"/>
                          <a14:foregroundMark x1="98721" y1="34884" x2="98721" y2="37984"/>
                        </a14:backgroundRemoval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65674" y="8212295"/>
              <a:ext cx="1704109" cy="698774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F9E6FFB4-C969-A497-8C3A-D5B105AA4FA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r>
              <a:rPr lang="en-US" dirty="0"/>
              <a:t>Sample Drivers of Waste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2F04B61-9FE1-2E2E-3556-87DAC1302D1C}"/>
              </a:ext>
            </a:extLst>
          </p:cNvPr>
          <p:cNvGrpSpPr/>
          <p:nvPr/>
        </p:nvGrpSpPr>
        <p:grpSpPr>
          <a:xfrm>
            <a:off x="838200" y="297639"/>
            <a:ext cx="4024630" cy="315930"/>
            <a:chOff x="838200" y="297639"/>
            <a:chExt cx="4024630" cy="31593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DA4CF9A-BD22-8F8C-3472-C553A0147B1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6" name="AutoShape 9">
                <a:extLst>
                  <a:ext uri="{FF2B5EF4-FFF2-40B4-BE49-F238E27FC236}">
                    <a16:creationId xmlns:a16="http://schemas.microsoft.com/office/drawing/2014/main" id="{9FC0EF53-BCF4-8E3F-062F-87A9594582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7" name="AutoShape 11">
                <a:extLst>
                  <a:ext uri="{FF2B5EF4-FFF2-40B4-BE49-F238E27FC236}">
                    <a16:creationId xmlns:a16="http://schemas.microsoft.com/office/drawing/2014/main" id="{9F53B43D-AFB8-E0F4-FD42-3F89823F42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38" name="AutoShape 10">
                <a:extLst>
                  <a:ext uri="{FF2B5EF4-FFF2-40B4-BE49-F238E27FC236}">
                    <a16:creationId xmlns:a16="http://schemas.microsoft.com/office/drawing/2014/main" id="{83973862-D0FC-EA2A-B332-C38A5659D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9772F83-3664-CC12-BFAF-D8D487DE7936}"/>
                </a:ext>
              </a:extLst>
            </p:cNvPr>
            <p:cNvSpPr txBox="1"/>
            <p:nvPr/>
          </p:nvSpPr>
          <p:spPr>
            <a:xfrm>
              <a:off x="1994872" y="322207"/>
              <a:ext cx="286795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Fundamentals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3274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33D00-F243-B3D2-0146-A7F8D16D2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Roboto Medium"/>
                <a:ea typeface="Roboto Medium"/>
                <a:cs typeface="Roboto Medium"/>
              </a:rPr>
              <a:t>From Batch to 1-Piece Flow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58E55-563D-C67E-6F1C-2D85668924D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11</a:t>
            </a:fld>
            <a:endParaRPr lang="en-US"/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96D4E03-B2B0-3177-071B-6E50472A95EB}"/>
              </a:ext>
            </a:extLst>
          </p:cNvPr>
          <p:cNvGrpSpPr/>
          <p:nvPr/>
        </p:nvGrpSpPr>
        <p:grpSpPr>
          <a:xfrm>
            <a:off x="986486" y="1925501"/>
            <a:ext cx="10219028" cy="3989514"/>
            <a:chOff x="294571" y="1925501"/>
            <a:chExt cx="5567409" cy="3989514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19189643-2316-702F-8868-EC6257E68445}"/>
                </a:ext>
              </a:extLst>
            </p:cNvPr>
            <p:cNvGrpSpPr/>
            <p:nvPr/>
          </p:nvGrpSpPr>
          <p:grpSpPr>
            <a:xfrm>
              <a:off x="294571" y="1925501"/>
              <a:ext cx="5567409" cy="3989514"/>
              <a:chOff x="474042" y="2741819"/>
              <a:chExt cx="5567409" cy="3989514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376739C1-36E6-0A67-B0C4-07AFAEF9CF6C}"/>
                  </a:ext>
                </a:extLst>
              </p:cNvPr>
              <p:cNvGrpSpPr/>
              <p:nvPr/>
            </p:nvGrpSpPr>
            <p:grpSpPr>
              <a:xfrm>
                <a:off x="552323" y="2745667"/>
                <a:ext cx="1207008" cy="1500206"/>
                <a:chOff x="964922" y="2270198"/>
                <a:chExt cx="1207008" cy="1500206"/>
              </a:xfrm>
            </p:grpSpPr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E2D97A29-0314-A22E-DE4D-D6EFF18C56F1}"/>
                    </a:ext>
                  </a:extLst>
                </p:cNvPr>
                <p:cNvSpPr/>
                <p:nvPr/>
              </p:nvSpPr>
              <p:spPr>
                <a:xfrm>
                  <a:off x="964922" y="2568160"/>
                  <a:ext cx="1207008" cy="1202244"/>
                </a:xfrm>
                <a:prstGeom prst="rect">
                  <a:avLst/>
                </a:prstGeom>
                <a:noFill/>
                <a:ln w="12700" cap="flat">
                  <a:solidFill>
                    <a:schemeClr val="tx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5842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40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sym typeface="Roboto"/>
                  </a:endParaRPr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CE3D9B6B-EEB9-92E1-D6D7-D32AF13F74CF}"/>
                    </a:ext>
                  </a:extLst>
                </p:cNvPr>
                <p:cNvSpPr/>
                <p:nvPr/>
              </p:nvSpPr>
              <p:spPr>
                <a:xfrm>
                  <a:off x="1052956" y="2688873"/>
                  <a:ext cx="377314" cy="376256"/>
                </a:xfrm>
                <a:prstGeom prst="rect">
                  <a:avLst/>
                </a:prstGeom>
                <a:solidFill>
                  <a:schemeClr val="accent3"/>
                </a:solidFill>
                <a:ln w="12700" cap="flat">
                  <a:solidFill>
                    <a:schemeClr val="bg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5842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40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sym typeface="Roboto"/>
                  </a:endParaRPr>
                </a:p>
              </p:txBody>
            </p:sp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11052DB5-705F-426D-52D0-9143CF32C8A9}"/>
                    </a:ext>
                  </a:extLst>
                </p:cNvPr>
                <p:cNvSpPr/>
                <p:nvPr/>
              </p:nvSpPr>
              <p:spPr>
                <a:xfrm>
                  <a:off x="1659217" y="2688325"/>
                  <a:ext cx="374904" cy="374904"/>
                </a:xfrm>
                <a:prstGeom prst="rect">
                  <a:avLst/>
                </a:prstGeom>
                <a:solidFill>
                  <a:schemeClr val="accent3"/>
                </a:solidFill>
                <a:ln w="12700" cap="flat">
                  <a:solidFill>
                    <a:schemeClr val="bg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5842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40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sym typeface="Roboto"/>
                  </a:endParaRPr>
                </a:p>
              </p:txBody>
            </p:sp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F79C7211-64E1-5ECC-0BEA-A359A5F775E5}"/>
                    </a:ext>
                  </a:extLst>
                </p:cNvPr>
                <p:cNvSpPr/>
                <p:nvPr/>
              </p:nvSpPr>
              <p:spPr>
                <a:xfrm>
                  <a:off x="1052956" y="3236725"/>
                  <a:ext cx="374904" cy="374904"/>
                </a:xfrm>
                <a:prstGeom prst="rect">
                  <a:avLst/>
                </a:prstGeom>
                <a:solidFill>
                  <a:schemeClr val="accent3"/>
                </a:solidFill>
                <a:ln w="12700" cap="flat">
                  <a:solidFill>
                    <a:schemeClr val="bg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5842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40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sym typeface="Roboto"/>
                  </a:endParaRPr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9CC46104-37B9-F876-4ACB-B58FD0A7D15E}"/>
                    </a:ext>
                  </a:extLst>
                </p:cNvPr>
                <p:cNvSpPr/>
                <p:nvPr/>
              </p:nvSpPr>
              <p:spPr>
                <a:xfrm>
                  <a:off x="1652749" y="3239220"/>
                  <a:ext cx="374904" cy="374904"/>
                </a:xfrm>
                <a:prstGeom prst="rect">
                  <a:avLst/>
                </a:prstGeom>
                <a:solidFill>
                  <a:schemeClr val="accent3"/>
                </a:solidFill>
                <a:ln w="12700" cap="flat">
                  <a:solidFill>
                    <a:schemeClr val="bg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5842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40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sym typeface="Roboto"/>
                  </a:endParaRP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3EE4D52E-996C-EC90-9E00-E4C5CDF5B724}"/>
                    </a:ext>
                  </a:extLst>
                </p:cNvPr>
                <p:cNvSpPr txBox="1"/>
                <p:nvPr/>
              </p:nvSpPr>
              <p:spPr>
                <a:xfrm>
                  <a:off x="981534" y="2270198"/>
                  <a:ext cx="1168515" cy="31803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t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spc="0" normalizeH="0" baseline="0" dirty="0">
                      <a:ln>
                        <a:noFill/>
                      </a:ln>
                      <a:effectLst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  <a:sym typeface="Roboto"/>
                    </a:rPr>
                    <a:t>PC Board Assembly Dept.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1BA67ABF-40C1-B197-1838-503C3DBE0938}"/>
                  </a:ext>
                </a:extLst>
              </p:cNvPr>
              <p:cNvGrpSpPr/>
              <p:nvPr/>
            </p:nvGrpSpPr>
            <p:grpSpPr>
              <a:xfrm>
                <a:off x="2945219" y="2741819"/>
                <a:ext cx="1207008" cy="1482085"/>
                <a:chOff x="3357818" y="2266350"/>
                <a:chExt cx="1207008" cy="1482085"/>
              </a:xfrm>
            </p:grpSpPr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026E5CB8-F07A-28F8-D9DA-647111D5F4FA}"/>
                    </a:ext>
                  </a:extLst>
                </p:cNvPr>
                <p:cNvSpPr/>
                <p:nvPr/>
              </p:nvSpPr>
              <p:spPr>
                <a:xfrm>
                  <a:off x="3357818" y="2541427"/>
                  <a:ext cx="1207008" cy="1207008"/>
                </a:xfrm>
                <a:prstGeom prst="rect">
                  <a:avLst/>
                </a:prstGeom>
                <a:noFill/>
                <a:ln w="12700" cap="flat">
                  <a:solidFill>
                    <a:schemeClr val="tx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5842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40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sym typeface="Roboto"/>
                  </a:endParaRP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240D3AF3-E896-E753-8401-8BCDC9204563}"/>
                    </a:ext>
                  </a:extLst>
                </p:cNvPr>
                <p:cNvSpPr txBox="1"/>
                <p:nvPr/>
              </p:nvSpPr>
              <p:spPr>
                <a:xfrm>
                  <a:off x="3537321" y="2266350"/>
                  <a:ext cx="848002" cy="31803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t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spc="0" normalizeH="0" baseline="0" dirty="0">
                      <a:ln>
                        <a:noFill/>
                      </a:ln>
                      <a:effectLst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  <a:sym typeface="Roboto"/>
                    </a:rPr>
                    <a:t>Wave Solder Dept.</a:t>
                  </a:r>
                </a:p>
              </p:txBody>
            </p: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001A8B9C-100E-8DCF-EB37-D50EF0EB2429}"/>
                    </a:ext>
                  </a:extLst>
                </p:cNvPr>
                <p:cNvSpPr/>
                <p:nvPr/>
              </p:nvSpPr>
              <p:spPr>
                <a:xfrm>
                  <a:off x="3420281" y="2612571"/>
                  <a:ext cx="374904" cy="374904"/>
                </a:xfrm>
                <a:prstGeom prst="ellipse">
                  <a:avLst/>
                </a:prstGeom>
                <a:solidFill>
                  <a:schemeClr val="accent6"/>
                </a:solidFill>
                <a:ln w="12700" cap="flat">
                  <a:solidFill>
                    <a:schemeClr val="bg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5842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40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sym typeface="Roboto"/>
                  </a:endParaRPr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C55DE67E-3A43-91D4-9799-96032A4D1779}"/>
                    </a:ext>
                  </a:extLst>
                </p:cNvPr>
                <p:cNvSpPr/>
                <p:nvPr/>
              </p:nvSpPr>
              <p:spPr>
                <a:xfrm>
                  <a:off x="4061934" y="2621909"/>
                  <a:ext cx="374904" cy="374904"/>
                </a:xfrm>
                <a:prstGeom prst="ellipse">
                  <a:avLst/>
                </a:prstGeom>
                <a:solidFill>
                  <a:schemeClr val="accent6"/>
                </a:solidFill>
                <a:ln w="12700" cap="flat">
                  <a:solidFill>
                    <a:schemeClr val="bg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5842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40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sym typeface="Roboto"/>
                  </a:endParaRPr>
                </a:p>
              </p:txBody>
            </p:sp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2C310B1E-3D6D-F8D3-CE1A-6FA5057A57E6}"/>
                    </a:ext>
                  </a:extLst>
                </p:cNvPr>
                <p:cNvSpPr/>
                <p:nvPr/>
              </p:nvSpPr>
              <p:spPr>
                <a:xfrm>
                  <a:off x="3415944" y="3245440"/>
                  <a:ext cx="374904" cy="374904"/>
                </a:xfrm>
                <a:prstGeom prst="ellipse">
                  <a:avLst/>
                </a:prstGeom>
                <a:solidFill>
                  <a:schemeClr val="accent6"/>
                </a:solidFill>
                <a:ln w="12700" cap="flat">
                  <a:solidFill>
                    <a:schemeClr val="bg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5842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40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sym typeface="Roboto"/>
                  </a:endParaRPr>
                </a:p>
              </p:txBody>
            </p:sp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1ABF2ECE-2480-B0F0-9BCC-4A79F2692E18}"/>
                    </a:ext>
                  </a:extLst>
                </p:cNvPr>
                <p:cNvSpPr/>
                <p:nvPr/>
              </p:nvSpPr>
              <p:spPr>
                <a:xfrm>
                  <a:off x="4061934" y="3224255"/>
                  <a:ext cx="374904" cy="374904"/>
                </a:xfrm>
                <a:prstGeom prst="ellipse">
                  <a:avLst/>
                </a:prstGeom>
                <a:solidFill>
                  <a:schemeClr val="accent6"/>
                </a:solidFill>
                <a:ln w="12700" cap="flat">
                  <a:solidFill>
                    <a:schemeClr val="bg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5842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40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sym typeface="Roboto"/>
                  </a:endParaRP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5534A9E7-3384-9F89-7F95-ADDFE241ADA9}"/>
                  </a:ext>
                </a:extLst>
              </p:cNvPr>
              <p:cNvGrpSpPr/>
              <p:nvPr/>
            </p:nvGrpSpPr>
            <p:grpSpPr>
              <a:xfrm>
                <a:off x="474042" y="5220497"/>
                <a:ext cx="1207008" cy="1485352"/>
                <a:chOff x="886641" y="4745028"/>
                <a:chExt cx="1207008" cy="1485352"/>
              </a:xfrm>
            </p:grpSpPr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5EA09EF5-1F7A-48F4-BCDB-CDF2B3508308}"/>
                    </a:ext>
                  </a:extLst>
                </p:cNvPr>
                <p:cNvSpPr/>
                <p:nvPr/>
              </p:nvSpPr>
              <p:spPr>
                <a:xfrm>
                  <a:off x="886641" y="5023372"/>
                  <a:ext cx="1207008" cy="1207008"/>
                </a:xfrm>
                <a:prstGeom prst="rect">
                  <a:avLst/>
                </a:prstGeom>
                <a:noFill/>
                <a:ln w="12700" cap="flat">
                  <a:solidFill>
                    <a:schemeClr val="tx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5842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40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sym typeface="Roboto"/>
                  </a:endParaRP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48636EE5-425C-9250-ACD4-9A32A18D8780}"/>
                    </a:ext>
                  </a:extLst>
                </p:cNvPr>
                <p:cNvSpPr txBox="1"/>
                <p:nvPr/>
              </p:nvSpPr>
              <p:spPr>
                <a:xfrm>
                  <a:off x="1008118" y="4745028"/>
                  <a:ext cx="968522" cy="31803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t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spc="0" normalizeH="0" baseline="0" dirty="0">
                      <a:ln>
                        <a:noFill/>
                      </a:ln>
                      <a:effectLst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  <a:sym typeface="Roboto"/>
                    </a:rPr>
                    <a:t>Final Assembly Dept.</a:t>
                  </a:r>
                </a:p>
              </p:txBody>
            </p:sp>
            <p:sp>
              <p:nvSpPr>
                <p:cNvPr id="87" name="Hexagon 86">
                  <a:extLst>
                    <a:ext uri="{FF2B5EF4-FFF2-40B4-BE49-F238E27FC236}">
                      <a16:creationId xmlns:a16="http://schemas.microsoft.com/office/drawing/2014/main" id="{DC0B6AD3-CBF4-BBBE-580D-739A9D94AD44}"/>
                    </a:ext>
                  </a:extLst>
                </p:cNvPr>
                <p:cNvSpPr/>
                <p:nvPr/>
              </p:nvSpPr>
              <p:spPr>
                <a:xfrm>
                  <a:off x="977405" y="5167106"/>
                  <a:ext cx="374904" cy="374904"/>
                </a:xfrm>
                <a:prstGeom prst="hexagon">
                  <a:avLst/>
                </a:prstGeom>
                <a:solidFill>
                  <a:schemeClr val="accent4"/>
                </a:solidFill>
                <a:ln w="12700" cap="flat">
                  <a:solidFill>
                    <a:schemeClr val="bg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5842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40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sym typeface="Roboto"/>
                  </a:endParaRPr>
                </a:p>
              </p:txBody>
            </p:sp>
            <p:sp>
              <p:nvSpPr>
                <p:cNvPr id="88" name="Hexagon 87">
                  <a:extLst>
                    <a:ext uri="{FF2B5EF4-FFF2-40B4-BE49-F238E27FC236}">
                      <a16:creationId xmlns:a16="http://schemas.microsoft.com/office/drawing/2014/main" id="{5995D97A-6A56-D908-BD10-55CD459EACAC}"/>
                    </a:ext>
                  </a:extLst>
                </p:cNvPr>
                <p:cNvSpPr/>
                <p:nvPr/>
              </p:nvSpPr>
              <p:spPr>
                <a:xfrm>
                  <a:off x="1613956" y="5167106"/>
                  <a:ext cx="374904" cy="374904"/>
                </a:xfrm>
                <a:prstGeom prst="hexagon">
                  <a:avLst/>
                </a:prstGeom>
                <a:solidFill>
                  <a:schemeClr val="accent4"/>
                </a:solidFill>
                <a:ln w="12700" cap="flat">
                  <a:solidFill>
                    <a:schemeClr val="bg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5842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40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sym typeface="Roboto"/>
                  </a:endParaRPr>
                </a:p>
              </p:txBody>
            </p:sp>
            <p:sp>
              <p:nvSpPr>
                <p:cNvPr id="89" name="Hexagon 88">
                  <a:extLst>
                    <a:ext uri="{FF2B5EF4-FFF2-40B4-BE49-F238E27FC236}">
                      <a16:creationId xmlns:a16="http://schemas.microsoft.com/office/drawing/2014/main" id="{31030C59-18AC-34C9-8086-55D11704303A}"/>
                    </a:ext>
                  </a:extLst>
                </p:cNvPr>
                <p:cNvSpPr/>
                <p:nvPr/>
              </p:nvSpPr>
              <p:spPr>
                <a:xfrm>
                  <a:off x="995682" y="5750934"/>
                  <a:ext cx="374904" cy="374904"/>
                </a:xfrm>
                <a:prstGeom prst="hexagon">
                  <a:avLst/>
                </a:prstGeom>
                <a:solidFill>
                  <a:schemeClr val="accent4"/>
                </a:solidFill>
                <a:ln w="12700" cap="flat">
                  <a:solidFill>
                    <a:schemeClr val="bg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5842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40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sym typeface="Roboto"/>
                  </a:endParaRPr>
                </a:p>
              </p:txBody>
            </p:sp>
            <p:sp>
              <p:nvSpPr>
                <p:cNvPr id="90" name="Hexagon 89">
                  <a:extLst>
                    <a:ext uri="{FF2B5EF4-FFF2-40B4-BE49-F238E27FC236}">
                      <a16:creationId xmlns:a16="http://schemas.microsoft.com/office/drawing/2014/main" id="{045F21ED-AA24-D053-A876-EA55ADB4C4E8}"/>
                    </a:ext>
                  </a:extLst>
                </p:cNvPr>
                <p:cNvSpPr/>
                <p:nvPr/>
              </p:nvSpPr>
              <p:spPr>
                <a:xfrm>
                  <a:off x="1637970" y="5687696"/>
                  <a:ext cx="374904" cy="374904"/>
                </a:xfrm>
                <a:prstGeom prst="hexagon">
                  <a:avLst/>
                </a:prstGeom>
                <a:solidFill>
                  <a:schemeClr val="accent4"/>
                </a:solidFill>
                <a:ln w="12700" cap="flat">
                  <a:solidFill>
                    <a:schemeClr val="bg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5842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40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sym typeface="Roboto"/>
                  </a:endParaRPr>
                </a:p>
              </p:txBody>
            </p:sp>
          </p:grp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AE01D5D-66E1-2C33-1817-892F3F1D396A}"/>
                  </a:ext>
                </a:extLst>
              </p:cNvPr>
              <p:cNvSpPr/>
              <p:nvPr/>
            </p:nvSpPr>
            <p:spPr>
              <a:xfrm>
                <a:off x="1668321" y="4722097"/>
                <a:ext cx="1709928" cy="649216"/>
              </a:xfrm>
              <a:prstGeom prst="rect">
                <a:avLst/>
              </a:prstGeom>
              <a:pattFill prst="pct70">
                <a:fgClr>
                  <a:schemeClr val="accent2"/>
                </a:fgClr>
                <a:bgClr>
                  <a:schemeClr val="bg1"/>
                </a:bgClr>
              </a:patt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spc="0" normalizeH="0" baseline="0" dirty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Stockroom</a:t>
                </a:r>
              </a:p>
            </p:txBody>
          </p: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95D75517-7C30-433A-9458-80EE5E2E353B}"/>
                  </a:ext>
                </a:extLst>
              </p:cNvPr>
              <p:cNvGrpSpPr/>
              <p:nvPr/>
            </p:nvGrpSpPr>
            <p:grpSpPr>
              <a:xfrm>
                <a:off x="4834443" y="4162523"/>
                <a:ext cx="1207008" cy="1476887"/>
                <a:chOff x="5372221" y="3890411"/>
                <a:chExt cx="1207008" cy="1476887"/>
              </a:xfrm>
            </p:grpSpPr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FF5C8B49-BF3A-D61E-9FBC-96B833DF5DA0}"/>
                    </a:ext>
                  </a:extLst>
                </p:cNvPr>
                <p:cNvSpPr txBox="1"/>
                <p:nvPr/>
              </p:nvSpPr>
              <p:spPr>
                <a:xfrm>
                  <a:off x="5675838" y="3890411"/>
                  <a:ext cx="657617" cy="31803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t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spc="0" normalizeH="0" baseline="0" dirty="0">
                      <a:ln>
                        <a:noFill/>
                      </a:ln>
                      <a:effectLst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  <a:sym typeface="Roboto"/>
                    </a:rPr>
                    <a:t>Packing Dept.</a:t>
                  </a:r>
                </a:p>
              </p:txBody>
            </p:sp>
            <p:grpSp>
              <p:nvGrpSpPr>
                <p:cNvPr id="79" name="Group 78">
                  <a:extLst>
                    <a:ext uri="{FF2B5EF4-FFF2-40B4-BE49-F238E27FC236}">
                      <a16:creationId xmlns:a16="http://schemas.microsoft.com/office/drawing/2014/main" id="{1B593765-A783-B63D-5A36-5ED62E6CC1BB}"/>
                    </a:ext>
                  </a:extLst>
                </p:cNvPr>
                <p:cNvGrpSpPr/>
                <p:nvPr/>
              </p:nvGrpSpPr>
              <p:grpSpPr>
                <a:xfrm>
                  <a:off x="5372221" y="4160290"/>
                  <a:ext cx="1207008" cy="1207008"/>
                  <a:chOff x="5372221" y="4160290"/>
                  <a:chExt cx="1207008" cy="1207008"/>
                </a:xfrm>
              </p:grpSpPr>
              <p:sp>
                <p:nvSpPr>
                  <p:cNvPr id="80" name="Rectangle 79">
                    <a:extLst>
                      <a:ext uri="{FF2B5EF4-FFF2-40B4-BE49-F238E27FC236}">
                        <a16:creationId xmlns:a16="http://schemas.microsoft.com/office/drawing/2014/main" id="{82FD09AF-439D-9B01-6E5A-BBD95643CB5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72221" y="4160290"/>
                    <a:ext cx="1207008" cy="1207008"/>
                  </a:xfrm>
                  <a:prstGeom prst="rect">
                    <a:avLst/>
                  </a:prstGeom>
                  <a:noFill/>
                  <a:ln w="12700" cap="flat">
                    <a:solidFill>
                      <a:schemeClr val="tx1"/>
                    </a:solidFill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50800" tIns="50800" rIns="50800" bIns="50800" numCol="1" spcCol="38100" rtlCol="0" anchor="ctr">
                    <a:spAutoFit/>
                  </a:bodyPr>
                  <a:lstStyle/>
                  <a:p>
                    <a:pPr marL="0" marR="0" indent="0" algn="ctr" defTabSz="5842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4000" b="0" i="0" u="none" strike="noStrike" cap="none" spc="0" normalizeH="0" baseline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uFillTx/>
                      <a:sym typeface="Roboto"/>
                    </a:endParaRPr>
                  </a:p>
                </p:txBody>
              </p:sp>
              <p:sp>
                <p:nvSpPr>
                  <p:cNvPr id="81" name="Diamond 80">
                    <a:extLst>
                      <a:ext uri="{FF2B5EF4-FFF2-40B4-BE49-F238E27FC236}">
                        <a16:creationId xmlns:a16="http://schemas.microsoft.com/office/drawing/2014/main" id="{57FF796E-03B7-6EFA-D7E5-2773E5CCCD23}"/>
                      </a:ext>
                    </a:extLst>
                  </p:cNvPr>
                  <p:cNvSpPr/>
                  <p:nvPr/>
                </p:nvSpPr>
                <p:spPr>
                  <a:xfrm>
                    <a:off x="5498345" y="4259634"/>
                    <a:ext cx="374904" cy="374904"/>
                  </a:xfrm>
                  <a:prstGeom prst="diamond">
                    <a:avLst/>
                  </a:prstGeom>
                  <a:solidFill>
                    <a:schemeClr val="accent2"/>
                  </a:solidFill>
                  <a:ln w="12700" cap="flat">
                    <a:solidFill>
                      <a:schemeClr val="bg1"/>
                    </a:solidFill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50800" tIns="50800" rIns="50800" bIns="50800" numCol="1" spcCol="38100" rtlCol="0" anchor="ctr">
                    <a:spAutoFit/>
                  </a:bodyPr>
                  <a:lstStyle/>
                  <a:p>
                    <a:pPr marL="0" marR="0" indent="0" algn="ctr" defTabSz="5842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4000" b="0" i="0" u="none" strike="noStrike" cap="none" spc="0" normalizeH="0" baseline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uFillTx/>
                      <a:sym typeface="Roboto"/>
                    </a:endParaRPr>
                  </a:p>
                </p:txBody>
              </p:sp>
              <p:sp>
                <p:nvSpPr>
                  <p:cNvPr id="82" name="Diamond 81">
                    <a:extLst>
                      <a:ext uri="{FF2B5EF4-FFF2-40B4-BE49-F238E27FC236}">
                        <a16:creationId xmlns:a16="http://schemas.microsoft.com/office/drawing/2014/main" id="{B35847EC-B4E1-9839-9DD8-5B243D3D007E}"/>
                      </a:ext>
                    </a:extLst>
                  </p:cNvPr>
                  <p:cNvSpPr/>
                  <p:nvPr/>
                </p:nvSpPr>
                <p:spPr>
                  <a:xfrm>
                    <a:off x="5511787" y="4879758"/>
                    <a:ext cx="374904" cy="374904"/>
                  </a:xfrm>
                  <a:prstGeom prst="diamond">
                    <a:avLst/>
                  </a:prstGeom>
                  <a:solidFill>
                    <a:schemeClr val="accent2"/>
                  </a:solidFill>
                  <a:ln w="12700" cap="flat">
                    <a:solidFill>
                      <a:schemeClr val="bg1"/>
                    </a:solidFill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50800" tIns="50800" rIns="50800" bIns="50800" numCol="1" spcCol="38100" rtlCol="0" anchor="ctr">
                    <a:spAutoFit/>
                  </a:bodyPr>
                  <a:lstStyle/>
                  <a:p>
                    <a:pPr marL="0" marR="0" indent="0" algn="ctr" defTabSz="5842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4000" b="0" i="0" u="none" strike="noStrike" cap="none" spc="0" normalizeH="0" baseline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uFillTx/>
                      <a:sym typeface="Roboto"/>
                    </a:endParaRPr>
                  </a:p>
                </p:txBody>
              </p:sp>
              <p:sp>
                <p:nvSpPr>
                  <p:cNvPr id="83" name="Diamond 82">
                    <a:extLst>
                      <a:ext uri="{FF2B5EF4-FFF2-40B4-BE49-F238E27FC236}">
                        <a16:creationId xmlns:a16="http://schemas.microsoft.com/office/drawing/2014/main" id="{9DB695C3-5190-FF0D-6236-0474B1F1BFF1}"/>
                      </a:ext>
                    </a:extLst>
                  </p:cNvPr>
                  <p:cNvSpPr/>
                  <p:nvPr/>
                </p:nvSpPr>
                <p:spPr>
                  <a:xfrm>
                    <a:off x="6101095" y="4262664"/>
                    <a:ext cx="374904" cy="374904"/>
                  </a:xfrm>
                  <a:prstGeom prst="diamond">
                    <a:avLst/>
                  </a:prstGeom>
                  <a:solidFill>
                    <a:schemeClr val="accent2"/>
                  </a:solidFill>
                  <a:ln w="12700" cap="flat">
                    <a:solidFill>
                      <a:schemeClr val="bg1"/>
                    </a:solidFill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50800" tIns="50800" rIns="50800" bIns="50800" numCol="1" spcCol="38100" rtlCol="0" anchor="ctr">
                    <a:spAutoFit/>
                  </a:bodyPr>
                  <a:lstStyle/>
                  <a:p>
                    <a:pPr marL="0" marR="0" indent="0" algn="ctr" defTabSz="5842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4000" b="0" i="0" u="none" strike="noStrike" cap="none" spc="0" normalizeH="0" baseline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uFillTx/>
                      <a:sym typeface="Roboto"/>
                    </a:endParaRPr>
                  </a:p>
                </p:txBody>
              </p:sp>
              <p:sp>
                <p:nvSpPr>
                  <p:cNvPr id="84" name="Diamond 83">
                    <a:extLst>
                      <a:ext uri="{FF2B5EF4-FFF2-40B4-BE49-F238E27FC236}">
                        <a16:creationId xmlns:a16="http://schemas.microsoft.com/office/drawing/2014/main" id="{A458E433-BD5E-518B-F6BF-B5C7896F4F5D}"/>
                      </a:ext>
                    </a:extLst>
                  </p:cNvPr>
                  <p:cNvSpPr/>
                  <p:nvPr/>
                </p:nvSpPr>
                <p:spPr>
                  <a:xfrm>
                    <a:off x="6118673" y="4887027"/>
                    <a:ext cx="374904" cy="374904"/>
                  </a:xfrm>
                  <a:prstGeom prst="diamond">
                    <a:avLst/>
                  </a:prstGeom>
                  <a:solidFill>
                    <a:schemeClr val="accent2"/>
                  </a:solidFill>
                  <a:ln w="12700" cap="flat">
                    <a:solidFill>
                      <a:schemeClr val="bg1"/>
                    </a:solidFill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50800" tIns="50800" rIns="50800" bIns="50800" numCol="1" spcCol="38100" rtlCol="0" anchor="ctr">
                    <a:spAutoFit/>
                  </a:bodyPr>
                  <a:lstStyle/>
                  <a:p>
                    <a:pPr marL="0" marR="0" indent="0" algn="ctr" defTabSz="5842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4000" b="0" i="0" u="none" strike="noStrike" cap="none" spc="0" normalizeH="0" baseline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uFillTx/>
                      <a:sym typeface="Roboto"/>
                    </a:endParaRPr>
                  </a:p>
                </p:txBody>
              </p:sp>
            </p:grpSp>
          </p:grp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697F3227-73A8-505D-EBB2-DF53994393EA}"/>
                  </a:ext>
                </a:extLst>
              </p:cNvPr>
              <p:cNvCxnSpPr>
                <a:cxnSpLocks/>
                <a:stCxn id="97" idx="3"/>
                <a:endCxn id="91" idx="1"/>
              </p:cNvCxnSpPr>
              <p:nvPr/>
            </p:nvCxnSpPr>
            <p:spPr>
              <a:xfrm flipV="1">
                <a:off x="1759331" y="3620400"/>
                <a:ext cx="1185888" cy="24351"/>
              </a:xfrm>
              <a:prstGeom prst="straightConnector1">
                <a:avLst/>
              </a:prstGeom>
              <a:noFill/>
              <a:ln w="63500" cap="flat">
                <a:solidFill>
                  <a:schemeClr val="tx1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D25E7DDE-DF98-EFC7-68CE-D2413A5DF3F8}"/>
                  </a:ext>
                </a:extLst>
              </p:cNvPr>
              <p:cNvCxnSpPr>
                <a:cxnSpLocks/>
                <a:stCxn id="80" idx="2"/>
                <a:endCxn id="63" idx="3"/>
              </p:cNvCxnSpPr>
              <p:nvPr/>
            </p:nvCxnSpPr>
            <p:spPr>
              <a:xfrm flipH="1">
                <a:off x="3378249" y="5035906"/>
                <a:ext cx="1456194" cy="10799"/>
              </a:xfrm>
              <a:prstGeom prst="straightConnector1">
                <a:avLst/>
              </a:prstGeom>
              <a:noFill/>
              <a:ln w="63500" cap="flat">
                <a:solidFill>
                  <a:schemeClr val="tx1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52E10EB9-6798-8903-5E61-611E56B46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30770" y="6403530"/>
                <a:ext cx="1600216" cy="0"/>
              </a:xfrm>
              <a:prstGeom prst="straightConnector1">
                <a:avLst/>
              </a:prstGeom>
              <a:noFill/>
              <a:ln w="63500" cap="flat">
                <a:solidFill>
                  <a:schemeClr val="tx1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68" name="Connector: Elbow 67">
                <a:extLst>
                  <a:ext uri="{FF2B5EF4-FFF2-40B4-BE49-F238E27FC236}">
                    <a16:creationId xmlns:a16="http://schemas.microsoft.com/office/drawing/2014/main" id="{47E98C28-0DB5-EA8F-608A-F6A4F1DC7107}"/>
                  </a:ext>
                </a:extLst>
              </p:cNvPr>
              <p:cNvCxnSpPr>
                <a:cxnSpLocks/>
                <a:stCxn id="63" idx="2"/>
                <a:endCxn id="85" idx="3"/>
              </p:cNvCxnSpPr>
              <p:nvPr/>
            </p:nvCxnSpPr>
            <p:spPr>
              <a:xfrm rot="5400000">
                <a:off x="1736652" y="5315712"/>
                <a:ext cx="731032" cy="842235"/>
              </a:xfrm>
              <a:prstGeom prst="bentConnector2">
                <a:avLst/>
              </a:prstGeom>
              <a:noFill/>
              <a:ln w="63500" cap="flat">
                <a:solidFill>
                  <a:schemeClr val="tx1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69" name="Connector: Elbow 68">
                <a:extLst>
                  <a:ext uri="{FF2B5EF4-FFF2-40B4-BE49-F238E27FC236}">
                    <a16:creationId xmlns:a16="http://schemas.microsoft.com/office/drawing/2014/main" id="{0E6FA3A2-9C13-89A6-DDEA-4D2CA3368DD1}"/>
                  </a:ext>
                </a:extLst>
              </p:cNvPr>
              <p:cNvCxnSpPr>
                <a:cxnSpLocks/>
                <a:stCxn id="72" idx="3"/>
                <a:endCxn id="80" idx="3"/>
              </p:cNvCxnSpPr>
              <p:nvPr/>
            </p:nvCxnSpPr>
            <p:spPr>
              <a:xfrm flipV="1">
                <a:off x="4537994" y="5639410"/>
                <a:ext cx="899953" cy="488419"/>
              </a:xfrm>
              <a:prstGeom prst="bentConnector2">
                <a:avLst/>
              </a:prstGeom>
              <a:noFill/>
              <a:ln w="63500" cap="flat">
                <a:solidFill>
                  <a:schemeClr val="tx1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70" name="Connector: Elbow 69">
                <a:extLst>
                  <a:ext uri="{FF2B5EF4-FFF2-40B4-BE49-F238E27FC236}">
                    <a16:creationId xmlns:a16="http://schemas.microsoft.com/office/drawing/2014/main" id="{A168106C-6BDD-5463-7012-2FE4AC00F79E}"/>
                  </a:ext>
                </a:extLst>
              </p:cNvPr>
              <p:cNvCxnSpPr>
                <a:cxnSpLocks/>
                <a:stCxn id="63" idx="1"/>
                <a:endCxn id="97" idx="2"/>
              </p:cNvCxnSpPr>
              <p:nvPr/>
            </p:nvCxnSpPr>
            <p:spPr>
              <a:xfrm rot="10800000">
                <a:off x="1155827" y="4245873"/>
                <a:ext cx="512494" cy="800832"/>
              </a:xfrm>
              <a:prstGeom prst="bentConnector2">
                <a:avLst/>
              </a:prstGeom>
              <a:noFill/>
              <a:ln w="63500" cap="flat">
                <a:solidFill>
                  <a:schemeClr val="tx1">
                    <a:alpha val="75000"/>
                  </a:schemeClr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6695160D-2988-A664-34AA-5547AE7D41A4}"/>
                  </a:ext>
                </a:extLst>
              </p:cNvPr>
              <p:cNvGrpSpPr/>
              <p:nvPr/>
            </p:nvGrpSpPr>
            <p:grpSpPr>
              <a:xfrm>
                <a:off x="3330986" y="5216923"/>
                <a:ext cx="1207008" cy="1514410"/>
                <a:chOff x="3330986" y="5216923"/>
                <a:chExt cx="1207008" cy="1514410"/>
              </a:xfrm>
            </p:grpSpPr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26FA0199-BB9C-9CFC-AC17-F9526961F27E}"/>
                    </a:ext>
                  </a:extLst>
                </p:cNvPr>
                <p:cNvSpPr/>
                <p:nvPr/>
              </p:nvSpPr>
              <p:spPr>
                <a:xfrm>
                  <a:off x="3330986" y="5524325"/>
                  <a:ext cx="1207008" cy="1207008"/>
                </a:xfrm>
                <a:prstGeom prst="rect">
                  <a:avLst/>
                </a:prstGeom>
                <a:noFill/>
                <a:ln w="12700" cap="flat">
                  <a:solidFill>
                    <a:schemeClr val="tx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5842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40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sym typeface="Roboto"/>
                  </a:endParaRPr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AA1A8E53-7507-885C-5F32-5924D526BBEE}"/>
                    </a:ext>
                  </a:extLst>
                </p:cNvPr>
                <p:cNvSpPr txBox="1"/>
                <p:nvPr/>
              </p:nvSpPr>
              <p:spPr>
                <a:xfrm>
                  <a:off x="3620239" y="5216923"/>
                  <a:ext cx="634037" cy="31803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t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spc="0" normalizeH="0" baseline="0" dirty="0">
                      <a:ln>
                        <a:noFill/>
                      </a:ln>
                      <a:effectLst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  <a:sym typeface="Roboto"/>
                    </a:rPr>
                    <a:t>Testing Dept.</a:t>
                  </a:r>
                </a:p>
              </p:txBody>
            </p:sp>
            <p:sp>
              <p:nvSpPr>
                <p:cNvPr id="74" name="Freeform 22">
                  <a:extLst>
                    <a:ext uri="{FF2B5EF4-FFF2-40B4-BE49-F238E27FC236}">
                      <a16:creationId xmlns:a16="http://schemas.microsoft.com/office/drawing/2014/main" id="{01695C09-14F5-A566-309B-D2FBC327E1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92502" y="5658836"/>
                  <a:ext cx="374904" cy="374904"/>
                </a:xfrm>
                <a:custGeom>
                  <a:avLst/>
                  <a:gdLst>
                    <a:gd name="T0" fmla="*/ 2147483646 w 615"/>
                    <a:gd name="T1" fmla="*/ 0 h 385"/>
                    <a:gd name="T2" fmla="*/ 2147483646 w 615"/>
                    <a:gd name="T3" fmla="*/ 2147483646 h 385"/>
                    <a:gd name="T4" fmla="*/ 2147483646 w 615"/>
                    <a:gd name="T5" fmla="*/ 2147483646 h 385"/>
                    <a:gd name="T6" fmla="*/ 2147483646 w 615"/>
                    <a:gd name="T7" fmla="*/ 2147483646 h 385"/>
                    <a:gd name="T8" fmla="*/ 2147483646 w 615"/>
                    <a:gd name="T9" fmla="*/ 2147483646 h 385"/>
                    <a:gd name="T10" fmla="*/ 2147483646 w 615"/>
                    <a:gd name="T11" fmla="*/ 2147483646 h 385"/>
                    <a:gd name="T12" fmla="*/ 2147483646 w 615"/>
                    <a:gd name="T13" fmla="*/ 2147483646 h 385"/>
                    <a:gd name="T14" fmla="*/ 2147483646 w 615"/>
                    <a:gd name="T15" fmla="*/ 2147483646 h 385"/>
                    <a:gd name="T16" fmla="*/ 2147483646 w 615"/>
                    <a:gd name="T17" fmla="*/ 2147483646 h 385"/>
                    <a:gd name="T18" fmla="*/ 2147483646 w 615"/>
                    <a:gd name="T19" fmla="*/ 2147483646 h 385"/>
                    <a:gd name="T20" fmla="*/ 2147483646 w 615"/>
                    <a:gd name="T21" fmla="*/ 2147483646 h 385"/>
                    <a:gd name="T22" fmla="*/ 2147483646 w 615"/>
                    <a:gd name="T23" fmla="*/ 2147483646 h 385"/>
                    <a:gd name="T24" fmla="*/ 2147483646 w 615"/>
                    <a:gd name="T25" fmla="*/ 2147483646 h 385"/>
                    <a:gd name="T26" fmla="*/ 2147483646 w 615"/>
                    <a:gd name="T27" fmla="*/ 2147483646 h 385"/>
                    <a:gd name="T28" fmla="*/ 2147483646 w 615"/>
                    <a:gd name="T29" fmla="*/ 2147483646 h 385"/>
                    <a:gd name="T30" fmla="*/ 2147483646 w 615"/>
                    <a:gd name="T31" fmla="*/ 2147483646 h 385"/>
                    <a:gd name="T32" fmla="*/ 2147483646 w 615"/>
                    <a:gd name="T33" fmla="*/ 2147483646 h 385"/>
                    <a:gd name="T34" fmla="*/ 2147483646 w 615"/>
                    <a:gd name="T35" fmla="*/ 2147483646 h 385"/>
                    <a:gd name="T36" fmla="*/ 2147483646 w 615"/>
                    <a:gd name="T37" fmla="*/ 2147483646 h 385"/>
                    <a:gd name="T38" fmla="*/ 2147483646 w 615"/>
                    <a:gd name="T39" fmla="*/ 2147483646 h 385"/>
                    <a:gd name="T40" fmla="*/ 2147483646 w 615"/>
                    <a:gd name="T41" fmla="*/ 2147483646 h 385"/>
                    <a:gd name="T42" fmla="*/ 2147483646 w 615"/>
                    <a:gd name="T43" fmla="*/ 2147483646 h 385"/>
                    <a:gd name="T44" fmla="*/ 2147483646 w 615"/>
                    <a:gd name="T45" fmla="*/ 2147483646 h 385"/>
                    <a:gd name="T46" fmla="*/ 2147483646 w 615"/>
                    <a:gd name="T47" fmla="*/ 2147483646 h 385"/>
                    <a:gd name="T48" fmla="*/ 0 w 615"/>
                    <a:gd name="T49" fmla="*/ 2147483646 h 385"/>
                    <a:gd name="T50" fmla="*/ 2147483646 w 615"/>
                    <a:gd name="T51" fmla="*/ 2147483646 h 385"/>
                    <a:gd name="T52" fmla="*/ 2147483646 w 615"/>
                    <a:gd name="T53" fmla="*/ 2147483646 h 385"/>
                    <a:gd name="T54" fmla="*/ 2147483646 w 615"/>
                    <a:gd name="T55" fmla="*/ 2147483646 h 385"/>
                    <a:gd name="T56" fmla="*/ 2147483646 w 615"/>
                    <a:gd name="T57" fmla="*/ 2147483646 h 385"/>
                    <a:gd name="T58" fmla="*/ 2147483646 w 615"/>
                    <a:gd name="T59" fmla="*/ 2147483646 h 385"/>
                    <a:gd name="T60" fmla="*/ 2147483646 w 615"/>
                    <a:gd name="T61" fmla="*/ 2147483646 h 385"/>
                    <a:gd name="T62" fmla="*/ 2147483646 w 615"/>
                    <a:gd name="T63" fmla="*/ 2147483646 h 385"/>
                    <a:gd name="T64" fmla="*/ 2147483646 w 615"/>
                    <a:gd name="T65" fmla="*/ 0 h 385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615"/>
                    <a:gd name="T100" fmla="*/ 0 h 385"/>
                    <a:gd name="T101" fmla="*/ 615 w 615"/>
                    <a:gd name="T102" fmla="*/ 385 h 385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615" h="385">
                      <a:moveTo>
                        <a:pt x="307" y="0"/>
                      </a:moveTo>
                      <a:lnTo>
                        <a:pt x="359" y="34"/>
                      </a:lnTo>
                      <a:lnTo>
                        <a:pt x="427" y="16"/>
                      </a:lnTo>
                      <a:lnTo>
                        <a:pt x="452" y="57"/>
                      </a:lnTo>
                      <a:lnTo>
                        <a:pt x="525" y="57"/>
                      </a:lnTo>
                      <a:lnTo>
                        <a:pt x="525" y="108"/>
                      </a:lnTo>
                      <a:lnTo>
                        <a:pt x="592" y="121"/>
                      </a:lnTo>
                      <a:lnTo>
                        <a:pt x="561" y="165"/>
                      </a:lnTo>
                      <a:lnTo>
                        <a:pt x="614" y="192"/>
                      </a:lnTo>
                      <a:lnTo>
                        <a:pt x="559" y="226"/>
                      </a:lnTo>
                      <a:lnTo>
                        <a:pt x="589" y="270"/>
                      </a:lnTo>
                      <a:lnTo>
                        <a:pt x="524" y="282"/>
                      </a:lnTo>
                      <a:lnTo>
                        <a:pt x="524" y="328"/>
                      </a:lnTo>
                      <a:lnTo>
                        <a:pt x="448" y="328"/>
                      </a:lnTo>
                      <a:lnTo>
                        <a:pt x="420" y="373"/>
                      </a:lnTo>
                      <a:lnTo>
                        <a:pt x="355" y="351"/>
                      </a:lnTo>
                      <a:lnTo>
                        <a:pt x="304" y="384"/>
                      </a:lnTo>
                      <a:lnTo>
                        <a:pt x="256" y="354"/>
                      </a:lnTo>
                      <a:lnTo>
                        <a:pt x="186" y="370"/>
                      </a:lnTo>
                      <a:lnTo>
                        <a:pt x="161" y="324"/>
                      </a:lnTo>
                      <a:lnTo>
                        <a:pt x="89" y="325"/>
                      </a:lnTo>
                      <a:lnTo>
                        <a:pt x="88" y="282"/>
                      </a:lnTo>
                      <a:lnTo>
                        <a:pt x="20" y="265"/>
                      </a:lnTo>
                      <a:lnTo>
                        <a:pt x="54" y="222"/>
                      </a:lnTo>
                      <a:lnTo>
                        <a:pt x="0" y="192"/>
                      </a:lnTo>
                      <a:lnTo>
                        <a:pt x="57" y="160"/>
                      </a:lnTo>
                      <a:lnTo>
                        <a:pt x="24" y="118"/>
                      </a:lnTo>
                      <a:lnTo>
                        <a:pt x="89" y="102"/>
                      </a:lnTo>
                      <a:lnTo>
                        <a:pt x="89" y="58"/>
                      </a:lnTo>
                      <a:lnTo>
                        <a:pt x="165" y="58"/>
                      </a:lnTo>
                      <a:lnTo>
                        <a:pt x="189" y="13"/>
                      </a:lnTo>
                      <a:lnTo>
                        <a:pt x="256" y="33"/>
                      </a:lnTo>
                      <a:lnTo>
                        <a:pt x="307" y="0"/>
                      </a:lnTo>
                    </a:path>
                  </a:pathLst>
                </a:custGeom>
                <a:solidFill>
                  <a:schemeClr val="accent5"/>
                </a:solidFill>
                <a:ln w="25400" cap="rnd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5" name="Freeform 22">
                  <a:extLst>
                    <a:ext uri="{FF2B5EF4-FFF2-40B4-BE49-F238E27FC236}">
                      <a16:creationId xmlns:a16="http://schemas.microsoft.com/office/drawing/2014/main" id="{22423A93-1E67-6F0E-F89D-C4C1CB53B8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35211" y="5642575"/>
                  <a:ext cx="374904" cy="374904"/>
                </a:xfrm>
                <a:custGeom>
                  <a:avLst/>
                  <a:gdLst>
                    <a:gd name="T0" fmla="*/ 2147483646 w 615"/>
                    <a:gd name="T1" fmla="*/ 0 h 385"/>
                    <a:gd name="T2" fmla="*/ 2147483646 w 615"/>
                    <a:gd name="T3" fmla="*/ 2147483646 h 385"/>
                    <a:gd name="T4" fmla="*/ 2147483646 w 615"/>
                    <a:gd name="T5" fmla="*/ 2147483646 h 385"/>
                    <a:gd name="T6" fmla="*/ 2147483646 w 615"/>
                    <a:gd name="T7" fmla="*/ 2147483646 h 385"/>
                    <a:gd name="T8" fmla="*/ 2147483646 w 615"/>
                    <a:gd name="T9" fmla="*/ 2147483646 h 385"/>
                    <a:gd name="T10" fmla="*/ 2147483646 w 615"/>
                    <a:gd name="T11" fmla="*/ 2147483646 h 385"/>
                    <a:gd name="T12" fmla="*/ 2147483646 w 615"/>
                    <a:gd name="T13" fmla="*/ 2147483646 h 385"/>
                    <a:gd name="T14" fmla="*/ 2147483646 w 615"/>
                    <a:gd name="T15" fmla="*/ 2147483646 h 385"/>
                    <a:gd name="T16" fmla="*/ 2147483646 w 615"/>
                    <a:gd name="T17" fmla="*/ 2147483646 h 385"/>
                    <a:gd name="T18" fmla="*/ 2147483646 w 615"/>
                    <a:gd name="T19" fmla="*/ 2147483646 h 385"/>
                    <a:gd name="T20" fmla="*/ 2147483646 w 615"/>
                    <a:gd name="T21" fmla="*/ 2147483646 h 385"/>
                    <a:gd name="T22" fmla="*/ 2147483646 w 615"/>
                    <a:gd name="T23" fmla="*/ 2147483646 h 385"/>
                    <a:gd name="T24" fmla="*/ 2147483646 w 615"/>
                    <a:gd name="T25" fmla="*/ 2147483646 h 385"/>
                    <a:gd name="T26" fmla="*/ 2147483646 w 615"/>
                    <a:gd name="T27" fmla="*/ 2147483646 h 385"/>
                    <a:gd name="T28" fmla="*/ 2147483646 w 615"/>
                    <a:gd name="T29" fmla="*/ 2147483646 h 385"/>
                    <a:gd name="T30" fmla="*/ 2147483646 w 615"/>
                    <a:gd name="T31" fmla="*/ 2147483646 h 385"/>
                    <a:gd name="T32" fmla="*/ 2147483646 w 615"/>
                    <a:gd name="T33" fmla="*/ 2147483646 h 385"/>
                    <a:gd name="T34" fmla="*/ 2147483646 w 615"/>
                    <a:gd name="T35" fmla="*/ 2147483646 h 385"/>
                    <a:gd name="T36" fmla="*/ 2147483646 w 615"/>
                    <a:gd name="T37" fmla="*/ 2147483646 h 385"/>
                    <a:gd name="T38" fmla="*/ 2147483646 w 615"/>
                    <a:gd name="T39" fmla="*/ 2147483646 h 385"/>
                    <a:gd name="T40" fmla="*/ 2147483646 w 615"/>
                    <a:gd name="T41" fmla="*/ 2147483646 h 385"/>
                    <a:gd name="T42" fmla="*/ 2147483646 w 615"/>
                    <a:gd name="T43" fmla="*/ 2147483646 h 385"/>
                    <a:gd name="T44" fmla="*/ 2147483646 w 615"/>
                    <a:gd name="T45" fmla="*/ 2147483646 h 385"/>
                    <a:gd name="T46" fmla="*/ 2147483646 w 615"/>
                    <a:gd name="T47" fmla="*/ 2147483646 h 385"/>
                    <a:gd name="T48" fmla="*/ 0 w 615"/>
                    <a:gd name="T49" fmla="*/ 2147483646 h 385"/>
                    <a:gd name="T50" fmla="*/ 2147483646 w 615"/>
                    <a:gd name="T51" fmla="*/ 2147483646 h 385"/>
                    <a:gd name="T52" fmla="*/ 2147483646 w 615"/>
                    <a:gd name="T53" fmla="*/ 2147483646 h 385"/>
                    <a:gd name="T54" fmla="*/ 2147483646 w 615"/>
                    <a:gd name="T55" fmla="*/ 2147483646 h 385"/>
                    <a:gd name="T56" fmla="*/ 2147483646 w 615"/>
                    <a:gd name="T57" fmla="*/ 2147483646 h 385"/>
                    <a:gd name="T58" fmla="*/ 2147483646 w 615"/>
                    <a:gd name="T59" fmla="*/ 2147483646 h 385"/>
                    <a:gd name="T60" fmla="*/ 2147483646 w 615"/>
                    <a:gd name="T61" fmla="*/ 2147483646 h 385"/>
                    <a:gd name="T62" fmla="*/ 2147483646 w 615"/>
                    <a:gd name="T63" fmla="*/ 2147483646 h 385"/>
                    <a:gd name="T64" fmla="*/ 2147483646 w 615"/>
                    <a:gd name="T65" fmla="*/ 0 h 385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615"/>
                    <a:gd name="T100" fmla="*/ 0 h 385"/>
                    <a:gd name="T101" fmla="*/ 615 w 615"/>
                    <a:gd name="T102" fmla="*/ 385 h 385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615" h="385">
                      <a:moveTo>
                        <a:pt x="307" y="0"/>
                      </a:moveTo>
                      <a:lnTo>
                        <a:pt x="359" y="34"/>
                      </a:lnTo>
                      <a:lnTo>
                        <a:pt x="427" y="16"/>
                      </a:lnTo>
                      <a:lnTo>
                        <a:pt x="452" y="57"/>
                      </a:lnTo>
                      <a:lnTo>
                        <a:pt x="525" y="57"/>
                      </a:lnTo>
                      <a:lnTo>
                        <a:pt x="525" y="108"/>
                      </a:lnTo>
                      <a:lnTo>
                        <a:pt x="592" y="121"/>
                      </a:lnTo>
                      <a:lnTo>
                        <a:pt x="561" y="165"/>
                      </a:lnTo>
                      <a:lnTo>
                        <a:pt x="614" y="192"/>
                      </a:lnTo>
                      <a:lnTo>
                        <a:pt x="559" y="226"/>
                      </a:lnTo>
                      <a:lnTo>
                        <a:pt x="589" y="270"/>
                      </a:lnTo>
                      <a:lnTo>
                        <a:pt x="524" y="282"/>
                      </a:lnTo>
                      <a:lnTo>
                        <a:pt x="524" y="328"/>
                      </a:lnTo>
                      <a:lnTo>
                        <a:pt x="448" y="328"/>
                      </a:lnTo>
                      <a:lnTo>
                        <a:pt x="420" y="373"/>
                      </a:lnTo>
                      <a:lnTo>
                        <a:pt x="355" y="351"/>
                      </a:lnTo>
                      <a:lnTo>
                        <a:pt x="304" y="384"/>
                      </a:lnTo>
                      <a:lnTo>
                        <a:pt x="256" y="354"/>
                      </a:lnTo>
                      <a:lnTo>
                        <a:pt x="186" y="370"/>
                      </a:lnTo>
                      <a:lnTo>
                        <a:pt x="161" y="324"/>
                      </a:lnTo>
                      <a:lnTo>
                        <a:pt x="89" y="325"/>
                      </a:lnTo>
                      <a:lnTo>
                        <a:pt x="88" y="282"/>
                      </a:lnTo>
                      <a:lnTo>
                        <a:pt x="20" y="265"/>
                      </a:lnTo>
                      <a:lnTo>
                        <a:pt x="54" y="222"/>
                      </a:lnTo>
                      <a:lnTo>
                        <a:pt x="0" y="192"/>
                      </a:lnTo>
                      <a:lnTo>
                        <a:pt x="57" y="160"/>
                      </a:lnTo>
                      <a:lnTo>
                        <a:pt x="24" y="118"/>
                      </a:lnTo>
                      <a:lnTo>
                        <a:pt x="89" y="102"/>
                      </a:lnTo>
                      <a:lnTo>
                        <a:pt x="89" y="58"/>
                      </a:lnTo>
                      <a:lnTo>
                        <a:pt x="165" y="58"/>
                      </a:lnTo>
                      <a:lnTo>
                        <a:pt x="189" y="13"/>
                      </a:lnTo>
                      <a:lnTo>
                        <a:pt x="256" y="33"/>
                      </a:lnTo>
                      <a:lnTo>
                        <a:pt x="307" y="0"/>
                      </a:lnTo>
                    </a:path>
                  </a:pathLst>
                </a:custGeom>
                <a:solidFill>
                  <a:schemeClr val="accent5"/>
                </a:solidFill>
                <a:ln w="25400" cap="rnd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6" name="Freeform 22">
                  <a:extLst>
                    <a:ext uri="{FF2B5EF4-FFF2-40B4-BE49-F238E27FC236}">
                      <a16:creationId xmlns:a16="http://schemas.microsoft.com/office/drawing/2014/main" id="{7FE99244-90D1-6A91-C055-50126214CB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5967" y="6236696"/>
                  <a:ext cx="374904" cy="374904"/>
                </a:xfrm>
                <a:custGeom>
                  <a:avLst/>
                  <a:gdLst>
                    <a:gd name="T0" fmla="*/ 2147483646 w 615"/>
                    <a:gd name="T1" fmla="*/ 0 h 385"/>
                    <a:gd name="T2" fmla="*/ 2147483646 w 615"/>
                    <a:gd name="T3" fmla="*/ 2147483646 h 385"/>
                    <a:gd name="T4" fmla="*/ 2147483646 w 615"/>
                    <a:gd name="T5" fmla="*/ 2147483646 h 385"/>
                    <a:gd name="T6" fmla="*/ 2147483646 w 615"/>
                    <a:gd name="T7" fmla="*/ 2147483646 h 385"/>
                    <a:gd name="T8" fmla="*/ 2147483646 w 615"/>
                    <a:gd name="T9" fmla="*/ 2147483646 h 385"/>
                    <a:gd name="T10" fmla="*/ 2147483646 w 615"/>
                    <a:gd name="T11" fmla="*/ 2147483646 h 385"/>
                    <a:gd name="T12" fmla="*/ 2147483646 w 615"/>
                    <a:gd name="T13" fmla="*/ 2147483646 h 385"/>
                    <a:gd name="T14" fmla="*/ 2147483646 w 615"/>
                    <a:gd name="T15" fmla="*/ 2147483646 h 385"/>
                    <a:gd name="T16" fmla="*/ 2147483646 w 615"/>
                    <a:gd name="T17" fmla="*/ 2147483646 h 385"/>
                    <a:gd name="T18" fmla="*/ 2147483646 w 615"/>
                    <a:gd name="T19" fmla="*/ 2147483646 h 385"/>
                    <a:gd name="T20" fmla="*/ 2147483646 w 615"/>
                    <a:gd name="T21" fmla="*/ 2147483646 h 385"/>
                    <a:gd name="T22" fmla="*/ 2147483646 w 615"/>
                    <a:gd name="T23" fmla="*/ 2147483646 h 385"/>
                    <a:gd name="T24" fmla="*/ 2147483646 w 615"/>
                    <a:gd name="T25" fmla="*/ 2147483646 h 385"/>
                    <a:gd name="T26" fmla="*/ 2147483646 w 615"/>
                    <a:gd name="T27" fmla="*/ 2147483646 h 385"/>
                    <a:gd name="T28" fmla="*/ 2147483646 w 615"/>
                    <a:gd name="T29" fmla="*/ 2147483646 h 385"/>
                    <a:gd name="T30" fmla="*/ 2147483646 w 615"/>
                    <a:gd name="T31" fmla="*/ 2147483646 h 385"/>
                    <a:gd name="T32" fmla="*/ 2147483646 w 615"/>
                    <a:gd name="T33" fmla="*/ 2147483646 h 385"/>
                    <a:gd name="T34" fmla="*/ 2147483646 w 615"/>
                    <a:gd name="T35" fmla="*/ 2147483646 h 385"/>
                    <a:gd name="T36" fmla="*/ 2147483646 w 615"/>
                    <a:gd name="T37" fmla="*/ 2147483646 h 385"/>
                    <a:gd name="T38" fmla="*/ 2147483646 w 615"/>
                    <a:gd name="T39" fmla="*/ 2147483646 h 385"/>
                    <a:gd name="T40" fmla="*/ 2147483646 w 615"/>
                    <a:gd name="T41" fmla="*/ 2147483646 h 385"/>
                    <a:gd name="T42" fmla="*/ 2147483646 w 615"/>
                    <a:gd name="T43" fmla="*/ 2147483646 h 385"/>
                    <a:gd name="T44" fmla="*/ 2147483646 w 615"/>
                    <a:gd name="T45" fmla="*/ 2147483646 h 385"/>
                    <a:gd name="T46" fmla="*/ 2147483646 w 615"/>
                    <a:gd name="T47" fmla="*/ 2147483646 h 385"/>
                    <a:gd name="T48" fmla="*/ 0 w 615"/>
                    <a:gd name="T49" fmla="*/ 2147483646 h 385"/>
                    <a:gd name="T50" fmla="*/ 2147483646 w 615"/>
                    <a:gd name="T51" fmla="*/ 2147483646 h 385"/>
                    <a:gd name="T52" fmla="*/ 2147483646 w 615"/>
                    <a:gd name="T53" fmla="*/ 2147483646 h 385"/>
                    <a:gd name="T54" fmla="*/ 2147483646 w 615"/>
                    <a:gd name="T55" fmla="*/ 2147483646 h 385"/>
                    <a:gd name="T56" fmla="*/ 2147483646 w 615"/>
                    <a:gd name="T57" fmla="*/ 2147483646 h 385"/>
                    <a:gd name="T58" fmla="*/ 2147483646 w 615"/>
                    <a:gd name="T59" fmla="*/ 2147483646 h 385"/>
                    <a:gd name="T60" fmla="*/ 2147483646 w 615"/>
                    <a:gd name="T61" fmla="*/ 2147483646 h 385"/>
                    <a:gd name="T62" fmla="*/ 2147483646 w 615"/>
                    <a:gd name="T63" fmla="*/ 2147483646 h 385"/>
                    <a:gd name="T64" fmla="*/ 2147483646 w 615"/>
                    <a:gd name="T65" fmla="*/ 0 h 385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615"/>
                    <a:gd name="T100" fmla="*/ 0 h 385"/>
                    <a:gd name="T101" fmla="*/ 615 w 615"/>
                    <a:gd name="T102" fmla="*/ 385 h 385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615" h="385">
                      <a:moveTo>
                        <a:pt x="307" y="0"/>
                      </a:moveTo>
                      <a:lnTo>
                        <a:pt x="359" y="34"/>
                      </a:lnTo>
                      <a:lnTo>
                        <a:pt x="427" y="16"/>
                      </a:lnTo>
                      <a:lnTo>
                        <a:pt x="452" y="57"/>
                      </a:lnTo>
                      <a:lnTo>
                        <a:pt x="525" y="57"/>
                      </a:lnTo>
                      <a:lnTo>
                        <a:pt x="525" y="108"/>
                      </a:lnTo>
                      <a:lnTo>
                        <a:pt x="592" y="121"/>
                      </a:lnTo>
                      <a:lnTo>
                        <a:pt x="561" y="165"/>
                      </a:lnTo>
                      <a:lnTo>
                        <a:pt x="614" y="192"/>
                      </a:lnTo>
                      <a:lnTo>
                        <a:pt x="559" y="226"/>
                      </a:lnTo>
                      <a:lnTo>
                        <a:pt x="589" y="270"/>
                      </a:lnTo>
                      <a:lnTo>
                        <a:pt x="524" y="282"/>
                      </a:lnTo>
                      <a:lnTo>
                        <a:pt x="524" y="328"/>
                      </a:lnTo>
                      <a:lnTo>
                        <a:pt x="448" y="328"/>
                      </a:lnTo>
                      <a:lnTo>
                        <a:pt x="420" y="373"/>
                      </a:lnTo>
                      <a:lnTo>
                        <a:pt x="355" y="351"/>
                      </a:lnTo>
                      <a:lnTo>
                        <a:pt x="304" y="384"/>
                      </a:lnTo>
                      <a:lnTo>
                        <a:pt x="256" y="354"/>
                      </a:lnTo>
                      <a:lnTo>
                        <a:pt x="186" y="370"/>
                      </a:lnTo>
                      <a:lnTo>
                        <a:pt x="161" y="324"/>
                      </a:lnTo>
                      <a:lnTo>
                        <a:pt x="89" y="325"/>
                      </a:lnTo>
                      <a:lnTo>
                        <a:pt x="88" y="282"/>
                      </a:lnTo>
                      <a:lnTo>
                        <a:pt x="20" y="265"/>
                      </a:lnTo>
                      <a:lnTo>
                        <a:pt x="54" y="222"/>
                      </a:lnTo>
                      <a:lnTo>
                        <a:pt x="0" y="192"/>
                      </a:lnTo>
                      <a:lnTo>
                        <a:pt x="57" y="160"/>
                      </a:lnTo>
                      <a:lnTo>
                        <a:pt x="24" y="118"/>
                      </a:lnTo>
                      <a:lnTo>
                        <a:pt x="89" y="102"/>
                      </a:lnTo>
                      <a:lnTo>
                        <a:pt x="89" y="58"/>
                      </a:lnTo>
                      <a:lnTo>
                        <a:pt x="165" y="58"/>
                      </a:lnTo>
                      <a:lnTo>
                        <a:pt x="189" y="13"/>
                      </a:lnTo>
                      <a:lnTo>
                        <a:pt x="256" y="33"/>
                      </a:lnTo>
                      <a:lnTo>
                        <a:pt x="307" y="0"/>
                      </a:lnTo>
                    </a:path>
                  </a:pathLst>
                </a:custGeom>
                <a:solidFill>
                  <a:schemeClr val="accent5"/>
                </a:solidFill>
                <a:ln w="25400" cap="rnd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7" name="Freeform 22">
                  <a:extLst>
                    <a:ext uri="{FF2B5EF4-FFF2-40B4-BE49-F238E27FC236}">
                      <a16:creationId xmlns:a16="http://schemas.microsoft.com/office/drawing/2014/main" id="{B5D784C5-1752-F9F1-3E6E-1873F9D689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24239" y="6216078"/>
                  <a:ext cx="374904" cy="374904"/>
                </a:xfrm>
                <a:custGeom>
                  <a:avLst/>
                  <a:gdLst>
                    <a:gd name="T0" fmla="*/ 2147483646 w 615"/>
                    <a:gd name="T1" fmla="*/ 0 h 385"/>
                    <a:gd name="T2" fmla="*/ 2147483646 w 615"/>
                    <a:gd name="T3" fmla="*/ 2147483646 h 385"/>
                    <a:gd name="T4" fmla="*/ 2147483646 w 615"/>
                    <a:gd name="T5" fmla="*/ 2147483646 h 385"/>
                    <a:gd name="T6" fmla="*/ 2147483646 w 615"/>
                    <a:gd name="T7" fmla="*/ 2147483646 h 385"/>
                    <a:gd name="T8" fmla="*/ 2147483646 w 615"/>
                    <a:gd name="T9" fmla="*/ 2147483646 h 385"/>
                    <a:gd name="T10" fmla="*/ 2147483646 w 615"/>
                    <a:gd name="T11" fmla="*/ 2147483646 h 385"/>
                    <a:gd name="T12" fmla="*/ 2147483646 w 615"/>
                    <a:gd name="T13" fmla="*/ 2147483646 h 385"/>
                    <a:gd name="T14" fmla="*/ 2147483646 w 615"/>
                    <a:gd name="T15" fmla="*/ 2147483646 h 385"/>
                    <a:gd name="T16" fmla="*/ 2147483646 w 615"/>
                    <a:gd name="T17" fmla="*/ 2147483646 h 385"/>
                    <a:gd name="T18" fmla="*/ 2147483646 w 615"/>
                    <a:gd name="T19" fmla="*/ 2147483646 h 385"/>
                    <a:gd name="T20" fmla="*/ 2147483646 w 615"/>
                    <a:gd name="T21" fmla="*/ 2147483646 h 385"/>
                    <a:gd name="T22" fmla="*/ 2147483646 w 615"/>
                    <a:gd name="T23" fmla="*/ 2147483646 h 385"/>
                    <a:gd name="T24" fmla="*/ 2147483646 w 615"/>
                    <a:gd name="T25" fmla="*/ 2147483646 h 385"/>
                    <a:gd name="T26" fmla="*/ 2147483646 w 615"/>
                    <a:gd name="T27" fmla="*/ 2147483646 h 385"/>
                    <a:gd name="T28" fmla="*/ 2147483646 w 615"/>
                    <a:gd name="T29" fmla="*/ 2147483646 h 385"/>
                    <a:gd name="T30" fmla="*/ 2147483646 w 615"/>
                    <a:gd name="T31" fmla="*/ 2147483646 h 385"/>
                    <a:gd name="T32" fmla="*/ 2147483646 w 615"/>
                    <a:gd name="T33" fmla="*/ 2147483646 h 385"/>
                    <a:gd name="T34" fmla="*/ 2147483646 w 615"/>
                    <a:gd name="T35" fmla="*/ 2147483646 h 385"/>
                    <a:gd name="T36" fmla="*/ 2147483646 w 615"/>
                    <a:gd name="T37" fmla="*/ 2147483646 h 385"/>
                    <a:gd name="T38" fmla="*/ 2147483646 w 615"/>
                    <a:gd name="T39" fmla="*/ 2147483646 h 385"/>
                    <a:gd name="T40" fmla="*/ 2147483646 w 615"/>
                    <a:gd name="T41" fmla="*/ 2147483646 h 385"/>
                    <a:gd name="T42" fmla="*/ 2147483646 w 615"/>
                    <a:gd name="T43" fmla="*/ 2147483646 h 385"/>
                    <a:gd name="T44" fmla="*/ 2147483646 w 615"/>
                    <a:gd name="T45" fmla="*/ 2147483646 h 385"/>
                    <a:gd name="T46" fmla="*/ 2147483646 w 615"/>
                    <a:gd name="T47" fmla="*/ 2147483646 h 385"/>
                    <a:gd name="T48" fmla="*/ 0 w 615"/>
                    <a:gd name="T49" fmla="*/ 2147483646 h 385"/>
                    <a:gd name="T50" fmla="*/ 2147483646 w 615"/>
                    <a:gd name="T51" fmla="*/ 2147483646 h 385"/>
                    <a:gd name="T52" fmla="*/ 2147483646 w 615"/>
                    <a:gd name="T53" fmla="*/ 2147483646 h 385"/>
                    <a:gd name="T54" fmla="*/ 2147483646 w 615"/>
                    <a:gd name="T55" fmla="*/ 2147483646 h 385"/>
                    <a:gd name="T56" fmla="*/ 2147483646 w 615"/>
                    <a:gd name="T57" fmla="*/ 2147483646 h 385"/>
                    <a:gd name="T58" fmla="*/ 2147483646 w 615"/>
                    <a:gd name="T59" fmla="*/ 2147483646 h 385"/>
                    <a:gd name="T60" fmla="*/ 2147483646 w 615"/>
                    <a:gd name="T61" fmla="*/ 2147483646 h 385"/>
                    <a:gd name="T62" fmla="*/ 2147483646 w 615"/>
                    <a:gd name="T63" fmla="*/ 2147483646 h 385"/>
                    <a:gd name="T64" fmla="*/ 2147483646 w 615"/>
                    <a:gd name="T65" fmla="*/ 0 h 385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615"/>
                    <a:gd name="T100" fmla="*/ 0 h 385"/>
                    <a:gd name="T101" fmla="*/ 615 w 615"/>
                    <a:gd name="T102" fmla="*/ 385 h 385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615" h="385">
                      <a:moveTo>
                        <a:pt x="307" y="0"/>
                      </a:moveTo>
                      <a:lnTo>
                        <a:pt x="359" y="34"/>
                      </a:lnTo>
                      <a:lnTo>
                        <a:pt x="427" y="16"/>
                      </a:lnTo>
                      <a:lnTo>
                        <a:pt x="452" y="57"/>
                      </a:lnTo>
                      <a:lnTo>
                        <a:pt x="525" y="57"/>
                      </a:lnTo>
                      <a:lnTo>
                        <a:pt x="525" y="108"/>
                      </a:lnTo>
                      <a:lnTo>
                        <a:pt x="592" y="121"/>
                      </a:lnTo>
                      <a:lnTo>
                        <a:pt x="561" y="165"/>
                      </a:lnTo>
                      <a:lnTo>
                        <a:pt x="614" y="192"/>
                      </a:lnTo>
                      <a:lnTo>
                        <a:pt x="559" y="226"/>
                      </a:lnTo>
                      <a:lnTo>
                        <a:pt x="589" y="270"/>
                      </a:lnTo>
                      <a:lnTo>
                        <a:pt x="524" y="282"/>
                      </a:lnTo>
                      <a:lnTo>
                        <a:pt x="524" y="328"/>
                      </a:lnTo>
                      <a:lnTo>
                        <a:pt x="448" y="328"/>
                      </a:lnTo>
                      <a:lnTo>
                        <a:pt x="420" y="373"/>
                      </a:lnTo>
                      <a:lnTo>
                        <a:pt x="355" y="351"/>
                      </a:lnTo>
                      <a:lnTo>
                        <a:pt x="304" y="384"/>
                      </a:lnTo>
                      <a:lnTo>
                        <a:pt x="256" y="354"/>
                      </a:lnTo>
                      <a:lnTo>
                        <a:pt x="186" y="370"/>
                      </a:lnTo>
                      <a:lnTo>
                        <a:pt x="161" y="324"/>
                      </a:lnTo>
                      <a:lnTo>
                        <a:pt x="89" y="325"/>
                      </a:lnTo>
                      <a:lnTo>
                        <a:pt x="88" y="282"/>
                      </a:lnTo>
                      <a:lnTo>
                        <a:pt x="20" y="265"/>
                      </a:lnTo>
                      <a:lnTo>
                        <a:pt x="54" y="222"/>
                      </a:lnTo>
                      <a:lnTo>
                        <a:pt x="0" y="192"/>
                      </a:lnTo>
                      <a:lnTo>
                        <a:pt x="57" y="160"/>
                      </a:lnTo>
                      <a:lnTo>
                        <a:pt x="24" y="118"/>
                      </a:lnTo>
                      <a:lnTo>
                        <a:pt x="89" y="102"/>
                      </a:lnTo>
                      <a:lnTo>
                        <a:pt x="89" y="58"/>
                      </a:lnTo>
                      <a:lnTo>
                        <a:pt x="165" y="58"/>
                      </a:lnTo>
                      <a:lnTo>
                        <a:pt x="189" y="13"/>
                      </a:lnTo>
                      <a:lnTo>
                        <a:pt x="256" y="33"/>
                      </a:lnTo>
                      <a:lnTo>
                        <a:pt x="307" y="0"/>
                      </a:lnTo>
                    </a:path>
                  </a:pathLst>
                </a:custGeom>
                <a:solidFill>
                  <a:schemeClr val="accent5"/>
                </a:solidFill>
                <a:ln w="25400" cap="rnd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</p:grpSp>
        <p:cxnSp>
          <p:nvCxnSpPr>
            <p:cNvPr id="105" name="Connector: Elbow 104">
              <a:extLst>
                <a:ext uri="{FF2B5EF4-FFF2-40B4-BE49-F238E27FC236}">
                  <a16:creationId xmlns:a16="http://schemas.microsoft.com/office/drawing/2014/main" id="{C983E98A-1170-9E90-F46A-9E1A78072B0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607437" y="3143963"/>
              <a:ext cx="498193" cy="1025438"/>
            </a:xfrm>
            <a:prstGeom prst="bentConnector3">
              <a:avLst>
                <a:gd name="adj1" fmla="val 50000"/>
              </a:avLst>
            </a:prstGeom>
            <a:noFill/>
            <a:ln w="63500" cap="flat">
              <a:solidFill>
                <a:schemeClr val="tx1">
                  <a:alpha val="75000"/>
                </a:schemeClr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EC66F7B-BCBB-A239-31A7-764448E49167}"/>
              </a:ext>
            </a:extLst>
          </p:cNvPr>
          <p:cNvGrpSpPr/>
          <p:nvPr/>
        </p:nvGrpSpPr>
        <p:grpSpPr>
          <a:xfrm>
            <a:off x="838200" y="297639"/>
            <a:ext cx="4024630" cy="315930"/>
            <a:chOff x="838200" y="297639"/>
            <a:chExt cx="4024630" cy="31593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B8A7C74-4E63-DDE1-7305-07778BA85CE6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7" name="AutoShape 9">
                <a:extLst>
                  <a:ext uri="{FF2B5EF4-FFF2-40B4-BE49-F238E27FC236}">
                    <a16:creationId xmlns:a16="http://schemas.microsoft.com/office/drawing/2014/main" id="{05C40D32-9B69-12A8-29B2-EB8C34A3CA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8" name="AutoShape 11">
                <a:extLst>
                  <a:ext uri="{FF2B5EF4-FFF2-40B4-BE49-F238E27FC236}">
                    <a16:creationId xmlns:a16="http://schemas.microsoft.com/office/drawing/2014/main" id="{09C463E5-CF69-F7BB-7390-4B7D229C5E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9" name="AutoShape 10">
                <a:extLst>
                  <a:ext uri="{FF2B5EF4-FFF2-40B4-BE49-F238E27FC236}">
                    <a16:creationId xmlns:a16="http://schemas.microsoft.com/office/drawing/2014/main" id="{3CFA54F5-2C6B-BB47-FC4D-E5BAEAE138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EF2FD04-B192-C8C7-37B1-6BEA97AA1966}"/>
                </a:ext>
              </a:extLst>
            </p:cNvPr>
            <p:cNvSpPr txBox="1"/>
            <p:nvPr/>
          </p:nvSpPr>
          <p:spPr>
            <a:xfrm>
              <a:off x="1994872" y="322207"/>
              <a:ext cx="286795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Fundamentals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6325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Lean Cell Layout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Significantly reduces:</a:t>
            </a:r>
          </a:p>
          <a:p>
            <a:pPr lvl="1"/>
            <a:r>
              <a:rPr lang="en-US" dirty="0"/>
              <a:t>Transportation</a:t>
            </a:r>
          </a:p>
          <a:p>
            <a:pPr lvl="1"/>
            <a:r>
              <a:rPr lang="en-US" dirty="0"/>
              <a:t>Inventory</a:t>
            </a:r>
          </a:p>
          <a:p>
            <a:pPr lvl="1"/>
            <a:r>
              <a:rPr lang="en-US" dirty="0"/>
              <a:t>Floor space</a:t>
            </a:r>
          </a:p>
          <a:p>
            <a:pPr lvl="1"/>
            <a:r>
              <a:rPr lang="en-US" dirty="0"/>
              <a:t>Waiting time</a:t>
            </a:r>
          </a:p>
          <a:p>
            <a:r>
              <a:rPr lang="en-US" dirty="0"/>
              <a:t>While improving:</a:t>
            </a:r>
          </a:p>
          <a:p>
            <a:pPr lvl="1"/>
            <a:r>
              <a:rPr lang="en-US" dirty="0"/>
              <a:t>Quality</a:t>
            </a:r>
          </a:p>
          <a:p>
            <a:pPr lvl="1"/>
            <a:r>
              <a:rPr lang="en-US" dirty="0"/>
              <a:t>Delivery</a:t>
            </a:r>
          </a:p>
          <a:p>
            <a:pPr lvl="1"/>
            <a:r>
              <a:rPr lang="en-US" dirty="0"/>
              <a:t>Cost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12</a:t>
            </a:fld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90337C2-0FB4-F1FF-639D-58D417FB55F1}"/>
              </a:ext>
            </a:extLst>
          </p:cNvPr>
          <p:cNvGrpSpPr/>
          <p:nvPr/>
        </p:nvGrpSpPr>
        <p:grpSpPr>
          <a:xfrm>
            <a:off x="838200" y="2000250"/>
            <a:ext cx="5181600" cy="3909059"/>
            <a:chOff x="547688" y="2232025"/>
            <a:chExt cx="4057650" cy="2874963"/>
          </a:xfrm>
        </p:grpSpPr>
        <p:sp>
          <p:nvSpPr>
            <p:cNvPr id="33" name="Rectangle 6">
              <a:extLst>
                <a:ext uri="{FF2B5EF4-FFF2-40B4-BE49-F238E27FC236}">
                  <a16:creationId xmlns:a16="http://schemas.microsoft.com/office/drawing/2014/main" id="{408D6538-93E5-DB5A-E181-CC3E97ED2F0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140000">
              <a:off x="2194318" y="4709520"/>
              <a:ext cx="246862" cy="385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900" b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</a:p>
          </p:txBody>
        </p:sp>
        <p:sp>
          <p:nvSpPr>
            <p:cNvPr id="34" name="Rectangle 7">
              <a:extLst>
                <a:ext uri="{FF2B5EF4-FFF2-40B4-BE49-F238E27FC236}">
                  <a16:creationId xmlns:a16="http://schemas.microsoft.com/office/drawing/2014/main" id="{7286BC8A-69EB-F5BA-8ADE-963D1CF75BF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140000">
              <a:off x="1043381" y="4787307"/>
              <a:ext cx="246862" cy="385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900" b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60422E69-4F2D-B907-F294-BC65E8E1F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5013" y="3076575"/>
              <a:ext cx="992187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Wave Solder </a:t>
              </a:r>
            </a:p>
          </p:txBody>
        </p:sp>
        <p:sp>
          <p:nvSpPr>
            <p:cNvPr id="36" name="Freeform 9">
              <a:extLst>
                <a:ext uri="{FF2B5EF4-FFF2-40B4-BE49-F238E27FC236}">
                  <a16:creationId xmlns:a16="http://schemas.microsoft.com/office/drawing/2014/main" id="{BBF9A5AF-787C-316F-A12D-1D9A2DE07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8938" y="3784600"/>
              <a:ext cx="347662" cy="631825"/>
            </a:xfrm>
            <a:custGeom>
              <a:avLst/>
              <a:gdLst>
                <a:gd name="T0" fmla="*/ 0 w 219"/>
                <a:gd name="T1" fmla="*/ 315913 h 398"/>
                <a:gd name="T2" fmla="*/ 174625 w 219"/>
                <a:gd name="T3" fmla="*/ 630238 h 398"/>
                <a:gd name="T4" fmla="*/ 346075 w 219"/>
                <a:gd name="T5" fmla="*/ 312738 h 398"/>
                <a:gd name="T6" fmla="*/ 173037 w 219"/>
                <a:gd name="T7" fmla="*/ 0 h 398"/>
                <a:gd name="T8" fmla="*/ 0 w 219"/>
                <a:gd name="T9" fmla="*/ 315913 h 3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9" h="398">
                  <a:moveTo>
                    <a:pt x="0" y="199"/>
                  </a:moveTo>
                  <a:lnTo>
                    <a:pt x="110" y="397"/>
                  </a:lnTo>
                  <a:lnTo>
                    <a:pt x="218" y="197"/>
                  </a:lnTo>
                  <a:lnTo>
                    <a:pt x="109" y="0"/>
                  </a:lnTo>
                  <a:lnTo>
                    <a:pt x="0" y="199"/>
                  </a:lnTo>
                </a:path>
              </a:pathLst>
            </a:custGeom>
            <a:solidFill>
              <a:schemeClr val="tx2"/>
            </a:solidFill>
            <a:ln w="25400" cap="rnd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" name="Rectangle 10">
              <a:extLst>
                <a:ext uri="{FF2B5EF4-FFF2-40B4-BE49-F238E27FC236}">
                  <a16:creationId xmlns:a16="http://schemas.microsoft.com/office/drawing/2014/main" id="{417BD953-7297-D05C-1AB2-442D7D8BD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275" y="3948113"/>
              <a:ext cx="11144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Packing</a:t>
              </a:r>
            </a:p>
          </p:txBody>
        </p:sp>
        <p:sp>
          <p:nvSpPr>
            <p:cNvPr id="38" name="Rectangle 11">
              <a:extLst>
                <a:ext uri="{FF2B5EF4-FFF2-40B4-BE49-F238E27FC236}">
                  <a16:creationId xmlns:a16="http://schemas.microsoft.com/office/drawing/2014/main" id="{9FAB08F3-2A2A-4010-78A2-BB464FEC1B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8763" y="3946525"/>
              <a:ext cx="536575" cy="304800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9" name="Oval 12">
              <a:extLst>
                <a:ext uri="{FF2B5EF4-FFF2-40B4-BE49-F238E27FC236}">
                  <a16:creationId xmlns:a16="http://schemas.microsoft.com/office/drawing/2014/main" id="{97FD2CC8-FEA6-AB1B-2465-560BA884CF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538" y="3148013"/>
              <a:ext cx="579437" cy="306387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0" name="Rectangle 13">
              <a:extLst>
                <a:ext uri="{FF2B5EF4-FFF2-40B4-BE49-F238E27FC236}">
                  <a16:creationId xmlns:a16="http://schemas.microsoft.com/office/drawing/2014/main" id="{AFDD303A-9528-BE4A-B2FB-8B53AF285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7088" y="3843338"/>
              <a:ext cx="1238250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i="1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altLang="en-US" sz="16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PC Board Assembly</a:t>
              </a:r>
            </a:p>
          </p:txBody>
        </p:sp>
        <p:sp>
          <p:nvSpPr>
            <p:cNvPr id="41" name="Freeform 14">
              <a:extLst>
                <a:ext uri="{FF2B5EF4-FFF2-40B4-BE49-F238E27FC236}">
                  <a16:creationId xmlns:a16="http://schemas.microsoft.com/office/drawing/2014/main" id="{9CEB4E8A-F875-6F71-EAC4-CB26AE6D8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6938" y="2630488"/>
              <a:ext cx="563562" cy="349250"/>
            </a:xfrm>
            <a:custGeom>
              <a:avLst/>
              <a:gdLst>
                <a:gd name="T0" fmla="*/ 158750 w 355"/>
                <a:gd name="T1" fmla="*/ 0 h 220"/>
                <a:gd name="T2" fmla="*/ 403225 w 355"/>
                <a:gd name="T3" fmla="*/ 0 h 220"/>
                <a:gd name="T4" fmla="*/ 561975 w 355"/>
                <a:gd name="T5" fmla="*/ 173038 h 220"/>
                <a:gd name="T6" fmla="*/ 403225 w 355"/>
                <a:gd name="T7" fmla="*/ 347663 h 220"/>
                <a:gd name="T8" fmla="*/ 158750 w 355"/>
                <a:gd name="T9" fmla="*/ 347663 h 220"/>
                <a:gd name="T10" fmla="*/ 0 w 355"/>
                <a:gd name="T11" fmla="*/ 173038 h 220"/>
                <a:gd name="T12" fmla="*/ 158750 w 355"/>
                <a:gd name="T13" fmla="*/ 0 h 2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5" h="220">
                  <a:moveTo>
                    <a:pt x="100" y="0"/>
                  </a:moveTo>
                  <a:lnTo>
                    <a:pt x="254" y="0"/>
                  </a:lnTo>
                  <a:lnTo>
                    <a:pt x="354" y="109"/>
                  </a:lnTo>
                  <a:lnTo>
                    <a:pt x="254" y="219"/>
                  </a:lnTo>
                  <a:lnTo>
                    <a:pt x="100" y="219"/>
                  </a:lnTo>
                  <a:lnTo>
                    <a:pt x="0" y="109"/>
                  </a:lnTo>
                  <a:lnTo>
                    <a:pt x="100" y="0"/>
                  </a:lnTo>
                </a:path>
              </a:pathLst>
            </a:custGeom>
            <a:solidFill>
              <a:schemeClr val="accent4"/>
            </a:solidFill>
            <a:ln w="25400" cap="rnd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2" name="Rectangle 15">
              <a:extLst>
                <a:ext uri="{FF2B5EF4-FFF2-40B4-BE49-F238E27FC236}">
                  <a16:creationId xmlns:a16="http://schemas.microsoft.com/office/drawing/2014/main" id="{DAAFC133-1379-C5E3-CA8F-CB0983ABC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2900" y="2232025"/>
              <a:ext cx="17319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Final Assembly </a:t>
              </a:r>
            </a:p>
          </p:txBody>
        </p:sp>
        <p:sp>
          <p:nvSpPr>
            <p:cNvPr id="43" name="Freeform 16">
              <a:extLst>
                <a:ext uri="{FF2B5EF4-FFF2-40B4-BE49-F238E27FC236}">
                  <a16:creationId xmlns:a16="http://schemas.microsoft.com/office/drawing/2014/main" id="{04B01CBF-6F79-3669-AE9D-68236780B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763" y="3101975"/>
              <a:ext cx="606425" cy="401638"/>
            </a:xfrm>
            <a:custGeom>
              <a:avLst/>
              <a:gdLst>
                <a:gd name="T0" fmla="*/ 303213 w 382"/>
                <a:gd name="T1" fmla="*/ 0 h 253"/>
                <a:gd name="T2" fmla="*/ 354013 w 382"/>
                <a:gd name="T3" fmla="*/ 36513 h 253"/>
                <a:gd name="T4" fmla="*/ 420688 w 382"/>
                <a:gd name="T5" fmla="*/ 17463 h 253"/>
                <a:gd name="T6" fmla="*/ 446088 w 382"/>
                <a:gd name="T7" fmla="*/ 60325 h 253"/>
                <a:gd name="T8" fmla="*/ 517525 w 382"/>
                <a:gd name="T9" fmla="*/ 60325 h 253"/>
                <a:gd name="T10" fmla="*/ 517525 w 382"/>
                <a:gd name="T11" fmla="*/ 111125 h 253"/>
                <a:gd name="T12" fmla="*/ 584200 w 382"/>
                <a:gd name="T13" fmla="*/ 127000 h 253"/>
                <a:gd name="T14" fmla="*/ 554038 w 382"/>
                <a:gd name="T15" fmla="*/ 173038 h 253"/>
                <a:gd name="T16" fmla="*/ 604838 w 382"/>
                <a:gd name="T17" fmla="*/ 200025 h 253"/>
                <a:gd name="T18" fmla="*/ 550863 w 382"/>
                <a:gd name="T19" fmla="*/ 236538 h 253"/>
                <a:gd name="T20" fmla="*/ 582613 w 382"/>
                <a:gd name="T21" fmla="*/ 282575 h 253"/>
                <a:gd name="T22" fmla="*/ 515938 w 382"/>
                <a:gd name="T23" fmla="*/ 295275 h 253"/>
                <a:gd name="T24" fmla="*/ 517525 w 382"/>
                <a:gd name="T25" fmla="*/ 341313 h 253"/>
                <a:gd name="T26" fmla="*/ 442913 w 382"/>
                <a:gd name="T27" fmla="*/ 341313 h 253"/>
                <a:gd name="T28" fmla="*/ 414338 w 382"/>
                <a:gd name="T29" fmla="*/ 390525 h 253"/>
                <a:gd name="T30" fmla="*/ 349250 w 382"/>
                <a:gd name="T31" fmla="*/ 366713 h 253"/>
                <a:gd name="T32" fmla="*/ 300038 w 382"/>
                <a:gd name="T33" fmla="*/ 400050 h 253"/>
                <a:gd name="T34" fmla="*/ 252413 w 382"/>
                <a:gd name="T35" fmla="*/ 368300 h 253"/>
                <a:gd name="T36" fmla="*/ 184150 w 382"/>
                <a:gd name="T37" fmla="*/ 385763 h 253"/>
                <a:gd name="T38" fmla="*/ 160338 w 382"/>
                <a:gd name="T39" fmla="*/ 338138 h 253"/>
                <a:gd name="T40" fmla="*/ 88900 w 382"/>
                <a:gd name="T41" fmla="*/ 339725 h 253"/>
                <a:gd name="T42" fmla="*/ 87313 w 382"/>
                <a:gd name="T43" fmla="*/ 295275 h 253"/>
                <a:gd name="T44" fmla="*/ 20638 w 382"/>
                <a:gd name="T45" fmla="*/ 276225 h 253"/>
                <a:gd name="T46" fmla="*/ 53975 w 382"/>
                <a:gd name="T47" fmla="*/ 231775 h 253"/>
                <a:gd name="T48" fmla="*/ 0 w 382"/>
                <a:gd name="T49" fmla="*/ 200025 h 253"/>
                <a:gd name="T50" fmla="*/ 55563 w 382"/>
                <a:gd name="T51" fmla="*/ 168275 h 253"/>
                <a:gd name="T52" fmla="*/ 22225 w 382"/>
                <a:gd name="T53" fmla="*/ 123825 h 253"/>
                <a:gd name="T54" fmla="*/ 88900 w 382"/>
                <a:gd name="T55" fmla="*/ 106363 h 253"/>
                <a:gd name="T56" fmla="*/ 88900 w 382"/>
                <a:gd name="T57" fmla="*/ 61913 h 253"/>
                <a:gd name="T58" fmla="*/ 163513 w 382"/>
                <a:gd name="T59" fmla="*/ 61913 h 253"/>
                <a:gd name="T60" fmla="*/ 188913 w 382"/>
                <a:gd name="T61" fmla="*/ 14288 h 253"/>
                <a:gd name="T62" fmla="*/ 252413 w 382"/>
                <a:gd name="T63" fmla="*/ 34925 h 253"/>
                <a:gd name="T64" fmla="*/ 303213 w 382"/>
                <a:gd name="T65" fmla="*/ 0 h 25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82" h="253">
                  <a:moveTo>
                    <a:pt x="191" y="0"/>
                  </a:moveTo>
                  <a:lnTo>
                    <a:pt x="223" y="23"/>
                  </a:lnTo>
                  <a:lnTo>
                    <a:pt x="265" y="11"/>
                  </a:lnTo>
                  <a:lnTo>
                    <a:pt x="281" y="38"/>
                  </a:lnTo>
                  <a:lnTo>
                    <a:pt x="326" y="38"/>
                  </a:lnTo>
                  <a:lnTo>
                    <a:pt x="326" y="70"/>
                  </a:lnTo>
                  <a:lnTo>
                    <a:pt x="368" y="80"/>
                  </a:lnTo>
                  <a:lnTo>
                    <a:pt x="349" y="109"/>
                  </a:lnTo>
                  <a:lnTo>
                    <a:pt x="381" y="126"/>
                  </a:lnTo>
                  <a:lnTo>
                    <a:pt x="347" y="149"/>
                  </a:lnTo>
                  <a:lnTo>
                    <a:pt x="367" y="178"/>
                  </a:lnTo>
                  <a:lnTo>
                    <a:pt x="325" y="186"/>
                  </a:lnTo>
                  <a:lnTo>
                    <a:pt x="326" y="215"/>
                  </a:lnTo>
                  <a:lnTo>
                    <a:pt x="279" y="215"/>
                  </a:lnTo>
                  <a:lnTo>
                    <a:pt x="261" y="246"/>
                  </a:lnTo>
                  <a:lnTo>
                    <a:pt x="220" y="231"/>
                  </a:lnTo>
                  <a:lnTo>
                    <a:pt x="189" y="252"/>
                  </a:lnTo>
                  <a:lnTo>
                    <a:pt x="159" y="232"/>
                  </a:lnTo>
                  <a:lnTo>
                    <a:pt x="116" y="243"/>
                  </a:lnTo>
                  <a:lnTo>
                    <a:pt x="101" y="213"/>
                  </a:lnTo>
                  <a:lnTo>
                    <a:pt x="56" y="214"/>
                  </a:lnTo>
                  <a:lnTo>
                    <a:pt x="55" y="186"/>
                  </a:lnTo>
                  <a:lnTo>
                    <a:pt x="13" y="174"/>
                  </a:lnTo>
                  <a:lnTo>
                    <a:pt x="34" y="146"/>
                  </a:lnTo>
                  <a:lnTo>
                    <a:pt x="0" y="126"/>
                  </a:lnTo>
                  <a:lnTo>
                    <a:pt x="35" y="106"/>
                  </a:lnTo>
                  <a:lnTo>
                    <a:pt x="14" y="78"/>
                  </a:lnTo>
                  <a:lnTo>
                    <a:pt x="56" y="67"/>
                  </a:lnTo>
                  <a:lnTo>
                    <a:pt x="56" y="39"/>
                  </a:lnTo>
                  <a:lnTo>
                    <a:pt x="103" y="39"/>
                  </a:lnTo>
                  <a:lnTo>
                    <a:pt x="119" y="9"/>
                  </a:lnTo>
                  <a:lnTo>
                    <a:pt x="159" y="22"/>
                  </a:lnTo>
                  <a:lnTo>
                    <a:pt x="191" y="0"/>
                  </a:lnTo>
                </a:path>
              </a:pathLst>
            </a:custGeom>
            <a:solidFill>
              <a:schemeClr val="accent2"/>
            </a:solidFill>
            <a:ln w="25400" cap="rnd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4" name="Rectangle 17">
              <a:extLst>
                <a:ext uri="{FF2B5EF4-FFF2-40B4-BE49-F238E27FC236}">
                  <a16:creationId xmlns:a16="http://schemas.microsoft.com/office/drawing/2014/main" id="{EB24A03E-379C-7E28-0321-66C020806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688" y="3141663"/>
              <a:ext cx="103981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Testing</a:t>
              </a:r>
            </a:p>
          </p:txBody>
        </p:sp>
        <p:sp>
          <p:nvSpPr>
            <p:cNvPr id="45" name="Rectangle 18">
              <a:extLst>
                <a:ext uri="{FF2B5EF4-FFF2-40B4-BE49-F238E27FC236}">
                  <a16:creationId xmlns:a16="http://schemas.microsoft.com/office/drawing/2014/main" id="{D856AA33-05F4-93C8-FFD4-C6ADC70B0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525" y="4751388"/>
              <a:ext cx="13223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Customer</a:t>
              </a:r>
            </a:p>
          </p:txBody>
        </p:sp>
        <p:sp>
          <p:nvSpPr>
            <p:cNvPr id="46" name="Rectangle 19">
              <a:extLst>
                <a:ext uri="{FF2B5EF4-FFF2-40B4-BE49-F238E27FC236}">
                  <a16:creationId xmlns:a16="http://schemas.microsoft.com/office/drawing/2014/main" id="{89C60215-55E6-551F-6713-6CF8EC913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4275" y="4770438"/>
              <a:ext cx="15621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Raw Material</a:t>
              </a:r>
            </a:p>
          </p:txBody>
        </p:sp>
        <p:sp>
          <p:nvSpPr>
            <p:cNvPr id="47" name="Oval 20">
              <a:extLst>
                <a:ext uri="{FF2B5EF4-FFF2-40B4-BE49-F238E27FC236}">
                  <a16:creationId xmlns:a16="http://schemas.microsoft.com/office/drawing/2014/main" id="{CDBC09C3-D4F3-910F-0E05-BFDEB6535A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2838" y="3382963"/>
              <a:ext cx="144462" cy="136525"/>
            </a:xfrm>
            <a:prstGeom prst="ellipse">
              <a:avLst/>
            </a:prstGeom>
            <a:solidFill>
              <a:schemeClr val="accent5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389DF741-2429-8BD0-1251-654DE045C8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7425" y="3551238"/>
              <a:ext cx="382588" cy="811212"/>
            </a:xfrm>
            <a:custGeom>
              <a:avLst/>
              <a:gdLst>
                <a:gd name="T0" fmla="*/ 265113 w 241"/>
                <a:gd name="T1" fmla="*/ 0 h 511"/>
                <a:gd name="T2" fmla="*/ 290513 w 241"/>
                <a:gd name="T3" fmla="*/ 0 h 511"/>
                <a:gd name="T4" fmla="*/ 322263 w 241"/>
                <a:gd name="T5" fmla="*/ 6350 h 511"/>
                <a:gd name="T6" fmla="*/ 371475 w 241"/>
                <a:gd name="T7" fmla="*/ 63500 h 511"/>
                <a:gd name="T8" fmla="*/ 381000 w 241"/>
                <a:gd name="T9" fmla="*/ 120650 h 511"/>
                <a:gd name="T10" fmla="*/ 381000 w 241"/>
                <a:gd name="T11" fmla="*/ 358775 h 511"/>
                <a:gd name="T12" fmla="*/ 373063 w 241"/>
                <a:gd name="T13" fmla="*/ 381000 h 511"/>
                <a:gd name="T14" fmla="*/ 325438 w 241"/>
                <a:gd name="T15" fmla="*/ 388937 h 511"/>
                <a:gd name="T16" fmla="*/ 311150 w 241"/>
                <a:gd name="T17" fmla="*/ 358775 h 511"/>
                <a:gd name="T18" fmla="*/ 309563 w 241"/>
                <a:gd name="T19" fmla="*/ 139700 h 511"/>
                <a:gd name="T20" fmla="*/ 290513 w 241"/>
                <a:gd name="T21" fmla="*/ 744537 h 511"/>
                <a:gd name="T22" fmla="*/ 288925 w 241"/>
                <a:gd name="T23" fmla="*/ 771525 h 511"/>
                <a:gd name="T24" fmla="*/ 271463 w 241"/>
                <a:gd name="T25" fmla="*/ 803275 h 511"/>
                <a:gd name="T26" fmla="*/ 215900 w 241"/>
                <a:gd name="T27" fmla="*/ 796925 h 511"/>
                <a:gd name="T28" fmla="*/ 204788 w 241"/>
                <a:gd name="T29" fmla="*/ 744537 h 511"/>
                <a:gd name="T30" fmla="*/ 187325 w 241"/>
                <a:gd name="T31" fmla="*/ 390525 h 511"/>
                <a:gd name="T32" fmla="*/ 173038 w 241"/>
                <a:gd name="T33" fmla="*/ 392112 h 511"/>
                <a:gd name="T34" fmla="*/ 173038 w 241"/>
                <a:gd name="T35" fmla="*/ 755650 h 511"/>
                <a:gd name="T36" fmla="*/ 171450 w 241"/>
                <a:gd name="T37" fmla="*/ 779462 h 511"/>
                <a:gd name="T38" fmla="*/ 133350 w 241"/>
                <a:gd name="T39" fmla="*/ 809625 h 511"/>
                <a:gd name="T40" fmla="*/ 96838 w 241"/>
                <a:gd name="T41" fmla="*/ 788987 h 511"/>
                <a:gd name="T42" fmla="*/ 90488 w 241"/>
                <a:gd name="T43" fmla="*/ 754062 h 511"/>
                <a:gd name="T44" fmla="*/ 90488 w 241"/>
                <a:gd name="T45" fmla="*/ 138112 h 511"/>
                <a:gd name="T46" fmla="*/ 69850 w 241"/>
                <a:gd name="T47" fmla="*/ 354012 h 511"/>
                <a:gd name="T48" fmla="*/ 69850 w 241"/>
                <a:gd name="T49" fmla="*/ 365125 h 511"/>
                <a:gd name="T50" fmla="*/ 57150 w 241"/>
                <a:gd name="T51" fmla="*/ 387350 h 511"/>
                <a:gd name="T52" fmla="*/ 36513 w 241"/>
                <a:gd name="T53" fmla="*/ 393700 h 511"/>
                <a:gd name="T54" fmla="*/ 0 w 241"/>
                <a:gd name="T55" fmla="*/ 358775 h 511"/>
                <a:gd name="T56" fmla="*/ 0 w 241"/>
                <a:gd name="T57" fmla="*/ 120650 h 511"/>
                <a:gd name="T58" fmla="*/ 6350 w 241"/>
                <a:gd name="T59" fmla="*/ 65087 h 511"/>
                <a:gd name="T60" fmla="*/ 57150 w 241"/>
                <a:gd name="T61" fmla="*/ 7937 h 511"/>
                <a:gd name="T62" fmla="*/ 87313 w 241"/>
                <a:gd name="T63" fmla="*/ 0 h 511"/>
                <a:gd name="T64" fmla="*/ 114300 w 241"/>
                <a:gd name="T65" fmla="*/ 0 h 511"/>
                <a:gd name="T66" fmla="*/ 180975 w 241"/>
                <a:gd name="T67" fmla="*/ 0 h 51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41" h="511">
                  <a:moveTo>
                    <a:pt x="114" y="0"/>
                  </a:moveTo>
                  <a:lnTo>
                    <a:pt x="167" y="0"/>
                  </a:lnTo>
                  <a:lnTo>
                    <a:pt x="177" y="0"/>
                  </a:lnTo>
                  <a:lnTo>
                    <a:pt x="183" y="0"/>
                  </a:lnTo>
                  <a:lnTo>
                    <a:pt x="190" y="0"/>
                  </a:lnTo>
                  <a:lnTo>
                    <a:pt x="203" y="4"/>
                  </a:lnTo>
                  <a:lnTo>
                    <a:pt x="223" y="19"/>
                  </a:lnTo>
                  <a:lnTo>
                    <a:pt x="234" y="40"/>
                  </a:lnTo>
                  <a:lnTo>
                    <a:pt x="240" y="71"/>
                  </a:lnTo>
                  <a:lnTo>
                    <a:pt x="240" y="76"/>
                  </a:lnTo>
                  <a:lnTo>
                    <a:pt x="240" y="223"/>
                  </a:lnTo>
                  <a:lnTo>
                    <a:pt x="240" y="226"/>
                  </a:lnTo>
                  <a:lnTo>
                    <a:pt x="239" y="234"/>
                  </a:lnTo>
                  <a:lnTo>
                    <a:pt x="235" y="240"/>
                  </a:lnTo>
                  <a:lnTo>
                    <a:pt x="217" y="248"/>
                  </a:lnTo>
                  <a:lnTo>
                    <a:pt x="205" y="245"/>
                  </a:lnTo>
                  <a:lnTo>
                    <a:pt x="199" y="238"/>
                  </a:lnTo>
                  <a:lnTo>
                    <a:pt x="196" y="226"/>
                  </a:lnTo>
                  <a:lnTo>
                    <a:pt x="195" y="223"/>
                  </a:lnTo>
                  <a:lnTo>
                    <a:pt x="195" y="88"/>
                  </a:lnTo>
                  <a:lnTo>
                    <a:pt x="183" y="87"/>
                  </a:lnTo>
                  <a:lnTo>
                    <a:pt x="183" y="469"/>
                  </a:lnTo>
                  <a:lnTo>
                    <a:pt x="183" y="475"/>
                  </a:lnTo>
                  <a:lnTo>
                    <a:pt x="182" y="486"/>
                  </a:lnTo>
                  <a:lnTo>
                    <a:pt x="179" y="497"/>
                  </a:lnTo>
                  <a:lnTo>
                    <a:pt x="171" y="506"/>
                  </a:lnTo>
                  <a:lnTo>
                    <a:pt x="157" y="510"/>
                  </a:lnTo>
                  <a:lnTo>
                    <a:pt x="136" y="502"/>
                  </a:lnTo>
                  <a:lnTo>
                    <a:pt x="129" y="476"/>
                  </a:lnTo>
                  <a:lnTo>
                    <a:pt x="129" y="469"/>
                  </a:lnTo>
                  <a:lnTo>
                    <a:pt x="129" y="247"/>
                  </a:lnTo>
                  <a:lnTo>
                    <a:pt x="118" y="246"/>
                  </a:lnTo>
                  <a:lnTo>
                    <a:pt x="122" y="246"/>
                  </a:lnTo>
                  <a:lnTo>
                    <a:pt x="109" y="247"/>
                  </a:lnTo>
                  <a:lnTo>
                    <a:pt x="109" y="469"/>
                  </a:lnTo>
                  <a:lnTo>
                    <a:pt x="109" y="476"/>
                  </a:lnTo>
                  <a:lnTo>
                    <a:pt x="109" y="484"/>
                  </a:lnTo>
                  <a:lnTo>
                    <a:pt x="108" y="491"/>
                  </a:lnTo>
                  <a:lnTo>
                    <a:pt x="104" y="502"/>
                  </a:lnTo>
                  <a:lnTo>
                    <a:pt x="84" y="510"/>
                  </a:lnTo>
                  <a:lnTo>
                    <a:pt x="70" y="507"/>
                  </a:lnTo>
                  <a:lnTo>
                    <a:pt x="61" y="497"/>
                  </a:lnTo>
                  <a:lnTo>
                    <a:pt x="58" y="486"/>
                  </a:lnTo>
                  <a:lnTo>
                    <a:pt x="57" y="475"/>
                  </a:lnTo>
                  <a:lnTo>
                    <a:pt x="57" y="469"/>
                  </a:lnTo>
                  <a:lnTo>
                    <a:pt x="57" y="87"/>
                  </a:lnTo>
                  <a:lnTo>
                    <a:pt x="44" y="88"/>
                  </a:lnTo>
                  <a:lnTo>
                    <a:pt x="44" y="223"/>
                  </a:lnTo>
                  <a:lnTo>
                    <a:pt x="44" y="226"/>
                  </a:lnTo>
                  <a:lnTo>
                    <a:pt x="44" y="230"/>
                  </a:lnTo>
                  <a:lnTo>
                    <a:pt x="41" y="238"/>
                  </a:lnTo>
                  <a:lnTo>
                    <a:pt x="36" y="244"/>
                  </a:lnTo>
                  <a:lnTo>
                    <a:pt x="31" y="247"/>
                  </a:lnTo>
                  <a:lnTo>
                    <a:pt x="23" y="248"/>
                  </a:lnTo>
                  <a:lnTo>
                    <a:pt x="5" y="241"/>
                  </a:lnTo>
                  <a:lnTo>
                    <a:pt x="0" y="226"/>
                  </a:lnTo>
                  <a:lnTo>
                    <a:pt x="0" y="223"/>
                  </a:lnTo>
                  <a:lnTo>
                    <a:pt x="0" y="76"/>
                  </a:lnTo>
                  <a:lnTo>
                    <a:pt x="0" y="71"/>
                  </a:lnTo>
                  <a:lnTo>
                    <a:pt x="4" y="41"/>
                  </a:lnTo>
                  <a:lnTo>
                    <a:pt x="17" y="19"/>
                  </a:lnTo>
                  <a:lnTo>
                    <a:pt x="36" y="5"/>
                  </a:lnTo>
                  <a:lnTo>
                    <a:pt x="48" y="1"/>
                  </a:lnTo>
                  <a:lnTo>
                    <a:pt x="55" y="0"/>
                  </a:lnTo>
                  <a:lnTo>
                    <a:pt x="62" y="0"/>
                  </a:lnTo>
                  <a:lnTo>
                    <a:pt x="72" y="0"/>
                  </a:lnTo>
                  <a:lnTo>
                    <a:pt x="126" y="0"/>
                  </a:lnTo>
                  <a:lnTo>
                    <a:pt x="114" y="0"/>
                  </a:lnTo>
                </a:path>
              </a:pathLst>
            </a:custGeom>
            <a:solidFill>
              <a:schemeClr val="accent5"/>
            </a:solidFill>
            <a:ln w="12700" cap="rnd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9" name="Line 22">
              <a:extLst>
                <a:ext uri="{FF2B5EF4-FFF2-40B4-BE49-F238E27FC236}">
                  <a16:creationId xmlns:a16="http://schemas.microsoft.com/office/drawing/2014/main" id="{493D5284-0C95-D249-C849-A2FC526213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68638" y="4265613"/>
              <a:ext cx="0" cy="511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0" name="Line 23">
              <a:extLst>
                <a:ext uri="{FF2B5EF4-FFF2-40B4-BE49-F238E27FC236}">
                  <a16:creationId xmlns:a16="http://schemas.microsoft.com/office/drawing/2014/main" id="{1688DC98-6A70-E501-BFB5-E1EA2CE310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65463" y="3460750"/>
              <a:ext cx="0" cy="4794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1" name="Line 24">
              <a:extLst>
                <a:ext uri="{FF2B5EF4-FFF2-40B4-BE49-F238E27FC236}">
                  <a16:creationId xmlns:a16="http://schemas.microsoft.com/office/drawing/2014/main" id="{AA36E0F2-2ADC-CE7E-612F-C39DB080A8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30388" y="4443413"/>
              <a:ext cx="3175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2" name="Line 25">
              <a:extLst>
                <a:ext uri="{FF2B5EF4-FFF2-40B4-BE49-F238E27FC236}">
                  <a16:creationId xmlns:a16="http://schemas.microsoft.com/office/drawing/2014/main" id="{52521AEE-3920-A3D8-CF18-6E47D6AB01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27213" y="3467100"/>
              <a:ext cx="6350" cy="3143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3" name="Line 26">
              <a:extLst>
                <a:ext uri="{FF2B5EF4-FFF2-40B4-BE49-F238E27FC236}">
                  <a16:creationId xmlns:a16="http://schemas.microsoft.com/office/drawing/2014/main" id="{63A3C20C-D396-ADA4-54C4-162CEC2BF1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38325" y="2901950"/>
              <a:ext cx="415925" cy="2111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4" name="Line 27">
              <a:extLst>
                <a:ext uri="{FF2B5EF4-FFF2-40B4-BE49-F238E27FC236}">
                  <a16:creationId xmlns:a16="http://schemas.microsoft.com/office/drawing/2014/main" id="{25A61C48-DEE1-170F-621D-0128E929B7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54300" y="2892425"/>
              <a:ext cx="414338" cy="25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032A2FB-0A3E-2FFA-8003-1B28CD79C51F}"/>
              </a:ext>
            </a:extLst>
          </p:cNvPr>
          <p:cNvGrpSpPr/>
          <p:nvPr/>
        </p:nvGrpSpPr>
        <p:grpSpPr>
          <a:xfrm>
            <a:off x="838200" y="297639"/>
            <a:ext cx="4024630" cy="315930"/>
            <a:chOff x="838200" y="297639"/>
            <a:chExt cx="4024630" cy="31593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C099391-B957-70DE-CA02-B2EEAC733823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0" name="AutoShape 9">
                <a:extLst>
                  <a:ext uri="{FF2B5EF4-FFF2-40B4-BE49-F238E27FC236}">
                    <a16:creationId xmlns:a16="http://schemas.microsoft.com/office/drawing/2014/main" id="{BB7D8B13-1F2E-B177-6C23-15FCE7848F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1" name="AutoShape 11">
                <a:extLst>
                  <a:ext uri="{FF2B5EF4-FFF2-40B4-BE49-F238E27FC236}">
                    <a16:creationId xmlns:a16="http://schemas.microsoft.com/office/drawing/2014/main" id="{4162E067-5BBB-9FCD-201D-9585DC15D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2" name="AutoShape 10">
                <a:extLst>
                  <a:ext uri="{FF2B5EF4-FFF2-40B4-BE49-F238E27FC236}">
                    <a16:creationId xmlns:a16="http://schemas.microsoft.com/office/drawing/2014/main" id="{A571A726-D69D-C3AE-73A2-FB6CDD28D0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92A5573-C9B3-953C-A382-35DCDF3771DC}"/>
                </a:ext>
              </a:extLst>
            </p:cNvPr>
            <p:cNvSpPr txBox="1"/>
            <p:nvPr/>
          </p:nvSpPr>
          <p:spPr>
            <a:xfrm>
              <a:off x="1994872" y="322207"/>
              <a:ext cx="286795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Fundamentals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2759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Cellular Production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13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024630" cy="315930"/>
            <a:chOff x="838200" y="297639"/>
            <a:chExt cx="402463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286795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Fundamentals</a:t>
              </a:r>
            </a:p>
          </p:txBody>
        </p:sp>
      </p:grpSp>
      <p:pic>
        <p:nvPicPr>
          <p:cNvPr id="4" name="Picture 5">
            <a:extLst>
              <a:ext uri="{FF2B5EF4-FFF2-40B4-BE49-F238E27FC236}">
                <a16:creationId xmlns:a16="http://schemas.microsoft.com/office/drawing/2014/main" id="{3221A2EC-0E58-E293-AE10-317AB4B943AE}"/>
              </a:ext>
            </a:extLst>
          </p:cNvPr>
          <p:cNvPicPr>
            <a:picLocks noGrp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2281" y="1873539"/>
            <a:ext cx="6307438" cy="4383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4564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The Tools of Lean are Intertwined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14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024630" cy="315930"/>
            <a:chOff x="838200" y="297639"/>
            <a:chExt cx="402463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286795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Fundamentals</a:t>
              </a:r>
            </a:p>
          </p:txBody>
        </p:sp>
      </p:grpSp>
      <p:pic>
        <p:nvPicPr>
          <p:cNvPr id="4" name="Picture 5">
            <a:extLst>
              <a:ext uri="{FF2B5EF4-FFF2-40B4-BE49-F238E27FC236}">
                <a16:creationId xmlns:a16="http://schemas.microsoft.com/office/drawing/2014/main" id="{3221A2EC-0E58-E293-AE10-317AB4B943AE}"/>
              </a:ext>
            </a:extLst>
          </p:cNvPr>
          <p:cNvPicPr>
            <a:picLocks noGrp="1" noChangeArrowheads="1"/>
          </p:cNvPicPr>
          <p:nvPr>
            <p:ph idx="1"/>
          </p:nvPr>
        </p:nvPicPr>
        <p:blipFill>
          <a:blip r:embed="rId2"/>
          <a:srcRect/>
          <a:stretch/>
        </p:blipFill>
        <p:spPr bwMode="auto">
          <a:xfrm>
            <a:off x="2942281" y="1873539"/>
            <a:ext cx="6307438" cy="4383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1973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Common Excuses Cause Failure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15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024630" cy="315930"/>
            <a:chOff x="838200" y="297639"/>
            <a:chExt cx="402463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286795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Fundamentals</a:t>
              </a:r>
            </a:p>
          </p:txBody>
        </p:sp>
      </p:grpSp>
      <p:pic>
        <p:nvPicPr>
          <p:cNvPr id="4" name="Picture 5">
            <a:extLst>
              <a:ext uri="{FF2B5EF4-FFF2-40B4-BE49-F238E27FC236}">
                <a16:creationId xmlns:a16="http://schemas.microsoft.com/office/drawing/2014/main" id="{3221A2EC-0E58-E293-AE10-317AB4B943AE}"/>
              </a:ext>
            </a:extLst>
          </p:cNvPr>
          <p:cNvPicPr>
            <a:picLocks noGrp="1" noChangeArrowheads="1"/>
          </p:cNvPicPr>
          <p:nvPr>
            <p:ph idx="1"/>
          </p:nvPr>
        </p:nvPicPr>
        <p:blipFill>
          <a:blip r:embed="rId2"/>
          <a:srcRect/>
          <a:stretch/>
        </p:blipFill>
        <p:spPr bwMode="auto">
          <a:xfrm>
            <a:off x="2047091" y="1873539"/>
            <a:ext cx="8097818" cy="4383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2232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Key take-away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16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024630" cy="315930"/>
            <a:chOff x="838200" y="297639"/>
            <a:chExt cx="402463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286795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Fundamentals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C9E4A-2665-21D1-BAB7-47B252E8B3FC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2"/>
          </a:solidFill>
        </p:spPr>
        <p:txBody>
          <a:bodyPr anchor="ctr"/>
          <a:lstStyle/>
          <a:p>
            <a:pPr marL="0" indent="0" algn="ctr">
              <a:buNone/>
            </a:pPr>
            <a:r>
              <a:rPr lang="en-US" dirty="0"/>
              <a:t>Upper Management Commitment is Critical to success!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445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11FF7-095F-D1A9-6784-C53D538A36F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77BA17-B180-9889-85DC-DBE8C080CFB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99911" y="1497012"/>
            <a:ext cx="9815689" cy="100965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800" dirty="0">
                <a:latin typeface="Roboto Medium"/>
                <a:ea typeface="Roboto Medium"/>
                <a:cs typeface="Roboto Medium"/>
              </a:rPr>
              <a:t>Problems with Traditional Management Accounting Systems (MAS)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34846-F3D4-20E7-25C0-91FCF7736CB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22489" y="250666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Objectives:</a:t>
            </a:r>
          </a:p>
          <a:p>
            <a:r>
              <a:rPr lang="en-US" sz="2400" dirty="0"/>
              <a:t>Identify key factors of Traditional Accounting Systems</a:t>
            </a:r>
          </a:p>
          <a:p>
            <a:r>
              <a:rPr lang="en-US" sz="2400" dirty="0"/>
              <a:t>Identify problems with using Standard Cost Variance Analysis</a:t>
            </a:r>
          </a:p>
          <a:p>
            <a:r>
              <a:rPr lang="en-US" sz="2400" dirty="0"/>
              <a:t>Discuss how Variance Analysis does not support kaizen philosophy</a:t>
            </a:r>
          </a:p>
          <a:p>
            <a:r>
              <a:rPr lang="en-US" sz="2400" dirty="0"/>
              <a:t>Identify impact of traditional labor accounting</a:t>
            </a:r>
          </a:p>
          <a:p>
            <a:r>
              <a:rPr lang="en-US" sz="2400" dirty="0"/>
              <a:t>Identify impact of traditional scrap reporting</a:t>
            </a:r>
          </a:p>
          <a:p>
            <a:r>
              <a:rPr lang="en-US" sz="2400" dirty="0"/>
              <a:t>Identify impact of traditional capital justification</a:t>
            </a:r>
          </a:p>
          <a:p>
            <a:endParaRPr lang="en-US" sz="2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F07BA82-F1D2-01EE-36D7-0CE1E1021337}"/>
              </a:ext>
            </a:extLst>
          </p:cNvPr>
          <p:cNvGrpSpPr/>
          <p:nvPr/>
        </p:nvGrpSpPr>
        <p:grpSpPr>
          <a:xfrm>
            <a:off x="699911" y="837133"/>
            <a:ext cx="4425950" cy="659879"/>
            <a:chOff x="5627530" y="641179"/>
            <a:chExt cx="6564470" cy="804977"/>
          </a:xfrm>
        </p:grpSpPr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E658DE7F-EAE7-7BD9-8492-805CBFCFF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51136" y="641179"/>
              <a:ext cx="2340864" cy="804977"/>
            </a:xfrm>
            <a:prstGeom prst="homePlate">
              <a:avLst>
                <a:gd name="adj" fmla="val 29912"/>
              </a:avLst>
            </a:prstGeom>
            <a:solidFill>
              <a:srgbClr val="222222"/>
            </a:solidFill>
            <a:ln w="12700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Impact on MAS</a:t>
              </a:r>
            </a:p>
          </p:txBody>
        </p:sp>
        <p:sp>
          <p:nvSpPr>
            <p:cNvPr id="8" name="AutoShape 10">
              <a:extLst>
                <a:ext uri="{FF2B5EF4-FFF2-40B4-BE49-F238E27FC236}">
                  <a16:creationId xmlns:a16="http://schemas.microsoft.com/office/drawing/2014/main" id="{3B341166-AC1F-8D30-9314-0FB3D9483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7856" y="641180"/>
              <a:ext cx="2342768" cy="804976"/>
            </a:xfrm>
            <a:prstGeom prst="homePlate">
              <a:avLst>
                <a:gd name="adj" fmla="val 29912"/>
              </a:avLst>
            </a:prstGeom>
            <a:solidFill>
              <a:srgbClr val="FFB627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00" dirty="0">
                  <a:latin typeface="Roboto" panose="02000000000000000000" pitchFamily="2" charset="0"/>
                  <a:ea typeface="Roboto" panose="02000000000000000000" pitchFamily="2" charset="0"/>
                </a:rPr>
                <a:t>Problems with Traditional MAS</a:t>
              </a:r>
            </a:p>
          </p:txBody>
        </p:sp>
        <p:sp>
          <p:nvSpPr>
            <p:cNvPr id="9" name="AutoShape 11">
              <a:extLst>
                <a:ext uri="{FF2B5EF4-FFF2-40B4-BE49-F238E27FC236}">
                  <a16:creationId xmlns:a16="http://schemas.microsoft.com/office/drawing/2014/main" id="{2AB16F46-B5FA-96F3-91C2-07B2F2F1CC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7530" y="641179"/>
              <a:ext cx="2340864" cy="804977"/>
            </a:xfrm>
            <a:prstGeom prst="homePlate">
              <a:avLst>
                <a:gd name="adj" fmla="val 29912"/>
              </a:avLst>
            </a:prstGeom>
            <a:solidFill>
              <a:srgbClr val="222222"/>
            </a:solidFill>
            <a:ln w="12700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Lean Fundamentals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4FB0DFD-2D15-952D-9825-996B08251FD4}"/>
              </a:ext>
            </a:extLst>
          </p:cNvPr>
          <p:cNvCxnSpPr/>
          <p:nvPr/>
        </p:nvCxnSpPr>
        <p:spPr>
          <a:xfrm>
            <a:off x="699911" y="2386919"/>
            <a:ext cx="388297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150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Traditional Accounting Systems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18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Problems with Traditional MAS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73282-7DAB-83FD-FFBF-CF7DBF68D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Accounting Systems will not work in a Lean environment</a:t>
            </a:r>
          </a:p>
          <a:p>
            <a:r>
              <a:rPr lang="en-US" dirty="0"/>
              <a:t>Traditional Accounting Systems were designed to service</a:t>
            </a:r>
          </a:p>
          <a:p>
            <a:pPr lvl="1"/>
            <a:r>
              <a:rPr lang="en-US" dirty="0"/>
              <a:t>External Customers</a:t>
            </a:r>
          </a:p>
          <a:p>
            <a:pPr lvl="1"/>
            <a:r>
              <a:rPr lang="en-US" dirty="0"/>
              <a:t>The IRS</a:t>
            </a:r>
          </a:p>
          <a:p>
            <a:pPr lvl="1"/>
            <a:r>
              <a:rPr lang="en-US" dirty="0"/>
              <a:t>The SEC</a:t>
            </a:r>
          </a:p>
          <a:p>
            <a:pPr lvl="1"/>
            <a:r>
              <a:rPr lang="en-US" dirty="0"/>
              <a:t>Auditors</a:t>
            </a:r>
          </a:p>
          <a:p>
            <a:pPr lvl="1"/>
            <a:r>
              <a:rPr lang="en-US" dirty="0"/>
              <a:t>Those guys at corporate!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796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Traditional Accounting Systems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19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Problems with Traditional MAS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73282-7DAB-83FD-FFBF-CF7DBF68D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Failed to recognize that one of their most important customers is manufacturing!</a:t>
            </a:r>
          </a:p>
          <a:p>
            <a:r>
              <a:rPr lang="en-US" dirty="0"/>
              <a:t>Forced their systems on others</a:t>
            </a:r>
          </a:p>
          <a:p>
            <a:r>
              <a:rPr lang="en-US" dirty="0"/>
              <a:t>Accountants ‘thought’ they had control</a:t>
            </a:r>
          </a:p>
          <a:p>
            <a:r>
              <a:rPr lang="en-US" dirty="0"/>
              <a:t>Required manufacturing to do non-value added things	</a:t>
            </a:r>
          </a:p>
          <a:p>
            <a:pPr lvl="1"/>
            <a:r>
              <a:rPr lang="en-US" dirty="0"/>
              <a:t>Controlled stockroom</a:t>
            </a:r>
          </a:p>
          <a:p>
            <a:pPr lvl="1"/>
            <a:r>
              <a:rPr lang="en-US" dirty="0"/>
              <a:t>Inventory Transactions</a:t>
            </a:r>
          </a:p>
          <a:p>
            <a:pPr lvl="1"/>
            <a:r>
              <a:rPr lang="en-US" dirty="0"/>
              <a:t>Discrete Shop orders</a:t>
            </a:r>
          </a:p>
          <a:p>
            <a:pPr lvl="1"/>
            <a:r>
              <a:rPr lang="en-US" dirty="0"/>
              <a:t>Labor Time Tickets etc.</a:t>
            </a:r>
          </a:p>
        </p:txBody>
      </p:sp>
    </p:spTree>
    <p:extLst>
      <p:ext uri="{BB962C8B-B14F-4D97-AF65-F5344CB8AC3E}">
        <p14:creationId xmlns:p14="http://schemas.microsoft.com/office/powerpoint/2010/main" val="2936771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Traditional Accounting Systems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20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Problems with Traditional MAS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73282-7DAB-83FD-FFBF-CF7DBF68D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 painful as these controls were, the accounting profession attempted to use the output from these systems to measure the performance of the manufacturing group</a:t>
            </a:r>
          </a:p>
          <a:p>
            <a:endParaRPr lang="en-US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2B47C81F-6134-06D1-EF4A-FE3A64311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797" y="3967004"/>
            <a:ext cx="8838406" cy="1077218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3200" dirty="0">
                <a:latin typeface="Roboto" panose="02000000000000000000" pitchFamily="2" charset="0"/>
                <a:ea typeface="Roboto" panose="02000000000000000000" pitchFamily="2" charset="0"/>
              </a:rPr>
              <a:t>Financial Accounting and Managerial 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3200" dirty="0">
                <a:latin typeface="Roboto" panose="02000000000000000000" pitchFamily="2" charset="0"/>
                <a:ea typeface="Roboto" panose="02000000000000000000" pitchFamily="2" charset="0"/>
              </a:rPr>
              <a:t>Accounting are Different</a:t>
            </a:r>
            <a:r>
              <a:rPr lang="en-US" altLang="en-US" sz="3200" b="0" dirty="0">
                <a:latin typeface="Roboto" panose="02000000000000000000" pitchFamily="2" charset="0"/>
                <a:ea typeface="Roboto" panose="02000000000000000000" pitchFamily="2" charset="0"/>
              </a:rPr>
              <a:t>!!!</a:t>
            </a:r>
          </a:p>
        </p:txBody>
      </p:sp>
    </p:spTree>
    <p:extLst>
      <p:ext uri="{BB962C8B-B14F-4D97-AF65-F5344CB8AC3E}">
        <p14:creationId xmlns:p14="http://schemas.microsoft.com/office/powerpoint/2010/main" val="4148153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Costs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6678" y="2308894"/>
            <a:ext cx="5181600" cy="2888214"/>
          </a:xfrm>
        </p:spPr>
        <p:txBody>
          <a:bodyPr/>
          <a:lstStyle/>
          <a:p>
            <a:r>
              <a:rPr lang="en-US" dirty="0"/>
              <a:t>Standard Costs are estimates of what you ‘think’ a product will cost to manufacture</a:t>
            </a:r>
          </a:p>
          <a:p>
            <a:r>
              <a:rPr lang="en-US" dirty="0"/>
              <a:t>Standards are wrong from the moment which they are developed!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21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FA90688-C64D-9BBC-3439-ADDE616D4ECF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AA7863E-2CB8-4C5F-187D-4BAF3FA68C4F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21" name="AutoShape 9">
                <a:extLst>
                  <a:ext uri="{FF2B5EF4-FFF2-40B4-BE49-F238E27FC236}">
                    <a16:creationId xmlns:a16="http://schemas.microsoft.com/office/drawing/2014/main" id="{9A4E12C0-DEB6-7ED0-440B-B399919E1C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22" name="AutoShape 11">
                <a:extLst>
                  <a:ext uri="{FF2B5EF4-FFF2-40B4-BE49-F238E27FC236}">
                    <a16:creationId xmlns:a16="http://schemas.microsoft.com/office/drawing/2014/main" id="{CBF9A861-52DA-6984-6C3B-623997AB8A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AutoShape 10">
                <a:extLst>
                  <a:ext uri="{FF2B5EF4-FFF2-40B4-BE49-F238E27FC236}">
                    <a16:creationId xmlns:a16="http://schemas.microsoft.com/office/drawing/2014/main" id="{3CAC7C8E-8A88-2018-28F4-23E83CE178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4F796F-F73D-C25C-A534-DA7E51E937D9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Problems with Traditional MAS</a:t>
              </a:r>
            </a:p>
          </p:txBody>
        </p:sp>
      </p:grpSp>
      <p:pic>
        <p:nvPicPr>
          <p:cNvPr id="25" name="Picture 7" descr="bigstockphoto_Tatami_Workshop_54065">
            <a:extLst>
              <a:ext uri="{FF2B5EF4-FFF2-40B4-BE49-F238E27FC236}">
                <a16:creationId xmlns:a16="http://schemas.microsoft.com/office/drawing/2014/main" id="{ED7DAF95-7409-66AB-C928-EB5F090C311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875" y="1965960"/>
            <a:ext cx="4530002" cy="3391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57424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The Problems With Using Standard Cost Variance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22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Problems with Traditional MAS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73282-7DAB-83FD-FFBF-CF7DBF68D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Variance Analysis often measures the wrong things. Dysfunctional behaviors are encouraged.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Variance analysis does not support or promote the kaizen (continuous improvement) philosophy.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D1A0D77D-5DB5-FBB0-73BB-686BAEBC8EB6}"/>
              </a:ext>
            </a:extLst>
          </p:cNvPr>
          <p:cNvGrpSpPr>
            <a:grpSpLocks/>
          </p:cNvGrpSpPr>
          <p:nvPr/>
        </p:nvGrpSpPr>
        <p:grpSpPr bwMode="auto">
          <a:xfrm>
            <a:off x="4512470" y="3904297"/>
            <a:ext cx="3167061" cy="2300939"/>
            <a:chOff x="3112" y="3232"/>
            <a:chExt cx="1223" cy="971"/>
          </a:xfrm>
        </p:grpSpPr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E047BC52-925F-6E7D-F7B7-2E2209CD44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3232"/>
              <a:ext cx="912" cy="704"/>
              <a:chOff x="3264" y="3232"/>
              <a:chExt cx="912" cy="704"/>
            </a:xfrm>
          </p:grpSpPr>
          <p:sp>
            <p:nvSpPr>
              <p:cNvPr id="9" name="Oval 6">
                <a:extLst>
                  <a:ext uri="{FF2B5EF4-FFF2-40B4-BE49-F238E27FC236}">
                    <a16:creationId xmlns:a16="http://schemas.microsoft.com/office/drawing/2014/main" id="{292A4F62-FEF2-9015-655C-3C5C14024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3600"/>
                <a:ext cx="192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1" name="Oval 7">
                <a:extLst>
                  <a:ext uri="{FF2B5EF4-FFF2-40B4-BE49-F238E27FC236}">
                    <a16:creationId xmlns:a16="http://schemas.microsoft.com/office/drawing/2014/main" id="{ADC9490A-0F09-D08F-2C3E-4CBEAC714A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2" y="3600"/>
                <a:ext cx="192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3" name="Oval 8">
                <a:extLst>
                  <a:ext uri="{FF2B5EF4-FFF2-40B4-BE49-F238E27FC236}">
                    <a16:creationId xmlns:a16="http://schemas.microsoft.com/office/drawing/2014/main" id="{E525BC30-C1CE-C627-EDBD-6F9556F935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4" y="3600"/>
                <a:ext cx="192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18" name="Group 9">
                <a:extLst>
                  <a:ext uri="{FF2B5EF4-FFF2-40B4-BE49-F238E27FC236}">
                    <a16:creationId xmlns:a16="http://schemas.microsoft.com/office/drawing/2014/main" id="{626FB6A0-B180-5247-B67E-D6F6131EC4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64" y="3792"/>
                <a:ext cx="912" cy="144"/>
                <a:chOff x="3264" y="3792"/>
                <a:chExt cx="912" cy="144"/>
              </a:xfrm>
            </p:grpSpPr>
            <p:sp>
              <p:nvSpPr>
                <p:cNvPr id="22" name="Oval 10">
                  <a:extLst>
                    <a:ext uri="{FF2B5EF4-FFF2-40B4-BE49-F238E27FC236}">
                      <a16:creationId xmlns:a16="http://schemas.microsoft.com/office/drawing/2014/main" id="{E792EA98-4CB2-CCC3-6A95-40A64EF88D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84" y="3792"/>
                  <a:ext cx="192" cy="144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3" name="Oval 11">
                  <a:extLst>
                    <a:ext uri="{FF2B5EF4-FFF2-40B4-BE49-F238E27FC236}">
                      <a16:creationId xmlns:a16="http://schemas.microsoft.com/office/drawing/2014/main" id="{ABBF49CA-E215-6F79-F190-734B885E7A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44" y="3792"/>
                  <a:ext cx="192" cy="144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4" name="Oval 12">
                  <a:extLst>
                    <a:ext uri="{FF2B5EF4-FFF2-40B4-BE49-F238E27FC236}">
                      <a16:creationId xmlns:a16="http://schemas.microsoft.com/office/drawing/2014/main" id="{A72B466C-3A21-E7ED-B9E1-8F7B3157A5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04" y="3792"/>
                  <a:ext cx="192" cy="144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5" name="Oval 13">
                  <a:extLst>
                    <a:ext uri="{FF2B5EF4-FFF2-40B4-BE49-F238E27FC236}">
                      <a16:creationId xmlns:a16="http://schemas.microsoft.com/office/drawing/2014/main" id="{D4C16DBE-0D87-9715-797A-E5B8E1E967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3792"/>
                  <a:ext cx="192" cy="144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19" name="Oval 14">
                <a:extLst>
                  <a:ext uri="{FF2B5EF4-FFF2-40B4-BE49-F238E27FC236}">
                    <a16:creationId xmlns:a16="http://schemas.microsoft.com/office/drawing/2014/main" id="{D21DC41A-8E9E-3C53-CDF1-0E3A2145D3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3408"/>
                <a:ext cx="192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0" name="Oval 15">
                <a:extLst>
                  <a:ext uri="{FF2B5EF4-FFF2-40B4-BE49-F238E27FC236}">
                    <a16:creationId xmlns:a16="http://schemas.microsoft.com/office/drawing/2014/main" id="{F4A17EF7-4710-5C7F-FBAF-73A85F9CF4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3408"/>
                <a:ext cx="192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" name="Oval 16">
                <a:extLst>
                  <a:ext uri="{FF2B5EF4-FFF2-40B4-BE49-F238E27FC236}">
                    <a16:creationId xmlns:a16="http://schemas.microsoft.com/office/drawing/2014/main" id="{CC156A66-FE19-D6C5-9DB4-D2745ADFA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4" y="3232"/>
                <a:ext cx="192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8" name="Text Box 17">
              <a:extLst>
                <a:ext uri="{FF2B5EF4-FFF2-40B4-BE49-F238E27FC236}">
                  <a16:creationId xmlns:a16="http://schemas.microsoft.com/office/drawing/2014/main" id="{7AFE5AB5-A045-39C2-A2D6-540D72728A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2" y="3970"/>
              <a:ext cx="122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Unsold Inventory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0090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Purchase Price Variance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23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Problems with Traditional MAS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73282-7DAB-83FD-FFBF-CF7DBF68D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Material price standards are ‘weighted,’ therefore, variance analysis is not meaningful</a:t>
            </a:r>
          </a:p>
          <a:p>
            <a:r>
              <a:rPr lang="en-US" dirty="0"/>
              <a:t>PPV analysis promotes the use of volume discounts to keep unit price down</a:t>
            </a:r>
          </a:p>
          <a:p>
            <a:pPr lvl="1"/>
            <a:r>
              <a:rPr lang="en-US" dirty="0"/>
              <a:t>Inventory levels rise</a:t>
            </a:r>
          </a:p>
          <a:p>
            <a:pPr lvl="1"/>
            <a:r>
              <a:rPr lang="en-US" dirty="0"/>
              <a:t>Obsolescence increases</a:t>
            </a:r>
          </a:p>
          <a:p>
            <a:r>
              <a:rPr lang="en-US" dirty="0"/>
              <a:t>Promotes the use of the lowest “priced” supplier, not necessarily the lowest cost supplier</a:t>
            </a:r>
          </a:p>
          <a:p>
            <a:pPr lvl="1"/>
            <a:r>
              <a:rPr lang="en-US" dirty="0"/>
              <a:t>Quality is compromised</a:t>
            </a:r>
          </a:p>
          <a:p>
            <a:pPr lvl="1"/>
            <a:r>
              <a:rPr lang="en-US" dirty="0"/>
              <a:t>Rejects, rework, warranty increase</a:t>
            </a:r>
          </a:p>
        </p:txBody>
      </p:sp>
    </p:spTree>
    <p:extLst>
      <p:ext uri="{BB962C8B-B14F-4D97-AF65-F5344CB8AC3E}">
        <p14:creationId xmlns:p14="http://schemas.microsoft.com/office/powerpoint/2010/main" val="10553173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Purchase Price Variance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24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Problems with Traditional MAS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73282-7DAB-83FD-FFBF-CF7DBF68D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Supports the notion of producing as much as possible</a:t>
            </a:r>
          </a:p>
          <a:p>
            <a:r>
              <a:rPr lang="en-US" dirty="0"/>
              <a:t>High-Absorption products are produced regardless of demand requirements</a:t>
            </a:r>
          </a:p>
          <a:p>
            <a:r>
              <a:rPr lang="en-US" dirty="0"/>
              <a:t>Emphasis on absorption variances results in</a:t>
            </a:r>
          </a:p>
          <a:p>
            <a:pPr lvl="1"/>
            <a:r>
              <a:rPr lang="en-US" dirty="0"/>
              <a:t>High inventory levels</a:t>
            </a:r>
          </a:p>
          <a:p>
            <a:pPr lvl="1"/>
            <a:r>
              <a:rPr lang="en-US" dirty="0"/>
              <a:t>Decreased customer service levels</a:t>
            </a:r>
          </a:p>
          <a:p>
            <a:pPr lvl="1"/>
            <a:r>
              <a:rPr lang="en-US" dirty="0"/>
              <a:t>Increased obsolescence</a:t>
            </a:r>
          </a:p>
          <a:p>
            <a:r>
              <a:rPr lang="en-US" dirty="0"/>
              <a:t>The definition of fixed costs is an area of concern</a:t>
            </a:r>
          </a:p>
          <a:p>
            <a:pPr lvl="1"/>
            <a:r>
              <a:rPr lang="en-US" dirty="0"/>
              <a:t>Many costs are not truly fixed</a:t>
            </a:r>
          </a:p>
          <a:p>
            <a:pPr lvl="1"/>
            <a:r>
              <a:rPr lang="en-US" dirty="0"/>
              <a:t>‘Fixed’ suggests that improvements are not possible</a:t>
            </a:r>
          </a:p>
        </p:txBody>
      </p:sp>
    </p:spTree>
    <p:extLst>
      <p:ext uri="{BB962C8B-B14F-4D97-AF65-F5344CB8AC3E}">
        <p14:creationId xmlns:p14="http://schemas.microsoft.com/office/powerpoint/2010/main" val="24536550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Flexible Budgeting Variance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25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Problems with Traditional MAS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73282-7DAB-83FD-FFBF-CF7DBF68D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Flex budgets are derived from standard costing calculations</a:t>
            </a:r>
          </a:p>
          <a:p>
            <a:pPr lvl="1"/>
            <a:r>
              <a:rPr lang="en-US" dirty="0"/>
              <a:t>Standard costs are not accurate</a:t>
            </a:r>
          </a:p>
          <a:p>
            <a:pPr lvl="1"/>
            <a:r>
              <a:rPr lang="en-US" dirty="0"/>
              <a:t>Activity base usually is not representative</a:t>
            </a:r>
          </a:p>
          <a:p>
            <a:r>
              <a:rPr lang="en-US" dirty="0"/>
              <a:t>Many costs are not truly variable in nature</a:t>
            </a:r>
          </a:p>
          <a:p>
            <a:r>
              <a:rPr lang="en-US" dirty="0"/>
              <a:t>The use of flex budgets may lead to a false sense of security</a:t>
            </a:r>
          </a:p>
        </p:txBody>
      </p:sp>
    </p:spTree>
    <p:extLst>
      <p:ext uri="{BB962C8B-B14F-4D97-AF65-F5344CB8AC3E}">
        <p14:creationId xmlns:p14="http://schemas.microsoft.com/office/powerpoint/2010/main" val="12137258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Variance Analysis Does Not Support Kaizen Philosophy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26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Problems with Traditional MAS</a:t>
              </a:r>
            </a:p>
          </p:txBody>
        </p:sp>
      </p:grpSp>
      <p:pic>
        <p:nvPicPr>
          <p:cNvPr id="4" name="Picture 1">
            <a:extLst>
              <a:ext uri="{FF2B5EF4-FFF2-40B4-BE49-F238E27FC236}">
                <a16:creationId xmlns:a16="http://schemas.microsoft.com/office/drawing/2014/main" id="{D46DD3AC-B77C-0523-461F-603DBB1D26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86" r="4566" b="36359"/>
          <a:stretch/>
        </p:blipFill>
        <p:spPr>
          <a:xfrm>
            <a:off x="2146935" y="2294255"/>
            <a:ext cx="7898130" cy="276923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  <p:sp>
        <p:nvSpPr>
          <p:cNvPr id="6" name="Text Box 7">
            <a:extLst>
              <a:ext uri="{FF2B5EF4-FFF2-40B4-BE49-F238E27FC236}">
                <a16:creationId xmlns:a16="http://schemas.microsoft.com/office/drawing/2014/main" id="{18C299AB-844C-76F7-5392-7A264DC87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362" y="5198427"/>
            <a:ext cx="66452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1800" b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The above data reveals an unfavorable trend, although variances are favorable for the first three months.</a:t>
            </a:r>
          </a:p>
        </p:txBody>
      </p:sp>
    </p:spTree>
    <p:extLst>
      <p:ext uri="{BB962C8B-B14F-4D97-AF65-F5344CB8AC3E}">
        <p14:creationId xmlns:p14="http://schemas.microsoft.com/office/powerpoint/2010/main" val="27042115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When are Standards Useful?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27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Problems with Traditional MAS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73282-7DAB-83FD-FFBF-CF7DBF68D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Standards should never be used for performance measurement</a:t>
            </a:r>
          </a:p>
          <a:p>
            <a:r>
              <a:rPr lang="en-US" dirty="0"/>
              <a:t>Standards are useful for</a:t>
            </a:r>
          </a:p>
          <a:p>
            <a:pPr lvl="1"/>
            <a:r>
              <a:rPr lang="en-US" dirty="0"/>
              <a:t>Expediting the accounting process</a:t>
            </a:r>
          </a:p>
          <a:p>
            <a:pPr lvl="1"/>
            <a:r>
              <a:rPr lang="en-US" dirty="0"/>
              <a:t>Approximation of the fair value of inventory</a:t>
            </a:r>
          </a:p>
          <a:p>
            <a:pPr lvl="1"/>
            <a:r>
              <a:rPr lang="en-US" dirty="0"/>
              <a:t>Regulatory compliance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8709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Traditional Labor Accounting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28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Problems with Traditional MAS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73282-7DAB-83FD-FFBF-CF7DBF68D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Traditional definition of direct / indirect labor does not apply in a Lean environment</a:t>
            </a:r>
          </a:p>
          <a:p>
            <a:pPr lvl="1"/>
            <a:r>
              <a:rPr lang="en-US" dirty="0"/>
              <a:t>Multi-skilled operators are crucial in Lean </a:t>
            </a:r>
          </a:p>
          <a:p>
            <a:pPr lvl="1"/>
            <a:r>
              <a:rPr lang="en-US" dirty="0"/>
              <a:t>Operators perform 5S, TPM, Set-up, Material Handling</a:t>
            </a:r>
          </a:p>
          <a:p>
            <a:r>
              <a:rPr lang="en-US" dirty="0"/>
              <a:t>Traditional focus on direct labor ignores other manufacturing costs</a:t>
            </a:r>
          </a:p>
          <a:p>
            <a:pPr lvl="1"/>
            <a:r>
              <a:rPr lang="en-US" dirty="0"/>
              <a:t>Labor as a % of total cost is usually below 20%</a:t>
            </a:r>
          </a:p>
          <a:p>
            <a:r>
              <a:rPr lang="en-US" dirty="0"/>
              <a:t>Labor problems will be detected visually in a Lean environment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2091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Traditional Scrap Reporting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29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Problems with Traditional MAS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73282-7DAB-83FD-FFBF-CF7DBF68D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Scrap tickets are required to be costed at stage of completion in a traditional environment</a:t>
            </a:r>
          </a:p>
          <a:p>
            <a:pPr lvl="1"/>
            <a:r>
              <a:rPr lang="en-US" dirty="0"/>
              <a:t>Requires excess clerical help</a:t>
            </a:r>
          </a:p>
          <a:p>
            <a:pPr lvl="1"/>
            <a:r>
              <a:rPr lang="en-US" dirty="0"/>
              <a:t>Requires detailed routings to be maintained</a:t>
            </a:r>
          </a:p>
          <a:p>
            <a:r>
              <a:rPr lang="en-US" dirty="0"/>
              <a:t>One - piece flow in a Lean Environment</a:t>
            </a:r>
          </a:p>
          <a:p>
            <a:pPr lvl="1"/>
            <a:r>
              <a:rPr lang="en-US" dirty="0"/>
              <a:t>Volume of scrap is reduced (batch of one)</a:t>
            </a:r>
          </a:p>
          <a:p>
            <a:pPr lvl="1"/>
            <a:r>
              <a:rPr lang="en-US" dirty="0"/>
              <a:t>Eliminates the need for detailed costing</a:t>
            </a:r>
          </a:p>
          <a:p>
            <a:pPr lvl="1"/>
            <a:r>
              <a:rPr lang="en-US" dirty="0"/>
              <a:t>Scrap costed out at raw material stage or finished level of completion</a:t>
            </a:r>
          </a:p>
        </p:txBody>
      </p:sp>
    </p:spTree>
    <p:extLst>
      <p:ext uri="{BB962C8B-B14F-4D97-AF65-F5344CB8AC3E}">
        <p14:creationId xmlns:p14="http://schemas.microsoft.com/office/powerpoint/2010/main" val="11370725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Traditional Capital Justification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30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Problems with Traditional MAS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73282-7DAB-83FD-FFBF-CF7DBF68D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Traditional Capital budgeting methods:</a:t>
            </a:r>
          </a:p>
          <a:p>
            <a:pPr lvl="1"/>
            <a:r>
              <a:rPr lang="en-US" dirty="0"/>
              <a:t>Capital project should achieve a targeted payback</a:t>
            </a:r>
          </a:p>
          <a:p>
            <a:r>
              <a:rPr lang="en-US" dirty="0"/>
              <a:t>By viewing capital projects as ‘investments’ we ignore other critical factors:</a:t>
            </a:r>
          </a:p>
          <a:p>
            <a:pPr lvl="1"/>
            <a:r>
              <a:rPr lang="en-US" dirty="0"/>
              <a:t>Impact on customer service</a:t>
            </a:r>
          </a:p>
          <a:p>
            <a:pPr lvl="1"/>
            <a:r>
              <a:rPr lang="en-US" dirty="0"/>
              <a:t>Mixed model production</a:t>
            </a:r>
          </a:p>
          <a:p>
            <a:pPr lvl="1"/>
            <a:r>
              <a:rPr lang="en-US" dirty="0"/>
              <a:t>“3P” considerations</a:t>
            </a:r>
          </a:p>
          <a:p>
            <a:r>
              <a:rPr lang="en-US" dirty="0"/>
              <a:t>Focusing on payback encourages over-purchasing of machine capacity &amp; speed</a:t>
            </a:r>
          </a:p>
        </p:txBody>
      </p:sp>
    </p:spTree>
    <p:extLst>
      <p:ext uri="{BB962C8B-B14F-4D97-AF65-F5344CB8AC3E}">
        <p14:creationId xmlns:p14="http://schemas.microsoft.com/office/powerpoint/2010/main" val="25357902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11FF7-095F-D1A9-6784-C53D538A36F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31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77BA17-B180-9889-85DC-DBE8C080CFB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99911" y="1497012"/>
            <a:ext cx="9815689" cy="100965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800" dirty="0">
                <a:latin typeface="Roboto Medium"/>
                <a:ea typeface="Roboto Medium"/>
                <a:cs typeface="Roboto Medium"/>
              </a:rPr>
              <a:t>How Lean Impacts the Management Accounting Systems (MAS)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34846-F3D4-20E7-25C0-91FCF7736CB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22489" y="250666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Objectives:</a:t>
            </a:r>
          </a:p>
          <a:p>
            <a:r>
              <a:rPr lang="en-US" sz="2400" dirty="0"/>
              <a:t>Discuss impact of Lean on overhead costing structure</a:t>
            </a:r>
          </a:p>
          <a:p>
            <a:r>
              <a:rPr lang="en-US" sz="2400" dirty="0"/>
              <a:t>Discuss product costing in a Lean environment</a:t>
            </a:r>
          </a:p>
          <a:p>
            <a:r>
              <a:rPr lang="en-US" sz="2400" dirty="0"/>
              <a:t>Identify non-financial measures in a Lean environment</a:t>
            </a:r>
          </a:p>
          <a:p>
            <a:r>
              <a:rPr lang="en-US" sz="2400" dirty="0"/>
              <a:t>Identify questions accountants must ask</a:t>
            </a:r>
          </a:p>
          <a:p>
            <a:endParaRPr lang="en-US" sz="2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F07BA82-F1D2-01EE-36D7-0CE1E1021337}"/>
              </a:ext>
            </a:extLst>
          </p:cNvPr>
          <p:cNvGrpSpPr/>
          <p:nvPr/>
        </p:nvGrpSpPr>
        <p:grpSpPr>
          <a:xfrm>
            <a:off x="699911" y="837133"/>
            <a:ext cx="4425950" cy="659879"/>
            <a:chOff x="5627530" y="641179"/>
            <a:chExt cx="6564470" cy="804977"/>
          </a:xfrm>
        </p:grpSpPr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E658DE7F-EAE7-7BD9-8492-805CBFCFF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51136" y="641179"/>
              <a:ext cx="2340864" cy="804977"/>
            </a:xfrm>
            <a:prstGeom prst="homePlate">
              <a:avLst>
                <a:gd name="adj" fmla="val 29912"/>
              </a:avLst>
            </a:prstGeom>
            <a:solidFill>
              <a:srgbClr val="FFB627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00" dirty="0">
                  <a:latin typeface="Roboto" panose="02000000000000000000" pitchFamily="2" charset="0"/>
                  <a:ea typeface="Roboto" panose="02000000000000000000" pitchFamily="2" charset="0"/>
                </a:rPr>
                <a:t>Lean Impact on MAS</a:t>
              </a:r>
            </a:p>
          </p:txBody>
        </p:sp>
        <p:sp>
          <p:nvSpPr>
            <p:cNvPr id="8" name="AutoShape 10">
              <a:extLst>
                <a:ext uri="{FF2B5EF4-FFF2-40B4-BE49-F238E27FC236}">
                  <a16:creationId xmlns:a16="http://schemas.microsoft.com/office/drawing/2014/main" id="{3B341166-AC1F-8D30-9314-0FB3D9483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7856" y="641180"/>
              <a:ext cx="2342768" cy="804976"/>
            </a:xfrm>
            <a:prstGeom prst="homePlate">
              <a:avLst>
                <a:gd name="adj" fmla="val 29912"/>
              </a:avLst>
            </a:prstGeom>
            <a:solidFill>
              <a:srgbClr val="222222"/>
            </a:solidFill>
            <a:ln w="12700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Problems with Traditional MAS</a:t>
              </a:r>
            </a:p>
          </p:txBody>
        </p:sp>
        <p:sp>
          <p:nvSpPr>
            <p:cNvPr id="9" name="AutoShape 11">
              <a:extLst>
                <a:ext uri="{FF2B5EF4-FFF2-40B4-BE49-F238E27FC236}">
                  <a16:creationId xmlns:a16="http://schemas.microsoft.com/office/drawing/2014/main" id="{2AB16F46-B5FA-96F3-91C2-07B2F2F1CC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7530" y="641179"/>
              <a:ext cx="2340864" cy="804977"/>
            </a:xfrm>
            <a:prstGeom prst="homePlate">
              <a:avLst>
                <a:gd name="adj" fmla="val 29912"/>
              </a:avLst>
            </a:prstGeom>
            <a:solidFill>
              <a:srgbClr val="222222"/>
            </a:solidFill>
            <a:ln w="12700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Lean Fundamentals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4FB0DFD-2D15-952D-9825-996B08251FD4}"/>
              </a:ext>
            </a:extLst>
          </p:cNvPr>
          <p:cNvCxnSpPr/>
          <p:nvPr/>
        </p:nvCxnSpPr>
        <p:spPr>
          <a:xfrm>
            <a:off x="699911" y="2386919"/>
            <a:ext cx="388297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59227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Impact of Lean on Overhead Costing Structure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32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Impact on MAS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73282-7DAB-83FD-FFBF-CF7DBF68D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Organization refocuses its attention to the shop floor</a:t>
            </a:r>
          </a:p>
          <a:p>
            <a:r>
              <a:rPr lang="en-US" dirty="0"/>
              <a:t>Functional/ centralized groups are redeployed directly to Lean cells/ Teams</a:t>
            </a:r>
          </a:p>
          <a:p>
            <a:r>
              <a:rPr lang="en-US" dirty="0"/>
              <a:t>Examples include:</a:t>
            </a:r>
          </a:p>
          <a:p>
            <a:pPr lvl="1"/>
            <a:r>
              <a:rPr lang="en-US" dirty="0"/>
              <a:t>Purchasing</a:t>
            </a:r>
          </a:p>
          <a:p>
            <a:pPr lvl="1"/>
            <a:r>
              <a:rPr lang="en-US" dirty="0"/>
              <a:t>Production control</a:t>
            </a:r>
          </a:p>
          <a:p>
            <a:pPr lvl="1"/>
            <a:r>
              <a:rPr lang="en-US" dirty="0"/>
              <a:t>Manufacturing Engineering</a:t>
            </a:r>
          </a:p>
          <a:p>
            <a:pPr lvl="1"/>
            <a:r>
              <a:rPr lang="en-US" dirty="0"/>
              <a:t>Industrial Engineering</a:t>
            </a:r>
          </a:p>
          <a:p>
            <a:pPr lvl="1"/>
            <a:r>
              <a:rPr lang="en-US" dirty="0"/>
              <a:t>Quality Control</a:t>
            </a:r>
          </a:p>
          <a:p>
            <a:pPr lvl="1"/>
            <a:r>
              <a:rPr lang="en-US" dirty="0"/>
              <a:t>Tool Design</a:t>
            </a:r>
          </a:p>
          <a:p>
            <a:pPr lvl="1"/>
            <a:r>
              <a:rPr lang="en-US" dirty="0"/>
              <a:t>Cost Accounting</a:t>
            </a:r>
          </a:p>
        </p:txBody>
      </p:sp>
    </p:spTree>
    <p:extLst>
      <p:ext uri="{BB962C8B-B14F-4D97-AF65-F5344CB8AC3E}">
        <p14:creationId xmlns:p14="http://schemas.microsoft.com/office/powerpoint/2010/main" val="6896569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Lean Refocuses Attention to the Factory Floor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33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Impact on MAS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02466D9-8FBC-EFF6-BDC8-FB4C5F7B79CF}"/>
              </a:ext>
            </a:extLst>
          </p:cNvPr>
          <p:cNvGrpSpPr/>
          <p:nvPr/>
        </p:nvGrpSpPr>
        <p:grpSpPr>
          <a:xfrm>
            <a:off x="4456906" y="2039449"/>
            <a:ext cx="3278188" cy="3944938"/>
            <a:chOff x="3019425" y="1555750"/>
            <a:chExt cx="3278188" cy="3944938"/>
          </a:xfrm>
        </p:grpSpPr>
        <p:sp>
          <p:nvSpPr>
            <p:cNvPr id="4" name="AutoShape 5">
              <a:extLst>
                <a:ext uri="{FF2B5EF4-FFF2-40B4-BE49-F238E27FC236}">
                  <a16:creationId xmlns:a16="http://schemas.microsoft.com/office/drawing/2014/main" id="{34EB9CC1-1477-16CB-4DD4-517BFE9100E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10900">
              <a:off x="3019425" y="2192338"/>
              <a:ext cx="3278188" cy="2670175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D9B889CC-600D-A6B5-0327-ABF0F97B3C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0425" y="1555750"/>
              <a:ext cx="2292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 b="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 </a:t>
              </a:r>
              <a:r>
                <a:rPr lang="en-US" altLang="en-US" sz="18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Shop Floor</a:t>
              </a:r>
            </a:p>
          </p:txBody>
        </p:sp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265BD104-D020-E56A-06A8-3DFB656D4B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5888" y="5043488"/>
              <a:ext cx="1447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4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 </a:t>
              </a: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President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63251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Impact of Lean on Overhead Costing Structure (</a:t>
            </a:r>
            <a:r>
              <a:rPr lang="en-US" sz="3200" dirty="0" err="1"/>
              <a:t>Con’t</a:t>
            </a:r>
            <a:r>
              <a:rPr lang="en-US" sz="3200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34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Impact on MAS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73282-7DAB-83FD-FFBF-CF7DBF68D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Lean Teams take on the form of a factory within a factory</a:t>
            </a:r>
          </a:p>
          <a:p>
            <a:r>
              <a:rPr lang="en-US" dirty="0"/>
              <a:t>Redeployment provides</a:t>
            </a:r>
          </a:p>
          <a:p>
            <a:pPr lvl="1"/>
            <a:r>
              <a:rPr lang="en-US" dirty="0"/>
              <a:t>Greater focus on issues/ opportunities</a:t>
            </a:r>
          </a:p>
          <a:p>
            <a:pPr lvl="1"/>
            <a:r>
              <a:rPr lang="en-US" dirty="0"/>
              <a:t>Opportunity to control one’s destiny</a:t>
            </a:r>
          </a:p>
          <a:p>
            <a:pPr lvl="1"/>
            <a:r>
              <a:rPr lang="en-US" dirty="0"/>
              <a:t>Enhanced level of control over a wider span of operations</a:t>
            </a:r>
          </a:p>
          <a:p>
            <a:pPr lvl="1"/>
            <a:r>
              <a:rPr lang="en-US" dirty="0"/>
              <a:t>Greater sense of ownership</a:t>
            </a:r>
          </a:p>
          <a:p>
            <a:pPr lvl="1"/>
            <a:r>
              <a:rPr lang="en-US" dirty="0"/>
              <a:t>Problem detection and resolution is immediate</a:t>
            </a:r>
          </a:p>
        </p:txBody>
      </p:sp>
    </p:spTree>
    <p:extLst>
      <p:ext uri="{BB962C8B-B14F-4D97-AF65-F5344CB8AC3E}">
        <p14:creationId xmlns:p14="http://schemas.microsoft.com/office/powerpoint/2010/main" val="3047943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Impact of Lean on Overhead Costing Structure (</a:t>
            </a:r>
            <a:r>
              <a:rPr lang="en-US" sz="3200" dirty="0" err="1"/>
              <a:t>Con’t</a:t>
            </a:r>
            <a:r>
              <a:rPr lang="en-US" sz="3200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35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Impact on MAS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73282-7DAB-83FD-FFBF-CF7DBF68D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Accounting implications</a:t>
            </a:r>
          </a:p>
          <a:p>
            <a:pPr lvl="1"/>
            <a:r>
              <a:rPr lang="en-US" dirty="0"/>
              <a:t>Overhead costs are now associated with a Lean cell</a:t>
            </a:r>
          </a:p>
          <a:p>
            <a:pPr lvl="1"/>
            <a:r>
              <a:rPr lang="en-US" dirty="0"/>
              <a:t>Arbitrary allocations of overhead costs is no longer required</a:t>
            </a:r>
          </a:p>
          <a:p>
            <a:pPr lvl="1"/>
            <a:r>
              <a:rPr lang="en-US" dirty="0"/>
              <a:t>More accurate costs</a:t>
            </a:r>
          </a:p>
          <a:p>
            <a:r>
              <a:rPr lang="en-US" dirty="0"/>
              <a:t>Overhead costs can be better traced to particular products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7980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Impact of Lean on Overhead Costing Structure (</a:t>
            </a:r>
            <a:r>
              <a:rPr lang="en-US" sz="3200" dirty="0" err="1"/>
              <a:t>Con’t</a:t>
            </a:r>
            <a:r>
              <a:rPr lang="en-US" sz="3200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36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Impact on MAS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73282-7DAB-83FD-FFBF-CF7DBF68D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cost collection purposes</a:t>
            </a:r>
          </a:p>
          <a:p>
            <a:r>
              <a:rPr lang="en-US" dirty="0"/>
              <a:t>Each Lean cell is set up as a cost department in the accounting system</a:t>
            </a:r>
          </a:p>
          <a:p>
            <a:r>
              <a:rPr lang="en-US" dirty="0"/>
              <a:t>As more cells are added, so are cost departments</a:t>
            </a:r>
          </a:p>
          <a:p>
            <a:r>
              <a:rPr lang="en-US" dirty="0"/>
              <a:t>Each Lean cell prepares ‘Bottom-Up” budgets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0003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Product Costing in a Lean Environment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37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Impact on MAS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73282-7DAB-83FD-FFBF-CF7DBF68D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product costing purposes, overhead is classified into two cost pools:</a:t>
            </a:r>
          </a:p>
        </p:txBody>
      </p:sp>
      <p:graphicFrame>
        <p:nvGraphicFramePr>
          <p:cNvPr id="4" name="Group 69">
            <a:extLst>
              <a:ext uri="{FF2B5EF4-FFF2-40B4-BE49-F238E27FC236}">
                <a16:creationId xmlns:a16="http://schemas.microsoft.com/office/drawing/2014/main" id="{156BDF51-DC21-EB83-BC57-559561BE2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644454"/>
              </p:ext>
            </p:extLst>
          </p:nvPr>
        </p:nvGraphicFramePr>
        <p:xfrm>
          <a:off x="617220" y="2720909"/>
          <a:ext cx="10957560" cy="3343081"/>
        </p:xfrm>
        <a:graphic>
          <a:graphicData uri="http://schemas.openxmlformats.org/drawingml/2006/table">
            <a:tbl>
              <a:tblPr/>
              <a:tblGrid>
                <a:gridCol w="5479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71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Cell Costs</a:t>
                      </a:r>
                    </a:p>
                  </a:txBody>
                  <a:tcPr marT="45987" marB="459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Support Costs</a:t>
                      </a:r>
                    </a:p>
                  </a:txBody>
                  <a:tcPr marT="45987" marB="459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4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Those costs that can be traced directly to a cell</a:t>
                      </a:r>
                    </a:p>
                  </a:txBody>
                  <a:tcPr marT="45987" marB="459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Those costs that are not directly traceable to a Lean cell. These need to be allocated to particular cells. </a:t>
                      </a:r>
                    </a:p>
                  </a:txBody>
                  <a:tcPr marT="45987" marB="459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5854">
                <a:tc>
                  <a:txBody>
                    <a:bodyPr/>
                    <a:lstStyle/>
                    <a:p>
                      <a:pPr marL="231775" marR="0" lvl="0" indent="-23177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Includes:</a:t>
                      </a:r>
                    </a:p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tx1"/>
                        </a:buClr>
                        <a:buSzPct val="9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Cell Management salaries</a:t>
                      </a:r>
                    </a:p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tx1"/>
                        </a:buClr>
                        <a:buSzPct val="9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Labor Costs</a:t>
                      </a:r>
                    </a:p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tx1"/>
                        </a:buClr>
                        <a:buSzPct val="9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Tooling </a:t>
                      </a:r>
                    </a:p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tx1"/>
                        </a:buClr>
                        <a:buSzPct val="9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Machine Depreciation</a:t>
                      </a:r>
                    </a:p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tx1"/>
                        </a:buClr>
                        <a:buSzPct val="9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Supplies</a:t>
                      </a:r>
                    </a:p>
                  </a:txBody>
                  <a:tcPr marT="45987" marB="459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Includes:</a:t>
                      </a:r>
                    </a:p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tx1"/>
                        </a:buClr>
                        <a:buSzPct val="9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Centralized support costs</a:t>
                      </a:r>
                    </a:p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tx1"/>
                        </a:buClr>
                        <a:buSzPct val="9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Heat treating</a:t>
                      </a:r>
                    </a:p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tx1"/>
                        </a:buClr>
                        <a:buSzPct val="9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General maintenance</a:t>
                      </a:r>
                    </a:p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tx1"/>
                        </a:buClr>
                        <a:buSzPct val="9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Plant depreciation</a:t>
                      </a:r>
                    </a:p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tx1"/>
                        </a:buClr>
                        <a:buSzPct val="9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Taxes/insurance</a:t>
                      </a:r>
                    </a:p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tx1"/>
                        </a:buClr>
                        <a:buSzPct val="9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Centralized manufacturing management</a:t>
                      </a:r>
                    </a:p>
                  </a:txBody>
                  <a:tcPr marT="45987" marB="459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Note that both fixed and variable costs are included here</a:t>
                      </a:r>
                    </a:p>
                  </a:txBody>
                  <a:tcPr marT="45987" marB="459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charset="0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45987" marB="459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61273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Overhead Cost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38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Impact on MAS</a:t>
              </a:r>
            </a:p>
          </p:txBody>
        </p:sp>
      </p:grpSp>
      <p:pic>
        <p:nvPicPr>
          <p:cNvPr id="6" name="Picture 6" descr="Overhead Cost Analysis">
            <a:extLst>
              <a:ext uri="{FF2B5EF4-FFF2-40B4-BE49-F238E27FC236}">
                <a16:creationId xmlns:a16="http://schemas.microsoft.com/office/drawing/2014/main" id="{B2EEEE02-1430-CA4C-E4C1-EBB173D860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565" y="1908810"/>
            <a:ext cx="9402870" cy="4268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54519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Product Costing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39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Impact on MAS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73282-7DAB-83FD-FFBF-CF7DBF68D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45071"/>
            <a:ext cx="10515600" cy="2031892"/>
          </a:xfrm>
        </p:spPr>
        <p:txBody>
          <a:bodyPr>
            <a:normAutofit/>
          </a:bodyPr>
          <a:lstStyle/>
          <a:p>
            <a:r>
              <a:rPr lang="en-US" dirty="0"/>
              <a:t>Support costs are allocated to each cell </a:t>
            </a:r>
          </a:p>
          <a:p>
            <a:r>
              <a:rPr lang="en-US" dirty="0"/>
              <a:t>Although allocations are required, costs are easier to assign because of cell layout</a:t>
            </a:r>
          </a:p>
          <a:p>
            <a:r>
              <a:rPr lang="en-US" dirty="0"/>
              <a:t>There is a direct cause/effect relationship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75BAD968-0A02-8221-5570-C92668AB34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35" b="49547"/>
          <a:stretch/>
        </p:blipFill>
        <p:spPr>
          <a:xfrm>
            <a:off x="2790984" y="1743844"/>
            <a:ext cx="6610032" cy="2245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8002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Product Costing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40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Impact on MAS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73282-7DAB-83FD-FFBF-CF7DBF68D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Parts produced in a cell may not be homogeneous in terms of resources required</a:t>
            </a:r>
          </a:p>
          <a:p>
            <a:r>
              <a:rPr lang="en-US" dirty="0"/>
              <a:t>Parts should be grouped into categories</a:t>
            </a:r>
          </a:p>
          <a:p>
            <a:r>
              <a:rPr lang="en-US" dirty="0"/>
              <a:t>Assign equivalent unit factors to these parts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227CBA2A-3E97-F85B-9909-EDD74D411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2" r="16310" b="37454"/>
          <a:stretch>
            <a:fillRect/>
          </a:stretch>
        </p:blipFill>
        <p:spPr>
          <a:xfrm>
            <a:off x="2419350" y="3727450"/>
            <a:ext cx="7353300" cy="269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28781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Product Costing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41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Impact on MAS</a:t>
              </a:r>
            </a:p>
          </p:txBody>
        </p:sp>
      </p:grpSp>
      <p:pic>
        <p:nvPicPr>
          <p:cNvPr id="6" name="Content Placeholder 5" descr="Cycle Time">
            <a:extLst>
              <a:ext uri="{FF2B5EF4-FFF2-40B4-BE49-F238E27FC236}">
                <a16:creationId xmlns:a16="http://schemas.microsoft.com/office/drawing/2014/main" id="{3AFA7BED-FE68-B018-F4AB-08B1F97FA9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7005" y="1840346"/>
            <a:ext cx="6777989" cy="4343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53708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Non-Financial Measures in a Lean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83347-F741-264E-7C36-00DE92F014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Units produced per man hour</a:t>
            </a:r>
          </a:p>
          <a:p>
            <a:pPr lvl="1"/>
            <a:r>
              <a:rPr lang="en-US" dirty="0"/>
              <a:t>World class - 2% improvement/ month</a:t>
            </a:r>
          </a:p>
          <a:p>
            <a:r>
              <a:rPr lang="en-US" dirty="0"/>
              <a:t>Customer service trends</a:t>
            </a:r>
          </a:p>
          <a:p>
            <a:pPr lvl="1"/>
            <a:r>
              <a:rPr lang="en-US" dirty="0"/>
              <a:t>Percent past due/fill rate</a:t>
            </a:r>
          </a:p>
          <a:p>
            <a:r>
              <a:rPr lang="en-US" dirty="0"/>
              <a:t>Days inventory on hand</a:t>
            </a:r>
          </a:p>
          <a:p>
            <a:r>
              <a:rPr lang="en-US" dirty="0"/>
              <a:t>Quality rejects			 </a:t>
            </a:r>
          </a:p>
          <a:p>
            <a:pPr lvl="1"/>
            <a:r>
              <a:rPr lang="en-US" dirty="0"/>
              <a:t>Pareto analysis</a:t>
            </a:r>
          </a:p>
          <a:p>
            <a:r>
              <a:rPr lang="en-US" dirty="0"/>
              <a:t>Employee suggestions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Daily production status</a:t>
            </a:r>
          </a:p>
          <a:p>
            <a:r>
              <a:rPr lang="en-US" dirty="0"/>
              <a:t>Purchasing measurements</a:t>
            </a:r>
          </a:p>
          <a:p>
            <a:r>
              <a:rPr lang="en-US" dirty="0"/>
              <a:t>Supplier performance</a:t>
            </a:r>
          </a:p>
          <a:p>
            <a:r>
              <a:rPr lang="en-US" dirty="0"/>
              <a:t>Scrap units/ dollars</a:t>
            </a:r>
          </a:p>
          <a:p>
            <a:r>
              <a:rPr lang="en-US" dirty="0"/>
              <a:t>Kaizen results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42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6B8137A-2622-2320-9C28-D1A60739D337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E90D028-6AF2-A713-6CB6-5986F56F4E1A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1311007D-EB2E-BD6F-B9C4-7EE8700D92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AutoShape 11">
                <a:extLst>
                  <a:ext uri="{FF2B5EF4-FFF2-40B4-BE49-F238E27FC236}">
                    <a16:creationId xmlns:a16="http://schemas.microsoft.com/office/drawing/2014/main" id="{A89580A3-D490-A697-5B2D-5B214FD36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AutoShape 10">
                <a:extLst>
                  <a:ext uri="{FF2B5EF4-FFF2-40B4-BE49-F238E27FC236}">
                    <a16:creationId xmlns:a16="http://schemas.microsoft.com/office/drawing/2014/main" id="{50B129B4-E8C8-B60F-8476-760A240574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89577B7-3CCE-FBB6-5377-AAA0CA9643D6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Impact on MAS</a:t>
              </a:r>
            </a:p>
          </p:txBody>
        </p:sp>
      </p:grpSp>
      <p:pic>
        <p:nvPicPr>
          <p:cNvPr id="12" name="Picture 5" descr="bs01606_">
            <a:extLst>
              <a:ext uri="{FF2B5EF4-FFF2-40B4-BE49-F238E27FC236}">
                <a16:creationId xmlns:a16="http://schemas.microsoft.com/office/drawing/2014/main" id="{2D017425-EC69-D0E4-D4D7-6B1214E95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45343"/>
            <a:ext cx="13716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2813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Things to Keep in Mind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43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Impact on MAS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16EFD-2C5A-0868-AE11-8ABF72C6C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Changes to the Management Accounting System (MAS) do not </a:t>
            </a:r>
            <a:br>
              <a:rPr lang="en-US" dirty="0"/>
            </a:br>
            <a:r>
              <a:rPr lang="en-US" dirty="0"/>
              <a:t>happen overnight!</a:t>
            </a:r>
          </a:p>
          <a:p>
            <a:r>
              <a:rPr lang="en-US" dirty="0"/>
              <a:t>As the organization changes, the MAS should reflect and compliment the new organizational structure</a:t>
            </a:r>
          </a:p>
          <a:p>
            <a:r>
              <a:rPr lang="en-US" dirty="0"/>
              <a:t>As Lean is implemented, changes to the MAS will evolve in a common sense manner to fit the needs of your company</a:t>
            </a:r>
          </a:p>
          <a:p>
            <a:r>
              <a:rPr lang="en-US" dirty="0"/>
              <a:t>Changes to the MAS should follow, not lead Lean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7656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Transition Period Lean Conversion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44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Impact on MAS</a:t>
              </a:r>
            </a:p>
          </p:txBody>
        </p:sp>
      </p:grpSp>
      <p:pic>
        <p:nvPicPr>
          <p:cNvPr id="4" name="Picture 5" descr="Transition Period Lean Conversion">
            <a:extLst>
              <a:ext uri="{FF2B5EF4-FFF2-40B4-BE49-F238E27FC236}">
                <a16:creationId xmlns:a16="http://schemas.microsoft.com/office/drawing/2014/main" id="{FDCCDF32-DD2F-60DE-C5E9-AF99699A60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16" y="1885950"/>
            <a:ext cx="8000968" cy="4325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13504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Accountants Must Ask the Following Questions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45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Impact on MAS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B98CD-0482-7479-4283-C7BD57FD4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uses the information provided?</a:t>
            </a:r>
          </a:p>
          <a:p>
            <a:r>
              <a:rPr lang="en-US" dirty="0"/>
              <a:t>Why is this data required?</a:t>
            </a:r>
          </a:p>
          <a:p>
            <a:r>
              <a:rPr lang="en-US" dirty="0"/>
              <a:t>What would happen if this information is no longer provided?</a:t>
            </a:r>
          </a:p>
          <a:p>
            <a:r>
              <a:rPr lang="en-US" dirty="0"/>
              <a:t>Is the data being imposed, or is someone asking for it?</a:t>
            </a:r>
          </a:p>
          <a:p>
            <a:r>
              <a:rPr lang="en-US" dirty="0"/>
              <a:t>Are decisions being made from the information?</a:t>
            </a:r>
          </a:p>
          <a:p>
            <a:r>
              <a:rPr lang="en-US" dirty="0"/>
              <a:t>Does the info support company goals?</a:t>
            </a:r>
          </a:p>
          <a:p>
            <a:r>
              <a:rPr lang="en-US" dirty="0"/>
              <a:t>Are we collecting information that tells us something we already know?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2146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Accountants Must Ask the Following Questions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46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Impact on MAS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B98CD-0482-7479-4283-C7BD57FD4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there other measures that will better aid the manufacturing group to monitor performance? </a:t>
            </a:r>
          </a:p>
          <a:p>
            <a:pPr lvl="1"/>
            <a:r>
              <a:rPr lang="en-US" dirty="0"/>
              <a:t>(Including non-financial measures)</a:t>
            </a:r>
          </a:p>
          <a:p>
            <a:r>
              <a:rPr lang="en-US" dirty="0"/>
              <a:t>Do the measures reflect continuous improvement trends?</a:t>
            </a:r>
          </a:p>
          <a:p>
            <a:r>
              <a:rPr lang="en-US" dirty="0"/>
              <a:t>Is the information timely?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C76FC879-5B5A-1300-A328-C2B8DAA88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797" y="4698524"/>
            <a:ext cx="8838406" cy="58477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3200" dirty="0">
                <a:latin typeface="Roboto" panose="02000000000000000000" pitchFamily="2" charset="0"/>
                <a:ea typeface="Roboto" panose="02000000000000000000" pitchFamily="2" charset="0"/>
              </a:rPr>
              <a:t>WHO IS YOUR CUSTOMER?</a:t>
            </a:r>
          </a:p>
        </p:txBody>
      </p:sp>
    </p:spTree>
    <p:extLst>
      <p:ext uri="{BB962C8B-B14F-4D97-AF65-F5344CB8AC3E}">
        <p14:creationId xmlns:p14="http://schemas.microsoft.com/office/powerpoint/2010/main" val="130512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Accountants Must Ask the Following Questions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47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Impact on MAS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B98CD-0482-7479-4283-C7BD57FD4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financial implications to a Lean implementation</a:t>
            </a:r>
          </a:p>
          <a:p>
            <a:r>
              <a:rPr lang="en-US" dirty="0"/>
              <a:t>As inventory is reduced, unfavorable absorption variances will impact the bottom line</a:t>
            </a:r>
          </a:p>
          <a:p>
            <a:r>
              <a:rPr lang="en-US" dirty="0"/>
              <a:t>Additional Lean implementation costs will also impact financial performance</a:t>
            </a:r>
          </a:p>
          <a:p>
            <a:pPr lvl="1"/>
            <a:r>
              <a:rPr lang="en-US" dirty="0"/>
              <a:t>Lean training</a:t>
            </a:r>
          </a:p>
          <a:p>
            <a:pPr lvl="1"/>
            <a:r>
              <a:rPr lang="en-US" dirty="0"/>
              <a:t>Plant clean-up</a:t>
            </a:r>
          </a:p>
          <a:p>
            <a:pPr lvl="1"/>
            <a:r>
              <a:rPr lang="en-US" dirty="0"/>
              <a:t>Plant rearrangement</a:t>
            </a:r>
          </a:p>
          <a:p>
            <a:pPr lvl="1"/>
            <a:r>
              <a:rPr lang="en-US" dirty="0"/>
              <a:t>Write-off of “discovered” obsolete inventory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9791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Summary Thoughts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48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BA013B-2960-5655-B2B6-111301B49D7A}"/>
              </a:ext>
            </a:extLst>
          </p:cNvPr>
          <p:cNvGrpSpPr/>
          <p:nvPr/>
        </p:nvGrpSpPr>
        <p:grpSpPr>
          <a:xfrm>
            <a:off x="838200" y="297639"/>
            <a:ext cx="4511040" cy="315930"/>
            <a:chOff x="838200" y="297639"/>
            <a:chExt cx="4511040" cy="3159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B034DB-6FAA-9724-9DD7-D4684B144B2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9BD36AC2-B3E7-6631-42A4-910BD2A14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4E5570DE-A3F6-9CEF-7288-6B406968D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3A5F61BA-FC9E-101E-9DEA-5D3392CAF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016B7-867A-696F-78ED-34E3062E22C0}"/>
                </a:ext>
              </a:extLst>
            </p:cNvPr>
            <p:cNvSpPr txBox="1"/>
            <p:nvPr/>
          </p:nvSpPr>
          <p:spPr>
            <a:xfrm>
              <a:off x="1994872" y="322207"/>
              <a:ext cx="335436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Lean Impact on MAS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B98CD-0482-7479-4283-C7BD57FD4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educated in Lean -  hands-on approach</a:t>
            </a:r>
          </a:p>
          <a:p>
            <a:r>
              <a:rPr lang="en-US" dirty="0"/>
              <a:t>Be a business person, not a scorekeeper</a:t>
            </a:r>
          </a:p>
          <a:p>
            <a:r>
              <a:rPr lang="en-US" dirty="0"/>
              <a:t>Kaizen the financial process so you’ll have more time to focus </a:t>
            </a:r>
            <a:br>
              <a:rPr lang="en-US" dirty="0"/>
            </a:br>
            <a:r>
              <a:rPr lang="en-US" dirty="0"/>
              <a:t>on the business</a:t>
            </a:r>
          </a:p>
          <a:p>
            <a:r>
              <a:rPr lang="en-US" dirty="0"/>
              <a:t>Identify your customers and understand their needs</a:t>
            </a:r>
          </a:p>
          <a:p>
            <a:r>
              <a:rPr lang="en-US" dirty="0"/>
              <a:t>Keep it simple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9959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01234-A0AA-5598-26B5-033CE6FE23E5}"/>
              </a:ext>
            </a:extLst>
          </p:cNvPr>
          <p:cNvSpPr txBox="1">
            <a:spLocks/>
          </p:cNvSpPr>
          <p:nvPr/>
        </p:nvSpPr>
        <p:spPr>
          <a:xfrm>
            <a:off x="606705" y="793843"/>
            <a:ext cx="10515600" cy="1022351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Roboto Medium"/>
                <a:cs typeface="Roboto"/>
              </a:rPr>
              <a:t>Other</a:t>
            </a:r>
            <a:r>
              <a:rPr lang="en-US" dirty="0">
                <a:solidFill>
                  <a:schemeClr val="tx1"/>
                </a:solidFill>
                <a:latin typeface="Roboto Medium"/>
                <a:cs typeface="Roboto Medium"/>
              </a:rPr>
              <a:t> Modules In This Series: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F3825E-B951-729D-1675-8A890DAAC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17" y="1638489"/>
            <a:ext cx="3939240" cy="4571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14E55-E875-9B78-1E43-35D121FD9751}"/>
              </a:ext>
            </a:extLst>
          </p:cNvPr>
          <p:cNvSpPr txBox="1">
            <a:spLocks/>
          </p:cNvSpPr>
          <p:nvPr/>
        </p:nvSpPr>
        <p:spPr>
          <a:xfrm>
            <a:off x="5839258" y="1166648"/>
            <a:ext cx="5157787" cy="3684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5S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Standard Work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Total Productive Maintenance (TPM)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Administrative Lean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Cell Design/ Production Preparation Process (3P)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Kaizen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Kanban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Problem Solving</a:t>
            </a:r>
          </a:p>
          <a:p>
            <a:pPr marL="0" indent="0" algn="r">
              <a:buNone/>
            </a:pPr>
            <a:r>
              <a:rPr lang="en-US" sz="1400" dirty="0" err="1">
                <a:solidFill>
                  <a:schemeClr val="tx1"/>
                </a:solidFill>
              </a:rPr>
              <a:t>Poka</a:t>
            </a:r>
            <a:r>
              <a:rPr lang="en-US" sz="1400" dirty="0">
                <a:solidFill>
                  <a:schemeClr val="tx1"/>
                </a:solidFill>
              </a:rPr>
              <a:t> Yoke Quality Systems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Transaction Process Improvement (TPI)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Cause &amp; Effect Diagram with the Additions of Cards (CEDAC)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Single Minute Exchange of Dies (SMED)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Value Stream Mapping (</a:t>
            </a:r>
            <a:r>
              <a:rPr lang="en-US" sz="1400" dirty="0" err="1">
                <a:solidFill>
                  <a:schemeClr val="tx1"/>
                </a:solidFill>
              </a:rPr>
              <a:t>VSMi</a:t>
            </a:r>
            <a:r>
              <a:rPr lang="en-US" sz="1400" dirty="0">
                <a:solidFill>
                  <a:schemeClr val="tx1"/>
                </a:solidFill>
              </a:rPr>
              <a:t>®)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Visual Management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Managing Daily Process Excellence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F73560-3A07-DDBC-A93D-9C2969C3C8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142" y="2039270"/>
            <a:ext cx="2945426" cy="1754165"/>
          </a:xfrm>
          <a:prstGeom prst="rect">
            <a:avLst/>
          </a:prstGeom>
        </p:spPr>
      </p:pic>
      <p:sp>
        <p:nvSpPr>
          <p:cNvPr id="13" name="Steve Jones">
            <a:extLst>
              <a:ext uri="{FF2B5EF4-FFF2-40B4-BE49-F238E27FC236}">
                <a16:creationId xmlns:a16="http://schemas.microsoft.com/office/drawing/2014/main" id="{32D7D26D-2286-A78A-74DF-8555FD64C346}"/>
              </a:ext>
            </a:extLst>
          </p:cNvPr>
          <p:cNvSpPr/>
          <p:nvPr/>
        </p:nvSpPr>
        <p:spPr>
          <a:xfrm>
            <a:off x="1069695" y="4201690"/>
            <a:ext cx="3475310" cy="199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defTabSz="1155700">
              <a:lnSpc>
                <a:spcPct val="80000"/>
              </a:lnSpc>
              <a:defRPr sz="3000" b="1">
                <a:solidFill>
                  <a:srgbClr val="FFFFFF"/>
                </a:solidFill>
              </a:defRPr>
            </a:lvl1pPr>
          </a:lstStyle>
          <a:p>
            <a:r>
              <a:rPr lang="en-US" sz="1600" dirty="0">
                <a:solidFill>
                  <a:srgbClr val="EE322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More Information Please Contact:</a:t>
            </a:r>
          </a:p>
        </p:txBody>
      </p:sp>
      <p:sp>
        <p:nvSpPr>
          <p:cNvPr id="14" name="Head of Management Dept.">
            <a:extLst>
              <a:ext uri="{FF2B5EF4-FFF2-40B4-BE49-F238E27FC236}">
                <a16:creationId xmlns:a16="http://schemas.microsoft.com/office/drawing/2014/main" id="{13AAF857-F867-C38A-47E8-4FCE37EF32C8}"/>
              </a:ext>
            </a:extLst>
          </p:cNvPr>
          <p:cNvSpPr/>
          <p:nvPr/>
        </p:nvSpPr>
        <p:spPr>
          <a:xfrm>
            <a:off x="1367375" y="4590893"/>
            <a:ext cx="2879948" cy="83817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defTabSz="1155700">
              <a:defRPr sz="3000">
                <a:solidFill>
                  <a:srgbClr val="5D616E"/>
                </a:solidFill>
              </a:defRPr>
            </a:lvl1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 DeLuzio, President and CEO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+1.860.234.0915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mark.deluzio@leanhorizons.com</a:t>
            </a:r>
            <a:endParaRPr sz="1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29F7AC-495A-4FB8-042F-1DBECD3DB7C9}"/>
              </a:ext>
            </a:extLst>
          </p:cNvPr>
          <p:cNvSpPr txBox="1"/>
          <p:nvPr/>
        </p:nvSpPr>
        <p:spPr>
          <a:xfrm>
            <a:off x="6291" y="5619244"/>
            <a:ext cx="5602115" cy="2664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Strategically Creating Value Through the Elimination of Waste</a:t>
            </a:r>
            <a:endParaRPr lang="en-US" alt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71C8E8F-D781-AA13-E1D1-E5284A2427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0703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4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E3228"/>
      </a:accent1>
      <a:accent2>
        <a:srgbClr val="FDCA40"/>
      </a:accent2>
      <a:accent3>
        <a:srgbClr val="939598"/>
      </a:accent3>
      <a:accent4>
        <a:srgbClr val="76939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14084</TotalTime>
  <Words>2345</Words>
  <Application>Microsoft Office PowerPoint</Application>
  <PresentationFormat>Widescreen</PresentationFormat>
  <Paragraphs>453</Paragraphs>
  <Slides>49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ＭＳ Ｐゴシック</vt:lpstr>
      <vt:lpstr>Arial</vt:lpstr>
      <vt:lpstr>Calibri</vt:lpstr>
      <vt:lpstr>Roboto</vt:lpstr>
      <vt:lpstr>Roboto Medium</vt:lpstr>
      <vt:lpstr>Wingdings</vt:lpstr>
      <vt:lpstr>Office Theme</vt:lpstr>
      <vt:lpstr>PowerPoint Presentation</vt:lpstr>
      <vt:lpstr>PowerPoint Presentation</vt:lpstr>
      <vt:lpstr>PowerPoint Presentation</vt:lpstr>
      <vt:lpstr>Ground Rules for Event</vt:lpstr>
      <vt:lpstr>Goal of the Introduction to Lean Experience</vt:lpstr>
      <vt:lpstr>Why do accountants need to understand Lean?</vt:lpstr>
      <vt:lpstr>Lean Fundamentals</vt:lpstr>
      <vt:lpstr>What Is Lean?</vt:lpstr>
      <vt:lpstr>What is “Lean?”</vt:lpstr>
      <vt:lpstr>PowerPoint Presentation</vt:lpstr>
      <vt:lpstr>From Batch to 1-Piece Flow</vt:lpstr>
      <vt:lpstr>Lean Cell Layout</vt:lpstr>
      <vt:lpstr>Cellular Production</vt:lpstr>
      <vt:lpstr>The Tools of Lean are Intertwined</vt:lpstr>
      <vt:lpstr>Common Excuses Cause Failure</vt:lpstr>
      <vt:lpstr>Key take-away</vt:lpstr>
      <vt:lpstr>Problems with Traditional Management Accounting Systems (MAS)</vt:lpstr>
      <vt:lpstr>Traditional Accounting Systems</vt:lpstr>
      <vt:lpstr>Traditional Accounting Systems</vt:lpstr>
      <vt:lpstr>Traditional Accounting Systems</vt:lpstr>
      <vt:lpstr>Standard Costs</vt:lpstr>
      <vt:lpstr>The Problems With Using Standard Cost Variance Analysis</vt:lpstr>
      <vt:lpstr>Purchase Price Variance Analysis</vt:lpstr>
      <vt:lpstr>Purchase Price Variance Analysis</vt:lpstr>
      <vt:lpstr>Flexible Budgeting Variance Analysis</vt:lpstr>
      <vt:lpstr>Variance Analysis Does Not Support Kaizen Philosophy</vt:lpstr>
      <vt:lpstr>When are Standards Useful?</vt:lpstr>
      <vt:lpstr>Traditional Labor Accounting</vt:lpstr>
      <vt:lpstr>Traditional Scrap Reporting</vt:lpstr>
      <vt:lpstr>Traditional Capital Justification</vt:lpstr>
      <vt:lpstr>How Lean Impacts the Management Accounting Systems (MAS)</vt:lpstr>
      <vt:lpstr>Impact of Lean on Overhead Costing Structure</vt:lpstr>
      <vt:lpstr>Lean Refocuses Attention to the Factory Floor</vt:lpstr>
      <vt:lpstr>Impact of Lean on Overhead Costing Structure (Con’t)</vt:lpstr>
      <vt:lpstr>Impact of Lean on Overhead Costing Structure (Con’t)</vt:lpstr>
      <vt:lpstr>Impact of Lean on Overhead Costing Structure (Con’t)</vt:lpstr>
      <vt:lpstr>Product Costing in a Lean Environment</vt:lpstr>
      <vt:lpstr>Overhead Cost Analysis</vt:lpstr>
      <vt:lpstr>Product Costing Example</vt:lpstr>
      <vt:lpstr>Product Costing Example</vt:lpstr>
      <vt:lpstr>Product Costing Example</vt:lpstr>
      <vt:lpstr>Non-Financial Measures in a Lean Environment</vt:lpstr>
      <vt:lpstr>Things to Keep in Mind</vt:lpstr>
      <vt:lpstr>Transition Period Lean Conversion</vt:lpstr>
      <vt:lpstr>Accountants Must Ask the Following Questions</vt:lpstr>
      <vt:lpstr>Accountants Must Ask the Following Questions</vt:lpstr>
      <vt:lpstr>Accountants Must Ask the Following Questions</vt:lpstr>
      <vt:lpstr>Summary Thoughts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Justin Santiago</dc:creator>
  <cp:lastModifiedBy>Scott DeLuzio</cp:lastModifiedBy>
  <cp:revision>374</cp:revision>
  <dcterms:created xsi:type="dcterms:W3CDTF">2023-02-08T22:10:20Z</dcterms:created>
  <dcterms:modified xsi:type="dcterms:W3CDTF">2026-03-27T19:08:09Z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86633FB1-B17D-4474-8E76-C8EB82C70B2A</vt:lpwstr>
  </property>
  <property fmtid="{D5CDD505-2E9C-101B-9397-08002B2CF9AE}" pid="3" name="ArticulatePath">
    <vt:lpwstr>LEAN ACCOUNTING PRESENTATION ENG REV3.0</vt:lpwstr>
  </property>
</Properties>
</file>