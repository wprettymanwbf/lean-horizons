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sldIdLst>
    <p:sldId id="258" r:id="rId2"/>
    <p:sldId id="283" r:id="rId3"/>
    <p:sldId id="284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849" autoAdjust="0"/>
  </p:normalViewPr>
  <p:slideViewPr>
    <p:cSldViewPr snapToGrid="0">
      <p:cViewPr varScale="1">
        <p:scale>
          <a:sx n="67" d="100"/>
          <a:sy n="67" d="100"/>
        </p:scale>
        <p:origin x="129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0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42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45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DO:</a:t>
            </a:r>
            <a:r>
              <a:rPr lang="en-US" altLang="en-US" dirty="0">
                <a:latin typeface="Arial" panose="020B0604020202020204" pitchFamily="34" charset="0"/>
              </a:rPr>
              <a:t> Review section objectives on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09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57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40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0" dirty="0">
                <a:latin typeface="Times New Roman" panose="02020603050405020304" pitchFamily="18" charset="0"/>
              </a:rPr>
              <a:t>For those of you who have read </a:t>
            </a:r>
            <a:r>
              <a:rPr lang="en-US" altLang="en-US" b="0" i="1" dirty="0">
                <a:latin typeface="Times New Roman" panose="02020603050405020304" pitchFamily="18" charset="0"/>
              </a:rPr>
              <a:t>Lean Thinking </a:t>
            </a:r>
            <a:r>
              <a:rPr lang="en-US" altLang="en-US" b="0" dirty="0">
                <a:latin typeface="Times New Roman" panose="02020603050405020304" pitchFamily="18" charset="0"/>
              </a:rPr>
              <a:t>you may recognize this chart.  Wiremold is recognized for its lean transformation.  Kaizen has been a part of this very impressive transformation.  Note, the time frame to achieve the sustained performance.  A lot of improvement was realized in the first few years.  Wiremold continues on the lean journey.   </a:t>
            </a:r>
            <a:endParaRPr lang="en-US" altLang="en-US" b="0" i="1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89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45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dirty="0">
                <a:latin typeface="Times New Roman" panose="02020603050405020304" pitchFamily="18" charset="0"/>
              </a:rPr>
              <a:t>Explain that randomly selected, unconnected kaizen events, while yielding improvement, are not likely to achieve the overall goals of the company in a reasonable timeframe.</a:t>
            </a:r>
          </a:p>
          <a:p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Don</a:t>
            </a:r>
            <a:r>
              <a:rPr lang="ja-JP" altLang="en-US" b="0" dirty="0">
                <a:latin typeface="Arial" panose="020B0604020202020204" pitchFamily="34" charset="0"/>
              </a:rPr>
              <a:t>’</a:t>
            </a:r>
            <a:r>
              <a:rPr lang="en-US" altLang="ja-JP" b="0" dirty="0">
                <a:latin typeface="Times New Roman" panose="02020603050405020304" pitchFamily="18" charset="0"/>
              </a:rPr>
              <a:t>t shoot everything that moves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(with kaizen)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Avoid measuring solely by the 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numbers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(e.g. # of events conducted by department, # of events attended by individual)</a:t>
            </a:r>
          </a:p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2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20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04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Scope is too large or vague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Re-size or schedule multiple events if necessary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Problem/opportunity not well-defined – no supporting data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Define the goal clearly in 1-2 sentences, provide supporting data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Target goals not set or are vague – unclear metrics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Be precise and complete – no ambiguity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Use existing supporting data to help articulate the goal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Time-fence the expectation (by when?)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Use metrics that can be supported and tracked post-event </a:t>
            </a:r>
          </a:p>
          <a:p>
            <a:pPr lvl="2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e.g.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Reduce the # of machining defects in cell XYZ from 50% to &lt;5% by MM/DD/YY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endParaRPr lang="en-US" altLang="ja-JP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No formal review/approval of charter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Review and approve each charter prior to sanctioning the event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Not completed far enough in advance of event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Complete and approve at least two weeks prior to the start of the event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53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41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71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87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68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48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80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960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073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Be approachable and responsive if teams need help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721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268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dirty="0">
                <a:latin typeface="Times New Roman" panose="02020603050405020304" pitchFamily="18" charset="0"/>
              </a:rPr>
              <a:t>Explain how to use the kaizen newspaper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What kind of things go on it? 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	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Person responsible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should </a:t>
            </a:r>
            <a:r>
              <a:rPr lang="en-US" altLang="ja-JP" b="0" u="sng" dirty="0">
                <a:latin typeface="Times New Roman" panose="02020603050405020304" pitchFamily="18" charset="0"/>
              </a:rPr>
              <a:t>always</a:t>
            </a:r>
            <a:r>
              <a:rPr lang="en-US" altLang="ja-JP" b="0" dirty="0">
                <a:latin typeface="Times New Roman" panose="02020603050405020304" pitchFamily="18" charset="0"/>
              </a:rPr>
              <a:t> be someone on the team – responsible for getting it done, themselves or through others (no passing the buck)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	Team Leader has overall responsibility to see that every item on the newspaper is completed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Helpful Suggestions: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	- Better to get it done </a:t>
            </a:r>
            <a:r>
              <a:rPr lang="en-US" altLang="en-US" b="0" u="sng" dirty="0">
                <a:latin typeface="Times New Roman" panose="02020603050405020304" pitchFamily="18" charset="0"/>
              </a:rPr>
              <a:t>during</a:t>
            </a:r>
            <a:r>
              <a:rPr lang="en-US" altLang="en-US" b="0" dirty="0">
                <a:latin typeface="Times New Roman" panose="02020603050405020304" pitchFamily="18" charset="0"/>
              </a:rPr>
              <a:t> the event than to put it on the newspaper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  	- Avoid 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planning-only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Kaizens that are 100% plans to improve but no changes actually made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Describe the tracking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08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16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599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NOTE: With completed matrix, instruct class on how this information would be transferred to a Bowling Chart, and how the information would be reviewed monthly – if off plan, discuss the use of countermeasures to get back on track.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627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90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KAIZENFORLEADERS PRESENTATION ENG REV3.0</a:t>
            </a:r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Kaizen for Leaders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dirty="0"/>
              <a:t>Define and discuss the importance of kaizen </a:t>
            </a:r>
          </a:p>
          <a:p>
            <a:r>
              <a:rPr lang="en-US" dirty="0"/>
              <a:t>Review key steps in the kaizen process</a:t>
            </a:r>
          </a:p>
          <a:p>
            <a:r>
              <a:rPr lang="en-US" dirty="0"/>
              <a:t>Define roles and responsibilities of the key players in kaizen</a:t>
            </a:r>
          </a:p>
          <a:p>
            <a:r>
              <a:rPr lang="en-US" dirty="0"/>
              <a:t>Review and discuss “leading practices” in executing kaizen</a:t>
            </a:r>
          </a:p>
          <a:p>
            <a:r>
              <a:rPr lang="en-US" dirty="0"/>
              <a:t>Drive successful kaizen events as leaders in your business</a:t>
            </a: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FEFA1B2-0726-A88B-FBD6-0E74CECDBBA3}"/>
              </a:ext>
            </a:extLst>
          </p:cNvPr>
          <p:cNvGrpSpPr/>
          <p:nvPr/>
        </p:nvGrpSpPr>
        <p:grpSpPr>
          <a:xfrm>
            <a:off x="699911" y="837133"/>
            <a:ext cx="7273624" cy="659879"/>
            <a:chOff x="699911" y="1069861"/>
            <a:chExt cx="7273624" cy="350130"/>
          </a:xfrm>
        </p:grpSpPr>
        <p:sp>
          <p:nvSpPr>
            <p:cNvPr id="5" name="AutoShape 9">
              <a:extLst>
                <a:ext uri="{FF2B5EF4-FFF2-40B4-BE49-F238E27FC236}">
                  <a16:creationId xmlns:a16="http://schemas.microsoft.com/office/drawing/2014/main" id="{6B68F6AD-5AEC-832A-7CD5-DE0E94794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259" y="1069861"/>
              <a:ext cx="1578276" cy="350130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Results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F9D2E0E3-2A5A-FA3F-523E-3D8103122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1710" y="1069861"/>
              <a:ext cx="1578276" cy="350130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Successful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Events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57C199-7442-CD49-CE0F-E180C6F3CECC}"/>
                </a:ext>
              </a:extLst>
            </p:cNvPr>
            <p:cNvGrpSpPr/>
            <p:nvPr/>
          </p:nvGrpSpPr>
          <p:grpSpPr>
            <a:xfrm>
              <a:off x="699911" y="1069861"/>
              <a:ext cx="4425950" cy="350130"/>
              <a:chOff x="5627530" y="641179"/>
              <a:chExt cx="6564470" cy="80497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9636090C-9B3A-7315-EAC7-310501F90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136" y="641179"/>
                <a:ext cx="2340864" cy="804977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squar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Roles &amp; Responsibilities</a:t>
                </a:r>
              </a:p>
            </p:txBody>
          </p:sp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9E5917A9-C189-C029-D3D6-F13EAB3E7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7856" y="641180"/>
                <a:ext cx="2342768" cy="80497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squar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Kaizen Planning</a:t>
                </a:r>
              </a:p>
            </p:txBody>
          </p:sp>
          <p:sp>
            <p:nvSpPr>
              <p:cNvPr id="11" name="AutoShape 11">
                <a:extLst>
                  <a:ext uri="{FF2B5EF4-FFF2-40B4-BE49-F238E27FC236}">
                    <a16:creationId xmlns:a16="http://schemas.microsoft.com/office/drawing/2014/main" id="{2E7F9190-48A4-B1B5-C2C9-A17DAEE17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7530" y="641179"/>
                <a:ext cx="2340864" cy="804977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Kaizen Overview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325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51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532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Kaizen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1C5F24-B43B-293E-A0FB-5762E97DB232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53C72-2FA3-EAF6-81BA-F1FE2FF49EFD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7C63C855-8153-7642-28D3-B66C8FD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01A325A3-97EE-1F39-D63A-6ED323A4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B50BD4-9557-9C03-344A-A9B0D567019E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37BF7B1A-3352-7C3A-8FAE-7EFF92905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A37ADDFB-7D28-A710-B420-C48F07F4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0">
                  <a:extLst>
                    <a:ext uri="{FF2B5EF4-FFF2-40B4-BE49-F238E27FC236}">
                      <a16:creationId xmlns:a16="http://schemas.microsoft.com/office/drawing/2014/main" id="{28E251E4-8F55-A285-E1F8-600E241CB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DFC8C-1B65-E934-0F0D-C6A3564ED70F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B29507-205D-47F3-4C5F-61BF824C5F0C}"/>
              </a:ext>
            </a:extLst>
          </p:cNvPr>
          <p:cNvGrpSpPr/>
          <p:nvPr/>
        </p:nvGrpSpPr>
        <p:grpSpPr>
          <a:xfrm>
            <a:off x="1487346" y="1924660"/>
            <a:ext cx="8350250" cy="3998913"/>
            <a:chOff x="461963" y="1536700"/>
            <a:chExt cx="8350250" cy="3998913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76AACCE-D51A-47D2-0B7E-CE3A4A8F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1971675"/>
              <a:ext cx="1908175" cy="568325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600">
                  <a:latin typeface="Roboto" panose="02000000000000000000" pitchFamily="2" charset="0"/>
                </a:rPr>
                <a:t>改</a:t>
              </a:r>
              <a:r>
                <a:rPr lang="en-US" altLang="ja-JP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altLang="ja-JP" sz="1400">
                  <a:latin typeface="Roboto" panose="02000000000000000000" pitchFamily="2" charset="0"/>
                  <a:ea typeface="Roboto" panose="02000000000000000000" pitchFamily="2" charset="0"/>
                </a:rPr>
                <a:t>Kai</a:t>
              </a:r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E032DB77-7384-D291-2642-D77E08225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2894013"/>
              <a:ext cx="1908175" cy="568325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600" b="0">
                  <a:latin typeface="Roboto" panose="02000000000000000000" pitchFamily="2" charset="0"/>
                </a:rPr>
                <a:t>善</a:t>
              </a:r>
              <a:r>
                <a:rPr lang="en-US" altLang="ja-JP" sz="1600" b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altLang="ja-JP" sz="1400">
                  <a:latin typeface="Roboto" panose="02000000000000000000" pitchFamily="2" charset="0"/>
                  <a:ea typeface="Roboto" panose="02000000000000000000" pitchFamily="2" charset="0"/>
                </a:rPr>
                <a:t>Zen</a:t>
              </a:r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57F7D3F0-01ED-DFAC-2EED-8D21940F0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786188"/>
              <a:ext cx="1908175" cy="568325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Kaizen</a:t>
              </a:r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E9C743CB-66C5-97C7-79C5-E8EED5115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8" y="279241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1D6494DC-9631-4B49-CE22-BB97A9443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63" y="3697288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2C122A7B-3290-AACA-84E3-7E1E47BC0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75" y="5535613"/>
              <a:ext cx="8220075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03C9561C-9289-27BD-875B-E09C099FC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550" y="1954213"/>
              <a:ext cx="5159375" cy="28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 algn="l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Change</a:t>
              </a:r>
              <a:endParaRPr lang="en-US" altLang="en-US" sz="1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BF4834A3-F82E-6011-1015-94966C58F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2898775"/>
              <a:ext cx="5170488" cy="28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 algn="l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Good </a:t>
              </a: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86C48EE5-91CE-9D9E-C8B3-7AFBE50EA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3790950"/>
              <a:ext cx="4970463" cy="1344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 defTabSz="708025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450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Literally </a:t>
              </a:r>
              <a:r>
                <a:rPr lang="ja-JP" altLang="en-US" sz="1400" dirty="0">
                  <a:latin typeface="Roboto" panose="02000000000000000000" pitchFamily="2" charset="0"/>
                </a:rPr>
                <a:t>“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good change</a:t>
              </a:r>
              <a:r>
                <a:rPr lang="ja-JP" altLang="en-US" sz="1400" dirty="0">
                  <a:latin typeface="Roboto" panose="02000000000000000000" pitchFamily="2" charset="0"/>
                </a:rPr>
                <a:t>”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 or </a:t>
              </a:r>
              <a:r>
                <a:rPr lang="ja-JP" altLang="en-US" sz="1400" dirty="0">
                  <a:latin typeface="Roboto" panose="02000000000000000000" pitchFamily="2" charset="0"/>
                </a:rPr>
                <a:t>“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improvement”</a:t>
              </a:r>
            </a:p>
            <a:p>
              <a:pPr>
                <a:lnSpc>
                  <a:spcPct val="100000"/>
                </a:lnSpc>
                <a:spcBef>
                  <a:spcPct val="450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A closer definition to the Japanese usage of kaizen is </a:t>
              </a:r>
              <a:r>
                <a:rPr lang="ja-JP" altLang="en-US" sz="1400" dirty="0">
                  <a:latin typeface="Roboto" panose="02000000000000000000" pitchFamily="2" charset="0"/>
                </a:rPr>
                <a:t>“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to take it apart and put back together a better way</a:t>
              </a:r>
            </a:p>
            <a:p>
              <a:pPr>
                <a:lnSpc>
                  <a:spcPct val="100000"/>
                </a:lnSpc>
                <a:spcBef>
                  <a:spcPct val="450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What is taken apart is usually a process, system, product, or service</a:t>
              </a:r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0412CF7F-9CB8-C0AC-1231-B934C37B0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963" y="1824038"/>
              <a:ext cx="8250237" cy="158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8F3EB643-5E4C-65CF-DFC5-2C082AFC9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1536700"/>
              <a:ext cx="4608954" cy="316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Points		           	      Descriptions</a:t>
              </a:r>
            </a:p>
          </p:txBody>
        </p:sp>
        <p:sp>
          <p:nvSpPr>
            <p:cNvPr id="24" name="Oval 17">
              <a:extLst>
                <a:ext uri="{FF2B5EF4-FFF2-40B4-BE49-F238E27FC236}">
                  <a16:creationId xmlns:a16="http://schemas.microsoft.com/office/drawing/2014/main" id="{3D9A1233-5DE1-4B59-7FCF-03C93540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2079625"/>
              <a:ext cx="400050" cy="36671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25" name="Oval 18">
              <a:extLst>
                <a:ext uri="{FF2B5EF4-FFF2-40B4-BE49-F238E27FC236}">
                  <a16:creationId xmlns:a16="http://schemas.microsoft.com/office/drawing/2014/main" id="{C3C9E88E-CE91-D64E-D28B-6ECF132F5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005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26" name="Oval 19">
              <a:extLst>
                <a:ext uri="{FF2B5EF4-FFF2-40B4-BE49-F238E27FC236}">
                  <a16:creationId xmlns:a16="http://schemas.microsoft.com/office/drawing/2014/main" id="{20C0E8A6-8F92-F1A3-D83E-C4C5DE7B1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894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33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Results from Many Kaizens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1C5F24-B43B-293E-A0FB-5762E97DB232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53C72-2FA3-EAF6-81BA-F1FE2FF49EFD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7C63C855-8153-7642-28D3-B66C8FD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01A325A3-97EE-1F39-D63A-6ED323A4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B50BD4-9557-9C03-344A-A9B0D567019E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37BF7B1A-3352-7C3A-8FAE-7EFF92905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A37ADDFB-7D28-A710-B420-C48F07F4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0">
                  <a:extLst>
                    <a:ext uri="{FF2B5EF4-FFF2-40B4-BE49-F238E27FC236}">
                      <a16:creationId xmlns:a16="http://schemas.microsoft.com/office/drawing/2014/main" id="{28E251E4-8F55-A285-E1F8-600E241CB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DFC8C-1B65-E934-0F0D-C6A3564ED70F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  <p:graphicFrame>
        <p:nvGraphicFramePr>
          <p:cNvPr id="27" name="Table 28">
            <a:extLst>
              <a:ext uri="{FF2B5EF4-FFF2-40B4-BE49-F238E27FC236}">
                <a16:creationId xmlns:a16="http://schemas.microsoft.com/office/drawing/2014/main" id="{19937798-9F88-F90B-D130-E1F98442F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500388"/>
              </p:ext>
            </p:extLst>
          </p:nvPr>
        </p:nvGraphicFramePr>
        <p:xfrm>
          <a:off x="457200" y="2084375"/>
          <a:ext cx="11018520" cy="39166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54630">
                  <a:extLst>
                    <a:ext uri="{9D8B030D-6E8A-4147-A177-3AD203B41FA5}">
                      <a16:colId xmlns:a16="http://schemas.microsoft.com/office/drawing/2014/main" val="399430519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1342343286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15653304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4331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46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Sales per employee ($000s)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241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85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Throughput time to produce average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4-6 weeks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1-2 days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 day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39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Product development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 years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3-6 months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 months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1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Suppliers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320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4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Inventory 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25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Space required (index)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3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Sales (index)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393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3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EBITDA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Gross Margin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37.8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47.4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50.8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801912"/>
                  </a:ext>
                </a:extLst>
              </a:tr>
            </a:tbl>
          </a:graphicData>
        </a:graphic>
      </p:graphicFrame>
      <p:sp>
        <p:nvSpPr>
          <p:cNvPr id="29" name="Rectangle 3">
            <a:extLst>
              <a:ext uri="{FF2B5EF4-FFF2-40B4-BE49-F238E27FC236}">
                <a16:creationId xmlns:a16="http://schemas.microsoft.com/office/drawing/2014/main" id="{F9A19D55-B67D-8D16-7339-E0421EB5A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682" y="1751330"/>
            <a:ext cx="68786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286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006699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Wiremold Example</a:t>
            </a:r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5D710726-8FFE-98AF-10C1-55B154B1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6015038"/>
            <a:ext cx="2371162" cy="2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Source: Lean Thinking, Womack and Jones</a:t>
            </a:r>
          </a:p>
        </p:txBody>
      </p:sp>
    </p:spTree>
    <p:extLst>
      <p:ext uri="{BB962C8B-B14F-4D97-AF65-F5344CB8AC3E}">
        <p14:creationId xmlns:p14="http://schemas.microsoft.com/office/powerpoint/2010/main" val="411031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Kaizen Process: The Plan, Do, Check, Act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1C5F24-B43B-293E-A0FB-5762E97DB232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53C72-2FA3-EAF6-81BA-F1FE2FF49EFD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7C63C855-8153-7642-28D3-B66C8FD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01A325A3-97EE-1F39-D63A-6ED323A4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B50BD4-9557-9C03-344A-A9B0D567019E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37BF7B1A-3352-7C3A-8FAE-7EFF92905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A37ADDFB-7D28-A710-B420-C48F07F4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0">
                  <a:extLst>
                    <a:ext uri="{FF2B5EF4-FFF2-40B4-BE49-F238E27FC236}">
                      <a16:creationId xmlns:a16="http://schemas.microsoft.com/office/drawing/2014/main" id="{28E251E4-8F55-A285-E1F8-600E241CB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DFC8C-1B65-E934-0F0D-C6A3564ED70F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3C66C9CB-FC78-259D-21D2-531D415E038C}"/>
              </a:ext>
            </a:extLst>
          </p:cNvPr>
          <p:cNvGrpSpPr>
            <a:grpSpLocks/>
          </p:cNvGrpSpPr>
          <p:nvPr/>
        </p:nvGrpSpPr>
        <p:grpSpPr bwMode="auto">
          <a:xfrm>
            <a:off x="1983581" y="1970088"/>
            <a:ext cx="8224838" cy="4206875"/>
            <a:chOff x="1150" y="1366"/>
            <a:chExt cx="3938" cy="2000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82404DBA-C9E3-B6E5-29D2-16A41E5A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2401"/>
              <a:ext cx="952" cy="798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D904D1B4-9414-9781-1653-CFB3FBA74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2408"/>
              <a:ext cx="953" cy="8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7090239-AD03-EC9D-E17C-B085959C5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401"/>
              <a:ext cx="2102" cy="965"/>
            </a:xfrm>
            <a:custGeom>
              <a:avLst/>
              <a:gdLst>
                <a:gd name="T0" fmla="*/ 44 w 1975"/>
                <a:gd name="T1" fmla="*/ 714 h 1140"/>
                <a:gd name="T2" fmla="*/ 132 w 1975"/>
                <a:gd name="T3" fmla="*/ 719 h 1140"/>
                <a:gd name="T4" fmla="*/ 220 w 1975"/>
                <a:gd name="T5" fmla="*/ 714 h 1140"/>
                <a:gd name="T6" fmla="*/ 265 w 1975"/>
                <a:gd name="T7" fmla="*/ 730 h 1140"/>
                <a:gd name="T8" fmla="*/ 2101 w 1975"/>
                <a:gd name="T9" fmla="*/ 964 h 1140"/>
                <a:gd name="T10" fmla="*/ 1163 w 1975"/>
                <a:gd name="T11" fmla="*/ 0 h 1140"/>
                <a:gd name="T12" fmla="*/ 1141 w 1975"/>
                <a:gd name="T13" fmla="*/ 85 h 1140"/>
                <a:gd name="T14" fmla="*/ 1107 w 1975"/>
                <a:gd name="T15" fmla="*/ 170 h 1140"/>
                <a:gd name="T16" fmla="*/ 1063 w 1975"/>
                <a:gd name="T17" fmla="*/ 249 h 1140"/>
                <a:gd name="T18" fmla="*/ 1008 w 1975"/>
                <a:gd name="T19" fmla="*/ 324 h 1140"/>
                <a:gd name="T20" fmla="*/ 942 w 1975"/>
                <a:gd name="T21" fmla="*/ 393 h 1140"/>
                <a:gd name="T22" fmla="*/ 867 w 1975"/>
                <a:gd name="T23" fmla="*/ 455 h 1140"/>
                <a:gd name="T24" fmla="*/ 785 w 1975"/>
                <a:gd name="T25" fmla="*/ 510 h 1140"/>
                <a:gd name="T26" fmla="*/ 696 w 1975"/>
                <a:gd name="T27" fmla="*/ 555 h 1140"/>
                <a:gd name="T28" fmla="*/ 600 w 1975"/>
                <a:gd name="T29" fmla="*/ 593 h 1140"/>
                <a:gd name="T30" fmla="*/ 500 w 1975"/>
                <a:gd name="T31" fmla="*/ 620 h 1140"/>
                <a:gd name="T32" fmla="*/ 313 w 1975"/>
                <a:gd name="T33" fmla="*/ 577 h 1140"/>
                <a:gd name="T34" fmla="*/ 437 w 1975"/>
                <a:gd name="T35" fmla="*/ 436 h 1140"/>
                <a:gd name="T36" fmla="*/ 468 w 1975"/>
                <a:gd name="T37" fmla="*/ 438 h 1140"/>
                <a:gd name="T38" fmla="*/ 504 w 1975"/>
                <a:gd name="T39" fmla="*/ 430 h 1140"/>
                <a:gd name="T40" fmla="*/ 545 w 1975"/>
                <a:gd name="T41" fmla="*/ 414 h 1140"/>
                <a:gd name="T42" fmla="*/ 589 w 1975"/>
                <a:gd name="T43" fmla="*/ 389 h 1140"/>
                <a:gd name="T44" fmla="*/ 632 w 1975"/>
                <a:gd name="T45" fmla="*/ 357 h 1140"/>
                <a:gd name="T46" fmla="*/ 677 w 1975"/>
                <a:gd name="T47" fmla="*/ 319 h 1140"/>
                <a:gd name="T48" fmla="*/ 718 w 1975"/>
                <a:gd name="T49" fmla="*/ 276 h 1140"/>
                <a:gd name="T50" fmla="*/ 758 w 1975"/>
                <a:gd name="T51" fmla="*/ 229 h 1140"/>
                <a:gd name="T52" fmla="*/ 791 w 1975"/>
                <a:gd name="T53" fmla="*/ 180 h 1140"/>
                <a:gd name="T54" fmla="*/ 818 w 1975"/>
                <a:gd name="T55" fmla="*/ 131 h 1140"/>
                <a:gd name="T56" fmla="*/ 841 w 1975"/>
                <a:gd name="T57" fmla="*/ 84 h 1140"/>
                <a:gd name="T58" fmla="*/ 855 w 1975"/>
                <a:gd name="T59" fmla="*/ 40 h 1140"/>
                <a:gd name="T60" fmla="*/ 860 w 1975"/>
                <a:gd name="T61" fmla="*/ 0 h 1140"/>
                <a:gd name="T62" fmla="*/ 265 w 1975"/>
                <a:gd name="T63" fmla="*/ 390 h 1140"/>
                <a:gd name="T64" fmla="*/ 228 w 1975"/>
                <a:gd name="T65" fmla="*/ 465 h 1140"/>
                <a:gd name="T66" fmla="*/ 152 w 1975"/>
                <a:gd name="T67" fmla="*/ 477 h 1140"/>
                <a:gd name="T68" fmla="*/ 76 w 1975"/>
                <a:gd name="T69" fmla="*/ 479 h 1140"/>
                <a:gd name="T70" fmla="*/ 0 w 1975"/>
                <a:gd name="T71" fmla="*/ 473 h 11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975" h="1140">
                  <a:moveTo>
                    <a:pt x="0" y="838"/>
                  </a:moveTo>
                  <a:lnTo>
                    <a:pt x="41" y="844"/>
                  </a:lnTo>
                  <a:lnTo>
                    <a:pt x="83" y="848"/>
                  </a:lnTo>
                  <a:lnTo>
                    <a:pt x="124" y="849"/>
                  </a:lnTo>
                  <a:lnTo>
                    <a:pt x="166" y="847"/>
                  </a:lnTo>
                  <a:lnTo>
                    <a:pt x="207" y="843"/>
                  </a:lnTo>
                  <a:lnTo>
                    <a:pt x="249" y="836"/>
                  </a:lnTo>
                  <a:lnTo>
                    <a:pt x="249" y="862"/>
                  </a:lnTo>
                  <a:lnTo>
                    <a:pt x="249" y="1139"/>
                  </a:lnTo>
                  <a:lnTo>
                    <a:pt x="1974" y="1139"/>
                  </a:lnTo>
                  <a:lnTo>
                    <a:pt x="1974" y="0"/>
                  </a:lnTo>
                  <a:lnTo>
                    <a:pt x="1093" y="0"/>
                  </a:lnTo>
                  <a:lnTo>
                    <a:pt x="1084" y="51"/>
                  </a:lnTo>
                  <a:lnTo>
                    <a:pt x="1072" y="101"/>
                  </a:lnTo>
                  <a:lnTo>
                    <a:pt x="1058" y="151"/>
                  </a:lnTo>
                  <a:lnTo>
                    <a:pt x="1040" y="201"/>
                  </a:lnTo>
                  <a:lnTo>
                    <a:pt x="1021" y="248"/>
                  </a:lnTo>
                  <a:lnTo>
                    <a:pt x="999" y="294"/>
                  </a:lnTo>
                  <a:lnTo>
                    <a:pt x="974" y="339"/>
                  </a:lnTo>
                  <a:lnTo>
                    <a:pt x="947" y="383"/>
                  </a:lnTo>
                  <a:lnTo>
                    <a:pt x="917" y="424"/>
                  </a:lnTo>
                  <a:lnTo>
                    <a:pt x="885" y="464"/>
                  </a:lnTo>
                  <a:lnTo>
                    <a:pt x="851" y="502"/>
                  </a:lnTo>
                  <a:lnTo>
                    <a:pt x="815" y="538"/>
                  </a:lnTo>
                  <a:lnTo>
                    <a:pt x="777" y="571"/>
                  </a:lnTo>
                  <a:lnTo>
                    <a:pt x="738" y="602"/>
                  </a:lnTo>
                  <a:lnTo>
                    <a:pt x="697" y="630"/>
                  </a:lnTo>
                  <a:lnTo>
                    <a:pt x="654" y="656"/>
                  </a:lnTo>
                  <a:lnTo>
                    <a:pt x="610" y="680"/>
                  </a:lnTo>
                  <a:lnTo>
                    <a:pt x="564" y="701"/>
                  </a:lnTo>
                  <a:lnTo>
                    <a:pt x="518" y="718"/>
                  </a:lnTo>
                  <a:lnTo>
                    <a:pt x="470" y="733"/>
                  </a:lnTo>
                  <a:lnTo>
                    <a:pt x="486" y="811"/>
                  </a:lnTo>
                  <a:lnTo>
                    <a:pt x="294" y="682"/>
                  </a:lnTo>
                  <a:lnTo>
                    <a:pt x="388" y="430"/>
                  </a:lnTo>
                  <a:lnTo>
                    <a:pt x="411" y="515"/>
                  </a:lnTo>
                  <a:lnTo>
                    <a:pt x="425" y="517"/>
                  </a:lnTo>
                  <a:lnTo>
                    <a:pt x="440" y="517"/>
                  </a:lnTo>
                  <a:lnTo>
                    <a:pt x="457" y="514"/>
                  </a:lnTo>
                  <a:lnTo>
                    <a:pt x="474" y="508"/>
                  </a:lnTo>
                  <a:lnTo>
                    <a:pt x="493" y="500"/>
                  </a:lnTo>
                  <a:lnTo>
                    <a:pt x="512" y="489"/>
                  </a:lnTo>
                  <a:lnTo>
                    <a:pt x="532" y="476"/>
                  </a:lnTo>
                  <a:lnTo>
                    <a:pt x="553" y="460"/>
                  </a:lnTo>
                  <a:lnTo>
                    <a:pt x="574" y="442"/>
                  </a:lnTo>
                  <a:lnTo>
                    <a:pt x="594" y="422"/>
                  </a:lnTo>
                  <a:lnTo>
                    <a:pt x="615" y="400"/>
                  </a:lnTo>
                  <a:lnTo>
                    <a:pt x="636" y="377"/>
                  </a:lnTo>
                  <a:lnTo>
                    <a:pt x="655" y="352"/>
                  </a:lnTo>
                  <a:lnTo>
                    <a:pt x="675" y="326"/>
                  </a:lnTo>
                  <a:lnTo>
                    <a:pt x="693" y="299"/>
                  </a:lnTo>
                  <a:lnTo>
                    <a:pt x="712" y="270"/>
                  </a:lnTo>
                  <a:lnTo>
                    <a:pt x="728" y="242"/>
                  </a:lnTo>
                  <a:lnTo>
                    <a:pt x="743" y="213"/>
                  </a:lnTo>
                  <a:lnTo>
                    <a:pt x="757" y="184"/>
                  </a:lnTo>
                  <a:lnTo>
                    <a:pt x="769" y="155"/>
                  </a:lnTo>
                  <a:lnTo>
                    <a:pt x="780" y="127"/>
                  </a:lnTo>
                  <a:lnTo>
                    <a:pt x="790" y="99"/>
                  </a:lnTo>
                  <a:lnTo>
                    <a:pt x="797" y="72"/>
                  </a:lnTo>
                  <a:lnTo>
                    <a:pt x="803" y="47"/>
                  </a:lnTo>
                  <a:lnTo>
                    <a:pt x="806" y="22"/>
                  </a:lnTo>
                  <a:lnTo>
                    <a:pt x="808" y="0"/>
                  </a:lnTo>
                  <a:lnTo>
                    <a:pt x="249" y="0"/>
                  </a:lnTo>
                  <a:lnTo>
                    <a:pt x="249" y="461"/>
                  </a:lnTo>
                  <a:lnTo>
                    <a:pt x="249" y="540"/>
                  </a:lnTo>
                  <a:lnTo>
                    <a:pt x="214" y="549"/>
                  </a:lnTo>
                  <a:lnTo>
                    <a:pt x="179" y="557"/>
                  </a:lnTo>
                  <a:lnTo>
                    <a:pt x="143" y="563"/>
                  </a:lnTo>
                  <a:lnTo>
                    <a:pt x="107" y="565"/>
                  </a:lnTo>
                  <a:lnTo>
                    <a:pt x="71" y="566"/>
                  </a:lnTo>
                  <a:lnTo>
                    <a:pt x="35" y="564"/>
                  </a:lnTo>
                  <a:lnTo>
                    <a:pt x="0" y="559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D21F0C64-7FC7-29EC-68AC-FE21CECFD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1372"/>
              <a:ext cx="953" cy="87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9C66411-0AD1-D8A6-02AC-9410E6E31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239"/>
              <a:ext cx="1836" cy="1121"/>
            </a:xfrm>
            <a:custGeom>
              <a:avLst/>
              <a:gdLst>
                <a:gd name="T0" fmla="*/ 938 w 1725"/>
                <a:gd name="T1" fmla="*/ 2 h 1351"/>
                <a:gd name="T2" fmla="*/ 933 w 1725"/>
                <a:gd name="T3" fmla="*/ 44 h 1351"/>
                <a:gd name="T4" fmla="*/ 931 w 1725"/>
                <a:gd name="T5" fmla="*/ 85 h 1351"/>
                <a:gd name="T6" fmla="*/ 934 w 1725"/>
                <a:gd name="T7" fmla="*/ 126 h 1351"/>
                <a:gd name="T8" fmla="*/ 939 w 1725"/>
                <a:gd name="T9" fmla="*/ 167 h 1351"/>
                <a:gd name="T10" fmla="*/ 865 w 1725"/>
                <a:gd name="T11" fmla="*/ 167 h 1351"/>
                <a:gd name="T12" fmla="*/ 0 w 1725"/>
                <a:gd name="T13" fmla="*/ 167 h 1351"/>
                <a:gd name="T14" fmla="*/ 0 w 1725"/>
                <a:gd name="T15" fmla="*/ 1120 h 1351"/>
                <a:gd name="T16" fmla="*/ 1835 w 1725"/>
                <a:gd name="T17" fmla="*/ 1120 h 1351"/>
                <a:gd name="T18" fmla="*/ 1835 w 1725"/>
                <a:gd name="T19" fmla="*/ 870 h 1351"/>
                <a:gd name="T20" fmla="*/ 1782 w 1725"/>
                <a:gd name="T21" fmla="*/ 862 h 1351"/>
                <a:gd name="T22" fmla="*/ 1730 w 1725"/>
                <a:gd name="T23" fmla="*/ 852 h 1351"/>
                <a:gd name="T24" fmla="*/ 1677 w 1725"/>
                <a:gd name="T25" fmla="*/ 840 h 1351"/>
                <a:gd name="T26" fmla="*/ 1626 w 1725"/>
                <a:gd name="T27" fmla="*/ 825 h 1351"/>
                <a:gd name="T28" fmla="*/ 1578 w 1725"/>
                <a:gd name="T29" fmla="*/ 808 h 1351"/>
                <a:gd name="T30" fmla="*/ 1529 w 1725"/>
                <a:gd name="T31" fmla="*/ 789 h 1351"/>
                <a:gd name="T32" fmla="*/ 1484 w 1725"/>
                <a:gd name="T33" fmla="*/ 768 h 1351"/>
                <a:gd name="T34" fmla="*/ 1438 w 1725"/>
                <a:gd name="T35" fmla="*/ 746 h 1351"/>
                <a:gd name="T36" fmla="*/ 1394 w 1725"/>
                <a:gd name="T37" fmla="*/ 721 h 1351"/>
                <a:gd name="T38" fmla="*/ 1354 w 1725"/>
                <a:gd name="T39" fmla="*/ 695 h 1351"/>
                <a:gd name="T40" fmla="*/ 1314 w 1725"/>
                <a:gd name="T41" fmla="*/ 667 h 1351"/>
                <a:gd name="T42" fmla="*/ 1278 w 1725"/>
                <a:gd name="T43" fmla="*/ 637 h 1351"/>
                <a:gd name="T44" fmla="*/ 1244 w 1725"/>
                <a:gd name="T45" fmla="*/ 607 h 1351"/>
                <a:gd name="T46" fmla="*/ 1212 w 1725"/>
                <a:gd name="T47" fmla="*/ 574 h 1351"/>
                <a:gd name="T48" fmla="*/ 1181 w 1725"/>
                <a:gd name="T49" fmla="*/ 541 h 1351"/>
                <a:gd name="T50" fmla="*/ 1155 w 1725"/>
                <a:gd name="T51" fmla="*/ 506 h 1351"/>
                <a:gd name="T52" fmla="*/ 1130 w 1725"/>
                <a:gd name="T53" fmla="*/ 470 h 1351"/>
                <a:gd name="T54" fmla="*/ 1109 w 1725"/>
                <a:gd name="T55" fmla="*/ 434 h 1351"/>
                <a:gd name="T56" fmla="*/ 1090 w 1725"/>
                <a:gd name="T57" fmla="*/ 396 h 1351"/>
                <a:gd name="T58" fmla="*/ 1074 w 1725"/>
                <a:gd name="T59" fmla="*/ 358 h 1351"/>
                <a:gd name="T60" fmla="*/ 992 w 1725"/>
                <a:gd name="T61" fmla="*/ 371 h 1351"/>
                <a:gd name="T62" fmla="*/ 1147 w 1725"/>
                <a:gd name="T63" fmla="*/ 214 h 1351"/>
                <a:gd name="T64" fmla="*/ 1401 w 1725"/>
                <a:gd name="T65" fmla="*/ 290 h 1351"/>
                <a:gd name="T66" fmla="*/ 1309 w 1725"/>
                <a:gd name="T67" fmla="*/ 309 h 1351"/>
                <a:gd name="T68" fmla="*/ 1331 w 1725"/>
                <a:gd name="T69" fmla="*/ 345 h 1351"/>
                <a:gd name="T70" fmla="*/ 1355 w 1725"/>
                <a:gd name="T71" fmla="*/ 379 h 1351"/>
                <a:gd name="T72" fmla="*/ 1382 w 1725"/>
                <a:gd name="T73" fmla="*/ 412 h 1351"/>
                <a:gd name="T74" fmla="*/ 1409 w 1725"/>
                <a:gd name="T75" fmla="*/ 442 h 1351"/>
                <a:gd name="T76" fmla="*/ 1439 w 1725"/>
                <a:gd name="T77" fmla="*/ 471 h 1351"/>
                <a:gd name="T78" fmla="*/ 1471 w 1725"/>
                <a:gd name="T79" fmla="*/ 498 h 1351"/>
                <a:gd name="T80" fmla="*/ 1505 w 1725"/>
                <a:gd name="T81" fmla="*/ 522 h 1351"/>
                <a:gd name="T82" fmla="*/ 1541 w 1725"/>
                <a:gd name="T83" fmla="*/ 545 h 1351"/>
                <a:gd name="T84" fmla="*/ 1578 w 1725"/>
                <a:gd name="T85" fmla="*/ 565 h 1351"/>
                <a:gd name="T86" fmla="*/ 1618 w 1725"/>
                <a:gd name="T87" fmla="*/ 583 h 1351"/>
                <a:gd name="T88" fmla="*/ 1658 w 1725"/>
                <a:gd name="T89" fmla="*/ 599 h 1351"/>
                <a:gd name="T90" fmla="*/ 1700 w 1725"/>
                <a:gd name="T91" fmla="*/ 612 h 1351"/>
                <a:gd name="T92" fmla="*/ 1744 w 1725"/>
                <a:gd name="T93" fmla="*/ 624 h 1351"/>
                <a:gd name="T94" fmla="*/ 1789 w 1725"/>
                <a:gd name="T95" fmla="*/ 633 h 1351"/>
                <a:gd name="T96" fmla="*/ 1835 w 1725"/>
                <a:gd name="T97" fmla="*/ 640 h 1351"/>
                <a:gd name="T98" fmla="*/ 1835 w 1725"/>
                <a:gd name="T99" fmla="*/ 167 h 1351"/>
                <a:gd name="T100" fmla="*/ 1287 w 1725"/>
                <a:gd name="T101" fmla="*/ 167 h 1351"/>
                <a:gd name="T102" fmla="*/ 1240 w 1725"/>
                <a:gd name="T103" fmla="*/ 167 h 1351"/>
                <a:gd name="T104" fmla="*/ 1236 w 1725"/>
                <a:gd name="T105" fmla="*/ 125 h 1351"/>
                <a:gd name="T106" fmla="*/ 1235 w 1725"/>
                <a:gd name="T107" fmla="*/ 83 h 1351"/>
                <a:gd name="T108" fmla="*/ 1236 w 1725"/>
                <a:gd name="T109" fmla="*/ 41 h 1351"/>
                <a:gd name="T110" fmla="*/ 1240 w 1725"/>
                <a:gd name="T111" fmla="*/ 0 h 135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725" h="1351">
                  <a:moveTo>
                    <a:pt x="881" y="2"/>
                  </a:moveTo>
                  <a:lnTo>
                    <a:pt x="877" y="53"/>
                  </a:lnTo>
                  <a:lnTo>
                    <a:pt x="875" y="102"/>
                  </a:lnTo>
                  <a:lnTo>
                    <a:pt x="878" y="152"/>
                  </a:lnTo>
                  <a:lnTo>
                    <a:pt x="882" y="201"/>
                  </a:lnTo>
                  <a:lnTo>
                    <a:pt x="813" y="201"/>
                  </a:lnTo>
                  <a:lnTo>
                    <a:pt x="0" y="201"/>
                  </a:lnTo>
                  <a:lnTo>
                    <a:pt x="0" y="1350"/>
                  </a:lnTo>
                  <a:lnTo>
                    <a:pt x="1724" y="1350"/>
                  </a:lnTo>
                  <a:lnTo>
                    <a:pt x="1724" y="1049"/>
                  </a:lnTo>
                  <a:lnTo>
                    <a:pt x="1674" y="1039"/>
                  </a:lnTo>
                  <a:lnTo>
                    <a:pt x="1625" y="1027"/>
                  </a:lnTo>
                  <a:lnTo>
                    <a:pt x="1576" y="1012"/>
                  </a:lnTo>
                  <a:lnTo>
                    <a:pt x="1528" y="994"/>
                  </a:lnTo>
                  <a:lnTo>
                    <a:pt x="1483" y="974"/>
                  </a:lnTo>
                  <a:lnTo>
                    <a:pt x="1437" y="951"/>
                  </a:lnTo>
                  <a:lnTo>
                    <a:pt x="1394" y="926"/>
                  </a:lnTo>
                  <a:lnTo>
                    <a:pt x="1351" y="899"/>
                  </a:lnTo>
                  <a:lnTo>
                    <a:pt x="1310" y="869"/>
                  </a:lnTo>
                  <a:lnTo>
                    <a:pt x="1272" y="838"/>
                  </a:lnTo>
                  <a:lnTo>
                    <a:pt x="1235" y="804"/>
                  </a:lnTo>
                  <a:lnTo>
                    <a:pt x="1201" y="768"/>
                  </a:lnTo>
                  <a:lnTo>
                    <a:pt x="1169" y="731"/>
                  </a:lnTo>
                  <a:lnTo>
                    <a:pt x="1139" y="692"/>
                  </a:lnTo>
                  <a:lnTo>
                    <a:pt x="1110" y="652"/>
                  </a:lnTo>
                  <a:lnTo>
                    <a:pt x="1085" y="610"/>
                  </a:lnTo>
                  <a:lnTo>
                    <a:pt x="1062" y="567"/>
                  </a:lnTo>
                  <a:lnTo>
                    <a:pt x="1042" y="523"/>
                  </a:lnTo>
                  <a:lnTo>
                    <a:pt x="1024" y="477"/>
                  </a:lnTo>
                  <a:lnTo>
                    <a:pt x="1009" y="431"/>
                  </a:lnTo>
                  <a:lnTo>
                    <a:pt x="932" y="447"/>
                  </a:lnTo>
                  <a:lnTo>
                    <a:pt x="1078" y="258"/>
                  </a:lnTo>
                  <a:lnTo>
                    <a:pt x="1316" y="349"/>
                  </a:lnTo>
                  <a:lnTo>
                    <a:pt x="1230" y="372"/>
                  </a:lnTo>
                  <a:lnTo>
                    <a:pt x="1251" y="416"/>
                  </a:lnTo>
                  <a:lnTo>
                    <a:pt x="1273" y="457"/>
                  </a:lnTo>
                  <a:lnTo>
                    <a:pt x="1298" y="496"/>
                  </a:lnTo>
                  <a:lnTo>
                    <a:pt x="1324" y="533"/>
                  </a:lnTo>
                  <a:lnTo>
                    <a:pt x="1352" y="568"/>
                  </a:lnTo>
                  <a:lnTo>
                    <a:pt x="1382" y="600"/>
                  </a:lnTo>
                  <a:lnTo>
                    <a:pt x="1414" y="629"/>
                  </a:lnTo>
                  <a:lnTo>
                    <a:pt x="1448" y="657"/>
                  </a:lnTo>
                  <a:lnTo>
                    <a:pt x="1483" y="681"/>
                  </a:lnTo>
                  <a:lnTo>
                    <a:pt x="1520" y="703"/>
                  </a:lnTo>
                  <a:lnTo>
                    <a:pt x="1558" y="722"/>
                  </a:lnTo>
                  <a:lnTo>
                    <a:pt x="1597" y="738"/>
                  </a:lnTo>
                  <a:lnTo>
                    <a:pt x="1639" y="752"/>
                  </a:lnTo>
                  <a:lnTo>
                    <a:pt x="1681" y="763"/>
                  </a:lnTo>
                  <a:lnTo>
                    <a:pt x="1724" y="771"/>
                  </a:lnTo>
                  <a:lnTo>
                    <a:pt x="1724" y="201"/>
                  </a:lnTo>
                  <a:lnTo>
                    <a:pt x="1209" y="201"/>
                  </a:lnTo>
                  <a:lnTo>
                    <a:pt x="1165" y="201"/>
                  </a:lnTo>
                  <a:lnTo>
                    <a:pt x="1161" y="151"/>
                  </a:lnTo>
                  <a:lnTo>
                    <a:pt x="1160" y="100"/>
                  </a:lnTo>
                  <a:lnTo>
                    <a:pt x="1161" y="50"/>
                  </a:lnTo>
                  <a:lnTo>
                    <a:pt x="1165" y="0"/>
                  </a:lnTo>
                </a:path>
              </a:pathLst>
            </a:custGeom>
            <a:solidFill>
              <a:schemeClr val="accent5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16E84F1F-3B64-E824-A439-EE6E6CDA6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" y="1372"/>
              <a:ext cx="952" cy="8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80DC107-1F9F-0366-E7FA-8C12B2F0A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372"/>
              <a:ext cx="2099" cy="881"/>
            </a:xfrm>
            <a:custGeom>
              <a:avLst/>
              <a:gdLst>
                <a:gd name="T0" fmla="*/ 2046 w 1972"/>
                <a:gd name="T1" fmla="*/ 228 h 1150"/>
                <a:gd name="T2" fmla="*/ 1940 w 1972"/>
                <a:gd name="T3" fmla="*/ 225 h 1150"/>
                <a:gd name="T4" fmla="*/ 1835 w 1972"/>
                <a:gd name="T5" fmla="*/ 233 h 1150"/>
                <a:gd name="T6" fmla="*/ 1835 w 1972"/>
                <a:gd name="T7" fmla="*/ 0 h 1150"/>
                <a:gd name="T8" fmla="*/ 0 w 1972"/>
                <a:gd name="T9" fmla="*/ 880 h 1150"/>
                <a:gd name="T10" fmla="*/ 947 w 1972"/>
                <a:gd name="T11" fmla="*/ 841 h 1150"/>
                <a:gd name="T12" fmla="*/ 975 w 1972"/>
                <a:gd name="T13" fmla="*/ 764 h 1150"/>
                <a:gd name="T14" fmla="*/ 1014 w 1972"/>
                <a:gd name="T15" fmla="*/ 689 h 1150"/>
                <a:gd name="T16" fmla="*/ 1064 w 1972"/>
                <a:gd name="T17" fmla="*/ 619 h 1150"/>
                <a:gd name="T18" fmla="*/ 1125 w 1972"/>
                <a:gd name="T19" fmla="*/ 553 h 1150"/>
                <a:gd name="T20" fmla="*/ 1195 w 1972"/>
                <a:gd name="T21" fmla="*/ 493 h 1150"/>
                <a:gd name="T22" fmla="*/ 1273 w 1972"/>
                <a:gd name="T23" fmla="*/ 440 h 1150"/>
                <a:gd name="T24" fmla="*/ 1359 w 1972"/>
                <a:gd name="T25" fmla="*/ 394 h 1150"/>
                <a:gd name="T26" fmla="*/ 1452 w 1972"/>
                <a:gd name="T27" fmla="*/ 355 h 1150"/>
                <a:gd name="T28" fmla="*/ 1550 w 1972"/>
                <a:gd name="T29" fmla="*/ 326 h 1150"/>
                <a:gd name="T30" fmla="*/ 1583 w 1972"/>
                <a:gd name="T31" fmla="*/ 254 h 1150"/>
                <a:gd name="T32" fmla="*/ 1687 w 1972"/>
                <a:gd name="T33" fmla="*/ 549 h 1150"/>
                <a:gd name="T34" fmla="*/ 1648 w 1972"/>
                <a:gd name="T35" fmla="*/ 483 h 1150"/>
                <a:gd name="T36" fmla="*/ 1613 w 1972"/>
                <a:gd name="T37" fmla="*/ 486 h 1150"/>
                <a:gd name="T38" fmla="*/ 1574 w 1972"/>
                <a:gd name="T39" fmla="*/ 498 h 1150"/>
                <a:gd name="T40" fmla="*/ 1531 w 1972"/>
                <a:gd name="T41" fmla="*/ 517 h 1150"/>
                <a:gd name="T42" fmla="*/ 1487 w 1972"/>
                <a:gd name="T43" fmla="*/ 543 h 1150"/>
                <a:gd name="T44" fmla="*/ 1442 w 1972"/>
                <a:gd name="T45" fmla="*/ 575 h 1150"/>
                <a:gd name="T46" fmla="*/ 1399 w 1972"/>
                <a:gd name="T47" fmla="*/ 613 h 1150"/>
                <a:gd name="T48" fmla="*/ 1358 w 1972"/>
                <a:gd name="T49" fmla="*/ 653 h 1150"/>
                <a:gd name="T50" fmla="*/ 1322 w 1972"/>
                <a:gd name="T51" fmla="*/ 696 h 1150"/>
                <a:gd name="T52" fmla="*/ 1291 w 1972"/>
                <a:gd name="T53" fmla="*/ 741 h 1150"/>
                <a:gd name="T54" fmla="*/ 1267 w 1972"/>
                <a:gd name="T55" fmla="*/ 784 h 1150"/>
                <a:gd name="T56" fmla="*/ 1250 w 1972"/>
                <a:gd name="T57" fmla="*/ 826 h 1150"/>
                <a:gd name="T58" fmla="*/ 1240 w 1972"/>
                <a:gd name="T59" fmla="*/ 863 h 1150"/>
                <a:gd name="T60" fmla="*/ 1392 w 1972"/>
                <a:gd name="T61" fmla="*/ 880 h 1150"/>
                <a:gd name="T62" fmla="*/ 1835 w 1972"/>
                <a:gd name="T63" fmla="*/ 562 h 1150"/>
                <a:gd name="T64" fmla="*/ 1879 w 1972"/>
                <a:gd name="T65" fmla="*/ 454 h 1150"/>
                <a:gd name="T66" fmla="*/ 1966 w 1972"/>
                <a:gd name="T67" fmla="*/ 446 h 1150"/>
                <a:gd name="T68" fmla="*/ 2054 w 1972"/>
                <a:gd name="T69" fmla="*/ 446 h 115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972" h="1150">
                  <a:moveTo>
                    <a:pt x="1971" y="303"/>
                  </a:moveTo>
                  <a:lnTo>
                    <a:pt x="1922" y="297"/>
                  </a:lnTo>
                  <a:lnTo>
                    <a:pt x="1872" y="294"/>
                  </a:lnTo>
                  <a:lnTo>
                    <a:pt x="1823" y="294"/>
                  </a:lnTo>
                  <a:lnTo>
                    <a:pt x="1773" y="298"/>
                  </a:lnTo>
                  <a:lnTo>
                    <a:pt x="1724" y="304"/>
                  </a:lnTo>
                  <a:lnTo>
                    <a:pt x="1724" y="288"/>
                  </a:lnTo>
                  <a:lnTo>
                    <a:pt x="1724" y="0"/>
                  </a:lnTo>
                  <a:lnTo>
                    <a:pt x="0" y="0"/>
                  </a:lnTo>
                  <a:lnTo>
                    <a:pt x="0" y="1149"/>
                  </a:lnTo>
                  <a:lnTo>
                    <a:pt x="881" y="1149"/>
                  </a:lnTo>
                  <a:lnTo>
                    <a:pt x="890" y="1098"/>
                  </a:lnTo>
                  <a:lnTo>
                    <a:pt x="901" y="1047"/>
                  </a:lnTo>
                  <a:lnTo>
                    <a:pt x="916" y="997"/>
                  </a:lnTo>
                  <a:lnTo>
                    <a:pt x="933" y="948"/>
                  </a:lnTo>
                  <a:lnTo>
                    <a:pt x="953" y="900"/>
                  </a:lnTo>
                  <a:lnTo>
                    <a:pt x="975" y="853"/>
                  </a:lnTo>
                  <a:lnTo>
                    <a:pt x="1000" y="808"/>
                  </a:lnTo>
                  <a:lnTo>
                    <a:pt x="1027" y="764"/>
                  </a:lnTo>
                  <a:lnTo>
                    <a:pt x="1057" y="722"/>
                  </a:lnTo>
                  <a:lnTo>
                    <a:pt x="1089" y="682"/>
                  </a:lnTo>
                  <a:lnTo>
                    <a:pt x="1123" y="644"/>
                  </a:lnTo>
                  <a:lnTo>
                    <a:pt x="1158" y="607"/>
                  </a:lnTo>
                  <a:lnTo>
                    <a:pt x="1196" y="574"/>
                  </a:lnTo>
                  <a:lnTo>
                    <a:pt x="1236" y="542"/>
                  </a:lnTo>
                  <a:lnTo>
                    <a:pt x="1277" y="514"/>
                  </a:lnTo>
                  <a:lnTo>
                    <a:pt x="1320" y="488"/>
                  </a:lnTo>
                  <a:lnTo>
                    <a:pt x="1364" y="464"/>
                  </a:lnTo>
                  <a:lnTo>
                    <a:pt x="1410" y="443"/>
                  </a:lnTo>
                  <a:lnTo>
                    <a:pt x="1456" y="425"/>
                  </a:lnTo>
                  <a:lnTo>
                    <a:pt x="1503" y="410"/>
                  </a:lnTo>
                  <a:lnTo>
                    <a:pt x="1487" y="332"/>
                  </a:lnTo>
                  <a:lnTo>
                    <a:pt x="1680" y="462"/>
                  </a:lnTo>
                  <a:lnTo>
                    <a:pt x="1585" y="716"/>
                  </a:lnTo>
                  <a:lnTo>
                    <a:pt x="1563" y="631"/>
                  </a:lnTo>
                  <a:lnTo>
                    <a:pt x="1548" y="630"/>
                  </a:lnTo>
                  <a:lnTo>
                    <a:pt x="1532" y="631"/>
                  </a:lnTo>
                  <a:lnTo>
                    <a:pt x="1515" y="634"/>
                  </a:lnTo>
                  <a:lnTo>
                    <a:pt x="1498" y="641"/>
                  </a:lnTo>
                  <a:lnTo>
                    <a:pt x="1479" y="650"/>
                  </a:lnTo>
                  <a:lnTo>
                    <a:pt x="1459" y="661"/>
                  </a:lnTo>
                  <a:lnTo>
                    <a:pt x="1438" y="675"/>
                  </a:lnTo>
                  <a:lnTo>
                    <a:pt x="1418" y="691"/>
                  </a:lnTo>
                  <a:lnTo>
                    <a:pt x="1397" y="709"/>
                  </a:lnTo>
                  <a:lnTo>
                    <a:pt x="1376" y="729"/>
                  </a:lnTo>
                  <a:lnTo>
                    <a:pt x="1355" y="751"/>
                  </a:lnTo>
                  <a:lnTo>
                    <a:pt x="1334" y="775"/>
                  </a:lnTo>
                  <a:lnTo>
                    <a:pt x="1314" y="800"/>
                  </a:lnTo>
                  <a:lnTo>
                    <a:pt x="1295" y="826"/>
                  </a:lnTo>
                  <a:lnTo>
                    <a:pt x="1276" y="853"/>
                  </a:lnTo>
                  <a:lnTo>
                    <a:pt x="1259" y="881"/>
                  </a:lnTo>
                  <a:lnTo>
                    <a:pt x="1242" y="909"/>
                  </a:lnTo>
                  <a:lnTo>
                    <a:pt x="1227" y="939"/>
                  </a:lnTo>
                  <a:lnTo>
                    <a:pt x="1213" y="967"/>
                  </a:lnTo>
                  <a:lnTo>
                    <a:pt x="1201" y="996"/>
                  </a:lnTo>
                  <a:lnTo>
                    <a:pt x="1190" y="1024"/>
                  </a:lnTo>
                  <a:lnTo>
                    <a:pt x="1181" y="1051"/>
                  </a:lnTo>
                  <a:lnTo>
                    <a:pt x="1174" y="1078"/>
                  </a:lnTo>
                  <a:lnTo>
                    <a:pt x="1169" y="1104"/>
                  </a:lnTo>
                  <a:lnTo>
                    <a:pt x="1165" y="1127"/>
                  </a:lnTo>
                  <a:lnTo>
                    <a:pt x="1164" y="1149"/>
                  </a:lnTo>
                  <a:lnTo>
                    <a:pt x="1308" y="1149"/>
                  </a:lnTo>
                  <a:lnTo>
                    <a:pt x="1724" y="1149"/>
                  </a:lnTo>
                  <a:lnTo>
                    <a:pt x="1724" y="733"/>
                  </a:lnTo>
                  <a:lnTo>
                    <a:pt x="1724" y="600"/>
                  </a:lnTo>
                  <a:lnTo>
                    <a:pt x="1765" y="592"/>
                  </a:lnTo>
                  <a:lnTo>
                    <a:pt x="1806" y="586"/>
                  </a:lnTo>
                  <a:lnTo>
                    <a:pt x="1847" y="582"/>
                  </a:lnTo>
                  <a:lnTo>
                    <a:pt x="1888" y="581"/>
                  </a:lnTo>
                  <a:lnTo>
                    <a:pt x="1930" y="582"/>
                  </a:lnTo>
                  <a:lnTo>
                    <a:pt x="1971" y="585"/>
                  </a:lnTo>
                </a:path>
              </a:pathLst>
            </a:custGeom>
            <a:solidFill>
              <a:schemeClr val="accent4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0FEC298B-CD97-CF0C-9F8D-7BA186375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366"/>
              <a:ext cx="1836" cy="1047"/>
            </a:xfrm>
            <a:custGeom>
              <a:avLst/>
              <a:gdLst>
                <a:gd name="T0" fmla="*/ 897 w 1836"/>
                <a:gd name="T1" fmla="*/ 1047 h 1047"/>
                <a:gd name="T2" fmla="*/ 903 w 1836"/>
                <a:gd name="T3" fmla="*/ 1016 h 1047"/>
                <a:gd name="T4" fmla="*/ 904 w 1836"/>
                <a:gd name="T5" fmla="*/ 983 h 1047"/>
                <a:gd name="T6" fmla="*/ 904 w 1836"/>
                <a:gd name="T7" fmla="*/ 951 h 1047"/>
                <a:gd name="T8" fmla="*/ 902 w 1836"/>
                <a:gd name="T9" fmla="*/ 919 h 1047"/>
                <a:gd name="T10" fmla="*/ 896 w 1836"/>
                <a:gd name="T11" fmla="*/ 886 h 1047"/>
                <a:gd name="T12" fmla="*/ 949 w 1836"/>
                <a:gd name="T13" fmla="*/ 886 h 1047"/>
                <a:gd name="T14" fmla="*/ 1836 w 1836"/>
                <a:gd name="T15" fmla="*/ 886 h 1047"/>
                <a:gd name="T16" fmla="*/ 1836 w 1836"/>
                <a:gd name="T17" fmla="*/ 0 h 1047"/>
                <a:gd name="T18" fmla="*/ 0 w 1836"/>
                <a:gd name="T19" fmla="*/ 0 h 1047"/>
                <a:gd name="T20" fmla="*/ 1 w 1836"/>
                <a:gd name="T21" fmla="*/ 235 h 1047"/>
                <a:gd name="T22" fmla="*/ 51 w 1836"/>
                <a:gd name="T23" fmla="*/ 241 h 1047"/>
                <a:gd name="T24" fmla="*/ 104 w 1836"/>
                <a:gd name="T25" fmla="*/ 251 h 1047"/>
                <a:gd name="T26" fmla="*/ 156 w 1836"/>
                <a:gd name="T27" fmla="*/ 262 h 1047"/>
                <a:gd name="T28" fmla="*/ 207 w 1836"/>
                <a:gd name="T29" fmla="*/ 276 h 1047"/>
                <a:gd name="T30" fmla="*/ 256 w 1836"/>
                <a:gd name="T31" fmla="*/ 291 h 1047"/>
                <a:gd name="T32" fmla="*/ 305 w 1836"/>
                <a:gd name="T33" fmla="*/ 309 h 1047"/>
                <a:gd name="T34" fmla="*/ 350 w 1836"/>
                <a:gd name="T35" fmla="*/ 328 h 1047"/>
                <a:gd name="T36" fmla="*/ 396 w 1836"/>
                <a:gd name="T37" fmla="*/ 349 h 1047"/>
                <a:gd name="T38" fmla="*/ 440 w 1836"/>
                <a:gd name="T39" fmla="*/ 372 h 1047"/>
                <a:gd name="T40" fmla="*/ 480 w 1836"/>
                <a:gd name="T41" fmla="*/ 396 h 1047"/>
                <a:gd name="T42" fmla="*/ 519 w 1836"/>
                <a:gd name="T43" fmla="*/ 422 h 1047"/>
                <a:gd name="T44" fmla="*/ 557 w 1836"/>
                <a:gd name="T45" fmla="*/ 449 h 1047"/>
                <a:gd name="T46" fmla="*/ 591 w 1836"/>
                <a:gd name="T47" fmla="*/ 477 h 1047"/>
                <a:gd name="T48" fmla="*/ 624 w 1836"/>
                <a:gd name="T49" fmla="*/ 507 h 1047"/>
                <a:gd name="T50" fmla="*/ 654 w 1836"/>
                <a:gd name="T51" fmla="*/ 539 h 1047"/>
                <a:gd name="T52" fmla="*/ 680 w 1836"/>
                <a:gd name="T53" fmla="*/ 571 h 1047"/>
                <a:gd name="T54" fmla="*/ 705 w 1836"/>
                <a:gd name="T55" fmla="*/ 605 h 1047"/>
                <a:gd name="T56" fmla="*/ 727 w 1836"/>
                <a:gd name="T57" fmla="*/ 639 h 1047"/>
                <a:gd name="T58" fmla="*/ 745 w 1836"/>
                <a:gd name="T59" fmla="*/ 674 h 1047"/>
                <a:gd name="T60" fmla="*/ 761 w 1836"/>
                <a:gd name="T61" fmla="*/ 709 h 1047"/>
                <a:gd name="T62" fmla="*/ 844 w 1836"/>
                <a:gd name="T63" fmla="*/ 698 h 1047"/>
                <a:gd name="T64" fmla="*/ 689 w 1836"/>
                <a:gd name="T65" fmla="*/ 843 h 1047"/>
                <a:gd name="T66" fmla="*/ 436 w 1836"/>
                <a:gd name="T67" fmla="*/ 773 h 1047"/>
                <a:gd name="T68" fmla="*/ 526 w 1836"/>
                <a:gd name="T69" fmla="*/ 755 h 1047"/>
                <a:gd name="T70" fmla="*/ 505 w 1836"/>
                <a:gd name="T71" fmla="*/ 722 h 1047"/>
                <a:gd name="T72" fmla="*/ 480 w 1836"/>
                <a:gd name="T73" fmla="*/ 690 h 1047"/>
                <a:gd name="T74" fmla="*/ 455 w 1836"/>
                <a:gd name="T75" fmla="*/ 660 h 1047"/>
                <a:gd name="T76" fmla="*/ 426 w 1836"/>
                <a:gd name="T77" fmla="*/ 632 h 1047"/>
                <a:gd name="T78" fmla="*/ 396 w 1836"/>
                <a:gd name="T79" fmla="*/ 605 h 1047"/>
                <a:gd name="T80" fmla="*/ 363 w 1836"/>
                <a:gd name="T81" fmla="*/ 581 h 1047"/>
                <a:gd name="T82" fmla="*/ 330 w 1836"/>
                <a:gd name="T83" fmla="*/ 558 h 1047"/>
                <a:gd name="T84" fmla="*/ 294 w 1836"/>
                <a:gd name="T85" fmla="*/ 537 h 1047"/>
                <a:gd name="T86" fmla="*/ 256 w 1836"/>
                <a:gd name="T87" fmla="*/ 519 h 1047"/>
                <a:gd name="T88" fmla="*/ 217 w 1836"/>
                <a:gd name="T89" fmla="*/ 503 h 1047"/>
                <a:gd name="T90" fmla="*/ 176 w 1836"/>
                <a:gd name="T91" fmla="*/ 488 h 1047"/>
                <a:gd name="T92" fmla="*/ 134 w 1836"/>
                <a:gd name="T93" fmla="*/ 476 h 1047"/>
                <a:gd name="T94" fmla="*/ 91 w 1836"/>
                <a:gd name="T95" fmla="*/ 466 h 1047"/>
                <a:gd name="T96" fmla="*/ 46 w 1836"/>
                <a:gd name="T97" fmla="*/ 458 h 1047"/>
                <a:gd name="T98" fmla="*/ 1 w 1836"/>
                <a:gd name="T99" fmla="*/ 452 h 1047"/>
                <a:gd name="T100" fmla="*/ 0 w 1836"/>
                <a:gd name="T101" fmla="*/ 886 h 1047"/>
                <a:gd name="T102" fmla="*/ 507 w 1836"/>
                <a:gd name="T103" fmla="*/ 886 h 1047"/>
                <a:gd name="T104" fmla="*/ 590 w 1836"/>
                <a:gd name="T105" fmla="*/ 886 h 1047"/>
                <a:gd name="T106" fmla="*/ 595 w 1836"/>
                <a:gd name="T107" fmla="*/ 927 h 1047"/>
                <a:gd name="T108" fmla="*/ 598 w 1836"/>
                <a:gd name="T109" fmla="*/ 967 h 1047"/>
                <a:gd name="T110" fmla="*/ 598 w 1836"/>
                <a:gd name="T111" fmla="*/ 1007 h 1047"/>
                <a:gd name="T112" fmla="*/ 595 w 1836"/>
                <a:gd name="T113" fmla="*/ 1047 h 104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836" h="1047">
                  <a:moveTo>
                    <a:pt x="897" y="1047"/>
                  </a:moveTo>
                  <a:lnTo>
                    <a:pt x="903" y="1016"/>
                  </a:lnTo>
                  <a:lnTo>
                    <a:pt x="904" y="983"/>
                  </a:lnTo>
                  <a:lnTo>
                    <a:pt x="904" y="951"/>
                  </a:lnTo>
                  <a:lnTo>
                    <a:pt x="902" y="919"/>
                  </a:lnTo>
                  <a:lnTo>
                    <a:pt x="896" y="886"/>
                  </a:lnTo>
                  <a:lnTo>
                    <a:pt x="949" y="886"/>
                  </a:lnTo>
                  <a:lnTo>
                    <a:pt x="1836" y="886"/>
                  </a:lnTo>
                  <a:lnTo>
                    <a:pt x="1836" y="0"/>
                  </a:lnTo>
                  <a:lnTo>
                    <a:pt x="0" y="0"/>
                  </a:lnTo>
                  <a:lnTo>
                    <a:pt x="1" y="235"/>
                  </a:lnTo>
                  <a:lnTo>
                    <a:pt x="51" y="241"/>
                  </a:lnTo>
                  <a:lnTo>
                    <a:pt x="104" y="251"/>
                  </a:lnTo>
                  <a:lnTo>
                    <a:pt x="156" y="262"/>
                  </a:lnTo>
                  <a:lnTo>
                    <a:pt x="207" y="276"/>
                  </a:lnTo>
                  <a:lnTo>
                    <a:pt x="256" y="291"/>
                  </a:lnTo>
                  <a:lnTo>
                    <a:pt x="305" y="309"/>
                  </a:lnTo>
                  <a:lnTo>
                    <a:pt x="350" y="328"/>
                  </a:lnTo>
                  <a:lnTo>
                    <a:pt x="396" y="349"/>
                  </a:lnTo>
                  <a:lnTo>
                    <a:pt x="440" y="372"/>
                  </a:lnTo>
                  <a:lnTo>
                    <a:pt x="480" y="396"/>
                  </a:lnTo>
                  <a:lnTo>
                    <a:pt x="519" y="422"/>
                  </a:lnTo>
                  <a:lnTo>
                    <a:pt x="557" y="449"/>
                  </a:lnTo>
                  <a:lnTo>
                    <a:pt x="591" y="477"/>
                  </a:lnTo>
                  <a:lnTo>
                    <a:pt x="624" y="507"/>
                  </a:lnTo>
                  <a:lnTo>
                    <a:pt x="654" y="539"/>
                  </a:lnTo>
                  <a:lnTo>
                    <a:pt x="680" y="571"/>
                  </a:lnTo>
                  <a:lnTo>
                    <a:pt x="705" y="605"/>
                  </a:lnTo>
                  <a:lnTo>
                    <a:pt x="727" y="639"/>
                  </a:lnTo>
                  <a:lnTo>
                    <a:pt x="745" y="674"/>
                  </a:lnTo>
                  <a:lnTo>
                    <a:pt x="761" y="709"/>
                  </a:lnTo>
                  <a:lnTo>
                    <a:pt x="844" y="698"/>
                  </a:lnTo>
                  <a:lnTo>
                    <a:pt x="689" y="843"/>
                  </a:lnTo>
                  <a:lnTo>
                    <a:pt x="436" y="773"/>
                  </a:lnTo>
                  <a:lnTo>
                    <a:pt x="526" y="755"/>
                  </a:lnTo>
                  <a:lnTo>
                    <a:pt x="505" y="722"/>
                  </a:lnTo>
                  <a:lnTo>
                    <a:pt x="480" y="690"/>
                  </a:lnTo>
                  <a:lnTo>
                    <a:pt x="455" y="660"/>
                  </a:lnTo>
                  <a:lnTo>
                    <a:pt x="426" y="632"/>
                  </a:lnTo>
                  <a:lnTo>
                    <a:pt x="396" y="605"/>
                  </a:lnTo>
                  <a:lnTo>
                    <a:pt x="363" y="581"/>
                  </a:lnTo>
                  <a:lnTo>
                    <a:pt x="330" y="558"/>
                  </a:lnTo>
                  <a:lnTo>
                    <a:pt x="294" y="537"/>
                  </a:lnTo>
                  <a:lnTo>
                    <a:pt x="256" y="519"/>
                  </a:lnTo>
                  <a:lnTo>
                    <a:pt x="217" y="503"/>
                  </a:lnTo>
                  <a:lnTo>
                    <a:pt x="176" y="488"/>
                  </a:lnTo>
                  <a:lnTo>
                    <a:pt x="134" y="476"/>
                  </a:lnTo>
                  <a:lnTo>
                    <a:pt x="91" y="466"/>
                  </a:lnTo>
                  <a:lnTo>
                    <a:pt x="46" y="458"/>
                  </a:lnTo>
                  <a:lnTo>
                    <a:pt x="1" y="452"/>
                  </a:lnTo>
                  <a:lnTo>
                    <a:pt x="0" y="886"/>
                  </a:lnTo>
                  <a:lnTo>
                    <a:pt x="507" y="886"/>
                  </a:lnTo>
                  <a:lnTo>
                    <a:pt x="590" y="886"/>
                  </a:lnTo>
                  <a:lnTo>
                    <a:pt x="595" y="927"/>
                  </a:lnTo>
                  <a:lnTo>
                    <a:pt x="598" y="967"/>
                  </a:lnTo>
                  <a:lnTo>
                    <a:pt x="598" y="1007"/>
                  </a:lnTo>
                  <a:lnTo>
                    <a:pt x="595" y="1047"/>
                  </a:lnTo>
                </a:path>
              </a:pathLst>
            </a:custGeom>
            <a:solidFill>
              <a:srgbClr val="EAEAEA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7246FEF7-E21A-8CC6-1AFC-A36CFA00A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2407"/>
              <a:ext cx="1815" cy="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72000" rIns="72000" bIns="72000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ACT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Make this the new </a:t>
              </a:r>
              <a:b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standard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Celebrate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Do it again!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Document reality</a:t>
              </a:r>
              <a:endParaRPr lang="en-GB" altLang="en-US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Rectangle 13">
              <a:extLst>
                <a:ext uri="{FF2B5EF4-FFF2-40B4-BE49-F238E27FC236}">
                  <a16:creationId xmlns:a16="http://schemas.microsoft.com/office/drawing/2014/main" id="{7606D970-C272-3B81-96C9-B5BE93137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" y="2413"/>
              <a:ext cx="1839" cy="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63040" tIns="72000" rIns="45720" bIns="46038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CHECK</a:t>
              </a:r>
            </a:p>
            <a:p>
              <a:pPr marL="285750" indent="-285750" algn="r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Verify Change</a:t>
              </a:r>
            </a:p>
            <a:p>
              <a:pPr marL="285750" indent="-285750" algn="r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Quantify Results</a:t>
              </a:r>
            </a:p>
          </p:txBody>
        </p:sp>
        <p:sp>
          <p:nvSpPr>
            <p:cNvPr id="24" name="Rectangle 14">
              <a:extLst>
                <a:ext uri="{FF2B5EF4-FFF2-40B4-BE49-F238E27FC236}">
                  <a16:creationId xmlns:a16="http://schemas.microsoft.com/office/drawing/2014/main" id="{DF811756-198C-649B-8C07-FD9E8805B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366"/>
              <a:ext cx="1815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72000" rIns="72000" bIns="72000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PLAN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Clr>
                  <a:schemeClr val="bg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Identify Waste, normal vs. abnormal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Clr>
                  <a:schemeClr val="bg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Plan Countermeasures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Clr>
                  <a:schemeClr val="bg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Reality Check</a:t>
              </a:r>
              <a:endParaRPr lang="en-GB" altLang="en-US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2CFC03A6-5CC5-DBE3-DFA7-7AA8FF8FB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372"/>
              <a:ext cx="1839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63040" tIns="72000" rIns="45720" bIns="46038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DO</a:t>
              </a:r>
            </a:p>
            <a:p>
              <a:pPr marL="285750" indent="-285750" algn="r">
                <a:lnSpc>
                  <a:spcPct val="100000"/>
                </a:lnSpc>
                <a:spcBef>
                  <a:spcPct val="30000"/>
                </a:spcBef>
                <a:buClr>
                  <a:srgbClr val="000066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Make Change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4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10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582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Selecting and Planning Kaizen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EE57ED-770D-9943-DA7C-0B71E3F069F9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531636-9F17-05D3-F2C3-793CC3D65F6B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29" name="AutoShape 9">
                <a:extLst>
                  <a:ext uri="{FF2B5EF4-FFF2-40B4-BE49-F238E27FC236}">
                    <a16:creationId xmlns:a16="http://schemas.microsoft.com/office/drawing/2014/main" id="{FAC6F99F-198C-4BD3-6B9A-86DDB491F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0" name="AutoShape 9">
                <a:extLst>
                  <a:ext uri="{FF2B5EF4-FFF2-40B4-BE49-F238E27FC236}">
                    <a16:creationId xmlns:a16="http://schemas.microsoft.com/office/drawing/2014/main" id="{92F492CB-4FB7-DD89-DABB-5D75C1EE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0134879-2EED-AD76-08FC-5453AEB65346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32" name="AutoShape 9">
                  <a:extLst>
                    <a:ext uri="{FF2B5EF4-FFF2-40B4-BE49-F238E27FC236}">
                      <a16:creationId xmlns:a16="http://schemas.microsoft.com/office/drawing/2014/main" id="{321CA269-1945-5F00-232D-A19B72DAE6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33" name="AutoShape 11">
                  <a:extLst>
                    <a:ext uri="{FF2B5EF4-FFF2-40B4-BE49-F238E27FC236}">
                      <a16:creationId xmlns:a16="http://schemas.microsoft.com/office/drawing/2014/main" id="{1D10673F-A6DE-E727-9914-98680DB75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" name="AutoShape 10">
                  <a:extLst>
                    <a:ext uri="{FF2B5EF4-FFF2-40B4-BE49-F238E27FC236}">
                      <a16:creationId xmlns:a16="http://schemas.microsoft.com/office/drawing/2014/main" id="{B94E6655-6BF9-6566-EA68-C95E8C97C5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E5248F5-C517-9A8E-59F5-3D8C80B422B7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380D47-0DF0-410C-DBC6-51FD90B0DED8}"/>
              </a:ext>
            </a:extLst>
          </p:cNvPr>
          <p:cNvGrpSpPr/>
          <p:nvPr/>
        </p:nvGrpSpPr>
        <p:grpSpPr>
          <a:xfrm>
            <a:off x="1057651" y="1783429"/>
            <a:ext cx="9691280" cy="4372896"/>
            <a:chOff x="366713" y="1462088"/>
            <a:chExt cx="8262937" cy="4694237"/>
          </a:xfrm>
        </p:grpSpPr>
        <p:pic>
          <p:nvPicPr>
            <p:cNvPr id="35" name="Picture 37" descr="kaize event plan">
              <a:extLst>
                <a:ext uri="{FF2B5EF4-FFF2-40B4-BE49-F238E27FC236}">
                  <a16:creationId xmlns:a16="http://schemas.microsoft.com/office/drawing/2014/main" id="{C36B74A8-02C7-7CF7-82CC-D6A1A678C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0400" y="2892425"/>
              <a:ext cx="2889250" cy="173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35" descr="sd1">
              <a:extLst>
                <a:ext uri="{FF2B5EF4-FFF2-40B4-BE49-F238E27FC236}">
                  <a16:creationId xmlns:a16="http://schemas.microsoft.com/office/drawing/2014/main" id="{F5A65C9B-E4C7-F84B-64B9-47E84FF47F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2125" y="1462088"/>
              <a:ext cx="2355850" cy="1382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3" descr="kaiz news">
              <a:extLst>
                <a:ext uri="{FF2B5EF4-FFF2-40B4-BE49-F238E27FC236}">
                  <a16:creationId xmlns:a16="http://schemas.microsoft.com/office/drawing/2014/main" id="{C0A9E664-F2B8-34E8-3724-9A8C732DC4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5775" y="4708525"/>
              <a:ext cx="2438400" cy="144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2" descr="vs plan">
              <a:extLst>
                <a:ext uri="{FF2B5EF4-FFF2-40B4-BE49-F238E27FC236}">
                  <a16:creationId xmlns:a16="http://schemas.microsoft.com/office/drawing/2014/main" id="{678AA2E6-DD12-AD07-0AD2-E376C2C303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1013" y="3043238"/>
              <a:ext cx="2419350" cy="1409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 Box 3">
              <a:extLst>
                <a:ext uri="{FF2B5EF4-FFF2-40B4-BE49-F238E27FC236}">
                  <a16:creationId xmlns:a16="http://schemas.microsoft.com/office/drawing/2014/main" id="{7D2F5259-CAF2-5D9B-F903-38F467384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25" y="1695450"/>
              <a:ext cx="1463675" cy="89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Strategy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Deployment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Action Plan</a:t>
              </a:r>
            </a:p>
          </p:txBody>
        </p:sp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9E423BF4-80E6-E8CC-E906-5115DA635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00" y="3279775"/>
              <a:ext cx="981075" cy="89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Value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Stream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Plan</a:t>
              </a:r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39C64754-BE3E-36C7-1701-F500C0E5E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13" y="4835526"/>
              <a:ext cx="1422400" cy="627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Kaizen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Newspaper</a:t>
              </a:r>
            </a:p>
          </p:txBody>
        </p:sp>
        <p:sp>
          <p:nvSpPr>
            <p:cNvPr id="42" name="AutoShape 6">
              <a:extLst>
                <a:ext uri="{FF2B5EF4-FFF2-40B4-BE49-F238E27FC236}">
                  <a16:creationId xmlns:a16="http://schemas.microsoft.com/office/drawing/2014/main" id="{FA5CC493-FFD0-E6DC-A2E5-A9718466B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2613025"/>
              <a:ext cx="1371600" cy="2403475"/>
            </a:xfrm>
            <a:custGeom>
              <a:avLst/>
              <a:gdLst>
                <a:gd name="T0" fmla="*/ 1028700 w 21600"/>
                <a:gd name="T1" fmla="*/ 0 h 21600"/>
                <a:gd name="T2" fmla="*/ 0 w 21600"/>
                <a:gd name="T3" fmla="*/ 1201738 h 21600"/>
                <a:gd name="T4" fmla="*/ 1028700 w 21600"/>
                <a:gd name="T5" fmla="*/ 2403475 h 21600"/>
                <a:gd name="T6" fmla="*/ 1371600 w 21600"/>
                <a:gd name="T7" fmla="*/ 1201738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25CBDD12-4182-8300-B139-EAE1B07BE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4975" y="2509838"/>
              <a:ext cx="2241550" cy="363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Kaizen Event Plan</a:t>
              </a:r>
            </a:p>
          </p:txBody>
        </p:sp>
        <p:sp>
          <p:nvSpPr>
            <p:cNvPr id="44" name="Text Box 9">
              <a:extLst>
                <a:ext uri="{FF2B5EF4-FFF2-40B4-BE49-F238E27FC236}">
                  <a16:creationId xmlns:a16="http://schemas.microsoft.com/office/drawing/2014/main" id="{3A3C9D8C-0CD0-41A6-9B40-7ADA4C9BA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513" y="3322638"/>
              <a:ext cx="892758" cy="931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1125" indent="-1111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6858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</a:pPr>
              <a:r>
                <a:rPr lang="en-US" altLang="en-US" sz="14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Review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</a:pPr>
              <a:r>
                <a:rPr lang="en-US" altLang="en-US" sz="14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Prioritize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</a:pPr>
              <a:r>
                <a:rPr lang="en-US" altLang="en-US" sz="14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Schedule</a:t>
              </a: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BBB51EDE-72D8-68F5-EAB3-2588838A8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588" y="5187949"/>
              <a:ext cx="3564746" cy="631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 i="1">
                  <a:latin typeface="Roboto" panose="02000000000000000000" pitchFamily="2" charset="0"/>
                  <a:ea typeface="Roboto" panose="02000000000000000000" pitchFamily="2" charset="0"/>
                </a:rPr>
                <a:t>Avoid Drive-by Kaizen!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400" i="1">
                  <a:latin typeface="Roboto" panose="02000000000000000000" pitchFamily="2" charset="0"/>
                </a:rPr>
                <a:t>“</a:t>
              </a:r>
              <a:r>
                <a:rPr lang="en-US" altLang="ja-JP" sz="1400" i="1">
                  <a:latin typeface="Roboto" panose="02000000000000000000" pitchFamily="2" charset="0"/>
                  <a:ea typeface="Roboto" panose="02000000000000000000" pitchFamily="2" charset="0"/>
                </a:rPr>
                <a:t>Don</a:t>
              </a:r>
              <a:r>
                <a:rPr lang="ja-JP" altLang="en-US" sz="1400" i="1">
                  <a:latin typeface="Roboto" panose="02000000000000000000" pitchFamily="2" charset="0"/>
                </a:rPr>
                <a:t>’</a:t>
              </a:r>
              <a:r>
                <a:rPr lang="en-US" altLang="ja-JP" sz="1400" i="1">
                  <a:latin typeface="Roboto" panose="02000000000000000000" pitchFamily="2" charset="0"/>
                  <a:ea typeface="Roboto" panose="02000000000000000000" pitchFamily="2" charset="0"/>
                </a:rPr>
                <a:t>t shoot everything that moves</a:t>
              </a:r>
              <a:r>
                <a:rPr lang="ja-JP" altLang="en-US" sz="1400" i="1">
                  <a:latin typeface="Roboto" panose="02000000000000000000" pitchFamily="2" charset="0"/>
                </a:rPr>
                <a:t>”</a:t>
              </a:r>
              <a:r>
                <a:rPr lang="en-US" altLang="ja-JP" sz="1400" i="1">
                  <a:latin typeface="Roboto" panose="02000000000000000000" pitchFamily="2" charset="0"/>
                  <a:ea typeface="Roboto" panose="02000000000000000000" pitchFamily="2" charset="0"/>
                </a:rPr>
                <a:t> (with kaizen)</a:t>
              </a:r>
              <a:endParaRPr lang="en-US" altLang="en-US" sz="1400" i="1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71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Scoping a Kaizen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Kaizen is small incremental change</a:t>
            </a:r>
          </a:p>
          <a:p>
            <a:pPr lvl="1"/>
            <a:r>
              <a:rPr lang="en-US" dirty="0"/>
              <a:t>Don’t try to “eat the elephant” in one bite</a:t>
            </a:r>
          </a:p>
          <a:p>
            <a:pPr lvl="1"/>
            <a:r>
              <a:rPr lang="en-US" dirty="0"/>
              <a:t>Strive for more small and successful events</a:t>
            </a:r>
          </a:p>
          <a:p>
            <a:r>
              <a:rPr lang="en-US" dirty="0"/>
              <a:t>Should be accomplished within a week</a:t>
            </a:r>
          </a:p>
          <a:p>
            <a:pPr lvl="1"/>
            <a:r>
              <a:rPr lang="en-US" dirty="0"/>
              <a:t>If not, plan several events</a:t>
            </a:r>
          </a:p>
          <a:p>
            <a:pPr lvl="1"/>
            <a:r>
              <a:rPr lang="en-US" dirty="0"/>
              <a:t>Improvements should be made during the event, not just planned</a:t>
            </a:r>
          </a:p>
          <a:p>
            <a:pPr lvl="1"/>
            <a:r>
              <a:rPr lang="en-US" dirty="0"/>
              <a:t>Should not prevent stretch goals from being set</a:t>
            </a:r>
          </a:p>
          <a:p>
            <a:pPr lvl="1"/>
            <a:r>
              <a:rPr lang="en-US" dirty="0"/>
              <a:t>Kaizen teams need to “win”</a:t>
            </a:r>
          </a:p>
          <a:p>
            <a:r>
              <a:rPr lang="en-US" dirty="0"/>
              <a:t>Be careful about declaring “Monuments”</a:t>
            </a:r>
          </a:p>
          <a:p>
            <a:pPr lvl="1"/>
            <a:r>
              <a:rPr lang="en-US" dirty="0"/>
              <a:t>Things or areas declared as “off-limits” to the kaizen team</a:t>
            </a:r>
          </a:p>
          <a:p>
            <a:pPr lvl="1"/>
            <a:r>
              <a:rPr lang="en-US" dirty="0"/>
              <a:t>Too many Monuments = paralysis and suboptimal change</a:t>
            </a:r>
          </a:p>
          <a:p>
            <a:pPr lvl="1"/>
            <a:r>
              <a:rPr lang="en-US" dirty="0"/>
              <a:t>Teams need to be empowered to make (not recommend)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33C8AE-E30B-2720-CBF4-FE5A8C3E0F0A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BE82EE-03C7-3089-D71D-7F7678470850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B38FBC-ABC6-CB0B-A859-F542003AB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6919277-357F-018D-41B4-81DB5BA11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B46FC-A9BE-D838-56D4-BF495F44638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A9BD9525-6A4D-513A-331C-F54548C59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BC89CCAA-CD1F-4949-803D-BB1A96D04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D8F93561-B541-AF8E-C664-A4B9044E6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79917-E9B3-33F0-DDB5-00ADA04318C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5954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Kaizen Event Charter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33C8AE-E30B-2720-CBF4-FE5A8C3E0F0A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BE82EE-03C7-3089-D71D-7F7678470850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B38FBC-ABC6-CB0B-A859-F542003AB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6919277-357F-018D-41B4-81DB5BA11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B46FC-A9BE-D838-56D4-BF495F44638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A9BD9525-6A4D-513A-331C-F54548C59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BC89CCAA-CD1F-4949-803D-BB1A96D04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D8F93561-B541-AF8E-C664-A4B9044E6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79917-E9B3-33F0-DDB5-00ADA04318C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EA74C8E-4F27-1D73-74B8-5E38FC8E3C49}"/>
              </a:ext>
            </a:extLst>
          </p:cNvPr>
          <p:cNvGrpSpPr/>
          <p:nvPr/>
        </p:nvGrpSpPr>
        <p:grpSpPr>
          <a:xfrm>
            <a:off x="1140937" y="1880553"/>
            <a:ext cx="9910127" cy="4296410"/>
            <a:chOff x="468313" y="1435100"/>
            <a:chExt cx="8256587" cy="4781550"/>
          </a:xfrm>
        </p:grpSpPr>
        <p:pic>
          <p:nvPicPr>
            <p:cNvPr id="16" name="Picture 62" descr="run chart">
              <a:extLst>
                <a:ext uri="{FF2B5EF4-FFF2-40B4-BE49-F238E27FC236}">
                  <a16:creationId xmlns:a16="http://schemas.microsoft.com/office/drawing/2014/main" id="{8603D006-2A82-03C8-9546-5AD98EF40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7900" y="1755775"/>
              <a:ext cx="22383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1D83ADB-D8E9-B1BC-4F9B-303F216F50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3138488"/>
              <a:ext cx="4046538" cy="1171575"/>
              <a:chOff x="96" y="2064"/>
              <a:chExt cx="2688" cy="768"/>
            </a:xfrm>
          </p:grpSpPr>
          <p:sp>
            <p:nvSpPr>
              <p:cNvPr id="18" name="Text Box 5">
                <a:extLst>
                  <a:ext uri="{FF2B5EF4-FFF2-40B4-BE49-F238E27FC236}">
                    <a16:creationId xmlns:a16="http://schemas.microsoft.com/office/drawing/2014/main" id="{258C4054-1DAD-B417-CD7A-A94D8E817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" y="2285"/>
                <a:ext cx="2591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Reduce &lt;clearly-defined metric&gt; by xx% (from $</a:t>
                </a: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xxM</a:t>
                </a: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 to $.</a:t>
                </a: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xM</a:t>
                </a: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) by MM/DD/YY. Tie to </a:t>
                </a:r>
                <a:r>
                  <a:rPr lang="ja-JP" altLang="en-US" sz="1400" b="0" dirty="0">
                    <a:latin typeface="Roboto" panose="02000000000000000000" pitchFamily="2" charset="0"/>
                  </a:rPr>
                  <a:t>“</a:t>
                </a:r>
                <a:r>
                  <a:rPr lang="en-US" altLang="ja-JP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Opportunity</a:t>
                </a:r>
                <a:r>
                  <a:rPr lang="ja-JP" altLang="en-US" sz="1400" b="0" dirty="0">
                    <a:latin typeface="Roboto" panose="02000000000000000000" pitchFamily="2" charset="0"/>
                  </a:rPr>
                  <a:t>”</a:t>
                </a:r>
                <a:r>
                  <a:rPr lang="en-US" altLang="ja-JP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 data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9" name="Rectangle 6">
                <a:extLst>
                  <a:ext uri="{FF2B5EF4-FFF2-40B4-BE49-F238E27FC236}">
                    <a16:creationId xmlns:a16="http://schemas.microsoft.com/office/drawing/2014/main" id="{0446694A-B9F3-ECF1-ED26-3BB7F0825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064"/>
                <a:ext cx="2688" cy="7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en-US" sz="2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0" name="Text Box 7">
                <a:extLst>
                  <a:ext uri="{FF2B5EF4-FFF2-40B4-BE49-F238E27FC236}">
                    <a16:creationId xmlns:a16="http://schemas.microsoft.com/office/drawing/2014/main" id="{B93171B6-3BF3-8E53-0D2C-B9E819640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064"/>
                <a:ext cx="658" cy="20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>
                    <a:latin typeface="Roboto" panose="02000000000000000000" pitchFamily="2" charset="0"/>
                    <a:ea typeface="Roboto" panose="02000000000000000000" pitchFamily="2" charset="0"/>
                  </a:rPr>
                  <a:t>Target</a:t>
                </a:r>
              </a:p>
            </p:txBody>
          </p:sp>
        </p:grpSp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24CA79BB-13B4-DEAF-F8BA-59E479A14A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7250" y="4676775"/>
              <a:ext cx="4046538" cy="1539875"/>
              <a:chOff x="2880" y="3072"/>
              <a:chExt cx="2688" cy="1008"/>
            </a:xfrm>
          </p:grpSpPr>
          <p:sp>
            <p:nvSpPr>
              <p:cNvPr id="22" name="Rectangle 9">
                <a:extLst>
                  <a:ext uri="{FF2B5EF4-FFF2-40B4-BE49-F238E27FC236}">
                    <a16:creationId xmlns:a16="http://schemas.microsoft.com/office/drawing/2014/main" id="{DB6A2A89-34D9-EF6A-60F3-FC32A7D9D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072"/>
                <a:ext cx="2688" cy="10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0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3" name="Text Box 10">
                <a:extLst>
                  <a:ext uri="{FF2B5EF4-FFF2-40B4-BE49-F238E27FC236}">
                    <a16:creationId xmlns:a16="http://schemas.microsoft.com/office/drawing/2014/main" id="{EA0D0F49-7F74-645E-9BF6-777DE989A8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072"/>
                <a:ext cx="494" cy="20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>
                    <a:latin typeface="Roboto" panose="02000000000000000000" pitchFamily="2" charset="0"/>
                    <a:ea typeface="Roboto" panose="02000000000000000000" pitchFamily="2" charset="0"/>
                  </a:rPr>
                  <a:t>Team</a:t>
                </a:r>
              </a:p>
            </p:txBody>
          </p:sp>
          <p:sp>
            <p:nvSpPr>
              <p:cNvPr id="24" name="Rectangle 11">
                <a:extLst>
                  <a:ext uri="{FF2B5EF4-FFF2-40B4-BE49-F238E27FC236}">
                    <a16:creationId xmlns:a16="http://schemas.microsoft.com/office/drawing/2014/main" id="{0B9F604F-D497-8D33-88EA-67A816D0F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4" y="3105"/>
                <a:ext cx="163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57200" indent="-4572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Team Leader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Facilitator (Sensei)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</p:txBody>
          </p:sp>
        </p:grpSp>
        <p:grpSp>
          <p:nvGrpSpPr>
            <p:cNvPr id="25" name="Group 12">
              <a:extLst>
                <a:ext uri="{FF2B5EF4-FFF2-40B4-BE49-F238E27FC236}">
                  <a16:creationId xmlns:a16="http://schemas.microsoft.com/office/drawing/2014/main" id="{BFBBB987-7C16-4D11-F21A-BE02463602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7250" y="3118529"/>
              <a:ext cx="4046538" cy="1351871"/>
              <a:chOff x="2880" y="2139"/>
              <a:chExt cx="2688" cy="886"/>
            </a:xfrm>
          </p:grpSpPr>
          <p:sp>
            <p:nvSpPr>
              <p:cNvPr id="26" name="Text Box 13">
                <a:extLst>
                  <a:ext uri="{FF2B5EF4-FFF2-40B4-BE49-F238E27FC236}">
                    <a16:creationId xmlns:a16="http://schemas.microsoft.com/office/drawing/2014/main" id="{045615E3-AD24-1911-A86B-4446DFA802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160"/>
                <a:ext cx="1345" cy="17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7" name="Text Box 14">
                <a:extLst>
                  <a:ext uri="{FF2B5EF4-FFF2-40B4-BE49-F238E27FC236}">
                    <a16:creationId xmlns:a16="http://schemas.microsoft.com/office/drawing/2014/main" id="{2227CF26-7EFD-B7F6-61B6-A57B026CD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160"/>
                <a:ext cx="397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Scope</a:t>
                </a:r>
              </a:p>
            </p:txBody>
          </p:sp>
          <p:grpSp>
            <p:nvGrpSpPr>
              <p:cNvPr id="28" name="Group 15">
                <a:extLst>
                  <a:ext uri="{FF2B5EF4-FFF2-40B4-BE49-F238E27FC236}">
                    <a16:creationId xmlns:a16="http://schemas.microsoft.com/office/drawing/2014/main" id="{71D3EE9E-509E-F3A5-0540-DC2BEFF080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160"/>
                <a:ext cx="336" cy="43"/>
                <a:chOff x="96" y="1776"/>
                <a:chExt cx="336" cy="144"/>
              </a:xfrm>
            </p:grpSpPr>
            <p:sp>
              <p:nvSpPr>
                <p:cNvPr id="35" name="Line 16">
                  <a:extLst>
                    <a:ext uri="{FF2B5EF4-FFF2-40B4-BE49-F238E27FC236}">
                      <a16:creationId xmlns:a16="http://schemas.microsoft.com/office/drawing/2014/main" id="{A28D01B0-8880-2A09-6BE6-EAED3629F0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1777"/>
                  <a:ext cx="0" cy="1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0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6" name="Line 17">
                  <a:extLst>
                    <a:ext uri="{FF2B5EF4-FFF2-40B4-BE49-F238E27FC236}">
                      <a16:creationId xmlns:a16="http://schemas.microsoft.com/office/drawing/2014/main" id="{B69C4A25-514D-479E-82EC-B8D67B6991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" y="192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0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  <p:sp>
            <p:nvSpPr>
              <p:cNvPr id="29" name="Text Box 18">
                <a:extLst>
                  <a:ext uri="{FF2B5EF4-FFF2-40B4-BE49-F238E27FC236}">
                    <a16:creationId xmlns:a16="http://schemas.microsoft.com/office/drawing/2014/main" id="{DFCD332B-04E7-66B1-7EBC-C231719302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160"/>
                <a:ext cx="494" cy="20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 dirty="0">
                    <a:latin typeface="Roboto" panose="02000000000000000000" pitchFamily="2" charset="0"/>
                    <a:ea typeface="Roboto" panose="02000000000000000000" pitchFamily="2" charset="0"/>
                  </a:rPr>
                  <a:t>Scope</a:t>
                </a:r>
              </a:p>
            </p:txBody>
          </p:sp>
          <p:sp>
            <p:nvSpPr>
              <p:cNvPr id="30" name="Text Box 19">
                <a:extLst>
                  <a:ext uri="{FF2B5EF4-FFF2-40B4-BE49-F238E27FC236}">
                    <a16:creationId xmlns:a16="http://schemas.microsoft.com/office/drawing/2014/main" id="{FBB7EBE6-7DA1-B38E-D97C-0F9610B18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333"/>
                <a:ext cx="1345" cy="6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1125" indent="-111125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59708443-1AE0-95B3-FB4D-0AEEF0CB6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3" y="2139"/>
                <a:ext cx="18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25000"/>
                  </a:spcBef>
                </a:pPr>
                <a:r>
                  <a:rPr lang="en-US" altLang="en-US" sz="1400" b="0" u="sng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</a:t>
                </a:r>
              </a:p>
            </p:txBody>
          </p:sp>
          <p:sp>
            <p:nvSpPr>
              <p:cNvPr id="34" name="Text Box 23">
                <a:extLst>
                  <a:ext uri="{FF2B5EF4-FFF2-40B4-BE49-F238E27FC236}">
                    <a16:creationId xmlns:a16="http://schemas.microsoft.com/office/drawing/2014/main" id="{2501209F-CA1A-1855-A23F-4670216FD9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161"/>
                <a:ext cx="1343" cy="17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endParaRPr lang="en-US" altLang="en-US" sz="14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" name="Rectangle 21">
                <a:extLst>
                  <a:ext uri="{FF2B5EF4-FFF2-40B4-BE49-F238E27FC236}">
                    <a16:creationId xmlns:a16="http://schemas.microsoft.com/office/drawing/2014/main" id="{3F88833A-19FA-17ED-F537-CED5622A8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" y="2139"/>
                <a:ext cx="258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25000"/>
                  </a:spcBef>
                </a:pPr>
                <a:r>
                  <a:rPr lang="en-US" altLang="en-US" sz="1400" b="0" u="sng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Out</a:t>
                </a:r>
              </a:p>
            </p:txBody>
          </p:sp>
          <p:sp>
            <p:nvSpPr>
              <p:cNvPr id="33" name="Text Box 22">
                <a:extLst>
                  <a:ext uri="{FF2B5EF4-FFF2-40B4-BE49-F238E27FC236}">
                    <a16:creationId xmlns:a16="http://schemas.microsoft.com/office/drawing/2014/main" id="{42323512-9D78-32CE-4A4F-6D3B85B8B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5" y="2334"/>
                <a:ext cx="1343" cy="6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1125" indent="-111125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7" name="Group 24">
              <a:extLst>
                <a:ext uri="{FF2B5EF4-FFF2-40B4-BE49-F238E27FC236}">
                  <a16:creationId xmlns:a16="http://schemas.microsoft.com/office/drawing/2014/main" id="{57138AD6-C993-E0F6-F570-0E4E0D8018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363" y="1457325"/>
              <a:ext cx="4048125" cy="1582738"/>
              <a:chOff x="104" y="964"/>
              <a:chExt cx="2688" cy="1036"/>
            </a:xfrm>
          </p:grpSpPr>
          <p:grpSp>
            <p:nvGrpSpPr>
              <p:cNvPr id="38" name="Group 25">
                <a:extLst>
                  <a:ext uri="{FF2B5EF4-FFF2-40B4-BE49-F238E27FC236}">
                    <a16:creationId xmlns:a16="http://schemas.microsoft.com/office/drawing/2014/main" id="{C96EE965-9447-B878-44E0-9F11FBE629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" y="964"/>
                <a:ext cx="2688" cy="1036"/>
                <a:chOff x="96" y="528"/>
                <a:chExt cx="2688" cy="1036"/>
              </a:xfrm>
            </p:grpSpPr>
            <p:sp>
              <p:nvSpPr>
                <p:cNvPr id="40" name="Text Box 26">
                  <a:extLst>
                    <a:ext uri="{FF2B5EF4-FFF2-40B4-BE49-F238E27FC236}">
                      <a16:creationId xmlns:a16="http://schemas.microsoft.com/office/drawing/2014/main" id="{1F0F5D6A-8760-A503-28F4-97EF0AA20D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" y="528"/>
                  <a:ext cx="2688" cy="103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400" b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05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05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41" name="Text Box 27">
                  <a:extLst>
                    <a:ext uri="{FF2B5EF4-FFF2-40B4-BE49-F238E27FC236}">
                      <a16:creationId xmlns:a16="http://schemas.microsoft.com/office/drawing/2014/main" id="{18129533-4361-41C8-24EA-C82C5FD1F4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" y="528"/>
                  <a:ext cx="1822" cy="209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>
                    <a:lnSpc>
                      <a:spcPct val="90000"/>
                    </a:lnSpc>
                    <a:spcBef>
                      <a:spcPct val="50000"/>
                    </a:spcBef>
                  </a:pPr>
                  <a:r>
                    <a:rPr lang="en-US" altLang="en-US" sz="1400">
                      <a:latin typeface="Roboto" panose="02000000000000000000" pitchFamily="2" charset="0"/>
                      <a:ea typeface="Roboto" panose="02000000000000000000" pitchFamily="2" charset="0"/>
                    </a:rPr>
                    <a:t>Business Case /Strategic Alignment</a:t>
                  </a:r>
                </a:p>
              </p:txBody>
            </p:sp>
          </p:grpSp>
          <p:sp>
            <p:nvSpPr>
              <p:cNvPr id="39" name="Text Box 28">
                <a:extLst>
                  <a:ext uri="{FF2B5EF4-FFF2-40B4-BE49-F238E27FC236}">
                    <a16:creationId xmlns:a16="http://schemas.microsoft.com/office/drawing/2014/main" id="{4CBF8E3B-2E70-73C5-B6F8-1B87DEE81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" y="1303"/>
                <a:ext cx="2366" cy="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111125" indent="-111125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1-3 sentences why this event is being chartered. </a:t>
                </a:r>
              </a:p>
              <a:p>
                <a:pPr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Link to SD Action Plan, VSM or other business goal</a:t>
                </a:r>
              </a:p>
            </p:txBody>
          </p:sp>
        </p:grpSp>
        <p:grpSp>
          <p:nvGrpSpPr>
            <p:cNvPr id="42" name="Group 30">
              <a:extLst>
                <a:ext uri="{FF2B5EF4-FFF2-40B4-BE49-F238E27FC236}">
                  <a16:creationId xmlns:a16="http://schemas.microsoft.com/office/drawing/2014/main" id="{56C9CE1C-AC92-48BF-7DEA-E06217CEB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8363" y="1435100"/>
              <a:ext cx="4046537" cy="1598613"/>
              <a:chOff x="2880" y="528"/>
              <a:chExt cx="2688" cy="1047"/>
            </a:xfrm>
          </p:grpSpPr>
          <p:sp>
            <p:nvSpPr>
              <p:cNvPr id="43" name="Text Box 31">
                <a:extLst>
                  <a:ext uri="{FF2B5EF4-FFF2-40B4-BE49-F238E27FC236}">
                    <a16:creationId xmlns:a16="http://schemas.microsoft.com/office/drawing/2014/main" id="{13F1CBD4-700A-D1FE-3778-CCE67B370E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528"/>
                <a:ext cx="2688" cy="104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15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15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4" name="Text Box 32">
                <a:extLst>
                  <a:ext uri="{FF2B5EF4-FFF2-40B4-BE49-F238E27FC236}">
                    <a16:creationId xmlns:a16="http://schemas.microsoft.com/office/drawing/2014/main" id="{EDC62888-0096-89D6-C00B-ADABB226E1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528"/>
                <a:ext cx="1822" cy="1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>
                    <a:latin typeface="Roboto" panose="02000000000000000000" pitchFamily="2" charset="0"/>
                    <a:ea typeface="Roboto" panose="02000000000000000000" pitchFamily="2" charset="0"/>
                  </a:rPr>
                  <a:t>Opportunity</a:t>
                </a:r>
              </a:p>
            </p:txBody>
          </p:sp>
        </p:grpSp>
        <p:sp>
          <p:nvSpPr>
            <p:cNvPr id="45" name="Text Box 33">
              <a:extLst>
                <a:ext uri="{FF2B5EF4-FFF2-40B4-BE49-F238E27FC236}">
                  <a16:creationId xmlns:a16="http://schemas.microsoft.com/office/drawing/2014/main" id="{B2EE982D-0DF0-9EAC-27DE-9E8A33B60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0588" y="2008188"/>
              <a:ext cx="1208087" cy="654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4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Current Data 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4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(e.g. Run Chart)</a:t>
              </a:r>
            </a:p>
          </p:txBody>
        </p:sp>
        <p:grpSp>
          <p:nvGrpSpPr>
            <p:cNvPr id="46" name="Group 35">
              <a:extLst>
                <a:ext uri="{FF2B5EF4-FFF2-40B4-BE49-F238E27FC236}">
                  <a16:creationId xmlns:a16="http://schemas.microsoft.com/office/drawing/2014/main" id="{1F54E5BD-285D-B16C-097F-55D35D6E3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4384674"/>
              <a:ext cx="4046538" cy="1116073"/>
              <a:chOff x="96" y="2880"/>
              <a:chExt cx="2688" cy="731"/>
            </a:xfrm>
          </p:grpSpPr>
          <p:sp>
            <p:nvSpPr>
              <p:cNvPr id="47" name="Text Box 36">
                <a:extLst>
                  <a:ext uri="{FF2B5EF4-FFF2-40B4-BE49-F238E27FC236}">
                    <a16:creationId xmlns:a16="http://schemas.microsoft.com/office/drawing/2014/main" id="{DA1140C1-E81E-E9CE-B5B3-1432A5DBF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880"/>
                <a:ext cx="2688" cy="7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4300" indent="-1143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8" name="Line 37">
                <a:extLst>
                  <a:ext uri="{FF2B5EF4-FFF2-40B4-BE49-F238E27FC236}">
                    <a16:creationId xmlns:a16="http://schemas.microsoft.com/office/drawing/2014/main" id="{1C4B8332-A558-4DDC-D339-428C9B13B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880"/>
                <a:ext cx="0" cy="1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9" name="Text Box 38">
                <a:extLst>
                  <a:ext uri="{FF2B5EF4-FFF2-40B4-BE49-F238E27FC236}">
                    <a16:creationId xmlns:a16="http://schemas.microsoft.com/office/drawing/2014/main" id="{8403B1C9-9C6E-0C9C-B4B3-53476EB8A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880"/>
                <a:ext cx="713" cy="1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>
                    <a:latin typeface="Roboto" panose="02000000000000000000" pitchFamily="2" charset="0"/>
                    <a:ea typeface="Roboto" panose="02000000000000000000" pitchFamily="2" charset="0"/>
                  </a:rPr>
                  <a:t>Deliverables</a:t>
                </a:r>
              </a:p>
            </p:txBody>
          </p:sp>
          <p:sp>
            <p:nvSpPr>
              <p:cNvPr id="50" name="Text Box 39">
                <a:extLst>
                  <a:ext uri="{FF2B5EF4-FFF2-40B4-BE49-F238E27FC236}">
                    <a16:creationId xmlns:a16="http://schemas.microsoft.com/office/drawing/2014/main" id="{4FF89AF3-0324-FC53-AFD0-8D22E93CD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" y="3073"/>
                <a:ext cx="2592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List specific deliverables from the kaizen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  <a:buFontTx/>
                  <a:buChar char="•"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  <a:buFontTx/>
                  <a:buChar char="•"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</p:txBody>
          </p:sp>
        </p:grpSp>
        <p:grpSp>
          <p:nvGrpSpPr>
            <p:cNvPr id="51" name="Group 40">
              <a:extLst>
                <a:ext uri="{FF2B5EF4-FFF2-40B4-BE49-F238E27FC236}">
                  <a16:creationId xmlns:a16="http://schemas.microsoft.com/office/drawing/2014/main" id="{350AC815-D241-64DA-44A4-7D7E62517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313" y="5541963"/>
              <a:ext cx="4046537" cy="428625"/>
              <a:chOff x="91" y="3638"/>
              <a:chExt cx="2688" cy="281"/>
            </a:xfrm>
          </p:grpSpPr>
          <p:sp>
            <p:nvSpPr>
              <p:cNvPr id="52" name="Text Box 41">
                <a:extLst>
                  <a:ext uri="{FF2B5EF4-FFF2-40B4-BE49-F238E27FC236}">
                    <a16:creationId xmlns:a16="http://schemas.microsoft.com/office/drawing/2014/main" id="{D706B31B-2B56-DDBA-333B-D8F5B78DF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" y="3638"/>
                <a:ext cx="2688" cy="2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4300" indent="-1143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3" name="Line 42">
                <a:extLst>
                  <a:ext uri="{FF2B5EF4-FFF2-40B4-BE49-F238E27FC236}">
                    <a16:creationId xmlns:a16="http://schemas.microsoft.com/office/drawing/2014/main" id="{7F4FFCF7-16F5-ABF6-AB47-FA2640C86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7" y="363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4" name="Text Box 43">
                <a:extLst>
                  <a:ext uri="{FF2B5EF4-FFF2-40B4-BE49-F238E27FC236}">
                    <a16:creationId xmlns:a16="http://schemas.microsoft.com/office/drawing/2014/main" id="{21874D09-B682-0D5E-C95C-CF3654BA3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" y="3638"/>
                <a:ext cx="713" cy="18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>
                    <a:latin typeface="Roboto" panose="02000000000000000000" pitchFamily="2" charset="0"/>
                    <a:ea typeface="Roboto" panose="02000000000000000000" pitchFamily="2" charset="0"/>
                  </a:rPr>
                  <a:t>Schedule</a:t>
                </a:r>
              </a:p>
            </p:txBody>
          </p:sp>
          <p:sp>
            <p:nvSpPr>
              <p:cNvPr id="55" name="Text Box 44">
                <a:extLst>
                  <a:ext uri="{FF2B5EF4-FFF2-40B4-BE49-F238E27FC236}">
                    <a16:creationId xmlns:a16="http://schemas.microsoft.com/office/drawing/2014/main" id="{BC6DBE7F-9101-14C5-9BF5-B6779F7C4E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" y="3691"/>
                <a:ext cx="220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                    mm/dd/yy to mm/dd/yy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6032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Kaizen Event Charter – Common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Scope is too large or vague</a:t>
            </a:r>
          </a:p>
          <a:p>
            <a:r>
              <a:rPr lang="en-US" dirty="0"/>
              <a:t>Problem/opportunity not well-defined – no supporting data</a:t>
            </a:r>
          </a:p>
          <a:p>
            <a:r>
              <a:rPr lang="en-US" dirty="0"/>
              <a:t>Target goals not set or are vague – unclear metrics</a:t>
            </a:r>
          </a:p>
          <a:p>
            <a:pPr lvl="1"/>
            <a:r>
              <a:rPr lang="en-US" dirty="0"/>
              <a:t>Be precise and complete – no ambiguity</a:t>
            </a:r>
          </a:p>
          <a:p>
            <a:pPr lvl="1"/>
            <a:r>
              <a:rPr lang="en-US" dirty="0"/>
              <a:t>Use existing supporting data to help articulate the goal</a:t>
            </a:r>
          </a:p>
          <a:p>
            <a:pPr lvl="1"/>
            <a:r>
              <a:rPr lang="en-US" dirty="0"/>
              <a:t>Time-fence the expectation (by when?)</a:t>
            </a:r>
          </a:p>
          <a:p>
            <a:pPr lvl="1"/>
            <a:r>
              <a:rPr lang="en-US" dirty="0"/>
              <a:t>Use metrics that can be supported and tracked post-event </a:t>
            </a:r>
          </a:p>
          <a:p>
            <a:pPr lvl="2"/>
            <a:r>
              <a:rPr lang="en-US" dirty="0"/>
              <a:t>e.g. “Reduce the # of machining defects in cell XYZ from 50% to &lt;5% by MM/DD/YY”</a:t>
            </a:r>
          </a:p>
          <a:p>
            <a:r>
              <a:rPr lang="en-US" dirty="0"/>
              <a:t>No formal review/approval of charter prior to sanctioning event</a:t>
            </a:r>
          </a:p>
          <a:p>
            <a:r>
              <a:rPr lang="en-US" dirty="0"/>
              <a:t>Not completed far enough in advance of event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33C8AE-E30B-2720-CBF4-FE5A8C3E0F0A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BE82EE-03C7-3089-D71D-7F7678470850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B38FBC-ABC6-CB0B-A859-F542003AB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6919277-357F-018D-41B4-81DB5BA11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B46FC-A9BE-D838-56D4-BF495F44638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A9BD9525-6A4D-513A-331C-F54548C59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BC89CCAA-CD1F-4949-803D-BB1A96D04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D8F93561-B541-AF8E-C664-A4B9044E6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79917-E9B3-33F0-DDB5-00ADA04318C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3660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6475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Leader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Select team members and identify SMEs</a:t>
            </a:r>
          </a:p>
          <a:p>
            <a:r>
              <a:rPr lang="en-US" dirty="0"/>
              <a:t>Draft charter and get approved</a:t>
            </a:r>
          </a:p>
          <a:p>
            <a:r>
              <a:rPr lang="en-US" dirty="0"/>
              <a:t>Set scope and expectations</a:t>
            </a:r>
          </a:p>
          <a:p>
            <a:r>
              <a:rPr lang="en-US" dirty="0"/>
              <a:t>Define target metrics and timeframe</a:t>
            </a:r>
          </a:p>
          <a:p>
            <a:r>
              <a:rPr lang="en-US" dirty="0"/>
              <a:t>Lead discussions and activities throughout the event</a:t>
            </a:r>
          </a:p>
          <a:p>
            <a:r>
              <a:rPr lang="en-US" dirty="0"/>
              <a:t>“Own” the kaizen newspaper – make sure every action item is completed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5715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/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/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6291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Member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Actively participate in the event</a:t>
            </a:r>
          </a:p>
          <a:p>
            <a:r>
              <a:rPr lang="en-US" dirty="0"/>
              <a:t>Contribute knowledge and insight</a:t>
            </a:r>
          </a:p>
          <a:p>
            <a:r>
              <a:rPr lang="en-US" dirty="0"/>
              <a:t>Produce deliverables as required</a:t>
            </a:r>
          </a:p>
          <a:p>
            <a:r>
              <a:rPr lang="en-US" dirty="0"/>
              <a:t>Take responsibility for specific action items on the Kaizen newspaper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2363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Subject Matter Expert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Collaborate with Team Leader during event planning</a:t>
            </a:r>
          </a:p>
          <a:p>
            <a:r>
              <a:rPr lang="en-US" dirty="0"/>
              <a:t>Be available (on call) during the event to provide point expertise</a:t>
            </a:r>
          </a:p>
          <a:p>
            <a:r>
              <a:rPr lang="en-US" dirty="0"/>
              <a:t>Gather data and render information as needed to support the event</a:t>
            </a:r>
          </a:p>
          <a:p>
            <a:r>
              <a:rPr lang="en-US" dirty="0"/>
              <a:t>Review team decisions and deliverables if/when asked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64565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Facilitator/Sensei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Provide training </a:t>
            </a:r>
          </a:p>
          <a:p>
            <a:r>
              <a:rPr lang="en-US" sz="2400" dirty="0"/>
              <a:t>Contribute knowledge and experience </a:t>
            </a:r>
          </a:p>
          <a:p>
            <a:r>
              <a:rPr lang="en-US" sz="2400" dirty="0"/>
              <a:t>Consult and guide team in application of lean principles, methods and tools</a:t>
            </a:r>
          </a:p>
          <a:p>
            <a:r>
              <a:rPr lang="en-US" sz="2400" dirty="0"/>
              <a:t>Work closely with (coach) the Team Leader to help him/her lead a successful event</a:t>
            </a:r>
          </a:p>
          <a:p>
            <a:r>
              <a:rPr lang="en-US" sz="2400" dirty="0"/>
              <a:t>Drive and stretch the team into thinking and acting “outside the box”</a:t>
            </a:r>
          </a:p>
          <a:p>
            <a:r>
              <a:rPr lang="en-US" sz="2400" dirty="0"/>
              <a:t>Facilitate to assure results are achieved and the process is followed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Facilitator/Sensei</a:t>
              </a: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777524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Process Owner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May serve as a Team Leader or Team Member</a:t>
            </a:r>
          </a:p>
          <a:p>
            <a:r>
              <a:rPr lang="en-US" dirty="0"/>
              <a:t>Provide deep expertise about the process</a:t>
            </a:r>
          </a:p>
          <a:p>
            <a:r>
              <a:rPr lang="en-US" dirty="0"/>
              <a:t>Assist in formulating the charter</a:t>
            </a:r>
          </a:p>
          <a:p>
            <a:r>
              <a:rPr lang="en-US" dirty="0"/>
              <a:t>Be responsible for realizing and sustaining results within the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Facilitator/Sensei</a:t>
              </a: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6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Owner</a:t>
              </a: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0238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Executive Sponsor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Sanction events</a:t>
            </a:r>
          </a:p>
          <a:p>
            <a:r>
              <a:rPr lang="en-US" dirty="0"/>
              <a:t>Provide funding and resources as needed</a:t>
            </a:r>
          </a:p>
          <a:p>
            <a:r>
              <a:rPr lang="en-US" dirty="0"/>
              <a:t>Empower the teams to effect change</a:t>
            </a:r>
          </a:p>
          <a:p>
            <a:r>
              <a:rPr lang="en-US" dirty="0"/>
              <a:t>Provide visible support throughout the process</a:t>
            </a:r>
          </a:p>
          <a:p>
            <a:r>
              <a:rPr lang="en-US" dirty="0"/>
              <a:t>Attend team leader meetings and event report outs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Facilitator/Sensei</a:t>
              </a: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6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Owner</a:t>
              </a: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Executive Sponsor</a:t>
              </a: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4443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22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Successful Kaizen 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0710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Factors for Successful Kaizen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Follow a prescribed kaizen methodology</a:t>
            </a:r>
          </a:p>
          <a:p>
            <a:r>
              <a:rPr lang="en-US" dirty="0"/>
              <a:t>Plan events well ahead of their execution </a:t>
            </a:r>
          </a:p>
          <a:p>
            <a:pPr lvl="1"/>
            <a:r>
              <a:rPr lang="en-US" dirty="0"/>
              <a:t>Approve charter at least two weeks prior</a:t>
            </a:r>
          </a:p>
          <a:p>
            <a:pPr lvl="1"/>
            <a:r>
              <a:rPr lang="en-US" dirty="0"/>
              <a:t>Identify / contact team leads and participants to clarify roles</a:t>
            </a:r>
          </a:p>
          <a:p>
            <a:pPr lvl="1"/>
            <a:r>
              <a:rPr lang="en-US" dirty="0"/>
              <a:t>Use an experienced facilitator/sensei (lean coordinator or consultant)</a:t>
            </a:r>
          </a:p>
          <a:p>
            <a:r>
              <a:rPr lang="en-US" dirty="0"/>
              <a:t>Empower teams to make change, not ask permission</a:t>
            </a:r>
          </a:p>
          <a:p>
            <a:r>
              <a:rPr lang="en-US" dirty="0"/>
              <a:t>Management attention and involvement</a:t>
            </a:r>
          </a:p>
          <a:p>
            <a:pPr lvl="1"/>
            <a:r>
              <a:rPr lang="en-US" dirty="0"/>
              <a:t>Review event plans and charters</a:t>
            </a:r>
          </a:p>
          <a:p>
            <a:pPr lvl="1"/>
            <a:r>
              <a:rPr lang="en-US" dirty="0"/>
              <a:t>Attend team leader meetings and event report-outs</a:t>
            </a:r>
          </a:p>
          <a:p>
            <a:pPr lvl="1"/>
            <a:r>
              <a:rPr lang="en-US" dirty="0"/>
              <a:t>Recognize and reward team accomplishments</a:t>
            </a:r>
          </a:p>
          <a:p>
            <a:r>
              <a:rPr lang="en-US" dirty="0"/>
              <a:t>Follow-up and assure sustained results – track metrics formally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23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2CB067-0087-9419-DF2B-11847FF5506B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B56CD73-F97D-FEC9-123E-D54F4267E6BB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64D1551F-7059-2764-4C9C-E8E65B30C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128E8BA-E15E-4948-C214-7EC1F22E9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DB703E1-D106-FAAE-8F99-F3AC40C16E4A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632FA16F-50C5-BD8F-F436-6EA1C457B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964F3AA9-2F6D-34C7-336C-07BFCD7C70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E197424B-4A1D-9090-CA19-C00A7573E9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D60AD3-BA86-6A6E-4EC1-8A9CC4628065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Successful Kaizen 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948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24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695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Kaizen Newspaper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CE2483-C4CB-A8D1-AB13-2C229F41C6E7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268F36-B817-003C-903D-A31DFE182019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E3FD37E-42A6-609B-51F6-E2DE7BDE9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74851432-AA75-BE88-5F12-02A37DE95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099FFE-8204-73B3-A617-D7600434F1B0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BC8421B0-0871-3593-1814-FE9EE48BA1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0A19AA99-50EE-EFAA-B8CC-BAD8F299B5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BFF935BC-762A-94B5-A76D-0B212928A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F7AC5A-4223-EDE2-40D9-66DF950C37A7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  <p:pic>
        <p:nvPicPr>
          <p:cNvPr id="14" name="Picture 24" descr="kaizen newspaper">
            <a:extLst>
              <a:ext uri="{FF2B5EF4-FFF2-40B4-BE49-F238E27FC236}">
                <a16:creationId xmlns:a16="http://schemas.microsoft.com/office/drawing/2014/main" id="{6B4287B7-E169-A069-AAC2-DC719863B8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610" y="1825625"/>
            <a:ext cx="852678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3">
            <a:extLst>
              <a:ext uri="{FF2B5EF4-FFF2-40B4-BE49-F238E27FC236}">
                <a16:creationId xmlns:a16="http://schemas.microsoft.com/office/drawing/2014/main" id="{D594D7D4-65EE-A653-BD69-A884E225B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8423" y="3136613"/>
            <a:ext cx="4075155" cy="58477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Used to Track Future Kaizen Progress and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Value Stream Implementation Steps</a:t>
            </a:r>
          </a:p>
        </p:txBody>
      </p:sp>
    </p:spTree>
    <p:extLst>
      <p:ext uri="{BB962C8B-B14F-4D97-AF65-F5344CB8AC3E}">
        <p14:creationId xmlns:p14="http://schemas.microsoft.com/office/powerpoint/2010/main" val="1543713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Make sure responsibilities are clearly communicated</a:t>
            </a:r>
          </a:p>
          <a:p>
            <a:pPr lvl="1"/>
            <a:r>
              <a:rPr lang="en-US" dirty="0"/>
              <a:t>Team Leader – overall kaizen newspaper</a:t>
            </a:r>
          </a:p>
          <a:p>
            <a:pPr lvl="1"/>
            <a:r>
              <a:rPr lang="en-US" dirty="0"/>
              <a:t>Team members – individual newspaper items</a:t>
            </a:r>
          </a:p>
          <a:p>
            <a:pPr lvl="1"/>
            <a:r>
              <a:rPr lang="en-US" dirty="0"/>
              <a:t>Process owners and operators – executing resulting Standard Work</a:t>
            </a:r>
          </a:p>
          <a:p>
            <a:r>
              <a:rPr lang="en-US" dirty="0"/>
              <a:t>Keep the Kaizen Newspaper visible</a:t>
            </a:r>
          </a:p>
          <a:p>
            <a:pPr lvl="1"/>
            <a:r>
              <a:rPr lang="en-US" dirty="0"/>
              <a:t>Physical or electronic posting – updated regularly until closed out</a:t>
            </a:r>
          </a:p>
          <a:p>
            <a:pPr lvl="1"/>
            <a:r>
              <a:rPr lang="en-US" dirty="0"/>
              <a:t>Visible Metrics Board with planned / actual run charts</a:t>
            </a:r>
          </a:p>
          <a:p>
            <a:pPr lvl="1"/>
            <a:r>
              <a:rPr lang="en-US" dirty="0"/>
              <a:t>Offer and provide leadership help where needed</a:t>
            </a:r>
          </a:p>
          <a:p>
            <a:r>
              <a:rPr lang="en-US" dirty="0"/>
              <a:t>Hold periodic reviews of recent Kaizen events and results</a:t>
            </a:r>
          </a:p>
          <a:p>
            <a:pPr lvl="1"/>
            <a:r>
              <a:rPr lang="en-US" dirty="0"/>
              <a:t>Ensure that improvements become Standard Work</a:t>
            </a:r>
          </a:p>
          <a:p>
            <a:pPr lvl="1"/>
            <a:r>
              <a:rPr lang="en-US" dirty="0"/>
              <a:t>Keep management attention high – communicate through action</a:t>
            </a:r>
          </a:p>
          <a:p>
            <a:pPr lvl="1"/>
            <a:r>
              <a:rPr lang="en-US" dirty="0"/>
              <a:t>Recognize teams for their accomplishments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26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6C56F8-5D85-7D39-D6E4-A0B946B84E2A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DA4DC7A-F930-80FA-25B3-7684292D36E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7A576DE-D058-5C4D-0629-2A54528A1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7A2918E-F96D-4550-89FE-41807CAEB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922C217-E357-C9C2-9DBC-025E269A39C3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73DB6BD2-BD1F-6AE2-D62F-B34264BB5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5761F30E-160A-D0C5-F561-9331671DD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285F021B-397D-C991-374D-09B49B210D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9C9B18-5981-E202-2E4F-59FA4E5CD6DB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6317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Institutionalize Kaizen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“End Game” is to make kaizen and continuous improvement an integral part of day-to-day operation</a:t>
            </a:r>
          </a:p>
          <a:p>
            <a:r>
              <a:rPr lang="en-US" dirty="0"/>
              <a:t>Move from fewer formal, structured events to many smaller incremental change improvements</a:t>
            </a:r>
          </a:p>
          <a:p>
            <a:r>
              <a:rPr lang="en-US" dirty="0"/>
              <a:t>Total involvement of everyone in the workforce at all levels</a:t>
            </a:r>
          </a:p>
          <a:p>
            <a:r>
              <a:rPr lang="en-US" dirty="0"/>
              <a:t>Deep seeded in the company culture</a:t>
            </a:r>
          </a:p>
          <a:p>
            <a:r>
              <a:rPr lang="en-US" dirty="0"/>
              <a:t>A relentless and never-ending pursuit of excellence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27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6C56F8-5D85-7D39-D6E4-A0B946B84E2A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DA4DC7A-F930-80FA-25B3-7684292D36E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7A576DE-D058-5C4D-0629-2A54528A1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7A2918E-F96D-4550-89FE-41807CAEB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922C217-E357-C9C2-9DBC-025E269A39C3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73DB6BD2-BD1F-6AE2-D62F-B34264BB5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5761F30E-160A-D0C5-F561-9331671DD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285F021B-397D-C991-374D-09B49B210D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9C9B18-5981-E202-2E4F-59FA4E5CD6DB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924BE6-F117-8DC8-415B-263242E7ABEA}"/>
              </a:ext>
            </a:extLst>
          </p:cNvPr>
          <p:cNvGrpSpPr/>
          <p:nvPr/>
        </p:nvGrpSpPr>
        <p:grpSpPr>
          <a:xfrm>
            <a:off x="1977231" y="5409861"/>
            <a:ext cx="8237538" cy="461665"/>
            <a:chOff x="1977231" y="5204121"/>
            <a:chExt cx="8237538" cy="461665"/>
          </a:xfrm>
        </p:grpSpPr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E8B5E1CE-9C3E-AA34-09DB-B0BC7B8E4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231" y="5204121"/>
              <a:ext cx="8237538" cy="461665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b" anchorCtr="1"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ct val="0"/>
                </a:spcAft>
                <a:buClr>
                  <a:srgbClr val="014B1F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ja-JP" sz="2400" i="1" dirty="0">
                  <a:latin typeface="Roboto" panose="02000000000000000000" pitchFamily="2" charset="0"/>
                  <a:ea typeface="Roboto" panose="02000000000000000000" pitchFamily="2" charset="0"/>
                </a:rPr>
                <a:t>“Events”                         “Way of Life”</a:t>
              </a:r>
              <a:endParaRPr lang="en-US" altLang="en-US" dirty="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EB2D5432-9E55-9D31-20E2-EEB880F5E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919" y="5265886"/>
              <a:ext cx="815975" cy="338137"/>
            </a:xfrm>
            <a:custGeom>
              <a:avLst/>
              <a:gdLst>
                <a:gd name="T0" fmla="*/ 611981 w 21600"/>
                <a:gd name="T1" fmla="*/ 0 h 21600"/>
                <a:gd name="T2" fmla="*/ 0 w 21600"/>
                <a:gd name="T3" fmla="*/ 169069 h 21600"/>
                <a:gd name="T4" fmla="*/ 611981 w 21600"/>
                <a:gd name="T5" fmla="*/ 338137 h 21600"/>
                <a:gd name="T6" fmla="*/ 815975 w 21600"/>
                <a:gd name="T7" fmla="*/ 169069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 sz="2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4963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ED7-5CF9-6F4B-B4A8-2DBF8D85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Roboto Medium"/>
                <a:ea typeface="Roboto Medium"/>
                <a:cs typeface="Roboto Medium"/>
              </a:rPr>
              <a:t>Exercise: Action Plan and Personal Plan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3C390-D307-7FFC-DADE-918C5180FE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28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06B7-1A57-1322-5AB5-DA8522EE7602}"/>
              </a:ext>
            </a:extLst>
          </p:cNvPr>
          <p:cNvSpPr/>
          <p:nvPr/>
        </p:nvSpPr>
        <p:spPr>
          <a:xfrm>
            <a:off x="838200" y="2390525"/>
            <a:ext cx="9722342" cy="41036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Apply learnings from Kaizen for Leaders to your Action Plan and/or Personal 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B5F6-F271-06CD-2A6A-E79F5245CD15}"/>
              </a:ext>
            </a:extLst>
          </p:cNvPr>
          <p:cNvSpPr txBox="1"/>
          <p:nvPr/>
        </p:nvSpPr>
        <p:spPr>
          <a:xfrm>
            <a:off x="838200" y="1822526"/>
            <a:ext cx="160300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Objective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F381-2B48-C111-2724-726B0390290F}"/>
              </a:ext>
            </a:extLst>
          </p:cNvPr>
          <p:cNvSpPr txBox="1"/>
          <p:nvPr/>
        </p:nvSpPr>
        <p:spPr>
          <a:xfrm>
            <a:off x="838200" y="2913476"/>
            <a:ext cx="2022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Instructions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7B47-98C9-F770-8D4E-7D91CF39F5A7}"/>
              </a:ext>
            </a:extLst>
          </p:cNvPr>
          <p:cNvSpPr/>
          <p:nvPr/>
        </p:nvSpPr>
        <p:spPr>
          <a:xfrm>
            <a:off x="818941" y="3486027"/>
            <a:ext cx="4850339" cy="231858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Ideas to consider for your Action Plan and your Personal Plan: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Do you have a formal and well-structured kaizen process in place?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Is it being followed?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Is your event plan tied to strategic objectives?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Are events properly chartered and reviewed in advance?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Are team roles and responsibilities well understood and communicated?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Is there a post-event process in place to measure and sustain results?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14B3B-0CE2-FDFF-2FB9-215236316256}"/>
              </a:ext>
            </a:extLst>
          </p:cNvPr>
          <p:cNvSpPr txBox="1"/>
          <p:nvPr/>
        </p:nvSpPr>
        <p:spPr>
          <a:xfrm>
            <a:off x="5879250" y="2903037"/>
            <a:ext cx="296876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Time to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5230A-07BD-F376-25CA-177CC1D4233F}"/>
              </a:ext>
            </a:extLst>
          </p:cNvPr>
          <p:cNvSpPr txBox="1"/>
          <p:nvPr/>
        </p:nvSpPr>
        <p:spPr>
          <a:xfrm>
            <a:off x="5879250" y="4126034"/>
            <a:ext cx="188833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Deliverable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30399-8FDB-50CD-E8FD-8E286DE1A2EA}"/>
              </a:ext>
            </a:extLst>
          </p:cNvPr>
          <p:cNvSpPr/>
          <p:nvPr/>
        </p:nvSpPr>
        <p:spPr>
          <a:xfrm>
            <a:off x="5879250" y="3486558"/>
            <a:ext cx="468129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endParaRPr lang="en-US" sz="24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F6BD6-975A-3700-5E69-322EFF4F722E}"/>
              </a:ext>
            </a:extLst>
          </p:cNvPr>
          <p:cNvSpPr/>
          <p:nvPr/>
        </p:nvSpPr>
        <p:spPr>
          <a:xfrm>
            <a:off x="5879250" y="4702991"/>
            <a:ext cx="468129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Report out on plans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C1DCE4-F513-B24F-56A5-86FDC2DEDA11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96959A4-8903-1181-5DBF-41D03C89692B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E1507AA9-60A8-7686-6CB4-1A8A338E2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7FF86E4-CF3C-5FE4-0D88-5F648BECC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1121259-A79C-9BD3-4753-C130EF90459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52795758-D4FA-698C-2043-C714C8D03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AutoShape 11">
                  <a:extLst>
                    <a:ext uri="{FF2B5EF4-FFF2-40B4-BE49-F238E27FC236}">
                      <a16:creationId xmlns:a16="http://schemas.microsoft.com/office/drawing/2014/main" id="{4D8CEF31-C817-DE23-024E-87CA50ABD3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AutoShape 10">
                  <a:extLst>
                    <a:ext uri="{FF2B5EF4-FFF2-40B4-BE49-F238E27FC236}">
                      <a16:creationId xmlns:a16="http://schemas.microsoft.com/office/drawing/2014/main" id="{641A30C9-895C-CD70-DC67-FC4399071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88D2B8-8E75-0A6B-FE06-15C768528448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221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32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14066</TotalTime>
  <Words>2254</Words>
  <Application>Microsoft Office PowerPoint</Application>
  <PresentationFormat>Widescreen</PresentationFormat>
  <Paragraphs>472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Baskerville</vt:lpstr>
      <vt:lpstr>Calibri</vt:lpstr>
      <vt:lpstr>Roboto</vt:lpstr>
      <vt:lpstr>Roboto Medium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Kaizen for Leaders</vt:lpstr>
      <vt:lpstr>Kaizen for Leaders</vt:lpstr>
      <vt:lpstr>Kaizen for Leaders</vt:lpstr>
      <vt:lpstr>Kaizen Definition</vt:lpstr>
      <vt:lpstr>Lean Results from Many Kaizens</vt:lpstr>
      <vt:lpstr>The Kaizen Process: The Plan, Do, Check, Act Cycle</vt:lpstr>
      <vt:lpstr>Kaizen for Leaders</vt:lpstr>
      <vt:lpstr>Selecting and Planning Kaizen Events</vt:lpstr>
      <vt:lpstr>Scoping a Kaizen Event</vt:lpstr>
      <vt:lpstr>Typical Kaizen Event Charter</vt:lpstr>
      <vt:lpstr>The Kaizen Event Charter – Common Pitfalls</vt:lpstr>
      <vt:lpstr>Kaizen for Leaders</vt:lpstr>
      <vt:lpstr>Team Leader Roles and Responsibilities</vt:lpstr>
      <vt:lpstr>Team Member Roles and Responsibilities</vt:lpstr>
      <vt:lpstr>Subject Matter Expert Roles and Responsibilities</vt:lpstr>
      <vt:lpstr>Facilitator/Sensei Roles and Responsibilities</vt:lpstr>
      <vt:lpstr>Process Owner Roles and Responsibilities</vt:lpstr>
      <vt:lpstr>Executive Sponsor Roles and Responsibilities</vt:lpstr>
      <vt:lpstr>Kaizen for Leaders</vt:lpstr>
      <vt:lpstr>Key Factors for Successful Kaizen</vt:lpstr>
      <vt:lpstr>Kaizen for Leaders</vt:lpstr>
      <vt:lpstr>Kaizen Newspaper</vt:lpstr>
      <vt:lpstr>Sustaining the Results</vt:lpstr>
      <vt:lpstr>Institutionalize Kaizen</vt:lpstr>
      <vt:lpstr>Exercise: Action Plan and Personal Plan Development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391</cp:revision>
  <dcterms:created xsi:type="dcterms:W3CDTF">2023-02-08T22:10:20Z</dcterms:created>
  <dcterms:modified xsi:type="dcterms:W3CDTF">2023-09-29T22:09:52Z</dcterms:modified>
</cp:coreProperties>
</file>