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53"/>
  </p:notesMasterIdLst>
  <p:sldIdLst>
    <p:sldId id="258" r:id="rId2"/>
    <p:sldId id="283" r:id="rId3"/>
    <p:sldId id="284" r:id="rId4"/>
    <p:sldId id="314" r:id="rId5"/>
    <p:sldId id="350" r:id="rId6"/>
    <p:sldId id="351" r:id="rId7"/>
    <p:sldId id="352" r:id="rId8"/>
    <p:sldId id="353" r:id="rId9"/>
    <p:sldId id="354" r:id="rId10"/>
    <p:sldId id="366" r:id="rId11"/>
    <p:sldId id="367" r:id="rId12"/>
    <p:sldId id="368" r:id="rId13"/>
    <p:sldId id="369" r:id="rId14"/>
    <p:sldId id="370" r:id="rId15"/>
    <p:sldId id="396" r:id="rId16"/>
    <p:sldId id="397" r:id="rId17"/>
    <p:sldId id="398" r:id="rId18"/>
    <p:sldId id="399" r:id="rId19"/>
    <p:sldId id="400" r:id="rId20"/>
    <p:sldId id="401" r:id="rId21"/>
    <p:sldId id="402" r:id="rId22"/>
    <p:sldId id="403" r:id="rId23"/>
    <p:sldId id="404" r:id="rId24"/>
    <p:sldId id="405" r:id="rId25"/>
    <p:sldId id="406" r:id="rId26"/>
    <p:sldId id="407" r:id="rId27"/>
    <p:sldId id="408" r:id="rId28"/>
    <p:sldId id="409" r:id="rId29"/>
    <p:sldId id="410" r:id="rId30"/>
    <p:sldId id="411" r:id="rId31"/>
    <p:sldId id="412" r:id="rId32"/>
    <p:sldId id="413" r:id="rId33"/>
    <p:sldId id="414" r:id="rId34"/>
    <p:sldId id="415" r:id="rId35"/>
    <p:sldId id="416" r:id="rId36"/>
    <p:sldId id="417" r:id="rId37"/>
    <p:sldId id="418" r:id="rId38"/>
    <p:sldId id="419" r:id="rId39"/>
    <p:sldId id="420" r:id="rId40"/>
    <p:sldId id="421" r:id="rId41"/>
    <p:sldId id="422" r:id="rId42"/>
    <p:sldId id="423" r:id="rId43"/>
    <p:sldId id="424" r:id="rId44"/>
    <p:sldId id="425" r:id="rId45"/>
    <p:sldId id="426" r:id="rId46"/>
    <p:sldId id="427" r:id="rId47"/>
    <p:sldId id="428" r:id="rId48"/>
    <p:sldId id="429" r:id="rId49"/>
    <p:sldId id="430" r:id="rId50"/>
    <p:sldId id="431" r:id="rId51"/>
    <p:sldId id="31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C0"/>
    <a:srgbClr val="222222"/>
    <a:srgbClr val="FFB627"/>
    <a:srgbClr val="177E89"/>
    <a:srgbClr val="8EDCE6"/>
    <a:srgbClr val="F1BF98"/>
    <a:srgbClr val="2EC4B6"/>
    <a:srgbClr val="BDDBD0"/>
    <a:srgbClr val="2D7DD2"/>
    <a:srgbClr val="6292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1849" autoAdjust="0"/>
  </p:normalViewPr>
  <p:slideViewPr>
    <p:cSldViewPr snapToGrid="0">
      <p:cViewPr varScale="1">
        <p:scale>
          <a:sx n="67" d="100"/>
          <a:sy n="67" d="100"/>
        </p:scale>
        <p:origin x="1286" y="62"/>
      </p:cViewPr>
      <p:guideLst/>
    </p:cSldViewPr>
  </p:slideViewPr>
  <p:notesTextViewPr>
    <p:cViewPr>
      <p:scale>
        <a:sx n="3" d="2"/>
        <a:sy n="3" d="2"/>
      </p:scale>
      <p:origin x="0" y="0"/>
    </p:cViewPr>
  </p:notesTextViewPr>
  <p:sorterViewPr>
    <p:cViewPr varScale="1">
      <p:scale>
        <a:sx n="100" d="100"/>
        <a:sy n="100" d="100"/>
      </p:scale>
      <p:origin x="0" y="-12528"/>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8/10/relationships/authors" Targe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3274881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1719168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1064232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Introduce the notion of MDPE and the goal of this event. </a:t>
            </a:r>
          </a:p>
          <a:p>
            <a:r>
              <a:rPr lang="en-US" altLang="en-US" dirty="0">
                <a:latin typeface="Arial" panose="020B0604020202020204" pitchFamily="34" charset="0"/>
                <a:ea typeface="ＭＳ Ｐゴシック" panose="020B0600070205080204" pitchFamily="34" charset="-128"/>
              </a:rPr>
              <a:t>At this time it is appropriate for the Process Owner or the Kaizen Team Leader to review the charter and objectives of the event.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2091408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040831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490097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1769837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3337301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2911506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7112866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Where value is added could be in a place other than manufacturing.</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FOR REFERENCE:</a:t>
            </a:r>
            <a:r>
              <a:rPr lang="en-US" altLang="en-US" dirty="0">
                <a:latin typeface="Arial" panose="020B0604020202020204" pitchFamily="34" charset="0"/>
                <a:ea typeface="ＭＳ Ｐゴシック" panose="020B0600070205080204" pitchFamily="34" charset="-128"/>
              </a:rPr>
              <a:t> </a:t>
            </a:r>
            <a:r>
              <a:rPr lang="en-US" altLang="en-US" b="1" dirty="0">
                <a:solidFill>
                  <a:srgbClr val="000000"/>
                </a:solidFill>
                <a:latin typeface="Arial" panose="020B0604020202020204" pitchFamily="34" charset="0"/>
                <a:ea typeface="ＭＳ Ｐゴシック" panose="020B0600070205080204" pitchFamily="34" charset="-128"/>
              </a:rPr>
              <a:t>Gemba</a:t>
            </a:r>
            <a:r>
              <a:rPr lang="en-US" altLang="en-US" dirty="0">
                <a:solidFill>
                  <a:srgbClr val="000000"/>
                </a:solidFill>
                <a:latin typeface="Arial" panose="020B0604020202020204" pitchFamily="34" charset="0"/>
                <a:ea typeface="ＭＳ Ｐゴシック" panose="020B0600070205080204" pitchFamily="34" charset="-128"/>
              </a:rPr>
              <a:t>: the real place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b="1" dirty="0">
                <a:solidFill>
                  <a:srgbClr val="000000"/>
                </a:solidFill>
                <a:latin typeface="Arial" panose="020B0604020202020204" pitchFamily="34" charset="0"/>
                <a:ea typeface="ＭＳ Ｐゴシック" panose="020B0600070205080204" pitchFamily="34" charset="-128"/>
              </a:rPr>
              <a:t>gen</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real</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b="1" dirty="0" err="1">
                <a:solidFill>
                  <a:srgbClr val="000000"/>
                </a:solidFill>
                <a:latin typeface="Arial" panose="020B0604020202020204" pitchFamily="34" charset="0"/>
                <a:ea typeface="ＭＳ Ｐゴシック" panose="020B0600070205080204" pitchFamily="34" charset="-128"/>
              </a:rPr>
              <a:t>ba</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from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err="1">
                <a:solidFill>
                  <a:srgbClr val="000000"/>
                </a:solidFill>
                <a:latin typeface="Arial" panose="020B0604020202020204" pitchFamily="34" charset="0"/>
                <a:ea typeface="ＭＳ Ｐゴシック" panose="020B0600070205080204" pitchFamily="34" charset="-128"/>
              </a:rPr>
              <a:t>bamen</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place</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scene</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situation</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i.e.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the actual spot</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the precise location</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In a manufacturing company,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the place where the value is added</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Certain grammatical rules dictate that this may sometimes be translated alternatively as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b="1" dirty="0" err="1">
                <a:solidFill>
                  <a:srgbClr val="000000"/>
                </a:solidFill>
                <a:latin typeface="Arial" panose="020B0604020202020204" pitchFamily="34" charset="0"/>
                <a:ea typeface="ＭＳ Ｐゴシック" panose="020B0600070205080204" pitchFamily="34" charset="-128"/>
              </a:rPr>
              <a:t>gemba</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endParaRPr lang="en-US" altLang="en-US" dirty="0">
              <a:solidFill>
                <a:srgbClr val="000000"/>
              </a:solidFill>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3292685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1776810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1589647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3589397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0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39442084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2634150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8678192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When you start and you get your cells going in the Lean Transformation Process  – here are the 5 things you want to have in place.</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a:t>
            </a:r>
          </a:p>
          <a:p>
            <a:endParaRPr lang="en-US" altLang="en-US"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ASK:</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When these are in place – how are you going to run them? How are you going to manage this plant once the cells are in place?</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(answer: MDPE)</a:t>
            </a:r>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10374919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When you start and you get your cells going in the Lean Transformation Process  – here are the 5 things you want to have in place.</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a:t>
            </a:r>
          </a:p>
          <a:p>
            <a:endParaRPr lang="en-US" altLang="en-US"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ASK:</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When these are in place – how are you going to run them? How are you going to manage this plant once the cells are in place?</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(answer: MDPE)</a:t>
            </a:r>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32881209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0" b="1" dirty="0">
                <a:latin typeface="Arial" panose="020B0604020202020204" pitchFamily="34" charset="0"/>
                <a:ea typeface="ＭＳ Ｐゴシック" panose="020B0600070205080204" pitchFamily="34" charset="-128"/>
              </a:rPr>
              <a:t>NOTE:</a:t>
            </a:r>
            <a:r>
              <a:rPr lang="en-US" altLang="en-US" sz="1000" dirty="0">
                <a:latin typeface="Arial" panose="020B0604020202020204" pitchFamily="34" charset="0"/>
                <a:ea typeface="ＭＳ Ｐゴシック" panose="020B0600070205080204" pitchFamily="34" charset="-128"/>
              </a:rPr>
              <a:t> With completed matrix, instruct class on how this information would be transferred to a Bowling Chart, and how the information would be reviewed monthly – if off plan, discuss the use of countermeasures to get back on track. </a:t>
            </a:r>
          </a:p>
          <a:p>
            <a:endParaRPr lang="en-US" altLang="en-US" sz="10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18495699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729179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14224390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33283144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3750603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28672414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0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10094597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40814723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27838084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24914934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33069219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3203363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7287739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8572856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5264902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18302356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7182935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0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3898795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29834489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19499214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39658222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29975549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27326831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29205816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38318961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0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19052637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12158922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5759689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21355122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This layout is conducive to open communication and real time problem solving.</a:t>
            </a:r>
            <a:r>
              <a:rPr lang="ja-JP" altLang="en-US" dirty="0">
                <a:latin typeface="Arial" panose="020B0604020202020204" pitchFamily="34" charset="0"/>
                <a:ea typeface="ＭＳ Ｐゴシック" panose="020B0600070205080204" pitchFamily="34" charset="-128"/>
              </a:rPr>
              <a:t>”</a:t>
            </a:r>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33245008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1433336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18148331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MDPE PRESENTATION ENG REV3</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6.xml"/><Relationship Id="rId1" Type="http://schemas.openxmlformats.org/officeDocument/2006/relationships/slideLayout" Target="../slideLayouts/slideLayout9.xml"/><Relationship Id="rId5" Type="http://schemas.openxmlformats.org/officeDocument/2006/relationships/image" Target="../media/image15.emf"/><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1.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Managing Daily Process Excellence</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
        <p:nvSpPr>
          <p:cNvPr id="2" name="Subtitle 2">
            <a:extLst>
              <a:ext uri="{FF2B5EF4-FFF2-40B4-BE49-F238E27FC236}">
                <a16:creationId xmlns:a16="http://schemas.microsoft.com/office/drawing/2014/main" id="{BCAD4BF1-468D-BC33-9B94-185B16F9FEC4}"/>
              </a:ext>
            </a:extLst>
          </p:cNvPr>
          <p:cNvSpPr txBox="1">
            <a:spLocks/>
          </p:cNvSpPr>
          <p:nvPr/>
        </p:nvSpPr>
        <p:spPr>
          <a:xfrm>
            <a:off x="1523998" y="4953466"/>
            <a:ext cx="9144000" cy="4283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Gemba Leadership Tools for a Lean Organization</a:t>
            </a:r>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Managing for Daily Process Excellence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b="1" dirty="0"/>
              <a:t>Goal of MDPE Module</a:t>
            </a:r>
          </a:p>
          <a:p>
            <a:r>
              <a:rPr lang="en-US" dirty="0"/>
              <a:t>To define the MDPE process and to how use it to drive daily business performance and sustainable results at Gemba.</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a:t>
            </a:fld>
            <a:endParaRPr lang="en-US"/>
          </a:p>
        </p:txBody>
      </p:sp>
      <p:grpSp>
        <p:nvGrpSpPr>
          <p:cNvPr id="8" name="Group 7">
            <a:extLst>
              <a:ext uri="{FF2B5EF4-FFF2-40B4-BE49-F238E27FC236}">
                <a16:creationId xmlns:a16="http://schemas.microsoft.com/office/drawing/2014/main" id="{9F104619-15F3-24E7-4C62-27F859B12568}"/>
              </a:ext>
            </a:extLst>
          </p:cNvPr>
          <p:cNvGrpSpPr/>
          <p:nvPr/>
        </p:nvGrpSpPr>
        <p:grpSpPr>
          <a:xfrm>
            <a:off x="2131693" y="3840163"/>
            <a:ext cx="7928613" cy="1346200"/>
            <a:chOff x="2255153" y="3840163"/>
            <a:chExt cx="4634809" cy="1346200"/>
          </a:xfrm>
        </p:grpSpPr>
        <p:sp>
          <p:nvSpPr>
            <p:cNvPr id="4" name="AutoShape 3">
              <a:extLst>
                <a:ext uri="{FF2B5EF4-FFF2-40B4-BE49-F238E27FC236}">
                  <a16:creationId xmlns:a16="http://schemas.microsoft.com/office/drawing/2014/main" id="{003AEA88-69E0-0638-FFDF-169818BE4475}"/>
                </a:ext>
              </a:extLst>
            </p:cNvPr>
            <p:cNvSpPr>
              <a:spLocks noChangeArrowheads="1"/>
            </p:cNvSpPr>
            <p:nvPr/>
          </p:nvSpPr>
          <p:spPr bwMode="auto">
            <a:xfrm>
              <a:off x="5289762"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     Continuous Improvement in Gemba</a:t>
              </a:r>
            </a:p>
          </p:txBody>
        </p:sp>
        <p:sp>
          <p:nvSpPr>
            <p:cNvPr id="6" name="AutoShape 4">
              <a:extLst>
                <a:ext uri="{FF2B5EF4-FFF2-40B4-BE49-F238E27FC236}">
                  <a16:creationId xmlns:a16="http://schemas.microsoft.com/office/drawing/2014/main" id="{CDB7B71F-1055-A2F2-4A82-E5D46D37CEDC}"/>
                </a:ext>
              </a:extLst>
            </p:cNvPr>
            <p:cNvSpPr>
              <a:spLocks noChangeArrowheads="1"/>
            </p:cNvSpPr>
            <p:nvPr/>
          </p:nvSpPr>
          <p:spPr bwMode="auto">
            <a:xfrm>
              <a:off x="3775075"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Develop and Implement KPIs at Gemba</a:t>
              </a:r>
            </a:p>
          </p:txBody>
        </p:sp>
        <p:sp>
          <p:nvSpPr>
            <p:cNvPr id="7" name="AutoShape 5">
              <a:extLst>
                <a:ext uri="{FF2B5EF4-FFF2-40B4-BE49-F238E27FC236}">
                  <a16:creationId xmlns:a16="http://schemas.microsoft.com/office/drawing/2014/main" id="{92D66BDA-79CD-6368-9691-698162467D23}"/>
                </a:ext>
              </a:extLst>
            </p:cNvPr>
            <p:cNvSpPr>
              <a:spLocks noChangeArrowheads="1"/>
            </p:cNvSpPr>
            <p:nvPr/>
          </p:nvSpPr>
          <p:spPr bwMode="auto">
            <a:xfrm>
              <a:off x="2255153"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Commitment to Transformation </a:t>
              </a:r>
              <a:br>
                <a:rPr lang="en-US" altLang="en-US" sz="1600" dirty="0">
                  <a:solidFill>
                    <a:schemeClr val="bg1"/>
                  </a:solidFill>
                  <a:latin typeface="Roboto" panose="02000000000000000000" pitchFamily="2" charset="0"/>
                  <a:ea typeface="Roboto" panose="02000000000000000000" pitchFamily="2" charset="0"/>
                </a:rPr>
              </a:br>
              <a:r>
                <a:rPr lang="en-US" altLang="en-US" sz="1600" dirty="0">
                  <a:solidFill>
                    <a:schemeClr val="bg1"/>
                  </a:solidFill>
                  <a:latin typeface="Roboto" panose="02000000000000000000" pitchFamily="2" charset="0"/>
                  <a:ea typeface="Roboto" panose="02000000000000000000" pitchFamily="2" charset="0"/>
                </a:rPr>
                <a:t>(Lean Basics)</a:t>
              </a:r>
            </a:p>
          </p:txBody>
        </p:sp>
      </p:grpSp>
    </p:spTree>
    <p:extLst>
      <p:ext uri="{BB962C8B-B14F-4D97-AF65-F5344CB8AC3E}">
        <p14:creationId xmlns:p14="http://schemas.microsoft.com/office/powerpoint/2010/main" val="3402661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Managing for Daily Process Excellence Agenda</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9358182"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 (MDPE) Overview</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Gemba Exercise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Lean Basics Assessment and KPI Development</a:t>
            </a:r>
          </a:p>
        </p:txBody>
      </p:sp>
      <p:sp>
        <p:nvSpPr>
          <p:cNvPr id="15" name="Rectangle 14">
            <a:extLst>
              <a:ext uri="{FF2B5EF4-FFF2-40B4-BE49-F238E27FC236}">
                <a16:creationId xmlns:a16="http://schemas.microsoft.com/office/drawing/2014/main" id="{D87C53B4-48B2-AD29-AFD8-1C5B6871B984}"/>
              </a:ext>
            </a:extLst>
          </p:cNvPr>
          <p:cNvSpPr/>
          <p:nvPr/>
        </p:nvSpPr>
        <p:spPr>
          <a:xfrm>
            <a:off x="940248" y="4396378"/>
            <a:ext cx="935818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Installing MDPE: Manage the MDPE Levers at Gemba</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Sample Templates and Best Practices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1711093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Managing for Daily Process Excellence Agenda</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9358182"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 (MDPE) Overview</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Gemba Exercise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Lean Basics Assessment and KPI Development</a:t>
            </a:r>
          </a:p>
        </p:txBody>
      </p:sp>
      <p:sp>
        <p:nvSpPr>
          <p:cNvPr id="15" name="Rectangle 14">
            <a:extLst>
              <a:ext uri="{FF2B5EF4-FFF2-40B4-BE49-F238E27FC236}">
                <a16:creationId xmlns:a16="http://schemas.microsoft.com/office/drawing/2014/main" id="{D87C53B4-48B2-AD29-AFD8-1C5B6871B984}"/>
              </a:ext>
            </a:extLst>
          </p:cNvPr>
          <p:cNvSpPr/>
          <p:nvPr/>
        </p:nvSpPr>
        <p:spPr>
          <a:xfrm>
            <a:off x="940248" y="4396378"/>
            <a:ext cx="935818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Installing MDPE: Manage the MDPE Levers at Gemba</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Sample Templates and Best Practices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2635998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Autofit/>
          </a:bodyPr>
          <a:lstStyle/>
          <a:p>
            <a:r>
              <a:rPr lang="en-US" sz="3200" dirty="0">
                <a:solidFill>
                  <a:schemeClr val="bg2">
                    <a:lumMod val="10000"/>
                  </a:schemeClr>
                </a:solidFill>
                <a:latin typeface="Roboto Medium"/>
                <a:ea typeface="Roboto Medium"/>
                <a:cs typeface="Roboto Medium"/>
              </a:rPr>
              <a:t>Managing Daily Process Excellence (MDPE) Overview</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261B9E1E-ABF3-127D-8000-60A12BD4C151}"/>
              </a:ext>
            </a:extLst>
          </p:cNvPr>
          <p:cNvGrpSpPr>
            <a:grpSpLocks/>
          </p:cNvGrpSpPr>
          <p:nvPr/>
        </p:nvGrpSpPr>
        <p:grpSpPr bwMode="auto">
          <a:xfrm>
            <a:off x="646113" y="1794509"/>
            <a:ext cx="10899775" cy="4293553"/>
            <a:chOff x="454025" y="1336675"/>
            <a:chExt cx="8283575" cy="4751388"/>
          </a:xfrm>
        </p:grpSpPr>
        <p:sp>
          <p:nvSpPr>
            <p:cNvPr id="3" name="Rectangle 2">
              <a:extLst>
                <a:ext uri="{FF2B5EF4-FFF2-40B4-BE49-F238E27FC236}">
                  <a16:creationId xmlns:a16="http://schemas.microsoft.com/office/drawing/2014/main" id="{704F9CB6-9C2E-140D-14CE-7888F0BC17C1}"/>
                </a:ext>
              </a:extLst>
            </p:cNvPr>
            <p:cNvSpPr>
              <a:spLocks noChangeArrowheads="1"/>
            </p:cNvSpPr>
            <p:nvPr/>
          </p:nvSpPr>
          <p:spPr bwMode="auto">
            <a:xfrm>
              <a:off x="1416050" y="4684713"/>
              <a:ext cx="1908175" cy="568325"/>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100" dirty="0">
                  <a:solidFill>
                    <a:schemeClr val="bg1"/>
                  </a:solidFill>
                  <a:latin typeface="Roboto" panose="02000000000000000000" pitchFamily="2" charset="0"/>
                  <a:ea typeface="Roboto" panose="02000000000000000000" pitchFamily="2" charset="0"/>
                </a:rPr>
                <a:t>Daily Leadership </a:t>
              </a:r>
            </a:p>
            <a:p>
              <a:pPr algn="ctr">
                <a:lnSpc>
                  <a:spcPct val="80000"/>
                </a:lnSpc>
                <a:spcBef>
                  <a:spcPct val="20000"/>
                </a:spcBef>
                <a:spcAft>
                  <a:spcPct val="0"/>
                </a:spcAft>
                <a:buClrTx/>
                <a:buSzTx/>
                <a:buFontTx/>
                <a:buNone/>
              </a:pPr>
              <a:r>
                <a:rPr lang="en-US" altLang="en-US" sz="1100" dirty="0">
                  <a:solidFill>
                    <a:schemeClr val="bg1"/>
                  </a:solidFill>
                  <a:latin typeface="Roboto" panose="02000000000000000000" pitchFamily="2" charset="0"/>
                  <a:ea typeface="Roboto" panose="02000000000000000000" pitchFamily="2" charset="0"/>
                </a:rPr>
                <a:t>At </a:t>
              </a:r>
            </a:p>
            <a:p>
              <a:pPr algn="ctr">
                <a:lnSpc>
                  <a:spcPct val="80000"/>
                </a:lnSpc>
                <a:spcBef>
                  <a:spcPct val="20000"/>
                </a:spcBef>
                <a:spcAft>
                  <a:spcPct val="0"/>
                </a:spcAft>
                <a:buClrTx/>
                <a:buSzTx/>
                <a:buFontTx/>
                <a:buNone/>
              </a:pPr>
              <a:r>
                <a:rPr lang="en-US" altLang="en-US" sz="1100" dirty="0">
                  <a:solidFill>
                    <a:schemeClr val="bg1"/>
                  </a:solidFill>
                  <a:latin typeface="Roboto" panose="02000000000000000000" pitchFamily="2" charset="0"/>
                  <a:ea typeface="Roboto" panose="02000000000000000000" pitchFamily="2" charset="0"/>
                </a:rPr>
                <a:t>Gemba</a:t>
              </a:r>
            </a:p>
          </p:txBody>
        </p:sp>
        <p:sp>
          <p:nvSpPr>
            <p:cNvPr id="4" name="Rectangle 3">
              <a:extLst>
                <a:ext uri="{FF2B5EF4-FFF2-40B4-BE49-F238E27FC236}">
                  <a16:creationId xmlns:a16="http://schemas.microsoft.com/office/drawing/2014/main" id="{0C8C89BC-7284-5586-C374-6CCC6C34C8FB}"/>
                </a:ext>
              </a:extLst>
            </p:cNvPr>
            <p:cNvSpPr>
              <a:spLocks noChangeArrowheads="1"/>
            </p:cNvSpPr>
            <p:nvPr/>
          </p:nvSpPr>
          <p:spPr bwMode="auto">
            <a:xfrm>
              <a:off x="1406525" y="3897313"/>
              <a:ext cx="1908175" cy="568325"/>
            </a:xfrm>
            <a:prstGeom prst="rect">
              <a:avLst/>
            </a:prstGeom>
            <a:solidFill>
              <a:schemeClr val="accent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100" dirty="0">
                  <a:latin typeface="Roboto" panose="02000000000000000000" pitchFamily="2" charset="0"/>
                  <a:ea typeface="Roboto" panose="02000000000000000000" pitchFamily="2" charset="0"/>
                </a:rPr>
                <a:t>Root Cause </a:t>
              </a:r>
            </a:p>
            <a:p>
              <a:pPr algn="ctr">
                <a:lnSpc>
                  <a:spcPct val="80000"/>
                </a:lnSpc>
                <a:spcBef>
                  <a:spcPct val="20000"/>
                </a:spcBef>
                <a:spcAft>
                  <a:spcPct val="0"/>
                </a:spcAft>
                <a:buClrTx/>
                <a:buSzTx/>
                <a:buFontTx/>
                <a:buNone/>
              </a:pPr>
              <a:r>
                <a:rPr lang="en-US" altLang="en-US" sz="1100" dirty="0">
                  <a:latin typeface="Roboto" panose="02000000000000000000" pitchFamily="2" charset="0"/>
                  <a:ea typeface="Roboto" panose="02000000000000000000" pitchFamily="2" charset="0"/>
                </a:rPr>
                <a:t>And </a:t>
              </a:r>
            </a:p>
            <a:p>
              <a:pPr algn="ctr">
                <a:lnSpc>
                  <a:spcPct val="80000"/>
                </a:lnSpc>
                <a:spcBef>
                  <a:spcPct val="20000"/>
                </a:spcBef>
                <a:spcAft>
                  <a:spcPct val="0"/>
                </a:spcAft>
                <a:buClrTx/>
                <a:buSzTx/>
                <a:buFontTx/>
                <a:buNone/>
              </a:pPr>
              <a:r>
                <a:rPr lang="en-US" altLang="en-US" sz="1100" dirty="0">
                  <a:latin typeface="Roboto" panose="02000000000000000000" pitchFamily="2" charset="0"/>
                  <a:ea typeface="Roboto" panose="02000000000000000000" pitchFamily="2" charset="0"/>
                </a:rPr>
                <a:t>Countermeasure at Gemba</a:t>
              </a:r>
            </a:p>
          </p:txBody>
        </p:sp>
        <p:sp>
          <p:nvSpPr>
            <p:cNvPr id="6" name="Rectangle 4">
              <a:extLst>
                <a:ext uri="{FF2B5EF4-FFF2-40B4-BE49-F238E27FC236}">
                  <a16:creationId xmlns:a16="http://schemas.microsoft.com/office/drawing/2014/main" id="{8C74DB93-90FA-324C-0A13-F1431EE1F0DE}"/>
                </a:ext>
              </a:extLst>
            </p:cNvPr>
            <p:cNvSpPr>
              <a:spLocks noChangeArrowheads="1"/>
            </p:cNvSpPr>
            <p:nvPr/>
          </p:nvSpPr>
          <p:spPr bwMode="auto">
            <a:xfrm>
              <a:off x="1397000" y="3054350"/>
              <a:ext cx="1908175" cy="568325"/>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100">
                  <a:latin typeface="Roboto" panose="02000000000000000000" pitchFamily="2" charset="0"/>
                  <a:ea typeface="Roboto" panose="02000000000000000000" pitchFamily="2" charset="0"/>
                </a:rPr>
                <a:t>Visual Management at Gemba</a:t>
              </a:r>
            </a:p>
          </p:txBody>
        </p:sp>
        <p:sp>
          <p:nvSpPr>
            <p:cNvPr id="7" name="Line 6">
              <a:extLst>
                <a:ext uri="{FF2B5EF4-FFF2-40B4-BE49-F238E27FC236}">
                  <a16:creationId xmlns:a16="http://schemas.microsoft.com/office/drawing/2014/main" id="{16C410A9-248A-E104-351D-E98711BCBB07}"/>
                </a:ext>
              </a:extLst>
            </p:cNvPr>
            <p:cNvSpPr>
              <a:spLocks noChangeShapeType="1"/>
            </p:cNvSpPr>
            <p:nvPr/>
          </p:nvSpPr>
          <p:spPr bwMode="auto">
            <a:xfrm>
              <a:off x="1401763" y="4568825"/>
              <a:ext cx="676910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 name="Line 7">
              <a:extLst>
                <a:ext uri="{FF2B5EF4-FFF2-40B4-BE49-F238E27FC236}">
                  <a16:creationId xmlns:a16="http://schemas.microsoft.com/office/drawing/2014/main" id="{CB8A1636-4C86-8B95-BE78-392A378B1455}"/>
                </a:ext>
              </a:extLst>
            </p:cNvPr>
            <p:cNvSpPr>
              <a:spLocks noChangeShapeType="1"/>
            </p:cNvSpPr>
            <p:nvPr/>
          </p:nvSpPr>
          <p:spPr bwMode="auto">
            <a:xfrm>
              <a:off x="1401763" y="3781425"/>
              <a:ext cx="676910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9" name="Rectangle 9">
              <a:extLst>
                <a:ext uri="{FF2B5EF4-FFF2-40B4-BE49-F238E27FC236}">
                  <a16:creationId xmlns:a16="http://schemas.microsoft.com/office/drawing/2014/main" id="{638FF140-DCA2-632D-8A19-70452B015151}"/>
                </a:ext>
              </a:extLst>
            </p:cNvPr>
            <p:cNvSpPr>
              <a:spLocks noChangeArrowheads="1"/>
            </p:cNvSpPr>
            <p:nvPr/>
          </p:nvSpPr>
          <p:spPr bwMode="auto">
            <a:xfrm>
              <a:off x="3467100" y="4694238"/>
              <a:ext cx="4854575" cy="69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200" b="0">
                  <a:latin typeface="Roboto" panose="02000000000000000000" pitchFamily="2" charset="0"/>
                  <a:ea typeface="Roboto" panose="02000000000000000000" pitchFamily="2" charset="0"/>
                </a:rPr>
                <a:t>Management leads a daily review of performance.  Same time every day, same agenda.  Each MDPE meeting should be rolled up to an organization wide performance board daily.  Allows transparency to total daily performance</a:t>
              </a:r>
            </a:p>
          </p:txBody>
        </p:sp>
        <p:sp>
          <p:nvSpPr>
            <p:cNvPr id="10" name="Rectangle 10">
              <a:extLst>
                <a:ext uri="{FF2B5EF4-FFF2-40B4-BE49-F238E27FC236}">
                  <a16:creationId xmlns:a16="http://schemas.microsoft.com/office/drawing/2014/main" id="{67DED841-4343-9E85-3A36-21D2892739F8}"/>
                </a:ext>
              </a:extLst>
            </p:cNvPr>
            <p:cNvSpPr>
              <a:spLocks noChangeArrowheads="1"/>
            </p:cNvSpPr>
            <p:nvPr/>
          </p:nvSpPr>
          <p:spPr bwMode="auto">
            <a:xfrm>
              <a:off x="3467100" y="3890964"/>
              <a:ext cx="4865688" cy="490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200" b="0">
                  <a:latin typeface="Roboto" panose="02000000000000000000" pitchFamily="2" charset="0"/>
                  <a:ea typeface="Roboto" panose="02000000000000000000" pitchFamily="2" charset="0"/>
                </a:rPr>
                <a:t>RCCM present in each work area, with focus on rapid improvement  and longer term fixes to systemic problems.  Gemba employees drive to RCCM, not just leadership</a:t>
              </a:r>
            </a:p>
          </p:txBody>
        </p:sp>
        <p:sp>
          <p:nvSpPr>
            <p:cNvPr id="11" name="Rectangle 11">
              <a:extLst>
                <a:ext uri="{FF2B5EF4-FFF2-40B4-BE49-F238E27FC236}">
                  <a16:creationId xmlns:a16="http://schemas.microsoft.com/office/drawing/2014/main" id="{225F6E92-B8C9-E9AC-7F6D-4893197B9A28}"/>
                </a:ext>
              </a:extLst>
            </p:cNvPr>
            <p:cNvSpPr>
              <a:spLocks noChangeArrowheads="1"/>
            </p:cNvSpPr>
            <p:nvPr/>
          </p:nvSpPr>
          <p:spPr bwMode="auto">
            <a:xfrm>
              <a:off x="3467100" y="2965450"/>
              <a:ext cx="4854575" cy="69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200" b="0">
                  <a:latin typeface="Roboto" panose="02000000000000000000" pitchFamily="2" charset="0"/>
                  <a:ea typeface="Roboto" panose="02000000000000000000" pitchFamily="2" charset="0"/>
                </a:rPr>
                <a:t>Visual Management boards at each cell of work cluster.  Key Performance Indicators posted on board, measured and reviewed at least daily,  Must contain Root Cause and Countermeasure (RCCM) </a:t>
              </a:r>
            </a:p>
          </p:txBody>
        </p:sp>
        <p:sp>
          <p:nvSpPr>
            <p:cNvPr id="18" name="Line 13">
              <a:extLst>
                <a:ext uri="{FF2B5EF4-FFF2-40B4-BE49-F238E27FC236}">
                  <a16:creationId xmlns:a16="http://schemas.microsoft.com/office/drawing/2014/main" id="{9855E145-A20E-EC1F-532E-53005A9B45B9}"/>
                </a:ext>
              </a:extLst>
            </p:cNvPr>
            <p:cNvSpPr>
              <a:spLocks noChangeShapeType="1"/>
            </p:cNvSpPr>
            <p:nvPr/>
          </p:nvSpPr>
          <p:spPr bwMode="auto">
            <a:xfrm>
              <a:off x="1404938" y="2109788"/>
              <a:ext cx="67691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9" name="Text Box 14">
              <a:extLst>
                <a:ext uri="{FF2B5EF4-FFF2-40B4-BE49-F238E27FC236}">
                  <a16:creationId xmlns:a16="http://schemas.microsoft.com/office/drawing/2014/main" id="{614F60B0-AC67-FBEF-5CC1-2944CC05060F}"/>
                </a:ext>
              </a:extLst>
            </p:cNvPr>
            <p:cNvSpPr txBox="1">
              <a:spLocks noChangeArrowheads="1"/>
            </p:cNvSpPr>
            <p:nvPr/>
          </p:nvSpPr>
          <p:spPr bwMode="auto">
            <a:xfrm>
              <a:off x="1314450" y="1806575"/>
              <a:ext cx="2994690" cy="294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Key Steps                                             Description</a:t>
              </a:r>
            </a:p>
          </p:txBody>
        </p:sp>
        <p:sp>
          <p:nvSpPr>
            <p:cNvPr id="21" name="Oval 15">
              <a:extLst>
                <a:ext uri="{FF2B5EF4-FFF2-40B4-BE49-F238E27FC236}">
                  <a16:creationId xmlns:a16="http://schemas.microsoft.com/office/drawing/2014/main" id="{819E2BB4-0C66-24DD-9FBE-3547ED8BD469}"/>
                </a:ext>
              </a:extLst>
            </p:cNvPr>
            <p:cNvSpPr>
              <a:spLocks noChangeArrowheads="1"/>
            </p:cNvSpPr>
            <p:nvPr/>
          </p:nvSpPr>
          <p:spPr bwMode="auto">
            <a:xfrm>
              <a:off x="820736" y="3056008"/>
              <a:ext cx="389157" cy="56666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2</a:t>
              </a:r>
            </a:p>
          </p:txBody>
        </p:sp>
        <p:sp>
          <p:nvSpPr>
            <p:cNvPr id="22" name="Oval 16">
              <a:extLst>
                <a:ext uri="{FF2B5EF4-FFF2-40B4-BE49-F238E27FC236}">
                  <a16:creationId xmlns:a16="http://schemas.microsoft.com/office/drawing/2014/main" id="{73AE33BF-4D75-147D-7330-7827CF9FB0D9}"/>
                </a:ext>
              </a:extLst>
            </p:cNvPr>
            <p:cNvSpPr>
              <a:spLocks noChangeArrowheads="1"/>
            </p:cNvSpPr>
            <p:nvPr/>
          </p:nvSpPr>
          <p:spPr bwMode="auto">
            <a:xfrm>
              <a:off x="820736" y="3898971"/>
              <a:ext cx="389157" cy="56666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3</a:t>
              </a:r>
            </a:p>
          </p:txBody>
        </p:sp>
        <p:sp>
          <p:nvSpPr>
            <p:cNvPr id="23" name="Oval 17">
              <a:extLst>
                <a:ext uri="{FF2B5EF4-FFF2-40B4-BE49-F238E27FC236}">
                  <a16:creationId xmlns:a16="http://schemas.microsoft.com/office/drawing/2014/main" id="{4BEE6359-06EB-EBC5-3B86-82265A36B1CA}"/>
                </a:ext>
              </a:extLst>
            </p:cNvPr>
            <p:cNvSpPr>
              <a:spLocks noChangeArrowheads="1"/>
            </p:cNvSpPr>
            <p:nvPr/>
          </p:nvSpPr>
          <p:spPr bwMode="auto">
            <a:xfrm>
              <a:off x="820736" y="4684085"/>
              <a:ext cx="389157" cy="56666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4</a:t>
              </a:r>
            </a:p>
          </p:txBody>
        </p:sp>
        <p:sp>
          <p:nvSpPr>
            <p:cNvPr id="24" name="Rectangle 20">
              <a:extLst>
                <a:ext uri="{FF2B5EF4-FFF2-40B4-BE49-F238E27FC236}">
                  <a16:creationId xmlns:a16="http://schemas.microsoft.com/office/drawing/2014/main" id="{8DB5BD7E-95B6-FAA1-C2AF-E84E22B9742D}"/>
                </a:ext>
              </a:extLst>
            </p:cNvPr>
            <p:cNvSpPr>
              <a:spLocks noChangeArrowheads="1"/>
            </p:cNvSpPr>
            <p:nvPr/>
          </p:nvSpPr>
          <p:spPr bwMode="auto">
            <a:xfrm>
              <a:off x="1406525" y="2249488"/>
              <a:ext cx="1908175" cy="56832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100" dirty="0">
                  <a:latin typeface="Roboto" panose="02000000000000000000" pitchFamily="2" charset="0"/>
                  <a:ea typeface="Roboto" panose="02000000000000000000" pitchFamily="2" charset="0"/>
                </a:rPr>
                <a:t>KPI Metrics at Gemba</a:t>
              </a:r>
            </a:p>
          </p:txBody>
        </p:sp>
        <p:sp>
          <p:nvSpPr>
            <p:cNvPr id="25" name="Line 21">
              <a:extLst>
                <a:ext uri="{FF2B5EF4-FFF2-40B4-BE49-F238E27FC236}">
                  <a16:creationId xmlns:a16="http://schemas.microsoft.com/office/drawing/2014/main" id="{E02273A1-1292-1CA3-4783-59EF0F41039B}"/>
                </a:ext>
              </a:extLst>
            </p:cNvPr>
            <p:cNvSpPr>
              <a:spLocks noChangeShapeType="1"/>
            </p:cNvSpPr>
            <p:nvPr/>
          </p:nvSpPr>
          <p:spPr bwMode="auto">
            <a:xfrm>
              <a:off x="1411288" y="2933700"/>
              <a:ext cx="676910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6" name="Rectangle 22">
              <a:extLst>
                <a:ext uri="{FF2B5EF4-FFF2-40B4-BE49-F238E27FC236}">
                  <a16:creationId xmlns:a16="http://schemas.microsoft.com/office/drawing/2014/main" id="{9EE873FC-A3E0-0562-900B-0DFCFA2F8864}"/>
                </a:ext>
              </a:extLst>
            </p:cNvPr>
            <p:cNvSpPr>
              <a:spLocks noChangeArrowheads="1"/>
            </p:cNvSpPr>
            <p:nvPr/>
          </p:nvSpPr>
          <p:spPr bwMode="auto">
            <a:xfrm>
              <a:off x="3478213" y="2160588"/>
              <a:ext cx="4854575" cy="490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200" b="0" dirty="0">
                  <a:latin typeface="Roboto" panose="02000000000000000000" pitchFamily="2" charset="0"/>
                  <a:ea typeface="Roboto" panose="02000000000000000000" pitchFamily="2" charset="0"/>
                </a:rPr>
                <a:t>Define the measures of success as measured by both the Organization and the Customer.  They should be easy to understand and to measure</a:t>
              </a:r>
            </a:p>
          </p:txBody>
        </p:sp>
        <p:sp>
          <p:nvSpPr>
            <p:cNvPr id="27" name="Oval 23">
              <a:extLst>
                <a:ext uri="{FF2B5EF4-FFF2-40B4-BE49-F238E27FC236}">
                  <a16:creationId xmlns:a16="http://schemas.microsoft.com/office/drawing/2014/main" id="{4664126C-1340-0E29-3FCF-61F07F095C37}"/>
                </a:ext>
              </a:extLst>
            </p:cNvPr>
            <p:cNvSpPr>
              <a:spLocks noChangeArrowheads="1"/>
            </p:cNvSpPr>
            <p:nvPr/>
          </p:nvSpPr>
          <p:spPr bwMode="auto">
            <a:xfrm>
              <a:off x="820736" y="2249488"/>
              <a:ext cx="389157" cy="56666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1</a:t>
              </a:r>
            </a:p>
          </p:txBody>
        </p:sp>
        <p:sp>
          <p:nvSpPr>
            <p:cNvPr id="28" name="Rectangle 24">
              <a:extLst>
                <a:ext uri="{FF2B5EF4-FFF2-40B4-BE49-F238E27FC236}">
                  <a16:creationId xmlns:a16="http://schemas.microsoft.com/office/drawing/2014/main" id="{BD9B4D99-D50F-F0C2-2B2A-FA2B1CBD5132}"/>
                </a:ext>
              </a:extLst>
            </p:cNvPr>
            <p:cNvSpPr>
              <a:spLocks noChangeArrowheads="1"/>
            </p:cNvSpPr>
            <p:nvPr/>
          </p:nvSpPr>
          <p:spPr bwMode="auto">
            <a:xfrm>
              <a:off x="454025" y="1336675"/>
              <a:ext cx="823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MDPE is the process an organization uses to manage at the Gemba</a:t>
              </a:r>
            </a:p>
          </p:txBody>
        </p:sp>
        <p:sp>
          <p:nvSpPr>
            <p:cNvPr id="30" name="Text Box 13">
              <a:extLst>
                <a:ext uri="{FF2B5EF4-FFF2-40B4-BE49-F238E27FC236}">
                  <a16:creationId xmlns:a16="http://schemas.microsoft.com/office/drawing/2014/main" id="{71D889CB-5063-B48A-F4E0-1521EC3CEEDA}"/>
                </a:ext>
              </a:extLst>
            </p:cNvPr>
            <p:cNvSpPr txBox="1">
              <a:spLocks noChangeArrowheads="1"/>
            </p:cNvSpPr>
            <p:nvPr/>
          </p:nvSpPr>
          <p:spPr bwMode="auto">
            <a:xfrm>
              <a:off x="500063" y="5718731"/>
              <a:ext cx="8237537" cy="369332"/>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5S, SW / Standard Process are the minimum tools required to support MDPE</a:t>
              </a:r>
              <a:endParaRPr lang="en-US" altLang="en-US" sz="1400" b="0" dirty="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1818229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Autofit/>
          </a:bodyPr>
          <a:lstStyle/>
          <a:p>
            <a:r>
              <a:rPr lang="en-US" sz="4000" dirty="0">
                <a:solidFill>
                  <a:schemeClr val="bg2">
                    <a:lumMod val="10000"/>
                  </a:schemeClr>
                </a:solidFill>
                <a:latin typeface="Roboto Medium"/>
                <a:ea typeface="Roboto Medium"/>
                <a:cs typeface="Roboto Medium"/>
              </a:rPr>
              <a:t>What are the core elements of MDPE?</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36" name="Group 35">
            <a:extLst>
              <a:ext uri="{FF2B5EF4-FFF2-40B4-BE49-F238E27FC236}">
                <a16:creationId xmlns:a16="http://schemas.microsoft.com/office/drawing/2014/main" id="{7FB2FF37-7571-68C3-F10B-B334EB5CD1E8}"/>
              </a:ext>
            </a:extLst>
          </p:cNvPr>
          <p:cNvGrpSpPr/>
          <p:nvPr/>
        </p:nvGrpSpPr>
        <p:grpSpPr>
          <a:xfrm>
            <a:off x="1057834" y="2000250"/>
            <a:ext cx="9640645" cy="3852838"/>
            <a:chOff x="1057834" y="2000250"/>
            <a:chExt cx="9640645" cy="3852838"/>
          </a:xfrm>
        </p:grpSpPr>
        <p:grpSp>
          <p:nvGrpSpPr>
            <p:cNvPr id="34" name="Group 33">
              <a:extLst>
                <a:ext uri="{FF2B5EF4-FFF2-40B4-BE49-F238E27FC236}">
                  <a16:creationId xmlns:a16="http://schemas.microsoft.com/office/drawing/2014/main" id="{DA13D181-DF14-BD9E-AF9F-7B0FDB9E7D50}"/>
                </a:ext>
              </a:extLst>
            </p:cNvPr>
            <p:cNvGrpSpPr/>
            <p:nvPr/>
          </p:nvGrpSpPr>
          <p:grpSpPr>
            <a:xfrm>
              <a:off x="2856706" y="2000250"/>
              <a:ext cx="7841773" cy="3852838"/>
              <a:chOff x="3476943" y="2480310"/>
              <a:chExt cx="7841773" cy="3852838"/>
            </a:xfrm>
          </p:grpSpPr>
          <p:sp>
            <p:nvSpPr>
              <p:cNvPr id="13" name="AutoShape 4">
                <a:extLst>
                  <a:ext uri="{FF2B5EF4-FFF2-40B4-BE49-F238E27FC236}">
                    <a16:creationId xmlns:a16="http://schemas.microsoft.com/office/drawing/2014/main" id="{F29ACF39-195F-C738-504F-7A26B2DD301C}"/>
                  </a:ext>
                </a:extLst>
              </p:cNvPr>
              <p:cNvSpPr>
                <a:spLocks noChangeArrowheads="1"/>
              </p:cNvSpPr>
              <p:nvPr/>
            </p:nvSpPr>
            <p:spPr bwMode="auto">
              <a:xfrm>
                <a:off x="3476943" y="2480310"/>
                <a:ext cx="7841773" cy="3852838"/>
              </a:xfrm>
              <a:prstGeom prst="triangle">
                <a:avLst>
                  <a:gd name="adj" fmla="val 50000"/>
                </a:avLst>
              </a:prstGeom>
              <a:solidFill>
                <a:srgbClr val="DDDDDD"/>
              </a:solidFill>
              <a:ln w="12700">
                <a:solidFill>
                  <a:schemeClr val="tx1"/>
                </a:solidFill>
                <a:miter lim="800000"/>
                <a:headEnd/>
                <a:tailEnd/>
              </a:ln>
            </p:spPr>
            <p:txBody>
              <a:bodyPr wrap="square" anchor="ct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14" name="Text Box 5">
                <a:extLst>
                  <a:ext uri="{FF2B5EF4-FFF2-40B4-BE49-F238E27FC236}">
                    <a16:creationId xmlns:a16="http://schemas.microsoft.com/office/drawing/2014/main" id="{762FB918-6693-A59C-A88C-42A92BAAE67C}"/>
                  </a:ext>
                </a:extLst>
              </p:cNvPr>
              <p:cNvSpPr txBox="1">
                <a:spLocks noChangeArrowheads="1"/>
              </p:cNvSpPr>
              <p:nvPr/>
            </p:nvSpPr>
            <p:spPr bwMode="auto">
              <a:xfrm>
                <a:off x="6622892" y="3284749"/>
                <a:ext cx="1549874" cy="1061829"/>
              </a:xfrm>
              <a:prstGeom prst="rect">
                <a:avLst/>
              </a:prstGeom>
              <a:solidFill>
                <a:schemeClr val="accent2"/>
              </a:solidFill>
              <a:ln w="12700">
                <a:solidFill>
                  <a:srgbClr val="FFFF00"/>
                </a:solidFill>
                <a:miter lim="800000"/>
                <a:headEnd/>
                <a:tailEnd/>
              </a:ln>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Tx/>
                  <a:buSzTx/>
                  <a:buFontTx/>
                  <a:buNone/>
                </a:pPr>
                <a:r>
                  <a:rPr lang="en-US" altLang="en-US" sz="1800" dirty="0">
                    <a:latin typeface="Roboto" panose="02000000000000000000" pitchFamily="2" charset="0"/>
                    <a:ea typeface="Roboto" panose="02000000000000000000" pitchFamily="2" charset="0"/>
                  </a:rPr>
                  <a:t>Gemba Leadership</a:t>
                </a:r>
              </a:p>
              <a:p>
                <a:pPr algn="ctr">
                  <a:lnSpc>
                    <a:spcPct val="100000"/>
                  </a:lnSpc>
                  <a:spcAft>
                    <a:spcPct val="0"/>
                  </a:spcAft>
                  <a:buClrTx/>
                  <a:buSzTx/>
                  <a:buFontTx/>
                  <a:buNone/>
                </a:pPr>
                <a:r>
                  <a:rPr lang="en-US" altLang="en-US" sz="1800" dirty="0">
                    <a:latin typeface="Roboto" panose="02000000000000000000" pitchFamily="2" charset="0"/>
                    <a:ea typeface="Roboto" panose="02000000000000000000" pitchFamily="2" charset="0"/>
                  </a:rPr>
                  <a:t>Of MDPE</a:t>
                </a:r>
              </a:p>
            </p:txBody>
          </p:sp>
          <p:sp>
            <p:nvSpPr>
              <p:cNvPr id="15" name="Text Box 6">
                <a:extLst>
                  <a:ext uri="{FF2B5EF4-FFF2-40B4-BE49-F238E27FC236}">
                    <a16:creationId xmlns:a16="http://schemas.microsoft.com/office/drawing/2014/main" id="{9CFFED5B-99B1-93A3-8186-BB4B12510215}"/>
                  </a:ext>
                </a:extLst>
              </p:cNvPr>
              <p:cNvSpPr txBox="1">
                <a:spLocks noChangeArrowheads="1"/>
              </p:cNvSpPr>
              <p:nvPr/>
            </p:nvSpPr>
            <p:spPr bwMode="auto">
              <a:xfrm>
                <a:off x="5951560" y="4508745"/>
                <a:ext cx="2892538" cy="646331"/>
              </a:xfrm>
              <a:prstGeom prst="rect">
                <a:avLst/>
              </a:prstGeom>
              <a:solidFill>
                <a:schemeClr val="accent5"/>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Visual Management in place</a:t>
                </a:r>
              </a:p>
            </p:txBody>
          </p:sp>
          <p:sp>
            <p:nvSpPr>
              <p:cNvPr id="16" name="Text Box 7">
                <a:extLst>
                  <a:ext uri="{FF2B5EF4-FFF2-40B4-BE49-F238E27FC236}">
                    <a16:creationId xmlns:a16="http://schemas.microsoft.com/office/drawing/2014/main" id="{2AA0DCB9-D898-28F6-3F46-983C5B02B7DD}"/>
                  </a:ext>
                </a:extLst>
              </p:cNvPr>
              <p:cNvSpPr txBox="1">
                <a:spLocks noChangeArrowheads="1"/>
              </p:cNvSpPr>
              <p:nvPr/>
            </p:nvSpPr>
            <p:spPr bwMode="auto">
              <a:xfrm>
                <a:off x="4979914" y="5317243"/>
                <a:ext cx="4835830" cy="369332"/>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Tx/>
                  <a:buSzTx/>
                  <a:buFontTx/>
                  <a:buNone/>
                </a:pPr>
                <a:r>
                  <a:rPr lang="en-US" altLang="en-US" sz="1800">
                    <a:latin typeface="Roboto" panose="02000000000000000000" pitchFamily="2" charset="0"/>
                    <a:ea typeface="Roboto" panose="02000000000000000000" pitchFamily="2" charset="0"/>
                  </a:rPr>
                  <a:t>KPI</a:t>
                </a:r>
                <a:r>
                  <a:rPr lang="ja-JP" altLang="en-US" sz="1800">
                    <a:latin typeface="Roboto" panose="02000000000000000000" pitchFamily="2" charset="0"/>
                  </a:rPr>
                  <a:t>’</a:t>
                </a:r>
                <a:r>
                  <a:rPr lang="en-US" altLang="ja-JP" sz="1800">
                    <a:latin typeface="Roboto" panose="02000000000000000000" pitchFamily="2" charset="0"/>
                    <a:ea typeface="Roboto" panose="02000000000000000000" pitchFamily="2" charset="0"/>
                  </a:rPr>
                  <a:t>s Established</a:t>
                </a:r>
                <a:endParaRPr lang="en-US" altLang="en-US" sz="1800">
                  <a:latin typeface="Roboto" panose="02000000000000000000" pitchFamily="2" charset="0"/>
                  <a:ea typeface="Roboto" panose="02000000000000000000" pitchFamily="2" charset="0"/>
                </a:endParaRPr>
              </a:p>
            </p:txBody>
          </p:sp>
          <p:sp>
            <p:nvSpPr>
              <p:cNvPr id="29" name="Text Box 8">
                <a:extLst>
                  <a:ext uri="{FF2B5EF4-FFF2-40B4-BE49-F238E27FC236}">
                    <a16:creationId xmlns:a16="http://schemas.microsoft.com/office/drawing/2014/main" id="{028B5AEF-7477-6AE6-4D8E-26AFAC7B3A7E}"/>
                  </a:ext>
                </a:extLst>
              </p:cNvPr>
              <p:cNvSpPr txBox="1">
                <a:spLocks noChangeArrowheads="1"/>
              </p:cNvSpPr>
              <p:nvPr/>
            </p:nvSpPr>
            <p:spPr bwMode="auto">
              <a:xfrm>
                <a:off x="4065671" y="5848741"/>
                <a:ext cx="6664317" cy="369332"/>
              </a:xfrm>
              <a:prstGeom prst="rect">
                <a:avLst/>
              </a:prstGeom>
              <a:solidFill>
                <a:schemeClr val="accent5"/>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Lean Basics: 5S, Standard Work / Standard Process</a:t>
                </a:r>
              </a:p>
            </p:txBody>
          </p:sp>
        </p:grpSp>
        <p:sp>
          <p:nvSpPr>
            <p:cNvPr id="32" name="Text Box 10">
              <a:extLst>
                <a:ext uri="{FF2B5EF4-FFF2-40B4-BE49-F238E27FC236}">
                  <a16:creationId xmlns:a16="http://schemas.microsoft.com/office/drawing/2014/main" id="{6D2CB676-D5FE-63A9-2777-190A2FFE7751}"/>
                </a:ext>
              </a:extLst>
            </p:cNvPr>
            <p:cNvSpPr txBox="1">
              <a:spLocks noChangeArrowheads="1"/>
            </p:cNvSpPr>
            <p:nvPr/>
          </p:nvSpPr>
          <p:spPr bwMode="auto">
            <a:xfrm>
              <a:off x="1057834" y="2073275"/>
              <a:ext cx="2794076" cy="1483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spcAft>
                  <a:spcPct val="0"/>
                </a:spcAft>
                <a:buClrTx/>
                <a:buSzTx/>
                <a:buFontTx/>
                <a:buNone/>
              </a:pPr>
              <a:r>
                <a:rPr lang="en-US" altLang="en-US" sz="2000" dirty="0">
                  <a:latin typeface="Roboto" panose="02000000000000000000" pitchFamily="2" charset="0"/>
                  <a:ea typeface="Roboto" panose="02000000000000000000" pitchFamily="2" charset="0"/>
                </a:rPr>
                <a:t>Four Core Elements of Managing Daily Process Excellence (MDPE) at Gemba</a:t>
              </a:r>
            </a:p>
          </p:txBody>
        </p:sp>
      </p:grpSp>
    </p:spTree>
    <p:extLst>
      <p:ext uri="{BB962C8B-B14F-4D97-AF65-F5344CB8AC3E}">
        <p14:creationId xmlns:p14="http://schemas.microsoft.com/office/powerpoint/2010/main" val="34766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Autofit/>
          </a:bodyPr>
          <a:lstStyle/>
          <a:p>
            <a:r>
              <a:rPr lang="en-US" sz="4000" dirty="0">
                <a:solidFill>
                  <a:schemeClr val="bg2">
                    <a:lumMod val="10000"/>
                  </a:schemeClr>
                </a:solidFill>
                <a:latin typeface="Roboto Medium"/>
                <a:ea typeface="Roboto Medium"/>
                <a:cs typeface="Roboto Medium"/>
              </a:rPr>
              <a:t>What are the expected benefits of MDPE?</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9</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45" name="Group 44">
            <a:extLst>
              <a:ext uri="{FF2B5EF4-FFF2-40B4-BE49-F238E27FC236}">
                <a16:creationId xmlns:a16="http://schemas.microsoft.com/office/drawing/2014/main" id="{44017262-E2D0-2C72-98B5-948ABE3932A2}"/>
              </a:ext>
            </a:extLst>
          </p:cNvPr>
          <p:cNvGrpSpPr/>
          <p:nvPr/>
        </p:nvGrpSpPr>
        <p:grpSpPr>
          <a:xfrm>
            <a:off x="798195" y="1783080"/>
            <a:ext cx="10595610" cy="4187508"/>
            <a:chOff x="457200" y="1582738"/>
            <a:chExt cx="8264525" cy="4387850"/>
          </a:xfrm>
        </p:grpSpPr>
        <p:sp>
          <p:nvSpPr>
            <p:cNvPr id="12" name="Rectangle 2">
              <a:extLst>
                <a:ext uri="{FF2B5EF4-FFF2-40B4-BE49-F238E27FC236}">
                  <a16:creationId xmlns:a16="http://schemas.microsoft.com/office/drawing/2014/main" id="{D4F2B57D-21B2-C600-A6E0-C983AA6920AF}"/>
                </a:ext>
              </a:extLst>
            </p:cNvPr>
            <p:cNvSpPr>
              <a:spLocks noChangeArrowheads="1"/>
            </p:cNvSpPr>
            <p:nvPr/>
          </p:nvSpPr>
          <p:spPr bwMode="auto">
            <a:xfrm>
              <a:off x="1196975" y="1730375"/>
              <a:ext cx="1908175" cy="568325"/>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Improvement in value stream performance</a:t>
              </a:r>
            </a:p>
          </p:txBody>
        </p:sp>
        <p:sp>
          <p:nvSpPr>
            <p:cNvPr id="13" name="Rectangle 3">
              <a:extLst>
                <a:ext uri="{FF2B5EF4-FFF2-40B4-BE49-F238E27FC236}">
                  <a16:creationId xmlns:a16="http://schemas.microsoft.com/office/drawing/2014/main" id="{9AE01EFC-EF70-12D2-4693-AADC5F6BD55E}"/>
                </a:ext>
              </a:extLst>
            </p:cNvPr>
            <p:cNvSpPr>
              <a:spLocks noChangeArrowheads="1"/>
            </p:cNvSpPr>
            <p:nvPr/>
          </p:nvSpPr>
          <p:spPr bwMode="auto">
            <a:xfrm>
              <a:off x="1196975" y="2652713"/>
              <a:ext cx="1908175" cy="568325"/>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Drives Linkage </a:t>
              </a:r>
            </a:p>
          </p:txBody>
        </p:sp>
        <p:sp>
          <p:nvSpPr>
            <p:cNvPr id="14" name="Rectangle 4">
              <a:extLst>
                <a:ext uri="{FF2B5EF4-FFF2-40B4-BE49-F238E27FC236}">
                  <a16:creationId xmlns:a16="http://schemas.microsoft.com/office/drawing/2014/main" id="{60E8BC23-0648-C96B-DE71-773B7C39FD3D}"/>
                </a:ext>
              </a:extLst>
            </p:cNvPr>
            <p:cNvSpPr>
              <a:spLocks noChangeArrowheads="1"/>
            </p:cNvSpPr>
            <p:nvPr/>
          </p:nvSpPr>
          <p:spPr bwMode="auto">
            <a:xfrm>
              <a:off x="1203325" y="3559175"/>
              <a:ext cx="1908175" cy="568325"/>
            </a:xfrm>
            <a:prstGeom prst="rect">
              <a:avLst/>
            </a:prstGeom>
            <a:solidFill>
              <a:schemeClr val="accent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Solve</a:t>
              </a:r>
              <a:r>
                <a:rPr lang="en-US" altLang="en-US" sz="900">
                  <a:latin typeface="Roboto" panose="02000000000000000000" pitchFamily="2" charset="0"/>
                  <a:ea typeface="Roboto" panose="02000000000000000000" pitchFamily="2" charset="0"/>
                </a:rPr>
                <a:t> </a:t>
              </a:r>
              <a:r>
                <a:rPr lang="en-US" altLang="en-US" sz="1400">
                  <a:latin typeface="Roboto" panose="02000000000000000000" pitchFamily="2" charset="0"/>
                  <a:ea typeface="Roboto" panose="02000000000000000000" pitchFamily="2" charset="0"/>
                </a:rPr>
                <a:t>problems at the source</a:t>
              </a:r>
            </a:p>
          </p:txBody>
        </p:sp>
        <p:sp>
          <p:nvSpPr>
            <p:cNvPr id="15" name="Rectangle 5">
              <a:extLst>
                <a:ext uri="{FF2B5EF4-FFF2-40B4-BE49-F238E27FC236}">
                  <a16:creationId xmlns:a16="http://schemas.microsoft.com/office/drawing/2014/main" id="{873BD75D-0FCB-92B0-766A-E7946487FF73}"/>
                </a:ext>
              </a:extLst>
            </p:cNvPr>
            <p:cNvSpPr>
              <a:spLocks noChangeArrowheads="1"/>
            </p:cNvSpPr>
            <p:nvPr/>
          </p:nvSpPr>
          <p:spPr bwMode="auto">
            <a:xfrm>
              <a:off x="1196975" y="4524375"/>
              <a:ext cx="1908175" cy="56832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Sustainability</a:t>
              </a:r>
            </a:p>
          </p:txBody>
        </p:sp>
        <p:sp>
          <p:nvSpPr>
            <p:cNvPr id="16" name="Line 6">
              <a:extLst>
                <a:ext uri="{FF2B5EF4-FFF2-40B4-BE49-F238E27FC236}">
                  <a16:creationId xmlns:a16="http://schemas.microsoft.com/office/drawing/2014/main" id="{5E5A07C4-9B01-90A4-A712-4A9319186824}"/>
                </a:ext>
              </a:extLst>
            </p:cNvPr>
            <p:cNvSpPr>
              <a:spLocks noChangeShapeType="1"/>
            </p:cNvSpPr>
            <p:nvPr/>
          </p:nvSpPr>
          <p:spPr bwMode="auto">
            <a:xfrm>
              <a:off x="471488" y="2551113"/>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9" name="Line 7">
              <a:extLst>
                <a:ext uri="{FF2B5EF4-FFF2-40B4-BE49-F238E27FC236}">
                  <a16:creationId xmlns:a16="http://schemas.microsoft.com/office/drawing/2014/main" id="{DE74131E-13F3-26FD-3C69-5BA5CD3A2C5F}"/>
                </a:ext>
              </a:extLst>
            </p:cNvPr>
            <p:cNvSpPr>
              <a:spLocks noChangeShapeType="1"/>
            </p:cNvSpPr>
            <p:nvPr/>
          </p:nvSpPr>
          <p:spPr bwMode="auto">
            <a:xfrm>
              <a:off x="487363" y="3455988"/>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1" name="Line 8">
              <a:extLst>
                <a:ext uri="{FF2B5EF4-FFF2-40B4-BE49-F238E27FC236}">
                  <a16:creationId xmlns:a16="http://schemas.microsoft.com/office/drawing/2014/main" id="{65E8B48E-8AFF-2BAD-B928-729DA96D913B}"/>
                </a:ext>
              </a:extLst>
            </p:cNvPr>
            <p:cNvSpPr>
              <a:spLocks noChangeShapeType="1"/>
            </p:cNvSpPr>
            <p:nvPr/>
          </p:nvSpPr>
          <p:spPr bwMode="auto">
            <a:xfrm>
              <a:off x="457200" y="4403725"/>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2" name="Line 9">
              <a:extLst>
                <a:ext uri="{FF2B5EF4-FFF2-40B4-BE49-F238E27FC236}">
                  <a16:creationId xmlns:a16="http://schemas.microsoft.com/office/drawing/2014/main" id="{6173F01B-ED78-264A-68EA-53EE30C907B5}"/>
                </a:ext>
              </a:extLst>
            </p:cNvPr>
            <p:cNvSpPr>
              <a:spLocks noChangeShapeType="1"/>
            </p:cNvSpPr>
            <p:nvPr/>
          </p:nvSpPr>
          <p:spPr bwMode="auto">
            <a:xfrm>
              <a:off x="473075" y="5294313"/>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3" name="Rectangle 10">
              <a:extLst>
                <a:ext uri="{FF2B5EF4-FFF2-40B4-BE49-F238E27FC236}">
                  <a16:creationId xmlns:a16="http://schemas.microsoft.com/office/drawing/2014/main" id="{57442F75-BCDB-3E78-E91F-181B3E32EF24}"/>
                </a:ext>
              </a:extLst>
            </p:cNvPr>
            <p:cNvSpPr>
              <a:spLocks noChangeArrowheads="1"/>
            </p:cNvSpPr>
            <p:nvPr/>
          </p:nvSpPr>
          <p:spPr bwMode="auto">
            <a:xfrm>
              <a:off x="3638550" y="1751013"/>
              <a:ext cx="4970463" cy="766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500" b="0" dirty="0">
                  <a:latin typeface="Roboto" panose="02000000000000000000" pitchFamily="2" charset="0"/>
                  <a:ea typeface="Roboto" panose="02000000000000000000" pitchFamily="2" charset="0"/>
                </a:rPr>
                <a:t>Creates focus on the items that provide the most impact to the business…VA (value add) and reduces the NVA (non value add) activities</a:t>
              </a:r>
            </a:p>
          </p:txBody>
        </p:sp>
        <p:sp>
          <p:nvSpPr>
            <p:cNvPr id="34" name="Rectangle 12">
              <a:extLst>
                <a:ext uri="{FF2B5EF4-FFF2-40B4-BE49-F238E27FC236}">
                  <a16:creationId xmlns:a16="http://schemas.microsoft.com/office/drawing/2014/main" id="{AAC31D83-3DA3-9F11-9900-40728A63B28C}"/>
                </a:ext>
              </a:extLst>
            </p:cNvPr>
            <p:cNvSpPr>
              <a:spLocks noChangeArrowheads="1"/>
            </p:cNvSpPr>
            <p:nvPr/>
          </p:nvSpPr>
          <p:spPr bwMode="auto">
            <a:xfrm>
              <a:off x="3641725" y="3711575"/>
              <a:ext cx="4970463" cy="44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buClr>
                  <a:schemeClr val="tx1"/>
                </a:buClr>
                <a:buFont typeface="Arial" panose="020B0604020202020204" pitchFamily="34" charset="0"/>
                <a:buChar char="•"/>
              </a:pPr>
              <a:r>
                <a:rPr lang="en-US" altLang="en-US" sz="1500" b="0">
                  <a:latin typeface="Roboto" panose="02000000000000000000" pitchFamily="2" charset="0"/>
                  <a:ea typeface="Roboto" panose="02000000000000000000" pitchFamily="2" charset="0"/>
                </a:rPr>
                <a:t>Drives resolution of a problem</a:t>
              </a:r>
              <a:r>
                <a:rPr lang="ja-JP" altLang="en-US" sz="1500" b="0">
                  <a:latin typeface="Roboto" panose="02000000000000000000" pitchFamily="2" charset="0"/>
                </a:rPr>
                <a:t>’</a:t>
              </a:r>
              <a:r>
                <a:rPr lang="en-US" altLang="ja-JP" sz="1500" b="0">
                  <a:latin typeface="Roboto" panose="02000000000000000000" pitchFamily="2" charset="0"/>
                  <a:ea typeface="Roboto" panose="02000000000000000000" pitchFamily="2" charset="0"/>
                </a:rPr>
                <a:t>s root cause rather than temporary fixes to meet short term goals</a:t>
              </a:r>
              <a:endParaRPr lang="en-US" altLang="en-US" sz="1500" b="0">
                <a:latin typeface="Roboto" panose="02000000000000000000" pitchFamily="2" charset="0"/>
                <a:ea typeface="Roboto" panose="02000000000000000000" pitchFamily="2" charset="0"/>
              </a:endParaRPr>
            </a:p>
          </p:txBody>
        </p:sp>
        <p:sp>
          <p:nvSpPr>
            <p:cNvPr id="35" name="Line 14">
              <a:extLst>
                <a:ext uri="{FF2B5EF4-FFF2-40B4-BE49-F238E27FC236}">
                  <a16:creationId xmlns:a16="http://schemas.microsoft.com/office/drawing/2014/main" id="{588B6DCC-4B19-CCB5-9C96-3332EE847B51}"/>
                </a:ext>
              </a:extLst>
            </p:cNvPr>
            <p:cNvSpPr>
              <a:spLocks noChangeShapeType="1"/>
            </p:cNvSpPr>
            <p:nvPr/>
          </p:nvSpPr>
          <p:spPr bwMode="auto">
            <a:xfrm flipV="1">
              <a:off x="461963" y="1582738"/>
              <a:ext cx="8250237" cy="158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6" name="Oval 16">
              <a:extLst>
                <a:ext uri="{FF2B5EF4-FFF2-40B4-BE49-F238E27FC236}">
                  <a16:creationId xmlns:a16="http://schemas.microsoft.com/office/drawing/2014/main" id="{CFDA7FFF-D554-A30F-DF20-B318233C420D}"/>
                </a:ext>
              </a:extLst>
            </p:cNvPr>
            <p:cNvSpPr>
              <a:spLocks noChangeArrowheads="1"/>
            </p:cNvSpPr>
            <p:nvPr/>
          </p:nvSpPr>
          <p:spPr bwMode="auto">
            <a:xfrm>
              <a:off x="515937" y="1734108"/>
              <a:ext cx="420804" cy="56530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1</a:t>
              </a:r>
            </a:p>
          </p:txBody>
        </p:sp>
        <p:sp>
          <p:nvSpPr>
            <p:cNvPr id="37" name="Oval 17">
              <a:extLst>
                <a:ext uri="{FF2B5EF4-FFF2-40B4-BE49-F238E27FC236}">
                  <a16:creationId xmlns:a16="http://schemas.microsoft.com/office/drawing/2014/main" id="{0D3A84CD-4076-BA95-A26E-509C497DDE67}"/>
                </a:ext>
              </a:extLst>
            </p:cNvPr>
            <p:cNvSpPr>
              <a:spLocks noChangeArrowheads="1"/>
            </p:cNvSpPr>
            <p:nvPr/>
          </p:nvSpPr>
          <p:spPr bwMode="auto">
            <a:xfrm>
              <a:off x="515937" y="2659063"/>
              <a:ext cx="420804" cy="56530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2</a:t>
              </a:r>
            </a:p>
          </p:txBody>
        </p:sp>
        <p:sp>
          <p:nvSpPr>
            <p:cNvPr id="38" name="Oval 18">
              <a:extLst>
                <a:ext uri="{FF2B5EF4-FFF2-40B4-BE49-F238E27FC236}">
                  <a16:creationId xmlns:a16="http://schemas.microsoft.com/office/drawing/2014/main" id="{74ADFBC6-3AA7-4D88-0B07-9664AAE27967}"/>
                </a:ext>
              </a:extLst>
            </p:cNvPr>
            <p:cNvSpPr>
              <a:spLocks noChangeArrowheads="1"/>
            </p:cNvSpPr>
            <p:nvPr/>
          </p:nvSpPr>
          <p:spPr bwMode="auto">
            <a:xfrm>
              <a:off x="515937" y="3565394"/>
              <a:ext cx="420804" cy="56530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3</a:t>
              </a:r>
            </a:p>
          </p:txBody>
        </p:sp>
        <p:sp>
          <p:nvSpPr>
            <p:cNvPr id="39" name="Oval 19">
              <a:extLst>
                <a:ext uri="{FF2B5EF4-FFF2-40B4-BE49-F238E27FC236}">
                  <a16:creationId xmlns:a16="http://schemas.microsoft.com/office/drawing/2014/main" id="{161D5B49-643A-57B9-5E19-F6ECDF951246}"/>
                </a:ext>
              </a:extLst>
            </p:cNvPr>
            <p:cNvSpPr>
              <a:spLocks noChangeArrowheads="1"/>
            </p:cNvSpPr>
            <p:nvPr/>
          </p:nvSpPr>
          <p:spPr bwMode="auto">
            <a:xfrm>
              <a:off x="515937" y="4527393"/>
              <a:ext cx="420804" cy="56530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4</a:t>
              </a:r>
            </a:p>
          </p:txBody>
        </p:sp>
        <p:sp>
          <p:nvSpPr>
            <p:cNvPr id="40" name="Oval 21">
              <a:extLst>
                <a:ext uri="{FF2B5EF4-FFF2-40B4-BE49-F238E27FC236}">
                  <a16:creationId xmlns:a16="http://schemas.microsoft.com/office/drawing/2014/main" id="{BB92CA87-7F18-8D0F-BEBF-0E64C060EB4F}"/>
                </a:ext>
              </a:extLst>
            </p:cNvPr>
            <p:cNvSpPr>
              <a:spLocks noChangeArrowheads="1"/>
            </p:cNvSpPr>
            <p:nvPr/>
          </p:nvSpPr>
          <p:spPr bwMode="auto">
            <a:xfrm>
              <a:off x="515937" y="5405281"/>
              <a:ext cx="420804" cy="56530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5</a:t>
              </a:r>
            </a:p>
          </p:txBody>
        </p:sp>
        <p:sp>
          <p:nvSpPr>
            <p:cNvPr id="41" name="Rectangle 22">
              <a:extLst>
                <a:ext uri="{FF2B5EF4-FFF2-40B4-BE49-F238E27FC236}">
                  <a16:creationId xmlns:a16="http://schemas.microsoft.com/office/drawing/2014/main" id="{340BC614-355C-6439-B43C-B3BA881F9E6A}"/>
                </a:ext>
              </a:extLst>
            </p:cNvPr>
            <p:cNvSpPr>
              <a:spLocks noChangeArrowheads="1"/>
            </p:cNvSpPr>
            <p:nvPr/>
          </p:nvSpPr>
          <p:spPr bwMode="auto">
            <a:xfrm>
              <a:off x="1174750" y="5402263"/>
              <a:ext cx="1908175" cy="568325"/>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Knowledge Transfer</a:t>
              </a:r>
            </a:p>
          </p:txBody>
        </p:sp>
        <p:sp>
          <p:nvSpPr>
            <p:cNvPr id="42" name="Rectangle 23">
              <a:extLst>
                <a:ext uri="{FF2B5EF4-FFF2-40B4-BE49-F238E27FC236}">
                  <a16:creationId xmlns:a16="http://schemas.microsoft.com/office/drawing/2014/main" id="{66AE98E4-CE80-C432-B078-6645ADE1B36B}"/>
                </a:ext>
              </a:extLst>
            </p:cNvPr>
            <p:cNvSpPr>
              <a:spLocks noChangeArrowheads="1"/>
            </p:cNvSpPr>
            <p:nvPr/>
          </p:nvSpPr>
          <p:spPr bwMode="auto">
            <a:xfrm>
              <a:off x="3692525" y="5494338"/>
              <a:ext cx="4970463" cy="44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buClr>
                  <a:schemeClr val="tx1"/>
                </a:buClr>
                <a:buFont typeface="Arial" panose="020B0604020202020204" pitchFamily="34" charset="0"/>
                <a:buChar char="•"/>
              </a:pPr>
              <a:r>
                <a:rPr lang="en-US" altLang="en-US" sz="1500" b="0">
                  <a:latin typeface="Roboto" panose="02000000000000000000" pitchFamily="2" charset="0"/>
                  <a:ea typeface="Roboto" panose="02000000000000000000" pitchFamily="2" charset="0"/>
                </a:rPr>
                <a:t>Creates a standard process for continuous learning and exchanging best practices </a:t>
              </a:r>
            </a:p>
          </p:txBody>
        </p:sp>
        <p:sp>
          <p:nvSpPr>
            <p:cNvPr id="43" name="Rectangle 27">
              <a:extLst>
                <a:ext uri="{FF2B5EF4-FFF2-40B4-BE49-F238E27FC236}">
                  <a16:creationId xmlns:a16="http://schemas.microsoft.com/office/drawing/2014/main" id="{63260092-34D3-5F87-6BBF-62DF25A916AE}"/>
                </a:ext>
              </a:extLst>
            </p:cNvPr>
            <p:cNvSpPr>
              <a:spLocks noChangeArrowheads="1"/>
            </p:cNvSpPr>
            <p:nvPr/>
          </p:nvSpPr>
          <p:spPr bwMode="auto">
            <a:xfrm>
              <a:off x="3641725" y="2797175"/>
              <a:ext cx="4970463" cy="44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buClr>
                  <a:schemeClr val="tx1"/>
                </a:buClr>
                <a:buFont typeface="Arial" panose="020B0604020202020204" pitchFamily="34" charset="0"/>
                <a:buChar char="•"/>
              </a:pPr>
              <a:r>
                <a:rPr lang="en-US" altLang="en-US" sz="1500" b="0">
                  <a:latin typeface="Roboto" panose="02000000000000000000" pitchFamily="2" charset="0"/>
                  <a:ea typeface="Roboto" panose="02000000000000000000" pitchFamily="2" charset="0"/>
                </a:rPr>
                <a:t>Supports alignment with meeting and exceeding KPI and Annual Improvement Priorities</a:t>
              </a:r>
            </a:p>
          </p:txBody>
        </p:sp>
        <p:sp>
          <p:nvSpPr>
            <p:cNvPr id="44" name="Rectangle 28">
              <a:extLst>
                <a:ext uri="{FF2B5EF4-FFF2-40B4-BE49-F238E27FC236}">
                  <a16:creationId xmlns:a16="http://schemas.microsoft.com/office/drawing/2014/main" id="{A0A2F55E-6C19-0640-0232-9DEEFC79E579}"/>
                </a:ext>
              </a:extLst>
            </p:cNvPr>
            <p:cNvSpPr>
              <a:spLocks noChangeArrowheads="1"/>
            </p:cNvSpPr>
            <p:nvPr/>
          </p:nvSpPr>
          <p:spPr bwMode="auto">
            <a:xfrm>
              <a:off x="3683000" y="4584700"/>
              <a:ext cx="4970463" cy="44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buClr>
                  <a:schemeClr val="tx1"/>
                </a:buClr>
                <a:buFont typeface="Arial" panose="020B0604020202020204" pitchFamily="34" charset="0"/>
                <a:buChar char="•"/>
              </a:pPr>
              <a:r>
                <a:rPr lang="en-US" altLang="en-US" sz="1500" b="0">
                  <a:latin typeface="Roboto" panose="02000000000000000000" pitchFamily="2" charset="0"/>
                  <a:ea typeface="Roboto" panose="02000000000000000000" pitchFamily="2" charset="0"/>
                </a:rPr>
                <a:t>Creates an environment where changes/ improvements to processes are sustained!! </a:t>
              </a:r>
            </a:p>
          </p:txBody>
        </p:sp>
      </p:grpSp>
    </p:spTree>
    <p:extLst>
      <p:ext uri="{BB962C8B-B14F-4D97-AF65-F5344CB8AC3E}">
        <p14:creationId xmlns:p14="http://schemas.microsoft.com/office/powerpoint/2010/main" val="519277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36E6-2E20-1277-8A14-A320570578F1}"/>
              </a:ext>
            </a:extLst>
          </p:cNvPr>
          <p:cNvSpPr>
            <a:spLocks noGrp="1"/>
          </p:cNvSpPr>
          <p:nvPr>
            <p:ph type="title"/>
          </p:nvPr>
        </p:nvSpPr>
        <p:spPr/>
        <p:txBody>
          <a:bodyPr>
            <a:noAutofit/>
          </a:bodyPr>
          <a:lstStyle/>
          <a:p>
            <a:r>
              <a:rPr lang="en-US" sz="3200" dirty="0"/>
              <a:t>What are the Core Leadership Concepts of MDPE?</a:t>
            </a:r>
          </a:p>
        </p:txBody>
      </p:sp>
      <p:grpSp>
        <p:nvGrpSpPr>
          <p:cNvPr id="22" name="Group 21">
            <a:extLst>
              <a:ext uri="{FF2B5EF4-FFF2-40B4-BE49-F238E27FC236}">
                <a16:creationId xmlns:a16="http://schemas.microsoft.com/office/drawing/2014/main" id="{6C889D24-EEB6-369B-EC17-FB2BA2D2288E}"/>
              </a:ext>
            </a:extLst>
          </p:cNvPr>
          <p:cNvGrpSpPr/>
          <p:nvPr/>
        </p:nvGrpSpPr>
        <p:grpSpPr>
          <a:xfrm>
            <a:off x="1191684" y="1839401"/>
            <a:ext cx="9808633" cy="4319823"/>
            <a:chOff x="622300" y="1828800"/>
            <a:chExt cx="8213725" cy="4033298"/>
          </a:xfrm>
        </p:grpSpPr>
        <p:grpSp>
          <p:nvGrpSpPr>
            <p:cNvPr id="11" name="Group 7">
              <a:extLst>
                <a:ext uri="{FF2B5EF4-FFF2-40B4-BE49-F238E27FC236}">
                  <a16:creationId xmlns:a16="http://schemas.microsoft.com/office/drawing/2014/main" id="{5E5A045A-C515-16C8-FE83-6089A13C1D8F}"/>
                </a:ext>
              </a:extLst>
            </p:cNvPr>
            <p:cNvGrpSpPr>
              <a:grpSpLocks/>
            </p:cNvGrpSpPr>
            <p:nvPr/>
          </p:nvGrpSpPr>
          <p:grpSpPr bwMode="auto">
            <a:xfrm>
              <a:off x="646113" y="1828800"/>
              <a:ext cx="8189912" cy="466725"/>
              <a:chOff x="562" y="1785"/>
              <a:chExt cx="4831" cy="294"/>
            </a:xfrm>
          </p:grpSpPr>
          <p:sp>
            <p:nvSpPr>
              <p:cNvPr id="12" name="AutoShape 8">
                <a:extLst>
                  <a:ext uri="{FF2B5EF4-FFF2-40B4-BE49-F238E27FC236}">
                    <a16:creationId xmlns:a16="http://schemas.microsoft.com/office/drawing/2014/main" id="{42F8807A-2FB6-E5BA-31FE-40BBE7B16FD0}"/>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latin typeface="Roboto" panose="02000000000000000000" pitchFamily="2" charset="0"/>
                    <a:ea typeface="Roboto" panose="02000000000000000000" pitchFamily="2" charset="0"/>
                  </a:rPr>
                  <a:t> Uphold The Parameters </a:t>
                </a:r>
              </a:p>
              <a:p>
                <a:r>
                  <a:rPr lang="en-US" altLang="en-US" sz="1600" dirty="0">
                    <a:latin typeface="Roboto" panose="02000000000000000000" pitchFamily="2" charset="0"/>
                    <a:ea typeface="Roboto" panose="02000000000000000000" pitchFamily="2" charset="0"/>
                  </a:rPr>
                  <a:t>Of Winning</a:t>
                </a:r>
              </a:p>
            </p:txBody>
          </p:sp>
          <p:sp>
            <p:nvSpPr>
              <p:cNvPr id="13" name="AutoShape 9">
                <a:extLst>
                  <a:ext uri="{FF2B5EF4-FFF2-40B4-BE49-F238E27FC236}">
                    <a16:creationId xmlns:a16="http://schemas.microsoft.com/office/drawing/2014/main" id="{307E9645-70B9-8228-5F5A-FF50BB37CCF9}"/>
                  </a:ext>
                </a:extLst>
              </p:cNvPr>
              <p:cNvSpPr>
                <a:spLocks noChangeArrowheads="1"/>
              </p:cNvSpPr>
              <p:nvPr/>
            </p:nvSpPr>
            <p:spPr bwMode="auto">
              <a:xfrm>
                <a:off x="2105" y="1785"/>
                <a:ext cx="1731" cy="294"/>
              </a:xfrm>
              <a:prstGeom prst="homePlate">
                <a:avLst>
                  <a:gd name="adj" fmla="val 48601"/>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 Define What Winning Is</a:t>
                </a:r>
              </a:p>
            </p:txBody>
          </p:sp>
          <p:sp>
            <p:nvSpPr>
              <p:cNvPr id="14" name="AutoShape 10">
                <a:extLst>
                  <a:ext uri="{FF2B5EF4-FFF2-40B4-BE49-F238E27FC236}">
                    <a16:creationId xmlns:a16="http://schemas.microsoft.com/office/drawing/2014/main" id="{0FB3E811-127E-1C68-FF2A-2B98269FCF5C}"/>
                  </a:ext>
                </a:extLst>
              </p:cNvPr>
              <p:cNvSpPr>
                <a:spLocks noChangeArrowheads="1"/>
              </p:cNvSpPr>
              <p:nvPr/>
            </p:nvSpPr>
            <p:spPr bwMode="auto">
              <a:xfrm>
                <a:off x="562" y="1785"/>
                <a:ext cx="1733" cy="294"/>
              </a:xfrm>
              <a:prstGeom prst="homePlate">
                <a:avLst>
                  <a:gd name="adj" fmla="val 48603"/>
                </a:avLst>
              </a:prstGeom>
              <a:solidFill>
                <a:schemeClr val="bg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 Set People Up To Win</a:t>
                </a:r>
              </a:p>
              <a:p>
                <a:r>
                  <a:rPr lang="en-US" altLang="en-US" sz="1600" dirty="0">
                    <a:solidFill>
                      <a:schemeClr val="tx1"/>
                    </a:solidFill>
                    <a:latin typeface="Roboto" panose="02000000000000000000" pitchFamily="2" charset="0"/>
                    <a:ea typeface="Roboto" panose="02000000000000000000" pitchFamily="2" charset="0"/>
                  </a:rPr>
                  <a:t>“Lean Basics”</a:t>
                </a:r>
              </a:p>
            </p:txBody>
          </p:sp>
        </p:grpSp>
        <p:sp>
          <p:nvSpPr>
            <p:cNvPr id="15" name="Rectangle 11">
              <a:extLst>
                <a:ext uri="{FF2B5EF4-FFF2-40B4-BE49-F238E27FC236}">
                  <a16:creationId xmlns:a16="http://schemas.microsoft.com/office/drawing/2014/main" id="{4784B5A8-455A-358B-2CA3-8B6E7C77544D}"/>
                </a:ext>
              </a:extLst>
            </p:cNvPr>
            <p:cNvSpPr>
              <a:spLocks noChangeArrowheads="1"/>
            </p:cNvSpPr>
            <p:nvPr/>
          </p:nvSpPr>
          <p:spPr bwMode="auto">
            <a:xfrm>
              <a:off x="650875" y="2346325"/>
              <a:ext cx="2716213"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Workforce trained in </a:t>
              </a:r>
              <a:br>
                <a:rPr lang="en-US" altLang="en-US" sz="1600" b="0" dirty="0">
                  <a:solidFill>
                    <a:schemeClr val="tx1"/>
                  </a:solidFill>
                  <a:latin typeface="Roboto" panose="02000000000000000000" pitchFamily="2" charset="0"/>
                  <a:ea typeface="Roboto" panose="02000000000000000000" pitchFamily="2" charset="0"/>
                </a:rPr>
              </a:br>
              <a:r>
                <a:rPr lang="en-US" altLang="en-US" sz="1600" b="0" dirty="0">
                  <a:solidFill>
                    <a:schemeClr val="tx1"/>
                  </a:solidFill>
                  <a:latin typeface="Roboto" panose="02000000000000000000" pitchFamily="2" charset="0"/>
                  <a:ea typeface="Roboto" panose="02000000000000000000" pitchFamily="2" charset="0"/>
                </a:rPr>
                <a:t>Lean Basics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5S all areas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Standard Work in place</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Materials at the point </a:t>
              </a:r>
              <a:br>
                <a:rPr lang="en-US" altLang="en-US" sz="1600" b="0" dirty="0">
                  <a:solidFill>
                    <a:schemeClr val="tx1"/>
                  </a:solidFill>
                  <a:latin typeface="Roboto" panose="02000000000000000000" pitchFamily="2" charset="0"/>
                  <a:ea typeface="Roboto" panose="02000000000000000000" pitchFamily="2" charset="0"/>
                </a:rPr>
              </a:br>
              <a:r>
                <a:rPr lang="en-US" altLang="en-US" sz="1600" b="0" dirty="0">
                  <a:solidFill>
                    <a:schemeClr val="tx1"/>
                  </a:solidFill>
                  <a:latin typeface="Roboto" panose="02000000000000000000" pitchFamily="2" charset="0"/>
                  <a:ea typeface="Roboto" panose="02000000000000000000" pitchFamily="2" charset="0"/>
                </a:rPr>
                <a:t>of use</a:t>
              </a:r>
            </a:p>
          </p:txBody>
        </p:sp>
        <p:sp>
          <p:nvSpPr>
            <p:cNvPr id="16" name="Rectangle 12">
              <a:extLst>
                <a:ext uri="{FF2B5EF4-FFF2-40B4-BE49-F238E27FC236}">
                  <a16:creationId xmlns:a16="http://schemas.microsoft.com/office/drawing/2014/main" id="{8CF06C38-3DFC-BFFE-AD99-519002CFE07D}"/>
                </a:ext>
              </a:extLst>
            </p:cNvPr>
            <p:cNvSpPr>
              <a:spLocks noChangeArrowheads="1"/>
            </p:cNvSpPr>
            <p:nvPr/>
          </p:nvSpPr>
          <p:spPr bwMode="auto">
            <a:xfrm>
              <a:off x="3411538"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Establish Key Performance Indicators (KPI’s)</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Visual Management in place</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Establish ownership for process and results</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Root cause and countermeasures expected</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Remove non-value add activity through spot kaizen of formal kaizen</a:t>
              </a:r>
            </a:p>
          </p:txBody>
        </p:sp>
        <p:sp>
          <p:nvSpPr>
            <p:cNvPr id="17" name="Rectangle 13">
              <a:extLst>
                <a:ext uri="{FF2B5EF4-FFF2-40B4-BE49-F238E27FC236}">
                  <a16:creationId xmlns:a16="http://schemas.microsoft.com/office/drawing/2014/main" id="{E3321DB4-0127-BD99-4DC9-593F0F50C4E9}"/>
                </a:ext>
              </a:extLst>
            </p:cNvPr>
            <p:cNvSpPr>
              <a:spLocks noChangeArrowheads="1"/>
            </p:cNvSpPr>
            <p:nvPr/>
          </p:nvSpPr>
          <p:spPr bwMode="auto">
            <a:xfrm>
              <a:off x="5962650"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Daily review of KPI’s at Gemba</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Daily Gemba walk to observe Standard Work</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Request and implement employee improvement suggestions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Reward individuals and teams who deliver KPI results using standard process</a:t>
              </a:r>
            </a:p>
          </p:txBody>
        </p:sp>
        <p:sp>
          <p:nvSpPr>
            <p:cNvPr id="21" name="AutoShape 17">
              <a:extLst>
                <a:ext uri="{FF2B5EF4-FFF2-40B4-BE49-F238E27FC236}">
                  <a16:creationId xmlns:a16="http://schemas.microsoft.com/office/drawing/2014/main" id="{0E35DF0B-DAA9-EB34-102D-99C91AD4E77D}"/>
                </a:ext>
              </a:extLst>
            </p:cNvPr>
            <p:cNvSpPr>
              <a:spLocks noChangeArrowheads="1"/>
            </p:cNvSpPr>
            <p:nvPr/>
          </p:nvSpPr>
          <p:spPr bwMode="auto">
            <a:xfrm>
              <a:off x="622300" y="5341398"/>
              <a:ext cx="8204200" cy="520700"/>
            </a:xfrm>
            <a:prstGeom prst="homePlate">
              <a:avLst>
                <a:gd name="adj" fmla="val 32169"/>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800" dirty="0">
                  <a:latin typeface="Roboto" panose="02000000000000000000" pitchFamily="2" charset="0"/>
                  <a:ea typeface="Roboto" panose="02000000000000000000" pitchFamily="2" charset="0"/>
                </a:rPr>
                <a:t>Inspect what you expect…recognize sustained improvement</a:t>
              </a:r>
            </a:p>
          </p:txBody>
        </p:sp>
      </p:grpSp>
    </p:spTree>
    <p:extLst>
      <p:ext uri="{BB962C8B-B14F-4D97-AF65-F5344CB8AC3E}">
        <p14:creationId xmlns:p14="http://schemas.microsoft.com/office/powerpoint/2010/main" val="1608284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 What is…and Where is Gemba?</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2400" dirty="0"/>
              <a:t>A Japanese word meaning “real place”</a:t>
            </a:r>
          </a:p>
          <a:p>
            <a:r>
              <a:rPr lang="en-US" sz="2400" dirty="0"/>
              <a:t>Today, adapted to mean “workplace”</a:t>
            </a:r>
          </a:p>
          <a:p>
            <a:r>
              <a:rPr lang="en-US" sz="2400" dirty="0"/>
              <a:t>In a lean organization, Gemba refers to the place where the employees “add value” to the product or service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sp>
        <p:nvSpPr>
          <p:cNvPr id="4" name="Text Box 13">
            <a:extLst>
              <a:ext uri="{FF2B5EF4-FFF2-40B4-BE49-F238E27FC236}">
                <a16:creationId xmlns:a16="http://schemas.microsoft.com/office/drawing/2014/main" id="{BB548507-2DA6-442F-B55C-BD5FBA4725BD}"/>
              </a:ext>
            </a:extLst>
          </p:cNvPr>
          <p:cNvSpPr txBox="1">
            <a:spLocks noChangeArrowheads="1"/>
          </p:cNvSpPr>
          <p:nvPr/>
        </p:nvSpPr>
        <p:spPr bwMode="auto">
          <a:xfrm>
            <a:off x="1977231" y="5857620"/>
            <a:ext cx="8237537" cy="369332"/>
          </a:xfrm>
          <a:prstGeom prst="rect">
            <a:avLst/>
          </a:prstGeom>
          <a:solidFill>
            <a:schemeClr val="bg2"/>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Gemba is any place in the organization where value is added </a:t>
            </a:r>
            <a:endParaRPr lang="en-US" altLang="en-US" sz="1400" b="0" dirty="0">
              <a:latin typeface="Roboto" panose="02000000000000000000" pitchFamily="2" charset="0"/>
              <a:ea typeface="Roboto" panose="02000000000000000000" pitchFamily="2" charset="0"/>
            </a:endParaRPr>
          </a:p>
        </p:txBody>
      </p:sp>
      <p:pic>
        <p:nvPicPr>
          <p:cNvPr id="6" name="Picture 10" descr="Sort">
            <a:extLst>
              <a:ext uri="{FF2B5EF4-FFF2-40B4-BE49-F238E27FC236}">
                <a16:creationId xmlns:a16="http://schemas.microsoft.com/office/drawing/2014/main" id="{DB5F9156-F621-2A30-81AF-9A8110B901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6400" y="3537890"/>
            <a:ext cx="2721610" cy="2176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
            <a:extLst>
              <a:ext uri="{FF2B5EF4-FFF2-40B4-BE49-F238E27FC236}">
                <a16:creationId xmlns:a16="http://schemas.microsoft.com/office/drawing/2014/main" id="{E790608A-EA62-08DE-F87B-078E1CE220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0047" y="3585515"/>
            <a:ext cx="2053876" cy="212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726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Where will MDPE have the greatest impact?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grpSp>
        <p:nvGrpSpPr>
          <p:cNvPr id="439" name="Group 438">
            <a:extLst>
              <a:ext uri="{FF2B5EF4-FFF2-40B4-BE49-F238E27FC236}">
                <a16:creationId xmlns:a16="http://schemas.microsoft.com/office/drawing/2014/main" id="{8E1AAA22-634F-C8C9-CE30-50617744F606}"/>
              </a:ext>
            </a:extLst>
          </p:cNvPr>
          <p:cNvGrpSpPr/>
          <p:nvPr/>
        </p:nvGrpSpPr>
        <p:grpSpPr>
          <a:xfrm>
            <a:off x="1771333" y="2176463"/>
            <a:ext cx="8813801" cy="4000501"/>
            <a:chOff x="1771333" y="2176463"/>
            <a:chExt cx="8813801" cy="4000501"/>
          </a:xfrm>
        </p:grpSpPr>
        <p:graphicFrame>
          <p:nvGraphicFramePr>
            <p:cNvPr id="9" name="Object 2">
              <a:extLst>
                <a:ext uri="{FF2B5EF4-FFF2-40B4-BE49-F238E27FC236}">
                  <a16:creationId xmlns:a16="http://schemas.microsoft.com/office/drawing/2014/main" id="{70776556-EE61-C5AE-8F42-65050422DAE9}"/>
                </a:ext>
              </a:extLst>
            </p:cNvPr>
            <p:cNvGraphicFramePr>
              <a:graphicFrameLocks noChangeAspect="1"/>
            </p:cNvGraphicFramePr>
            <p:nvPr>
              <p:extLst>
                <p:ext uri="{D42A27DB-BD31-4B8C-83A1-F6EECF244321}">
                  <p14:modId xmlns:p14="http://schemas.microsoft.com/office/powerpoint/2010/main" val="1587131790"/>
                </p:ext>
              </p:extLst>
            </p:nvPr>
          </p:nvGraphicFramePr>
          <p:xfrm>
            <a:off x="3311208" y="2182813"/>
            <a:ext cx="5616575" cy="3167063"/>
          </p:xfrm>
          <a:graphic>
            <a:graphicData uri="http://schemas.openxmlformats.org/presentationml/2006/ole">
              <mc:AlternateContent xmlns:mc="http://schemas.openxmlformats.org/markup-compatibility/2006">
                <mc:Choice xmlns:v="urn:schemas-microsoft-com:vml" Requires="v">
                  <p:oleObj name="Bitmap Image" r:id="rId3" imgW="6314286" imgH="3677163" progId="Paint.Picture">
                    <p:embed/>
                  </p:oleObj>
                </mc:Choice>
                <mc:Fallback>
                  <p:oleObj name="Bitmap Image" r:id="rId3" imgW="6314286" imgH="3677163" progId="Paint.Picture">
                    <p:embed/>
                    <p:pic>
                      <p:nvPicPr>
                        <p:cNvPr id="27653" name="Object 2">
                          <a:extLst>
                            <a:ext uri="{FF2B5EF4-FFF2-40B4-BE49-F238E27FC236}">
                              <a16:creationId xmlns:a16="http://schemas.microsoft.com/office/drawing/2014/main" id="{2778655D-7C3D-8C6B-27CC-35F4B9FA0B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1208" y="2182813"/>
                          <a:ext cx="5616575" cy="3167063"/>
                        </a:xfrm>
                        <a:prstGeom prst="rect">
                          <a:avLst/>
                        </a:prstGeom>
                        <a:solidFill>
                          <a:schemeClr val="accent5"/>
                        </a:solidFill>
                        <a:ln>
                          <a:noFill/>
                        </a:ln>
                        <a:effectLst/>
                      </p:spPr>
                    </p:pic>
                  </p:oleObj>
                </mc:Fallback>
              </mc:AlternateContent>
            </a:graphicData>
          </a:graphic>
        </p:graphicFrame>
        <p:sp>
          <p:nvSpPr>
            <p:cNvPr id="10" name="Rectangle 4">
              <a:extLst>
                <a:ext uri="{FF2B5EF4-FFF2-40B4-BE49-F238E27FC236}">
                  <a16:creationId xmlns:a16="http://schemas.microsoft.com/office/drawing/2014/main" id="{06C49AC1-AA0C-E7FD-B5B7-78A00D8C03A0}"/>
                </a:ext>
              </a:extLst>
            </p:cNvPr>
            <p:cNvSpPr>
              <a:spLocks noChangeArrowheads="1"/>
            </p:cNvSpPr>
            <p:nvPr/>
          </p:nvSpPr>
          <p:spPr bwMode="auto">
            <a:xfrm>
              <a:off x="1949133" y="2201863"/>
              <a:ext cx="88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Top Mgt</a:t>
              </a:r>
              <a:endParaRPr lang="en-US" altLang="en-US" sz="1800" b="0">
                <a:latin typeface="Roboto" panose="02000000000000000000" pitchFamily="2" charset="0"/>
                <a:ea typeface="Roboto" panose="02000000000000000000" pitchFamily="2" charset="0"/>
              </a:endParaRPr>
            </a:p>
          </p:txBody>
        </p:sp>
        <p:sp>
          <p:nvSpPr>
            <p:cNvPr id="11" name="Rectangle 5">
              <a:extLst>
                <a:ext uri="{FF2B5EF4-FFF2-40B4-BE49-F238E27FC236}">
                  <a16:creationId xmlns:a16="http://schemas.microsoft.com/office/drawing/2014/main" id="{9304D8EF-392C-0195-7275-0105B1D19F2A}"/>
                </a:ext>
              </a:extLst>
            </p:cNvPr>
            <p:cNvSpPr>
              <a:spLocks noChangeArrowheads="1"/>
            </p:cNvSpPr>
            <p:nvPr/>
          </p:nvSpPr>
          <p:spPr bwMode="auto">
            <a:xfrm>
              <a:off x="2061846" y="2890838"/>
              <a:ext cx="723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Middle</a:t>
              </a:r>
              <a:endParaRPr lang="en-US" altLang="en-US" sz="1800" b="0">
                <a:latin typeface="Roboto" panose="02000000000000000000" pitchFamily="2" charset="0"/>
                <a:ea typeface="Roboto" panose="02000000000000000000" pitchFamily="2" charset="0"/>
              </a:endParaRPr>
            </a:p>
          </p:txBody>
        </p:sp>
        <p:sp>
          <p:nvSpPr>
            <p:cNvPr id="12" name="Rectangle 6">
              <a:extLst>
                <a:ext uri="{FF2B5EF4-FFF2-40B4-BE49-F238E27FC236}">
                  <a16:creationId xmlns:a16="http://schemas.microsoft.com/office/drawing/2014/main" id="{37A883DC-46F5-F714-C87C-8B63E42FF443}"/>
                </a:ext>
              </a:extLst>
            </p:cNvPr>
            <p:cNvSpPr>
              <a:spLocks noChangeArrowheads="1"/>
            </p:cNvSpPr>
            <p:nvPr/>
          </p:nvSpPr>
          <p:spPr bwMode="auto">
            <a:xfrm>
              <a:off x="2061846" y="3219451"/>
              <a:ext cx="533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  Mgt</a:t>
              </a:r>
              <a:endParaRPr lang="en-US" altLang="en-US" sz="1800" b="0">
                <a:latin typeface="Roboto" panose="02000000000000000000" pitchFamily="2" charset="0"/>
                <a:ea typeface="Roboto" panose="02000000000000000000" pitchFamily="2" charset="0"/>
              </a:endParaRPr>
            </a:p>
          </p:txBody>
        </p:sp>
        <p:sp>
          <p:nvSpPr>
            <p:cNvPr id="13" name="Rectangle 7">
              <a:extLst>
                <a:ext uri="{FF2B5EF4-FFF2-40B4-BE49-F238E27FC236}">
                  <a16:creationId xmlns:a16="http://schemas.microsoft.com/office/drawing/2014/main" id="{82708F2F-EC9D-17BF-CB8A-4EB7414DB3F6}"/>
                </a:ext>
              </a:extLst>
            </p:cNvPr>
            <p:cNvSpPr>
              <a:spLocks noChangeArrowheads="1"/>
            </p:cNvSpPr>
            <p:nvPr/>
          </p:nvSpPr>
          <p:spPr bwMode="auto">
            <a:xfrm>
              <a:off x="1771333" y="3905251"/>
              <a:ext cx="11239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Supervisor</a:t>
              </a:r>
              <a:endParaRPr lang="en-US" altLang="en-US" sz="1800" b="0">
                <a:latin typeface="Roboto" panose="02000000000000000000" pitchFamily="2" charset="0"/>
                <a:ea typeface="Roboto" panose="02000000000000000000" pitchFamily="2" charset="0"/>
              </a:endParaRPr>
            </a:p>
          </p:txBody>
        </p:sp>
        <p:sp>
          <p:nvSpPr>
            <p:cNvPr id="14" name="Rectangle 8">
              <a:extLst>
                <a:ext uri="{FF2B5EF4-FFF2-40B4-BE49-F238E27FC236}">
                  <a16:creationId xmlns:a16="http://schemas.microsoft.com/office/drawing/2014/main" id="{435BE3D7-1E02-3204-3BD0-2195D1FDD7EC}"/>
                </a:ext>
              </a:extLst>
            </p:cNvPr>
            <p:cNvSpPr>
              <a:spLocks noChangeArrowheads="1"/>
            </p:cNvSpPr>
            <p:nvPr/>
          </p:nvSpPr>
          <p:spPr bwMode="auto">
            <a:xfrm>
              <a:off x="1866583" y="4578351"/>
              <a:ext cx="10477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Front Line</a:t>
              </a:r>
              <a:br>
                <a:rPr lang="en-US" altLang="en-US" sz="1800">
                  <a:latin typeface="Roboto" panose="02000000000000000000" pitchFamily="2" charset="0"/>
                  <a:ea typeface="Roboto" panose="02000000000000000000" pitchFamily="2" charset="0"/>
                </a:rPr>
              </a:br>
              <a:r>
                <a:rPr lang="en-US" altLang="en-US" sz="1800">
                  <a:latin typeface="Roboto" panose="02000000000000000000" pitchFamily="2" charset="0"/>
                  <a:ea typeface="Roboto" panose="02000000000000000000" pitchFamily="2" charset="0"/>
                </a:rPr>
                <a:t>Associate</a:t>
              </a:r>
              <a:endParaRPr lang="en-US" altLang="en-US" sz="1800" b="0">
                <a:latin typeface="Roboto" panose="02000000000000000000" pitchFamily="2" charset="0"/>
                <a:ea typeface="Roboto" panose="02000000000000000000" pitchFamily="2" charset="0"/>
              </a:endParaRPr>
            </a:p>
          </p:txBody>
        </p:sp>
        <p:sp>
          <p:nvSpPr>
            <p:cNvPr id="15" name="Rectangle 9">
              <a:extLst>
                <a:ext uri="{FF2B5EF4-FFF2-40B4-BE49-F238E27FC236}">
                  <a16:creationId xmlns:a16="http://schemas.microsoft.com/office/drawing/2014/main" id="{A68CD435-8D8E-5E7A-978C-60D6DECE1147}"/>
                </a:ext>
              </a:extLst>
            </p:cNvPr>
            <p:cNvSpPr>
              <a:spLocks noChangeArrowheads="1"/>
            </p:cNvSpPr>
            <p:nvPr/>
          </p:nvSpPr>
          <p:spPr bwMode="auto">
            <a:xfrm>
              <a:off x="3308033" y="2176463"/>
              <a:ext cx="5637213" cy="31654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800">
                <a:latin typeface="Roboto" panose="02000000000000000000" pitchFamily="2" charset="0"/>
                <a:ea typeface="Roboto" panose="02000000000000000000" pitchFamily="2" charset="0"/>
              </a:endParaRPr>
            </a:p>
          </p:txBody>
        </p:sp>
        <p:sp>
          <p:nvSpPr>
            <p:cNvPr id="16" name="Line 10">
              <a:extLst>
                <a:ext uri="{FF2B5EF4-FFF2-40B4-BE49-F238E27FC236}">
                  <a16:creationId xmlns:a16="http://schemas.microsoft.com/office/drawing/2014/main" id="{1600BB3D-9BEB-76C7-711E-A7D57AFE2DA0}"/>
                </a:ext>
              </a:extLst>
            </p:cNvPr>
            <p:cNvSpPr>
              <a:spLocks noChangeShapeType="1"/>
            </p:cNvSpPr>
            <p:nvPr/>
          </p:nvSpPr>
          <p:spPr bwMode="auto">
            <a:xfrm>
              <a:off x="33223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 name="Line 11">
              <a:extLst>
                <a:ext uri="{FF2B5EF4-FFF2-40B4-BE49-F238E27FC236}">
                  <a16:creationId xmlns:a16="http://schemas.microsoft.com/office/drawing/2014/main" id="{E5F82BFF-994B-6341-6CAB-166A848D840D}"/>
                </a:ext>
              </a:extLst>
            </p:cNvPr>
            <p:cNvSpPr>
              <a:spLocks noChangeShapeType="1"/>
            </p:cNvSpPr>
            <p:nvPr/>
          </p:nvSpPr>
          <p:spPr bwMode="auto">
            <a:xfrm>
              <a:off x="33635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 name="Line 12">
              <a:extLst>
                <a:ext uri="{FF2B5EF4-FFF2-40B4-BE49-F238E27FC236}">
                  <a16:creationId xmlns:a16="http://schemas.microsoft.com/office/drawing/2014/main" id="{44A0B232-310D-560A-F80D-D60CC0556E14}"/>
                </a:ext>
              </a:extLst>
            </p:cNvPr>
            <p:cNvSpPr>
              <a:spLocks noChangeShapeType="1"/>
            </p:cNvSpPr>
            <p:nvPr/>
          </p:nvSpPr>
          <p:spPr bwMode="auto">
            <a:xfrm>
              <a:off x="340328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 name="Line 13">
              <a:extLst>
                <a:ext uri="{FF2B5EF4-FFF2-40B4-BE49-F238E27FC236}">
                  <a16:creationId xmlns:a16="http://schemas.microsoft.com/office/drawing/2014/main" id="{B30AF2D0-1AB1-5837-0E57-EAC0F4FF9D63}"/>
                </a:ext>
              </a:extLst>
            </p:cNvPr>
            <p:cNvSpPr>
              <a:spLocks noChangeShapeType="1"/>
            </p:cNvSpPr>
            <p:nvPr/>
          </p:nvSpPr>
          <p:spPr bwMode="auto">
            <a:xfrm>
              <a:off x="344455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 name="Line 14">
              <a:extLst>
                <a:ext uri="{FF2B5EF4-FFF2-40B4-BE49-F238E27FC236}">
                  <a16:creationId xmlns:a16="http://schemas.microsoft.com/office/drawing/2014/main" id="{778CDD4F-2968-A8ED-722F-49E7ED783763}"/>
                </a:ext>
              </a:extLst>
            </p:cNvPr>
            <p:cNvSpPr>
              <a:spLocks noChangeShapeType="1"/>
            </p:cNvSpPr>
            <p:nvPr/>
          </p:nvSpPr>
          <p:spPr bwMode="auto">
            <a:xfrm>
              <a:off x="348424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 name="Line 15">
              <a:extLst>
                <a:ext uri="{FF2B5EF4-FFF2-40B4-BE49-F238E27FC236}">
                  <a16:creationId xmlns:a16="http://schemas.microsoft.com/office/drawing/2014/main" id="{2E806E0D-C018-AF6D-04D1-98ECE2907A45}"/>
                </a:ext>
              </a:extLst>
            </p:cNvPr>
            <p:cNvSpPr>
              <a:spLocks noChangeShapeType="1"/>
            </p:cNvSpPr>
            <p:nvPr/>
          </p:nvSpPr>
          <p:spPr bwMode="auto">
            <a:xfrm>
              <a:off x="35255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 name="Line 16">
              <a:extLst>
                <a:ext uri="{FF2B5EF4-FFF2-40B4-BE49-F238E27FC236}">
                  <a16:creationId xmlns:a16="http://schemas.microsoft.com/office/drawing/2014/main" id="{21D1E7E2-9174-7DA5-A697-B2E7E3590E73}"/>
                </a:ext>
              </a:extLst>
            </p:cNvPr>
            <p:cNvSpPr>
              <a:spLocks noChangeShapeType="1"/>
            </p:cNvSpPr>
            <p:nvPr/>
          </p:nvSpPr>
          <p:spPr bwMode="auto">
            <a:xfrm>
              <a:off x="35667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 name="Line 17">
              <a:extLst>
                <a:ext uri="{FF2B5EF4-FFF2-40B4-BE49-F238E27FC236}">
                  <a16:creationId xmlns:a16="http://schemas.microsoft.com/office/drawing/2014/main" id="{B76C0A86-5F94-9AAC-F2AD-726296DE0A3D}"/>
                </a:ext>
              </a:extLst>
            </p:cNvPr>
            <p:cNvSpPr>
              <a:spLocks noChangeShapeType="1"/>
            </p:cNvSpPr>
            <p:nvPr/>
          </p:nvSpPr>
          <p:spPr bwMode="auto">
            <a:xfrm>
              <a:off x="360648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 name="Line 18">
              <a:extLst>
                <a:ext uri="{FF2B5EF4-FFF2-40B4-BE49-F238E27FC236}">
                  <a16:creationId xmlns:a16="http://schemas.microsoft.com/office/drawing/2014/main" id="{CD78B801-6ED3-3773-57F8-24278425C325}"/>
                </a:ext>
              </a:extLst>
            </p:cNvPr>
            <p:cNvSpPr>
              <a:spLocks noChangeShapeType="1"/>
            </p:cNvSpPr>
            <p:nvPr/>
          </p:nvSpPr>
          <p:spPr bwMode="auto">
            <a:xfrm>
              <a:off x="36477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 name="Line 19">
              <a:extLst>
                <a:ext uri="{FF2B5EF4-FFF2-40B4-BE49-F238E27FC236}">
                  <a16:creationId xmlns:a16="http://schemas.microsoft.com/office/drawing/2014/main" id="{9F7E8B73-21D5-C93D-7FD5-05E129A9D917}"/>
                </a:ext>
              </a:extLst>
            </p:cNvPr>
            <p:cNvSpPr>
              <a:spLocks noChangeShapeType="1"/>
            </p:cNvSpPr>
            <p:nvPr/>
          </p:nvSpPr>
          <p:spPr bwMode="auto">
            <a:xfrm>
              <a:off x="36890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 name="Line 20">
              <a:extLst>
                <a:ext uri="{FF2B5EF4-FFF2-40B4-BE49-F238E27FC236}">
                  <a16:creationId xmlns:a16="http://schemas.microsoft.com/office/drawing/2014/main" id="{78967870-8B38-EE31-F926-673DE1C12AEB}"/>
                </a:ext>
              </a:extLst>
            </p:cNvPr>
            <p:cNvSpPr>
              <a:spLocks noChangeShapeType="1"/>
            </p:cNvSpPr>
            <p:nvPr/>
          </p:nvSpPr>
          <p:spPr bwMode="auto">
            <a:xfrm>
              <a:off x="37287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 name="Line 21">
              <a:extLst>
                <a:ext uri="{FF2B5EF4-FFF2-40B4-BE49-F238E27FC236}">
                  <a16:creationId xmlns:a16="http://schemas.microsoft.com/office/drawing/2014/main" id="{3CD3AF1F-5F5A-1C23-8A82-E5AB353CE921}"/>
                </a:ext>
              </a:extLst>
            </p:cNvPr>
            <p:cNvSpPr>
              <a:spLocks noChangeShapeType="1"/>
            </p:cNvSpPr>
            <p:nvPr/>
          </p:nvSpPr>
          <p:spPr bwMode="auto">
            <a:xfrm>
              <a:off x="37699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 name="Line 22">
              <a:extLst>
                <a:ext uri="{FF2B5EF4-FFF2-40B4-BE49-F238E27FC236}">
                  <a16:creationId xmlns:a16="http://schemas.microsoft.com/office/drawing/2014/main" id="{F3F0E71A-CDBC-3AB5-B147-8D8B42A12FA2}"/>
                </a:ext>
              </a:extLst>
            </p:cNvPr>
            <p:cNvSpPr>
              <a:spLocks noChangeShapeType="1"/>
            </p:cNvSpPr>
            <p:nvPr/>
          </p:nvSpPr>
          <p:spPr bwMode="auto">
            <a:xfrm>
              <a:off x="38112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 name="Line 23">
              <a:extLst>
                <a:ext uri="{FF2B5EF4-FFF2-40B4-BE49-F238E27FC236}">
                  <a16:creationId xmlns:a16="http://schemas.microsoft.com/office/drawing/2014/main" id="{87B7C038-1C63-9250-D344-5535ECBCF9EA}"/>
                </a:ext>
              </a:extLst>
            </p:cNvPr>
            <p:cNvSpPr>
              <a:spLocks noChangeShapeType="1"/>
            </p:cNvSpPr>
            <p:nvPr/>
          </p:nvSpPr>
          <p:spPr bwMode="auto">
            <a:xfrm>
              <a:off x="38525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 name="Line 24">
              <a:extLst>
                <a:ext uri="{FF2B5EF4-FFF2-40B4-BE49-F238E27FC236}">
                  <a16:creationId xmlns:a16="http://schemas.microsoft.com/office/drawing/2014/main" id="{734E3CBF-38B2-65AD-850B-1371B0332226}"/>
                </a:ext>
              </a:extLst>
            </p:cNvPr>
            <p:cNvSpPr>
              <a:spLocks noChangeShapeType="1"/>
            </p:cNvSpPr>
            <p:nvPr/>
          </p:nvSpPr>
          <p:spPr bwMode="auto">
            <a:xfrm>
              <a:off x="38922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 name="Line 25">
              <a:extLst>
                <a:ext uri="{FF2B5EF4-FFF2-40B4-BE49-F238E27FC236}">
                  <a16:creationId xmlns:a16="http://schemas.microsoft.com/office/drawing/2014/main" id="{432785B4-C6B8-8BE2-E56A-18BDCACA7E3F}"/>
                </a:ext>
              </a:extLst>
            </p:cNvPr>
            <p:cNvSpPr>
              <a:spLocks noChangeShapeType="1"/>
            </p:cNvSpPr>
            <p:nvPr/>
          </p:nvSpPr>
          <p:spPr bwMode="auto">
            <a:xfrm>
              <a:off x="39335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 name="Line 26">
              <a:extLst>
                <a:ext uri="{FF2B5EF4-FFF2-40B4-BE49-F238E27FC236}">
                  <a16:creationId xmlns:a16="http://schemas.microsoft.com/office/drawing/2014/main" id="{1ADF9689-DBDA-BE6B-3E02-0064F9C0B94D}"/>
                </a:ext>
              </a:extLst>
            </p:cNvPr>
            <p:cNvSpPr>
              <a:spLocks noChangeShapeType="1"/>
            </p:cNvSpPr>
            <p:nvPr/>
          </p:nvSpPr>
          <p:spPr bwMode="auto">
            <a:xfrm>
              <a:off x="39747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 name="Line 27">
              <a:extLst>
                <a:ext uri="{FF2B5EF4-FFF2-40B4-BE49-F238E27FC236}">
                  <a16:creationId xmlns:a16="http://schemas.microsoft.com/office/drawing/2014/main" id="{8EB76469-5D74-DD05-060E-F8D18DF8EF53}"/>
                </a:ext>
              </a:extLst>
            </p:cNvPr>
            <p:cNvSpPr>
              <a:spLocks noChangeShapeType="1"/>
            </p:cNvSpPr>
            <p:nvPr/>
          </p:nvSpPr>
          <p:spPr bwMode="auto">
            <a:xfrm>
              <a:off x="40144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 name="Line 28">
              <a:extLst>
                <a:ext uri="{FF2B5EF4-FFF2-40B4-BE49-F238E27FC236}">
                  <a16:creationId xmlns:a16="http://schemas.microsoft.com/office/drawing/2014/main" id="{53FA0A08-E63F-BC30-8763-C2CC234F96A6}"/>
                </a:ext>
              </a:extLst>
            </p:cNvPr>
            <p:cNvSpPr>
              <a:spLocks noChangeShapeType="1"/>
            </p:cNvSpPr>
            <p:nvPr/>
          </p:nvSpPr>
          <p:spPr bwMode="auto">
            <a:xfrm>
              <a:off x="40557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 name="Line 29">
              <a:extLst>
                <a:ext uri="{FF2B5EF4-FFF2-40B4-BE49-F238E27FC236}">
                  <a16:creationId xmlns:a16="http://schemas.microsoft.com/office/drawing/2014/main" id="{5FB838C4-D572-2A75-0BFB-7336571F5C5B}"/>
                </a:ext>
              </a:extLst>
            </p:cNvPr>
            <p:cNvSpPr>
              <a:spLocks noChangeShapeType="1"/>
            </p:cNvSpPr>
            <p:nvPr/>
          </p:nvSpPr>
          <p:spPr bwMode="auto">
            <a:xfrm>
              <a:off x="40970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 name="Line 30">
              <a:extLst>
                <a:ext uri="{FF2B5EF4-FFF2-40B4-BE49-F238E27FC236}">
                  <a16:creationId xmlns:a16="http://schemas.microsoft.com/office/drawing/2014/main" id="{EC0253D1-4B99-B3F9-7B13-0D229D59450E}"/>
                </a:ext>
              </a:extLst>
            </p:cNvPr>
            <p:cNvSpPr>
              <a:spLocks noChangeShapeType="1"/>
            </p:cNvSpPr>
            <p:nvPr/>
          </p:nvSpPr>
          <p:spPr bwMode="auto">
            <a:xfrm>
              <a:off x="41367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 name="Line 31">
              <a:extLst>
                <a:ext uri="{FF2B5EF4-FFF2-40B4-BE49-F238E27FC236}">
                  <a16:creationId xmlns:a16="http://schemas.microsoft.com/office/drawing/2014/main" id="{A66538CA-EFB7-EA56-67F8-339F42E6D683}"/>
                </a:ext>
              </a:extLst>
            </p:cNvPr>
            <p:cNvSpPr>
              <a:spLocks noChangeShapeType="1"/>
            </p:cNvSpPr>
            <p:nvPr/>
          </p:nvSpPr>
          <p:spPr bwMode="auto">
            <a:xfrm>
              <a:off x="417639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 name="Line 32">
              <a:extLst>
                <a:ext uri="{FF2B5EF4-FFF2-40B4-BE49-F238E27FC236}">
                  <a16:creationId xmlns:a16="http://schemas.microsoft.com/office/drawing/2014/main" id="{FE5B34F6-4BB8-B8BB-1480-18FED50C075A}"/>
                </a:ext>
              </a:extLst>
            </p:cNvPr>
            <p:cNvSpPr>
              <a:spLocks noChangeShapeType="1"/>
            </p:cNvSpPr>
            <p:nvPr/>
          </p:nvSpPr>
          <p:spPr bwMode="auto">
            <a:xfrm>
              <a:off x="421767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 name="Line 33">
              <a:extLst>
                <a:ext uri="{FF2B5EF4-FFF2-40B4-BE49-F238E27FC236}">
                  <a16:creationId xmlns:a16="http://schemas.microsoft.com/office/drawing/2014/main" id="{DFC0FEE7-41D1-64C7-1208-6C09E4D5685C}"/>
                </a:ext>
              </a:extLst>
            </p:cNvPr>
            <p:cNvSpPr>
              <a:spLocks noChangeShapeType="1"/>
            </p:cNvSpPr>
            <p:nvPr/>
          </p:nvSpPr>
          <p:spPr bwMode="auto">
            <a:xfrm>
              <a:off x="425894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 name="Line 34">
              <a:extLst>
                <a:ext uri="{FF2B5EF4-FFF2-40B4-BE49-F238E27FC236}">
                  <a16:creationId xmlns:a16="http://schemas.microsoft.com/office/drawing/2014/main" id="{EAA706EA-BDE6-F3D2-C340-6F1E4DE093A0}"/>
                </a:ext>
              </a:extLst>
            </p:cNvPr>
            <p:cNvSpPr>
              <a:spLocks noChangeShapeType="1"/>
            </p:cNvSpPr>
            <p:nvPr/>
          </p:nvSpPr>
          <p:spPr bwMode="auto">
            <a:xfrm>
              <a:off x="42986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 name="Line 35">
              <a:extLst>
                <a:ext uri="{FF2B5EF4-FFF2-40B4-BE49-F238E27FC236}">
                  <a16:creationId xmlns:a16="http://schemas.microsoft.com/office/drawing/2014/main" id="{99D54841-4C92-FD9A-197F-9F43E6A54464}"/>
                </a:ext>
              </a:extLst>
            </p:cNvPr>
            <p:cNvSpPr>
              <a:spLocks noChangeShapeType="1"/>
            </p:cNvSpPr>
            <p:nvPr/>
          </p:nvSpPr>
          <p:spPr bwMode="auto">
            <a:xfrm>
              <a:off x="43399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 name="Line 36">
              <a:extLst>
                <a:ext uri="{FF2B5EF4-FFF2-40B4-BE49-F238E27FC236}">
                  <a16:creationId xmlns:a16="http://schemas.microsoft.com/office/drawing/2014/main" id="{0880EA29-A26D-32C4-E0C0-DCB55BB62C8A}"/>
                </a:ext>
              </a:extLst>
            </p:cNvPr>
            <p:cNvSpPr>
              <a:spLocks noChangeShapeType="1"/>
            </p:cNvSpPr>
            <p:nvPr/>
          </p:nvSpPr>
          <p:spPr bwMode="auto">
            <a:xfrm>
              <a:off x="43811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 name="Line 37">
              <a:extLst>
                <a:ext uri="{FF2B5EF4-FFF2-40B4-BE49-F238E27FC236}">
                  <a16:creationId xmlns:a16="http://schemas.microsoft.com/office/drawing/2014/main" id="{66D9FE99-E58A-BC15-EFF8-069C5E23C93D}"/>
                </a:ext>
              </a:extLst>
            </p:cNvPr>
            <p:cNvSpPr>
              <a:spLocks noChangeShapeType="1"/>
            </p:cNvSpPr>
            <p:nvPr/>
          </p:nvSpPr>
          <p:spPr bwMode="auto">
            <a:xfrm>
              <a:off x="44208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4" name="Line 38">
              <a:extLst>
                <a:ext uri="{FF2B5EF4-FFF2-40B4-BE49-F238E27FC236}">
                  <a16:creationId xmlns:a16="http://schemas.microsoft.com/office/drawing/2014/main" id="{685146EE-7AAD-48F8-2E51-9DEC5987EE25}"/>
                </a:ext>
              </a:extLst>
            </p:cNvPr>
            <p:cNvSpPr>
              <a:spLocks noChangeShapeType="1"/>
            </p:cNvSpPr>
            <p:nvPr/>
          </p:nvSpPr>
          <p:spPr bwMode="auto">
            <a:xfrm>
              <a:off x="44621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5" name="Line 39">
              <a:extLst>
                <a:ext uri="{FF2B5EF4-FFF2-40B4-BE49-F238E27FC236}">
                  <a16:creationId xmlns:a16="http://schemas.microsoft.com/office/drawing/2014/main" id="{2B7EBC82-02E3-6A44-97D7-546D01285F6A}"/>
                </a:ext>
              </a:extLst>
            </p:cNvPr>
            <p:cNvSpPr>
              <a:spLocks noChangeShapeType="1"/>
            </p:cNvSpPr>
            <p:nvPr/>
          </p:nvSpPr>
          <p:spPr bwMode="auto">
            <a:xfrm>
              <a:off x="45034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6" name="Line 40">
              <a:extLst>
                <a:ext uri="{FF2B5EF4-FFF2-40B4-BE49-F238E27FC236}">
                  <a16:creationId xmlns:a16="http://schemas.microsoft.com/office/drawing/2014/main" id="{2E089A6A-73AB-D777-85BE-F34194457040}"/>
                </a:ext>
              </a:extLst>
            </p:cNvPr>
            <p:cNvSpPr>
              <a:spLocks noChangeShapeType="1"/>
            </p:cNvSpPr>
            <p:nvPr/>
          </p:nvSpPr>
          <p:spPr bwMode="auto">
            <a:xfrm>
              <a:off x="45431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7" name="Line 41">
              <a:extLst>
                <a:ext uri="{FF2B5EF4-FFF2-40B4-BE49-F238E27FC236}">
                  <a16:creationId xmlns:a16="http://schemas.microsoft.com/office/drawing/2014/main" id="{41BFA701-3AC8-075F-0778-18DE0FB9BA9A}"/>
                </a:ext>
              </a:extLst>
            </p:cNvPr>
            <p:cNvSpPr>
              <a:spLocks noChangeShapeType="1"/>
            </p:cNvSpPr>
            <p:nvPr/>
          </p:nvSpPr>
          <p:spPr bwMode="auto">
            <a:xfrm>
              <a:off x="45843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8" name="Line 42">
              <a:extLst>
                <a:ext uri="{FF2B5EF4-FFF2-40B4-BE49-F238E27FC236}">
                  <a16:creationId xmlns:a16="http://schemas.microsoft.com/office/drawing/2014/main" id="{5CD9B76A-A91A-7175-6D30-37224A3DBD6E}"/>
                </a:ext>
              </a:extLst>
            </p:cNvPr>
            <p:cNvSpPr>
              <a:spLocks noChangeShapeType="1"/>
            </p:cNvSpPr>
            <p:nvPr/>
          </p:nvSpPr>
          <p:spPr bwMode="auto">
            <a:xfrm>
              <a:off x="46256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9" name="Line 43">
              <a:extLst>
                <a:ext uri="{FF2B5EF4-FFF2-40B4-BE49-F238E27FC236}">
                  <a16:creationId xmlns:a16="http://schemas.microsoft.com/office/drawing/2014/main" id="{C1C22087-00A1-4C62-5AF8-D92E0FAF44F2}"/>
                </a:ext>
              </a:extLst>
            </p:cNvPr>
            <p:cNvSpPr>
              <a:spLocks noChangeShapeType="1"/>
            </p:cNvSpPr>
            <p:nvPr/>
          </p:nvSpPr>
          <p:spPr bwMode="auto">
            <a:xfrm>
              <a:off x="46669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0" name="Line 44">
              <a:extLst>
                <a:ext uri="{FF2B5EF4-FFF2-40B4-BE49-F238E27FC236}">
                  <a16:creationId xmlns:a16="http://schemas.microsoft.com/office/drawing/2014/main" id="{CE0ECCC0-DDA4-F154-BF0C-23FD930EEE67}"/>
                </a:ext>
              </a:extLst>
            </p:cNvPr>
            <p:cNvSpPr>
              <a:spLocks noChangeShapeType="1"/>
            </p:cNvSpPr>
            <p:nvPr/>
          </p:nvSpPr>
          <p:spPr bwMode="auto">
            <a:xfrm>
              <a:off x="47066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1" name="Line 45">
              <a:extLst>
                <a:ext uri="{FF2B5EF4-FFF2-40B4-BE49-F238E27FC236}">
                  <a16:creationId xmlns:a16="http://schemas.microsoft.com/office/drawing/2014/main" id="{35532EF5-D97B-A279-B304-489B0943B6BC}"/>
                </a:ext>
              </a:extLst>
            </p:cNvPr>
            <p:cNvSpPr>
              <a:spLocks noChangeShapeType="1"/>
            </p:cNvSpPr>
            <p:nvPr/>
          </p:nvSpPr>
          <p:spPr bwMode="auto">
            <a:xfrm>
              <a:off x="47478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2" name="Line 46">
              <a:extLst>
                <a:ext uri="{FF2B5EF4-FFF2-40B4-BE49-F238E27FC236}">
                  <a16:creationId xmlns:a16="http://schemas.microsoft.com/office/drawing/2014/main" id="{4A60DA8B-DC54-BAE3-1051-54849DC174B6}"/>
                </a:ext>
              </a:extLst>
            </p:cNvPr>
            <p:cNvSpPr>
              <a:spLocks noChangeShapeType="1"/>
            </p:cNvSpPr>
            <p:nvPr/>
          </p:nvSpPr>
          <p:spPr bwMode="auto">
            <a:xfrm>
              <a:off x="47891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3" name="Line 47">
              <a:extLst>
                <a:ext uri="{FF2B5EF4-FFF2-40B4-BE49-F238E27FC236}">
                  <a16:creationId xmlns:a16="http://schemas.microsoft.com/office/drawing/2014/main" id="{9370C72F-396D-457C-984B-54CFB7554ACC}"/>
                </a:ext>
              </a:extLst>
            </p:cNvPr>
            <p:cNvSpPr>
              <a:spLocks noChangeShapeType="1"/>
            </p:cNvSpPr>
            <p:nvPr/>
          </p:nvSpPr>
          <p:spPr bwMode="auto">
            <a:xfrm>
              <a:off x="48288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4" name="Line 48">
              <a:extLst>
                <a:ext uri="{FF2B5EF4-FFF2-40B4-BE49-F238E27FC236}">
                  <a16:creationId xmlns:a16="http://schemas.microsoft.com/office/drawing/2014/main" id="{AF1EA708-F255-BB10-ADAD-E00F817E1608}"/>
                </a:ext>
              </a:extLst>
            </p:cNvPr>
            <p:cNvSpPr>
              <a:spLocks noChangeShapeType="1"/>
            </p:cNvSpPr>
            <p:nvPr/>
          </p:nvSpPr>
          <p:spPr bwMode="auto">
            <a:xfrm>
              <a:off x="48701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5" name="Line 49">
              <a:extLst>
                <a:ext uri="{FF2B5EF4-FFF2-40B4-BE49-F238E27FC236}">
                  <a16:creationId xmlns:a16="http://schemas.microsoft.com/office/drawing/2014/main" id="{330C9599-D7C3-64AC-A1FB-3BA1A6605090}"/>
                </a:ext>
              </a:extLst>
            </p:cNvPr>
            <p:cNvSpPr>
              <a:spLocks noChangeShapeType="1"/>
            </p:cNvSpPr>
            <p:nvPr/>
          </p:nvSpPr>
          <p:spPr bwMode="auto">
            <a:xfrm>
              <a:off x="49098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6" name="Line 50">
              <a:extLst>
                <a:ext uri="{FF2B5EF4-FFF2-40B4-BE49-F238E27FC236}">
                  <a16:creationId xmlns:a16="http://schemas.microsoft.com/office/drawing/2014/main" id="{FDF19C2E-EBA8-1EB1-FD54-9635E34D5242}"/>
                </a:ext>
              </a:extLst>
            </p:cNvPr>
            <p:cNvSpPr>
              <a:spLocks noChangeShapeType="1"/>
            </p:cNvSpPr>
            <p:nvPr/>
          </p:nvSpPr>
          <p:spPr bwMode="auto">
            <a:xfrm>
              <a:off x="4949508" y="3825876"/>
              <a:ext cx="12700"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7" name="Line 51">
              <a:extLst>
                <a:ext uri="{FF2B5EF4-FFF2-40B4-BE49-F238E27FC236}">
                  <a16:creationId xmlns:a16="http://schemas.microsoft.com/office/drawing/2014/main" id="{604F96BE-3FEA-7437-C76E-A7EEF48F9E4F}"/>
                </a:ext>
              </a:extLst>
            </p:cNvPr>
            <p:cNvSpPr>
              <a:spLocks noChangeShapeType="1"/>
            </p:cNvSpPr>
            <p:nvPr/>
          </p:nvSpPr>
          <p:spPr bwMode="auto">
            <a:xfrm>
              <a:off x="499078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8" name="Line 52">
              <a:extLst>
                <a:ext uri="{FF2B5EF4-FFF2-40B4-BE49-F238E27FC236}">
                  <a16:creationId xmlns:a16="http://schemas.microsoft.com/office/drawing/2014/main" id="{948513B7-7284-78AC-1A7E-9D2B546293D6}"/>
                </a:ext>
              </a:extLst>
            </p:cNvPr>
            <p:cNvSpPr>
              <a:spLocks noChangeShapeType="1"/>
            </p:cNvSpPr>
            <p:nvPr/>
          </p:nvSpPr>
          <p:spPr bwMode="auto">
            <a:xfrm>
              <a:off x="503205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9" name="Line 53">
              <a:extLst>
                <a:ext uri="{FF2B5EF4-FFF2-40B4-BE49-F238E27FC236}">
                  <a16:creationId xmlns:a16="http://schemas.microsoft.com/office/drawing/2014/main" id="{00FD7A98-598F-4215-140E-E4B29CBFAA76}"/>
                </a:ext>
              </a:extLst>
            </p:cNvPr>
            <p:cNvSpPr>
              <a:spLocks noChangeShapeType="1"/>
            </p:cNvSpPr>
            <p:nvPr/>
          </p:nvSpPr>
          <p:spPr bwMode="auto">
            <a:xfrm>
              <a:off x="50733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0" name="Line 54">
              <a:extLst>
                <a:ext uri="{FF2B5EF4-FFF2-40B4-BE49-F238E27FC236}">
                  <a16:creationId xmlns:a16="http://schemas.microsoft.com/office/drawing/2014/main" id="{5C64A16D-F3B0-95B2-732D-2A8FA8350E2B}"/>
                </a:ext>
              </a:extLst>
            </p:cNvPr>
            <p:cNvSpPr>
              <a:spLocks noChangeShapeType="1"/>
            </p:cNvSpPr>
            <p:nvPr/>
          </p:nvSpPr>
          <p:spPr bwMode="auto">
            <a:xfrm>
              <a:off x="51130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1" name="Line 55">
              <a:extLst>
                <a:ext uri="{FF2B5EF4-FFF2-40B4-BE49-F238E27FC236}">
                  <a16:creationId xmlns:a16="http://schemas.microsoft.com/office/drawing/2014/main" id="{10E9122F-A36E-6EF2-5858-9C9A791224F7}"/>
                </a:ext>
              </a:extLst>
            </p:cNvPr>
            <p:cNvSpPr>
              <a:spLocks noChangeShapeType="1"/>
            </p:cNvSpPr>
            <p:nvPr/>
          </p:nvSpPr>
          <p:spPr bwMode="auto">
            <a:xfrm>
              <a:off x="51542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2" name="Line 56">
              <a:extLst>
                <a:ext uri="{FF2B5EF4-FFF2-40B4-BE49-F238E27FC236}">
                  <a16:creationId xmlns:a16="http://schemas.microsoft.com/office/drawing/2014/main" id="{399EB05B-DA09-A671-4988-CD505C5798DA}"/>
                </a:ext>
              </a:extLst>
            </p:cNvPr>
            <p:cNvSpPr>
              <a:spLocks noChangeShapeType="1"/>
            </p:cNvSpPr>
            <p:nvPr/>
          </p:nvSpPr>
          <p:spPr bwMode="auto">
            <a:xfrm>
              <a:off x="51955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3" name="Line 57">
              <a:extLst>
                <a:ext uri="{FF2B5EF4-FFF2-40B4-BE49-F238E27FC236}">
                  <a16:creationId xmlns:a16="http://schemas.microsoft.com/office/drawing/2014/main" id="{F08494CA-55B0-5CC5-8A21-0E68E6B1C885}"/>
                </a:ext>
              </a:extLst>
            </p:cNvPr>
            <p:cNvSpPr>
              <a:spLocks noChangeShapeType="1"/>
            </p:cNvSpPr>
            <p:nvPr/>
          </p:nvSpPr>
          <p:spPr bwMode="auto">
            <a:xfrm>
              <a:off x="52352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4" name="Line 58">
              <a:extLst>
                <a:ext uri="{FF2B5EF4-FFF2-40B4-BE49-F238E27FC236}">
                  <a16:creationId xmlns:a16="http://schemas.microsoft.com/office/drawing/2014/main" id="{2002A17E-0D1B-5536-00CB-1523D7CAA67F}"/>
                </a:ext>
              </a:extLst>
            </p:cNvPr>
            <p:cNvSpPr>
              <a:spLocks noChangeShapeType="1"/>
            </p:cNvSpPr>
            <p:nvPr/>
          </p:nvSpPr>
          <p:spPr bwMode="auto">
            <a:xfrm>
              <a:off x="52765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5" name="Line 59">
              <a:extLst>
                <a:ext uri="{FF2B5EF4-FFF2-40B4-BE49-F238E27FC236}">
                  <a16:creationId xmlns:a16="http://schemas.microsoft.com/office/drawing/2014/main" id="{E727FEA7-053F-558A-A358-DCFBCD1938EA}"/>
                </a:ext>
              </a:extLst>
            </p:cNvPr>
            <p:cNvSpPr>
              <a:spLocks noChangeShapeType="1"/>
            </p:cNvSpPr>
            <p:nvPr/>
          </p:nvSpPr>
          <p:spPr bwMode="auto">
            <a:xfrm>
              <a:off x="53178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6" name="Line 60">
              <a:extLst>
                <a:ext uri="{FF2B5EF4-FFF2-40B4-BE49-F238E27FC236}">
                  <a16:creationId xmlns:a16="http://schemas.microsoft.com/office/drawing/2014/main" id="{36D5EC41-096A-2E77-981B-0D2A5CA28B01}"/>
                </a:ext>
              </a:extLst>
            </p:cNvPr>
            <p:cNvSpPr>
              <a:spLocks noChangeShapeType="1"/>
            </p:cNvSpPr>
            <p:nvPr/>
          </p:nvSpPr>
          <p:spPr bwMode="auto">
            <a:xfrm>
              <a:off x="535749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7" name="Line 61">
              <a:extLst>
                <a:ext uri="{FF2B5EF4-FFF2-40B4-BE49-F238E27FC236}">
                  <a16:creationId xmlns:a16="http://schemas.microsoft.com/office/drawing/2014/main" id="{4794F457-35F0-3A7E-8AE4-DB5BCAF49C7A}"/>
                </a:ext>
              </a:extLst>
            </p:cNvPr>
            <p:cNvSpPr>
              <a:spLocks noChangeShapeType="1"/>
            </p:cNvSpPr>
            <p:nvPr/>
          </p:nvSpPr>
          <p:spPr bwMode="auto">
            <a:xfrm>
              <a:off x="53987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8" name="Line 62">
              <a:extLst>
                <a:ext uri="{FF2B5EF4-FFF2-40B4-BE49-F238E27FC236}">
                  <a16:creationId xmlns:a16="http://schemas.microsoft.com/office/drawing/2014/main" id="{F36A7530-65AF-5B66-F66A-00008593216C}"/>
                </a:ext>
              </a:extLst>
            </p:cNvPr>
            <p:cNvSpPr>
              <a:spLocks noChangeShapeType="1"/>
            </p:cNvSpPr>
            <p:nvPr/>
          </p:nvSpPr>
          <p:spPr bwMode="auto">
            <a:xfrm>
              <a:off x="54400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9" name="Line 63">
              <a:extLst>
                <a:ext uri="{FF2B5EF4-FFF2-40B4-BE49-F238E27FC236}">
                  <a16:creationId xmlns:a16="http://schemas.microsoft.com/office/drawing/2014/main" id="{1EC40220-36E5-E1ED-D427-18BD2AE6BDDA}"/>
                </a:ext>
              </a:extLst>
            </p:cNvPr>
            <p:cNvSpPr>
              <a:spLocks noChangeShapeType="1"/>
            </p:cNvSpPr>
            <p:nvPr/>
          </p:nvSpPr>
          <p:spPr bwMode="auto">
            <a:xfrm>
              <a:off x="54797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0" name="Line 64">
              <a:extLst>
                <a:ext uri="{FF2B5EF4-FFF2-40B4-BE49-F238E27FC236}">
                  <a16:creationId xmlns:a16="http://schemas.microsoft.com/office/drawing/2014/main" id="{F40702C2-97DD-DB15-323B-9D90009384E2}"/>
                </a:ext>
              </a:extLst>
            </p:cNvPr>
            <p:cNvSpPr>
              <a:spLocks noChangeShapeType="1"/>
            </p:cNvSpPr>
            <p:nvPr/>
          </p:nvSpPr>
          <p:spPr bwMode="auto">
            <a:xfrm>
              <a:off x="55210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1" name="Line 65">
              <a:extLst>
                <a:ext uri="{FF2B5EF4-FFF2-40B4-BE49-F238E27FC236}">
                  <a16:creationId xmlns:a16="http://schemas.microsoft.com/office/drawing/2014/main" id="{BC587779-71CA-2430-88BA-E441ED76C295}"/>
                </a:ext>
              </a:extLst>
            </p:cNvPr>
            <p:cNvSpPr>
              <a:spLocks noChangeShapeType="1"/>
            </p:cNvSpPr>
            <p:nvPr/>
          </p:nvSpPr>
          <p:spPr bwMode="auto">
            <a:xfrm>
              <a:off x="55622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2" name="Line 66">
              <a:extLst>
                <a:ext uri="{FF2B5EF4-FFF2-40B4-BE49-F238E27FC236}">
                  <a16:creationId xmlns:a16="http://schemas.microsoft.com/office/drawing/2014/main" id="{F2B8F840-156B-B152-AFD0-21F475F4A82D}"/>
                </a:ext>
              </a:extLst>
            </p:cNvPr>
            <p:cNvSpPr>
              <a:spLocks noChangeShapeType="1"/>
            </p:cNvSpPr>
            <p:nvPr/>
          </p:nvSpPr>
          <p:spPr bwMode="auto">
            <a:xfrm>
              <a:off x="56035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3" name="Line 67">
              <a:extLst>
                <a:ext uri="{FF2B5EF4-FFF2-40B4-BE49-F238E27FC236}">
                  <a16:creationId xmlns:a16="http://schemas.microsoft.com/office/drawing/2014/main" id="{84BD5CA5-BC17-80E8-215D-D4C9DF42851D}"/>
                </a:ext>
              </a:extLst>
            </p:cNvPr>
            <p:cNvSpPr>
              <a:spLocks noChangeShapeType="1"/>
            </p:cNvSpPr>
            <p:nvPr/>
          </p:nvSpPr>
          <p:spPr bwMode="auto">
            <a:xfrm>
              <a:off x="56432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4" name="Line 68">
              <a:extLst>
                <a:ext uri="{FF2B5EF4-FFF2-40B4-BE49-F238E27FC236}">
                  <a16:creationId xmlns:a16="http://schemas.microsoft.com/office/drawing/2014/main" id="{202F22DE-05A2-1AE0-E90D-FD6FE31A85E5}"/>
                </a:ext>
              </a:extLst>
            </p:cNvPr>
            <p:cNvSpPr>
              <a:spLocks noChangeShapeType="1"/>
            </p:cNvSpPr>
            <p:nvPr/>
          </p:nvSpPr>
          <p:spPr bwMode="auto">
            <a:xfrm>
              <a:off x="56829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5" name="Line 69">
              <a:extLst>
                <a:ext uri="{FF2B5EF4-FFF2-40B4-BE49-F238E27FC236}">
                  <a16:creationId xmlns:a16="http://schemas.microsoft.com/office/drawing/2014/main" id="{A0C660DA-8A3C-75F3-25AC-1C38A851D845}"/>
                </a:ext>
              </a:extLst>
            </p:cNvPr>
            <p:cNvSpPr>
              <a:spLocks noChangeShapeType="1"/>
            </p:cNvSpPr>
            <p:nvPr/>
          </p:nvSpPr>
          <p:spPr bwMode="auto">
            <a:xfrm>
              <a:off x="57242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6" name="Line 70">
              <a:extLst>
                <a:ext uri="{FF2B5EF4-FFF2-40B4-BE49-F238E27FC236}">
                  <a16:creationId xmlns:a16="http://schemas.microsoft.com/office/drawing/2014/main" id="{BA871AC6-B367-A9AA-B552-9CCF3FE9C186}"/>
                </a:ext>
              </a:extLst>
            </p:cNvPr>
            <p:cNvSpPr>
              <a:spLocks noChangeShapeType="1"/>
            </p:cNvSpPr>
            <p:nvPr/>
          </p:nvSpPr>
          <p:spPr bwMode="auto">
            <a:xfrm>
              <a:off x="5763896" y="3825876"/>
              <a:ext cx="12700"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7" name="Line 71">
              <a:extLst>
                <a:ext uri="{FF2B5EF4-FFF2-40B4-BE49-F238E27FC236}">
                  <a16:creationId xmlns:a16="http://schemas.microsoft.com/office/drawing/2014/main" id="{F5A64198-B670-3FBC-1EE0-96E112FEA76C}"/>
                </a:ext>
              </a:extLst>
            </p:cNvPr>
            <p:cNvSpPr>
              <a:spLocks noChangeShapeType="1"/>
            </p:cNvSpPr>
            <p:nvPr/>
          </p:nvSpPr>
          <p:spPr bwMode="auto">
            <a:xfrm>
              <a:off x="580517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8" name="Line 72">
              <a:extLst>
                <a:ext uri="{FF2B5EF4-FFF2-40B4-BE49-F238E27FC236}">
                  <a16:creationId xmlns:a16="http://schemas.microsoft.com/office/drawing/2014/main" id="{E3B61A80-DE59-E96A-4EA1-DFB9B9A1EE4D}"/>
                </a:ext>
              </a:extLst>
            </p:cNvPr>
            <p:cNvSpPr>
              <a:spLocks noChangeShapeType="1"/>
            </p:cNvSpPr>
            <p:nvPr/>
          </p:nvSpPr>
          <p:spPr bwMode="auto">
            <a:xfrm>
              <a:off x="58464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9" name="Line 73">
              <a:extLst>
                <a:ext uri="{FF2B5EF4-FFF2-40B4-BE49-F238E27FC236}">
                  <a16:creationId xmlns:a16="http://schemas.microsoft.com/office/drawing/2014/main" id="{0397C951-F230-5B89-3D13-895DCCEAFF59}"/>
                </a:ext>
              </a:extLst>
            </p:cNvPr>
            <p:cNvSpPr>
              <a:spLocks noChangeShapeType="1"/>
            </p:cNvSpPr>
            <p:nvPr/>
          </p:nvSpPr>
          <p:spPr bwMode="auto">
            <a:xfrm>
              <a:off x="58861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0" name="Line 74">
              <a:extLst>
                <a:ext uri="{FF2B5EF4-FFF2-40B4-BE49-F238E27FC236}">
                  <a16:creationId xmlns:a16="http://schemas.microsoft.com/office/drawing/2014/main" id="{0BDF0663-E5C0-060E-A983-26153F6D012B}"/>
                </a:ext>
              </a:extLst>
            </p:cNvPr>
            <p:cNvSpPr>
              <a:spLocks noChangeShapeType="1"/>
            </p:cNvSpPr>
            <p:nvPr/>
          </p:nvSpPr>
          <p:spPr bwMode="auto">
            <a:xfrm>
              <a:off x="59274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1" name="Line 75">
              <a:extLst>
                <a:ext uri="{FF2B5EF4-FFF2-40B4-BE49-F238E27FC236}">
                  <a16:creationId xmlns:a16="http://schemas.microsoft.com/office/drawing/2014/main" id="{6A66EC30-7076-298E-E5F0-11A9BBB95EAA}"/>
                </a:ext>
              </a:extLst>
            </p:cNvPr>
            <p:cNvSpPr>
              <a:spLocks noChangeShapeType="1"/>
            </p:cNvSpPr>
            <p:nvPr/>
          </p:nvSpPr>
          <p:spPr bwMode="auto">
            <a:xfrm>
              <a:off x="59686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2" name="Line 76">
              <a:extLst>
                <a:ext uri="{FF2B5EF4-FFF2-40B4-BE49-F238E27FC236}">
                  <a16:creationId xmlns:a16="http://schemas.microsoft.com/office/drawing/2014/main" id="{328A7AA0-F028-3066-9519-9E0CE59E351B}"/>
                </a:ext>
              </a:extLst>
            </p:cNvPr>
            <p:cNvSpPr>
              <a:spLocks noChangeShapeType="1"/>
            </p:cNvSpPr>
            <p:nvPr/>
          </p:nvSpPr>
          <p:spPr bwMode="auto">
            <a:xfrm>
              <a:off x="60099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3" name="Line 77">
              <a:extLst>
                <a:ext uri="{FF2B5EF4-FFF2-40B4-BE49-F238E27FC236}">
                  <a16:creationId xmlns:a16="http://schemas.microsoft.com/office/drawing/2014/main" id="{5E9DFCDE-A898-3524-15F3-0342E1FD70F8}"/>
                </a:ext>
              </a:extLst>
            </p:cNvPr>
            <p:cNvSpPr>
              <a:spLocks noChangeShapeType="1"/>
            </p:cNvSpPr>
            <p:nvPr/>
          </p:nvSpPr>
          <p:spPr bwMode="auto">
            <a:xfrm>
              <a:off x="60496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4" name="Line 78">
              <a:extLst>
                <a:ext uri="{FF2B5EF4-FFF2-40B4-BE49-F238E27FC236}">
                  <a16:creationId xmlns:a16="http://schemas.microsoft.com/office/drawing/2014/main" id="{AA7D7570-421D-2FF7-7A5B-C6DC9A681F2D}"/>
                </a:ext>
              </a:extLst>
            </p:cNvPr>
            <p:cNvSpPr>
              <a:spLocks noChangeShapeType="1"/>
            </p:cNvSpPr>
            <p:nvPr/>
          </p:nvSpPr>
          <p:spPr bwMode="auto">
            <a:xfrm>
              <a:off x="60909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5" name="Line 79">
              <a:extLst>
                <a:ext uri="{FF2B5EF4-FFF2-40B4-BE49-F238E27FC236}">
                  <a16:creationId xmlns:a16="http://schemas.microsoft.com/office/drawing/2014/main" id="{98670CBE-6C6A-54C0-DA97-27C7C7DDD2C4}"/>
                </a:ext>
              </a:extLst>
            </p:cNvPr>
            <p:cNvSpPr>
              <a:spLocks noChangeShapeType="1"/>
            </p:cNvSpPr>
            <p:nvPr/>
          </p:nvSpPr>
          <p:spPr bwMode="auto">
            <a:xfrm>
              <a:off x="61321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6" name="Line 80">
              <a:extLst>
                <a:ext uri="{FF2B5EF4-FFF2-40B4-BE49-F238E27FC236}">
                  <a16:creationId xmlns:a16="http://schemas.microsoft.com/office/drawing/2014/main" id="{F15D528C-2C23-922A-57CA-7B3B6AD66CD8}"/>
                </a:ext>
              </a:extLst>
            </p:cNvPr>
            <p:cNvSpPr>
              <a:spLocks noChangeShapeType="1"/>
            </p:cNvSpPr>
            <p:nvPr/>
          </p:nvSpPr>
          <p:spPr bwMode="auto">
            <a:xfrm>
              <a:off x="617188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7" name="Line 81">
              <a:extLst>
                <a:ext uri="{FF2B5EF4-FFF2-40B4-BE49-F238E27FC236}">
                  <a16:creationId xmlns:a16="http://schemas.microsoft.com/office/drawing/2014/main" id="{3ADED0BF-9AE6-D30D-C4D4-005E973E3A02}"/>
                </a:ext>
              </a:extLst>
            </p:cNvPr>
            <p:cNvSpPr>
              <a:spLocks noChangeShapeType="1"/>
            </p:cNvSpPr>
            <p:nvPr/>
          </p:nvSpPr>
          <p:spPr bwMode="auto">
            <a:xfrm>
              <a:off x="62131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8" name="Line 82">
              <a:extLst>
                <a:ext uri="{FF2B5EF4-FFF2-40B4-BE49-F238E27FC236}">
                  <a16:creationId xmlns:a16="http://schemas.microsoft.com/office/drawing/2014/main" id="{E91CD919-2955-0D1E-7BB0-9CEED4B254C3}"/>
                </a:ext>
              </a:extLst>
            </p:cNvPr>
            <p:cNvSpPr>
              <a:spLocks noChangeShapeType="1"/>
            </p:cNvSpPr>
            <p:nvPr/>
          </p:nvSpPr>
          <p:spPr bwMode="auto">
            <a:xfrm>
              <a:off x="62544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9" name="Line 83">
              <a:extLst>
                <a:ext uri="{FF2B5EF4-FFF2-40B4-BE49-F238E27FC236}">
                  <a16:creationId xmlns:a16="http://schemas.microsoft.com/office/drawing/2014/main" id="{029CE8C3-976E-4D12-F9B8-D41AE2E217C0}"/>
                </a:ext>
              </a:extLst>
            </p:cNvPr>
            <p:cNvSpPr>
              <a:spLocks noChangeShapeType="1"/>
            </p:cNvSpPr>
            <p:nvPr/>
          </p:nvSpPr>
          <p:spPr bwMode="auto">
            <a:xfrm>
              <a:off x="62941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0" name="Line 84">
              <a:extLst>
                <a:ext uri="{FF2B5EF4-FFF2-40B4-BE49-F238E27FC236}">
                  <a16:creationId xmlns:a16="http://schemas.microsoft.com/office/drawing/2014/main" id="{7BDF5ED7-48D2-4EBF-285E-6CD1DFE70B46}"/>
                </a:ext>
              </a:extLst>
            </p:cNvPr>
            <p:cNvSpPr>
              <a:spLocks noChangeShapeType="1"/>
            </p:cNvSpPr>
            <p:nvPr/>
          </p:nvSpPr>
          <p:spPr bwMode="auto">
            <a:xfrm>
              <a:off x="63353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1" name="Line 85">
              <a:extLst>
                <a:ext uri="{FF2B5EF4-FFF2-40B4-BE49-F238E27FC236}">
                  <a16:creationId xmlns:a16="http://schemas.microsoft.com/office/drawing/2014/main" id="{87784377-9EC7-90A4-37CB-B984F0BE20BB}"/>
                </a:ext>
              </a:extLst>
            </p:cNvPr>
            <p:cNvSpPr>
              <a:spLocks noChangeShapeType="1"/>
            </p:cNvSpPr>
            <p:nvPr/>
          </p:nvSpPr>
          <p:spPr bwMode="auto">
            <a:xfrm>
              <a:off x="63766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2" name="Line 86">
              <a:extLst>
                <a:ext uri="{FF2B5EF4-FFF2-40B4-BE49-F238E27FC236}">
                  <a16:creationId xmlns:a16="http://schemas.microsoft.com/office/drawing/2014/main" id="{D22C28FD-0927-218F-5F6F-78EB091BF28E}"/>
                </a:ext>
              </a:extLst>
            </p:cNvPr>
            <p:cNvSpPr>
              <a:spLocks noChangeShapeType="1"/>
            </p:cNvSpPr>
            <p:nvPr/>
          </p:nvSpPr>
          <p:spPr bwMode="auto">
            <a:xfrm>
              <a:off x="641635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3" name="Line 87">
              <a:extLst>
                <a:ext uri="{FF2B5EF4-FFF2-40B4-BE49-F238E27FC236}">
                  <a16:creationId xmlns:a16="http://schemas.microsoft.com/office/drawing/2014/main" id="{A87BB429-8D4A-4645-EE23-07D2B61A184E}"/>
                </a:ext>
              </a:extLst>
            </p:cNvPr>
            <p:cNvSpPr>
              <a:spLocks noChangeShapeType="1"/>
            </p:cNvSpPr>
            <p:nvPr/>
          </p:nvSpPr>
          <p:spPr bwMode="auto">
            <a:xfrm>
              <a:off x="645604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4" name="Line 88">
              <a:extLst>
                <a:ext uri="{FF2B5EF4-FFF2-40B4-BE49-F238E27FC236}">
                  <a16:creationId xmlns:a16="http://schemas.microsoft.com/office/drawing/2014/main" id="{140DE184-080A-A44C-59C6-CC082914DE80}"/>
                </a:ext>
              </a:extLst>
            </p:cNvPr>
            <p:cNvSpPr>
              <a:spLocks noChangeShapeType="1"/>
            </p:cNvSpPr>
            <p:nvPr/>
          </p:nvSpPr>
          <p:spPr bwMode="auto">
            <a:xfrm>
              <a:off x="64973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5" name="Line 89">
              <a:extLst>
                <a:ext uri="{FF2B5EF4-FFF2-40B4-BE49-F238E27FC236}">
                  <a16:creationId xmlns:a16="http://schemas.microsoft.com/office/drawing/2014/main" id="{8051C9EB-F12D-7B3D-3B03-09C9C4166505}"/>
                </a:ext>
              </a:extLst>
            </p:cNvPr>
            <p:cNvSpPr>
              <a:spLocks noChangeShapeType="1"/>
            </p:cNvSpPr>
            <p:nvPr/>
          </p:nvSpPr>
          <p:spPr bwMode="auto">
            <a:xfrm>
              <a:off x="653859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6" name="Line 90">
              <a:extLst>
                <a:ext uri="{FF2B5EF4-FFF2-40B4-BE49-F238E27FC236}">
                  <a16:creationId xmlns:a16="http://schemas.microsoft.com/office/drawing/2014/main" id="{DE98C983-A7A0-4122-9FFC-ABA72F37912A}"/>
                </a:ext>
              </a:extLst>
            </p:cNvPr>
            <p:cNvSpPr>
              <a:spLocks noChangeShapeType="1"/>
            </p:cNvSpPr>
            <p:nvPr/>
          </p:nvSpPr>
          <p:spPr bwMode="auto">
            <a:xfrm>
              <a:off x="657828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7" name="Line 91">
              <a:extLst>
                <a:ext uri="{FF2B5EF4-FFF2-40B4-BE49-F238E27FC236}">
                  <a16:creationId xmlns:a16="http://schemas.microsoft.com/office/drawing/2014/main" id="{3E831D44-B840-6FB7-B8F0-BE432E975CD7}"/>
                </a:ext>
              </a:extLst>
            </p:cNvPr>
            <p:cNvSpPr>
              <a:spLocks noChangeShapeType="1"/>
            </p:cNvSpPr>
            <p:nvPr/>
          </p:nvSpPr>
          <p:spPr bwMode="auto">
            <a:xfrm>
              <a:off x="66195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8" name="Line 92">
              <a:extLst>
                <a:ext uri="{FF2B5EF4-FFF2-40B4-BE49-F238E27FC236}">
                  <a16:creationId xmlns:a16="http://schemas.microsoft.com/office/drawing/2014/main" id="{A377FEE9-3526-9889-83FC-02561F4922E6}"/>
                </a:ext>
              </a:extLst>
            </p:cNvPr>
            <p:cNvSpPr>
              <a:spLocks noChangeShapeType="1"/>
            </p:cNvSpPr>
            <p:nvPr/>
          </p:nvSpPr>
          <p:spPr bwMode="auto">
            <a:xfrm>
              <a:off x="66608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9" name="Line 93">
              <a:extLst>
                <a:ext uri="{FF2B5EF4-FFF2-40B4-BE49-F238E27FC236}">
                  <a16:creationId xmlns:a16="http://schemas.microsoft.com/office/drawing/2014/main" id="{A5AF1788-6803-E9B9-5178-27E29A855D7E}"/>
                </a:ext>
              </a:extLst>
            </p:cNvPr>
            <p:cNvSpPr>
              <a:spLocks noChangeShapeType="1"/>
            </p:cNvSpPr>
            <p:nvPr/>
          </p:nvSpPr>
          <p:spPr bwMode="auto">
            <a:xfrm>
              <a:off x="67005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0" name="Line 94">
              <a:extLst>
                <a:ext uri="{FF2B5EF4-FFF2-40B4-BE49-F238E27FC236}">
                  <a16:creationId xmlns:a16="http://schemas.microsoft.com/office/drawing/2014/main" id="{E870CA41-17A9-4238-323E-E3C7E449FB90}"/>
                </a:ext>
              </a:extLst>
            </p:cNvPr>
            <p:cNvSpPr>
              <a:spLocks noChangeShapeType="1"/>
            </p:cNvSpPr>
            <p:nvPr/>
          </p:nvSpPr>
          <p:spPr bwMode="auto">
            <a:xfrm>
              <a:off x="67417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1" name="Line 95">
              <a:extLst>
                <a:ext uri="{FF2B5EF4-FFF2-40B4-BE49-F238E27FC236}">
                  <a16:creationId xmlns:a16="http://schemas.microsoft.com/office/drawing/2014/main" id="{69C504A3-8322-6792-7F34-C6361AEC7FA2}"/>
                </a:ext>
              </a:extLst>
            </p:cNvPr>
            <p:cNvSpPr>
              <a:spLocks noChangeShapeType="1"/>
            </p:cNvSpPr>
            <p:nvPr/>
          </p:nvSpPr>
          <p:spPr bwMode="auto">
            <a:xfrm>
              <a:off x="67830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2" name="Line 96">
              <a:extLst>
                <a:ext uri="{FF2B5EF4-FFF2-40B4-BE49-F238E27FC236}">
                  <a16:creationId xmlns:a16="http://schemas.microsoft.com/office/drawing/2014/main" id="{50DAC726-6B0A-A8C1-9E6C-0D2B37388436}"/>
                </a:ext>
              </a:extLst>
            </p:cNvPr>
            <p:cNvSpPr>
              <a:spLocks noChangeShapeType="1"/>
            </p:cNvSpPr>
            <p:nvPr/>
          </p:nvSpPr>
          <p:spPr bwMode="auto">
            <a:xfrm>
              <a:off x="68243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3" name="Line 97">
              <a:extLst>
                <a:ext uri="{FF2B5EF4-FFF2-40B4-BE49-F238E27FC236}">
                  <a16:creationId xmlns:a16="http://schemas.microsoft.com/office/drawing/2014/main" id="{FF320183-6A95-ED9A-7DB8-8E771F61CDE9}"/>
                </a:ext>
              </a:extLst>
            </p:cNvPr>
            <p:cNvSpPr>
              <a:spLocks noChangeShapeType="1"/>
            </p:cNvSpPr>
            <p:nvPr/>
          </p:nvSpPr>
          <p:spPr bwMode="auto">
            <a:xfrm>
              <a:off x="68640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4" name="Line 98">
              <a:extLst>
                <a:ext uri="{FF2B5EF4-FFF2-40B4-BE49-F238E27FC236}">
                  <a16:creationId xmlns:a16="http://schemas.microsoft.com/office/drawing/2014/main" id="{88B21DB7-1D9C-C2EF-7CBD-DAA78C0BDDFC}"/>
                </a:ext>
              </a:extLst>
            </p:cNvPr>
            <p:cNvSpPr>
              <a:spLocks noChangeShapeType="1"/>
            </p:cNvSpPr>
            <p:nvPr/>
          </p:nvSpPr>
          <p:spPr bwMode="auto">
            <a:xfrm>
              <a:off x="69053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5" name="Line 99">
              <a:extLst>
                <a:ext uri="{FF2B5EF4-FFF2-40B4-BE49-F238E27FC236}">
                  <a16:creationId xmlns:a16="http://schemas.microsoft.com/office/drawing/2014/main" id="{BA8288B1-BB8E-F174-757C-1114C075E6CB}"/>
                </a:ext>
              </a:extLst>
            </p:cNvPr>
            <p:cNvSpPr>
              <a:spLocks noChangeShapeType="1"/>
            </p:cNvSpPr>
            <p:nvPr/>
          </p:nvSpPr>
          <p:spPr bwMode="auto">
            <a:xfrm>
              <a:off x="69465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6" name="Line 100">
              <a:extLst>
                <a:ext uri="{FF2B5EF4-FFF2-40B4-BE49-F238E27FC236}">
                  <a16:creationId xmlns:a16="http://schemas.microsoft.com/office/drawing/2014/main" id="{2B0A5D93-0559-C794-F2A0-3B9A39EA908A}"/>
                </a:ext>
              </a:extLst>
            </p:cNvPr>
            <p:cNvSpPr>
              <a:spLocks noChangeShapeType="1"/>
            </p:cNvSpPr>
            <p:nvPr/>
          </p:nvSpPr>
          <p:spPr bwMode="auto">
            <a:xfrm>
              <a:off x="698627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7" name="Line 101">
              <a:extLst>
                <a:ext uri="{FF2B5EF4-FFF2-40B4-BE49-F238E27FC236}">
                  <a16:creationId xmlns:a16="http://schemas.microsoft.com/office/drawing/2014/main" id="{7DB918C4-E829-E05E-1AE2-3C520F1C47CA}"/>
                </a:ext>
              </a:extLst>
            </p:cNvPr>
            <p:cNvSpPr>
              <a:spLocks noChangeShapeType="1"/>
            </p:cNvSpPr>
            <p:nvPr/>
          </p:nvSpPr>
          <p:spPr bwMode="auto">
            <a:xfrm>
              <a:off x="70275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8" name="Line 102">
              <a:extLst>
                <a:ext uri="{FF2B5EF4-FFF2-40B4-BE49-F238E27FC236}">
                  <a16:creationId xmlns:a16="http://schemas.microsoft.com/office/drawing/2014/main" id="{D0ED90E7-10EF-50D2-FA64-22D122BCDE8D}"/>
                </a:ext>
              </a:extLst>
            </p:cNvPr>
            <p:cNvSpPr>
              <a:spLocks noChangeShapeType="1"/>
            </p:cNvSpPr>
            <p:nvPr/>
          </p:nvSpPr>
          <p:spPr bwMode="auto">
            <a:xfrm>
              <a:off x="70688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9" name="Line 103">
              <a:extLst>
                <a:ext uri="{FF2B5EF4-FFF2-40B4-BE49-F238E27FC236}">
                  <a16:creationId xmlns:a16="http://schemas.microsoft.com/office/drawing/2014/main" id="{9DC70295-83D2-9FD2-F95C-681E291ABBF4}"/>
                </a:ext>
              </a:extLst>
            </p:cNvPr>
            <p:cNvSpPr>
              <a:spLocks noChangeShapeType="1"/>
            </p:cNvSpPr>
            <p:nvPr/>
          </p:nvSpPr>
          <p:spPr bwMode="auto">
            <a:xfrm>
              <a:off x="71085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0" name="Line 104">
              <a:extLst>
                <a:ext uri="{FF2B5EF4-FFF2-40B4-BE49-F238E27FC236}">
                  <a16:creationId xmlns:a16="http://schemas.microsoft.com/office/drawing/2014/main" id="{EA08C385-A624-4B46-6A7C-A391834E99DD}"/>
                </a:ext>
              </a:extLst>
            </p:cNvPr>
            <p:cNvSpPr>
              <a:spLocks noChangeShapeType="1"/>
            </p:cNvSpPr>
            <p:nvPr/>
          </p:nvSpPr>
          <p:spPr bwMode="auto">
            <a:xfrm>
              <a:off x="71497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1" name="Line 105">
              <a:extLst>
                <a:ext uri="{FF2B5EF4-FFF2-40B4-BE49-F238E27FC236}">
                  <a16:creationId xmlns:a16="http://schemas.microsoft.com/office/drawing/2014/main" id="{D205C1E6-28CE-B9E8-6130-6043CC1DC918}"/>
                </a:ext>
              </a:extLst>
            </p:cNvPr>
            <p:cNvSpPr>
              <a:spLocks noChangeShapeType="1"/>
            </p:cNvSpPr>
            <p:nvPr/>
          </p:nvSpPr>
          <p:spPr bwMode="auto">
            <a:xfrm>
              <a:off x="718947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2" name="Line 106">
              <a:extLst>
                <a:ext uri="{FF2B5EF4-FFF2-40B4-BE49-F238E27FC236}">
                  <a16:creationId xmlns:a16="http://schemas.microsoft.com/office/drawing/2014/main" id="{EA24EF0A-8313-BB59-65C0-21C1A9F5AD30}"/>
                </a:ext>
              </a:extLst>
            </p:cNvPr>
            <p:cNvSpPr>
              <a:spLocks noChangeShapeType="1"/>
            </p:cNvSpPr>
            <p:nvPr/>
          </p:nvSpPr>
          <p:spPr bwMode="auto">
            <a:xfrm>
              <a:off x="723074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3" name="Line 107">
              <a:extLst>
                <a:ext uri="{FF2B5EF4-FFF2-40B4-BE49-F238E27FC236}">
                  <a16:creationId xmlns:a16="http://schemas.microsoft.com/office/drawing/2014/main" id="{3066E0D2-0CED-EA25-FB6A-F291840B51C9}"/>
                </a:ext>
              </a:extLst>
            </p:cNvPr>
            <p:cNvSpPr>
              <a:spLocks noChangeShapeType="1"/>
            </p:cNvSpPr>
            <p:nvPr/>
          </p:nvSpPr>
          <p:spPr bwMode="auto">
            <a:xfrm>
              <a:off x="72704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4" name="Line 108">
              <a:extLst>
                <a:ext uri="{FF2B5EF4-FFF2-40B4-BE49-F238E27FC236}">
                  <a16:creationId xmlns:a16="http://schemas.microsoft.com/office/drawing/2014/main" id="{D8D56176-223B-AFED-4653-D2BDC20D4A86}"/>
                </a:ext>
              </a:extLst>
            </p:cNvPr>
            <p:cNvSpPr>
              <a:spLocks noChangeShapeType="1"/>
            </p:cNvSpPr>
            <p:nvPr/>
          </p:nvSpPr>
          <p:spPr bwMode="auto">
            <a:xfrm>
              <a:off x="73117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5" name="Line 109">
              <a:extLst>
                <a:ext uri="{FF2B5EF4-FFF2-40B4-BE49-F238E27FC236}">
                  <a16:creationId xmlns:a16="http://schemas.microsoft.com/office/drawing/2014/main" id="{64DC61C0-F514-CB79-2FAD-0DEA964A967B}"/>
                </a:ext>
              </a:extLst>
            </p:cNvPr>
            <p:cNvSpPr>
              <a:spLocks noChangeShapeType="1"/>
            </p:cNvSpPr>
            <p:nvPr/>
          </p:nvSpPr>
          <p:spPr bwMode="auto">
            <a:xfrm>
              <a:off x="73529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6" name="Line 110">
              <a:extLst>
                <a:ext uri="{FF2B5EF4-FFF2-40B4-BE49-F238E27FC236}">
                  <a16:creationId xmlns:a16="http://schemas.microsoft.com/office/drawing/2014/main" id="{B96C78C0-D94D-1D24-7994-AD32D52333A3}"/>
                </a:ext>
              </a:extLst>
            </p:cNvPr>
            <p:cNvSpPr>
              <a:spLocks noChangeShapeType="1"/>
            </p:cNvSpPr>
            <p:nvPr/>
          </p:nvSpPr>
          <p:spPr bwMode="auto">
            <a:xfrm>
              <a:off x="739267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7" name="Line 111">
              <a:extLst>
                <a:ext uri="{FF2B5EF4-FFF2-40B4-BE49-F238E27FC236}">
                  <a16:creationId xmlns:a16="http://schemas.microsoft.com/office/drawing/2014/main" id="{C35ADFB6-FD55-A7EB-D841-5C9E8E716D6E}"/>
                </a:ext>
              </a:extLst>
            </p:cNvPr>
            <p:cNvSpPr>
              <a:spLocks noChangeShapeType="1"/>
            </p:cNvSpPr>
            <p:nvPr/>
          </p:nvSpPr>
          <p:spPr bwMode="auto">
            <a:xfrm>
              <a:off x="74339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8" name="Line 112">
              <a:extLst>
                <a:ext uri="{FF2B5EF4-FFF2-40B4-BE49-F238E27FC236}">
                  <a16:creationId xmlns:a16="http://schemas.microsoft.com/office/drawing/2014/main" id="{B4DAF76D-4F51-4D14-7A5C-3AC696FFB289}"/>
                </a:ext>
              </a:extLst>
            </p:cNvPr>
            <p:cNvSpPr>
              <a:spLocks noChangeShapeType="1"/>
            </p:cNvSpPr>
            <p:nvPr/>
          </p:nvSpPr>
          <p:spPr bwMode="auto">
            <a:xfrm>
              <a:off x="74752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9" name="Line 113">
              <a:extLst>
                <a:ext uri="{FF2B5EF4-FFF2-40B4-BE49-F238E27FC236}">
                  <a16:creationId xmlns:a16="http://schemas.microsoft.com/office/drawing/2014/main" id="{C017A676-486C-0BF0-6A64-292BCC7A0634}"/>
                </a:ext>
              </a:extLst>
            </p:cNvPr>
            <p:cNvSpPr>
              <a:spLocks noChangeShapeType="1"/>
            </p:cNvSpPr>
            <p:nvPr/>
          </p:nvSpPr>
          <p:spPr bwMode="auto">
            <a:xfrm>
              <a:off x="75149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0" name="Line 114">
              <a:extLst>
                <a:ext uri="{FF2B5EF4-FFF2-40B4-BE49-F238E27FC236}">
                  <a16:creationId xmlns:a16="http://schemas.microsoft.com/office/drawing/2014/main" id="{89A2A91C-FA23-B67E-B8D0-C07CF0AA577C}"/>
                </a:ext>
              </a:extLst>
            </p:cNvPr>
            <p:cNvSpPr>
              <a:spLocks noChangeShapeType="1"/>
            </p:cNvSpPr>
            <p:nvPr/>
          </p:nvSpPr>
          <p:spPr bwMode="auto">
            <a:xfrm>
              <a:off x="75561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1" name="Line 115">
              <a:extLst>
                <a:ext uri="{FF2B5EF4-FFF2-40B4-BE49-F238E27FC236}">
                  <a16:creationId xmlns:a16="http://schemas.microsoft.com/office/drawing/2014/main" id="{3B9D2435-5515-222F-504B-3CE71DF92902}"/>
                </a:ext>
              </a:extLst>
            </p:cNvPr>
            <p:cNvSpPr>
              <a:spLocks noChangeShapeType="1"/>
            </p:cNvSpPr>
            <p:nvPr/>
          </p:nvSpPr>
          <p:spPr bwMode="auto">
            <a:xfrm>
              <a:off x="75974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2" name="Line 116">
              <a:extLst>
                <a:ext uri="{FF2B5EF4-FFF2-40B4-BE49-F238E27FC236}">
                  <a16:creationId xmlns:a16="http://schemas.microsoft.com/office/drawing/2014/main" id="{28633900-56BA-D54E-ACE9-C385CBCD220F}"/>
                </a:ext>
              </a:extLst>
            </p:cNvPr>
            <p:cNvSpPr>
              <a:spLocks noChangeShapeType="1"/>
            </p:cNvSpPr>
            <p:nvPr/>
          </p:nvSpPr>
          <p:spPr bwMode="auto">
            <a:xfrm>
              <a:off x="76387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3" name="Line 117">
              <a:extLst>
                <a:ext uri="{FF2B5EF4-FFF2-40B4-BE49-F238E27FC236}">
                  <a16:creationId xmlns:a16="http://schemas.microsoft.com/office/drawing/2014/main" id="{42B565C7-0757-5115-810E-75BF5BB0A659}"/>
                </a:ext>
              </a:extLst>
            </p:cNvPr>
            <p:cNvSpPr>
              <a:spLocks noChangeShapeType="1"/>
            </p:cNvSpPr>
            <p:nvPr/>
          </p:nvSpPr>
          <p:spPr bwMode="auto">
            <a:xfrm>
              <a:off x="76784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4" name="Line 118">
              <a:extLst>
                <a:ext uri="{FF2B5EF4-FFF2-40B4-BE49-F238E27FC236}">
                  <a16:creationId xmlns:a16="http://schemas.microsoft.com/office/drawing/2014/main" id="{DEFBD7D1-3EF3-69F0-6365-71EC4B6DA52E}"/>
                </a:ext>
              </a:extLst>
            </p:cNvPr>
            <p:cNvSpPr>
              <a:spLocks noChangeShapeType="1"/>
            </p:cNvSpPr>
            <p:nvPr/>
          </p:nvSpPr>
          <p:spPr bwMode="auto">
            <a:xfrm>
              <a:off x="77196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5" name="Line 119">
              <a:extLst>
                <a:ext uri="{FF2B5EF4-FFF2-40B4-BE49-F238E27FC236}">
                  <a16:creationId xmlns:a16="http://schemas.microsoft.com/office/drawing/2014/main" id="{96C01C0E-7B12-05C6-D149-D137188CDC5E}"/>
                </a:ext>
              </a:extLst>
            </p:cNvPr>
            <p:cNvSpPr>
              <a:spLocks noChangeShapeType="1"/>
            </p:cNvSpPr>
            <p:nvPr/>
          </p:nvSpPr>
          <p:spPr bwMode="auto">
            <a:xfrm>
              <a:off x="77609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6" name="Line 120">
              <a:extLst>
                <a:ext uri="{FF2B5EF4-FFF2-40B4-BE49-F238E27FC236}">
                  <a16:creationId xmlns:a16="http://schemas.microsoft.com/office/drawing/2014/main" id="{D33BB018-51C6-5D0F-35EB-DF1166C404F8}"/>
                </a:ext>
              </a:extLst>
            </p:cNvPr>
            <p:cNvSpPr>
              <a:spLocks noChangeShapeType="1"/>
            </p:cNvSpPr>
            <p:nvPr/>
          </p:nvSpPr>
          <p:spPr bwMode="auto">
            <a:xfrm>
              <a:off x="780065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7" name="Line 121">
              <a:extLst>
                <a:ext uri="{FF2B5EF4-FFF2-40B4-BE49-F238E27FC236}">
                  <a16:creationId xmlns:a16="http://schemas.microsoft.com/office/drawing/2014/main" id="{BF9D5072-D5CD-8A76-CF7E-08D9CE0F52B6}"/>
                </a:ext>
              </a:extLst>
            </p:cNvPr>
            <p:cNvSpPr>
              <a:spLocks noChangeShapeType="1"/>
            </p:cNvSpPr>
            <p:nvPr/>
          </p:nvSpPr>
          <p:spPr bwMode="auto">
            <a:xfrm>
              <a:off x="78419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8" name="Line 122">
              <a:extLst>
                <a:ext uri="{FF2B5EF4-FFF2-40B4-BE49-F238E27FC236}">
                  <a16:creationId xmlns:a16="http://schemas.microsoft.com/office/drawing/2014/main" id="{95EA605B-E16B-5394-B566-C0EEEB152571}"/>
                </a:ext>
              </a:extLst>
            </p:cNvPr>
            <p:cNvSpPr>
              <a:spLocks noChangeShapeType="1"/>
            </p:cNvSpPr>
            <p:nvPr/>
          </p:nvSpPr>
          <p:spPr bwMode="auto">
            <a:xfrm>
              <a:off x="78816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9" name="Line 123">
              <a:extLst>
                <a:ext uri="{FF2B5EF4-FFF2-40B4-BE49-F238E27FC236}">
                  <a16:creationId xmlns:a16="http://schemas.microsoft.com/office/drawing/2014/main" id="{E124BA43-353F-03ED-E1C3-1F0178A6DB5A}"/>
                </a:ext>
              </a:extLst>
            </p:cNvPr>
            <p:cNvSpPr>
              <a:spLocks noChangeShapeType="1"/>
            </p:cNvSpPr>
            <p:nvPr/>
          </p:nvSpPr>
          <p:spPr bwMode="auto">
            <a:xfrm>
              <a:off x="792289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0" name="Line 124">
              <a:extLst>
                <a:ext uri="{FF2B5EF4-FFF2-40B4-BE49-F238E27FC236}">
                  <a16:creationId xmlns:a16="http://schemas.microsoft.com/office/drawing/2014/main" id="{58D66B52-064F-19F7-DC8C-8D9AFF4F8502}"/>
                </a:ext>
              </a:extLst>
            </p:cNvPr>
            <p:cNvSpPr>
              <a:spLocks noChangeShapeType="1"/>
            </p:cNvSpPr>
            <p:nvPr/>
          </p:nvSpPr>
          <p:spPr bwMode="auto">
            <a:xfrm>
              <a:off x="796258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1" name="Line 125">
              <a:extLst>
                <a:ext uri="{FF2B5EF4-FFF2-40B4-BE49-F238E27FC236}">
                  <a16:creationId xmlns:a16="http://schemas.microsoft.com/office/drawing/2014/main" id="{708629F0-1A91-E272-F2F4-9646C630BED9}"/>
                </a:ext>
              </a:extLst>
            </p:cNvPr>
            <p:cNvSpPr>
              <a:spLocks noChangeShapeType="1"/>
            </p:cNvSpPr>
            <p:nvPr/>
          </p:nvSpPr>
          <p:spPr bwMode="auto">
            <a:xfrm>
              <a:off x="800385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2" name="Line 126">
              <a:extLst>
                <a:ext uri="{FF2B5EF4-FFF2-40B4-BE49-F238E27FC236}">
                  <a16:creationId xmlns:a16="http://schemas.microsoft.com/office/drawing/2014/main" id="{E1908CC1-311C-F23C-8C8F-8B508D2AE776}"/>
                </a:ext>
              </a:extLst>
            </p:cNvPr>
            <p:cNvSpPr>
              <a:spLocks noChangeShapeType="1"/>
            </p:cNvSpPr>
            <p:nvPr/>
          </p:nvSpPr>
          <p:spPr bwMode="auto">
            <a:xfrm>
              <a:off x="80451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3" name="Line 127">
              <a:extLst>
                <a:ext uri="{FF2B5EF4-FFF2-40B4-BE49-F238E27FC236}">
                  <a16:creationId xmlns:a16="http://schemas.microsoft.com/office/drawing/2014/main" id="{D3C9049D-1296-880F-E5B1-5B2C1CD802D9}"/>
                </a:ext>
              </a:extLst>
            </p:cNvPr>
            <p:cNvSpPr>
              <a:spLocks noChangeShapeType="1"/>
            </p:cNvSpPr>
            <p:nvPr/>
          </p:nvSpPr>
          <p:spPr bwMode="auto">
            <a:xfrm>
              <a:off x="80848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4" name="Line 128">
              <a:extLst>
                <a:ext uri="{FF2B5EF4-FFF2-40B4-BE49-F238E27FC236}">
                  <a16:creationId xmlns:a16="http://schemas.microsoft.com/office/drawing/2014/main" id="{8FBDB568-87DC-B2DE-9B4D-8C65BC6F6115}"/>
                </a:ext>
              </a:extLst>
            </p:cNvPr>
            <p:cNvSpPr>
              <a:spLocks noChangeShapeType="1"/>
            </p:cNvSpPr>
            <p:nvPr/>
          </p:nvSpPr>
          <p:spPr bwMode="auto">
            <a:xfrm>
              <a:off x="81260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5" name="Line 129">
              <a:extLst>
                <a:ext uri="{FF2B5EF4-FFF2-40B4-BE49-F238E27FC236}">
                  <a16:creationId xmlns:a16="http://schemas.microsoft.com/office/drawing/2014/main" id="{F071844A-6CC7-ACBE-D5A6-8BBB2EED3A95}"/>
                </a:ext>
              </a:extLst>
            </p:cNvPr>
            <p:cNvSpPr>
              <a:spLocks noChangeShapeType="1"/>
            </p:cNvSpPr>
            <p:nvPr/>
          </p:nvSpPr>
          <p:spPr bwMode="auto">
            <a:xfrm>
              <a:off x="81673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6" name="Line 130">
              <a:extLst>
                <a:ext uri="{FF2B5EF4-FFF2-40B4-BE49-F238E27FC236}">
                  <a16:creationId xmlns:a16="http://schemas.microsoft.com/office/drawing/2014/main" id="{83BB5A0A-CEBB-0AE1-47DD-FC587FD402C9}"/>
                </a:ext>
              </a:extLst>
            </p:cNvPr>
            <p:cNvSpPr>
              <a:spLocks noChangeShapeType="1"/>
            </p:cNvSpPr>
            <p:nvPr/>
          </p:nvSpPr>
          <p:spPr bwMode="auto">
            <a:xfrm>
              <a:off x="820705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7" name="Line 131">
              <a:extLst>
                <a:ext uri="{FF2B5EF4-FFF2-40B4-BE49-F238E27FC236}">
                  <a16:creationId xmlns:a16="http://schemas.microsoft.com/office/drawing/2014/main" id="{3F6456EA-85B2-F35D-3C00-861CEE3B7763}"/>
                </a:ext>
              </a:extLst>
            </p:cNvPr>
            <p:cNvSpPr>
              <a:spLocks noChangeShapeType="1"/>
            </p:cNvSpPr>
            <p:nvPr/>
          </p:nvSpPr>
          <p:spPr bwMode="auto">
            <a:xfrm>
              <a:off x="82483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8" name="Line 132">
              <a:extLst>
                <a:ext uri="{FF2B5EF4-FFF2-40B4-BE49-F238E27FC236}">
                  <a16:creationId xmlns:a16="http://schemas.microsoft.com/office/drawing/2014/main" id="{50BFE5AB-F823-0492-D002-0418256615B5}"/>
                </a:ext>
              </a:extLst>
            </p:cNvPr>
            <p:cNvSpPr>
              <a:spLocks noChangeShapeType="1"/>
            </p:cNvSpPr>
            <p:nvPr/>
          </p:nvSpPr>
          <p:spPr bwMode="auto">
            <a:xfrm>
              <a:off x="82896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9" name="Line 133">
              <a:extLst>
                <a:ext uri="{FF2B5EF4-FFF2-40B4-BE49-F238E27FC236}">
                  <a16:creationId xmlns:a16="http://schemas.microsoft.com/office/drawing/2014/main" id="{086C0017-6C70-6201-F7BE-154715AEDC92}"/>
                </a:ext>
              </a:extLst>
            </p:cNvPr>
            <p:cNvSpPr>
              <a:spLocks noChangeShapeType="1"/>
            </p:cNvSpPr>
            <p:nvPr/>
          </p:nvSpPr>
          <p:spPr bwMode="auto">
            <a:xfrm>
              <a:off x="832929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0" name="Line 134">
              <a:extLst>
                <a:ext uri="{FF2B5EF4-FFF2-40B4-BE49-F238E27FC236}">
                  <a16:creationId xmlns:a16="http://schemas.microsoft.com/office/drawing/2014/main" id="{82BA084B-C4B5-7674-D872-771B69C6E811}"/>
                </a:ext>
              </a:extLst>
            </p:cNvPr>
            <p:cNvSpPr>
              <a:spLocks noChangeShapeType="1"/>
            </p:cNvSpPr>
            <p:nvPr/>
          </p:nvSpPr>
          <p:spPr bwMode="auto">
            <a:xfrm>
              <a:off x="83705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1" name="Line 135">
              <a:extLst>
                <a:ext uri="{FF2B5EF4-FFF2-40B4-BE49-F238E27FC236}">
                  <a16:creationId xmlns:a16="http://schemas.microsoft.com/office/drawing/2014/main" id="{2C7DE05A-1F47-586C-244D-9CB57AD9EAEC}"/>
                </a:ext>
              </a:extLst>
            </p:cNvPr>
            <p:cNvSpPr>
              <a:spLocks noChangeShapeType="1"/>
            </p:cNvSpPr>
            <p:nvPr/>
          </p:nvSpPr>
          <p:spPr bwMode="auto">
            <a:xfrm>
              <a:off x="84118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2" name="Line 136">
              <a:extLst>
                <a:ext uri="{FF2B5EF4-FFF2-40B4-BE49-F238E27FC236}">
                  <a16:creationId xmlns:a16="http://schemas.microsoft.com/office/drawing/2014/main" id="{E640BFFA-E651-A784-6675-E3DDE9B451E4}"/>
                </a:ext>
              </a:extLst>
            </p:cNvPr>
            <p:cNvSpPr>
              <a:spLocks noChangeShapeType="1"/>
            </p:cNvSpPr>
            <p:nvPr/>
          </p:nvSpPr>
          <p:spPr bwMode="auto">
            <a:xfrm>
              <a:off x="84531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3" name="Line 137">
              <a:extLst>
                <a:ext uri="{FF2B5EF4-FFF2-40B4-BE49-F238E27FC236}">
                  <a16:creationId xmlns:a16="http://schemas.microsoft.com/office/drawing/2014/main" id="{346BB1A8-D8E1-B995-7629-B5C54027DEB4}"/>
                </a:ext>
              </a:extLst>
            </p:cNvPr>
            <p:cNvSpPr>
              <a:spLocks noChangeShapeType="1"/>
            </p:cNvSpPr>
            <p:nvPr/>
          </p:nvSpPr>
          <p:spPr bwMode="auto">
            <a:xfrm>
              <a:off x="84928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4" name="Line 138">
              <a:extLst>
                <a:ext uri="{FF2B5EF4-FFF2-40B4-BE49-F238E27FC236}">
                  <a16:creationId xmlns:a16="http://schemas.microsoft.com/office/drawing/2014/main" id="{2C518FFF-9576-FF7F-8902-F2AFCA88035D}"/>
                </a:ext>
              </a:extLst>
            </p:cNvPr>
            <p:cNvSpPr>
              <a:spLocks noChangeShapeType="1"/>
            </p:cNvSpPr>
            <p:nvPr/>
          </p:nvSpPr>
          <p:spPr bwMode="auto">
            <a:xfrm>
              <a:off x="85340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5" name="Line 139">
              <a:extLst>
                <a:ext uri="{FF2B5EF4-FFF2-40B4-BE49-F238E27FC236}">
                  <a16:creationId xmlns:a16="http://schemas.microsoft.com/office/drawing/2014/main" id="{BE97EDD7-35BE-9EB8-54B7-863DF5337BED}"/>
                </a:ext>
              </a:extLst>
            </p:cNvPr>
            <p:cNvSpPr>
              <a:spLocks noChangeShapeType="1"/>
            </p:cNvSpPr>
            <p:nvPr/>
          </p:nvSpPr>
          <p:spPr bwMode="auto">
            <a:xfrm>
              <a:off x="85753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6" name="Line 140">
              <a:extLst>
                <a:ext uri="{FF2B5EF4-FFF2-40B4-BE49-F238E27FC236}">
                  <a16:creationId xmlns:a16="http://schemas.microsoft.com/office/drawing/2014/main" id="{1CFEF5CE-D78C-D588-70F5-B28A55040C15}"/>
                </a:ext>
              </a:extLst>
            </p:cNvPr>
            <p:cNvSpPr>
              <a:spLocks noChangeShapeType="1"/>
            </p:cNvSpPr>
            <p:nvPr/>
          </p:nvSpPr>
          <p:spPr bwMode="auto">
            <a:xfrm>
              <a:off x="861504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7" name="Line 141">
              <a:extLst>
                <a:ext uri="{FF2B5EF4-FFF2-40B4-BE49-F238E27FC236}">
                  <a16:creationId xmlns:a16="http://schemas.microsoft.com/office/drawing/2014/main" id="{05E95325-9ACB-BA32-12B8-E04B3E0DFB99}"/>
                </a:ext>
              </a:extLst>
            </p:cNvPr>
            <p:cNvSpPr>
              <a:spLocks noChangeShapeType="1"/>
            </p:cNvSpPr>
            <p:nvPr/>
          </p:nvSpPr>
          <p:spPr bwMode="auto">
            <a:xfrm>
              <a:off x="86547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8" name="Line 142">
              <a:extLst>
                <a:ext uri="{FF2B5EF4-FFF2-40B4-BE49-F238E27FC236}">
                  <a16:creationId xmlns:a16="http://schemas.microsoft.com/office/drawing/2014/main" id="{DBB7A1E9-5E11-4DEB-5873-B5A926EE67A7}"/>
                </a:ext>
              </a:extLst>
            </p:cNvPr>
            <p:cNvSpPr>
              <a:spLocks noChangeShapeType="1"/>
            </p:cNvSpPr>
            <p:nvPr/>
          </p:nvSpPr>
          <p:spPr bwMode="auto">
            <a:xfrm>
              <a:off x="86960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9" name="Line 143">
              <a:extLst>
                <a:ext uri="{FF2B5EF4-FFF2-40B4-BE49-F238E27FC236}">
                  <a16:creationId xmlns:a16="http://schemas.microsoft.com/office/drawing/2014/main" id="{032BA701-B9AF-C1BE-F927-26782D487AA4}"/>
                </a:ext>
              </a:extLst>
            </p:cNvPr>
            <p:cNvSpPr>
              <a:spLocks noChangeShapeType="1"/>
            </p:cNvSpPr>
            <p:nvPr/>
          </p:nvSpPr>
          <p:spPr bwMode="auto">
            <a:xfrm>
              <a:off x="8735696" y="3825876"/>
              <a:ext cx="12700"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0" name="Line 144">
              <a:extLst>
                <a:ext uri="{FF2B5EF4-FFF2-40B4-BE49-F238E27FC236}">
                  <a16:creationId xmlns:a16="http://schemas.microsoft.com/office/drawing/2014/main" id="{4D62D075-2BAE-2375-35A8-927F18BEFB7E}"/>
                </a:ext>
              </a:extLst>
            </p:cNvPr>
            <p:cNvSpPr>
              <a:spLocks noChangeShapeType="1"/>
            </p:cNvSpPr>
            <p:nvPr/>
          </p:nvSpPr>
          <p:spPr bwMode="auto">
            <a:xfrm>
              <a:off x="877697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1" name="Line 145">
              <a:extLst>
                <a:ext uri="{FF2B5EF4-FFF2-40B4-BE49-F238E27FC236}">
                  <a16:creationId xmlns:a16="http://schemas.microsoft.com/office/drawing/2014/main" id="{E08DC3E0-2CCF-1B7E-BFAF-AD54750F8F72}"/>
                </a:ext>
              </a:extLst>
            </p:cNvPr>
            <p:cNvSpPr>
              <a:spLocks noChangeShapeType="1"/>
            </p:cNvSpPr>
            <p:nvPr/>
          </p:nvSpPr>
          <p:spPr bwMode="auto">
            <a:xfrm>
              <a:off x="881824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2" name="Line 146">
              <a:extLst>
                <a:ext uri="{FF2B5EF4-FFF2-40B4-BE49-F238E27FC236}">
                  <a16:creationId xmlns:a16="http://schemas.microsoft.com/office/drawing/2014/main" id="{C0B988D3-CF44-F2DB-24E5-17E2B7700332}"/>
                </a:ext>
              </a:extLst>
            </p:cNvPr>
            <p:cNvSpPr>
              <a:spLocks noChangeShapeType="1"/>
            </p:cNvSpPr>
            <p:nvPr/>
          </p:nvSpPr>
          <p:spPr bwMode="auto">
            <a:xfrm>
              <a:off x="88595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3" name="Line 147">
              <a:extLst>
                <a:ext uri="{FF2B5EF4-FFF2-40B4-BE49-F238E27FC236}">
                  <a16:creationId xmlns:a16="http://schemas.microsoft.com/office/drawing/2014/main" id="{94FCCB69-A7B5-4025-5AA9-C7CE01A69208}"/>
                </a:ext>
              </a:extLst>
            </p:cNvPr>
            <p:cNvSpPr>
              <a:spLocks noChangeShapeType="1"/>
            </p:cNvSpPr>
            <p:nvPr/>
          </p:nvSpPr>
          <p:spPr bwMode="auto">
            <a:xfrm>
              <a:off x="88992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4" name="Line 148">
              <a:extLst>
                <a:ext uri="{FF2B5EF4-FFF2-40B4-BE49-F238E27FC236}">
                  <a16:creationId xmlns:a16="http://schemas.microsoft.com/office/drawing/2014/main" id="{AACB2819-CEFD-9878-78E1-FB77F9A80714}"/>
                </a:ext>
              </a:extLst>
            </p:cNvPr>
            <p:cNvSpPr>
              <a:spLocks noChangeShapeType="1"/>
            </p:cNvSpPr>
            <p:nvPr/>
          </p:nvSpPr>
          <p:spPr bwMode="auto">
            <a:xfrm>
              <a:off x="3322321"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5" name="Line 149">
              <a:extLst>
                <a:ext uri="{FF2B5EF4-FFF2-40B4-BE49-F238E27FC236}">
                  <a16:creationId xmlns:a16="http://schemas.microsoft.com/office/drawing/2014/main" id="{5B8B6780-EB4D-BF7D-C7A9-BF29110CE073}"/>
                </a:ext>
              </a:extLst>
            </p:cNvPr>
            <p:cNvSpPr>
              <a:spLocks noChangeShapeType="1"/>
            </p:cNvSpPr>
            <p:nvPr/>
          </p:nvSpPr>
          <p:spPr bwMode="auto">
            <a:xfrm>
              <a:off x="336359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6" name="Line 150">
              <a:extLst>
                <a:ext uri="{FF2B5EF4-FFF2-40B4-BE49-F238E27FC236}">
                  <a16:creationId xmlns:a16="http://schemas.microsoft.com/office/drawing/2014/main" id="{E5E6C484-588F-EE2E-FB5F-1E49EE71545F}"/>
                </a:ext>
              </a:extLst>
            </p:cNvPr>
            <p:cNvSpPr>
              <a:spLocks noChangeShapeType="1"/>
            </p:cNvSpPr>
            <p:nvPr/>
          </p:nvSpPr>
          <p:spPr bwMode="auto">
            <a:xfrm>
              <a:off x="3403283"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7" name="Line 151">
              <a:extLst>
                <a:ext uri="{FF2B5EF4-FFF2-40B4-BE49-F238E27FC236}">
                  <a16:creationId xmlns:a16="http://schemas.microsoft.com/office/drawing/2014/main" id="{28B11AE8-C201-149C-DBC3-26FE1B6994E9}"/>
                </a:ext>
              </a:extLst>
            </p:cNvPr>
            <p:cNvSpPr>
              <a:spLocks noChangeShapeType="1"/>
            </p:cNvSpPr>
            <p:nvPr/>
          </p:nvSpPr>
          <p:spPr bwMode="auto">
            <a:xfrm>
              <a:off x="3444558"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8" name="Line 152">
              <a:extLst>
                <a:ext uri="{FF2B5EF4-FFF2-40B4-BE49-F238E27FC236}">
                  <a16:creationId xmlns:a16="http://schemas.microsoft.com/office/drawing/2014/main" id="{F91D9185-865F-22D2-B668-C3310D47E1D6}"/>
                </a:ext>
              </a:extLst>
            </p:cNvPr>
            <p:cNvSpPr>
              <a:spLocks noChangeShapeType="1"/>
            </p:cNvSpPr>
            <p:nvPr/>
          </p:nvSpPr>
          <p:spPr bwMode="auto">
            <a:xfrm>
              <a:off x="3484246"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9" name="Line 153">
              <a:extLst>
                <a:ext uri="{FF2B5EF4-FFF2-40B4-BE49-F238E27FC236}">
                  <a16:creationId xmlns:a16="http://schemas.microsoft.com/office/drawing/2014/main" id="{98870B37-5BBB-F8FA-263B-CD52F759F71D}"/>
                </a:ext>
              </a:extLst>
            </p:cNvPr>
            <p:cNvSpPr>
              <a:spLocks noChangeShapeType="1"/>
            </p:cNvSpPr>
            <p:nvPr/>
          </p:nvSpPr>
          <p:spPr bwMode="auto">
            <a:xfrm>
              <a:off x="3525521"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0" name="Line 154">
              <a:extLst>
                <a:ext uri="{FF2B5EF4-FFF2-40B4-BE49-F238E27FC236}">
                  <a16:creationId xmlns:a16="http://schemas.microsoft.com/office/drawing/2014/main" id="{E78BF2E7-2AAE-D70E-8965-D50C35EB9E3E}"/>
                </a:ext>
              </a:extLst>
            </p:cNvPr>
            <p:cNvSpPr>
              <a:spLocks noChangeShapeType="1"/>
            </p:cNvSpPr>
            <p:nvPr/>
          </p:nvSpPr>
          <p:spPr bwMode="auto">
            <a:xfrm>
              <a:off x="356679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1" name="Line 155">
              <a:extLst>
                <a:ext uri="{FF2B5EF4-FFF2-40B4-BE49-F238E27FC236}">
                  <a16:creationId xmlns:a16="http://schemas.microsoft.com/office/drawing/2014/main" id="{99254A89-307B-6E60-DDB0-931654715577}"/>
                </a:ext>
              </a:extLst>
            </p:cNvPr>
            <p:cNvSpPr>
              <a:spLocks noChangeShapeType="1"/>
            </p:cNvSpPr>
            <p:nvPr/>
          </p:nvSpPr>
          <p:spPr bwMode="auto">
            <a:xfrm>
              <a:off x="3606483"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2" name="Line 156">
              <a:extLst>
                <a:ext uri="{FF2B5EF4-FFF2-40B4-BE49-F238E27FC236}">
                  <a16:creationId xmlns:a16="http://schemas.microsoft.com/office/drawing/2014/main" id="{8F3881E6-204B-EB20-C0BD-4583A83B0094}"/>
                </a:ext>
              </a:extLst>
            </p:cNvPr>
            <p:cNvSpPr>
              <a:spLocks noChangeShapeType="1"/>
            </p:cNvSpPr>
            <p:nvPr/>
          </p:nvSpPr>
          <p:spPr bwMode="auto">
            <a:xfrm>
              <a:off x="364775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3" name="Line 157">
              <a:extLst>
                <a:ext uri="{FF2B5EF4-FFF2-40B4-BE49-F238E27FC236}">
                  <a16:creationId xmlns:a16="http://schemas.microsoft.com/office/drawing/2014/main" id="{239E442C-FBDF-4C48-A8BF-165DA78AA539}"/>
                </a:ext>
              </a:extLst>
            </p:cNvPr>
            <p:cNvSpPr>
              <a:spLocks noChangeShapeType="1"/>
            </p:cNvSpPr>
            <p:nvPr/>
          </p:nvSpPr>
          <p:spPr bwMode="auto">
            <a:xfrm>
              <a:off x="368903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4" name="Line 158">
              <a:extLst>
                <a:ext uri="{FF2B5EF4-FFF2-40B4-BE49-F238E27FC236}">
                  <a16:creationId xmlns:a16="http://schemas.microsoft.com/office/drawing/2014/main" id="{6D1EDAA6-9E8E-3355-A0D2-F670A6063C6A}"/>
                </a:ext>
              </a:extLst>
            </p:cNvPr>
            <p:cNvSpPr>
              <a:spLocks noChangeShapeType="1"/>
            </p:cNvSpPr>
            <p:nvPr/>
          </p:nvSpPr>
          <p:spPr bwMode="auto">
            <a:xfrm>
              <a:off x="3728721"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5" name="Line 159">
              <a:extLst>
                <a:ext uri="{FF2B5EF4-FFF2-40B4-BE49-F238E27FC236}">
                  <a16:creationId xmlns:a16="http://schemas.microsoft.com/office/drawing/2014/main" id="{7E1A6DAE-7454-E659-0DC5-723AF6BE27BC}"/>
                </a:ext>
              </a:extLst>
            </p:cNvPr>
            <p:cNvSpPr>
              <a:spLocks noChangeShapeType="1"/>
            </p:cNvSpPr>
            <p:nvPr/>
          </p:nvSpPr>
          <p:spPr bwMode="auto">
            <a:xfrm>
              <a:off x="376999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6" name="Line 160">
              <a:extLst>
                <a:ext uri="{FF2B5EF4-FFF2-40B4-BE49-F238E27FC236}">
                  <a16:creationId xmlns:a16="http://schemas.microsoft.com/office/drawing/2014/main" id="{6B4572DC-127A-034E-816D-8137D39DE09B}"/>
                </a:ext>
              </a:extLst>
            </p:cNvPr>
            <p:cNvSpPr>
              <a:spLocks noChangeShapeType="1"/>
            </p:cNvSpPr>
            <p:nvPr/>
          </p:nvSpPr>
          <p:spPr bwMode="auto">
            <a:xfrm>
              <a:off x="381127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7" name="Line 161">
              <a:extLst>
                <a:ext uri="{FF2B5EF4-FFF2-40B4-BE49-F238E27FC236}">
                  <a16:creationId xmlns:a16="http://schemas.microsoft.com/office/drawing/2014/main" id="{704CCD36-D2A1-6D89-CC79-1B1E309234AC}"/>
                </a:ext>
              </a:extLst>
            </p:cNvPr>
            <p:cNvSpPr>
              <a:spLocks noChangeShapeType="1"/>
            </p:cNvSpPr>
            <p:nvPr/>
          </p:nvSpPr>
          <p:spPr bwMode="auto">
            <a:xfrm>
              <a:off x="385254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8" name="Line 162">
              <a:extLst>
                <a:ext uri="{FF2B5EF4-FFF2-40B4-BE49-F238E27FC236}">
                  <a16:creationId xmlns:a16="http://schemas.microsoft.com/office/drawing/2014/main" id="{52F19B45-6F5F-EAE4-469C-8F38D82FB72D}"/>
                </a:ext>
              </a:extLst>
            </p:cNvPr>
            <p:cNvSpPr>
              <a:spLocks noChangeShapeType="1"/>
            </p:cNvSpPr>
            <p:nvPr/>
          </p:nvSpPr>
          <p:spPr bwMode="auto">
            <a:xfrm>
              <a:off x="389223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9" name="Line 163">
              <a:extLst>
                <a:ext uri="{FF2B5EF4-FFF2-40B4-BE49-F238E27FC236}">
                  <a16:creationId xmlns:a16="http://schemas.microsoft.com/office/drawing/2014/main" id="{75CEF7FA-D5F6-0943-1332-5CE025D9BBA9}"/>
                </a:ext>
              </a:extLst>
            </p:cNvPr>
            <p:cNvSpPr>
              <a:spLocks noChangeShapeType="1"/>
            </p:cNvSpPr>
            <p:nvPr/>
          </p:nvSpPr>
          <p:spPr bwMode="auto">
            <a:xfrm>
              <a:off x="393350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0" name="Line 164">
              <a:extLst>
                <a:ext uri="{FF2B5EF4-FFF2-40B4-BE49-F238E27FC236}">
                  <a16:creationId xmlns:a16="http://schemas.microsoft.com/office/drawing/2014/main" id="{627E5EBA-4394-3598-C9CD-7198DBC1AEF5}"/>
                </a:ext>
              </a:extLst>
            </p:cNvPr>
            <p:cNvSpPr>
              <a:spLocks noChangeShapeType="1"/>
            </p:cNvSpPr>
            <p:nvPr/>
          </p:nvSpPr>
          <p:spPr bwMode="auto">
            <a:xfrm>
              <a:off x="397478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1" name="Line 165">
              <a:extLst>
                <a:ext uri="{FF2B5EF4-FFF2-40B4-BE49-F238E27FC236}">
                  <a16:creationId xmlns:a16="http://schemas.microsoft.com/office/drawing/2014/main" id="{8F0073A0-2F14-684D-1A81-E81ABB15A865}"/>
                </a:ext>
              </a:extLst>
            </p:cNvPr>
            <p:cNvSpPr>
              <a:spLocks noChangeShapeType="1"/>
            </p:cNvSpPr>
            <p:nvPr/>
          </p:nvSpPr>
          <p:spPr bwMode="auto">
            <a:xfrm>
              <a:off x="401447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2" name="Line 166">
              <a:extLst>
                <a:ext uri="{FF2B5EF4-FFF2-40B4-BE49-F238E27FC236}">
                  <a16:creationId xmlns:a16="http://schemas.microsoft.com/office/drawing/2014/main" id="{F8D29160-BAAA-7939-2F20-F85BA9F84024}"/>
                </a:ext>
              </a:extLst>
            </p:cNvPr>
            <p:cNvSpPr>
              <a:spLocks noChangeShapeType="1"/>
            </p:cNvSpPr>
            <p:nvPr/>
          </p:nvSpPr>
          <p:spPr bwMode="auto">
            <a:xfrm>
              <a:off x="405574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3" name="Line 167">
              <a:extLst>
                <a:ext uri="{FF2B5EF4-FFF2-40B4-BE49-F238E27FC236}">
                  <a16:creationId xmlns:a16="http://schemas.microsoft.com/office/drawing/2014/main" id="{4D7E3468-33BB-239F-C791-39C63693263E}"/>
                </a:ext>
              </a:extLst>
            </p:cNvPr>
            <p:cNvSpPr>
              <a:spLocks noChangeShapeType="1"/>
            </p:cNvSpPr>
            <p:nvPr/>
          </p:nvSpPr>
          <p:spPr bwMode="auto">
            <a:xfrm>
              <a:off x="409702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4" name="Line 168">
              <a:extLst>
                <a:ext uri="{FF2B5EF4-FFF2-40B4-BE49-F238E27FC236}">
                  <a16:creationId xmlns:a16="http://schemas.microsoft.com/office/drawing/2014/main" id="{E73B08D8-BD3A-960C-0745-5C3EFA05486F}"/>
                </a:ext>
              </a:extLst>
            </p:cNvPr>
            <p:cNvSpPr>
              <a:spLocks noChangeShapeType="1"/>
            </p:cNvSpPr>
            <p:nvPr/>
          </p:nvSpPr>
          <p:spPr bwMode="auto">
            <a:xfrm>
              <a:off x="4136708"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5" name="Line 169">
              <a:extLst>
                <a:ext uri="{FF2B5EF4-FFF2-40B4-BE49-F238E27FC236}">
                  <a16:creationId xmlns:a16="http://schemas.microsoft.com/office/drawing/2014/main" id="{4C260FF9-F578-CC47-34E1-77404B346AFA}"/>
                </a:ext>
              </a:extLst>
            </p:cNvPr>
            <p:cNvSpPr>
              <a:spLocks noChangeShapeType="1"/>
            </p:cNvSpPr>
            <p:nvPr/>
          </p:nvSpPr>
          <p:spPr bwMode="auto">
            <a:xfrm>
              <a:off x="4176396"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6" name="Line 170">
              <a:extLst>
                <a:ext uri="{FF2B5EF4-FFF2-40B4-BE49-F238E27FC236}">
                  <a16:creationId xmlns:a16="http://schemas.microsoft.com/office/drawing/2014/main" id="{EADD7A2B-38B6-74F1-B5C2-912486D8B252}"/>
                </a:ext>
              </a:extLst>
            </p:cNvPr>
            <p:cNvSpPr>
              <a:spLocks noChangeShapeType="1"/>
            </p:cNvSpPr>
            <p:nvPr/>
          </p:nvSpPr>
          <p:spPr bwMode="auto">
            <a:xfrm>
              <a:off x="4217671"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7" name="Line 171">
              <a:extLst>
                <a:ext uri="{FF2B5EF4-FFF2-40B4-BE49-F238E27FC236}">
                  <a16:creationId xmlns:a16="http://schemas.microsoft.com/office/drawing/2014/main" id="{774AA2F4-7DD6-6E81-D596-7016D1F52550}"/>
                </a:ext>
              </a:extLst>
            </p:cNvPr>
            <p:cNvSpPr>
              <a:spLocks noChangeShapeType="1"/>
            </p:cNvSpPr>
            <p:nvPr/>
          </p:nvSpPr>
          <p:spPr bwMode="auto">
            <a:xfrm>
              <a:off x="4258946"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8" name="Line 172">
              <a:extLst>
                <a:ext uri="{FF2B5EF4-FFF2-40B4-BE49-F238E27FC236}">
                  <a16:creationId xmlns:a16="http://schemas.microsoft.com/office/drawing/2014/main" id="{5947FF9B-0017-D3F1-7137-5A20DBDC9028}"/>
                </a:ext>
              </a:extLst>
            </p:cNvPr>
            <p:cNvSpPr>
              <a:spLocks noChangeShapeType="1"/>
            </p:cNvSpPr>
            <p:nvPr/>
          </p:nvSpPr>
          <p:spPr bwMode="auto">
            <a:xfrm>
              <a:off x="4298633"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9" name="Line 173">
              <a:extLst>
                <a:ext uri="{FF2B5EF4-FFF2-40B4-BE49-F238E27FC236}">
                  <a16:creationId xmlns:a16="http://schemas.microsoft.com/office/drawing/2014/main" id="{C386D82A-2511-E2E1-E744-89B5794434A9}"/>
                </a:ext>
              </a:extLst>
            </p:cNvPr>
            <p:cNvSpPr>
              <a:spLocks noChangeShapeType="1"/>
            </p:cNvSpPr>
            <p:nvPr/>
          </p:nvSpPr>
          <p:spPr bwMode="auto">
            <a:xfrm>
              <a:off x="433990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0" name="Line 174">
              <a:extLst>
                <a:ext uri="{FF2B5EF4-FFF2-40B4-BE49-F238E27FC236}">
                  <a16:creationId xmlns:a16="http://schemas.microsoft.com/office/drawing/2014/main" id="{F68D65F5-94F5-123F-ABB5-2D97CA4C8715}"/>
                </a:ext>
              </a:extLst>
            </p:cNvPr>
            <p:cNvSpPr>
              <a:spLocks noChangeShapeType="1"/>
            </p:cNvSpPr>
            <p:nvPr/>
          </p:nvSpPr>
          <p:spPr bwMode="auto">
            <a:xfrm>
              <a:off x="438118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1" name="Line 175">
              <a:extLst>
                <a:ext uri="{FF2B5EF4-FFF2-40B4-BE49-F238E27FC236}">
                  <a16:creationId xmlns:a16="http://schemas.microsoft.com/office/drawing/2014/main" id="{CB2DE162-CCD9-3CCD-030F-CE17DFB43C67}"/>
                </a:ext>
              </a:extLst>
            </p:cNvPr>
            <p:cNvSpPr>
              <a:spLocks noChangeShapeType="1"/>
            </p:cNvSpPr>
            <p:nvPr/>
          </p:nvSpPr>
          <p:spPr bwMode="auto">
            <a:xfrm>
              <a:off x="442087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2" name="Line 176">
              <a:extLst>
                <a:ext uri="{FF2B5EF4-FFF2-40B4-BE49-F238E27FC236}">
                  <a16:creationId xmlns:a16="http://schemas.microsoft.com/office/drawing/2014/main" id="{0A225772-47EA-0094-D5B1-56A398DE163A}"/>
                </a:ext>
              </a:extLst>
            </p:cNvPr>
            <p:cNvSpPr>
              <a:spLocks noChangeShapeType="1"/>
            </p:cNvSpPr>
            <p:nvPr/>
          </p:nvSpPr>
          <p:spPr bwMode="auto">
            <a:xfrm>
              <a:off x="446214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3" name="Line 177">
              <a:extLst>
                <a:ext uri="{FF2B5EF4-FFF2-40B4-BE49-F238E27FC236}">
                  <a16:creationId xmlns:a16="http://schemas.microsoft.com/office/drawing/2014/main" id="{0C923E8E-BE20-7402-C6F2-29A471C91C9D}"/>
                </a:ext>
              </a:extLst>
            </p:cNvPr>
            <p:cNvSpPr>
              <a:spLocks noChangeShapeType="1"/>
            </p:cNvSpPr>
            <p:nvPr/>
          </p:nvSpPr>
          <p:spPr bwMode="auto">
            <a:xfrm>
              <a:off x="450342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4" name="Line 178">
              <a:extLst>
                <a:ext uri="{FF2B5EF4-FFF2-40B4-BE49-F238E27FC236}">
                  <a16:creationId xmlns:a16="http://schemas.microsoft.com/office/drawing/2014/main" id="{A0612815-3C5F-B120-A175-E42D9F951E0E}"/>
                </a:ext>
              </a:extLst>
            </p:cNvPr>
            <p:cNvSpPr>
              <a:spLocks noChangeShapeType="1"/>
            </p:cNvSpPr>
            <p:nvPr/>
          </p:nvSpPr>
          <p:spPr bwMode="auto">
            <a:xfrm>
              <a:off x="4543108"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5" name="Line 179">
              <a:extLst>
                <a:ext uri="{FF2B5EF4-FFF2-40B4-BE49-F238E27FC236}">
                  <a16:creationId xmlns:a16="http://schemas.microsoft.com/office/drawing/2014/main" id="{668D39E7-49FC-BD8F-C376-EE92840D107E}"/>
                </a:ext>
              </a:extLst>
            </p:cNvPr>
            <p:cNvSpPr>
              <a:spLocks noChangeShapeType="1"/>
            </p:cNvSpPr>
            <p:nvPr/>
          </p:nvSpPr>
          <p:spPr bwMode="auto">
            <a:xfrm>
              <a:off x="458438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6" name="Line 180">
              <a:extLst>
                <a:ext uri="{FF2B5EF4-FFF2-40B4-BE49-F238E27FC236}">
                  <a16:creationId xmlns:a16="http://schemas.microsoft.com/office/drawing/2014/main" id="{F1123593-F45E-860E-A0D4-4CA4F91D5011}"/>
                </a:ext>
              </a:extLst>
            </p:cNvPr>
            <p:cNvSpPr>
              <a:spLocks noChangeShapeType="1"/>
            </p:cNvSpPr>
            <p:nvPr/>
          </p:nvSpPr>
          <p:spPr bwMode="auto">
            <a:xfrm>
              <a:off x="462565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7" name="Line 181">
              <a:extLst>
                <a:ext uri="{FF2B5EF4-FFF2-40B4-BE49-F238E27FC236}">
                  <a16:creationId xmlns:a16="http://schemas.microsoft.com/office/drawing/2014/main" id="{A499B18E-B77C-6FF2-BBF4-FF0E6155C4C5}"/>
                </a:ext>
              </a:extLst>
            </p:cNvPr>
            <p:cNvSpPr>
              <a:spLocks noChangeShapeType="1"/>
            </p:cNvSpPr>
            <p:nvPr/>
          </p:nvSpPr>
          <p:spPr bwMode="auto">
            <a:xfrm>
              <a:off x="466693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8" name="Line 182">
              <a:extLst>
                <a:ext uri="{FF2B5EF4-FFF2-40B4-BE49-F238E27FC236}">
                  <a16:creationId xmlns:a16="http://schemas.microsoft.com/office/drawing/2014/main" id="{4EE51831-DC8A-EE44-53DA-55080FE61ADB}"/>
                </a:ext>
              </a:extLst>
            </p:cNvPr>
            <p:cNvSpPr>
              <a:spLocks noChangeShapeType="1"/>
            </p:cNvSpPr>
            <p:nvPr/>
          </p:nvSpPr>
          <p:spPr bwMode="auto">
            <a:xfrm>
              <a:off x="470662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9" name="Line 183">
              <a:extLst>
                <a:ext uri="{FF2B5EF4-FFF2-40B4-BE49-F238E27FC236}">
                  <a16:creationId xmlns:a16="http://schemas.microsoft.com/office/drawing/2014/main" id="{671FE948-2E03-5DB6-96C1-4140AF2A0B4C}"/>
                </a:ext>
              </a:extLst>
            </p:cNvPr>
            <p:cNvSpPr>
              <a:spLocks noChangeShapeType="1"/>
            </p:cNvSpPr>
            <p:nvPr/>
          </p:nvSpPr>
          <p:spPr bwMode="auto">
            <a:xfrm>
              <a:off x="474789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0" name="Line 184">
              <a:extLst>
                <a:ext uri="{FF2B5EF4-FFF2-40B4-BE49-F238E27FC236}">
                  <a16:creationId xmlns:a16="http://schemas.microsoft.com/office/drawing/2014/main" id="{EC92FF41-5964-1814-98F7-722A9C55E9E6}"/>
                </a:ext>
              </a:extLst>
            </p:cNvPr>
            <p:cNvSpPr>
              <a:spLocks noChangeShapeType="1"/>
            </p:cNvSpPr>
            <p:nvPr/>
          </p:nvSpPr>
          <p:spPr bwMode="auto">
            <a:xfrm>
              <a:off x="478917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1" name="Line 185">
              <a:extLst>
                <a:ext uri="{FF2B5EF4-FFF2-40B4-BE49-F238E27FC236}">
                  <a16:creationId xmlns:a16="http://schemas.microsoft.com/office/drawing/2014/main" id="{C54278FD-BCF9-4723-E362-69617FC7395A}"/>
                </a:ext>
              </a:extLst>
            </p:cNvPr>
            <p:cNvSpPr>
              <a:spLocks noChangeShapeType="1"/>
            </p:cNvSpPr>
            <p:nvPr/>
          </p:nvSpPr>
          <p:spPr bwMode="auto">
            <a:xfrm>
              <a:off x="482885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2" name="Line 186">
              <a:extLst>
                <a:ext uri="{FF2B5EF4-FFF2-40B4-BE49-F238E27FC236}">
                  <a16:creationId xmlns:a16="http://schemas.microsoft.com/office/drawing/2014/main" id="{B65CFC7C-1455-4AE1-BE92-4ED9392362F8}"/>
                </a:ext>
              </a:extLst>
            </p:cNvPr>
            <p:cNvSpPr>
              <a:spLocks noChangeShapeType="1"/>
            </p:cNvSpPr>
            <p:nvPr/>
          </p:nvSpPr>
          <p:spPr bwMode="auto">
            <a:xfrm>
              <a:off x="487013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3" name="Line 187">
              <a:extLst>
                <a:ext uri="{FF2B5EF4-FFF2-40B4-BE49-F238E27FC236}">
                  <a16:creationId xmlns:a16="http://schemas.microsoft.com/office/drawing/2014/main" id="{9AEAA795-B39E-5205-5016-4BD8B6910F58}"/>
                </a:ext>
              </a:extLst>
            </p:cNvPr>
            <p:cNvSpPr>
              <a:spLocks noChangeShapeType="1"/>
            </p:cNvSpPr>
            <p:nvPr/>
          </p:nvSpPr>
          <p:spPr bwMode="auto">
            <a:xfrm>
              <a:off x="4909821"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4" name="Line 188">
              <a:extLst>
                <a:ext uri="{FF2B5EF4-FFF2-40B4-BE49-F238E27FC236}">
                  <a16:creationId xmlns:a16="http://schemas.microsoft.com/office/drawing/2014/main" id="{9AFCF388-344C-B2B7-D082-BBCAC7675B22}"/>
                </a:ext>
              </a:extLst>
            </p:cNvPr>
            <p:cNvSpPr>
              <a:spLocks noChangeShapeType="1"/>
            </p:cNvSpPr>
            <p:nvPr/>
          </p:nvSpPr>
          <p:spPr bwMode="auto">
            <a:xfrm>
              <a:off x="4949508" y="2919413"/>
              <a:ext cx="12700"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5" name="Line 189">
              <a:extLst>
                <a:ext uri="{FF2B5EF4-FFF2-40B4-BE49-F238E27FC236}">
                  <a16:creationId xmlns:a16="http://schemas.microsoft.com/office/drawing/2014/main" id="{78629498-42F6-3DEA-6B28-FD2BA1CAB2DA}"/>
                </a:ext>
              </a:extLst>
            </p:cNvPr>
            <p:cNvSpPr>
              <a:spLocks noChangeShapeType="1"/>
            </p:cNvSpPr>
            <p:nvPr/>
          </p:nvSpPr>
          <p:spPr bwMode="auto">
            <a:xfrm>
              <a:off x="4990783"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6" name="Line 190">
              <a:extLst>
                <a:ext uri="{FF2B5EF4-FFF2-40B4-BE49-F238E27FC236}">
                  <a16:creationId xmlns:a16="http://schemas.microsoft.com/office/drawing/2014/main" id="{1DD3C500-ED8C-8993-10D2-30EC4572B0B1}"/>
                </a:ext>
              </a:extLst>
            </p:cNvPr>
            <p:cNvSpPr>
              <a:spLocks noChangeShapeType="1"/>
            </p:cNvSpPr>
            <p:nvPr/>
          </p:nvSpPr>
          <p:spPr bwMode="auto">
            <a:xfrm>
              <a:off x="5032058"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7" name="Line 191">
              <a:extLst>
                <a:ext uri="{FF2B5EF4-FFF2-40B4-BE49-F238E27FC236}">
                  <a16:creationId xmlns:a16="http://schemas.microsoft.com/office/drawing/2014/main" id="{02771A16-3692-8D44-66F8-5193F92D3F9E}"/>
                </a:ext>
              </a:extLst>
            </p:cNvPr>
            <p:cNvSpPr>
              <a:spLocks noChangeShapeType="1"/>
            </p:cNvSpPr>
            <p:nvPr/>
          </p:nvSpPr>
          <p:spPr bwMode="auto">
            <a:xfrm>
              <a:off x="507333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8" name="Line 192">
              <a:extLst>
                <a:ext uri="{FF2B5EF4-FFF2-40B4-BE49-F238E27FC236}">
                  <a16:creationId xmlns:a16="http://schemas.microsoft.com/office/drawing/2014/main" id="{4E800DBD-2F0A-5329-D044-28EE61803D74}"/>
                </a:ext>
              </a:extLst>
            </p:cNvPr>
            <p:cNvSpPr>
              <a:spLocks noChangeShapeType="1"/>
            </p:cNvSpPr>
            <p:nvPr/>
          </p:nvSpPr>
          <p:spPr bwMode="auto">
            <a:xfrm>
              <a:off x="511302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9" name="Line 193">
              <a:extLst>
                <a:ext uri="{FF2B5EF4-FFF2-40B4-BE49-F238E27FC236}">
                  <a16:creationId xmlns:a16="http://schemas.microsoft.com/office/drawing/2014/main" id="{DBAA601A-3DEF-66C9-FD1C-9363B37273C5}"/>
                </a:ext>
              </a:extLst>
            </p:cNvPr>
            <p:cNvSpPr>
              <a:spLocks noChangeShapeType="1"/>
            </p:cNvSpPr>
            <p:nvPr/>
          </p:nvSpPr>
          <p:spPr bwMode="auto">
            <a:xfrm>
              <a:off x="515429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0" name="Line 194">
              <a:extLst>
                <a:ext uri="{FF2B5EF4-FFF2-40B4-BE49-F238E27FC236}">
                  <a16:creationId xmlns:a16="http://schemas.microsoft.com/office/drawing/2014/main" id="{A6990453-B09A-9B74-D954-6842BEE90B2F}"/>
                </a:ext>
              </a:extLst>
            </p:cNvPr>
            <p:cNvSpPr>
              <a:spLocks noChangeShapeType="1"/>
            </p:cNvSpPr>
            <p:nvPr/>
          </p:nvSpPr>
          <p:spPr bwMode="auto">
            <a:xfrm>
              <a:off x="519557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1" name="Line 195">
              <a:extLst>
                <a:ext uri="{FF2B5EF4-FFF2-40B4-BE49-F238E27FC236}">
                  <a16:creationId xmlns:a16="http://schemas.microsoft.com/office/drawing/2014/main" id="{879883DD-300C-C343-63A9-FFD22F7622BB}"/>
                </a:ext>
              </a:extLst>
            </p:cNvPr>
            <p:cNvSpPr>
              <a:spLocks noChangeShapeType="1"/>
            </p:cNvSpPr>
            <p:nvPr/>
          </p:nvSpPr>
          <p:spPr bwMode="auto">
            <a:xfrm>
              <a:off x="523525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2" name="Line 196">
              <a:extLst>
                <a:ext uri="{FF2B5EF4-FFF2-40B4-BE49-F238E27FC236}">
                  <a16:creationId xmlns:a16="http://schemas.microsoft.com/office/drawing/2014/main" id="{DDE20981-0598-013A-183B-530826935294}"/>
                </a:ext>
              </a:extLst>
            </p:cNvPr>
            <p:cNvSpPr>
              <a:spLocks noChangeShapeType="1"/>
            </p:cNvSpPr>
            <p:nvPr/>
          </p:nvSpPr>
          <p:spPr bwMode="auto">
            <a:xfrm>
              <a:off x="527653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3" name="Line 197">
              <a:extLst>
                <a:ext uri="{FF2B5EF4-FFF2-40B4-BE49-F238E27FC236}">
                  <a16:creationId xmlns:a16="http://schemas.microsoft.com/office/drawing/2014/main" id="{74C83E11-98E0-77DA-C5AB-92119BDDAE83}"/>
                </a:ext>
              </a:extLst>
            </p:cNvPr>
            <p:cNvSpPr>
              <a:spLocks noChangeShapeType="1"/>
            </p:cNvSpPr>
            <p:nvPr/>
          </p:nvSpPr>
          <p:spPr bwMode="auto">
            <a:xfrm>
              <a:off x="531780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4" name="Line 198">
              <a:extLst>
                <a:ext uri="{FF2B5EF4-FFF2-40B4-BE49-F238E27FC236}">
                  <a16:creationId xmlns:a16="http://schemas.microsoft.com/office/drawing/2014/main" id="{304379D9-CD4B-FEF0-0EC3-C804F08A3CC3}"/>
                </a:ext>
              </a:extLst>
            </p:cNvPr>
            <p:cNvSpPr>
              <a:spLocks noChangeShapeType="1"/>
            </p:cNvSpPr>
            <p:nvPr/>
          </p:nvSpPr>
          <p:spPr bwMode="auto">
            <a:xfrm>
              <a:off x="5357496"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5" name="Line 199">
              <a:extLst>
                <a:ext uri="{FF2B5EF4-FFF2-40B4-BE49-F238E27FC236}">
                  <a16:creationId xmlns:a16="http://schemas.microsoft.com/office/drawing/2014/main" id="{1FB588DF-B551-9B9F-5A88-2D1EFDCAE3D6}"/>
                </a:ext>
              </a:extLst>
            </p:cNvPr>
            <p:cNvSpPr>
              <a:spLocks noChangeShapeType="1"/>
            </p:cNvSpPr>
            <p:nvPr/>
          </p:nvSpPr>
          <p:spPr bwMode="auto">
            <a:xfrm>
              <a:off x="539877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6" name="Line 200">
              <a:extLst>
                <a:ext uri="{FF2B5EF4-FFF2-40B4-BE49-F238E27FC236}">
                  <a16:creationId xmlns:a16="http://schemas.microsoft.com/office/drawing/2014/main" id="{E122BDA9-E672-4DC4-CCA0-2EB418D773E9}"/>
                </a:ext>
              </a:extLst>
            </p:cNvPr>
            <p:cNvSpPr>
              <a:spLocks noChangeShapeType="1"/>
            </p:cNvSpPr>
            <p:nvPr/>
          </p:nvSpPr>
          <p:spPr bwMode="auto">
            <a:xfrm>
              <a:off x="544004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7" name="Line 201">
              <a:extLst>
                <a:ext uri="{FF2B5EF4-FFF2-40B4-BE49-F238E27FC236}">
                  <a16:creationId xmlns:a16="http://schemas.microsoft.com/office/drawing/2014/main" id="{BE384930-A298-27CE-C795-6363E5BF140B}"/>
                </a:ext>
              </a:extLst>
            </p:cNvPr>
            <p:cNvSpPr>
              <a:spLocks noChangeShapeType="1"/>
            </p:cNvSpPr>
            <p:nvPr/>
          </p:nvSpPr>
          <p:spPr bwMode="auto">
            <a:xfrm>
              <a:off x="5479733"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8" name="Line 202">
              <a:extLst>
                <a:ext uri="{FF2B5EF4-FFF2-40B4-BE49-F238E27FC236}">
                  <a16:creationId xmlns:a16="http://schemas.microsoft.com/office/drawing/2014/main" id="{6F14701F-3D21-9C74-C011-8EAB03BD74DF}"/>
                </a:ext>
              </a:extLst>
            </p:cNvPr>
            <p:cNvSpPr>
              <a:spLocks noChangeShapeType="1"/>
            </p:cNvSpPr>
            <p:nvPr/>
          </p:nvSpPr>
          <p:spPr bwMode="auto">
            <a:xfrm>
              <a:off x="552100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209" name="Group 435">
              <a:extLst>
                <a:ext uri="{FF2B5EF4-FFF2-40B4-BE49-F238E27FC236}">
                  <a16:creationId xmlns:a16="http://schemas.microsoft.com/office/drawing/2014/main" id="{D401545A-5F91-72A2-BE12-AB33CC37A70F}"/>
                </a:ext>
              </a:extLst>
            </p:cNvPr>
            <p:cNvGrpSpPr>
              <a:grpSpLocks/>
            </p:cNvGrpSpPr>
            <p:nvPr/>
          </p:nvGrpSpPr>
          <p:grpSpPr bwMode="auto">
            <a:xfrm>
              <a:off x="3306446" y="2919413"/>
              <a:ext cx="5602288" cy="1704975"/>
              <a:chOff x="2120900" y="2329996"/>
              <a:chExt cx="6270626" cy="1979613"/>
            </a:xfrm>
          </p:grpSpPr>
          <p:sp>
            <p:nvSpPr>
              <p:cNvPr id="239" name="Line 204">
                <a:extLst>
                  <a:ext uri="{FF2B5EF4-FFF2-40B4-BE49-F238E27FC236}">
                    <a16:creationId xmlns:a16="http://schemas.microsoft.com/office/drawing/2014/main" id="{55F079B0-3726-E1AE-4C16-C976965815DE}"/>
                  </a:ext>
                </a:extLst>
              </p:cNvPr>
              <p:cNvSpPr>
                <a:spLocks noChangeShapeType="1"/>
              </p:cNvSpPr>
              <p:nvPr/>
            </p:nvSpPr>
            <p:spPr bwMode="auto">
              <a:xfrm>
                <a:off x="46450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0" name="Line 205">
                <a:extLst>
                  <a:ext uri="{FF2B5EF4-FFF2-40B4-BE49-F238E27FC236}">
                    <a16:creationId xmlns:a16="http://schemas.microsoft.com/office/drawing/2014/main" id="{DD5E0296-0238-5D16-A62F-3958C2C6E863}"/>
                  </a:ext>
                </a:extLst>
              </p:cNvPr>
              <p:cNvSpPr>
                <a:spLocks noChangeShapeType="1"/>
              </p:cNvSpPr>
              <p:nvPr/>
            </p:nvSpPr>
            <p:spPr bwMode="auto">
              <a:xfrm>
                <a:off x="46910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1" name="Line 206">
                <a:extLst>
                  <a:ext uri="{FF2B5EF4-FFF2-40B4-BE49-F238E27FC236}">
                    <a16:creationId xmlns:a16="http://schemas.microsoft.com/office/drawing/2014/main" id="{D7AA0C33-13CF-3B05-947A-179554A3B133}"/>
                  </a:ext>
                </a:extLst>
              </p:cNvPr>
              <p:cNvSpPr>
                <a:spLocks noChangeShapeType="1"/>
              </p:cNvSpPr>
              <p:nvPr/>
            </p:nvSpPr>
            <p:spPr bwMode="auto">
              <a:xfrm>
                <a:off x="47355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2" name="Line 207">
                <a:extLst>
                  <a:ext uri="{FF2B5EF4-FFF2-40B4-BE49-F238E27FC236}">
                    <a16:creationId xmlns:a16="http://schemas.microsoft.com/office/drawing/2014/main" id="{F947CC80-8EB5-2DBD-5501-C42EB89A3E2F}"/>
                  </a:ext>
                </a:extLst>
              </p:cNvPr>
              <p:cNvSpPr>
                <a:spLocks noChangeShapeType="1"/>
              </p:cNvSpPr>
              <p:nvPr/>
            </p:nvSpPr>
            <p:spPr bwMode="auto">
              <a:xfrm>
                <a:off x="47815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3" name="Line 208">
                <a:extLst>
                  <a:ext uri="{FF2B5EF4-FFF2-40B4-BE49-F238E27FC236}">
                    <a16:creationId xmlns:a16="http://schemas.microsoft.com/office/drawing/2014/main" id="{36CD5A00-5157-CEEF-63EE-DBC8B6B2587B}"/>
                  </a:ext>
                </a:extLst>
              </p:cNvPr>
              <p:cNvSpPr>
                <a:spLocks noChangeShapeType="1"/>
              </p:cNvSpPr>
              <p:nvPr/>
            </p:nvSpPr>
            <p:spPr bwMode="auto">
              <a:xfrm>
                <a:off x="48275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4" name="Line 209">
                <a:extLst>
                  <a:ext uri="{FF2B5EF4-FFF2-40B4-BE49-F238E27FC236}">
                    <a16:creationId xmlns:a16="http://schemas.microsoft.com/office/drawing/2014/main" id="{ADE8EAF3-E12C-AF0D-4BFA-FB4C5BB9F7A4}"/>
                  </a:ext>
                </a:extLst>
              </p:cNvPr>
              <p:cNvSpPr>
                <a:spLocks noChangeShapeType="1"/>
              </p:cNvSpPr>
              <p:nvPr/>
            </p:nvSpPr>
            <p:spPr bwMode="auto">
              <a:xfrm>
                <a:off x="4872038"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5" name="Line 210">
                <a:extLst>
                  <a:ext uri="{FF2B5EF4-FFF2-40B4-BE49-F238E27FC236}">
                    <a16:creationId xmlns:a16="http://schemas.microsoft.com/office/drawing/2014/main" id="{667E3055-FCB5-6E37-76AB-E817549ADFA6}"/>
                  </a:ext>
                </a:extLst>
              </p:cNvPr>
              <p:cNvSpPr>
                <a:spLocks noChangeShapeType="1"/>
              </p:cNvSpPr>
              <p:nvPr/>
            </p:nvSpPr>
            <p:spPr bwMode="auto">
              <a:xfrm>
                <a:off x="49180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6" name="Line 211">
                <a:extLst>
                  <a:ext uri="{FF2B5EF4-FFF2-40B4-BE49-F238E27FC236}">
                    <a16:creationId xmlns:a16="http://schemas.microsoft.com/office/drawing/2014/main" id="{14695A25-0D72-A4C3-94DF-77150CB01EDA}"/>
                  </a:ext>
                </a:extLst>
              </p:cNvPr>
              <p:cNvSpPr>
                <a:spLocks noChangeShapeType="1"/>
              </p:cNvSpPr>
              <p:nvPr/>
            </p:nvSpPr>
            <p:spPr bwMode="auto">
              <a:xfrm>
                <a:off x="49641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7" name="Line 212">
                <a:extLst>
                  <a:ext uri="{FF2B5EF4-FFF2-40B4-BE49-F238E27FC236}">
                    <a16:creationId xmlns:a16="http://schemas.microsoft.com/office/drawing/2014/main" id="{85F860F0-0F53-C9CF-0FC4-7769E482A992}"/>
                  </a:ext>
                </a:extLst>
              </p:cNvPr>
              <p:cNvSpPr>
                <a:spLocks noChangeShapeType="1"/>
              </p:cNvSpPr>
              <p:nvPr/>
            </p:nvSpPr>
            <p:spPr bwMode="auto">
              <a:xfrm>
                <a:off x="5008563"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8" name="Line 213">
                <a:extLst>
                  <a:ext uri="{FF2B5EF4-FFF2-40B4-BE49-F238E27FC236}">
                    <a16:creationId xmlns:a16="http://schemas.microsoft.com/office/drawing/2014/main" id="{AA767502-4DC4-5D89-16A8-B2AB39B21DD8}"/>
                  </a:ext>
                </a:extLst>
              </p:cNvPr>
              <p:cNvSpPr>
                <a:spLocks noChangeShapeType="1"/>
              </p:cNvSpPr>
              <p:nvPr/>
            </p:nvSpPr>
            <p:spPr bwMode="auto">
              <a:xfrm>
                <a:off x="50546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9" name="Line 214">
                <a:extLst>
                  <a:ext uri="{FF2B5EF4-FFF2-40B4-BE49-F238E27FC236}">
                    <a16:creationId xmlns:a16="http://schemas.microsoft.com/office/drawing/2014/main" id="{CBC90B71-042E-4B83-E65F-66D9DAF52E09}"/>
                  </a:ext>
                </a:extLst>
              </p:cNvPr>
              <p:cNvSpPr>
                <a:spLocks noChangeShapeType="1"/>
              </p:cNvSpPr>
              <p:nvPr/>
            </p:nvSpPr>
            <p:spPr bwMode="auto">
              <a:xfrm>
                <a:off x="51006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0" name="Line 215">
                <a:extLst>
                  <a:ext uri="{FF2B5EF4-FFF2-40B4-BE49-F238E27FC236}">
                    <a16:creationId xmlns:a16="http://schemas.microsoft.com/office/drawing/2014/main" id="{A4913153-5EAB-6D93-ED88-675065688442}"/>
                  </a:ext>
                </a:extLst>
              </p:cNvPr>
              <p:cNvSpPr>
                <a:spLocks noChangeShapeType="1"/>
              </p:cNvSpPr>
              <p:nvPr/>
            </p:nvSpPr>
            <p:spPr bwMode="auto">
              <a:xfrm>
                <a:off x="51466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1" name="Line 216">
                <a:extLst>
                  <a:ext uri="{FF2B5EF4-FFF2-40B4-BE49-F238E27FC236}">
                    <a16:creationId xmlns:a16="http://schemas.microsoft.com/office/drawing/2014/main" id="{B15593F5-DB40-2BB9-E0B4-405FC7AD222F}"/>
                  </a:ext>
                </a:extLst>
              </p:cNvPr>
              <p:cNvSpPr>
                <a:spLocks noChangeShapeType="1"/>
              </p:cNvSpPr>
              <p:nvPr/>
            </p:nvSpPr>
            <p:spPr bwMode="auto">
              <a:xfrm>
                <a:off x="51911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2" name="Line 217">
                <a:extLst>
                  <a:ext uri="{FF2B5EF4-FFF2-40B4-BE49-F238E27FC236}">
                    <a16:creationId xmlns:a16="http://schemas.microsoft.com/office/drawing/2014/main" id="{9EBE40DE-2DD1-CDC5-5106-2F385DB06583}"/>
                  </a:ext>
                </a:extLst>
              </p:cNvPr>
              <p:cNvSpPr>
                <a:spLocks noChangeShapeType="1"/>
              </p:cNvSpPr>
              <p:nvPr/>
            </p:nvSpPr>
            <p:spPr bwMode="auto">
              <a:xfrm>
                <a:off x="52371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3" name="Line 218">
                <a:extLst>
                  <a:ext uri="{FF2B5EF4-FFF2-40B4-BE49-F238E27FC236}">
                    <a16:creationId xmlns:a16="http://schemas.microsoft.com/office/drawing/2014/main" id="{513E9E57-A07C-AFB6-288D-D422FF72C195}"/>
                  </a:ext>
                </a:extLst>
              </p:cNvPr>
              <p:cNvSpPr>
                <a:spLocks noChangeShapeType="1"/>
              </p:cNvSpPr>
              <p:nvPr/>
            </p:nvSpPr>
            <p:spPr bwMode="auto">
              <a:xfrm>
                <a:off x="52832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4" name="Line 219">
                <a:extLst>
                  <a:ext uri="{FF2B5EF4-FFF2-40B4-BE49-F238E27FC236}">
                    <a16:creationId xmlns:a16="http://schemas.microsoft.com/office/drawing/2014/main" id="{E76D97A4-CCB1-4FDA-CDBC-2332C824EB6F}"/>
                  </a:ext>
                </a:extLst>
              </p:cNvPr>
              <p:cNvSpPr>
                <a:spLocks noChangeShapeType="1"/>
              </p:cNvSpPr>
              <p:nvPr/>
            </p:nvSpPr>
            <p:spPr bwMode="auto">
              <a:xfrm>
                <a:off x="5327650"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5" name="Line 220">
                <a:extLst>
                  <a:ext uri="{FF2B5EF4-FFF2-40B4-BE49-F238E27FC236}">
                    <a16:creationId xmlns:a16="http://schemas.microsoft.com/office/drawing/2014/main" id="{FC66F910-A50B-5A09-BB52-7EE162F4997D}"/>
                  </a:ext>
                </a:extLst>
              </p:cNvPr>
              <p:cNvSpPr>
                <a:spLocks noChangeShapeType="1"/>
              </p:cNvSpPr>
              <p:nvPr/>
            </p:nvSpPr>
            <p:spPr bwMode="auto">
              <a:xfrm>
                <a:off x="53736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6" name="Line 221">
                <a:extLst>
                  <a:ext uri="{FF2B5EF4-FFF2-40B4-BE49-F238E27FC236}">
                    <a16:creationId xmlns:a16="http://schemas.microsoft.com/office/drawing/2014/main" id="{C526FC4F-FD8A-6758-FD93-03A60E440905}"/>
                  </a:ext>
                </a:extLst>
              </p:cNvPr>
              <p:cNvSpPr>
                <a:spLocks noChangeShapeType="1"/>
              </p:cNvSpPr>
              <p:nvPr/>
            </p:nvSpPr>
            <p:spPr bwMode="auto">
              <a:xfrm>
                <a:off x="54197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7" name="Line 222">
                <a:extLst>
                  <a:ext uri="{FF2B5EF4-FFF2-40B4-BE49-F238E27FC236}">
                    <a16:creationId xmlns:a16="http://schemas.microsoft.com/office/drawing/2014/main" id="{2262DD93-205C-25B0-821E-12AB14BE3BEB}"/>
                  </a:ext>
                </a:extLst>
              </p:cNvPr>
              <p:cNvSpPr>
                <a:spLocks noChangeShapeType="1"/>
              </p:cNvSpPr>
              <p:nvPr/>
            </p:nvSpPr>
            <p:spPr bwMode="auto">
              <a:xfrm>
                <a:off x="5464175"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8" name="Line 223">
                <a:extLst>
                  <a:ext uri="{FF2B5EF4-FFF2-40B4-BE49-F238E27FC236}">
                    <a16:creationId xmlns:a16="http://schemas.microsoft.com/office/drawing/2014/main" id="{24D9EF87-82CB-B6B9-B841-F4C187B7A913}"/>
                  </a:ext>
                </a:extLst>
              </p:cNvPr>
              <p:cNvSpPr>
                <a:spLocks noChangeShapeType="1"/>
              </p:cNvSpPr>
              <p:nvPr/>
            </p:nvSpPr>
            <p:spPr bwMode="auto">
              <a:xfrm>
                <a:off x="55102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9" name="Line 224">
                <a:extLst>
                  <a:ext uri="{FF2B5EF4-FFF2-40B4-BE49-F238E27FC236}">
                    <a16:creationId xmlns:a16="http://schemas.microsoft.com/office/drawing/2014/main" id="{434F00BD-D4B9-D5A9-4D9A-BC779AF94388}"/>
                  </a:ext>
                </a:extLst>
              </p:cNvPr>
              <p:cNvSpPr>
                <a:spLocks noChangeShapeType="1"/>
              </p:cNvSpPr>
              <p:nvPr/>
            </p:nvSpPr>
            <p:spPr bwMode="auto">
              <a:xfrm>
                <a:off x="55562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0" name="Line 225">
                <a:extLst>
                  <a:ext uri="{FF2B5EF4-FFF2-40B4-BE49-F238E27FC236}">
                    <a16:creationId xmlns:a16="http://schemas.microsoft.com/office/drawing/2014/main" id="{FDE55EF1-0313-D2D9-E44D-CA1F1BD2EC3A}"/>
                  </a:ext>
                </a:extLst>
              </p:cNvPr>
              <p:cNvSpPr>
                <a:spLocks noChangeShapeType="1"/>
              </p:cNvSpPr>
              <p:nvPr/>
            </p:nvSpPr>
            <p:spPr bwMode="auto">
              <a:xfrm>
                <a:off x="56022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1" name="Line 226">
                <a:extLst>
                  <a:ext uri="{FF2B5EF4-FFF2-40B4-BE49-F238E27FC236}">
                    <a16:creationId xmlns:a16="http://schemas.microsoft.com/office/drawing/2014/main" id="{EB0846CB-32EC-D396-C8D8-AEF44268BF83}"/>
                  </a:ext>
                </a:extLst>
              </p:cNvPr>
              <p:cNvSpPr>
                <a:spLocks noChangeShapeType="1"/>
              </p:cNvSpPr>
              <p:nvPr/>
            </p:nvSpPr>
            <p:spPr bwMode="auto">
              <a:xfrm>
                <a:off x="56467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2" name="Line 227">
                <a:extLst>
                  <a:ext uri="{FF2B5EF4-FFF2-40B4-BE49-F238E27FC236}">
                    <a16:creationId xmlns:a16="http://schemas.microsoft.com/office/drawing/2014/main" id="{B6EF1F1A-6184-A5AB-F65A-DB79210B201D}"/>
                  </a:ext>
                </a:extLst>
              </p:cNvPr>
              <p:cNvSpPr>
                <a:spLocks noChangeShapeType="1"/>
              </p:cNvSpPr>
              <p:nvPr/>
            </p:nvSpPr>
            <p:spPr bwMode="auto">
              <a:xfrm>
                <a:off x="56927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3" name="Line 228">
                <a:extLst>
                  <a:ext uri="{FF2B5EF4-FFF2-40B4-BE49-F238E27FC236}">
                    <a16:creationId xmlns:a16="http://schemas.microsoft.com/office/drawing/2014/main" id="{D3A4E097-0F09-42CA-0FC9-17CA4B668111}"/>
                  </a:ext>
                </a:extLst>
              </p:cNvPr>
              <p:cNvSpPr>
                <a:spLocks noChangeShapeType="1"/>
              </p:cNvSpPr>
              <p:nvPr/>
            </p:nvSpPr>
            <p:spPr bwMode="auto">
              <a:xfrm>
                <a:off x="57388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4" name="Line 229">
                <a:extLst>
                  <a:ext uri="{FF2B5EF4-FFF2-40B4-BE49-F238E27FC236}">
                    <a16:creationId xmlns:a16="http://schemas.microsoft.com/office/drawing/2014/main" id="{772CB7A6-5950-2C06-DAF0-2D0B36F3A3F7}"/>
                  </a:ext>
                </a:extLst>
              </p:cNvPr>
              <p:cNvSpPr>
                <a:spLocks noChangeShapeType="1"/>
              </p:cNvSpPr>
              <p:nvPr/>
            </p:nvSpPr>
            <p:spPr bwMode="auto">
              <a:xfrm>
                <a:off x="5783263"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5" name="Line 230">
                <a:extLst>
                  <a:ext uri="{FF2B5EF4-FFF2-40B4-BE49-F238E27FC236}">
                    <a16:creationId xmlns:a16="http://schemas.microsoft.com/office/drawing/2014/main" id="{541EA03B-5190-5902-5EAC-A2D182E077C0}"/>
                  </a:ext>
                </a:extLst>
              </p:cNvPr>
              <p:cNvSpPr>
                <a:spLocks noChangeShapeType="1"/>
              </p:cNvSpPr>
              <p:nvPr/>
            </p:nvSpPr>
            <p:spPr bwMode="auto">
              <a:xfrm>
                <a:off x="58293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6" name="Line 231">
                <a:extLst>
                  <a:ext uri="{FF2B5EF4-FFF2-40B4-BE49-F238E27FC236}">
                    <a16:creationId xmlns:a16="http://schemas.microsoft.com/office/drawing/2014/main" id="{1E0C3E5D-FDC2-AEEA-B15B-EA0FFD5C4376}"/>
                  </a:ext>
                </a:extLst>
              </p:cNvPr>
              <p:cNvSpPr>
                <a:spLocks noChangeShapeType="1"/>
              </p:cNvSpPr>
              <p:nvPr/>
            </p:nvSpPr>
            <p:spPr bwMode="auto">
              <a:xfrm>
                <a:off x="58753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7" name="Line 232">
                <a:extLst>
                  <a:ext uri="{FF2B5EF4-FFF2-40B4-BE49-F238E27FC236}">
                    <a16:creationId xmlns:a16="http://schemas.microsoft.com/office/drawing/2014/main" id="{8BDEE7B9-D74B-A117-B98D-F34E2DF9AE22}"/>
                  </a:ext>
                </a:extLst>
              </p:cNvPr>
              <p:cNvSpPr>
                <a:spLocks noChangeShapeType="1"/>
              </p:cNvSpPr>
              <p:nvPr/>
            </p:nvSpPr>
            <p:spPr bwMode="auto">
              <a:xfrm>
                <a:off x="5919788"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8" name="Line 233">
                <a:extLst>
                  <a:ext uri="{FF2B5EF4-FFF2-40B4-BE49-F238E27FC236}">
                    <a16:creationId xmlns:a16="http://schemas.microsoft.com/office/drawing/2014/main" id="{5B69C589-9D5C-277E-D46C-DF209B6540AE}"/>
                  </a:ext>
                </a:extLst>
              </p:cNvPr>
              <p:cNvSpPr>
                <a:spLocks noChangeShapeType="1"/>
              </p:cNvSpPr>
              <p:nvPr/>
            </p:nvSpPr>
            <p:spPr bwMode="auto">
              <a:xfrm>
                <a:off x="59658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9" name="Line 234">
                <a:extLst>
                  <a:ext uri="{FF2B5EF4-FFF2-40B4-BE49-F238E27FC236}">
                    <a16:creationId xmlns:a16="http://schemas.microsoft.com/office/drawing/2014/main" id="{8FD1CAF7-8A86-AA8F-207B-F2ADB3A3D2E7}"/>
                  </a:ext>
                </a:extLst>
              </p:cNvPr>
              <p:cNvSpPr>
                <a:spLocks noChangeShapeType="1"/>
              </p:cNvSpPr>
              <p:nvPr/>
            </p:nvSpPr>
            <p:spPr bwMode="auto">
              <a:xfrm>
                <a:off x="60118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0" name="Line 235">
                <a:extLst>
                  <a:ext uri="{FF2B5EF4-FFF2-40B4-BE49-F238E27FC236}">
                    <a16:creationId xmlns:a16="http://schemas.microsoft.com/office/drawing/2014/main" id="{F45F4747-633F-26C5-1416-AE75A3B38322}"/>
                  </a:ext>
                </a:extLst>
              </p:cNvPr>
              <p:cNvSpPr>
                <a:spLocks noChangeShapeType="1"/>
              </p:cNvSpPr>
              <p:nvPr/>
            </p:nvSpPr>
            <p:spPr bwMode="auto">
              <a:xfrm>
                <a:off x="60579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1" name="Line 236">
                <a:extLst>
                  <a:ext uri="{FF2B5EF4-FFF2-40B4-BE49-F238E27FC236}">
                    <a16:creationId xmlns:a16="http://schemas.microsoft.com/office/drawing/2014/main" id="{D352EBF1-4861-E340-75BD-2D0FF3F4543C}"/>
                  </a:ext>
                </a:extLst>
              </p:cNvPr>
              <p:cNvSpPr>
                <a:spLocks noChangeShapeType="1"/>
              </p:cNvSpPr>
              <p:nvPr/>
            </p:nvSpPr>
            <p:spPr bwMode="auto">
              <a:xfrm>
                <a:off x="61023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2" name="Line 237">
                <a:extLst>
                  <a:ext uri="{FF2B5EF4-FFF2-40B4-BE49-F238E27FC236}">
                    <a16:creationId xmlns:a16="http://schemas.microsoft.com/office/drawing/2014/main" id="{573DEF1D-49A3-2AF7-284B-101114D93FF4}"/>
                  </a:ext>
                </a:extLst>
              </p:cNvPr>
              <p:cNvSpPr>
                <a:spLocks noChangeShapeType="1"/>
              </p:cNvSpPr>
              <p:nvPr/>
            </p:nvSpPr>
            <p:spPr bwMode="auto">
              <a:xfrm>
                <a:off x="61483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3" name="Line 238">
                <a:extLst>
                  <a:ext uri="{FF2B5EF4-FFF2-40B4-BE49-F238E27FC236}">
                    <a16:creationId xmlns:a16="http://schemas.microsoft.com/office/drawing/2014/main" id="{72AC9CAB-C74E-B598-1298-0F52C8EC3D9B}"/>
                  </a:ext>
                </a:extLst>
              </p:cNvPr>
              <p:cNvSpPr>
                <a:spLocks noChangeShapeType="1"/>
              </p:cNvSpPr>
              <p:nvPr/>
            </p:nvSpPr>
            <p:spPr bwMode="auto">
              <a:xfrm>
                <a:off x="61944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4" name="Line 239">
                <a:extLst>
                  <a:ext uri="{FF2B5EF4-FFF2-40B4-BE49-F238E27FC236}">
                    <a16:creationId xmlns:a16="http://schemas.microsoft.com/office/drawing/2014/main" id="{453DFCBA-3D9C-B973-F015-F526CB2B769D}"/>
                  </a:ext>
                </a:extLst>
              </p:cNvPr>
              <p:cNvSpPr>
                <a:spLocks noChangeShapeType="1"/>
              </p:cNvSpPr>
              <p:nvPr/>
            </p:nvSpPr>
            <p:spPr bwMode="auto">
              <a:xfrm>
                <a:off x="6238875"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5" name="Line 240">
                <a:extLst>
                  <a:ext uri="{FF2B5EF4-FFF2-40B4-BE49-F238E27FC236}">
                    <a16:creationId xmlns:a16="http://schemas.microsoft.com/office/drawing/2014/main" id="{11316F8A-88BE-44C8-9CA5-AF8E9E5070C5}"/>
                  </a:ext>
                </a:extLst>
              </p:cNvPr>
              <p:cNvSpPr>
                <a:spLocks noChangeShapeType="1"/>
              </p:cNvSpPr>
              <p:nvPr/>
            </p:nvSpPr>
            <p:spPr bwMode="auto">
              <a:xfrm>
                <a:off x="62849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6" name="Line 241">
                <a:extLst>
                  <a:ext uri="{FF2B5EF4-FFF2-40B4-BE49-F238E27FC236}">
                    <a16:creationId xmlns:a16="http://schemas.microsoft.com/office/drawing/2014/main" id="{F6418896-945C-09A9-4684-9324235EF964}"/>
                  </a:ext>
                </a:extLst>
              </p:cNvPr>
              <p:cNvSpPr>
                <a:spLocks noChangeShapeType="1"/>
              </p:cNvSpPr>
              <p:nvPr/>
            </p:nvSpPr>
            <p:spPr bwMode="auto">
              <a:xfrm>
                <a:off x="63309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7" name="Line 242">
                <a:extLst>
                  <a:ext uri="{FF2B5EF4-FFF2-40B4-BE49-F238E27FC236}">
                    <a16:creationId xmlns:a16="http://schemas.microsoft.com/office/drawing/2014/main" id="{437A936D-BBC3-3560-9AAB-38F2C98530D4}"/>
                  </a:ext>
                </a:extLst>
              </p:cNvPr>
              <p:cNvSpPr>
                <a:spLocks noChangeShapeType="1"/>
              </p:cNvSpPr>
              <p:nvPr/>
            </p:nvSpPr>
            <p:spPr bwMode="auto">
              <a:xfrm>
                <a:off x="6375400"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8" name="Line 243">
                <a:extLst>
                  <a:ext uri="{FF2B5EF4-FFF2-40B4-BE49-F238E27FC236}">
                    <a16:creationId xmlns:a16="http://schemas.microsoft.com/office/drawing/2014/main" id="{A9F51A1F-DCBD-B36B-62E5-A7C2CE8CA4DD}"/>
                  </a:ext>
                </a:extLst>
              </p:cNvPr>
              <p:cNvSpPr>
                <a:spLocks noChangeShapeType="1"/>
              </p:cNvSpPr>
              <p:nvPr/>
            </p:nvSpPr>
            <p:spPr bwMode="auto">
              <a:xfrm>
                <a:off x="64214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9" name="Line 244">
                <a:extLst>
                  <a:ext uri="{FF2B5EF4-FFF2-40B4-BE49-F238E27FC236}">
                    <a16:creationId xmlns:a16="http://schemas.microsoft.com/office/drawing/2014/main" id="{CC910072-3C23-4428-8903-72DF798BC054}"/>
                  </a:ext>
                </a:extLst>
              </p:cNvPr>
              <p:cNvSpPr>
                <a:spLocks noChangeShapeType="1"/>
              </p:cNvSpPr>
              <p:nvPr/>
            </p:nvSpPr>
            <p:spPr bwMode="auto">
              <a:xfrm>
                <a:off x="64674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0" name="Line 245">
                <a:extLst>
                  <a:ext uri="{FF2B5EF4-FFF2-40B4-BE49-F238E27FC236}">
                    <a16:creationId xmlns:a16="http://schemas.microsoft.com/office/drawing/2014/main" id="{E4ECEF5D-5BCD-B573-FE53-0F78F3D1673B}"/>
                  </a:ext>
                </a:extLst>
              </p:cNvPr>
              <p:cNvSpPr>
                <a:spLocks noChangeShapeType="1"/>
              </p:cNvSpPr>
              <p:nvPr/>
            </p:nvSpPr>
            <p:spPr bwMode="auto">
              <a:xfrm>
                <a:off x="65135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1" name="Line 246">
                <a:extLst>
                  <a:ext uri="{FF2B5EF4-FFF2-40B4-BE49-F238E27FC236}">
                    <a16:creationId xmlns:a16="http://schemas.microsoft.com/office/drawing/2014/main" id="{20DBEA47-429A-7A17-6787-C7103972EF19}"/>
                  </a:ext>
                </a:extLst>
              </p:cNvPr>
              <p:cNvSpPr>
                <a:spLocks noChangeShapeType="1"/>
              </p:cNvSpPr>
              <p:nvPr/>
            </p:nvSpPr>
            <p:spPr bwMode="auto">
              <a:xfrm>
                <a:off x="65579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2" name="Line 247">
                <a:extLst>
                  <a:ext uri="{FF2B5EF4-FFF2-40B4-BE49-F238E27FC236}">
                    <a16:creationId xmlns:a16="http://schemas.microsoft.com/office/drawing/2014/main" id="{91939A96-50BA-7B7A-E82C-F7D8B90BD81C}"/>
                  </a:ext>
                </a:extLst>
              </p:cNvPr>
              <p:cNvSpPr>
                <a:spLocks noChangeShapeType="1"/>
              </p:cNvSpPr>
              <p:nvPr/>
            </p:nvSpPr>
            <p:spPr bwMode="auto">
              <a:xfrm>
                <a:off x="66040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3" name="Line 248">
                <a:extLst>
                  <a:ext uri="{FF2B5EF4-FFF2-40B4-BE49-F238E27FC236}">
                    <a16:creationId xmlns:a16="http://schemas.microsoft.com/office/drawing/2014/main" id="{91B11273-F55A-9E33-A378-5B6BBFCA76A6}"/>
                  </a:ext>
                </a:extLst>
              </p:cNvPr>
              <p:cNvSpPr>
                <a:spLocks noChangeShapeType="1"/>
              </p:cNvSpPr>
              <p:nvPr/>
            </p:nvSpPr>
            <p:spPr bwMode="auto">
              <a:xfrm>
                <a:off x="66500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4" name="Line 249">
                <a:extLst>
                  <a:ext uri="{FF2B5EF4-FFF2-40B4-BE49-F238E27FC236}">
                    <a16:creationId xmlns:a16="http://schemas.microsoft.com/office/drawing/2014/main" id="{9682B23F-68A7-2FD0-26DF-CBF41AB7296B}"/>
                  </a:ext>
                </a:extLst>
              </p:cNvPr>
              <p:cNvSpPr>
                <a:spLocks noChangeShapeType="1"/>
              </p:cNvSpPr>
              <p:nvPr/>
            </p:nvSpPr>
            <p:spPr bwMode="auto">
              <a:xfrm>
                <a:off x="6694488"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5" name="Line 250">
                <a:extLst>
                  <a:ext uri="{FF2B5EF4-FFF2-40B4-BE49-F238E27FC236}">
                    <a16:creationId xmlns:a16="http://schemas.microsoft.com/office/drawing/2014/main" id="{48908EC2-7307-B3E1-23C1-A84C961EABD9}"/>
                  </a:ext>
                </a:extLst>
              </p:cNvPr>
              <p:cNvSpPr>
                <a:spLocks noChangeShapeType="1"/>
              </p:cNvSpPr>
              <p:nvPr/>
            </p:nvSpPr>
            <p:spPr bwMode="auto">
              <a:xfrm>
                <a:off x="67405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6" name="Line 251">
                <a:extLst>
                  <a:ext uri="{FF2B5EF4-FFF2-40B4-BE49-F238E27FC236}">
                    <a16:creationId xmlns:a16="http://schemas.microsoft.com/office/drawing/2014/main" id="{A4250449-939D-BE28-E344-BA1A09B17F9D}"/>
                  </a:ext>
                </a:extLst>
              </p:cNvPr>
              <p:cNvSpPr>
                <a:spLocks noChangeShapeType="1"/>
              </p:cNvSpPr>
              <p:nvPr/>
            </p:nvSpPr>
            <p:spPr bwMode="auto">
              <a:xfrm>
                <a:off x="67865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7" name="Line 252">
                <a:extLst>
                  <a:ext uri="{FF2B5EF4-FFF2-40B4-BE49-F238E27FC236}">
                    <a16:creationId xmlns:a16="http://schemas.microsoft.com/office/drawing/2014/main" id="{20290F1E-19DE-37E6-88F5-91FA934B6916}"/>
                  </a:ext>
                </a:extLst>
              </p:cNvPr>
              <p:cNvSpPr>
                <a:spLocks noChangeShapeType="1"/>
              </p:cNvSpPr>
              <p:nvPr/>
            </p:nvSpPr>
            <p:spPr bwMode="auto">
              <a:xfrm>
                <a:off x="6831013"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8" name="Line 253">
                <a:extLst>
                  <a:ext uri="{FF2B5EF4-FFF2-40B4-BE49-F238E27FC236}">
                    <a16:creationId xmlns:a16="http://schemas.microsoft.com/office/drawing/2014/main" id="{0CE4AF9E-8F26-25FE-70AD-A9C197A46646}"/>
                  </a:ext>
                </a:extLst>
              </p:cNvPr>
              <p:cNvSpPr>
                <a:spLocks noChangeShapeType="1"/>
              </p:cNvSpPr>
              <p:nvPr/>
            </p:nvSpPr>
            <p:spPr bwMode="auto">
              <a:xfrm>
                <a:off x="68770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9" name="Line 254">
                <a:extLst>
                  <a:ext uri="{FF2B5EF4-FFF2-40B4-BE49-F238E27FC236}">
                    <a16:creationId xmlns:a16="http://schemas.microsoft.com/office/drawing/2014/main" id="{C50D9DE6-A62F-36BB-0D95-2F0806A0270B}"/>
                  </a:ext>
                </a:extLst>
              </p:cNvPr>
              <p:cNvSpPr>
                <a:spLocks noChangeShapeType="1"/>
              </p:cNvSpPr>
              <p:nvPr/>
            </p:nvSpPr>
            <p:spPr bwMode="auto">
              <a:xfrm>
                <a:off x="69230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0" name="Line 255">
                <a:extLst>
                  <a:ext uri="{FF2B5EF4-FFF2-40B4-BE49-F238E27FC236}">
                    <a16:creationId xmlns:a16="http://schemas.microsoft.com/office/drawing/2014/main" id="{16519BCA-B01D-7AB1-83A8-200B6067D3F0}"/>
                  </a:ext>
                </a:extLst>
              </p:cNvPr>
              <p:cNvSpPr>
                <a:spLocks noChangeShapeType="1"/>
              </p:cNvSpPr>
              <p:nvPr/>
            </p:nvSpPr>
            <p:spPr bwMode="auto">
              <a:xfrm>
                <a:off x="69691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1" name="Line 256">
                <a:extLst>
                  <a:ext uri="{FF2B5EF4-FFF2-40B4-BE49-F238E27FC236}">
                    <a16:creationId xmlns:a16="http://schemas.microsoft.com/office/drawing/2014/main" id="{DF59B1A6-C1A4-7543-8234-AEC5432D6515}"/>
                  </a:ext>
                </a:extLst>
              </p:cNvPr>
              <p:cNvSpPr>
                <a:spLocks noChangeShapeType="1"/>
              </p:cNvSpPr>
              <p:nvPr/>
            </p:nvSpPr>
            <p:spPr bwMode="auto">
              <a:xfrm>
                <a:off x="70135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2" name="Line 257">
                <a:extLst>
                  <a:ext uri="{FF2B5EF4-FFF2-40B4-BE49-F238E27FC236}">
                    <a16:creationId xmlns:a16="http://schemas.microsoft.com/office/drawing/2014/main" id="{1BC79D44-1F39-6313-F702-5DD658ADD02A}"/>
                  </a:ext>
                </a:extLst>
              </p:cNvPr>
              <p:cNvSpPr>
                <a:spLocks noChangeShapeType="1"/>
              </p:cNvSpPr>
              <p:nvPr/>
            </p:nvSpPr>
            <p:spPr bwMode="auto">
              <a:xfrm>
                <a:off x="70596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3" name="Line 258">
                <a:extLst>
                  <a:ext uri="{FF2B5EF4-FFF2-40B4-BE49-F238E27FC236}">
                    <a16:creationId xmlns:a16="http://schemas.microsoft.com/office/drawing/2014/main" id="{F713F654-94DC-F5E6-B999-EE03D3D8E464}"/>
                  </a:ext>
                </a:extLst>
              </p:cNvPr>
              <p:cNvSpPr>
                <a:spLocks noChangeShapeType="1"/>
              </p:cNvSpPr>
              <p:nvPr/>
            </p:nvSpPr>
            <p:spPr bwMode="auto">
              <a:xfrm>
                <a:off x="71056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4" name="Line 259">
                <a:extLst>
                  <a:ext uri="{FF2B5EF4-FFF2-40B4-BE49-F238E27FC236}">
                    <a16:creationId xmlns:a16="http://schemas.microsoft.com/office/drawing/2014/main" id="{4BA78899-0D0A-3E25-1B6C-787F141B0E0A}"/>
                  </a:ext>
                </a:extLst>
              </p:cNvPr>
              <p:cNvSpPr>
                <a:spLocks noChangeShapeType="1"/>
              </p:cNvSpPr>
              <p:nvPr/>
            </p:nvSpPr>
            <p:spPr bwMode="auto">
              <a:xfrm>
                <a:off x="7150100"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5" name="Line 260">
                <a:extLst>
                  <a:ext uri="{FF2B5EF4-FFF2-40B4-BE49-F238E27FC236}">
                    <a16:creationId xmlns:a16="http://schemas.microsoft.com/office/drawing/2014/main" id="{084BB5C7-8499-4ABA-4531-25B4DA494627}"/>
                  </a:ext>
                </a:extLst>
              </p:cNvPr>
              <p:cNvSpPr>
                <a:spLocks noChangeShapeType="1"/>
              </p:cNvSpPr>
              <p:nvPr/>
            </p:nvSpPr>
            <p:spPr bwMode="auto">
              <a:xfrm>
                <a:off x="71961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6" name="Line 261">
                <a:extLst>
                  <a:ext uri="{FF2B5EF4-FFF2-40B4-BE49-F238E27FC236}">
                    <a16:creationId xmlns:a16="http://schemas.microsoft.com/office/drawing/2014/main" id="{6CA92051-AAC0-05E8-4D06-AC7B8063E8F1}"/>
                  </a:ext>
                </a:extLst>
              </p:cNvPr>
              <p:cNvSpPr>
                <a:spLocks noChangeShapeType="1"/>
              </p:cNvSpPr>
              <p:nvPr/>
            </p:nvSpPr>
            <p:spPr bwMode="auto">
              <a:xfrm>
                <a:off x="72421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7" name="Line 262">
                <a:extLst>
                  <a:ext uri="{FF2B5EF4-FFF2-40B4-BE49-F238E27FC236}">
                    <a16:creationId xmlns:a16="http://schemas.microsoft.com/office/drawing/2014/main" id="{E584B4C1-21BF-30C4-6DC3-EB7674E61F26}"/>
                  </a:ext>
                </a:extLst>
              </p:cNvPr>
              <p:cNvSpPr>
                <a:spLocks noChangeShapeType="1"/>
              </p:cNvSpPr>
              <p:nvPr/>
            </p:nvSpPr>
            <p:spPr bwMode="auto">
              <a:xfrm>
                <a:off x="7286625"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8" name="Line 263">
                <a:extLst>
                  <a:ext uri="{FF2B5EF4-FFF2-40B4-BE49-F238E27FC236}">
                    <a16:creationId xmlns:a16="http://schemas.microsoft.com/office/drawing/2014/main" id="{425E54AF-3311-6327-2073-CB30719FEF85}"/>
                  </a:ext>
                </a:extLst>
              </p:cNvPr>
              <p:cNvSpPr>
                <a:spLocks noChangeShapeType="1"/>
              </p:cNvSpPr>
              <p:nvPr/>
            </p:nvSpPr>
            <p:spPr bwMode="auto">
              <a:xfrm>
                <a:off x="73326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9" name="Line 264">
                <a:extLst>
                  <a:ext uri="{FF2B5EF4-FFF2-40B4-BE49-F238E27FC236}">
                    <a16:creationId xmlns:a16="http://schemas.microsoft.com/office/drawing/2014/main" id="{DA88393A-AB79-4595-CFF1-1ED13E933D94}"/>
                  </a:ext>
                </a:extLst>
              </p:cNvPr>
              <p:cNvSpPr>
                <a:spLocks noChangeShapeType="1"/>
              </p:cNvSpPr>
              <p:nvPr/>
            </p:nvSpPr>
            <p:spPr bwMode="auto">
              <a:xfrm>
                <a:off x="73787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0" name="Line 265">
                <a:extLst>
                  <a:ext uri="{FF2B5EF4-FFF2-40B4-BE49-F238E27FC236}">
                    <a16:creationId xmlns:a16="http://schemas.microsoft.com/office/drawing/2014/main" id="{C4613F3A-88F3-72A3-0F01-566F5494E0B4}"/>
                  </a:ext>
                </a:extLst>
              </p:cNvPr>
              <p:cNvSpPr>
                <a:spLocks noChangeShapeType="1"/>
              </p:cNvSpPr>
              <p:nvPr/>
            </p:nvSpPr>
            <p:spPr bwMode="auto">
              <a:xfrm>
                <a:off x="74247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1" name="Line 266">
                <a:extLst>
                  <a:ext uri="{FF2B5EF4-FFF2-40B4-BE49-F238E27FC236}">
                    <a16:creationId xmlns:a16="http://schemas.microsoft.com/office/drawing/2014/main" id="{CE501EEE-8E71-E243-7D00-6F79F2C77E9A}"/>
                  </a:ext>
                </a:extLst>
              </p:cNvPr>
              <p:cNvSpPr>
                <a:spLocks noChangeShapeType="1"/>
              </p:cNvSpPr>
              <p:nvPr/>
            </p:nvSpPr>
            <p:spPr bwMode="auto">
              <a:xfrm>
                <a:off x="74691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2" name="Line 267">
                <a:extLst>
                  <a:ext uri="{FF2B5EF4-FFF2-40B4-BE49-F238E27FC236}">
                    <a16:creationId xmlns:a16="http://schemas.microsoft.com/office/drawing/2014/main" id="{431D6FB7-E7D7-650D-C1DE-996CD8D3584B}"/>
                  </a:ext>
                </a:extLst>
              </p:cNvPr>
              <p:cNvSpPr>
                <a:spLocks noChangeShapeType="1"/>
              </p:cNvSpPr>
              <p:nvPr/>
            </p:nvSpPr>
            <p:spPr bwMode="auto">
              <a:xfrm>
                <a:off x="75152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3" name="Line 268">
                <a:extLst>
                  <a:ext uri="{FF2B5EF4-FFF2-40B4-BE49-F238E27FC236}">
                    <a16:creationId xmlns:a16="http://schemas.microsoft.com/office/drawing/2014/main" id="{A37108B4-EDB3-0CA0-7054-60B2C3AE0296}"/>
                  </a:ext>
                </a:extLst>
              </p:cNvPr>
              <p:cNvSpPr>
                <a:spLocks noChangeShapeType="1"/>
              </p:cNvSpPr>
              <p:nvPr/>
            </p:nvSpPr>
            <p:spPr bwMode="auto">
              <a:xfrm>
                <a:off x="75612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4" name="Line 269">
                <a:extLst>
                  <a:ext uri="{FF2B5EF4-FFF2-40B4-BE49-F238E27FC236}">
                    <a16:creationId xmlns:a16="http://schemas.microsoft.com/office/drawing/2014/main" id="{414CE334-4540-4A30-2B00-B8B134B9CBBD}"/>
                  </a:ext>
                </a:extLst>
              </p:cNvPr>
              <p:cNvSpPr>
                <a:spLocks noChangeShapeType="1"/>
              </p:cNvSpPr>
              <p:nvPr/>
            </p:nvSpPr>
            <p:spPr bwMode="auto">
              <a:xfrm>
                <a:off x="7605713"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5" name="Line 270">
                <a:extLst>
                  <a:ext uri="{FF2B5EF4-FFF2-40B4-BE49-F238E27FC236}">
                    <a16:creationId xmlns:a16="http://schemas.microsoft.com/office/drawing/2014/main" id="{E24591AA-FCDE-55E1-8212-CB1C9D6183E0}"/>
                  </a:ext>
                </a:extLst>
              </p:cNvPr>
              <p:cNvSpPr>
                <a:spLocks noChangeShapeType="1"/>
              </p:cNvSpPr>
              <p:nvPr/>
            </p:nvSpPr>
            <p:spPr bwMode="auto">
              <a:xfrm>
                <a:off x="76517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6" name="Line 271">
                <a:extLst>
                  <a:ext uri="{FF2B5EF4-FFF2-40B4-BE49-F238E27FC236}">
                    <a16:creationId xmlns:a16="http://schemas.microsoft.com/office/drawing/2014/main" id="{F18E2314-3BDA-C10C-3384-3645E6B25D21}"/>
                  </a:ext>
                </a:extLst>
              </p:cNvPr>
              <p:cNvSpPr>
                <a:spLocks noChangeShapeType="1"/>
              </p:cNvSpPr>
              <p:nvPr/>
            </p:nvSpPr>
            <p:spPr bwMode="auto">
              <a:xfrm>
                <a:off x="76977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7" name="Line 272">
                <a:extLst>
                  <a:ext uri="{FF2B5EF4-FFF2-40B4-BE49-F238E27FC236}">
                    <a16:creationId xmlns:a16="http://schemas.microsoft.com/office/drawing/2014/main" id="{A5E59C7B-2C9D-783A-F47D-9AB9ADAA6E53}"/>
                  </a:ext>
                </a:extLst>
              </p:cNvPr>
              <p:cNvSpPr>
                <a:spLocks noChangeShapeType="1"/>
              </p:cNvSpPr>
              <p:nvPr/>
            </p:nvSpPr>
            <p:spPr bwMode="auto">
              <a:xfrm>
                <a:off x="7742238"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8" name="Line 273">
                <a:extLst>
                  <a:ext uri="{FF2B5EF4-FFF2-40B4-BE49-F238E27FC236}">
                    <a16:creationId xmlns:a16="http://schemas.microsoft.com/office/drawing/2014/main" id="{49B9EC6C-F511-E2F5-918D-9983BCEC1164}"/>
                  </a:ext>
                </a:extLst>
              </p:cNvPr>
              <p:cNvSpPr>
                <a:spLocks noChangeShapeType="1"/>
              </p:cNvSpPr>
              <p:nvPr/>
            </p:nvSpPr>
            <p:spPr bwMode="auto">
              <a:xfrm>
                <a:off x="77882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9" name="Line 274">
                <a:extLst>
                  <a:ext uri="{FF2B5EF4-FFF2-40B4-BE49-F238E27FC236}">
                    <a16:creationId xmlns:a16="http://schemas.microsoft.com/office/drawing/2014/main" id="{5E9E0724-1179-C4C3-C98D-999B25E2899F}"/>
                  </a:ext>
                </a:extLst>
              </p:cNvPr>
              <p:cNvSpPr>
                <a:spLocks noChangeShapeType="1"/>
              </p:cNvSpPr>
              <p:nvPr/>
            </p:nvSpPr>
            <p:spPr bwMode="auto">
              <a:xfrm>
                <a:off x="78343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0" name="Line 275">
                <a:extLst>
                  <a:ext uri="{FF2B5EF4-FFF2-40B4-BE49-F238E27FC236}">
                    <a16:creationId xmlns:a16="http://schemas.microsoft.com/office/drawing/2014/main" id="{9D5B6ABB-E592-D176-A8DC-2648B5A722A5}"/>
                  </a:ext>
                </a:extLst>
              </p:cNvPr>
              <p:cNvSpPr>
                <a:spLocks noChangeShapeType="1"/>
              </p:cNvSpPr>
              <p:nvPr/>
            </p:nvSpPr>
            <p:spPr bwMode="auto">
              <a:xfrm>
                <a:off x="78803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1" name="Line 276">
                <a:extLst>
                  <a:ext uri="{FF2B5EF4-FFF2-40B4-BE49-F238E27FC236}">
                    <a16:creationId xmlns:a16="http://schemas.microsoft.com/office/drawing/2014/main" id="{4B8D755C-09E0-53C2-D37F-6CFC51789000}"/>
                  </a:ext>
                </a:extLst>
              </p:cNvPr>
              <p:cNvSpPr>
                <a:spLocks noChangeShapeType="1"/>
              </p:cNvSpPr>
              <p:nvPr/>
            </p:nvSpPr>
            <p:spPr bwMode="auto">
              <a:xfrm>
                <a:off x="79248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2" name="Line 277">
                <a:extLst>
                  <a:ext uri="{FF2B5EF4-FFF2-40B4-BE49-F238E27FC236}">
                    <a16:creationId xmlns:a16="http://schemas.microsoft.com/office/drawing/2014/main" id="{4A0E82B8-541E-0ACF-4360-39932BFA9865}"/>
                  </a:ext>
                </a:extLst>
              </p:cNvPr>
              <p:cNvSpPr>
                <a:spLocks noChangeShapeType="1"/>
              </p:cNvSpPr>
              <p:nvPr/>
            </p:nvSpPr>
            <p:spPr bwMode="auto">
              <a:xfrm>
                <a:off x="79708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3" name="Line 278">
                <a:extLst>
                  <a:ext uri="{FF2B5EF4-FFF2-40B4-BE49-F238E27FC236}">
                    <a16:creationId xmlns:a16="http://schemas.microsoft.com/office/drawing/2014/main" id="{DD5E29FD-33FB-68EB-3835-1A177B4F8639}"/>
                  </a:ext>
                </a:extLst>
              </p:cNvPr>
              <p:cNvSpPr>
                <a:spLocks noChangeShapeType="1"/>
              </p:cNvSpPr>
              <p:nvPr/>
            </p:nvSpPr>
            <p:spPr bwMode="auto">
              <a:xfrm>
                <a:off x="80168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4" name="Line 279">
                <a:extLst>
                  <a:ext uri="{FF2B5EF4-FFF2-40B4-BE49-F238E27FC236}">
                    <a16:creationId xmlns:a16="http://schemas.microsoft.com/office/drawing/2014/main" id="{CB6EDD20-58E1-F27E-FC3F-A5463F715B7E}"/>
                  </a:ext>
                </a:extLst>
              </p:cNvPr>
              <p:cNvSpPr>
                <a:spLocks noChangeShapeType="1"/>
              </p:cNvSpPr>
              <p:nvPr/>
            </p:nvSpPr>
            <p:spPr bwMode="auto">
              <a:xfrm>
                <a:off x="8061325"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5" name="Line 280">
                <a:extLst>
                  <a:ext uri="{FF2B5EF4-FFF2-40B4-BE49-F238E27FC236}">
                    <a16:creationId xmlns:a16="http://schemas.microsoft.com/office/drawing/2014/main" id="{D55306AC-9AC4-8F19-E258-BB55EE2D7E30}"/>
                  </a:ext>
                </a:extLst>
              </p:cNvPr>
              <p:cNvSpPr>
                <a:spLocks noChangeShapeType="1"/>
              </p:cNvSpPr>
              <p:nvPr/>
            </p:nvSpPr>
            <p:spPr bwMode="auto">
              <a:xfrm>
                <a:off x="81073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6" name="Line 281">
                <a:extLst>
                  <a:ext uri="{FF2B5EF4-FFF2-40B4-BE49-F238E27FC236}">
                    <a16:creationId xmlns:a16="http://schemas.microsoft.com/office/drawing/2014/main" id="{1963385F-DF31-3070-EDC5-3B2A76CFF608}"/>
                  </a:ext>
                </a:extLst>
              </p:cNvPr>
              <p:cNvSpPr>
                <a:spLocks noChangeShapeType="1"/>
              </p:cNvSpPr>
              <p:nvPr/>
            </p:nvSpPr>
            <p:spPr bwMode="auto">
              <a:xfrm>
                <a:off x="81534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7" name="Line 282">
                <a:extLst>
                  <a:ext uri="{FF2B5EF4-FFF2-40B4-BE49-F238E27FC236}">
                    <a16:creationId xmlns:a16="http://schemas.microsoft.com/office/drawing/2014/main" id="{D0D1C3FD-2151-09C2-5172-A4D8E0AA900A}"/>
                  </a:ext>
                </a:extLst>
              </p:cNvPr>
              <p:cNvSpPr>
                <a:spLocks noChangeShapeType="1"/>
              </p:cNvSpPr>
              <p:nvPr/>
            </p:nvSpPr>
            <p:spPr bwMode="auto">
              <a:xfrm>
                <a:off x="8197850"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8" name="Line 283">
                <a:extLst>
                  <a:ext uri="{FF2B5EF4-FFF2-40B4-BE49-F238E27FC236}">
                    <a16:creationId xmlns:a16="http://schemas.microsoft.com/office/drawing/2014/main" id="{93964102-6F1A-82C4-852E-943119DA532C}"/>
                  </a:ext>
                </a:extLst>
              </p:cNvPr>
              <p:cNvSpPr>
                <a:spLocks noChangeShapeType="1"/>
              </p:cNvSpPr>
              <p:nvPr/>
            </p:nvSpPr>
            <p:spPr bwMode="auto">
              <a:xfrm>
                <a:off x="82438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9" name="Line 284">
                <a:extLst>
                  <a:ext uri="{FF2B5EF4-FFF2-40B4-BE49-F238E27FC236}">
                    <a16:creationId xmlns:a16="http://schemas.microsoft.com/office/drawing/2014/main" id="{CCD3C11B-1F06-D87F-6F0E-2F0636998FB9}"/>
                  </a:ext>
                </a:extLst>
              </p:cNvPr>
              <p:cNvSpPr>
                <a:spLocks noChangeShapeType="1"/>
              </p:cNvSpPr>
              <p:nvPr/>
            </p:nvSpPr>
            <p:spPr bwMode="auto">
              <a:xfrm>
                <a:off x="82899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0" name="Line 285">
                <a:extLst>
                  <a:ext uri="{FF2B5EF4-FFF2-40B4-BE49-F238E27FC236}">
                    <a16:creationId xmlns:a16="http://schemas.microsoft.com/office/drawing/2014/main" id="{B196E36A-1767-6B9A-D273-283D227C2231}"/>
                  </a:ext>
                </a:extLst>
              </p:cNvPr>
              <p:cNvSpPr>
                <a:spLocks noChangeShapeType="1"/>
              </p:cNvSpPr>
              <p:nvPr/>
            </p:nvSpPr>
            <p:spPr bwMode="auto">
              <a:xfrm>
                <a:off x="83359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1" name="Line 286">
                <a:extLst>
                  <a:ext uri="{FF2B5EF4-FFF2-40B4-BE49-F238E27FC236}">
                    <a16:creationId xmlns:a16="http://schemas.microsoft.com/office/drawing/2014/main" id="{2D6E9997-2C5C-E08F-72F7-CA41AC32B455}"/>
                  </a:ext>
                </a:extLst>
              </p:cNvPr>
              <p:cNvSpPr>
                <a:spLocks noChangeShapeType="1"/>
              </p:cNvSpPr>
              <p:nvPr/>
            </p:nvSpPr>
            <p:spPr bwMode="auto">
              <a:xfrm>
                <a:off x="83804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2" name="Line 287">
                <a:extLst>
                  <a:ext uri="{FF2B5EF4-FFF2-40B4-BE49-F238E27FC236}">
                    <a16:creationId xmlns:a16="http://schemas.microsoft.com/office/drawing/2014/main" id="{724A9C8F-B9AB-2AE3-2579-25311C9213A9}"/>
                  </a:ext>
                </a:extLst>
              </p:cNvPr>
              <p:cNvSpPr>
                <a:spLocks noChangeShapeType="1"/>
              </p:cNvSpPr>
              <p:nvPr/>
            </p:nvSpPr>
            <p:spPr bwMode="auto">
              <a:xfrm>
                <a:off x="2120900"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3" name="Line 288">
                <a:extLst>
                  <a:ext uri="{FF2B5EF4-FFF2-40B4-BE49-F238E27FC236}">
                    <a16:creationId xmlns:a16="http://schemas.microsoft.com/office/drawing/2014/main" id="{ABF1EF0B-F820-CE29-8C6D-535277422521}"/>
                  </a:ext>
                </a:extLst>
              </p:cNvPr>
              <p:cNvSpPr>
                <a:spLocks noChangeShapeType="1"/>
              </p:cNvSpPr>
              <p:nvPr/>
            </p:nvSpPr>
            <p:spPr bwMode="auto">
              <a:xfrm>
                <a:off x="21669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4" name="Line 289">
                <a:extLst>
                  <a:ext uri="{FF2B5EF4-FFF2-40B4-BE49-F238E27FC236}">
                    <a16:creationId xmlns:a16="http://schemas.microsoft.com/office/drawing/2014/main" id="{67B683E4-4608-FE8C-AF77-61A701AB6FA4}"/>
                  </a:ext>
                </a:extLst>
              </p:cNvPr>
              <p:cNvSpPr>
                <a:spLocks noChangeShapeType="1"/>
              </p:cNvSpPr>
              <p:nvPr/>
            </p:nvSpPr>
            <p:spPr bwMode="auto">
              <a:xfrm>
                <a:off x="22129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5" name="Line 290">
                <a:extLst>
                  <a:ext uri="{FF2B5EF4-FFF2-40B4-BE49-F238E27FC236}">
                    <a16:creationId xmlns:a16="http://schemas.microsoft.com/office/drawing/2014/main" id="{8132CE0D-46EE-6328-EFC4-E967C0154B90}"/>
                  </a:ext>
                </a:extLst>
              </p:cNvPr>
              <p:cNvSpPr>
                <a:spLocks noChangeShapeType="1"/>
              </p:cNvSpPr>
              <p:nvPr/>
            </p:nvSpPr>
            <p:spPr bwMode="auto">
              <a:xfrm>
                <a:off x="2257425"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6" name="Line 291">
                <a:extLst>
                  <a:ext uri="{FF2B5EF4-FFF2-40B4-BE49-F238E27FC236}">
                    <a16:creationId xmlns:a16="http://schemas.microsoft.com/office/drawing/2014/main" id="{B8948404-F32E-84EE-CB19-1B6E69DA60A1}"/>
                  </a:ext>
                </a:extLst>
              </p:cNvPr>
              <p:cNvSpPr>
                <a:spLocks noChangeShapeType="1"/>
              </p:cNvSpPr>
              <p:nvPr/>
            </p:nvSpPr>
            <p:spPr bwMode="auto">
              <a:xfrm>
                <a:off x="23034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7" name="Line 292">
                <a:extLst>
                  <a:ext uri="{FF2B5EF4-FFF2-40B4-BE49-F238E27FC236}">
                    <a16:creationId xmlns:a16="http://schemas.microsoft.com/office/drawing/2014/main" id="{5538D846-1376-55E2-E720-3D93372D7910}"/>
                  </a:ext>
                </a:extLst>
              </p:cNvPr>
              <p:cNvSpPr>
                <a:spLocks noChangeShapeType="1"/>
              </p:cNvSpPr>
              <p:nvPr/>
            </p:nvSpPr>
            <p:spPr bwMode="auto">
              <a:xfrm>
                <a:off x="23495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8" name="Line 293">
                <a:extLst>
                  <a:ext uri="{FF2B5EF4-FFF2-40B4-BE49-F238E27FC236}">
                    <a16:creationId xmlns:a16="http://schemas.microsoft.com/office/drawing/2014/main" id="{AFFB272D-3F83-FCA6-7114-39B45FD6A0DD}"/>
                  </a:ext>
                </a:extLst>
              </p:cNvPr>
              <p:cNvSpPr>
                <a:spLocks noChangeShapeType="1"/>
              </p:cNvSpPr>
              <p:nvPr/>
            </p:nvSpPr>
            <p:spPr bwMode="auto">
              <a:xfrm>
                <a:off x="23955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9" name="Line 294">
                <a:extLst>
                  <a:ext uri="{FF2B5EF4-FFF2-40B4-BE49-F238E27FC236}">
                    <a16:creationId xmlns:a16="http://schemas.microsoft.com/office/drawing/2014/main" id="{4F6694BA-F04B-63FF-C809-8FFB3FEA79F9}"/>
                  </a:ext>
                </a:extLst>
              </p:cNvPr>
              <p:cNvSpPr>
                <a:spLocks noChangeShapeType="1"/>
              </p:cNvSpPr>
              <p:nvPr/>
            </p:nvSpPr>
            <p:spPr bwMode="auto">
              <a:xfrm>
                <a:off x="24399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0" name="Line 295">
                <a:extLst>
                  <a:ext uri="{FF2B5EF4-FFF2-40B4-BE49-F238E27FC236}">
                    <a16:creationId xmlns:a16="http://schemas.microsoft.com/office/drawing/2014/main" id="{5B0A553A-DFBC-0805-D0B5-566A2F00D292}"/>
                  </a:ext>
                </a:extLst>
              </p:cNvPr>
              <p:cNvSpPr>
                <a:spLocks noChangeShapeType="1"/>
              </p:cNvSpPr>
              <p:nvPr/>
            </p:nvSpPr>
            <p:spPr bwMode="auto">
              <a:xfrm>
                <a:off x="24860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1" name="Line 296">
                <a:extLst>
                  <a:ext uri="{FF2B5EF4-FFF2-40B4-BE49-F238E27FC236}">
                    <a16:creationId xmlns:a16="http://schemas.microsoft.com/office/drawing/2014/main" id="{BDEAD9BF-646B-BA62-CF3D-F314DE31F43D}"/>
                  </a:ext>
                </a:extLst>
              </p:cNvPr>
              <p:cNvSpPr>
                <a:spLocks noChangeShapeType="1"/>
              </p:cNvSpPr>
              <p:nvPr/>
            </p:nvSpPr>
            <p:spPr bwMode="auto">
              <a:xfrm>
                <a:off x="25320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2" name="Line 297">
                <a:extLst>
                  <a:ext uri="{FF2B5EF4-FFF2-40B4-BE49-F238E27FC236}">
                    <a16:creationId xmlns:a16="http://schemas.microsoft.com/office/drawing/2014/main" id="{71C28EE7-60CC-D338-932A-97E4E116A0C0}"/>
                  </a:ext>
                </a:extLst>
              </p:cNvPr>
              <p:cNvSpPr>
                <a:spLocks noChangeShapeType="1"/>
              </p:cNvSpPr>
              <p:nvPr/>
            </p:nvSpPr>
            <p:spPr bwMode="auto">
              <a:xfrm>
                <a:off x="2576513"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3" name="Line 298">
                <a:extLst>
                  <a:ext uri="{FF2B5EF4-FFF2-40B4-BE49-F238E27FC236}">
                    <a16:creationId xmlns:a16="http://schemas.microsoft.com/office/drawing/2014/main" id="{FB1E1B4A-3E62-9C0A-5246-1FEA82C0543D}"/>
                  </a:ext>
                </a:extLst>
              </p:cNvPr>
              <p:cNvSpPr>
                <a:spLocks noChangeShapeType="1"/>
              </p:cNvSpPr>
              <p:nvPr/>
            </p:nvSpPr>
            <p:spPr bwMode="auto">
              <a:xfrm>
                <a:off x="26225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4" name="Line 299">
                <a:extLst>
                  <a:ext uri="{FF2B5EF4-FFF2-40B4-BE49-F238E27FC236}">
                    <a16:creationId xmlns:a16="http://schemas.microsoft.com/office/drawing/2014/main" id="{6CFE9873-E17E-271B-F11F-B7ECD7563FB7}"/>
                  </a:ext>
                </a:extLst>
              </p:cNvPr>
              <p:cNvSpPr>
                <a:spLocks noChangeShapeType="1"/>
              </p:cNvSpPr>
              <p:nvPr/>
            </p:nvSpPr>
            <p:spPr bwMode="auto">
              <a:xfrm>
                <a:off x="26685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5" name="Line 300">
                <a:extLst>
                  <a:ext uri="{FF2B5EF4-FFF2-40B4-BE49-F238E27FC236}">
                    <a16:creationId xmlns:a16="http://schemas.microsoft.com/office/drawing/2014/main" id="{E31F6E82-5953-181C-9A82-E07EB3184F47}"/>
                  </a:ext>
                </a:extLst>
              </p:cNvPr>
              <p:cNvSpPr>
                <a:spLocks noChangeShapeType="1"/>
              </p:cNvSpPr>
              <p:nvPr/>
            </p:nvSpPr>
            <p:spPr bwMode="auto">
              <a:xfrm>
                <a:off x="2713038"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6" name="Line 301">
                <a:extLst>
                  <a:ext uri="{FF2B5EF4-FFF2-40B4-BE49-F238E27FC236}">
                    <a16:creationId xmlns:a16="http://schemas.microsoft.com/office/drawing/2014/main" id="{DF5DD813-8B92-39BB-B96C-5C1852DB055F}"/>
                  </a:ext>
                </a:extLst>
              </p:cNvPr>
              <p:cNvSpPr>
                <a:spLocks noChangeShapeType="1"/>
              </p:cNvSpPr>
              <p:nvPr/>
            </p:nvSpPr>
            <p:spPr bwMode="auto">
              <a:xfrm>
                <a:off x="27590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7" name="Line 302">
                <a:extLst>
                  <a:ext uri="{FF2B5EF4-FFF2-40B4-BE49-F238E27FC236}">
                    <a16:creationId xmlns:a16="http://schemas.microsoft.com/office/drawing/2014/main" id="{58B2FA3B-C4F4-8890-5DBE-21D14B0336CC}"/>
                  </a:ext>
                </a:extLst>
              </p:cNvPr>
              <p:cNvSpPr>
                <a:spLocks noChangeShapeType="1"/>
              </p:cNvSpPr>
              <p:nvPr/>
            </p:nvSpPr>
            <p:spPr bwMode="auto">
              <a:xfrm>
                <a:off x="28051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8" name="Line 303">
                <a:extLst>
                  <a:ext uri="{FF2B5EF4-FFF2-40B4-BE49-F238E27FC236}">
                    <a16:creationId xmlns:a16="http://schemas.microsoft.com/office/drawing/2014/main" id="{BDAD3F99-C1D8-D295-E837-0B6B3575A8F1}"/>
                  </a:ext>
                </a:extLst>
              </p:cNvPr>
              <p:cNvSpPr>
                <a:spLocks noChangeShapeType="1"/>
              </p:cNvSpPr>
              <p:nvPr/>
            </p:nvSpPr>
            <p:spPr bwMode="auto">
              <a:xfrm>
                <a:off x="28511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9" name="Line 304">
                <a:extLst>
                  <a:ext uri="{FF2B5EF4-FFF2-40B4-BE49-F238E27FC236}">
                    <a16:creationId xmlns:a16="http://schemas.microsoft.com/office/drawing/2014/main" id="{2DEAC7A9-FE4E-D56A-D08C-D2865E388438}"/>
                  </a:ext>
                </a:extLst>
              </p:cNvPr>
              <p:cNvSpPr>
                <a:spLocks noChangeShapeType="1"/>
              </p:cNvSpPr>
              <p:nvPr/>
            </p:nvSpPr>
            <p:spPr bwMode="auto">
              <a:xfrm>
                <a:off x="28956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0" name="Line 305">
                <a:extLst>
                  <a:ext uri="{FF2B5EF4-FFF2-40B4-BE49-F238E27FC236}">
                    <a16:creationId xmlns:a16="http://schemas.microsoft.com/office/drawing/2014/main" id="{B7087EFC-29BE-4E0D-D1FA-E766E83B5F5B}"/>
                  </a:ext>
                </a:extLst>
              </p:cNvPr>
              <p:cNvSpPr>
                <a:spLocks noChangeShapeType="1"/>
              </p:cNvSpPr>
              <p:nvPr/>
            </p:nvSpPr>
            <p:spPr bwMode="auto">
              <a:xfrm>
                <a:off x="29416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1" name="Line 306">
                <a:extLst>
                  <a:ext uri="{FF2B5EF4-FFF2-40B4-BE49-F238E27FC236}">
                    <a16:creationId xmlns:a16="http://schemas.microsoft.com/office/drawing/2014/main" id="{6367C303-AFA4-9ECA-9A4A-D5CAFA1C6AF2}"/>
                  </a:ext>
                </a:extLst>
              </p:cNvPr>
              <p:cNvSpPr>
                <a:spLocks noChangeShapeType="1"/>
              </p:cNvSpPr>
              <p:nvPr/>
            </p:nvSpPr>
            <p:spPr bwMode="auto">
              <a:xfrm>
                <a:off x="29876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2" name="Line 307">
                <a:extLst>
                  <a:ext uri="{FF2B5EF4-FFF2-40B4-BE49-F238E27FC236}">
                    <a16:creationId xmlns:a16="http://schemas.microsoft.com/office/drawing/2014/main" id="{F11AFB88-49C1-8B5C-F0A1-CA1C758A8E10}"/>
                  </a:ext>
                </a:extLst>
              </p:cNvPr>
              <p:cNvSpPr>
                <a:spLocks noChangeShapeType="1"/>
              </p:cNvSpPr>
              <p:nvPr/>
            </p:nvSpPr>
            <p:spPr bwMode="auto">
              <a:xfrm>
                <a:off x="3032125"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3" name="Line 308">
                <a:extLst>
                  <a:ext uri="{FF2B5EF4-FFF2-40B4-BE49-F238E27FC236}">
                    <a16:creationId xmlns:a16="http://schemas.microsoft.com/office/drawing/2014/main" id="{4E361744-7732-13D1-E0D0-E2E490F120A4}"/>
                  </a:ext>
                </a:extLst>
              </p:cNvPr>
              <p:cNvSpPr>
                <a:spLocks noChangeShapeType="1"/>
              </p:cNvSpPr>
              <p:nvPr/>
            </p:nvSpPr>
            <p:spPr bwMode="auto">
              <a:xfrm>
                <a:off x="30781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4" name="Line 309">
                <a:extLst>
                  <a:ext uri="{FF2B5EF4-FFF2-40B4-BE49-F238E27FC236}">
                    <a16:creationId xmlns:a16="http://schemas.microsoft.com/office/drawing/2014/main" id="{F6CA2F9F-BF05-336B-88C6-1CECDE903E2F}"/>
                  </a:ext>
                </a:extLst>
              </p:cNvPr>
              <p:cNvSpPr>
                <a:spLocks noChangeShapeType="1"/>
              </p:cNvSpPr>
              <p:nvPr/>
            </p:nvSpPr>
            <p:spPr bwMode="auto">
              <a:xfrm>
                <a:off x="31242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5" name="Line 310">
                <a:extLst>
                  <a:ext uri="{FF2B5EF4-FFF2-40B4-BE49-F238E27FC236}">
                    <a16:creationId xmlns:a16="http://schemas.microsoft.com/office/drawing/2014/main" id="{94AE319C-5E17-5C04-EA51-AC6C5AEDC10D}"/>
                  </a:ext>
                </a:extLst>
              </p:cNvPr>
              <p:cNvSpPr>
                <a:spLocks noChangeShapeType="1"/>
              </p:cNvSpPr>
              <p:nvPr/>
            </p:nvSpPr>
            <p:spPr bwMode="auto">
              <a:xfrm>
                <a:off x="3168650"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6" name="Line 311">
                <a:extLst>
                  <a:ext uri="{FF2B5EF4-FFF2-40B4-BE49-F238E27FC236}">
                    <a16:creationId xmlns:a16="http://schemas.microsoft.com/office/drawing/2014/main" id="{AE30E230-2382-6074-2A3D-A02BB6764E92}"/>
                  </a:ext>
                </a:extLst>
              </p:cNvPr>
              <p:cNvSpPr>
                <a:spLocks noChangeShapeType="1"/>
              </p:cNvSpPr>
              <p:nvPr/>
            </p:nvSpPr>
            <p:spPr bwMode="auto">
              <a:xfrm>
                <a:off x="32146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7" name="Line 312">
                <a:extLst>
                  <a:ext uri="{FF2B5EF4-FFF2-40B4-BE49-F238E27FC236}">
                    <a16:creationId xmlns:a16="http://schemas.microsoft.com/office/drawing/2014/main" id="{5DCF2478-B693-95DF-83E7-95E792867C8E}"/>
                  </a:ext>
                </a:extLst>
              </p:cNvPr>
              <p:cNvSpPr>
                <a:spLocks noChangeShapeType="1"/>
              </p:cNvSpPr>
              <p:nvPr/>
            </p:nvSpPr>
            <p:spPr bwMode="auto">
              <a:xfrm>
                <a:off x="32607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8" name="Line 313">
                <a:extLst>
                  <a:ext uri="{FF2B5EF4-FFF2-40B4-BE49-F238E27FC236}">
                    <a16:creationId xmlns:a16="http://schemas.microsoft.com/office/drawing/2014/main" id="{FA5E5C16-A762-CA64-B0F0-ACEAD2170558}"/>
                  </a:ext>
                </a:extLst>
              </p:cNvPr>
              <p:cNvSpPr>
                <a:spLocks noChangeShapeType="1"/>
              </p:cNvSpPr>
              <p:nvPr/>
            </p:nvSpPr>
            <p:spPr bwMode="auto">
              <a:xfrm>
                <a:off x="33067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9" name="Line 314">
                <a:extLst>
                  <a:ext uri="{FF2B5EF4-FFF2-40B4-BE49-F238E27FC236}">
                    <a16:creationId xmlns:a16="http://schemas.microsoft.com/office/drawing/2014/main" id="{58768590-EDB0-4CC9-8E46-4A4B7F7E9E64}"/>
                  </a:ext>
                </a:extLst>
              </p:cNvPr>
              <p:cNvSpPr>
                <a:spLocks noChangeShapeType="1"/>
              </p:cNvSpPr>
              <p:nvPr/>
            </p:nvSpPr>
            <p:spPr bwMode="auto">
              <a:xfrm>
                <a:off x="33512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0" name="Line 315">
                <a:extLst>
                  <a:ext uri="{FF2B5EF4-FFF2-40B4-BE49-F238E27FC236}">
                    <a16:creationId xmlns:a16="http://schemas.microsoft.com/office/drawing/2014/main" id="{5DFB1750-D8A8-BF3C-F6C0-04334A1A6090}"/>
                  </a:ext>
                </a:extLst>
              </p:cNvPr>
              <p:cNvSpPr>
                <a:spLocks noChangeShapeType="1"/>
              </p:cNvSpPr>
              <p:nvPr/>
            </p:nvSpPr>
            <p:spPr bwMode="auto">
              <a:xfrm>
                <a:off x="33972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1" name="Line 316">
                <a:extLst>
                  <a:ext uri="{FF2B5EF4-FFF2-40B4-BE49-F238E27FC236}">
                    <a16:creationId xmlns:a16="http://schemas.microsoft.com/office/drawing/2014/main" id="{08F35A1A-8D42-7CAB-B594-839C96D9C8E7}"/>
                  </a:ext>
                </a:extLst>
              </p:cNvPr>
              <p:cNvSpPr>
                <a:spLocks noChangeShapeType="1"/>
              </p:cNvSpPr>
              <p:nvPr/>
            </p:nvSpPr>
            <p:spPr bwMode="auto">
              <a:xfrm>
                <a:off x="34432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2" name="Line 317">
                <a:extLst>
                  <a:ext uri="{FF2B5EF4-FFF2-40B4-BE49-F238E27FC236}">
                    <a16:creationId xmlns:a16="http://schemas.microsoft.com/office/drawing/2014/main" id="{0E919268-3767-DED8-B284-FBCBB11B61A4}"/>
                  </a:ext>
                </a:extLst>
              </p:cNvPr>
              <p:cNvSpPr>
                <a:spLocks noChangeShapeType="1"/>
              </p:cNvSpPr>
              <p:nvPr/>
            </p:nvSpPr>
            <p:spPr bwMode="auto">
              <a:xfrm>
                <a:off x="3487738"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3" name="Line 318">
                <a:extLst>
                  <a:ext uri="{FF2B5EF4-FFF2-40B4-BE49-F238E27FC236}">
                    <a16:creationId xmlns:a16="http://schemas.microsoft.com/office/drawing/2014/main" id="{5D25F8B5-A4CF-DF36-DA56-8C3EE6DB18A3}"/>
                  </a:ext>
                </a:extLst>
              </p:cNvPr>
              <p:cNvSpPr>
                <a:spLocks noChangeShapeType="1"/>
              </p:cNvSpPr>
              <p:nvPr/>
            </p:nvSpPr>
            <p:spPr bwMode="auto">
              <a:xfrm>
                <a:off x="35337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4" name="Line 319">
                <a:extLst>
                  <a:ext uri="{FF2B5EF4-FFF2-40B4-BE49-F238E27FC236}">
                    <a16:creationId xmlns:a16="http://schemas.microsoft.com/office/drawing/2014/main" id="{A1D12B42-791B-24DC-C898-9B8C5B65F75E}"/>
                  </a:ext>
                </a:extLst>
              </p:cNvPr>
              <p:cNvSpPr>
                <a:spLocks noChangeShapeType="1"/>
              </p:cNvSpPr>
              <p:nvPr/>
            </p:nvSpPr>
            <p:spPr bwMode="auto">
              <a:xfrm>
                <a:off x="35798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5" name="Line 320">
                <a:extLst>
                  <a:ext uri="{FF2B5EF4-FFF2-40B4-BE49-F238E27FC236}">
                    <a16:creationId xmlns:a16="http://schemas.microsoft.com/office/drawing/2014/main" id="{BED8ED6D-E656-5456-A2BC-BE83F763DE5F}"/>
                  </a:ext>
                </a:extLst>
              </p:cNvPr>
              <p:cNvSpPr>
                <a:spLocks noChangeShapeType="1"/>
              </p:cNvSpPr>
              <p:nvPr/>
            </p:nvSpPr>
            <p:spPr bwMode="auto">
              <a:xfrm>
                <a:off x="3624263"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6" name="Line 321">
                <a:extLst>
                  <a:ext uri="{FF2B5EF4-FFF2-40B4-BE49-F238E27FC236}">
                    <a16:creationId xmlns:a16="http://schemas.microsoft.com/office/drawing/2014/main" id="{B47A3793-718E-3FBF-F43A-8EEB3643A4CE}"/>
                  </a:ext>
                </a:extLst>
              </p:cNvPr>
              <p:cNvSpPr>
                <a:spLocks noChangeShapeType="1"/>
              </p:cNvSpPr>
              <p:nvPr/>
            </p:nvSpPr>
            <p:spPr bwMode="auto">
              <a:xfrm>
                <a:off x="36703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7" name="Line 322">
                <a:extLst>
                  <a:ext uri="{FF2B5EF4-FFF2-40B4-BE49-F238E27FC236}">
                    <a16:creationId xmlns:a16="http://schemas.microsoft.com/office/drawing/2014/main" id="{5D6E419A-0B35-B1D8-4512-74A701302D51}"/>
                  </a:ext>
                </a:extLst>
              </p:cNvPr>
              <p:cNvSpPr>
                <a:spLocks noChangeShapeType="1"/>
              </p:cNvSpPr>
              <p:nvPr/>
            </p:nvSpPr>
            <p:spPr bwMode="auto">
              <a:xfrm>
                <a:off x="37163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8" name="Line 323">
                <a:extLst>
                  <a:ext uri="{FF2B5EF4-FFF2-40B4-BE49-F238E27FC236}">
                    <a16:creationId xmlns:a16="http://schemas.microsoft.com/office/drawing/2014/main" id="{E88D6F5B-3D20-2F65-1F83-D2A3E096A119}"/>
                  </a:ext>
                </a:extLst>
              </p:cNvPr>
              <p:cNvSpPr>
                <a:spLocks noChangeShapeType="1"/>
              </p:cNvSpPr>
              <p:nvPr/>
            </p:nvSpPr>
            <p:spPr bwMode="auto">
              <a:xfrm>
                <a:off x="37623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9" name="Line 324">
                <a:extLst>
                  <a:ext uri="{FF2B5EF4-FFF2-40B4-BE49-F238E27FC236}">
                    <a16:creationId xmlns:a16="http://schemas.microsoft.com/office/drawing/2014/main" id="{AEEA8F11-49A2-676A-0D4B-DEB18A159400}"/>
                  </a:ext>
                </a:extLst>
              </p:cNvPr>
              <p:cNvSpPr>
                <a:spLocks noChangeShapeType="1"/>
              </p:cNvSpPr>
              <p:nvPr/>
            </p:nvSpPr>
            <p:spPr bwMode="auto">
              <a:xfrm>
                <a:off x="38068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0" name="Line 325">
                <a:extLst>
                  <a:ext uri="{FF2B5EF4-FFF2-40B4-BE49-F238E27FC236}">
                    <a16:creationId xmlns:a16="http://schemas.microsoft.com/office/drawing/2014/main" id="{B38859BB-6FF2-E310-0209-9ABDBE46A006}"/>
                  </a:ext>
                </a:extLst>
              </p:cNvPr>
              <p:cNvSpPr>
                <a:spLocks noChangeShapeType="1"/>
              </p:cNvSpPr>
              <p:nvPr/>
            </p:nvSpPr>
            <p:spPr bwMode="auto">
              <a:xfrm>
                <a:off x="38528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1" name="Line 326">
                <a:extLst>
                  <a:ext uri="{FF2B5EF4-FFF2-40B4-BE49-F238E27FC236}">
                    <a16:creationId xmlns:a16="http://schemas.microsoft.com/office/drawing/2014/main" id="{65A81A43-299A-0963-2810-71A26C2FA424}"/>
                  </a:ext>
                </a:extLst>
              </p:cNvPr>
              <p:cNvSpPr>
                <a:spLocks noChangeShapeType="1"/>
              </p:cNvSpPr>
              <p:nvPr/>
            </p:nvSpPr>
            <p:spPr bwMode="auto">
              <a:xfrm>
                <a:off x="38989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2" name="Line 327">
                <a:extLst>
                  <a:ext uri="{FF2B5EF4-FFF2-40B4-BE49-F238E27FC236}">
                    <a16:creationId xmlns:a16="http://schemas.microsoft.com/office/drawing/2014/main" id="{840ACF26-64A2-A5A2-5B5E-EFDADA057793}"/>
                  </a:ext>
                </a:extLst>
              </p:cNvPr>
              <p:cNvSpPr>
                <a:spLocks noChangeShapeType="1"/>
              </p:cNvSpPr>
              <p:nvPr/>
            </p:nvSpPr>
            <p:spPr bwMode="auto">
              <a:xfrm>
                <a:off x="3943350"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3" name="Line 328">
                <a:extLst>
                  <a:ext uri="{FF2B5EF4-FFF2-40B4-BE49-F238E27FC236}">
                    <a16:creationId xmlns:a16="http://schemas.microsoft.com/office/drawing/2014/main" id="{B6F1342E-4EFF-7585-B87A-D46FA048859D}"/>
                  </a:ext>
                </a:extLst>
              </p:cNvPr>
              <p:cNvSpPr>
                <a:spLocks noChangeShapeType="1"/>
              </p:cNvSpPr>
              <p:nvPr/>
            </p:nvSpPr>
            <p:spPr bwMode="auto">
              <a:xfrm>
                <a:off x="39893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4" name="Line 329">
                <a:extLst>
                  <a:ext uri="{FF2B5EF4-FFF2-40B4-BE49-F238E27FC236}">
                    <a16:creationId xmlns:a16="http://schemas.microsoft.com/office/drawing/2014/main" id="{F1A56DCB-859A-01AA-7B0B-2B574E4775E0}"/>
                  </a:ext>
                </a:extLst>
              </p:cNvPr>
              <p:cNvSpPr>
                <a:spLocks noChangeShapeType="1"/>
              </p:cNvSpPr>
              <p:nvPr/>
            </p:nvSpPr>
            <p:spPr bwMode="auto">
              <a:xfrm>
                <a:off x="40354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5" name="Line 330">
                <a:extLst>
                  <a:ext uri="{FF2B5EF4-FFF2-40B4-BE49-F238E27FC236}">
                    <a16:creationId xmlns:a16="http://schemas.microsoft.com/office/drawing/2014/main" id="{957A575D-0C2F-19EA-9DD7-202809A03103}"/>
                  </a:ext>
                </a:extLst>
              </p:cNvPr>
              <p:cNvSpPr>
                <a:spLocks noChangeShapeType="1"/>
              </p:cNvSpPr>
              <p:nvPr/>
            </p:nvSpPr>
            <p:spPr bwMode="auto">
              <a:xfrm>
                <a:off x="4079875"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6" name="Line 331">
                <a:extLst>
                  <a:ext uri="{FF2B5EF4-FFF2-40B4-BE49-F238E27FC236}">
                    <a16:creationId xmlns:a16="http://schemas.microsoft.com/office/drawing/2014/main" id="{9FDDA38E-2CFF-DA4F-42AC-3461EEDCFB26}"/>
                  </a:ext>
                </a:extLst>
              </p:cNvPr>
              <p:cNvSpPr>
                <a:spLocks noChangeShapeType="1"/>
              </p:cNvSpPr>
              <p:nvPr/>
            </p:nvSpPr>
            <p:spPr bwMode="auto">
              <a:xfrm>
                <a:off x="41259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7" name="Line 332">
                <a:extLst>
                  <a:ext uri="{FF2B5EF4-FFF2-40B4-BE49-F238E27FC236}">
                    <a16:creationId xmlns:a16="http://schemas.microsoft.com/office/drawing/2014/main" id="{C26838E9-24B3-6022-C09B-E38A1A3994B6}"/>
                  </a:ext>
                </a:extLst>
              </p:cNvPr>
              <p:cNvSpPr>
                <a:spLocks noChangeShapeType="1"/>
              </p:cNvSpPr>
              <p:nvPr/>
            </p:nvSpPr>
            <p:spPr bwMode="auto">
              <a:xfrm>
                <a:off x="41719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8" name="Line 333">
                <a:extLst>
                  <a:ext uri="{FF2B5EF4-FFF2-40B4-BE49-F238E27FC236}">
                    <a16:creationId xmlns:a16="http://schemas.microsoft.com/office/drawing/2014/main" id="{249985F1-CF40-751E-FAC8-3C80D86B0F09}"/>
                  </a:ext>
                </a:extLst>
              </p:cNvPr>
              <p:cNvSpPr>
                <a:spLocks noChangeShapeType="1"/>
              </p:cNvSpPr>
              <p:nvPr/>
            </p:nvSpPr>
            <p:spPr bwMode="auto">
              <a:xfrm>
                <a:off x="42179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9" name="Line 334">
                <a:extLst>
                  <a:ext uri="{FF2B5EF4-FFF2-40B4-BE49-F238E27FC236}">
                    <a16:creationId xmlns:a16="http://schemas.microsoft.com/office/drawing/2014/main" id="{C318AE6A-3C35-CD16-0B84-03A59BF75620}"/>
                  </a:ext>
                </a:extLst>
              </p:cNvPr>
              <p:cNvSpPr>
                <a:spLocks noChangeShapeType="1"/>
              </p:cNvSpPr>
              <p:nvPr/>
            </p:nvSpPr>
            <p:spPr bwMode="auto">
              <a:xfrm>
                <a:off x="42624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0" name="Line 335">
                <a:extLst>
                  <a:ext uri="{FF2B5EF4-FFF2-40B4-BE49-F238E27FC236}">
                    <a16:creationId xmlns:a16="http://schemas.microsoft.com/office/drawing/2014/main" id="{59B361DD-855D-F7EA-728F-AFE26A537FD4}"/>
                  </a:ext>
                </a:extLst>
              </p:cNvPr>
              <p:cNvSpPr>
                <a:spLocks noChangeShapeType="1"/>
              </p:cNvSpPr>
              <p:nvPr/>
            </p:nvSpPr>
            <p:spPr bwMode="auto">
              <a:xfrm>
                <a:off x="43084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1" name="Line 336">
                <a:extLst>
                  <a:ext uri="{FF2B5EF4-FFF2-40B4-BE49-F238E27FC236}">
                    <a16:creationId xmlns:a16="http://schemas.microsoft.com/office/drawing/2014/main" id="{F5A5A4E3-C2CA-1E4F-1DF8-3647591429C9}"/>
                  </a:ext>
                </a:extLst>
              </p:cNvPr>
              <p:cNvSpPr>
                <a:spLocks noChangeShapeType="1"/>
              </p:cNvSpPr>
              <p:nvPr/>
            </p:nvSpPr>
            <p:spPr bwMode="auto">
              <a:xfrm>
                <a:off x="43545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2" name="Line 337">
                <a:extLst>
                  <a:ext uri="{FF2B5EF4-FFF2-40B4-BE49-F238E27FC236}">
                    <a16:creationId xmlns:a16="http://schemas.microsoft.com/office/drawing/2014/main" id="{A44FFCBE-128E-6809-34EE-922A9911C231}"/>
                  </a:ext>
                </a:extLst>
              </p:cNvPr>
              <p:cNvSpPr>
                <a:spLocks noChangeShapeType="1"/>
              </p:cNvSpPr>
              <p:nvPr/>
            </p:nvSpPr>
            <p:spPr bwMode="auto">
              <a:xfrm>
                <a:off x="4398963"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3" name="Line 338">
                <a:extLst>
                  <a:ext uri="{FF2B5EF4-FFF2-40B4-BE49-F238E27FC236}">
                    <a16:creationId xmlns:a16="http://schemas.microsoft.com/office/drawing/2014/main" id="{98DE185A-05AA-0DAD-5B99-B4AAC3020EDF}"/>
                  </a:ext>
                </a:extLst>
              </p:cNvPr>
              <p:cNvSpPr>
                <a:spLocks noChangeShapeType="1"/>
              </p:cNvSpPr>
              <p:nvPr/>
            </p:nvSpPr>
            <p:spPr bwMode="auto">
              <a:xfrm>
                <a:off x="44450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4" name="Line 339">
                <a:extLst>
                  <a:ext uri="{FF2B5EF4-FFF2-40B4-BE49-F238E27FC236}">
                    <a16:creationId xmlns:a16="http://schemas.microsoft.com/office/drawing/2014/main" id="{2681CDFB-ADE7-07BD-83D7-AE2EF1BA1595}"/>
                  </a:ext>
                </a:extLst>
              </p:cNvPr>
              <p:cNvSpPr>
                <a:spLocks noChangeShapeType="1"/>
              </p:cNvSpPr>
              <p:nvPr/>
            </p:nvSpPr>
            <p:spPr bwMode="auto">
              <a:xfrm>
                <a:off x="44910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5" name="Line 340">
                <a:extLst>
                  <a:ext uri="{FF2B5EF4-FFF2-40B4-BE49-F238E27FC236}">
                    <a16:creationId xmlns:a16="http://schemas.microsoft.com/office/drawing/2014/main" id="{84DD024E-BF1F-AB71-4369-2EA1AE9B5D20}"/>
                  </a:ext>
                </a:extLst>
              </p:cNvPr>
              <p:cNvSpPr>
                <a:spLocks noChangeShapeType="1"/>
              </p:cNvSpPr>
              <p:nvPr/>
            </p:nvSpPr>
            <p:spPr bwMode="auto">
              <a:xfrm>
                <a:off x="4535488"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6" name="Line 341">
                <a:extLst>
                  <a:ext uri="{FF2B5EF4-FFF2-40B4-BE49-F238E27FC236}">
                    <a16:creationId xmlns:a16="http://schemas.microsoft.com/office/drawing/2014/main" id="{DE8200B4-9EDC-A397-0CD6-D2FA1E4BB40A}"/>
                  </a:ext>
                </a:extLst>
              </p:cNvPr>
              <p:cNvSpPr>
                <a:spLocks noChangeShapeType="1"/>
              </p:cNvSpPr>
              <p:nvPr/>
            </p:nvSpPr>
            <p:spPr bwMode="auto">
              <a:xfrm>
                <a:off x="45815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7" name="Line 342">
                <a:extLst>
                  <a:ext uri="{FF2B5EF4-FFF2-40B4-BE49-F238E27FC236}">
                    <a16:creationId xmlns:a16="http://schemas.microsoft.com/office/drawing/2014/main" id="{7AF5FE79-DD7C-BB75-DF51-7099E1EB0922}"/>
                  </a:ext>
                </a:extLst>
              </p:cNvPr>
              <p:cNvSpPr>
                <a:spLocks noChangeShapeType="1"/>
              </p:cNvSpPr>
              <p:nvPr/>
            </p:nvSpPr>
            <p:spPr bwMode="auto">
              <a:xfrm>
                <a:off x="46275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8" name="Line 343">
                <a:extLst>
                  <a:ext uri="{FF2B5EF4-FFF2-40B4-BE49-F238E27FC236}">
                    <a16:creationId xmlns:a16="http://schemas.microsoft.com/office/drawing/2014/main" id="{557A5F98-4140-5CA7-3E94-90E2A299F5CB}"/>
                  </a:ext>
                </a:extLst>
              </p:cNvPr>
              <p:cNvSpPr>
                <a:spLocks noChangeShapeType="1"/>
              </p:cNvSpPr>
              <p:nvPr/>
            </p:nvSpPr>
            <p:spPr bwMode="auto">
              <a:xfrm>
                <a:off x="46736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9" name="Line 344">
                <a:extLst>
                  <a:ext uri="{FF2B5EF4-FFF2-40B4-BE49-F238E27FC236}">
                    <a16:creationId xmlns:a16="http://schemas.microsoft.com/office/drawing/2014/main" id="{F22A92A0-BB68-6778-EB2B-C513030FDA56}"/>
                  </a:ext>
                </a:extLst>
              </p:cNvPr>
              <p:cNvSpPr>
                <a:spLocks noChangeShapeType="1"/>
              </p:cNvSpPr>
              <p:nvPr/>
            </p:nvSpPr>
            <p:spPr bwMode="auto">
              <a:xfrm>
                <a:off x="47180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0" name="Line 345">
                <a:extLst>
                  <a:ext uri="{FF2B5EF4-FFF2-40B4-BE49-F238E27FC236}">
                    <a16:creationId xmlns:a16="http://schemas.microsoft.com/office/drawing/2014/main" id="{7CFF3FAF-DBD7-7945-C4C7-9548D3F9F801}"/>
                  </a:ext>
                </a:extLst>
              </p:cNvPr>
              <p:cNvSpPr>
                <a:spLocks noChangeShapeType="1"/>
              </p:cNvSpPr>
              <p:nvPr/>
            </p:nvSpPr>
            <p:spPr bwMode="auto">
              <a:xfrm>
                <a:off x="47640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1" name="Line 346">
                <a:extLst>
                  <a:ext uri="{FF2B5EF4-FFF2-40B4-BE49-F238E27FC236}">
                    <a16:creationId xmlns:a16="http://schemas.microsoft.com/office/drawing/2014/main" id="{18FD3E0A-D6C7-7495-B622-97A943662526}"/>
                  </a:ext>
                </a:extLst>
              </p:cNvPr>
              <p:cNvSpPr>
                <a:spLocks noChangeShapeType="1"/>
              </p:cNvSpPr>
              <p:nvPr/>
            </p:nvSpPr>
            <p:spPr bwMode="auto">
              <a:xfrm>
                <a:off x="48101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2" name="Line 347">
                <a:extLst>
                  <a:ext uri="{FF2B5EF4-FFF2-40B4-BE49-F238E27FC236}">
                    <a16:creationId xmlns:a16="http://schemas.microsoft.com/office/drawing/2014/main" id="{0ECC7462-4BB2-EAA2-1BD0-D6BC7268206F}"/>
                  </a:ext>
                </a:extLst>
              </p:cNvPr>
              <p:cNvSpPr>
                <a:spLocks noChangeShapeType="1"/>
              </p:cNvSpPr>
              <p:nvPr/>
            </p:nvSpPr>
            <p:spPr bwMode="auto">
              <a:xfrm>
                <a:off x="4854575"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3" name="Line 348">
                <a:extLst>
                  <a:ext uri="{FF2B5EF4-FFF2-40B4-BE49-F238E27FC236}">
                    <a16:creationId xmlns:a16="http://schemas.microsoft.com/office/drawing/2014/main" id="{0F0E4CA0-5F26-78FA-5212-D125033FF28B}"/>
                  </a:ext>
                </a:extLst>
              </p:cNvPr>
              <p:cNvSpPr>
                <a:spLocks noChangeShapeType="1"/>
              </p:cNvSpPr>
              <p:nvPr/>
            </p:nvSpPr>
            <p:spPr bwMode="auto">
              <a:xfrm>
                <a:off x="49006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4" name="Line 349">
                <a:extLst>
                  <a:ext uri="{FF2B5EF4-FFF2-40B4-BE49-F238E27FC236}">
                    <a16:creationId xmlns:a16="http://schemas.microsoft.com/office/drawing/2014/main" id="{C0518134-D9B0-3FED-646A-9C7505E9BCAB}"/>
                  </a:ext>
                </a:extLst>
              </p:cNvPr>
              <p:cNvSpPr>
                <a:spLocks noChangeShapeType="1"/>
              </p:cNvSpPr>
              <p:nvPr/>
            </p:nvSpPr>
            <p:spPr bwMode="auto">
              <a:xfrm>
                <a:off x="49466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5" name="Line 350">
                <a:extLst>
                  <a:ext uri="{FF2B5EF4-FFF2-40B4-BE49-F238E27FC236}">
                    <a16:creationId xmlns:a16="http://schemas.microsoft.com/office/drawing/2014/main" id="{81B0161B-3A41-E2BD-259A-8E6DFB95FFD8}"/>
                  </a:ext>
                </a:extLst>
              </p:cNvPr>
              <p:cNvSpPr>
                <a:spLocks noChangeShapeType="1"/>
              </p:cNvSpPr>
              <p:nvPr/>
            </p:nvSpPr>
            <p:spPr bwMode="auto">
              <a:xfrm>
                <a:off x="4991100"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6" name="Line 351">
                <a:extLst>
                  <a:ext uri="{FF2B5EF4-FFF2-40B4-BE49-F238E27FC236}">
                    <a16:creationId xmlns:a16="http://schemas.microsoft.com/office/drawing/2014/main" id="{9AE024FB-9652-BE69-E125-7B2C5BAC82E5}"/>
                  </a:ext>
                </a:extLst>
              </p:cNvPr>
              <p:cNvSpPr>
                <a:spLocks noChangeShapeType="1"/>
              </p:cNvSpPr>
              <p:nvPr/>
            </p:nvSpPr>
            <p:spPr bwMode="auto">
              <a:xfrm>
                <a:off x="50371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7" name="Line 352">
                <a:extLst>
                  <a:ext uri="{FF2B5EF4-FFF2-40B4-BE49-F238E27FC236}">
                    <a16:creationId xmlns:a16="http://schemas.microsoft.com/office/drawing/2014/main" id="{87B9DF96-878D-4EF0-80F6-1439C07C44F4}"/>
                  </a:ext>
                </a:extLst>
              </p:cNvPr>
              <p:cNvSpPr>
                <a:spLocks noChangeShapeType="1"/>
              </p:cNvSpPr>
              <p:nvPr/>
            </p:nvSpPr>
            <p:spPr bwMode="auto">
              <a:xfrm>
                <a:off x="50831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8" name="Line 353">
                <a:extLst>
                  <a:ext uri="{FF2B5EF4-FFF2-40B4-BE49-F238E27FC236}">
                    <a16:creationId xmlns:a16="http://schemas.microsoft.com/office/drawing/2014/main" id="{2F740D87-3AEB-3A94-86D9-906E768B6047}"/>
                  </a:ext>
                </a:extLst>
              </p:cNvPr>
              <p:cNvSpPr>
                <a:spLocks noChangeShapeType="1"/>
              </p:cNvSpPr>
              <p:nvPr/>
            </p:nvSpPr>
            <p:spPr bwMode="auto">
              <a:xfrm>
                <a:off x="51292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9" name="Line 354">
                <a:extLst>
                  <a:ext uri="{FF2B5EF4-FFF2-40B4-BE49-F238E27FC236}">
                    <a16:creationId xmlns:a16="http://schemas.microsoft.com/office/drawing/2014/main" id="{1B9CE051-5595-EEEA-0376-FB9F97E3CE80}"/>
                  </a:ext>
                </a:extLst>
              </p:cNvPr>
              <p:cNvSpPr>
                <a:spLocks noChangeShapeType="1"/>
              </p:cNvSpPr>
              <p:nvPr/>
            </p:nvSpPr>
            <p:spPr bwMode="auto">
              <a:xfrm>
                <a:off x="51736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0" name="Line 355">
                <a:extLst>
                  <a:ext uri="{FF2B5EF4-FFF2-40B4-BE49-F238E27FC236}">
                    <a16:creationId xmlns:a16="http://schemas.microsoft.com/office/drawing/2014/main" id="{DBB2E104-4C3E-B095-8585-35D95AD8AB5D}"/>
                  </a:ext>
                </a:extLst>
              </p:cNvPr>
              <p:cNvSpPr>
                <a:spLocks noChangeShapeType="1"/>
              </p:cNvSpPr>
              <p:nvPr/>
            </p:nvSpPr>
            <p:spPr bwMode="auto">
              <a:xfrm>
                <a:off x="52197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1" name="Line 356">
                <a:extLst>
                  <a:ext uri="{FF2B5EF4-FFF2-40B4-BE49-F238E27FC236}">
                    <a16:creationId xmlns:a16="http://schemas.microsoft.com/office/drawing/2014/main" id="{8C6C0422-4E70-DA83-79B8-ADECC2C2C6F3}"/>
                  </a:ext>
                </a:extLst>
              </p:cNvPr>
              <p:cNvSpPr>
                <a:spLocks noChangeShapeType="1"/>
              </p:cNvSpPr>
              <p:nvPr/>
            </p:nvSpPr>
            <p:spPr bwMode="auto">
              <a:xfrm>
                <a:off x="52657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2" name="Line 357">
                <a:extLst>
                  <a:ext uri="{FF2B5EF4-FFF2-40B4-BE49-F238E27FC236}">
                    <a16:creationId xmlns:a16="http://schemas.microsoft.com/office/drawing/2014/main" id="{AB1E58D7-9532-D8EC-243C-9700966AAF80}"/>
                  </a:ext>
                </a:extLst>
              </p:cNvPr>
              <p:cNvSpPr>
                <a:spLocks noChangeShapeType="1"/>
              </p:cNvSpPr>
              <p:nvPr/>
            </p:nvSpPr>
            <p:spPr bwMode="auto">
              <a:xfrm>
                <a:off x="5310188"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3" name="Line 358">
                <a:extLst>
                  <a:ext uri="{FF2B5EF4-FFF2-40B4-BE49-F238E27FC236}">
                    <a16:creationId xmlns:a16="http://schemas.microsoft.com/office/drawing/2014/main" id="{FBE50D25-D5F3-31EA-82AE-27AEFCAFB089}"/>
                  </a:ext>
                </a:extLst>
              </p:cNvPr>
              <p:cNvSpPr>
                <a:spLocks noChangeShapeType="1"/>
              </p:cNvSpPr>
              <p:nvPr/>
            </p:nvSpPr>
            <p:spPr bwMode="auto">
              <a:xfrm>
                <a:off x="53562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4" name="Line 359">
                <a:extLst>
                  <a:ext uri="{FF2B5EF4-FFF2-40B4-BE49-F238E27FC236}">
                    <a16:creationId xmlns:a16="http://schemas.microsoft.com/office/drawing/2014/main" id="{108A6CDA-E022-A61A-A19D-DA5C29B0FBB2}"/>
                  </a:ext>
                </a:extLst>
              </p:cNvPr>
              <p:cNvSpPr>
                <a:spLocks noChangeShapeType="1"/>
              </p:cNvSpPr>
              <p:nvPr/>
            </p:nvSpPr>
            <p:spPr bwMode="auto">
              <a:xfrm>
                <a:off x="54022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5" name="Line 360">
                <a:extLst>
                  <a:ext uri="{FF2B5EF4-FFF2-40B4-BE49-F238E27FC236}">
                    <a16:creationId xmlns:a16="http://schemas.microsoft.com/office/drawing/2014/main" id="{F380B55A-CB09-877C-8CE2-F2D99A46A259}"/>
                  </a:ext>
                </a:extLst>
              </p:cNvPr>
              <p:cNvSpPr>
                <a:spLocks noChangeShapeType="1"/>
              </p:cNvSpPr>
              <p:nvPr/>
            </p:nvSpPr>
            <p:spPr bwMode="auto">
              <a:xfrm>
                <a:off x="5446713"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6" name="Line 361">
                <a:extLst>
                  <a:ext uri="{FF2B5EF4-FFF2-40B4-BE49-F238E27FC236}">
                    <a16:creationId xmlns:a16="http://schemas.microsoft.com/office/drawing/2014/main" id="{FC6B3F58-D6EF-BCE3-71A0-9B17A78654A7}"/>
                  </a:ext>
                </a:extLst>
              </p:cNvPr>
              <p:cNvSpPr>
                <a:spLocks noChangeShapeType="1"/>
              </p:cNvSpPr>
              <p:nvPr/>
            </p:nvSpPr>
            <p:spPr bwMode="auto">
              <a:xfrm>
                <a:off x="54927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7" name="Line 362">
                <a:extLst>
                  <a:ext uri="{FF2B5EF4-FFF2-40B4-BE49-F238E27FC236}">
                    <a16:creationId xmlns:a16="http://schemas.microsoft.com/office/drawing/2014/main" id="{78951B74-5A48-5FCE-7A5B-99876E09E6A6}"/>
                  </a:ext>
                </a:extLst>
              </p:cNvPr>
              <p:cNvSpPr>
                <a:spLocks noChangeShapeType="1"/>
              </p:cNvSpPr>
              <p:nvPr/>
            </p:nvSpPr>
            <p:spPr bwMode="auto">
              <a:xfrm>
                <a:off x="55387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8" name="Line 363">
                <a:extLst>
                  <a:ext uri="{FF2B5EF4-FFF2-40B4-BE49-F238E27FC236}">
                    <a16:creationId xmlns:a16="http://schemas.microsoft.com/office/drawing/2014/main" id="{70D7025F-B271-BD1E-8F74-13300A444FC8}"/>
                  </a:ext>
                </a:extLst>
              </p:cNvPr>
              <p:cNvSpPr>
                <a:spLocks noChangeShapeType="1"/>
              </p:cNvSpPr>
              <p:nvPr/>
            </p:nvSpPr>
            <p:spPr bwMode="auto">
              <a:xfrm>
                <a:off x="55848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9" name="Line 364">
                <a:extLst>
                  <a:ext uri="{FF2B5EF4-FFF2-40B4-BE49-F238E27FC236}">
                    <a16:creationId xmlns:a16="http://schemas.microsoft.com/office/drawing/2014/main" id="{FD4C1B03-84C7-7FAC-082F-452FA2FE508F}"/>
                  </a:ext>
                </a:extLst>
              </p:cNvPr>
              <p:cNvSpPr>
                <a:spLocks noChangeShapeType="1"/>
              </p:cNvSpPr>
              <p:nvPr/>
            </p:nvSpPr>
            <p:spPr bwMode="auto">
              <a:xfrm>
                <a:off x="56292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0" name="Line 365">
                <a:extLst>
                  <a:ext uri="{FF2B5EF4-FFF2-40B4-BE49-F238E27FC236}">
                    <a16:creationId xmlns:a16="http://schemas.microsoft.com/office/drawing/2014/main" id="{03D09BB0-65CF-711F-F90E-35AFC4633A6A}"/>
                  </a:ext>
                </a:extLst>
              </p:cNvPr>
              <p:cNvSpPr>
                <a:spLocks noChangeShapeType="1"/>
              </p:cNvSpPr>
              <p:nvPr/>
            </p:nvSpPr>
            <p:spPr bwMode="auto">
              <a:xfrm>
                <a:off x="56753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1" name="Line 366">
                <a:extLst>
                  <a:ext uri="{FF2B5EF4-FFF2-40B4-BE49-F238E27FC236}">
                    <a16:creationId xmlns:a16="http://schemas.microsoft.com/office/drawing/2014/main" id="{DAA1DA73-AC10-8012-85E6-7D464D55BC45}"/>
                  </a:ext>
                </a:extLst>
              </p:cNvPr>
              <p:cNvSpPr>
                <a:spLocks noChangeShapeType="1"/>
              </p:cNvSpPr>
              <p:nvPr/>
            </p:nvSpPr>
            <p:spPr bwMode="auto">
              <a:xfrm>
                <a:off x="57213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2" name="Line 367">
                <a:extLst>
                  <a:ext uri="{FF2B5EF4-FFF2-40B4-BE49-F238E27FC236}">
                    <a16:creationId xmlns:a16="http://schemas.microsoft.com/office/drawing/2014/main" id="{572F3E11-7157-A0C2-8C9B-CDB42DDB8001}"/>
                  </a:ext>
                </a:extLst>
              </p:cNvPr>
              <p:cNvSpPr>
                <a:spLocks noChangeShapeType="1"/>
              </p:cNvSpPr>
              <p:nvPr/>
            </p:nvSpPr>
            <p:spPr bwMode="auto">
              <a:xfrm>
                <a:off x="5765800"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3" name="Line 368">
                <a:extLst>
                  <a:ext uri="{FF2B5EF4-FFF2-40B4-BE49-F238E27FC236}">
                    <a16:creationId xmlns:a16="http://schemas.microsoft.com/office/drawing/2014/main" id="{7F4948F2-7C67-FC4A-88CC-37BE746770F2}"/>
                  </a:ext>
                </a:extLst>
              </p:cNvPr>
              <p:cNvSpPr>
                <a:spLocks noChangeShapeType="1"/>
              </p:cNvSpPr>
              <p:nvPr/>
            </p:nvSpPr>
            <p:spPr bwMode="auto">
              <a:xfrm>
                <a:off x="58118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4" name="Line 369">
                <a:extLst>
                  <a:ext uri="{FF2B5EF4-FFF2-40B4-BE49-F238E27FC236}">
                    <a16:creationId xmlns:a16="http://schemas.microsoft.com/office/drawing/2014/main" id="{28C3F38D-A92D-EC4D-8AFA-A64A06950AFF}"/>
                  </a:ext>
                </a:extLst>
              </p:cNvPr>
              <p:cNvSpPr>
                <a:spLocks noChangeShapeType="1"/>
              </p:cNvSpPr>
              <p:nvPr/>
            </p:nvSpPr>
            <p:spPr bwMode="auto">
              <a:xfrm>
                <a:off x="58578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5" name="Line 370">
                <a:extLst>
                  <a:ext uri="{FF2B5EF4-FFF2-40B4-BE49-F238E27FC236}">
                    <a16:creationId xmlns:a16="http://schemas.microsoft.com/office/drawing/2014/main" id="{5EB66761-3EB4-4DF8-6108-D5AC32E603E8}"/>
                  </a:ext>
                </a:extLst>
              </p:cNvPr>
              <p:cNvSpPr>
                <a:spLocks noChangeShapeType="1"/>
              </p:cNvSpPr>
              <p:nvPr/>
            </p:nvSpPr>
            <p:spPr bwMode="auto">
              <a:xfrm>
                <a:off x="5902325"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6" name="Line 371">
                <a:extLst>
                  <a:ext uri="{FF2B5EF4-FFF2-40B4-BE49-F238E27FC236}">
                    <a16:creationId xmlns:a16="http://schemas.microsoft.com/office/drawing/2014/main" id="{29530006-002C-2756-D206-FEE3B1E1CE27}"/>
                  </a:ext>
                </a:extLst>
              </p:cNvPr>
              <p:cNvSpPr>
                <a:spLocks noChangeShapeType="1"/>
              </p:cNvSpPr>
              <p:nvPr/>
            </p:nvSpPr>
            <p:spPr bwMode="auto">
              <a:xfrm>
                <a:off x="59483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7" name="Line 372">
                <a:extLst>
                  <a:ext uri="{FF2B5EF4-FFF2-40B4-BE49-F238E27FC236}">
                    <a16:creationId xmlns:a16="http://schemas.microsoft.com/office/drawing/2014/main" id="{30745044-80E0-EA12-8E02-255AD155C85D}"/>
                  </a:ext>
                </a:extLst>
              </p:cNvPr>
              <p:cNvSpPr>
                <a:spLocks noChangeShapeType="1"/>
              </p:cNvSpPr>
              <p:nvPr/>
            </p:nvSpPr>
            <p:spPr bwMode="auto">
              <a:xfrm>
                <a:off x="59944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8" name="Line 373">
                <a:extLst>
                  <a:ext uri="{FF2B5EF4-FFF2-40B4-BE49-F238E27FC236}">
                    <a16:creationId xmlns:a16="http://schemas.microsoft.com/office/drawing/2014/main" id="{D35352C8-04EB-0E75-83C3-C58E369E4E54}"/>
                  </a:ext>
                </a:extLst>
              </p:cNvPr>
              <p:cNvSpPr>
                <a:spLocks noChangeShapeType="1"/>
              </p:cNvSpPr>
              <p:nvPr/>
            </p:nvSpPr>
            <p:spPr bwMode="auto">
              <a:xfrm>
                <a:off x="60404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9" name="Line 374">
                <a:extLst>
                  <a:ext uri="{FF2B5EF4-FFF2-40B4-BE49-F238E27FC236}">
                    <a16:creationId xmlns:a16="http://schemas.microsoft.com/office/drawing/2014/main" id="{998F6ED7-2049-5FE2-5DF0-BAB412C407BC}"/>
                  </a:ext>
                </a:extLst>
              </p:cNvPr>
              <p:cNvSpPr>
                <a:spLocks noChangeShapeType="1"/>
              </p:cNvSpPr>
              <p:nvPr/>
            </p:nvSpPr>
            <p:spPr bwMode="auto">
              <a:xfrm>
                <a:off x="60848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0" name="Line 375">
                <a:extLst>
                  <a:ext uri="{FF2B5EF4-FFF2-40B4-BE49-F238E27FC236}">
                    <a16:creationId xmlns:a16="http://schemas.microsoft.com/office/drawing/2014/main" id="{A262E844-9F62-33FF-48F6-6475BB1A14B4}"/>
                  </a:ext>
                </a:extLst>
              </p:cNvPr>
              <p:cNvSpPr>
                <a:spLocks noChangeShapeType="1"/>
              </p:cNvSpPr>
              <p:nvPr/>
            </p:nvSpPr>
            <p:spPr bwMode="auto">
              <a:xfrm>
                <a:off x="61309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1" name="Line 376">
                <a:extLst>
                  <a:ext uri="{FF2B5EF4-FFF2-40B4-BE49-F238E27FC236}">
                    <a16:creationId xmlns:a16="http://schemas.microsoft.com/office/drawing/2014/main" id="{266C2BCC-7120-691D-553E-6ACE744C6956}"/>
                  </a:ext>
                </a:extLst>
              </p:cNvPr>
              <p:cNvSpPr>
                <a:spLocks noChangeShapeType="1"/>
              </p:cNvSpPr>
              <p:nvPr/>
            </p:nvSpPr>
            <p:spPr bwMode="auto">
              <a:xfrm>
                <a:off x="61769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2" name="Line 377">
                <a:extLst>
                  <a:ext uri="{FF2B5EF4-FFF2-40B4-BE49-F238E27FC236}">
                    <a16:creationId xmlns:a16="http://schemas.microsoft.com/office/drawing/2014/main" id="{90116AC0-932F-D867-8916-7AFD927EE2A1}"/>
                  </a:ext>
                </a:extLst>
              </p:cNvPr>
              <p:cNvSpPr>
                <a:spLocks noChangeShapeType="1"/>
              </p:cNvSpPr>
              <p:nvPr/>
            </p:nvSpPr>
            <p:spPr bwMode="auto">
              <a:xfrm>
                <a:off x="6221413"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3" name="Line 378">
                <a:extLst>
                  <a:ext uri="{FF2B5EF4-FFF2-40B4-BE49-F238E27FC236}">
                    <a16:creationId xmlns:a16="http://schemas.microsoft.com/office/drawing/2014/main" id="{DD221EE6-CA43-DE31-885C-8C2E843719CD}"/>
                  </a:ext>
                </a:extLst>
              </p:cNvPr>
              <p:cNvSpPr>
                <a:spLocks noChangeShapeType="1"/>
              </p:cNvSpPr>
              <p:nvPr/>
            </p:nvSpPr>
            <p:spPr bwMode="auto">
              <a:xfrm>
                <a:off x="62674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4" name="Line 379">
                <a:extLst>
                  <a:ext uri="{FF2B5EF4-FFF2-40B4-BE49-F238E27FC236}">
                    <a16:creationId xmlns:a16="http://schemas.microsoft.com/office/drawing/2014/main" id="{39834CFF-A80C-EF47-2C19-9B558F37C4EA}"/>
                  </a:ext>
                </a:extLst>
              </p:cNvPr>
              <p:cNvSpPr>
                <a:spLocks noChangeShapeType="1"/>
              </p:cNvSpPr>
              <p:nvPr/>
            </p:nvSpPr>
            <p:spPr bwMode="auto">
              <a:xfrm>
                <a:off x="63134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5" name="Line 380">
                <a:extLst>
                  <a:ext uri="{FF2B5EF4-FFF2-40B4-BE49-F238E27FC236}">
                    <a16:creationId xmlns:a16="http://schemas.microsoft.com/office/drawing/2014/main" id="{5F57B4E0-2F29-6ADD-F547-80FE35E57186}"/>
                  </a:ext>
                </a:extLst>
              </p:cNvPr>
              <p:cNvSpPr>
                <a:spLocks noChangeShapeType="1"/>
              </p:cNvSpPr>
              <p:nvPr/>
            </p:nvSpPr>
            <p:spPr bwMode="auto">
              <a:xfrm>
                <a:off x="6357938"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6" name="Line 381">
                <a:extLst>
                  <a:ext uri="{FF2B5EF4-FFF2-40B4-BE49-F238E27FC236}">
                    <a16:creationId xmlns:a16="http://schemas.microsoft.com/office/drawing/2014/main" id="{7A05FDB2-DAB9-3B4D-4713-078CBD3B8409}"/>
                  </a:ext>
                </a:extLst>
              </p:cNvPr>
              <p:cNvSpPr>
                <a:spLocks noChangeShapeType="1"/>
              </p:cNvSpPr>
              <p:nvPr/>
            </p:nvSpPr>
            <p:spPr bwMode="auto">
              <a:xfrm>
                <a:off x="64039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7" name="Line 382">
                <a:extLst>
                  <a:ext uri="{FF2B5EF4-FFF2-40B4-BE49-F238E27FC236}">
                    <a16:creationId xmlns:a16="http://schemas.microsoft.com/office/drawing/2014/main" id="{95769197-D9DB-340F-E21E-3486E6480C2B}"/>
                  </a:ext>
                </a:extLst>
              </p:cNvPr>
              <p:cNvSpPr>
                <a:spLocks noChangeShapeType="1"/>
              </p:cNvSpPr>
              <p:nvPr/>
            </p:nvSpPr>
            <p:spPr bwMode="auto">
              <a:xfrm>
                <a:off x="64500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8" name="Line 383">
                <a:extLst>
                  <a:ext uri="{FF2B5EF4-FFF2-40B4-BE49-F238E27FC236}">
                    <a16:creationId xmlns:a16="http://schemas.microsoft.com/office/drawing/2014/main" id="{91089C85-CEAA-57BE-DE01-4E33DD2AD391}"/>
                  </a:ext>
                </a:extLst>
              </p:cNvPr>
              <p:cNvSpPr>
                <a:spLocks noChangeShapeType="1"/>
              </p:cNvSpPr>
              <p:nvPr/>
            </p:nvSpPr>
            <p:spPr bwMode="auto">
              <a:xfrm>
                <a:off x="64960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9" name="Line 384">
                <a:extLst>
                  <a:ext uri="{FF2B5EF4-FFF2-40B4-BE49-F238E27FC236}">
                    <a16:creationId xmlns:a16="http://schemas.microsoft.com/office/drawing/2014/main" id="{2598A39A-539C-EF2A-D388-0CDDF41F17E6}"/>
                  </a:ext>
                </a:extLst>
              </p:cNvPr>
              <p:cNvSpPr>
                <a:spLocks noChangeShapeType="1"/>
              </p:cNvSpPr>
              <p:nvPr/>
            </p:nvSpPr>
            <p:spPr bwMode="auto">
              <a:xfrm>
                <a:off x="65405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0" name="Line 385">
                <a:extLst>
                  <a:ext uri="{FF2B5EF4-FFF2-40B4-BE49-F238E27FC236}">
                    <a16:creationId xmlns:a16="http://schemas.microsoft.com/office/drawing/2014/main" id="{2A00C8BD-38F3-B167-827F-FE515C730841}"/>
                  </a:ext>
                </a:extLst>
              </p:cNvPr>
              <p:cNvSpPr>
                <a:spLocks noChangeShapeType="1"/>
              </p:cNvSpPr>
              <p:nvPr/>
            </p:nvSpPr>
            <p:spPr bwMode="auto">
              <a:xfrm>
                <a:off x="65865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1" name="Line 386">
                <a:extLst>
                  <a:ext uri="{FF2B5EF4-FFF2-40B4-BE49-F238E27FC236}">
                    <a16:creationId xmlns:a16="http://schemas.microsoft.com/office/drawing/2014/main" id="{76A89535-70F5-0E6D-9752-0F817B51C3E9}"/>
                  </a:ext>
                </a:extLst>
              </p:cNvPr>
              <p:cNvSpPr>
                <a:spLocks noChangeShapeType="1"/>
              </p:cNvSpPr>
              <p:nvPr/>
            </p:nvSpPr>
            <p:spPr bwMode="auto">
              <a:xfrm>
                <a:off x="66325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2" name="Line 387">
                <a:extLst>
                  <a:ext uri="{FF2B5EF4-FFF2-40B4-BE49-F238E27FC236}">
                    <a16:creationId xmlns:a16="http://schemas.microsoft.com/office/drawing/2014/main" id="{53C84405-A751-E5A7-F1FA-A6EF019C1446}"/>
                  </a:ext>
                </a:extLst>
              </p:cNvPr>
              <p:cNvSpPr>
                <a:spLocks noChangeShapeType="1"/>
              </p:cNvSpPr>
              <p:nvPr/>
            </p:nvSpPr>
            <p:spPr bwMode="auto">
              <a:xfrm>
                <a:off x="6677025"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3" name="Line 388">
                <a:extLst>
                  <a:ext uri="{FF2B5EF4-FFF2-40B4-BE49-F238E27FC236}">
                    <a16:creationId xmlns:a16="http://schemas.microsoft.com/office/drawing/2014/main" id="{75AC7B59-E3DC-3FB3-F055-09DCA6470B63}"/>
                  </a:ext>
                </a:extLst>
              </p:cNvPr>
              <p:cNvSpPr>
                <a:spLocks noChangeShapeType="1"/>
              </p:cNvSpPr>
              <p:nvPr/>
            </p:nvSpPr>
            <p:spPr bwMode="auto">
              <a:xfrm>
                <a:off x="67230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4" name="Line 389">
                <a:extLst>
                  <a:ext uri="{FF2B5EF4-FFF2-40B4-BE49-F238E27FC236}">
                    <a16:creationId xmlns:a16="http://schemas.microsoft.com/office/drawing/2014/main" id="{21191C1C-4BE9-99F5-46A6-7C604E676DC9}"/>
                  </a:ext>
                </a:extLst>
              </p:cNvPr>
              <p:cNvSpPr>
                <a:spLocks noChangeShapeType="1"/>
              </p:cNvSpPr>
              <p:nvPr/>
            </p:nvSpPr>
            <p:spPr bwMode="auto">
              <a:xfrm>
                <a:off x="67691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5" name="Line 390">
                <a:extLst>
                  <a:ext uri="{FF2B5EF4-FFF2-40B4-BE49-F238E27FC236}">
                    <a16:creationId xmlns:a16="http://schemas.microsoft.com/office/drawing/2014/main" id="{F0BB7A3C-83BE-A5B3-206A-BD2AD93A752E}"/>
                  </a:ext>
                </a:extLst>
              </p:cNvPr>
              <p:cNvSpPr>
                <a:spLocks noChangeShapeType="1"/>
              </p:cNvSpPr>
              <p:nvPr/>
            </p:nvSpPr>
            <p:spPr bwMode="auto">
              <a:xfrm>
                <a:off x="6813550"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6" name="Line 391">
                <a:extLst>
                  <a:ext uri="{FF2B5EF4-FFF2-40B4-BE49-F238E27FC236}">
                    <a16:creationId xmlns:a16="http://schemas.microsoft.com/office/drawing/2014/main" id="{DE18CA48-1389-4D41-0739-B0A6345FEC43}"/>
                  </a:ext>
                </a:extLst>
              </p:cNvPr>
              <p:cNvSpPr>
                <a:spLocks noChangeShapeType="1"/>
              </p:cNvSpPr>
              <p:nvPr/>
            </p:nvSpPr>
            <p:spPr bwMode="auto">
              <a:xfrm>
                <a:off x="68595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7" name="Line 392">
                <a:extLst>
                  <a:ext uri="{FF2B5EF4-FFF2-40B4-BE49-F238E27FC236}">
                    <a16:creationId xmlns:a16="http://schemas.microsoft.com/office/drawing/2014/main" id="{9A916ECB-8B99-6B68-C273-52E93CF05106}"/>
                  </a:ext>
                </a:extLst>
              </p:cNvPr>
              <p:cNvSpPr>
                <a:spLocks noChangeShapeType="1"/>
              </p:cNvSpPr>
              <p:nvPr/>
            </p:nvSpPr>
            <p:spPr bwMode="auto">
              <a:xfrm>
                <a:off x="69056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8" name="Line 393">
                <a:extLst>
                  <a:ext uri="{FF2B5EF4-FFF2-40B4-BE49-F238E27FC236}">
                    <a16:creationId xmlns:a16="http://schemas.microsoft.com/office/drawing/2014/main" id="{694AE9A6-D5BB-554C-55FB-4FC0795614B4}"/>
                  </a:ext>
                </a:extLst>
              </p:cNvPr>
              <p:cNvSpPr>
                <a:spLocks noChangeShapeType="1"/>
              </p:cNvSpPr>
              <p:nvPr/>
            </p:nvSpPr>
            <p:spPr bwMode="auto">
              <a:xfrm>
                <a:off x="69516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9" name="Line 394">
                <a:extLst>
                  <a:ext uri="{FF2B5EF4-FFF2-40B4-BE49-F238E27FC236}">
                    <a16:creationId xmlns:a16="http://schemas.microsoft.com/office/drawing/2014/main" id="{FEE40754-81AD-F149-4F54-0AF0B7DFFD35}"/>
                  </a:ext>
                </a:extLst>
              </p:cNvPr>
              <p:cNvSpPr>
                <a:spLocks noChangeShapeType="1"/>
              </p:cNvSpPr>
              <p:nvPr/>
            </p:nvSpPr>
            <p:spPr bwMode="auto">
              <a:xfrm>
                <a:off x="69961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0" name="Line 395">
                <a:extLst>
                  <a:ext uri="{FF2B5EF4-FFF2-40B4-BE49-F238E27FC236}">
                    <a16:creationId xmlns:a16="http://schemas.microsoft.com/office/drawing/2014/main" id="{EB715965-A4F8-DB9E-3B62-FF0EC06F0179}"/>
                  </a:ext>
                </a:extLst>
              </p:cNvPr>
              <p:cNvSpPr>
                <a:spLocks noChangeShapeType="1"/>
              </p:cNvSpPr>
              <p:nvPr/>
            </p:nvSpPr>
            <p:spPr bwMode="auto">
              <a:xfrm>
                <a:off x="70421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1" name="Line 396">
                <a:extLst>
                  <a:ext uri="{FF2B5EF4-FFF2-40B4-BE49-F238E27FC236}">
                    <a16:creationId xmlns:a16="http://schemas.microsoft.com/office/drawing/2014/main" id="{B2E940E2-6931-A570-44C9-233BB9439D93}"/>
                  </a:ext>
                </a:extLst>
              </p:cNvPr>
              <p:cNvSpPr>
                <a:spLocks noChangeShapeType="1"/>
              </p:cNvSpPr>
              <p:nvPr/>
            </p:nvSpPr>
            <p:spPr bwMode="auto">
              <a:xfrm>
                <a:off x="70881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2" name="Line 397">
                <a:extLst>
                  <a:ext uri="{FF2B5EF4-FFF2-40B4-BE49-F238E27FC236}">
                    <a16:creationId xmlns:a16="http://schemas.microsoft.com/office/drawing/2014/main" id="{092C97A5-CD43-FBFF-1A91-C3A114CCB3DC}"/>
                  </a:ext>
                </a:extLst>
              </p:cNvPr>
              <p:cNvSpPr>
                <a:spLocks noChangeShapeType="1"/>
              </p:cNvSpPr>
              <p:nvPr/>
            </p:nvSpPr>
            <p:spPr bwMode="auto">
              <a:xfrm>
                <a:off x="7132638"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3" name="Line 398">
                <a:extLst>
                  <a:ext uri="{FF2B5EF4-FFF2-40B4-BE49-F238E27FC236}">
                    <a16:creationId xmlns:a16="http://schemas.microsoft.com/office/drawing/2014/main" id="{9B2794D4-5181-9C48-D020-6676D3B6B152}"/>
                  </a:ext>
                </a:extLst>
              </p:cNvPr>
              <p:cNvSpPr>
                <a:spLocks noChangeShapeType="1"/>
              </p:cNvSpPr>
              <p:nvPr/>
            </p:nvSpPr>
            <p:spPr bwMode="auto">
              <a:xfrm>
                <a:off x="71786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4" name="Line 399">
                <a:extLst>
                  <a:ext uri="{FF2B5EF4-FFF2-40B4-BE49-F238E27FC236}">
                    <a16:creationId xmlns:a16="http://schemas.microsoft.com/office/drawing/2014/main" id="{C9DF3397-5291-CD78-04C1-2465AD9CF6F9}"/>
                  </a:ext>
                </a:extLst>
              </p:cNvPr>
              <p:cNvSpPr>
                <a:spLocks noChangeShapeType="1"/>
              </p:cNvSpPr>
              <p:nvPr/>
            </p:nvSpPr>
            <p:spPr bwMode="auto">
              <a:xfrm>
                <a:off x="72247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5" name="Line 400">
                <a:extLst>
                  <a:ext uri="{FF2B5EF4-FFF2-40B4-BE49-F238E27FC236}">
                    <a16:creationId xmlns:a16="http://schemas.microsoft.com/office/drawing/2014/main" id="{ECDF467D-C0FC-66F3-4C76-A408FDE30A84}"/>
                  </a:ext>
                </a:extLst>
              </p:cNvPr>
              <p:cNvSpPr>
                <a:spLocks noChangeShapeType="1"/>
              </p:cNvSpPr>
              <p:nvPr/>
            </p:nvSpPr>
            <p:spPr bwMode="auto">
              <a:xfrm>
                <a:off x="7269163"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6" name="Line 401">
                <a:extLst>
                  <a:ext uri="{FF2B5EF4-FFF2-40B4-BE49-F238E27FC236}">
                    <a16:creationId xmlns:a16="http://schemas.microsoft.com/office/drawing/2014/main" id="{C018EE42-97FC-16C7-4EFF-6DFC7C8F7574}"/>
                  </a:ext>
                </a:extLst>
              </p:cNvPr>
              <p:cNvSpPr>
                <a:spLocks noChangeShapeType="1"/>
              </p:cNvSpPr>
              <p:nvPr/>
            </p:nvSpPr>
            <p:spPr bwMode="auto">
              <a:xfrm>
                <a:off x="73152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7" name="Line 402">
                <a:extLst>
                  <a:ext uri="{FF2B5EF4-FFF2-40B4-BE49-F238E27FC236}">
                    <a16:creationId xmlns:a16="http://schemas.microsoft.com/office/drawing/2014/main" id="{51B56209-5B50-50A5-31C0-8C557B9C0D19}"/>
                  </a:ext>
                </a:extLst>
              </p:cNvPr>
              <p:cNvSpPr>
                <a:spLocks noChangeShapeType="1"/>
              </p:cNvSpPr>
              <p:nvPr/>
            </p:nvSpPr>
            <p:spPr bwMode="auto">
              <a:xfrm>
                <a:off x="73612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8" name="Line 403">
                <a:extLst>
                  <a:ext uri="{FF2B5EF4-FFF2-40B4-BE49-F238E27FC236}">
                    <a16:creationId xmlns:a16="http://schemas.microsoft.com/office/drawing/2014/main" id="{989DBA13-A424-E9CE-B460-FA2B870B2A79}"/>
                  </a:ext>
                </a:extLst>
              </p:cNvPr>
              <p:cNvSpPr>
                <a:spLocks noChangeShapeType="1"/>
              </p:cNvSpPr>
              <p:nvPr/>
            </p:nvSpPr>
            <p:spPr bwMode="auto">
              <a:xfrm>
                <a:off x="74072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210" name="Line 404">
              <a:extLst>
                <a:ext uri="{FF2B5EF4-FFF2-40B4-BE49-F238E27FC236}">
                  <a16:creationId xmlns:a16="http://schemas.microsoft.com/office/drawing/2014/main" id="{A3FCFA5A-3F00-5886-46B0-817A8B7BF275}"/>
                </a:ext>
              </a:extLst>
            </p:cNvPr>
            <p:cNvSpPr>
              <a:spLocks noChangeShapeType="1"/>
            </p:cNvSpPr>
            <p:nvPr/>
          </p:nvSpPr>
          <p:spPr bwMode="auto">
            <a:xfrm>
              <a:off x="8068946"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1" name="Line 405">
              <a:extLst>
                <a:ext uri="{FF2B5EF4-FFF2-40B4-BE49-F238E27FC236}">
                  <a16:creationId xmlns:a16="http://schemas.microsoft.com/office/drawing/2014/main" id="{49B85F3E-7E77-8707-2570-019544FA7B5A}"/>
                </a:ext>
              </a:extLst>
            </p:cNvPr>
            <p:cNvSpPr>
              <a:spLocks noChangeShapeType="1"/>
            </p:cNvSpPr>
            <p:nvPr/>
          </p:nvSpPr>
          <p:spPr bwMode="auto">
            <a:xfrm>
              <a:off x="8110221"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2" name="Line 406">
              <a:extLst>
                <a:ext uri="{FF2B5EF4-FFF2-40B4-BE49-F238E27FC236}">
                  <a16:creationId xmlns:a16="http://schemas.microsoft.com/office/drawing/2014/main" id="{DE2EEDF3-9BED-A695-EDB5-06A91AAC4380}"/>
                </a:ext>
              </a:extLst>
            </p:cNvPr>
            <p:cNvSpPr>
              <a:spLocks noChangeShapeType="1"/>
            </p:cNvSpPr>
            <p:nvPr/>
          </p:nvSpPr>
          <p:spPr bwMode="auto">
            <a:xfrm>
              <a:off x="8151496"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3" name="Line 407">
              <a:extLst>
                <a:ext uri="{FF2B5EF4-FFF2-40B4-BE49-F238E27FC236}">
                  <a16:creationId xmlns:a16="http://schemas.microsoft.com/office/drawing/2014/main" id="{EA2A4512-6C88-B057-2EF1-9453A08BB19B}"/>
                </a:ext>
              </a:extLst>
            </p:cNvPr>
            <p:cNvSpPr>
              <a:spLocks noChangeShapeType="1"/>
            </p:cNvSpPr>
            <p:nvPr/>
          </p:nvSpPr>
          <p:spPr bwMode="auto">
            <a:xfrm>
              <a:off x="8191183"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4" name="Line 408">
              <a:extLst>
                <a:ext uri="{FF2B5EF4-FFF2-40B4-BE49-F238E27FC236}">
                  <a16:creationId xmlns:a16="http://schemas.microsoft.com/office/drawing/2014/main" id="{C151E969-3554-B6AC-E0EE-12828106B6B5}"/>
                </a:ext>
              </a:extLst>
            </p:cNvPr>
            <p:cNvSpPr>
              <a:spLocks noChangeShapeType="1"/>
            </p:cNvSpPr>
            <p:nvPr/>
          </p:nvSpPr>
          <p:spPr bwMode="auto">
            <a:xfrm>
              <a:off x="8232458"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5" name="Line 409">
              <a:extLst>
                <a:ext uri="{FF2B5EF4-FFF2-40B4-BE49-F238E27FC236}">
                  <a16:creationId xmlns:a16="http://schemas.microsoft.com/office/drawing/2014/main" id="{A6772761-3A82-7A72-EEDC-B15821996AA1}"/>
                </a:ext>
              </a:extLst>
            </p:cNvPr>
            <p:cNvSpPr>
              <a:spLocks noChangeShapeType="1"/>
            </p:cNvSpPr>
            <p:nvPr/>
          </p:nvSpPr>
          <p:spPr bwMode="auto">
            <a:xfrm>
              <a:off x="8273733"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6" name="Line 410">
              <a:extLst>
                <a:ext uri="{FF2B5EF4-FFF2-40B4-BE49-F238E27FC236}">
                  <a16:creationId xmlns:a16="http://schemas.microsoft.com/office/drawing/2014/main" id="{308BCE3A-00CB-6CB5-DA45-4E81F9F8B516}"/>
                </a:ext>
              </a:extLst>
            </p:cNvPr>
            <p:cNvSpPr>
              <a:spLocks noChangeShapeType="1"/>
            </p:cNvSpPr>
            <p:nvPr/>
          </p:nvSpPr>
          <p:spPr bwMode="auto">
            <a:xfrm>
              <a:off x="8313421"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7" name="Line 411">
              <a:extLst>
                <a:ext uri="{FF2B5EF4-FFF2-40B4-BE49-F238E27FC236}">
                  <a16:creationId xmlns:a16="http://schemas.microsoft.com/office/drawing/2014/main" id="{8674087A-3C7A-AE5D-67B2-75A3AA19C93F}"/>
                </a:ext>
              </a:extLst>
            </p:cNvPr>
            <p:cNvSpPr>
              <a:spLocks noChangeShapeType="1"/>
            </p:cNvSpPr>
            <p:nvPr/>
          </p:nvSpPr>
          <p:spPr bwMode="auto">
            <a:xfrm>
              <a:off x="8354696"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8" name="Line 412">
              <a:extLst>
                <a:ext uri="{FF2B5EF4-FFF2-40B4-BE49-F238E27FC236}">
                  <a16:creationId xmlns:a16="http://schemas.microsoft.com/office/drawing/2014/main" id="{E2E9500C-3363-AF10-27FF-9C57D0B3EF6C}"/>
                </a:ext>
              </a:extLst>
            </p:cNvPr>
            <p:cNvSpPr>
              <a:spLocks noChangeShapeType="1"/>
            </p:cNvSpPr>
            <p:nvPr/>
          </p:nvSpPr>
          <p:spPr bwMode="auto">
            <a:xfrm>
              <a:off x="8395971"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9" name="Line 413">
              <a:extLst>
                <a:ext uri="{FF2B5EF4-FFF2-40B4-BE49-F238E27FC236}">
                  <a16:creationId xmlns:a16="http://schemas.microsoft.com/office/drawing/2014/main" id="{179E3E2E-5FE2-AB3E-C227-4E485447623C}"/>
                </a:ext>
              </a:extLst>
            </p:cNvPr>
            <p:cNvSpPr>
              <a:spLocks noChangeShapeType="1"/>
            </p:cNvSpPr>
            <p:nvPr/>
          </p:nvSpPr>
          <p:spPr bwMode="auto">
            <a:xfrm>
              <a:off x="8437246"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0" name="Line 414">
              <a:extLst>
                <a:ext uri="{FF2B5EF4-FFF2-40B4-BE49-F238E27FC236}">
                  <a16:creationId xmlns:a16="http://schemas.microsoft.com/office/drawing/2014/main" id="{06BBE7BC-424C-041D-1355-1F672E3F915E}"/>
                </a:ext>
              </a:extLst>
            </p:cNvPr>
            <p:cNvSpPr>
              <a:spLocks noChangeShapeType="1"/>
            </p:cNvSpPr>
            <p:nvPr/>
          </p:nvSpPr>
          <p:spPr bwMode="auto">
            <a:xfrm>
              <a:off x="8476933"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1" name="Line 415">
              <a:extLst>
                <a:ext uri="{FF2B5EF4-FFF2-40B4-BE49-F238E27FC236}">
                  <a16:creationId xmlns:a16="http://schemas.microsoft.com/office/drawing/2014/main" id="{426E2F05-6D28-7542-4D0B-8912DD4A9F02}"/>
                </a:ext>
              </a:extLst>
            </p:cNvPr>
            <p:cNvSpPr>
              <a:spLocks noChangeShapeType="1"/>
            </p:cNvSpPr>
            <p:nvPr/>
          </p:nvSpPr>
          <p:spPr bwMode="auto">
            <a:xfrm>
              <a:off x="8518208"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2" name="Line 416">
              <a:extLst>
                <a:ext uri="{FF2B5EF4-FFF2-40B4-BE49-F238E27FC236}">
                  <a16:creationId xmlns:a16="http://schemas.microsoft.com/office/drawing/2014/main" id="{956CA848-DFCC-0F12-1182-3854E1E162CF}"/>
                </a:ext>
              </a:extLst>
            </p:cNvPr>
            <p:cNvSpPr>
              <a:spLocks noChangeShapeType="1"/>
            </p:cNvSpPr>
            <p:nvPr/>
          </p:nvSpPr>
          <p:spPr bwMode="auto">
            <a:xfrm>
              <a:off x="8559483"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3" name="Line 417">
              <a:extLst>
                <a:ext uri="{FF2B5EF4-FFF2-40B4-BE49-F238E27FC236}">
                  <a16:creationId xmlns:a16="http://schemas.microsoft.com/office/drawing/2014/main" id="{1B14B1B1-0B91-C45D-C9E2-F39C16A9958B}"/>
                </a:ext>
              </a:extLst>
            </p:cNvPr>
            <p:cNvSpPr>
              <a:spLocks noChangeShapeType="1"/>
            </p:cNvSpPr>
            <p:nvPr/>
          </p:nvSpPr>
          <p:spPr bwMode="auto">
            <a:xfrm>
              <a:off x="8599171"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4" name="Line 418">
              <a:extLst>
                <a:ext uri="{FF2B5EF4-FFF2-40B4-BE49-F238E27FC236}">
                  <a16:creationId xmlns:a16="http://schemas.microsoft.com/office/drawing/2014/main" id="{222F6C82-7D37-DE27-A374-7170FD376D06}"/>
                </a:ext>
              </a:extLst>
            </p:cNvPr>
            <p:cNvSpPr>
              <a:spLocks noChangeShapeType="1"/>
            </p:cNvSpPr>
            <p:nvPr/>
          </p:nvSpPr>
          <p:spPr bwMode="auto">
            <a:xfrm>
              <a:off x="8640446"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5" name="Line 419">
              <a:extLst>
                <a:ext uri="{FF2B5EF4-FFF2-40B4-BE49-F238E27FC236}">
                  <a16:creationId xmlns:a16="http://schemas.microsoft.com/office/drawing/2014/main" id="{07882753-82BE-168D-C878-B4B7C88C2FD0}"/>
                </a:ext>
              </a:extLst>
            </p:cNvPr>
            <p:cNvSpPr>
              <a:spLocks noChangeShapeType="1"/>
            </p:cNvSpPr>
            <p:nvPr/>
          </p:nvSpPr>
          <p:spPr bwMode="auto">
            <a:xfrm>
              <a:off x="8681721"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6" name="Line 420">
              <a:extLst>
                <a:ext uri="{FF2B5EF4-FFF2-40B4-BE49-F238E27FC236}">
                  <a16:creationId xmlns:a16="http://schemas.microsoft.com/office/drawing/2014/main" id="{C19FA2F8-89B2-4239-FF0A-15A6383FBFC9}"/>
                </a:ext>
              </a:extLst>
            </p:cNvPr>
            <p:cNvSpPr>
              <a:spLocks noChangeShapeType="1"/>
            </p:cNvSpPr>
            <p:nvPr/>
          </p:nvSpPr>
          <p:spPr bwMode="auto">
            <a:xfrm>
              <a:off x="8721408"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7" name="Line 421">
              <a:extLst>
                <a:ext uri="{FF2B5EF4-FFF2-40B4-BE49-F238E27FC236}">
                  <a16:creationId xmlns:a16="http://schemas.microsoft.com/office/drawing/2014/main" id="{59A2D7E0-5357-6BB8-56AB-D9A49E58002E}"/>
                </a:ext>
              </a:extLst>
            </p:cNvPr>
            <p:cNvSpPr>
              <a:spLocks noChangeShapeType="1"/>
            </p:cNvSpPr>
            <p:nvPr/>
          </p:nvSpPr>
          <p:spPr bwMode="auto">
            <a:xfrm>
              <a:off x="8762683"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8" name="Line 422">
              <a:extLst>
                <a:ext uri="{FF2B5EF4-FFF2-40B4-BE49-F238E27FC236}">
                  <a16:creationId xmlns:a16="http://schemas.microsoft.com/office/drawing/2014/main" id="{37152133-31AB-E1D8-12C4-892D431B0BA1}"/>
                </a:ext>
              </a:extLst>
            </p:cNvPr>
            <p:cNvSpPr>
              <a:spLocks noChangeShapeType="1"/>
            </p:cNvSpPr>
            <p:nvPr/>
          </p:nvSpPr>
          <p:spPr bwMode="auto">
            <a:xfrm>
              <a:off x="8802371"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9" name="Line 423">
              <a:extLst>
                <a:ext uri="{FF2B5EF4-FFF2-40B4-BE49-F238E27FC236}">
                  <a16:creationId xmlns:a16="http://schemas.microsoft.com/office/drawing/2014/main" id="{220112E0-5F45-43F9-A165-2DC13C53058F}"/>
                </a:ext>
              </a:extLst>
            </p:cNvPr>
            <p:cNvSpPr>
              <a:spLocks noChangeShapeType="1"/>
            </p:cNvSpPr>
            <p:nvPr/>
          </p:nvSpPr>
          <p:spPr bwMode="auto">
            <a:xfrm>
              <a:off x="8843646"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0" name="Line 424">
              <a:extLst>
                <a:ext uri="{FF2B5EF4-FFF2-40B4-BE49-F238E27FC236}">
                  <a16:creationId xmlns:a16="http://schemas.microsoft.com/office/drawing/2014/main" id="{C2E3ADBF-D3DE-214A-B61C-50D3807860B6}"/>
                </a:ext>
              </a:extLst>
            </p:cNvPr>
            <p:cNvSpPr>
              <a:spLocks noChangeShapeType="1"/>
            </p:cNvSpPr>
            <p:nvPr/>
          </p:nvSpPr>
          <p:spPr bwMode="auto">
            <a:xfrm>
              <a:off x="8883333"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1" name="Rectangle 425">
              <a:extLst>
                <a:ext uri="{FF2B5EF4-FFF2-40B4-BE49-F238E27FC236}">
                  <a16:creationId xmlns:a16="http://schemas.microsoft.com/office/drawing/2014/main" id="{6B4A2A0F-E649-77A6-4095-BDE636A4BA2A}"/>
                </a:ext>
              </a:extLst>
            </p:cNvPr>
            <p:cNvSpPr>
              <a:spLocks noChangeArrowheads="1"/>
            </p:cNvSpPr>
            <p:nvPr/>
          </p:nvSpPr>
          <p:spPr bwMode="auto">
            <a:xfrm>
              <a:off x="3522346" y="2462213"/>
              <a:ext cx="2182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Strategy Deployment</a:t>
              </a:r>
              <a:endParaRPr lang="en-US" altLang="en-US" sz="1800" b="0">
                <a:latin typeface="Roboto" panose="02000000000000000000" pitchFamily="2" charset="0"/>
                <a:ea typeface="Roboto" panose="02000000000000000000" pitchFamily="2" charset="0"/>
              </a:endParaRPr>
            </a:p>
          </p:txBody>
        </p:sp>
        <p:sp>
          <p:nvSpPr>
            <p:cNvPr id="232" name="Rectangle 426">
              <a:extLst>
                <a:ext uri="{FF2B5EF4-FFF2-40B4-BE49-F238E27FC236}">
                  <a16:creationId xmlns:a16="http://schemas.microsoft.com/office/drawing/2014/main" id="{5F8CBC83-17AA-748B-E5AF-014C26F47DBD}"/>
                </a:ext>
              </a:extLst>
            </p:cNvPr>
            <p:cNvSpPr>
              <a:spLocks noChangeArrowheads="1"/>
            </p:cNvSpPr>
            <p:nvPr/>
          </p:nvSpPr>
          <p:spPr bwMode="auto">
            <a:xfrm>
              <a:off x="5441633" y="4217988"/>
              <a:ext cx="2874963" cy="5540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 Managing Daily </a:t>
              </a:r>
            </a:p>
            <a:p>
              <a:pPr>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Process Excellence Focus   </a:t>
              </a:r>
              <a:endParaRPr lang="en-US" altLang="en-US" sz="1800" b="0" dirty="0">
                <a:latin typeface="Roboto" panose="02000000000000000000" pitchFamily="2" charset="0"/>
                <a:ea typeface="Roboto" panose="02000000000000000000" pitchFamily="2" charset="0"/>
              </a:endParaRPr>
            </a:p>
          </p:txBody>
        </p:sp>
        <p:sp>
          <p:nvSpPr>
            <p:cNvPr id="233" name="Rectangle 428">
              <a:extLst>
                <a:ext uri="{FF2B5EF4-FFF2-40B4-BE49-F238E27FC236}">
                  <a16:creationId xmlns:a16="http://schemas.microsoft.com/office/drawing/2014/main" id="{97E1D517-838A-56CE-C2D3-EE57E66878E3}"/>
                </a:ext>
              </a:extLst>
            </p:cNvPr>
            <p:cNvSpPr>
              <a:spLocks noChangeArrowheads="1"/>
            </p:cNvSpPr>
            <p:nvPr/>
          </p:nvSpPr>
          <p:spPr bwMode="auto">
            <a:xfrm>
              <a:off x="5560696" y="3208338"/>
              <a:ext cx="7016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Kaizen</a:t>
              </a:r>
              <a:endParaRPr lang="en-US" altLang="en-US" sz="1800" b="0" dirty="0">
                <a:solidFill>
                  <a:schemeClr val="bg1"/>
                </a:solidFill>
                <a:latin typeface="Roboto" panose="02000000000000000000" pitchFamily="2" charset="0"/>
                <a:ea typeface="Roboto" panose="02000000000000000000" pitchFamily="2" charset="0"/>
              </a:endParaRPr>
            </a:p>
          </p:txBody>
        </p:sp>
        <p:sp>
          <p:nvSpPr>
            <p:cNvPr id="234" name="Oval 429">
              <a:extLst>
                <a:ext uri="{FF2B5EF4-FFF2-40B4-BE49-F238E27FC236}">
                  <a16:creationId xmlns:a16="http://schemas.microsoft.com/office/drawing/2014/main" id="{6F660595-1759-CEF8-D82E-39BE7DE765D7}"/>
                </a:ext>
              </a:extLst>
            </p:cNvPr>
            <p:cNvSpPr>
              <a:spLocks noChangeArrowheads="1"/>
            </p:cNvSpPr>
            <p:nvPr/>
          </p:nvSpPr>
          <p:spPr bwMode="auto">
            <a:xfrm>
              <a:off x="2414271" y="3629026"/>
              <a:ext cx="8170863" cy="2185988"/>
            </a:xfrm>
            <a:prstGeom prst="ellipse">
              <a:avLst/>
            </a:prstGeom>
            <a:noFill/>
            <a:ln w="762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800">
                <a:latin typeface="Roboto" panose="02000000000000000000" pitchFamily="2" charset="0"/>
                <a:ea typeface="Roboto" panose="02000000000000000000" pitchFamily="2" charset="0"/>
              </a:endParaRPr>
            </a:p>
          </p:txBody>
        </p:sp>
        <p:sp>
          <p:nvSpPr>
            <p:cNvPr id="235" name="Text Box 430">
              <a:extLst>
                <a:ext uri="{FF2B5EF4-FFF2-40B4-BE49-F238E27FC236}">
                  <a16:creationId xmlns:a16="http://schemas.microsoft.com/office/drawing/2014/main" id="{10EC4ED9-DBAB-290A-3D7D-899BE88D6FB2}"/>
                </a:ext>
              </a:extLst>
            </p:cNvPr>
            <p:cNvSpPr txBox="1">
              <a:spLocks noChangeArrowheads="1"/>
            </p:cNvSpPr>
            <p:nvPr/>
          </p:nvSpPr>
          <p:spPr bwMode="auto">
            <a:xfrm>
              <a:off x="3222308" y="5318126"/>
              <a:ext cx="4873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0%</a:t>
              </a:r>
            </a:p>
          </p:txBody>
        </p:sp>
        <p:sp>
          <p:nvSpPr>
            <p:cNvPr id="236" name="Text Box 431">
              <a:extLst>
                <a:ext uri="{FF2B5EF4-FFF2-40B4-BE49-F238E27FC236}">
                  <a16:creationId xmlns:a16="http://schemas.microsoft.com/office/drawing/2014/main" id="{D7BE0557-31B5-14C7-D186-326BAF3E3246}"/>
                </a:ext>
              </a:extLst>
            </p:cNvPr>
            <p:cNvSpPr txBox="1">
              <a:spLocks noChangeArrowheads="1"/>
            </p:cNvSpPr>
            <p:nvPr/>
          </p:nvSpPr>
          <p:spPr bwMode="auto">
            <a:xfrm>
              <a:off x="5865496" y="5349876"/>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50%</a:t>
              </a:r>
            </a:p>
          </p:txBody>
        </p:sp>
        <p:sp>
          <p:nvSpPr>
            <p:cNvPr id="237" name="Text Box 432">
              <a:extLst>
                <a:ext uri="{FF2B5EF4-FFF2-40B4-BE49-F238E27FC236}">
                  <a16:creationId xmlns:a16="http://schemas.microsoft.com/office/drawing/2014/main" id="{B257B9C7-4AE1-F510-02EA-8E230D6CAFFF}"/>
                </a:ext>
              </a:extLst>
            </p:cNvPr>
            <p:cNvSpPr txBox="1">
              <a:spLocks noChangeArrowheads="1"/>
            </p:cNvSpPr>
            <p:nvPr/>
          </p:nvSpPr>
          <p:spPr bwMode="auto">
            <a:xfrm>
              <a:off x="8249921" y="5284788"/>
              <a:ext cx="768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100%</a:t>
              </a:r>
            </a:p>
          </p:txBody>
        </p:sp>
        <p:sp>
          <p:nvSpPr>
            <p:cNvPr id="238" name="Text Box 433">
              <a:extLst>
                <a:ext uri="{FF2B5EF4-FFF2-40B4-BE49-F238E27FC236}">
                  <a16:creationId xmlns:a16="http://schemas.microsoft.com/office/drawing/2014/main" id="{771143A7-D43A-36C7-1FDF-4325B7030FC8}"/>
                </a:ext>
              </a:extLst>
            </p:cNvPr>
            <p:cNvSpPr txBox="1">
              <a:spLocks noChangeArrowheads="1"/>
            </p:cNvSpPr>
            <p:nvPr/>
          </p:nvSpPr>
          <p:spPr bwMode="auto">
            <a:xfrm>
              <a:off x="5749608" y="5810251"/>
              <a:ext cx="717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Time</a:t>
              </a:r>
            </a:p>
          </p:txBody>
        </p:sp>
      </p:grpSp>
    </p:spTree>
    <p:extLst>
      <p:ext uri="{BB962C8B-B14F-4D97-AF65-F5344CB8AC3E}">
        <p14:creationId xmlns:p14="http://schemas.microsoft.com/office/powerpoint/2010/main" val="997105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3200" dirty="0"/>
              <a:t>Managing Daily Process Excellence Relationship to Strategic Deployment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a:xfrm>
            <a:off x="7749540" y="1825625"/>
            <a:ext cx="3604260" cy="4351338"/>
          </a:xfrm>
        </p:spPr>
        <p:txBody>
          <a:bodyPr>
            <a:normAutofit fontScale="92500" lnSpcReduction="20000"/>
          </a:bodyPr>
          <a:lstStyle/>
          <a:p>
            <a:r>
              <a:rPr lang="en-US" dirty="0"/>
              <a:t>KPI’s will support or refute progress in your Annual Improvement Priority efforts</a:t>
            </a:r>
          </a:p>
          <a:p>
            <a:r>
              <a:rPr lang="en-US" dirty="0"/>
              <a:t>Root cause at Gemba provides data for root cause at Strategic Deployment level</a:t>
            </a:r>
          </a:p>
          <a:p>
            <a:r>
              <a:rPr lang="en-US" dirty="0"/>
              <a:t>Strategic Deployment discipline requires that there is MDPE discipline </a:t>
            </a:r>
            <a:br>
              <a:rPr lang="en-US" dirty="0"/>
            </a:br>
            <a:r>
              <a:rPr lang="en-US" dirty="0"/>
              <a:t>at Gemba</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grpSp>
        <p:nvGrpSpPr>
          <p:cNvPr id="17" name="Group 16">
            <a:extLst>
              <a:ext uri="{FF2B5EF4-FFF2-40B4-BE49-F238E27FC236}">
                <a16:creationId xmlns:a16="http://schemas.microsoft.com/office/drawing/2014/main" id="{2FC8A324-F4CE-A28C-DEC7-DC3467CA40C6}"/>
              </a:ext>
            </a:extLst>
          </p:cNvPr>
          <p:cNvGrpSpPr/>
          <p:nvPr/>
        </p:nvGrpSpPr>
        <p:grpSpPr>
          <a:xfrm>
            <a:off x="928370" y="1825625"/>
            <a:ext cx="6546850" cy="4183206"/>
            <a:chOff x="928370" y="1825625"/>
            <a:chExt cx="5280025" cy="3922232"/>
          </a:xfrm>
        </p:grpSpPr>
        <p:sp>
          <p:nvSpPr>
            <p:cNvPr id="5" name="Rectangle 2">
              <a:extLst>
                <a:ext uri="{FF2B5EF4-FFF2-40B4-BE49-F238E27FC236}">
                  <a16:creationId xmlns:a16="http://schemas.microsoft.com/office/drawing/2014/main" id="{FDF62E58-88F9-B6B0-3288-5DBBF7B0F667}"/>
                </a:ext>
              </a:extLst>
            </p:cNvPr>
            <p:cNvSpPr>
              <a:spLocks noChangeArrowheads="1"/>
            </p:cNvSpPr>
            <p:nvPr/>
          </p:nvSpPr>
          <p:spPr bwMode="auto">
            <a:xfrm>
              <a:off x="928370" y="1924050"/>
              <a:ext cx="5254625" cy="353377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 name="Text Box 3">
              <a:extLst>
                <a:ext uri="{FF2B5EF4-FFF2-40B4-BE49-F238E27FC236}">
                  <a16:creationId xmlns:a16="http://schemas.microsoft.com/office/drawing/2014/main" id="{4F2F136A-82EA-E2C0-8C37-D1D1679E25D4}"/>
                </a:ext>
              </a:extLst>
            </p:cNvPr>
            <p:cNvSpPr txBox="1">
              <a:spLocks noChangeArrowheads="1"/>
            </p:cNvSpPr>
            <p:nvPr/>
          </p:nvSpPr>
          <p:spPr bwMode="auto">
            <a:xfrm>
              <a:off x="1334242" y="1825625"/>
              <a:ext cx="4398431" cy="273185"/>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MDPE Delivers Data to the Strategic Deployment Process</a:t>
              </a:r>
            </a:p>
          </p:txBody>
        </p:sp>
        <p:sp>
          <p:nvSpPr>
            <p:cNvPr id="8" name="Text Box 7">
              <a:extLst>
                <a:ext uri="{FF2B5EF4-FFF2-40B4-BE49-F238E27FC236}">
                  <a16:creationId xmlns:a16="http://schemas.microsoft.com/office/drawing/2014/main" id="{B3644DF2-AD74-BC61-C69D-18BC04314245}"/>
                </a:ext>
              </a:extLst>
            </p:cNvPr>
            <p:cNvSpPr txBox="1">
              <a:spLocks noChangeArrowheads="1"/>
            </p:cNvSpPr>
            <p:nvPr/>
          </p:nvSpPr>
          <p:spPr bwMode="auto">
            <a:xfrm>
              <a:off x="953770" y="5521325"/>
              <a:ext cx="5254625" cy="226532"/>
            </a:xfrm>
            <a:prstGeom prst="rect">
              <a:avLst/>
            </a:prstGeom>
            <a:solidFill>
              <a:schemeClr val="tx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rPr>
                <a:t>KPI performance helps us understand what system improvement needs to be breakthrough </a:t>
              </a:r>
            </a:p>
          </p:txBody>
        </p:sp>
        <p:sp>
          <p:nvSpPr>
            <p:cNvPr id="9" name="Rectangle 11">
              <a:extLst>
                <a:ext uri="{FF2B5EF4-FFF2-40B4-BE49-F238E27FC236}">
                  <a16:creationId xmlns:a16="http://schemas.microsoft.com/office/drawing/2014/main" id="{5C5A06EA-64C0-9283-84F7-A790A29F60D0}"/>
                </a:ext>
              </a:extLst>
            </p:cNvPr>
            <p:cNvSpPr>
              <a:spLocks noChangeArrowheads="1"/>
            </p:cNvSpPr>
            <p:nvPr/>
          </p:nvSpPr>
          <p:spPr bwMode="auto">
            <a:xfrm>
              <a:off x="990283" y="2312987"/>
              <a:ext cx="1585912" cy="817563"/>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AIP 1</a:t>
              </a:r>
            </a:p>
          </p:txBody>
        </p:sp>
        <p:sp>
          <p:nvSpPr>
            <p:cNvPr id="10" name="Rectangle 12">
              <a:extLst>
                <a:ext uri="{FF2B5EF4-FFF2-40B4-BE49-F238E27FC236}">
                  <a16:creationId xmlns:a16="http://schemas.microsoft.com/office/drawing/2014/main" id="{C79D3335-0B78-A05D-0653-0B61413652E9}"/>
                </a:ext>
              </a:extLst>
            </p:cNvPr>
            <p:cNvSpPr>
              <a:spLocks noChangeArrowheads="1"/>
            </p:cNvSpPr>
            <p:nvPr/>
          </p:nvSpPr>
          <p:spPr bwMode="auto">
            <a:xfrm>
              <a:off x="2722245" y="2312987"/>
              <a:ext cx="1585913" cy="817563"/>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AIP 2</a:t>
              </a:r>
            </a:p>
          </p:txBody>
        </p:sp>
        <p:sp>
          <p:nvSpPr>
            <p:cNvPr id="11" name="Rectangle 13">
              <a:extLst>
                <a:ext uri="{FF2B5EF4-FFF2-40B4-BE49-F238E27FC236}">
                  <a16:creationId xmlns:a16="http://schemas.microsoft.com/office/drawing/2014/main" id="{C4D5AB4C-D319-E4C2-B0AE-45C88C22C45A}"/>
                </a:ext>
              </a:extLst>
            </p:cNvPr>
            <p:cNvSpPr>
              <a:spLocks noChangeArrowheads="1"/>
            </p:cNvSpPr>
            <p:nvPr/>
          </p:nvSpPr>
          <p:spPr bwMode="auto">
            <a:xfrm>
              <a:off x="4458970" y="2312987"/>
              <a:ext cx="1585913" cy="817563"/>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AIP 3</a:t>
              </a:r>
            </a:p>
          </p:txBody>
        </p:sp>
        <p:grpSp>
          <p:nvGrpSpPr>
            <p:cNvPr id="12" name="Group 14">
              <a:extLst>
                <a:ext uri="{FF2B5EF4-FFF2-40B4-BE49-F238E27FC236}">
                  <a16:creationId xmlns:a16="http://schemas.microsoft.com/office/drawing/2014/main" id="{11BC495E-CBEC-72E4-B9AD-C4E19F4A8CB6}"/>
                </a:ext>
              </a:extLst>
            </p:cNvPr>
            <p:cNvGrpSpPr>
              <a:grpSpLocks/>
            </p:cNvGrpSpPr>
            <p:nvPr/>
          </p:nvGrpSpPr>
          <p:grpSpPr bwMode="auto">
            <a:xfrm>
              <a:off x="2650808" y="2320925"/>
              <a:ext cx="1731962" cy="1214437"/>
              <a:chOff x="1505" y="1772"/>
              <a:chExt cx="1213" cy="892"/>
            </a:xfrm>
          </p:grpSpPr>
          <p:sp>
            <p:nvSpPr>
              <p:cNvPr id="13" name="Line 15">
                <a:extLst>
                  <a:ext uri="{FF2B5EF4-FFF2-40B4-BE49-F238E27FC236}">
                    <a16:creationId xmlns:a16="http://schemas.microsoft.com/office/drawing/2014/main" id="{0D3F5F27-0E8E-45F7-7FB8-C4DCB4085071}"/>
                  </a:ext>
                </a:extLst>
              </p:cNvPr>
              <p:cNvSpPr>
                <a:spLocks noChangeShapeType="1"/>
              </p:cNvSpPr>
              <p:nvPr/>
            </p:nvSpPr>
            <p:spPr bwMode="auto">
              <a:xfrm>
                <a:off x="1505" y="1772"/>
                <a:ext cx="0" cy="89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4" name="Line 16">
                <a:extLst>
                  <a:ext uri="{FF2B5EF4-FFF2-40B4-BE49-F238E27FC236}">
                    <a16:creationId xmlns:a16="http://schemas.microsoft.com/office/drawing/2014/main" id="{02133595-8E47-733E-995A-105F0ABB7EC3}"/>
                  </a:ext>
                </a:extLst>
              </p:cNvPr>
              <p:cNvSpPr>
                <a:spLocks noChangeShapeType="1"/>
              </p:cNvSpPr>
              <p:nvPr/>
            </p:nvSpPr>
            <p:spPr bwMode="auto">
              <a:xfrm>
                <a:off x="2718" y="1774"/>
                <a:ext cx="0" cy="89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15" name="AutoShape 17">
              <a:extLst>
                <a:ext uri="{FF2B5EF4-FFF2-40B4-BE49-F238E27FC236}">
                  <a16:creationId xmlns:a16="http://schemas.microsoft.com/office/drawing/2014/main" id="{7CD1EC0B-BDAF-2057-BD69-183E5B6639FF}"/>
                </a:ext>
              </a:extLst>
            </p:cNvPr>
            <p:cNvSpPr>
              <a:spLocks noChangeArrowheads="1"/>
            </p:cNvSpPr>
            <p:nvPr/>
          </p:nvSpPr>
          <p:spPr bwMode="auto">
            <a:xfrm>
              <a:off x="3603308" y="3686175"/>
              <a:ext cx="1535112" cy="1227137"/>
            </a:xfrm>
            <a:prstGeom prst="triangle">
              <a:avLst>
                <a:gd name="adj" fmla="val 50000"/>
              </a:avLst>
            </a:prstGeom>
            <a:solidFill>
              <a:schemeClr val="accent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MDPE</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And </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KPI</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s</a:t>
              </a:r>
              <a:endParaRPr lang="en-US" altLang="en-US" sz="1400">
                <a:latin typeface="Roboto" panose="02000000000000000000" pitchFamily="2" charset="0"/>
                <a:ea typeface="Roboto" panose="02000000000000000000" pitchFamily="2" charset="0"/>
              </a:endParaRPr>
            </a:p>
          </p:txBody>
        </p:sp>
        <p:sp>
          <p:nvSpPr>
            <p:cNvPr id="16" name="AutoShape 22">
              <a:extLst>
                <a:ext uri="{FF2B5EF4-FFF2-40B4-BE49-F238E27FC236}">
                  <a16:creationId xmlns:a16="http://schemas.microsoft.com/office/drawing/2014/main" id="{A8448BB1-6DD5-FE3F-38D2-354D7B84BCE0}"/>
                </a:ext>
              </a:extLst>
            </p:cNvPr>
            <p:cNvSpPr>
              <a:spLocks noChangeArrowheads="1"/>
            </p:cNvSpPr>
            <p:nvPr/>
          </p:nvSpPr>
          <p:spPr bwMode="auto">
            <a:xfrm>
              <a:off x="1869758" y="3681412"/>
              <a:ext cx="1535112" cy="1227138"/>
            </a:xfrm>
            <a:prstGeom prst="triangle">
              <a:avLst>
                <a:gd name="adj" fmla="val 50000"/>
              </a:avLst>
            </a:prstGeom>
            <a:solidFill>
              <a:schemeClr val="accent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MDPE</a:t>
              </a:r>
            </a:p>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And </a:t>
              </a:r>
            </a:p>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KPI</a:t>
              </a:r>
              <a:r>
                <a:rPr lang="ja-JP" altLang="en-US" sz="1400" dirty="0">
                  <a:latin typeface="Roboto" panose="02000000000000000000" pitchFamily="2" charset="0"/>
                </a:rPr>
                <a:t>’</a:t>
              </a:r>
              <a:r>
                <a:rPr lang="en-US" altLang="ja-JP" sz="1400" dirty="0">
                  <a:latin typeface="Roboto" panose="02000000000000000000" pitchFamily="2" charset="0"/>
                  <a:ea typeface="Roboto" panose="02000000000000000000" pitchFamily="2" charset="0"/>
                </a:rPr>
                <a:t>s</a:t>
              </a:r>
              <a:endParaRPr lang="en-US" altLang="en-US" sz="1400" dirty="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478012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Managing for Daily Process Excellence Agenda</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14</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9358182"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 (MDPE) Overview</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935818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Gemba Exercise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Lean Basics Assessment and KPI Development</a:t>
            </a:r>
          </a:p>
        </p:txBody>
      </p:sp>
      <p:sp>
        <p:nvSpPr>
          <p:cNvPr id="15" name="Rectangle 14">
            <a:extLst>
              <a:ext uri="{FF2B5EF4-FFF2-40B4-BE49-F238E27FC236}">
                <a16:creationId xmlns:a16="http://schemas.microsoft.com/office/drawing/2014/main" id="{D87C53B4-48B2-AD29-AFD8-1C5B6871B984}"/>
              </a:ext>
            </a:extLst>
          </p:cNvPr>
          <p:cNvSpPr/>
          <p:nvPr/>
        </p:nvSpPr>
        <p:spPr>
          <a:xfrm>
            <a:off x="940248" y="4396378"/>
            <a:ext cx="935818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Installing MDPE: Manage the MDPE Levers at Gemba</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Sample Templates and Best Practices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3779152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600" dirty="0">
                <a:latin typeface="Roboto Medium"/>
                <a:ea typeface="Roboto Medium"/>
                <a:cs typeface="Roboto Medium"/>
              </a:rPr>
              <a:t>Exercise: Gemba Walk</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Understand the effort needed to see value being added at Gemba</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either pairs or foursomes go to Gemba and spend 15 minutes observing a person or team of people performing their job.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Write your observations down.  Focus on nature of the work, standardization, and coordination.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Return to the classroom and discuss your observations.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60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Be prepared to share with the larger group.</a:t>
            </a:r>
          </a:p>
        </p:txBody>
      </p:sp>
    </p:spTree>
    <p:extLst>
      <p:ext uri="{BB962C8B-B14F-4D97-AF65-F5344CB8AC3E}">
        <p14:creationId xmlns:p14="http://schemas.microsoft.com/office/powerpoint/2010/main" val="3703461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Managing for Daily Process Excellence Agenda</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16</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9358182"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 (MDPE) Overview</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935818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Gemba Exercise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935818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Lean Basics Assessment and KPI Development</a:t>
            </a:r>
          </a:p>
        </p:txBody>
      </p:sp>
      <p:sp>
        <p:nvSpPr>
          <p:cNvPr id="15" name="Rectangle 14">
            <a:extLst>
              <a:ext uri="{FF2B5EF4-FFF2-40B4-BE49-F238E27FC236}">
                <a16:creationId xmlns:a16="http://schemas.microsoft.com/office/drawing/2014/main" id="{D87C53B4-48B2-AD29-AFD8-1C5B6871B984}"/>
              </a:ext>
            </a:extLst>
          </p:cNvPr>
          <p:cNvSpPr/>
          <p:nvPr/>
        </p:nvSpPr>
        <p:spPr>
          <a:xfrm>
            <a:off x="940248" y="4396378"/>
            <a:ext cx="935818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Installing MDPE: Manage the MDPE Levers at Gemba</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Sample Templates and Best Practices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1722537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Installing Managing Daily Process Excellence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b="1" dirty="0"/>
              <a:t>Critical Concepts to understand:</a:t>
            </a:r>
          </a:p>
          <a:p>
            <a:r>
              <a:rPr lang="en-US" sz="2400" dirty="0"/>
              <a:t>Leadership (Executive and Gemba Level) Commitment to “Lean Basics” and MDPE are a critical first step to driving results at Gemba</a:t>
            </a:r>
          </a:p>
          <a:p>
            <a:r>
              <a:rPr lang="en-US" sz="2400" dirty="0"/>
              <a:t>Each organization is at a different point in the “Lean Journey ” and therefore will require different levels of MDPE intervention</a:t>
            </a:r>
          </a:p>
          <a:p>
            <a:r>
              <a:rPr lang="en-US" sz="2400" dirty="0"/>
              <a:t>“Lean Basics” of  5S and Standard Work / Standard process are the foundation of MDPE, they must be in place!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grpSp>
        <p:nvGrpSpPr>
          <p:cNvPr id="8" name="Group 7">
            <a:extLst>
              <a:ext uri="{FF2B5EF4-FFF2-40B4-BE49-F238E27FC236}">
                <a16:creationId xmlns:a16="http://schemas.microsoft.com/office/drawing/2014/main" id="{9F104619-15F3-24E7-4C62-27F859B12568}"/>
              </a:ext>
            </a:extLst>
          </p:cNvPr>
          <p:cNvGrpSpPr/>
          <p:nvPr/>
        </p:nvGrpSpPr>
        <p:grpSpPr>
          <a:xfrm>
            <a:off x="2131693" y="4743133"/>
            <a:ext cx="7928613" cy="1346200"/>
            <a:chOff x="2255153" y="3840163"/>
            <a:chExt cx="4634809" cy="1346200"/>
          </a:xfrm>
        </p:grpSpPr>
        <p:sp>
          <p:nvSpPr>
            <p:cNvPr id="4" name="AutoShape 3">
              <a:extLst>
                <a:ext uri="{FF2B5EF4-FFF2-40B4-BE49-F238E27FC236}">
                  <a16:creationId xmlns:a16="http://schemas.microsoft.com/office/drawing/2014/main" id="{003AEA88-69E0-0638-FFDF-169818BE4475}"/>
                </a:ext>
              </a:extLst>
            </p:cNvPr>
            <p:cNvSpPr>
              <a:spLocks noChangeArrowheads="1"/>
            </p:cNvSpPr>
            <p:nvPr/>
          </p:nvSpPr>
          <p:spPr bwMode="auto">
            <a:xfrm>
              <a:off x="5289762"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     Continuous Improvement in Gemba</a:t>
              </a:r>
            </a:p>
          </p:txBody>
        </p:sp>
        <p:sp>
          <p:nvSpPr>
            <p:cNvPr id="6" name="AutoShape 4">
              <a:extLst>
                <a:ext uri="{FF2B5EF4-FFF2-40B4-BE49-F238E27FC236}">
                  <a16:creationId xmlns:a16="http://schemas.microsoft.com/office/drawing/2014/main" id="{CDB7B71F-1055-A2F2-4A82-E5D46D37CEDC}"/>
                </a:ext>
              </a:extLst>
            </p:cNvPr>
            <p:cNvSpPr>
              <a:spLocks noChangeArrowheads="1"/>
            </p:cNvSpPr>
            <p:nvPr/>
          </p:nvSpPr>
          <p:spPr bwMode="auto">
            <a:xfrm>
              <a:off x="3775075"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Develop and Implement KPIs at Gemba</a:t>
              </a:r>
            </a:p>
          </p:txBody>
        </p:sp>
        <p:sp>
          <p:nvSpPr>
            <p:cNvPr id="7" name="AutoShape 5">
              <a:extLst>
                <a:ext uri="{FF2B5EF4-FFF2-40B4-BE49-F238E27FC236}">
                  <a16:creationId xmlns:a16="http://schemas.microsoft.com/office/drawing/2014/main" id="{92D66BDA-79CD-6368-9691-698162467D23}"/>
                </a:ext>
              </a:extLst>
            </p:cNvPr>
            <p:cNvSpPr>
              <a:spLocks noChangeArrowheads="1"/>
            </p:cNvSpPr>
            <p:nvPr/>
          </p:nvSpPr>
          <p:spPr bwMode="auto">
            <a:xfrm>
              <a:off x="2255153"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Commitment to Transformation </a:t>
              </a:r>
              <a:br>
                <a:rPr lang="en-US" altLang="en-US" sz="1600" dirty="0">
                  <a:solidFill>
                    <a:schemeClr val="bg1"/>
                  </a:solidFill>
                  <a:latin typeface="Roboto" panose="02000000000000000000" pitchFamily="2" charset="0"/>
                  <a:ea typeface="Roboto" panose="02000000000000000000" pitchFamily="2" charset="0"/>
                </a:rPr>
              </a:br>
              <a:r>
                <a:rPr lang="en-US" altLang="en-US" sz="1600" dirty="0">
                  <a:solidFill>
                    <a:schemeClr val="bg1"/>
                  </a:solidFill>
                  <a:latin typeface="Roboto" panose="02000000000000000000" pitchFamily="2" charset="0"/>
                  <a:ea typeface="Roboto" panose="02000000000000000000" pitchFamily="2" charset="0"/>
                </a:rPr>
                <a:t>(Lean Basics)</a:t>
              </a:r>
            </a:p>
          </p:txBody>
        </p:sp>
      </p:grpSp>
    </p:spTree>
    <p:extLst>
      <p:ext uri="{BB962C8B-B14F-4D97-AF65-F5344CB8AC3E}">
        <p14:creationId xmlns:p14="http://schemas.microsoft.com/office/powerpoint/2010/main" val="1582877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2400" dirty="0"/>
              <a:t>Where are you with your deployment of Lean Basics in Operations?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pSp>
        <p:nvGrpSpPr>
          <p:cNvPr id="22" name="Group 21">
            <a:extLst>
              <a:ext uri="{FF2B5EF4-FFF2-40B4-BE49-F238E27FC236}">
                <a16:creationId xmlns:a16="http://schemas.microsoft.com/office/drawing/2014/main" id="{B6255F4E-592A-D8D4-2267-83BB5C6D9075}"/>
              </a:ext>
            </a:extLst>
          </p:cNvPr>
          <p:cNvGrpSpPr/>
          <p:nvPr/>
        </p:nvGrpSpPr>
        <p:grpSpPr>
          <a:xfrm>
            <a:off x="1977232" y="1860551"/>
            <a:ext cx="8237537" cy="4316412"/>
            <a:chOff x="461963" y="1684338"/>
            <a:chExt cx="8237537" cy="4316412"/>
          </a:xfrm>
        </p:grpSpPr>
        <p:sp>
          <p:nvSpPr>
            <p:cNvPr id="11" name="Rectangle 3">
              <a:extLst>
                <a:ext uri="{FF2B5EF4-FFF2-40B4-BE49-F238E27FC236}">
                  <a16:creationId xmlns:a16="http://schemas.microsoft.com/office/drawing/2014/main" id="{826EEEF9-7778-9D13-8E08-144AC8BD77F6}"/>
                </a:ext>
              </a:extLst>
            </p:cNvPr>
            <p:cNvSpPr>
              <a:spLocks noChangeArrowheads="1"/>
            </p:cNvSpPr>
            <p:nvPr/>
          </p:nvSpPr>
          <p:spPr bwMode="auto">
            <a:xfrm>
              <a:off x="1447800" y="1684338"/>
              <a:ext cx="6477000" cy="609600"/>
            </a:xfrm>
            <a:prstGeom prst="rect">
              <a:avLst/>
            </a:prstGeom>
            <a:solidFill>
              <a:schemeClr val="bg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Is a cellular arrangement with material moving </a:t>
              </a:r>
              <a:br>
                <a:rPr lang="en-US" altLang="en-US" sz="1800" b="0" dirty="0">
                  <a:latin typeface="Roboto" panose="02000000000000000000" pitchFamily="2" charset="0"/>
                  <a:ea typeface="Roboto" panose="02000000000000000000" pitchFamily="2" charset="0"/>
                </a:rPr>
              </a:br>
              <a:r>
                <a:rPr lang="en-US" altLang="en-US" sz="1800" b="0" dirty="0">
                  <a:latin typeface="Roboto" panose="02000000000000000000" pitchFamily="2" charset="0"/>
                  <a:ea typeface="Roboto" panose="02000000000000000000" pitchFamily="2" charset="0"/>
                </a:rPr>
                <a:t>counter-clockwise or work flow present? </a:t>
              </a:r>
            </a:p>
          </p:txBody>
        </p:sp>
        <p:sp>
          <p:nvSpPr>
            <p:cNvPr id="12" name="Rectangle 4">
              <a:extLst>
                <a:ext uri="{FF2B5EF4-FFF2-40B4-BE49-F238E27FC236}">
                  <a16:creationId xmlns:a16="http://schemas.microsoft.com/office/drawing/2014/main" id="{A36FFD58-9880-2A9E-B838-B6A8A1265664}"/>
                </a:ext>
              </a:extLst>
            </p:cNvPr>
            <p:cNvSpPr>
              <a:spLocks noChangeArrowheads="1"/>
            </p:cNvSpPr>
            <p:nvPr/>
          </p:nvSpPr>
          <p:spPr bwMode="auto">
            <a:xfrm>
              <a:off x="1447800" y="2370138"/>
              <a:ext cx="6477000" cy="685800"/>
            </a:xfrm>
            <a:prstGeom prst="rect">
              <a:avLst/>
            </a:prstGeom>
            <a:solidFill>
              <a:schemeClr val="accent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Is standard work or standard process established, </a:t>
              </a:r>
            </a:p>
            <a:p>
              <a:pPr algn="ctr">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and managed through a playbook?</a:t>
              </a:r>
            </a:p>
          </p:txBody>
        </p:sp>
        <p:sp>
          <p:nvSpPr>
            <p:cNvPr id="13" name="Rectangle 5">
              <a:extLst>
                <a:ext uri="{FF2B5EF4-FFF2-40B4-BE49-F238E27FC236}">
                  <a16:creationId xmlns:a16="http://schemas.microsoft.com/office/drawing/2014/main" id="{5CF93EB8-1673-C284-E7B3-C3A2E373F765}"/>
                </a:ext>
              </a:extLst>
            </p:cNvPr>
            <p:cNvSpPr>
              <a:spLocks noChangeArrowheads="1"/>
            </p:cNvSpPr>
            <p:nvPr/>
          </p:nvSpPr>
          <p:spPr bwMode="auto">
            <a:xfrm>
              <a:off x="1447800" y="3132138"/>
              <a:ext cx="6477000" cy="685800"/>
            </a:xfrm>
            <a:prstGeom prst="rect">
              <a:avLst/>
            </a:prstGeom>
            <a:solidFill>
              <a:schemeClr val="accent4"/>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b="0" dirty="0">
                  <a:solidFill>
                    <a:schemeClr val="bg1"/>
                  </a:solidFill>
                  <a:latin typeface="Roboto" panose="02000000000000000000" pitchFamily="2" charset="0"/>
                  <a:ea typeface="Roboto" panose="02000000000000000000" pitchFamily="2" charset="0"/>
                </a:rPr>
                <a:t>Is there visibility to inventory and is it moved to </a:t>
              </a:r>
            </a:p>
            <a:p>
              <a:pPr algn="ctr">
                <a:lnSpc>
                  <a:spcPct val="100000"/>
                </a:lnSpc>
                <a:spcBef>
                  <a:spcPct val="0"/>
                </a:spcBef>
                <a:spcAft>
                  <a:spcPct val="0"/>
                </a:spcAft>
                <a:buClrTx/>
                <a:buSzTx/>
                <a:buFontTx/>
                <a:buNone/>
              </a:pPr>
              <a:r>
                <a:rPr lang="en-US" altLang="en-US" sz="1800" b="0" dirty="0">
                  <a:solidFill>
                    <a:schemeClr val="bg1"/>
                  </a:solidFill>
                  <a:latin typeface="Roboto" panose="02000000000000000000" pitchFamily="2" charset="0"/>
                  <a:ea typeface="Roboto" panose="02000000000000000000" pitchFamily="2" charset="0"/>
                </a:rPr>
                <a:t>point-of-use?</a:t>
              </a:r>
            </a:p>
          </p:txBody>
        </p:sp>
        <p:sp>
          <p:nvSpPr>
            <p:cNvPr id="14" name="Rectangle 6">
              <a:extLst>
                <a:ext uri="{FF2B5EF4-FFF2-40B4-BE49-F238E27FC236}">
                  <a16:creationId xmlns:a16="http://schemas.microsoft.com/office/drawing/2014/main" id="{2B5CBEDC-5373-531F-AADB-1C807DE6D811}"/>
                </a:ext>
              </a:extLst>
            </p:cNvPr>
            <p:cNvSpPr>
              <a:spLocks noChangeArrowheads="1"/>
            </p:cNvSpPr>
            <p:nvPr/>
          </p:nvSpPr>
          <p:spPr bwMode="auto">
            <a:xfrm>
              <a:off x="1447800" y="3894138"/>
              <a:ext cx="6477000" cy="609600"/>
            </a:xfrm>
            <a:prstGeom prst="rect">
              <a:avLst/>
            </a:prstGeom>
            <a:solidFill>
              <a:schemeClr val="bg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0"/>
                </a:spcBef>
                <a:spcAft>
                  <a:spcPct val="0"/>
                </a:spcAft>
                <a:buClrTx/>
                <a:buSzTx/>
                <a:buFontTx/>
                <a:buNone/>
              </a:pPr>
              <a:r>
                <a:rPr lang="en-US" altLang="en-US" sz="1800" b="0">
                  <a:latin typeface="Roboto" panose="02000000000000000000" pitchFamily="2" charset="0"/>
                  <a:ea typeface="Roboto" panose="02000000000000000000" pitchFamily="2" charset="0"/>
                </a:rPr>
                <a:t>Is there an inventory replenishment system</a:t>
              </a:r>
              <a:br>
                <a:rPr lang="en-US" altLang="en-US" sz="1800" b="0">
                  <a:latin typeface="Roboto" panose="02000000000000000000" pitchFamily="2" charset="0"/>
                  <a:ea typeface="Roboto" panose="02000000000000000000" pitchFamily="2" charset="0"/>
                </a:rPr>
              </a:br>
              <a:r>
                <a:rPr lang="en-US" altLang="en-US" sz="1800" b="0">
                  <a:latin typeface="Roboto" panose="02000000000000000000" pitchFamily="2" charset="0"/>
                  <a:ea typeface="Roboto" panose="02000000000000000000" pitchFamily="2" charset="0"/>
                </a:rPr>
                <a:t>(kanban) in place?</a:t>
              </a:r>
            </a:p>
          </p:txBody>
        </p:sp>
        <p:sp>
          <p:nvSpPr>
            <p:cNvPr id="15" name="Rectangle 7">
              <a:extLst>
                <a:ext uri="{FF2B5EF4-FFF2-40B4-BE49-F238E27FC236}">
                  <a16:creationId xmlns:a16="http://schemas.microsoft.com/office/drawing/2014/main" id="{D878C85A-D63C-ECBA-A6BB-C04614D29A95}"/>
                </a:ext>
              </a:extLst>
            </p:cNvPr>
            <p:cNvSpPr>
              <a:spLocks noChangeArrowheads="1"/>
            </p:cNvSpPr>
            <p:nvPr/>
          </p:nvSpPr>
          <p:spPr bwMode="auto">
            <a:xfrm>
              <a:off x="1447800" y="4579938"/>
              <a:ext cx="6477000" cy="762000"/>
            </a:xfrm>
            <a:prstGeom prst="rect">
              <a:avLst/>
            </a:prstGeom>
            <a:solidFill>
              <a:schemeClr val="accent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b="0">
                  <a:latin typeface="Roboto" panose="02000000000000000000" pitchFamily="2" charset="0"/>
                  <a:ea typeface="Roboto" panose="02000000000000000000" pitchFamily="2" charset="0"/>
                </a:rPr>
                <a:t>Scorecard at end cell / work area indicating </a:t>
              </a:r>
            </a:p>
            <a:p>
              <a:pPr algn="ctr">
                <a:lnSpc>
                  <a:spcPct val="100000"/>
                </a:lnSpc>
                <a:spcBef>
                  <a:spcPct val="0"/>
                </a:spcBef>
                <a:spcAft>
                  <a:spcPct val="0"/>
                </a:spcAft>
                <a:buClrTx/>
                <a:buSzTx/>
                <a:buFontTx/>
                <a:buNone/>
              </a:pPr>
              <a:r>
                <a:rPr lang="en-US" altLang="en-US" sz="1800" b="0">
                  <a:latin typeface="Roboto" panose="02000000000000000000" pitchFamily="2" charset="0"/>
                  <a:ea typeface="Roboto" panose="02000000000000000000" pitchFamily="2" charset="0"/>
                </a:rPr>
                <a:t>how we are doing vs plan?</a:t>
              </a:r>
            </a:p>
          </p:txBody>
        </p:sp>
        <p:sp>
          <p:nvSpPr>
            <p:cNvPr id="16" name="Oval 16">
              <a:extLst>
                <a:ext uri="{FF2B5EF4-FFF2-40B4-BE49-F238E27FC236}">
                  <a16:creationId xmlns:a16="http://schemas.microsoft.com/office/drawing/2014/main" id="{1FE95D28-13EC-ACE1-8D90-EB8413373E69}"/>
                </a:ext>
              </a:extLst>
            </p:cNvPr>
            <p:cNvSpPr>
              <a:spLocks noChangeArrowheads="1"/>
            </p:cNvSpPr>
            <p:nvPr/>
          </p:nvSpPr>
          <p:spPr bwMode="auto">
            <a:xfrm>
              <a:off x="976313" y="18256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17" name="Oval 16">
              <a:extLst>
                <a:ext uri="{FF2B5EF4-FFF2-40B4-BE49-F238E27FC236}">
                  <a16:creationId xmlns:a16="http://schemas.microsoft.com/office/drawing/2014/main" id="{650AA3C4-3A21-8FB8-3DBF-EB6EE5962094}"/>
                </a:ext>
              </a:extLst>
            </p:cNvPr>
            <p:cNvSpPr>
              <a:spLocks noChangeArrowheads="1"/>
            </p:cNvSpPr>
            <p:nvPr/>
          </p:nvSpPr>
          <p:spPr bwMode="auto">
            <a:xfrm>
              <a:off x="976313" y="25241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18" name="Oval 16">
              <a:extLst>
                <a:ext uri="{FF2B5EF4-FFF2-40B4-BE49-F238E27FC236}">
                  <a16:creationId xmlns:a16="http://schemas.microsoft.com/office/drawing/2014/main" id="{236C7F94-FF05-F0B5-C02C-18F59FE2BDC1}"/>
                </a:ext>
              </a:extLst>
            </p:cNvPr>
            <p:cNvSpPr>
              <a:spLocks noChangeArrowheads="1"/>
            </p:cNvSpPr>
            <p:nvPr/>
          </p:nvSpPr>
          <p:spPr bwMode="auto">
            <a:xfrm>
              <a:off x="989013" y="32861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19" name="Oval 16">
              <a:extLst>
                <a:ext uri="{FF2B5EF4-FFF2-40B4-BE49-F238E27FC236}">
                  <a16:creationId xmlns:a16="http://schemas.microsoft.com/office/drawing/2014/main" id="{F2FC9F13-5D33-293A-5DCD-820B1AE6F3E3}"/>
                </a:ext>
              </a:extLst>
            </p:cNvPr>
            <p:cNvSpPr>
              <a:spLocks noChangeArrowheads="1"/>
            </p:cNvSpPr>
            <p:nvPr/>
          </p:nvSpPr>
          <p:spPr bwMode="auto">
            <a:xfrm>
              <a:off x="976313" y="40100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20" name="Oval 16">
              <a:extLst>
                <a:ext uri="{FF2B5EF4-FFF2-40B4-BE49-F238E27FC236}">
                  <a16:creationId xmlns:a16="http://schemas.microsoft.com/office/drawing/2014/main" id="{EFEE01E5-7388-FC17-AB63-D7CFE6155564}"/>
                </a:ext>
              </a:extLst>
            </p:cNvPr>
            <p:cNvSpPr>
              <a:spLocks noChangeArrowheads="1"/>
            </p:cNvSpPr>
            <p:nvPr/>
          </p:nvSpPr>
          <p:spPr bwMode="auto">
            <a:xfrm>
              <a:off x="976313" y="47593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21" name="Text Box 13">
              <a:extLst>
                <a:ext uri="{FF2B5EF4-FFF2-40B4-BE49-F238E27FC236}">
                  <a16:creationId xmlns:a16="http://schemas.microsoft.com/office/drawing/2014/main" id="{70500A7F-1D9E-6EC0-B011-ED50B65E3E2A}"/>
                </a:ext>
              </a:extLst>
            </p:cNvPr>
            <p:cNvSpPr txBox="1">
              <a:spLocks noChangeArrowheads="1"/>
            </p:cNvSpPr>
            <p:nvPr/>
          </p:nvSpPr>
          <p:spPr bwMode="auto">
            <a:xfrm>
              <a:off x="461963" y="5631418"/>
              <a:ext cx="8237537" cy="369332"/>
            </a:xfrm>
            <a:prstGeom prst="rect">
              <a:avLst/>
            </a:prstGeom>
            <a:solidFill>
              <a:schemeClr val="bg2"/>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Implementing the Lean Basics and MDPE in parallel yields the best results</a:t>
              </a:r>
              <a:endParaRPr lang="en-US" altLang="en-US" sz="1400" b="0" dirty="0">
                <a:solidFill>
                  <a:srgbClr val="000066"/>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1367457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2400" dirty="0"/>
              <a:t>Where are you with your deployment of Lean Basics in the Back Office?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grpSp>
        <p:nvGrpSpPr>
          <p:cNvPr id="22" name="Group 21">
            <a:extLst>
              <a:ext uri="{FF2B5EF4-FFF2-40B4-BE49-F238E27FC236}">
                <a16:creationId xmlns:a16="http://schemas.microsoft.com/office/drawing/2014/main" id="{B6255F4E-592A-D8D4-2267-83BB5C6D9075}"/>
              </a:ext>
            </a:extLst>
          </p:cNvPr>
          <p:cNvGrpSpPr/>
          <p:nvPr/>
        </p:nvGrpSpPr>
        <p:grpSpPr>
          <a:xfrm>
            <a:off x="1977232" y="1860551"/>
            <a:ext cx="8237537" cy="4316412"/>
            <a:chOff x="461963" y="1684338"/>
            <a:chExt cx="8237537" cy="4316412"/>
          </a:xfrm>
        </p:grpSpPr>
        <p:sp>
          <p:nvSpPr>
            <p:cNvPr id="11" name="Rectangle 3">
              <a:extLst>
                <a:ext uri="{FF2B5EF4-FFF2-40B4-BE49-F238E27FC236}">
                  <a16:creationId xmlns:a16="http://schemas.microsoft.com/office/drawing/2014/main" id="{826EEEF9-7778-9D13-8E08-144AC8BD77F6}"/>
                </a:ext>
              </a:extLst>
            </p:cNvPr>
            <p:cNvSpPr>
              <a:spLocks noChangeArrowheads="1"/>
            </p:cNvSpPr>
            <p:nvPr/>
          </p:nvSpPr>
          <p:spPr bwMode="auto">
            <a:xfrm>
              <a:off x="1447800" y="1684338"/>
              <a:ext cx="6477000" cy="609600"/>
            </a:xfrm>
            <a:prstGeom prst="rect">
              <a:avLst/>
            </a:prstGeom>
            <a:solidFill>
              <a:schemeClr val="bg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Is there a visible work flow present? </a:t>
              </a:r>
            </a:p>
          </p:txBody>
        </p:sp>
        <p:sp>
          <p:nvSpPr>
            <p:cNvPr id="12" name="Rectangle 4">
              <a:extLst>
                <a:ext uri="{FF2B5EF4-FFF2-40B4-BE49-F238E27FC236}">
                  <a16:creationId xmlns:a16="http://schemas.microsoft.com/office/drawing/2014/main" id="{A36FFD58-9880-2A9E-B838-B6A8A1265664}"/>
                </a:ext>
              </a:extLst>
            </p:cNvPr>
            <p:cNvSpPr>
              <a:spLocks noChangeArrowheads="1"/>
            </p:cNvSpPr>
            <p:nvPr/>
          </p:nvSpPr>
          <p:spPr bwMode="auto">
            <a:xfrm>
              <a:off x="1447800" y="2370138"/>
              <a:ext cx="6477000" cy="685800"/>
            </a:xfrm>
            <a:prstGeom prst="rect">
              <a:avLst/>
            </a:prstGeom>
            <a:solidFill>
              <a:schemeClr val="accent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Is a standard process established, </a:t>
              </a:r>
              <a:br>
                <a:rPr lang="en-US" altLang="en-US" sz="1800" b="0" dirty="0">
                  <a:latin typeface="Roboto" panose="02000000000000000000" pitchFamily="2" charset="0"/>
                  <a:ea typeface="Roboto" panose="02000000000000000000" pitchFamily="2" charset="0"/>
                </a:rPr>
              </a:br>
              <a:r>
                <a:rPr lang="en-US" altLang="en-US" sz="1800" b="0" dirty="0">
                  <a:latin typeface="Roboto" panose="02000000000000000000" pitchFamily="2" charset="0"/>
                  <a:ea typeface="Roboto" panose="02000000000000000000" pitchFamily="2" charset="0"/>
                </a:rPr>
                <a:t>with clear work instructions?</a:t>
              </a:r>
            </a:p>
          </p:txBody>
        </p:sp>
        <p:sp>
          <p:nvSpPr>
            <p:cNvPr id="13" name="Rectangle 5">
              <a:extLst>
                <a:ext uri="{FF2B5EF4-FFF2-40B4-BE49-F238E27FC236}">
                  <a16:creationId xmlns:a16="http://schemas.microsoft.com/office/drawing/2014/main" id="{5CF93EB8-1673-C284-E7B3-C3A2E373F765}"/>
                </a:ext>
              </a:extLst>
            </p:cNvPr>
            <p:cNvSpPr>
              <a:spLocks noChangeArrowheads="1"/>
            </p:cNvSpPr>
            <p:nvPr/>
          </p:nvSpPr>
          <p:spPr bwMode="auto">
            <a:xfrm>
              <a:off x="1447800" y="3132138"/>
              <a:ext cx="6477000" cy="685800"/>
            </a:xfrm>
            <a:prstGeom prst="rect">
              <a:avLst/>
            </a:prstGeom>
            <a:solidFill>
              <a:schemeClr val="accent4"/>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b="0" dirty="0">
                  <a:solidFill>
                    <a:schemeClr val="bg1"/>
                  </a:solidFill>
                  <a:latin typeface="Roboto" panose="02000000000000000000" pitchFamily="2" charset="0"/>
                  <a:ea typeface="Roboto" panose="02000000000000000000" pitchFamily="2" charset="0"/>
                </a:rPr>
                <a:t>Is there visibility to demand, inventory and </a:t>
              </a:r>
            </a:p>
            <a:p>
              <a:pPr algn="ctr">
                <a:lnSpc>
                  <a:spcPct val="100000"/>
                </a:lnSpc>
                <a:spcBef>
                  <a:spcPct val="0"/>
                </a:spcBef>
                <a:spcAft>
                  <a:spcPct val="0"/>
                </a:spcAft>
                <a:buClrTx/>
                <a:buSzTx/>
                <a:buFontTx/>
                <a:buNone/>
              </a:pPr>
              <a:r>
                <a:rPr lang="en-US" altLang="en-US" sz="1800" b="0" dirty="0">
                  <a:solidFill>
                    <a:schemeClr val="bg1"/>
                  </a:solidFill>
                  <a:latin typeface="Roboto" panose="02000000000000000000" pitchFamily="2" charset="0"/>
                  <a:ea typeface="Roboto" panose="02000000000000000000" pitchFamily="2" charset="0"/>
                </a:rPr>
                <a:t>materials needed?</a:t>
              </a:r>
            </a:p>
          </p:txBody>
        </p:sp>
        <p:sp>
          <p:nvSpPr>
            <p:cNvPr id="14" name="Rectangle 6">
              <a:extLst>
                <a:ext uri="{FF2B5EF4-FFF2-40B4-BE49-F238E27FC236}">
                  <a16:creationId xmlns:a16="http://schemas.microsoft.com/office/drawing/2014/main" id="{2B5CBEDC-5373-531F-AADB-1C807DE6D811}"/>
                </a:ext>
              </a:extLst>
            </p:cNvPr>
            <p:cNvSpPr>
              <a:spLocks noChangeArrowheads="1"/>
            </p:cNvSpPr>
            <p:nvPr/>
          </p:nvSpPr>
          <p:spPr bwMode="auto">
            <a:xfrm>
              <a:off x="1447800" y="3894138"/>
              <a:ext cx="6477000" cy="609600"/>
            </a:xfrm>
            <a:prstGeom prst="rect">
              <a:avLst/>
            </a:prstGeom>
            <a:solidFill>
              <a:schemeClr val="bg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Are there visible cues for “ready to hand off” or </a:t>
              </a:r>
            </a:p>
            <a:p>
              <a:pPr algn="ctr">
                <a:lnSpc>
                  <a:spcPct val="9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completed work?</a:t>
              </a:r>
            </a:p>
          </p:txBody>
        </p:sp>
        <p:sp>
          <p:nvSpPr>
            <p:cNvPr id="15" name="Rectangle 7">
              <a:extLst>
                <a:ext uri="{FF2B5EF4-FFF2-40B4-BE49-F238E27FC236}">
                  <a16:creationId xmlns:a16="http://schemas.microsoft.com/office/drawing/2014/main" id="{D878C85A-D63C-ECBA-A6BB-C04614D29A95}"/>
                </a:ext>
              </a:extLst>
            </p:cNvPr>
            <p:cNvSpPr>
              <a:spLocks noChangeArrowheads="1"/>
            </p:cNvSpPr>
            <p:nvPr/>
          </p:nvSpPr>
          <p:spPr bwMode="auto">
            <a:xfrm>
              <a:off x="1447800" y="4579938"/>
              <a:ext cx="6477000" cy="762000"/>
            </a:xfrm>
            <a:prstGeom prst="rect">
              <a:avLst/>
            </a:prstGeom>
            <a:solidFill>
              <a:schemeClr val="accent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Is a Scorecard visible in work area indicating </a:t>
              </a:r>
            </a:p>
            <a:p>
              <a:pPr algn="ctr">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how we are doing vs plan?</a:t>
              </a:r>
            </a:p>
          </p:txBody>
        </p:sp>
        <p:sp>
          <p:nvSpPr>
            <p:cNvPr id="16" name="Oval 16">
              <a:extLst>
                <a:ext uri="{FF2B5EF4-FFF2-40B4-BE49-F238E27FC236}">
                  <a16:creationId xmlns:a16="http://schemas.microsoft.com/office/drawing/2014/main" id="{1FE95D28-13EC-ACE1-8D90-EB8413373E69}"/>
                </a:ext>
              </a:extLst>
            </p:cNvPr>
            <p:cNvSpPr>
              <a:spLocks noChangeArrowheads="1"/>
            </p:cNvSpPr>
            <p:nvPr/>
          </p:nvSpPr>
          <p:spPr bwMode="auto">
            <a:xfrm>
              <a:off x="976313" y="18256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17" name="Oval 16">
              <a:extLst>
                <a:ext uri="{FF2B5EF4-FFF2-40B4-BE49-F238E27FC236}">
                  <a16:creationId xmlns:a16="http://schemas.microsoft.com/office/drawing/2014/main" id="{650AA3C4-3A21-8FB8-3DBF-EB6EE5962094}"/>
                </a:ext>
              </a:extLst>
            </p:cNvPr>
            <p:cNvSpPr>
              <a:spLocks noChangeArrowheads="1"/>
            </p:cNvSpPr>
            <p:nvPr/>
          </p:nvSpPr>
          <p:spPr bwMode="auto">
            <a:xfrm>
              <a:off x="976313" y="25241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18" name="Oval 16">
              <a:extLst>
                <a:ext uri="{FF2B5EF4-FFF2-40B4-BE49-F238E27FC236}">
                  <a16:creationId xmlns:a16="http://schemas.microsoft.com/office/drawing/2014/main" id="{236C7F94-FF05-F0B5-C02C-18F59FE2BDC1}"/>
                </a:ext>
              </a:extLst>
            </p:cNvPr>
            <p:cNvSpPr>
              <a:spLocks noChangeArrowheads="1"/>
            </p:cNvSpPr>
            <p:nvPr/>
          </p:nvSpPr>
          <p:spPr bwMode="auto">
            <a:xfrm>
              <a:off x="989013" y="32861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19" name="Oval 16">
              <a:extLst>
                <a:ext uri="{FF2B5EF4-FFF2-40B4-BE49-F238E27FC236}">
                  <a16:creationId xmlns:a16="http://schemas.microsoft.com/office/drawing/2014/main" id="{F2FC9F13-5D33-293A-5DCD-820B1AE6F3E3}"/>
                </a:ext>
              </a:extLst>
            </p:cNvPr>
            <p:cNvSpPr>
              <a:spLocks noChangeArrowheads="1"/>
            </p:cNvSpPr>
            <p:nvPr/>
          </p:nvSpPr>
          <p:spPr bwMode="auto">
            <a:xfrm>
              <a:off x="976313" y="40100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20" name="Oval 16">
              <a:extLst>
                <a:ext uri="{FF2B5EF4-FFF2-40B4-BE49-F238E27FC236}">
                  <a16:creationId xmlns:a16="http://schemas.microsoft.com/office/drawing/2014/main" id="{EFEE01E5-7388-FC17-AB63-D7CFE6155564}"/>
                </a:ext>
              </a:extLst>
            </p:cNvPr>
            <p:cNvSpPr>
              <a:spLocks noChangeArrowheads="1"/>
            </p:cNvSpPr>
            <p:nvPr/>
          </p:nvSpPr>
          <p:spPr bwMode="auto">
            <a:xfrm>
              <a:off x="976313" y="47593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21" name="Text Box 13">
              <a:extLst>
                <a:ext uri="{FF2B5EF4-FFF2-40B4-BE49-F238E27FC236}">
                  <a16:creationId xmlns:a16="http://schemas.microsoft.com/office/drawing/2014/main" id="{70500A7F-1D9E-6EC0-B011-ED50B65E3E2A}"/>
                </a:ext>
              </a:extLst>
            </p:cNvPr>
            <p:cNvSpPr txBox="1">
              <a:spLocks noChangeArrowheads="1"/>
            </p:cNvSpPr>
            <p:nvPr/>
          </p:nvSpPr>
          <p:spPr bwMode="auto">
            <a:xfrm>
              <a:off x="461963" y="5631418"/>
              <a:ext cx="8237537" cy="369332"/>
            </a:xfrm>
            <a:prstGeom prst="rect">
              <a:avLst/>
            </a:prstGeom>
            <a:solidFill>
              <a:schemeClr val="bg2"/>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Implementing the Lean Basics and MDPE in parallel yields the best results</a:t>
              </a:r>
            </a:p>
          </p:txBody>
        </p:sp>
      </p:grpSp>
    </p:spTree>
    <p:extLst>
      <p:ext uri="{BB962C8B-B14F-4D97-AF65-F5344CB8AC3E}">
        <p14:creationId xmlns:p14="http://schemas.microsoft.com/office/powerpoint/2010/main" val="1137207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600" dirty="0">
                <a:latin typeface="Roboto Medium"/>
                <a:ea typeface="Roboto Medium"/>
                <a:cs typeface="Roboto Medium"/>
              </a:rPr>
              <a:t>Exercise: Breakout Session, Lean Basics Audit</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20</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a Lean Basics audit.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complete the Lean Basics audit for your business. Go to Gemba! </a:t>
            </a:r>
          </a:p>
          <a:p>
            <a:pPr marL="0" marR="0" indent="0" algn="l"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Tools to use:</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File: Lean Basics Audit Form</a:t>
            </a:r>
          </a:p>
          <a:p>
            <a:pPr marL="0" marR="0" indent="0" algn="l"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Presentation of completed audit.</a:t>
            </a:r>
          </a:p>
        </p:txBody>
      </p:sp>
    </p:spTree>
    <p:extLst>
      <p:ext uri="{BB962C8B-B14F-4D97-AF65-F5344CB8AC3E}">
        <p14:creationId xmlns:p14="http://schemas.microsoft.com/office/powerpoint/2010/main" val="3211302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What are the “Right KPI’s”?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grpSp>
        <p:nvGrpSpPr>
          <p:cNvPr id="29" name="Group 28">
            <a:extLst>
              <a:ext uri="{FF2B5EF4-FFF2-40B4-BE49-F238E27FC236}">
                <a16:creationId xmlns:a16="http://schemas.microsoft.com/office/drawing/2014/main" id="{8A8A0F60-1C2B-388A-0977-F949723C7D6C}"/>
              </a:ext>
            </a:extLst>
          </p:cNvPr>
          <p:cNvGrpSpPr/>
          <p:nvPr/>
        </p:nvGrpSpPr>
        <p:grpSpPr>
          <a:xfrm>
            <a:off x="1862138" y="2047875"/>
            <a:ext cx="8467725" cy="3898900"/>
            <a:chOff x="327025" y="2047875"/>
            <a:chExt cx="8467725" cy="3898900"/>
          </a:xfrm>
        </p:grpSpPr>
        <p:sp>
          <p:nvSpPr>
            <p:cNvPr id="3" name="Rectangle 2">
              <a:extLst>
                <a:ext uri="{FF2B5EF4-FFF2-40B4-BE49-F238E27FC236}">
                  <a16:creationId xmlns:a16="http://schemas.microsoft.com/office/drawing/2014/main" id="{90C4A517-5179-184D-1A37-71B969F7F6BF}"/>
                </a:ext>
              </a:extLst>
            </p:cNvPr>
            <p:cNvSpPr>
              <a:spLocks noChangeArrowheads="1"/>
            </p:cNvSpPr>
            <p:nvPr/>
          </p:nvSpPr>
          <p:spPr bwMode="auto">
            <a:xfrm>
              <a:off x="1541463" y="4487863"/>
              <a:ext cx="6303962" cy="1458912"/>
            </a:xfrm>
            <a:prstGeom prst="rect">
              <a:avLst/>
            </a:prstGeom>
            <a:solidFill>
              <a:schemeClr val="bg2"/>
            </a:solidFill>
            <a:ln w="19050">
              <a:solidFill>
                <a:schemeClr val="tx1"/>
              </a:solidFill>
              <a:prstDash val="sysDot"/>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4" name="Rectangle 3">
              <a:extLst>
                <a:ext uri="{FF2B5EF4-FFF2-40B4-BE49-F238E27FC236}">
                  <a16:creationId xmlns:a16="http://schemas.microsoft.com/office/drawing/2014/main" id="{0AEDCFC6-3503-1D76-84B6-80B0140989C0}"/>
                </a:ext>
              </a:extLst>
            </p:cNvPr>
            <p:cNvSpPr>
              <a:spLocks noChangeArrowheads="1"/>
            </p:cNvSpPr>
            <p:nvPr/>
          </p:nvSpPr>
          <p:spPr bwMode="auto">
            <a:xfrm>
              <a:off x="727075" y="2047875"/>
              <a:ext cx="1719263" cy="771525"/>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SAFETY</a:t>
              </a:r>
            </a:p>
          </p:txBody>
        </p:sp>
        <p:sp>
          <p:nvSpPr>
            <p:cNvPr id="6" name="Rectangle 4">
              <a:extLst>
                <a:ext uri="{FF2B5EF4-FFF2-40B4-BE49-F238E27FC236}">
                  <a16:creationId xmlns:a16="http://schemas.microsoft.com/office/drawing/2014/main" id="{28A191E7-7D17-BAA6-9278-BA2651CFA089}"/>
                </a:ext>
              </a:extLst>
            </p:cNvPr>
            <p:cNvSpPr>
              <a:spLocks noChangeArrowheads="1"/>
            </p:cNvSpPr>
            <p:nvPr/>
          </p:nvSpPr>
          <p:spPr bwMode="auto">
            <a:xfrm>
              <a:off x="2714625" y="2047875"/>
              <a:ext cx="1719263" cy="771525"/>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QUALITY</a:t>
              </a:r>
            </a:p>
          </p:txBody>
        </p:sp>
        <p:sp>
          <p:nvSpPr>
            <p:cNvPr id="7" name="Rectangle 5">
              <a:extLst>
                <a:ext uri="{FF2B5EF4-FFF2-40B4-BE49-F238E27FC236}">
                  <a16:creationId xmlns:a16="http://schemas.microsoft.com/office/drawing/2014/main" id="{97060913-CB94-B4FD-8E04-04D409CD6233}"/>
                </a:ext>
              </a:extLst>
            </p:cNvPr>
            <p:cNvSpPr>
              <a:spLocks noChangeArrowheads="1"/>
            </p:cNvSpPr>
            <p:nvPr/>
          </p:nvSpPr>
          <p:spPr bwMode="auto">
            <a:xfrm>
              <a:off x="4760913" y="2062163"/>
              <a:ext cx="1719262" cy="700087"/>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DELIVERY</a:t>
              </a:r>
            </a:p>
          </p:txBody>
        </p:sp>
        <p:sp>
          <p:nvSpPr>
            <p:cNvPr id="8" name="Rectangle 6">
              <a:extLst>
                <a:ext uri="{FF2B5EF4-FFF2-40B4-BE49-F238E27FC236}">
                  <a16:creationId xmlns:a16="http://schemas.microsoft.com/office/drawing/2014/main" id="{4B187376-A0E3-8C40-7044-D70753228A62}"/>
                </a:ext>
              </a:extLst>
            </p:cNvPr>
            <p:cNvSpPr>
              <a:spLocks noChangeArrowheads="1"/>
            </p:cNvSpPr>
            <p:nvPr/>
          </p:nvSpPr>
          <p:spPr bwMode="auto">
            <a:xfrm>
              <a:off x="6792913" y="2076450"/>
              <a:ext cx="1719262" cy="67945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PRODUCTIVITY  or COST </a:t>
              </a:r>
            </a:p>
          </p:txBody>
        </p:sp>
        <p:cxnSp>
          <p:nvCxnSpPr>
            <p:cNvPr id="9" name="AutoShape 11">
              <a:extLst>
                <a:ext uri="{FF2B5EF4-FFF2-40B4-BE49-F238E27FC236}">
                  <a16:creationId xmlns:a16="http://schemas.microsoft.com/office/drawing/2014/main" id="{8986A65B-CEE6-B3E0-B10A-FB7F0ACD42A2}"/>
                </a:ext>
              </a:extLst>
            </p:cNvPr>
            <p:cNvCxnSpPr>
              <a:cxnSpLocks noChangeShapeType="1"/>
              <a:stCxn id="4" idx="3"/>
              <a:endCxn id="6" idx="1"/>
            </p:cNvCxnSpPr>
            <p:nvPr/>
          </p:nvCxnSpPr>
          <p:spPr bwMode="auto">
            <a:xfrm>
              <a:off x="2446338" y="2433638"/>
              <a:ext cx="268287"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0" name="AutoShape 12">
              <a:extLst>
                <a:ext uri="{FF2B5EF4-FFF2-40B4-BE49-F238E27FC236}">
                  <a16:creationId xmlns:a16="http://schemas.microsoft.com/office/drawing/2014/main" id="{70318B5F-01F1-C053-7297-BF921938C885}"/>
                </a:ext>
              </a:extLst>
            </p:cNvPr>
            <p:cNvCxnSpPr>
              <a:cxnSpLocks noChangeShapeType="1"/>
              <a:stCxn id="6" idx="3"/>
              <a:endCxn id="7" idx="1"/>
            </p:cNvCxnSpPr>
            <p:nvPr/>
          </p:nvCxnSpPr>
          <p:spPr bwMode="auto">
            <a:xfrm flipV="1">
              <a:off x="4433888" y="2413000"/>
              <a:ext cx="327025" cy="206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3" name="AutoShape 13">
              <a:extLst>
                <a:ext uri="{FF2B5EF4-FFF2-40B4-BE49-F238E27FC236}">
                  <a16:creationId xmlns:a16="http://schemas.microsoft.com/office/drawing/2014/main" id="{B3993E3D-D336-F368-36E7-889CDA9AE434}"/>
                </a:ext>
              </a:extLst>
            </p:cNvPr>
            <p:cNvCxnSpPr>
              <a:cxnSpLocks noChangeShapeType="1"/>
              <a:stCxn id="7" idx="3"/>
              <a:endCxn id="8" idx="1"/>
            </p:cNvCxnSpPr>
            <p:nvPr/>
          </p:nvCxnSpPr>
          <p:spPr bwMode="auto">
            <a:xfrm>
              <a:off x="6480175" y="2413000"/>
              <a:ext cx="312738" cy="317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4" name="AutoShape 14">
              <a:extLst>
                <a:ext uri="{FF2B5EF4-FFF2-40B4-BE49-F238E27FC236}">
                  <a16:creationId xmlns:a16="http://schemas.microsoft.com/office/drawing/2014/main" id="{750DDCAD-0663-E261-FD39-B894B4F188AF}"/>
                </a:ext>
              </a:extLst>
            </p:cNvPr>
            <p:cNvCxnSpPr>
              <a:cxnSpLocks noChangeShapeType="1"/>
              <a:stCxn id="4" idx="1"/>
              <a:endCxn id="3" idx="1"/>
            </p:cNvCxnSpPr>
            <p:nvPr/>
          </p:nvCxnSpPr>
          <p:spPr bwMode="auto">
            <a:xfrm rot="10800000" flipH="1" flipV="1">
              <a:off x="727075" y="2433638"/>
              <a:ext cx="804863" cy="2784475"/>
            </a:xfrm>
            <a:prstGeom prst="bentConnector3">
              <a:avLst>
                <a:gd name="adj1" fmla="val -28403"/>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5" name="AutoShape 15">
              <a:extLst>
                <a:ext uri="{FF2B5EF4-FFF2-40B4-BE49-F238E27FC236}">
                  <a16:creationId xmlns:a16="http://schemas.microsoft.com/office/drawing/2014/main" id="{6E0B0982-A0D4-A146-61D6-A1ECA80875C4}"/>
                </a:ext>
              </a:extLst>
            </p:cNvPr>
            <p:cNvCxnSpPr>
              <a:cxnSpLocks noChangeShapeType="1"/>
              <a:stCxn id="8" idx="3"/>
              <a:endCxn id="3" idx="3"/>
            </p:cNvCxnSpPr>
            <p:nvPr/>
          </p:nvCxnSpPr>
          <p:spPr bwMode="auto">
            <a:xfrm flipH="1">
              <a:off x="7854950" y="2416175"/>
              <a:ext cx="657225" cy="2801938"/>
            </a:xfrm>
            <a:prstGeom prst="bentConnector3">
              <a:avLst>
                <a:gd name="adj1" fmla="val -3454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6" name="Rectangle 25">
              <a:extLst>
                <a:ext uri="{FF2B5EF4-FFF2-40B4-BE49-F238E27FC236}">
                  <a16:creationId xmlns:a16="http://schemas.microsoft.com/office/drawing/2014/main" id="{5AF1C849-0FA0-D76C-CFF0-D720FD831FAF}"/>
                </a:ext>
              </a:extLst>
            </p:cNvPr>
            <p:cNvSpPr>
              <a:spLocks noChangeArrowheads="1"/>
            </p:cNvSpPr>
            <p:nvPr/>
          </p:nvSpPr>
          <p:spPr bwMode="auto">
            <a:xfrm>
              <a:off x="3538062" y="4634706"/>
              <a:ext cx="3900488"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20000"/>
                </a:spcBef>
                <a:spcAft>
                  <a:spcPct val="20000"/>
                </a:spcAft>
                <a:buClr>
                  <a:schemeClr val="tx1"/>
                </a:buClr>
                <a:buFont typeface="Arial" panose="020B0604020202020204" pitchFamily="34" charset="0"/>
                <a:buChar char="•"/>
              </a:pPr>
              <a:r>
                <a:rPr lang="en-US" altLang="en-US" sz="1700" dirty="0">
                  <a:latin typeface="Roboto" panose="02000000000000000000" pitchFamily="2" charset="0"/>
                  <a:ea typeface="Roboto" panose="02000000000000000000" pitchFamily="2" charset="0"/>
                </a:rPr>
                <a:t>Keep them simple</a:t>
              </a:r>
            </a:p>
            <a:p>
              <a:pPr>
                <a:lnSpc>
                  <a:spcPct val="85000"/>
                </a:lnSpc>
                <a:spcBef>
                  <a:spcPct val="20000"/>
                </a:spcBef>
                <a:spcAft>
                  <a:spcPct val="20000"/>
                </a:spcAft>
                <a:buClr>
                  <a:schemeClr val="tx1"/>
                </a:buClr>
                <a:buFont typeface="Arial" panose="020B0604020202020204" pitchFamily="34" charset="0"/>
                <a:buChar char="•"/>
              </a:pPr>
              <a:r>
                <a:rPr lang="en-US" altLang="en-US" sz="1700" dirty="0">
                  <a:latin typeface="Roboto" panose="02000000000000000000" pitchFamily="2" charset="0"/>
                  <a:ea typeface="Roboto" panose="02000000000000000000" pitchFamily="2" charset="0"/>
                </a:rPr>
                <a:t>Understand the levers of change</a:t>
              </a:r>
            </a:p>
            <a:p>
              <a:pPr>
                <a:lnSpc>
                  <a:spcPct val="85000"/>
                </a:lnSpc>
                <a:spcBef>
                  <a:spcPct val="20000"/>
                </a:spcBef>
                <a:spcAft>
                  <a:spcPct val="20000"/>
                </a:spcAft>
                <a:buClr>
                  <a:schemeClr val="tx1"/>
                </a:buClr>
                <a:buFont typeface="Arial" panose="020B0604020202020204" pitchFamily="34" charset="0"/>
                <a:buChar char="•"/>
              </a:pPr>
              <a:r>
                <a:rPr lang="en-US" altLang="en-US" sz="1700" dirty="0">
                  <a:latin typeface="Roboto" panose="02000000000000000000" pitchFamily="2" charset="0"/>
                  <a:ea typeface="Roboto" panose="02000000000000000000" pitchFamily="2" charset="0"/>
                </a:rPr>
                <a:t>Understand how one KPI is linked to another</a:t>
              </a:r>
            </a:p>
          </p:txBody>
        </p:sp>
        <p:sp>
          <p:nvSpPr>
            <p:cNvPr id="27" name="Text Box 27">
              <a:extLst>
                <a:ext uri="{FF2B5EF4-FFF2-40B4-BE49-F238E27FC236}">
                  <a16:creationId xmlns:a16="http://schemas.microsoft.com/office/drawing/2014/main" id="{09F13E9A-2284-C074-94E6-20259A0E6BE3}"/>
                </a:ext>
              </a:extLst>
            </p:cNvPr>
            <p:cNvSpPr txBox="1">
              <a:spLocks noChangeArrowheads="1"/>
            </p:cNvSpPr>
            <p:nvPr/>
          </p:nvSpPr>
          <p:spPr bwMode="auto">
            <a:xfrm>
              <a:off x="1787049" y="5059198"/>
              <a:ext cx="1751013" cy="316240"/>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KPI Basics:  </a:t>
              </a:r>
            </a:p>
          </p:txBody>
        </p:sp>
        <p:sp>
          <p:nvSpPr>
            <p:cNvPr id="28" name="Rectangle 30">
              <a:extLst>
                <a:ext uri="{FF2B5EF4-FFF2-40B4-BE49-F238E27FC236}">
                  <a16:creationId xmlns:a16="http://schemas.microsoft.com/office/drawing/2014/main" id="{6CEF76B0-4F10-1CD1-B904-971EAD100E00}"/>
                </a:ext>
              </a:extLst>
            </p:cNvPr>
            <p:cNvSpPr>
              <a:spLocks noChangeArrowheads="1"/>
            </p:cNvSpPr>
            <p:nvPr/>
          </p:nvSpPr>
          <p:spPr bwMode="auto">
            <a:xfrm>
              <a:off x="327025" y="3544888"/>
              <a:ext cx="84677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Aft>
                  <a:spcPct val="0"/>
                </a:spcAft>
                <a:buClrTx/>
                <a:buSzTx/>
                <a:buFontTx/>
                <a:buNone/>
              </a:pPr>
              <a:r>
                <a:rPr lang="en-US" altLang="en-US" sz="1600" dirty="0">
                  <a:latin typeface="Roboto" panose="02000000000000000000" pitchFamily="2" charset="0"/>
                  <a:ea typeface="Roboto" panose="02000000000000000000" pitchFamily="2" charset="0"/>
                </a:rPr>
                <a:t>Gemba KPI</a:t>
              </a:r>
              <a:r>
                <a:rPr lang="ja-JP" altLang="en-US" sz="1600" dirty="0">
                  <a:latin typeface="Roboto" panose="02000000000000000000" pitchFamily="2" charset="0"/>
                </a:rPr>
                <a:t>’</a:t>
              </a:r>
              <a:r>
                <a:rPr lang="en-US" altLang="ja-JP" sz="1600" dirty="0">
                  <a:latin typeface="Roboto" panose="02000000000000000000" pitchFamily="2" charset="0"/>
                  <a:ea typeface="Roboto" panose="02000000000000000000" pitchFamily="2" charset="0"/>
                </a:rPr>
                <a:t>s should define winning with the Customer and the Organization</a:t>
              </a:r>
              <a:endParaRPr lang="en-US" altLang="en-US" sz="1600" dirty="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62001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What are the “Right KPI’s”?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Safety</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lstStyle/>
          <a:p>
            <a:r>
              <a:rPr lang="en-US" dirty="0"/>
              <a:t>Work at Gemba should always be done in a safe and environmentally healthy manner</a:t>
            </a:r>
          </a:p>
          <a:p>
            <a:r>
              <a:rPr lang="en-US" dirty="0"/>
              <a:t>Sample metrics include:</a:t>
            </a:r>
          </a:p>
          <a:p>
            <a:pPr lvl="1"/>
            <a:r>
              <a:rPr lang="en-US" dirty="0"/>
              <a:t>OSHA recordable rate</a:t>
            </a:r>
          </a:p>
          <a:p>
            <a:pPr lvl="1"/>
            <a:r>
              <a:rPr lang="en-US" dirty="0"/>
              <a:t>Safety incidents per employee hour worked</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22</a:t>
            </a:fld>
            <a:endParaRPr lang="en-US"/>
          </a:p>
        </p:txBody>
      </p:sp>
      <p:pic>
        <p:nvPicPr>
          <p:cNvPr id="7" name="Picture 24" descr="bigstockphoto_De-Burring_2550617">
            <a:extLst>
              <a:ext uri="{FF2B5EF4-FFF2-40B4-BE49-F238E27FC236}">
                <a16:creationId xmlns:a16="http://schemas.microsoft.com/office/drawing/2014/main" id="{E58B67BA-9580-C662-728D-D4DE2CC24C4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839788" y="2628107"/>
            <a:ext cx="5157787" cy="3438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8978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What are the “Right KPI’s”?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Quality</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a:bodyPr>
          <a:lstStyle/>
          <a:p>
            <a:r>
              <a:rPr lang="en-US" dirty="0"/>
              <a:t>Quality should be built into every step of the process</a:t>
            </a:r>
          </a:p>
          <a:p>
            <a:r>
              <a:rPr lang="en-US" dirty="0"/>
              <a:t>Sample metrics include:</a:t>
            </a:r>
          </a:p>
          <a:p>
            <a:pPr lvl="1"/>
            <a:r>
              <a:rPr lang="en-US" dirty="0"/>
              <a:t>PPM</a:t>
            </a:r>
          </a:p>
          <a:p>
            <a:pPr lvl="1"/>
            <a:r>
              <a:rPr lang="en-US" dirty="0"/>
              <a:t>Defects per hour</a:t>
            </a:r>
          </a:p>
          <a:p>
            <a:pPr lvl="1"/>
            <a:r>
              <a:rPr lang="en-US" dirty="0"/>
              <a:t>Call abandon rate</a:t>
            </a:r>
          </a:p>
          <a:p>
            <a:pPr lvl="1"/>
            <a:r>
              <a:rPr lang="en-US" dirty="0"/>
              <a:t>Missed shipments per hour</a:t>
            </a:r>
          </a:p>
          <a:p>
            <a:pPr lvl="1"/>
            <a:r>
              <a:rPr lang="en-US" dirty="0"/>
              <a:t>Out of box failures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pic>
        <p:nvPicPr>
          <p:cNvPr id="5" name="Picture 8" descr="iStock_000006106056Small[1]">
            <a:extLst>
              <a:ext uri="{FF2B5EF4-FFF2-40B4-BE49-F238E27FC236}">
                <a16:creationId xmlns:a16="http://schemas.microsoft.com/office/drawing/2014/main" id="{C4DC9703-8DEB-69D9-229D-482542D2C2A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911929" y="2505075"/>
            <a:ext cx="3013503" cy="371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916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What are the “Right KPI’s”?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Delivery</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a:bodyPr>
          <a:lstStyle/>
          <a:p>
            <a:r>
              <a:rPr lang="en-US" dirty="0"/>
              <a:t>Delivery to the customer when the customer wants it</a:t>
            </a:r>
          </a:p>
          <a:p>
            <a:r>
              <a:rPr lang="en-US" dirty="0"/>
              <a:t>Sample metrics include:</a:t>
            </a:r>
          </a:p>
          <a:p>
            <a:pPr lvl="1"/>
            <a:r>
              <a:rPr lang="en-US" dirty="0"/>
              <a:t>On-time delivery to customer</a:t>
            </a:r>
          </a:p>
          <a:p>
            <a:pPr lvl="1"/>
            <a:r>
              <a:rPr lang="en-US" dirty="0"/>
              <a:t>On-time delivery to warehouse</a:t>
            </a:r>
          </a:p>
          <a:p>
            <a:pPr lvl="1"/>
            <a:r>
              <a:rPr lang="en-US" dirty="0"/>
              <a:t>On-time arrival of service technician</a:t>
            </a:r>
          </a:p>
          <a:p>
            <a:pPr lvl="1"/>
            <a:r>
              <a:rPr lang="en-US" dirty="0"/>
              <a:t>Time to fill professional positions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24</a:t>
            </a:fld>
            <a:endParaRPr lang="en-US"/>
          </a:p>
        </p:txBody>
      </p:sp>
      <p:pic>
        <p:nvPicPr>
          <p:cNvPr id="7" name="Picture 8" descr="bigstockphoto_Forklift_Carrying_Boxes_483192">
            <a:extLst>
              <a:ext uri="{FF2B5EF4-FFF2-40B4-BE49-F238E27FC236}">
                <a16:creationId xmlns:a16="http://schemas.microsoft.com/office/drawing/2014/main" id="{A8437F73-5086-6C74-071E-CACA35B006C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883415" y="2505075"/>
            <a:ext cx="5070533"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5288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What are the “Right KPI’s”?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Productivity or Cost</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a:bodyPr>
          <a:lstStyle/>
          <a:p>
            <a:r>
              <a:rPr lang="en-US" dirty="0"/>
              <a:t>Cost focuses on organization cost to produce/provide product or service</a:t>
            </a:r>
          </a:p>
          <a:p>
            <a:r>
              <a:rPr lang="en-US" dirty="0"/>
              <a:t>Sample metrics include:</a:t>
            </a:r>
          </a:p>
          <a:p>
            <a:pPr lvl="1"/>
            <a:r>
              <a:rPr lang="en-US" dirty="0"/>
              <a:t>Kits per hour</a:t>
            </a:r>
          </a:p>
          <a:p>
            <a:pPr lvl="1"/>
            <a:r>
              <a:rPr lang="en-US" dirty="0"/>
              <a:t>Orders entered per hour</a:t>
            </a:r>
          </a:p>
          <a:p>
            <a:pPr lvl="1"/>
            <a:r>
              <a:rPr lang="en-US" dirty="0"/>
              <a:t>Sales per employee</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25</a:t>
            </a:fld>
            <a:endParaRPr lang="en-US"/>
          </a:p>
        </p:txBody>
      </p:sp>
      <p:pic>
        <p:nvPicPr>
          <p:cNvPr id="7" name="Picture 8" descr="bigstockphoto_Forklift_Carrying_Boxes_483192">
            <a:extLst>
              <a:ext uri="{FF2B5EF4-FFF2-40B4-BE49-F238E27FC236}">
                <a16:creationId xmlns:a16="http://schemas.microsoft.com/office/drawing/2014/main" id="{A8437F73-5086-6C74-071E-CACA35B006C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883415" y="2505075"/>
            <a:ext cx="5070533"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6716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600" dirty="0">
                <a:latin typeface="Roboto Medium"/>
                <a:ea typeface="Roboto Medium"/>
                <a:cs typeface="Roboto Medium"/>
              </a:rPr>
              <a:t>Exercise: KPI Development</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KPI’s needed in your area.</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work terms, discuss and develop your KPI’s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Provide:</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KPI’s</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How will they be measured</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goal of target</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Key Levers that can influence the KPI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60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Be prepared to share with the larger group.</a:t>
            </a:r>
          </a:p>
        </p:txBody>
      </p:sp>
    </p:spTree>
    <p:extLst>
      <p:ext uri="{BB962C8B-B14F-4D97-AF65-F5344CB8AC3E}">
        <p14:creationId xmlns:p14="http://schemas.microsoft.com/office/powerpoint/2010/main" val="617488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Managing for Daily Process Excellence Agenda</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27</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9358182"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 (MDPE) Overview</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935818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Gemba Exercise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935818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Lean Basics Assessment and KPI Development</a:t>
            </a:r>
          </a:p>
        </p:txBody>
      </p:sp>
      <p:sp>
        <p:nvSpPr>
          <p:cNvPr id="15" name="Rectangle 14">
            <a:extLst>
              <a:ext uri="{FF2B5EF4-FFF2-40B4-BE49-F238E27FC236}">
                <a16:creationId xmlns:a16="http://schemas.microsoft.com/office/drawing/2014/main" id="{D87C53B4-48B2-AD29-AFD8-1C5B6871B984}"/>
              </a:ext>
            </a:extLst>
          </p:cNvPr>
          <p:cNvSpPr/>
          <p:nvPr/>
        </p:nvSpPr>
        <p:spPr>
          <a:xfrm>
            <a:off x="940248" y="4396378"/>
            <a:ext cx="9358181"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Installing MDPE: Manage the MDPE Levers at Gemba</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Sample Templates and Best Practices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434342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The Four Levers of MDPE Management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grpSp>
        <p:nvGrpSpPr>
          <p:cNvPr id="20" name="Group 19">
            <a:extLst>
              <a:ext uri="{FF2B5EF4-FFF2-40B4-BE49-F238E27FC236}">
                <a16:creationId xmlns:a16="http://schemas.microsoft.com/office/drawing/2014/main" id="{FC2500C7-D516-8BAB-0CBE-8E902264D195}"/>
              </a:ext>
            </a:extLst>
          </p:cNvPr>
          <p:cNvGrpSpPr/>
          <p:nvPr/>
        </p:nvGrpSpPr>
        <p:grpSpPr>
          <a:xfrm>
            <a:off x="1040607" y="1794510"/>
            <a:ext cx="10110787" cy="4206240"/>
            <a:chOff x="461963" y="1389063"/>
            <a:chExt cx="8302625" cy="4611687"/>
          </a:xfrm>
        </p:grpSpPr>
        <p:sp>
          <p:nvSpPr>
            <p:cNvPr id="3" name="Text Box 5">
              <a:extLst>
                <a:ext uri="{FF2B5EF4-FFF2-40B4-BE49-F238E27FC236}">
                  <a16:creationId xmlns:a16="http://schemas.microsoft.com/office/drawing/2014/main" id="{36BD2B0E-900C-D47A-81EA-891248882759}"/>
                </a:ext>
              </a:extLst>
            </p:cNvPr>
            <p:cNvSpPr txBox="1">
              <a:spLocks noChangeArrowheads="1"/>
            </p:cNvSpPr>
            <p:nvPr/>
          </p:nvSpPr>
          <p:spPr bwMode="auto">
            <a:xfrm>
              <a:off x="538163" y="1389063"/>
              <a:ext cx="8226425" cy="305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All 4 Levers are necessary to drive MDPE into an Organization</a:t>
              </a:r>
              <a:endParaRPr lang="en-US" altLang="en-US" sz="1200">
                <a:latin typeface="Roboto" panose="02000000000000000000" pitchFamily="2" charset="0"/>
                <a:ea typeface="Roboto" panose="02000000000000000000" pitchFamily="2" charset="0"/>
              </a:endParaRPr>
            </a:p>
          </p:txBody>
        </p:sp>
        <p:sp>
          <p:nvSpPr>
            <p:cNvPr id="5" name="Rectangle 6">
              <a:extLst>
                <a:ext uri="{FF2B5EF4-FFF2-40B4-BE49-F238E27FC236}">
                  <a16:creationId xmlns:a16="http://schemas.microsoft.com/office/drawing/2014/main" id="{85E30A8A-CA63-A82F-E3F3-3772CEDF5F5B}"/>
                </a:ext>
              </a:extLst>
            </p:cNvPr>
            <p:cNvSpPr>
              <a:spLocks noChangeArrowheads="1"/>
            </p:cNvSpPr>
            <p:nvPr/>
          </p:nvSpPr>
          <p:spPr bwMode="auto">
            <a:xfrm>
              <a:off x="1431925" y="1821916"/>
              <a:ext cx="2954338" cy="168169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 name="Rectangle 7">
              <a:extLst>
                <a:ext uri="{FF2B5EF4-FFF2-40B4-BE49-F238E27FC236}">
                  <a16:creationId xmlns:a16="http://schemas.microsoft.com/office/drawing/2014/main" id="{49E82344-6F9C-FF22-C978-4636AE3B1515}"/>
                </a:ext>
              </a:extLst>
            </p:cNvPr>
            <p:cNvSpPr>
              <a:spLocks noChangeArrowheads="1"/>
            </p:cNvSpPr>
            <p:nvPr/>
          </p:nvSpPr>
          <p:spPr bwMode="auto">
            <a:xfrm>
              <a:off x="1431925"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 name="Rectangle 8">
              <a:extLst>
                <a:ext uri="{FF2B5EF4-FFF2-40B4-BE49-F238E27FC236}">
                  <a16:creationId xmlns:a16="http://schemas.microsoft.com/office/drawing/2014/main" id="{E7336D4C-7C58-F41E-F84C-DE1775FD4F09}"/>
                </a:ext>
              </a:extLst>
            </p:cNvPr>
            <p:cNvSpPr>
              <a:spLocks noChangeArrowheads="1"/>
            </p:cNvSpPr>
            <p:nvPr/>
          </p:nvSpPr>
          <p:spPr bwMode="auto">
            <a:xfrm>
              <a:off x="4383088" y="1827768"/>
              <a:ext cx="2954337"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8" name="Rectangle 9">
              <a:extLst>
                <a:ext uri="{FF2B5EF4-FFF2-40B4-BE49-F238E27FC236}">
                  <a16:creationId xmlns:a16="http://schemas.microsoft.com/office/drawing/2014/main" id="{1A89513E-A808-AFE4-14EB-5DF68F408459}"/>
                </a:ext>
              </a:extLst>
            </p:cNvPr>
            <p:cNvSpPr>
              <a:spLocks noChangeArrowheads="1"/>
            </p:cNvSpPr>
            <p:nvPr/>
          </p:nvSpPr>
          <p:spPr bwMode="auto">
            <a:xfrm>
              <a:off x="4383088"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 name="Rectangle 10">
              <a:extLst>
                <a:ext uri="{FF2B5EF4-FFF2-40B4-BE49-F238E27FC236}">
                  <a16:creationId xmlns:a16="http://schemas.microsoft.com/office/drawing/2014/main" id="{FC7F7CCA-7CBD-5DEF-F2D9-E41159DC9F24}"/>
                </a:ext>
              </a:extLst>
            </p:cNvPr>
            <p:cNvSpPr>
              <a:spLocks noChangeArrowheads="1"/>
            </p:cNvSpPr>
            <p:nvPr/>
          </p:nvSpPr>
          <p:spPr bwMode="auto">
            <a:xfrm>
              <a:off x="1604963" y="1947137"/>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Manage KPI</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s at Gemba</a:t>
              </a:r>
              <a:endParaRPr lang="en-US" altLang="en-US" sz="1800" dirty="0">
                <a:solidFill>
                  <a:schemeClr val="bg1"/>
                </a:solidFill>
                <a:latin typeface="Roboto" panose="02000000000000000000" pitchFamily="2" charset="0"/>
                <a:ea typeface="Roboto" panose="02000000000000000000" pitchFamily="2" charset="0"/>
              </a:endParaRPr>
            </a:p>
          </p:txBody>
        </p:sp>
        <p:sp>
          <p:nvSpPr>
            <p:cNvPr id="10" name="Rectangle 11">
              <a:extLst>
                <a:ext uri="{FF2B5EF4-FFF2-40B4-BE49-F238E27FC236}">
                  <a16:creationId xmlns:a16="http://schemas.microsoft.com/office/drawing/2014/main" id="{C4CB74FC-08F5-7E0E-2147-01A0FC8034FD}"/>
                </a:ext>
              </a:extLst>
            </p:cNvPr>
            <p:cNvSpPr>
              <a:spLocks noChangeArrowheads="1"/>
            </p:cNvSpPr>
            <p:nvPr/>
          </p:nvSpPr>
          <p:spPr bwMode="auto">
            <a:xfrm>
              <a:off x="1598613" y="3627438"/>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RCCM</a:t>
              </a:r>
            </a:p>
          </p:txBody>
        </p:sp>
        <p:sp>
          <p:nvSpPr>
            <p:cNvPr id="11" name="Rectangle 12">
              <a:extLst>
                <a:ext uri="{FF2B5EF4-FFF2-40B4-BE49-F238E27FC236}">
                  <a16:creationId xmlns:a16="http://schemas.microsoft.com/office/drawing/2014/main" id="{7D2DAA1A-AB3F-7063-20FA-58BD81369BEE}"/>
                </a:ext>
              </a:extLst>
            </p:cNvPr>
            <p:cNvSpPr>
              <a:spLocks noChangeArrowheads="1"/>
            </p:cNvSpPr>
            <p:nvPr/>
          </p:nvSpPr>
          <p:spPr bwMode="auto">
            <a:xfrm>
              <a:off x="4556125" y="19503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Visual Management at Gemba</a:t>
              </a:r>
            </a:p>
          </p:txBody>
        </p:sp>
        <p:sp>
          <p:nvSpPr>
            <p:cNvPr id="12" name="Rectangle 13">
              <a:extLst>
                <a:ext uri="{FF2B5EF4-FFF2-40B4-BE49-F238E27FC236}">
                  <a16:creationId xmlns:a16="http://schemas.microsoft.com/office/drawing/2014/main" id="{F7C954B3-38FF-BBD0-B282-4F89BF603433}"/>
                </a:ext>
              </a:extLst>
            </p:cNvPr>
            <p:cNvSpPr>
              <a:spLocks noChangeArrowheads="1"/>
            </p:cNvSpPr>
            <p:nvPr/>
          </p:nvSpPr>
          <p:spPr bwMode="auto">
            <a:xfrm>
              <a:off x="4549775" y="36306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Level Leadership</a:t>
              </a:r>
            </a:p>
          </p:txBody>
        </p:sp>
        <p:sp>
          <p:nvSpPr>
            <p:cNvPr id="13" name="Rectangle 15">
              <a:extLst>
                <a:ext uri="{FF2B5EF4-FFF2-40B4-BE49-F238E27FC236}">
                  <a16:creationId xmlns:a16="http://schemas.microsoft.com/office/drawing/2014/main" id="{FCA10200-2B92-463C-ABFD-5B43DE260D8B}"/>
                </a:ext>
              </a:extLst>
            </p:cNvPr>
            <p:cNvSpPr>
              <a:spLocks noChangeArrowheads="1"/>
            </p:cNvSpPr>
            <p:nvPr/>
          </p:nvSpPr>
          <p:spPr bwMode="auto">
            <a:xfrm>
              <a:off x="4460875" y="2486025"/>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4" name="Rectangle 16">
              <a:extLst>
                <a:ext uri="{FF2B5EF4-FFF2-40B4-BE49-F238E27FC236}">
                  <a16:creationId xmlns:a16="http://schemas.microsoft.com/office/drawing/2014/main" id="{82715502-5137-E8A6-9503-422C7E340E81}"/>
                </a:ext>
              </a:extLst>
            </p:cNvPr>
            <p:cNvSpPr>
              <a:spLocks noChangeArrowheads="1"/>
            </p:cNvSpPr>
            <p:nvPr/>
          </p:nvSpPr>
          <p:spPr bwMode="auto">
            <a:xfrm>
              <a:off x="1495425" y="3873500"/>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5" name="Rectangle 26">
              <a:extLst>
                <a:ext uri="{FF2B5EF4-FFF2-40B4-BE49-F238E27FC236}">
                  <a16:creationId xmlns:a16="http://schemas.microsoft.com/office/drawing/2014/main" id="{E83B3FE0-2197-DAE4-B902-D6F56239FBB5}"/>
                </a:ext>
              </a:extLst>
            </p:cNvPr>
            <p:cNvSpPr>
              <a:spLocks noChangeArrowheads="1"/>
            </p:cNvSpPr>
            <p:nvPr/>
          </p:nvSpPr>
          <p:spPr bwMode="auto">
            <a:xfrm>
              <a:off x="1627188" y="2421032"/>
              <a:ext cx="2530475"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understand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calculate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review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endParaRPr lang="en-US" altLang="en-US" sz="1400" b="0" dirty="0">
                <a:latin typeface="Roboto" panose="02000000000000000000" pitchFamily="2" charset="0"/>
                <a:ea typeface="Roboto" panose="02000000000000000000" pitchFamily="2" charset="0"/>
              </a:endParaRPr>
            </a:p>
          </p:txBody>
        </p:sp>
        <p:sp>
          <p:nvSpPr>
            <p:cNvPr id="16" name="Rectangle 27">
              <a:extLst>
                <a:ext uri="{FF2B5EF4-FFF2-40B4-BE49-F238E27FC236}">
                  <a16:creationId xmlns:a16="http://schemas.microsoft.com/office/drawing/2014/main" id="{5D2E9B81-EE09-3D54-6180-BB994994D7AB}"/>
                </a:ext>
              </a:extLst>
            </p:cNvPr>
            <p:cNvSpPr>
              <a:spLocks noChangeArrowheads="1"/>
            </p:cNvSpPr>
            <p:nvPr/>
          </p:nvSpPr>
          <p:spPr bwMode="auto">
            <a:xfrm>
              <a:off x="4565650" y="2427382"/>
              <a:ext cx="2617788"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Visual Board at Gemba</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Performance to Daily Plan</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Standard format throughout </a:t>
              </a:r>
            </a:p>
          </p:txBody>
        </p:sp>
        <p:sp>
          <p:nvSpPr>
            <p:cNvPr id="17" name="Rectangle 29">
              <a:extLst>
                <a:ext uri="{FF2B5EF4-FFF2-40B4-BE49-F238E27FC236}">
                  <a16:creationId xmlns:a16="http://schemas.microsoft.com/office/drawing/2014/main" id="{C0BD11FE-5C8E-04F0-2B6A-FE1ABAAE4BE8}"/>
                </a:ext>
              </a:extLst>
            </p:cNvPr>
            <p:cNvSpPr>
              <a:spLocks noChangeArrowheads="1"/>
            </p:cNvSpPr>
            <p:nvPr/>
          </p:nvSpPr>
          <p:spPr bwMode="auto">
            <a:xfrm>
              <a:off x="1533525" y="4079107"/>
              <a:ext cx="2689225" cy="107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Employees trained in Problem Solving</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Both Root Cause and Countermeasure are tracked</a:t>
              </a:r>
            </a:p>
          </p:txBody>
        </p:sp>
        <p:sp>
          <p:nvSpPr>
            <p:cNvPr id="18" name="Rectangle 30">
              <a:extLst>
                <a:ext uri="{FF2B5EF4-FFF2-40B4-BE49-F238E27FC236}">
                  <a16:creationId xmlns:a16="http://schemas.microsoft.com/office/drawing/2014/main" id="{AB5FD628-56D6-5F8B-A060-351005FFFD22}"/>
                </a:ext>
              </a:extLst>
            </p:cNvPr>
            <p:cNvSpPr>
              <a:spLocks noChangeArrowheads="1"/>
            </p:cNvSpPr>
            <p:nvPr/>
          </p:nvSpPr>
          <p:spPr bwMode="auto">
            <a:xfrm>
              <a:off x="4443413" y="4101332"/>
              <a:ext cx="2835275" cy="84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are present at Gemba daily for reviews</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teach at Daily Review</a:t>
              </a:r>
            </a:p>
          </p:txBody>
        </p:sp>
        <p:sp>
          <p:nvSpPr>
            <p:cNvPr id="19" name="Text Box 13">
              <a:extLst>
                <a:ext uri="{FF2B5EF4-FFF2-40B4-BE49-F238E27FC236}">
                  <a16:creationId xmlns:a16="http://schemas.microsoft.com/office/drawing/2014/main" id="{5A59EDEE-71AA-13D1-F65C-6825366BE953}"/>
                </a:ext>
              </a:extLst>
            </p:cNvPr>
            <p:cNvSpPr txBox="1">
              <a:spLocks noChangeArrowheads="1"/>
            </p:cNvSpPr>
            <p:nvPr/>
          </p:nvSpPr>
          <p:spPr bwMode="auto">
            <a:xfrm>
              <a:off x="461963" y="5334000"/>
              <a:ext cx="8237537" cy="666750"/>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Ownership of the process at both the Employee and the Leader levels </a:t>
              </a:r>
              <a:br>
                <a:rPr lang="en-US" altLang="en-US" sz="1800" b="0" i="1" dirty="0">
                  <a:latin typeface="Roboto" panose="02000000000000000000" pitchFamily="2" charset="0"/>
                  <a:ea typeface="Roboto" panose="02000000000000000000" pitchFamily="2" charset="0"/>
                </a:rPr>
              </a:br>
              <a:r>
                <a:rPr lang="en-US" altLang="en-US" sz="1800" b="0" i="1" dirty="0">
                  <a:latin typeface="Roboto" panose="02000000000000000000" pitchFamily="2" charset="0"/>
                  <a:ea typeface="Roboto" panose="02000000000000000000" pitchFamily="2" charset="0"/>
                </a:rPr>
                <a:t>ensures sustainability</a:t>
              </a:r>
              <a:endParaRPr lang="en-US" altLang="en-US" sz="1400" b="0" dirty="0">
                <a:solidFill>
                  <a:srgbClr val="000066"/>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699767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The Four Levers of MDPE Management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grpSp>
        <p:nvGrpSpPr>
          <p:cNvPr id="20" name="Group 19">
            <a:extLst>
              <a:ext uri="{FF2B5EF4-FFF2-40B4-BE49-F238E27FC236}">
                <a16:creationId xmlns:a16="http://schemas.microsoft.com/office/drawing/2014/main" id="{FC2500C7-D516-8BAB-0CBE-8E902264D195}"/>
              </a:ext>
            </a:extLst>
          </p:cNvPr>
          <p:cNvGrpSpPr/>
          <p:nvPr/>
        </p:nvGrpSpPr>
        <p:grpSpPr>
          <a:xfrm>
            <a:off x="1040607" y="1794510"/>
            <a:ext cx="10110787" cy="4206240"/>
            <a:chOff x="461963" y="1389063"/>
            <a:chExt cx="8302625" cy="4611687"/>
          </a:xfrm>
        </p:grpSpPr>
        <p:sp>
          <p:nvSpPr>
            <p:cNvPr id="3" name="Text Box 5">
              <a:extLst>
                <a:ext uri="{FF2B5EF4-FFF2-40B4-BE49-F238E27FC236}">
                  <a16:creationId xmlns:a16="http://schemas.microsoft.com/office/drawing/2014/main" id="{36BD2B0E-900C-D47A-81EA-891248882759}"/>
                </a:ext>
              </a:extLst>
            </p:cNvPr>
            <p:cNvSpPr txBox="1">
              <a:spLocks noChangeArrowheads="1"/>
            </p:cNvSpPr>
            <p:nvPr/>
          </p:nvSpPr>
          <p:spPr bwMode="auto">
            <a:xfrm>
              <a:off x="538163" y="1389063"/>
              <a:ext cx="8226425" cy="305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All 4 Levers are necessary to drive MDPE into an Organization</a:t>
              </a:r>
              <a:endParaRPr lang="en-US" altLang="en-US" sz="1200">
                <a:latin typeface="Roboto" panose="02000000000000000000" pitchFamily="2" charset="0"/>
                <a:ea typeface="Roboto" panose="02000000000000000000" pitchFamily="2" charset="0"/>
              </a:endParaRPr>
            </a:p>
          </p:txBody>
        </p:sp>
        <p:sp>
          <p:nvSpPr>
            <p:cNvPr id="5" name="Rectangle 6">
              <a:extLst>
                <a:ext uri="{FF2B5EF4-FFF2-40B4-BE49-F238E27FC236}">
                  <a16:creationId xmlns:a16="http://schemas.microsoft.com/office/drawing/2014/main" id="{85E30A8A-CA63-A82F-E3F3-3772CEDF5F5B}"/>
                </a:ext>
              </a:extLst>
            </p:cNvPr>
            <p:cNvSpPr>
              <a:spLocks noChangeArrowheads="1"/>
            </p:cNvSpPr>
            <p:nvPr/>
          </p:nvSpPr>
          <p:spPr bwMode="auto">
            <a:xfrm>
              <a:off x="1431925" y="1821916"/>
              <a:ext cx="2954338" cy="1681698"/>
            </a:xfrm>
            <a:prstGeom prst="rect">
              <a:avLst/>
            </a:prstGeom>
            <a:solidFill>
              <a:schemeClr val="accent2"/>
            </a:solid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 name="Rectangle 7">
              <a:extLst>
                <a:ext uri="{FF2B5EF4-FFF2-40B4-BE49-F238E27FC236}">
                  <a16:creationId xmlns:a16="http://schemas.microsoft.com/office/drawing/2014/main" id="{49E82344-6F9C-FF22-C978-4636AE3B1515}"/>
                </a:ext>
              </a:extLst>
            </p:cNvPr>
            <p:cNvSpPr>
              <a:spLocks noChangeArrowheads="1"/>
            </p:cNvSpPr>
            <p:nvPr/>
          </p:nvSpPr>
          <p:spPr bwMode="auto">
            <a:xfrm>
              <a:off x="1431925"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 name="Rectangle 8">
              <a:extLst>
                <a:ext uri="{FF2B5EF4-FFF2-40B4-BE49-F238E27FC236}">
                  <a16:creationId xmlns:a16="http://schemas.microsoft.com/office/drawing/2014/main" id="{E7336D4C-7C58-F41E-F84C-DE1775FD4F09}"/>
                </a:ext>
              </a:extLst>
            </p:cNvPr>
            <p:cNvSpPr>
              <a:spLocks noChangeArrowheads="1"/>
            </p:cNvSpPr>
            <p:nvPr/>
          </p:nvSpPr>
          <p:spPr bwMode="auto">
            <a:xfrm>
              <a:off x="4383088" y="1827768"/>
              <a:ext cx="2954337"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8" name="Rectangle 9">
              <a:extLst>
                <a:ext uri="{FF2B5EF4-FFF2-40B4-BE49-F238E27FC236}">
                  <a16:creationId xmlns:a16="http://schemas.microsoft.com/office/drawing/2014/main" id="{1A89513E-A808-AFE4-14EB-5DF68F408459}"/>
                </a:ext>
              </a:extLst>
            </p:cNvPr>
            <p:cNvSpPr>
              <a:spLocks noChangeArrowheads="1"/>
            </p:cNvSpPr>
            <p:nvPr/>
          </p:nvSpPr>
          <p:spPr bwMode="auto">
            <a:xfrm>
              <a:off x="4383088"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 name="Rectangle 10">
              <a:extLst>
                <a:ext uri="{FF2B5EF4-FFF2-40B4-BE49-F238E27FC236}">
                  <a16:creationId xmlns:a16="http://schemas.microsoft.com/office/drawing/2014/main" id="{FC7F7CCA-7CBD-5DEF-F2D9-E41159DC9F24}"/>
                </a:ext>
              </a:extLst>
            </p:cNvPr>
            <p:cNvSpPr>
              <a:spLocks noChangeArrowheads="1"/>
            </p:cNvSpPr>
            <p:nvPr/>
          </p:nvSpPr>
          <p:spPr bwMode="auto">
            <a:xfrm>
              <a:off x="1604963" y="1947137"/>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Manage KPI</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s at Gemba</a:t>
              </a:r>
              <a:endParaRPr lang="en-US" altLang="en-US" sz="1800" dirty="0">
                <a:solidFill>
                  <a:schemeClr val="bg1"/>
                </a:solidFill>
                <a:latin typeface="Roboto" panose="02000000000000000000" pitchFamily="2" charset="0"/>
                <a:ea typeface="Roboto" panose="02000000000000000000" pitchFamily="2" charset="0"/>
              </a:endParaRPr>
            </a:p>
          </p:txBody>
        </p:sp>
        <p:sp>
          <p:nvSpPr>
            <p:cNvPr id="10" name="Rectangle 11">
              <a:extLst>
                <a:ext uri="{FF2B5EF4-FFF2-40B4-BE49-F238E27FC236}">
                  <a16:creationId xmlns:a16="http://schemas.microsoft.com/office/drawing/2014/main" id="{C4CB74FC-08F5-7E0E-2147-01A0FC8034FD}"/>
                </a:ext>
              </a:extLst>
            </p:cNvPr>
            <p:cNvSpPr>
              <a:spLocks noChangeArrowheads="1"/>
            </p:cNvSpPr>
            <p:nvPr/>
          </p:nvSpPr>
          <p:spPr bwMode="auto">
            <a:xfrm>
              <a:off x="1598613" y="3627438"/>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RCCM</a:t>
              </a:r>
            </a:p>
          </p:txBody>
        </p:sp>
        <p:sp>
          <p:nvSpPr>
            <p:cNvPr id="11" name="Rectangle 12">
              <a:extLst>
                <a:ext uri="{FF2B5EF4-FFF2-40B4-BE49-F238E27FC236}">
                  <a16:creationId xmlns:a16="http://schemas.microsoft.com/office/drawing/2014/main" id="{7D2DAA1A-AB3F-7063-20FA-58BD81369BEE}"/>
                </a:ext>
              </a:extLst>
            </p:cNvPr>
            <p:cNvSpPr>
              <a:spLocks noChangeArrowheads="1"/>
            </p:cNvSpPr>
            <p:nvPr/>
          </p:nvSpPr>
          <p:spPr bwMode="auto">
            <a:xfrm>
              <a:off x="4556125" y="19503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Visual Management at Gemba</a:t>
              </a:r>
            </a:p>
          </p:txBody>
        </p:sp>
        <p:sp>
          <p:nvSpPr>
            <p:cNvPr id="12" name="Rectangle 13">
              <a:extLst>
                <a:ext uri="{FF2B5EF4-FFF2-40B4-BE49-F238E27FC236}">
                  <a16:creationId xmlns:a16="http://schemas.microsoft.com/office/drawing/2014/main" id="{F7C954B3-38FF-BBD0-B282-4F89BF603433}"/>
                </a:ext>
              </a:extLst>
            </p:cNvPr>
            <p:cNvSpPr>
              <a:spLocks noChangeArrowheads="1"/>
            </p:cNvSpPr>
            <p:nvPr/>
          </p:nvSpPr>
          <p:spPr bwMode="auto">
            <a:xfrm>
              <a:off x="4549775" y="36306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Level Leadership</a:t>
              </a:r>
            </a:p>
          </p:txBody>
        </p:sp>
        <p:sp>
          <p:nvSpPr>
            <p:cNvPr id="13" name="Rectangle 15">
              <a:extLst>
                <a:ext uri="{FF2B5EF4-FFF2-40B4-BE49-F238E27FC236}">
                  <a16:creationId xmlns:a16="http://schemas.microsoft.com/office/drawing/2014/main" id="{FCA10200-2B92-463C-ABFD-5B43DE260D8B}"/>
                </a:ext>
              </a:extLst>
            </p:cNvPr>
            <p:cNvSpPr>
              <a:spLocks noChangeArrowheads="1"/>
            </p:cNvSpPr>
            <p:nvPr/>
          </p:nvSpPr>
          <p:spPr bwMode="auto">
            <a:xfrm>
              <a:off x="4460875" y="2486025"/>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4" name="Rectangle 16">
              <a:extLst>
                <a:ext uri="{FF2B5EF4-FFF2-40B4-BE49-F238E27FC236}">
                  <a16:creationId xmlns:a16="http://schemas.microsoft.com/office/drawing/2014/main" id="{82715502-5137-E8A6-9503-422C7E340E81}"/>
                </a:ext>
              </a:extLst>
            </p:cNvPr>
            <p:cNvSpPr>
              <a:spLocks noChangeArrowheads="1"/>
            </p:cNvSpPr>
            <p:nvPr/>
          </p:nvSpPr>
          <p:spPr bwMode="auto">
            <a:xfrm>
              <a:off x="1495425" y="3873500"/>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5" name="Rectangle 26">
              <a:extLst>
                <a:ext uri="{FF2B5EF4-FFF2-40B4-BE49-F238E27FC236}">
                  <a16:creationId xmlns:a16="http://schemas.microsoft.com/office/drawing/2014/main" id="{E83B3FE0-2197-DAE4-B902-D6F56239FBB5}"/>
                </a:ext>
              </a:extLst>
            </p:cNvPr>
            <p:cNvSpPr>
              <a:spLocks noChangeArrowheads="1"/>
            </p:cNvSpPr>
            <p:nvPr/>
          </p:nvSpPr>
          <p:spPr bwMode="auto">
            <a:xfrm>
              <a:off x="1627188" y="2421032"/>
              <a:ext cx="2530475"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understand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calculate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review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endParaRPr lang="en-US" altLang="en-US" sz="1400" b="0" dirty="0">
                <a:latin typeface="Roboto" panose="02000000000000000000" pitchFamily="2" charset="0"/>
                <a:ea typeface="Roboto" panose="02000000000000000000" pitchFamily="2" charset="0"/>
              </a:endParaRPr>
            </a:p>
          </p:txBody>
        </p:sp>
        <p:sp>
          <p:nvSpPr>
            <p:cNvPr id="16" name="Rectangle 27">
              <a:extLst>
                <a:ext uri="{FF2B5EF4-FFF2-40B4-BE49-F238E27FC236}">
                  <a16:creationId xmlns:a16="http://schemas.microsoft.com/office/drawing/2014/main" id="{5D2E9B81-EE09-3D54-6180-BB994994D7AB}"/>
                </a:ext>
              </a:extLst>
            </p:cNvPr>
            <p:cNvSpPr>
              <a:spLocks noChangeArrowheads="1"/>
            </p:cNvSpPr>
            <p:nvPr/>
          </p:nvSpPr>
          <p:spPr bwMode="auto">
            <a:xfrm>
              <a:off x="4565650" y="2427382"/>
              <a:ext cx="2617788"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Visual Board at Gemba</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Performance to Daily Plan</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Standard format throughout </a:t>
              </a:r>
            </a:p>
          </p:txBody>
        </p:sp>
        <p:sp>
          <p:nvSpPr>
            <p:cNvPr id="17" name="Rectangle 29">
              <a:extLst>
                <a:ext uri="{FF2B5EF4-FFF2-40B4-BE49-F238E27FC236}">
                  <a16:creationId xmlns:a16="http://schemas.microsoft.com/office/drawing/2014/main" id="{C0BD11FE-5C8E-04F0-2B6A-FE1ABAAE4BE8}"/>
                </a:ext>
              </a:extLst>
            </p:cNvPr>
            <p:cNvSpPr>
              <a:spLocks noChangeArrowheads="1"/>
            </p:cNvSpPr>
            <p:nvPr/>
          </p:nvSpPr>
          <p:spPr bwMode="auto">
            <a:xfrm>
              <a:off x="1533525" y="4079107"/>
              <a:ext cx="2689225" cy="107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Employees trained in Problem Solving</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Both Root Cause and Countermeasure are tracked</a:t>
              </a:r>
            </a:p>
          </p:txBody>
        </p:sp>
        <p:sp>
          <p:nvSpPr>
            <p:cNvPr id="18" name="Rectangle 30">
              <a:extLst>
                <a:ext uri="{FF2B5EF4-FFF2-40B4-BE49-F238E27FC236}">
                  <a16:creationId xmlns:a16="http://schemas.microsoft.com/office/drawing/2014/main" id="{AB5FD628-56D6-5F8B-A060-351005FFFD22}"/>
                </a:ext>
              </a:extLst>
            </p:cNvPr>
            <p:cNvSpPr>
              <a:spLocks noChangeArrowheads="1"/>
            </p:cNvSpPr>
            <p:nvPr/>
          </p:nvSpPr>
          <p:spPr bwMode="auto">
            <a:xfrm>
              <a:off x="4443413" y="4101332"/>
              <a:ext cx="2835275" cy="84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are present at Gemba daily for reviews</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teach at Daily Review</a:t>
              </a:r>
            </a:p>
          </p:txBody>
        </p:sp>
        <p:sp>
          <p:nvSpPr>
            <p:cNvPr id="19" name="Text Box 13">
              <a:extLst>
                <a:ext uri="{FF2B5EF4-FFF2-40B4-BE49-F238E27FC236}">
                  <a16:creationId xmlns:a16="http://schemas.microsoft.com/office/drawing/2014/main" id="{5A59EDEE-71AA-13D1-F65C-6825366BE953}"/>
                </a:ext>
              </a:extLst>
            </p:cNvPr>
            <p:cNvSpPr txBox="1">
              <a:spLocks noChangeArrowheads="1"/>
            </p:cNvSpPr>
            <p:nvPr/>
          </p:nvSpPr>
          <p:spPr bwMode="auto">
            <a:xfrm>
              <a:off x="461963" y="5334000"/>
              <a:ext cx="8237537" cy="666750"/>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Ownership of the process at both the Employee and the Leader levels </a:t>
              </a:r>
              <a:br>
                <a:rPr lang="en-US" altLang="en-US" sz="1800" b="0" i="1" dirty="0">
                  <a:latin typeface="Roboto" panose="02000000000000000000" pitchFamily="2" charset="0"/>
                  <a:ea typeface="Roboto" panose="02000000000000000000" pitchFamily="2" charset="0"/>
                </a:rPr>
              </a:br>
              <a:r>
                <a:rPr lang="en-US" altLang="en-US" sz="1800" b="0" i="1" dirty="0">
                  <a:latin typeface="Roboto" panose="02000000000000000000" pitchFamily="2" charset="0"/>
                  <a:ea typeface="Roboto" panose="02000000000000000000" pitchFamily="2" charset="0"/>
                </a:rPr>
                <a:t>ensures sustainability</a:t>
              </a:r>
              <a:endParaRPr lang="en-US" altLang="en-US" sz="1400" b="0" dirty="0">
                <a:solidFill>
                  <a:srgbClr val="000066"/>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5290832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MDPE for Safety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34" name="Group 33">
            <a:extLst>
              <a:ext uri="{FF2B5EF4-FFF2-40B4-BE49-F238E27FC236}">
                <a16:creationId xmlns:a16="http://schemas.microsoft.com/office/drawing/2014/main" id="{73FCAF4E-F371-015C-F01B-E9F4CE5BCD22}"/>
              </a:ext>
            </a:extLst>
          </p:cNvPr>
          <p:cNvGrpSpPr/>
          <p:nvPr/>
        </p:nvGrpSpPr>
        <p:grpSpPr>
          <a:xfrm>
            <a:off x="984885" y="1806575"/>
            <a:ext cx="10222230" cy="4397375"/>
            <a:chOff x="476250" y="1806575"/>
            <a:chExt cx="8250238" cy="4397375"/>
          </a:xfrm>
        </p:grpSpPr>
        <p:sp>
          <p:nvSpPr>
            <p:cNvPr id="21" name="Rectangle 2">
              <a:extLst>
                <a:ext uri="{FF2B5EF4-FFF2-40B4-BE49-F238E27FC236}">
                  <a16:creationId xmlns:a16="http://schemas.microsoft.com/office/drawing/2014/main" id="{87487696-395D-652A-40D8-B4DC74248F55}"/>
                </a:ext>
              </a:extLst>
            </p:cNvPr>
            <p:cNvSpPr>
              <a:spLocks noChangeArrowheads="1"/>
            </p:cNvSpPr>
            <p:nvPr/>
          </p:nvSpPr>
          <p:spPr bwMode="auto">
            <a:xfrm>
              <a:off x="3868738" y="2659063"/>
              <a:ext cx="4857750"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Safety Committee</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Safety Suggestions System</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 led audits</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Safety Improvement Reward System</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Cross Training</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Incident Investigation Training</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Safety Promotions with Training</a:t>
              </a:r>
            </a:p>
          </p:txBody>
        </p:sp>
        <p:sp>
          <p:nvSpPr>
            <p:cNvPr id="22" name="AutoShape 3">
              <a:extLst>
                <a:ext uri="{FF2B5EF4-FFF2-40B4-BE49-F238E27FC236}">
                  <a16:creationId xmlns:a16="http://schemas.microsoft.com/office/drawing/2014/main" id="{3D47ECA9-6956-3F0B-C1B7-74ED597F81F8}"/>
                </a:ext>
              </a:extLst>
            </p:cNvPr>
            <p:cNvSpPr>
              <a:spLocks noChangeArrowheads="1"/>
            </p:cNvSpPr>
            <p:nvPr/>
          </p:nvSpPr>
          <p:spPr bwMode="auto">
            <a:xfrm>
              <a:off x="3332163" y="2392363"/>
              <a:ext cx="25400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3" name="Rectangle 4">
              <a:extLst>
                <a:ext uri="{FF2B5EF4-FFF2-40B4-BE49-F238E27FC236}">
                  <a16:creationId xmlns:a16="http://schemas.microsoft.com/office/drawing/2014/main" id="{FA53D6B4-56AC-2E7D-6942-922F97EEFF2C}"/>
                </a:ext>
              </a:extLst>
            </p:cNvPr>
            <p:cNvSpPr>
              <a:spLocks noChangeArrowheads="1"/>
            </p:cNvSpPr>
            <p:nvPr/>
          </p:nvSpPr>
          <p:spPr bwMode="auto">
            <a:xfrm>
              <a:off x="476250" y="1806575"/>
              <a:ext cx="2620963" cy="63500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Safety Audits</a:t>
              </a:r>
            </a:p>
          </p:txBody>
        </p:sp>
        <p:sp>
          <p:nvSpPr>
            <p:cNvPr id="24" name="Rectangle 5">
              <a:extLst>
                <a:ext uri="{FF2B5EF4-FFF2-40B4-BE49-F238E27FC236}">
                  <a16:creationId xmlns:a16="http://schemas.microsoft.com/office/drawing/2014/main" id="{5F8D3B63-05DE-D454-3236-203BA07BA86A}"/>
                </a:ext>
              </a:extLst>
            </p:cNvPr>
            <p:cNvSpPr>
              <a:spLocks noChangeArrowheads="1"/>
            </p:cNvSpPr>
            <p:nvPr/>
          </p:nvSpPr>
          <p:spPr bwMode="auto">
            <a:xfrm>
              <a:off x="476250" y="2736850"/>
              <a:ext cx="2620963" cy="635000"/>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Set Safety Improvement Targets</a:t>
              </a:r>
            </a:p>
          </p:txBody>
        </p:sp>
        <p:sp>
          <p:nvSpPr>
            <p:cNvPr id="25" name="Rectangle 6">
              <a:extLst>
                <a:ext uri="{FF2B5EF4-FFF2-40B4-BE49-F238E27FC236}">
                  <a16:creationId xmlns:a16="http://schemas.microsoft.com/office/drawing/2014/main" id="{BFDDBD21-9013-E2AD-F104-7ABE6E40A203}"/>
                </a:ext>
              </a:extLst>
            </p:cNvPr>
            <p:cNvSpPr>
              <a:spLocks noChangeArrowheads="1"/>
            </p:cNvSpPr>
            <p:nvPr/>
          </p:nvSpPr>
          <p:spPr bwMode="auto">
            <a:xfrm>
              <a:off x="476250" y="3670300"/>
              <a:ext cx="2620963" cy="6350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Install 5S Discipline to maintain, TPM to improve</a:t>
              </a:r>
            </a:p>
          </p:txBody>
        </p:sp>
        <p:sp>
          <p:nvSpPr>
            <p:cNvPr id="26" name="Rectangle 7">
              <a:extLst>
                <a:ext uri="{FF2B5EF4-FFF2-40B4-BE49-F238E27FC236}">
                  <a16:creationId xmlns:a16="http://schemas.microsoft.com/office/drawing/2014/main" id="{D8C4D3EB-2FC8-2EAB-DE5F-8BB410C2E456}"/>
                </a:ext>
              </a:extLst>
            </p:cNvPr>
            <p:cNvSpPr>
              <a:spLocks noChangeArrowheads="1"/>
            </p:cNvSpPr>
            <p:nvPr/>
          </p:nvSpPr>
          <p:spPr bwMode="auto">
            <a:xfrm>
              <a:off x="476250" y="4643438"/>
              <a:ext cx="2620963" cy="635000"/>
            </a:xfrm>
            <a:prstGeom prst="rect">
              <a:avLst/>
            </a:prstGeom>
            <a:solidFill>
              <a:schemeClr val="accent4"/>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Implement Safety reviews after all Kaizens</a:t>
              </a:r>
            </a:p>
          </p:txBody>
        </p:sp>
        <p:cxnSp>
          <p:nvCxnSpPr>
            <p:cNvPr id="27" name="AutoShape 8">
              <a:extLst>
                <a:ext uri="{FF2B5EF4-FFF2-40B4-BE49-F238E27FC236}">
                  <a16:creationId xmlns:a16="http://schemas.microsoft.com/office/drawing/2014/main" id="{6E1F2073-243F-E80A-FC1E-CF21E2B10C11}"/>
                </a:ext>
              </a:extLst>
            </p:cNvPr>
            <p:cNvCxnSpPr>
              <a:cxnSpLocks noChangeShapeType="1"/>
              <a:stCxn id="23" idx="2"/>
              <a:endCxn id="24" idx="0"/>
            </p:cNvCxnSpPr>
            <p:nvPr/>
          </p:nvCxnSpPr>
          <p:spPr bwMode="auto">
            <a:xfrm>
              <a:off x="1787525" y="2441575"/>
              <a:ext cx="0" cy="2952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8" name="AutoShape 9">
              <a:extLst>
                <a:ext uri="{FF2B5EF4-FFF2-40B4-BE49-F238E27FC236}">
                  <a16:creationId xmlns:a16="http://schemas.microsoft.com/office/drawing/2014/main" id="{117E6CDB-925E-D68B-3B5C-D1BAD4E0C887}"/>
                </a:ext>
              </a:extLst>
            </p:cNvPr>
            <p:cNvCxnSpPr>
              <a:cxnSpLocks noChangeShapeType="1"/>
              <a:stCxn id="24" idx="2"/>
              <a:endCxn id="25" idx="0"/>
            </p:cNvCxnSpPr>
            <p:nvPr/>
          </p:nvCxnSpPr>
          <p:spPr bwMode="auto">
            <a:xfrm>
              <a:off x="1787525" y="3371850"/>
              <a:ext cx="0" cy="2984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9" name="AutoShape 10">
              <a:extLst>
                <a:ext uri="{FF2B5EF4-FFF2-40B4-BE49-F238E27FC236}">
                  <a16:creationId xmlns:a16="http://schemas.microsoft.com/office/drawing/2014/main" id="{11B8452C-E503-E5EF-9F2F-42509AFC6392}"/>
                </a:ext>
              </a:extLst>
            </p:cNvPr>
            <p:cNvCxnSpPr>
              <a:cxnSpLocks noChangeShapeType="1"/>
              <a:stCxn id="25" idx="2"/>
              <a:endCxn id="26" idx="0"/>
            </p:cNvCxnSpPr>
            <p:nvPr/>
          </p:nvCxnSpPr>
          <p:spPr bwMode="auto">
            <a:xfrm>
              <a:off x="1787525" y="4305300"/>
              <a:ext cx="0" cy="3381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0" name="Oval 11">
              <a:extLst>
                <a:ext uri="{FF2B5EF4-FFF2-40B4-BE49-F238E27FC236}">
                  <a16:creationId xmlns:a16="http://schemas.microsoft.com/office/drawing/2014/main" id="{981B0998-D892-D633-4462-1CE9F0984560}"/>
                </a:ext>
              </a:extLst>
            </p:cNvPr>
            <p:cNvSpPr>
              <a:spLocks noChangeArrowheads="1"/>
            </p:cNvSpPr>
            <p:nvPr/>
          </p:nvSpPr>
          <p:spPr bwMode="auto">
            <a:xfrm>
              <a:off x="476250" y="5602288"/>
              <a:ext cx="2620963" cy="601662"/>
            </a:xfrm>
            <a:prstGeom prst="ellipse">
              <a:avLst/>
            </a:prstGeom>
            <a:solidFill>
              <a:schemeClr val="accent2"/>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Leadership Gemba Level Review </a:t>
              </a:r>
            </a:p>
          </p:txBody>
        </p:sp>
        <p:cxnSp>
          <p:nvCxnSpPr>
            <p:cNvPr id="31" name="AutoShape 12">
              <a:extLst>
                <a:ext uri="{FF2B5EF4-FFF2-40B4-BE49-F238E27FC236}">
                  <a16:creationId xmlns:a16="http://schemas.microsoft.com/office/drawing/2014/main" id="{201C1815-7F6B-EB9D-896D-CC64939BE4FD}"/>
                </a:ext>
              </a:extLst>
            </p:cNvPr>
            <p:cNvCxnSpPr>
              <a:cxnSpLocks noChangeShapeType="1"/>
              <a:stCxn id="26" idx="2"/>
              <a:endCxn id="30" idx="0"/>
            </p:cNvCxnSpPr>
            <p:nvPr/>
          </p:nvCxnSpPr>
          <p:spPr bwMode="auto">
            <a:xfrm>
              <a:off x="1787525" y="5278438"/>
              <a:ext cx="0" cy="3238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 name="Rectangle 13">
              <a:extLst>
                <a:ext uri="{FF2B5EF4-FFF2-40B4-BE49-F238E27FC236}">
                  <a16:creationId xmlns:a16="http://schemas.microsoft.com/office/drawing/2014/main" id="{300C6D0D-5FEE-1CA2-EDBE-50AE65190004}"/>
                </a:ext>
              </a:extLst>
            </p:cNvPr>
            <p:cNvSpPr>
              <a:spLocks noChangeArrowheads="1"/>
            </p:cNvSpPr>
            <p:nvPr/>
          </p:nvSpPr>
          <p:spPr bwMode="auto">
            <a:xfrm>
              <a:off x="3813175" y="2320925"/>
              <a:ext cx="4897438" cy="29718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3" name="Text Box 14">
              <a:extLst>
                <a:ext uri="{FF2B5EF4-FFF2-40B4-BE49-F238E27FC236}">
                  <a16:creationId xmlns:a16="http://schemas.microsoft.com/office/drawing/2014/main" id="{C4126C56-E9F1-6AAA-0880-A3A4962EA8E0}"/>
                </a:ext>
              </a:extLst>
            </p:cNvPr>
            <p:cNvSpPr txBox="1">
              <a:spLocks noChangeArrowheads="1"/>
            </p:cNvSpPr>
            <p:nvPr/>
          </p:nvSpPr>
          <p:spPr bwMode="auto">
            <a:xfrm>
              <a:off x="4011613" y="2170113"/>
              <a:ext cx="2763784" cy="31624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Implementation Best Practices</a:t>
              </a:r>
            </a:p>
          </p:txBody>
        </p:sp>
      </p:grpSp>
    </p:spTree>
    <p:extLst>
      <p:ext uri="{BB962C8B-B14F-4D97-AF65-F5344CB8AC3E}">
        <p14:creationId xmlns:p14="http://schemas.microsoft.com/office/powerpoint/2010/main" val="18016084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MDPE for Quality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grpSp>
        <p:nvGrpSpPr>
          <p:cNvPr id="34" name="Group 33">
            <a:extLst>
              <a:ext uri="{FF2B5EF4-FFF2-40B4-BE49-F238E27FC236}">
                <a16:creationId xmlns:a16="http://schemas.microsoft.com/office/drawing/2014/main" id="{73FCAF4E-F371-015C-F01B-E9F4CE5BCD22}"/>
              </a:ext>
            </a:extLst>
          </p:cNvPr>
          <p:cNvGrpSpPr/>
          <p:nvPr/>
        </p:nvGrpSpPr>
        <p:grpSpPr>
          <a:xfrm>
            <a:off x="984885" y="1806575"/>
            <a:ext cx="10222230" cy="4397375"/>
            <a:chOff x="476250" y="1806575"/>
            <a:chExt cx="8250238" cy="4397375"/>
          </a:xfrm>
        </p:grpSpPr>
        <p:sp>
          <p:nvSpPr>
            <p:cNvPr id="21" name="Rectangle 2">
              <a:extLst>
                <a:ext uri="{FF2B5EF4-FFF2-40B4-BE49-F238E27FC236}">
                  <a16:creationId xmlns:a16="http://schemas.microsoft.com/office/drawing/2014/main" id="{87487696-395D-652A-40D8-B4DC74248F55}"/>
                </a:ext>
              </a:extLst>
            </p:cNvPr>
            <p:cNvSpPr>
              <a:spLocks noChangeArrowheads="1"/>
            </p:cNvSpPr>
            <p:nvPr/>
          </p:nvSpPr>
          <p:spPr bwMode="auto">
            <a:xfrm>
              <a:off x="3868738" y="2659063"/>
              <a:ext cx="4857750" cy="2034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Teach employees about Process and Systems</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Poke Yoke where you can</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Involve Design Teams </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Involve Customers</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Involve Suppliers</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Get good at Root Cause identification</a:t>
              </a:r>
            </a:p>
          </p:txBody>
        </p:sp>
        <p:sp>
          <p:nvSpPr>
            <p:cNvPr id="22" name="AutoShape 3">
              <a:extLst>
                <a:ext uri="{FF2B5EF4-FFF2-40B4-BE49-F238E27FC236}">
                  <a16:creationId xmlns:a16="http://schemas.microsoft.com/office/drawing/2014/main" id="{3D47ECA9-6956-3F0B-C1B7-74ED597F81F8}"/>
                </a:ext>
              </a:extLst>
            </p:cNvPr>
            <p:cNvSpPr>
              <a:spLocks noChangeArrowheads="1"/>
            </p:cNvSpPr>
            <p:nvPr/>
          </p:nvSpPr>
          <p:spPr bwMode="auto">
            <a:xfrm>
              <a:off x="3332163" y="2392363"/>
              <a:ext cx="25400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3" name="Rectangle 4">
              <a:extLst>
                <a:ext uri="{FF2B5EF4-FFF2-40B4-BE49-F238E27FC236}">
                  <a16:creationId xmlns:a16="http://schemas.microsoft.com/office/drawing/2014/main" id="{FA53D6B4-56AC-2E7D-6942-922F97EEFF2C}"/>
                </a:ext>
              </a:extLst>
            </p:cNvPr>
            <p:cNvSpPr>
              <a:spLocks noChangeArrowheads="1"/>
            </p:cNvSpPr>
            <p:nvPr/>
          </p:nvSpPr>
          <p:spPr bwMode="auto">
            <a:xfrm>
              <a:off x="476250" y="1806575"/>
              <a:ext cx="2620963" cy="63500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Change for Quality Audit of Product to Process</a:t>
              </a:r>
            </a:p>
          </p:txBody>
        </p:sp>
        <p:sp>
          <p:nvSpPr>
            <p:cNvPr id="24" name="Rectangle 5">
              <a:extLst>
                <a:ext uri="{FF2B5EF4-FFF2-40B4-BE49-F238E27FC236}">
                  <a16:creationId xmlns:a16="http://schemas.microsoft.com/office/drawing/2014/main" id="{5F8D3B63-05DE-D454-3236-203BA07BA86A}"/>
                </a:ext>
              </a:extLst>
            </p:cNvPr>
            <p:cNvSpPr>
              <a:spLocks noChangeArrowheads="1"/>
            </p:cNvSpPr>
            <p:nvPr/>
          </p:nvSpPr>
          <p:spPr bwMode="auto">
            <a:xfrm>
              <a:off x="476250" y="2736850"/>
              <a:ext cx="2620963" cy="635000"/>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Build Quality Checks and Poke Yoke into the Process </a:t>
              </a:r>
            </a:p>
          </p:txBody>
        </p:sp>
        <p:sp>
          <p:nvSpPr>
            <p:cNvPr id="25" name="Rectangle 6">
              <a:extLst>
                <a:ext uri="{FF2B5EF4-FFF2-40B4-BE49-F238E27FC236}">
                  <a16:creationId xmlns:a16="http://schemas.microsoft.com/office/drawing/2014/main" id="{BFDDBD21-9013-E2AD-F104-7ABE6E40A203}"/>
                </a:ext>
              </a:extLst>
            </p:cNvPr>
            <p:cNvSpPr>
              <a:spLocks noChangeArrowheads="1"/>
            </p:cNvSpPr>
            <p:nvPr/>
          </p:nvSpPr>
          <p:spPr bwMode="auto">
            <a:xfrm>
              <a:off x="476250" y="3670300"/>
              <a:ext cx="2620963" cy="6350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Measure Daily</a:t>
              </a:r>
            </a:p>
          </p:txBody>
        </p:sp>
        <p:sp>
          <p:nvSpPr>
            <p:cNvPr id="26" name="Rectangle 7">
              <a:extLst>
                <a:ext uri="{FF2B5EF4-FFF2-40B4-BE49-F238E27FC236}">
                  <a16:creationId xmlns:a16="http://schemas.microsoft.com/office/drawing/2014/main" id="{D8C4D3EB-2FC8-2EAB-DE5F-8BB410C2E456}"/>
                </a:ext>
              </a:extLst>
            </p:cNvPr>
            <p:cNvSpPr>
              <a:spLocks noChangeArrowheads="1"/>
            </p:cNvSpPr>
            <p:nvPr/>
          </p:nvSpPr>
          <p:spPr bwMode="auto">
            <a:xfrm>
              <a:off x="476250" y="4643438"/>
              <a:ext cx="2620963" cy="635000"/>
            </a:xfrm>
            <a:prstGeom prst="rect">
              <a:avLst/>
            </a:prstGeom>
            <a:solidFill>
              <a:schemeClr val="accent4"/>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Drive to Root Cause</a:t>
              </a:r>
            </a:p>
          </p:txBody>
        </p:sp>
        <p:cxnSp>
          <p:nvCxnSpPr>
            <p:cNvPr id="27" name="AutoShape 8">
              <a:extLst>
                <a:ext uri="{FF2B5EF4-FFF2-40B4-BE49-F238E27FC236}">
                  <a16:creationId xmlns:a16="http://schemas.microsoft.com/office/drawing/2014/main" id="{6E1F2073-243F-E80A-FC1E-CF21E2B10C11}"/>
                </a:ext>
              </a:extLst>
            </p:cNvPr>
            <p:cNvCxnSpPr>
              <a:cxnSpLocks noChangeShapeType="1"/>
              <a:stCxn id="23" idx="2"/>
              <a:endCxn id="24" idx="0"/>
            </p:cNvCxnSpPr>
            <p:nvPr/>
          </p:nvCxnSpPr>
          <p:spPr bwMode="auto">
            <a:xfrm>
              <a:off x="1787525" y="2441575"/>
              <a:ext cx="0" cy="2952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8" name="AutoShape 9">
              <a:extLst>
                <a:ext uri="{FF2B5EF4-FFF2-40B4-BE49-F238E27FC236}">
                  <a16:creationId xmlns:a16="http://schemas.microsoft.com/office/drawing/2014/main" id="{117E6CDB-925E-D68B-3B5C-D1BAD4E0C887}"/>
                </a:ext>
              </a:extLst>
            </p:cNvPr>
            <p:cNvCxnSpPr>
              <a:cxnSpLocks noChangeShapeType="1"/>
              <a:stCxn id="24" idx="2"/>
              <a:endCxn id="25" idx="0"/>
            </p:cNvCxnSpPr>
            <p:nvPr/>
          </p:nvCxnSpPr>
          <p:spPr bwMode="auto">
            <a:xfrm>
              <a:off x="1787525" y="3371850"/>
              <a:ext cx="0" cy="2984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9" name="AutoShape 10">
              <a:extLst>
                <a:ext uri="{FF2B5EF4-FFF2-40B4-BE49-F238E27FC236}">
                  <a16:creationId xmlns:a16="http://schemas.microsoft.com/office/drawing/2014/main" id="{11B8452C-E503-E5EF-9F2F-42509AFC6392}"/>
                </a:ext>
              </a:extLst>
            </p:cNvPr>
            <p:cNvCxnSpPr>
              <a:cxnSpLocks noChangeShapeType="1"/>
              <a:stCxn id="25" idx="2"/>
              <a:endCxn id="26" idx="0"/>
            </p:cNvCxnSpPr>
            <p:nvPr/>
          </p:nvCxnSpPr>
          <p:spPr bwMode="auto">
            <a:xfrm>
              <a:off x="1787525" y="4305300"/>
              <a:ext cx="0" cy="3381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0" name="Oval 11">
              <a:extLst>
                <a:ext uri="{FF2B5EF4-FFF2-40B4-BE49-F238E27FC236}">
                  <a16:creationId xmlns:a16="http://schemas.microsoft.com/office/drawing/2014/main" id="{981B0998-D892-D633-4462-1CE9F0984560}"/>
                </a:ext>
              </a:extLst>
            </p:cNvPr>
            <p:cNvSpPr>
              <a:spLocks noChangeArrowheads="1"/>
            </p:cNvSpPr>
            <p:nvPr/>
          </p:nvSpPr>
          <p:spPr bwMode="auto">
            <a:xfrm>
              <a:off x="476250" y="5602288"/>
              <a:ext cx="2620963" cy="601662"/>
            </a:xfrm>
            <a:prstGeom prst="ellipse">
              <a:avLst/>
            </a:prstGeom>
            <a:solidFill>
              <a:schemeClr val="accent2"/>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Involve Employees in Countermeasures</a:t>
              </a:r>
            </a:p>
          </p:txBody>
        </p:sp>
        <p:cxnSp>
          <p:nvCxnSpPr>
            <p:cNvPr id="31" name="AutoShape 12">
              <a:extLst>
                <a:ext uri="{FF2B5EF4-FFF2-40B4-BE49-F238E27FC236}">
                  <a16:creationId xmlns:a16="http://schemas.microsoft.com/office/drawing/2014/main" id="{201C1815-7F6B-EB9D-896D-CC64939BE4FD}"/>
                </a:ext>
              </a:extLst>
            </p:cNvPr>
            <p:cNvCxnSpPr>
              <a:cxnSpLocks noChangeShapeType="1"/>
              <a:stCxn id="26" idx="2"/>
              <a:endCxn id="30" idx="0"/>
            </p:cNvCxnSpPr>
            <p:nvPr/>
          </p:nvCxnSpPr>
          <p:spPr bwMode="auto">
            <a:xfrm>
              <a:off x="1787525" y="5278438"/>
              <a:ext cx="0" cy="3238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 name="Rectangle 13">
              <a:extLst>
                <a:ext uri="{FF2B5EF4-FFF2-40B4-BE49-F238E27FC236}">
                  <a16:creationId xmlns:a16="http://schemas.microsoft.com/office/drawing/2014/main" id="{300C6D0D-5FEE-1CA2-EDBE-50AE65190004}"/>
                </a:ext>
              </a:extLst>
            </p:cNvPr>
            <p:cNvSpPr>
              <a:spLocks noChangeArrowheads="1"/>
            </p:cNvSpPr>
            <p:nvPr/>
          </p:nvSpPr>
          <p:spPr bwMode="auto">
            <a:xfrm>
              <a:off x="3813175" y="2320925"/>
              <a:ext cx="4897438" cy="29718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3" name="Text Box 14">
              <a:extLst>
                <a:ext uri="{FF2B5EF4-FFF2-40B4-BE49-F238E27FC236}">
                  <a16:creationId xmlns:a16="http://schemas.microsoft.com/office/drawing/2014/main" id="{C4126C56-E9F1-6AAA-0880-A3A4962EA8E0}"/>
                </a:ext>
              </a:extLst>
            </p:cNvPr>
            <p:cNvSpPr txBox="1">
              <a:spLocks noChangeArrowheads="1"/>
            </p:cNvSpPr>
            <p:nvPr/>
          </p:nvSpPr>
          <p:spPr bwMode="auto">
            <a:xfrm>
              <a:off x="4011613" y="2170113"/>
              <a:ext cx="2763784" cy="31624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Implementation Best Practices</a:t>
              </a:r>
            </a:p>
          </p:txBody>
        </p:sp>
      </p:grpSp>
    </p:spTree>
    <p:extLst>
      <p:ext uri="{BB962C8B-B14F-4D97-AF65-F5344CB8AC3E}">
        <p14:creationId xmlns:p14="http://schemas.microsoft.com/office/powerpoint/2010/main" val="2306770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MDPE for Delivery</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32</a:t>
            </a:fld>
            <a:endParaRPr lang="en-US"/>
          </a:p>
        </p:txBody>
      </p:sp>
      <p:grpSp>
        <p:nvGrpSpPr>
          <p:cNvPr id="34" name="Group 33">
            <a:extLst>
              <a:ext uri="{FF2B5EF4-FFF2-40B4-BE49-F238E27FC236}">
                <a16:creationId xmlns:a16="http://schemas.microsoft.com/office/drawing/2014/main" id="{73FCAF4E-F371-015C-F01B-E9F4CE5BCD22}"/>
              </a:ext>
            </a:extLst>
          </p:cNvPr>
          <p:cNvGrpSpPr/>
          <p:nvPr/>
        </p:nvGrpSpPr>
        <p:grpSpPr>
          <a:xfrm>
            <a:off x="984885" y="1806575"/>
            <a:ext cx="10222230" cy="4397375"/>
            <a:chOff x="476250" y="1806575"/>
            <a:chExt cx="8250238" cy="4397375"/>
          </a:xfrm>
        </p:grpSpPr>
        <p:sp>
          <p:nvSpPr>
            <p:cNvPr id="21" name="Rectangle 2">
              <a:extLst>
                <a:ext uri="{FF2B5EF4-FFF2-40B4-BE49-F238E27FC236}">
                  <a16:creationId xmlns:a16="http://schemas.microsoft.com/office/drawing/2014/main" id="{87487696-395D-652A-40D8-B4DC74248F55}"/>
                </a:ext>
              </a:extLst>
            </p:cNvPr>
            <p:cNvSpPr>
              <a:spLocks noChangeArrowheads="1"/>
            </p:cNvSpPr>
            <p:nvPr/>
          </p:nvSpPr>
          <p:spPr bwMode="auto">
            <a:xfrm>
              <a:off x="3868738" y="2659063"/>
              <a:ext cx="4857750" cy="240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Flow, and or Cells</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Establish Standard Measure with Customer </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Establish standard work / standard process through out the supply chain </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Cross Training (Multi-skilled is more valuable than specialist)</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own the metric hourly / daily</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Use quick hit kaizen or event based kaizen to drive continuous improvement customer focused culture</a:t>
              </a:r>
            </a:p>
          </p:txBody>
        </p:sp>
        <p:sp>
          <p:nvSpPr>
            <p:cNvPr id="22" name="AutoShape 3">
              <a:extLst>
                <a:ext uri="{FF2B5EF4-FFF2-40B4-BE49-F238E27FC236}">
                  <a16:creationId xmlns:a16="http://schemas.microsoft.com/office/drawing/2014/main" id="{3D47ECA9-6956-3F0B-C1B7-74ED597F81F8}"/>
                </a:ext>
              </a:extLst>
            </p:cNvPr>
            <p:cNvSpPr>
              <a:spLocks noChangeArrowheads="1"/>
            </p:cNvSpPr>
            <p:nvPr/>
          </p:nvSpPr>
          <p:spPr bwMode="auto">
            <a:xfrm>
              <a:off x="3332163" y="2392363"/>
              <a:ext cx="25400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3" name="Rectangle 4">
              <a:extLst>
                <a:ext uri="{FF2B5EF4-FFF2-40B4-BE49-F238E27FC236}">
                  <a16:creationId xmlns:a16="http://schemas.microsoft.com/office/drawing/2014/main" id="{FA53D6B4-56AC-2E7D-6942-922F97EEFF2C}"/>
                </a:ext>
              </a:extLst>
            </p:cNvPr>
            <p:cNvSpPr>
              <a:spLocks noChangeArrowheads="1"/>
            </p:cNvSpPr>
            <p:nvPr/>
          </p:nvSpPr>
          <p:spPr bwMode="auto">
            <a:xfrm>
              <a:off x="476250" y="1806575"/>
              <a:ext cx="2620963" cy="63500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Implement Flow</a:t>
              </a:r>
            </a:p>
          </p:txBody>
        </p:sp>
        <p:sp>
          <p:nvSpPr>
            <p:cNvPr id="24" name="Rectangle 5">
              <a:extLst>
                <a:ext uri="{FF2B5EF4-FFF2-40B4-BE49-F238E27FC236}">
                  <a16:creationId xmlns:a16="http://schemas.microsoft.com/office/drawing/2014/main" id="{5F8D3B63-05DE-D454-3236-203BA07BA86A}"/>
                </a:ext>
              </a:extLst>
            </p:cNvPr>
            <p:cNvSpPr>
              <a:spLocks noChangeArrowheads="1"/>
            </p:cNvSpPr>
            <p:nvPr/>
          </p:nvSpPr>
          <p:spPr bwMode="auto">
            <a:xfrm>
              <a:off x="476250" y="2736850"/>
              <a:ext cx="2620963" cy="635000"/>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Measure to Customer Request Date</a:t>
              </a:r>
            </a:p>
          </p:txBody>
        </p:sp>
        <p:sp>
          <p:nvSpPr>
            <p:cNvPr id="25" name="Rectangle 6">
              <a:extLst>
                <a:ext uri="{FF2B5EF4-FFF2-40B4-BE49-F238E27FC236}">
                  <a16:creationId xmlns:a16="http://schemas.microsoft.com/office/drawing/2014/main" id="{BFDDBD21-9013-E2AD-F104-7ABE6E40A203}"/>
                </a:ext>
              </a:extLst>
            </p:cNvPr>
            <p:cNvSpPr>
              <a:spLocks noChangeArrowheads="1"/>
            </p:cNvSpPr>
            <p:nvPr/>
          </p:nvSpPr>
          <p:spPr bwMode="auto">
            <a:xfrm>
              <a:off x="476250" y="3670300"/>
              <a:ext cx="2620963" cy="6350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Measure Hourly / Daily</a:t>
              </a:r>
            </a:p>
          </p:txBody>
        </p:sp>
        <p:sp>
          <p:nvSpPr>
            <p:cNvPr id="26" name="Rectangle 7">
              <a:extLst>
                <a:ext uri="{FF2B5EF4-FFF2-40B4-BE49-F238E27FC236}">
                  <a16:creationId xmlns:a16="http://schemas.microsoft.com/office/drawing/2014/main" id="{D8C4D3EB-2FC8-2EAB-DE5F-8BB410C2E456}"/>
                </a:ext>
              </a:extLst>
            </p:cNvPr>
            <p:cNvSpPr>
              <a:spLocks noChangeArrowheads="1"/>
            </p:cNvSpPr>
            <p:nvPr/>
          </p:nvSpPr>
          <p:spPr bwMode="auto">
            <a:xfrm>
              <a:off x="476250" y="4643438"/>
              <a:ext cx="2620963" cy="635000"/>
            </a:xfrm>
            <a:prstGeom prst="rect">
              <a:avLst/>
            </a:prstGeom>
            <a:solidFill>
              <a:schemeClr val="accent4"/>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Drive STD WK or STD Process</a:t>
              </a:r>
            </a:p>
          </p:txBody>
        </p:sp>
        <p:cxnSp>
          <p:nvCxnSpPr>
            <p:cNvPr id="27" name="AutoShape 8">
              <a:extLst>
                <a:ext uri="{FF2B5EF4-FFF2-40B4-BE49-F238E27FC236}">
                  <a16:creationId xmlns:a16="http://schemas.microsoft.com/office/drawing/2014/main" id="{6E1F2073-243F-E80A-FC1E-CF21E2B10C11}"/>
                </a:ext>
              </a:extLst>
            </p:cNvPr>
            <p:cNvCxnSpPr>
              <a:cxnSpLocks noChangeShapeType="1"/>
              <a:stCxn id="23" idx="2"/>
              <a:endCxn id="24" idx="0"/>
            </p:cNvCxnSpPr>
            <p:nvPr/>
          </p:nvCxnSpPr>
          <p:spPr bwMode="auto">
            <a:xfrm>
              <a:off x="1787525" y="2441575"/>
              <a:ext cx="0" cy="2952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8" name="AutoShape 9">
              <a:extLst>
                <a:ext uri="{FF2B5EF4-FFF2-40B4-BE49-F238E27FC236}">
                  <a16:creationId xmlns:a16="http://schemas.microsoft.com/office/drawing/2014/main" id="{117E6CDB-925E-D68B-3B5C-D1BAD4E0C887}"/>
                </a:ext>
              </a:extLst>
            </p:cNvPr>
            <p:cNvCxnSpPr>
              <a:cxnSpLocks noChangeShapeType="1"/>
              <a:stCxn id="24" idx="2"/>
              <a:endCxn id="25" idx="0"/>
            </p:cNvCxnSpPr>
            <p:nvPr/>
          </p:nvCxnSpPr>
          <p:spPr bwMode="auto">
            <a:xfrm>
              <a:off x="1787525" y="3371850"/>
              <a:ext cx="0" cy="2984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9" name="AutoShape 10">
              <a:extLst>
                <a:ext uri="{FF2B5EF4-FFF2-40B4-BE49-F238E27FC236}">
                  <a16:creationId xmlns:a16="http://schemas.microsoft.com/office/drawing/2014/main" id="{11B8452C-E503-E5EF-9F2F-42509AFC6392}"/>
                </a:ext>
              </a:extLst>
            </p:cNvPr>
            <p:cNvCxnSpPr>
              <a:cxnSpLocks noChangeShapeType="1"/>
              <a:stCxn id="25" idx="2"/>
              <a:endCxn id="26" idx="0"/>
            </p:cNvCxnSpPr>
            <p:nvPr/>
          </p:nvCxnSpPr>
          <p:spPr bwMode="auto">
            <a:xfrm>
              <a:off x="1787525" y="4305300"/>
              <a:ext cx="0" cy="3381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0" name="Oval 11">
              <a:extLst>
                <a:ext uri="{FF2B5EF4-FFF2-40B4-BE49-F238E27FC236}">
                  <a16:creationId xmlns:a16="http://schemas.microsoft.com/office/drawing/2014/main" id="{981B0998-D892-D633-4462-1CE9F0984560}"/>
                </a:ext>
              </a:extLst>
            </p:cNvPr>
            <p:cNvSpPr>
              <a:spLocks noChangeArrowheads="1"/>
            </p:cNvSpPr>
            <p:nvPr/>
          </p:nvSpPr>
          <p:spPr bwMode="auto">
            <a:xfrm>
              <a:off x="476250" y="5602288"/>
              <a:ext cx="2620963" cy="601662"/>
            </a:xfrm>
            <a:prstGeom prst="ellipse">
              <a:avLst/>
            </a:prstGeom>
            <a:solidFill>
              <a:schemeClr val="accent2"/>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Improve Process to reduce lead time</a:t>
              </a:r>
            </a:p>
          </p:txBody>
        </p:sp>
        <p:cxnSp>
          <p:nvCxnSpPr>
            <p:cNvPr id="31" name="AutoShape 12">
              <a:extLst>
                <a:ext uri="{FF2B5EF4-FFF2-40B4-BE49-F238E27FC236}">
                  <a16:creationId xmlns:a16="http://schemas.microsoft.com/office/drawing/2014/main" id="{201C1815-7F6B-EB9D-896D-CC64939BE4FD}"/>
                </a:ext>
              </a:extLst>
            </p:cNvPr>
            <p:cNvCxnSpPr>
              <a:cxnSpLocks noChangeShapeType="1"/>
              <a:stCxn id="26" idx="2"/>
              <a:endCxn id="30" idx="0"/>
            </p:cNvCxnSpPr>
            <p:nvPr/>
          </p:nvCxnSpPr>
          <p:spPr bwMode="auto">
            <a:xfrm>
              <a:off x="1787525" y="5278438"/>
              <a:ext cx="0" cy="3238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 name="Rectangle 13">
              <a:extLst>
                <a:ext uri="{FF2B5EF4-FFF2-40B4-BE49-F238E27FC236}">
                  <a16:creationId xmlns:a16="http://schemas.microsoft.com/office/drawing/2014/main" id="{300C6D0D-5FEE-1CA2-EDBE-50AE65190004}"/>
                </a:ext>
              </a:extLst>
            </p:cNvPr>
            <p:cNvSpPr>
              <a:spLocks noChangeArrowheads="1"/>
            </p:cNvSpPr>
            <p:nvPr/>
          </p:nvSpPr>
          <p:spPr bwMode="auto">
            <a:xfrm>
              <a:off x="3813175" y="2320925"/>
              <a:ext cx="4897438" cy="29718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3" name="Text Box 14">
              <a:extLst>
                <a:ext uri="{FF2B5EF4-FFF2-40B4-BE49-F238E27FC236}">
                  <a16:creationId xmlns:a16="http://schemas.microsoft.com/office/drawing/2014/main" id="{C4126C56-E9F1-6AAA-0880-A3A4962EA8E0}"/>
                </a:ext>
              </a:extLst>
            </p:cNvPr>
            <p:cNvSpPr txBox="1">
              <a:spLocks noChangeArrowheads="1"/>
            </p:cNvSpPr>
            <p:nvPr/>
          </p:nvSpPr>
          <p:spPr bwMode="auto">
            <a:xfrm>
              <a:off x="4011613" y="2170113"/>
              <a:ext cx="2763784" cy="31624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Implementation Best Practices</a:t>
              </a:r>
            </a:p>
          </p:txBody>
        </p:sp>
      </p:grpSp>
    </p:spTree>
    <p:extLst>
      <p:ext uri="{BB962C8B-B14F-4D97-AF65-F5344CB8AC3E}">
        <p14:creationId xmlns:p14="http://schemas.microsoft.com/office/powerpoint/2010/main" val="1505273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MDPE for Productivity / Cost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33</a:t>
            </a:fld>
            <a:endParaRPr lang="en-US"/>
          </a:p>
        </p:txBody>
      </p:sp>
      <p:grpSp>
        <p:nvGrpSpPr>
          <p:cNvPr id="34" name="Group 33">
            <a:extLst>
              <a:ext uri="{FF2B5EF4-FFF2-40B4-BE49-F238E27FC236}">
                <a16:creationId xmlns:a16="http://schemas.microsoft.com/office/drawing/2014/main" id="{73FCAF4E-F371-015C-F01B-E9F4CE5BCD22}"/>
              </a:ext>
            </a:extLst>
          </p:cNvPr>
          <p:cNvGrpSpPr/>
          <p:nvPr/>
        </p:nvGrpSpPr>
        <p:grpSpPr>
          <a:xfrm>
            <a:off x="984885" y="1806575"/>
            <a:ext cx="10222230" cy="4397375"/>
            <a:chOff x="476250" y="1806575"/>
            <a:chExt cx="8250238" cy="4397375"/>
          </a:xfrm>
        </p:grpSpPr>
        <p:sp>
          <p:nvSpPr>
            <p:cNvPr id="21" name="Rectangle 2">
              <a:extLst>
                <a:ext uri="{FF2B5EF4-FFF2-40B4-BE49-F238E27FC236}">
                  <a16:creationId xmlns:a16="http://schemas.microsoft.com/office/drawing/2014/main" id="{87487696-395D-652A-40D8-B4DC74248F55}"/>
                </a:ext>
              </a:extLst>
            </p:cNvPr>
            <p:cNvSpPr>
              <a:spLocks noChangeArrowheads="1"/>
            </p:cNvSpPr>
            <p:nvPr/>
          </p:nvSpPr>
          <p:spPr bwMode="auto">
            <a:xfrm>
              <a:off x="3868738" y="2659063"/>
              <a:ext cx="4857750" cy="2583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Metric must be easy to calculate and easy to understand across the organization </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Drive down to the cell or work group level to provide employee understanding of performance</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Leaders must observe all element of the process at Gemba </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own the metric hourly / daily</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Use quick hit kaizen or event based kaizen to drive continuous improvement customer focused culture</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Set stretch goals in order to drive continued process improvement</a:t>
              </a:r>
            </a:p>
          </p:txBody>
        </p:sp>
        <p:sp>
          <p:nvSpPr>
            <p:cNvPr id="22" name="AutoShape 3">
              <a:extLst>
                <a:ext uri="{FF2B5EF4-FFF2-40B4-BE49-F238E27FC236}">
                  <a16:creationId xmlns:a16="http://schemas.microsoft.com/office/drawing/2014/main" id="{3D47ECA9-6956-3F0B-C1B7-74ED597F81F8}"/>
                </a:ext>
              </a:extLst>
            </p:cNvPr>
            <p:cNvSpPr>
              <a:spLocks noChangeArrowheads="1"/>
            </p:cNvSpPr>
            <p:nvPr/>
          </p:nvSpPr>
          <p:spPr bwMode="auto">
            <a:xfrm>
              <a:off x="3332163" y="2392363"/>
              <a:ext cx="25400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3" name="Rectangle 4">
              <a:extLst>
                <a:ext uri="{FF2B5EF4-FFF2-40B4-BE49-F238E27FC236}">
                  <a16:creationId xmlns:a16="http://schemas.microsoft.com/office/drawing/2014/main" id="{FA53D6B4-56AC-2E7D-6942-922F97EEFF2C}"/>
                </a:ext>
              </a:extLst>
            </p:cNvPr>
            <p:cNvSpPr>
              <a:spLocks noChangeArrowheads="1"/>
            </p:cNvSpPr>
            <p:nvPr/>
          </p:nvSpPr>
          <p:spPr bwMode="auto">
            <a:xfrm>
              <a:off x="476250" y="1806575"/>
              <a:ext cx="2620963" cy="63500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Define the Measure</a:t>
              </a:r>
            </a:p>
          </p:txBody>
        </p:sp>
        <p:sp>
          <p:nvSpPr>
            <p:cNvPr id="24" name="Rectangle 5">
              <a:extLst>
                <a:ext uri="{FF2B5EF4-FFF2-40B4-BE49-F238E27FC236}">
                  <a16:creationId xmlns:a16="http://schemas.microsoft.com/office/drawing/2014/main" id="{5F8D3B63-05DE-D454-3236-203BA07BA86A}"/>
                </a:ext>
              </a:extLst>
            </p:cNvPr>
            <p:cNvSpPr>
              <a:spLocks noChangeArrowheads="1"/>
            </p:cNvSpPr>
            <p:nvPr/>
          </p:nvSpPr>
          <p:spPr bwMode="auto">
            <a:xfrm>
              <a:off x="476250" y="2736850"/>
              <a:ext cx="2620963" cy="635000"/>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Measure at the Work Group or Cell Level</a:t>
              </a:r>
            </a:p>
          </p:txBody>
        </p:sp>
        <p:sp>
          <p:nvSpPr>
            <p:cNvPr id="25" name="Rectangle 6">
              <a:extLst>
                <a:ext uri="{FF2B5EF4-FFF2-40B4-BE49-F238E27FC236}">
                  <a16:creationId xmlns:a16="http://schemas.microsoft.com/office/drawing/2014/main" id="{BFDDBD21-9013-E2AD-F104-7ABE6E40A203}"/>
                </a:ext>
              </a:extLst>
            </p:cNvPr>
            <p:cNvSpPr>
              <a:spLocks noChangeArrowheads="1"/>
            </p:cNvSpPr>
            <p:nvPr/>
          </p:nvSpPr>
          <p:spPr bwMode="auto">
            <a:xfrm>
              <a:off x="476250" y="3670300"/>
              <a:ext cx="2620963" cy="6350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Leaders spend time at Gemba to observe and diagnose issues</a:t>
              </a:r>
            </a:p>
          </p:txBody>
        </p:sp>
        <p:sp>
          <p:nvSpPr>
            <p:cNvPr id="26" name="Rectangle 7">
              <a:extLst>
                <a:ext uri="{FF2B5EF4-FFF2-40B4-BE49-F238E27FC236}">
                  <a16:creationId xmlns:a16="http://schemas.microsoft.com/office/drawing/2014/main" id="{D8C4D3EB-2FC8-2EAB-DE5F-8BB410C2E456}"/>
                </a:ext>
              </a:extLst>
            </p:cNvPr>
            <p:cNvSpPr>
              <a:spLocks noChangeArrowheads="1"/>
            </p:cNvSpPr>
            <p:nvPr/>
          </p:nvSpPr>
          <p:spPr bwMode="auto">
            <a:xfrm>
              <a:off x="476250" y="4643438"/>
              <a:ext cx="2620963" cy="635000"/>
            </a:xfrm>
            <a:prstGeom prst="rect">
              <a:avLst/>
            </a:prstGeom>
            <a:solidFill>
              <a:schemeClr val="accent4"/>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Use Kaizen to improve</a:t>
              </a:r>
            </a:p>
          </p:txBody>
        </p:sp>
        <p:cxnSp>
          <p:nvCxnSpPr>
            <p:cNvPr id="27" name="AutoShape 8">
              <a:extLst>
                <a:ext uri="{FF2B5EF4-FFF2-40B4-BE49-F238E27FC236}">
                  <a16:creationId xmlns:a16="http://schemas.microsoft.com/office/drawing/2014/main" id="{6E1F2073-243F-E80A-FC1E-CF21E2B10C11}"/>
                </a:ext>
              </a:extLst>
            </p:cNvPr>
            <p:cNvCxnSpPr>
              <a:cxnSpLocks noChangeShapeType="1"/>
              <a:stCxn id="23" idx="2"/>
              <a:endCxn id="24" idx="0"/>
            </p:cNvCxnSpPr>
            <p:nvPr/>
          </p:nvCxnSpPr>
          <p:spPr bwMode="auto">
            <a:xfrm>
              <a:off x="1787525" y="2441575"/>
              <a:ext cx="0" cy="2952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8" name="AutoShape 9">
              <a:extLst>
                <a:ext uri="{FF2B5EF4-FFF2-40B4-BE49-F238E27FC236}">
                  <a16:creationId xmlns:a16="http://schemas.microsoft.com/office/drawing/2014/main" id="{117E6CDB-925E-D68B-3B5C-D1BAD4E0C887}"/>
                </a:ext>
              </a:extLst>
            </p:cNvPr>
            <p:cNvCxnSpPr>
              <a:cxnSpLocks noChangeShapeType="1"/>
              <a:stCxn id="24" idx="2"/>
              <a:endCxn id="25" idx="0"/>
            </p:cNvCxnSpPr>
            <p:nvPr/>
          </p:nvCxnSpPr>
          <p:spPr bwMode="auto">
            <a:xfrm>
              <a:off x="1787525" y="3371850"/>
              <a:ext cx="0" cy="2984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9" name="AutoShape 10">
              <a:extLst>
                <a:ext uri="{FF2B5EF4-FFF2-40B4-BE49-F238E27FC236}">
                  <a16:creationId xmlns:a16="http://schemas.microsoft.com/office/drawing/2014/main" id="{11B8452C-E503-E5EF-9F2F-42509AFC6392}"/>
                </a:ext>
              </a:extLst>
            </p:cNvPr>
            <p:cNvCxnSpPr>
              <a:cxnSpLocks noChangeShapeType="1"/>
              <a:stCxn id="25" idx="2"/>
              <a:endCxn id="26" idx="0"/>
            </p:cNvCxnSpPr>
            <p:nvPr/>
          </p:nvCxnSpPr>
          <p:spPr bwMode="auto">
            <a:xfrm>
              <a:off x="1787525" y="4305300"/>
              <a:ext cx="0" cy="3381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0" name="Oval 11">
              <a:extLst>
                <a:ext uri="{FF2B5EF4-FFF2-40B4-BE49-F238E27FC236}">
                  <a16:creationId xmlns:a16="http://schemas.microsoft.com/office/drawing/2014/main" id="{981B0998-D892-D633-4462-1CE9F0984560}"/>
                </a:ext>
              </a:extLst>
            </p:cNvPr>
            <p:cNvSpPr>
              <a:spLocks noChangeArrowheads="1"/>
            </p:cNvSpPr>
            <p:nvPr/>
          </p:nvSpPr>
          <p:spPr bwMode="auto">
            <a:xfrm>
              <a:off x="476250" y="5602288"/>
              <a:ext cx="2620963" cy="601662"/>
            </a:xfrm>
            <a:prstGeom prst="ellipse">
              <a:avLst/>
            </a:prstGeom>
            <a:solidFill>
              <a:schemeClr val="accent2"/>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Regularly set new goals</a:t>
              </a:r>
            </a:p>
          </p:txBody>
        </p:sp>
        <p:cxnSp>
          <p:nvCxnSpPr>
            <p:cNvPr id="31" name="AutoShape 12">
              <a:extLst>
                <a:ext uri="{FF2B5EF4-FFF2-40B4-BE49-F238E27FC236}">
                  <a16:creationId xmlns:a16="http://schemas.microsoft.com/office/drawing/2014/main" id="{201C1815-7F6B-EB9D-896D-CC64939BE4FD}"/>
                </a:ext>
              </a:extLst>
            </p:cNvPr>
            <p:cNvCxnSpPr>
              <a:cxnSpLocks noChangeShapeType="1"/>
              <a:stCxn id="26" idx="2"/>
              <a:endCxn id="30" idx="0"/>
            </p:cNvCxnSpPr>
            <p:nvPr/>
          </p:nvCxnSpPr>
          <p:spPr bwMode="auto">
            <a:xfrm>
              <a:off x="1787525" y="5278438"/>
              <a:ext cx="0" cy="3238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 name="Rectangle 13">
              <a:extLst>
                <a:ext uri="{FF2B5EF4-FFF2-40B4-BE49-F238E27FC236}">
                  <a16:creationId xmlns:a16="http://schemas.microsoft.com/office/drawing/2014/main" id="{300C6D0D-5FEE-1CA2-EDBE-50AE65190004}"/>
                </a:ext>
              </a:extLst>
            </p:cNvPr>
            <p:cNvSpPr>
              <a:spLocks noChangeArrowheads="1"/>
            </p:cNvSpPr>
            <p:nvPr/>
          </p:nvSpPr>
          <p:spPr bwMode="auto">
            <a:xfrm>
              <a:off x="3813175" y="2320925"/>
              <a:ext cx="4897438" cy="29718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3" name="Text Box 14">
              <a:extLst>
                <a:ext uri="{FF2B5EF4-FFF2-40B4-BE49-F238E27FC236}">
                  <a16:creationId xmlns:a16="http://schemas.microsoft.com/office/drawing/2014/main" id="{C4126C56-E9F1-6AAA-0880-A3A4962EA8E0}"/>
                </a:ext>
              </a:extLst>
            </p:cNvPr>
            <p:cNvSpPr txBox="1">
              <a:spLocks noChangeArrowheads="1"/>
            </p:cNvSpPr>
            <p:nvPr/>
          </p:nvSpPr>
          <p:spPr bwMode="auto">
            <a:xfrm>
              <a:off x="4011613" y="2170113"/>
              <a:ext cx="2763784" cy="31624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Implementation Best Practices</a:t>
              </a:r>
            </a:p>
          </p:txBody>
        </p:sp>
      </p:grpSp>
    </p:spTree>
    <p:extLst>
      <p:ext uri="{BB962C8B-B14F-4D97-AF65-F5344CB8AC3E}">
        <p14:creationId xmlns:p14="http://schemas.microsoft.com/office/powerpoint/2010/main" val="38531264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The Four Levers of MDPE Management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grpSp>
        <p:nvGrpSpPr>
          <p:cNvPr id="20" name="Group 19">
            <a:extLst>
              <a:ext uri="{FF2B5EF4-FFF2-40B4-BE49-F238E27FC236}">
                <a16:creationId xmlns:a16="http://schemas.microsoft.com/office/drawing/2014/main" id="{FC2500C7-D516-8BAB-0CBE-8E902264D195}"/>
              </a:ext>
            </a:extLst>
          </p:cNvPr>
          <p:cNvGrpSpPr/>
          <p:nvPr/>
        </p:nvGrpSpPr>
        <p:grpSpPr>
          <a:xfrm>
            <a:off x="1040607" y="1794510"/>
            <a:ext cx="10110787" cy="4206240"/>
            <a:chOff x="461963" y="1389063"/>
            <a:chExt cx="8302625" cy="4611687"/>
          </a:xfrm>
        </p:grpSpPr>
        <p:sp>
          <p:nvSpPr>
            <p:cNvPr id="3" name="Text Box 5">
              <a:extLst>
                <a:ext uri="{FF2B5EF4-FFF2-40B4-BE49-F238E27FC236}">
                  <a16:creationId xmlns:a16="http://schemas.microsoft.com/office/drawing/2014/main" id="{36BD2B0E-900C-D47A-81EA-891248882759}"/>
                </a:ext>
              </a:extLst>
            </p:cNvPr>
            <p:cNvSpPr txBox="1">
              <a:spLocks noChangeArrowheads="1"/>
            </p:cNvSpPr>
            <p:nvPr/>
          </p:nvSpPr>
          <p:spPr bwMode="auto">
            <a:xfrm>
              <a:off x="538163" y="1389063"/>
              <a:ext cx="8226425" cy="305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All 4 Levers are necessary to drive MDPE into an Organization</a:t>
              </a:r>
              <a:endParaRPr lang="en-US" altLang="en-US" sz="1200">
                <a:latin typeface="Roboto" panose="02000000000000000000" pitchFamily="2" charset="0"/>
                <a:ea typeface="Roboto" panose="02000000000000000000" pitchFamily="2" charset="0"/>
              </a:endParaRPr>
            </a:p>
          </p:txBody>
        </p:sp>
        <p:sp>
          <p:nvSpPr>
            <p:cNvPr id="5" name="Rectangle 6">
              <a:extLst>
                <a:ext uri="{FF2B5EF4-FFF2-40B4-BE49-F238E27FC236}">
                  <a16:creationId xmlns:a16="http://schemas.microsoft.com/office/drawing/2014/main" id="{85E30A8A-CA63-A82F-E3F3-3772CEDF5F5B}"/>
                </a:ext>
              </a:extLst>
            </p:cNvPr>
            <p:cNvSpPr>
              <a:spLocks noChangeArrowheads="1"/>
            </p:cNvSpPr>
            <p:nvPr/>
          </p:nvSpPr>
          <p:spPr bwMode="auto">
            <a:xfrm>
              <a:off x="1431925" y="1821916"/>
              <a:ext cx="2954338" cy="1681698"/>
            </a:xfrm>
            <a:prstGeom prst="rect">
              <a:avLst/>
            </a:prstGeom>
            <a:no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 name="Rectangle 7">
              <a:extLst>
                <a:ext uri="{FF2B5EF4-FFF2-40B4-BE49-F238E27FC236}">
                  <a16:creationId xmlns:a16="http://schemas.microsoft.com/office/drawing/2014/main" id="{49E82344-6F9C-FF22-C978-4636AE3B1515}"/>
                </a:ext>
              </a:extLst>
            </p:cNvPr>
            <p:cNvSpPr>
              <a:spLocks noChangeArrowheads="1"/>
            </p:cNvSpPr>
            <p:nvPr/>
          </p:nvSpPr>
          <p:spPr bwMode="auto">
            <a:xfrm>
              <a:off x="1431925"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 name="Rectangle 8">
              <a:extLst>
                <a:ext uri="{FF2B5EF4-FFF2-40B4-BE49-F238E27FC236}">
                  <a16:creationId xmlns:a16="http://schemas.microsoft.com/office/drawing/2014/main" id="{E7336D4C-7C58-F41E-F84C-DE1775FD4F09}"/>
                </a:ext>
              </a:extLst>
            </p:cNvPr>
            <p:cNvSpPr>
              <a:spLocks noChangeArrowheads="1"/>
            </p:cNvSpPr>
            <p:nvPr/>
          </p:nvSpPr>
          <p:spPr bwMode="auto">
            <a:xfrm>
              <a:off x="4383088" y="1827768"/>
              <a:ext cx="2954337" cy="1684268"/>
            </a:xfrm>
            <a:prstGeom prst="rect">
              <a:avLst/>
            </a:prstGeom>
            <a:solidFill>
              <a:schemeClr val="accent2"/>
            </a:solid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8" name="Rectangle 9">
              <a:extLst>
                <a:ext uri="{FF2B5EF4-FFF2-40B4-BE49-F238E27FC236}">
                  <a16:creationId xmlns:a16="http://schemas.microsoft.com/office/drawing/2014/main" id="{1A89513E-A808-AFE4-14EB-5DF68F408459}"/>
                </a:ext>
              </a:extLst>
            </p:cNvPr>
            <p:cNvSpPr>
              <a:spLocks noChangeArrowheads="1"/>
            </p:cNvSpPr>
            <p:nvPr/>
          </p:nvSpPr>
          <p:spPr bwMode="auto">
            <a:xfrm>
              <a:off x="4383088"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 name="Rectangle 10">
              <a:extLst>
                <a:ext uri="{FF2B5EF4-FFF2-40B4-BE49-F238E27FC236}">
                  <a16:creationId xmlns:a16="http://schemas.microsoft.com/office/drawing/2014/main" id="{FC7F7CCA-7CBD-5DEF-F2D9-E41159DC9F24}"/>
                </a:ext>
              </a:extLst>
            </p:cNvPr>
            <p:cNvSpPr>
              <a:spLocks noChangeArrowheads="1"/>
            </p:cNvSpPr>
            <p:nvPr/>
          </p:nvSpPr>
          <p:spPr bwMode="auto">
            <a:xfrm>
              <a:off x="1604963" y="1947137"/>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Manage KPI</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s at Gemba</a:t>
              </a:r>
              <a:endParaRPr lang="en-US" altLang="en-US" sz="1800" dirty="0">
                <a:solidFill>
                  <a:schemeClr val="bg1"/>
                </a:solidFill>
                <a:latin typeface="Roboto" panose="02000000000000000000" pitchFamily="2" charset="0"/>
                <a:ea typeface="Roboto" panose="02000000000000000000" pitchFamily="2" charset="0"/>
              </a:endParaRPr>
            </a:p>
          </p:txBody>
        </p:sp>
        <p:sp>
          <p:nvSpPr>
            <p:cNvPr id="10" name="Rectangle 11">
              <a:extLst>
                <a:ext uri="{FF2B5EF4-FFF2-40B4-BE49-F238E27FC236}">
                  <a16:creationId xmlns:a16="http://schemas.microsoft.com/office/drawing/2014/main" id="{C4CB74FC-08F5-7E0E-2147-01A0FC8034FD}"/>
                </a:ext>
              </a:extLst>
            </p:cNvPr>
            <p:cNvSpPr>
              <a:spLocks noChangeArrowheads="1"/>
            </p:cNvSpPr>
            <p:nvPr/>
          </p:nvSpPr>
          <p:spPr bwMode="auto">
            <a:xfrm>
              <a:off x="1598613" y="3627438"/>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RCCM</a:t>
              </a:r>
            </a:p>
          </p:txBody>
        </p:sp>
        <p:sp>
          <p:nvSpPr>
            <p:cNvPr id="11" name="Rectangle 12">
              <a:extLst>
                <a:ext uri="{FF2B5EF4-FFF2-40B4-BE49-F238E27FC236}">
                  <a16:creationId xmlns:a16="http://schemas.microsoft.com/office/drawing/2014/main" id="{7D2DAA1A-AB3F-7063-20FA-58BD81369BEE}"/>
                </a:ext>
              </a:extLst>
            </p:cNvPr>
            <p:cNvSpPr>
              <a:spLocks noChangeArrowheads="1"/>
            </p:cNvSpPr>
            <p:nvPr/>
          </p:nvSpPr>
          <p:spPr bwMode="auto">
            <a:xfrm>
              <a:off x="4556125" y="19503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Visual Management at Gemba</a:t>
              </a:r>
            </a:p>
          </p:txBody>
        </p:sp>
        <p:sp>
          <p:nvSpPr>
            <p:cNvPr id="12" name="Rectangle 13">
              <a:extLst>
                <a:ext uri="{FF2B5EF4-FFF2-40B4-BE49-F238E27FC236}">
                  <a16:creationId xmlns:a16="http://schemas.microsoft.com/office/drawing/2014/main" id="{F7C954B3-38FF-BBD0-B282-4F89BF603433}"/>
                </a:ext>
              </a:extLst>
            </p:cNvPr>
            <p:cNvSpPr>
              <a:spLocks noChangeArrowheads="1"/>
            </p:cNvSpPr>
            <p:nvPr/>
          </p:nvSpPr>
          <p:spPr bwMode="auto">
            <a:xfrm>
              <a:off x="4549775" y="36306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Level Leadership</a:t>
              </a:r>
            </a:p>
          </p:txBody>
        </p:sp>
        <p:sp>
          <p:nvSpPr>
            <p:cNvPr id="13" name="Rectangle 15">
              <a:extLst>
                <a:ext uri="{FF2B5EF4-FFF2-40B4-BE49-F238E27FC236}">
                  <a16:creationId xmlns:a16="http://schemas.microsoft.com/office/drawing/2014/main" id="{FCA10200-2B92-463C-ABFD-5B43DE260D8B}"/>
                </a:ext>
              </a:extLst>
            </p:cNvPr>
            <p:cNvSpPr>
              <a:spLocks noChangeArrowheads="1"/>
            </p:cNvSpPr>
            <p:nvPr/>
          </p:nvSpPr>
          <p:spPr bwMode="auto">
            <a:xfrm>
              <a:off x="4460875" y="2486025"/>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4" name="Rectangle 16">
              <a:extLst>
                <a:ext uri="{FF2B5EF4-FFF2-40B4-BE49-F238E27FC236}">
                  <a16:creationId xmlns:a16="http://schemas.microsoft.com/office/drawing/2014/main" id="{82715502-5137-E8A6-9503-422C7E340E81}"/>
                </a:ext>
              </a:extLst>
            </p:cNvPr>
            <p:cNvSpPr>
              <a:spLocks noChangeArrowheads="1"/>
            </p:cNvSpPr>
            <p:nvPr/>
          </p:nvSpPr>
          <p:spPr bwMode="auto">
            <a:xfrm>
              <a:off x="1495425" y="3873500"/>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5" name="Rectangle 26">
              <a:extLst>
                <a:ext uri="{FF2B5EF4-FFF2-40B4-BE49-F238E27FC236}">
                  <a16:creationId xmlns:a16="http://schemas.microsoft.com/office/drawing/2014/main" id="{E83B3FE0-2197-DAE4-B902-D6F56239FBB5}"/>
                </a:ext>
              </a:extLst>
            </p:cNvPr>
            <p:cNvSpPr>
              <a:spLocks noChangeArrowheads="1"/>
            </p:cNvSpPr>
            <p:nvPr/>
          </p:nvSpPr>
          <p:spPr bwMode="auto">
            <a:xfrm>
              <a:off x="1627188" y="2421032"/>
              <a:ext cx="2530475"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understand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calculate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review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endParaRPr lang="en-US" altLang="en-US" sz="1400" b="0" dirty="0">
                <a:latin typeface="Roboto" panose="02000000000000000000" pitchFamily="2" charset="0"/>
                <a:ea typeface="Roboto" panose="02000000000000000000" pitchFamily="2" charset="0"/>
              </a:endParaRPr>
            </a:p>
          </p:txBody>
        </p:sp>
        <p:sp>
          <p:nvSpPr>
            <p:cNvPr id="16" name="Rectangle 27">
              <a:extLst>
                <a:ext uri="{FF2B5EF4-FFF2-40B4-BE49-F238E27FC236}">
                  <a16:creationId xmlns:a16="http://schemas.microsoft.com/office/drawing/2014/main" id="{5D2E9B81-EE09-3D54-6180-BB994994D7AB}"/>
                </a:ext>
              </a:extLst>
            </p:cNvPr>
            <p:cNvSpPr>
              <a:spLocks noChangeArrowheads="1"/>
            </p:cNvSpPr>
            <p:nvPr/>
          </p:nvSpPr>
          <p:spPr bwMode="auto">
            <a:xfrm>
              <a:off x="4565650" y="2427382"/>
              <a:ext cx="2617788"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Visual Board at Gemba</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Performance to Daily Plan</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Standard format throughout </a:t>
              </a:r>
            </a:p>
          </p:txBody>
        </p:sp>
        <p:sp>
          <p:nvSpPr>
            <p:cNvPr id="17" name="Rectangle 29">
              <a:extLst>
                <a:ext uri="{FF2B5EF4-FFF2-40B4-BE49-F238E27FC236}">
                  <a16:creationId xmlns:a16="http://schemas.microsoft.com/office/drawing/2014/main" id="{C0BD11FE-5C8E-04F0-2B6A-FE1ABAAE4BE8}"/>
                </a:ext>
              </a:extLst>
            </p:cNvPr>
            <p:cNvSpPr>
              <a:spLocks noChangeArrowheads="1"/>
            </p:cNvSpPr>
            <p:nvPr/>
          </p:nvSpPr>
          <p:spPr bwMode="auto">
            <a:xfrm>
              <a:off x="1533525" y="4079107"/>
              <a:ext cx="2689225" cy="107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Employees trained in Problem Solving</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Both Root Cause and Countermeasure are tracked</a:t>
              </a:r>
            </a:p>
          </p:txBody>
        </p:sp>
        <p:sp>
          <p:nvSpPr>
            <p:cNvPr id="18" name="Rectangle 30">
              <a:extLst>
                <a:ext uri="{FF2B5EF4-FFF2-40B4-BE49-F238E27FC236}">
                  <a16:creationId xmlns:a16="http://schemas.microsoft.com/office/drawing/2014/main" id="{AB5FD628-56D6-5F8B-A060-351005FFFD22}"/>
                </a:ext>
              </a:extLst>
            </p:cNvPr>
            <p:cNvSpPr>
              <a:spLocks noChangeArrowheads="1"/>
            </p:cNvSpPr>
            <p:nvPr/>
          </p:nvSpPr>
          <p:spPr bwMode="auto">
            <a:xfrm>
              <a:off x="4443413" y="4101332"/>
              <a:ext cx="2835275" cy="84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are present at Gemba daily for reviews</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teach at Daily Review</a:t>
              </a:r>
            </a:p>
          </p:txBody>
        </p:sp>
        <p:sp>
          <p:nvSpPr>
            <p:cNvPr id="19" name="Text Box 13">
              <a:extLst>
                <a:ext uri="{FF2B5EF4-FFF2-40B4-BE49-F238E27FC236}">
                  <a16:creationId xmlns:a16="http://schemas.microsoft.com/office/drawing/2014/main" id="{5A59EDEE-71AA-13D1-F65C-6825366BE953}"/>
                </a:ext>
              </a:extLst>
            </p:cNvPr>
            <p:cNvSpPr txBox="1">
              <a:spLocks noChangeArrowheads="1"/>
            </p:cNvSpPr>
            <p:nvPr/>
          </p:nvSpPr>
          <p:spPr bwMode="auto">
            <a:xfrm>
              <a:off x="461963" y="5334000"/>
              <a:ext cx="8237537" cy="666750"/>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Ownership of the process at both the Employee and the Leader levels </a:t>
              </a:r>
              <a:br>
                <a:rPr lang="en-US" altLang="en-US" sz="1800" b="0" i="1" dirty="0">
                  <a:latin typeface="Roboto" panose="02000000000000000000" pitchFamily="2" charset="0"/>
                  <a:ea typeface="Roboto" panose="02000000000000000000" pitchFamily="2" charset="0"/>
                </a:rPr>
              </a:br>
              <a:r>
                <a:rPr lang="en-US" altLang="en-US" sz="1800" b="0" i="1" dirty="0">
                  <a:latin typeface="Roboto" panose="02000000000000000000" pitchFamily="2" charset="0"/>
                  <a:ea typeface="Roboto" panose="02000000000000000000" pitchFamily="2" charset="0"/>
                </a:rPr>
                <a:t>ensures sustainability</a:t>
              </a:r>
              <a:endParaRPr lang="en-US" altLang="en-US" sz="1400" b="0" dirty="0">
                <a:solidFill>
                  <a:srgbClr val="000066"/>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590146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Gemba Level Visual Management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77500" lnSpcReduction="20000"/>
          </a:bodyPr>
          <a:lstStyle/>
          <a:p>
            <a:r>
              <a:rPr lang="en-US" dirty="0"/>
              <a:t>Moves from having only "specialists" understand to an environment where everyone understands</a:t>
            </a:r>
          </a:p>
          <a:p>
            <a:r>
              <a:rPr lang="en-US" dirty="0"/>
              <a:t>Allows for easy identification of problems</a:t>
            </a:r>
          </a:p>
          <a:p>
            <a:r>
              <a:rPr lang="en-US" dirty="0"/>
              <a:t>Facilitates the prioritization of where to allocate resources to solve problems</a:t>
            </a:r>
          </a:p>
          <a:p>
            <a:r>
              <a:rPr lang="en-US" dirty="0"/>
              <a:t>Mandates “walk around” management </a:t>
            </a:r>
            <a:r>
              <a:rPr lang="en-US"/>
              <a:t>at the </a:t>
            </a:r>
            <a:r>
              <a:rPr lang="en-US" dirty="0"/>
              <a:t>Gemba (NO OPTION!)</a:t>
            </a:r>
          </a:p>
          <a:p>
            <a:r>
              <a:rPr lang="en-US" dirty="0"/>
              <a:t>Tells you if you are making progress</a:t>
            </a:r>
          </a:p>
          <a:p>
            <a:r>
              <a:rPr lang="en-US" dirty="0"/>
              <a:t>Requires taking ownership over </a:t>
            </a:r>
            <a:br>
              <a:rPr lang="en-US" dirty="0"/>
            </a:br>
            <a:r>
              <a:rPr lang="en-US" dirty="0"/>
              <a:t>the program</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35</a:t>
            </a:fld>
            <a:endParaRPr lang="en-US"/>
          </a:p>
        </p:txBody>
      </p:sp>
      <p:pic>
        <p:nvPicPr>
          <p:cNvPr id="5" name="Picture 13">
            <a:extLst>
              <a:ext uri="{FF2B5EF4-FFF2-40B4-BE49-F238E27FC236}">
                <a16:creationId xmlns:a16="http://schemas.microsoft.com/office/drawing/2014/main" id="{89F23FF6-AF66-E0DF-A896-27534259246B}"/>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l="16289" t="11700" r="13168"/>
          <a:stretch>
            <a:fillRect/>
          </a:stretch>
        </p:blipFill>
        <p:spPr bwMode="auto">
          <a:xfrm>
            <a:off x="1588769" y="2043907"/>
            <a:ext cx="3445173" cy="3234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13">
            <a:extLst>
              <a:ext uri="{FF2B5EF4-FFF2-40B4-BE49-F238E27FC236}">
                <a16:creationId xmlns:a16="http://schemas.microsoft.com/office/drawing/2014/main" id="{5A1E5CC9-9137-5520-1AA4-C7F8CC8E233D}"/>
              </a:ext>
            </a:extLst>
          </p:cNvPr>
          <p:cNvSpPr txBox="1">
            <a:spLocks noChangeArrowheads="1"/>
          </p:cNvSpPr>
          <p:nvPr/>
        </p:nvSpPr>
        <p:spPr bwMode="auto">
          <a:xfrm>
            <a:off x="1977231" y="5736408"/>
            <a:ext cx="8237537" cy="369332"/>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Visual Management makes the MDPE Process more effective</a:t>
            </a:r>
            <a:endParaRPr lang="en-US" altLang="en-US" sz="1400" b="0" dirty="0">
              <a:solidFill>
                <a:srgbClr val="000066"/>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83932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200" dirty="0"/>
              <a:t>Example of a Visual Management Board Standard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36</a:t>
            </a:fld>
            <a:endParaRPr lang="en-US"/>
          </a:p>
        </p:txBody>
      </p:sp>
      <p:grpSp>
        <p:nvGrpSpPr>
          <p:cNvPr id="18" name="Group 17">
            <a:extLst>
              <a:ext uri="{FF2B5EF4-FFF2-40B4-BE49-F238E27FC236}">
                <a16:creationId xmlns:a16="http://schemas.microsoft.com/office/drawing/2014/main" id="{EA389424-E7BC-6DAD-49E0-DE18236161DC}"/>
              </a:ext>
            </a:extLst>
          </p:cNvPr>
          <p:cNvGrpSpPr/>
          <p:nvPr/>
        </p:nvGrpSpPr>
        <p:grpSpPr>
          <a:xfrm>
            <a:off x="299752" y="1851660"/>
            <a:ext cx="10055828" cy="4334828"/>
            <a:chOff x="303212" y="1352550"/>
            <a:chExt cx="8393113" cy="4833938"/>
          </a:xfrm>
        </p:grpSpPr>
        <p:pic>
          <p:nvPicPr>
            <p:cNvPr id="3" name="Picture 2">
              <a:extLst>
                <a:ext uri="{FF2B5EF4-FFF2-40B4-BE49-F238E27FC236}">
                  <a16:creationId xmlns:a16="http://schemas.microsoft.com/office/drawing/2014/main" id="{6201138A-64E7-6605-D74A-176CDA4730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300" y="1352550"/>
              <a:ext cx="69310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5" name="Picture 3">
              <a:extLst>
                <a:ext uri="{FF2B5EF4-FFF2-40B4-BE49-F238E27FC236}">
                  <a16:creationId xmlns:a16="http://schemas.microsoft.com/office/drawing/2014/main" id="{325899FD-FF02-52C8-5C3F-08150582A7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7050" y="4500563"/>
              <a:ext cx="1174750"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6" name="Picture 98">
              <a:extLst>
                <a:ext uri="{FF2B5EF4-FFF2-40B4-BE49-F238E27FC236}">
                  <a16:creationId xmlns:a16="http://schemas.microsoft.com/office/drawing/2014/main" id="{CBCE5A87-B2B5-0CA4-4667-D8DEFBD1DF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938" y="2957513"/>
              <a:ext cx="1273175"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7" name="Picture 98">
              <a:extLst>
                <a:ext uri="{FF2B5EF4-FFF2-40B4-BE49-F238E27FC236}">
                  <a16:creationId xmlns:a16="http://schemas.microsoft.com/office/drawing/2014/main" id="{890B2E62-6896-DDA3-3618-60EE99970C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1038" y="2955925"/>
              <a:ext cx="1274762"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8" name="Picture 98">
              <a:extLst>
                <a:ext uri="{FF2B5EF4-FFF2-40B4-BE49-F238E27FC236}">
                  <a16:creationId xmlns:a16="http://schemas.microsoft.com/office/drawing/2014/main" id="{832177FF-A229-A96F-106F-BEAB3B6A93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43588" y="2976563"/>
              <a:ext cx="1273175" cy="145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9" name="Picture 98">
              <a:extLst>
                <a:ext uri="{FF2B5EF4-FFF2-40B4-BE49-F238E27FC236}">
                  <a16:creationId xmlns:a16="http://schemas.microsoft.com/office/drawing/2014/main" id="{02D5D6D5-8994-FBB5-2BC2-2AB2AE5757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0888" y="2987675"/>
              <a:ext cx="1273175"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0" name="Picture 98">
              <a:extLst>
                <a:ext uri="{FF2B5EF4-FFF2-40B4-BE49-F238E27FC236}">
                  <a16:creationId xmlns:a16="http://schemas.microsoft.com/office/drawing/2014/main" id="{501E7C13-619C-F666-9FC3-CA73B26C42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86113" y="2967038"/>
              <a:ext cx="1273175" cy="145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1" name="Picture 3">
              <a:extLst>
                <a:ext uri="{FF2B5EF4-FFF2-40B4-BE49-F238E27FC236}">
                  <a16:creationId xmlns:a16="http://schemas.microsoft.com/office/drawing/2014/main" id="{1A1DB584-948A-E778-ABE0-972DAE9B2D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5488" y="4532313"/>
              <a:ext cx="1174750"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2" name="Picture 3">
              <a:extLst>
                <a:ext uri="{FF2B5EF4-FFF2-40B4-BE49-F238E27FC236}">
                  <a16:creationId xmlns:a16="http://schemas.microsoft.com/office/drawing/2014/main" id="{60BE0540-6B03-DD8E-0B64-09C9692680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6600" y="4483100"/>
              <a:ext cx="1174750" cy="165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3" name="Picture 3">
              <a:extLst>
                <a:ext uri="{FF2B5EF4-FFF2-40B4-BE49-F238E27FC236}">
                  <a16:creationId xmlns:a16="http://schemas.microsoft.com/office/drawing/2014/main" id="{1428D8D0-DB9E-0CDB-8D34-0D89F50889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4075" y="4492625"/>
              <a:ext cx="1174750"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4" name="Picture 3">
              <a:extLst>
                <a:ext uri="{FF2B5EF4-FFF2-40B4-BE49-F238E27FC236}">
                  <a16:creationId xmlns:a16="http://schemas.microsoft.com/office/drawing/2014/main" id="{1ADBFFE9-5AF8-61C7-838F-F7222DD8CE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0113" y="4454525"/>
              <a:ext cx="1174750"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15" name="Right Arrow 382">
              <a:extLst>
                <a:ext uri="{FF2B5EF4-FFF2-40B4-BE49-F238E27FC236}">
                  <a16:creationId xmlns:a16="http://schemas.microsoft.com/office/drawing/2014/main" id="{49721AF9-30AB-B49D-47E1-7DCF1BA604BE}"/>
                </a:ext>
              </a:extLst>
            </p:cNvPr>
            <p:cNvSpPr>
              <a:spLocks noChangeArrowheads="1"/>
            </p:cNvSpPr>
            <p:nvPr/>
          </p:nvSpPr>
          <p:spPr bwMode="auto">
            <a:xfrm>
              <a:off x="303212" y="1352550"/>
              <a:ext cx="1246188" cy="1314451"/>
            </a:xfrm>
            <a:prstGeom prst="rightArrow">
              <a:avLst>
                <a:gd name="adj1" fmla="val 50000"/>
                <a:gd name="adj2" fmla="val 49936"/>
              </a:avLst>
            </a:prstGeom>
            <a:solidFill>
              <a:schemeClr val="accent4"/>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Are We Green, or Red</a:t>
              </a:r>
            </a:p>
          </p:txBody>
        </p:sp>
        <p:sp>
          <p:nvSpPr>
            <p:cNvPr id="16" name="Right Arrow 383">
              <a:extLst>
                <a:ext uri="{FF2B5EF4-FFF2-40B4-BE49-F238E27FC236}">
                  <a16:creationId xmlns:a16="http://schemas.microsoft.com/office/drawing/2014/main" id="{1E9DF420-98BD-C1BA-4979-C0C326576C17}"/>
                </a:ext>
              </a:extLst>
            </p:cNvPr>
            <p:cNvSpPr>
              <a:spLocks noChangeArrowheads="1"/>
            </p:cNvSpPr>
            <p:nvPr/>
          </p:nvSpPr>
          <p:spPr bwMode="auto">
            <a:xfrm>
              <a:off x="312737" y="2906712"/>
              <a:ext cx="1247775" cy="1314451"/>
            </a:xfrm>
            <a:prstGeom prst="rightArrow">
              <a:avLst>
                <a:gd name="adj1" fmla="val 50000"/>
                <a:gd name="adj2" fmla="val 50000"/>
              </a:avLst>
            </a:prstGeom>
            <a:solidFill>
              <a:schemeClr val="accent4"/>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What is our Historical Data</a:t>
              </a:r>
            </a:p>
          </p:txBody>
        </p:sp>
        <p:sp>
          <p:nvSpPr>
            <p:cNvPr id="17" name="Right Arrow 384">
              <a:extLst>
                <a:ext uri="{FF2B5EF4-FFF2-40B4-BE49-F238E27FC236}">
                  <a16:creationId xmlns:a16="http://schemas.microsoft.com/office/drawing/2014/main" id="{7D57FFFE-BB5C-DB08-FA66-0E303A429680}"/>
                </a:ext>
              </a:extLst>
            </p:cNvPr>
            <p:cNvSpPr>
              <a:spLocks noChangeArrowheads="1"/>
            </p:cNvSpPr>
            <p:nvPr/>
          </p:nvSpPr>
          <p:spPr bwMode="auto">
            <a:xfrm>
              <a:off x="325437" y="4724400"/>
              <a:ext cx="1246188" cy="1311941"/>
            </a:xfrm>
            <a:prstGeom prst="rightArrow">
              <a:avLst>
                <a:gd name="adj1" fmla="val 50000"/>
                <a:gd name="adj2" fmla="val 50032"/>
              </a:avLst>
            </a:prstGeom>
            <a:solidFill>
              <a:schemeClr val="accent4"/>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Are our CM</a:t>
              </a:r>
              <a:r>
                <a:rPr lang="ja-JP" altLang="en-US" sz="1400">
                  <a:solidFill>
                    <a:schemeClr val="bg1"/>
                  </a:solidFill>
                  <a:latin typeface="Roboto" panose="02000000000000000000" pitchFamily="2" charset="0"/>
                </a:rPr>
                <a:t>’</a:t>
              </a:r>
              <a:r>
                <a:rPr lang="en-US" altLang="ja-JP" sz="1400">
                  <a:solidFill>
                    <a:schemeClr val="bg1"/>
                  </a:solidFill>
                  <a:latin typeface="Roboto" panose="02000000000000000000" pitchFamily="2" charset="0"/>
                  <a:ea typeface="Roboto" panose="02000000000000000000" pitchFamily="2" charset="0"/>
                </a:rPr>
                <a:t>s working?</a:t>
              </a:r>
              <a:endParaRPr lang="en-US" altLang="en-US" sz="1400">
                <a:solidFill>
                  <a:schemeClr val="bg1"/>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2367129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2800" dirty="0">
                <a:latin typeface="Roboto Medium"/>
                <a:ea typeface="Roboto Medium"/>
                <a:cs typeface="Roboto Medium"/>
              </a:rPr>
              <a:t>Exercise: To Gemba or not to Gemba, that is the question!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the importance of MDPE at Gemba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Break into 2 teams.  </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1 will review performance data that will been provided.  </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2 will go to Gemba and review the data that will be provided.</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Both teams will report out on their conclusion as to what the performance issues are and root cause.</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45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on problems identified and root cause</a:t>
            </a:r>
          </a:p>
        </p:txBody>
      </p:sp>
    </p:spTree>
    <p:extLst>
      <p:ext uri="{BB962C8B-B14F-4D97-AF65-F5344CB8AC3E}">
        <p14:creationId xmlns:p14="http://schemas.microsoft.com/office/powerpoint/2010/main" val="12524421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The Four Levers of MDPE Management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grpSp>
        <p:nvGrpSpPr>
          <p:cNvPr id="20" name="Group 19">
            <a:extLst>
              <a:ext uri="{FF2B5EF4-FFF2-40B4-BE49-F238E27FC236}">
                <a16:creationId xmlns:a16="http://schemas.microsoft.com/office/drawing/2014/main" id="{FC2500C7-D516-8BAB-0CBE-8E902264D195}"/>
              </a:ext>
            </a:extLst>
          </p:cNvPr>
          <p:cNvGrpSpPr/>
          <p:nvPr/>
        </p:nvGrpSpPr>
        <p:grpSpPr>
          <a:xfrm>
            <a:off x="1040607" y="1794510"/>
            <a:ext cx="10110787" cy="4206240"/>
            <a:chOff x="461963" y="1389063"/>
            <a:chExt cx="8302625" cy="4611687"/>
          </a:xfrm>
        </p:grpSpPr>
        <p:sp>
          <p:nvSpPr>
            <p:cNvPr id="3" name="Text Box 5">
              <a:extLst>
                <a:ext uri="{FF2B5EF4-FFF2-40B4-BE49-F238E27FC236}">
                  <a16:creationId xmlns:a16="http://schemas.microsoft.com/office/drawing/2014/main" id="{36BD2B0E-900C-D47A-81EA-891248882759}"/>
                </a:ext>
              </a:extLst>
            </p:cNvPr>
            <p:cNvSpPr txBox="1">
              <a:spLocks noChangeArrowheads="1"/>
            </p:cNvSpPr>
            <p:nvPr/>
          </p:nvSpPr>
          <p:spPr bwMode="auto">
            <a:xfrm>
              <a:off x="538163" y="1389063"/>
              <a:ext cx="8226425" cy="305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All 4 Levers are necessary to drive MDPE into an Organization</a:t>
              </a:r>
              <a:endParaRPr lang="en-US" altLang="en-US" sz="1200">
                <a:latin typeface="Roboto" panose="02000000000000000000" pitchFamily="2" charset="0"/>
                <a:ea typeface="Roboto" panose="02000000000000000000" pitchFamily="2" charset="0"/>
              </a:endParaRPr>
            </a:p>
          </p:txBody>
        </p:sp>
        <p:sp>
          <p:nvSpPr>
            <p:cNvPr id="5" name="Rectangle 6">
              <a:extLst>
                <a:ext uri="{FF2B5EF4-FFF2-40B4-BE49-F238E27FC236}">
                  <a16:creationId xmlns:a16="http://schemas.microsoft.com/office/drawing/2014/main" id="{85E30A8A-CA63-A82F-E3F3-3772CEDF5F5B}"/>
                </a:ext>
              </a:extLst>
            </p:cNvPr>
            <p:cNvSpPr>
              <a:spLocks noChangeArrowheads="1"/>
            </p:cNvSpPr>
            <p:nvPr/>
          </p:nvSpPr>
          <p:spPr bwMode="auto">
            <a:xfrm>
              <a:off x="1431925" y="1821916"/>
              <a:ext cx="2954338" cy="1681698"/>
            </a:xfrm>
            <a:prstGeom prst="rect">
              <a:avLst/>
            </a:prstGeom>
            <a:no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 name="Rectangle 7">
              <a:extLst>
                <a:ext uri="{FF2B5EF4-FFF2-40B4-BE49-F238E27FC236}">
                  <a16:creationId xmlns:a16="http://schemas.microsoft.com/office/drawing/2014/main" id="{49E82344-6F9C-FF22-C978-4636AE3B1515}"/>
                </a:ext>
              </a:extLst>
            </p:cNvPr>
            <p:cNvSpPr>
              <a:spLocks noChangeArrowheads="1"/>
            </p:cNvSpPr>
            <p:nvPr/>
          </p:nvSpPr>
          <p:spPr bwMode="auto">
            <a:xfrm>
              <a:off x="1431925" y="3500438"/>
              <a:ext cx="2959100" cy="1684268"/>
            </a:xfrm>
            <a:prstGeom prst="rect">
              <a:avLst/>
            </a:prstGeom>
            <a:solidFill>
              <a:schemeClr val="accent2"/>
            </a:solid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 name="Rectangle 8">
              <a:extLst>
                <a:ext uri="{FF2B5EF4-FFF2-40B4-BE49-F238E27FC236}">
                  <a16:creationId xmlns:a16="http://schemas.microsoft.com/office/drawing/2014/main" id="{E7336D4C-7C58-F41E-F84C-DE1775FD4F09}"/>
                </a:ext>
              </a:extLst>
            </p:cNvPr>
            <p:cNvSpPr>
              <a:spLocks noChangeArrowheads="1"/>
            </p:cNvSpPr>
            <p:nvPr/>
          </p:nvSpPr>
          <p:spPr bwMode="auto">
            <a:xfrm>
              <a:off x="4383088" y="1827768"/>
              <a:ext cx="2954337" cy="1684268"/>
            </a:xfrm>
            <a:prstGeom prst="rect">
              <a:avLst/>
            </a:prstGeom>
            <a:no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8" name="Rectangle 9">
              <a:extLst>
                <a:ext uri="{FF2B5EF4-FFF2-40B4-BE49-F238E27FC236}">
                  <a16:creationId xmlns:a16="http://schemas.microsoft.com/office/drawing/2014/main" id="{1A89513E-A808-AFE4-14EB-5DF68F408459}"/>
                </a:ext>
              </a:extLst>
            </p:cNvPr>
            <p:cNvSpPr>
              <a:spLocks noChangeArrowheads="1"/>
            </p:cNvSpPr>
            <p:nvPr/>
          </p:nvSpPr>
          <p:spPr bwMode="auto">
            <a:xfrm>
              <a:off x="4383088"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 name="Rectangle 10">
              <a:extLst>
                <a:ext uri="{FF2B5EF4-FFF2-40B4-BE49-F238E27FC236}">
                  <a16:creationId xmlns:a16="http://schemas.microsoft.com/office/drawing/2014/main" id="{FC7F7CCA-7CBD-5DEF-F2D9-E41159DC9F24}"/>
                </a:ext>
              </a:extLst>
            </p:cNvPr>
            <p:cNvSpPr>
              <a:spLocks noChangeArrowheads="1"/>
            </p:cNvSpPr>
            <p:nvPr/>
          </p:nvSpPr>
          <p:spPr bwMode="auto">
            <a:xfrm>
              <a:off x="1604963" y="1947137"/>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Manage KPI</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s at Gemba</a:t>
              </a:r>
              <a:endParaRPr lang="en-US" altLang="en-US" sz="1800" dirty="0">
                <a:solidFill>
                  <a:schemeClr val="bg1"/>
                </a:solidFill>
                <a:latin typeface="Roboto" panose="02000000000000000000" pitchFamily="2" charset="0"/>
                <a:ea typeface="Roboto" panose="02000000000000000000" pitchFamily="2" charset="0"/>
              </a:endParaRPr>
            </a:p>
          </p:txBody>
        </p:sp>
        <p:sp>
          <p:nvSpPr>
            <p:cNvPr id="10" name="Rectangle 11">
              <a:extLst>
                <a:ext uri="{FF2B5EF4-FFF2-40B4-BE49-F238E27FC236}">
                  <a16:creationId xmlns:a16="http://schemas.microsoft.com/office/drawing/2014/main" id="{C4CB74FC-08F5-7E0E-2147-01A0FC8034FD}"/>
                </a:ext>
              </a:extLst>
            </p:cNvPr>
            <p:cNvSpPr>
              <a:spLocks noChangeArrowheads="1"/>
            </p:cNvSpPr>
            <p:nvPr/>
          </p:nvSpPr>
          <p:spPr bwMode="auto">
            <a:xfrm>
              <a:off x="1598613" y="3627438"/>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RCCM</a:t>
              </a:r>
            </a:p>
          </p:txBody>
        </p:sp>
        <p:sp>
          <p:nvSpPr>
            <p:cNvPr id="11" name="Rectangle 12">
              <a:extLst>
                <a:ext uri="{FF2B5EF4-FFF2-40B4-BE49-F238E27FC236}">
                  <a16:creationId xmlns:a16="http://schemas.microsoft.com/office/drawing/2014/main" id="{7D2DAA1A-AB3F-7063-20FA-58BD81369BEE}"/>
                </a:ext>
              </a:extLst>
            </p:cNvPr>
            <p:cNvSpPr>
              <a:spLocks noChangeArrowheads="1"/>
            </p:cNvSpPr>
            <p:nvPr/>
          </p:nvSpPr>
          <p:spPr bwMode="auto">
            <a:xfrm>
              <a:off x="4556125" y="19503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Visual Management at Gemba</a:t>
              </a:r>
            </a:p>
          </p:txBody>
        </p:sp>
        <p:sp>
          <p:nvSpPr>
            <p:cNvPr id="12" name="Rectangle 13">
              <a:extLst>
                <a:ext uri="{FF2B5EF4-FFF2-40B4-BE49-F238E27FC236}">
                  <a16:creationId xmlns:a16="http://schemas.microsoft.com/office/drawing/2014/main" id="{F7C954B3-38FF-BBD0-B282-4F89BF603433}"/>
                </a:ext>
              </a:extLst>
            </p:cNvPr>
            <p:cNvSpPr>
              <a:spLocks noChangeArrowheads="1"/>
            </p:cNvSpPr>
            <p:nvPr/>
          </p:nvSpPr>
          <p:spPr bwMode="auto">
            <a:xfrm>
              <a:off x="4549775" y="36306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Level Leadership</a:t>
              </a:r>
            </a:p>
          </p:txBody>
        </p:sp>
        <p:sp>
          <p:nvSpPr>
            <p:cNvPr id="13" name="Rectangle 15">
              <a:extLst>
                <a:ext uri="{FF2B5EF4-FFF2-40B4-BE49-F238E27FC236}">
                  <a16:creationId xmlns:a16="http://schemas.microsoft.com/office/drawing/2014/main" id="{FCA10200-2B92-463C-ABFD-5B43DE260D8B}"/>
                </a:ext>
              </a:extLst>
            </p:cNvPr>
            <p:cNvSpPr>
              <a:spLocks noChangeArrowheads="1"/>
            </p:cNvSpPr>
            <p:nvPr/>
          </p:nvSpPr>
          <p:spPr bwMode="auto">
            <a:xfrm>
              <a:off x="4460875" y="2486025"/>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4" name="Rectangle 16">
              <a:extLst>
                <a:ext uri="{FF2B5EF4-FFF2-40B4-BE49-F238E27FC236}">
                  <a16:creationId xmlns:a16="http://schemas.microsoft.com/office/drawing/2014/main" id="{82715502-5137-E8A6-9503-422C7E340E81}"/>
                </a:ext>
              </a:extLst>
            </p:cNvPr>
            <p:cNvSpPr>
              <a:spLocks noChangeArrowheads="1"/>
            </p:cNvSpPr>
            <p:nvPr/>
          </p:nvSpPr>
          <p:spPr bwMode="auto">
            <a:xfrm>
              <a:off x="1495425" y="3873500"/>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5" name="Rectangle 26">
              <a:extLst>
                <a:ext uri="{FF2B5EF4-FFF2-40B4-BE49-F238E27FC236}">
                  <a16:creationId xmlns:a16="http://schemas.microsoft.com/office/drawing/2014/main" id="{E83B3FE0-2197-DAE4-B902-D6F56239FBB5}"/>
                </a:ext>
              </a:extLst>
            </p:cNvPr>
            <p:cNvSpPr>
              <a:spLocks noChangeArrowheads="1"/>
            </p:cNvSpPr>
            <p:nvPr/>
          </p:nvSpPr>
          <p:spPr bwMode="auto">
            <a:xfrm>
              <a:off x="1627188" y="2421032"/>
              <a:ext cx="2530475"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understand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calculate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review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endParaRPr lang="en-US" altLang="en-US" sz="1400" b="0" dirty="0">
                <a:latin typeface="Roboto" panose="02000000000000000000" pitchFamily="2" charset="0"/>
                <a:ea typeface="Roboto" panose="02000000000000000000" pitchFamily="2" charset="0"/>
              </a:endParaRPr>
            </a:p>
          </p:txBody>
        </p:sp>
        <p:sp>
          <p:nvSpPr>
            <p:cNvPr id="16" name="Rectangle 27">
              <a:extLst>
                <a:ext uri="{FF2B5EF4-FFF2-40B4-BE49-F238E27FC236}">
                  <a16:creationId xmlns:a16="http://schemas.microsoft.com/office/drawing/2014/main" id="{5D2E9B81-EE09-3D54-6180-BB994994D7AB}"/>
                </a:ext>
              </a:extLst>
            </p:cNvPr>
            <p:cNvSpPr>
              <a:spLocks noChangeArrowheads="1"/>
            </p:cNvSpPr>
            <p:nvPr/>
          </p:nvSpPr>
          <p:spPr bwMode="auto">
            <a:xfrm>
              <a:off x="4565650" y="2427382"/>
              <a:ext cx="2617788"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Visual Board at Gemba</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Performance to Daily Plan</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Standard format throughout </a:t>
              </a:r>
            </a:p>
          </p:txBody>
        </p:sp>
        <p:sp>
          <p:nvSpPr>
            <p:cNvPr id="17" name="Rectangle 29">
              <a:extLst>
                <a:ext uri="{FF2B5EF4-FFF2-40B4-BE49-F238E27FC236}">
                  <a16:creationId xmlns:a16="http://schemas.microsoft.com/office/drawing/2014/main" id="{C0BD11FE-5C8E-04F0-2B6A-FE1ABAAE4BE8}"/>
                </a:ext>
              </a:extLst>
            </p:cNvPr>
            <p:cNvSpPr>
              <a:spLocks noChangeArrowheads="1"/>
            </p:cNvSpPr>
            <p:nvPr/>
          </p:nvSpPr>
          <p:spPr bwMode="auto">
            <a:xfrm>
              <a:off x="1533525" y="4079107"/>
              <a:ext cx="2689225" cy="107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trained in Problem Solving</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Both Root Cause and Countermeasure are tracked</a:t>
              </a:r>
            </a:p>
          </p:txBody>
        </p:sp>
        <p:sp>
          <p:nvSpPr>
            <p:cNvPr id="18" name="Rectangle 30">
              <a:extLst>
                <a:ext uri="{FF2B5EF4-FFF2-40B4-BE49-F238E27FC236}">
                  <a16:creationId xmlns:a16="http://schemas.microsoft.com/office/drawing/2014/main" id="{AB5FD628-56D6-5F8B-A060-351005FFFD22}"/>
                </a:ext>
              </a:extLst>
            </p:cNvPr>
            <p:cNvSpPr>
              <a:spLocks noChangeArrowheads="1"/>
            </p:cNvSpPr>
            <p:nvPr/>
          </p:nvSpPr>
          <p:spPr bwMode="auto">
            <a:xfrm>
              <a:off x="4443413" y="4101332"/>
              <a:ext cx="2835275" cy="84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are present at Gemba daily for reviews</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teach at Daily Review</a:t>
              </a:r>
            </a:p>
          </p:txBody>
        </p:sp>
        <p:sp>
          <p:nvSpPr>
            <p:cNvPr id="19" name="Text Box 13">
              <a:extLst>
                <a:ext uri="{FF2B5EF4-FFF2-40B4-BE49-F238E27FC236}">
                  <a16:creationId xmlns:a16="http://schemas.microsoft.com/office/drawing/2014/main" id="{5A59EDEE-71AA-13D1-F65C-6825366BE953}"/>
                </a:ext>
              </a:extLst>
            </p:cNvPr>
            <p:cNvSpPr txBox="1">
              <a:spLocks noChangeArrowheads="1"/>
            </p:cNvSpPr>
            <p:nvPr/>
          </p:nvSpPr>
          <p:spPr bwMode="auto">
            <a:xfrm>
              <a:off x="461963" y="5334000"/>
              <a:ext cx="8237537" cy="666750"/>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Ownership of the process at both the Employee and the Leader levels </a:t>
              </a:r>
              <a:br>
                <a:rPr lang="en-US" altLang="en-US" sz="1800" b="0" i="1" dirty="0">
                  <a:latin typeface="Roboto" panose="02000000000000000000" pitchFamily="2" charset="0"/>
                  <a:ea typeface="Roboto" panose="02000000000000000000" pitchFamily="2" charset="0"/>
                </a:rPr>
              </a:br>
              <a:r>
                <a:rPr lang="en-US" altLang="en-US" sz="1800" b="0" i="1" dirty="0">
                  <a:latin typeface="Roboto" panose="02000000000000000000" pitchFamily="2" charset="0"/>
                  <a:ea typeface="Roboto" panose="02000000000000000000" pitchFamily="2" charset="0"/>
                </a:rPr>
                <a:t>ensures sustainability</a:t>
              </a:r>
              <a:endParaRPr lang="en-US" altLang="en-US" sz="1400" b="0" dirty="0">
                <a:solidFill>
                  <a:srgbClr val="000066"/>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13991481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RCCM Process at Gemba</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39</a:t>
            </a:fld>
            <a:endParaRPr lang="en-US"/>
          </a:p>
        </p:txBody>
      </p:sp>
      <p:grpSp>
        <p:nvGrpSpPr>
          <p:cNvPr id="15" name="Group 14">
            <a:extLst>
              <a:ext uri="{FF2B5EF4-FFF2-40B4-BE49-F238E27FC236}">
                <a16:creationId xmlns:a16="http://schemas.microsoft.com/office/drawing/2014/main" id="{7ABE5BA3-5B70-EC09-1C7C-59F61313CFBC}"/>
              </a:ext>
            </a:extLst>
          </p:cNvPr>
          <p:cNvGrpSpPr/>
          <p:nvPr/>
        </p:nvGrpSpPr>
        <p:grpSpPr>
          <a:xfrm>
            <a:off x="579688" y="1851660"/>
            <a:ext cx="11080240" cy="4405525"/>
            <a:chOff x="534988" y="1346200"/>
            <a:chExt cx="8195620" cy="4915309"/>
          </a:xfrm>
        </p:grpSpPr>
        <p:sp>
          <p:nvSpPr>
            <p:cNvPr id="3" name="Rectangle 74">
              <a:extLst>
                <a:ext uri="{FF2B5EF4-FFF2-40B4-BE49-F238E27FC236}">
                  <a16:creationId xmlns:a16="http://schemas.microsoft.com/office/drawing/2014/main" id="{F2929DFD-F2F2-9296-CBCF-4C0D8B9FBCA5}"/>
                </a:ext>
              </a:extLst>
            </p:cNvPr>
            <p:cNvSpPr>
              <a:spLocks noChangeArrowheads="1"/>
            </p:cNvSpPr>
            <p:nvPr/>
          </p:nvSpPr>
          <p:spPr bwMode="auto">
            <a:xfrm>
              <a:off x="766237" y="1346200"/>
              <a:ext cx="1650465" cy="381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2000" dirty="0">
                  <a:solidFill>
                    <a:srgbClr val="000000"/>
                  </a:solidFill>
                  <a:latin typeface="Roboto" panose="02000000000000000000" pitchFamily="2" charset="0"/>
                  <a:ea typeface="Roboto" panose="02000000000000000000" pitchFamily="2" charset="0"/>
                </a:rPr>
                <a:t>Standard Process</a:t>
              </a:r>
            </a:p>
          </p:txBody>
        </p:sp>
        <p:grpSp>
          <p:nvGrpSpPr>
            <p:cNvPr id="6" name="Group 14">
              <a:extLst>
                <a:ext uri="{FF2B5EF4-FFF2-40B4-BE49-F238E27FC236}">
                  <a16:creationId xmlns:a16="http://schemas.microsoft.com/office/drawing/2014/main" id="{DAFC6E40-573B-D180-C428-D0BB7E642E14}"/>
                </a:ext>
              </a:extLst>
            </p:cNvPr>
            <p:cNvGrpSpPr>
              <a:grpSpLocks/>
            </p:cNvGrpSpPr>
            <p:nvPr/>
          </p:nvGrpSpPr>
          <p:grpSpPr bwMode="auto">
            <a:xfrm>
              <a:off x="534988" y="2093913"/>
              <a:ext cx="3157537" cy="3463444"/>
              <a:chOff x="340" y="1319"/>
              <a:chExt cx="1896" cy="2315"/>
            </a:xfrm>
          </p:grpSpPr>
          <p:sp>
            <p:nvSpPr>
              <p:cNvPr id="7" name="Text Box 4">
                <a:extLst>
                  <a:ext uri="{FF2B5EF4-FFF2-40B4-BE49-F238E27FC236}">
                    <a16:creationId xmlns:a16="http://schemas.microsoft.com/office/drawing/2014/main" id="{C4DE6D60-9FB9-ACE6-9752-9F35CC043063}"/>
                  </a:ext>
                </a:extLst>
              </p:cNvPr>
              <p:cNvSpPr txBox="1">
                <a:spLocks noChangeArrowheads="1"/>
              </p:cNvSpPr>
              <p:nvPr/>
            </p:nvSpPr>
            <p:spPr bwMode="auto">
              <a:xfrm>
                <a:off x="340" y="3254"/>
                <a:ext cx="1896" cy="380"/>
              </a:xfrm>
              <a:prstGeom prst="rect">
                <a:avLst/>
              </a:prstGeom>
              <a:solidFill>
                <a:schemeClr val="accent2"/>
              </a:solidFill>
              <a:ln w="12700" cap="sq">
                <a:solidFill>
                  <a:schemeClr val="tx1"/>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500" i="1">
                    <a:latin typeface="Roboto" panose="02000000000000000000" pitchFamily="2" charset="0"/>
                    <a:ea typeface="Roboto" panose="02000000000000000000" pitchFamily="2" charset="0"/>
                  </a:rPr>
                  <a:t>Develop and Deploy CM…</a:t>
                </a:r>
              </a:p>
              <a:p>
                <a:pPr algn="ctr">
                  <a:lnSpc>
                    <a:spcPct val="80000"/>
                  </a:lnSpc>
                  <a:spcBef>
                    <a:spcPct val="20000"/>
                  </a:spcBef>
                  <a:spcAft>
                    <a:spcPct val="0"/>
                  </a:spcAft>
                  <a:buClrTx/>
                  <a:buSzTx/>
                  <a:buFontTx/>
                  <a:buNone/>
                </a:pPr>
                <a:r>
                  <a:rPr lang="en-US" altLang="en-US" sz="1500" i="1">
                    <a:latin typeface="Roboto" panose="02000000000000000000" pitchFamily="2" charset="0"/>
                    <a:ea typeface="Roboto" panose="02000000000000000000" pitchFamily="2" charset="0"/>
                  </a:rPr>
                  <a:t>Standardize to Sustain </a:t>
                </a:r>
              </a:p>
            </p:txBody>
          </p:sp>
          <p:sp>
            <p:nvSpPr>
              <p:cNvPr id="8" name="Line 5">
                <a:extLst>
                  <a:ext uri="{FF2B5EF4-FFF2-40B4-BE49-F238E27FC236}">
                    <a16:creationId xmlns:a16="http://schemas.microsoft.com/office/drawing/2014/main" id="{424B93B8-F256-7D7D-AF87-324B5EF3D12C}"/>
                  </a:ext>
                </a:extLst>
              </p:cNvPr>
              <p:cNvSpPr>
                <a:spLocks noChangeShapeType="1"/>
              </p:cNvSpPr>
              <p:nvPr/>
            </p:nvSpPr>
            <p:spPr bwMode="auto">
              <a:xfrm flipH="1">
                <a:off x="1268" y="1319"/>
                <a:ext cx="0" cy="1909"/>
              </a:xfrm>
              <a:prstGeom prst="line">
                <a:avLst/>
              </a:prstGeom>
              <a:noFill/>
              <a:ln w="57150" cap="sq">
                <a:solidFill>
                  <a:srgbClr val="000066"/>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9" name="Rectangle 6">
                <a:extLst>
                  <a:ext uri="{FF2B5EF4-FFF2-40B4-BE49-F238E27FC236}">
                    <a16:creationId xmlns:a16="http://schemas.microsoft.com/office/drawing/2014/main" id="{B6E0A07B-1B8E-5AC5-43D3-ED83AD019C5E}"/>
                  </a:ext>
                </a:extLst>
              </p:cNvPr>
              <p:cNvSpPr>
                <a:spLocks noChangeArrowheads="1"/>
              </p:cNvSpPr>
              <p:nvPr/>
            </p:nvSpPr>
            <p:spPr bwMode="auto">
              <a:xfrm>
                <a:off x="410" y="1860"/>
                <a:ext cx="1698" cy="331"/>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 Verify the problem and impact</a:t>
                </a:r>
              </a:p>
            </p:txBody>
          </p:sp>
          <p:sp>
            <p:nvSpPr>
              <p:cNvPr id="10" name="Rectangle 7">
                <a:extLst>
                  <a:ext uri="{FF2B5EF4-FFF2-40B4-BE49-F238E27FC236}">
                    <a16:creationId xmlns:a16="http://schemas.microsoft.com/office/drawing/2014/main" id="{D1FE131F-9635-CE9B-E5B2-0FCEB2CF63E6}"/>
                  </a:ext>
                </a:extLst>
              </p:cNvPr>
              <p:cNvSpPr>
                <a:spLocks noChangeArrowheads="1"/>
              </p:cNvSpPr>
              <p:nvPr/>
            </p:nvSpPr>
            <p:spPr bwMode="auto">
              <a:xfrm>
                <a:off x="410" y="2276"/>
                <a:ext cx="1698" cy="331"/>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 Put Short-term </a:t>
                </a:r>
              </a:p>
              <a:p>
                <a:pPr algn="ctr">
                  <a:lnSpc>
                    <a:spcPct val="9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 in place</a:t>
                </a:r>
              </a:p>
            </p:txBody>
          </p:sp>
          <p:sp>
            <p:nvSpPr>
              <p:cNvPr id="11" name="Rectangle 8">
                <a:extLst>
                  <a:ext uri="{FF2B5EF4-FFF2-40B4-BE49-F238E27FC236}">
                    <a16:creationId xmlns:a16="http://schemas.microsoft.com/office/drawing/2014/main" id="{078A67FC-9CC2-8AA8-1DF8-D8DE049D271C}"/>
                  </a:ext>
                </a:extLst>
              </p:cNvPr>
              <p:cNvSpPr>
                <a:spLocks noChangeArrowheads="1"/>
              </p:cNvSpPr>
              <p:nvPr/>
            </p:nvSpPr>
            <p:spPr bwMode="auto">
              <a:xfrm>
                <a:off x="410" y="2697"/>
                <a:ext cx="1698" cy="331"/>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 Find Root Cause</a:t>
                </a:r>
              </a:p>
            </p:txBody>
          </p:sp>
          <p:sp>
            <p:nvSpPr>
              <p:cNvPr id="12" name="Rectangle 9">
                <a:extLst>
                  <a:ext uri="{FF2B5EF4-FFF2-40B4-BE49-F238E27FC236}">
                    <a16:creationId xmlns:a16="http://schemas.microsoft.com/office/drawing/2014/main" id="{900C254F-CF6B-A30B-2F8C-96B8ABAFE6E5}"/>
                  </a:ext>
                </a:extLst>
              </p:cNvPr>
              <p:cNvSpPr>
                <a:spLocks noChangeArrowheads="1"/>
              </p:cNvSpPr>
              <p:nvPr/>
            </p:nvSpPr>
            <p:spPr bwMode="auto">
              <a:xfrm>
                <a:off x="415" y="1431"/>
                <a:ext cx="1698" cy="331"/>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 When a problem arises...go to</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Gemba first</a:t>
                </a:r>
              </a:p>
            </p:txBody>
          </p:sp>
        </p:grpSp>
        <p:sp>
          <p:nvSpPr>
            <p:cNvPr id="13" name="Rectangle 10">
              <a:extLst>
                <a:ext uri="{FF2B5EF4-FFF2-40B4-BE49-F238E27FC236}">
                  <a16:creationId xmlns:a16="http://schemas.microsoft.com/office/drawing/2014/main" id="{19218A8A-9F9E-B40C-2D1B-C05D02C1C7A1}"/>
                </a:ext>
              </a:extLst>
            </p:cNvPr>
            <p:cNvSpPr>
              <a:spLocks noChangeArrowheads="1"/>
            </p:cNvSpPr>
            <p:nvPr/>
          </p:nvSpPr>
          <p:spPr bwMode="auto">
            <a:xfrm>
              <a:off x="4196708" y="2509077"/>
              <a:ext cx="4533900" cy="2581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55000"/>
                </a:spcBef>
                <a:spcAft>
                  <a:spcPct val="20000"/>
                </a:spcAft>
                <a:buClr>
                  <a:schemeClr val="tx1"/>
                </a:buClr>
                <a:buFont typeface="Arial" panose="020B0604020202020204" pitchFamily="34" charset="0"/>
                <a:buChar char="•"/>
              </a:pPr>
              <a:r>
                <a:rPr lang="en-US" altLang="en-US" sz="1500" b="0" dirty="0">
                  <a:latin typeface="Roboto" panose="02000000000000000000" pitchFamily="2" charset="0"/>
                  <a:ea typeface="Roboto" panose="02000000000000000000" pitchFamily="2" charset="0"/>
                </a:rPr>
                <a:t>Go to Gemba and see how the problem is occurring…listen to employees at Gemba</a:t>
              </a:r>
            </a:p>
            <a:p>
              <a:pPr>
                <a:lnSpc>
                  <a:spcPct val="80000"/>
                </a:lnSpc>
                <a:spcBef>
                  <a:spcPct val="55000"/>
                </a:spcBef>
                <a:spcAft>
                  <a:spcPct val="20000"/>
                </a:spcAft>
                <a:buClr>
                  <a:schemeClr val="tx1"/>
                </a:buClr>
                <a:buFont typeface="Arial" panose="020B0604020202020204" pitchFamily="34" charset="0"/>
                <a:buChar char="•"/>
              </a:pPr>
              <a:r>
                <a:rPr lang="en-US" altLang="en-US" sz="1500" b="0" dirty="0">
                  <a:latin typeface="Roboto" panose="02000000000000000000" pitchFamily="2" charset="0"/>
                  <a:ea typeface="Roboto" panose="02000000000000000000" pitchFamily="2" charset="0"/>
                </a:rPr>
                <a:t>Fully understand the impact down the value stream or process</a:t>
              </a:r>
            </a:p>
            <a:p>
              <a:pPr>
                <a:lnSpc>
                  <a:spcPct val="80000"/>
                </a:lnSpc>
                <a:spcBef>
                  <a:spcPct val="55000"/>
                </a:spcBef>
                <a:spcAft>
                  <a:spcPct val="20000"/>
                </a:spcAft>
                <a:buClr>
                  <a:schemeClr val="tx1"/>
                </a:buClr>
                <a:buFont typeface="Arial" panose="020B0604020202020204" pitchFamily="34" charset="0"/>
                <a:buChar char="•"/>
              </a:pPr>
              <a:r>
                <a:rPr lang="en-US" altLang="en-US" sz="1500" b="0" dirty="0">
                  <a:latin typeface="Roboto" panose="02000000000000000000" pitchFamily="2" charset="0"/>
                  <a:ea typeface="Roboto" panose="02000000000000000000" pitchFamily="2" charset="0"/>
                </a:rPr>
                <a:t> Establish short-term CM</a:t>
              </a:r>
              <a:r>
                <a:rPr lang="ja-JP" altLang="en-US" sz="1500" b="0" dirty="0">
                  <a:latin typeface="Roboto" panose="02000000000000000000" pitchFamily="2" charset="0"/>
                </a:rPr>
                <a:t>’</a:t>
              </a:r>
              <a:r>
                <a:rPr lang="en-US" altLang="ja-JP" sz="1500" b="0" dirty="0">
                  <a:latin typeface="Roboto" panose="02000000000000000000" pitchFamily="2" charset="0"/>
                  <a:ea typeface="Roboto" panose="02000000000000000000" pitchFamily="2" charset="0"/>
                </a:rPr>
                <a:t>s with ownership of understanding the effectiveness </a:t>
              </a:r>
            </a:p>
            <a:p>
              <a:pPr>
                <a:lnSpc>
                  <a:spcPct val="80000"/>
                </a:lnSpc>
                <a:spcBef>
                  <a:spcPct val="55000"/>
                </a:spcBef>
                <a:spcAft>
                  <a:spcPct val="20000"/>
                </a:spcAft>
                <a:buClr>
                  <a:schemeClr val="tx1"/>
                </a:buClr>
                <a:buFont typeface="Arial" panose="020B0604020202020204" pitchFamily="34" charset="0"/>
                <a:buChar char="•"/>
              </a:pPr>
              <a:r>
                <a:rPr lang="en-US" altLang="en-US" sz="1500" b="0" dirty="0">
                  <a:latin typeface="Roboto" panose="02000000000000000000" pitchFamily="2" charset="0"/>
                  <a:ea typeface="Roboto" panose="02000000000000000000" pitchFamily="2" charset="0"/>
                </a:rPr>
                <a:t>Use a team effort to define Root Cause and establish Countermeasures</a:t>
              </a:r>
            </a:p>
            <a:p>
              <a:pPr>
                <a:lnSpc>
                  <a:spcPct val="80000"/>
                </a:lnSpc>
                <a:spcBef>
                  <a:spcPct val="55000"/>
                </a:spcBef>
                <a:spcAft>
                  <a:spcPct val="20000"/>
                </a:spcAft>
                <a:buClr>
                  <a:schemeClr val="tx1"/>
                </a:buClr>
                <a:buFont typeface="Arial" panose="020B0604020202020204" pitchFamily="34" charset="0"/>
                <a:buChar char="•"/>
              </a:pPr>
              <a:r>
                <a:rPr lang="en-US" altLang="en-US" sz="1500" b="0" dirty="0">
                  <a:latin typeface="Roboto" panose="02000000000000000000" pitchFamily="2" charset="0"/>
                  <a:ea typeface="Roboto" panose="02000000000000000000" pitchFamily="2" charset="0"/>
                </a:rPr>
                <a:t>Deploy CM</a:t>
              </a:r>
              <a:r>
                <a:rPr lang="ja-JP" altLang="en-US" sz="1500" b="0" dirty="0">
                  <a:latin typeface="Roboto" panose="02000000000000000000" pitchFamily="2" charset="0"/>
                </a:rPr>
                <a:t>’</a:t>
              </a:r>
              <a:r>
                <a:rPr lang="en-US" altLang="ja-JP" sz="1500" b="0" dirty="0">
                  <a:latin typeface="Roboto" panose="02000000000000000000" pitchFamily="2" charset="0"/>
                  <a:ea typeface="Roboto" panose="02000000000000000000" pitchFamily="2" charset="0"/>
                </a:rPr>
                <a:t>s and measure intensely in the shot-term  </a:t>
              </a:r>
              <a:endParaRPr lang="en-US" altLang="en-US" sz="1500" b="0" dirty="0">
                <a:latin typeface="Roboto" panose="02000000000000000000" pitchFamily="2" charset="0"/>
                <a:ea typeface="Roboto" panose="02000000000000000000" pitchFamily="2" charset="0"/>
              </a:endParaRPr>
            </a:p>
          </p:txBody>
        </p:sp>
        <p:sp>
          <p:nvSpPr>
            <p:cNvPr id="14" name="Text Box 13">
              <a:extLst>
                <a:ext uri="{FF2B5EF4-FFF2-40B4-BE49-F238E27FC236}">
                  <a16:creationId xmlns:a16="http://schemas.microsoft.com/office/drawing/2014/main" id="{4A0029E0-4FEA-3313-9E60-16E12CB7A49E}"/>
                </a:ext>
              </a:extLst>
            </p:cNvPr>
            <p:cNvSpPr txBox="1">
              <a:spLocks noChangeArrowheads="1"/>
            </p:cNvSpPr>
            <p:nvPr/>
          </p:nvSpPr>
          <p:spPr bwMode="auto">
            <a:xfrm>
              <a:off x="2090216" y="5908675"/>
              <a:ext cx="4944517" cy="352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i="1" dirty="0">
                  <a:latin typeface="Roboto" panose="02000000000000000000" pitchFamily="2" charset="0"/>
                  <a:ea typeface="Roboto" panose="02000000000000000000" pitchFamily="2" charset="0"/>
                </a:rPr>
                <a:t>Planned Culture Change Can Accelerate Business Performance </a:t>
              </a:r>
            </a:p>
          </p:txBody>
        </p:sp>
      </p:grpSp>
    </p:spTree>
    <p:extLst>
      <p:ext uri="{BB962C8B-B14F-4D97-AF65-F5344CB8AC3E}">
        <p14:creationId xmlns:p14="http://schemas.microsoft.com/office/powerpoint/2010/main" val="20153126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The Four Levers of MDPE Management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grpSp>
        <p:nvGrpSpPr>
          <p:cNvPr id="20" name="Group 19">
            <a:extLst>
              <a:ext uri="{FF2B5EF4-FFF2-40B4-BE49-F238E27FC236}">
                <a16:creationId xmlns:a16="http://schemas.microsoft.com/office/drawing/2014/main" id="{FC2500C7-D516-8BAB-0CBE-8E902264D195}"/>
              </a:ext>
            </a:extLst>
          </p:cNvPr>
          <p:cNvGrpSpPr/>
          <p:nvPr/>
        </p:nvGrpSpPr>
        <p:grpSpPr>
          <a:xfrm>
            <a:off x="1040607" y="1794510"/>
            <a:ext cx="10110787" cy="4206240"/>
            <a:chOff x="461963" y="1389063"/>
            <a:chExt cx="8302625" cy="4611687"/>
          </a:xfrm>
        </p:grpSpPr>
        <p:sp>
          <p:nvSpPr>
            <p:cNvPr id="3" name="Text Box 5">
              <a:extLst>
                <a:ext uri="{FF2B5EF4-FFF2-40B4-BE49-F238E27FC236}">
                  <a16:creationId xmlns:a16="http://schemas.microsoft.com/office/drawing/2014/main" id="{36BD2B0E-900C-D47A-81EA-891248882759}"/>
                </a:ext>
              </a:extLst>
            </p:cNvPr>
            <p:cNvSpPr txBox="1">
              <a:spLocks noChangeArrowheads="1"/>
            </p:cNvSpPr>
            <p:nvPr/>
          </p:nvSpPr>
          <p:spPr bwMode="auto">
            <a:xfrm>
              <a:off x="538163" y="1389063"/>
              <a:ext cx="8226425" cy="305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All 4 Levers are necessary to drive MDPE into an Organization</a:t>
              </a:r>
              <a:endParaRPr lang="en-US" altLang="en-US" sz="1200">
                <a:latin typeface="Roboto" panose="02000000000000000000" pitchFamily="2" charset="0"/>
                <a:ea typeface="Roboto" panose="02000000000000000000" pitchFamily="2" charset="0"/>
              </a:endParaRPr>
            </a:p>
          </p:txBody>
        </p:sp>
        <p:sp>
          <p:nvSpPr>
            <p:cNvPr id="5" name="Rectangle 6">
              <a:extLst>
                <a:ext uri="{FF2B5EF4-FFF2-40B4-BE49-F238E27FC236}">
                  <a16:creationId xmlns:a16="http://schemas.microsoft.com/office/drawing/2014/main" id="{85E30A8A-CA63-A82F-E3F3-3772CEDF5F5B}"/>
                </a:ext>
              </a:extLst>
            </p:cNvPr>
            <p:cNvSpPr>
              <a:spLocks noChangeArrowheads="1"/>
            </p:cNvSpPr>
            <p:nvPr/>
          </p:nvSpPr>
          <p:spPr bwMode="auto">
            <a:xfrm>
              <a:off x="1431925" y="1821916"/>
              <a:ext cx="2954338" cy="1681698"/>
            </a:xfrm>
            <a:prstGeom prst="rect">
              <a:avLst/>
            </a:prstGeom>
            <a:no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 name="Rectangle 7">
              <a:extLst>
                <a:ext uri="{FF2B5EF4-FFF2-40B4-BE49-F238E27FC236}">
                  <a16:creationId xmlns:a16="http://schemas.microsoft.com/office/drawing/2014/main" id="{49E82344-6F9C-FF22-C978-4636AE3B1515}"/>
                </a:ext>
              </a:extLst>
            </p:cNvPr>
            <p:cNvSpPr>
              <a:spLocks noChangeArrowheads="1"/>
            </p:cNvSpPr>
            <p:nvPr/>
          </p:nvSpPr>
          <p:spPr bwMode="auto">
            <a:xfrm>
              <a:off x="1431925" y="3500438"/>
              <a:ext cx="2959100" cy="1684268"/>
            </a:xfrm>
            <a:prstGeom prst="rect">
              <a:avLst/>
            </a:prstGeom>
            <a:no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 name="Rectangle 8">
              <a:extLst>
                <a:ext uri="{FF2B5EF4-FFF2-40B4-BE49-F238E27FC236}">
                  <a16:creationId xmlns:a16="http://schemas.microsoft.com/office/drawing/2014/main" id="{E7336D4C-7C58-F41E-F84C-DE1775FD4F09}"/>
                </a:ext>
              </a:extLst>
            </p:cNvPr>
            <p:cNvSpPr>
              <a:spLocks noChangeArrowheads="1"/>
            </p:cNvSpPr>
            <p:nvPr/>
          </p:nvSpPr>
          <p:spPr bwMode="auto">
            <a:xfrm>
              <a:off x="4383088" y="1827768"/>
              <a:ext cx="2954337" cy="1684268"/>
            </a:xfrm>
            <a:prstGeom prst="rect">
              <a:avLst/>
            </a:prstGeom>
            <a:no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8" name="Rectangle 9">
              <a:extLst>
                <a:ext uri="{FF2B5EF4-FFF2-40B4-BE49-F238E27FC236}">
                  <a16:creationId xmlns:a16="http://schemas.microsoft.com/office/drawing/2014/main" id="{1A89513E-A808-AFE4-14EB-5DF68F408459}"/>
                </a:ext>
              </a:extLst>
            </p:cNvPr>
            <p:cNvSpPr>
              <a:spLocks noChangeArrowheads="1"/>
            </p:cNvSpPr>
            <p:nvPr/>
          </p:nvSpPr>
          <p:spPr bwMode="auto">
            <a:xfrm>
              <a:off x="4383088" y="3500438"/>
              <a:ext cx="2959100" cy="1684268"/>
            </a:xfrm>
            <a:prstGeom prst="rect">
              <a:avLst/>
            </a:prstGeom>
            <a:solidFill>
              <a:schemeClr val="accent2"/>
            </a:solid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 name="Rectangle 10">
              <a:extLst>
                <a:ext uri="{FF2B5EF4-FFF2-40B4-BE49-F238E27FC236}">
                  <a16:creationId xmlns:a16="http://schemas.microsoft.com/office/drawing/2014/main" id="{FC7F7CCA-7CBD-5DEF-F2D9-E41159DC9F24}"/>
                </a:ext>
              </a:extLst>
            </p:cNvPr>
            <p:cNvSpPr>
              <a:spLocks noChangeArrowheads="1"/>
            </p:cNvSpPr>
            <p:nvPr/>
          </p:nvSpPr>
          <p:spPr bwMode="auto">
            <a:xfrm>
              <a:off x="1604963" y="1947137"/>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Manage KPI</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s at Gemba</a:t>
              </a:r>
              <a:endParaRPr lang="en-US" altLang="en-US" sz="1800" dirty="0">
                <a:solidFill>
                  <a:schemeClr val="bg1"/>
                </a:solidFill>
                <a:latin typeface="Roboto" panose="02000000000000000000" pitchFamily="2" charset="0"/>
                <a:ea typeface="Roboto" panose="02000000000000000000" pitchFamily="2" charset="0"/>
              </a:endParaRPr>
            </a:p>
          </p:txBody>
        </p:sp>
        <p:sp>
          <p:nvSpPr>
            <p:cNvPr id="10" name="Rectangle 11">
              <a:extLst>
                <a:ext uri="{FF2B5EF4-FFF2-40B4-BE49-F238E27FC236}">
                  <a16:creationId xmlns:a16="http://schemas.microsoft.com/office/drawing/2014/main" id="{C4CB74FC-08F5-7E0E-2147-01A0FC8034FD}"/>
                </a:ext>
              </a:extLst>
            </p:cNvPr>
            <p:cNvSpPr>
              <a:spLocks noChangeArrowheads="1"/>
            </p:cNvSpPr>
            <p:nvPr/>
          </p:nvSpPr>
          <p:spPr bwMode="auto">
            <a:xfrm>
              <a:off x="1598613" y="3627438"/>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RCCM</a:t>
              </a:r>
            </a:p>
          </p:txBody>
        </p:sp>
        <p:sp>
          <p:nvSpPr>
            <p:cNvPr id="11" name="Rectangle 12">
              <a:extLst>
                <a:ext uri="{FF2B5EF4-FFF2-40B4-BE49-F238E27FC236}">
                  <a16:creationId xmlns:a16="http://schemas.microsoft.com/office/drawing/2014/main" id="{7D2DAA1A-AB3F-7063-20FA-58BD81369BEE}"/>
                </a:ext>
              </a:extLst>
            </p:cNvPr>
            <p:cNvSpPr>
              <a:spLocks noChangeArrowheads="1"/>
            </p:cNvSpPr>
            <p:nvPr/>
          </p:nvSpPr>
          <p:spPr bwMode="auto">
            <a:xfrm>
              <a:off x="4556125" y="19503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Visual Management at Gemba</a:t>
              </a:r>
            </a:p>
          </p:txBody>
        </p:sp>
        <p:sp>
          <p:nvSpPr>
            <p:cNvPr id="12" name="Rectangle 13">
              <a:extLst>
                <a:ext uri="{FF2B5EF4-FFF2-40B4-BE49-F238E27FC236}">
                  <a16:creationId xmlns:a16="http://schemas.microsoft.com/office/drawing/2014/main" id="{F7C954B3-38FF-BBD0-B282-4F89BF603433}"/>
                </a:ext>
              </a:extLst>
            </p:cNvPr>
            <p:cNvSpPr>
              <a:spLocks noChangeArrowheads="1"/>
            </p:cNvSpPr>
            <p:nvPr/>
          </p:nvSpPr>
          <p:spPr bwMode="auto">
            <a:xfrm>
              <a:off x="4549775" y="36306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Level Leadership</a:t>
              </a:r>
            </a:p>
          </p:txBody>
        </p:sp>
        <p:sp>
          <p:nvSpPr>
            <p:cNvPr id="13" name="Rectangle 15">
              <a:extLst>
                <a:ext uri="{FF2B5EF4-FFF2-40B4-BE49-F238E27FC236}">
                  <a16:creationId xmlns:a16="http://schemas.microsoft.com/office/drawing/2014/main" id="{FCA10200-2B92-463C-ABFD-5B43DE260D8B}"/>
                </a:ext>
              </a:extLst>
            </p:cNvPr>
            <p:cNvSpPr>
              <a:spLocks noChangeArrowheads="1"/>
            </p:cNvSpPr>
            <p:nvPr/>
          </p:nvSpPr>
          <p:spPr bwMode="auto">
            <a:xfrm>
              <a:off x="4460875" y="2486025"/>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4" name="Rectangle 16">
              <a:extLst>
                <a:ext uri="{FF2B5EF4-FFF2-40B4-BE49-F238E27FC236}">
                  <a16:creationId xmlns:a16="http://schemas.microsoft.com/office/drawing/2014/main" id="{82715502-5137-E8A6-9503-422C7E340E81}"/>
                </a:ext>
              </a:extLst>
            </p:cNvPr>
            <p:cNvSpPr>
              <a:spLocks noChangeArrowheads="1"/>
            </p:cNvSpPr>
            <p:nvPr/>
          </p:nvSpPr>
          <p:spPr bwMode="auto">
            <a:xfrm>
              <a:off x="1495425" y="3873500"/>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5" name="Rectangle 26">
              <a:extLst>
                <a:ext uri="{FF2B5EF4-FFF2-40B4-BE49-F238E27FC236}">
                  <a16:creationId xmlns:a16="http://schemas.microsoft.com/office/drawing/2014/main" id="{E83B3FE0-2197-DAE4-B902-D6F56239FBB5}"/>
                </a:ext>
              </a:extLst>
            </p:cNvPr>
            <p:cNvSpPr>
              <a:spLocks noChangeArrowheads="1"/>
            </p:cNvSpPr>
            <p:nvPr/>
          </p:nvSpPr>
          <p:spPr bwMode="auto">
            <a:xfrm>
              <a:off x="1627188" y="2421032"/>
              <a:ext cx="2530475"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understand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calculate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review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endParaRPr lang="en-US" altLang="en-US" sz="1400" b="0" dirty="0">
                <a:latin typeface="Roboto" panose="02000000000000000000" pitchFamily="2" charset="0"/>
                <a:ea typeface="Roboto" panose="02000000000000000000" pitchFamily="2" charset="0"/>
              </a:endParaRPr>
            </a:p>
          </p:txBody>
        </p:sp>
        <p:sp>
          <p:nvSpPr>
            <p:cNvPr id="16" name="Rectangle 27">
              <a:extLst>
                <a:ext uri="{FF2B5EF4-FFF2-40B4-BE49-F238E27FC236}">
                  <a16:creationId xmlns:a16="http://schemas.microsoft.com/office/drawing/2014/main" id="{5D2E9B81-EE09-3D54-6180-BB994994D7AB}"/>
                </a:ext>
              </a:extLst>
            </p:cNvPr>
            <p:cNvSpPr>
              <a:spLocks noChangeArrowheads="1"/>
            </p:cNvSpPr>
            <p:nvPr/>
          </p:nvSpPr>
          <p:spPr bwMode="auto">
            <a:xfrm>
              <a:off x="4565650" y="2427382"/>
              <a:ext cx="2617788"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Visual Board at Gemba</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Performance to Daily Plan</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Standard format throughout </a:t>
              </a:r>
            </a:p>
          </p:txBody>
        </p:sp>
        <p:sp>
          <p:nvSpPr>
            <p:cNvPr id="17" name="Rectangle 29">
              <a:extLst>
                <a:ext uri="{FF2B5EF4-FFF2-40B4-BE49-F238E27FC236}">
                  <a16:creationId xmlns:a16="http://schemas.microsoft.com/office/drawing/2014/main" id="{C0BD11FE-5C8E-04F0-2B6A-FE1ABAAE4BE8}"/>
                </a:ext>
              </a:extLst>
            </p:cNvPr>
            <p:cNvSpPr>
              <a:spLocks noChangeArrowheads="1"/>
            </p:cNvSpPr>
            <p:nvPr/>
          </p:nvSpPr>
          <p:spPr bwMode="auto">
            <a:xfrm>
              <a:off x="1533525" y="4079107"/>
              <a:ext cx="2689225" cy="107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trained in Problem Solving</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Both Root Cause and Countermeasure are tracked</a:t>
              </a:r>
            </a:p>
          </p:txBody>
        </p:sp>
        <p:sp>
          <p:nvSpPr>
            <p:cNvPr id="18" name="Rectangle 30">
              <a:extLst>
                <a:ext uri="{FF2B5EF4-FFF2-40B4-BE49-F238E27FC236}">
                  <a16:creationId xmlns:a16="http://schemas.microsoft.com/office/drawing/2014/main" id="{AB5FD628-56D6-5F8B-A060-351005FFFD22}"/>
                </a:ext>
              </a:extLst>
            </p:cNvPr>
            <p:cNvSpPr>
              <a:spLocks noChangeArrowheads="1"/>
            </p:cNvSpPr>
            <p:nvPr/>
          </p:nvSpPr>
          <p:spPr bwMode="auto">
            <a:xfrm>
              <a:off x="4443413" y="4101332"/>
              <a:ext cx="2835275" cy="84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are present at Gemba daily for reviews</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teach at Daily Review</a:t>
              </a:r>
            </a:p>
          </p:txBody>
        </p:sp>
        <p:sp>
          <p:nvSpPr>
            <p:cNvPr id="19" name="Text Box 13">
              <a:extLst>
                <a:ext uri="{FF2B5EF4-FFF2-40B4-BE49-F238E27FC236}">
                  <a16:creationId xmlns:a16="http://schemas.microsoft.com/office/drawing/2014/main" id="{5A59EDEE-71AA-13D1-F65C-6825366BE953}"/>
                </a:ext>
              </a:extLst>
            </p:cNvPr>
            <p:cNvSpPr txBox="1">
              <a:spLocks noChangeArrowheads="1"/>
            </p:cNvSpPr>
            <p:nvPr/>
          </p:nvSpPr>
          <p:spPr bwMode="auto">
            <a:xfrm>
              <a:off x="461963" y="5334000"/>
              <a:ext cx="8237537" cy="666750"/>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Ownership of the process at both the Employee and the Leader levels </a:t>
              </a:r>
              <a:br>
                <a:rPr lang="en-US" altLang="en-US" sz="1800" b="0" i="1" dirty="0">
                  <a:latin typeface="Roboto" panose="02000000000000000000" pitchFamily="2" charset="0"/>
                  <a:ea typeface="Roboto" panose="02000000000000000000" pitchFamily="2" charset="0"/>
                </a:rPr>
              </a:br>
              <a:r>
                <a:rPr lang="en-US" altLang="en-US" sz="1800" b="0" i="1" dirty="0">
                  <a:latin typeface="Roboto" panose="02000000000000000000" pitchFamily="2" charset="0"/>
                  <a:ea typeface="Roboto" panose="02000000000000000000" pitchFamily="2" charset="0"/>
                </a:rPr>
                <a:t>ensures sustainability</a:t>
              </a:r>
              <a:endParaRPr lang="en-US" altLang="en-US" sz="1400" b="0" dirty="0">
                <a:solidFill>
                  <a:srgbClr val="000066"/>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42035000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Core MDPE Leadership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grpSp>
        <p:nvGrpSpPr>
          <p:cNvPr id="49" name="Group 48">
            <a:extLst>
              <a:ext uri="{FF2B5EF4-FFF2-40B4-BE49-F238E27FC236}">
                <a16:creationId xmlns:a16="http://schemas.microsoft.com/office/drawing/2014/main" id="{4759224A-F74E-C347-4125-CB8BB75BA05C}"/>
              </a:ext>
            </a:extLst>
          </p:cNvPr>
          <p:cNvGrpSpPr/>
          <p:nvPr/>
        </p:nvGrpSpPr>
        <p:grpSpPr>
          <a:xfrm>
            <a:off x="1341121" y="2000250"/>
            <a:ext cx="9509759" cy="4331437"/>
            <a:chOff x="1764665" y="1848168"/>
            <a:chExt cx="8293100" cy="4710087"/>
          </a:xfrm>
        </p:grpSpPr>
        <p:sp>
          <p:nvSpPr>
            <p:cNvPr id="35" name="Rectangle 2">
              <a:extLst>
                <a:ext uri="{FF2B5EF4-FFF2-40B4-BE49-F238E27FC236}">
                  <a16:creationId xmlns:a16="http://schemas.microsoft.com/office/drawing/2014/main" id="{3A8BF6AF-E261-3042-E1EE-2DC55B409A09}"/>
                </a:ext>
              </a:extLst>
            </p:cNvPr>
            <p:cNvSpPr>
              <a:spLocks noChangeArrowheads="1"/>
            </p:cNvSpPr>
            <p:nvPr/>
          </p:nvSpPr>
          <p:spPr bwMode="auto">
            <a:xfrm>
              <a:off x="2833053" y="5470843"/>
              <a:ext cx="6303962" cy="1087412"/>
            </a:xfrm>
            <a:prstGeom prst="rect">
              <a:avLst/>
            </a:prstGeom>
            <a:solidFill>
              <a:srgbClr val="EAEAEA"/>
            </a:solidFill>
            <a:ln w="19050">
              <a:solidFill>
                <a:schemeClr val="tx1"/>
              </a:solidFill>
              <a:prstDash val="sysDot"/>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endParaRPr lang="en-US" altLang="en-US" sz="1800">
                <a:latin typeface="Roboto" panose="02000000000000000000" pitchFamily="2" charset="0"/>
                <a:ea typeface="Roboto" panose="02000000000000000000" pitchFamily="2" charset="0"/>
              </a:endParaRPr>
            </a:p>
          </p:txBody>
        </p:sp>
        <p:sp>
          <p:nvSpPr>
            <p:cNvPr id="36" name="Rectangle 3">
              <a:extLst>
                <a:ext uri="{FF2B5EF4-FFF2-40B4-BE49-F238E27FC236}">
                  <a16:creationId xmlns:a16="http://schemas.microsoft.com/office/drawing/2014/main" id="{239DD38C-7736-3268-4224-6E2322FBA102}"/>
                </a:ext>
              </a:extLst>
            </p:cNvPr>
            <p:cNvSpPr>
              <a:spLocks noChangeArrowheads="1"/>
            </p:cNvSpPr>
            <p:nvPr/>
          </p:nvSpPr>
          <p:spPr bwMode="auto">
            <a:xfrm>
              <a:off x="2018665" y="2243454"/>
              <a:ext cx="1719263" cy="693609"/>
            </a:xfrm>
            <a:prstGeom prst="rect">
              <a:avLst/>
            </a:prstGeom>
            <a:solidFill>
              <a:schemeClr val="accent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Define Winning</a:t>
              </a:r>
            </a:p>
          </p:txBody>
        </p:sp>
        <p:sp>
          <p:nvSpPr>
            <p:cNvPr id="37" name="Rectangle 4">
              <a:extLst>
                <a:ext uri="{FF2B5EF4-FFF2-40B4-BE49-F238E27FC236}">
                  <a16:creationId xmlns:a16="http://schemas.microsoft.com/office/drawing/2014/main" id="{E29FA701-B057-90DB-44FF-81CC20B6B575}"/>
                </a:ext>
              </a:extLst>
            </p:cNvPr>
            <p:cNvSpPr>
              <a:spLocks noChangeArrowheads="1"/>
            </p:cNvSpPr>
            <p:nvPr/>
          </p:nvSpPr>
          <p:spPr bwMode="auto">
            <a:xfrm>
              <a:off x="4006215" y="2243454"/>
              <a:ext cx="1719263" cy="693609"/>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Set People Up to Win</a:t>
              </a:r>
            </a:p>
          </p:txBody>
        </p:sp>
        <p:sp>
          <p:nvSpPr>
            <p:cNvPr id="38" name="Rectangle 5">
              <a:extLst>
                <a:ext uri="{FF2B5EF4-FFF2-40B4-BE49-F238E27FC236}">
                  <a16:creationId xmlns:a16="http://schemas.microsoft.com/office/drawing/2014/main" id="{008EB0FC-17F3-60F3-EDBE-F570ABB9A9AA}"/>
                </a:ext>
              </a:extLst>
            </p:cNvPr>
            <p:cNvSpPr>
              <a:spLocks noChangeArrowheads="1"/>
            </p:cNvSpPr>
            <p:nvPr/>
          </p:nvSpPr>
          <p:spPr bwMode="auto">
            <a:xfrm>
              <a:off x="6052503" y="2257743"/>
              <a:ext cx="1719262" cy="629511"/>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Uphold the Parameters</a:t>
              </a:r>
            </a:p>
          </p:txBody>
        </p:sp>
        <p:sp>
          <p:nvSpPr>
            <p:cNvPr id="39" name="Rectangle 6">
              <a:extLst>
                <a:ext uri="{FF2B5EF4-FFF2-40B4-BE49-F238E27FC236}">
                  <a16:creationId xmlns:a16="http://schemas.microsoft.com/office/drawing/2014/main" id="{965926D6-0EF5-8745-997F-2FA79E09A123}"/>
                </a:ext>
              </a:extLst>
            </p:cNvPr>
            <p:cNvSpPr>
              <a:spLocks noChangeArrowheads="1"/>
            </p:cNvSpPr>
            <p:nvPr/>
          </p:nvSpPr>
          <p:spPr bwMode="auto">
            <a:xfrm>
              <a:off x="8071803" y="2272029"/>
              <a:ext cx="1719262" cy="6112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Lean is the only  option</a:t>
              </a:r>
            </a:p>
          </p:txBody>
        </p:sp>
        <p:sp>
          <p:nvSpPr>
            <p:cNvPr id="40" name="Rectangle 7">
              <a:extLst>
                <a:ext uri="{FF2B5EF4-FFF2-40B4-BE49-F238E27FC236}">
                  <a16:creationId xmlns:a16="http://schemas.microsoft.com/office/drawing/2014/main" id="{7B0BC92F-D213-E1D8-EFBA-195E1F5924FE}"/>
                </a:ext>
              </a:extLst>
            </p:cNvPr>
            <p:cNvSpPr>
              <a:spLocks noChangeArrowheads="1"/>
            </p:cNvSpPr>
            <p:nvPr/>
          </p:nvSpPr>
          <p:spPr bwMode="auto">
            <a:xfrm>
              <a:off x="1964690" y="3007043"/>
              <a:ext cx="7818438" cy="2339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Set expectations</a:t>
              </a:r>
            </a:p>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Make it clear what  Winning looks like</a:t>
              </a:r>
            </a:p>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Make it clear what Losing looks like</a:t>
              </a:r>
            </a:p>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Only define expectations that you are serious about</a:t>
              </a:r>
            </a:p>
          </p:txBody>
        </p:sp>
        <p:cxnSp>
          <p:nvCxnSpPr>
            <p:cNvPr id="41" name="AutoShape 11">
              <a:extLst>
                <a:ext uri="{FF2B5EF4-FFF2-40B4-BE49-F238E27FC236}">
                  <a16:creationId xmlns:a16="http://schemas.microsoft.com/office/drawing/2014/main" id="{A2D8D918-F96F-3275-847A-CD40E60B08EE}"/>
                </a:ext>
              </a:extLst>
            </p:cNvPr>
            <p:cNvCxnSpPr>
              <a:cxnSpLocks noChangeShapeType="1"/>
              <a:stCxn id="36" idx="3"/>
              <a:endCxn id="37" idx="1"/>
            </p:cNvCxnSpPr>
            <p:nvPr/>
          </p:nvCxnSpPr>
          <p:spPr bwMode="auto">
            <a:xfrm>
              <a:off x="3737929" y="2590259"/>
              <a:ext cx="268286"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2" name="AutoShape 12">
              <a:extLst>
                <a:ext uri="{FF2B5EF4-FFF2-40B4-BE49-F238E27FC236}">
                  <a16:creationId xmlns:a16="http://schemas.microsoft.com/office/drawing/2014/main" id="{70A8817B-48D0-B799-E297-12D4518672E3}"/>
                </a:ext>
              </a:extLst>
            </p:cNvPr>
            <p:cNvCxnSpPr>
              <a:cxnSpLocks noChangeShapeType="1"/>
              <a:stCxn id="37" idx="3"/>
              <a:endCxn id="38" idx="1"/>
            </p:cNvCxnSpPr>
            <p:nvPr/>
          </p:nvCxnSpPr>
          <p:spPr bwMode="auto">
            <a:xfrm flipV="1">
              <a:off x="5725478" y="2572499"/>
              <a:ext cx="327024" cy="1776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3" name="AutoShape 13">
              <a:extLst>
                <a:ext uri="{FF2B5EF4-FFF2-40B4-BE49-F238E27FC236}">
                  <a16:creationId xmlns:a16="http://schemas.microsoft.com/office/drawing/2014/main" id="{04D3F4EB-0B91-99CF-337E-EC9C3B224566}"/>
                </a:ext>
              </a:extLst>
            </p:cNvPr>
            <p:cNvCxnSpPr>
              <a:cxnSpLocks noChangeShapeType="1"/>
              <a:stCxn id="38" idx="3"/>
              <a:endCxn id="39" idx="1"/>
            </p:cNvCxnSpPr>
            <p:nvPr/>
          </p:nvCxnSpPr>
          <p:spPr bwMode="auto">
            <a:xfrm>
              <a:off x="7771764" y="2572499"/>
              <a:ext cx="300039" cy="513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4" name="AutoShape 14">
              <a:extLst>
                <a:ext uri="{FF2B5EF4-FFF2-40B4-BE49-F238E27FC236}">
                  <a16:creationId xmlns:a16="http://schemas.microsoft.com/office/drawing/2014/main" id="{BF09E1FF-5C72-8AC6-2095-AB7192DDC2B5}"/>
                </a:ext>
              </a:extLst>
            </p:cNvPr>
            <p:cNvCxnSpPr>
              <a:cxnSpLocks noChangeShapeType="1"/>
              <a:stCxn id="36" idx="1"/>
              <a:endCxn id="35" idx="1"/>
            </p:cNvCxnSpPr>
            <p:nvPr/>
          </p:nvCxnSpPr>
          <p:spPr bwMode="auto">
            <a:xfrm rot="10800000" flipH="1" flipV="1">
              <a:off x="2018665" y="2590258"/>
              <a:ext cx="814387" cy="3424290"/>
            </a:xfrm>
            <a:prstGeom prst="bentConnector3">
              <a:avLst>
                <a:gd name="adj1" fmla="val -2447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5" name="AutoShape 15">
              <a:extLst>
                <a:ext uri="{FF2B5EF4-FFF2-40B4-BE49-F238E27FC236}">
                  <a16:creationId xmlns:a16="http://schemas.microsoft.com/office/drawing/2014/main" id="{4B8F26DE-F856-C47D-5AE4-6CE460081BFC}"/>
                </a:ext>
              </a:extLst>
            </p:cNvPr>
            <p:cNvCxnSpPr>
              <a:cxnSpLocks noChangeShapeType="1"/>
              <a:stCxn id="39" idx="3"/>
              <a:endCxn id="35" idx="3"/>
            </p:cNvCxnSpPr>
            <p:nvPr/>
          </p:nvCxnSpPr>
          <p:spPr bwMode="auto">
            <a:xfrm flipH="1">
              <a:off x="9137015" y="2577629"/>
              <a:ext cx="654050" cy="3436919"/>
            </a:xfrm>
            <a:prstGeom prst="bentConnector3">
              <a:avLst>
                <a:gd name="adj1" fmla="val -3048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6" name="Rectangle 25">
              <a:extLst>
                <a:ext uri="{FF2B5EF4-FFF2-40B4-BE49-F238E27FC236}">
                  <a16:creationId xmlns:a16="http://schemas.microsoft.com/office/drawing/2014/main" id="{A2AB2FFF-2FB0-D0C8-02CF-142C69BB4D8E}"/>
                </a:ext>
              </a:extLst>
            </p:cNvPr>
            <p:cNvSpPr>
              <a:spLocks noChangeArrowheads="1"/>
            </p:cNvSpPr>
            <p:nvPr/>
          </p:nvSpPr>
          <p:spPr bwMode="auto">
            <a:xfrm>
              <a:off x="4803140" y="5502593"/>
              <a:ext cx="3900488" cy="1003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Uses 5 Whys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Is Data Driven</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Expects stretch results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Teaches Lean Tools</a:t>
              </a:r>
            </a:p>
          </p:txBody>
        </p:sp>
        <p:sp>
          <p:nvSpPr>
            <p:cNvPr id="47" name="Text Box 27">
              <a:extLst>
                <a:ext uri="{FF2B5EF4-FFF2-40B4-BE49-F238E27FC236}">
                  <a16:creationId xmlns:a16="http://schemas.microsoft.com/office/drawing/2014/main" id="{25EF78B7-BBF8-98F7-0209-EFC6475D3D8A}"/>
                </a:ext>
              </a:extLst>
            </p:cNvPr>
            <p:cNvSpPr txBox="1">
              <a:spLocks noChangeArrowheads="1"/>
            </p:cNvSpPr>
            <p:nvPr/>
          </p:nvSpPr>
          <p:spPr bwMode="auto">
            <a:xfrm>
              <a:off x="2882265" y="5770880"/>
              <a:ext cx="1751013" cy="47720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MDPE Leadership Style</a:t>
              </a:r>
            </a:p>
          </p:txBody>
        </p:sp>
        <p:sp>
          <p:nvSpPr>
            <p:cNvPr id="48" name="Rectangle 30">
              <a:extLst>
                <a:ext uri="{FF2B5EF4-FFF2-40B4-BE49-F238E27FC236}">
                  <a16:creationId xmlns:a16="http://schemas.microsoft.com/office/drawing/2014/main" id="{F37C6292-22B2-F046-EF4A-9898C5546874}"/>
                </a:ext>
              </a:extLst>
            </p:cNvPr>
            <p:cNvSpPr>
              <a:spLocks noChangeArrowheads="1"/>
            </p:cNvSpPr>
            <p:nvPr/>
          </p:nvSpPr>
          <p:spPr bwMode="auto">
            <a:xfrm>
              <a:off x="1764665" y="1848168"/>
              <a:ext cx="8293100" cy="34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Aft>
                  <a:spcPct val="0"/>
                </a:spcAft>
                <a:buClrTx/>
                <a:buSzTx/>
                <a:buFontTx/>
                <a:buNone/>
              </a:pPr>
              <a:r>
                <a:rPr lang="en-US" altLang="en-US" sz="1800">
                  <a:latin typeface="Roboto" panose="02000000000000000000" pitchFamily="2" charset="0"/>
                  <a:ea typeface="Roboto" panose="02000000000000000000" pitchFamily="2" charset="0"/>
                </a:rPr>
                <a:t>How to drive performance using MDPE</a:t>
              </a:r>
            </a:p>
          </p:txBody>
        </p:sp>
      </p:grpSp>
    </p:spTree>
    <p:extLst>
      <p:ext uri="{BB962C8B-B14F-4D97-AF65-F5344CB8AC3E}">
        <p14:creationId xmlns:p14="http://schemas.microsoft.com/office/powerpoint/2010/main" val="15171185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Core MDPE Leadership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42</a:t>
            </a:fld>
            <a:endParaRPr lang="en-US"/>
          </a:p>
        </p:txBody>
      </p:sp>
      <p:grpSp>
        <p:nvGrpSpPr>
          <p:cNvPr id="49" name="Group 48">
            <a:extLst>
              <a:ext uri="{FF2B5EF4-FFF2-40B4-BE49-F238E27FC236}">
                <a16:creationId xmlns:a16="http://schemas.microsoft.com/office/drawing/2014/main" id="{4759224A-F74E-C347-4125-CB8BB75BA05C}"/>
              </a:ext>
            </a:extLst>
          </p:cNvPr>
          <p:cNvGrpSpPr/>
          <p:nvPr/>
        </p:nvGrpSpPr>
        <p:grpSpPr>
          <a:xfrm>
            <a:off x="1341121" y="2000250"/>
            <a:ext cx="9509759" cy="4331437"/>
            <a:chOff x="1764665" y="1848168"/>
            <a:chExt cx="8293100" cy="4710087"/>
          </a:xfrm>
        </p:grpSpPr>
        <p:sp>
          <p:nvSpPr>
            <p:cNvPr id="35" name="Rectangle 2">
              <a:extLst>
                <a:ext uri="{FF2B5EF4-FFF2-40B4-BE49-F238E27FC236}">
                  <a16:creationId xmlns:a16="http://schemas.microsoft.com/office/drawing/2014/main" id="{3A8BF6AF-E261-3042-E1EE-2DC55B409A09}"/>
                </a:ext>
              </a:extLst>
            </p:cNvPr>
            <p:cNvSpPr>
              <a:spLocks noChangeArrowheads="1"/>
            </p:cNvSpPr>
            <p:nvPr/>
          </p:nvSpPr>
          <p:spPr bwMode="auto">
            <a:xfrm>
              <a:off x="2833053" y="5470843"/>
              <a:ext cx="6303962" cy="1087412"/>
            </a:xfrm>
            <a:prstGeom prst="rect">
              <a:avLst/>
            </a:prstGeom>
            <a:solidFill>
              <a:srgbClr val="EAEAEA"/>
            </a:solidFill>
            <a:ln w="19050">
              <a:solidFill>
                <a:schemeClr val="tx1"/>
              </a:solidFill>
              <a:prstDash val="sysDot"/>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endParaRPr lang="en-US" altLang="en-US" sz="1800">
                <a:latin typeface="Roboto" panose="02000000000000000000" pitchFamily="2" charset="0"/>
                <a:ea typeface="Roboto" panose="02000000000000000000" pitchFamily="2" charset="0"/>
              </a:endParaRPr>
            </a:p>
          </p:txBody>
        </p:sp>
        <p:sp>
          <p:nvSpPr>
            <p:cNvPr id="36" name="Rectangle 3">
              <a:extLst>
                <a:ext uri="{FF2B5EF4-FFF2-40B4-BE49-F238E27FC236}">
                  <a16:creationId xmlns:a16="http://schemas.microsoft.com/office/drawing/2014/main" id="{239DD38C-7736-3268-4224-6E2322FBA102}"/>
                </a:ext>
              </a:extLst>
            </p:cNvPr>
            <p:cNvSpPr>
              <a:spLocks noChangeArrowheads="1"/>
            </p:cNvSpPr>
            <p:nvPr/>
          </p:nvSpPr>
          <p:spPr bwMode="auto">
            <a:xfrm>
              <a:off x="2018665" y="2243454"/>
              <a:ext cx="1719263" cy="693609"/>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Define Winning</a:t>
              </a:r>
            </a:p>
          </p:txBody>
        </p:sp>
        <p:sp>
          <p:nvSpPr>
            <p:cNvPr id="37" name="Rectangle 4">
              <a:extLst>
                <a:ext uri="{FF2B5EF4-FFF2-40B4-BE49-F238E27FC236}">
                  <a16:creationId xmlns:a16="http://schemas.microsoft.com/office/drawing/2014/main" id="{E29FA701-B057-90DB-44FF-81CC20B6B575}"/>
                </a:ext>
              </a:extLst>
            </p:cNvPr>
            <p:cNvSpPr>
              <a:spLocks noChangeArrowheads="1"/>
            </p:cNvSpPr>
            <p:nvPr/>
          </p:nvSpPr>
          <p:spPr bwMode="auto">
            <a:xfrm>
              <a:off x="4006215" y="2243454"/>
              <a:ext cx="1719263" cy="693609"/>
            </a:xfrm>
            <a:prstGeom prst="rect">
              <a:avLst/>
            </a:prstGeom>
            <a:solidFill>
              <a:schemeClr val="accent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Set People Up to Win</a:t>
              </a:r>
            </a:p>
          </p:txBody>
        </p:sp>
        <p:sp>
          <p:nvSpPr>
            <p:cNvPr id="38" name="Rectangle 5">
              <a:extLst>
                <a:ext uri="{FF2B5EF4-FFF2-40B4-BE49-F238E27FC236}">
                  <a16:creationId xmlns:a16="http://schemas.microsoft.com/office/drawing/2014/main" id="{008EB0FC-17F3-60F3-EDBE-F570ABB9A9AA}"/>
                </a:ext>
              </a:extLst>
            </p:cNvPr>
            <p:cNvSpPr>
              <a:spLocks noChangeArrowheads="1"/>
            </p:cNvSpPr>
            <p:nvPr/>
          </p:nvSpPr>
          <p:spPr bwMode="auto">
            <a:xfrm>
              <a:off x="6052503" y="2257743"/>
              <a:ext cx="1719262" cy="629511"/>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Uphold the Parameters</a:t>
              </a:r>
            </a:p>
          </p:txBody>
        </p:sp>
        <p:sp>
          <p:nvSpPr>
            <p:cNvPr id="39" name="Rectangle 6">
              <a:extLst>
                <a:ext uri="{FF2B5EF4-FFF2-40B4-BE49-F238E27FC236}">
                  <a16:creationId xmlns:a16="http://schemas.microsoft.com/office/drawing/2014/main" id="{965926D6-0EF5-8745-997F-2FA79E09A123}"/>
                </a:ext>
              </a:extLst>
            </p:cNvPr>
            <p:cNvSpPr>
              <a:spLocks noChangeArrowheads="1"/>
            </p:cNvSpPr>
            <p:nvPr/>
          </p:nvSpPr>
          <p:spPr bwMode="auto">
            <a:xfrm>
              <a:off x="8071803" y="2272029"/>
              <a:ext cx="1719262" cy="6112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Lean is the only  option</a:t>
              </a:r>
            </a:p>
          </p:txBody>
        </p:sp>
        <p:sp>
          <p:nvSpPr>
            <p:cNvPr id="40" name="Rectangle 7">
              <a:extLst>
                <a:ext uri="{FF2B5EF4-FFF2-40B4-BE49-F238E27FC236}">
                  <a16:creationId xmlns:a16="http://schemas.microsoft.com/office/drawing/2014/main" id="{7B0BC92F-D213-E1D8-EFBA-195E1F5924FE}"/>
                </a:ext>
              </a:extLst>
            </p:cNvPr>
            <p:cNvSpPr>
              <a:spLocks noChangeArrowheads="1"/>
            </p:cNvSpPr>
            <p:nvPr/>
          </p:nvSpPr>
          <p:spPr bwMode="auto">
            <a:xfrm>
              <a:off x="1964690" y="3007043"/>
              <a:ext cx="7818438" cy="2339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Are they set up with the right resources, people, time, dollars, capital?</a:t>
              </a:r>
            </a:p>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Do people know what you think of their work?</a:t>
              </a:r>
            </a:p>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How do you communicate to them?</a:t>
              </a:r>
            </a:p>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How do you manage with positive expectancy?</a:t>
              </a:r>
            </a:p>
          </p:txBody>
        </p:sp>
        <p:cxnSp>
          <p:nvCxnSpPr>
            <p:cNvPr id="41" name="AutoShape 11">
              <a:extLst>
                <a:ext uri="{FF2B5EF4-FFF2-40B4-BE49-F238E27FC236}">
                  <a16:creationId xmlns:a16="http://schemas.microsoft.com/office/drawing/2014/main" id="{A2D8D918-F96F-3275-847A-CD40E60B08EE}"/>
                </a:ext>
              </a:extLst>
            </p:cNvPr>
            <p:cNvCxnSpPr>
              <a:cxnSpLocks noChangeShapeType="1"/>
              <a:stCxn id="36" idx="3"/>
              <a:endCxn id="37" idx="1"/>
            </p:cNvCxnSpPr>
            <p:nvPr/>
          </p:nvCxnSpPr>
          <p:spPr bwMode="auto">
            <a:xfrm>
              <a:off x="3737929" y="2590259"/>
              <a:ext cx="268286"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2" name="AutoShape 12">
              <a:extLst>
                <a:ext uri="{FF2B5EF4-FFF2-40B4-BE49-F238E27FC236}">
                  <a16:creationId xmlns:a16="http://schemas.microsoft.com/office/drawing/2014/main" id="{70A8817B-48D0-B799-E297-12D4518672E3}"/>
                </a:ext>
              </a:extLst>
            </p:cNvPr>
            <p:cNvCxnSpPr>
              <a:cxnSpLocks noChangeShapeType="1"/>
              <a:stCxn id="37" idx="3"/>
              <a:endCxn id="38" idx="1"/>
            </p:cNvCxnSpPr>
            <p:nvPr/>
          </p:nvCxnSpPr>
          <p:spPr bwMode="auto">
            <a:xfrm flipV="1">
              <a:off x="5725478" y="2572499"/>
              <a:ext cx="327024" cy="1776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3" name="AutoShape 13">
              <a:extLst>
                <a:ext uri="{FF2B5EF4-FFF2-40B4-BE49-F238E27FC236}">
                  <a16:creationId xmlns:a16="http://schemas.microsoft.com/office/drawing/2014/main" id="{04D3F4EB-0B91-99CF-337E-EC9C3B224566}"/>
                </a:ext>
              </a:extLst>
            </p:cNvPr>
            <p:cNvCxnSpPr>
              <a:cxnSpLocks noChangeShapeType="1"/>
              <a:stCxn id="38" idx="3"/>
              <a:endCxn id="39" idx="1"/>
            </p:cNvCxnSpPr>
            <p:nvPr/>
          </p:nvCxnSpPr>
          <p:spPr bwMode="auto">
            <a:xfrm>
              <a:off x="7771764" y="2572499"/>
              <a:ext cx="300039" cy="513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4" name="AutoShape 14">
              <a:extLst>
                <a:ext uri="{FF2B5EF4-FFF2-40B4-BE49-F238E27FC236}">
                  <a16:creationId xmlns:a16="http://schemas.microsoft.com/office/drawing/2014/main" id="{BF09E1FF-5C72-8AC6-2095-AB7192DDC2B5}"/>
                </a:ext>
              </a:extLst>
            </p:cNvPr>
            <p:cNvCxnSpPr>
              <a:cxnSpLocks noChangeShapeType="1"/>
              <a:stCxn id="36" idx="1"/>
              <a:endCxn id="35" idx="1"/>
            </p:cNvCxnSpPr>
            <p:nvPr/>
          </p:nvCxnSpPr>
          <p:spPr bwMode="auto">
            <a:xfrm rot="10800000" flipH="1" flipV="1">
              <a:off x="2018665" y="2590258"/>
              <a:ext cx="814387" cy="3424290"/>
            </a:xfrm>
            <a:prstGeom prst="bentConnector3">
              <a:avLst>
                <a:gd name="adj1" fmla="val -2447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5" name="AutoShape 15">
              <a:extLst>
                <a:ext uri="{FF2B5EF4-FFF2-40B4-BE49-F238E27FC236}">
                  <a16:creationId xmlns:a16="http://schemas.microsoft.com/office/drawing/2014/main" id="{4B8F26DE-F856-C47D-5AE4-6CE460081BFC}"/>
                </a:ext>
              </a:extLst>
            </p:cNvPr>
            <p:cNvCxnSpPr>
              <a:cxnSpLocks noChangeShapeType="1"/>
              <a:stCxn id="39" idx="3"/>
              <a:endCxn id="35" idx="3"/>
            </p:cNvCxnSpPr>
            <p:nvPr/>
          </p:nvCxnSpPr>
          <p:spPr bwMode="auto">
            <a:xfrm flipH="1">
              <a:off x="9137015" y="2577629"/>
              <a:ext cx="654050" cy="3436919"/>
            </a:xfrm>
            <a:prstGeom prst="bentConnector3">
              <a:avLst>
                <a:gd name="adj1" fmla="val -3048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6" name="Rectangle 25">
              <a:extLst>
                <a:ext uri="{FF2B5EF4-FFF2-40B4-BE49-F238E27FC236}">
                  <a16:creationId xmlns:a16="http://schemas.microsoft.com/office/drawing/2014/main" id="{A2AB2FFF-2FB0-D0C8-02CF-142C69BB4D8E}"/>
                </a:ext>
              </a:extLst>
            </p:cNvPr>
            <p:cNvSpPr>
              <a:spLocks noChangeArrowheads="1"/>
            </p:cNvSpPr>
            <p:nvPr/>
          </p:nvSpPr>
          <p:spPr bwMode="auto">
            <a:xfrm>
              <a:off x="4803140" y="5502593"/>
              <a:ext cx="3900488" cy="1003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Uses 5 Whys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Is Data Driven</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Expects stretch results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Teaches Lean Tools</a:t>
              </a:r>
            </a:p>
          </p:txBody>
        </p:sp>
        <p:sp>
          <p:nvSpPr>
            <p:cNvPr id="47" name="Text Box 27">
              <a:extLst>
                <a:ext uri="{FF2B5EF4-FFF2-40B4-BE49-F238E27FC236}">
                  <a16:creationId xmlns:a16="http://schemas.microsoft.com/office/drawing/2014/main" id="{25EF78B7-BBF8-98F7-0209-EFC6475D3D8A}"/>
                </a:ext>
              </a:extLst>
            </p:cNvPr>
            <p:cNvSpPr txBox="1">
              <a:spLocks noChangeArrowheads="1"/>
            </p:cNvSpPr>
            <p:nvPr/>
          </p:nvSpPr>
          <p:spPr bwMode="auto">
            <a:xfrm>
              <a:off x="2882265" y="5770880"/>
              <a:ext cx="1751013" cy="47720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MDPE Leadership Style</a:t>
              </a:r>
            </a:p>
          </p:txBody>
        </p:sp>
        <p:sp>
          <p:nvSpPr>
            <p:cNvPr id="48" name="Rectangle 30">
              <a:extLst>
                <a:ext uri="{FF2B5EF4-FFF2-40B4-BE49-F238E27FC236}">
                  <a16:creationId xmlns:a16="http://schemas.microsoft.com/office/drawing/2014/main" id="{F37C6292-22B2-F046-EF4A-9898C5546874}"/>
                </a:ext>
              </a:extLst>
            </p:cNvPr>
            <p:cNvSpPr>
              <a:spLocks noChangeArrowheads="1"/>
            </p:cNvSpPr>
            <p:nvPr/>
          </p:nvSpPr>
          <p:spPr bwMode="auto">
            <a:xfrm>
              <a:off x="1764665" y="1848168"/>
              <a:ext cx="8293100" cy="34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Aft>
                  <a:spcPct val="0"/>
                </a:spcAft>
                <a:buClrTx/>
                <a:buSzTx/>
                <a:buFontTx/>
                <a:buNone/>
              </a:pPr>
              <a:r>
                <a:rPr lang="en-US" altLang="en-US" sz="1800">
                  <a:latin typeface="Roboto" panose="02000000000000000000" pitchFamily="2" charset="0"/>
                  <a:ea typeface="Roboto" panose="02000000000000000000" pitchFamily="2" charset="0"/>
                </a:rPr>
                <a:t>How to drive performance using MDPE</a:t>
              </a:r>
            </a:p>
          </p:txBody>
        </p:sp>
      </p:grpSp>
    </p:spTree>
    <p:extLst>
      <p:ext uri="{BB962C8B-B14F-4D97-AF65-F5344CB8AC3E}">
        <p14:creationId xmlns:p14="http://schemas.microsoft.com/office/powerpoint/2010/main" val="9869027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Core MDPE Leadership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43</a:t>
            </a:fld>
            <a:endParaRPr lang="en-US"/>
          </a:p>
        </p:txBody>
      </p:sp>
      <p:grpSp>
        <p:nvGrpSpPr>
          <p:cNvPr id="49" name="Group 48">
            <a:extLst>
              <a:ext uri="{FF2B5EF4-FFF2-40B4-BE49-F238E27FC236}">
                <a16:creationId xmlns:a16="http://schemas.microsoft.com/office/drawing/2014/main" id="{4759224A-F74E-C347-4125-CB8BB75BA05C}"/>
              </a:ext>
            </a:extLst>
          </p:cNvPr>
          <p:cNvGrpSpPr/>
          <p:nvPr/>
        </p:nvGrpSpPr>
        <p:grpSpPr>
          <a:xfrm>
            <a:off x="1341121" y="2000250"/>
            <a:ext cx="9509759" cy="4331437"/>
            <a:chOff x="1764665" y="1848168"/>
            <a:chExt cx="8293100" cy="4710087"/>
          </a:xfrm>
        </p:grpSpPr>
        <p:sp>
          <p:nvSpPr>
            <p:cNvPr id="35" name="Rectangle 2">
              <a:extLst>
                <a:ext uri="{FF2B5EF4-FFF2-40B4-BE49-F238E27FC236}">
                  <a16:creationId xmlns:a16="http://schemas.microsoft.com/office/drawing/2014/main" id="{3A8BF6AF-E261-3042-E1EE-2DC55B409A09}"/>
                </a:ext>
              </a:extLst>
            </p:cNvPr>
            <p:cNvSpPr>
              <a:spLocks noChangeArrowheads="1"/>
            </p:cNvSpPr>
            <p:nvPr/>
          </p:nvSpPr>
          <p:spPr bwMode="auto">
            <a:xfrm>
              <a:off x="2833053" y="5470843"/>
              <a:ext cx="6303962" cy="1087412"/>
            </a:xfrm>
            <a:prstGeom prst="rect">
              <a:avLst/>
            </a:prstGeom>
            <a:solidFill>
              <a:srgbClr val="EAEAEA"/>
            </a:solidFill>
            <a:ln w="19050">
              <a:solidFill>
                <a:schemeClr val="tx1"/>
              </a:solidFill>
              <a:prstDash val="sysDot"/>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endParaRPr lang="en-US" altLang="en-US" sz="1800">
                <a:latin typeface="Roboto" panose="02000000000000000000" pitchFamily="2" charset="0"/>
                <a:ea typeface="Roboto" panose="02000000000000000000" pitchFamily="2" charset="0"/>
              </a:endParaRPr>
            </a:p>
          </p:txBody>
        </p:sp>
        <p:sp>
          <p:nvSpPr>
            <p:cNvPr id="36" name="Rectangle 3">
              <a:extLst>
                <a:ext uri="{FF2B5EF4-FFF2-40B4-BE49-F238E27FC236}">
                  <a16:creationId xmlns:a16="http://schemas.microsoft.com/office/drawing/2014/main" id="{239DD38C-7736-3268-4224-6E2322FBA102}"/>
                </a:ext>
              </a:extLst>
            </p:cNvPr>
            <p:cNvSpPr>
              <a:spLocks noChangeArrowheads="1"/>
            </p:cNvSpPr>
            <p:nvPr/>
          </p:nvSpPr>
          <p:spPr bwMode="auto">
            <a:xfrm>
              <a:off x="2018665" y="2243454"/>
              <a:ext cx="1719263" cy="693609"/>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Define Winning</a:t>
              </a:r>
            </a:p>
          </p:txBody>
        </p:sp>
        <p:sp>
          <p:nvSpPr>
            <p:cNvPr id="37" name="Rectangle 4">
              <a:extLst>
                <a:ext uri="{FF2B5EF4-FFF2-40B4-BE49-F238E27FC236}">
                  <a16:creationId xmlns:a16="http://schemas.microsoft.com/office/drawing/2014/main" id="{E29FA701-B057-90DB-44FF-81CC20B6B575}"/>
                </a:ext>
              </a:extLst>
            </p:cNvPr>
            <p:cNvSpPr>
              <a:spLocks noChangeArrowheads="1"/>
            </p:cNvSpPr>
            <p:nvPr/>
          </p:nvSpPr>
          <p:spPr bwMode="auto">
            <a:xfrm>
              <a:off x="4006215" y="2243454"/>
              <a:ext cx="1719263" cy="693609"/>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None/>
              </a:pPr>
              <a:r>
                <a:rPr lang="en-US" altLang="en-US" sz="1400" dirty="0">
                  <a:solidFill>
                    <a:schemeClr val="bg1"/>
                  </a:solidFill>
                  <a:latin typeface="Roboto" panose="02000000000000000000" pitchFamily="2" charset="0"/>
                  <a:ea typeface="Roboto" panose="02000000000000000000" pitchFamily="2" charset="0"/>
                </a:rPr>
                <a:t>Set People Up to Win</a:t>
              </a:r>
            </a:p>
          </p:txBody>
        </p:sp>
        <p:sp>
          <p:nvSpPr>
            <p:cNvPr id="38" name="Rectangle 5">
              <a:extLst>
                <a:ext uri="{FF2B5EF4-FFF2-40B4-BE49-F238E27FC236}">
                  <a16:creationId xmlns:a16="http://schemas.microsoft.com/office/drawing/2014/main" id="{008EB0FC-17F3-60F3-EDBE-F570ABB9A9AA}"/>
                </a:ext>
              </a:extLst>
            </p:cNvPr>
            <p:cNvSpPr>
              <a:spLocks noChangeArrowheads="1"/>
            </p:cNvSpPr>
            <p:nvPr/>
          </p:nvSpPr>
          <p:spPr bwMode="auto">
            <a:xfrm>
              <a:off x="6052503" y="2257743"/>
              <a:ext cx="1719262" cy="629511"/>
            </a:xfrm>
            <a:prstGeom prst="rect">
              <a:avLst/>
            </a:prstGeom>
            <a:solidFill>
              <a:schemeClr val="accent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None/>
              </a:pPr>
              <a:r>
                <a:rPr lang="en-US" altLang="en-US" sz="1400">
                  <a:latin typeface="Roboto" panose="02000000000000000000" pitchFamily="2" charset="0"/>
                  <a:ea typeface="Roboto" panose="02000000000000000000" pitchFamily="2" charset="0"/>
                </a:rPr>
                <a:t>Uphold the Parameters</a:t>
              </a:r>
            </a:p>
          </p:txBody>
        </p:sp>
        <p:sp>
          <p:nvSpPr>
            <p:cNvPr id="39" name="Rectangle 6">
              <a:extLst>
                <a:ext uri="{FF2B5EF4-FFF2-40B4-BE49-F238E27FC236}">
                  <a16:creationId xmlns:a16="http://schemas.microsoft.com/office/drawing/2014/main" id="{965926D6-0EF5-8745-997F-2FA79E09A123}"/>
                </a:ext>
              </a:extLst>
            </p:cNvPr>
            <p:cNvSpPr>
              <a:spLocks noChangeArrowheads="1"/>
            </p:cNvSpPr>
            <p:nvPr/>
          </p:nvSpPr>
          <p:spPr bwMode="auto">
            <a:xfrm>
              <a:off x="8071803" y="2272029"/>
              <a:ext cx="1719262" cy="6112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Lean is the only  option</a:t>
              </a:r>
            </a:p>
          </p:txBody>
        </p:sp>
        <p:sp>
          <p:nvSpPr>
            <p:cNvPr id="40" name="Rectangle 7">
              <a:extLst>
                <a:ext uri="{FF2B5EF4-FFF2-40B4-BE49-F238E27FC236}">
                  <a16:creationId xmlns:a16="http://schemas.microsoft.com/office/drawing/2014/main" id="{7B0BC92F-D213-E1D8-EFBA-195E1F5924FE}"/>
                </a:ext>
              </a:extLst>
            </p:cNvPr>
            <p:cNvSpPr>
              <a:spLocks noChangeArrowheads="1"/>
            </p:cNvSpPr>
            <p:nvPr/>
          </p:nvSpPr>
          <p:spPr bwMode="auto">
            <a:xfrm>
              <a:off x="1964690" y="3007044"/>
              <a:ext cx="7818438" cy="2553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spcBef>
                  <a:spcPts val="100"/>
                </a:spcBef>
                <a:spcAft>
                  <a:spcPts val="40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Inspect what you expect</a:t>
              </a:r>
            </a:p>
            <a:p>
              <a:pPr>
                <a:spcBef>
                  <a:spcPts val="100"/>
                </a:spcBef>
                <a:spcAft>
                  <a:spcPts val="40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React to what you find</a:t>
              </a:r>
            </a:p>
            <a:p>
              <a:pPr>
                <a:spcBef>
                  <a:spcPts val="100"/>
                </a:spcBef>
                <a:spcAft>
                  <a:spcPts val="40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Consistency is critical across the factory</a:t>
              </a:r>
            </a:p>
            <a:p>
              <a:pPr>
                <a:spcBef>
                  <a:spcPts val="100"/>
                </a:spcBef>
                <a:spcAft>
                  <a:spcPts val="40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Apply feedback that is: Immediate and Specific</a:t>
              </a:r>
            </a:p>
            <a:p>
              <a:pPr>
                <a:spcBef>
                  <a:spcPts val="100"/>
                </a:spcBef>
                <a:spcAft>
                  <a:spcPts val="40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Coach to Win</a:t>
              </a:r>
            </a:p>
            <a:p>
              <a:pPr>
                <a:spcBef>
                  <a:spcPts val="100"/>
                </a:spcBef>
                <a:spcAft>
                  <a:spcPts val="40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The “Gemba Walk” process upholds parameters</a:t>
              </a:r>
            </a:p>
          </p:txBody>
        </p:sp>
        <p:cxnSp>
          <p:nvCxnSpPr>
            <p:cNvPr id="41" name="AutoShape 11">
              <a:extLst>
                <a:ext uri="{FF2B5EF4-FFF2-40B4-BE49-F238E27FC236}">
                  <a16:creationId xmlns:a16="http://schemas.microsoft.com/office/drawing/2014/main" id="{A2D8D918-F96F-3275-847A-CD40E60B08EE}"/>
                </a:ext>
              </a:extLst>
            </p:cNvPr>
            <p:cNvCxnSpPr>
              <a:cxnSpLocks noChangeShapeType="1"/>
              <a:stCxn id="36" idx="3"/>
              <a:endCxn id="37" idx="1"/>
            </p:cNvCxnSpPr>
            <p:nvPr/>
          </p:nvCxnSpPr>
          <p:spPr bwMode="auto">
            <a:xfrm>
              <a:off x="3737929" y="2590259"/>
              <a:ext cx="268286"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2" name="AutoShape 12">
              <a:extLst>
                <a:ext uri="{FF2B5EF4-FFF2-40B4-BE49-F238E27FC236}">
                  <a16:creationId xmlns:a16="http://schemas.microsoft.com/office/drawing/2014/main" id="{70A8817B-48D0-B799-E297-12D4518672E3}"/>
                </a:ext>
              </a:extLst>
            </p:cNvPr>
            <p:cNvCxnSpPr>
              <a:cxnSpLocks noChangeShapeType="1"/>
              <a:stCxn id="37" idx="3"/>
              <a:endCxn id="38" idx="1"/>
            </p:cNvCxnSpPr>
            <p:nvPr/>
          </p:nvCxnSpPr>
          <p:spPr bwMode="auto">
            <a:xfrm flipV="1">
              <a:off x="5725478" y="2572499"/>
              <a:ext cx="327024" cy="1776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3" name="AutoShape 13">
              <a:extLst>
                <a:ext uri="{FF2B5EF4-FFF2-40B4-BE49-F238E27FC236}">
                  <a16:creationId xmlns:a16="http://schemas.microsoft.com/office/drawing/2014/main" id="{04D3F4EB-0B91-99CF-337E-EC9C3B224566}"/>
                </a:ext>
              </a:extLst>
            </p:cNvPr>
            <p:cNvCxnSpPr>
              <a:cxnSpLocks noChangeShapeType="1"/>
              <a:stCxn id="38" idx="3"/>
              <a:endCxn id="39" idx="1"/>
            </p:cNvCxnSpPr>
            <p:nvPr/>
          </p:nvCxnSpPr>
          <p:spPr bwMode="auto">
            <a:xfrm>
              <a:off x="7771764" y="2572499"/>
              <a:ext cx="300039" cy="513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4" name="AutoShape 14">
              <a:extLst>
                <a:ext uri="{FF2B5EF4-FFF2-40B4-BE49-F238E27FC236}">
                  <a16:creationId xmlns:a16="http://schemas.microsoft.com/office/drawing/2014/main" id="{BF09E1FF-5C72-8AC6-2095-AB7192DDC2B5}"/>
                </a:ext>
              </a:extLst>
            </p:cNvPr>
            <p:cNvCxnSpPr>
              <a:cxnSpLocks noChangeShapeType="1"/>
              <a:stCxn id="36" idx="1"/>
              <a:endCxn id="35" idx="1"/>
            </p:cNvCxnSpPr>
            <p:nvPr/>
          </p:nvCxnSpPr>
          <p:spPr bwMode="auto">
            <a:xfrm rot="10800000" flipH="1" flipV="1">
              <a:off x="2018665" y="2590258"/>
              <a:ext cx="814387" cy="3424290"/>
            </a:xfrm>
            <a:prstGeom prst="bentConnector3">
              <a:avLst>
                <a:gd name="adj1" fmla="val -2447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5" name="AutoShape 15">
              <a:extLst>
                <a:ext uri="{FF2B5EF4-FFF2-40B4-BE49-F238E27FC236}">
                  <a16:creationId xmlns:a16="http://schemas.microsoft.com/office/drawing/2014/main" id="{4B8F26DE-F856-C47D-5AE4-6CE460081BFC}"/>
                </a:ext>
              </a:extLst>
            </p:cNvPr>
            <p:cNvCxnSpPr>
              <a:cxnSpLocks noChangeShapeType="1"/>
              <a:stCxn id="39" idx="3"/>
              <a:endCxn id="35" idx="3"/>
            </p:cNvCxnSpPr>
            <p:nvPr/>
          </p:nvCxnSpPr>
          <p:spPr bwMode="auto">
            <a:xfrm flipH="1">
              <a:off x="9137015" y="2577629"/>
              <a:ext cx="654050" cy="3436919"/>
            </a:xfrm>
            <a:prstGeom prst="bentConnector3">
              <a:avLst>
                <a:gd name="adj1" fmla="val -3048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6" name="Rectangle 25">
              <a:extLst>
                <a:ext uri="{FF2B5EF4-FFF2-40B4-BE49-F238E27FC236}">
                  <a16:creationId xmlns:a16="http://schemas.microsoft.com/office/drawing/2014/main" id="{A2AB2FFF-2FB0-D0C8-02CF-142C69BB4D8E}"/>
                </a:ext>
              </a:extLst>
            </p:cNvPr>
            <p:cNvSpPr>
              <a:spLocks noChangeArrowheads="1"/>
            </p:cNvSpPr>
            <p:nvPr/>
          </p:nvSpPr>
          <p:spPr bwMode="auto">
            <a:xfrm>
              <a:off x="4803140" y="5502593"/>
              <a:ext cx="3900488" cy="1003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Uses 5 Whys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Is Data Driven</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Expects stretch results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Teaches Lean Tools</a:t>
              </a:r>
            </a:p>
          </p:txBody>
        </p:sp>
        <p:sp>
          <p:nvSpPr>
            <p:cNvPr id="47" name="Text Box 27">
              <a:extLst>
                <a:ext uri="{FF2B5EF4-FFF2-40B4-BE49-F238E27FC236}">
                  <a16:creationId xmlns:a16="http://schemas.microsoft.com/office/drawing/2014/main" id="{25EF78B7-BBF8-98F7-0209-EFC6475D3D8A}"/>
                </a:ext>
              </a:extLst>
            </p:cNvPr>
            <p:cNvSpPr txBox="1">
              <a:spLocks noChangeArrowheads="1"/>
            </p:cNvSpPr>
            <p:nvPr/>
          </p:nvSpPr>
          <p:spPr bwMode="auto">
            <a:xfrm>
              <a:off x="2882265" y="5770880"/>
              <a:ext cx="1751013" cy="47720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MDPE Leadership Style</a:t>
              </a:r>
            </a:p>
          </p:txBody>
        </p:sp>
        <p:sp>
          <p:nvSpPr>
            <p:cNvPr id="48" name="Rectangle 30">
              <a:extLst>
                <a:ext uri="{FF2B5EF4-FFF2-40B4-BE49-F238E27FC236}">
                  <a16:creationId xmlns:a16="http://schemas.microsoft.com/office/drawing/2014/main" id="{F37C6292-22B2-F046-EF4A-9898C5546874}"/>
                </a:ext>
              </a:extLst>
            </p:cNvPr>
            <p:cNvSpPr>
              <a:spLocks noChangeArrowheads="1"/>
            </p:cNvSpPr>
            <p:nvPr/>
          </p:nvSpPr>
          <p:spPr bwMode="auto">
            <a:xfrm>
              <a:off x="1764665" y="1848168"/>
              <a:ext cx="8293100" cy="34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Aft>
                  <a:spcPct val="0"/>
                </a:spcAft>
                <a:buClrTx/>
                <a:buSzTx/>
                <a:buFontTx/>
                <a:buNone/>
              </a:pPr>
              <a:r>
                <a:rPr lang="en-US" altLang="en-US" sz="1800">
                  <a:latin typeface="Roboto" panose="02000000000000000000" pitchFamily="2" charset="0"/>
                  <a:ea typeface="Roboto" panose="02000000000000000000" pitchFamily="2" charset="0"/>
                </a:rPr>
                <a:t>How to drive performance using MDPE</a:t>
              </a:r>
            </a:p>
          </p:txBody>
        </p:sp>
      </p:grpSp>
    </p:spTree>
    <p:extLst>
      <p:ext uri="{BB962C8B-B14F-4D97-AF65-F5344CB8AC3E}">
        <p14:creationId xmlns:p14="http://schemas.microsoft.com/office/powerpoint/2010/main" val="32022118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Core MDPE Leadership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44</a:t>
            </a:fld>
            <a:endParaRPr lang="en-US"/>
          </a:p>
        </p:txBody>
      </p:sp>
      <p:grpSp>
        <p:nvGrpSpPr>
          <p:cNvPr id="49" name="Group 48">
            <a:extLst>
              <a:ext uri="{FF2B5EF4-FFF2-40B4-BE49-F238E27FC236}">
                <a16:creationId xmlns:a16="http://schemas.microsoft.com/office/drawing/2014/main" id="{4759224A-F74E-C347-4125-CB8BB75BA05C}"/>
              </a:ext>
            </a:extLst>
          </p:cNvPr>
          <p:cNvGrpSpPr/>
          <p:nvPr/>
        </p:nvGrpSpPr>
        <p:grpSpPr>
          <a:xfrm>
            <a:off x="1341121" y="2000250"/>
            <a:ext cx="9509759" cy="4331437"/>
            <a:chOff x="1764665" y="1848168"/>
            <a:chExt cx="8293100" cy="4710087"/>
          </a:xfrm>
        </p:grpSpPr>
        <p:sp>
          <p:nvSpPr>
            <p:cNvPr id="35" name="Rectangle 2">
              <a:extLst>
                <a:ext uri="{FF2B5EF4-FFF2-40B4-BE49-F238E27FC236}">
                  <a16:creationId xmlns:a16="http://schemas.microsoft.com/office/drawing/2014/main" id="{3A8BF6AF-E261-3042-E1EE-2DC55B409A09}"/>
                </a:ext>
              </a:extLst>
            </p:cNvPr>
            <p:cNvSpPr>
              <a:spLocks noChangeArrowheads="1"/>
            </p:cNvSpPr>
            <p:nvPr/>
          </p:nvSpPr>
          <p:spPr bwMode="auto">
            <a:xfrm>
              <a:off x="2833053" y="5470843"/>
              <a:ext cx="6303962" cy="1087412"/>
            </a:xfrm>
            <a:prstGeom prst="rect">
              <a:avLst/>
            </a:prstGeom>
            <a:solidFill>
              <a:srgbClr val="EAEAEA"/>
            </a:solidFill>
            <a:ln w="19050">
              <a:solidFill>
                <a:schemeClr val="tx1"/>
              </a:solidFill>
              <a:prstDash val="sysDot"/>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endParaRPr lang="en-US" altLang="en-US" sz="1800">
                <a:latin typeface="Roboto" panose="02000000000000000000" pitchFamily="2" charset="0"/>
                <a:ea typeface="Roboto" panose="02000000000000000000" pitchFamily="2" charset="0"/>
              </a:endParaRPr>
            </a:p>
          </p:txBody>
        </p:sp>
        <p:sp>
          <p:nvSpPr>
            <p:cNvPr id="36" name="Rectangle 3">
              <a:extLst>
                <a:ext uri="{FF2B5EF4-FFF2-40B4-BE49-F238E27FC236}">
                  <a16:creationId xmlns:a16="http://schemas.microsoft.com/office/drawing/2014/main" id="{239DD38C-7736-3268-4224-6E2322FBA102}"/>
                </a:ext>
              </a:extLst>
            </p:cNvPr>
            <p:cNvSpPr>
              <a:spLocks noChangeArrowheads="1"/>
            </p:cNvSpPr>
            <p:nvPr/>
          </p:nvSpPr>
          <p:spPr bwMode="auto">
            <a:xfrm>
              <a:off x="2018665" y="2243454"/>
              <a:ext cx="1719263" cy="693609"/>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Define Winning</a:t>
              </a:r>
            </a:p>
          </p:txBody>
        </p:sp>
        <p:sp>
          <p:nvSpPr>
            <p:cNvPr id="37" name="Rectangle 4">
              <a:extLst>
                <a:ext uri="{FF2B5EF4-FFF2-40B4-BE49-F238E27FC236}">
                  <a16:creationId xmlns:a16="http://schemas.microsoft.com/office/drawing/2014/main" id="{E29FA701-B057-90DB-44FF-81CC20B6B575}"/>
                </a:ext>
              </a:extLst>
            </p:cNvPr>
            <p:cNvSpPr>
              <a:spLocks noChangeArrowheads="1"/>
            </p:cNvSpPr>
            <p:nvPr/>
          </p:nvSpPr>
          <p:spPr bwMode="auto">
            <a:xfrm>
              <a:off x="4006215" y="2243454"/>
              <a:ext cx="1719263" cy="693609"/>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None/>
              </a:pPr>
              <a:r>
                <a:rPr lang="en-US" altLang="en-US" sz="1400" dirty="0">
                  <a:solidFill>
                    <a:schemeClr val="bg1"/>
                  </a:solidFill>
                  <a:latin typeface="Roboto" panose="02000000000000000000" pitchFamily="2" charset="0"/>
                  <a:ea typeface="Roboto" panose="02000000000000000000" pitchFamily="2" charset="0"/>
                </a:rPr>
                <a:t>Set People Up to Win</a:t>
              </a:r>
            </a:p>
          </p:txBody>
        </p:sp>
        <p:sp>
          <p:nvSpPr>
            <p:cNvPr id="38" name="Rectangle 5">
              <a:extLst>
                <a:ext uri="{FF2B5EF4-FFF2-40B4-BE49-F238E27FC236}">
                  <a16:creationId xmlns:a16="http://schemas.microsoft.com/office/drawing/2014/main" id="{008EB0FC-17F3-60F3-EDBE-F570ABB9A9AA}"/>
                </a:ext>
              </a:extLst>
            </p:cNvPr>
            <p:cNvSpPr>
              <a:spLocks noChangeArrowheads="1"/>
            </p:cNvSpPr>
            <p:nvPr/>
          </p:nvSpPr>
          <p:spPr bwMode="auto">
            <a:xfrm>
              <a:off x="6052503" y="2257743"/>
              <a:ext cx="1719262" cy="629511"/>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Uphold the Parameters</a:t>
              </a:r>
            </a:p>
          </p:txBody>
        </p:sp>
        <p:sp>
          <p:nvSpPr>
            <p:cNvPr id="39" name="Rectangle 6">
              <a:extLst>
                <a:ext uri="{FF2B5EF4-FFF2-40B4-BE49-F238E27FC236}">
                  <a16:creationId xmlns:a16="http://schemas.microsoft.com/office/drawing/2014/main" id="{965926D6-0EF5-8745-997F-2FA79E09A123}"/>
                </a:ext>
              </a:extLst>
            </p:cNvPr>
            <p:cNvSpPr>
              <a:spLocks noChangeArrowheads="1"/>
            </p:cNvSpPr>
            <p:nvPr/>
          </p:nvSpPr>
          <p:spPr bwMode="auto">
            <a:xfrm>
              <a:off x="8071803" y="2272029"/>
              <a:ext cx="1719262" cy="611200"/>
            </a:xfrm>
            <a:prstGeom prst="rect">
              <a:avLst/>
            </a:prstGeom>
            <a:solidFill>
              <a:schemeClr val="accent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None/>
              </a:pPr>
              <a:r>
                <a:rPr lang="en-US" altLang="en-US" sz="1400" dirty="0">
                  <a:latin typeface="Roboto" panose="02000000000000000000" pitchFamily="2" charset="0"/>
                  <a:ea typeface="Roboto" panose="02000000000000000000" pitchFamily="2" charset="0"/>
                </a:rPr>
                <a:t>Lean is the only  option</a:t>
              </a:r>
            </a:p>
          </p:txBody>
        </p:sp>
        <p:sp>
          <p:nvSpPr>
            <p:cNvPr id="40" name="Rectangle 7">
              <a:extLst>
                <a:ext uri="{FF2B5EF4-FFF2-40B4-BE49-F238E27FC236}">
                  <a16:creationId xmlns:a16="http://schemas.microsoft.com/office/drawing/2014/main" id="{7B0BC92F-D213-E1D8-EFBA-195E1F5924FE}"/>
                </a:ext>
              </a:extLst>
            </p:cNvPr>
            <p:cNvSpPr>
              <a:spLocks noChangeArrowheads="1"/>
            </p:cNvSpPr>
            <p:nvPr/>
          </p:nvSpPr>
          <p:spPr bwMode="auto">
            <a:xfrm>
              <a:off x="1964690" y="3007044"/>
              <a:ext cx="7818438" cy="249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spcBef>
                  <a:spcPts val="600"/>
                </a:spcBef>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There is no choice but to run organization with Lean principles…</a:t>
              </a:r>
              <a:br>
                <a:rPr lang="en-US" altLang="en-US" sz="1800" dirty="0">
                  <a:latin typeface="Roboto" panose="02000000000000000000" pitchFamily="2" charset="0"/>
                  <a:ea typeface="Roboto" panose="02000000000000000000" pitchFamily="2" charset="0"/>
                </a:rPr>
              </a:br>
              <a:r>
                <a:rPr lang="en-US" altLang="en-US" sz="1800" dirty="0">
                  <a:latin typeface="Roboto" panose="02000000000000000000" pitchFamily="2" charset="0"/>
                  <a:ea typeface="Roboto" panose="02000000000000000000" pitchFamily="2" charset="0"/>
                </a:rPr>
                <a:t>No excuses...</a:t>
              </a:r>
            </a:p>
            <a:p>
              <a:pPr>
                <a:spcBef>
                  <a:spcPts val="600"/>
                </a:spcBef>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Start with Lean Basics</a:t>
              </a:r>
            </a:p>
            <a:p>
              <a:pPr>
                <a:spcBef>
                  <a:spcPts val="600"/>
                </a:spcBef>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Do MDPE with your team—drive kaizen as needed</a:t>
              </a:r>
            </a:p>
            <a:p>
              <a:pPr>
                <a:spcBef>
                  <a:spcPts val="600"/>
                </a:spcBef>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Drive change using Lean tools and data</a:t>
              </a:r>
            </a:p>
          </p:txBody>
        </p:sp>
        <p:cxnSp>
          <p:nvCxnSpPr>
            <p:cNvPr id="41" name="AutoShape 11">
              <a:extLst>
                <a:ext uri="{FF2B5EF4-FFF2-40B4-BE49-F238E27FC236}">
                  <a16:creationId xmlns:a16="http://schemas.microsoft.com/office/drawing/2014/main" id="{A2D8D918-F96F-3275-847A-CD40E60B08EE}"/>
                </a:ext>
              </a:extLst>
            </p:cNvPr>
            <p:cNvCxnSpPr>
              <a:cxnSpLocks noChangeShapeType="1"/>
              <a:stCxn id="36" idx="3"/>
              <a:endCxn id="37" idx="1"/>
            </p:cNvCxnSpPr>
            <p:nvPr/>
          </p:nvCxnSpPr>
          <p:spPr bwMode="auto">
            <a:xfrm>
              <a:off x="3737929" y="2590259"/>
              <a:ext cx="268286"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2" name="AutoShape 12">
              <a:extLst>
                <a:ext uri="{FF2B5EF4-FFF2-40B4-BE49-F238E27FC236}">
                  <a16:creationId xmlns:a16="http://schemas.microsoft.com/office/drawing/2014/main" id="{70A8817B-48D0-B799-E297-12D4518672E3}"/>
                </a:ext>
              </a:extLst>
            </p:cNvPr>
            <p:cNvCxnSpPr>
              <a:cxnSpLocks noChangeShapeType="1"/>
              <a:stCxn id="37" idx="3"/>
              <a:endCxn id="38" idx="1"/>
            </p:cNvCxnSpPr>
            <p:nvPr/>
          </p:nvCxnSpPr>
          <p:spPr bwMode="auto">
            <a:xfrm flipV="1">
              <a:off x="5725478" y="2572499"/>
              <a:ext cx="327024" cy="1776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3" name="AutoShape 13">
              <a:extLst>
                <a:ext uri="{FF2B5EF4-FFF2-40B4-BE49-F238E27FC236}">
                  <a16:creationId xmlns:a16="http://schemas.microsoft.com/office/drawing/2014/main" id="{04D3F4EB-0B91-99CF-337E-EC9C3B224566}"/>
                </a:ext>
              </a:extLst>
            </p:cNvPr>
            <p:cNvCxnSpPr>
              <a:cxnSpLocks noChangeShapeType="1"/>
              <a:stCxn id="38" idx="3"/>
              <a:endCxn id="39" idx="1"/>
            </p:cNvCxnSpPr>
            <p:nvPr/>
          </p:nvCxnSpPr>
          <p:spPr bwMode="auto">
            <a:xfrm>
              <a:off x="7771764" y="2572499"/>
              <a:ext cx="300039" cy="513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4" name="AutoShape 14">
              <a:extLst>
                <a:ext uri="{FF2B5EF4-FFF2-40B4-BE49-F238E27FC236}">
                  <a16:creationId xmlns:a16="http://schemas.microsoft.com/office/drawing/2014/main" id="{BF09E1FF-5C72-8AC6-2095-AB7192DDC2B5}"/>
                </a:ext>
              </a:extLst>
            </p:cNvPr>
            <p:cNvCxnSpPr>
              <a:cxnSpLocks noChangeShapeType="1"/>
              <a:stCxn id="36" idx="1"/>
              <a:endCxn id="35" idx="1"/>
            </p:cNvCxnSpPr>
            <p:nvPr/>
          </p:nvCxnSpPr>
          <p:spPr bwMode="auto">
            <a:xfrm rot="10800000" flipH="1" flipV="1">
              <a:off x="2018665" y="2590258"/>
              <a:ext cx="814387" cy="3424290"/>
            </a:xfrm>
            <a:prstGeom prst="bentConnector3">
              <a:avLst>
                <a:gd name="adj1" fmla="val -2447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5" name="AutoShape 15">
              <a:extLst>
                <a:ext uri="{FF2B5EF4-FFF2-40B4-BE49-F238E27FC236}">
                  <a16:creationId xmlns:a16="http://schemas.microsoft.com/office/drawing/2014/main" id="{4B8F26DE-F856-C47D-5AE4-6CE460081BFC}"/>
                </a:ext>
              </a:extLst>
            </p:cNvPr>
            <p:cNvCxnSpPr>
              <a:cxnSpLocks noChangeShapeType="1"/>
              <a:stCxn id="39" idx="3"/>
              <a:endCxn id="35" idx="3"/>
            </p:cNvCxnSpPr>
            <p:nvPr/>
          </p:nvCxnSpPr>
          <p:spPr bwMode="auto">
            <a:xfrm flipH="1">
              <a:off x="9137015" y="2577629"/>
              <a:ext cx="654050" cy="3436919"/>
            </a:xfrm>
            <a:prstGeom prst="bentConnector3">
              <a:avLst>
                <a:gd name="adj1" fmla="val -3048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6" name="Rectangle 25">
              <a:extLst>
                <a:ext uri="{FF2B5EF4-FFF2-40B4-BE49-F238E27FC236}">
                  <a16:creationId xmlns:a16="http://schemas.microsoft.com/office/drawing/2014/main" id="{A2AB2FFF-2FB0-D0C8-02CF-142C69BB4D8E}"/>
                </a:ext>
              </a:extLst>
            </p:cNvPr>
            <p:cNvSpPr>
              <a:spLocks noChangeArrowheads="1"/>
            </p:cNvSpPr>
            <p:nvPr/>
          </p:nvSpPr>
          <p:spPr bwMode="auto">
            <a:xfrm>
              <a:off x="4803140" y="5502593"/>
              <a:ext cx="3900488" cy="1003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Uses 5 Whys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Is Data Driven</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Expects stretch results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Teaches Lean Tools</a:t>
              </a:r>
            </a:p>
          </p:txBody>
        </p:sp>
        <p:sp>
          <p:nvSpPr>
            <p:cNvPr id="47" name="Text Box 27">
              <a:extLst>
                <a:ext uri="{FF2B5EF4-FFF2-40B4-BE49-F238E27FC236}">
                  <a16:creationId xmlns:a16="http://schemas.microsoft.com/office/drawing/2014/main" id="{25EF78B7-BBF8-98F7-0209-EFC6475D3D8A}"/>
                </a:ext>
              </a:extLst>
            </p:cNvPr>
            <p:cNvSpPr txBox="1">
              <a:spLocks noChangeArrowheads="1"/>
            </p:cNvSpPr>
            <p:nvPr/>
          </p:nvSpPr>
          <p:spPr bwMode="auto">
            <a:xfrm>
              <a:off x="2882265" y="5770880"/>
              <a:ext cx="1751013" cy="47720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MDPE Leadership Style</a:t>
              </a:r>
            </a:p>
          </p:txBody>
        </p:sp>
        <p:sp>
          <p:nvSpPr>
            <p:cNvPr id="48" name="Rectangle 30">
              <a:extLst>
                <a:ext uri="{FF2B5EF4-FFF2-40B4-BE49-F238E27FC236}">
                  <a16:creationId xmlns:a16="http://schemas.microsoft.com/office/drawing/2014/main" id="{F37C6292-22B2-F046-EF4A-9898C5546874}"/>
                </a:ext>
              </a:extLst>
            </p:cNvPr>
            <p:cNvSpPr>
              <a:spLocks noChangeArrowheads="1"/>
            </p:cNvSpPr>
            <p:nvPr/>
          </p:nvSpPr>
          <p:spPr bwMode="auto">
            <a:xfrm>
              <a:off x="1764665" y="1848168"/>
              <a:ext cx="8293100" cy="34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Aft>
                  <a:spcPct val="0"/>
                </a:spcAft>
                <a:buClrTx/>
                <a:buSzTx/>
                <a:buFontTx/>
                <a:buNone/>
              </a:pPr>
              <a:r>
                <a:rPr lang="en-US" altLang="en-US" sz="1800">
                  <a:latin typeface="Roboto" panose="02000000000000000000" pitchFamily="2" charset="0"/>
                  <a:ea typeface="Roboto" panose="02000000000000000000" pitchFamily="2" charset="0"/>
                </a:rPr>
                <a:t>How to drive performance using MDPE</a:t>
              </a:r>
            </a:p>
          </p:txBody>
        </p:sp>
      </p:grpSp>
    </p:spTree>
    <p:extLst>
      <p:ext uri="{BB962C8B-B14F-4D97-AF65-F5344CB8AC3E}">
        <p14:creationId xmlns:p14="http://schemas.microsoft.com/office/powerpoint/2010/main" val="12241293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Leadership Development</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four Leadership Elements and which one you need to improve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team/cell, identify an issue in the cell that the Four Leadership Elements could be applied to (e.g., repetitive part shortage, etc.). In your team, discuss how you could:</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the Parameters</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Set Up People to Win</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Uphold the Parameters</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Drive Lean Principles</a:t>
            </a: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13336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Each team must report out answers to the group. Report out should include action items that can be implemented this week, included in daily work going forward, or in Managing Daily Process Excellence Action Plan.</a:t>
            </a:r>
          </a:p>
        </p:txBody>
      </p:sp>
    </p:spTree>
    <p:extLst>
      <p:ext uri="{BB962C8B-B14F-4D97-AF65-F5344CB8AC3E}">
        <p14:creationId xmlns:p14="http://schemas.microsoft.com/office/powerpoint/2010/main" val="10626094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Managing for Daily Process Excellence Agenda</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46</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9358182"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 (MDPE) Overview</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935818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Gemba Exercise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935818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Lean Basics Assessment and KPI Development</a:t>
            </a:r>
          </a:p>
        </p:txBody>
      </p:sp>
      <p:sp>
        <p:nvSpPr>
          <p:cNvPr id="15" name="Rectangle 14">
            <a:extLst>
              <a:ext uri="{FF2B5EF4-FFF2-40B4-BE49-F238E27FC236}">
                <a16:creationId xmlns:a16="http://schemas.microsoft.com/office/drawing/2014/main" id="{D87C53B4-48B2-AD29-AFD8-1C5B6871B984}"/>
              </a:ext>
            </a:extLst>
          </p:cNvPr>
          <p:cNvSpPr/>
          <p:nvPr/>
        </p:nvSpPr>
        <p:spPr>
          <a:xfrm>
            <a:off x="940248" y="4396378"/>
            <a:ext cx="9358181"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Installing MDPE: Manage the MDPE Levers at Gemba</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935818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Sample Templates and Best Practices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4238218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Daily Management Lab Examples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47</a:t>
            </a:fld>
            <a:endParaRPr lang="en-US"/>
          </a:p>
        </p:txBody>
      </p:sp>
      <p:pic>
        <p:nvPicPr>
          <p:cNvPr id="4" name="Picture 2" descr="100_2227.jpg">
            <a:extLst>
              <a:ext uri="{FF2B5EF4-FFF2-40B4-BE49-F238E27FC236}">
                <a16:creationId xmlns:a16="http://schemas.microsoft.com/office/drawing/2014/main" id="{E46F5F4E-88B3-8D44-53CE-1481FA01E2D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4674" t="4329" r="14546" b="27100"/>
          <a:stretch>
            <a:fillRect/>
          </a:stretch>
        </p:blipFill>
        <p:spPr bwMode="auto">
          <a:xfrm>
            <a:off x="3101657" y="1825625"/>
            <a:ext cx="5988686"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a:extLst>
              <a:ext uri="{FF2B5EF4-FFF2-40B4-BE49-F238E27FC236}">
                <a16:creationId xmlns:a16="http://schemas.microsoft.com/office/drawing/2014/main" id="{555378BE-F75E-2BED-0C12-C33E748D90F6}"/>
              </a:ext>
            </a:extLst>
          </p:cNvPr>
          <p:cNvSpPr>
            <a:spLocks noChangeArrowheads="1"/>
          </p:cNvSpPr>
          <p:nvPr/>
        </p:nvSpPr>
        <p:spPr bwMode="auto">
          <a:xfrm>
            <a:off x="5300662" y="1956753"/>
            <a:ext cx="1590675" cy="273050"/>
          </a:xfrm>
          <a:prstGeom prst="rect">
            <a:avLst/>
          </a:prstGeom>
          <a:solidFill>
            <a:srgbClr val="808080"/>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rPr>
              <a:t>Project 3 Board</a:t>
            </a:r>
          </a:p>
        </p:txBody>
      </p:sp>
    </p:spTree>
    <p:extLst>
      <p:ext uri="{BB962C8B-B14F-4D97-AF65-F5344CB8AC3E}">
        <p14:creationId xmlns:p14="http://schemas.microsoft.com/office/powerpoint/2010/main" val="22078278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Daily Management Cross Department Example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48</a:t>
            </a:fld>
            <a:endParaRPr lang="en-US"/>
          </a:p>
        </p:txBody>
      </p:sp>
      <p:pic>
        <p:nvPicPr>
          <p:cNvPr id="9" name="Picture 3" descr="IMG_ visual board 1">
            <a:extLst>
              <a:ext uri="{FF2B5EF4-FFF2-40B4-BE49-F238E27FC236}">
                <a16:creationId xmlns:a16="http://schemas.microsoft.com/office/drawing/2014/main" id="{A2078C4F-9DCC-92E4-BC9D-4C2357B3FDE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687320" y="1786413"/>
            <a:ext cx="6817360" cy="4544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18290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2800" dirty="0"/>
              <a:t>Non-Operations Example of an Open Office Environment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49</a:t>
            </a:fld>
            <a:endParaRPr lang="en-US"/>
          </a:p>
        </p:txBody>
      </p:sp>
      <p:pic>
        <p:nvPicPr>
          <p:cNvPr id="4" name="Picture 2">
            <a:extLst>
              <a:ext uri="{FF2B5EF4-FFF2-40B4-BE49-F238E27FC236}">
                <a16:creationId xmlns:a16="http://schemas.microsoft.com/office/drawing/2014/main" id="{E343A25A-C178-430D-C39A-4B5106A318E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11391" r="20117"/>
          <a:stretch>
            <a:fillRect/>
          </a:stretch>
        </p:blipFill>
        <p:spPr bwMode="auto">
          <a:xfrm>
            <a:off x="3097594" y="1825625"/>
            <a:ext cx="5996811"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2960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Sample MDPE Agenda</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50</a:t>
            </a:fld>
            <a:endParaRPr lang="en-US"/>
          </a:p>
        </p:txBody>
      </p:sp>
      <p:pic>
        <p:nvPicPr>
          <p:cNvPr id="6" name="Picture 2">
            <a:extLst>
              <a:ext uri="{FF2B5EF4-FFF2-40B4-BE49-F238E27FC236}">
                <a16:creationId xmlns:a16="http://schemas.microsoft.com/office/drawing/2014/main" id="{D54755A5-C46A-18E4-BE91-DCBD03DCE62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00684" y="2304320"/>
            <a:ext cx="10390632" cy="3393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36369995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51</a:t>
            </a:fld>
            <a:endParaRPr lang="en-US" dirty="0"/>
          </a:p>
        </p:txBody>
      </p:sp>
    </p:spTree>
    <p:extLst>
      <p:ext uri="{BB962C8B-B14F-4D97-AF65-F5344CB8AC3E}">
        <p14:creationId xmlns:p14="http://schemas.microsoft.com/office/powerpoint/2010/main" val="114568622"/>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14103</TotalTime>
  <Words>3773</Words>
  <Application>Microsoft Office PowerPoint</Application>
  <PresentationFormat>Widescreen</PresentationFormat>
  <Paragraphs>660</Paragraphs>
  <Slides>51</Slides>
  <Notes>51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51</vt:i4>
      </vt:variant>
    </vt:vector>
  </HeadingPairs>
  <TitlesOfParts>
    <vt:vector size="60" baseType="lpstr">
      <vt:lpstr>Arial</vt:lpstr>
      <vt:lpstr>Baskerville</vt:lpstr>
      <vt:lpstr>Calibri</vt:lpstr>
      <vt:lpstr>Roboto</vt:lpstr>
      <vt:lpstr>Roboto Medium</vt:lpstr>
      <vt:lpstr>Wingdings</vt:lpstr>
      <vt:lpstr>Wingdings 2</vt:lpstr>
      <vt:lpstr>Office Theme</vt:lpstr>
      <vt:lpstr>Bitmap Image</vt:lpstr>
      <vt:lpstr>PowerPoint Presentation</vt:lpstr>
      <vt:lpstr>PowerPoint Presentation</vt:lpstr>
      <vt:lpstr>PowerPoint Presentation</vt:lpstr>
      <vt:lpstr>Managing for Daily Process Excellence</vt:lpstr>
      <vt:lpstr>Managing for Daily Process Excellence Agenda</vt:lpstr>
      <vt:lpstr>Managing for Daily Process Excellence Agenda</vt:lpstr>
      <vt:lpstr>Managing Daily Process Excellence (MDPE) Overview</vt:lpstr>
      <vt:lpstr>What are the core elements of MDPE?</vt:lpstr>
      <vt:lpstr>What are the expected benefits of MDPE?</vt:lpstr>
      <vt:lpstr>What are the Core Leadership Concepts of MDPE?</vt:lpstr>
      <vt:lpstr> What is…and Where is Gemba?</vt:lpstr>
      <vt:lpstr>Where will MDPE have the greatest impact?</vt:lpstr>
      <vt:lpstr>Managing Daily Process Excellence Relationship to Strategic Deployment</vt:lpstr>
      <vt:lpstr>Managing for Daily Process Excellence Agenda</vt:lpstr>
      <vt:lpstr>Exercise: Gemba Walk</vt:lpstr>
      <vt:lpstr>Managing for Daily Process Excellence Agenda</vt:lpstr>
      <vt:lpstr>Installing Managing Daily Process Excellence</vt:lpstr>
      <vt:lpstr>Where are you with your deployment of Lean Basics in Operations?</vt:lpstr>
      <vt:lpstr>Where are you with your deployment of Lean Basics in the Back Office?</vt:lpstr>
      <vt:lpstr>Exercise: Breakout Session, Lean Basics Audit</vt:lpstr>
      <vt:lpstr>What are the “Right KPI’s”?</vt:lpstr>
      <vt:lpstr>What are the “Right KPI’s”?</vt:lpstr>
      <vt:lpstr>What are the “Right KPI’s”?</vt:lpstr>
      <vt:lpstr>What are the “Right KPI’s”?</vt:lpstr>
      <vt:lpstr>What are the “Right KPI’s”?</vt:lpstr>
      <vt:lpstr>Exercise: KPI Development</vt:lpstr>
      <vt:lpstr>Managing for Daily Process Excellence Agenda</vt:lpstr>
      <vt:lpstr>The Four Levers of MDPE Management</vt:lpstr>
      <vt:lpstr>The Four Levers of MDPE Management</vt:lpstr>
      <vt:lpstr>MDPE for Safety </vt:lpstr>
      <vt:lpstr>MDPE for Quality </vt:lpstr>
      <vt:lpstr>MDPE for Delivery</vt:lpstr>
      <vt:lpstr>MDPE for Productivity / Cost</vt:lpstr>
      <vt:lpstr>The Four Levers of MDPE Management</vt:lpstr>
      <vt:lpstr>Gemba Level Visual Management</vt:lpstr>
      <vt:lpstr>Example of a Visual Management Board Standard</vt:lpstr>
      <vt:lpstr>Exercise: To Gemba or not to Gemba, that is the question!</vt:lpstr>
      <vt:lpstr>The Four Levers of MDPE Management</vt:lpstr>
      <vt:lpstr>RCCM Process at Gemba</vt:lpstr>
      <vt:lpstr>The Four Levers of MDPE Management</vt:lpstr>
      <vt:lpstr>Core MDPE Leadership Process</vt:lpstr>
      <vt:lpstr>Core MDPE Leadership Process</vt:lpstr>
      <vt:lpstr>Core MDPE Leadership Process</vt:lpstr>
      <vt:lpstr>Core MDPE Leadership Process</vt:lpstr>
      <vt:lpstr>Exercise: Leadership Development</vt:lpstr>
      <vt:lpstr>Managing for Daily Process Excellence Agenda</vt:lpstr>
      <vt:lpstr>Daily Management Lab Examples</vt:lpstr>
      <vt:lpstr>Daily Management Cross Department Example</vt:lpstr>
      <vt:lpstr>Non-Operations Example of an Open Office Environment</vt:lpstr>
      <vt:lpstr>Sample MDPE Agenda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385</cp:revision>
  <dcterms:created xsi:type="dcterms:W3CDTF">2023-02-08T22:10:20Z</dcterms:created>
  <dcterms:modified xsi:type="dcterms:W3CDTF">2023-09-29T20:45:36Z</dcterms:modified>
</cp:coreProperties>
</file>