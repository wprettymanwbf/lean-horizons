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3"/>
  </p:notesMasterIdLst>
  <p:sldIdLst>
    <p:sldId id="258" r:id="rId2"/>
    <p:sldId id="283" r:id="rId3"/>
    <p:sldId id="284" r:id="rId4"/>
    <p:sldId id="285" r:id="rId5"/>
    <p:sldId id="34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6" r:id="rId28"/>
    <p:sldId id="367" r:id="rId29"/>
    <p:sldId id="368" r:id="rId30"/>
    <p:sldId id="315" r:id="rId31"/>
    <p:sldId id="370" r:id="rId32"/>
    <p:sldId id="371" r:id="rId33"/>
    <p:sldId id="372" r:id="rId34"/>
    <p:sldId id="373" r:id="rId35"/>
    <p:sldId id="374" r:id="rId36"/>
    <p:sldId id="375" r:id="rId37"/>
    <p:sldId id="376" r:id="rId38"/>
    <p:sldId id="377" r:id="rId39"/>
    <p:sldId id="378" r:id="rId40"/>
    <p:sldId id="379" r:id="rId41"/>
    <p:sldId id="380" r:id="rId42"/>
    <p:sldId id="381" r:id="rId43"/>
    <p:sldId id="382" r:id="rId44"/>
    <p:sldId id="383" r:id="rId45"/>
    <p:sldId id="384" r:id="rId46"/>
    <p:sldId id="385" r:id="rId47"/>
    <p:sldId id="386" r:id="rId48"/>
    <p:sldId id="450" r:id="rId49"/>
    <p:sldId id="388" r:id="rId50"/>
    <p:sldId id="389" r:id="rId51"/>
    <p:sldId id="390" r:id="rId52"/>
    <p:sldId id="391" r:id="rId53"/>
    <p:sldId id="392" r:id="rId54"/>
    <p:sldId id="393" r:id="rId55"/>
    <p:sldId id="394" r:id="rId56"/>
    <p:sldId id="395" r:id="rId57"/>
    <p:sldId id="396" r:id="rId58"/>
    <p:sldId id="397" r:id="rId59"/>
    <p:sldId id="398" r:id="rId60"/>
    <p:sldId id="451" r:id="rId61"/>
    <p:sldId id="400" r:id="rId62"/>
    <p:sldId id="401" r:id="rId63"/>
    <p:sldId id="402" r:id="rId64"/>
    <p:sldId id="403" r:id="rId65"/>
    <p:sldId id="404" r:id="rId66"/>
    <p:sldId id="405" r:id="rId67"/>
    <p:sldId id="452" r:id="rId68"/>
    <p:sldId id="407" r:id="rId69"/>
    <p:sldId id="408" r:id="rId70"/>
    <p:sldId id="409" r:id="rId71"/>
    <p:sldId id="410" r:id="rId72"/>
    <p:sldId id="411" r:id="rId73"/>
    <p:sldId id="412" r:id="rId74"/>
    <p:sldId id="413" r:id="rId75"/>
    <p:sldId id="453" r:id="rId76"/>
    <p:sldId id="415" r:id="rId77"/>
    <p:sldId id="416" r:id="rId78"/>
    <p:sldId id="417" r:id="rId79"/>
    <p:sldId id="418" r:id="rId80"/>
    <p:sldId id="419" r:id="rId81"/>
    <p:sldId id="420" r:id="rId82"/>
    <p:sldId id="421" r:id="rId83"/>
    <p:sldId id="422" r:id="rId84"/>
    <p:sldId id="423" r:id="rId85"/>
    <p:sldId id="424" r:id="rId86"/>
    <p:sldId id="425" r:id="rId87"/>
    <p:sldId id="426" r:id="rId88"/>
    <p:sldId id="427" r:id="rId89"/>
    <p:sldId id="428" r:id="rId90"/>
    <p:sldId id="429" r:id="rId91"/>
    <p:sldId id="430" r:id="rId92"/>
    <p:sldId id="432" r:id="rId93"/>
    <p:sldId id="431" r:id="rId94"/>
    <p:sldId id="433" r:id="rId95"/>
    <p:sldId id="434" r:id="rId96"/>
    <p:sldId id="435" r:id="rId97"/>
    <p:sldId id="436" r:id="rId98"/>
    <p:sldId id="437" r:id="rId99"/>
    <p:sldId id="438" r:id="rId100"/>
    <p:sldId id="439" r:id="rId101"/>
    <p:sldId id="440" r:id="rId102"/>
    <p:sldId id="441" r:id="rId103"/>
    <p:sldId id="442" r:id="rId104"/>
    <p:sldId id="443" r:id="rId105"/>
    <p:sldId id="444" r:id="rId106"/>
    <p:sldId id="445" r:id="rId107"/>
    <p:sldId id="446" r:id="rId108"/>
    <p:sldId id="447" r:id="rId109"/>
    <p:sldId id="448" r:id="rId110"/>
    <p:sldId id="449" r:id="rId111"/>
    <p:sldId id="329"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3228"/>
    <a:srgbClr val="222222"/>
    <a:srgbClr val="FFB62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2157" autoAdjust="0"/>
  </p:normalViewPr>
  <p:slideViewPr>
    <p:cSldViewPr snapToGrid="0">
      <p:cViewPr varScale="1">
        <p:scale>
          <a:sx n="108" d="100"/>
          <a:sy n="108" d="100"/>
        </p:scale>
        <p:origin x="480" y="96"/>
      </p:cViewPr>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microsoft.com/office/2018/10/relationships/authors" Targe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585907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3329080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2009359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 </a:t>
            </a:r>
            <a:r>
              <a:rPr lang="en-US" altLang="en-US" dirty="0">
                <a:latin typeface="Times New Roman" panose="02020603050405020304" pitchFamily="18"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Times New Roman" panose="02020603050405020304" pitchFamily="18" charset="0"/>
              </a:rPr>
              <a:t>Personal License Plate</a:t>
            </a:r>
            <a:r>
              <a:rPr lang="ja-JP" altLang="en-US" dirty="0">
                <a:latin typeface="Arial" panose="020B0604020202020204" pitchFamily="34" charset="0"/>
              </a:rPr>
              <a:t>”</a:t>
            </a:r>
            <a:r>
              <a:rPr lang="en-US" altLang="ja-JP" dirty="0">
                <a:latin typeface="Times New Roman" panose="02020603050405020304" pitchFamily="18"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Times New Roman" panose="02020603050405020304" pitchFamily="18" charset="0"/>
              </a:rPr>
              <a:t>LV2SAIL</a:t>
            </a:r>
            <a:r>
              <a:rPr lang="ja-JP" altLang="en-US" dirty="0">
                <a:latin typeface="Arial" panose="020B0604020202020204" pitchFamily="34" charset="0"/>
              </a:rPr>
              <a:t>”</a:t>
            </a:r>
            <a:r>
              <a:rPr lang="en-US" altLang="ja-JP" dirty="0">
                <a:latin typeface="Times New Roman" panose="02020603050405020304" pitchFamily="18" charset="0"/>
              </a:rPr>
              <a:t> OR </a:t>
            </a:r>
            <a:r>
              <a:rPr lang="ja-JP" altLang="en-US" dirty="0">
                <a:latin typeface="Arial" panose="020B0604020202020204" pitchFamily="34" charset="0"/>
              </a:rPr>
              <a:t>“</a:t>
            </a:r>
            <a:r>
              <a:rPr lang="en-US" altLang="ja-JP" dirty="0">
                <a:latin typeface="Times New Roman" panose="02020603050405020304" pitchFamily="18" charset="0"/>
              </a:rPr>
              <a:t>DADOV5</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DO</a:t>
            </a:r>
            <a:r>
              <a:rPr lang="en-US" altLang="en-US" dirty="0">
                <a:latin typeface="Times New Roman" panose="02020603050405020304" pitchFamily="18" charset="0"/>
              </a:rPr>
              <a:t>: Review Event Ground Rules.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Does anyone have any rules they would like to see added?</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Does everyone agree to these?</a:t>
            </a:r>
            <a:r>
              <a:rPr lang="ja-JP" altLang="en-US" dirty="0">
                <a:latin typeface="Arial" panose="020B0604020202020204" pitchFamily="34" charset="0"/>
              </a:rPr>
              <a:t>”</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271776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We want to make sure we use our time this week to implement as many of the improvements that we identify as possible. It is important to mention that often times because the scope of a TPI event can cover a pretty large process, we will be scheduling activities beyond this week for implementation in order to reach our goal.</a:t>
            </a:r>
            <a:r>
              <a:rPr lang="ja-JP" altLang="en-US" b="0" dirty="0">
                <a:latin typeface="Arial" panose="020B0604020202020204" pitchFamily="34"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937303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It is better to have first have identified and quantified Strategic Imperatives.  Next we map the Value Stream of the product family or service family pointed to by those Strategic Imperatives.  A Plan for improving that Value Stream is then developed.  It is that Plan that pointed us to working this week on this process, which is part of that Value Stream.</a:t>
            </a:r>
            <a:r>
              <a:rPr lang="ja-JP" altLang="en-US" b="0" dirty="0">
                <a:latin typeface="Arial" panose="020B0604020202020204" pitchFamily="34"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087597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628475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4123791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is the typical 5 day agenda for what we will accomplish this week.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NOTE:</a:t>
            </a:r>
            <a:r>
              <a:rPr lang="en-US" altLang="en-US" dirty="0">
                <a:latin typeface="Times New Roman" panose="02020603050405020304" pitchFamily="18" charset="0"/>
              </a:rPr>
              <a:t> Deliverable dates can be adjusted as needed depending on the event.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286747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4124216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545189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394351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chapter objectives. </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In order to begin with TPI, we</a:t>
            </a:r>
            <a:r>
              <a:rPr lang="ja-JP" altLang="en-US" dirty="0">
                <a:latin typeface="Arial" panose="020B0604020202020204" pitchFamily="34" charset="0"/>
              </a:rPr>
              <a:t>’</a:t>
            </a:r>
            <a:r>
              <a:rPr lang="en-US" altLang="ja-JP" dirty="0" err="1">
                <a:latin typeface="Times New Roman" panose="02020603050405020304" pitchFamily="18" charset="0"/>
              </a:rPr>
              <a:t>ll</a:t>
            </a:r>
            <a:r>
              <a:rPr lang="en-US" altLang="ja-JP" dirty="0">
                <a:latin typeface="Times New Roman" panose="02020603050405020304" pitchFamily="18" charset="0"/>
              </a:rPr>
              <a:t> need to cover some Process Mapping Basics.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880438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In TPI we will use a simplified format of Process Mapping. In traditional Process Mapping, there are many symbols that identify delays, queues, transportation, etc. For TPI purposes, we will only be using the 5 process mapping symbols on this slide.</a:t>
            </a:r>
            <a:r>
              <a:rPr lang="ja-JP" altLang="en-US" b="0" dirty="0">
                <a:latin typeface="Arial" panose="020B0604020202020204" pitchFamily="34" charset="0"/>
              </a:rPr>
              <a:t>”</a:t>
            </a:r>
            <a:endParaRPr lang="en-US" altLang="ja-JP" b="0" dirty="0">
              <a:latin typeface="Times New Roman" panose="02020603050405020304" pitchFamily="18" charset="0"/>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643692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A Value Stream Map is the </a:t>
            </a:r>
            <a:r>
              <a:rPr lang="ja-JP" altLang="en-US" dirty="0">
                <a:latin typeface="Arial" panose="020B0604020202020204" pitchFamily="34" charset="0"/>
              </a:rPr>
              <a:t>“</a:t>
            </a:r>
            <a:r>
              <a:rPr lang="en-US" altLang="ja-JP" dirty="0">
                <a:latin typeface="Times New Roman" panose="02020603050405020304" pitchFamily="18" charset="0"/>
              </a:rPr>
              <a:t>30,000-foot</a:t>
            </a:r>
            <a:r>
              <a:rPr lang="ja-JP" altLang="en-US" dirty="0">
                <a:latin typeface="Arial" panose="020B0604020202020204" pitchFamily="34" charset="0"/>
              </a:rPr>
              <a:t>”</a:t>
            </a:r>
            <a:r>
              <a:rPr lang="en-US" altLang="ja-JP" dirty="0">
                <a:latin typeface="Times New Roman" panose="02020603050405020304" pitchFamily="18" charset="0"/>
              </a:rPr>
              <a:t> view of the process. A Process Map is a tool that would take just one process box from a Value Stream Map, and explode that process into it</a:t>
            </a:r>
            <a:r>
              <a:rPr lang="ja-JP" altLang="en-US" dirty="0">
                <a:latin typeface="Arial" panose="020B0604020202020204" pitchFamily="34" charset="0"/>
              </a:rPr>
              <a:t>’</a:t>
            </a:r>
            <a:r>
              <a:rPr lang="en-US" altLang="ja-JP" dirty="0">
                <a:latin typeface="Times New Roman" panose="02020603050405020304" pitchFamily="18" charset="0"/>
              </a:rPr>
              <a:t>s detailed steps.</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4087473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789057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4125515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309600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555181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Note that with Process Mapping we map the process from beginning to end unlike VSM where we map the process from end to beginning. </a:t>
            </a: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1013308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In TPI we will use a simplified format of Process Mapping. In traditional Process Mapping, there are many symbols that identify delays, queues, transportation, etc. For TPI purposes, we will only be using the 5 process mapping symbols on this slide.</a:t>
            </a:r>
            <a:r>
              <a:rPr lang="ja-JP" altLang="en-US" b="0" dirty="0">
                <a:latin typeface="Arial" panose="020B0604020202020204" pitchFamily="34" charset="0"/>
              </a:rPr>
              <a:t>”</a:t>
            </a:r>
            <a:endParaRPr lang="en-US" altLang="en-US" b="0"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434271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1686535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8591169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5460430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4210341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0282837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026845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DO: Ask for volunteers to share their processes. </a:t>
            </a:r>
          </a:p>
          <a:p>
            <a:r>
              <a:rPr lang="en-US" altLang="en-US" dirty="0">
                <a:latin typeface="Times New Roman" panose="02020603050405020304" pitchFamily="18" charset="0"/>
              </a:rPr>
              <a:t>ASK: </a:t>
            </a:r>
            <a:r>
              <a:rPr lang="ja-JP" altLang="en-US" dirty="0">
                <a:latin typeface="Arial" panose="020B0604020202020204" pitchFamily="34" charset="0"/>
              </a:rPr>
              <a:t>“</a:t>
            </a:r>
            <a:r>
              <a:rPr lang="en-US" altLang="ja-JP" dirty="0">
                <a:latin typeface="Times New Roman" panose="02020603050405020304" pitchFamily="18" charset="0"/>
              </a:rPr>
              <a:t>Which one is correct?</a:t>
            </a:r>
            <a:r>
              <a:rPr lang="ja-JP" altLang="en-US" dirty="0">
                <a:latin typeface="Arial" panose="020B0604020202020204" pitchFamily="34" charset="0"/>
              </a:rPr>
              <a:t>”</a:t>
            </a:r>
            <a:r>
              <a:rPr lang="en-US" altLang="ja-JP" dirty="0">
                <a:latin typeface="Times New Roman" panose="02020603050405020304" pitchFamily="18" charset="0"/>
              </a:rPr>
              <a:t> (answer: all of them)</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Why is everyone</a:t>
            </a:r>
            <a:r>
              <a:rPr lang="ja-JP" altLang="en-US" dirty="0">
                <a:latin typeface="Arial" panose="020B0604020202020204" pitchFamily="34" charset="0"/>
              </a:rPr>
              <a:t>’</a:t>
            </a:r>
            <a:r>
              <a:rPr lang="en-US" altLang="ja-JP" dirty="0">
                <a:latin typeface="Times New Roman" panose="02020603050405020304" pitchFamily="18" charset="0"/>
              </a:rPr>
              <a:t>s different?</a:t>
            </a:r>
            <a:r>
              <a:rPr lang="ja-JP" altLang="en-US" dirty="0">
                <a:latin typeface="Arial" panose="020B0604020202020204" pitchFamily="34" charset="0"/>
              </a:rPr>
              <a:t>”</a:t>
            </a:r>
            <a:r>
              <a:rPr lang="en-US" altLang="ja-JP" dirty="0">
                <a:latin typeface="Times New Roman" panose="02020603050405020304" pitchFamily="18" charset="0"/>
              </a:rPr>
              <a:t> (answer we all may do it differently – but more importantly we were going from memory – what we THINK we do – when we map processes it is important to walk the process and observe it for ourselves.</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42616323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TPI is a tool we use to work on reaching Goals and Objectives that, as an example, are listed in a Value Stream Plan and/or a Site Plan.  We are, by definition, working at a lower level in the scheme of things and we don</a:t>
            </a:r>
            <a:r>
              <a:rPr lang="ja-JP" altLang="en-US" dirty="0">
                <a:latin typeface="Arial" panose="020B0604020202020204" pitchFamily="34" charset="0"/>
              </a:rPr>
              <a:t>’</a:t>
            </a:r>
            <a:r>
              <a:rPr lang="en-US" altLang="ja-JP" dirty="0">
                <a:latin typeface="Times New Roman" panose="02020603050405020304" pitchFamily="18" charset="0"/>
              </a:rPr>
              <a:t>t want people confused as to the level at which we are working</a:t>
            </a: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1809383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1988298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17174036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4135223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9177341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6731299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*OODA Loop: Observe, Orient, Decide, Act. Being able to quickly go through a series of OODA Loops is what separates successful fighter pilots (lots of “kills”) from less successful fighter pilots. Each time we pick up the next item to handle in a process block we must go through the OODA Loop. Handoffs increase the number of OODA Loops</a:t>
            </a: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9573067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41393800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NOTE: </a:t>
            </a:r>
            <a:r>
              <a:rPr lang="ja-JP" altLang="en-US" dirty="0">
                <a:latin typeface="Arial" panose="020B0604020202020204" pitchFamily="34" charset="0"/>
              </a:rPr>
              <a:t>“</a:t>
            </a:r>
            <a:r>
              <a:rPr lang="en-US" altLang="ja-JP" dirty="0">
                <a:latin typeface="Times New Roman" panose="02020603050405020304" pitchFamily="18" charset="0"/>
              </a:rPr>
              <a:t>How many queues in front of each person</a:t>
            </a:r>
            <a:r>
              <a:rPr lang="ja-JP" altLang="en-US" dirty="0">
                <a:latin typeface="Arial" panose="020B0604020202020204" pitchFamily="34" charset="0"/>
              </a:rPr>
              <a:t>”</a:t>
            </a:r>
            <a:r>
              <a:rPr lang="en-US" altLang="ja-JP" dirty="0">
                <a:latin typeface="Times New Roman" panose="02020603050405020304" pitchFamily="18" charset="0"/>
              </a:rPr>
              <a:t> should call attention to that there frequently are different processes for each person. </a:t>
            </a:r>
          </a:p>
          <a:p>
            <a:r>
              <a:rPr lang="en-US" altLang="en-US" dirty="0">
                <a:latin typeface="Times New Roman" panose="02020603050405020304" pitchFamily="18" charset="0"/>
              </a:rPr>
              <a:t>NOTE: By asking in Process Walk #1 </a:t>
            </a:r>
            <a:r>
              <a:rPr lang="ja-JP" altLang="en-US" dirty="0">
                <a:latin typeface="Arial" panose="020B0604020202020204" pitchFamily="34" charset="0"/>
              </a:rPr>
              <a:t>“</a:t>
            </a:r>
            <a:r>
              <a:rPr lang="en-US" altLang="ja-JP" dirty="0">
                <a:latin typeface="Times New Roman" panose="02020603050405020304" pitchFamily="18" charset="0"/>
              </a:rPr>
              <a:t>how many handoffs?</a:t>
            </a:r>
            <a:r>
              <a:rPr lang="ja-JP" altLang="en-US" dirty="0">
                <a:latin typeface="Arial" panose="020B0604020202020204" pitchFamily="34" charset="0"/>
              </a:rPr>
              <a:t>”</a:t>
            </a:r>
            <a:r>
              <a:rPr lang="en-US" altLang="ja-JP" dirty="0">
                <a:latin typeface="Times New Roman" panose="02020603050405020304" pitchFamily="18" charset="0"/>
              </a:rPr>
              <a:t>, we are defining the process further.</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18738254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5067122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0574398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8794315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Use post-it notes and </a:t>
            </a:r>
            <a:r>
              <a:rPr lang="en-US" dirty="0" err="1">
                <a:ea typeface="ＭＳ Ｐゴシック" charset="0"/>
                <a:cs typeface="+mn-cs"/>
              </a:rPr>
              <a:t>chartpaper</a:t>
            </a:r>
            <a:r>
              <a:rPr lang="en-US" dirty="0">
                <a:ea typeface="ＭＳ Ｐゴシック" charset="0"/>
                <a:cs typeface="+mn-cs"/>
              </a:rPr>
              <a: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41276104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NOTE: </a:t>
            </a:r>
            <a:r>
              <a:rPr lang="en-US" altLang="en-US" b="0" dirty="0">
                <a:latin typeface="Times New Roman" panose="02020603050405020304" pitchFamily="18" charset="0"/>
              </a:rPr>
              <a:t>To distinguish physical path from electronic path a best practice has been to use solid lines (denote physical walking or transportation) and dotted lines (for electronic – </a:t>
            </a:r>
            <a:r>
              <a:rPr lang="en-US" altLang="en-US" b="0" dirty="0" err="1">
                <a:latin typeface="Times New Roman" panose="02020603050405020304" pitchFamily="18" charset="0"/>
              </a:rPr>
              <a:t>ie</a:t>
            </a:r>
            <a:r>
              <a:rPr lang="en-US" altLang="en-US" b="0" dirty="0">
                <a:latin typeface="Times New Roman" panose="02020603050405020304" pitchFamily="18" charset="0"/>
              </a:rPr>
              <a:t>: e-mail, fax, etc.)</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592158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512421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40208723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9730300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1280205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DO:</a:t>
            </a:r>
            <a:r>
              <a:rPr lang="en-US" altLang="en-US" sz="1200" dirty="0">
                <a:latin typeface="Arial" panose="020B0604020202020204" pitchFamily="34" charset="0"/>
              </a:rPr>
              <a:t> Ask the class to provide examples of the 8 wastes. Capture their answers on a </a:t>
            </a:r>
            <a:r>
              <a:rPr lang="en-US" altLang="en-US" sz="1200" dirty="0" err="1">
                <a:latin typeface="Arial" panose="020B0604020202020204" pitchFamily="34" charset="0"/>
              </a:rPr>
              <a:t>chartpaper</a:t>
            </a:r>
            <a:r>
              <a:rPr lang="en-US" altLang="en-US" sz="1200" dirty="0">
                <a:latin typeface="Arial" panose="020B0604020202020204" pitchFamily="34" charset="0"/>
              </a:rPr>
              <a:t>. The participants can write the answers in their workbooks. </a:t>
            </a:r>
          </a:p>
          <a:p>
            <a:pPr>
              <a:lnSpc>
                <a:spcPct val="90000"/>
              </a:lnSpc>
            </a:pPr>
            <a:r>
              <a:rPr lang="en-US" altLang="en-US" sz="1200" b="1" dirty="0">
                <a:latin typeface="Arial" panose="020B0604020202020204" pitchFamily="34" charset="0"/>
              </a:rPr>
              <a:t>POTENTIAL ANSWERS:</a:t>
            </a:r>
          </a:p>
          <a:p>
            <a:pPr>
              <a:lnSpc>
                <a:spcPct val="90000"/>
              </a:lnSpc>
            </a:pPr>
            <a:r>
              <a:rPr lang="en-US" altLang="en-US" sz="1200" dirty="0">
                <a:solidFill>
                  <a:srgbClr val="000066"/>
                </a:solidFill>
                <a:latin typeface="Arial" panose="020B0604020202020204" pitchFamily="34" charset="0"/>
              </a:rPr>
              <a:t>Transportation: Ops: Parts that are  hand-carried or moved by conveyor, hand truck, tow motor, truck, ship, plane; Non-ops: Functional hand-offs (including electronic), document movement (physical or electronic)</a:t>
            </a:r>
          </a:p>
          <a:p>
            <a:pPr>
              <a:lnSpc>
                <a:spcPct val="90000"/>
              </a:lnSpc>
            </a:pPr>
            <a:r>
              <a:rPr lang="en-US" altLang="en-US" sz="1200" dirty="0">
                <a:solidFill>
                  <a:srgbClr val="000066"/>
                </a:solidFill>
                <a:latin typeface="Arial" panose="020B0604020202020204" pitchFamily="34" charset="0"/>
              </a:rPr>
              <a:t>Inventory: Ops: Accumulation of raw materials, WIP and finished goods stored in warehouses, or staging areas; Non-ops: Transactions/documents waiting in queue (e.g. incomplete customer order, unreleased engineering drawing)</a:t>
            </a:r>
          </a:p>
          <a:p>
            <a:pPr>
              <a:lnSpc>
                <a:spcPct val="90000"/>
              </a:lnSpc>
            </a:pPr>
            <a:r>
              <a:rPr lang="en-US" altLang="en-US" sz="1200" dirty="0">
                <a:latin typeface="Arial" panose="020B0604020202020204" pitchFamily="34" charset="0"/>
              </a:rPr>
              <a:t>Motion: Ops: </a:t>
            </a:r>
            <a:r>
              <a:rPr lang="en-US" altLang="en-US" sz="1200" dirty="0">
                <a:solidFill>
                  <a:srgbClr val="000066"/>
                </a:solidFill>
                <a:latin typeface="Arial" panose="020B0604020202020204" pitchFamily="34" charset="0"/>
              </a:rPr>
              <a:t>Operators reaching for parts, bending, lifting, excessive movement within cell; Non-ops: Reaching, bending, unnecessary steps within office or work area</a:t>
            </a:r>
          </a:p>
          <a:p>
            <a:pPr>
              <a:lnSpc>
                <a:spcPct val="90000"/>
              </a:lnSpc>
            </a:pPr>
            <a:r>
              <a:rPr lang="en-US" altLang="en-US" sz="1200" dirty="0">
                <a:solidFill>
                  <a:srgbClr val="000066"/>
                </a:solidFill>
                <a:latin typeface="Arial" panose="020B0604020202020204" pitchFamily="34" charset="0"/>
              </a:rPr>
              <a:t>Waiting: Ops: Parts waiting to be processed by a machine or work cell; Non-ops: Time waiting to receive a quote from a supplier, turnaround time to get an approval </a:t>
            </a:r>
          </a:p>
          <a:p>
            <a:pPr>
              <a:lnSpc>
                <a:spcPct val="90000"/>
              </a:lnSpc>
            </a:pPr>
            <a:r>
              <a:rPr lang="en-US" altLang="en-US" sz="1200" dirty="0">
                <a:solidFill>
                  <a:srgbClr val="000066"/>
                </a:solidFill>
                <a:latin typeface="Arial" panose="020B0604020202020204" pitchFamily="34" charset="0"/>
              </a:rPr>
              <a:t>Overprocessing: Ops: Machining to overly tight tolerances, washing parts longer than required, excessive polishing; Non-ops: Excessive information, unnecessary reports, unnecessary approvals, excessive specifications</a:t>
            </a:r>
          </a:p>
          <a:p>
            <a:pPr>
              <a:lnSpc>
                <a:spcPct val="90000"/>
              </a:lnSpc>
            </a:pPr>
            <a:r>
              <a:rPr lang="en-US" altLang="en-US" sz="1200" dirty="0">
                <a:solidFill>
                  <a:srgbClr val="000066"/>
                </a:solidFill>
                <a:latin typeface="Arial" panose="020B0604020202020204" pitchFamily="34" charset="0"/>
              </a:rPr>
              <a:t>Overproduction: Ops: Producing more pieces than required, large batches, keeping machines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 Non-ops: Working ahead of schedule, building up large transaction queues, keeping people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endParaRPr lang="en-US" altLang="ja-JP" sz="1200" dirty="0">
              <a:solidFill>
                <a:srgbClr val="000066"/>
              </a:solidFill>
              <a:latin typeface="Arial" panose="020B0604020202020204" pitchFamily="34" charset="0"/>
            </a:endParaRPr>
          </a:p>
          <a:p>
            <a:pPr>
              <a:lnSpc>
                <a:spcPct val="90000"/>
              </a:lnSpc>
            </a:pPr>
            <a:r>
              <a:rPr lang="en-US" altLang="en-US" sz="1200" dirty="0">
                <a:solidFill>
                  <a:srgbClr val="000066"/>
                </a:solidFill>
                <a:latin typeface="Arial" panose="020B0604020202020204" pitchFamily="34" charset="0"/>
              </a:rPr>
              <a:t>Defects: Ops: Rejected parts that do not meet specifications, parts damaged during processing or transportation; Non-ops: Customer orders with incomplete information, rejected drawings and documents, revisions/iterations</a:t>
            </a:r>
          </a:p>
          <a:p>
            <a:pPr>
              <a:lnSpc>
                <a:spcPct val="90000"/>
              </a:lnSpc>
            </a:pPr>
            <a:r>
              <a:rPr lang="en-US" altLang="en-US" sz="1200" dirty="0">
                <a:solidFill>
                  <a:srgbClr val="000066"/>
                </a:solidFill>
                <a:latin typeface="Arial" panose="020B0604020202020204" pitchFamily="34" charset="0"/>
              </a:rPr>
              <a:t>Behavioral Waste: Ops: Insufficient time devoted to  continuous improvement, limited knowledge sharing; Non-ops: Insufficient time devoted to  continuous improvement, limited knowledge sharing</a:t>
            </a:r>
          </a:p>
          <a:p>
            <a:pPr>
              <a:lnSpc>
                <a:spcPct val="90000"/>
              </a:lnSpc>
            </a:pPr>
            <a:endParaRPr lang="en-US" altLang="en-US" sz="1200" dirty="0">
              <a:solidFill>
                <a:srgbClr val="000066"/>
              </a:solidFill>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4204276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DO:</a:t>
            </a:r>
            <a:r>
              <a:rPr lang="en-US" altLang="en-US" sz="1200" dirty="0">
                <a:latin typeface="Arial" panose="020B0604020202020204" pitchFamily="34" charset="0"/>
              </a:rPr>
              <a:t> Ask the class to provide examples of the 8 wastes. Capture their answers on a </a:t>
            </a:r>
            <a:r>
              <a:rPr lang="en-US" altLang="en-US" sz="1200" dirty="0" err="1">
                <a:latin typeface="Arial" panose="020B0604020202020204" pitchFamily="34" charset="0"/>
              </a:rPr>
              <a:t>chartpaper</a:t>
            </a:r>
            <a:r>
              <a:rPr lang="en-US" altLang="en-US" sz="1200" dirty="0">
                <a:latin typeface="Arial" panose="020B0604020202020204" pitchFamily="34" charset="0"/>
              </a:rPr>
              <a:t>. The participants can write the answers in their workbooks. </a:t>
            </a:r>
          </a:p>
          <a:p>
            <a:pPr>
              <a:lnSpc>
                <a:spcPct val="90000"/>
              </a:lnSpc>
            </a:pPr>
            <a:r>
              <a:rPr lang="en-US" altLang="en-US" sz="1200" b="1" dirty="0">
                <a:latin typeface="Arial" panose="020B0604020202020204" pitchFamily="34" charset="0"/>
              </a:rPr>
              <a:t>POTENTIAL ANSWERS:</a:t>
            </a:r>
          </a:p>
          <a:p>
            <a:pPr>
              <a:lnSpc>
                <a:spcPct val="90000"/>
              </a:lnSpc>
            </a:pPr>
            <a:r>
              <a:rPr lang="en-US" altLang="en-US" sz="1200" dirty="0">
                <a:solidFill>
                  <a:srgbClr val="000066"/>
                </a:solidFill>
                <a:latin typeface="Arial" panose="020B0604020202020204" pitchFamily="34" charset="0"/>
              </a:rPr>
              <a:t>Transportation: Ops: Parts that are  hand-carried or moved by conveyor, hand truck, tow motor, truck, ship, plane; Non-ops: Functional hand-offs (including electronic), document movement (physical or electronic)</a:t>
            </a:r>
          </a:p>
          <a:p>
            <a:pPr>
              <a:lnSpc>
                <a:spcPct val="90000"/>
              </a:lnSpc>
            </a:pPr>
            <a:r>
              <a:rPr lang="en-US" altLang="en-US" sz="1200" dirty="0">
                <a:solidFill>
                  <a:srgbClr val="000066"/>
                </a:solidFill>
                <a:latin typeface="Arial" panose="020B0604020202020204" pitchFamily="34" charset="0"/>
              </a:rPr>
              <a:t>Inventory: Ops: Accumulation of raw materials, WIP and finished goods stored in warehouses, or staging areas; Non-ops: Transactions/documents waiting in queue (e.g. incomplete customer order, unreleased engineering drawing)</a:t>
            </a:r>
          </a:p>
          <a:p>
            <a:pPr>
              <a:lnSpc>
                <a:spcPct val="90000"/>
              </a:lnSpc>
            </a:pPr>
            <a:r>
              <a:rPr lang="en-US" altLang="en-US" sz="1200" dirty="0">
                <a:latin typeface="Arial" panose="020B0604020202020204" pitchFamily="34" charset="0"/>
              </a:rPr>
              <a:t>Motion: Ops: </a:t>
            </a:r>
            <a:r>
              <a:rPr lang="en-US" altLang="en-US" sz="1200" dirty="0">
                <a:solidFill>
                  <a:srgbClr val="000066"/>
                </a:solidFill>
                <a:latin typeface="Arial" panose="020B0604020202020204" pitchFamily="34" charset="0"/>
              </a:rPr>
              <a:t>Operators reaching for parts, bending, lifting, excessive movement within cell; Non-ops: Reaching, bending, unnecessary steps within office or work area</a:t>
            </a:r>
          </a:p>
          <a:p>
            <a:pPr>
              <a:lnSpc>
                <a:spcPct val="90000"/>
              </a:lnSpc>
            </a:pPr>
            <a:r>
              <a:rPr lang="en-US" altLang="en-US" sz="1200" dirty="0">
                <a:solidFill>
                  <a:srgbClr val="000066"/>
                </a:solidFill>
                <a:latin typeface="Arial" panose="020B0604020202020204" pitchFamily="34" charset="0"/>
              </a:rPr>
              <a:t>Waiting: Ops: Parts waiting to be processed by a machine or work cell; Non-ops: Time waiting to receive a quote from a supplier, turnaround time to get an approval </a:t>
            </a:r>
          </a:p>
          <a:p>
            <a:pPr>
              <a:lnSpc>
                <a:spcPct val="90000"/>
              </a:lnSpc>
            </a:pPr>
            <a:r>
              <a:rPr lang="en-US" altLang="en-US" sz="1200" dirty="0">
                <a:solidFill>
                  <a:srgbClr val="000066"/>
                </a:solidFill>
                <a:latin typeface="Arial" panose="020B0604020202020204" pitchFamily="34" charset="0"/>
              </a:rPr>
              <a:t>Overprocessing: Ops: Machining to overly tight tolerances, washing parts longer than required, excessive polishing; Non-ops: Excessive information, unnecessary reports, unnecessary approvals, excessive specifications</a:t>
            </a:r>
          </a:p>
          <a:p>
            <a:pPr>
              <a:lnSpc>
                <a:spcPct val="90000"/>
              </a:lnSpc>
            </a:pPr>
            <a:r>
              <a:rPr lang="en-US" altLang="en-US" sz="1200" dirty="0">
                <a:solidFill>
                  <a:srgbClr val="000066"/>
                </a:solidFill>
                <a:latin typeface="Arial" panose="020B0604020202020204" pitchFamily="34" charset="0"/>
              </a:rPr>
              <a:t>Overproduction: Ops: Producing more pieces than required, large batches, keeping machines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 Non-ops: Working ahead of schedule, building up large transaction queues, keeping people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endParaRPr lang="en-US" altLang="ja-JP" sz="1200" dirty="0">
              <a:solidFill>
                <a:srgbClr val="000066"/>
              </a:solidFill>
              <a:latin typeface="Arial" panose="020B0604020202020204" pitchFamily="34" charset="0"/>
            </a:endParaRPr>
          </a:p>
          <a:p>
            <a:pPr>
              <a:lnSpc>
                <a:spcPct val="90000"/>
              </a:lnSpc>
            </a:pPr>
            <a:r>
              <a:rPr lang="en-US" altLang="en-US" sz="1200" dirty="0">
                <a:solidFill>
                  <a:srgbClr val="000066"/>
                </a:solidFill>
                <a:latin typeface="Arial" panose="020B0604020202020204" pitchFamily="34" charset="0"/>
              </a:rPr>
              <a:t>Defects: Ops: Rejected parts that do not meet specifications, parts damaged during processing or transportation; Non-ops: Customer orders with incomplete information, rejected drawings and documents, revisions/iterations</a:t>
            </a:r>
          </a:p>
          <a:p>
            <a:pPr>
              <a:lnSpc>
                <a:spcPct val="90000"/>
              </a:lnSpc>
            </a:pPr>
            <a:r>
              <a:rPr lang="en-US" altLang="en-US" sz="1200" dirty="0">
                <a:solidFill>
                  <a:srgbClr val="000066"/>
                </a:solidFill>
                <a:latin typeface="Arial" panose="020B0604020202020204" pitchFamily="34" charset="0"/>
              </a:rPr>
              <a:t>Behavioral Waste: Ops: Insufficient time devoted to  continuous improvement, limited knowledge sharing; Non-ops: Insufficient time devoted to  continuous improvement, limited knowledge sharing</a:t>
            </a:r>
          </a:p>
          <a:p>
            <a:pPr>
              <a:lnSpc>
                <a:spcPct val="90000"/>
              </a:lnSpc>
            </a:pPr>
            <a:endParaRPr lang="en-US" altLang="en-US" sz="1200" dirty="0">
              <a:solidFill>
                <a:srgbClr val="000066"/>
              </a:solidFill>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6985627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Let</a:t>
            </a:r>
            <a:r>
              <a:rPr lang="ja-JP" altLang="en-US" b="0" dirty="0">
                <a:latin typeface="Arial" panose="020B0604020202020204" pitchFamily="34" charset="0"/>
              </a:rPr>
              <a:t>’</a:t>
            </a:r>
            <a:r>
              <a:rPr lang="en-US" altLang="ja-JP" b="0" dirty="0">
                <a:latin typeface="Times New Roman" panose="02020603050405020304" pitchFamily="18" charset="0"/>
              </a:rPr>
              <a:t>s take a look at some causes of transactional waste.</a:t>
            </a:r>
            <a:r>
              <a:rPr lang="ja-JP" altLang="en-US" b="0" dirty="0">
                <a:latin typeface="Arial" panose="020B0604020202020204" pitchFamily="34" charset="0"/>
              </a:rPr>
              <a:t>”</a:t>
            </a:r>
            <a:endParaRPr lang="en-US" altLang="ja-JP" b="0" dirty="0">
              <a:latin typeface="Times New Roman" panose="02020603050405020304" pitchFamily="18" charset="0"/>
            </a:endParaRPr>
          </a:p>
          <a:p>
            <a:r>
              <a:rPr lang="en-US" altLang="en-US" dirty="0">
                <a:latin typeface="Times New Roman" panose="02020603050405020304" pitchFamily="18" charset="0"/>
              </a:rPr>
              <a:t>ASK: </a:t>
            </a:r>
            <a:r>
              <a:rPr lang="en-US" altLang="en-US" b="0" dirty="0">
                <a:latin typeface="Times New Roman" panose="02020603050405020304" pitchFamily="18" charset="0"/>
              </a:rPr>
              <a:t>Do any of these causes exist in your current daily activities? (ask for an example, then ask </a:t>
            </a:r>
            <a:r>
              <a:rPr lang="ja-JP" altLang="en-US" b="0" dirty="0">
                <a:latin typeface="Arial" panose="020B0604020202020204" pitchFamily="34" charset="0"/>
              </a:rPr>
              <a:t>“</a:t>
            </a:r>
            <a:r>
              <a:rPr lang="en-US" altLang="ja-JP" b="0" dirty="0">
                <a:latin typeface="Times New Roman" panose="02020603050405020304" pitchFamily="18" charset="0"/>
              </a:rPr>
              <a:t>What wastes do you see as a result from that?</a:t>
            </a:r>
            <a:r>
              <a:rPr lang="ja-JP" altLang="en-US" b="0" dirty="0">
                <a:latin typeface="Arial" panose="020B0604020202020204" pitchFamily="34" charset="0"/>
              </a:rPr>
              <a:t>”</a:t>
            </a:r>
            <a:r>
              <a:rPr lang="en-US" altLang="ja-JP" b="0" dirty="0">
                <a:latin typeface="Times New Roman" panose="02020603050405020304" pitchFamily="18"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8576321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Just as it is tempting to start working on the </a:t>
            </a:r>
            <a:r>
              <a:rPr lang="ja-JP" altLang="en-US" b="0" dirty="0">
                <a:latin typeface="Arial" panose="020B0604020202020204" pitchFamily="34" charset="0"/>
              </a:rPr>
              <a:t>“</a:t>
            </a:r>
            <a:r>
              <a:rPr lang="en-US" altLang="ja-JP" b="0" dirty="0">
                <a:latin typeface="Times New Roman" panose="02020603050405020304" pitchFamily="18" charset="0"/>
              </a:rPr>
              <a:t>Should be</a:t>
            </a:r>
            <a:r>
              <a:rPr lang="ja-JP" altLang="en-US" b="0" dirty="0">
                <a:latin typeface="Arial" panose="020B0604020202020204" pitchFamily="34" charset="0"/>
              </a:rPr>
              <a:t>”</a:t>
            </a:r>
            <a:r>
              <a:rPr lang="en-US" altLang="ja-JP" b="0" dirty="0">
                <a:latin typeface="Times New Roman" panose="02020603050405020304" pitchFamily="18" charset="0"/>
              </a:rPr>
              <a:t> when we are still trying to define the </a:t>
            </a:r>
            <a:r>
              <a:rPr lang="ja-JP" altLang="en-US" b="0" dirty="0">
                <a:latin typeface="Arial" panose="020B0604020202020204" pitchFamily="34" charset="0"/>
              </a:rPr>
              <a:t>“</a:t>
            </a:r>
            <a:r>
              <a:rPr lang="en-US" altLang="ja-JP" b="0" dirty="0">
                <a:latin typeface="Times New Roman" panose="02020603050405020304" pitchFamily="18" charset="0"/>
              </a:rPr>
              <a:t>As Is</a:t>
            </a:r>
            <a:r>
              <a:rPr lang="ja-JP" altLang="en-US" b="0" dirty="0">
                <a:latin typeface="Arial" panose="020B0604020202020204" pitchFamily="34" charset="0"/>
              </a:rPr>
              <a:t>”</a:t>
            </a:r>
            <a:r>
              <a:rPr lang="en-US" altLang="ja-JP" b="0" dirty="0">
                <a:latin typeface="Times New Roman" panose="02020603050405020304" pitchFamily="18" charset="0"/>
              </a:rPr>
              <a:t>—it is tempting to work on solutions before we define barriers.</a:t>
            </a:r>
            <a:r>
              <a:rPr lang="ja-JP" altLang="en-US" b="0" dirty="0">
                <a:latin typeface="Arial" panose="020B0604020202020204" pitchFamily="34" charset="0"/>
              </a:rPr>
              <a:t>”</a:t>
            </a:r>
            <a:endParaRPr lang="en-US" altLang="ja-JP" b="0" dirty="0">
              <a:latin typeface="Times New Roman" panose="02020603050405020304" pitchFamily="18" charset="0"/>
            </a:endParaRPr>
          </a:p>
          <a:p>
            <a:r>
              <a:rPr lang="en-US" altLang="en-US" dirty="0">
                <a:latin typeface="Times New Roman" panose="02020603050405020304" pitchFamily="18" charset="0"/>
              </a:rPr>
              <a:t>SAY: </a:t>
            </a:r>
            <a:r>
              <a:rPr lang="ja-JP" altLang="en-US" sz="1000" b="0" dirty="0">
                <a:latin typeface="Arial" panose="020B0604020202020204" pitchFamily="34" charset="0"/>
              </a:rPr>
              <a:t>“</a:t>
            </a:r>
            <a:r>
              <a:rPr lang="en-US" altLang="ja-JP" sz="1000" b="0" dirty="0">
                <a:latin typeface="Times New Roman" panose="02020603050405020304" pitchFamily="18" charset="0"/>
              </a:rPr>
              <a:t>When you think of the wastes that are barriers… think of what is causing that waste to happen… that is the true barrier.</a:t>
            </a:r>
            <a:r>
              <a:rPr lang="ja-JP" altLang="en-US" sz="1000" b="0" dirty="0">
                <a:latin typeface="Arial" panose="020B0604020202020204" pitchFamily="34" charset="0"/>
              </a:rPr>
              <a:t>”</a:t>
            </a:r>
            <a:endParaRPr lang="en-US" altLang="ja-JP" sz="1000" b="0" dirty="0">
              <a:latin typeface="Times New Roman" panose="02020603050405020304" pitchFamily="18" charset="0"/>
            </a:endParaRPr>
          </a:p>
          <a:p>
            <a:endParaRPr lang="en-US" altLang="en-US" sz="1000"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33707011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31384182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NOTE: </a:t>
            </a:r>
            <a:r>
              <a:rPr lang="en-US" altLang="en-US" b="0" dirty="0">
                <a:latin typeface="Times New Roman" panose="02020603050405020304" pitchFamily="18" charset="0"/>
              </a:rPr>
              <a:t>This is also called a </a:t>
            </a:r>
            <a:r>
              <a:rPr lang="ja-JP" altLang="en-US" b="0" dirty="0">
                <a:latin typeface="Arial" panose="020B0604020202020204" pitchFamily="34" charset="0"/>
              </a:rPr>
              <a:t>“</a:t>
            </a:r>
            <a:r>
              <a:rPr lang="en-US" altLang="ja-JP" b="0" dirty="0">
                <a:latin typeface="Times New Roman" panose="02020603050405020304" pitchFamily="18" charset="0"/>
              </a:rPr>
              <a:t>PICK</a:t>
            </a:r>
            <a:r>
              <a:rPr lang="ja-JP" altLang="en-US" b="0" dirty="0">
                <a:latin typeface="Arial" panose="020B0604020202020204" pitchFamily="34" charset="0"/>
              </a:rPr>
              <a:t>”</a:t>
            </a:r>
            <a:r>
              <a:rPr lang="en-US" altLang="ja-JP" b="0" dirty="0">
                <a:latin typeface="Times New Roman" panose="02020603050405020304" pitchFamily="18" charset="0"/>
              </a:rPr>
              <a:t> Diagram: Possible Implement Challenge Kill. </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818187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16171145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34841257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14890901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433995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41851420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25143422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5343889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Japanese origins and definition of the term, poka-yoke.</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err="1">
                <a:latin typeface="Times New Roman" panose="02020603050405020304" pitchFamily="18" charset="0"/>
              </a:rPr>
              <a:t>Poka</a:t>
            </a:r>
            <a:r>
              <a:rPr lang="en-US" altLang="ja-JP" dirty="0">
                <a:latin typeface="Times New Roman" panose="02020603050405020304" pitchFamily="18" charset="0"/>
              </a:rPr>
              <a:t> Yoke is also called mistake-proofing, error-proofing, and </a:t>
            </a:r>
            <a:r>
              <a:rPr lang="en-US" altLang="ja-JP" dirty="0" err="1">
                <a:latin typeface="Times New Roman" panose="02020603050405020304" pitchFamily="18" charset="0"/>
              </a:rPr>
              <a:t>baka</a:t>
            </a:r>
            <a:r>
              <a:rPr lang="en-US" altLang="ja-JP" dirty="0">
                <a:latin typeface="Times New Roman" panose="02020603050405020304" pitchFamily="18" charset="0"/>
              </a:rPr>
              <a:t>-yoke (fool proofing)</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refers to methods that help associates avoid mistakes in their work caused by choosing the wrong item, leaving out an item, or any other form of doing something incorrectly.</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is the highest level of </a:t>
            </a:r>
            <a:r>
              <a:rPr lang="en-US" altLang="ja-JP" dirty="0" err="1">
                <a:latin typeface="Times New Roman" panose="02020603050405020304" pitchFamily="18" charset="0"/>
              </a:rPr>
              <a:t>jidoka</a:t>
            </a:r>
            <a:r>
              <a:rPr lang="en-US" altLang="ja-JP" dirty="0">
                <a:latin typeface="Times New Roman" panose="02020603050405020304" pitchFamily="18" charset="0"/>
              </a:rPr>
              <a:t>. </a:t>
            </a:r>
            <a:r>
              <a:rPr lang="en-US" altLang="ja-JP" dirty="0" err="1">
                <a:latin typeface="Times New Roman" panose="02020603050405020304" pitchFamily="18" charset="0"/>
              </a:rPr>
              <a:t>Jidoka</a:t>
            </a:r>
            <a:r>
              <a:rPr lang="en-US" altLang="ja-JP" dirty="0">
                <a:latin typeface="Times New Roman" panose="02020603050405020304" pitchFamily="18" charset="0"/>
              </a:rPr>
              <a:t> is another Japanese term that refers to providing systems, programs, and associates the ability to detect when an abnormal condition has occurred and immediately stop work. This allows associates to build quality into each process of their work.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What are other error proofing examples?</a:t>
            </a:r>
            <a:r>
              <a:rPr lang="ja-JP" altLang="en-US" dirty="0">
                <a:latin typeface="Arial" panose="020B0604020202020204" pitchFamily="34" charset="0"/>
              </a:rPr>
              <a:t>”</a:t>
            </a:r>
            <a:endParaRPr lang="en-US" altLang="ja-JP" dirty="0">
              <a:latin typeface="Times New Roman" panose="02020603050405020304" pitchFamily="18" charset="0"/>
            </a:endParaRP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Car safety belt warning light or buzzer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Clothes iron that shuts itself off if left on inadvertently</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Garage door opener with safety reversing switch</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Lawn mower with safety release handle for shutting off mower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A car that cannot be started in gear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Microwave ovens that will not start with the door open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8081389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35994960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5679842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21326428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2214704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837490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Lack of flow = batch processing and bottlenecks.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350170191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31290592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416360056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130493853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37362670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3000252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2925450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25729597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Label each solution next to the kaizen description and or on the kaizen newspaper and future plans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2064665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16692956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25735537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The purpose of the Kaizen Newspaper is to track progress on solutions defined during the event, not implemented during the event, but agreed to be implemented within 4 weeks from the Friday ending the event</a:t>
            </a:r>
          </a:p>
          <a:p>
            <a:r>
              <a:rPr lang="en-US" altLang="en-US" dirty="0">
                <a:latin typeface="Times New Roman" panose="02020603050405020304" pitchFamily="18" charset="0"/>
              </a:rPr>
              <a:t>The top of the form must bear the name of the event; date of the event, Team  Leaders Name.  Example – TPI – Order Configuration  - Order Entry Value Stream – 01-26-07 – Tom Swift</a:t>
            </a:r>
          </a:p>
          <a:p>
            <a:r>
              <a:rPr lang="en-US" altLang="en-US" dirty="0">
                <a:latin typeface="Times New Roman" panose="02020603050405020304" pitchFamily="18" charset="0"/>
              </a:rPr>
              <a:t>An item must have a brief description (the </a:t>
            </a:r>
            <a:r>
              <a:rPr lang="ja-JP" altLang="en-US" dirty="0">
                <a:latin typeface="Arial" panose="020B0604020202020204" pitchFamily="34" charset="0"/>
              </a:rPr>
              <a:t>“</a:t>
            </a:r>
            <a:r>
              <a:rPr lang="en-US" altLang="ja-JP" dirty="0">
                <a:latin typeface="Times New Roman" panose="02020603050405020304" pitchFamily="18" charset="0"/>
              </a:rPr>
              <a:t>3 sentence</a:t>
            </a:r>
            <a:r>
              <a:rPr lang="ja-JP" altLang="en-US" dirty="0">
                <a:latin typeface="Arial" panose="020B0604020202020204" pitchFamily="34" charset="0"/>
              </a:rPr>
              <a:t>”</a:t>
            </a:r>
            <a:r>
              <a:rPr lang="en-US" altLang="ja-JP" dirty="0">
                <a:latin typeface="Times New Roman" panose="02020603050405020304" pitchFamily="18" charset="0"/>
              </a:rPr>
              <a:t> description is fine), must have a person</a:t>
            </a:r>
            <a:r>
              <a:rPr lang="ja-JP" altLang="en-US" dirty="0">
                <a:latin typeface="Arial" panose="020B0604020202020204" pitchFamily="34" charset="0"/>
              </a:rPr>
              <a:t>’</a:t>
            </a:r>
            <a:r>
              <a:rPr lang="en-US" altLang="ja-JP" dirty="0">
                <a:latin typeface="Times New Roman" panose="02020603050405020304" pitchFamily="18" charset="0"/>
              </a:rPr>
              <a:t>s name next to it and a date—all of which must be accepted by the person whose name appears for that item</a:t>
            </a:r>
          </a:p>
          <a:p>
            <a:r>
              <a:rPr lang="en-US" altLang="en-US" dirty="0">
                <a:latin typeface="Times New Roman" panose="02020603050405020304" pitchFamily="18" charset="0"/>
              </a:rPr>
              <a:t>Newspapers with open items should be reviewed on a regular fixed day each week; attendees to that regular meeting should include Leadership, VS Managers, and the Team Leaders</a:t>
            </a:r>
            <a:endParaRPr lang="en-US" altLang="en-US" sz="800" dirty="0">
              <a:latin typeface="Times New Roman" panose="02020603050405020304" pitchFamily="18" charset="0"/>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7869653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ea typeface="ＭＳ Ｐゴシック" charset="0"/>
                <a:cs typeface="+mn-cs"/>
              </a:rPr>
              <a:t>If date slips on action plan, enter new date but do not erase the original date nor any of the subsequent dates. </a:t>
            </a:r>
          </a:p>
          <a:p>
            <a:pPr>
              <a:defRPr/>
            </a:pPr>
            <a:r>
              <a:rPr lang="en-US" dirty="0">
                <a:ea typeface="ＭＳ Ｐゴシック" charset="0"/>
                <a:cs typeface="+mn-cs"/>
              </a:rPr>
              <a:t>Resource labels (OPT, MPT, CFT, and FKE) are also labeled/transferred to this document.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42262516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27445039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21720763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39668904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3503080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32394104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NOTE: </a:t>
            </a:r>
            <a:r>
              <a:rPr lang="en-US" b="0" dirty="0">
                <a:ea typeface="ＭＳ Ｐゴシック" charset="0"/>
                <a:cs typeface="+mn-cs"/>
              </a:rPr>
              <a:t>The following appendices are intended to provide a definition of the various improvement tools. For a deeper dive into any of these tools, refer to the specific training module for that tool.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355084551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ea typeface="ＭＳ Ｐゴシック" charset="0"/>
                <a:cs typeface="+mn-cs"/>
              </a:rPr>
              <a:t>DO</a:t>
            </a:r>
            <a:r>
              <a:rPr lang="en-US" dirty="0">
                <a:ea typeface="ＭＳ Ｐゴシック" charset="0"/>
                <a:cs typeface="+mn-cs"/>
              </a:rPr>
              <a:t>: Review the nine steps to solving a problem and state that we will go into much more depth on each step.</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10087191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391283458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119116100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45000"/>
              </a:spcBef>
              <a:buClr>
                <a:schemeClr val="accent1"/>
              </a:buClr>
              <a:buSzPct val="40000"/>
              <a:buFont typeface="Wingdings 2" panose="05020102010507070707" pitchFamily="18" charset="2"/>
              <a:buNone/>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Use Control Charting when you need to discover how much variability in a process is due to random variation and how much is due to unique events/individual actions in order to determine whether a process is in statistical control.</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DO:</a:t>
            </a:r>
            <a:r>
              <a:rPr lang="en-US" altLang="en-US" dirty="0">
                <a:latin typeface="Times New Roman" panose="02020603050405020304" pitchFamily="18" charset="0"/>
              </a:rPr>
              <a:t> Review the tools, ask the group if they have had any experience with the tools. Call on participants to share how they used these tools in the past.</a:t>
            </a:r>
          </a:p>
        </p:txBody>
      </p:sp>
      <p:sp>
        <p:nvSpPr>
          <p:cNvPr id="4" name="Slide Number Placeholder 3"/>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105744026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151455830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5000"/>
              </a:lnSpc>
              <a:spcBef>
                <a:spcPct val="50000"/>
              </a:spcBef>
              <a:buClr>
                <a:schemeClr val="tx1"/>
              </a:buClr>
              <a:buSzPct val="50000"/>
              <a:buFont typeface="Monotype Sorts" pitchFamily="1" charset="2"/>
              <a:buNone/>
            </a:pPr>
            <a:r>
              <a:rPr lang="en-US" altLang="en-US" b="0" dirty="0">
                <a:latin typeface="Times New Roman" panose="02020603050405020304" pitchFamily="18" charset="0"/>
              </a:rPr>
              <a:t>SAY : </a:t>
            </a:r>
            <a:r>
              <a:rPr lang="ja-JP" altLang="en-US" dirty="0">
                <a:latin typeface="Arial" panose="020B0604020202020204" pitchFamily="34" charset="0"/>
              </a:rPr>
              <a:t>“</a:t>
            </a:r>
            <a:r>
              <a:rPr lang="en-US" altLang="ja-JP" dirty="0">
                <a:latin typeface="Times New Roman" panose="02020603050405020304" pitchFamily="18" charset="0"/>
              </a:rPr>
              <a:t>CEDAC is a tool which covers every step in the Customer Focused Problem Solving Process.</a:t>
            </a:r>
          </a:p>
          <a:p>
            <a:pPr lvl="1">
              <a:lnSpc>
                <a:spcPct val="95000"/>
              </a:lnSpc>
              <a:spcBef>
                <a:spcPct val="50000"/>
              </a:spcBef>
              <a:buClr>
                <a:schemeClr val="tx1"/>
              </a:buClr>
              <a:buFontTx/>
              <a:buChar char="–"/>
            </a:pPr>
            <a:r>
              <a:rPr lang="en-US" altLang="en-US" dirty="0">
                <a:latin typeface="Times New Roman" panose="02020603050405020304" pitchFamily="18" charset="0"/>
              </a:rPr>
              <a:t>It involves everyone in the Problem Solving Process, even those not directly working on the problem because it is visually displayed in the workplace, thus providing easy access. Because of this, it is also extremely useful for multi-shift operations.</a:t>
            </a:r>
            <a:r>
              <a:rPr lang="ja-JP" altLang="en-US" dirty="0">
                <a:latin typeface="Arial" panose="020B0604020202020204" pitchFamily="34" charset="0"/>
              </a:rPr>
              <a:t>”</a:t>
            </a:r>
            <a:r>
              <a:rPr lang="en-US" altLang="ja-JP" dirty="0">
                <a:latin typeface="Times New Roman" panose="02020603050405020304" pitchFamily="18" charset="0"/>
              </a:rPr>
              <a:t> </a:t>
            </a:r>
          </a:p>
          <a:p>
            <a:pPr>
              <a:lnSpc>
                <a:spcPct val="95000"/>
              </a:lnSpc>
              <a:spcBef>
                <a:spcPct val="50000"/>
              </a:spcBef>
              <a:buClr>
                <a:schemeClr val="tx1"/>
              </a:buClr>
            </a:pPr>
            <a:r>
              <a:rPr lang="en-US" altLang="en-US" b="0" dirty="0">
                <a:latin typeface="Times New Roman" panose="02020603050405020304" pitchFamily="18" charset="0"/>
              </a:rPr>
              <a:t>SAY: </a:t>
            </a:r>
            <a:r>
              <a:rPr lang="ja-JP" altLang="en-US" dirty="0">
                <a:latin typeface="Arial" panose="020B0604020202020204" pitchFamily="34" charset="0"/>
              </a:rPr>
              <a:t>“</a:t>
            </a:r>
            <a:r>
              <a:rPr lang="en-US" altLang="ja-JP" dirty="0">
                <a:latin typeface="Times New Roman" panose="02020603050405020304" pitchFamily="18" charset="0"/>
              </a:rPr>
              <a:t>When should you use CEDAC?</a:t>
            </a:r>
          </a:p>
          <a:p>
            <a:pPr lvl="1">
              <a:lnSpc>
                <a:spcPct val="95000"/>
              </a:lnSpc>
              <a:buClr>
                <a:schemeClr val="tx1"/>
              </a:buClr>
              <a:buFontTx/>
              <a:buChar char="–"/>
            </a:pPr>
            <a:r>
              <a:rPr lang="en-US" altLang="en-US" dirty="0">
                <a:latin typeface="Times New Roman" panose="02020603050405020304" pitchFamily="18" charset="0"/>
              </a:rPr>
              <a:t>When you need to identify, explore and display the possible causes of, and potential solutions to, a </a:t>
            </a:r>
            <a:r>
              <a:rPr lang="en-US" altLang="en-US" u="sng" dirty="0">
                <a:latin typeface="Times New Roman" panose="02020603050405020304" pitchFamily="18" charset="0"/>
              </a:rPr>
              <a:t>specific</a:t>
            </a:r>
            <a:r>
              <a:rPr lang="en-US" altLang="en-US" dirty="0">
                <a:latin typeface="Times New Roman" panose="02020603050405020304" pitchFamily="18" charset="0"/>
              </a:rPr>
              <a:t> problem or condition.</a:t>
            </a:r>
          </a:p>
          <a:p>
            <a:pPr lvl="1">
              <a:lnSpc>
                <a:spcPct val="95000"/>
              </a:lnSpc>
              <a:buClr>
                <a:schemeClr val="tx1"/>
              </a:buClr>
              <a:buFontTx/>
              <a:buChar char="–"/>
            </a:pPr>
            <a:r>
              <a:rPr lang="en-US" altLang="en-US" dirty="0">
                <a:latin typeface="Times New Roman" panose="02020603050405020304" pitchFamily="18" charset="0"/>
              </a:rPr>
              <a:t>When team-based involvement is essential to the successful root cause solution to a </a:t>
            </a:r>
            <a:r>
              <a:rPr lang="en-US" altLang="en-US" u="sng" dirty="0">
                <a:latin typeface="Times New Roman" panose="02020603050405020304" pitchFamily="18" charset="0"/>
              </a:rPr>
              <a:t>specific</a:t>
            </a:r>
            <a:r>
              <a:rPr lang="en-US" altLang="en-US" dirty="0">
                <a:latin typeface="Times New Roman" panose="02020603050405020304" pitchFamily="18" charset="0"/>
              </a:rPr>
              <a:t> problem.</a:t>
            </a:r>
            <a:r>
              <a:rPr lang="ja-JP" altLang="en-US" dirty="0">
                <a:latin typeface="Arial" panose="020B0604020202020204" pitchFamily="34" charset="0"/>
              </a:rPr>
              <a:t>”</a:t>
            </a:r>
            <a:endParaRPr lang="en-US" altLang="ja-JP"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71249812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320045677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361240768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95</a:t>
            </a:fld>
            <a:endParaRPr lang="en-US"/>
          </a:p>
        </p:txBody>
      </p:sp>
    </p:spTree>
    <p:extLst>
      <p:ext uri="{BB962C8B-B14F-4D97-AF65-F5344CB8AC3E}">
        <p14:creationId xmlns:p14="http://schemas.microsoft.com/office/powerpoint/2010/main" val="422022268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405463785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238804678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231828880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Japanese origins and definition of the term, poka-yoke.</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err="1">
                <a:latin typeface="Times New Roman" panose="02020603050405020304" pitchFamily="18" charset="0"/>
              </a:rPr>
              <a:t>Poka</a:t>
            </a:r>
            <a:r>
              <a:rPr lang="en-US" altLang="ja-JP" dirty="0">
                <a:latin typeface="Times New Roman" panose="02020603050405020304" pitchFamily="18" charset="0"/>
              </a:rPr>
              <a:t> Yoke is also called mistake-proofing, or error-proofing.</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refers to methods that help associates avoid mistakes in their work caused by choosing the wrong item, leaving out an item, or any other form of doing something incorrectly.</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is the highest level of </a:t>
            </a:r>
            <a:r>
              <a:rPr lang="en-US" altLang="ja-JP" dirty="0" err="1">
                <a:latin typeface="Times New Roman" panose="02020603050405020304" pitchFamily="18" charset="0"/>
              </a:rPr>
              <a:t>jidoka</a:t>
            </a:r>
            <a:r>
              <a:rPr lang="en-US" altLang="ja-JP" dirty="0">
                <a:latin typeface="Times New Roman" panose="02020603050405020304" pitchFamily="18" charset="0"/>
              </a:rPr>
              <a:t>. </a:t>
            </a:r>
            <a:r>
              <a:rPr lang="en-US" altLang="ja-JP" dirty="0" err="1">
                <a:latin typeface="Times New Roman" panose="02020603050405020304" pitchFamily="18" charset="0"/>
              </a:rPr>
              <a:t>Jidoka</a:t>
            </a:r>
            <a:r>
              <a:rPr lang="en-US" altLang="ja-JP" dirty="0">
                <a:latin typeface="Times New Roman" panose="02020603050405020304" pitchFamily="18" charset="0"/>
              </a:rPr>
              <a:t> is another Japanese term that refers to providing systems, programs, and associates the ability to detect when an abnormal condition has occurred and immediately stop work. This allows associates to build quality into each process of their work.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What are other error proofing examples?</a:t>
            </a:r>
            <a:r>
              <a:rPr lang="ja-JP" altLang="en-US" dirty="0">
                <a:latin typeface="Arial" panose="020B0604020202020204" pitchFamily="34" charset="0"/>
              </a:rPr>
              <a:t>”</a:t>
            </a:r>
            <a:endParaRPr lang="en-US" altLang="ja-JP" dirty="0">
              <a:latin typeface="Times New Roman" panose="02020603050405020304" pitchFamily="18" charset="0"/>
            </a:endParaRP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Car safety belt warning light or buzzer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Clothes iron that shuts itself off if left on inadvertently</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Garage door opener with safety reversing switch</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Lawn mower with safety release handle for shutting off mower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A car that cannot be started in gear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Microwave ovens that will not start with the door open</a:t>
            </a:r>
          </a:p>
        </p:txBody>
      </p:sp>
      <p:sp>
        <p:nvSpPr>
          <p:cNvPr id="4" name="Slide Number Placeholder 3"/>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391469974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ea typeface="ＭＳ Ｐゴシック" charset="0"/>
                <a:cs typeface="+mn-cs"/>
              </a:rPr>
              <a:t>DO:</a:t>
            </a:r>
            <a:r>
              <a:rPr lang="en-US" dirty="0">
                <a:ea typeface="ＭＳ Ｐゴシック" charset="0"/>
                <a:cs typeface="+mn-cs"/>
              </a:rPr>
              <a:t> Review key points on the slide. As if anyone has experience implementing poka-yokes in the workplace and if yes, to share.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100</a:t>
            </a:fld>
            <a:endParaRPr lang="en-US"/>
          </a:p>
        </p:txBody>
      </p:sp>
    </p:spTree>
    <p:extLst>
      <p:ext uri="{BB962C8B-B14F-4D97-AF65-F5344CB8AC3E}">
        <p14:creationId xmlns:p14="http://schemas.microsoft.com/office/powerpoint/2010/main" val="155428754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156358392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102</a:t>
            </a:fld>
            <a:endParaRPr lang="en-US"/>
          </a:p>
        </p:txBody>
      </p:sp>
    </p:spTree>
    <p:extLst>
      <p:ext uri="{BB962C8B-B14F-4D97-AF65-F5344CB8AC3E}">
        <p14:creationId xmlns:p14="http://schemas.microsoft.com/office/powerpoint/2010/main" val="340736228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103</a:t>
            </a:fld>
            <a:endParaRPr lang="en-US"/>
          </a:p>
        </p:txBody>
      </p:sp>
    </p:spTree>
    <p:extLst>
      <p:ext uri="{BB962C8B-B14F-4D97-AF65-F5344CB8AC3E}">
        <p14:creationId xmlns:p14="http://schemas.microsoft.com/office/powerpoint/2010/main" val="348127869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104</a:t>
            </a:fld>
            <a:endParaRPr lang="en-US"/>
          </a:p>
        </p:txBody>
      </p:sp>
    </p:spTree>
    <p:extLst>
      <p:ext uri="{BB962C8B-B14F-4D97-AF65-F5344CB8AC3E}">
        <p14:creationId xmlns:p14="http://schemas.microsoft.com/office/powerpoint/2010/main" val="383743335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105</a:t>
            </a:fld>
            <a:endParaRPr lang="en-US"/>
          </a:p>
        </p:txBody>
      </p:sp>
    </p:spTree>
    <p:extLst>
      <p:ext uri="{BB962C8B-B14F-4D97-AF65-F5344CB8AC3E}">
        <p14:creationId xmlns:p14="http://schemas.microsoft.com/office/powerpoint/2010/main" val="320303990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106</a:t>
            </a:fld>
            <a:endParaRPr lang="en-US"/>
          </a:p>
        </p:txBody>
      </p:sp>
    </p:spTree>
    <p:extLst>
      <p:ext uri="{BB962C8B-B14F-4D97-AF65-F5344CB8AC3E}">
        <p14:creationId xmlns:p14="http://schemas.microsoft.com/office/powerpoint/2010/main" val="335601348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107</a:t>
            </a:fld>
            <a:endParaRPr lang="en-US"/>
          </a:p>
        </p:txBody>
      </p:sp>
    </p:spTree>
    <p:extLst>
      <p:ext uri="{BB962C8B-B14F-4D97-AF65-F5344CB8AC3E}">
        <p14:creationId xmlns:p14="http://schemas.microsoft.com/office/powerpoint/2010/main" val="235971796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108</a:t>
            </a:fld>
            <a:endParaRPr lang="en-US"/>
          </a:p>
        </p:txBody>
      </p:sp>
    </p:spTree>
    <p:extLst>
      <p:ext uri="{BB962C8B-B14F-4D97-AF65-F5344CB8AC3E}">
        <p14:creationId xmlns:p14="http://schemas.microsoft.com/office/powerpoint/2010/main" val="17267253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109</a:t>
            </a:fld>
            <a:endParaRPr lang="en-US"/>
          </a:p>
        </p:txBody>
      </p:sp>
    </p:spTree>
    <p:extLst>
      <p:ext uri="{BB962C8B-B14F-4D97-AF65-F5344CB8AC3E}">
        <p14:creationId xmlns:p14="http://schemas.microsoft.com/office/powerpoint/2010/main" val="13021397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110</a:t>
            </a:fld>
            <a:endParaRPr lang="en-US"/>
          </a:p>
        </p:txBody>
      </p:sp>
    </p:spTree>
    <p:extLst>
      <p:ext uri="{BB962C8B-B14F-4D97-AF65-F5344CB8AC3E}">
        <p14:creationId xmlns:p14="http://schemas.microsoft.com/office/powerpoint/2010/main" val="205296892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111</a:t>
            </a:fld>
            <a:endParaRPr lang="en-US"/>
          </a:p>
        </p:txBody>
      </p:sp>
    </p:spTree>
    <p:extLst>
      <p:ext uri="{BB962C8B-B14F-4D97-AF65-F5344CB8AC3E}">
        <p14:creationId xmlns:p14="http://schemas.microsoft.com/office/powerpoint/2010/main" val="10228562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F744EC1-81F9-0B24-7988-3B2BE623531B}"/>
              </a:ext>
            </a:extLst>
          </p:cNvPr>
          <p:cNvPicPr>
            <a:picLocks noChangeAspect="1"/>
          </p:cNvPicPr>
          <p:nvPr userDrawn="1"/>
        </p:nvPicPr>
        <p:blipFill>
          <a:blip r:embed="rId2"/>
          <a:stretch>
            <a:fillRect/>
          </a:stretch>
        </p:blipFill>
        <p:spPr>
          <a:xfrm>
            <a:off x="2385391" y="1950112"/>
            <a:ext cx="7772400" cy="2590800"/>
          </a:xfrm>
          <a:prstGeom prst="rect">
            <a:avLst/>
          </a:prstGeom>
        </p:spPr>
      </p:pic>
      <p:sp>
        <p:nvSpPr>
          <p:cNvPr id="9" name="Slide Number Placeholder 7">
            <a:extLst>
              <a:ext uri="{FF2B5EF4-FFF2-40B4-BE49-F238E27FC236}">
                <a16:creationId xmlns:a16="http://schemas.microsoft.com/office/drawing/2014/main" id="{64628160-D857-4CAD-DE85-4EFAA291282F}"/>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3006776E-D2C5-44D9-BB73-DB89E0B4AD57}"/>
              </a:ext>
            </a:extLst>
          </p:cNvPr>
          <p:cNvPicPr>
            <a:picLocks noChangeAspect="1"/>
          </p:cNvPicPr>
          <p:nvPr userDrawn="1"/>
        </p:nvPicPr>
        <p:blipFill>
          <a:blip r:embed="rId2"/>
          <a:stretch>
            <a:fillRect/>
          </a:stretch>
        </p:blipFill>
        <p:spPr>
          <a:xfrm>
            <a:off x="10165779" y="6012921"/>
            <a:ext cx="1825625" cy="365125"/>
          </a:xfrm>
          <a:prstGeom prst="rect">
            <a:avLst/>
          </a:prstGeom>
        </p:spPr>
      </p:pic>
      <p:sp>
        <p:nvSpPr>
          <p:cNvPr id="6" name="Slide Number Placeholder 7">
            <a:extLst>
              <a:ext uri="{FF2B5EF4-FFF2-40B4-BE49-F238E27FC236}">
                <a16:creationId xmlns:a16="http://schemas.microsoft.com/office/drawing/2014/main" id="{8CA8548B-4639-028B-02C9-721703A18A4D}"/>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
        <p:nvSpPr>
          <p:cNvPr id="3" name="Slide Number Placeholder 7">
            <a:extLst>
              <a:ext uri="{FF2B5EF4-FFF2-40B4-BE49-F238E27FC236}">
                <a16:creationId xmlns:a16="http://schemas.microsoft.com/office/drawing/2014/main" id="{B87E6621-977A-90BE-93EC-D18D06EE87F6}"/>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
        <p:nvSpPr>
          <p:cNvPr id="8" name="Slide Number Placeholder 7">
            <a:extLst>
              <a:ext uri="{FF2B5EF4-FFF2-40B4-BE49-F238E27FC236}">
                <a16:creationId xmlns:a16="http://schemas.microsoft.com/office/drawing/2014/main" id="{165A9C5B-EF78-63B6-D771-B7BBEBD2C73A}"/>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32E8F17C-CF98-3F63-332E-C7618EE729B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AE978DB-06B1-6DB1-451F-616523466227}"/>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Slide Number Placeholder 7">
            <a:extLst>
              <a:ext uri="{FF2B5EF4-FFF2-40B4-BE49-F238E27FC236}">
                <a16:creationId xmlns:a16="http://schemas.microsoft.com/office/drawing/2014/main" id="{BCC66EC7-6878-75E8-1723-EE4DAB2273C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51293D-AFD4-091B-63EB-CCA49C94A37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9" name="Slide Number Placeholder 7">
            <a:extLst>
              <a:ext uri="{FF2B5EF4-FFF2-40B4-BE49-F238E27FC236}">
                <a16:creationId xmlns:a16="http://schemas.microsoft.com/office/drawing/2014/main" id="{3A586177-C47D-CDE2-811B-E3CAC84C513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69B7633-1807-836A-600A-5CD658D5C593}"/>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11" name="Slide Number Placeholder 7">
            <a:extLst>
              <a:ext uri="{FF2B5EF4-FFF2-40B4-BE49-F238E27FC236}">
                <a16:creationId xmlns:a16="http://schemas.microsoft.com/office/drawing/2014/main" id="{C4EB5D96-64D5-50A2-3AC3-9D7EB88B4CCD}"/>
              </a:ext>
            </a:extLst>
          </p:cNvPr>
          <p:cNvSpPr>
            <a:spLocks noGrp="1"/>
          </p:cNvSpPr>
          <p:nvPr>
            <p:ph type="sldNum" sz="quarter" idx="10"/>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B0178A2E-D4C3-C731-FF90-B7EB0CFF172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7" name="Slide Number Placeholder 7">
            <a:extLst>
              <a:ext uri="{FF2B5EF4-FFF2-40B4-BE49-F238E27FC236}">
                <a16:creationId xmlns:a16="http://schemas.microsoft.com/office/drawing/2014/main" id="{06628CEC-1E4F-6751-EB1E-CA470DD47099}"/>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7">
            <a:extLst>
              <a:ext uri="{FF2B5EF4-FFF2-40B4-BE49-F238E27FC236}">
                <a16:creationId xmlns:a16="http://schemas.microsoft.com/office/drawing/2014/main" id="{60737C42-0AC6-8153-B7D2-0F880598F424}"/>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9" name="Straight Connector 8">
            <a:extLst>
              <a:ext uri="{FF2B5EF4-FFF2-40B4-BE49-F238E27FC236}">
                <a16:creationId xmlns:a16="http://schemas.microsoft.com/office/drawing/2014/main" id="{D41AEAE0-5A73-BF31-E8F3-75FC36B1F4D1}"/>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10" name="Slide Number Placeholder 7">
            <a:extLst>
              <a:ext uri="{FF2B5EF4-FFF2-40B4-BE49-F238E27FC236}">
                <a16:creationId xmlns:a16="http://schemas.microsoft.com/office/drawing/2014/main" id="{F67F594F-EFDA-9B41-A3F7-0A6E0189EF4C}"/>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2140898"/>
            <a:ext cx="5230319" cy="37201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10E878AA-616B-FB39-D0C3-010A9FBC3B30}"/>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9" name="Slide Number Placeholder 7">
            <a:extLst>
              <a:ext uri="{FF2B5EF4-FFF2-40B4-BE49-F238E27FC236}">
                <a16:creationId xmlns:a16="http://schemas.microsoft.com/office/drawing/2014/main" id="{B42C8A07-F5F0-8D98-B8D3-81805B725E1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5520590-4C76-0907-E425-75E4F3A335B3}"/>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F143A897-BD0C-A648-2702-47E1195257AD}"/>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891153"/>
            <a:ext cx="2628900" cy="528581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891153"/>
            <a:ext cx="7734300" cy="52858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7">
            <a:extLst>
              <a:ext uri="{FF2B5EF4-FFF2-40B4-BE49-F238E27FC236}">
                <a16:creationId xmlns:a16="http://schemas.microsoft.com/office/drawing/2014/main" id="{7C5377A4-4F68-7AA2-AB24-B1E0D73584A6}"/>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EA6E8AA-248B-980A-6A4A-0F038EEBBDCA}"/>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165779" y="5849258"/>
            <a:ext cx="1825625" cy="365125"/>
          </a:xfrm>
          <a:prstGeom prst="rect">
            <a:avLst/>
          </a:prstGeom>
        </p:spPr>
      </p:pic>
      <p:sp>
        <p:nvSpPr>
          <p:cNvPr id="11" name="Slide Number Placeholder 7">
            <a:extLst>
              <a:ext uri="{FF2B5EF4-FFF2-40B4-BE49-F238E27FC236}">
                <a16:creationId xmlns:a16="http://schemas.microsoft.com/office/drawing/2014/main" id="{A6B3C53D-95BC-724C-B671-E2299DFF5802}"/>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
        <p:nvSpPr>
          <p:cNvPr id="12" name="TextBox 11">
            <a:extLst>
              <a:ext uri="{FF2B5EF4-FFF2-40B4-BE49-F238E27FC236}">
                <a16:creationId xmlns:a16="http://schemas.microsoft.com/office/drawing/2014/main" id="{AEEDF596-9CCB-9AC7-A0AD-A3E0CDE7B12A}"/>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13" name="TextBox 12">
            <a:extLst>
              <a:ext uri="{FF2B5EF4-FFF2-40B4-BE49-F238E27FC236}">
                <a16:creationId xmlns:a16="http://schemas.microsoft.com/office/drawing/2014/main" id="{9FE130B5-AF8C-AFB2-18C6-E1889419F4AC}"/>
              </a:ext>
            </a:extLst>
          </p:cNvPr>
          <p:cNvSpPr txBox="1"/>
          <p:nvPr userDrawn="1"/>
        </p:nvSpPr>
        <p:spPr>
          <a:xfrm>
            <a:off x="838200" y="6389310"/>
            <a:ext cx="4171934" cy="400110"/>
          </a:xfrm>
          <a:prstGeom prst="rect">
            <a:avLst/>
          </a:prstGeom>
          <a:noFill/>
        </p:spPr>
        <p:txBody>
          <a:bodyPr wrap="square" rtlCol="0">
            <a:spAutoFit/>
          </a:bodyPr>
          <a:lstStyle/>
          <a:p>
            <a:r>
              <a:rPr lang="en-US" sz="1000" dirty="0"/>
              <a:t>TPI PRESENTATION ENG REV 5.0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cxnSp>
        <p:nvCxnSpPr>
          <p:cNvPr id="14" name="Straight Connector 13">
            <a:extLst>
              <a:ext uri="{FF2B5EF4-FFF2-40B4-BE49-F238E27FC236}">
                <a16:creationId xmlns:a16="http://schemas.microsoft.com/office/drawing/2014/main" id="{0E4879AA-A231-BE8B-4AF0-435C3D2DF3EB}"/>
              </a:ext>
            </a:extLst>
          </p:cNvPr>
          <p:cNvCxnSpPr/>
          <p:nvPr userDrawn="1"/>
        </p:nvCxnSpPr>
        <p:spPr>
          <a:xfrm>
            <a:off x="796636" y="6249243"/>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jpeg"/><Relationship Id="rId3" Type="http://schemas.openxmlformats.org/officeDocument/2006/relationships/image" Target="../media/image8.jpeg"/><Relationship Id="rId7" Type="http://schemas.openxmlformats.org/officeDocument/2006/relationships/image" Target="../media/image12.jpeg"/><Relationship Id="rId12"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11.jpeg"/><Relationship Id="rId11" Type="http://schemas.openxmlformats.org/officeDocument/2006/relationships/image" Target="../media/image16.jpeg"/><Relationship Id="rId5" Type="http://schemas.openxmlformats.org/officeDocument/2006/relationships/image" Target="../media/image10.jpeg"/><Relationship Id="rId10" Type="http://schemas.openxmlformats.org/officeDocument/2006/relationships/image" Target="../media/image15.jpeg"/><Relationship Id="rId4" Type="http://schemas.openxmlformats.org/officeDocument/2006/relationships/image" Target="../media/image9.jpeg"/><Relationship Id="rId9" Type="http://schemas.openxmlformats.org/officeDocument/2006/relationships/image" Target="../media/image14.jpeg"/><Relationship Id="rId1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slides/_rels/slide2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71.xml"/><Relationship Id="rId1" Type="http://schemas.openxmlformats.org/officeDocument/2006/relationships/slideLayout" Target="../slideLayouts/slideLayout8.xml"/><Relationship Id="rId4" Type="http://schemas.openxmlformats.org/officeDocument/2006/relationships/image" Target="../media/image35.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83.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88.xml"/><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97.xml"/><Relationship Id="rId1" Type="http://schemas.openxmlformats.org/officeDocument/2006/relationships/slideLayout" Target="../slideLayouts/slideLayout12.xml"/><Relationship Id="rId5" Type="http://schemas.openxmlformats.org/officeDocument/2006/relationships/image" Target="../media/image41.jpeg"/><Relationship Id="rId4" Type="http://schemas.openxmlformats.org/officeDocument/2006/relationships/image" Target="../media/image40.jpe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11.xml"/><Relationship Id="rId1" Type="http://schemas.openxmlformats.org/officeDocument/2006/relationships/slideLayout" Target="../slideLayouts/slideLayout3.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1648084" y="4138306"/>
            <a:ext cx="8895828" cy="707886"/>
          </a:xfrm>
          <a:prstGeom prst="rect">
            <a:avLst/>
          </a:prstGeom>
          <a:noFill/>
        </p:spPr>
        <p:txBody>
          <a:bodyPr wrap="square" rtlCol="0">
            <a:spAutoFit/>
          </a:bodyPr>
          <a:lstStyle/>
          <a:p>
            <a:pPr algn="ctr"/>
            <a:r>
              <a:rPr lang="en-US" sz="4000" dirty="0">
                <a:latin typeface="Roboto" panose="02000000000000000000" pitchFamily="2" charset="0"/>
                <a:ea typeface="Roboto" panose="02000000000000000000" pitchFamily="2" charset="0"/>
                <a:cs typeface="Roboto" panose="02000000000000000000" pitchFamily="2" charset="0"/>
              </a:rPr>
              <a:t>Transactional Process Improvement</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417235"/>
            <a:ext cx="2743200" cy="365125"/>
          </a:xfrm>
        </p:spPr>
        <p:txBody>
          <a:bodyPr/>
          <a:lstStyle/>
          <a:p>
            <a:fld id="{CC6D4273-7FC1-0947-B9FE-19CB3C0D1FB6}" type="slidenum">
              <a:rPr lang="en-US" smtClean="0"/>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96451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28" name="Slide Number Placeholder 27">
            <a:extLst>
              <a:ext uri="{FF2B5EF4-FFF2-40B4-BE49-F238E27FC236}">
                <a16:creationId xmlns:a16="http://schemas.microsoft.com/office/drawing/2014/main" id="{EF3366BB-7378-5248-E1AB-E3F4D5A711FB}"/>
              </a:ext>
            </a:extLst>
          </p:cNvPr>
          <p:cNvSpPr>
            <a:spLocks noGrp="1"/>
          </p:cNvSpPr>
          <p:nvPr>
            <p:ph type="sldNum" sz="quarter" idx="4"/>
          </p:nvPr>
        </p:nvSpPr>
        <p:spPr>
          <a:xfrm>
            <a:off x="8595078" y="6405080"/>
            <a:ext cx="2743200" cy="365125"/>
          </a:xfrm>
        </p:spPr>
        <p:txBody>
          <a:bodyPr/>
          <a:lstStyle/>
          <a:p>
            <a:fld id="{CC6D4273-7FC1-0947-B9FE-19CB3C0D1FB6}" type="slidenum">
              <a:rPr lang="en-US" smtClean="0"/>
              <a:pPr/>
              <a:t>2</a:t>
            </a:fld>
            <a:endParaRPr lang="en-US" dirty="0"/>
          </a:p>
        </p:txBody>
      </p:sp>
      <p:pic>
        <p:nvPicPr>
          <p:cNvPr id="5" name="Picture 4">
            <a:extLst>
              <a:ext uri="{FF2B5EF4-FFF2-40B4-BE49-F238E27FC236}">
                <a16:creationId xmlns:a16="http://schemas.microsoft.com/office/drawing/2014/main" id="{4F77E564-130A-01F2-3B6D-8D756B0B8E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6" name="Title 1">
            <a:extLst>
              <a:ext uri="{FF2B5EF4-FFF2-40B4-BE49-F238E27FC236}">
                <a16:creationId xmlns:a16="http://schemas.microsoft.com/office/drawing/2014/main" id="{50476D00-6350-B9B9-3155-A9174A079084}"/>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7" name="Picture 6">
            <a:extLst>
              <a:ext uri="{FF2B5EF4-FFF2-40B4-BE49-F238E27FC236}">
                <a16:creationId xmlns:a16="http://schemas.microsoft.com/office/drawing/2014/main" id="{CD1673B2-5B8C-9AFF-53CD-73F51F9C6812}"/>
              </a:ext>
            </a:extLst>
          </p:cNvPr>
          <p:cNvPicPr>
            <a:picLocks noChangeAspect="1"/>
          </p:cNvPicPr>
          <p:nvPr/>
        </p:nvPicPr>
        <p:blipFill>
          <a:blip r:embed="rId4"/>
          <a:stretch>
            <a:fillRect/>
          </a:stretch>
        </p:blipFill>
        <p:spPr>
          <a:xfrm>
            <a:off x="605117" y="1638489"/>
            <a:ext cx="3939240" cy="45719"/>
          </a:xfrm>
          <a:prstGeom prst="rect">
            <a:avLst/>
          </a:prstGeom>
        </p:spPr>
      </p:pic>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23" name="Slide Number Placeholder 22">
            <a:extLst>
              <a:ext uri="{FF2B5EF4-FFF2-40B4-BE49-F238E27FC236}">
                <a16:creationId xmlns:a16="http://schemas.microsoft.com/office/drawing/2014/main" id="{987CD68F-F529-1AC7-B116-6B9B66B4D6DB}"/>
              </a:ext>
            </a:extLst>
          </p:cNvPr>
          <p:cNvSpPr>
            <a:spLocks noGrp="1"/>
          </p:cNvSpPr>
          <p:nvPr>
            <p:ph type="sldNum" sz="quarter" idx="4"/>
          </p:nvPr>
        </p:nvSpPr>
        <p:spPr>
          <a:xfrm>
            <a:off x="8747478" y="6403228"/>
            <a:ext cx="2743200" cy="365125"/>
          </a:xfrm>
        </p:spPr>
        <p:txBody>
          <a:bodyPr/>
          <a:lstStyle/>
          <a:p>
            <a:fld id="{CC6D4273-7FC1-0947-B9FE-19CB3C0D1FB6}" type="slidenum">
              <a:rPr lang="en-US" smtClean="0"/>
              <a:pPr/>
              <a:t>3</a:t>
            </a:fld>
            <a:endParaRPr lang="en-US" dirty="0"/>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dirty="0"/>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17" name="Slide Number Placeholder 16">
            <a:extLst>
              <a:ext uri="{FF2B5EF4-FFF2-40B4-BE49-F238E27FC236}">
                <a16:creationId xmlns:a16="http://schemas.microsoft.com/office/drawing/2014/main" id="{C5C65792-2A36-FB9E-3DF5-7A139A9DCDC9}"/>
              </a:ext>
            </a:extLst>
          </p:cNvPr>
          <p:cNvSpPr>
            <a:spLocks noGrp="1"/>
          </p:cNvSpPr>
          <p:nvPr>
            <p:ph type="sldNum" sz="quarter" idx="4"/>
          </p:nvPr>
        </p:nvSpPr>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43A3-F70A-56DC-4602-722F34258C4D}"/>
              </a:ext>
            </a:extLst>
          </p:cNvPr>
          <p:cNvSpPr>
            <a:spLocks noGrp="1"/>
          </p:cNvSpPr>
          <p:nvPr>
            <p:ph type="title"/>
          </p:nvPr>
        </p:nvSpPr>
        <p:spPr>
          <a:xfrm>
            <a:off x="839788" y="457200"/>
            <a:ext cx="4790047" cy="1465029"/>
          </a:xfrm>
        </p:spPr>
        <p:txBody>
          <a:bodyPr/>
          <a:lstStyle/>
          <a:p>
            <a:r>
              <a:rPr lang="en-US" dirty="0"/>
              <a:t>Transactional Process Improvement (TPI)</a:t>
            </a:r>
          </a:p>
        </p:txBody>
      </p:sp>
      <p:sp>
        <p:nvSpPr>
          <p:cNvPr id="4" name="Text Placeholder 3">
            <a:extLst>
              <a:ext uri="{FF2B5EF4-FFF2-40B4-BE49-F238E27FC236}">
                <a16:creationId xmlns:a16="http://schemas.microsoft.com/office/drawing/2014/main" id="{82030B15-D010-A372-00AE-672009889CE6}"/>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t>A method of analyzing existing processes and discovering, defining, and implementing revised processes in a service enterprise or in the office side of a production enterprise </a:t>
            </a:r>
          </a:p>
          <a:p>
            <a:pPr marL="285750" indent="-285750">
              <a:buFont typeface="Arial" panose="020B0604020202020204" pitchFamily="34" charset="0"/>
              <a:buChar char="•"/>
            </a:pPr>
            <a:r>
              <a:rPr lang="en-US" sz="1800" dirty="0"/>
              <a:t>The boundaries of a TPI event are defined by two process steps and surround a set of process steps usually targeted by a </a:t>
            </a:r>
            <a:br>
              <a:rPr lang="en-US" sz="1800" dirty="0"/>
            </a:br>
            <a:r>
              <a:rPr lang="en-US" sz="1800" dirty="0"/>
              <a:t>Value Stream Plan</a:t>
            </a:r>
          </a:p>
          <a:p>
            <a:pPr marL="285750" indent="-285750">
              <a:buFont typeface="Arial" panose="020B0604020202020204" pitchFamily="34" charset="0"/>
              <a:buChar char="•"/>
            </a:pPr>
            <a:r>
              <a:rPr lang="en-US" sz="1800" dirty="0"/>
              <a:t>This can be very few steps or many depending on their nature</a:t>
            </a:r>
          </a:p>
        </p:txBody>
      </p:sp>
      <p:pic>
        <p:nvPicPr>
          <p:cNvPr id="8" name="Picture 5" descr="Team_Photo_5">
            <a:extLst>
              <a:ext uri="{FF2B5EF4-FFF2-40B4-BE49-F238E27FC236}">
                <a16:creationId xmlns:a16="http://schemas.microsoft.com/office/drawing/2014/main" id="{FE95A9F4-48E9-79DE-D038-F83B551015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922229"/>
            <a:ext cx="4425950" cy="331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D5DE1E55-BCA2-9908-F98B-326F10F485D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a:t>
            </a:fld>
            <a:endParaRPr lang="en-US"/>
          </a:p>
        </p:txBody>
      </p:sp>
    </p:spTree>
    <p:extLst>
      <p:ext uri="{BB962C8B-B14F-4D97-AF65-F5344CB8AC3E}">
        <p14:creationId xmlns:p14="http://schemas.microsoft.com/office/powerpoint/2010/main" val="324342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5D37-2932-9CA0-9BCF-1F11EC7D80F3}"/>
              </a:ext>
            </a:extLst>
          </p:cNvPr>
          <p:cNvSpPr>
            <a:spLocks noGrp="1"/>
          </p:cNvSpPr>
          <p:nvPr>
            <p:ph type="title"/>
          </p:nvPr>
        </p:nvSpPr>
        <p:spPr/>
        <p:txBody>
          <a:bodyPr/>
          <a:lstStyle/>
          <a:p>
            <a:r>
              <a:rPr lang="en-US" dirty="0"/>
              <a:t>Goal of TPI</a:t>
            </a:r>
          </a:p>
        </p:txBody>
      </p:sp>
      <p:sp>
        <p:nvSpPr>
          <p:cNvPr id="3" name="Content Placeholder 2">
            <a:extLst>
              <a:ext uri="{FF2B5EF4-FFF2-40B4-BE49-F238E27FC236}">
                <a16:creationId xmlns:a16="http://schemas.microsoft.com/office/drawing/2014/main" id="{B7CEF7B5-51D1-D89B-C08B-9A4B43C3FF69}"/>
              </a:ext>
            </a:extLst>
          </p:cNvPr>
          <p:cNvSpPr>
            <a:spLocks noGrp="1"/>
          </p:cNvSpPr>
          <p:nvPr>
            <p:ph idx="1"/>
          </p:nvPr>
        </p:nvSpPr>
        <p:spPr>
          <a:xfrm>
            <a:off x="838200" y="1825625"/>
            <a:ext cx="10104120" cy="4351338"/>
          </a:xfrm>
        </p:spPr>
        <p:txBody>
          <a:bodyPr/>
          <a:lstStyle/>
          <a:p>
            <a:pPr marL="0" indent="0">
              <a:buNone/>
            </a:pPr>
            <a:r>
              <a:rPr lang="en-US" dirty="0"/>
              <a:t>As a result of this training, you will be able to diagnose barriers to: </a:t>
            </a:r>
          </a:p>
          <a:p>
            <a:pPr lvl="1"/>
            <a:r>
              <a:rPr lang="en-US" dirty="0"/>
              <a:t> Quality and/or</a:t>
            </a:r>
          </a:p>
          <a:p>
            <a:pPr lvl="1"/>
            <a:r>
              <a:rPr lang="en-US" dirty="0"/>
              <a:t> Delivery and/or</a:t>
            </a:r>
          </a:p>
          <a:p>
            <a:pPr lvl="1"/>
            <a:r>
              <a:rPr lang="en-US" dirty="0"/>
              <a:t> Cost</a:t>
            </a:r>
          </a:p>
          <a:p>
            <a:pPr marL="0" indent="0">
              <a:buNone/>
            </a:pPr>
            <a:r>
              <a:rPr lang="en-US" dirty="0"/>
              <a:t>and design and implement the improved process.</a:t>
            </a:r>
          </a:p>
          <a:p>
            <a:endParaRPr lang="en-US" dirty="0"/>
          </a:p>
        </p:txBody>
      </p:sp>
      <p:sp>
        <p:nvSpPr>
          <p:cNvPr id="7" name="Slide Number Placeholder 16">
            <a:extLst>
              <a:ext uri="{FF2B5EF4-FFF2-40B4-BE49-F238E27FC236}">
                <a16:creationId xmlns:a16="http://schemas.microsoft.com/office/drawing/2014/main" id="{5B003088-FC27-2C02-97DC-B896D45B611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a:t>
            </a:fld>
            <a:endParaRPr lang="en-US"/>
          </a:p>
        </p:txBody>
      </p:sp>
    </p:spTree>
    <p:extLst>
      <p:ext uri="{BB962C8B-B14F-4D97-AF65-F5344CB8AC3E}">
        <p14:creationId xmlns:p14="http://schemas.microsoft.com/office/powerpoint/2010/main" val="2843412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AA64-AD02-1657-9342-6D367B722076}"/>
              </a:ext>
            </a:extLst>
          </p:cNvPr>
          <p:cNvSpPr>
            <a:spLocks noGrp="1"/>
          </p:cNvSpPr>
          <p:nvPr>
            <p:ph type="title"/>
          </p:nvPr>
        </p:nvSpPr>
        <p:spPr/>
        <p:txBody>
          <a:bodyPr/>
          <a:lstStyle/>
          <a:p>
            <a:r>
              <a:rPr lang="en-US" dirty="0"/>
              <a:t>TPI Linkage to Strategy</a:t>
            </a:r>
          </a:p>
        </p:txBody>
      </p:sp>
      <p:sp>
        <p:nvSpPr>
          <p:cNvPr id="6" name="Oval 2">
            <a:extLst>
              <a:ext uri="{FF2B5EF4-FFF2-40B4-BE49-F238E27FC236}">
                <a16:creationId xmlns:a16="http://schemas.microsoft.com/office/drawing/2014/main" id="{A37BF870-5366-D9F2-20D1-1BE1719888D7}"/>
              </a:ext>
            </a:extLst>
          </p:cNvPr>
          <p:cNvSpPr>
            <a:spLocks noChangeArrowheads="1"/>
          </p:cNvSpPr>
          <p:nvPr/>
        </p:nvSpPr>
        <p:spPr bwMode="auto">
          <a:xfrm>
            <a:off x="1398812" y="1893060"/>
            <a:ext cx="2220912" cy="2189162"/>
          </a:xfrm>
          <a:prstGeom prst="ellipse">
            <a:avLst/>
          </a:prstGeom>
          <a:solidFill>
            <a:schemeClr val="accent4"/>
          </a:solidFill>
          <a:ln w="6350">
            <a:solidFill>
              <a:schemeClr val="bg2"/>
            </a:solidFill>
            <a:round/>
            <a:headEnd/>
            <a:tailEnd/>
          </a:ln>
          <a:effectLst/>
        </p:spPr>
        <p:txBody>
          <a:bodyPr wrap="none" lIns="45720" rIns="45720" anchor="ctr"/>
          <a:lstStyle/>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Key</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Business</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Imperatives</a:t>
            </a: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endParaRPr>
          </a:p>
        </p:txBody>
      </p:sp>
      <p:sp>
        <p:nvSpPr>
          <p:cNvPr id="7" name="Rectangle 4">
            <a:extLst>
              <a:ext uri="{FF2B5EF4-FFF2-40B4-BE49-F238E27FC236}">
                <a16:creationId xmlns:a16="http://schemas.microsoft.com/office/drawing/2014/main" id="{F06C0E67-93BC-23D8-B6E9-CC1FBDFC9519}"/>
              </a:ext>
            </a:extLst>
          </p:cNvPr>
          <p:cNvSpPr>
            <a:spLocks noChangeArrowheads="1"/>
          </p:cNvSpPr>
          <p:nvPr/>
        </p:nvSpPr>
        <p:spPr bwMode="auto">
          <a:xfrm>
            <a:off x="3734024" y="2691572"/>
            <a:ext cx="2686050" cy="2208213"/>
          </a:xfrm>
          <a:prstGeom prst="rect">
            <a:avLst/>
          </a:prstGeom>
          <a:solidFill>
            <a:schemeClr val="accent3"/>
          </a:solidFill>
          <a:ln w="6350">
            <a:solidFill>
              <a:schemeClr val="tx1"/>
            </a:solidFill>
            <a:miter lim="800000"/>
            <a:headEnd/>
            <a:tailEnd/>
          </a:ln>
          <a:effectLst/>
        </p:spPr>
        <p:txBody>
          <a:bodyPr wrap="none" lIns="45720" rIns="45720" anchor="ctr"/>
          <a:lstStyle/>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Identify</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and Map</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Value Streams</a:t>
            </a:r>
          </a:p>
          <a:p>
            <a:pPr algn="ctr">
              <a:spcBef>
                <a:spcPct val="30000"/>
              </a:spcBef>
              <a:buClr>
                <a:schemeClr val="folHlink"/>
              </a:buClr>
              <a:defRPr/>
            </a:pP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endParaRPr>
          </a:p>
        </p:txBody>
      </p:sp>
      <p:sp>
        <p:nvSpPr>
          <p:cNvPr id="8" name="AutoShape 5">
            <a:extLst>
              <a:ext uri="{FF2B5EF4-FFF2-40B4-BE49-F238E27FC236}">
                <a16:creationId xmlns:a16="http://schemas.microsoft.com/office/drawing/2014/main" id="{36DA1BB7-E8D6-14D2-126D-930CC418CA84}"/>
              </a:ext>
            </a:extLst>
          </p:cNvPr>
          <p:cNvSpPr>
            <a:spLocks noChangeArrowheads="1"/>
          </p:cNvSpPr>
          <p:nvPr/>
        </p:nvSpPr>
        <p:spPr bwMode="auto">
          <a:xfrm>
            <a:off x="6434362" y="1539047"/>
            <a:ext cx="792162" cy="4276725"/>
          </a:xfrm>
          <a:prstGeom prst="cube">
            <a:avLst>
              <a:gd name="adj" fmla="val 78426"/>
            </a:avLst>
          </a:prstGeom>
          <a:solidFill>
            <a:schemeClr val="bg2"/>
          </a:solidFill>
          <a:ln w="6350">
            <a:solidFill>
              <a:schemeClr val="tx1"/>
            </a:solidFill>
            <a:miter lim="800000"/>
            <a:headEnd/>
            <a:tailEnd/>
          </a:ln>
        </p:spPr>
        <p:txBody>
          <a:bodyPr wrap="none"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 name="Freeform 6">
            <a:extLst>
              <a:ext uri="{FF2B5EF4-FFF2-40B4-BE49-F238E27FC236}">
                <a16:creationId xmlns:a16="http://schemas.microsoft.com/office/drawing/2014/main" id="{E4E42A47-A951-ED2C-025E-7B82D7A9B332}"/>
              </a:ext>
            </a:extLst>
          </p:cNvPr>
          <p:cNvSpPr>
            <a:spLocks/>
          </p:cNvSpPr>
          <p:nvPr/>
        </p:nvSpPr>
        <p:spPr bwMode="auto">
          <a:xfrm>
            <a:off x="6931249" y="1634297"/>
            <a:ext cx="2606675" cy="4327525"/>
          </a:xfrm>
          <a:custGeom>
            <a:avLst/>
            <a:gdLst>
              <a:gd name="T0" fmla="*/ 12865 w 1621"/>
              <a:gd name="T1" fmla="*/ 1061790 h 1777"/>
              <a:gd name="T2" fmla="*/ 1498718 w 1621"/>
              <a:gd name="T3" fmla="*/ 1061790 h 1777"/>
              <a:gd name="T4" fmla="*/ 1498718 w 1621"/>
              <a:gd name="T5" fmla="*/ 0 h 1777"/>
              <a:gd name="T6" fmla="*/ 2605067 w 1621"/>
              <a:gd name="T7" fmla="*/ 2172286 h 1777"/>
              <a:gd name="T8" fmla="*/ 1505150 w 1621"/>
              <a:gd name="T9" fmla="*/ 4325090 h 1777"/>
              <a:gd name="T10" fmla="*/ 1505150 w 1621"/>
              <a:gd name="T11" fmla="*/ 3273041 h 1777"/>
              <a:gd name="T12" fmla="*/ 6432 w 1621"/>
              <a:gd name="T13" fmla="*/ 3273041 h 1777"/>
              <a:gd name="T14" fmla="*/ 32161 w 1621"/>
              <a:gd name="T15" fmla="*/ 3107441 h 1777"/>
              <a:gd name="T16" fmla="*/ 0 w 1621"/>
              <a:gd name="T17" fmla="*/ 2932099 h 1777"/>
              <a:gd name="T18" fmla="*/ 64323 w 1621"/>
              <a:gd name="T19" fmla="*/ 2747016 h 1777"/>
              <a:gd name="T20" fmla="*/ 19297 w 1621"/>
              <a:gd name="T21" fmla="*/ 2630122 h 1777"/>
              <a:gd name="T22" fmla="*/ 51458 w 1621"/>
              <a:gd name="T23" fmla="*/ 2357369 h 1777"/>
              <a:gd name="T24" fmla="*/ 12865 w 1621"/>
              <a:gd name="T25" fmla="*/ 2220992 h 1777"/>
              <a:gd name="T26" fmla="*/ 45026 w 1621"/>
              <a:gd name="T27" fmla="*/ 2045651 h 1777"/>
              <a:gd name="T28" fmla="*/ 12865 w 1621"/>
              <a:gd name="T29" fmla="*/ 1850827 h 1777"/>
              <a:gd name="T30" fmla="*/ 51458 w 1621"/>
              <a:gd name="T31" fmla="*/ 1733932 h 1777"/>
              <a:gd name="T32" fmla="*/ 12865 w 1621"/>
              <a:gd name="T33" fmla="*/ 1568332 h 1777"/>
              <a:gd name="T34" fmla="*/ 45026 w 1621"/>
              <a:gd name="T35" fmla="*/ 1246873 h 1777"/>
              <a:gd name="T36" fmla="*/ 12865 w 1621"/>
              <a:gd name="T37" fmla="*/ 1168943 h 1777"/>
              <a:gd name="T38" fmla="*/ 12865 w 1621"/>
              <a:gd name="T39" fmla="*/ 1061790 h 17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21" h="1777">
                <a:moveTo>
                  <a:pt x="8" y="436"/>
                </a:moveTo>
                <a:lnTo>
                  <a:pt x="932" y="436"/>
                </a:lnTo>
                <a:lnTo>
                  <a:pt x="932" y="0"/>
                </a:lnTo>
                <a:lnTo>
                  <a:pt x="1620" y="892"/>
                </a:lnTo>
                <a:lnTo>
                  <a:pt x="936" y="1776"/>
                </a:lnTo>
                <a:lnTo>
                  <a:pt x="936" y="1344"/>
                </a:lnTo>
                <a:lnTo>
                  <a:pt x="4" y="1344"/>
                </a:lnTo>
                <a:lnTo>
                  <a:pt x="20" y="1276"/>
                </a:lnTo>
                <a:lnTo>
                  <a:pt x="0" y="1204"/>
                </a:lnTo>
                <a:lnTo>
                  <a:pt x="40" y="1128"/>
                </a:lnTo>
                <a:lnTo>
                  <a:pt x="12" y="1080"/>
                </a:lnTo>
                <a:lnTo>
                  <a:pt x="32" y="968"/>
                </a:lnTo>
                <a:lnTo>
                  <a:pt x="8" y="912"/>
                </a:lnTo>
                <a:lnTo>
                  <a:pt x="28" y="840"/>
                </a:lnTo>
                <a:lnTo>
                  <a:pt x="8" y="760"/>
                </a:lnTo>
                <a:lnTo>
                  <a:pt x="32" y="712"/>
                </a:lnTo>
                <a:lnTo>
                  <a:pt x="8" y="644"/>
                </a:lnTo>
                <a:lnTo>
                  <a:pt x="28" y="512"/>
                </a:lnTo>
                <a:lnTo>
                  <a:pt x="8" y="480"/>
                </a:lnTo>
                <a:lnTo>
                  <a:pt x="8" y="436"/>
                </a:lnTo>
              </a:path>
            </a:pathLst>
          </a:custGeom>
          <a:solidFill>
            <a:schemeClr val="accent3"/>
          </a:solidFill>
          <a:ln w="6350" cap="rnd" cmpd="sng">
            <a:solidFill>
              <a:schemeClr val="tx1"/>
            </a:solidFill>
            <a:prstDash val="solid"/>
            <a:round/>
            <a:headEnd type="none" w="med" len="med"/>
            <a:tailEnd type="none" w="med" len="med"/>
          </a:ln>
          <a:effectLst/>
        </p:spPr>
        <p:txBody>
          <a:bodyPr lIns="45720" rIns="45720" anchor="ctr"/>
          <a:lstStyle/>
          <a:p>
            <a:pPr algn="ctr">
              <a:lnSpc>
                <a:spcPct val="80000"/>
              </a:lnSpc>
              <a:spcBef>
                <a:spcPct val="20000"/>
              </a:spcBef>
              <a:defRPr/>
            </a:pPr>
            <a:r>
              <a:rPr lang="en-US"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Make Improvements that Eliminate Waste:</a:t>
            </a:r>
          </a:p>
          <a:p>
            <a:pPr algn="ctr">
              <a:lnSpc>
                <a:spcPct val="80000"/>
              </a:lnSpc>
              <a:spcBef>
                <a:spcPct val="20000"/>
              </a:spcBef>
              <a:defRPr/>
            </a:pPr>
            <a:r>
              <a:rPr lang="en-US"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**TPI**</a:t>
            </a:r>
          </a:p>
        </p:txBody>
      </p:sp>
      <p:sp>
        <p:nvSpPr>
          <p:cNvPr id="10" name="Text Box 7">
            <a:extLst>
              <a:ext uri="{FF2B5EF4-FFF2-40B4-BE49-F238E27FC236}">
                <a16:creationId xmlns:a16="http://schemas.microsoft.com/office/drawing/2014/main" id="{F69C2BDF-66D6-9895-A3BC-205073F7E241}"/>
              </a:ext>
            </a:extLst>
          </p:cNvPr>
          <p:cNvSpPr txBox="1">
            <a:spLocks noChangeArrowheads="1"/>
          </p:cNvSpPr>
          <p:nvPr/>
        </p:nvSpPr>
        <p:spPr bwMode="auto">
          <a:xfrm>
            <a:off x="5976209" y="5883275"/>
            <a:ext cx="112871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GB"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WASTE</a:t>
            </a:r>
          </a:p>
        </p:txBody>
      </p:sp>
      <p:sp>
        <p:nvSpPr>
          <p:cNvPr id="12" name="Rectangle 9">
            <a:extLst>
              <a:ext uri="{FF2B5EF4-FFF2-40B4-BE49-F238E27FC236}">
                <a16:creationId xmlns:a16="http://schemas.microsoft.com/office/drawing/2014/main" id="{953FA632-1737-559F-85A5-580C838A85AE}"/>
              </a:ext>
            </a:extLst>
          </p:cNvPr>
          <p:cNvSpPr>
            <a:spLocks noChangeArrowheads="1"/>
          </p:cNvSpPr>
          <p:nvPr/>
        </p:nvSpPr>
        <p:spPr bwMode="auto">
          <a:xfrm>
            <a:off x="1436912" y="4193347"/>
            <a:ext cx="2103437" cy="1169988"/>
          </a:xfrm>
          <a:prstGeom prst="rect">
            <a:avLst/>
          </a:prstGeom>
          <a:solidFill>
            <a:schemeClr val="accent4"/>
          </a:solidFill>
          <a:ln w="6350">
            <a:solidFill>
              <a:schemeClr val="bg2"/>
            </a:solidFill>
            <a:miter lim="800000"/>
            <a:headEnd/>
            <a:tailEnd/>
          </a:ln>
          <a:effectLst/>
        </p:spPr>
        <p:txBody>
          <a:bodyPr wrap="none" lIns="45720" rIns="45720" anchor="ctr"/>
          <a:lstStyle>
            <a:lvl1pPr marL="101600" indent="-101600">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buClr>
                <a:schemeClr val="folHlink"/>
              </a:buClr>
              <a:defRPr/>
            </a:pP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Identify strategic</a:t>
            </a:r>
          </a:p>
          <a:p>
            <a:pPr algn="ctr">
              <a:buClr>
                <a:schemeClr val="folHlink"/>
              </a:buClr>
              <a:defRPr/>
            </a:pP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objectives and major</a:t>
            </a:r>
            <a:b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b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business improvement</a:t>
            </a:r>
            <a:b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b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opportunities</a:t>
            </a:r>
          </a:p>
        </p:txBody>
      </p:sp>
      <p:sp>
        <p:nvSpPr>
          <p:cNvPr id="14" name="Slide Number Placeholder 16">
            <a:extLst>
              <a:ext uri="{FF2B5EF4-FFF2-40B4-BE49-F238E27FC236}">
                <a16:creationId xmlns:a16="http://schemas.microsoft.com/office/drawing/2014/main" id="{28EF6194-523F-AED3-E9AE-25E496513CB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a:t>
            </a:fld>
            <a:endParaRPr lang="en-US"/>
          </a:p>
        </p:txBody>
      </p:sp>
    </p:spTree>
    <p:extLst>
      <p:ext uri="{BB962C8B-B14F-4D97-AF65-F5344CB8AC3E}">
        <p14:creationId xmlns:p14="http://schemas.microsoft.com/office/powerpoint/2010/main" val="4161302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7C745-491D-ED3D-4883-7E540ECA17D1}"/>
              </a:ext>
            </a:extLst>
          </p:cNvPr>
          <p:cNvSpPr>
            <a:spLocks noGrp="1"/>
          </p:cNvSpPr>
          <p:nvPr>
            <p:ph type="title"/>
          </p:nvPr>
        </p:nvSpPr>
        <p:spPr/>
        <p:txBody>
          <a:bodyPr/>
          <a:lstStyle/>
          <a:p>
            <a:r>
              <a:rPr lang="en-US" dirty="0"/>
              <a:t>Benefits of TPI</a:t>
            </a:r>
          </a:p>
        </p:txBody>
      </p:sp>
      <p:sp>
        <p:nvSpPr>
          <p:cNvPr id="3" name="Content Placeholder 2">
            <a:extLst>
              <a:ext uri="{FF2B5EF4-FFF2-40B4-BE49-F238E27FC236}">
                <a16:creationId xmlns:a16="http://schemas.microsoft.com/office/drawing/2014/main" id="{2EC82136-0733-0E49-B972-D0367D04AF59}"/>
              </a:ext>
            </a:extLst>
          </p:cNvPr>
          <p:cNvSpPr>
            <a:spLocks noGrp="1"/>
          </p:cNvSpPr>
          <p:nvPr>
            <p:ph idx="1"/>
          </p:nvPr>
        </p:nvSpPr>
        <p:spPr/>
        <p:txBody>
          <a:bodyPr/>
          <a:lstStyle/>
          <a:p>
            <a:r>
              <a:rPr lang="en-US" dirty="0"/>
              <a:t>Benefits of TPI are most commonly reflected in:</a:t>
            </a:r>
          </a:p>
          <a:p>
            <a:pPr lvl="1"/>
            <a:r>
              <a:rPr lang="en-US" dirty="0"/>
              <a:t>Improved quality of the inputs and outputs</a:t>
            </a:r>
          </a:p>
          <a:p>
            <a:pPr lvl="1"/>
            <a:r>
              <a:rPr lang="en-US" dirty="0"/>
              <a:t>Shorter lead time</a:t>
            </a:r>
          </a:p>
          <a:p>
            <a:pPr lvl="1"/>
            <a:r>
              <a:rPr lang="en-US" dirty="0"/>
              <a:t>Higher through-put rate</a:t>
            </a:r>
          </a:p>
          <a:p>
            <a:pPr lvl="1"/>
            <a:r>
              <a:rPr lang="en-US" dirty="0"/>
              <a:t>Higher productivity</a:t>
            </a:r>
          </a:p>
          <a:p>
            <a:r>
              <a:rPr lang="en-US" dirty="0"/>
              <a:t>Sometimes all of these targets are pursued, but most </a:t>
            </a:r>
            <a:br>
              <a:rPr lang="en-US" dirty="0"/>
            </a:br>
            <a:r>
              <a:rPr lang="en-US" dirty="0"/>
              <a:t>commonly only one</a:t>
            </a:r>
          </a:p>
          <a:p>
            <a:endParaRPr lang="en-US" dirty="0"/>
          </a:p>
        </p:txBody>
      </p:sp>
      <p:sp>
        <p:nvSpPr>
          <p:cNvPr id="7" name="Slide Number Placeholder 16">
            <a:extLst>
              <a:ext uri="{FF2B5EF4-FFF2-40B4-BE49-F238E27FC236}">
                <a16:creationId xmlns:a16="http://schemas.microsoft.com/office/drawing/2014/main" id="{6270702C-11AC-9BFD-5D7E-810338D7C749}"/>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a:t>
            </a:fld>
            <a:endParaRPr lang="en-US"/>
          </a:p>
        </p:txBody>
      </p:sp>
    </p:spTree>
    <p:extLst>
      <p:ext uri="{BB962C8B-B14F-4D97-AF65-F5344CB8AC3E}">
        <p14:creationId xmlns:p14="http://schemas.microsoft.com/office/powerpoint/2010/main" val="1332962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ED82D-9129-FABC-E165-CFE1AAEF03CB}"/>
              </a:ext>
            </a:extLst>
          </p:cNvPr>
          <p:cNvSpPr>
            <a:spLocks noGrp="1"/>
          </p:cNvSpPr>
          <p:nvPr>
            <p:ph type="title"/>
          </p:nvPr>
        </p:nvSpPr>
        <p:spPr/>
        <p:txBody>
          <a:bodyPr/>
          <a:lstStyle/>
          <a:p>
            <a:r>
              <a:rPr lang="en-US" dirty="0"/>
              <a:t>TPI Process</a:t>
            </a:r>
          </a:p>
        </p:txBody>
      </p:sp>
      <p:grpSp>
        <p:nvGrpSpPr>
          <p:cNvPr id="7" name="Group 2">
            <a:extLst>
              <a:ext uri="{FF2B5EF4-FFF2-40B4-BE49-F238E27FC236}">
                <a16:creationId xmlns:a16="http://schemas.microsoft.com/office/drawing/2014/main" id="{13D481E0-0FC0-E30E-AD04-340A443DFE57}"/>
              </a:ext>
            </a:extLst>
          </p:cNvPr>
          <p:cNvGrpSpPr>
            <a:grpSpLocks/>
          </p:cNvGrpSpPr>
          <p:nvPr/>
        </p:nvGrpSpPr>
        <p:grpSpPr bwMode="auto">
          <a:xfrm>
            <a:off x="2783925" y="2026080"/>
            <a:ext cx="7730614" cy="2472323"/>
            <a:chOff x="1365" y="1410"/>
            <a:chExt cx="4140" cy="1795"/>
          </a:xfrm>
          <a:solidFill>
            <a:srgbClr val="FFB627"/>
          </a:solidFill>
        </p:grpSpPr>
        <p:sp>
          <p:nvSpPr>
            <p:cNvPr id="31" name="Rectangle 3">
              <a:extLst>
                <a:ext uri="{FF2B5EF4-FFF2-40B4-BE49-F238E27FC236}">
                  <a16:creationId xmlns:a16="http://schemas.microsoft.com/office/drawing/2014/main" id="{CBE0A9F6-CCA6-1252-39AE-D4940001585B}"/>
                </a:ext>
              </a:extLst>
            </p:cNvPr>
            <p:cNvSpPr>
              <a:spLocks noChangeArrowheads="1"/>
            </p:cNvSpPr>
            <p:nvPr/>
          </p:nvSpPr>
          <p:spPr bwMode="auto">
            <a:xfrm>
              <a:off x="1365" y="1410"/>
              <a:ext cx="4140" cy="1795"/>
            </a:xfrm>
            <a:prstGeom prst="rect">
              <a:avLst/>
            </a:prstGeom>
            <a:grpFill/>
            <a:ln w="12700" cap="sq">
              <a:solidFill>
                <a:srgbClr val="0033CC"/>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2" name="Text Box 4">
              <a:extLst>
                <a:ext uri="{FF2B5EF4-FFF2-40B4-BE49-F238E27FC236}">
                  <a16:creationId xmlns:a16="http://schemas.microsoft.com/office/drawing/2014/main" id="{B2A4DDB4-6F4A-14CD-AF8B-866A3CB0C4D9}"/>
                </a:ext>
              </a:extLst>
            </p:cNvPr>
            <p:cNvSpPr txBox="1">
              <a:spLocks noChangeArrowheads="1"/>
            </p:cNvSpPr>
            <p:nvPr/>
          </p:nvSpPr>
          <p:spPr bwMode="auto">
            <a:xfrm>
              <a:off x="2441" y="1507"/>
              <a:ext cx="2036" cy="24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600" i="1" dirty="0">
                  <a:solidFill>
                    <a:schemeClr val="tx1"/>
                  </a:solidFill>
                  <a:latin typeface="Roboto" panose="02000000000000000000" pitchFamily="2" charset="0"/>
                  <a:ea typeface="Roboto" panose="02000000000000000000" pitchFamily="2" charset="0"/>
                  <a:cs typeface="Roboto" panose="02000000000000000000" pitchFamily="2" charset="0"/>
                </a:rPr>
                <a:t>Repeat for each identified Value Stream</a:t>
              </a:r>
            </a:p>
          </p:txBody>
        </p:sp>
      </p:grpSp>
      <p:sp>
        <p:nvSpPr>
          <p:cNvPr id="8" name="Oval 6">
            <a:extLst>
              <a:ext uri="{FF2B5EF4-FFF2-40B4-BE49-F238E27FC236}">
                <a16:creationId xmlns:a16="http://schemas.microsoft.com/office/drawing/2014/main" id="{3ED0E3B7-6EA8-27BE-EAF6-C51C2144E11A}"/>
              </a:ext>
            </a:extLst>
          </p:cNvPr>
          <p:cNvSpPr>
            <a:spLocks noChangeArrowheads="1"/>
          </p:cNvSpPr>
          <p:nvPr/>
        </p:nvSpPr>
        <p:spPr bwMode="auto">
          <a:xfrm>
            <a:off x="9248510" y="3313837"/>
            <a:ext cx="1148388" cy="937194"/>
          </a:xfrm>
          <a:prstGeom prst="ellipse">
            <a:avLst/>
          </a:prstGeom>
          <a:solidFill>
            <a:schemeClr val="accent1"/>
          </a:solidFill>
          <a:ln w="6350">
            <a:solidFill>
              <a:schemeClr val="tx1"/>
            </a:solidFill>
            <a:round/>
            <a:headEnd/>
            <a:tailEnd/>
          </a:ln>
        </p:spPr>
        <p:txBody>
          <a:bodyPr wrap="none" lIns="45720" rIns="45720" anchor="ctr"/>
          <a:lstStyle>
            <a:lvl1pPr marL="101600" indent="-101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buClr>
                <a:schemeClr val="folHlink"/>
              </a:buClr>
            </a:pPr>
            <a:r>
              <a:rPr lang="en-GB" altLang="en-US" sz="1200" dirty="0">
                <a:latin typeface="Roboto" panose="02000000000000000000" pitchFamily="2" charset="0"/>
                <a:ea typeface="Roboto" panose="02000000000000000000" pitchFamily="2" charset="0"/>
                <a:cs typeface="Roboto" panose="02000000000000000000" pitchFamily="2" charset="0"/>
              </a:rPr>
              <a:t>Repeat</a:t>
            </a:r>
          </a:p>
          <a:p>
            <a:pPr>
              <a:lnSpc>
                <a:spcPct val="100000"/>
              </a:lnSpc>
              <a:spcBef>
                <a:spcPct val="30000"/>
              </a:spcBef>
              <a:buClr>
                <a:schemeClr val="folHlink"/>
              </a:buClr>
            </a:pPr>
            <a:r>
              <a:rPr lang="en-GB" altLang="en-US" sz="1200" dirty="0">
                <a:latin typeface="Roboto" panose="02000000000000000000" pitchFamily="2" charset="0"/>
                <a:ea typeface="Roboto" panose="02000000000000000000" pitchFamily="2" charset="0"/>
                <a:cs typeface="Roboto" panose="02000000000000000000" pitchFamily="2" charset="0"/>
              </a:rPr>
              <a:t>Cycle</a:t>
            </a:r>
            <a:endParaRPr lang="en-GB" altLang="en-US" sz="1200" b="0" dirty="0">
              <a:latin typeface="Roboto" panose="02000000000000000000" pitchFamily="2" charset="0"/>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FBA777AD-E773-ACD5-ECBE-B10D3962E559}"/>
              </a:ext>
            </a:extLst>
          </p:cNvPr>
          <p:cNvSpPr>
            <a:spLocks noChangeArrowheads="1"/>
          </p:cNvSpPr>
          <p:nvPr/>
        </p:nvSpPr>
        <p:spPr bwMode="auto">
          <a:xfrm>
            <a:off x="838200" y="3306769"/>
            <a:ext cx="1788871" cy="961224"/>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Strategic</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Deployment AIPs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and Targets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Determined</a:t>
            </a:r>
          </a:p>
        </p:txBody>
      </p:sp>
      <p:sp>
        <p:nvSpPr>
          <p:cNvPr id="10" name="Rectangle 9">
            <a:extLst>
              <a:ext uri="{FF2B5EF4-FFF2-40B4-BE49-F238E27FC236}">
                <a16:creationId xmlns:a16="http://schemas.microsoft.com/office/drawing/2014/main" id="{08723B74-A19D-6285-2857-9CC6A318E391}"/>
              </a:ext>
            </a:extLst>
          </p:cNvPr>
          <p:cNvSpPr>
            <a:spLocks noChangeArrowheads="1"/>
          </p:cNvSpPr>
          <p:nvPr/>
        </p:nvSpPr>
        <p:spPr bwMode="auto">
          <a:xfrm>
            <a:off x="838200" y="2978857"/>
            <a:ext cx="1790738" cy="31943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1</a:t>
            </a:r>
          </a:p>
        </p:txBody>
      </p:sp>
      <p:sp>
        <p:nvSpPr>
          <p:cNvPr id="11" name="Rectangle 10">
            <a:extLst>
              <a:ext uri="{FF2B5EF4-FFF2-40B4-BE49-F238E27FC236}">
                <a16:creationId xmlns:a16="http://schemas.microsoft.com/office/drawing/2014/main" id="{BB3D5BFC-74BC-D782-8C2B-F509E5642CD0}"/>
              </a:ext>
            </a:extLst>
          </p:cNvPr>
          <p:cNvSpPr>
            <a:spLocks noChangeArrowheads="1"/>
          </p:cNvSpPr>
          <p:nvPr/>
        </p:nvSpPr>
        <p:spPr bwMode="auto">
          <a:xfrm>
            <a:off x="2950113" y="3302528"/>
            <a:ext cx="1788871" cy="961224"/>
          </a:xfrm>
          <a:prstGeom prst="rect">
            <a:avLst/>
          </a:prstGeom>
          <a:solidFill>
            <a:schemeClr val="bg1"/>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Value Streams Identified and Mapped Administrative Waste Observed</a:t>
            </a:r>
          </a:p>
        </p:txBody>
      </p:sp>
      <p:sp>
        <p:nvSpPr>
          <p:cNvPr id="12" name="Rectangle 11">
            <a:extLst>
              <a:ext uri="{FF2B5EF4-FFF2-40B4-BE49-F238E27FC236}">
                <a16:creationId xmlns:a16="http://schemas.microsoft.com/office/drawing/2014/main" id="{7C4602F2-9987-6C98-5BFF-92E3E76AE796}"/>
              </a:ext>
            </a:extLst>
          </p:cNvPr>
          <p:cNvSpPr>
            <a:spLocks noChangeArrowheads="1"/>
          </p:cNvSpPr>
          <p:nvPr/>
        </p:nvSpPr>
        <p:spPr bwMode="auto">
          <a:xfrm>
            <a:off x="2950113" y="2974615"/>
            <a:ext cx="1790739"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2</a:t>
            </a:r>
          </a:p>
        </p:txBody>
      </p:sp>
      <p:sp>
        <p:nvSpPr>
          <p:cNvPr id="13" name="Rectangle 12">
            <a:extLst>
              <a:ext uri="{FF2B5EF4-FFF2-40B4-BE49-F238E27FC236}">
                <a16:creationId xmlns:a16="http://schemas.microsoft.com/office/drawing/2014/main" id="{BB487AE5-7EA8-26C0-5ABF-BCB6B0188E3F}"/>
              </a:ext>
            </a:extLst>
          </p:cNvPr>
          <p:cNvSpPr>
            <a:spLocks noChangeArrowheads="1"/>
          </p:cNvSpPr>
          <p:nvPr/>
        </p:nvSpPr>
        <p:spPr bwMode="auto">
          <a:xfrm>
            <a:off x="5084436" y="3302528"/>
            <a:ext cx="1788871" cy="961224"/>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Conduct</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TPI Event</a:t>
            </a:r>
          </a:p>
        </p:txBody>
      </p:sp>
      <p:sp>
        <p:nvSpPr>
          <p:cNvPr id="14" name="Rectangle 13">
            <a:extLst>
              <a:ext uri="{FF2B5EF4-FFF2-40B4-BE49-F238E27FC236}">
                <a16:creationId xmlns:a16="http://schemas.microsoft.com/office/drawing/2014/main" id="{04C8E055-06FC-4D3B-1AE2-24F8A8B1B522}"/>
              </a:ext>
            </a:extLst>
          </p:cNvPr>
          <p:cNvSpPr>
            <a:spLocks noChangeArrowheads="1"/>
          </p:cNvSpPr>
          <p:nvPr/>
        </p:nvSpPr>
        <p:spPr bwMode="auto">
          <a:xfrm>
            <a:off x="5084436" y="2974615"/>
            <a:ext cx="1790738"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3</a:t>
            </a:r>
          </a:p>
        </p:txBody>
      </p:sp>
      <p:sp>
        <p:nvSpPr>
          <p:cNvPr id="15" name="Rectangle 14">
            <a:extLst>
              <a:ext uri="{FF2B5EF4-FFF2-40B4-BE49-F238E27FC236}">
                <a16:creationId xmlns:a16="http://schemas.microsoft.com/office/drawing/2014/main" id="{C4324EF8-7591-6C62-4BA8-E1E17FF5BF92}"/>
              </a:ext>
            </a:extLst>
          </p:cNvPr>
          <p:cNvSpPr>
            <a:spLocks noChangeArrowheads="1"/>
          </p:cNvSpPr>
          <p:nvPr/>
        </p:nvSpPr>
        <p:spPr bwMode="auto">
          <a:xfrm>
            <a:off x="7218757" y="3302528"/>
            <a:ext cx="1788871" cy="961224"/>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400" dirty="0">
                <a:latin typeface="Roboto" panose="02000000000000000000" pitchFamily="2" charset="0"/>
                <a:ea typeface="Roboto" panose="02000000000000000000" pitchFamily="2" charset="0"/>
                <a:cs typeface="Roboto" panose="02000000000000000000" pitchFamily="2" charset="0"/>
              </a:rPr>
              <a:t>Implement</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TPI Kaizen</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Newspaper</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and Future Plans</a:t>
            </a:r>
          </a:p>
        </p:txBody>
      </p:sp>
      <p:sp>
        <p:nvSpPr>
          <p:cNvPr id="16" name="Rectangle 15">
            <a:extLst>
              <a:ext uri="{FF2B5EF4-FFF2-40B4-BE49-F238E27FC236}">
                <a16:creationId xmlns:a16="http://schemas.microsoft.com/office/drawing/2014/main" id="{40BAF95D-519B-38FA-215D-5EA8F3B89B72}"/>
              </a:ext>
            </a:extLst>
          </p:cNvPr>
          <p:cNvSpPr>
            <a:spLocks noChangeArrowheads="1"/>
          </p:cNvSpPr>
          <p:nvPr/>
        </p:nvSpPr>
        <p:spPr bwMode="auto">
          <a:xfrm>
            <a:off x="7218757" y="2974615"/>
            <a:ext cx="1790739"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4</a:t>
            </a:r>
          </a:p>
        </p:txBody>
      </p:sp>
      <p:cxnSp>
        <p:nvCxnSpPr>
          <p:cNvPr id="17" name="AutoShape 16">
            <a:extLst>
              <a:ext uri="{FF2B5EF4-FFF2-40B4-BE49-F238E27FC236}">
                <a16:creationId xmlns:a16="http://schemas.microsoft.com/office/drawing/2014/main" id="{2AAAA676-A293-792E-D614-2F85DAB0C9DD}"/>
              </a:ext>
            </a:extLst>
          </p:cNvPr>
          <p:cNvCxnSpPr>
            <a:cxnSpLocks noChangeShapeType="1"/>
            <a:endCxn id="11" idx="1"/>
          </p:cNvCxnSpPr>
          <p:nvPr/>
        </p:nvCxnSpPr>
        <p:spPr bwMode="auto">
          <a:xfrm>
            <a:off x="2659061" y="3783140"/>
            <a:ext cx="291052" cy="0"/>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25AC511D-4629-B286-E720-23248B124045}"/>
              </a:ext>
            </a:extLst>
          </p:cNvPr>
          <p:cNvCxnSpPr>
            <a:cxnSpLocks noChangeShapeType="1"/>
            <a:endCxn id="13" idx="1"/>
          </p:cNvCxnSpPr>
          <p:nvPr/>
        </p:nvCxnSpPr>
        <p:spPr bwMode="auto">
          <a:xfrm>
            <a:off x="4793138" y="3782434"/>
            <a:ext cx="291298" cy="706"/>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9B24BD4D-1D86-5811-57EA-C8E0B18EF67A}"/>
              </a:ext>
            </a:extLst>
          </p:cNvPr>
          <p:cNvCxnSpPr>
            <a:cxnSpLocks noChangeShapeType="1"/>
            <a:endCxn id="15" idx="1"/>
          </p:cNvCxnSpPr>
          <p:nvPr/>
        </p:nvCxnSpPr>
        <p:spPr bwMode="auto">
          <a:xfrm>
            <a:off x="6905297" y="3783140"/>
            <a:ext cx="313460" cy="0"/>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20" name="AutoShape 19">
            <a:extLst>
              <a:ext uri="{FF2B5EF4-FFF2-40B4-BE49-F238E27FC236}">
                <a16:creationId xmlns:a16="http://schemas.microsoft.com/office/drawing/2014/main" id="{A370BD01-5986-B329-2A8E-19BA226023DB}"/>
              </a:ext>
            </a:extLst>
          </p:cNvPr>
          <p:cNvCxnSpPr>
            <a:cxnSpLocks noChangeShapeType="1"/>
            <a:endCxn id="8" idx="2"/>
          </p:cNvCxnSpPr>
          <p:nvPr/>
        </p:nvCxnSpPr>
        <p:spPr bwMode="auto">
          <a:xfrm flipV="1">
            <a:off x="9040398" y="3782434"/>
            <a:ext cx="208112" cy="706"/>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21" name="AutoShape 20">
            <a:extLst>
              <a:ext uri="{FF2B5EF4-FFF2-40B4-BE49-F238E27FC236}">
                <a16:creationId xmlns:a16="http://schemas.microsoft.com/office/drawing/2014/main" id="{7C2B24EF-42C7-782C-43E0-C230BA226CF3}"/>
              </a:ext>
            </a:extLst>
          </p:cNvPr>
          <p:cNvCxnSpPr>
            <a:cxnSpLocks noChangeShapeType="1"/>
            <a:stCxn id="8" idx="0"/>
            <a:endCxn id="12" idx="0"/>
          </p:cNvCxnSpPr>
          <p:nvPr/>
        </p:nvCxnSpPr>
        <p:spPr bwMode="auto">
          <a:xfrm rot="16200000" flipV="1">
            <a:off x="6664483" y="155615"/>
            <a:ext cx="339222" cy="5977221"/>
          </a:xfrm>
          <a:prstGeom prst="bentConnector3">
            <a:avLst>
              <a:gd name="adj1" fmla="val 167389"/>
            </a:avLst>
          </a:prstGeom>
          <a:noFill/>
          <a:ln w="38100" cap="sq">
            <a:solidFill>
              <a:srgbClr val="222222"/>
            </a:solidFill>
            <a:miter lim="800000"/>
            <a:headEnd/>
            <a:tailEnd type="triangle" w="med" len="med"/>
          </a:ln>
          <a:extLst>
            <a:ext uri="{909E8E84-426E-40DD-AFC4-6F175D3DCCD1}">
              <a14:hiddenFill xmlns:a14="http://schemas.microsoft.com/office/drawing/2010/main">
                <a:noFill/>
              </a14:hiddenFill>
            </a:ext>
          </a:extLst>
        </p:spPr>
      </p:cxnSp>
      <p:grpSp>
        <p:nvGrpSpPr>
          <p:cNvPr id="23" name="Group 22">
            <a:extLst>
              <a:ext uri="{FF2B5EF4-FFF2-40B4-BE49-F238E27FC236}">
                <a16:creationId xmlns:a16="http://schemas.microsoft.com/office/drawing/2014/main" id="{0B1AA068-D212-EBDB-BD18-7BBFC397F56E}"/>
              </a:ext>
            </a:extLst>
          </p:cNvPr>
          <p:cNvGrpSpPr>
            <a:grpSpLocks/>
          </p:cNvGrpSpPr>
          <p:nvPr/>
        </p:nvGrpSpPr>
        <p:grpSpPr bwMode="auto">
          <a:xfrm>
            <a:off x="1196722" y="4772635"/>
            <a:ext cx="9532555" cy="1258072"/>
            <a:chOff x="1469" y="2060"/>
            <a:chExt cx="2970" cy="209"/>
          </a:xfrm>
        </p:grpSpPr>
        <p:sp>
          <p:nvSpPr>
            <p:cNvPr id="26" name="AutoShape 23">
              <a:extLst>
                <a:ext uri="{FF2B5EF4-FFF2-40B4-BE49-F238E27FC236}">
                  <a16:creationId xmlns:a16="http://schemas.microsoft.com/office/drawing/2014/main" id="{B0E2C8FA-A0EC-DC8D-B0C8-EE2DAC3196A4}"/>
                </a:ext>
              </a:extLst>
            </p:cNvPr>
            <p:cNvSpPr>
              <a:spLocks noChangeArrowheads="1"/>
            </p:cNvSpPr>
            <p:nvPr/>
          </p:nvSpPr>
          <p:spPr bwMode="auto">
            <a:xfrm>
              <a:off x="3776" y="2061"/>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b="0" dirty="0">
                  <a:latin typeface="Roboto" panose="02000000000000000000" pitchFamily="2" charset="0"/>
                  <a:ea typeface="Roboto" panose="02000000000000000000" pitchFamily="2" charset="0"/>
                  <a:cs typeface="Roboto" panose="02000000000000000000" pitchFamily="2" charset="0"/>
                </a:rPr>
                <a:t>Define and </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Implement</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Solutions</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and/or </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Schedule</a:t>
              </a:r>
            </a:p>
          </p:txBody>
        </p:sp>
        <p:sp>
          <p:nvSpPr>
            <p:cNvPr id="27" name="AutoShape 24">
              <a:extLst>
                <a:ext uri="{FF2B5EF4-FFF2-40B4-BE49-F238E27FC236}">
                  <a16:creationId xmlns:a16="http://schemas.microsoft.com/office/drawing/2014/main" id="{F10CF66F-6EE5-EF41-6921-37B0737EE45E}"/>
                </a:ext>
              </a:extLst>
            </p:cNvPr>
            <p:cNvSpPr>
              <a:spLocks noChangeArrowheads="1"/>
            </p:cNvSpPr>
            <p:nvPr/>
          </p:nvSpPr>
          <p:spPr bwMode="auto">
            <a:xfrm>
              <a:off x="3204"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Complete</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Description</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of</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Should Be</a:t>
              </a:r>
              <a:r>
                <a:rPr lang="ja-JP" altLang="en-US" sz="1400" b="0" dirty="0">
                  <a:solidFill>
                    <a:schemeClr val="bg1"/>
                  </a:solidFill>
                  <a:latin typeface="Roboto" panose="02000000000000000000" pitchFamily="2" charset="0"/>
                  <a:cs typeface="Roboto" panose="02000000000000000000" pitchFamily="2" charset="0"/>
                </a:rPr>
                <a:t>”</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Process</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8" name="AutoShape 25">
              <a:extLst>
                <a:ext uri="{FF2B5EF4-FFF2-40B4-BE49-F238E27FC236}">
                  <a16:creationId xmlns:a16="http://schemas.microsoft.com/office/drawing/2014/main" id="{28C5299C-2930-A4E7-3C1B-2EA0974DBCCC}"/>
                </a:ext>
              </a:extLst>
            </p:cNvPr>
            <p:cNvSpPr>
              <a:spLocks noChangeArrowheads="1"/>
            </p:cNvSpPr>
            <p:nvPr/>
          </p:nvSpPr>
          <p:spPr bwMode="auto">
            <a:xfrm>
              <a:off x="2627"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b="0" dirty="0">
                  <a:latin typeface="Roboto" panose="02000000000000000000" pitchFamily="2" charset="0"/>
                  <a:ea typeface="Roboto" panose="02000000000000000000" pitchFamily="2" charset="0"/>
                  <a:cs typeface="Roboto" panose="02000000000000000000" pitchFamily="2" charset="0"/>
                </a:rPr>
                <a:t>Identify the</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Potential</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Solutions</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to the</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Barriers</a:t>
              </a:r>
            </a:p>
          </p:txBody>
        </p:sp>
        <p:sp>
          <p:nvSpPr>
            <p:cNvPr id="29" name="AutoShape 26">
              <a:extLst>
                <a:ext uri="{FF2B5EF4-FFF2-40B4-BE49-F238E27FC236}">
                  <a16:creationId xmlns:a16="http://schemas.microsoft.com/office/drawing/2014/main" id="{B5923F0B-05FC-31C7-B111-B69F3EE39624}"/>
                </a:ext>
              </a:extLst>
            </p:cNvPr>
            <p:cNvSpPr>
              <a:spLocks noChangeArrowheads="1"/>
            </p:cNvSpPr>
            <p:nvPr/>
          </p:nvSpPr>
          <p:spPr bwMode="auto">
            <a:xfrm>
              <a:off x="2046"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Identify and</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Define Barriers</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within the </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As Is</a:t>
              </a: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 Process</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to the Goals </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AutoShape 27">
              <a:extLst>
                <a:ext uri="{FF2B5EF4-FFF2-40B4-BE49-F238E27FC236}">
                  <a16:creationId xmlns:a16="http://schemas.microsoft.com/office/drawing/2014/main" id="{B3B91AB0-F08D-126C-1D61-CA3F1AE94F7C}"/>
                </a:ext>
              </a:extLst>
            </p:cNvPr>
            <p:cNvSpPr>
              <a:spLocks noChangeArrowheads="1"/>
            </p:cNvSpPr>
            <p:nvPr/>
          </p:nvSpPr>
          <p:spPr bwMode="auto">
            <a:xfrm>
              <a:off x="1469"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Complete</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Description of </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As Is</a:t>
              </a:r>
              <a:r>
                <a:rPr lang="ja-JP" altLang="en-US" sz="1400" b="0" dirty="0">
                  <a:solidFill>
                    <a:schemeClr val="bg1"/>
                  </a:solidFill>
                  <a:latin typeface="Roboto" panose="02000000000000000000" pitchFamily="2" charset="0"/>
                  <a:cs typeface="Roboto" panose="02000000000000000000" pitchFamily="2" charset="0"/>
                </a:rPr>
                <a:t>”</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Process</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sp>
        <p:nvSpPr>
          <p:cNvPr id="24" name="Line 28">
            <a:extLst>
              <a:ext uri="{FF2B5EF4-FFF2-40B4-BE49-F238E27FC236}">
                <a16:creationId xmlns:a16="http://schemas.microsoft.com/office/drawing/2014/main" id="{E8B2DE8D-71E6-6FC4-DE1B-E382410301E0}"/>
              </a:ext>
            </a:extLst>
          </p:cNvPr>
          <p:cNvSpPr>
            <a:spLocks noChangeShapeType="1"/>
          </p:cNvSpPr>
          <p:nvPr/>
        </p:nvSpPr>
        <p:spPr bwMode="auto">
          <a:xfrm flipH="1">
            <a:off x="1092152" y="4272233"/>
            <a:ext cx="3992283" cy="476372"/>
          </a:xfrm>
          <a:prstGeom prst="line">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 name="Line 29">
            <a:extLst>
              <a:ext uri="{FF2B5EF4-FFF2-40B4-BE49-F238E27FC236}">
                <a16:creationId xmlns:a16="http://schemas.microsoft.com/office/drawing/2014/main" id="{BEC6B2AB-DA6D-8A09-CF6F-E04A79CA2F11}"/>
              </a:ext>
            </a:extLst>
          </p:cNvPr>
          <p:cNvSpPr>
            <a:spLocks noChangeShapeType="1"/>
          </p:cNvSpPr>
          <p:nvPr/>
        </p:nvSpPr>
        <p:spPr bwMode="auto">
          <a:xfrm>
            <a:off x="6873307" y="4251030"/>
            <a:ext cx="3450767" cy="477783"/>
          </a:xfrm>
          <a:prstGeom prst="line">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33" name="Slide Number Placeholder 16">
            <a:extLst>
              <a:ext uri="{FF2B5EF4-FFF2-40B4-BE49-F238E27FC236}">
                <a16:creationId xmlns:a16="http://schemas.microsoft.com/office/drawing/2014/main" id="{B9CD97BE-DA01-1DFC-6DA9-93C4F624533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9</a:t>
            </a:fld>
            <a:endParaRPr lang="en-US"/>
          </a:p>
        </p:txBody>
      </p:sp>
    </p:spTree>
    <p:extLst>
      <p:ext uri="{BB962C8B-B14F-4D97-AF65-F5344CB8AC3E}">
        <p14:creationId xmlns:p14="http://schemas.microsoft.com/office/powerpoint/2010/main" val="327589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1147002377"/>
              </p:ext>
            </p:extLst>
          </p:nvPr>
        </p:nvGraphicFramePr>
        <p:xfrm>
          <a:off x="1030818" y="1768218"/>
          <a:ext cx="9562125" cy="4150620"/>
        </p:xfrm>
        <a:graphic>
          <a:graphicData uri="http://schemas.openxmlformats.org/drawingml/2006/table">
            <a:tbl>
              <a:tblPr/>
              <a:tblGrid>
                <a:gridCol w="577215">
                  <a:extLst>
                    <a:ext uri="{9D8B030D-6E8A-4147-A177-3AD203B41FA5}">
                      <a16:colId xmlns:a16="http://schemas.microsoft.com/office/drawing/2014/main" val="20000"/>
                    </a:ext>
                  </a:extLst>
                </a:gridCol>
                <a:gridCol w="4150790">
                  <a:extLst>
                    <a:ext uri="{9D8B030D-6E8A-4147-A177-3AD203B41FA5}">
                      <a16:colId xmlns:a16="http://schemas.microsoft.com/office/drawing/2014/main" val="20001"/>
                    </a:ext>
                  </a:extLst>
                </a:gridCol>
                <a:gridCol w="4834120">
                  <a:extLst>
                    <a:ext uri="{9D8B030D-6E8A-4147-A177-3AD203B41FA5}">
                      <a16:colId xmlns:a16="http://schemas.microsoft.com/office/drawing/2014/main" val="3981583184"/>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Day</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Key Learnings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Daily Deliverables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None/>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Day 1</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Introduction to TPI</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“As Is” Process Mapping</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“As Is” Process Walk</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“As Is” Documentation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2</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Continued “As Is” Process Mapping</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and Define Barriers within the “As Is” Process to the goals and objectives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“As Is” Process Documentation and Map and present to Leadership</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Mark-up of “As Is” Process Map </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Present Barriers to Leadership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3</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the Potential Solutions to the Barriers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Describing the “Should Be” Process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identification of potential solutions to the barriers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Present potential Solutions to Leadership</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Draw “Should Be” Process Map and present to Leadership</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to define and implement solutions and/or schedule</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completion of  “Should Be” Process Documentation</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Re-draw “Should Be” Process Map and present to Leadership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4</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Define and Implement Solutions and/or Schedule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defining and implementing solutions </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Kaizen Newspaper and Future Plans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“Should Be” Process Documentation</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Prepare Report Out Presentation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5</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components of Report Out Presentation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Conduct Report Out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bl>
          </a:graphicData>
        </a:graphic>
      </p:graphicFrame>
      <p:sp>
        <p:nvSpPr>
          <p:cNvPr id="7" name="Title 6">
            <a:extLst>
              <a:ext uri="{FF2B5EF4-FFF2-40B4-BE49-F238E27FC236}">
                <a16:creationId xmlns:a16="http://schemas.microsoft.com/office/drawing/2014/main" id="{F464FB8A-FE0A-0FC7-E15E-8C97258E1281}"/>
              </a:ext>
            </a:extLst>
          </p:cNvPr>
          <p:cNvSpPr>
            <a:spLocks noGrp="1"/>
          </p:cNvSpPr>
          <p:nvPr>
            <p:ph type="title"/>
          </p:nvPr>
        </p:nvSpPr>
        <p:spPr/>
        <p:txBody>
          <a:bodyPr/>
          <a:lstStyle/>
          <a:p>
            <a:r>
              <a:rPr lang="en-US" dirty="0">
                <a:solidFill>
                  <a:schemeClr val="tx1"/>
                </a:solidFill>
              </a:rPr>
              <a:t>TPI Session Agenda</a:t>
            </a:r>
          </a:p>
        </p:txBody>
      </p:sp>
      <p:sp>
        <p:nvSpPr>
          <p:cNvPr id="5" name="Slide Number Placeholder 16">
            <a:extLst>
              <a:ext uri="{FF2B5EF4-FFF2-40B4-BE49-F238E27FC236}">
                <a16:creationId xmlns:a16="http://schemas.microsoft.com/office/drawing/2014/main" id="{3CF45683-E2B9-06CB-BCB2-20EF2639BFC6}"/>
              </a:ext>
            </a:extLst>
          </p:cNvPr>
          <p:cNvSpPr>
            <a:spLocks noGrp="1"/>
          </p:cNvSpPr>
          <p:nvPr>
            <p:ph type="sldNum" sz="quarter" idx="4"/>
          </p:nvPr>
        </p:nvSpPr>
        <p:spPr/>
        <p:txBody>
          <a:bodyPr/>
          <a:lstStyle/>
          <a:p>
            <a:fld id="{CC6D4273-7FC1-0947-B9FE-19CB3C0D1FB6}" type="slidenum">
              <a:rPr lang="en-US" smtClean="0"/>
              <a:t>10</a:t>
            </a:fld>
            <a:endParaRPr lang="en-US"/>
          </a:p>
        </p:txBody>
      </p:sp>
    </p:spTree>
    <p:extLst>
      <p:ext uri="{BB962C8B-B14F-4D97-AF65-F5344CB8AC3E}">
        <p14:creationId xmlns:p14="http://schemas.microsoft.com/office/powerpoint/2010/main" val="1023335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2BFF-966C-A8E5-5B8E-642E5C64ADAE}"/>
              </a:ext>
            </a:extLst>
          </p:cNvPr>
          <p:cNvSpPr>
            <a:spLocks noGrp="1"/>
          </p:cNvSpPr>
          <p:nvPr>
            <p:ph type="title"/>
          </p:nvPr>
        </p:nvSpPr>
        <p:spPr/>
        <p:txBody>
          <a:bodyPr/>
          <a:lstStyle/>
          <a:p>
            <a:r>
              <a:rPr lang="en-US" dirty="0"/>
              <a:t>Pre-Requisites for TPI</a:t>
            </a:r>
          </a:p>
        </p:txBody>
      </p:sp>
      <p:sp>
        <p:nvSpPr>
          <p:cNvPr id="3" name="Content Placeholder 2">
            <a:extLst>
              <a:ext uri="{FF2B5EF4-FFF2-40B4-BE49-F238E27FC236}">
                <a16:creationId xmlns:a16="http://schemas.microsoft.com/office/drawing/2014/main" id="{2785259C-7ABA-9A8E-E351-D8794BD198F7}"/>
              </a:ext>
            </a:extLst>
          </p:cNvPr>
          <p:cNvSpPr>
            <a:spLocks noGrp="1"/>
          </p:cNvSpPr>
          <p:nvPr>
            <p:ph idx="1"/>
          </p:nvPr>
        </p:nvSpPr>
        <p:spPr/>
        <p:txBody>
          <a:bodyPr>
            <a:normAutofit/>
          </a:bodyPr>
          <a:lstStyle/>
          <a:p>
            <a:r>
              <a:rPr lang="en-US" sz="2400" dirty="0"/>
              <a:t>This TPI session assumes that all attendees have completed the Introduction to Lean</a:t>
            </a:r>
          </a:p>
          <a:p>
            <a:r>
              <a:rPr lang="en-US" sz="2400" dirty="0"/>
              <a:t>One participant per team must be proficient with Microsoft Excel and Process Mapping</a:t>
            </a:r>
          </a:p>
          <a:p>
            <a:r>
              <a:rPr lang="en-US" sz="2400" dirty="0"/>
              <a:t>One Participant per team must be knowledgeable enough of the process within the event boundaries to act as Tour Guide</a:t>
            </a:r>
          </a:p>
          <a:p>
            <a:r>
              <a:rPr lang="en-US" sz="2400" dirty="0"/>
              <a:t>TPI improvements often require system changes, and it is recommended that these resources (like IT) be either on the team or available to the team for the duration of the kaizen</a:t>
            </a:r>
          </a:p>
        </p:txBody>
      </p:sp>
      <p:sp>
        <p:nvSpPr>
          <p:cNvPr id="7" name="Slide Number Placeholder 16">
            <a:extLst>
              <a:ext uri="{FF2B5EF4-FFF2-40B4-BE49-F238E27FC236}">
                <a16:creationId xmlns:a16="http://schemas.microsoft.com/office/drawing/2014/main" id="{2701CDA6-711C-E8B8-12AE-56215CAC038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11</a:t>
            </a:fld>
            <a:endParaRPr lang="en-US"/>
          </a:p>
        </p:txBody>
      </p:sp>
    </p:spTree>
    <p:extLst>
      <p:ext uri="{BB962C8B-B14F-4D97-AF65-F5344CB8AC3E}">
        <p14:creationId xmlns:p14="http://schemas.microsoft.com/office/powerpoint/2010/main" val="341311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Review of Pre-Event Preparation Document</a:t>
            </a:r>
          </a:p>
        </p:txBody>
      </p:sp>
      <p:sp>
        <p:nvSpPr>
          <p:cNvPr id="6" name="Slide Number Placeholder 16">
            <a:extLst>
              <a:ext uri="{FF2B5EF4-FFF2-40B4-BE49-F238E27FC236}">
                <a16:creationId xmlns:a16="http://schemas.microsoft.com/office/drawing/2014/main" id="{55FBEAAC-1CBF-C627-DF78-00784D6B17CD}"/>
              </a:ext>
            </a:extLst>
          </p:cNvPr>
          <p:cNvSpPr>
            <a:spLocks noGrp="1"/>
          </p:cNvSpPr>
          <p:nvPr>
            <p:ph type="sldNum" sz="quarter" idx="4"/>
          </p:nvPr>
        </p:nvSpPr>
        <p:spPr/>
        <p:txBody>
          <a:bodyPr/>
          <a:lstStyle/>
          <a:p>
            <a:fld id="{CC6D4273-7FC1-0947-B9FE-19CB3C0D1FB6}" type="slidenum">
              <a:rPr lang="en-US" smtClean="0"/>
              <a:t>12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53761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Pre-Event Preparation Document with kaizen team.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201083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317485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797311"/>
            <a:ext cx="4419809" cy="1949252"/>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 Name(s)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 Boundaries(s)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Leaders/Sub Team Leaders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Volume/Throughput (Units/Shift)</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Goals/Objectives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Deliverables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317485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47091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83144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504787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Review complete</a:t>
            </a:r>
          </a:p>
        </p:txBody>
      </p:sp>
    </p:spTree>
    <p:extLst>
      <p:ext uri="{BB962C8B-B14F-4D97-AF65-F5344CB8AC3E}">
        <p14:creationId xmlns:p14="http://schemas.microsoft.com/office/powerpoint/2010/main" val="1746049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2BFF-966C-A8E5-5B8E-642E5C64ADAE}"/>
              </a:ext>
            </a:extLst>
          </p:cNvPr>
          <p:cNvSpPr>
            <a:spLocks noGrp="1"/>
          </p:cNvSpPr>
          <p:nvPr>
            <p:ph type="title"/>
          </p:nvPr>
        </p:nvSpPr>
        <p:spPr/>
        <p:txBody>
          <a:bodyPr/>
          <a:lstStyle/>
          <a:p>
            <a:r>
              <a:rPr lang="en-US" dirty="0"/>
              <a:t>TPI Report-out Expectations</a:t>
            </a:r>
          </a:p>
        </p:txBody>
      </p:sp>
      <p:sp>
        <p:nvSpPr>
          <p:cNvPr id="3" name="Content Placeholder 2">
            <a:extLst>
              <a:ext uri="{FF2B5EF4-FFF2-40B4-BE49-F238E27FC236}">
                <a16:creationId xmlns:a16="http://schemas.microsoft.com/office/drawing/2014/main" id="{2785259C-7ABA-9A8E-E351-D8794BD198F7}"/>
              </a:ext>
            </a:extLst>
          </p:cNvPr>
          <p:cNvSpPr>
            <a:spLocks noGrp="1"/>
          </p:cNvSpPr>
          <p:nvPr>
            <p:ph idx="1"/>
          </p:nvPr>
        </p:nvSpPr>
        <p:spPr/>
        <p:txBody>
          <a:bodyPr>
            <a:normAutofit/>
          </a:bodyPr>
          <a:lstStyle/>
          <a:p>
            <a:r>
              <a:rPr lang="en-US" sz="2400" dirty="0"/>
              <a:t>15-minute report-out presentation to leadership at end of week</a:t>
            </a:r>
          </a:p>
          <a:p>
            <a:r>
              <a:rPr lang="en-US" sz="2400" dirty="0"/>
              <a:t>All team members will take part in the report-out</a:t>
            </a:r>
          </a:p>
          <a:p>
            <a:r>
              <a:rPr lang="en-US" sz="2400" dirty="0"/>
              <a:t>Will likely be seeking leadership’s approval at the report-out to move forward on certain elements</a:t>
            </a:r>
          </a:p>
          <a:p>
            <a:r>
              <a:rPr lang="en-US" sz="2400" dirty="0"/>
              <a:t>It is possible that we will not have implemented, during the kaizen week, all of the necessary changes to achieve our goals and objectives; incomplete items need to be reflected in the report-out (method for doing this will be shown later)</a:t>
            </a:r>
          </a:p>
        </p:txBody>
      </p:sp>
      <p:sp>
        <p:nvSpPr>
          <p:cNvPr id="7" name="Slide Number Placeholder 16">
            <a:extLst>
              <a:ext uri="{FF2B5EF4-FFF2-40B4-BE49-F238E27FC236}">
                <a16:creationId xmlns:a16="http://schemas.microsoft.com/office/drawing/2014/main" id="{712BE079-01CA-5263-5D71-C281EA16AA3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13</a:t>
            </a:fld>
            <a:endParaRPr lang="en-US"/>
          </a:p>
        </p:txBody>
      </p:sp>
    </p:spTree>
    <p:extLst>
      <p:ext uri="{BB962C8B-B14F-4D97-AF65-F5344CB8AC3E}">
        <p14:creationId xmlns:p14="http://schemas.microsoft.com/office/powerpoint/2010/main" val="1221676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71BB8-DE22-1633-1E6F-A9242EF6804C}"/>
              </a:ext>
            </a:extLst>
          </p:cNvPr>
          <p:cNvSpPr>
            <a:spLocks noGrp="1"/>
          </p:cNvSpPr>
          <p:nvPr>
            <p:ph type="title"/>
          </p:nvPr>
        </p:nvSpPr>
        <p:spPr/>
        <p:txBody>
          <a:bodyPr/>
          <a:lstStyle/>
          <a:p>
            <a:r>
              <a:rPr lang="en-US" dirty="0"/>
              <a:t>Process Mapping Basics</a:t>
            </a:r>
          </a:p>
        </p:txBody>
      </p:sp>
      <p:sp>
        <p:nvSpPr>
          <p:cNvPr id="3" name="Content Placeholder 2">
            <a:extLst>
              <a:ext uri="{FF2B5EF4-FFF2-40B4-BE49-F238E27FC236}">
                <a16:creationId xmlns:a16="http://schemas.microsoft.com/office/drawing/2014/main" id="{F3A7BCA7-BF1E-8A8D-1AC5-DCA46BBF1D88}"/>
              </a:ext>
            </a:extLst>
          </p:cNvPr>
          <p:cNvSpPr>
            <a:spLocks noGrp="1"/>
          </p:cNvSpPr>
          <p:nvPr>
            <p:ph idx="1"/>
          </p:nvPr>
        </p:nvSpPr>
        <p:spPr/>
        <p:txBody>
          <a:bodyPr/>
          <a:lstStyle/>
          <a:p>
            <a:r>
              <a:rPr lang="en-US" dirty="0"/>
              <a:t>Objectives:</a:t>
            </a:r>
          </a:p>
          <a:p>
            <a:pPr lvl="1"/>
            <a:r>
              <a:rPr lang="en-US" dirty="0"/>
              <a:t>Define Process Mapping</a:t>
            </a:r>
          </a:p>
          <a:p>
            <a:pPr lvl="1"/>
            <a:r>
              <a:rPr lang="en-US" dirty="0"/>
              <a:t>Differentiate Process Mapping from Value Stream Mapping</a:t>
            </a:r>
          </a:p>
          <a:p>
            <a:pPr lvl="1"/>
            <a:r>
              <a:rPr lang="en-US" dirty="0"/>
              <a:t>Identify components of a process</a:t>
            </a:r>
          </a:p>
          <a:p>
            <a:pPr lvl="1"/>
            <a:r>
              <a:rPr lang="en-US" dirty="0"/>
              <a:t>Identify the common symbology used in basic Process Mapping</a:t>
            </a:r>
          </a:p>
          <a:p>
            <a:pPr lvl="1"/>
            <a:r>
              <a:rPr lang="en-US" dirty="0"/>
              <a:t>Identify methodology for constructing a Process Map</a:t>
            </a:r>
          </a:p>
        </p:txBody>
      </p:sp>
      <p:sp>
        <p:nvSpPr>
          <p:cNvPr id="7" name="Slide Number Placeholder 16">
            <a:extLst>
              <a:ext uri="{FF2B5EF4-FFF2-40B4-BE49-F238E27FC236}">
                <a16:creationId xmlns:a16="http://schemas.microsoft.com/office/drawing/2014/main" id="{31C6CD43-8D5A-E173-05E0-3F392827C35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2790043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FCCA9-230B-AF04-FC72-40D47ADE6AC9}"/>
              </a:ext>
            </a:extLst>
          </p:cNvPr>
          <p:cNvSpPr>
            <a:spLocks noGrp="1"/>
          </p:cNvSpPr>
          <p:nvPr>
            <p:ph type="title"/>
          </p:nvPr>
        </p:nvSpPr>
        <p:spPr/>
        <p:txBody>
          <a:bodyPr/>
          <a:lstStyle/>
          <a:p>
            <a:r>
              <a:rPr lang="en-US" dirty="0"/>
              <a:t>Process Mapping</a:t>
            </a:r>
          </a:p>
        </p:txBody>
      </p:sp>
      <p:sp>
        <p:nvSpPr>
          <p:cNvPr id="4" name="Text Placeholder 3">
            <a:extLst>
              <a:ext uri="{FF2B5EF4-FFF2-40B4-BE49-F238E27FC236}">
                <a16:creationId xmlns:a16="http://schemas.microsoft.com/office/drawing/2014/main" id="{CF0FDE70-EEA2-2EDF-FB61-890F97E34FB4}"/>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t>Graphic display of steps, events and operations that constitute a process</a:t>
            </a:r>
          </a:p>
          <a:p>
            <a:pPr marL="285750" indent="-285750">
              <a:buFont typeface="Arial" panose="020B0604020202020204" pitchFamily="34" charset="0"/>
              <a:buChar char="•"/>
            </a:pPr>
            <a:r>
              <a:rPr lang="en-US" sz="1800" dirty="0"/>
              <a:t>A picture or diagram of what is actually happening</a:t>
            </a:r>
          </a:p>
          <a:p>
            <a:pPr marL="285750" indent="-285750">
              <a:buFont typeface="Arial" panose="020B0604020202020204" pitchFamily="34" charset="0"/>
              <a:buChar char="•"/>
            </a:pPr>
            <a:r>
              <a:rPr lang="en-US" sz="1800" dirty="0"/>
              <a:t>A foundation for continuous improvement</a:t>
            </a:r>
          </a:p>
          <a:p>
            <a:pPr marL="285750" indent="-285750">
              <a:buFont typeface="Arial" panose="020B0604020202020204" pitchFamily="34" charset="0"/>
              <a:buChar char="•"/>
            </a:pPr>
            <a:r>
              <a:rPr lang="en-US" sz="1800" dirty="0"/>
              <a:t>A real-time planning and implementation tool</a:t>
            </a:r>
          </a:p>
          <a:p>
            <a:pPr marL="285750" indent="-285750">
              <a:buFont typeface="Arial" panose="020B0604020202020204" pitchFamily="34" charset="0"/>
              <a:buChar char="•"/>
            </a:pPr>
            <a:r>
              <a:rPr lang="en-US" sz="1800" dirty="0"/>
              <a:t>In TPI, we will be using a simplified version of Process Mapping</a:t>
            </a:r>
          </a:p>
        </p:txBody>
      </p:sp>
      <p:pic>
        <p:nvPicPr>
          <p:cNvPr id="8" name="Picture 2" descr="Process Map Example">
            <a:extLst>
              <a:ext uri="{FF2B5EF4-FFF2-40B4-BE49-F238E27FC236}">
                <a16:creationId xmlns:a16="http://schemas.microsoft.com/office/drawing/2014/main" id="{FDA0E043-FD12-E453-A9AE-0B6F6C11632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487987" y="1836102"/>
            <a:ext cx="5175185" cy="3518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2D58B112-113E-8276-75F9-C64461FECD5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15</a:t>
            </a:fld>
            <a:endParaRPr lang="en-US"/>
          </a:p>
        </p:txBody>
      </p:sp>
    </p:spTree>
    <p:extLst>
      <p:ext uri="{BB962C8B-B14F-4D97-AF65-F5344CB8AC3E}">
        <p14:creationId xmlns:p14="http://schemas.microsoft.com/office/powerpoint/2010/main" val="1708253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lide Number Placeholder 16">
            <a:extLst>
              <a:ext uri="{FF2B5EF4-FFF2-40B4-BE49-F238E27FC236}">
                <a16:creationId xmlns:a16="http://schemas.microsoft.com/office/drawing/2014/main" id="{E63B503F-0371-4630-907D-980E8B28B15B}"/>
              </a:ext>
            </a:extLst>
          </p:cNvPr>
          <p:cNvSpPr>
            <a:spLocks noGrp="1"/>
          </p:cNvSpPr>
          <p:nvPr>
            <p:ph type="sldNum" sz="quarter" idx="4"/>
          </p:nvPr>
        </p:nvSpPr>
        <p:spPr/>
        <p:txBody>
          <a:bodyPr/>
          <a:lstStyle/>
          <a:p>
            <a:fld id="{CC6D4273-7FC1-0947-B9FE-19CB3C0D1FB6}" type="slidenum">
              <a:rPr lang="en-US" smtClean="0"/>
              <a:t>16</a:t>
            </a:fld>
            <a:endParaRPr lang="en-US"/>
          </a:p>
        </p:txBody>
      </p:sp>
      <p:sp>
        <p:nvSpPr>
          <p:cNvPr id="2" name="Title 1">
            <a:extLst>
              <a:ext uri="{FF2B5EF4-FFF2-40B4-BE49-F238E27FC236}">
                <a16:creationId xmlns:a16="http://schemas.microsoft.com/office/drawing/2014/main" id="{0C2B8784-2290-BA5D-7E6F-A83BDD03B8B0}"/>
              </a:ext>
            </a:extLst>
          </p:cNvPr>
          <p:cNvSpPr>
            <a:spLocks noGrp="1"/>
          </p:cNvSpPr>
          <p:nvPr>
            <p:ph type="title" idx="4294967295"/>
          </p:nvPr>
        </p:nvSpPr>
        <p:spPr>
          <a:xfrm>
            <a:off x="487751" y="627063"/>
            <a:ext cx="9585325" cy="1009650"/>
          </a:xfrm>
        </p:spPr>
        <p:txBody>
          <a:bodyPr>
            <a:noAutofit/>
          </a:bodyPr>
          <a:lstStyle/>
          <a:p>
            <a:r>
              <a:rPr lang="en-US" sz="3200" dirty="0"/>
              <a:t>Value Stream Map and Process Map Distinction</a:t>
            </a:r>
          </a:p>
        </p:txBody>
      </p:sp>
      <p:sp>
        <p:nvSpPr>
          <p:cNvPr id="6" name="AutoShape 2">
            <a:extLst>
              <a:ext uri="{FF2B5EF4-FFF2-40B4-BE49-F238E27FC236}">
                <a16:creationId xmlns:a16="http://schemas.microsoft.com/office/drawing/2014/main" id="{1DF5452B-107E-A66E-A93B-37FAB3D02071}"/>
              </a:ext>
            </a:extLst>
          </p:cNvPr>
          <p:cNvSpPr>
            <a:spLocks noChangeArrowheads="1"/>
          </p:cNvSpPr>
          <p:nvPr/>
        </p:nvSpPr>
        <p:spPr bwMode="auto">
          <a:xfrm>
            <a:off x="237057" y="4421121"/>
            <a:ext cx="5287384" cy="1537940"/>
          </a:xfrm>
          <a:prstGeom prst="upArrow">
            <a:avLst>
              <a:gd name="adj1" fmla="val 83704"/>
              <a:gd name="adj2" fmla="val 30343"/>
            </a:avLst>
          </a:prstGeom>
          <a:solidFill>
            <a:srgbClr val="EE3228"/>
          </a:solidFill>
          <a:ln w="12700" cap="sq">
            <a:solidFill>
              <a:schemeClr val="tx1"/>
            </a:solidFill>
            <a:miter lim="800000"/>
            <a:headEnd/>
            <a:tailEnd/>
          </a:ln>
        </p:spPr>
        <p:txBody>
          <a:bodyPr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High-level snapshot of end-to-end </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business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Used to identify where opportunities for improvement exist</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Does not incorporate decision loops</a:t>
            </a:r>
          </a:p>
        </p:txBody>
      </p:sp>
      <p:sp>
        <p:nvSpPr>
          <p:cNvPr id="8" name="Rectangle 4">
            <a:extLst>
              <a:ext uri="{FF2B5EF4-FFF2-40B4-BE49-F238E27FC236}">
                <a16:creationId xmlns:a16="http://schemas.microsoft.com/office/drawing/2014/main" id="{9D10F968-4EAC-94A2-B279-9C9628BBE3C0}"/>
              </a:ext>
            </a:extLst>
          </p:cNvPr>
          <p:cNvSpPr>
            <a:spLocks noChangeArrowheads="1"/>
          </p:cNvSpPr>
          <p:nvPr/>
        </p:nvSpPr>
        <p:spPr bwMode="auto">
          <a:xfrm>
            <a:off x="505988" y="1535113"/>
            <a:ext cx="5086645" cy="2653240"/>
          </a:xfrm>
          <a:prstGeom prst="rect">
            <a:avLst/>
          </a:prstGeom>
          <a:solidFill>
            <a:srgbClr val="F8F8F8"/>
          </a:solidFill>
          <a:ln w="12700" cap="sq">
            <a:solidFill>
              <a:srgbClr val="7F7F7F"/>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dirty="0">
              <a:latin typeface="Arial" charset="0"/>
              <a:ea typeface="ＭＳ Ｐゴシック" charset="0"/>
            </a:endParaRPr>
          </a:p>
        </p:txBody>
      </p:sp>
      <p:grpSp>
        <p:nvGrpSpPr>
          <p:cNvPr id="9" name="Group 5">
            <a:extLst>
              <a:ext uri="{FF2B5EF4-FFF2-40B4-BE49-F238E27FC236}">
                <a16:creationId xmlns:a16="http://schemas.microsoft.com/office/drawing/2014/main" id="{FF3074BC-66F1-156F-0652-FF2BF756BA7F}"/>
              </a:ext>
            </a:extLst>
          </p:cNvPr>
          <p:cNvGrpSpPr>
            <a:grpSpLocks/>
          </p:cNvGrpSpPr>
          <p:nvPr/>
        </p:nvGrpSpPr>
        <p:grpSpPr bwMode="auto">
          <a:xfrm>
            <a:off x="625157" y="1718670"/>
            <a:ext cx="911017" cy="510345"/>
            <a:chOff x="933" y="2179"/>
            <a:chExt cx="658" cy="463"/>
          </a:xfrm>
        </p:grpSpPr>
        <p:sp>
          <p:nvSpPr>
            <p:cNvPr id="58" name="Rectangle 6">
              <a:extLst>
                <a:ext uri="{FF2B5EF4-FFF2-40B4-BE49-F238E27FC236}">
                  <a16:creationId xmlns:a16="http://schemas.microsoft.com/office/drawing/2014/main" id="{5CA1E778-11A5-B81C-F92C-939B21FDB010}"/>
                </a:ext>
              </a:extLst>
            </p:cNvPr>
            <p:cNvSpPr>
              <a:spLocks noChangeArrowheads="1"/>
            </p:cNvSpPr>
            <p:nvPr/>
          </p:nvSpPr>
          <p:spPr bwMode="auto">
            <a:xfrm>
              <a:off x="1545" y="2179"/>
              <a:ext cx="41" cy="250"/>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 name="Rectangle 7">
              <a:extLst>
                <a:ext uri="{FF2B5EF4-FFF2-40B4-BE49-F238E27FC236}">
                  <a16:creationId xmlns:a16="http://schemas.microsoft.com/office/drawing/2014/main" id="{CA26AD04-E606-9B32-9B98-72598BBBA6F9}"/>
                </a:ext>
              </a:extLst>
            </p:cNvPr>
            <p:cNvSpPr>
              <a:spLocks noChangeArrowheads="1"/>
            </p:cNvSpPr>
            <p:nvPr/>
          </p:nvSpPr>
          <p:spPr bwMode="auto">
            <a:xfrm>
              <a:off x="933" y="2435"/>
              <a:ext cx="658" cy="209"/>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 name="AutoShape 8">
              <a:extLst>
                <a:ext uri="{FF2B5EF4-FFF2-40B4-BE49-F238E27FC236}">
                  <a16:creationId xmlns:a16="http://schemas.microsoft.com/office/drawing/2014/main" id="{2099C2DB-1637-5FF3-AE48-D3DA587E7554}"/>
                </a:ext>
              </a:extLst>
            </p:cNvPr>
            <p:cNvSpPr>
              <a:spLocks noChangeArrowheads="1"/>
            </p:cNvSpPr>
            <p:nvPr/>
          </p:nvSpPr>
          <p:spPr bwMode="auto">
            <a:xfrm>
              <a:off x="1342"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 name="AutoShape 9">
              <a:extLst>
                <a:ext uri="{FF2B5EF4-FFF2-40B4-BE49-F238E27FC236}">
                  <a16:creationId xmlns:a16="http://schemas.microsoft.com/office/drawing/2014/main" id="{3091FB1C-C8BD-209D-4603-B68DCA1A8C70}"/>
                </a:ext>
              </a:extLst>
            </p:cNvPr>
            <p:cNvSpPr>
              <a:spLocks noChangeArrowheads="1"/>
            </p:cNvSpPr>
            <p:nvPr/>
          </p:nvSpPr>
          <p:spPr bwMode="auto">
            <a:xfrm>
              <a:off x="1138"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 name="AutoShape 10">
              <a:extLst>
                <a:ext uri="{FF2B5EF4-FFF2-40B4-BE49-F238E27FC236}">
                  <a16:creationId xmlns:a16="http://schemas.microsoft.com/office/drawing/2014/main" id="{97D20144-028E-8B88-346D-554232E2F802}"/>
                </a:ext>
              </a:extLst>
            </p:cNvPr>
            <p:cNvSpPr>
              <a:spLocks noChangeArrowheads="1"/>
            </p:cNvSpPr>
            <p:nvPr/>
          </p:nvSpPr>
          <p:spPr bwMode="auto">
            <a:xfrm>
              <a:off x="934" y="2245"/>
              <a:ext cx="201"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 name="Rectangle 11">
              <a:extLst>
                <a:ext uri="{FF2B5EF4-FFF2-40B4-BE49-F238E27FC236}">
                  <a16:creationId xmlns:a16="http://schemas.microsoft.com/office/drawing/2014/main" id="{D9730D12-8510-E5C0-CF43-38D641C80223}"/>
                </a:ext>
              </a:extLst>
            </p:cNvPr>
            <p:cNvSpPr>
              <a:spLocks noChangeArrowheads="1"/>
            </p:cNvSpPr>
            <p:nvPr/>
          </p:nvSpPr>
          <p:spPr bwMode="auto">
            <a:xfrm>
              <a:off x="974"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 name="Rectangle 12">
              <a:extLst>
                <a:ext uri="{FF2B5EF4-FFF2-40B4-BE49-F238E27FC236}">
                  <a16:creationId xmlns:a16="http://schemas.microsoft.com/office/drawing/2014/main" id="{A9F5C684-3CE0-885F-B479-806A4266112B}"/>
                </a:ext>
              </a:extLst>
            </p:cNvPr>
            <p:cNvSpPr>
              <a:spLocks noChangeArrowheads="1"/>
            </p:cNvSpPr>
            <p:nvPr/>
          </p:nvSpPr>
          <p:spPr bwMode="auto">
            <a:xfrm>
              <a:off x="1185"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 name="Rectangle 13">
              <a:extLst>
                <a:ext uri="{FF2B5EF4-FFF2-40B4-BE49-F238E27FC236}">
                  <a16:creationId xmlns:a16="http://schemas.microsoft.com/office/drawing/2014/main" id="{B566CD30-5087-FE32-A30E-B61E5B949D5E}"/>
                </a:ext>
              </a:extLst>
            </p:cNvPr>
            <p:cNvSpPr>
              <a:spLocks noChangeArrowheads="1"/>
            </p:cNvSpPr>
            <p:nvPr/>
          </p:nvSpPr>
          <p:spPr bwMode="auto">
            <a:xfrm>
              <a:off x="1395" y="2355"/>
              <a:ext cx="26"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10" name="Group 14">
            <a:extLst>
              <a:ext uri="{FF2B5EF4-FFF2-40B4-BE49-F238E27FC236}">
                <a16:creationId xmlns:a16="http://schemas.microsoft.com/office/drawing/2014/main" id="{AD05BF3B-07AA-8E77-1957-8D1FCE4E29C8}"/>
              </a:ext>
            </a:extLst>
          </p:cNvPr>
          <p:cNvGrpSpPr>
            <a:grpSpLocks/>
          </p:cNvGrpSpPr>
          <p:nvPr/>
        </p:nvGrpSpPr>
        <p:grpSpPr bwMode="auto">
          <a:xfrm>
            <a:off x="4463661" y="1718670"/>
            <a:ext cx="911017" cy="510345"/>
            <a:chOff x="933" y="2179"/>
            <a:chExt cx="658" cy="463"/>
          </a:xfrm>
        </p:grpSpPr>
        <p:sp>
          <p:nvSpPr>
            <p:cNvPr id="50" name="Rectangle 15">
              <a:extLst>
                <a:ext uri="{FF2B5EF4-FFF2-40B4-BE49-F238E27FC236}">
                  <a16:creationId xmlns:a16="http://schemas.microsoft.com/office/drawing/2014/main" id="{C810CC8A-7ED1-2142-4DF3-666FDCB33772}"/>
                </a:ext>
              </a:extLst>
            </p:cNvPr>
            <p:cNvSpPr>
              <a:spLocks noChangeArrowheads="1"/>
            </p:cNvSpPr>
            <p:nvPr/>
          </p:nvSpPr>
          <p:spPr bwMode="auto">
            <a:xfrm>
              <a:off x="1545" y="2179"/>
              <a:ext cx="41" cy="250"/>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 name="Rectangle 16">
              <a:extLst>
                <a:ext uri="{FF2B5EF4-FFF2-40B4-BE49-F238E27FC236}">
                  <a16:creationId xmlns:a16="http://schemas.microsoft.com/office/drawing/2014/main" id="{751F14BD-4B36-9FE8-B089-D6201CF75150}"/>
                </a:ext>
              </a:extLst>
            </p:cNvPr>
            <p:cNvSpPr>
              <a:spLocks noChangeArrowheads="1"/>
            </p:cNvSpPr>
            <p:nvPr/>
          </p:nvSpPr>
          <p:spPr bwMode="auto">
            <a:xfrm>
              <a:off x="933" y="2435"/>
              <a:ext cx="658" cy="209"/>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 name="AutoShape 17">
              <a:extLst>
                <a:ext uri="{FF2B5EF4-FFF2-40B4-BE49-F238E27FC236}">
                  <a16:creationId xmlns:a16="http://schemas.microsoft.com/office/drawing/2014/main" id="{D11176C7-E7C0-9760-506B-0676CA1FD8A3}"/>
                </a:ext>
              </a:extLst>
            </p:cNvPr>
            <p:cNvSpPr>
              <a:spLocks noChangeArrowheads="1"/>
            </p:cNvSpPr>
            <p:nvPr/>
          </p:nvSpPr>
          <p:spPr bwMode="auto">
            <a:xfrm>
              <a:off x="1342"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 name="AutoShape 18">
              <a:extLst>
                <a:ext uri="{FF2B5EF4-FFF2-40B4-BE49-F238E27FC236}">
                  <a16:creationId xmlns:a16="http://schemas.microsoft.com/office/drawing/2014/main" id="{28E62AE9-FD34-C556-B5DF-C133EC6E55F6}"/>
                </a:ext>
              </a:extLst>
            </p:cNvPr>
            <p:cNvSpPr>
              <a:spLocks noChangeArrowheads="1"/>
            </p:cNvSpPr>
            <p:nvPr/>
          </p:nvSpPr>
          <p:spPr bwMode="auto">
            <a:xfrm>
              <a:off x="1138"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 name="AutoShape 19">
              <a:extLst>
                <a:ext uri="{FF2B5EF4-FFF2-40B4-BE49-F238E27FC236}">
                  <a16:creationId xmlns:a16="http://schemas.microsoft.com/office/drawing/2014/main" id="{DB6B3887-6434-7224-F716-B9418AD21230}"/>
                </a:ext>
              </a:extLst>
            </p:cNvPr>
            <p:cNvSpPr>
              <a:spLocks noChangeArrowheads="1"/>
            </p:cNvSpPr>
            <p:nvPr/>
          </p:nvSpPr>
          <p:spPr bwMode="auto">
            <a:xfrm>
              <a:off x="935" y="2245"/>
              <a:ext cx="201"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 name="Rectangle 20">
              <a:extLst>
                <a:ext uri="{FF2B5EF4-FFF2-40B4-BE49-F238E27FC236}">
                  <a16:creationId xmlns:a16="http://schemas.microsoft.com/office/drawing/2014/main" id="{66ABF00D-6FF5-C45C-1686-0A29AF39D533}"/>
                </a:ext>
              </a:extLst>
            </p:cNvPr>
            <p:cNvSpPr>
              <a:spLocks noChangeArrowheads="1"/>
            </p:cNvSpPr>
            <p:nvPr/>
          </p:nvSpPr>
          <p:spPr bwMode="auto">
            <a:xfrm>
              <a:off x="974"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6" name="Rectangle 21">
              <a:extLst>
                <a:ext uri="{FF2B5EF4-FFF2-40B4-BE49-F238E27FC236}">
                  <a16:creationId xmlns:a16="http://schemas.microsoft.com/office/drawing/2014/main" id="{335E6EEF-FF6D-9F47-6B15-AD16B7714271}"/>
                </a:ext>
              </a:extLst>
            </p:cNvPr>
            <p:cNvSpPr>
              <a:spLocks noChangeArrowheads="1"/>
            </p:cNvSpPr>
            <p:nvPr/>
          </p:nvSpPr>
          <p:spPr bwMode="auto">
            <a:xfrm>
              <a:off x="1185"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 name="Rectangle 22">
              <a:extLst>
                <a:ext uri="{FF2B5EF4-FFF2-40B4-BE49-F238E27FC236}">
                  <a16:creationId xmlns:a16="http://schemas.microsoft.com/office/drawing/2014/main" id="{0EDE2BDB-AED3-A305-E103-394DF8D6E8B5}"/>
                </a:ext>
              </a:extLst>
            </p:cNvPr>
            <p:cNvSpPr>
              <a:spLocks noChangeArrowheads="1"/>
            </p:cNvSpPr>
            <p:nvPr/>
          </p:nvSpPr>
          <p:spPr bwMode="auto">
            <a:xfrm>
              <a:off x="1396"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11" name="Rectangle 23">
            <a:extLst>
              <a:ext uri="{FF2B5EF4-FFF2-40B4-BE49-F238E27FC236}">
                <a16:creationId xmlns:a16="http://schemas.microsoft.com/office/drawing/2014/main" id="{D2B4B240-2DEA-2123-38B4-041C5B63911C}"/>
              </a:ext>
            </a:extLst>
          </p:cNvPr>
          <p:cNvSpPr>
            <a:spLocks noChangeArrowheads="1"/>
          </p:cNvSpPr>
          <p:nvPr/>
        </p:nvSpPr>
        <p:spPr bwMode="auto">
          <a:xfrm>
            <a:off x="1528335" y="2845046"/>
            <a:ext cx="421796"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 name="Rectangle 24">
            <a:extLst>
              <a:ext uri="{FF2B5EF4-FFF2-40B4-BE49-F238E27FC236}">
                <a16:creationId xmlns:a16="http://schemas.microsoft.com/office/drawing/2014/main" id="{00753AC7-F35E-DC9B-7E51-0581B71B09DF}"/>
              </a:ext>
            </a:extLst>
          </p:cNvPr>
          <p:cNvSpPr>
            <a:spLocks noChangeArrowheads="1"/>
          </p:cNvSpPr>
          <p:nvPr/>
        </p:nvSpPr>
        <p:spPr bwMode="auto">
          <a:xfrm>
            <a:off x="2679259" y="2845046"/>
            <a:ext cx="418660"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 name="Rectangle 25">
            <a:extLst>
              <a:ext uri="{FF2B5EF4-FFF2-40B4-BE49-F238E27FC236}">
                <a16:creationId xmlns:a16="http://schemas.microsoft.com/office/drawing/2014/main" id="{A06729A9-651D-8E8C-87E4-75C010EF59B6}"/>
              </a:ext>
            </a:extLst>
          </p:cNvPr>
          <p:cNvSpPr>
            <a:spLocks noChangeArrowheads="1"/>
          </p:cNvSpPr>
          <p:nvPr/>
        </p:nvSpPr>
        <p:spPr bwMode="auto">
          <a:xfrm>
            <a:off x="3800390" y="2845046"/>
            <a:ext cx="420228"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Line 26">
            <a:extLst>
              <a:ext uri="{FF2B5EF4-FFF2-40B4-BE49-F238E27FC236}">
                <a16:creationId xmlns:a16="http://schemas.microsoft.com/office/drawing/2014/main" id="{5149AB75-AEA6-5D7C-E2EE-A97AFC1A010C}"/>
              </a:ext>
            </a:extLst>
          </p:cNvPr>
          <p:cNvSpPr>
            <a:spLocks noChangeShapeType="1"/>
          </p:cNvSpPr>
          <p:nvPr/>
        </p:nvSpPr>
        <p:spPr bwMode="auto">
          <a:xfrm>
            <a:off x="1537743" y="2978542"/>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5" name="Line 27">
            <a:extLst>
              <a:ext uri="{FF2B5EF4-FFF2-40B4-BE49-F238E27FC236}">
                <a16:creationId xmlns:a16="http://schemas.microsoft.com/office/drawing/2014/main" id="{BCF7A3E4-C7F3-CDFB-0670-A687AF88B043}"/>
              </a:ext>
            </a:extLst>
          </p:cNvPr>
          <p:cNvSpPr>
            <a:spLocks noChangeShapeType="1"/>
          </p:cNvSpPr>
          <p:nvPr/>
        </p:nvSpPr>
        <p:spPr bwMode="auto">
          <a:xfrm>
            <a:off x="2676123" y="2970199"/>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 name="Line 28">
            <a:extLst>
              <a:ext uri="{FF2B5EF4-FFF2-40B4-BE49-F238E27FC236}">
                <a16:creationId xmlns:a16="http://schemas.microsoft.com/office/drawing/2014/main" id="{0F6A9915-06CB-CDD0-D7C4-418711B1D948}"/>
              </a:ext>
            </a:extLst>
          </p:cNvPr>
          <p:cNvSpPr>
            <a:spLocks noChangeShapeType="1"/>
          </p:cNvSpPr>
          <p:nvPr/>
        </p:nvSpPr>
        <p:spPr bwMode="auto">
          <a:xfrm>
            <a:off x="3805094" y="2961855"/>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17" name="Group 29">
            <a:extLst>
              <a:ext uri="{FF2B5EF4-FFF2-40B4-BE49-F238E27FC236}">
                <a16:creationId xmlns:a16="http://schemas.microsoft.com/office/drawing/2014/main" id="{4D9E6698-E576-4A5F-B33A-E6AA5AF0025B}"/>
              </a:ext>
            </a:extLst>
          </p:cNvPr>
          <p:cNvGrpSpPr>
            <a:grpSpLocks/>
          </p:cNvGrpSpPr>
          <p:nvPr/>
        </p:nvGrpSpPr>
        <p:grpSpPr bwMode="auto">
          <a:xfrm>
            <a:off x="1537743" y="3474982"/>
            <a:ext cx="421796" cy="418567"/>
            <a:chOff x="1702" y="2990"/>
            <a:chExt cx="269" cy="301"/>
          </a:xfrm>
        </p:grpSpPr>
        <p:sp>
          <p:nvSpPr>
            <p:cNvPr id="43" name="Rectangle 30">
              <a:extLst>
                <a:ext uri="{FF2B5EF4-FFF2-40B4-BE49-F238E27FC236}">
                  <a16:creationId xmlns:a16="http://schemas.microsoft.com/office/drawing/2014/main" id="{3567B8E6-8A76-02DF-77BE-CA9ADD811A5B}"/>
                </a:ext>
              </a:extLst>
            </p:cNvPr>
            <p:cNvSpPr>
              <a:spLocks noChangeArrowheads="1"/>
            </p:cNvSpPr>
            <p:nvPr/>
          </p:nvSpPr>
          <p:spPr bwMode="auto">
            <a:xfrm>
              <a:off x="1702" y="2990"/>
              <a:ext cx="269" cy="301"/>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Line 31">
              <a:extLst>
                <a:ext uri="{FF2B5EF4-FFF2-40B4-BE49-F238E27FC236}">
                  <a16:creationId xmlns:a16="http://schemas.microsoft.com/office/drawing/2014/main" id="{15C8B24C-D9C7-B697-089C-08CC11C31502}"/>
                </a:ext>
              </a:extLst>
            </p:cNvPr>
            <p:cNvSpPr>
              <a:spLocks noChangeShapeType="1"/>
            </p:cNvSpPr>
            <p:nvPr/>
          </p:nvSpPr>
          <p:spPr bwMode="auto">
            <a:xfrm>
              <a:off x="1741" y="3046"/>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5" name="Line 32">
              <a:extLst>
                <a:ext uri="{FF2B5EF4-FFF2-40B4-BE49-F238E27FC236}">
                  <a16:creationId xmlns:a16="http://schemas.microsoft.com/office/drawing/2014/main" id="{3E64EDE9-80DB-7936-B85C-7AFD919A4E44}"/>
                </a:ext>
              </a:extLst>
            </p:cNvPr>
            <p:cNvSpPr>
              <a:spLocks noChangeShapeType="1"/>
            </p:cNvSpPr>
            <p:nvPr/>
          </p:nvSpPr>
          <p:spPr bwMode="auto">
            <a:xfrm>
              <a:off x="1741" y="3088"/>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6" name="Line 33">
              <a:extLst>
                <a:ext uri="{FF2B5EF4-FFF2-40B4-BE49-F238E27FC236}">
                  <a16:creationId xmlns:a16="http://schemas.microsoft.com/office/drawing/2014/main" id="{3BA532B7-6EC6-CF11-BF97-17AC8A839C8A}"/>
                </a:ext>
              </a:extLst>
            </p:cNvPr>
            <p:cNvSpPr>
              <a:spLocks noChangeShapeType="1"/>
            </p:cNvSpPr>
            <p:nvPr/>
          </p:nvSpPr>
          <p:spPr bwMode="auto">
            <a:xfrm>
              <a:off x="1741" y="3130"/>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7" name="Line 34">
              <a:extLst>
                <a:ext uri="{FF2B5EF4-FFF2-40B4-BE49-F238E27FC236}">
                  <a16:creationId xmlns:a16="http://schemas.microsoft.com/office/drawing/2014/main" id="{F9763C21-615D-6F81-FE5F-46DC89279504}"/>
                </a:ext>
              </a:extLst>
            </p:cNvPr>
            <p:cNvSpPr>
              <a:spLocks noChangeShapeType="1"/>
            </p:cNvSpPr>
            <p:nvPr/>
          </p:nvSpPr>
          <p:spPr bwMode="auto">
            <a:xfrm>
              <a:off x="1741" y="3172"/>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8" name="Line 35">
              <a:extLst>
                <a:ext uri="{FF2B5EF4-FFF2-40B4-BE49-F238E27FC236}">
                  <a16:creationId xmlns:a16="http://schemas.microsoft.com/office/drawing/2014/main" id="{DE48FB34-6AA3-B076-AE3B-3AAF642D4F55}"/>
                </a:ext>
              </a:extLst>
            </p:cNvPr>
            <p:cNvSpPr>
              <a:spLocks noChangeShapeType="1"/>
            </p:cNvSpPr>
            <p:nvPr/>
          </p:nvSpPr>
          <p:spPr bwMode="auto">
            <a:xfrm>
              <a:off x="1741" y="3214"/>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9" name="Line 36">
              <a:extLst>
                <a:ext uri="{FF2B5EF4-FFF2-40B4-BE49-F238E27FC236}">
                  <a16:creationId xmlns:a16="http://schemas.microsoft.com/office/drawing/2014/main" id="{AA584325-C02A-6333-42CB-D30CAD946323}"/>
                </a:ext>
              </a:extLst>
            </p:cNvPr>
            <p:cNvSpPr>
              <a:spLocks noChangeShapeType="1"/>
            </p:cNvSpPr>
            <p:nvPr/>
          </p:nvSpPr>
          <p:spPr bwMode="auto">
            <a:xfrm>
              <a:off x="1741" y="3256"/>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8" name="Group 37">
            <a:extLst>
              <a:ext uri="{FF2B5EF4-FFF2-40B4-BE49-F238E27FC236}">
                <a16:creationId xmlns:a16="http://schemas.microsoft.com/office/drawing/2014/main" id="{6A7AB043-D450-97CB-BD69-D1D588B66639}"/>
              </a:ext>
            </a:extLst>
          </p:cNvPr>
          <p:cNvGrpSpPr>
            <a:grpSpLocks/>
          </p:cNvGrpSpPr>
          <p:nvPr/>
        </p:nvGrpSpPr>
        <p:grpSpPr bwMode="auto">
          <a:xfrm>
            <a:off x="2679259" y="3502794"/>
            <a:ext cx="421796" cy="418567"/>
            <a:chOff x="1702" y="2990"/>
            <a:chExt cx="269" cy="301"/>
          </a:xfrm>
        </p:grpSpPr>
        <p:sp>
          <p:nvSpPr>
            <p:cNvPr id="36" name="Rectangle 38">
              <a:extLst>
                <a:ext uri="{FF2B5EF4-FFF2-40B4-BE49-F238E27FC236}">
                  <a16:creationId xmlns:a16="http://schemas.microsoft.com/office/drawing/2014/main" id="{F55B1CCB-E398-4A6C-9B1C-8A920C7037BC}"/>
                </a:ext>
              </a:extLst>
            </p:cNvPr>
            <p:cNvSpPr>
              <a:spLocks noChangeArrowheads="1"/>
            </p:cNvSpPr>
            <p:nvPr/>
          </p:nvSpPr>
          <p:spPr bwMode="auto">
            <a:xfrm>
              <a:off x="1702" y="2990"/>
              <a:ext cx="267" cy="301"/>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Line 39">
              <a:extLst>
                <a:ext uri="{FF2B5EF4-FFF2-40B4-BE49-F238E27FC236}">
                  <a16:creationId xmlns:a16="http://schemas.microsoft.com/office/drawing/2014/main" id="{5BD45FD4-68C4-B0AC-F881-A51182ADED7B}"/>
                </a:ext>
              </a:extLst>
            </p:cNvPr>
            <p:cNvSpPr>
              <a:spLocks noChangeShapeType="1"/>
            </p:cNvSpPr>
            <p:nvPr/>
          </p:nvSpPr>
          <p:spPr bwMode="auto">
            <a:xfrm>
              <a:off x="1741" y="304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8" name="Line 40">
              <a:extLst>
                <a:ext uri="{FF2B5EF4-FFF2-40B4-BE49-F238E27FC236}">
                  <a16:creationId xmlns:a16="http://schemas.microsoft.com/office/drawing/2014/main" id="{50BA7B90-6331-7854-F47B-E5905B138F7A}"/>
                </a:ext>
              </a:extLst>
            </p:cNvPr>
            <p:cNvSpPr>
              <a:spLocks noChangeShapeType="1"/>
            </p:cNvSpPr>
            <p:nvPr/>
          </p:nvSpPr>
          <p:spPr bwMode="auto">
            <a:xfrm>
              <a:off x="1741" y="3088"/>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9" name="Line 41">
              <a:extLst>
                <a:ext uri="{FF2B5EF4-FFF2-40B4-BE49-F238E27FC236}">
                  <a16:creationId xmlns:a16="http://schemas.microsoft.com/office/drawing/2014/main" id="{B2C93ADD-D29E-0CFA-9893-A1D30769BFC2}"/>
                </a:ext>
              </a:extLst>
            </p:cNvPr>
            <p:cNvSpPr>
              <a:spLocks noChangeShapeType="1"/>
            </p:cNvSpPr>
            <p:nvPr/>
          </p:nvSpPr>
          <p:spPr bwMode="auto">
            <a:xfrm>
              <a:off x="1741" y="313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0" name="Line 42">
              <a:extLst>
                <a:ext uri="{FF2B5EF4-FFF2-40B4-BE49-F238E27FC236}">
                  <a16:creationId xmlns:a16="http://schemas.microsoft.com/office/drawing/2014/main" id="{2FE92117-6520-C371-F24F-7C7B57141557}"/>
                </a:ext>
              </a:extLst>
            </p:cNvPr>
            <p:cNvSpPr>
              <a:spLocks noChangeShapeType="1"/>
            </p:cNvSpPr>
            <p:nvPr/>
          </p:nvSpPr>
          <p:spPr bwMode="auto">
            <a:xfrm>
              <a:off x="1741" y="317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1" name="Line 43">
              <a:extLst>
                <a:ext uri="{FF2B5EF4-FFF2-40B4-BE49-F238E27FC236}">
                  <a16:creationId xmlns:a16="http://schemas.microsoft.com/office/drawing/2014/main" id="{0B5B1A07-8CC8-2A62-1B61-F765770B74E2}"/>
                </a:ext>
              </a:extLst>
            </p:cNvPr>
            <p:cNvSpPr>
              <a:spLocks noChangeShapeType="1"/>
            </p:cNvSpPr>
            <p:nvPr/>
          </p:nvSpPr>
          <p:spPr bwMode="auto">
            <a:xfrm>
              <a:off x="1741" y="3214"/>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2" name="Line 44">
              <a:extLst>
                <a:ext uri="{FF2B5EF4-FFF2-40B4-BE49-F238E27FC236}">
                  <a16:creationId xmlns:a16="http://schemas.microsoft.com/office/drawing/2014/main" id="{71BB9226-AE0D-ADC4-B005-546FEF95CE51}"/>
                </a:ext>
              </a:extLst>
            </p:cNvPr>
            <p:cNvSpPr>
              <a:spLocks noChangeShapeType="1"/>
            </p:cNvSpPr>
            <p:nvPr/>
          </p:nvSpPr>
          <p:spPr bwMode="auto">
            <a:xfrm>
              <a:off x="1741" y="325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9" name="Group 45">
            <a:extLst>
              <a:ext uri="{FF2B5EF4-FFF2-40B4-BE49-F238E27FC236}">
                <a16:creationId xmlns:a16="http://schemas.microsoft.com/office/drawing/2014/main" id="{B14F13B7-3F34-8827-CA72-7B0E828FE063}"/>
              </a:ext>
            </a:extLst>
          </p:cNvPr>
          <p:cNvGrpSpPr>
            <a:grpSpLocks/>
          </p:cNvGrpSpPr>
          <p:nvPr/>
        </p:nvGrpSpPr>
        <p:grpSpPr bwMode="auto">
          <a:xfrm>
            <a:off x="3803526" y="3487497"/>
            <a:ext cx="421796" cy="418567"/>
            <a:chOff x="1702" y="2990"/>
            <a:chExt cx="269" cy="301"/>
          </a:xfrm>
        </p:grpSpPr>
        <p:sp>
          <p:nvSpPr>
            <p:cNvPr id="29" name="Rectangle 46">
              <a:extLst>
                <a:ext uri="{FF2B5EF4-FFF2-40B4-BE49-F238E27FC236}">
                  <a16:creationId xmlns:a16="http://schemas.microsoft.com/office/drawing/2014/main" id="{AB8CA1AB-810C-394F-06E5-D498598C35DF}"/>
                </a:ext>
              </a:extLst>
            </p:cNvPr>
            <p:cNvSpPr>
              <a:spLocks noChangeArrowheads="1"/>
            </p:cNvSpPr>
            <p:nvPr/>
          </p:nvSpPr>
          <p:spPr bwMode="auto">
            <a:xfrm>
              <a:off x="1702" y="2990"/>
              <a:ext cx="269" cy="303"/>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 name="Line 47">
              <a:extLst>
                <a:ext uri="{FF2B5EF4-FFF2-40B4-BE49-F238E27FC236}">
                  <a16:creationId xmlns:a16="http://schemas.microsoft.com/office/drawing/2014/main" id="{32A45F0D-9A42-585E-FD27-BDB773C1059C}"/>
                </a:ext>
              </a:extLst>
            </p:cNvPr>
            <p:cNvSpPr>
              <a:spLocks noChangeShapeType="1"/>
            </p:cNvSpPr>
            <p:nvPr/>
          </p:nvSpPr>
          <p:spPr bwMode="auto">
            <a:xfrm>
              <a:off x="1740" y="304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1" name="Line 48">
              <a:extLst>
                <a:ext uri="{FF2B5EF4-FFF2-40B4-BE49-F238E27FC236}">
                  <a16:creationId xmlns:a16="http://schemas.microsoft.com/office/drawing/2014/main" id="{3F4AF1ED-B7C4-4706-9072-49DAAAD8A243}"/>
                </a:ext>
              </a:extLst>
            </p:cNvPr>
            <p:cNvSpPr>
              <a:spLocks noChangeShapeType="1"/>
            </p:cNvSpPr>
            <p:nvPr/>
          </p:nvSpPr>
          <p:spPr bwMode="auto">
            <a:xfrm>
              <a:off x="1740"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2" name="Line 49">
              <a:extLst>
                <a:ext uri="{FF2B5EF4-FFF2-40B4-BE49-F238E27FC236}">
                  <a16:creationId xmlns:a16="http://schemas.microsoft.com/office/drawing/2014/main" id="{1E445F95-1191-AAE9-CF10-A216D3A0CE78}"/>
                </a:ext>
              </a:extLst>
            </p:cNvPr>
            <p:cNvSpPr>
              <a:spLocks noChangeShapeType="1"/>
            </p:cNvSpPr>
            <p:nvPr/>
          </p:nvSpPr>
          <p:spPr bwMode="auto">
            <a:xfrm>
              <a:off x="1740"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3" name="Line 50">
              <a:extLst>
                <a:ext uri="{FF2B5EF4-FFF2-40B4-BE49-F238E27FC236}">
                  <a16:creationId xmlns:a16="http://schemas.microsoft.com/office/drawing/2014/main" id="{9930AE62-B62F-322B-F9E1-F47090C619C0}"/>
                </a:ext>
              </a:extLst>
            </p:cNvPr>
            <p:cNvSpPr>
              <a:spLocks noChangeShapeType="1"/>
            </p:cNvSpPr>
            <p:nvPr/>
          </p:nvSpPr>
          <p:spPr bwMode="auto">
            <a:xfrm>
              <a:off x="1740"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4" name="Line 51">
              <a:extLst>
                <a:ext uri="{FF2B5EF4-FFF2-40B4-BE49-F238E27FC236}">
                  <a16:creationId xmlns:a16="http://schemas.microsoft.com/office/drawing/2014/main" id="{513C90A4-A61D-5EFA-BF5E-90B750FB392A}"/>
                </a:ext>
              </a:extLst>
            </p:cNvPr>
            <p:cNvSpPr>
              <a:spLocks noChangeShapeType="1"/>
            </p:cNvSpPr>
            <p:nvPr/>
          </p:nvSpPr>
          <p:spPr bwMode="auto">
            <a:xfrm>
              <a:off x="1740"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5" name="Line 52">
              <a:extLst>
                <a:ext uri="{FF2B5EF4-FFF2-40B4-BE49-F238E27FC236}">
                  <a16:creationId xmlns:a16="http://schemas.microsoft.com/office/drawing/2014/main" id="{19BCEB22-9E90-F5E4-ADE3-6232DABD93AC}"/>
                </a:ext>
              </a:extLst>
            </p:cNvPr>
            <p:cNvSpPr>
              <a:spLocks noChangeShapeType="1"/>
            </p:cNvSpPr>
            <p:nvPr/>
          </p:nvSpPr>
          <p:spPr bwMode="auto">
            <a:xfrm>
              <a:off x="1740" y="325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20" name="Line 53">
            <a:extLst>
              <a:ext uri="{FF2B5EF4-FFF2-40B4-BE49-F238E27FC236}">
                <a16:creationId xmlns:a16="http://schemas.microsoft.com/office/drawing/2014/main" id="{9CEFD8DD-6083-FCFF-8371-19E4ED4BC30D}"/>
              </a:ext>
            </a:extLst>
          </p:cNvPr>
          <p:cNvSpPr>
            <a:spLocks noChangeShapeType="1"/>
          </p:cNvSpPr>
          <p:nvPr/>
        </p:nvSpPr>
        <p:spPr bwMode="auto">
          <a:xfrm flipV="1">
            <a:off x="1961107" y="3099523"/>
            <a:ext cx="719719" cy="1807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1" name="AutoShape 54">
            <a:extLst>
              <a:ext uri="{FF2B5EF4-FFF2-40B4-BE49-F238E27FC236}">
                <a16:creationId xmlns:a16="http://schemas.microsoft.com/office/drawing/2014/main" id="{6EEBCC63-4B80-4ED7-EDF5-DEC2B086AC52}"/>
              </a:ext>
            </a:extLst>
          </p:cNvPr>
          <p:cNvSpPr>
            <a:spLocks noChangeArrowheads="1"/>
          </p:cNvSpPr>
          <p:nvPr/>
        </p:nvSpPr>
        <p:spPr bwMode="auto">
          <a:xfrm>
            <a:off x="2190038" y="2985495"/>
            <a:ext cx="230498" cy="222494"/>
          </a:xfrm>
          <a:prstGeom prst="triangle">
            <a:avLst>
              <a:gd name="adj" fmla="val 5000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Times New Roman" panose="02020603050405020304" pitchFamily="18" charset="0"/>
                <a:cs typeface="Arial" panose="020B0604020202020204" pitchFamily="34" charset="0"/>
              </a:rPr>
              <a:t>I</a:t>
            </a:r>
          </a:p>
        </p:txBody>
      </p:sp>
      <p:sp>
        <p:nvSpPr>
          <p:cNvPr id="22" name="Line 55">
            <a:extLst>
              <a:ext uri="{FF2B5EF4-FFF2-40B4-BE49-F238E27FC236}">
                <a16:creationId xmlns:a16="http://schemas.microsoft.com/office/drawing/2014/main" id="{11F0FB7A-4423-9D94-721E-9E9D86EFF483}"/>
              </a:ext>
            </a:extLst>
          </p:cNvPr>
          <p:cNvSpPr>
            <a:spLocks noChangeShapeType="1"/>
          </p:cNvSpPr>
          <p:nvPr/>
        </p:nvSpPr>
        <p:spPr bwMode="auto">
          <a:xfrm flipV="1">
            <a:off x="3132415" y="3099523"/>
            <a:ext cx="721288" cy="1807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3" name="AutoShape 56">
            <a:extLst>
              <a:ext uri="{FF2B5EF4-FFF2-40B4-BE49-F238E27FC236}">
                <a16:creationId xmlns:a16="http://schemas.microsoft.com/office/drawing/2014/main" id="{4FF9A6DA-064A-E38F-04F4-66DA72A7EBD5}"/>
              </a:ext>
            </a:extLst>
          </p:cNvPr>
          <p:cNvSpPr>
            <a:spLocks noChangeArrowheads="1"/>
          </p:cNvSpPr>
          <p:nvPr/>
        </p:nvSpPr>
        <p:spPr bwMode="auto">
          <a:xfrm>
            <a:off x="3334689" y="2985495"/>
            <a:ext cx="228930" cy="222494"/>
          </a:xfrm>
          <a:prstGeom prst="triangle">
            <a:avLst>
              <a:gd name="adj" fmla="val 5000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Times New Roman" panose="02020603050405020304" pitchFamily="18" charset="0"/>
                <a:cs typeface="Arial" panose="020B0604020202020204" pitchFamily="34" charset="0"/>
              </a:rPr>
              <a:t>I</a:t>
            </a:r>
          </a:p>
        </p:txBody>
      </p:sp>
      <p:sp>
        <p:nvSpPr>
          <p:cNvPr id="24" name="AutoShape 57">
            <a:extLst>
              <a:ext uri="{FF2B5EF4-FFF2-40B4-BE49-F238E27FC236}">
                <a16:creationId xmlns:a16="http://schemas.microsoft.com/office/drawing/2014/main" id="{55353651-082D-2673-03A7-22A758074BEB}"/>
              </a:ext>
            </a:extLst>
          </p:cNvPr>
          <p:cNvSpPr>
            <a:spLocks noChangeArrowheads="1"/>
          </p:cNvSpPr>
          <p:nvPr/>
        </p:nvSpPr>
        <p:spPr bwMode="auto">
          <a:xfrm rot="18900000">
            <a:off x="4162602" y="2452900"/>
            <a:ext cx="978442" cy="266993"/>
          </a:xfrm>
          <a:prstGeom prst="rightArrow">
            <a:avLst>
              <a:gd name="adj1" fmla="val 50000"/>
              <a:gd name="adj2" fmla="val 8125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 name="AutoShape 58">
            <a:extLst>
              <a:ext uri="{FF2B5EF4-FFF2-40B4-BE49-F238E27FC236}">
                <a16:creationId xmlns:a16="http://schemas.microsoft.com/office/drawing/2014/main" id="{B88A0B24-4FC5-CDEC-6118-19D6E679E89E}"/>
              </a:ext>
            </a:extLst>
          </p:cNvPr>
          <p:cNvSpPr>
            <a:spLocks noChangeArrowheads="1"/>
          </p:cNvSpPr>
          <p:nvPr/>
        </p:nvSpPr>
        <p:spPr bwMode="auto">
          <a:xfrm rot="2772363">
            <a:off x="718236" y="2469241"/>
            <a:ext cx="869117" cy="301059"/>
          </a:xfrm>
          <a:prstGeom prst="rightArrow">
            <a:avLst>
              <a:gd name="adj1" fmla="val 50000"/>
              <a:gd name="adj2" fmla="val 81245"/>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 name="AutoShape 59">
            <a:extLst>
              <a:ext uri="{FF2B5EF4-FFF2-40B4-BE49-F238E27FC236}">
                <a16:creationId xmlns:a16="http://schemas.microsoft.com/office/drawing/2014/main" id="{D4216E31-E114-83CC-6AB4-E475771870F9}"/>
              </a:ext>
            </a:extLst>
          </p:cNvPr>
          <p:cNvSpPr>
            <a:spLocks noChangeArrowheads="1"/>
          </p:cNvSpPr>
          <p:nvPr/>
        </p:nvSpPr>
        <p:spPr bwMode="auto">
          <a:xfrm>
            <a:off x="1302540" y="3387375"/>
            <a:ext cx="749512" cy="470018"/>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 name="AutoShape 60">
            <a:extLst>
              <a:ext uri="{FF2B5EF4-FFF2-40B4-BE49-F238E27FC236}">
                <a16:creationId xmlns:a16="http://schemas.microsoft.com/office/drawing/2014/main" id="{78183727-A267-7C64-8E13-F922A9CA827B}"/>
              </a:ext>
            </a:extLst>
          </p:cNvPr>
          <p:cNvSpPr>
            <a:spLocks noChangeArrowheads="1"/>
          </p:cNvSpPr>
          <p:nvPr/>
        </p:nvSpPr>
        <p:spPr bwMode="auto">
          <a:xfrm>
            <a:off x="2280982" y="2653145"/>
            <a:ext cx="755784" cy="467237"/>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 name="AutoShape 61">
            <a:extLst>
              <a:ext uri="{FF2B5EF4-FFF2-40B4-BE49-F238E27FC236}">
                <a16:creationId xmlns:a16="http://schemas.microsoft.com/office/drawing/2014/main" id="{6E2E9C68-9A3B-FC79-BD7C-A4DB7C575400}"/>
              </a:ext>
            </a:extLst>
          </p:cNvPr>
          <p:cNvSpPr>
            <a:spLocks noChangeArrowheads="1"/>
          </p:cNvSpPr>
          <p:nvPr/>
        </p:nvSpPr>
        <p:spPr bwMode="auto">
          <a:xfrm>
            <a:off x="3485219" y="3120382"/>
            <a:ext cx="754216" cy="470018"/>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pic>
        <p:nvPicPr>
          <p:cNvPr id="67" name="Picture 65" descr="image001">
            <a:extLst>
              <a:ext uri="{FF2B5EF4-FFF2-40B4-BE49-F238E27FC236}">
                <a16:creationId xmlns:a16="http://schemas.microsoft.com/office/drawing/2014/main" id="{3AC77661-0ABE-2C41-12F6-42C807B7D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410" y="3287441"/>
            <a:ext cx="5079070" cy="26752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68" name="Group 66">
            <a:extLst>
              <a:ext uri="{FF2B5EF4-FFF2-40B4-BE49-F238E27FC236}">
                <a16:creationId xmlns:a16="http://schemas.microsoft.com/office/drawing/2014/main" id="{6C361972-5EC3-8A4D-A87C-250459D9CF73}"/>
              </a:ext>
            </a:extLst>
          </p:cNvPr>
          <p:cNvGrpSpPr>
            <a:grpSpLocks/>
          </p:cNvGrpSpPr>
          <p:nvPr/>
        </p:nvGrpSpPr>
        <p:grpSpPr bwMode="auto">
          <a:xfrm>
            <a:off x="3322013" y="2767813"/>
            <a:ext cx="1272608" cy="2324520"/>
            <a:chOff x="1968" y="1728"/>
            <a:chExt cx="672" cy="1584"/>
          </a:xfrm>
        </p:grpSpPr>
        <p:sp>
          <p:nvSpPr>
            <p:cNvPr id="71" name="Rectangle 67">
              <a:extLst>
                <a:ext uri="{FF2B5EF4-FFF2-40B4-BE49-F238E27FC236}">
                  <a16:creationId xmlns:a16="http://schemas.microsoft.com/office/drawing/2014/main" id="{B599D2DC-EAA8-5138-01E6-33CE779E674C}"/>
                </a:ext>
              </a:extLst>
            </p:cNvPr>
            <p:cNvSpPr>
              <a:spLocks noChangeArrowheads="1"/>
            </p:cNvSpPr>
            <p:nvPr/>
          </p:nvSpPr>
          <p:spPr bwMode="auto">
            <a:xfrm>
              <a:off x="1968" y="1728"/>
              <a:ext cx="672" cy="864"/>
            </a:xfrm>
            <a:prstGeom prst="rect">
              <a:avLst/>
            </a:prstGeom>
            <a:noFill/>
            <a:ln w="76200" cap="sq">
              <a:solidFill>
                <a:srgbClr val="FFB627"/>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2" name="Line 68">
              <a:extLst>
                <a:ext uri="{FF2B5EF4-FFF2-40B4-BE49-F238E27FC236}">
                  <a16:creationId xmlns:a16="http://schemas.microsoft.com/office/drawing/2014/main" id="{2A99B741-E97D-7EC4-6F55-837093A62689}"/>
                </a:ext>
              </a:extLst>
            </p:cNvPr>
            <p:cNvSpPr>
              <a:spLocks noChangeShapeType="1"/>
            </p:cNvSpPr>
            <p:nvPr/>
          </p:nvSpPr>
          <p:spPr bwMode="auto">
            <a:xfrm>
              <a:off x="2304" y="2592"/>
              <a:ext cx="0" cy="720"/>
            </a:xfrm>
            <a:prstGeom prst="line">
              <a:avLst/>
            </a:prstGeom>
            <a:noFill/>
            <a:ln w="76200" cap="sq">
              <a:solidFill>
                <a:srgbClr val="FFB627"/>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69" name="Line 69">
            <a:extLst>
              <a:ext uri="{FF2B5EF4-FFF2-40B4-BE49-F238E27FC236}">
                <a16:creationId xmlns:a16="http://schemas.microsoft.com/office/drawing/2014/main" id="{68DA9CFA-7D6C-F2F5-6C79-E26A3A855CCD}"/>
              </a:ext>
            </a:extLst>
          </p:cNvPr>
          <p:cNvSpPr>
            <a:spLocks noChangeShapeType="1"/>
          </p:cNvSpPr>
          <p:nvPr/>
        </p:nvSpPr>
        <p:spPr bwMode="auto">
          <a:xfrm>
            <a:off x="3958317" y="5092333"/>
            <a:ext cx="2332755" cy="0"/>
          </a:xfrm>
          <a:prstGeom prst="line">
            <a:avLst/>
          </a:prstGeom>
          <a:noFill/>
          <a:ln w="76200" cap="sq">
            <a:solidFill>
              <a:srgbClr val="FFB627"/>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70" name="AutoShape 70">
            <a:extLst>
              <a:ext uri="{FF2B5EF4-FFF2-40B4-BE49-F238E27FC236}">
                <a16:creationId xmlns:a16="http://schemas.microsoft.com/office/drawing/2014/main" id="{68A89084-9C2F-178A-7636-F7382A633C38}"/>
              </a:ext>
            </a:extLst>
          </p:cNvPr>
          <p:cNvSpPr>
            <a:spLocks noChangeArrowheads="1"/>
          </p:cNvSpPr>
          <p:nvPr/>
        </p:nvSpPr>
        <p:spPr bwMode="auto">
          <a:xfrm rot="16200000">
            <a:off x="8077955" y="-202340"/>
            <a:ext cx="1584900" cy="4863181"/>
          </a:xfrm>
          <a:prstGeom prst="leftArrow">
            <a:avLst>
              <a:gd name="adj1" fmla="val 78509"/>
              <a:gd name="adj2" fmla="val 30565"/>
            </a:avLst>
          </a:prstGeom>
          <a:solidFill>
            <a:srgbClr val="EE3228"/>
          </a:solidFill>
          <a:ln w="12700" cap="sq">
            <a:solidFill>
              <a:schemeClr val="tx1"/>
            </a:solidFill>
            <a:miter lim="800000"/>
            <a:headEnd/>
            <a:tailEnd/>
          </a:ln>
        </p:spPr>
        <p:txBody>
          <a:bodyPr vert="eaVert" wrap="squar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Detailed graphical depiction of a manufacturing or business process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Used to identify specific improvements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Incorporates decision loops within the process </a:t>
            </a:r>
          </a:p>
        </p:txBody>
      </p:sp>
    </p:spTree>
    <p:extLst>
      <p:ext uri="{BB962C8B-B14F-4D97-AF65-F5344CB8AC3E}">
        <p14:creationId xmlns:p14="http://schemas.microsoft.com/office/powerpoint/2010/main" val="17506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2F88-79F7-D08F-CABA-61D2FE90471A}"/>
              </a:ext>
            </a:extLst>
          </p:cNvPr>
          <p:cNvSpPr>
            <a:spLocks noGrp="1"/>
          </p:cNvSpPr>
          <p:nvPr>
            <p:ph type="title"/>
          </p:nvPr>
        </p:nvSpPr>
        <p:spPr/>
        <p:txBody>
          <a:bodyPr/>
          <a:lstStyle/>
          <a:p>
            <a:r>
              <a:rPr lang="en-US" dirty="0"/>
              <a:t>Example: From VSM to Process Map</a:t>
            </a:r>
          </a:p>
        </p:txBody>
      </p:sp>
      <p:sp>
        <p:nvSpPr>
          <p:cNvPr id="3" name="Content Placeholder 2">
            <a:extLst>
              <a:ext uri="{FF2B5EF4-FFF2-40B4-BE49-F238E27FC236}">
                <a16:creationId xmlns:a16="http://schemas.microsoft.com/office/drawing/2014/main" id="{5DCBA034-45FD-CFDD-7731-EB3D8CA319E9}"/>
              </a:ext>
            </a:extLst>
          </p:cNvPr>
          <p:cNvSpPr>
            <a:spLocks noGrp="1"/>
          </p:cNvSpPr>
          <p:nvPr>
            <p:ph idx="1"/>
          </p:nvPr>
        </p:nvSpPr>
        <p:spPr/>
        <p:txBody>
          <a:bodyPr>
            <a:normAutofit/>
          </a:bodyPr>
          <a:lstStyle/>
          <a:p>
            <a:r>
              <a:rPr lang="en-US" sz="1800" dirty="0"/>
              <a:t>ACME AUTO Current State Value Stream Map After Automobile Sales Service Process</a:t>
            </a:r>
          </a:p>
        </p:txBody>
      </p:sp>
      <p:grpSp>
        <p:nvGrpSpPr>
          <p:cNvPr id="7" name="Group 3">
            <a:extLst>
              <a:ext uri="{FF2B5EF4-FFF2-40B4-BE49-F238E27FC236}">
                <a16:creationId xmlns:a16="http://schemas.microsoft.com/office/drawing/2014/main" id="{01597E32-CE40-220D-137A-E08ABA7BC673}"/>
              </a:ext>
            </a:extLst>
          </p:cNvPr>
          <p:cNvGrpSpPr>
            <a:grpSpLocks/>
          </p:cNvGrpSpPr>
          <p:nvPr/>
        </p:nvGrpSpPr>
        <p:grpSpPr bwMode="auto">
          <a:xfrm>
            <a:off x="2817019" y="2208213"/>
            <a:ext cx="7346950" cy="1677987"/>
            <a:chOff x="762" y="783"/>
            <a:chExt cx="4628" cy="1057"/>
          </a:xfrm>
        </p:grpSpPr>
        <p:pic>
          <p:nvPicPr>
            <p:cNvPr id="8" name="Picture 4" descr="Dogus Oto VSM 062">
              <a:extLst>
                <a:ext uri="{FF2B5EF4-FFF2-40B4-BE49-F238E27FC236}">
                  <a16:creationId xmlns:a16="http://schemas.microsoft.com/office/drawing/2014/main" id="{026AF595-9A85-89A3-4194-3D6368B56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8" y="784"/>
              <a:ext cx="972"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Dogus Oto VSM 061">
              <a:extLst>
                <a:ext uri="{FF2B5EF4-FFF2-40B4-BE49-F238E27FC236}">
                  <a16:creationId xmlns:a16="http://schemas.microsoft.com/office/drawing/2014/main" id="{8259150E-1922-1AF5-1436-9744E517E3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7" y="784"/>
              <a:ext cx="10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Dogus Oto VSM 060">
              <a:extLst>
                <a:ext uri="{FF2B5EF4-FFF2-40B4-BE49-F238E27FC236}">
                  <a16:creationId xmlns:a16="http://schemas.microsoft.com/office/drawing/2014/main" id="{59D0749D-479C-69AD-6ABC-29162DE68A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4" y="784"/>
              <a:ext cx="105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descr="Dogus Oto VSM 059">
              <a:extLst>
                <a:ext uri="{FF2B5EF4-FFF2-40B4-BE49-F238E27FC236}">
                  <a16:creationId xmlns:a16="http://schemas.microsoft.com/office/drawing/2014/main" id="{C6F1BCF0-B590-92C8-6856-2B5544271A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2" y="783"/>
              <a:ext cx="1008" cy="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8" descr="Dogus Oto VSM 058">
              <a:extLst>
                <a:ext uri="{FF2B5EF4-FFF2-40B4-BE49-F238E27FC236}">
                  <a16:creationId xmlns:a16="http://schemas.microsoft.com/office/drawing/2014/main" id="{082D71D4-98CB-5631-176A-9C4B369A09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2" y="784"/>
              <a:ext cx="1054" cy="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Group 9">
            <a:extLst>
              <a:ext uri="{FF2B5EF4-FFF2-40B4-BE49-F238E27FC236}">
                <a16:creationId xmlns:a16="http://schemas.microsoft.com/office/drawing/2014/main" id="{948CDF0C-4CF6-E42E-2C41-83630A172CEF}"/>
              </a:ext>
            </a:extLst>
          </p:cNvPr>
          <p:cNvGrpSpPr>
            <a:grpSpLocks/>
          </p:cNvGrpSpPr>
          <p:nvPr/>
        </p:nvGrpSpPr>
        <p:grpSpPr bwMode="auto">
          <a:xfrm>
            <a:off x="3205956" y="4095750"/>
            <a:ext cx="6572250" cy="1682750"/>
            <a:chOff x="1087" y="1972"/>
            <a:chExt cx="4140" cy="1060"/>
          </a:xfrm>
        </p:grpSpPr>
        <p:pic>
          <p:nvPicPr>
            <p:cNvPr id="14" name="Picture 10" descr="Dogus Oto VSM 065">
              <a:extLst>
                <a:ext uri="{FF2B5EF4-FFF2-40B4-BE49-F238E27FC236}">
                  <a16:creationId xmlns:a16="http://schemas.microsoft.com/office/drawing/2014/main" id="{E427F69E-55BF-BA4E-29EB-4E5D6831A6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r="55296" b="90913"/>
            <a:stretch>
              <a:fillRect/>
            </a:stretch>
          </p:blipFill>
          <p:spPr bwMode="auto">
            <a:xfrm>
              <a:off x="1664" y="1976"/>
              <a:ext cx="38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1" descr="Dogus Oto VSM 063">
              <a:extLst>
                <a:ext uri="{FF2B5EF4-FFF2-40B4-BE49-F238E27FC236}">
                  <a16:creationId xmlns:a16="http://schemas.microsoft.com/office/drawing/2014/main" id="{85E6323D-8666-D1FF-D7DC-01A4B4C0A0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t="2"/>
            <a:stretch>
              <a:fillRect/>
            </a:stretch>
          </p:blipFill>
          <p:spPr bwMode="auto">
            <a:xfrm>
              <a:off x="1088" y="1985"/>
              <a:ext cx="684"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 descr="Dogus Oto VSM 064">
              <a:extLst>
                <a:ext uri="{FF2B5EF4-FFF2-40B4-BE49-F238E27FC236}">
                  <a16:creationId xmlns:a16="http://schemas.microsoft.com/office/drawing/2014/main" id="{941B52BA-D74C-C868-617B-9A77B2B4946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4" y="2047"/>
              <a:ext cx="503" cy="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3" descr="Dogus Oto VSM 066">
              <a:extLst>
                <a:ext uri="{FF2B5EF4-FFF2-40B4-BE49-F238E27FC236}">
                  <a16:creationId xmlns:a16="http://schemas.microsoft.com/office/drawing/2014/main" id="{726C8391-B579-78A2-EA03-0D466A36646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68" y="1988"/>
              <a:ext cx="720" cy="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 descr="Dogus Oto VSM 067">
              <a:extLst>
                <a:ext uri="{FF2B5EF4-FFF2-40B4-BE49-F238E27FC236}">
                  <a16:creationId xmlns:a16="http://schemas.microsoft.com/office/drawing/2014/main" id="{7C122CEA-D9B5-3E5B-D69D-387A2CFB5AB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40" y="1976"/>
              <a:ext cx="624"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5" descr="Dogus Oto VSM 069">
              <a:extLst>
                <a:ext uri="{FF2B5EF4-FFF2-40B4-BE49-F238E27FC236}">
                  <a16:creationId xmlns:a16="http://schemas.microsoft.com/office/drawing/2014/main" id="{1787FAC8-5A02-5AF4-62A6-199D6BEF63D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32" y="1976"/>
              <a:ext cx="395"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6" descr="Dogus Oto VSM 068">
              <a:extLst>
                <a:ext uri="{FF2B5EF4-FFF2-40B4-BE49-F238E27FC236}">
                  <a16:creationId xmlns:a16="http://schemas.microsoft.com/office/drawing/2014/main" id="{D30D58BA-8810-AE0A-C758-7AEA8BC2B8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7" y="1976"/>
              <a:ext cx="844"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7" descr="Dogus Oto VSM 065">
              <a:extLst>
                <a:ext uri="{FF2B5EF4-FFF2-40B4-BE49-F238E27FC236}">
                  <a16:creationId xmlns:a16="http://schemas.microsoft.com/office/drawing/2014/main" id="{86B02A32-0FC7-C9CF-93ED-076A1AAF8E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52"/>
            <a:stretch>
              <a:fillRect/>
            </a:stretch>
          </p:blipFill>
          <p:spPr bwMode="auto">
            <a:xfrm>
              <a:off x="1955" y="1976"/>
              <a:ext cx="859"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8" descr="Dogus Oto VSM 063">
              <a:extLst>
                <a:ext uri="{FF2B5EF4-FFF2-40B4-BE49-F238E27FC236}">
                  <a16:creationId xmlns:a16="http://schemas.microsoft.com/office/drawing/2014/main" id="{E5DE4674-D62D-BFC2-4979-CE02753952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14912" t="-285" r="14912" b="92834"/>
            <a:stretch>
              <a:fillRect/>
            </a:stretch>
          </p:blipFill>
          <p:spPr bwMode="auto">
            <a:xfrm>
              <a:off x="1087" y="1972"/>
              <a:ext cx="585"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9" descr="Dogus Oto VSM 066">
              <a:extLst>
                <a:ext uri="{FF2B5EF4-FFF2-40B4-BE49-F238E27FC236}">
                  <a16:creationId xmlns:a16="http://schemas.microsoft.com/office/drawing/2014/main" id="{9078BC4E-F8C0-DA33-2F41-20D90ADB50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b="95499"/>
            <a:stretch>
              <a:fillRect/>
            </a:stretch>
          </p:blipFill>
          <p:spPr bwMode="auto">
            <a:xfrm>
              <a:off x="2750" y="1976"/>
              <a:ext cx="72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 name="AutoShape 20">
            <a:extLst>
              <a:ext uri="{FF2B5EF4-FFF2-40B4-BE49-F238E27FC236}">
                <a16:creationId xmlns:a16="http://schemas.microsoft.com/office/drawing/2014/main" id="{FF3351DB-4164-E7B7-F678-3999F5D97FC6}"/>
              </a:ext>
            </a:extLst>
          </p:cNvPr>
          <p:cNvSpPr>
            <a:spLocks noChangeArrowheads="1"/>
          </p:cNvSpPr>
          <p:nvPr/>
        </p:nvSpPr>
        <p:spPr bwMode="auto">
          <a:xfrm flipH="1">
            <a:off x="2028031" y="2882900"/>
            <a:ext cx="2066925" cy="879475"/>
          </a:xfrm>
          <a:prstGeom prst="wedgeEllipseCallout">
            <a:avLst>
              <a:gd name="adj1" fmla="val -56069"/>
              <a:gd name="adj2" fmla="val -94949"/>
            </a:avLst>
          </a:prstGeom>
          <a:solidFill>
            <a:srgbClr val="EE3228"/>
          </a:solidFill>
          <a:ln w="9525">
            <a:solidFill>
              <a:schemeClr val="tx1"/>
            </a:solidFill>
            <a:miter lim="800000"/>
            <a:headEnd/>
            <a:tailEnd/>
          </a:ln>
        </p:spPr>
        <p:txBody>
          <a:bodyPr anchor="ct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b="0" dirty="0">
                <a:cs typeface="Arial" panose="020B0604020202020204" pitchFamily="34" charset="0"/>
              </a:rPr>
              <a:t>Auto Service Reception</a:t>
            </a:r>
          </a:p>
        </p:txBody>
      </p:sp>
      <p:sp>
        <p:nvSpPr>
          <p:cNvPr id="26" name="Slide Number Placeholder 16">
            <a:extLst>
              <a:ext uri="{FF2B5EF4-FFF2-40B4-BE49-F238E27FC236}">
                <a16:creationId xmlns:a16="http://schemas.microsoft.com/office/drawing/2014/main" id="{92AF0D82-CF0E-CBB8-6EBE-C4B5FE7C6BD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17</a:t>
            </a:fld>
            <a:endParaRPr lang="en-US"/>
          </a:p>
        </p:txBody>
      </p:sp>
    </p:spTree>
    <p:extLst>
      <p:ext uri="{BB962C8B-B14F-4D97-AF65-F5344CB8AC3E}">
        <p14:creationId xmlns:p14="http://schemas.microsoft.com/office/powerpoint/2010/main" val="113679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a:extLst>
              <a:ext uri="{FF2B5EF4-FFF2-40B4-BE49-F238E27FC236}">
                <a16:creationId xmlns:a16="http://schemas.microsoft.com/office/drawing/2014/main" id="{F6ECAFEE-9AD8-FFF5-655B-8365C8222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480" y="1076276"/>
            <a:ext cx="10099040" cy="50166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AutoShape 3">
            <a:extLst>
              <a:ext uri="{FF2B5EF4-FFF2-40B4-BE49-F238E27FC236}">
                <a16:creationId xmlns:a16="http://schemas.microsoft.com/office/drawing/2014/main" id="{2B0476CC-B08B-AC55-0D61-6A6CE1E11E2B}"/>
              </a:ext>
            </a:extLst>
          </p:cNvPr>
          <p:cNvSpPr>
            <a:spLocks noChangeArrowheads="1"/>
          </p:cNvSpPr>
          <p:nvPr/>
        </p:nvSpPr>
        <p:spPr bwMode="auto">
          <a:xfrm flipH="1">
            <a:off x="7764780" y="3277235"/>
            <a:ext cx="3081338" cy="1266825"/>
          </a:xfrm>
          <a:prstGeom prst="wedgeEllipseCallout">
            <a:avLst>
              <a:gd name="adj1" fmla="val 49380"/>
              <a:gd name="adj2" fmla="val -74815"/>
            </a:avLst>
          </a:prstGeom>
          <a:solidFill>
            <a:schemeClr val="accent1"/>
          </a:solidFill>
          <a:ln w="9525">
            <a:solidFill>
              <a:schemeClr val="tx1"/>
            </a:solidFill>
            <a:miter lim="800000"/>
            <a:headEnd/>
            <a:tailEnd/>
          </a:ln>
        </p:spPr>
        <p:txBody>
          <a:bodyPr anchor="ct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b="0">
                <a:cs typeface="Arial" panose="020B0604020202020204" pitchFamily="34" charset="0"/>
              </a:rPr>
              <a:t>Process Map of Auto Service Reception Process</a:t>
            </a:r>
          </a:p>
        </p:txBody>
      </p:sp>
      <p:sp>
        <p:nvSpPr>
          <p:cNvPr id="7" name="Slide Number Placeholder 16">
            <a:extLst>
              <a:ext uri="{FF2B5EF4-FFF2-40B4-BE49-F238E27FC236}">
                <a16:creationId xmlns:a16="http://schemas.microsoft.com/office/drawing/2014/main" id="{EB4272A2-8A18-BF83-C828-7BED79CC1DF5}"/>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18</a:t>
            </a:fld>
            <a:endParaRPr lang="en-US"/>
          </a:p>
        </p:txBody>
      </p:sp>
    </p:spTree>
    <p:extLst>
      <p:ext uri="{BB962C8B-B14F-4D97-AF65-F5344CB8AC3E}">
        <p14:creationId xmlns:p14="http://schemas.microsoft.com/office/powerpoint/2010/main" val="1925208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3">
            <a:extLst>
              <a:ext uri="{FF2B5EF4-FFF2-40B4-BE49-F238E27FC236}">
                <a16:creationId xmlns:a16="http://schemas.microsoft.com/office/drawing/2014/main" id="{2DBF8D0A-3512-B1D5-9581-87B7825CA686}"/>
              </a:ext>
            </a:extLst>
          </p:cNvPr>
          <p:cNvPicPr>
            <a:picLocks noChangeAspect="1" noChangeArrowheads="1"/>
          </p:cNvPicPr>
          <p:nvPr/>
        </p:nvPicPr>
        <p:blipFill>
          <a:blip r:embed="rId3"/>
          <a:srcRect/>
          <a:stretch/>
        </p:blipFill>
        <p:spPr bwMode="auto">
          <a:xfrm>
            <a:off x="2560906" y="1059180"/>
            <a:ext cx="6411820" cy="495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16">
            <a:extLst>
              <a:ext uri="{FF2B5EF4-FFF2-40B4-BE49-F238E27FC236}">
                <a16:creationId xmlns:a16="http://schemas.microsoft.com/office/drawing/2014/main" id="{2ECCF1A3-A3CA-6843-BA8F-9E1AC6A6E30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19</a:t>
            </a:fld>
            <a:endParaRPr lang="en-US"/>
          </a:p>
        </p:txBody>
      </p:sp>
    </p:spTree>
    <p:extLst>
      <p:ext uri="{BB962C8B-B14F-4D97-AF65-F5344CB8AC3E}">
        <p14:creationId xmlns:p14="http://schemas.microsoft.com/office/powerpoint/2010/main" val="3300051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BE3AD-EF5B-1071-175A-C412AA94AD75}"/>
              </a:ext>
            </a:extLst>
          </p:cNvPr>
          <p:cNvSpPr>
            <a:spLocks noGrp="1"/>
          </p:cNvSpPr>
          <p:nvPr>
            <p:ph type="title"/>
          </p:nvPr>
        </p:nvSpPr>
        <p:spPr/>
        <p:txBody>
          <a:bodyPr>
            <a:normAutofit/>
          </a:bodyPr>
          <a:lstStyle/>
          <a:p>
            <a:r>
              <a:rPr lang="en-US" sz="4000" dirty="0"/>
              <a:t>Any Process has at Least Three Versions</a:t>
            </a:r>
          </a:p>
        </p:txBody>
      </p:sp>
      <p:grpSp>
        <p:nvGrpSpPr>
          <p:cNvPr id="6" name="Group 4">
            <a:extLst>
              <a:ext uri="{FF2B5EF4-FFF2-40B4-BE49-F238E27FC236}">
                <a16:creationId xmlns:a16="http://schemas.microsoft.com/office/drawing/2014/main" id="{CD24ACE5-5256-1BC4-6DCF-9D9D2F122C24}"/>
              </a:ext>
            </a:extLst>
          </p:cNvPr>
          <p:cNvGrpSpPr>
            <a:grpSpLocks/>
          </p:cNvGrpSpPr>
          <p:nvPr/>
        </p:nvGrpSpPr>
        <p:grpSpPr bwMode="auto">
          <a:xfrm>
            <a:off x="927926" y="1894205"/>
            <a:ext cx="2960687" cy="1250950"/>
            <a:chOff x="96" y="1008"/>
            <a:chExt cx="2306" cy="750"/>
          </a:xfrm>
        </p:grpSpPr>
        <p:sp>
          <p:nvSpPr>
            <p:cNvPr id="7" name="Rectangle 5">
              <a:extLst>
                <a:ext uri="{FF2B5EF4-FFF2-40B4-BE49-F238E27FC236}">
                  <a16:creationId xmlns:a16="http://schemas.microsoft.com/office/drawing/2014/main" id="{9FEDBE7A-9870-01DE-04EB-ED6ED27B147B}"/>
                </a:ext>
              </a:extLst>
            </p:cNvPr>
            <p:cNvSpPr>
              <a:spLocks noChangeArrowheads="1"/>
            </p:cNvSpPr>
            <p:nvPr/>
          </p:nvSpPr>
          <p:spPr bwMode="auto">
            <a:xfrm>
              <a:off x="96" y="1008"/>
              <a:ext cx="230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you THINK it is:</a:t>
              </a:r>
              <a:endPar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Line 6">
              <a:extLst>
                <a:ext uri="{FF2B5EF4-FFF2-40B4-BE49-F238E27FC236}">
                  <a16:creationId xmlns:a16="http://schemas.microsoft.com/office/drawing/2014/main" id="{2D693339-4BA3-8D5B-24A9-E4F08231D457}"/>
                </a:ext>
              </a:extLst>
            </p:cNvPr>
            <p:cNvSpPr>
              <a:spLocks noChangeShapeType="1"/>
            </p:cNvSpPr>
            <p:nvPr/>
          </p:nvSpPr>
          <p:spPr bwMode="auto">
            <a:xfrm>
              <a:off x="396" y="1670"/>
              <a:ext cx="790"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9" name="Line 7">
              <a:extLst>
                <a:ext uri="{FF2B5EF4-FFF2-40B4-BE49-F238E27FC236}">
                  <a16:creationId xmlns:a16="http://schemas.microsoft.com/office/drawing/2014/main" id="{28CBBC4C-1CC0-4445-0536-CD37B78EB64B}"/>
                </a:ext>
              </a:extLst>
            </p:cNvPr>
            <p:cNvSpPr>
              <a:spLocks noChangeShapeType="1"/>
            </p:cNvSpPr>
            <p:nvPr/>
          </p:nvSpPr>
          <p:spPr bwMode="auto">
            <a:xfrm>
              <a:off x="136" y="1401"/>
              <a:ext cx="2266"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0" name="Oval 8">
              <a:extLst>
                <a:ext uri="{FF2B5EF4-FFF2-40B4-BE49-F238E27FC236}">
                  <a16:creationId xmlns:a16="http://schemas.microsoft.com/office/drawing/2014/main" id="{9EBA1E9F-4F09-63AF-5DAA-2058F22760BC}"/>
                </a:ext>
              </a:extLst>
            </p:cNvPr>
            <p:cNvSpPr>
              <a:spLocks noChangeArrowheads="1"/>
            </p:cNvSpPr>
            <p:nvPr/>
          </p:nvSpPr>
          <p:spPr bwMode="auto">
            <a:xfrm>
              <a:off x="121"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 name="Rectangle 9">
              <a:extLst>
                <a:ext uri="{FF2B5EF4-FFF2-40B4-BE49-F238E27FC236}">
                  <a16:creationId xmlns:a16="http://schemas.microsoft.com/office/drawing/2014/main" id="{4637CAE3-15EE-1FFF-00EF-64AF98B105CC}"/>
                </a:ext>
              </a:extLst>
            </p:cNvPr>
            <p:cNvSpPr>
              <a:spLocks noChangeArrowheads="1"/>
            </p:cNvSpPr>
            <p:nvPr/>
          </p:nvSpPr>
          <p:spPr bwMode="auto">
            <a:xfrm>
              <a:off x="390" y="1328"/>
              <a:ext cx="145" cy="148"/>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 name="AutoShape 10">
              <a:extLst>
                <a:ext uri="{FF2B5EF4-FFF2-40B4-BE49-F238E27FC236}">
                  <a16:creationId xmlns:a16="http://schemas.microsoft.com/office/drawing/2014/main" id="{A819EEC1-D6BD-A1E2-A490-B09BF83E3BD1}"/>
                </a:ext>
              </a:extLst>
            </p:cNvPr>
            <p:cNvSpPr>
              <a:spLocks noChangeArrowheads="1"/>
            </p:cNvSpPr>
            <p:nvPr/>
          </p:nvSpPr>
          <p:spPr bwMode="auto">
            <a:xfrm>
              <a:off x="1031" y="1313"/>
              <a:ext cx="208" cy="17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 name="AutoShape 11">
              <a:extLst>
                <a:ext uri="{FF2B5EF4-FFF2-40B4-BE49-F238E27FC236}">
                  <a16:creationId xmlns:a16="http://schemas.microsoft.com/office/drawing/2014/main" id="{47BE2ECA-DF7C-FDDB-7BD9-AD6614EC2493}"/>
                </a:ext>
              </a:extLst>
            </p:cNvPr>
            <p:cNvSpPr>
              <a:spLocks noChangeArrowheads="1"/>
            </p:cNvSpPr>
            <p:nvPr/>
          </p:nvSpPr>
          <p:spPr bwMode="auto">
            <a:xfrm rot="10800000" flipH="1">
              <a:off x="1815" y="1328"/>
              <a:ext cx="177" cy="148"/>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Oval 12">
              <a:extLst>
                <a:ext uri="{FF2B5EF4-FFF2-40B4-BE49-F238E27FC236}">
                  <a16:creationId xmlns:a16="http://schemas.microsoft.com/office/drawing/2014/main" id="{256EC1EF-AE79-A0C2-F88B-BCB03B5A4977}"/>
                </a:ext>
              </a:extLst>
            </p:cNvPr>
            <p:cNvSpPr>
              <a:spLocks noChangeArrowheads="1"/>
            </p:cNvSpPr>
            <p:nvPr/>
          </p:nvSpPr>
          <p:spPr bwMode="auto">
            <a:xfrm>
              <a:off x="1580"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 name="Oval 13">
              <a:extLst>
                <a:ext uri="{FF2B5EF4-FFF2-40B4-BE49-F238E27FC236}">
                  <a16:creationId xmlns:a16="http://schemas.microsoft.com/office/drawing/2014/main" id="{E4CA006E-D1D8-4982-5A2B-8F71EA1E1EB8}"/>
                </a:ext>
              </a:extLst>
            </p:cNvPr>
            <p:cNvSpPr>
              <a:spLocks noChangeArrowheads="1"/>
            </p:cNvSpPr>
            <p:nvPr/>
          </p:nvSpPr>
          <p:spPr bwMode="auto">
            <a:xfrm>
              <a:off x="1350"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Oval 14">
              <a:extLst>
                <a:ext uri="{FF2B5EF4-FFF2-40B4-BE49-F238E27FC236}">
                  <a16:creationId xmlns:a16="http://schemas.microsoft.com/office/drawing/2014/main" id="{98575B2E-F885-8463-504A-0037C0FF160F}"/>
                </a:ext>
              </a:extLst>
            </p:cNvPr>
            <p:cNvSpPr>
              <a:spLocks noChangeArrowheads="1"/>
            </p:cNvSpPr>
            <p:nvPr/>
          </p:nvSpPr>
          <p:spPr bwMode="auto">
            <a:xfrm>
              <a:off x="2081"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AutoShape 15">
              <a:extLst>
                <a:ext uri="{FF2B5EF4-FFF2-40B4-BE49-F238E27FC236}">
                  <a16:creationId xmlns:a16="http://schemas.microsoft.com/office/drawing/2014/main" id="{12A1DC38-A0FC-3CAA-B845-09378129685F}"/>
                </a:ext>
              </a:extLst>
            </p:cNvPr>
            <p:cNvSpPr>
              <a:spLocks noChangeArrowheads="1"/>
            </p:cNvSpPr>
            <p:nvPr/>
          </p:nvSpPr>
          <p:spPr bwMode="auto">
            <a:xfrm>
              <a:off x="186" y="1581"/>
              <a:ext cx="205" cy="177"/>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Oval 16">
              <a:extLst>
                <a:ext uri="{FF2B5EF4-FFF2-40B4-BE49-F238E27FC236}">
                  <a16:creationId xmlns:a16="http://schemas.microsoft.com/office/drawing/2014/main" id="{D9505137-845B-746F-5F2A-9D8853024117}"/>
                </a:ext>
              </a:extLst>
            </p:cNvPr>
            <p:cNvSpPr>
              <a:spLocks noChangeArrowheads="1"/>
            </p:cNvSpPr>
            <p:nvPr/>
          </p:nvSpPr>
          <p:spPr bwMode="auto">
            <a:xfrm>
              <a:off x="467" y="1597"/>
              <a:ext cx="145" cy="146"/>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Rectangle 17">
              <a:extLst>
                <a:ext uri="{FF2B5EF4-FFF2-40B4-BE49-F238E27FC236}">
                  <a16:creationId xmlns:a16="http://schemas.microsoft.com/office/drawing/2014/main" id="{808831AC-B6D6-4538-3966-5F1931A188A7}"/>
                </a:ext>
              </a:extLst>
            </p:cNvPr>
            <p:cNvSpPr>
              <a:spLocks noChangeArrowheads="1"/>
            </p:cNvSpPr>
            <p:nvPr/>
          </p:nvSpPr>
          <p:spPr bwMode="auto">
            <a:xfrm>
              <a:off x="774" y="1597"/>
              <a:ext cx="146" cy="146"/>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AutoShape 18">
              <a:extLst>
                <a:ext uri="{FF2B5EF4-FFF2-40B4-BE49-F238E27FC236}">
                  <a16:creationId xmlns:a16="http://schemas.microsoft.com/office/drawing/2014/main" id="{4C396E4B-DFD3-8D05-817F-695F6C0102DC}"/>
                </a:ext>
              </a:extLst>
            </p:cNvPr>
            <p:cNvSpPr>
              <a:spLocks noChangeArrowheads="1"/>
            </p:cNvSpPr>
            <p:nvPr/>
          </p:nvSpPr>
          <p:spPr bwMode="auto">
            <a:xfrm>
              <a:off x="1031" y="1581"/>
              <a:ext cx="208" cy="177"/>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Line 19">
              <a:extLst>
                <a:ext uri="{FF2B5EF4-FFF2-40B4-BE49-F238E27FC236}">
                  <a16:creationId xmlns:a16="http://schemas.microsoft.com/office/drawing/2014/main" id="{1822D13D-8E8A-C7D5-3D6F-EDE8C620D00A}"/>
                </a:ext>
              </a:extLst>
            </p:cNvPr>
            <p:cNvSpPr>
              <a:spLocks noChangeShapeType="1"/>
            </p:cNvSpPr>
            <p:nvPr/>
          </p:nvSpPr>
          <p:spPr bwMode="auto">
            <a:xfrm flipV="1">
              <a:off x="175" y="1411"/>
              <a:ext cx="0" cy="247"/>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0">
              <a:extLst>
                <a:ext uri="{FF2B5EF4-FFF2-40B4-BE49-F238E27FC236}">
                  <a16:creationId xmlns:a16="http://schemas.microsoft.com/office/drawing/2014/main" id="{C2C460F1-FA4E-FDCA-36FA-9FC3D7BE6688}"/>
                </a:ext>
              </a:extLst>
            </p:cNvPr>
            <p:cNvSpPr>
              <a:spLocks noChangeShapeType="1"/>
            </p:cNvSpPr>
            <p:nvPr/>
          </p:nvSpPr>
          <p:spPr bwMode="auto">
            <a:xfrm>
              <a:off x="1135" y="1442"/>
              <a:ext cx="0" cy="185"/>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3" name="Rectangle 21">
              <a:extLst>
                <a:ext uri="{FF2B5EF4-FFF2-40B4-BE49-F238E27FC236}">
                  <a16:creationId xmlns:a16="http://schemas.microsoft.com/office/drawing/2014/main" id="{F5444DFC-3D00-F0B6-2F7F-91A21A900F9E}"/>
                </a:ext>
              </a:extLst>
            </p:cNvPr>
            <p:cNvSpPr>
              <a:spLocks noChangeArrowheads="1"/>
            </p:cNvSpPr>
            <p:nvPr/>
          </p:nvSpPr>
          <p:spPr bwMode="auto">
            <a:xfrm>
              <a:off x="670" y="1328"/>
              <a:ext cx="237" cy="148"/>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24" name="Group 22">
            <a:extLst>
              <a:ext uri="{FF2B5EF4-FFF2-40B4-BE49-F238E27FC236}">
                <a16:creationId xmlns:a16="http://schemas.microsoft.com/office/drawing/2014/main" id="{B8F2FAA4-62A7-AE73-C0D0-CD681F16F5D7}"/>
              </a:ext>
            </a:extLst>
          </p:cNvPr>
          <p:cNvGrpSpPr>
            <a:grpSpLocks/>
          </p:cNvGrpSpPr>
          <p:nvPr/>
        </p:nvGrpSpPr>
        <p:grpSpPr bwMode="auto">
          <a:xfrm>
            <a:off x="4667250" y="2794318"/>
            <a:ext cx="3022600" cy="2308225"/>
            <a:chOff x="2208" y="864"/>
            <a:chExt cx="1904" cy="1454"/>
          </a:xfrm>
        </p:grpSpPr>
        <p:sp>
          <p:nvSpPr>
            <p:cNvPr id="25" name="Rectangle 23">
              <a:extLst>
                <a:ext uri="{FF2B5EF4-FFF2-40B4-BE49-F238E27FC236}">
                  <a16:creationId xmlns:a16="http://schemas.microsoft.com/office/drawing/2014/main" id="{EDDF563B-B66D-FBEF-82E9-32C246C770A4}"/>
                </a:ext>
              </a:extLst>
            </p:cNvPr>
            <p:cNvSpPr>
              <a:spLocks noChangeArrowheads="1"/>
            </p:cNvSpPr>
            <p:nvPr/>
          </p:nvSpPr>
          <p:spPr bwMode="auto">
            <a:xfrm>
              <a:off x="2208" y="864"/>
              <a:ext cx="16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it ACTUALLY is:</a:t>
              </a:r>
              <a:endPar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Line 24">
              <a:extLst>
                <a:ext uri="{FF2B5EF4-FFF2-40B4-BE49-F238E27FC236}">
                  <a16:creationId xmlns:a16="http://schemas.microsoft.com/office/drawing/2014/main" id="{AF3B837F-D737-410A-49CD-C57CB079CCB5}"/>
                </a:ext>
              </a:extLst>
            </p:cNvPr>
            <p:cNvSpPr>
              <a:spLocks noChangeShapeType="1"/>
            </p:cNvSpPr>
            <p:nvPr/>
          </p:nvSpPr>
          <p:spPr bwMode="auto">
            <a:xfrm>
              <a:off x="3063" y="2226"/>
              <a:ext cx="404" cy="0"/>
            </a:xfrm>
            <a:prstGeom prst="line">
              <a:avLst/>
            </a:prstGeom>
            <a:noFill/>
            <a:ln w="127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5">
              <a:extLst>
                <a:ext uri="{FF2B5EF4-FFF2-40B4-BE49-F238E27FC236}">
                  <a16:creationId xmlns:a16="http://schemas.microsoft.com/office/drawing/2014/main" id="{DD119691-E0D6-E74C-982D-015AE735FF49}"/>
                </a:ext>
              </a:extLst>
            </p:cNvPr>
            <p:cNvSpPr>
              <a:spLocks noChangeShapeType="1"/>
            </p:cNvSpPr>
            <p:nvPr/>
          </p:nvSpPr>
          <p:spPr bwMode="auto">
            <a:xfrm>
              <a:off x="3055" y="1954"/>
              <a:ext cx="716"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6">
              <a:extLst>
                <a:ext uri="{FF2B5EF4-FFF2-40B4-BE49-F238E27FC236}">
                  <a16:creationId xmlns:a16="http://schemas.microsoft.com/office/drawing/2014/main" id="{AB0A9554-E200-B500-39F0-DDA6E6D38E03}"/>
                </a:ext>
              </a:extLst>
            </p:cNvPr>
            <p:cNvSpPr>
              <a:spLocks noChangeShapeType="1"/>
            </p:cNvSpPr>
            <p:nvPr/>
          </p:nvSpPr>
          <p:spPr bwMode="auto">
            <a:xfrm>
              <a:off x="2490" y="1500"/>
              <a:ext cx="640" cy="0"/>
            </a:xfrm>
            <a:prstGeom prst="line">
              <a:avLst/>
            </a:prstGeom>
            <a:noFill/>
            <a:ln w="254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7">
              <a:extLst>
                <a:ext uri="{FF2B5EF4-FFF2-40B4-BE49-F238E27FC236}">
                  <a16:creationId xmlns:a16="http://schemas.microsoft.com/office/drawing/2014/main" id="{4E856184-D542-ABAC-3AEC-A9D58169AB35}"/>
                </a:ext>
              </a:extLst>
            </p:cNvPr>
            <p:cNvSpPr>
              <a:spLocks noChangeShapeType="1"/>
            </p:cNvSpPr>
            <p:nvPr/>
          </p:nvSpPr>
          <p:spPr bwMode="auto">
            <a:xfrm>
              <a:off x="2278" y="1218"/>
              <a:ext cx="1834"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 name="Oval 28">
              <a:extLst>
                <a:ext uri="{FF2B5EF4-FFF2-40B4-BE49-F238E27FC236}">
                  <a16:creationId xmlns:a16="http://schemas.microsoft.com/office/drawing/2014/main" id="{559527CC-CC0F-722F-83F8-FCADE7ED8327}"/>
                </a:ext>
              </a:extLst>
            </p:cNvPr>
            <p:cNvSpPr>
              <a:spLocks noChangeArrowheads="1"/>
            </p:cNvSpPr>
            <p:nvPr/>
          </p:nvSpPr>
          <p:spPr bwMode="auto">
            <a:xfrm>
              <a:off x="2266"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 name="Rectangle 29">
              <a:extLst>
                <a:ext uri="{FF2B5EF4-FFF2-40B4-BE49-F238E27FC236}">
                  <a16:creationId xmlns:a16="http://schemas.microsoft.com/office/drawing/2014/main" id="{CB9D9ABB-4DF4-A36C-AA2D-245AF230B358}"/>
                </a:ext>
              </a:extLst>
            </p:cNvPr>
            <p:cNvSpPr>
              <a:spLocks noChangeArrowheads="1"/>
            </p:cNvSpPr>
            <p:nvPr/>
          </p:nvSpPr>
          <p:spPr bwMode="auto">
            <a:xfrm>
              <a:off x="2484" y="1141"/>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2" name="AutoShape 30">
              <a:extLst>
                <a:ext uri="{FF2B5EF4-FFF2-40B4-BE49-F238E27FC236}">
                  <a16:creationId xmlns:a16="http://schemas.microsoft.com/office/drawing/2014/main" id="{36E7A2B3-D1E6-4D89-FDE8-698CDA9A7E11}"/>
                </a:ext>
              </a:extLst>
            </p:cNvPr>
            <p:cNvSpPr>
              <a:spLocks noChangeArrowheads="1"/>
            </p:cNvSpPr>
            <p:nvPr/>
          </p:nvSpPr>
          <p:spPr bwMode="auto">
            <a:xfrm>
              <a:off x="3003" y="1125"/>
              <a:ext cx="167" cy="185"/>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 name="AutoShape 31">
              <a:extLst>
                <a:ext uri="{FF2B5EF4-FFF2-40B4-BE49-F238E27FC236}">
                  <a16:creationId xmlns:a16="http://schemas.microsoft.com/office/drawing/2014/main" id="{96311E5A-6DA0-A214-483E-50F28FA96775}"/>
                </a:ext>
              </a:extLst>
            </p:cNvPr>
            <p:cNvSpPr>
              <a:spLocks noChangeArrowheads="1"/>
            </p:cNvSpPr>
            <p:nvPr/>
          </p:nvSpPr>
          <p:spPr bwMode="auto">
            <a:xfrm rot="10800000" flipH="1">
              <a:off x="3637" y="1141"/>
              <a:ext cx="142" cy="153"/>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 name="Oval 32">
              <a:extLst>
                <a:ext uri="{FF2B5EF4-FFF2-40B4-BE49-F238E27FC236}">
                  <a16:creationId xmlns:a16="http://schemas.microsoft.com/office/drawing/2014/main" id="{98407F6F-AF5C-E175-1178-C22664D7D568}"/>
                </a:ext>
              </a:extLst>
            </p:cNvPr>
            <p:cNvSpPr>
              <a:spLocks noChangeArrowheads="1"/>
            </p:cNvSpPr>
            <p:nvPr/>
          </p:nvSpPr>
          <p:spPr bwMode="auto">
            <a:xfrm>
              <a:off x="3447"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 name="Oval 33">
              <a:extLst>
                <a:ext uri="{FF2B5EF4-FFF2-40B4-BE49-F238E27FC236}">
                  <a16:creationId xmlns:a16="http://schemas.microsoft.com/office/drawing/2014/main" id="{18F23E00-40B1-E0BC-02A4-8D81F7E2B16B}"/>
                </a:ext>
              </a:extLst>
            </p:cNvPr>
            <p:cNvSpPr>
              <a:spLocks noChangeArrowheads="1"/>
            </p:cNvSpPr>
            <p:nvPr/>
          </p:nvSpPr>
          <p:spPr bwMode="auto">
            <a:xfrm>
              <a:off x="3261"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 name="Oval 34">
              <a:extLst>
                <a:ext uri="{FF2B5EF4-FFF2-40B4-BE49-F238E27FC236}">
                  <a16:creationId xmlns:a16="http://schemas.microsoft.com/office/drawing/2014/main" id="{5AEEC4A9-18A8-AC95-4FC5-2CE6145DC6A1}"/>
                </a:ext>
              </a:extLst>
            </p:cNvPr>
            <p:cNvSpPr>
              <a:spLocks noChangeArrowheads="1"/>
            </p:cNvSpPr>
            <p:nvPr/>
          </p:nvSpPr>
          <p:spPr bwMode="auto">
            <a:xfrm>
              <a:off x="3851"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AutoShape 35">
              <a:extLst>
                <a:ext uri="{FF2B5EF4-FFF2-40B4-BE49-F238E27FC236}">
                  <a16:creationId xmlns:a16="http://schemas.microsoft.com/office/drawing/2014/main" id="{BFBB23C4-63E6-EEC1-C2E2-D745262A4E91}"/>
                </a:ext>
              </a:extLst>
            </p:cNvPr>
            <p:cNvSpPr>
              <a:spLocks noChangeArrowheads="1"/>
            </p:cNvSpPr>
            <p:nvPr/>
          </p:nvSpPr>
          <p:spPr bwMode="auto">
            <a:xfrm>
              <a:off x="2319" y="1407"/>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 name="Oval 36">
              <a:extLst>
                <a:ext uri="{FF2B5EF4-FFF2-40B4-BE49-F238E27FC236}">
                  <a16:creationId xmlns:a16="http://schemas.microsoft.com/office/drawing/2014/main" id="{FE835A22-F51E-9A7E-FE14-A9120619B72A}"/>
                </a:ext>
              </a:extLst>
            </p:cNvPr>
            <p:cNvSpPr>
              <a:spLocks noChangeArrowheads="1"/>
            </p:cNvSpPr>
            <p:nvPr/>
          </p:nvSpPr>
          <p:spPr bwMode="auto">
            <a:xfrm>
              <a:off x="2546" y="1424"/>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Rectangle 37">
              <a:extLst>
                <a:ext uri="{FF2B5EF4-FFF2-40B4-BE49-F238E27FC236}">
                  <a16:creationId xmlns:a16="http://schemas.microsoft.com/office/drawing/2014/main" id="{01057FB7-3C3F-CBF2-9EFD-37A04F17A5A4}"/>
                </a:ext>
              </a:extLst>
            </p:cNvPr>
            <p:cNvSpPr>
              <a:spLocks noChangeArrowheads="1"/>
            </p:cNvSpPr>
            <p:nvPr/>
          </p:nvSpPr>
          <p:spPr bwMode="auto">
            <a:xfrm>
              <a:off x="2795" y="1424"/>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 name="AutoShape 38">
              <a:extLst>
                <a:ext uri="{FF2B5EF4-FFF2-40B4-BE49-F238E27FC236}">
                  <a16:creationId xmlns:a16="http://schemas.microsoft.com/office/drawing/2014/main" id="{DAAF9CA0-667E-6E46-5B7E-BBE438656A1A}"/>
                </a:ext>
              </a:extLst>
            </p:cNvPr>
            <p:cNvSpPr>
              <a:spLocks noChangeArrowheads="1"/>
            </p:cNvSpPr>
            <p:nvPr/>
          </p:nvSpPr>
          <p:spPr bwMode="auto">
            <a:xfrm>
              <a:off x="3003" y="1407"/>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 name="Line 39">
              <a:extLst>
                <a:ext uri="{FF2B5EF4-FFF2-40B4-BE49-F238E27FC236}">
                  <a16:creationId xmlns:a16="http://schemas.microsoft.com/office/drawing/2014/main" id="{573A4DF5-B053-F080-C100-FB7E6A5D1E29}"/>
                </a:ext>
              </a:extLst>
            </p:cNvPr>
            <p:cNvSpPr>
              <a:spLocks noChangeShapeType="1"/>
            </p:cNvSpPr>
            <p:nvPr/>
          </p:nvSpPr>
          <p:spPr bwMode="auto">
            <a:xfrm flipV="1">
              <a:off x="2310" y="1228"/>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dirty="0"/>
            </a:p>
          </p:txBody>
        </p:sp>
        <p:sp>
          <p:nvSpPr>
            <p:cNvPr id="42" name="Line 40">
              <a:extLst>
                <a:ext uri="{FF2B5EF4-FFF2-40B4-BE49-F238E27FC236}">
                  <a16:creationId xmlns:a16="http://schemas.microsoft.com/office/drawing/2014/main" id="{26247C6A-7AFB-BABC-9B27-6C72AA3459AF}"/>
                </a:ext>
              </a:extLst>
            </p:cNvPr>
            <p:cNvSpPr>
              <a:spLocks noChangeShapeType="1"/>
            </p:cNvSpPr>
            <p:nvPr/>
          </p:nvSpPr>
          <p:spPr bwMode="auto">
            <a:xfrm>
              <a:off x="3087" y="1262"/>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3" name="Rectangle 41">
              <a:extLst>
                <a:ext uri="{FF2B5EF4-FFF2-40B4-BE49-F238E27FC236}">
                  <a16:creationId xmlns:a16="http://schemas.microsoft.com/office/drawing/2014/main" id="{576E6142-8A88-F91F-5C4D-5742703333C7}"/>
                </a:ext>
              </a:extLst>
            </p:cNvPr>
            <p:cNvSpPr>
              <a:spLocks noChangeArrowheads="1"/>
            </p:cNvSpPr>
            <p:nvPr/>
          </p:nvSpPr>
          <p:spPr bwMode="auto">
            <a:xfrm>
              <a:off x="2711" y="1141"/>
              <a:ext cx="191" cy="153"/>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AutoShape 42">
              <a:extLst>
                <a:ext uri="{FF2B5EF4-FFF2-40B4-BE49-F238E27FC236}">
                  <a16:creationId xmlns:a16="http://schemas.microsoft.com/office/drawing/2014/main" id="{2AF08C3A-2BD3-9C62-37E4-5BBC756A879A}"/>
                </a:ext>
              </a:extLst>
            </p:cNvPr>
            <p:cNvSpPr>
              <a:spLocks noChangeArrowheads="1"/>
            </p:cNvSpPr>
            <p:nvPr/>
          </p:nvSpPr>
          <p:spPr bwMode="auto">
            <a:xfrm>
              <a:off x="2537" y="1648"/>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 name="Oval 43">
              <a:extLst>
                <a:ext uri="{FF2B5EF4-FFF2-40B4-BE49-F238E27FC236}">
                  <a16:creationId xmlns:a16="http://schemas.microsoft.com/office/drawing/2014/main" id="{8A176DD5-9335-519B-D1EE-A691205A213B}"/>
                </a:ext>
              </a:extLst>
            </p:cNvPr>
            <p:cNvSpPr>
              <a:spLocks noChangeArrowheads="1"/>
            </p:cNvSpPr>
            <p:nvPr/>
          </p:nvSpPr>
          <p:spPr bwMode="auto">
            <a:xfrm>
              <a:off x="2981" y="1867"/>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 name="Rectangle 44">
              <a:extLst>
                <a:ext uri="{FF2B5EF4-FFF2-40B4-BE49-F238E27FC236}">
                  <a16:creationId xmlns:a16="http://schemas.microsoft.com/office/drawing/2014/main" id="{AE5A2E30-4B2A-47F2-E437-F40808EF15E7}"/>
                </a:ext>
              </a:extLst>
            </p:cNvPr>
            <p:cNvSpPr>
              <a:spLocks noChangeArrowheads="1"/>
            </p:cNvSpPr>
            <p:nvPr/>
          </p:nvSpPr>
          <p:spPr bwMode="auto">
            <a:xfrm>
              <a:off x="3291" y="1867"/>
              <a:ext cx="119"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 name="Rectangle 45">
              <a:extLst>
                <a:ext uri="{FF2B5EF4-FFF2-40B4-BE49-F238E27FC236}">
                  <a16:creationId xmlns:a16="http://schemas.microsoft.com/office/drawing/2014/main" id="{C7FDCBF1-9195-8B95-D3DA-C6BD7A1BD433}"/>
                </a:ext>
              </a:extLst>
            </p:cNvPr>
            <p:cNvSpPr>
              <a:spLocks noChangeArrowheads="1"/>
            </p:cNvSpPr>
            <p:nvPr/>
          </p:nvSpPr>
          <p:spPr bwMode="auto">
            <a:xfrm>
              <a:off x="3136" y="1867"/>
              <a:ext cx="118"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 name="Rectangle 46">
              <a:extLst>
                <a:ext uri="{FF2B5EF4-FFF2-40B4-BE49-F238E27FC236}">
                  <a16:creationId xmlns:a16="http://schemas.microsoft.com/office/drawing/2014/main" id="{407837ED-FCF8-03FA-B4F1-80D631655ACB}"/>
                </a:ext>
              </a:extLst>
            </p:cNvPr>
            <p:cNvSpPr>
              <a:spLocks noChangeArrowheads="1"/>
            </p:cNvSpPr>
            <p:nvPr/>
          </p:nvSpPr>
          <p:spPr bwMode="auto">
            <a:xfrm>
              <a:off x="3447" y="1625"/>
              <a:ext cx="118"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 name="Oval 47">
              <a:extLst>
                <a:ext uri="{FF2B5EF4-FFF2-40B4-BE49-F238E27FC236}">
                  <a16:creationId xmlns:a16="http://schemas.microsoft.com/office/drawing/2014/main" id="{38659BFD-284F-FFA5-1B95-490F995B81E0}"/>
                </a:ext>
              </a:extLst>
            </p:cNvPr>
            <p:cNvSpPr>
              <a:spLocks noChangeArrowheads="1"/>
            </p:cNvSpPr>
            <p:nvPr/>
          </p:nvSpPr>
          <p:spPr bwMode="auto">
            <a:xfrm>
              <a:off x="3665" y="1625"/>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 name="AutoShape 48">
              <a:extLst>
                <a:ext uri="{FF2B5EF4-FFF2-40B4-BE49-F238E27FC236}">
                  <a16:creationId xmlns:a16="http://schemas.microsoft.com/office/drawing/2014/main" id="{7F799594-FB13-0C1E-6238-39214A285CAB}"/>
                </a:ext>
              </a:extLst>
            </p:cNvPr>
            <p:cNvSpPr>
              <a:spLocks noChangeArrowheads="1"/>
            </p:cNvSpPr>
            <p:nvPr/>
          </p:nvSpPr>
          <p:spPr bwMode="auto">
            <a:xfrm>
              <a:off x="2971" y="2132"/>
              <a:ext cx="168"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 name="Rectangle 49">
              <a:extLst>
                <a:ext uri="{FF2B5EF4-FFF2-40B4-BE49-F238E27FC236}">
                  <a16:creationId xmlns:a16="http://schemas.microsoft.com/office/drawing/2014/main" id="{3EBF62B2-3AEC-9608-8DBA-BB33DDDB3894}"/>
                </a:ext>
              </a:extLst>
            </p:cNvPr>
            <p:cNvSpPr>
              <a:spLocks noChangeArrowheads="1"/>
            </p:cNvSpPr>
            <p:nvPr/>
          </p:nvSpPr>
          <p:spPr bwMode="auto">
            <a:xfrm>
              <a:off x="3168" y="2149"/>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 name="Oval 50">
              <a:extLst>
                <a:ext uri="{FF2B5EF4-FFF2-40B4-BE49-F238E27FC236}">
                  <a16:creationId xmlns:a16="http://schemas.microsoft.com/office/drawing/2014/main" id="{ACE9869C-7DA4-C4C9-0556-2FF3CD104745}"/>
                </a:ext>
              </a:extLst>
            </p:cNvPr>
            <p:cNvSpPr>
              <a:spLocks noChangeArrowheads="1"/>
            </p:cNvSpPr>
            <p:nvPr/>
          </p:nvSpPr>
          <p:spPr bwMode="auto">
            <a:xfrm>
              <a:off x="3323" y="2149"/>
              <a:ext cx="117"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 name="Line 51">
              <a:extLst>
                <a:ext uri="{FF2B5EF4-FFF2-40B4-BE49-F238E27FC236}">
                  <a16:creationId xmlns:a16="http://schemas.microsoft.com/office/drawing/2014/main" id="{9FE084B3-B598-B244-10D0-D86E1108A995}"/>
                </a:ext>
              </a:extLst>
            </p:cNvPr>
            <p:cNvSpPr>
              <a:spLocks noChangeShapeType="1"/>
            </p:cNvSpPr>
            <p:nvPr/>
          </p:nvSpPr>
          <p:spPr bwMode="auto">
            <a:xfrm>
              <a:off x="2621" y="1585"/>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4" name="Arc 52">
              <a:extLst>
                <a:ext uri="{FF2B5EF4-FFF2-40B4-BE49-F238E27FC236}">
                  <a16:creationId xmlns:a16="http://schemas.microsoft.com/office/drawing/2014/main" id="{8CB20A5E-619D-D158-08C5-A7BA593CDF32}"/>
                </a:ext>
              </a:extLst>
            </p:cNvPr>
            <p:cNvSpPr>
              <a:spLocks/>
            </p:cNvSpPr>
            <p:nvPr/>
          </p:nvSpPr>
          <p:spPr bwMode="auto">
            <a:xfrm>
              <a:off x="2621" y="1842"/>
              <a:ext cx="373" cy="121"/>
            </a:xfrm>
            <a:custGeom>
              <a:avLst/>
              <a:gdLst>
                <a:gd name="T0" fmla="*/ 373 w 21600"/>
                <a:gd name="T1" fmla="*/ 121 h 21600"/>
                <a:gd name="T2" fmla="*/ 0 w 21600"/>
                <a:gd name="T3" fmla="*/ 0 h 21600"/>
                <a:gd name="T4" fmla="*/ 373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lnTo>
                    <a:pt x="21600" y="21599"/>
                  </a:lnTo>
                  <a:close/>
                </a:path>
              </a:pathLst>
            </a:custGeom>
            <a:noFill/>
            <a:ln w="12700" cap="rnd">
              <a:solidFill>
                <a:srgbClr val="222222"/>
              </a:solidFill>
              <a:round/>
              <a:headEnd type="none" w="sm" len="sm"/>
              <a:tailEnd type="none" w="sm" len="sm"/>
            </a:ln>
            <a:effectLst/>
          </p:spPr>
          <p:txBody>
            <a:bodyPr wrap="none" anchor="ctr"/>
            <a:lstStyle/>
            <a:p>
              <a:pPr algn="ctr">
                <a:lnSpc>
                  <a:spcPct val="80000"/>
                </a:lnSpc>
                <a:spcBef>
                  <a:spcPct val="20000"/>
                </a:spcBef>
                <a:defRPr/>
              </a:pPr>
              <a:endParaRPr lang="en-US"/>
            </a:p>
          </p:txBody>
        </p:sp>
        <p:sp>
          <p:nvSpPr>
            <p:cNvPr id="55" name="Line 53">
              <a:extLst>
                <a:ext uri="{FF2B5EF4-FFF2-40B4-BE49-F238E27FC236}">
                  <a16:creationId xmlns:a16="http://schemas.microsoft.com/office/drawing/2014/main" id="{B391B7DF-3837-7CE4-CD4A-602E83B46C5D}"/>
                </a:ext>
              </a:extLst>
            </p:cNvPr>
            <p:cNvSpPr>
              <a:spLocks noChangeShapeType="1"/>
            </p:cNvSpPr>
            <p:nvPr/>
          </p:nvSpPr>
          <p:spPr bwMode="auto">
            <a:xfrm flipV="1">
              <a:off x="3521" y="1712"/>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6" name="Line 54">
              <a:extLst>
                <a:ext uri="{FF2B5EF4-FFF2-40B4-BE49-F238E27FC236}">
                  <a16:creationId xmlns:a16="http://schemas.microsoft.com/office/drawing/2014/main" id="{3242225A-4C2B-BB7B-C2E2-77D194FA041F}"/>
                </a:ext>
              </a:extLst>
            </p:cNvPr>
            <p:cNvSpPr>
              <a:spLocks noChangeShapeType="1"/>
            </p:cNvSpPr>
            <p:nvPr/>
          </p:nvSpPr>
          <p:spPr bwMode="auto">
            <a:xfrm flipV="1">
              <a:off x="3732" y="1712"/>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7" name="Line 55">
              <a:extLst>
                <a:ext uri="{FF2B5EF4-FFF2-40B4-BE49-F238E27FC236}">
                  <a16:creationId xmlns:a16="http://schemas.microsoft.com/office/drawing/2014/main" id="{F1E0C8BD-A203-0E9C-1277-E187CE289910}"/>
                </a:ext>
              </a:extLst>
            </p:cNvPr>
            <p:cNvSpPr>
              <a:spLocks noChangeShapeType="1"/>
            </p:cNvSpPr>
            <p:nvPr/>
          </p:nvSpPr>
          <p:spPr bwMode="auto">
            <a:xfrm>
              <a:off x="3055" y="2028"/>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8" name="Arc 56">
              <a:extLst>
                <a:ext uri="{FF2B5EF4-FFF2-40B4-BE49-F238E27FC236}">
                  <a16:creationId xmlns:a16="http://schemas.microsoft.com/office/drawing/2014/main" id="{A6E4DD1E-7FCF-67F3-F458-9A914306F73D}"/>
                </a:ext>
              </a:extLst>
            </p:cNvPr>
            <p:cNvSpPr>
              <a:spLocks/>
            </p:cNvSpPr>
            <p:nvPr/>
          </p:nvSpPr>
          <p:spPr bwMode="auto">
            <a:xfrm>
              <a:off x="3428" y="2044"/>
              <a:ext cx="93" cy="202"/>
            </a:xfrm>
            <a:custGeom>
              <a:avLst/>
              <a:gdLst>
                <a:gd name="T0" fmla="*/ 93 w 21600"/>
                <a:gd name="T1" fmla="*/ 0 h 21600"/>
                <a:gd name="T2" fmla="*/ 0 w 21600"/>
                <a:gd name="T3" fmla="*/ 202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rgbClr val="222222"/>
              </a:solidFill>
              <a:round/>
              <a:headEnd type="none" w="sm" len="sm"/>
              <a:tailEnd type="none" w="sm" len="sm"/>
            </a:ln>
            <a:effectLst/>
          </p:spPr>
          <p:txBody>
            <a:bodyPr wrap="none" anchor="ctr"/>
            <a:lstStyle/>
            <a:p>
              <a:pPr algn="ctr">
                <a:lnSpc>
                  <a:spcPct val="80000"/>
                </a:lnSpc>
                <a:spcBef>
                  <a:spcPct val="20000"/>
                </a:spcBef>
                <a:defRPr/>
              </a:pPr>
              <a:endParaRPr lang="en-US"/>
            </a:p>
          </p:txBody>
        </p:sp>
        <p:sp>
          <p:nvSpPr>
            <p:cNvPr id="59" name="AutoShape 57">
              <a:extLst>
                <a:ext uri="{FF2B5EF4-FFF2-40B4-BE49-F238E27FC236}">
                  <a16:creationId xmlns:a16="http://schemas.microsoft.com/office/drawing/2014/main" id="{D3273B1A-0A73-1E49-D76A-92778E558D7F}"/>
                </a:ext>
              </a:extLst>
            </p:cNvPr>
            <p:cNvSpPr>
              <a:spLocks noChangeArrowheads="1"/>
            </p:cNvSpPr>
            <p:nvPr/>
          </p:nvSpPr>
          <p:spPr bwMode="auto">
            <a:xfrm rot="5220000">
              <a:off x="2922" y="1933"/>
              <a:ext cx="80" cy="62"/>
            </a:xfrm>
            <a:prstGeom prst="triangle">
              <a:avLst>
                <a:gd name="adj" fmla="val 49995"/>
              </a:avLst>
            </a:prstGeom>
            <a:solidFill>
              <a:srgbClr val="222222"/>
            </a:solidFill>
            <a:ln w="9525">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 name="AutoShape 58">
              <a:extLst>
                <a:ext uri="{FF2B5EF4-FFF2-40B4-BE49-F238E27FC236}">
                  <a16:creationId xmlns:a16="http://schemas.microsoft.com/office/drawing/2014/main" id="{3895CE41-04ED-F1DC-6AAF-A6C3EABFA08F}"/>
                </a:ext>
              </a:extLst>
            </p:cNvPr>
            <p:cNvSpPr>
              <a:spLocks noChangeArrowheads="1"/>
            </p:cNvSpPr>
            <p:nvPr/>
          </p:nvSpPr>
          <p:spPr bwMode="auto">
            <a:xfrm rot="960000">
              <a:off x="3491" y="2044"/>
              <a:ext cx="62" cy="81"/>
            </a:xfrm>
            <a:prstGeom prst="triangle">
              <a:avLst>
                <a:gd name="adj" fmla="val 49995"/>
              </a:avLst>
            </a:prstGeom>
            <a:solidFill>
              <a:srgbClr val="222222"/>
            </a:solidFill>
            <a:ln w="9525">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dirty="0"/>
            </a:p>
          </p:txBody>
        </p:sp>
        <p:sp>
          <p:nvSpPr>
            <p:cNvPr id="61" name="AutoShape 59">
              <a:extLst>
                <a:ext uri="{FF2B5EF4-FFF2-40B4-BE49-F238E27FC236}">
                  <a16:creationId xmlns:a16="http://schemas.microsoft.com/office/drawing/2014/main" id="{1A3E0DBC-63EA-3B12-987A-994A0410E6C5}"/>
                </a:ext>
              </a:extLst>
            </p:cNvPr>
            <p:cNvSpPr>
              <a:spLocks noChangeArrowheads="1"/>
            </p:cNvSpPr>
            <p:nvPr/>
          </p:nvSpPr>
          <p:spPr bwMode="auto">
            <a:xfrm>
              <a:off x="3437" y="1850"/>
              <a:ext cx="168"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 name="Rectangle 60">
              <a:extLst>
                <a:ext uri="{FF2B5EF4-FFF2-40B4-BE49-F238E27FC236}">
                  <a16:creationId xmlns:a16="http://schemas.microsoft.com/office/drawing/2014/main" id="{DE49383C-C3FF-1460-3F0B-95D164132282}"/>
                </a:ext>
              </a:extLst>
            </p:cNvPr>
            <p:cNvSpPr>
              <a:spLocks noChangeArrowheads="1"/>
            </p:cNvSpPr>
            <p:nvPr/>
          </p:nvSpPr>
          <p:spPr bwMode="auto">
            <a:xfrm>
              <a:off x="3643" y="1867"/>
              <a:ext cx="192" cy="153"/>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63" name="Group 61">
            <a:extLst>
              <a:ext uri="{FF2B5EF4-FFF2-40B4-BE49-F238E27FC236}">
                <a16:creationId xmlns:a16="http://schemas.microsoft.com/office/drawing/2014/main" id="{0E02D171-6B4B-FE05-2B14-8EA17FE68AD1}"/>
              </a:ext>
            </a:extLst>
          </p:cNvPr>
          <p:cNvGrpSpPr>
            <a:grpSpLocks/>
          </p:cNvGrpSpPr>
          <p:nvPr/>
        </p:nvGrpSpPr>
        <p:grpSpPr bwMode="auto">
          <a:xfrm>
            <a:off x="8066088" y="4208780"/>
            <a:ext cx="2009775" cy="698500"/>
            <a:chOff x="4223" y="1632"/>
            <a:chExt cx="1266" cy="440"/>
          </a:xfrm>
        </p:grpSpPr>
        <p:grpSp>
          <p:nvGrpSpPr>
            <p:cNvPr id="64" name="Group 62">
              <a:extLst>
                <a:ext uri="{FF2B5EF4-FFF2-40B4-BE49-F238E27FC236}">
                  <a16:creationId xmlns:a16="http://schemas.microsoft.com/office/drawing/2014/main" id="{E849913F-269F-4A61-1436-CA988269BE7C}"/>
                </a:ext>
              </a:extLst>
            </p:cNvPr>
            <p:cNvGrpSpPr>
              <a:grpSpLocks/>
            </p:cNvGrpSpPr>
            <p:nvPr/>
          </p:nvGrpSpPr>
          <p:grpSpPr bwMode="auto">
            <a:xfrm>
              <a:off x="4416" y="1920"/>
              <a:ext cx="953" cy="152"/>
              <a:chOff x="4807" y="1164"/>
              <a:chExt cx="953" cy="152"/>
            </a:xfrm>
          </p:grpSpPr>
          <p:sp>
            <p:nvSpPr>
              <p:cNvPr id="66" name="Line 63">
                <a:extLst>
                  <a:ext uri="{FF2B5EF4-FFF2-40B4-BE49-F238E27FC236}">
                    <a16:creationId xmlns:a16="http://schemas.microsoft.com/office/drawing/2014/main" id="{A18E4EB4-5ED9-D516-F8D5-F5FD117E6702}"/>
                  </a:ext>
                </a:extLst>
              </p:cNvPr>
              <p:cNvSpPr>
                <a:spLocks noChangeShapeType="1"/>
              </p:cNvSpPr>
              <p:nvPr/>
            </p:nvSpPr>
            <p:spPr bwMode="auto">
              <a:xfrm>
                <a:off x="4820" y="1248"/>
                <a:ext cx="940"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 name="Oval 64">
                <a:extLst>
                  <a:ext uri="{FF2B5EF4-FFF2-40B4-BE49-F238E27FC236}">
                    <a16:creationId xmlns:a16="http://schemas.microsoft.com/office/drawing/2014/main" id="{3941C838-F799-6E2D-5E76-6AFA31FA0B25}"/>
                  </a:ext>
                </a:extLst>
              </p:cNvPr>
              <p:cNvSpPr>
                <a:spLocks noChangeArrowheads="1"/>
              </p:cNvSpPr>
              <p:nvPr/>
            </p:nvSpPr>
            <p:spPr bwMode="auto">
              <a:xfrm>
                <a:off x="4807"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 name="Rectangle 65">
                <a:extLst>
                  <a:ext uri="{FF2B5EF4-FFF2-40B4-BE49-F238E27FC236}">
                    <a16:creationId xmlns:a16="http://schemas.microsoft.com/office/drawing/2014/main" id="{77282008-EA42-9442-39A0-69B6352CB81C}"/>
                  </a:ext>
                </a:extLst>
              </p:cNvPr>
              <p:cNvSpPr>
                <a:spLocks noChangeArrowheads="1"/>
              </p:cNvSpPr>
              <p:nvPr/>
            </p:nvSpPr>
            <p:spPr bwMode="auto">
              <a:xfrm>
                <a:off x="5024" y="1164"/>
                <a:ext cx="118" cy="152"/>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 name="AutoShape 66">
                <a:extLst>
                  <a:ext uri="{FF2B5EF4-FFF2-40B4-BE49-F238E27FC236}">
                    <a16:creationId xmlns:a16="http://schemas.microsoft.com/office/drawing/2014/main" id="{94FBBD86-8409-F086-584F-5F751D218D8C}"/>
                  </a:ext>
                </a:extLst>
              </p:cNvPr>
              <p:cNvSpPr>
                <a:spLocks noChangeArrowheads="1"/>
              </p:cNvSpPr>
              <p:nvPr/>
            </p:nvSpPr>
            <p:spPr bwMode="auto">
              <a:xfrm rot="10800000" flipH="1">
                <a:off x="5618" y="1164"/>
                <a:ext cx="142" cy="152"/>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 name="Oval 67">
                <a:extLst>
                  <a:ext uri="{FF2B5EF4-FFF2-40B4-BE49-F238E27FC236}">
                    <a16:creationId xmlns:a16="http://schemas.microsoft.com/office/drawing/2014/main" id="{CD71F6D6-7F0B-1240-7DAA-CCE282CCD1FE}"/>
                  </a:ext>
                </a:extLst>
              </p:cNvPr>
              <p:cNvSpPr>
                <a:spLocks noChangeArrowheads="1"/>
              </p:cNvSpPr>
              <p:nvPr/>
            </p:nvSpPr>
            <p:spPr bwMode="auto">
              <a:xfrm>
                <a:off x="5428"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1" name="Oval 68">
                <a:extLst>
                  <a:ext uri="{FF2B5EF4-FFF2-40B4-BE49-F238E27FC236}">
                    <a16:creationId xmlns:a16="http://schemas.microsoft.com/office/drawing/2014/main" id="{6A33CC70-FA93-E575-9857-9DA81031A025}"/>
                  </a:ext>
                </a:extLst>
              </p:cNvPr>
              <p:cNvSpPr>
                <a:spLocks noChangeArrowheads="1"/>
              </p:cNvSpPr>
              <p:nvPr/>
            </p:nvSpPr>
            <p:spPr bwMode="auto">
              <a:xfrm>
                <a:off x="5242"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65" name="Rectangle 69">
              <a:extLst>
                <a:ext uri="{FF2B5EF4-FFF2-40B4-BE49-F238E27FC236}">
                  <a16:creationId xmlns:a16="http://schemas.microsoft.com/office/drawing/2014/main" id="{B29E872E-4440-F373-54BF-67C439FED56F}"/>
                </a:ext>
              </a:extLst>
            </p:cNvPr>
            <p:cNvSpPr>
              <a:spLocks noChangeArrowheads="1"/>
            </p:cNvSpPr>
            <p:nvPr/>
          </p:nvSpPr>
          <p:spPr bwMode="auto">
            <a:xfrm>
              <a:off x="4223" y="1632"/>
              <a:ext cx="12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it SHOULD be:</a:t>
              </a:r>
            </a:p>
          </p:txBody>
        </p:sp>
      </p:grpSp>
      <p:sp>
        <p:nvSpPr>
          <p:cNvPr id="73" name="Slide Number Placeholder 16">
            <a:extLst>
              <a:ext uri="{FF2B5EF4-FFF2-40B4-BE49-F238E27FC236}">
                <a16:creationId xmlns:a16="http://schemas.microsoft.com/office/drawing/2014/main" id="{9EF097B9-6C34-3144-CE4E-3C9601F663F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20</a:t>
            </a:fld>
            <a:endParaRPr lang="en-US"/>
          </a:p>
        </p:txBody>
      </p:sp>
    </p:spTree>
    <p:extLst>
      <p:ext uri="{BB962C8B-B14F-4D97-AF65-F5344CB8AC3E}">
        <p14:creationId xmlns:p14="http://schemas.microsoft.com/office/powerpoint/2010/main" val="2971686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022F-5EEB-AA55-C83F-986DEEE53E5A}"/>
              </a:ext>
            </a:extLst>
          </p:cNvPr>
          <p:cNvSpPr>
            <a:spLocks noGrp="1"/>
          </p:cNvSpPr>
          <p:nvPr>
            <p:ph type="title"/>
          </p:nvPr>
        </p:nvSpPr>
        <p:spPr/>
        <p:txBody>
          <a:bodyPr/>
          <a:lstStyle/>
          <a:p>
            <a:r>
              <a:rPr lang="en-US" dirty="0"/>
              <a:t>Process Mapping</a:t>
            </a:r>
          </a:p>
        </p:txBody>
      </p:sp>
      <p:sp>
        <p:nvSpPr>
          <p:cNvPr id="3" name="Content Placeholder 2">
            <a:extLst>
              <a:ext uri="{FF2B5EF4-FFF2-40B4-BE49-F238E27FC236}">
                <a16:creationId xmlns:a16="http://schemas.microsoft.com/office/drawing/2014/main" id="{37D94C67-578A-1FFF-725F-45E3E67FC969}"/>
              </a:ext>
            </a:extLst>
          </p:cNvPr>
          <p:cNvSpPr>
            <a:spLocks noGrp="1"/>
          </p:cNvSpPr>
          <p:nvPr>
            <p:ph idx="1"/>
          </p:nvPr>
        </p:nvSpPr>
        <p:spPr/>
        <p:txBody>
          <a:bodyPr>
            <a:normAutofit/>
          </a:bodyPr>
          <a:lstStyle/>
          <a:p>
            <a:r>
              <a:rPr lang="en-US" sz="2400" dirty="0"/>
              <a:t>Process Maps start at the beginning of the process</a:t>
            </a:r>
          </a:p>
          <a:p>
            <a:r>
              <a:rPr lang="en-US" sz="2400" dirty="0"/>
              <a:t>Start with the input that initiates the process</a:t>
            </a:r>
          </a:p>
          <a:p>
            <a:r>
              <a:rPr lang="en-US" sz="2400" dirty="0"/>
              <a:t>Ask, “What happens next?”</a:t>
            </a:r>
          </a:p>
          <a:p>
            <a:r>
              <a:rPr lang="en-US" sz="2400" dirty="0"/>
              <a:t>Record each step in boxes flowing from left to right or top to bottom. Put in arrows to show the flow of the process</a:t>
            </a:r>
          </a:p>
          <a:p>
            <a:r>
              <a:rPr lang="en-US" sz="2400" dirty="0"/>
              <a:t>When the flow can go in two directions, draw a diamond around a yes/no question and put in two arrows to show the two directions</a:t>
            </a:r>
          </a:p>
          <a:p>
            <a:r>
              <a:rPr lang="en-US" sz="2400" dirty="0"/>
              <a:t>Make sure each branch of the flow chart is complete</a:t>
            </a:r>
          </a:p>
          <a:p>
            <a:r>
              <a:rPr lang="en-US" sz="2400" dirty="0"/>
              <a:t>Always sign and date the flow chart for future reference</a:t>
            </a:r>
          </a:p>
        </p:txBody>
      </p:sp>
      <p:sp>
        <p:nvSpPr>
          <p:cNvPr id="7" name="Slide Number Placeholder 16">
            <a:extLst>
              <a:ext uri="{FF2B5EF4-FFF2-40B4-BE49-F238E27FC236}">
                <a16:creationId xmlns:a16="http://schemas.microsoft.com/office/drawing/2014/main" id="{EF4218FD-AC4D-4595-511E-AEC9AEF74CE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21</a:t>
            </a:fld>
            <a:endParaRPr lang="en-US"/>
          </a:p>
        </p:txBody>
      </p:sp>
    </p:spTree>
    <p:extLst>
      <p:ext uri="{BB962C8B-B14F-4D97-AF65-F5344CB8AC3E}">
        <p14:creationId xmlns:p14="http://schemas.microsoft.com/office/powerpoint/2010/main" val="2216173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179760400"/>
              </p:ext>
            </p:extLst>
          </p:nvPr>
        </p:nvGraphicFramePr>
        <p:xfrm>
          <a:off x="838200" y="1584804"/>
          <a:ext cx="10130364" cy="4046984"/>
        </p:xfrm>
        <a:graphic>
          <a:graphicData uri="http://schemas.openxmlformats.org/drawingml/2006/table">
            <a:tbl>
              <a:tblPr/>
              <a:tblGrid>
                <a:gridCol w="1151743">
                  <a:extLst>
                    <a:ext uri="{9D8B030D-6E8A-4147-A177-3AD203B41FA5}">
                      <a16:colId xmlns:a16="http://schemas.microsoft.com/office/drawing/2014/main" val="20000"/>
                    </a:ext>
                  </a:extLst>
                </a:gridCol>
                <a:gridCol w="4144501">
                  <a:extLst>
                    <a:ext uri="{9D8B030D-6E8A-4147-A177-3AD203B41FA5}">
                      <a16:colId xmlns:a16="http://schemas.microsoft.com/office/drawing/2014/main" val="20001"/>
                    </a:ext>
                  </a:extLst>
                </a:gridCol>
                <a:gridCol w="4834120">
                  <a:extLst>
                    <a:ext uri="{9D8B030D-6E8A-4147-A177-3AD203B41FA5}">
                      <a16:colId xmlns:a16="http://schemas.microsoft.com/office/drawing/2014/main" val="3981583184"/>
                    </a:ext>
                  </a:extLst>
                </a:gridCol>
              </a:tblGrid>
              <a:tr h="652031">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Symbol</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noFill/>
                      <a:miter lim="400000"/>
                    </a:lnL>
                    <a:lnR w="12700" cap="flat" cmpd="sng" algn="ctr">
                      <a:solidFill>
                        <a:schemeClr val="bg1">
                          <a:lumMod val="65000"/>
                        </a:schemeClr>
                      </a:solidFill>
                      <a:prstDash val="solid"/>
                      <a:round/>
                      <a:headEnd type="none" w="med" len="med"/>
                      <a:tailEnd type="none" w="med" len="med"/>
                    </a:lnR>
                    <a:lnT w="12700">
                      <a:noFill/>
                      <a:miter lim="400000"/>
                    </a:lnT>
                    <a:lnB w="0">
                      <a:noFill/>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Name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0">
                      <a:noFill/>
                      <a:miter lim="400000"/>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Definition</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0">
                      <a:noFill/>
                      <a:miter lim="400000"/>
                    </a:lnR>
                    <a:lnT w="0">
                      <a:noFill/>
                      <a:miter lim="400000"/>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652031">
                <a:tc>
                  <a:txBody>
                    <a:bodyPr/>
                    <a:lstStyle/>
                    <a:p>
                      <a:pPr marL="0" indent="0" algn="l" defTabSz="1828342">
                        <a:buNone/>
                        <a:defRPr sz="1800">
                          <a:solidFill>
                            <a:srgbClr val="000000"/>
                          </a:solidFill>
                        </a:defRPr>
                      </a:pPr>
                      <a:endPar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0">
                      <a:noFill/>
                      <a:miter lim="400000"/>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Process Box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An operation or step.</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86829">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0">
                      <a:noFill/>
                      <a:miter lim="400000"/>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indent="0" algn="l" defTabSz="1828342">
                        <a:buFont typeface="Arial" panose="020B0604020202020204" pitchFamily="34" charset="0"/>
                        <a:buNone/>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Decision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indent="0" algn="l" defTabSz="1828342">
                        <a:buFont typeface="Arial" panose="020B0604020202020204" pitchFamily="34" charset="0"/>
                        <a:buNone/>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question or branch in the process.</a:t>
                      </a:r>
                    </a:p>
                    <a:p>
                      <a:pPr marL="285750" indent="-285750" algn="l" defTabSz="1828342">
                        <a:buFont typeface="Arial" panose="020B0604020202020204" pitchFamily="34" charset="0"/>
                        <a:buChar char="•"/>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Terminator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start or stop point in the process.</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On-page Connector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jump point from one point to another on the page. </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Off-page Connector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jump point from one point to another on separate pages</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extLst>
                  <a:ext uri="{0D108BD9-81ED-4DB2-BD59-A6C34878D82A}">
                    <a16:rowId xmlns:a16="http://schemas.microsoft.com/office/drawing/2014/main" val="1878127364"/>
                  </a:ext>
                </a:extLst>
              </a:tr>
            </a:tbl>
          </a:graphicData>
        </a:graphic>
      </p:graphicFrame>
      <p:pic>
        <p:nvPicPr>
          <p:cNvPr id="5" name="Picture 1">
            <a:extLst>
              <a:ext uri="{FF2B5EF4-FFF2-40B4-BE49-F238E27FC236}">
                <a16:creationId xmlns:a16="http://schemas.microsoft.com/office/drawing/2014/main" id="{65E241A0-FBD0-6DDF-952E-959C48AFE2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907" y="2310068"/>
            <a:ext cx="949325" cy="56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2">
            <a:extLst>
              <a:ext uri="{FF2B5EF4-FFF2-40B4-BE49-F238E27FC236}">
                <a16:creationId xmlns:a16="http://schemas.microsoft.com/office/drawing/2014/main" id="{77FB29E5-98D4-654C-0A72-9E3415ECD863}"/>
              </a:ext>
            </a:extLst>
          </p:cNvPr>
          <p:cNvSpPr>
            <a:spLocks noChangeArrowheads="1"/>
          </p:cNvSpPr>
          <p:nvPr/>
        </p:nvSpPr>
        <p:spPr bwMode="auto">
          <a:xfrm>
            <a:off x="980544" y="2977490"/>
            <a:ext cx="928688" cy="682625"/>
          </a:xfrm>
          <a:prstGeom prst="diamond">
            <a:avLst/>
          </a:prstGeom>
          <a:solidFill>
            <a:schemeClr val="bg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pic>
        <p:nvPicPr>
          <p:cNvPr id="7" name="Picture 2">
            <a:extLst>
              <a:ext uri="{FF2B5EF4-FFF2-40B4-BE49-F238E27FC236}">
                <a16:creationId xmlns:a16="http://schemas.microsoft.com/office/drawing/2014/main" id="{D13AD9ED-3366-325A-2BA9-56A9F364B2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907" y="3828390"/>
            <a:ext cx="9493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837F0B55-21E3-9745-8893-7BF6A3E416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975" y="4501042"/>
            <a:ext cx="3778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a:extLst>
              <a:ext uri="{FF2B5EF4-FFF2-40B4-BE49-F238E27FC236}">
                <a16:creationId xmlns:a16="http://schemas.microsoft.com/office/drawing/2014/main" id="{CB20552F-E33B-FFA4-8435-FAC14F4A2D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8824" y="5064032"/>
            <a:ext cx="4921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5">
            <a:extLst>
              <a:ext uri="{FF2B5EF4-FFF2-40B4-BE49-F238E27FC236}">
                <a16:creationId xmlns:a16="http://schemas.microsoft.com/office/drawing/2014/main" id="{D315859E-4187-DC7C-D4E8-C0DF924E8821}"/>
              </a:ext>
            </a:extLst>
          </p:cNvPr>
          <p:cNvSpPr>
            <a:spLocks noChangeArrowheads="1"/>
          </p:cNvSpPr>
          <p:nvPr/>
        </p:nvSpPr>
        <p:spPr bwMode="auto">
          <a:xfrm>
            <a:off x="1787788" y="5654675"/>
            <a:ext cx="8231188" cy="522288"/>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b="0" i="1" dirty="0">
                <a:solidFill>
                  <a:schemeClr val="tx1"/>
                </a:solidFill>
                <a:latin typeface="Roboto" panose="02000000000000000000" pitchFamily="2" charset="0"/>
                <a:ea typeface="Roboto" panose="02000000000000000000" pitchFamily="2" charset="0"/>
                <a:cs typeface="Roboto" panose="02000000000000000000" pitchFamily="2" charset="0"/>
              </a:rPr>
              <a:t>In TPI, we will use a simplified version of Process Mapping</a:t>
            </a:r>
          </a:p>
        </p:txBody>
      </p:sp>
      <p:sp>
        <p:nvSpPr>
          <p:cNvPr id="15" name="Title 14">
            <a:extLst>
              <a:ext uri="{FF2B5EF4-FFF2-40B4-BE49-F238E27FC236}">
                <a16:creationId xmlns:a16="http://schemas.microsoft.com/office/drawing/2014/main" id="{B7A2018D-31DF-0A67-A765-6BF0C8A3B5CC}"/>
              </a:ext>
            </a:extLst>
          </p:cNvPr>
          <p:cNvSpPr>
            <a:spLocks noGrp="1"/>
          </p:cNvSpPr>
          <p:nvPr>
            <p:ph type="title"/>
          </p:nvPr>
        </p:nvSpPr>
        <p:spPr/>
        <p:txBody>
          <a:bodyPr/>
          <a:lstStyle/>
          <a:p>
            <a:r>
              <a:rPr lang="en-US" dirty="0">
                <a:solidFill>
                  <a:schemeClr val="tx1"/>
                </a:solidFill>
              </a:rPr>
              <a:t>Process Mapping Symbols</a:t>
            </a:r>
          </a:p>
        </p:txBody>
      </p:sp>
      <p:sp>
        <p:nvSpPr>
          <p:cNvPr id="12" name="Slide Number Placeholder 16">
            <a:extLst>
              <a:ext uri="{FF2B5EF4-FFF2-40B4-BE49-F238E27FC236}">
                <a16:creationId xmlns:a16="http://schemas.microsoft.com/office/drawing/2014/main" id="{377F0014-BE48-DDDF-1171-69A46782F2AD}"/>
              </a:ext>
            </a:extLst>
          </p:cNvPr>
          <p:cNvSpPr>
            <a:spLocks noGrp="1"/>
          </p:cNvSpPr>
          <p:nvPr>
            <p:ph type="sldNum" sz="quarter" idx="4"/>
          </p:nvPr>
        </p:nvSpPr>
        <p:spPr/>
        <p:txBody>
          <a:bodyPr/>
          <a:lstStyle/>
          <a:p>
            <a:fld id="{CC6D4273-7FC1-0947-B9FE-19CB3C0D1FB6}" type="slidenum">
              <a:rPr lang="en-US" smtClean="0"/>
              <a:t>22</a:t>
            </a:fld>
            <a:endParaRPr lang="en-US"/>
          </a:p>
        </p:txBody>
      </p:sp>
    </p:spTree>
    <p:extLst>
      <p:ext uri="{BB962C8B-B14F-4D97-AF65-F5344CB8AC3E}">
        <p14:creationId xmlns:p14="http://schemas.microsoft.com/office/powerpoint/2010/main" val="4063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4704-3DCD-254C-4F2A-4952AC08C31F}"/>
              </a:ext>
            </a:extLst>
          </p:cNvPr>
          <p:cNvSpPr>
            <a:spLocks noGrp="1"/>
          </p:cNvSpPr>
          <p:nvPr>
            <p:ph type="title"/>
          </p:nvPr>
        </p:nvSpPr>
        <p:spPr/>
        <p:txBody>
          <a:bodyPr/>
          <a:lstStyle/>
          <a:p>
            <a:r>
              <a:rPr lang="en-US" dirty="0"/>
              <a:t>Process Mapping</a:t>
            </a:r>
          </a:p>
        </p:txBody>
      </p:sp>
      <p:pic>
        <p:nvPicPr>
          <p:cNvPr id="9" name="Content Placeholder 8">
            <a:extLst>
              <a:ext uri="{FF2B5EF4-FFF2-40B4-BE49-F238E27FC236}">
                <a16:creationId xmlns:a16="http://schemas.microsoft.com/office/drawing/2014/main" id="{229C92A0-06B4-9C2E-AE7C-7A7FE23F12CE}"/>
              </a:ext>
            </a:extLst>
          </p:cNvPr>
          <p:cNvPicPr>
            <a:picLocks noGrp="1" noChangeAspect="1"/>
          </p:cNvPicPr>
          <p:nvPr>
            <p:ph idx="1"/>
          </p:nvPr>
        </p:nvPicPr>
        <p:blipFill>
          <a:blip r:embed="rId3"/>
          <a:stretch>
            <a:fillRect/>
          </a:stretch>
        </p:blipFill>
        <p:spPr>
          <a:xfrm>
            <a:off x="5183188" y="1366837"/>
            <a:ext cx="6172200" cy="4114800"/>
          </a:xfrm>
        </p:spPr>
      </p:pic>
      <p:sp>
        <p:nvSpPr>
          <p:cNvPr id="4" name="Text Placeholder 3">
            <a:extLst>
              <a:ext uri="{FF2B5EF4-FFF2-40B4-BE49-F238E27FC236}">
                <a16:creationId xmlns:a16="http://schemas.microsoft.com/office/drawing/2014/main" id="{B8A713BB-90BA-60A7-3D27-415C666743BB}"/>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2400" dirty="0"/>
              <a:t>Process takes place using Post-it style notes on the wall</a:t>
            </a:r>
          </a:p>
          <a:p>
            <a:pPr marL="285750" indent="-285750">
              <a:buFont typeface="Arial" panose="020B0604020202020204" pitchFamily="34" charset="0"/>
              <a:buChar char="•"/>
            </a:pPr>
            <a:r>
              <a:rPr lang="en-US" sz="2400" dirty="0"/>
              <a:t>Recommended color coding:</a:t>
            </a:r>
          </a:p>
          <a:p>
            <a:pPr marL="742950" lvl="1" indent="-285750">
              <a:buFont typeface="Arial" panose="020B0604020202020204" pitchFamily="34" charset="0"/>
              <a:buChar char="•"/>
            </a:pPr>
            <a:r>
              <a:rPr lang="en-US" sz="2000" dirty="0"/>
              <a:t>Yellow – Process Step</a:t>
            </a:r>
          </a:p>
          <a:p>
            <a:pPr marL="742950" lvl="1" indent="-285750">
              <a:buFont typeface="Arial" panose="020B0604020202020204" pitchFamily="34" charset="0"/>
              <a:buChar char="•"/>
            </a:pPr>
            <a:r>
              <a:rPr lang="en-US" sz="2000" dirty="0"/>
              <a:t>Blue - Decision</a:t>
            </a:r>
          </a:p>
          <a:p>
            <a:pPr marL="742950" lvl="1" indent="-285750">
              <a:buFont typeface="Arial" panose="020B0604020202020204" pitchFamily="34" charset="0"/>
              <a:buChar char="•"/>
            </a:pPr>
            <a:r>
              <a:rPr lang="en-US" sz="2000" dirty="0"/>
              <a:t>Pink - Notes</a:t>
            </a:r>
          </a:p>
        </p:txBody>
      </p:sp>
      <p:sp>
        <p:nvSpPr>
          <p:cNvPr id="3" name="Slide Number Placeholder 16">
            <a:extLst>
              <a:ext uri="{FF2B5EF4-FFF2-40B4-BE49-F238E27FC236}">
                <a16:creationId xmlns:a16="http://schemas.microsoft.com/office/drawing/2014/main" id="{96AB75F5-E43F-5E03-576E-F920BDD0A5EF}"/>
              </a:ext>
            </a:extLst>
          </p:cNvPr>
          <p:cNvSpPr>
            <a:spLocks noGrp="1"/>
          </p:cNvSpPr>
          <p:nvPr>
            <p:ph type="sldNum" sz="quarter" idx="4"/>
          </p:nvPr>
        </p:nvSpPr>
        <p:spPr/>
        <p:txBody>
          <a:bodyPr/>
          <a:lstStyle/>
          <a:p>
            <a:fld id="{CC6D4273-7FC1-0947-B9FE-19CB3C0D1FB6}" type="slidenum">
              <a:rPr lang="en-US" smtClean="0"/>
              <a:t>23</a:t>
            </a:fld>
            <a:endParaRPr lang="en-US"/>
          </a:p>
        </p:txBody>
      </p:sp>
    </p:spTree>
    <p:extLst>
      <p:ext uri="{BB962C8B-B14F-4D97-AF65-F5344CB8AC3E}">
        <p14:creationId xmlns:p14="http://schemas.microsoft.com/office/powerpoint/2010/main" val="473582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a:extLst>
              <a:ext uri="{FF2B5EF4-FFF2-40B4-BE49-F238E27FC236}">
                <a16:creationId xmlns:a16="http://schemas.microsoft.com/office/drawing/2014/main" id="{D6670D6C-9297-C55E-0C2B-8B04CDE649AE}"/>
              </a:ext>
            </a:extLst>
          </p:cNvPr>
          <p:cNvSpPr txBox="1">
            <a:spLocks noChangeArrowheads="1"/>
          </p:cNvSpPr>
          <p:nvPr/>
        </p:nvSpPr>
        <p:spPr bwMode="auto">
          <a:xfrm>
            <a:off x="5415256" y="30861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 name="Text Box 4">
            <a:extLst>
              <a:ext uri="{FF2B5EF4-FFF2-40B4-BE49-F238E27FC236}">
                <a16:creationId xmlns:a16="http://schemas.microsoft.com/office/drawing/2014/main" id="{01BB4C93-274F-9224-46FB-82C2F6EF8AC0}"/>
              </a:ext>
            </a:extLst>
          </p:cNvPr>
          <p:cNvSpPr txBox="1">
            <a:spLocks noChangeArrowheads="1"/>
          </p:cNvSpPr>
          <p:nvPr/>
        </p:nvSpPr>
        <p:spPr bwMode="auto">
          <a:xfrm>
            <a:off x="5071967" y="2637064"/>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Text Box 6">
            <a:extLst>
              <a:ext uri="{FF2B5EF4-FFF2-40B4-BE49-F238E27FC236}">
                <a16:creationId xmlns:a16="http://schemas.microsoft.com/office/drawing/2014/main" id="{8ED514FA-4A79-8969-D285-123ED6062C43}"/>
              </a:ext>
            </a:extLst>
          </p:cNvPr>
          <p:cNvSpPr txBox="1">
            <a:spLocks noChangeArrowheads="1"/>
          </p:cNvSpPr>
          <p:nvPr/>
        </p:nvSpPr>
        <p:spPr bwMode="auto">
          <a:xfrm>
            <a:off x="2497300" y="18288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 name="Oval 7">
            <a:extLst>
              <a:ext uri="{FF2B5EF4-FFF2-40B4-BE49-F238E27FC236}">
                <a16:creationId xmlns:a16="http://schemas.microsoft.com/office/drawing/2014/main" id="{EF4C0B38-56A1-C5C0-4B1F-437674A51581}"/>
              </a:ext>
            </a:extLst>
          </p:cNvPr>
          <p:cNvSpPr>
            <a:spLocks noChangeArrowheads="1"/>
          </p:cNvSpPr>
          <p:nvPr/>
        </p:nvSpPr>
        <p:spPr bwMode="auto">
          <a:xfrm>
            <a:off x="2429358" y="2049576"/>
            <a:ext cx="1029867" cy="538843"/>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Hungry</a:t>
            </a:r>
          </a:p>
        </p:txBody>
      </p:sp>
      <p:sp>
        <p:nvSpPr>
          <p:cNvPr id="10" name="Text Box 8">
            <a:extLst>
              <a:ext uri="{FF2B5EF4-FFF2-40B4-BE49-F238E27FC236}">
                <a16:creationId xmlns:a16="http://schemas.microsoft.com/office/drawing/2014/main" id="{E071EDD1-32A4-7742-F031-9C93030CC765}"/>
              </a:ext>
            </a:extLst>
          </p:cNvPr>
          <p:cNvSpPr txBox="1">
            <a:spLocks noChangeArrowheads="1"/>
          </p:cNvSpPr>
          <p:nvPr/>
        </p:nvSpPr>
        <p:spPr bwMode="auto">
          <a:xfrm>
            <a:off x="1381611"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Text Box 9">
            <a:extLst>
              <a:ext uri="{FF2B5EF4-FFF2-40B4-BE49-F238E27FC236}">
                <a16:creationId xmlns:a16="http://schemas.microsoft.com/office/drawing/2014/main" id="{DA523CCF-E080-A974-44E9-BEEDB8CB1482}"/>
              </a:ext>
            </a:extLst>
          </p:cNvPr>
          <p:cNvSpPr txBox="1">
            <a:spLocks noChangeArrowheads="1"/>
          </p:cNvSpPr>
          <p:nvPr/>
        </p:nvSpPr>
        <p:spPr bwMode="auto">
          <a:xfrm>
            <a:off x="1163480" y="2092608"/>
            <a:ext cx="5116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Me</a:t>
            </a:r>
          </a:p>
        </p:txBody>
      </p:sp>
      <p:sp>
        <p:nvSpPr>
          <p:cNvPr id="12" name="Text Box 10">
            <a:extLst>
              <a:ext uri="{FF2B5EF4-FFF2-40B4-BE49-F238E27FC236}">
                <a16:creationId xmlns:a16="http://schemas.microsoft.com/office/drawing/2014/main" id="{CD9956FF-9671-C8BC-BDA6-C583B575BFDB}"/>
              </a:ext>
            </a:extLst>
          </p:cNvPr>
          <p:cNvSpPr txBox="1">
            <a:spLocks noChangeArrowheads="1"/>
          </p:cNvSpPr>
          <p:nvPr/>
        </p:nvSpPr>
        <p:spPr bwMode="auto">
          <a:xfrm>
            <a:off x="3870456"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3" name="Rectangle 11">
            <a:extLst>
              <a:ext uri="{FF2B5EF4-FFF2-40B4-BE49-F238E27FC236}">
                <a16:creationId xmlns:a16="http://schemas.microsoft.com/office/drawing/2014/main" id="{CD5811A3-AD5A-337C-BADE-B5455FBDD376}"/>
              </a:ext>
            </a:extLst>
          </p:cNvPr>
          <p:cNvSpPr>
            <a:spLocks noChangeArrowheads="1"/>
          </p:cNvSpPr>
          <p:nvPr/>
        </p:nvSpPr>
        <p:spPr bwMode="auto">
          <a:xfrm>
            <a:off x="3716691"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Select from</a:t>
            </a:r>
          </a:p>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Menu</a:t>
            </a:r>
          </a:p>
        </p:txBody>
      </p:sp>
      <p:sp>
        <p:nvSpPr>
          <p:cNvPr id="14" name="Text Box 12">
            <a:extLst>
              <a:ext uri="{FF2B5EF4-FFF2-40B4-BE49-F238E27FC236}">
                <a16:creationId xmlns:a16="http://schemas.microsoft.com/office/drawing/2014/main" id="{630D3C77-3EF1-DD6E-9354-E3524FB60336}"/>
              </a:ext>
            </a:extLst>
          </p:cNvPr>
          <p:cNvSpPr txBox="1">
            <a:spLocks noChangeArrowheads="1"/>
          </p:cNvSpPr>
          <p:nvPr/>
        </p:nvSpPr>
        <p:spPr bwMode="auto">
          <a:xfrm>
            <a:off x="5157789" y="18288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Rectangle 13">
            <a:extLst>
              <a:ext uri="{FF2B5EF4-FFF2-40B4-BE49-F238E27FC236}">
                <a16:creationId xmlns:a16="http://schemas.microsoft.com/office/drawing/2014/main" id="{38F19F26-2DB4-5A3D-316F-76AB65A1A5F3}"/>
              </a:ext>
            </a:extLst>
          </p:cNvPr>
          <p:cNvSpPr>
            <a:spLocks noChangeArrowheads="1"/>
          </p:cNvSpPr>
          <p:nvPr/>
        </p:nvSpPr>
        <p:spPr bwMode="auto">
          <a:xfrm>
            <a:off x="4918202"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Comm. To </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16" name="Rectangle 14">
            <a:extLst>
              <a:ext uri="{FF2B5EF4-FFF2-40B4-BE49-F238E27FC236}">
                <a16:creationId xmlns:a16="http://schemas.microsoft.com/office/drawing/2014/main" id="{A92C2FE7-62E9-15CE-C6C6-4B64C45A02F5}"/>
              </a:ext>
            </a:extLst>
          </p:cNvPr>
          <p:cNvSpPr>
            <a:spLocks noChangeArrowheads="1"/>
          </p:cNvSpPr>
          <p:nvPr/>
        </p:nvSpPr>
        <p:spPr bwMode="auto">
          <a:xfrm>
            <a:off x="7407047"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Repeat</a:t>
            </a:r>
          </a:p>
        </p:txBody>
      </p:sp>
      <p:sp>
        <p:nvSpPr>
          <p:cNvPr id="17" name="Text Box 15">
            <a:extLst>
              <a:ext uri="{FF2B5EF4-FFF2-40B4-BE49-F238E27FC236}">
                <a16:creationId xmlns:a16="http://schemas.microsoft.com/office/drawing/2014/main" id="{49D657D2-C698-511F-0AAC-3C31207B3CDB}"/>
              </a:ext>
            </a:extLst>
          </p:cNvPr>
          <p:cNvSpPr txBox="1">
            <a:spLocks noChangeArrowheads="1"/>
          </p:cNvSpPr>
          <p:nvPr/>
        </p:nvSpPr>
        <p:spPr bwMode="auto">
          <a:xfrm>
            <a:off x="1381611"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8" name="Text Box 16">
            <a:extLst>
              <a:ext uri="{FF2B5EF4-FFF2-40B4-BE49-F238E27FC236}">
                <a16:creationId xmlns:a16="http://schemas.microsoft.com/office/drawing/2014/main" id="{9247758A-0477-26EE-A139-3CEAFB6EB9F2}"/>
              </a:ext>
            </a:extLst>
          </p:cNvPr>
          <p:cNvSpPr txBox="1">
            <a:spLocks noChangeArrowheads="1"/>
          </p:cNvSpPr>
          <p:nvPr/>
        </p:nvSpPr>
        <p:spPr bwMode="auto">
          <a:xfrm>
            <a:off x="1118781" y="3750298"/>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19" name="Text Box 17">
            <a:extLst>
              <a:ext uri="{FF2B5EF4-FFF2-40B4-BE49-F238E27FC236}">
                <a16:creationId xmlns:a16="http://schemas.microsoft.com/office/drawing/2014/main" id="{E5E0751F-6D6C-7F11-E2FE-7DE2EBEE4F3D}"/>
              </a:ext>
            </a:extLst>
          </p:cNvPr>
          <p:cNvSpPr txBox="1">
            <a:spLocks noChangeArrowheads="1"/>
          </p:cNvSpPr>
          <p:nvPr/>
        </p:nvSpPr>
        <p:spPr bwMode="auto">
          <a:xfrm>
            <a:off x="3698811"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0" name="Oval 18">
            <a:extLst>
              <a:ext uri="{FF2B5EF4-FFF2-40B4-BE49-F238E27FC236}">
                <a16:creationId xmlns:a16="http://schemas.microsoft.com/office/drawing/2014/main" id="{3D5293F3-E2C8-EA57-8D7B-C3CF48A04443}"/>
              </a:ext>
            </a:extLst>
          </p:cNvPr>
          <p:cNvSpPr>
            <a:spLocks noChangeArrowheads="1"/>
          </p:cNvSpPr>
          <p:nvPr/>
        </p:nvSpPr>
        <p:spPr bwMode="auto">
          <a:xfrm>
            <a:off x="3974158" y="3666104"/>
            <a:ext cx="343289" cy="359229"/>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21" name="Text Box 19">
            <a:extLst>
              <a:ext uri="{FF2B5EF4-FFF2-40B4-BE49-F238E27FC236}">
                <a16:creationId xmlns:a16="http://schemas.microsoft.com/office/drawing/2014/main" id="{A02F9D39-C358-4DAB-6607-AFC8B3A5B722}"/>
              </a:ext>
            </a:extLst>
          </p:cNvPr>
          <p:cNvSpPr txBox="1">
            <a:spLocks noChangeArrowheads="1"/>
          </p:cNvSpPr>
          <p:nvPr/>
        </p:nvSpPr>
        <p:spPr bwMode="auto">
          <a:xfrm>
            <a:off x="6187656" y="3355521"/>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2" name="Rectangle 20">
            <a:extLst>
              <a:ext uri="{FF2B5EF4-FFF2-40B4-BE49-F238E27FC236}">
                <a16:creationId xmlns:a16="http://schemas.microsoft.com/office/drawing/2014/main" id="{751C0057-6C84-240C-8BFC-9DE31C736390}"/>
              </a:ext>
            </a:extLst>
          </p:cNvPr>
          <p:cNvSpPr>
            <a:spLocks noChangeArrowheads="1"/>
          </p:cNvSpPr>
          <p:nvPr/>
        </p:nvSpPr>
        <p:spPr bwMode="auto">
          <a:xfrm>
            <a:off x="6205536" y="3576297"/>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Record</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Selection</a:t>
            </a:r>
          </a:p>
        </p:txBody>
      </p:sp>
      <p:sp>
        <p:nvSpPr>
          <p:cNvPr id="23" name="Text Box 21">
            <a:extLst>
              <a:ext uri="{FF2B5EF4-FFF2-40B4-BE49-F238E27FC236}">
                <a16:creationId xmlns:a16="http://schemas.microsoft.com/office/drawing/2014/main" id="{29A96CE0-FCBA-915D-231F-9184ED770F8D}"/>
              </a:ext>
            </a:extLst>
          </p:cNvPr>
          <p:cNvSpPr txBox="1">
            <a:spLocks noChangeArrowheads="1"/>
          </p:cNvSpPr>
          <p:nvPr/>
        </p:nvSpPr>
        <p:spPr bwMode="auto">
          <a:xfrm>
            <a:off x="7904101"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4" name="Rectangle 22">
            <a:extLst>
              <a:ext uri="{FF2B5EF4-FFF2-40B4-BE49-F238E27FC236}">
                <a16:creationId xmlns:a16="http://schemas.microsoft.com/office/drawing/2014/main" id="{2311BEED-3A70-A4EA-3D8C-5D8B04F6CD19}"/>
              </a:ext>
            </a:extLst>
          </p:cNvPr>
          <p:cNvSpPr>
            <a:spLocks noChangeArrowheads="1"/>
          </p:cNvSpPr>
          <p:nvPr/>
        </p:nvSpPr>
        <p:spPr bwMode="auto">
          <a:xfrm rot="18782085">
            <a:off x="7560527" y="3522075"/>
            <a:ext cx="697876" cy="686578"/>
          </a:xfrm>
          <a:prstGeom prst="rect">
            <a:avLst/>
          </a:prstGeom>
          <a:solidFill>
            <a:schemeClr val="accent3"/>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Is It Correct?</a:t>
            </a:r>
          </a:p>
        </p:txBody>
      </p:sp>
      <p:sp>
        <p:nvSpPr>
          <p:cNvPr id="25" name="Text Box 23">
            <a:extLst>
              <a:ext uri="{FF2B5EF4-FFF2-40B4-BE49-F238E27FC236}">
                <a16:creationId xmlns:a16="http://schemas.microsoft.com/office/drawing/2014/main" id="{158369D1-D24A-289B-ADC4-DB4C55A33DA0}"/>
              </a:ext>
            </a:extLst>
          </p:cNvPr>
          <p:cNvSpPr txBox="1">
            <a:spLocks noChangeArrowheads="1"/>
          </p:cNvSpPr>
          <p:nvPr/>
        </p:nvSpPr>
        <p:spPr bwMode="auto">
          <a:xfrm>
            <a:off x="9019790"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Rectangle 24">
            <a:extLst>
              <a:ext uri="{FF2B5EF4-FFF2-40B4-BE49-F238E27FC236}">
                <a16:creationId xmlns:a16="http://schemas.microsoft.com/office/drawing/2014/main" id="{C100573C-722C-59F6-CA2D-89A1772C5F3E}"/>
              </a:ext>
            </a:extLst>
          </p:cNvPr>
          <p:cNvSpPr>
            <a:spLocks noChangeArrowheads="1"/>
          </p:cNvSpPr>
          <p:nvPr/>
        </p:nvSpPr>
        <p:spPr bwMode="auto">
          <a:xfrm>
            <a:off x="8694380" y="3486490"/>
            <a:ext cx="1029867"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Place Order</a:t>
            </a:r>
          </a:p>
        </p:txBody>
      </p:sp>
      <p:sp>
        <p:nvSpPr>
          <p:cNvPr id="27" name="Text Box 25">
            <a:extLst>
              <a:ext uri="{FF2B5EF4-FFF2-40B4-BE49-F238E27FC236}">
                <a16:creationId xmlns:a16="http://schemas.microsoft.com/office/drawing/2014/main" id="{3BDDBAEF-DF3E-C363-37B8-7468857E9FC8}"/>
              </a:ext>
            </a:extLst>
          </p:cNvPr>
          <p:cNvSpPr txBox="1">
            <a:spLocks noChangeArrowheads="1"/>
          </p:cNvSpPr>
          <p:nvPr/>
        </p:nvSpPr>
        <p:spPr bwMode="auto">
          <a:xfrm>
            <a:off x="10135479"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Oval 26">
            <a:extLst>
              <a:ext uri="{FF2B5EF4-FFF2-40B4-BE49-F238E27FC236}">
                <a16:creationId xmlns:a16="http://schemas.microsoft.com/office/drawing/2014/main" id="{0EF7B618-5CA8-0F4A-9334-8B49D35CF136}"/>
              </a:ext>
            </a:extLst>
          </p:cNvPr>
          <p:cNvSpPr>
            <a:spLocks noChangeArrowheads="1"/>
          </p:cNvSpPr>
          <p:nvPr/>
        </p:nvSpPr>
        <p:spPr bwMode="auto">
          <a:xfrm>
            <a:off x="10067536" y="3666104"/>
            <a:ext cx="343289" cy="359229"/>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29" name="Text Box 27">
            <a:extLst>
              <a:ext uri="{FF2B5EF4-FFF2-40B4-BE49-F238E27FC236}">
                <a16:creationId xmlns:a16="http://schemas.microsoft.com/office/drawing/2014/main" id="{C2114608-4350-7CE9-D298-40A513B502FA}"/>
              </a:ext>
            </a:extLst>
          </p:cNvPr>
          <p:cNvSpPr txBox="1">
            <a:spLocks noChangeArrowheads="1"/>
          </p:cNvSpPr>
          <p:nvPr/>
        </p:nvSpPr>
        <p:spPr bwMode="auto">
          <a:xfrm>
            <a:off x="1381611" y="506185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Text Box 28">
            <a:extLst>
              <a:ext uri="{FF2B5EF4-FFF2-40B4-BE49-F238E27FC236}">
                <a16:creationId xmlns:a16="http://schemas.microsoft.com/office/drawing/2014/main" id="{6CB65ADF-F39E-B819-7903-733864480ECA}"/>
              </a:ext>
            </a:extLst>
          </p:cNvPr>
          <p:cNvSpPr txBox="1">
            <a:spLocks noChangeArrowheads="1"/>
          </p:cNvSpPr>
          <p:nvPr/>
        </p:nvSpPr>
        <p:spPr bwMode="auto">
          <a:xfrm>
            <a:off x="1639078" y="281667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1" name="Text Box 29">
            <a:extLst>
              <a:ext uri="{FF2B5EF4-FFF2-40B4-BE49-F238E27FC236}">
                <a16:creationId xmlns:a16="http://schemas.microsoft.com/office/drawing/2014/main" id="{F5B8E5B1-B5A2-763C-E8E9-E4C127D73038}"/>
              </a:ext>
            </a:extLst>
          </p:cNvPr>
          <p:cNvSpPr txBox="1">
            <a:spLocks noChangeArrowheads="1"/>
          </p:cNvSpPr>
          <p:nvPr/>
        </p:nvSpPr>
        <p:spPr bwMode="auto">
          <a:xfrm>
            <a:off x="952500" y="4523014"/>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Text Box 30">
            <a:extLst>
              <a:ext uri="{FF2B5EF4-FFF2-40B4-BE49-F238E27FC236}">
                <a16:creationId xmlns:a16="http://schemas.microsoft.com/office/drawing/2014/main" id="{D5D9D18D-F27B-6093-59FB-929AF755D5A0}"/>
              </a:ext>
            </a:extLst>
          </p:cNvPr>
          <p:cNvSpPr txBox="1">
            <a:spLocks noChangeArrowheads="1"/>
          </p:cNvSpPr>
          <p:nvPr/>
        </p:nvSpPr>
        <p:spPr bwMode="auto">
          <a:xfrm>
            <a:off x="3441345"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3" name="Line 31">
            <a:extLst>
              <a:ext uri="{FF2B5EF4-FFF2-40B4-BE49-F238E27FC236}">
                <a16:creationId xmlns:a16="http://schemas.microsoft.com/office/drawing/2014/main" id="{CB1FB052-D719-7887-238E-B8F45B62AF7D}"/>
              </a:ext>
            </a:extLst>
          </p:cNvPr>
          <p:cNvSpPr>
            <a:spLocks noChangeShapeType="1"/>
          </p:cNvSpPr>
          <p:nvPr/>
        </p:nvSpPr>
        <p:spPr bwMode="auto">
          <a:xfrm>
            <a:off x="3459224" y="2318997"/>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4" name="Text Box 32">
            <a:extLst>
              <a:ext uri="{FF2B5EF4-FFF2-40B4-BE49-F238E27FC236}">
                <a16:creationId xmlns:a16="http://schemas.microsoft.com/office/drawing/2014/main" id="{E26B4A25-E5DD-6709-E528-9A2F0DB3CCCC}"/>
              </a:ext>
            </a:extLst>
          </p:cNvPr>
          <p:cNvSpPr txBox="1">
            <a:spLocks noChangeArrowheads="1"/>
          </p:cNvSpPr>
          <p:nvPr/>
        </p:nvSpPr>
        <p:spPr bwMode="auto">
          <a:xfrm>
            <a:off x="4642856"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Line 33">
            <a:extLst>
              <a:ext uri="{FF2B5EF4-FFF2-40B4-BE49-F238E27FC236}">
                <a16:creationId xmlns:a16="http://schemas.microsoft.com/office/drawing/2014/main" id="{6D4AF23C-FF6F-2A4C-17BB-3820BA1AE931}"/>
              </a:ext>
            </a:extLst>
          </p:cNvPr>
          <p:cNvSpPr>
            <a:spLocks noChangeShapeType="1"/>
          </p:cNvSpPr>
          <p:nvPr/>
        </p:nvSpPr>
        <p:spPr bwMode="auto">
          <a:xfrm>
            <a:off x="4660736" y="2318997"/>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6" name="Text Box 34">
            <a:extLst>
              <a:ext uri="{FF2B5EF4-FFF2-40B4-BE49-F238E27FC236}">
                <a16:creationId xmlns:a16="http://schemas.microsoft.com/office/drawing/2014/main" id="{5DBFACF7-9993-CA11-1648-75563A3661D7}"/>
              </a:ext>
            </a:extLst>
          </p:cNvPr>
          <p:cNvSpPr txBox="1">
            <a:spLocks noChangeArrowheads="1"/>
          </p:cNvSpPr>
          <p:nvPr/>
        </p:nvSpPr>
        <p:spPr bwMode="auto">
          <a:xfrm>
            <a:off x="5930189" y="2008414"/>
            <a:ext cx="207404" cy="5388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Line 35">
            <a:extLst>
              <a:ext uri="{FF2B5EF4-FFF2-40B4-BE49-F238E27FC236}">
                <a16:creationId xmlns:a16="http://schemas.microsoft.com/office/drawing/2014/main" id="{3AEB2816-11E9-C075-283A-9AD85C0DD1BB}"/>
              </a:ext>
            </a:extLst>
          </p:cNvPr>
          <p:cNvSpPr>
            <a:spLocks noChangeShapeType="1"/>
          </p:cNvSpPr>
          <p:nvPr/>
        </p:nvSpPr>
        <p:spPr bwMode="auto">
          <a:xfrm>
            <a:off x="5948069" y="2318997"/>
            <a:ext cx="0" cy="1616529"/>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8" name="Text Box 36">
            <a:extLst>
              <a:ext uri="{FF2B5EF4-FFF2-40B4-BE49-F238E27FC236}">
                <a16:creationId xmlns:a16="http://schemas.microsoft.com/office/drawing/2014/main" id="{7366B154-C6F1-A78A-27C7-649A316EA232}"/>
              </a:ext>
            </a:extLst>
          </p:cNvPr>
          <p:cNvSpPr txBox="1">
            <a:spLocks noChangeArrowheads="1"/>
          </p:cNvSpPr>
          <p:nvPr/>
        </p:nvSpPr>
        <p:spPr bwMode="auto">
          <a:xfrm>
            <a:off x="5930189"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Line 37">
            <a:extLst>
              <a:ext uri="{FF2B5EF4-FFF2-40B4-BE49-F238E27FC236}">
                <a16:creationId xmlns:a16="http://schemas.microsoft.com/office/drawing/2014/main" id="{1D9CB05C-A127-5C5C-D5B3-413C3C5D369A}"/>
              </a:ext>
            </a:extLst>
          </p:cNvPr>
          <p:cNvSpPr>
            <a:spLocks noChangeShapeType="1"/>
          </p:cNvSpPr>
          <p:nvPr/>
        </p:nvSpPr>
        <p:spPr bwMode="auto">
          <a:xfrm>
            <a:off x="5948069" y="3935526"/>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0" name="Line 38">
            <a:extLst>
              <a:ext uri="{FF2B5EF4-FFF2-40B4-BE49-F238E27FC236}">
                <a16:creationId xmlns:a16="http://schemas.microsoft.com/office/drawing/2014/main" id="{8BA4295D-F672-D83D-8655-F0F430E4C9D8}"/>
              </a:ext>
            </a:extLst>
          </p:cNvPr>
          <p:cNvSpPr>
            <a:spLocks noChangeShapeType="1"/>
          </p:cNvSpPr>
          <p:nvPr/>
        </p:nvSpPr>
        <p:spPr bwMode="auto">
          <a:xfrm>
            <a:off x="5862247" y="2318997"/>
            <a:ext cx="85822" cy="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1" name="Text Box 39">
            <a:extLst>
              <a:ext uri="{FF2B5EF4-FFF2-40B4-BE49-F238E27FC236}">
                <a16:creationId xmlns:a16="http://schemas.microsoft.com/office/drawing/2014/main" id="{5949B55F-F70E-D885-367E-973C1B653FE5}"/>
              </a:ext>
            </a:extLst>
          </p:cNvPr>
          <p:cNvSpPr txBox="1">
            <a:spLocks noChangeArrowheads="1"/>
          </p:cNvSpPr>
          <p:nvPr/>
        </p:nvSpPr>
        <p:spPr bwMode="auto">
          <a:xfrm>
            <a:off x="4042100" y="299629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Line 40">
            <a:extLst>
              <a:ext uri="{FF2B5EF4-FFF2-40B4-BE49-F238E27FC236}">
                <a16:creationId xmlns:a16="http://schemas.microsoft.com/office/drawing/2014/main" id="{C7F53B7D-7E79-AAB8-6177-3B2CF2BA40F9}"/>
              </a:ext>
            </a:extLst>
          </p:cNvPr>
          <p:cNvSpPr>
            <a:spLocks noChangeShapeType="1"/>
          </p:cNvSpPr>
          <p:nvPr/>
        </p:nvSpPr>
        <p:spPr bwMode="auto">
          <a:xfrm flipV="1">
            <a:off x="4145802" y="2678226"/>
            <a:ext cx="0" cy="987879"/>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3" name="Text Box 41">
            <a:extLst>
              <a:ext uri="{FF2B5EF4-FFF2-40B4-BE49-F238E27FC236}">
                <a16:creationId xmlns:a16="http://schemas.microsoft.com/office/drawing/2014/main" id="{EA6218FC-7322-5A3A-3A60-1519861D6CDC}"/>
              </a:ext>
            </a:extLst>
          </p:cNvPr>
          <p:cNvSpPr txBox="1">
            <a:spLocks noChangeArrowheads="1"/>
          </p:cNvSpPr>
          <p:nvPr/>
        </p:nvSpPr>
        <p:spPr bwMode="auto">
          <a:xfrm>
            <a:off x="7131701"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4" name="Line 42">
            <a:extLst>
              <a:ext uri="{FF2B5EF4-FFF2-40B4-BE49-F238E27FC236}">
                <a16:creationId xmlns:a16="http://schemas.microsoft.com/office/drawing/2014/main" id="{51ED4119-E90E-FF2C-44E5-DC139DEF5275}"/>
              </a:ext>
            </a:extLst>
          </p:cNvPr>
          <p:cNvSpPr>
            <a:spLocks noChangeShapeType="1"/>
          </p:cNvSpPr>
          <p:nvPr/>
        </p:nvSpPr>
        <p:spPr bwMode="auto">
          <a:xfrm>
            <a:off x="7149580" y="3845719"/>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5" name="Text Box 43">
            <a:extLst>
              <a:ext uri="{FF2B5EF4-FFF2-40B4-BE49-F238E27FC236}">
                <a16:creationId xmlns:a16="http://schemas.microsoft.com/office/drawing/2014/main" id="{5D2C4B19-6200-51F9-D8BA-A1AA798CF769}"/>
              </a:ext>
            </a:extLst>
          </p:cNvPr>
          <p:cNvSpPr txBox="1">
            <a:spLocks noChangeArrowheads="1"/>
          </p:cNvSpPr>
          <p:nvPr/>
        </p:nvSpPr>
        <p:spPr bwMode="auto">
          <a:xfrm>
            <a:off x="8419034"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Line 44">
            <a:extLst>
              <a:ext uri="{FF2B5EF4-FFF2-40B4-BE49-F238E27FC236}">
                <a16:creationId xmlns:a16="http://schemas.microsoft.com/office/drawing/2014/main" id="{8149F7B9-2920-8CAC-4270-413D54BF7ABB}"/>
              </a:ext>
            </a:extLst>
          </p:cNvPr>
          <p:cNvSpPr>
            <a:spLocks noChangeShapeType="1"/>
          </p:cNvSpPr>
          <p:nvPr/>
        </p:nvSpPr>
        <p:spPr bwMode="auto">
          <a:xfrm>
            <a:off x="8351091" y="3845719"/>
            <a:ext cx="343289"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7" name="Text Box 45">
            <a:extLst>
              <a:ext uri="{FF2B5EF4-FFF2-40B4-BE49-F238E27FC236}">
                <a16:creationId xmlns:a16="http://schemas.microsoft.com/office/drawing/2014/main" id="{19F44D28-0B02-B845-3161-802ADCE37AE2}"/>
              </a:ext>
            </a:extLst>
          </p:cNvPr>
          <p:cNvSpPr txBox="1">
            <a:spLocks noChangeArrowheads="1"/>
          </p:cNvSpPr>
          <p:nvPr/>
        </p:nvSpPr>
        <p:spPr bwMode="auto">
          <a:xfrm>
            <a:off x="7818278" y="2726871"/>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8" name="Line 46">
            <a:extLst>
              <a:ext uri="{FF2B5EF4-FFF2-40B4-BE49-F238E27FC236}">
                <a16:creationId xmlns:a16="http://schemas.microsoft.com/office/drawing/2014/main" id="{14902DC0-D7A1-1B63-02A4-A859056E8FFD}"/>
              </a:ext>
            </a:extLst>
          </p:cNvPr>
          <p:cNvSpPr>
            <a:spLocks noChangeShapeType="1"/>
          </p:cNvSpPr>
          <p:nvPr/>
        </p:nvSpPr>
        <p:spPr bwMode="auto">
          <a:xfrm flipV="1">
            <a:off x="7921980" y="2678226"/>
            <a:ext cx="0" cy="718457"/>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9" name="Text Box 47">
            <a:extLst>
              <a:ext uri="{FF2B5EF4-FFF2-40B4-BE49-F238E27FC236}">
                <a16:creationId xmlns:a16="http://schemas.microsoft.com/office/drawing/2014/main" id="{1CA4596B-FE76-BB1F-25BE-561C492A9318}"/>
              </a:ext>
            </a:extLst>
          </p:cNvPr>
          <p:cNvSpPr txBox="1">
            <a:spLocks noChangeArrowheads="1"/>
          </p:cNvSpPr>
          <p:nvPr/>
        </p:nvSpPr>
        <p:spPr bwMode="auto">
          <a:xfrm>
            <a:off x="9706368"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0" name="Line 48">
            <a:extLst>
              <a:ext uri="{FF2B5EF4-FFF2-40B4-BE49-F238E27FC236}">
                <a16:creationId xmlns:a16="http://schemas.microsoft.com/office/drawing/2014/main" id="{9AAC7C09-AEF4-6E42-DB2E-A3F807A424BB}"/>
              </a:ext>
            </a:extLst>
          </p:cNvPr>
          <p:cNvSpPr>
            <a:spLocks noChangeShapeType="1"/>
          </p:cNvSpPr>
          <p:nvPr/>
        </p:nvSpPr>
        <p:spPr bwMode="auto">
          <a:xfrm>
            <a:off x="9724247" y="3845719"/>
            <a:ext cx="343289"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1" name="Text Box 49">
            <a:extLst>
              <a:ext uri="{FF2B5EF4-FFF2-40B4-BE49-F238E27FC236}">
                <a16:creationId xmlns:a16="http://schemas.microsoft.com/office/drawing/2014/main" id="{2AD9DF7D-4B00-A3D7-AE84-BE519C3A2464}"/>
              </a:ext>
            </a:extLst>
          </p:cNvPr>
          <p:cNvSpPr txBox="1">
            <a:spLocks noChangeArrowheads="1"/>
          </p:cNvSpPr>
          <p:nvPr/>
        </p:nvSpPr>
        <p:spPr bwMode="auto">
          <a:xfrm>
            <a:off x="7560812" y="299629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2" name="Text Box 50">
            <a:extLst>
              <a:ext uri="{FF2B5EF4-FFF2-40B4-BE49-F238E27FC236}">
                <a16:creationId xmlns:a16="http://schemas.microsoft.com/office/drawing/2014/main" id="{E5FDA47E-1902-ED87-C47B-2A6567CE066D}"/>
              </a:ext>
            </a:extLst>
          </p:cNvPr>
          <p:cNvSpPr txBox="1">
            <a:spLocks noChangeArrowheads="1"/>
          </p:cNvSpPr>
          <p:nvPr/>
        </p:nvSpPr>
        <p:spPr bwMode="auto">
          <a:xfrm>
            <a:off x="7419563" y="3217069"/>
            <a:ext cx="3802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No</a:t>
            </a:r>
          </a:p>
        </p:txBody>
      </p:sp>
      <p:sp>
        <p:nvSpPr>
          <p:cNvPr id="53" name="Text Box 51">
            <a:extLst>
              <a:ext uri="{FF2B5EF4-FFF2-40B4-BE49-F238E27FC236}">
                <a16:creationId xmlns:a16="http://schemas.microsoft.com/office/drawing/2014/main" id="{372CDC52-5A1D-6136-CD7A-27FCED846F5E}"/>
              </a:ext>
            </a:extLst>
          </p:cNvPr>
          <p:cNvSpPr txBox="1">
            <a:spLocks noChangeArrowheads="1"/>
          </p:cNvSpPr>
          <p:nvPr/>
        </p:nvSpPr>
        <p:spPr bwMode="auto">
          <a:xfrm>
            <a:off x="8333212" y="371475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4" name="Text Box 52">
            <a:extLst>
              <a:ext uri="{FF2B5EF4-FFF2-40B4-BE49-F238E27FC236}">
                <a16:creationId xmlns:a16="http://schemas.microsoft.com/office/drawing/2014/main" id="{F3CBC6E5-6581-226B-1027-C5CF1A1A6C11}"/>
              </a:ext>
            </a:extLst>
          </p:cNvPr>
          <p:cNvSpPr txBox="1">
            <a:spLocks noChangeArrowheads="1"/>
          </p:cNvSpPr>
          <p:nvPr/>
        </p:nvSpPr>
        <p:spPr bwMode="auto">
          <a:xfrm>
            <a:off x="8247390" y="3885009"/>
            <a:ext cx="4411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Yes</a:t>
            </a:r>
          </a:p>
        </p:txBody>
      </p:sp>
      <p:sp>
        <p:nvSpPr>
          <p:cNvPr id="55" name="Line 53">
            <a:extLst>
              <a:ext uri="{FF2B5EF4-FFF2-40B4-BE49-F238E27FC236}">
                <a16:creationId xmlns:a16="http://schemas.microsoft.com/office/drawing/2014/main" id="{B259D2A6-E0D5-DB79-E2C7-AA173C16D865}"/>
              </a:ext>
            </a:extLst>
          </p:cNvPr>
          <p:cNvSpPr>
            <a:spLocks noChangeShapeType="1"/>
          </p:cNvSpPr>
          <p:nvPr/>
        </p:nvSpPr>
        <p:spPr bwMode="auto">
          <a:xfrm>
            <a:off x="1186724" y="2887776"/>
            <a:ext cx="9138279" cy="168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6" name="Line 54">
            <a:extLst>
              <a:ext uri="{FF2B5EF4-FFF2-40B4-BE49-F238E27FC236}">
                <a16:creationId xmlns:a16="http://schemas.microsoft.com/office/drawing/2014/main" id="{FC6CBAB4-39BA-AE46-7110-4BE17560FE48}"/>
              </a:ext>
            </a:extLst>
          </p:cNvPr>
          <p:cNvSpPr>
            <a:spLocks noChangeShapeType="1"/>
          </p:cNvSpPr>
          <p:nvPr/>
        </p:nvSpPr>
        <p:spPr bwMode="auto">
          <a:xfrm>
            <a:off x="1218907" y="4508046"/>
            <a:ext cx="9106096" cy="168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7" name="Text Box 55">
            <a:extLst>
              <a:ext uri="{FF2B5EF4-FFF2-40B4-BE49-F238E27FC236}">
                <a16:creationId xmlns:a16="http://schemas.microsoft.com/office/drawing/2014/main" id="{1598F179-6F70-4100-86B6-5313CBF9135A}"/>
              </a:ext>
            </a:extLst>
          </p:cNvPr>
          <p:cNvSpPr txBox="1">
            <a:spLocks noChangeArrowheads="1"/>
          </p:cNvSpPr>
          <p:nvPr/>
        </p:nvSpPr>
        <p:spPr bwMode="auto">
          <a:xfrm>
            <a:off x="1184935" y="4953340"/>
            <a:ext cx="974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Kitchen</a:t>
            </a:r>
          </a:p>
        </p:txBody>
      </p:sp>
      <p:sp>
        <p:nvSpPr>
          <p:cNvPr id="61" name="Title 60">
            <a:extLst>
              <a:ext uri="{FF2B5EF4-FFF2-40B4-BE49-F238E27FC236}">
                <a16:creationId xmlns:a16="http://schemas.microsoft.com/office/drawing/2014/main" id="{0DA66C8A-1D60-FC40-7FC0-C43CD1645BAE}"/>
              </a:ext>
            </a:extLst>
          </p:cNvPr>
          <p:cNvSpPr>
            <a:spLocks noGrp="1"/>
          </p:cNvSpPr>
          <p:nvPr>
            <p:ph type="title"/>
          </p:nvPr>
        </p:nvSpPr>
        <p:spPr/>
        <p:txBody>
          <a:bodyPr>
            <a:normAutofit/>
          </a:bodyPr>
          <a:lstStyle/>
          <a:p>
            <a:r>
              <a:rPr lang="en-US" dirty="0"/>
              <a:t>Process Map Example</a:t>
            </a:r>
          </a:p>
        </p:txBody>
      </p:sp>
      <p:sp>
        <p:nvSpPr>
          <p:cNvPr id="59" name="Slide Number Placeholder 16">
            <a:extLst>
              <a:ext uri="{FF2B5EF4-FFF2-40B4-BE49-F238E27FC236}">
                <a16:creationId xmlns:a16="http://schemas.microsoft.com/office/drawing/2014/main" id="{439D81C3-EC3D-68F7-36BD-943E0240E477}"/>
              </a:ext>
            </a:extLst>
          </p:cNvPr>
          <p:cNvSpPr>
            <a:spLocks noGrp="1"/>
          </p:cNvSpPr>
          <p:nvPr>
            <p:ph type="sldNum" sz="quarter" idx="4"/>
          </p:nvPr>
        </p:nvSpPr>
        <p:spPr/>
        <p:txBody>
          <a:bodyPr/>
          <a:lstStyle/>
          <a:p>
            <a:fld id="{CC6D4273-7FC1-0947-B9FE-19CB3C0D1FB6}" type="slidenum">
              <a:rPr lang="en-US" smtClean="0"/>
              <a:t>24</a:t>
            </a:fld>
            <a:endParaRPr lang="en-US"/>
          </a:p>
        </p:txBody>
      </p:sp>
    </p:spTree>
    <p:extLst>
      <p:ext uri="{BB962C8B-B14F-4D97-AF65-F5344CB8AC3E}">
        <p14:creationId xmlns:p14="http://schemas.microsoft.com/office/powerpoint/2010/main" val="3165440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Box 4">
            <a:extLst>
              <a:ext uri="{FF2B5EF4-FFF2-40B4-BE49-F238E27FC236}">
                <a16:creationId xmlns:a16="http://schemas.microsoft.com/office/drawing/2014/main" id="{D8275BD6-5016-F352-6C91-232C20A2D1F2}"/>
              </a:ext>
            </a:extLst>
          </p:cNvPr>
          <p:cNvSpPr txBox="1">
            <a:spLocks noChangeArrowheads="1"/>
          </p:cNvSpPr>
          <p:nvPr/>
        </p:nvSpPr>
        <p:spPr bwMode="auto">
          <a:xfrm>
            <a:off x="5514415" y="3182890"/>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0" name="Text Box 5">
            <a:extLst>
              <a:ext uri="{FF2B5EF4-FFF2-40B4-BE49-F238E27FC236}">
                <a16:creationId xmlns:a16="http://schemas.microsoft.com/office/drawing/2014/main" id="{58C7E166-4D70-CECD-849B-1DE2E7CE5E84}"/>
              </a:ext>
            </a:extLst>
          </p:cNvPr>
          <p:cNvSpPr txBox="1">
            <a:spLocks noChangeArrowheads="1"/>
          </p:cNvSpPr>
          <p:nvPr/>
        </p:nvSpPr>
        <p:spPr bwMode="auto">
          <a:xfrm>
            <a:off x="5162162" y="2789507"/>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Text Box 6">
            <a:extLst>
              <a:ext uri="{FF2B5EF4-FFF2-40B4-BE49-F238E27FC236}">
                <a16:creationId xmlns:a16="http://schemas.microsoft.com/office/drawing/2014/main" id="{48774CE4-E508-1C1C-1EA6-64CB344AB6DC}"/>
              </a:ext>
            </a:extLst>
          </p:cNvPr>
          <p:cNvSpPr txBox="1">
            <a:spLocks noChangeArrowheads="1"/>
          </p:cNvSpPr>
          <p:nvPr/>
        </p:nvSpPr>
        <p:spPr bwMode="auto">
          <a:xfrm>
            <a:off x="1287377" y="160267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2" name="Text Box 7">
            <a:extLst>
              <a:ext uri="{FF2B5EF4-FFF2-40B4-BE49-F238E27FC236}">
                <a16:creationId xmlns:a16="http://schemas.microsoft.com/office/drawing/2014/main" id="{D045BEF6-134A-765D-CA55-4C3B7799169C}"/>
              </a:ext>
            </a:extLst>
          </p:cNvPr>
          <p:cNvSpPr txBox="1">
            <a:spLocks noChangeArrowheads="1"/>
          </p:cNvSpPr>
          <p:nvPr/>
        </p:nvSpPr>
        <p:spPr bwMode="auto">
          <a:xfrm>
            <a:off x="1571748" y="2314068"/>
            <a:ext cx="5116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Me</a:t>
            </a:r>
          </a:p>
        </p:txBody>
      </p:sp>
      <p:sp>
        <p:nvSpPr>
          <p:cNvPr id="63" name="Text Box 8">
            <a:extLst>
              <a:ext uri="{FF2B5EF4-FFF2-40B4-BE49-F238E27FC236}">
                <a16:creationId xmlns:a16="http://schemas.microsoft.com/office/drawing/2014/main" id="{9DBFFA46-F6A5-23E8-6336-4D57BEEB5993}"/>
              </a:ext>
            </a:extLst>
          </p:cNvPr>
          <p:cNvSpPr txBox="1">
            <a:spLocks noChangeArrowheads="1"/>
          </p:cNvSpPr>
          <p:nvPr/>
        </p:nvSpPr>
        <p:spPr bwMode="auto">
          <a:xfrm>
            <a:off x="8596631" y="152399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4" name="Rectangle 9">
            <a:extLst>
              <a:ext uri="{FF2B5EF4-FFF2-40B4-BE49-F238E27FC236}">
                <a16:creationId xmlns:a16="http://schemas.microsoft.com/office/drawing/2014/main" id="{C9C44E92-9313-A86D-4818-B21893D7F8A0}"/>
              </a:ext>
            </a:extLst>
          </p:cNvPr>
          <p:cNvSpPr>
            <a:spLocks noChangeArrowheads="1"/>
          </p:cNvSpPr>
          <p:nvPr/>
        </p:nvSpPr>
        <p:spPr bwMode="auto">
          <a:xfrm>
            <a:off x="9143357" y="2196155"/>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Consume</a:t>
            </a:r>
          </a:p>
        </p:txBody>
      </p:sp>
      <p:sp>
        <p:nvSpPr>
          <p:cNvPr id="66" name="Oval 11">
            <a:extLst>
              <a:ext uri="{FF2B5EF4-FFF2-40B4-BE49-F238E27FC236}">
                <a16:creationId xmlns:a16="http://schemas.microsoft.com/office/drawing/2014/main" id="{EFF6837E-AC3E-7641-BA51-97BCB3BB0077}"/>
              </a:ext>
            </a:extLst>
          </p:cNvPr>
          <p:cNvSpPr>
            <a:spLocks noChangeArrowheads="1"/>
          </p:cNvSpPr>
          <p:nvPr/>
        </p:nvSpPr>
        <p:spPr bwMode="auto">
          <a:xfrm>
            <a:off x="10376244" y="2289584"/>
            <a:ext cx="704506" cy="457307"/>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Full</a:t>
            </a:r>
          </a:p>
        </p:txBody>
      </p:sp>
      <p:sp>
        <p:nvSpPr>
          <p:cNvPr id="67" name="Text Box 12">
            <a:extLst>
              <a:ext uri="{FF2B5EF4-FFF2-40B4-BE49-F238E27FC236}">
                <a16:creationId xmlns:a16="http://schemas.microsoft.com/office/drawing/2014/main" id="{0417BF0D-E7DC-702F-F525-4E59BC02BA48}"/>
              </a:ext>
            </a:extLst>
          </p:cNvPr>
          <p:cNvSpPr txBox="1">
            <a:spLocks noChangeArrowheads="1"/>
          </p:cNvSpPr>
          <p:nvPr/>
        </p:nvSpPr>
        <p:spPr bwMode="auto">
          <a:xfrm>
            <a:off x="1287377"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8" name="Text Box 13">
            <a:extLst>
              <a:ext uri="{FF2B5EF4-FFF2-40B4-BE49-F238E27FC236}">
                <a16:creationId xmlns:a16="http://schemas.microsoft.com/office/drawing/2014/main" id="{AA2AA8B1-B485-8BE4-210A-DF9089638740}"/>
              </a:ext>
            </a:extLst>
          </p:cNvPr>
          <p:cNvSpPr txBox="1">
            <a:spLocks noChangeArrowheads="1"/>
          </p:cNvSpPr>
          <p:nvPr/>
        </p:nvSpPr>
        <p:spPr bwMode="auto">
          <a:xfrm>
            <a:off x="1358929" y="3779520"/>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Waiter</a:t>
            </a:r>
          </a:p>
        </p:txBody>
      </p:sp>
      <p:sp>
        <p:nvSpPr>
          <p:cNvPr id="69" name="Text Box 14">
            <a:extLst>
              <a:ext uri="{FF2B5EF4-FFF2-40B4-BE49-F238E27FC236}">
                <a16:creationId xmlns:a16="http://schemas.microsoft.com/office/drawing/2014/main" id="{9C6EBBC8-4CFB-0C3C-AB07-1606CED0EB20}"/>
              </a:ext>
            </a:extLst>
          </p:cNvPr>
          <p:cNvSpPr txBox="1">
            <a:spLocks noChangeArrowheads="1"/>
          </p:cNvSpPr>
          <p:nvPr/>
        </p:nvSpPr>
        <p:spPr bwMode="auto">
          <a:xfrm>
            <a:off x="2960579" y="3733625"/>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0" name="Oval 15">
            <a:extLst>
              <a:ext uri="{FF2B5EF4-FFF2-40B4-BE49-F238E27FC236}">
                <a16:creationId xmlns:a16="http://schemas.microsoft.com/office/drawing/2014/main" id="{99426EA1-52A1-E664-38B3-BB80631717BA}"/>
              </a:ext>
            </a:extLst>
          </p:cNvPr>
          <p:cNvSpPr>
            <a:spLocks noChangeArrowheads="1"/>
          </p:cNvSpPr>
          <p:nvPr/>
        </p:nvSpPr>
        <p:spPr bwMode="auto">
          <a:xfrm>
            <a:off x="2626673" y="3769685"/>
            <a:ext cx="352253" cy="314706"/>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dirty="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71" name="Text Box 16">
            <a:extLst>
              <a:ext uri="{FF2B5EF4-FFF2-40B4-BE49-F238E27FC236}">
                <a16:creationId xmlns:a16="http://schemas.microsoft.com/office/drawing/2014/main" id="{A0024C22-6CDB-50C0-1BC2-DD0799633200}"/>
              </a:ext>
            </a:extLst>
          </p:cNvPr>
          <p:cNvSpPr txBox="1">
            <a:spLocks noChangeArrowheads="1"/>
          </p:cNvSpPr>
          <p:nvPr/>
        </p:nvSpPr>
        <p:spPr bwMode="auto">
          <a:xfrm>
            <a:off x="4017339"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2" name="Rectangle 17">
            <a:extLst>
              <a:ext uri="{FF2B5EF4-FFF2-40B4-BE49-F238E27FC236}">
                <a16:creationId xmlns:a16="http://schemas.microsoft.com/office/drawing/2014/main" id="{B46100D2-36E4-5B7B-72C9-E4080B0FBC65}"/>
              </a:ext>
            </a:extLst>
          </p:cNvPr>
          <p:cNvSpPr>
            <a:spLocks noChangeArrowheads="1"/>
          </p:cNvSpPr>
          <p:nvPr/>
        </p:nvSpPr>
        <p:spPr bwMode="auto">
          <a:xfrm>
            <a:off x="3947622" y="361233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Comm to</a:t>
            </a:r>
          </a:p>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Me</a:t>
            </a:r>
          </a:p>
        </p:txBody>
      </p:sp>
      <p:sp>
        <p:nvSpPr>
          <p:cNvPr id="73" name="Text Box 18">
            <a:extLst>
              <a:ext uri="{FF2B5EF4-FFF2-40B4-BE49-F238E27FC236}">
                <a16:creationId xmlns:a16="http://schemas.microsoft.com/office/drawing/2014/main" id="{EDED90AA-B921-A984-1614-31A939032DBB}"/>
              </a:ext>
            </a:extLst>
          </p:cNvPr>
          <p:cNvSpPr txBox="1">
            <a:spLocks noChangeArrowheads="1"/>
          </p:cNvSpPr>
          <p:nvPr/>
        </p:nvSpPr>
        <p:spPr bwMode="auto">
          <a:xfrm>
            <a:off x="5338289"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4" name="Oval 19">
            <a:extLst>
              <a:ext uri="{FF2B5EF4-FFF2-40B4-BE49-F238E27FC236}">
                <a16:creationId xmlns:a16="http://schemas.microsoft.com/office/drawing/2014/main" id="{E7B15719-AE1C-072D-F23B-236A394B6B82}"/>
              </a:ext>
            </a:extLst>
          </p:cNvPr>
          <p:cNvSpPr>
            <a:spLocks noChangeArrowheads="1"/>
          </p:cNvSpPr>
          <p:nvPr/>
        </p:nvSpPr>
        <p:spPr bwMode="auto">
          <a:xfrm>
            <a:off x="5180509" y="3769685"/>
            <a:ext cx="352253" cy="314706"/>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75" name="Text Box 20">
            <a:extLst>
              <a:ext uri="{FF2B5EF4-FFF2-40B4-BE49-F238E27FC236}">
                <a16:creationId xmlns:a16="http://schemas.microsoft.com/office/drawing/2014/main" id="{FD62C9BA-7F54-1790-D72A-B9347D7C5F08}"/>
              </a:ext>
            </a:extLst>
          </p:cNvPr>
          <p:cNvSpPr txBox="1">
            <a:spLocks noChangeArrowheads="1"/>
          </p:cNvSpPr>
          <p:nvPr/>
        </p:nvSpPr>
        <p:spPr bwMode="auto">
          <a:xfrm>
            <a:off x="6747302"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6" name="Rectangle 21">
            <a:extLst>
              <a:ext uri="{FF2B5EF4-FFF2-40B4-BE49-F238E27FC236}">
                <a16:creationId xmlns:a16="http://schemas.microsoft.com/office/drawing/2014/main" id="{3CB60696-1599-34DF-49CF-E5DAF513B026}"/>
              </a:ext>
            </a:extLst>
          </p:cNvPr>
          <p:cNvSpPr>
            <a:spLocks noChangeArrowheads="1"/>
          </p:cNvSpPr>
          <p:nvPr/>
        </p:nvSpPr>
        <p:spPr bwMode="auto">
          <a:xfrm>
            <a:off x="7910471" y="361233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Deliver</a:t>
            </a:r>
          </a:p>
        </p:txBody>
      </p:sp>
      <p:sp>
        <p:nvSpPr>
          <p:cNvPr id="77" name="Text Box 22">
            <a:extLst>
              <a:ext uri="{FF2B5EF4-FFF2-40B4-BE49-F238E27FC236}">
                <a16:creationId xmlns:a16="http://schemas.microsoft.com/office/drawing/2014/main" id="{F0FFC103-4389-6FC3-B487-74D02619B752}"/>
              </a:ext>
            </a:extLst>
          </p:cNvPr>
          <p:cNvSpPr txBox="1">
            <a:spLocks noChangeArrowheads="1"/>
          </p:cNvSpPr>
          <p:nvPr/>
        </p:nvSpPr>
        <p:spPr bwMode="auto">
          <a:xfrm>
            <a:off x="1375440"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8" name="Text Box 23">
            <a:extLst>
              <a:ext uri="{FF2B5EF4-FFF2-40B4-BE49-F238E27FC236}">
                <a16:creationId xmlns:a16="http://schemas.microsoft.com/office/drawing/2014/main" id="{08456FBE-C8BE-0BF2-75C0-4CB60892121E}"/>
              </a:ext>
            </a:extLst>
          </p:cNvPr>
          <p:cNvSpPr txBox="1">
            <a:spLocks noChangeArrowheads="1"/>
          </p:cNvSpPr>
          <p:nvPr/>
        </p:nvSpPr>
        <p:spPr bwMode="auto">
          <a:xfrm>
            <a:off x="1377275" y="5353050"/>
            <a:ext cx="974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Kitchen</a:t>
            </a:r>
          </a:p>
        </p:txBody>
      </p:sp>
      <p:sp>
        <p:nvSpPr>
          <p:cNvPr id="79" name="Text Box 24">
            <a:extLst>
              <a:ext uri="{FF2B5EF4-FFF2-40B4-BE49-F238E27FC236}">
                <a16:creationId xmlns:a16="http://schemas.microsoft.com/office/drawing/2014/main" id="{45BE1457-943C-353D-98E0-B7FCD29894C6}"/>
              </a:ext>
            </a:extLst>
          </p:cNvPr>
          <p:cNvSpPr txBox="1">
            <a:spLocks noChangeArrowheads="1"/>
          </p:cNvSpPr>
          <p:nvPr/>
        </p:nvSpPr>
        <p:spPr bwMode="auto">
          <a:xfrm>
            <a:off x="2608326" y="5307155"/>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0" name="Rectangle 25">
            <a:extLst>
              <a:ext uri="{FF2B5EF4-FFF2-40B4-BE49-F238E27FC236}">
                <a16:creationId xmlns:a16="http://schemas.microsoft.com/office/drawing/2014/main" id="{E0F4CDDB-4B9C-B1B8-3BC0-C67A8F294F55}"/>
              </a:ext>
            </a:extLst>
          </p:cNvPr>
          <p:cNvSpPr>
            <a:spLocks noChangeArrowheads="1"/>
          </p:cNvSpPr>
          <p:nvPr/>
        </p:nvSpPr>
        <p:spPr bwMode="auto">
          <a:xfrm>
            <a:off x="2714736"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Queue for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Preparation</a:t>
            </a:r>
          </a:p>
        </p:txBody>
      </p:sp>
      <p:sp>
        <p:nvSpPr>
          <p:cNvPr id="81" name="Text Box 26">
            <a:extLst>
              <a:ext uri="{FF2B5EF4-FFF2-40B4-BE49-F238E27FC236}">
                <a16:creationId xmlns:a16="http://schemas.microsoft.com/office/drawing/2014/main" id="{A501AF23-D9B3-B709-32AC-CB5AB518F0F6}"/>
              </a:ext>
            </a:extLst>
          </p:cNvPr>
          <p:cNvSpPr txBox="1">
            <a:spLocks noChangeArrowheads="1"/>
          </p:cNvSpPr>
          <p:nvPr/>
        </p:nvSpPr>
        <p:spPr bwMode="auto">
          <a:xfrm>
            <a:off x="4193466"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2" name="Rectangle 27">
            <a:extLst>
              <a:ext uri="{FF2B5EF4-FFF2-40B4-BE49-F238E27FC236}">
                <a16:creationId xmlns:a16="http://schemas.microsoft.com/office/drawing/2014/main" id="{246B39A6-DA5A-5ADA-FB2F-5811A4C7EBF7}"/>
              </a:ext>
            </a:extLst>
          </p:cNvPr>
          <p:cNvSpPr>
            <a:spLocks noChangeArrowheads="1"/>
          </p:cNvSpPr>
          <p:nvPr/>
        </p:nvSpPr>
        <p:spPr bwMode="auto">
          <a:xfrm rot="18782085">
            <a:off x="3990570" y="5189517"/>
            <a:ext cx="750705" cy="792570"/>
          </a:xfrm>
          <a:prstGeom prst="rect">
            <a:avLst/>
          </a:prstGeom>
          <a:solidFill>
            <a:schemeClr val="accent3"/>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b="0" dirty="0">
                <a:latin typeface="Roboto" panose="02000000000000000000" pitchFamily="2" charset="0"/>
                <a:ea typeface="Roboto" panose="02000000000000000000" pitchFamily="2" charset="0"/>
                <a:cs typeface="Roboto" panose="02000000000000000000" pitchFamily="2" charset="0"/>
              </a:rPr>
              <a:t>Do We Have Ingredients?</a:t>
            </a:r>
          </a:p>
        </p:txBody>
      </p:sp>
      <p:sp>
        <p:nvSpPr>
          <p:cNvPr id="83" name="Text Box 28">
            <a:extLst>
              <a:ext uri="{FF2B5EF4-FFF2-40B4-BE49-F238E27FC236}">
                <a16:creationId xmlns:a16="http://schemas.microsoft.com/office/drawing/2014/main" id="{73C283FB-B25E-B8E7-6DFF-97248B3AD94E}"/>
              </a:ext>
            </a:extLst>
          </p:cNvPr>
          <p:cNvSpPr txBox="1">
            <a:spLocks noChangeArrowheads="1"/>
          </p:cNvSpPr>
          <p:nvPr/>
        </p:nvSpPr>
        <p:spPr bwMode="auto">
          <a:xfrm>
            <a:off x="5338289"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4" name="Rectangle 29">
            <a:extLst>
              <a:ext uri="{FF2B5EF4-FFF2-40B4-BE49-F238E27FC236}">
                <a16:creationId xmlns:a16="http://schemas.microsoft.com/office/drawing/2014/main" id="{91D3364B-CB9F-FF7E-02CA-81B64DA2DE07}"/>
              </a:ext>
            </a:extLst>
          </p:cNvPr>
          <p:cNvSpPr>
            <a:spLocks noChangeArrowheads="1"/>
          </p:cNvSpPr>
          <p:nvPr/>
        </p:nvSpPr>
        <p:spPr bwMode="auto">
          <a:xfrm>
            <a:off x="5180509"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Prepare</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Selection</a:t>
            </a:r>
          </a:p>
        </p:txBody>
      </p:sp>
      <p:sp>
        <p:nvSpPr>
          <p:cNvPr id="85" name="Text Box 30">
            <a:extLst>
              <a:ext uri="{FF2B5EF4-FFF2-40B4-BE49-F238E27FC236}">
                <a16:creationId xmlns:a16="http://schemas.microsoft.com/office/drawing/2014/main" id="{2F01EEE7-686A-2B9D-E828-B72F9B25CFC0}"/>
              </a:ext>
            </a:extLst>
          </p:cNvPr>
          <p:cNvSpPr txBox="1">
            <a:spLocks noChangeArrowheads="1"/>
          </p:cNvSpPr>
          <p:nvPr/>
        </p:nvSpPr>
        <p:spPr bwMode="auto">
          <a:xfrm>
            <a:off x="7011491"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6" name="Rectangle 31">
            <a:extLst>
              <a:ext uri="{FF2B5EF4-FFF2-40B4-BE49-F238E27FC236}">
                <a16:creationId xmlns:a16="http://schemas.microsoft.com/office/drawing/2014/main" id="{DDF6971B-0A7B-C2AD-E750-5285579603A0}"/>
              </a:ext>
            </a:extLst>
          </p:cNvPr>
          <p:cNvSpPr>
            <a:spLocks noChangeArrowheads="1"/>
          </p:cNvSpPr>
          <p:nvPr/>
        </p:nvSpPr>
        <p:spPr bwMode="auto">
          <a:xfrm>
            <a:off x="6501458"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Queue for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87" name="Text Box 32">
            <a:extLst>
              <a:ext uri="{FF2B5EF4-FFF2-40B4-BE49-F238E27FC236}">
                <a16:creationId xmlns:a16="http://schemas.microsoft.com/office/drawing/2014/main" id="{11FC512F-4B82-9263-C093-79C76500CAF8}"/>
              </a:ext>
            </a:extLst>
          </p:cNvPr>
          <p:cNvSpPr txBox="1">
            <a:spLocks noChangeArrowheads="1"/>
          </p:cNvSpPr>
          <p:nvPr/>
        </p:nvSpPr>
        <p:spPr bwMode="auto">
          <a:xfrm>
            <a:off x="3841212" y="483509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8" name="Text Box 33">
            <a:extLst>
              <a:ext uri="{FF2B5EF4-FFF2-40B4-BE49-F238E27FC236}">
                <a16:creationId xmlns:a16="http://schemas.microsoft.com/office/drawing/2014/main" id="{79698D8D-3FDA-6638-8702-FC55AF0F98CD}"/>
              </a:ext>
            </a:extLst>
          </p:cNvPr>
          <p:cNvSpPr txBox="1">
            <a:spLocks noChangeArrowheads="1"/>
          </p:cNvSpPr>
          <p:nvPr/>
        </p:nvSpPr>
        <p:spPr bwMode="auto">
          <a:xfrm>
            <a:off x="3859559" y="5028509"/>
            <a:ext cx="447655" cy="283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latin typeface="Roboto" panose="02000000000000000000" pitchFamily="2" charset="0"/>
                <a:ea typeface="Roboto" panose="02000000000000000000" pitchFamily="2" charset="0"/>
                <a:cs typeface="Roboto" panose="02000000000000000000" pitchFamily="2" charset="0"/>
              </a:rPr>
              <a:t>No</a:t>
            </a:r>
          </a:p>
        </p:txBody>
      </p:sp>
      <p:sp>
        <p:nvSpPr>
          <p:cNvPr id="89" name="Text Box 34">
            <a:extLst>
              <a:ext uri="{FF2B5EF4-FFF2-40B4-BE49-F238E27FC236}">
                <a16:creationId xmlns:a16="http://schemas.microsoft.com/office/drawing/2014/main" id="{F9E1301F-8845-383B-972E-9206CA395849}"/>
              </a:ext>
            </a:extLst>
          </p:cNvPr>
          <p:cNvSpPr txBox="1">
            <a:spLocks noChangeArrowheads="1"/>
          </p:cNvSpPr>
          <p:nvPr/>
        </p:nvSpPr>
        <p:spPr bwMode="auto">
          <a:xfrm>
            <a:off x="4633782" y="5621861"/>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0" name="Text Box 35">
            <a:extLst>
              <a:ext uri="{FF2B5EF4-FFF2-40B4-BE49-F238E27FC236}">
                <a16:creationId xmlns:a16="http://schemas.microsoft.com/office/drawing/2014/main" id="{3B08421E-B45F-8E6A-D7B4-FF3EB1D17D21}"/>
              </a:ext>
            </a:extLst>
          </p:cNvPr>
          <p:cNvSpPr txBox="1">
            <a:spLocks noChangeArrowheads="1"/>
          </p:cNvSpPr>
          <p:nvPr/>
        </p:nvSpPr>
        <p:spPr bwMode="auto">
          <a:xfrm>
            <a:off x="4788514" y="5613666"/>
            <a:ext cx="4411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91" name="Text Box 36">
            <a:extLst>
              <a:ext uri="{FF2B5EF4-FFF2-40B4-BE49-F238E27FC236}">
                <a16:creationId xmlns:a16="http://schemas.microsoft.com/office/drawing/2014/main" id="{1228DB65-CE43-31A0-295B-FD2CE8566A88}"/>
              </a:ext>
            </a:extLst>
          </p:cNvPr>
          <p:cNvSpPr txBox="1">
            <a:spLocks noChangeArrowheads="1"/>
          </p:cNvSpPr>
          <p:nvPr/>
        </p:nvSpPr>
        <p:spPr bwMode="auto">
          <a:xfrm>
            <a:off x="1111250" y="2789507"/>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3" name="Line 39">
            <a:extLst>
              <a:ext uri="{FF2B5EF4-FFF2-40B4-BE49-F238E27FC236}">
                <a16:creationId xmlns:a16="http://schemas.microsoft.com/office/drawing/2014/main" id="{A71C8CBB-B30B-AB7B-FC5A-3A96F5A82DE9}"/>
              </a:ext>
            </a:extLst>
          </p:cNvPr>
          <p:cNvSpPr>
            <a:spLocks noChangeShapeType="1"/>
          </p:cNvSpPr>
          <p:nvPr/>
        </p:nvSpPr>
        <p:spPr bwMode="auto">
          <a:xfrm>
            <a:off x="10112054" y="2525613"/>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4" name="Text Box 40">
            <a:extLst>
              <a:ext uri="{FF2B5EF4-FFF2-40B4-BE49-F238E27FC236}">
                <a16:creationId xmlns:a16="http://schemas.microsoft.com/office/drawing/2014/main" id="{2AC57E44-F583-561C-0F62-440CE8254CAF}"/>
              </a:ext>
            </a:extLst>
          </p:cNvPr>
          <p:cNvSpPr txBox="1">
            <a:spLocks noChangeArrowheads="1"/>
          </p:cNvSpPr>
          <p:nvPr/>
        </p:nvSpPr>
        <p:spPr bwMode="auto">
          <a:xfrm>
            <a:off x="8860821" y="2710831"/>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5" name="Line 41">
            <a:extLst>
              <a:ext uri="{FF2B5EF4-FFF2-40B4-BE49-F238E27FC236}">
                <a16:creationId xmlns:a16="http://schemas.microsoft.com/office/drawing/2014/main" id="{915973FD-3A54-7220-D6D0-39786704FF37}"/>
              </a:ext>
            </a:extLst>
          </p:cNvPr>
          <p:cNvSpPr>
            <a:spLocks noChangeShapeType="1"/>
          </p:cNvSpPr>
          <p:nvPr/>
        </p:nvSpPr>
        <p:spPr bwMode="auto">
          <a:xfrm flipV="1">
            <a:off x="8967231" y="2527282"/>
            <a:ext cx="1835" cy="1416177"/>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7" name="Line 43">
            <a:extLst>
              <a:ext uri="{FF2B5EF4-FFF2-40B4-BE49-F238E27FC236}">
                <a16:creationId xmlns:a16="http://schemas.microsoft.com/office/drawing/2014/main" id="{6BA2B5E4-7423-D977-5C04-EF40646D9EBD}"/>
              </a:ext>
            </a:extLst>
          </p:cNvPr>
          <p:cNvSpPr>
            <a:spLocks noChangeShapeType="1"/>
          </p:cNvSpPr>
          <p:nvPr/>
        </p:nvSpPr>
        <p:spPr bwMode="auto">
          <a:xfrm>
            <a:off x="8967231" y="2527282"/>
            <a:ext cx="176127"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8" name="Text Box 44">
            <a:extLst>
              <a:ext uri="{FF2B5EF4-FFF2-40B4-BE49-F238E27FC236}">
                <a16:creationId xmlns:a16="http://schemas.microsoft.com/office/drawing/2014/main" id="{5BC1A04F-CCE9-C981-E6F1-6066E139B902}"/>
              </a:ext>
            </a:extLst>
          </p:cNvPr>
          <p:cNvSpPr txBox="1">
            <a:spLocks noChangeArrowheads="1"/>
          </p:cNvSpPr>
          <p:nvPr/>
        </p:nvSpPr>
        <p:spPr bwMode="auto">
          <a:xfrm>
            <a:off x="8772758"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9" name="Line 45">
            <a:extLst>
              <a:ext uri="{FF2B5EF4-FFF2-40B4-BE49-F238E27FC236}">
                <a16:creationId xmlns:a16="http://schemas.microsoft.com/office/drawing/2014/main" id="{A5976679-7D8A-E9FA-972E-BAE1C0B75570}"/>
              </a:ext>
            </a:extLst>
          </p:cNvPr>
          <p:cNvSpPr>
            <a:spLocks noChangeShapeType="1"/>
          </p:cNvSpPr>
          <p:nvPr/>
        </p:nvSpPr>
        <p:spPr bwMode="auto">
          <a:xfrm>
            <a:off x="7558218" y="3927038"/>
            <a:ext cx="352253"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0" name="Text Box 46">
            <a:extLst>
              <a:ext uri="{FF2B5EF4-FFF2-40B4-BE49-F238E27FC236}">
                <a16:creationId xmlns:a16="http://schemas.microsoft.com/office/drawing/2014/main" id="{D6A52247-6F4A-27CC-AF1B-F4BCB7AD8BE5}"/>
              </a:ext>
            </a:extLst>
          </p:cNvPr>
          <p:cNvSpPr txBox="1">
            <a:spLocks noChangeArrowheads="1"/>
          </p:cNvSpPr>
          <p:nvPr/>
        </p:nvSpPr>
        <p:spPr bwMode="auto">
          <a:xfrm>
            <a:off x="7539871" y="483509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1" name="Line 47">
            <a:extLst>
              <a:ext uri="{FF2B5EF4-FFF2-40B4-BE49-F238E27FC236}">
                <a16:creationId xmlns:a16="http://schemas.microsoft.com/office/drawing/2014/main" id="{E3BBCC28-4F80-F1E2-2365-7EBA7BE52353}"/>
              </a:ext>
            </a:extLst>
          </p:cNvPr>
          <p:cNvSpPr>
            <a:spLocks noChangeShapeType="1"/>
          </p:cNvSpPr>
          <p:nvPr/>
        </p:nvSpPr>
        <p:spPr bwMode="auto">
          <a:xfrm flipV="1">
            <a:off x="7558218" y="3927038"/>
            <a:ext cx="1835" cy="157353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2" name="Text Box 48">
            <a:extLst>
              <a:ext uri="{FF2B5EF4-FFF2-40B4-BE49-F238E27FC236}">
                <a16:creationId xmlns:a16="http://schemas.microsoft.com/office/drawing/2014/main" id="{FB58CD99-FAA0-4E8D-8BBB-1572D702D975}"/>
              </a:ext>
            </a:extLst>
          </p:cNvPr>
          <p:cNvSpPr txBox="1">
            <a:spLocks noChangeArrowheads="1"/>
          </p:cNvSpPr>
          <p:nvPr/>
        </p:nvSpPr>
        <p:spPr bwMode="auto">
          <a:xfrm>
            <a:off x="4897972"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3" name="Line 49">
            <a:extLst>
              <a:ext uri="{FF2B5EF4-FFF2-40B4-BE49-F238E27FC236}">
                <a16:creationId xmlns:a16="http://schemas.microsoft.com/office/drawing/2014/main" id="{40B67368-82B5-DF11-A513-48B7CA211DAE}"/>
              </a:ext>
            </a:extLst>
          </p:cNvPr>
          <p:cNvSpPr>
            <a:spLocks noChangeShapeType="1"/>
          </p:cNvSpPr>
          <p:nvPr/>
        </p:nvSpPr>
        <p:spPr bwMode="auto">
          <a:xfrm>
            <a:off x="4916319" y="3927038"/>
            <a:ext cx="264190" cy="164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4" name="Text Box 50">
            <a:extLst>
              <a:ext uri="{FF2B5EF4-FFF2-40B4-BE49-F238E27FC236}">
                <a16:creationId xmlns:a16="http://schemas.microsoft.com/office/drawing/2014/main" id="{EEDEA498-CA55-679D-14C6-0D0F1E9A18CA}"/>
              </a:ext>
            </a:extLst>
          </p:cNvPr>
          <p:cNvSpPr txBox="1">
            <a:spLocks noChangeArrowheads="1"/>
          </p:cNvSpPr>
          <p:nvPr/>
        </p:nvSpPr>
        <p:spPr bwMode="auto">
          <a:xfrm>
            <a:off x="3665086" y="507112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5" name="Line 51">
            <a:extLst>
              <a:ext uri="{FF2B5EF4-FFF2-40B4-BE49-F238E27FC236}">
                <a16:creationId xmlns:a16="http://schemas.microsoft.com/office/drawing/2014/main" id="{ACF55EC9-D032-D538-AA9C-AC579EE83815}"/>
              </a:ext>
            </a:extLst>
          </p:cNvPr>
          <p:cNvSpPr>
            <a:spLocks noChangeShapeType="1"/>
          </p:cNvSpPr>
          <p:nvPr/>
        </p:nvSpPr>
        <p:spPr bwMode="auto">
          <a:xfrm>
            <a:off x="3155053" y="3927038"/>
            <a:ext cx="1835" cy="1022795"/>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6" name="Text Box 52">
            <a:extLst>
              <a:ext uri="{FF2B5EF4-FFF2-40B4-BE49-F238E27FC236}">
                <a16:creationId xmlns:a16="http://schemas.microsoft.com/office/drawing/2014/main" id="{26EB0079-7EAE-7659-79D6-F7EBF8C04276}"/>
              </a:ext>
            </a:extLst>
          </p:cNvPr>
          <p:cNvSpPr txBox="1">
            <a:spLocks noChangeArrowheads="1"/>
          </p:cNvSpPr>
          <p:nvPr/>
        </p:nvSpPr>
        <p:spPr bwMode="auto">
          <a:xfrm>
            <a:off x="2872516" y="357627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7" name="Line 53">
            <a:extLst>
              <a:ext uri="{FF2B5EF4-FFF2-40B4-BE49-F238E27FC236}">
                <a16:creationId xmlns:a16="http://schemas.microsoft.com/office/drawing/2014/main" id="{BCF6E6E9-86BA-1AE1-1DB3-C3FA289A2131}"/>
              </a:ext>
            </a:extLst>
          </p:cNvPr>
          <p:cNvSpPr>
            <a:spLocks noChangeShapeType="1"/>
          </p:cNvSpPr>
          <p:nvPr/>
        </p:nvSpPr>
        <p:spPr bwMode="auto">
          <a:xfrm>
            <a:off x="2978926" y="3927038"/>
            <a:ext cx="176127"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8" name="Text Box 54">
            <a:extLst>
              <a:ext uri="{FF2B5EF4-FFF2-40B4-BE49-F238E27FC236}">
                <a16:creationId xmlns:a16="http://schemas.microsoft.com/office/drawing/2014/main" id="{0DAB52A6-8321-37AB-7BF8-3FB01D6512AC}"/>
              </a:ext>
            </a:extLst>
          </p:cNvPr>
          <p:cNvSpPr txBox="1">
            <a:spLocks noChangeArrowheads="1"/>
          </p:cNvSpPr>
          <p:nvPr/>
        </p:nvSpPr>
        <p:spPr bwMode="auto">
          <a:xfrm>
            <a:off x="2520263" y="4677743"/>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9" name="Line 55">
            <a:extLst>
              <a:ext uri="{FF2B5EF4-FFF2-40B4-BE49-F238E27FC236}">
                <a16:creationId xmlns:a16="http://schemas.microsoft.com/office/drawing/2014/main" id="{5156CAD2-60A2-6FF5-F89A-67FA828DF422}"/>
              </a:ext>
            </a:extLst>
          </p:cNvPr>
          <p:cNvSpPr>
            <a:spLocks noChangeShapeType="1"/>
          </p:cNvSpPr>
          <p:nvPr/>
        </p:nvSpPr>
        <p:spPr bwMode="auto">
          <a:xfrm flipH="1">
            <a:off x="2538609" y="4949833"/>
            <a:ext cx="61644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1" name="Line 57">
            <a:extLst>
              <a:ext uri="{FF2B5EF4-FFF2-40B4-BE49-F238E27FC236}">
                <a16:creationId xmlns:a16="http://schemas.microsoft.com/office/drawing/2014/main" id="{EDE23F8F-5775-7682-C46D-000744B4A1BA}"/>
              </a:ext>
            </a:extLst>
          </p:cNvPr>
          <p:cNvSpPr>
            <a:spLocks noChangeShapeType="1"/>
          </p:cNvSpPr>
          <p:nvPr/>
        </p:nvSpPr>
        <p:spPr bwMode="auto">
          <a:xfrm>
            <a:off x="2538609" y="4949833"/>
            <a:ext cx="1835" cy="550736"/>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2" name="Line 58">
            <a:extLst>
              <a:ext uri="{FF2B5EF4-FFF2-40B4-BE49-F238E27FC236}">
                <a16:creationId xmlns:a16="http://schemas.microsoft.com/office/drawing/2014/main" id="{F0E12A2D-7818-B6AF-A9F6-AFEB4CBEADF2}"/>
              </a:ext>
            </a:extLst>
          </p:cNvPr>
          <p:cNvSpPr>
            <a:spLocks noChangeShapeType="1"/>
          </p:cNvSpPr>
          <p:nvPr/>
        </p:nvSpPr>
        <p:spPr bwMode="auto">
          <a:xfrm flipV="1">
            <a:off x="4387939" y="4241744"/>
            <a:ext cx="1835" cy="786765"/>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4" name="Line 60">
            <a:extLst>
              <a:ext uri="{FF2B5EF4-FFF2-40B4-BE49-F238E27FC236}">
                <a16:creationId xmlns:a16="http://schemas.microsoft.com/office/drawing/2014/main" id="{3C1270C5-21B6-55FB-E552-63091A052CDD}"/>
              </a:ext>
            </a:extLst>
          </p:cNvPr>
          <p:cNvSpPr>
            <a:spLocks noChangeShapeType="1"/>
          </p:cNvSpPr>
          <p:nvPr/>
        </p:nvSpPr>
        <p:spPr bwMode="auto">
          <a:xfrm>
            <a:off x="2538609" y="5500568"/>
            <a:ext cx="176127"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5" name="Text Box 61">
            <a:extLst>
              <a:ext uri="{FF2B5EF4-FFF2-40B4-BE49-F238E27FC236}">
                <a16:creationId xmlns:a16="http://schemas.microsoft.com/office/drawing/2014/main" id="{74A16B9E-F622-C546-8856-452026DA62C2}"/>
              </a:ext>
            </a:extLst>
          </p:cNvPr>
          <p:cNvSpPr txBox="1">
            <a:spLocks noChangeArrowheads="1"/>
          </p:cNvSpPr>
          <p:nvPr/>
        </p:nvSpPr>
        <p:spPr bwMode="auto">
          <a:xfrm>
            <a:off x="3665086"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6" name="Line 62">
            <a:extLst>
              <a:ext uri="{FF2B5EF4-FFF2-40B4-BE49-F238E27FC236}">
                <a16:creationId xmlns:a16="http://schemas.microsoft.com/office/drawing/2014/main" id="{178C59C4-1471-DCA4-7FDC-4AE0C6D8E01F}"/>
              </a:ext>
            </a:extLst>
          </p:cNvPr>
          <p:cNvSpPr>
            <a:spLocks noChangeShapeType="1"/>
          </p:cNvSpPr>
          <p:nvPr/>
        </p:nvSpPr>
        <p:spPr bwMode="auto">
          <a:xfrm>
            <a:off x="3683432" y="5500568"/>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7" name="Text Box 63">
            <a:extLst>
              <a:ext uri="{FF2B5EF4-FFF2-40B4-BE49-F238E27FC236}">
                <a16:creationId xmlns:a16="http://schemas.microsoft.com/office/drawing/2014/main" id="{1304B675-1753-DC80-3867-8867453D6F1F}"/>
              </a:ext>
            </a:extLst>
          </p:cNvPr>
          <p:cNvSpPr txBox="1">
            <a:spLocks noChangeArrowheads="1"/>
          </p:cNvSpPr>
          <p:nvPr/>
        </p:nvSpPr>
        <p:spPr bwMode="auto">
          <a:xfrm>
            <a:off x="4897972"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8" name="Line 64">
            <a:extLst>
              <a:ext uri="{FF2B5EF4-FFF2-40B4-BE49-F238E27FC236}">
                <a16:creationId xmlns:a16="http://schemas.microsoft.com/office/drawing/2014/main" id="{3CD281F0-95C7-5419-DD31-CB93AEDA38A4}"/>
              </a:ext>
            </a:extLst>
          </p:cNvPr>
          <p:cNvSpPr>
            <a:spLocks noChangeShapeType="1"/>
          </p:cNvSpPr>
          <p:nvPr/>
        </p:nvSpPr>
        <p:spPr bwMode="auto">
          <a:xfrm>
            <a:off x="4916319" y="5579245"/>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9" name="Text Box 65">
            <a:extLst>
              <a:ext uri="{FF2B5EF4-FFF2-40B4-BE49-F238E27FC236}">
                <a16:creationId xmlns:a16="http://schemas.microsoft.com/office/drawing/2014/main" id="{071DC06A-7617-FCE2-125A-DDAFAC59FC29}"/>
              </a:ext>
            </a:extLst>
          </p:cNvPr>
          <p:cNvSpPr txBox="1">
            <a:spLocks noChangeArrowheads="1"/>
          </p:cNvSpPr>
          <p:nvPr/>
        </p:nvSpPr>
        <p:spPr bwMode="auto">
          <a:xfrm>
            <a:off x="6218922"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0" name="Line 66">
            <a:extLst>
              <a:ext uri="{FF2B5EF4-FFF2-40B4-BE49-F238E27FC236}">
                <a16:creationId xmlns:a16="http://schemas.microsoft.com/office/drawing/2014/main" id="{FF4BB00F-F78C-D62E-9BA5-C33393FEB0D7}"/>
              </a:ext>
            </a:extLst>
          </p:cNvPr>
          <p:cNvSpPr>
            <a:spLocks noChangeShapeType="1"/>
          </p:cNvSpPr>
          <p:nvPr/>
        </p:nvSpPr>
        <p:spPr bwMode="auto">
          <a:xfrm>
            <a:off x="6149205" y="5500568"/>
            <a:ext cx="352253"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1" name="Line 67">
            <a:extLst>
              <a:ext uri="{FF2B5EF4-FFF2-40B4-BE49-F238E27FC236}">
                <a16:creationId xmlns:a16="http://schemas.microsoft.com/office/drawing/2014/main" id="{0F733834-6B6C-6130-CD7F-C48E684B5DED}"/>
              </a:ext>
            </a:extLst>
          </p:cNvPr>
          <p:cNvSpPr>
            <a:spLocks noChangeShapeType="1"/>
          </p:cNvSpPr>
          <p:nvPr/>
        </p:nvSpPr>
        <p:spPr bwMode="auto">
          <a:xfrm>
            <a:off x="7470154" y="5500568"/>
            <a:ext cx="8806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2" name="Line 68">
            <a:extLst>
              <a:ext uri="{FF2B5EF4-FFF2-40B4-BE49-F238E27FC236}">
                <a16:creationId xmlns:a16="http://schemas.microsoft.com/office/drawing/2014/main" id="{5437F3AC-FE5D-8308-57D2-7D5286712A74}"/>
              </a:ext>
            </a:extLst>
          </p:cNvPr>
          <p:cNvSpPr>
            <a:spLocks noChangeShapeType="1"/>
          </p:cNvSpPr>
          <p:nvPr/>
        </p:nvSpPr>
        <p:spPr bwMode="auto">
          <a:xfrm>
            <a:off x="8879167" y="3927038"/>
            <a:ext cx="8806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3" name="Text Box 69">
            <a:extLst>
              <a:ext uri="{FF2B5EF4-FFF2-40B4-BE49-F238E27FC236}">
                <a16:creationId xmlns:a16="http://schemas.microsoft.com/office/drawing/2014/main" id="{899C889C-DBA0-7683-1A7A-806D25C25E06}"/>
              </a:ext>
            </a:extLst>
          </p:cNvPr>
          <p:cNvSpPr txBox="1">
            <a:spLocks noChangeArrowheads="1"/>
          </p:cNvSpPr>
          <p:nvPr/>
        </p:nvSpPr>
        <p:spPr bwMode="auto">
          <a:xfrm>
            <a:off x="7187618" y="5587441"/>
            <a:ext cx="304552" cy="22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r>
              <a:rPr lang="en-US" altLang="en-US" sz="800">
                <a:solidFill>
                  <a:srgbClr val="FF0000"/>
                </a:solidFill>
                <a:latin typeface="Roboto" panose="02000000000000000000" pitchFamily="2" charset="0"/>
                <a:ea typeface="Roboto" panose="02000000000000000000" pitchFamily="2" charset="0"/>
                <a:cs typeface="Roboto" panose="02000000000000000000" pitchFamily="2" charset="0"/>
              </a:rPr>
              <a:t>Q</a:t>
            </a:r>
          </a:p>
        </p:txBody>
      </p:sp>
      <p:sp>
        <p:nvSpPr>
          <p:cNvPr id="124" name="Text Box 70">
            <a:extLst>
              <a:ext uri="{FF2B5EF4-FFF2-40B4-BE49-F238E27FC236}">
                <a16:creationId xmlns:a16="http://schemas.microsoft.com/office/drawing/2014/main" id="{39ECE8D4-6659-2DCD-4D49-27D8EC68D13A}"/>
              </a:ext>
            </a:extLst>
          </p:cNvPr>
          <p:cNvSpPr txBox="1">
            <a:spLocks noChangeArrowheads="1"/>
          </p:cNvSpPr>
          <p:nvPr/>
        </p:nvSpPr>
        <p:spPr bwMode="auto">
          <a:xfrm>
            <a:off x="9829517" y="176002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5" name="Text Box 71">
            <a:extLst>
              <a:ext uri="{FF2B5EF4-FFF2-40B4-BE49-F238E27FC236}">
                <a16:creationId xmlns:a16="http://schemas.microsoft.com/office/drawing/2014/main" id="{89314D33-6D6B-36EF-E526-2EF735A4EF59}"/>
              </a:ext>
            </a:extLst>
          </p:cNvPr>
          <p:cNvSpPr txBox="1">
            <a:spLocks noChangeArrowheads="1"/>
          </p:cNvSpPr>
          <p:nvPr/>
        </p:nvSpPr>
        <p:spPr bwMode="auto">
          <a:xfrm>
            <a:off x="9759800" y="2589538"/>
            <a:ext cx="381608" cy="22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800" dirty="0">
                <a:solidFill>
                  <a:schemeClr val="accent1"/>
                </a:solidFill>
                <a:latin typeface="Roboto" panose="02000000000000000000" pitchFamily="2" charset="0"/>
                <a:ea typeface="Roboto" panose="02000000000000000000" pitchFamily="2" charset="0"/>
                <a:cs typeface="Roboto" panose="02000000000000000000" pitchFamily="2" charset="0"/>
              </a:rPr>
              <a:t>VA</a:t>
            </a:r>
            <a:endParaRPr lang="en-US" altLang="en-US" sz="12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126" name="Text Box 72">
            <a:extLst>
              <a:ext uri="{FF2B5EF4-FFF2-40B4-BE49-F238E27FC236}">
                <a16:creationId xmlns:a16="http://schemas.microsoft.com/office/drawing/2014/main" id="{0F278DF6-4CCF-CD6B-D118-4A71BA8C3E8E}"/>
              </a:ext>
            </a:extLst>
          </p:cNvPr>
          <p:cNvSpPr txBox="1">
            <a:spLocks noChangeArrowheads="1"/>
          </p:cNvSpPr>
          <p:nvPr/>
        </p:nvSpPr>
        <p:spPr bwMode="auto">
          <a:xfrm>
            <a:off x="3488959" y="5464508"/>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7" name="Text Box 73">
            <a:extLst>
              <a:ext uri="{FF2B5EF4-FFF2-40B4-BE49-F238E27FC236}">
                <a16:creationId xmlns:a16="http://schemas.microsoft.com/office/drawing/2014/main" id="{3FDB92AF-A78F-A315-94C9-6CFCC830A6F8}"/>
              </a:ext>
            </a:extLst>
          </p:cNvPr>
          <p:cNvSpPr txBox="1">
            <a:spLocks noChangeArrowheads="1"/>
          </p:cNvSpPr>
          <p:nvPr/>
        </p:nvSpPr>
        <p:spPr bwMode="auto">
          <a:xfrm>
            <a:off x="3419242" y="5579245"/>
            <a:ext cx="264190" cy="22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800" dirty="0">
                <a:solidFill>
                  <a:schemeClr val="accent1"/>
                </a:solidFill>
                <a:latin typeface="Roboto" panose="02000000000000000000" pitchFamily="2" charset="0"/>
                <a:ea typeface="Roboto" panose="02000000000000000000" pitchFamily="2" charset="0"/>
                <a:cs typeface="Roboto" panose="02000000000000000000" pitchFamily="2" charset="0"/>
              </a:rPr>
              <a:t>Q</a:t>
            </a:r>
            <a:endParaRPr lang="en-US" altLang="en-US" sz="12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128" name="Line 74">
            <a:extLst>
              <a:ext uri="{FF2B5EF4-FFF2-40B4-BE49-F238E27FC236}">
                <a16:creationId xmlns:a16="http://schemas.microsoft.com/office/drawing/2014/main" id="{8FA12E92-6564-15F1-CFD9-F970C4DE558D}"/>
              </a:ext>
            </a:extLst>
          </p:cNvPr>
          <p:cNvSpPr>
            <a:spLocks noChangeShapeType="1"/>
          </p:cNvSpPr>
          <p:nvPr/>
        </p:nvSpPr>
        <p:spPr bwMode="auto">
          <a:xfrm>
            <a:off x="1485519" y="2889492"/>
            <a:ext cx="9292514" cy="295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9" name="Line 75">
            <a:extLst>
              <a:ext uri="{FF2B5EF4-FFF2-40B4-BE49-F238E27FC236}">
                <a16:creationId xmlns:a16="http://schemas.microsoft.com/office/drawing/2014/main" id="{CC4E51B7-76FC-1AF9-F112-1A7349E77E0B}"/>
              </a:ext>
            </a:extLst>
          </p:cNvPr>
          <p:cNvSpPr>
            <a:spLocks noChangeShapeType="1"/>
          </p:cNvSpPr>
          <p:nvPr/>
        </p:nvSpPr>
        <p:spPr bwMode="auto">
          <a:xfrm>
            <a:off x="1535055" y="4622014"/>
            <a:ext cx="929251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2" name="TextBox 131">
            <a:extLst>
              <a:ext uri="{FF2B5EF4-FFF2-40B4-BE49-F238E27FC236}">
                <a16:creationId xmlns:a16="http://schemas.microsoft.com/office/drawing/2014/main" id="{92A599B7-A7F3-E010-961D-D77DBA3BCD58}"/>
              </a:ext>
            </a:extLst>
          </p:cNvPr>
          <p:cNvSpPr txBox="1"/>
          <p:nvPr/>
        </p:nvSpPr>
        <p:spPr>
          <a:xfrm>
            <a:off x="3704534" y="1774833"/>
            <a:ext cx="3906967" cy="369332"/>
          </a:xfrm>
          <a:prstGeom prst="rect">
            <a:avLst/>
          </a:prstGeom>
          <a:noFill/>
        </p:spPr>
        <p:txBody>
          <a:bodyPr wrap="square">
            <a:spAutoFit/>
          </a:bodyPr>
          <a:lstStyle/>
          <a:p>
            <a:r>
              <a:rPr lang="en-US" altLang="en-US" dirty="0">
                <a:solidFill>
                  <a:srgbClr val="222222"/>
                </a:solidFill>
                <a:latin typeface="Roboto" panose="02000000000000000000" pitchFamily="2" charset="0"/>
                <a:ea typeface="Roboto" panose="02000000000000000000" pitchFamily="2" charset="0"/>
                <a:cs typeface="Roboto" panose="02000000000000000000" pitchFamily="2" charset="0"/>
              </a:rPr>
              <a:t>What is the </a:t>
            </a:r>
            <a:r>
              <a:rPr lang="ja-JP" altLang="en-US" dirty="0">
                <a:solidFill>
                  <a:srgbClr val="222222"/>
                </a:solidFill>
                <a:latin typeface="Roboto" panose="02000000000000000000" pitchFamily="2" charset="0"/>
                <a:cs typeface="Roboto" panose="02000000000000000000" pitchFamily="2" charset="0"/>
              </a:rPr>
              <a:t>“</a:t>
            </a:r>
            <a:r>
              <a:rPr lang="en-US" altLang="ja-JP" dirty="0">
                <a:solidFill>
                  <a:srgbClr val="222222"/>
                </a:solidFill>
                <a:latin typeface="Roboto" panose="02000000000000000000" pitchFamily="2" charset="0"/>
                <a:ea typeface="Roboto" panose="02000000000000000000" pitchFamily="2" charset="0"/>
                <a:cs typeface="Roboto" panose="02000000000000000000" pitchFamily="2" charset="0"/>
              </a:rPr>
              <a:t>right</a:t>
            </a:r>
            <a:r>
              <a:rPr lang="ja-JP" altLang="en-US" dirty="0">
                <a:solidFill>
                  <a:srgbClr val="222222"/>
                </a:solidFill>
                <a:latin typeface="Roboto" panose="02000000000000000000" pitchFamily="2" charset="0"/>
                <a:cs typeface="Roboto" panose="02000000000000000000" pitchFamily="2" charset="0"/>
              </a:rPr>
              <a:t>”</a:t>
            </a:r>
            <a:r>
              <a:rPr lang="en-US" altLang="ja-JP" dirty="0">
                <a:solidFill>
                  <a:srgbClr val="222222"/>
                </a:solidFill>
                <a:latin typeface="Roboto" panose="02000000000000000000" pitchFamily="2" charset="0"/>
                <a:ea typeface="Roboto" panose="02000000000000000000" pitchFamily="2" charset="0"/>
                <a:cs typeface="Roboto" panose="02000000000000000000" pitchFamily="2" charset="0"/>
              </a:rPr>
              <a:t> amount of detail?</a:t>
            </a:r>
            <a:endParaRPr lang="en-US"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7" name="Title 6">
            <a:extLst>
              <a:ext uri="{FF2B5EF4-FFF2-40B4-BE49-F238E27FC236}">
                <a16:creationId xmlns:a16="http://schemas.microsoft.com/office/drawing/2014/main" id="{EFBAC85A-45B2-38A6-C6D9-5D20F36E6C07}"/>
              </a:ext>
            </a:extLst>
          </p:cNvPr>
          <p:cNvSpPr>
            <a:spLocks noGrp="1"/>
          </p:cNvSpPr>
          <p:nvPr>
            <p:ph type="title"/>
          </p:nvPr>
        </p:nvSpPr>
        <p:spPr/>
        <p:txBody>
          <a:bodyPr/>
          <a:lstStyle/>
          <a:p>
            <a:r>
              <a:rPr lang="en-US" dirty="0"/>
              <a:t>Process Map Example</a:t>
            </a:r>
          </a:p>
        </p:txBody>
      </p:sp>
      <p:sp>
        <p:nvSpPr>
          <p:cNvPr id="6" name="Slide Number Placeholder 16">
            <a:extLst>
              <a:ext uri="{FF2B5EF4-FFF2-40B4-BE49-F238E27FC236}">
                <a16:creationId xmlns:a16="http://schemas.microsoft.com/office/drawing/2014/main" id="{52B9D51F-BA39-5F67-2BA1-F2A7D24F1A67}"/>
              </a:ext>
            </a:extLst>
          </p:cNvPr>
          <p:cNvSpPr>
            <a:spLocks noGrp="1"/>
          </p:cNvSpPr>
          <p:nvPr>
            <p:ph type="sldNum" sz="quarter" idx="4"/>
          </p:nvPr>
        </p:nvSpPr>
        <p:spPr/>
        <p:txBody>
          <a:bodyPr/>
          <a:lstStyle/>
          <a:p>
            <a:fld id="{CC6D4273-7FC1-0947-B9FE-19CB3C0D1FB6}" type="slidenum">
              <a:rPr lang="en-US" smtClean="0"/>
              <a:t>25</a:t>
            </a:fld>
            <a:endParaRPr lang="en-US"/>
          </a:p>
        </p:txBody>
      </p:sp>
    </p:spTree>
    <p:extLst>
      <p:ext uri="{BB962C8B-B14F-4D97-AF65-F5344CB8AC3E}">
        <p14:creationId xmlns:p14="http://schemas.microsoft.com/office/powerpoint/2010/main" val="887873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022F-5EEB-AA55-C83F-986DEEE53E5A}"/>
              </a:ext>
            </a:extLst>
          </p:cNvPr>
          <p:cNvSpPr>
            <a:spLocks noGrp="1"/>
          </p:cNvSpPr>
          <p:nvPr>
            <p:ph type="title"/>
          </p:nvPr>
        </p:nvSpPr>
        <p:spPr/>
        <p:txBody>
          <a:bodyPr>
            <a:normAutofit/>
          </a:bodyPr>
          <a:lstStyle/>
          <a:p>
            <a:r>
              <a:rPr lang="en-US" sz="3600" dirty="0"/>
              <a:t>When the Use of “Swim Lanes” is Appropriate</a:t>
            </a:r>
          </a:p>
        </p:txBody>
      </p:sp>
      <p:sp>
        <p:nvSpPr>
          <p:cNvPr id="3" name="Content Placeholder 2">
            <a:extLst>
              <a:ext uri="{FF2B5EF4-FFF2-40B4-BE49-F238E27FC236}">
                <a16:creationId xmlns:a16="http://schemas.microsoft.com/office/drawing/2014/main" id="{37D94C67-578A-1FFF-725F-45E3E67FC969}"/>
              </a:ext>
            </a:extLst>
          </p:cNvPr>
          <p:cNvSpPr>
            <a:spLocks noGrp="1"/>
          </p:cNvSpPr>
          <p:nvPr>
            <p:ph idx="1"/>
          </p:nvPr>
        </p:nvSpPr>
        <p:spPr/>
        <p:txBody>
          <a:bodyPr>
            <a:normAutofit/>
          </a:bodyPr>
          <a:lstStyle/>
          <a:p>
            <a:r>
              <a:rPr lang="en-US" altLang="en-US" dirty="0"/>
              <a:t>A </a:t>
            </a:r>
            <a:r>
              <a:rPr lang="ja-JP" altLang="en-US" dirty="0"/>
              <a:t>“</a:t>
            </a:r>
            <a:r>
              <a:rPr lang="en-US" altLang="ja-JP" dirty="0"/>
              <a:t>swim lane</a:t>
            </a:r>
            <a:r>
              <a:rPr lang="ja-JP" altLang="en-US" dirty="0"/>
              <a:t>”</a:t>
            </a:r>
            <a:r>
              <a:rPr lang="en-US" altLang="ja-JP" dirty="0"/>
              <a:t> </a:t>
            </a:r>
            <a:r>
              <a:rPr lang="en-US" altLang="ja-JP"/>
              <a:t>is a visual </a:t>
            </a:r>
            <a:r>
              <a:rPr lang="en-US" altLang="ja-JP" dirty="0"/>
              <a:t>way to separate the process steps by who is conducting that process step</a:t>
            </a:r>
          </a:p>
          <a:p>
            <a:r>
              <a:rPr lang="en-US" altLang="en-US" dirty="0"/>
              <a:t>Swim lanes visually distinguish handoffs throughout the flow as well as easily identify who is doing what part of the process</a:t>
            </a:r>
          </a:p>
          <a:p>
            <a:r>
              <a:rPr lang="en-US" altLang="en-US" dirty="0"/>
              <a:t>Use swim lanes when:</a:t>
            </a:r>
          </a:p>
          <a:p>
            <a:pPr lvl="1"/>
            <a:r>
              <a:rPr lang="en-US" altLang="en-US" dirty="0"/>
              <a:t>the process moves across several functional or product grouping lines</a:t>
            </a:r>
          </a:p>
          <a:p>
            <a:pPr lvl="1"/>
            <a:r>
              <a:rPr lang="en-US" altLang="en-US" dirty="0"/>
              <a:t>the movement across such lines is complex, frequent, and cycles back</a:t>
            </a:r>
          </a:p>
          <a:p>
            <a:pPr lvl="1"/>
            <a:r>
              <a:rPr lang="en-US" altLang="en-US" dirty="0"/>
              <a:t>separating by lane makes the process clearer, not more confusing</a:t>
            </a:r>
          </a:p>
        </p:txBody>
      </p:sp>
      <p:sp>
        <p:nvSpPr>
          <p:cNvPr id="7" name="Slide Number Placeholder 16">
            <a:extLst>
              <a:ext uri="{FF2B5EF4-FFF2-40B4-BE49-F238E27FC236}">
                <a16:creationId xmlns:a16="http://schemas.microsoft.com/office/drawing/2014/main" id="{B6953EE7-304A-DFCB-F582-9B8EDE8E279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26</a:t>
            </a:fld>
            <a:endParaRPr lang="en-US"/>
          </a:p>
        </p:txBody>
      </p:sp>
    </p:spTree>
    <p:extLst>
      <p:ext uri="{BB962C8B-B14F-4D97-AF65-F5344CB8AC3E}">
        <p14:creationId xmlns:p14="http://schemas.microsoft.com/office/powerpoint/2010/main" val="1597607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6">
            <a:extLst>
              <a:ext uri="{FF2B5EF4-FFF2-40B4-BE49-F238E27FC236}">
                <a16:creationId xmlns:a16="http://schemas.microsoft.com/office/drawing/2014/main" id="{EF29D1B3-744F-5820-C7DD-68AB6373F303}"/>
              </a:ext>
            </a:extLst>
          </p:cNvPr>
          <p:cNvSpPr txBox="1">
            <a:spLocks noChangeArrowheads="1"/>
          </p:cNvSpPr>
          <p:nvPr/>
        </p:nvSpPr>
        <p:spPr bwMode="auto">
          <a:xfrm>
            <a:off x="659553" y="2048449"/>
            <a:ext cx="1244251"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Marketing</a:t>
            </a:r>
          </a:p>
        </p:txBody>
      </p:sp>
      <p:sp>
        <p:nvSpPr>
          <p:cNvPr id="11" name="Oval 8">
            <a:extLst>
              <a:ext uri="{FF2B5EF4-FFF2-40B4-BE49-F238E27FC236}">
                <a16:creationId xmlns:a16="http://schemas.microsoft.com/office/drawing/2014/main" id="{6A53A8C7-EDE5-485C-262F-8B1C314BC4E3}"/>
              </a:ext>
            </a:extLst>
          </p:cNvPr>
          <p:cNvSpPr>
            <a:spLocks noChangeArrowheads="1"/>
          </p:cNvSpPr>
          <p:nvPr/>
        </p:nvSpPr>
        <p:spPr bwMode="auto">
          <a:xfrm>
            <a:off x="2350809" y="2010349"/>
            <a:ext cx="729276" cy="4572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Concept</a:t>
            </a:r>
          </a:p>
        </p:txBody>
      </p:sp>
      <p:sp>
        <p:nvSpPr>
          <p:cNvPr id="13" name="Text Box 10">
            <a:extLst>
              <a:ext uri="{FF2B5EF4-FFF2-40B4-BE49-F238E27FC236}">
                <a16:creationId xmlns:a16="http://schemas.microsoft.com/office/drawing/2014/main" id="{66AC6829-95D9-D787-94DB-46BF4AE0B063}"/>
              </a:ext>
            </a:extLst>
          </p:cNvPr>
          <p:cNvSpPr txBox="1">
            <a:spLocks noChangeArrowheads="1"/>
          </p:cNvSpPr>
          <p:nvPr/>
        </p:nvSpPr>
        <p:spPr bwMode="auto">
          <a:xfrm>
            <a:off x="632542" y="2815212"/>
            <a:ext cx="1104789"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Marcom</a:t>
            </a:r>
          </a:p>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Manager</a:t>
            </a:r>
          </a:p>
        </p:txBody>
      </p:sp>
      <p:sp>
        <p:nvSpPr>
          <p:cNvPr id="15" name="Text Box 12">
            <a:extLst>
              <a:ext uri="{FF2B5EF4-FFF2-40B4-BE49-F238E27FC236}">
                <a16:creationId xmlns:a16="http://schemas.microsoft.com/office/drawing/2014/main" id="{F74B6A32-5C37-BB7D-0F4E-901F07FC5F08}"/>
              </a:ext>
            </a:extLst>
          </p:cNvPr>
          <p:cNvSpPr txBox="1">
            <a:spLocks noChangeArrowheads="1"/>
          </p:cNvSpPr>
          <p:nvPr/>
        </p:nvSpPr>
        <p:spPr bwMode="auto">
          <a:xfrm>
            <a:off x="638775" y="4005837"/>
            <a:ext cx="883575"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Traffic</a:t>
            </a:r>
          </a:p>
        </p:txBody>
      </p:sp>
      <p:sp>
        <p:nvSpPr>
          <p:cNvPr id="17" name="Text Box 14">
            <a:extLst>
              <a:ext uri="{FF2B5EF4-FFF2-40B4-BE49-F238E27FC236}">
                <a16:creationId xmlns:a16="http://schemas.microsoft.com/office/drawing/2014/main" id="{E3AF4E0B-D8B1-1531-6226-851A789831AB}"/>
              </a:ext>
            </a:extLst>
          </p:cNvPr>
          <p:cNvSpPr txBox="1">
            <a:spLocks noChangeArrowheads="1"/>
          </p:cNvSpPr>
          <p:nvPr/>
        </p:nvSpPr>
        <p:spPr bwMode="auto">
          <a:xfrm>
            <a:off x="615920" y="4748787"/>
            <a:ext cx="1109599"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Graphics</a:t>
            </a:r>
          </a:p>
        </p:txBody>
      </p:sp>
      <p:sp>
        <p:nvSpPr>
          <p:cNvPr id="19" name="Text Box 16">
            <a:extLst>
              <a:ext uri="{FF2B5EF4-FFF2-40B4-BE49-F238E27FC236}">
                <a16:creationId xmlns:a16="http://schemas.microsoft.com/office/drawing/2014/main" id="{8FA0C416-2E8A-BF7F-D8DB-4822E7135A3B}"/>
              </a:ext>
            </a:extLst>
          </p:cNvPr>
          <p:cNvSpPr txBox="1">
            <a:spLocks noChangeArrowheads="1"/>
          </p:cNvSpPr>
          <p:nvPr/>
        </p:nvSpPr>
        <p:spPr bwMode="auto">
          <a:xfrm>
            <a:off x="669940" y="5558412"/>
            <a:ext cx="1327608"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Production</a:t>
            </a:r>
          </a:p>
        </p:txBody>
      </p:sp>
      <p:sp>
        <p:nvSpPr>
          <p:cNvPr id="20" name="Text Box 17">
            <a:extLst>
              <a:ext uri="{FF2B5EF4-FFF2-40B4-BE49-F238E27FC236}">
                <a16:creationId xmlns:a16="http://schemas.microsoft.com/office/drawing/2014/main" id="{4E016997-8A9E-54B5-C5DB-47AF52EC4F31}"/>
              </a:ext>
            </a:extLst>
          </p:cNvPr>
          <p:cNvSpPr txBox="1">
            <a:spLocks noChangeArrowheads="1"/>
          </p:cNvSpPr>
          <p:nvPr/>
        </p:nvSpPr>
        <p:spPr bwMode="auto">
          <a:xfrm>
            <a:off x="2454694" y="27374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1" name="Rectangle 18">
            <a:extLst>
              <a:ext uri="{FF2B5EF4-FFF2-40B4-BE49-F238E27FC236}">
                <a16:creationId xmlns:a16="http://schemas.microsoft.com/office/drawing/2014/main" id="{16B00B73-DA73-8457-F30F-A4B9A935E852}"/>
              </a:ext>
            </a:extLst>
          </p:cNvPr>
          <p:cNvSpPr>
            <a:spLocks noChangeArrowheads="1"/>
          </p:cNvSpPr>
          <p:nvPr/>
        </p:nvSpPr>
        <p:spPr bwMode="auto">
          <a:xfrm>
            <a:off x="2124338" y="2724724"/>
            <a:ext cx="97444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Platform is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Created</a:t>
            </a:r>
          </a:p>
        </p:txBody>
      </p:sp>
      <p:sp>
        <p:nvSpPr>
          <p:cNvPr id="23" name="Oval 20">
            <a:extLst>
              <a:ext uri="{FF2B5EF4-FFF2-40B4-BE49-F238E27FC236}">
                <a16:creationId xmlns:a16="http://schemas.microsoft.com/office/drawing/2014/main" id="{64DD247F-CE0B-B178-5564-784F9DAF2A7C}"/>
              </a:ext>
            </a:extLst>
          </p:cNvPr>
          <p:cNvSpPr>
            <a:spLocks noChangeArrowheads="1"/>
          </p:cNvSpPr>
          <p:nvPr/>
        </p:nvSpPr>
        <p:spPr bwMode="auto">
          <a:xfrm>
            <a:off x="4632134" y="2010349"/>
            <a:ext cx="243091"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24" name="Text Box 21">
            <a:extLst>
              <a:ext uri="{FF2B5EF4-FFF2-40B4-BE49-F238E27FC236}">
                <a16:creationId xmlns:a16="http://schemas.microsoft.com/office/drawing/2014/main" id="{42F20E58-3CB4-00F3-8192-1EFA206C02F7}"/>
              </a:ext>
            </a:extLst>
          </p:cNvPr>
          <p:cNvSpPr txBox="1">
            <a:spLocks noChangeArrowheads="1"/>
          </p:cNvSpPr>
          <p:nvPr/>
        </p:nvSpPr>
        <p:spPr bwMode="auto">
          <a:xfrm>
            <a:off x="4449296" y="25850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2">
            <a:extLst>
              <a:ext uri="{FF2B5EF4-FFF2-40B4-BE49-F238E27FC236}">
                <a16:creationId xmlns:a16="http://schemas.microsoft.com/office/drawing/2014/main" id="{480407A5-6BCF-7359-7C50-37914415F4F9}"/>
              </a:ext>
            </a:extLst>
          </p:cNvPr>
          <p:cNvSpPr>
            <a:spLocks noChangeArrowheads="1"/>
          </p:cNvSpPr>
          <p:nvPr/>
        </p:nvSpPr>
        <p:spPr bwMode="auto">
          <a:xfrm rot="18782085">
            <a:off x="4395057" y="2552771"/>
            <a:ext cx="644525" cy="905882"/>
          </a:xfrm>
          <a:prstGeom prst="rect">
            <a:avLst/>
          </a:prstGeom>
          <a:solidFill>
            <a:schemeClr val="accent5"/>
          </a:solidFill>
          <a:ln w="9525">
            <a:solidFill>
              <a:schemeClr val="bg1"/>
            </a:solidFill>
            <a:miter lim="800000"/>
            <a:headEnd/>
            <a:tailEnd/>
          </a:ln>
        </p:spPr>
        <p:txBody>
          <a:bodyPr vert="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Correct?</a:t>
            </a:r>
          </a:p>
        </p:txBody>
      </p:sp>
      <p:sp>
        <p:nvSpPr>
          <p:cNvPr id="27" name="Rectangle 24">
            <a:extLst>
              <a:ext uri="{FF2B5EF4-FFF2-40B4-BE49-F238E27FC236}">
                <a16:creationId xmlns:a16="http://schemas.microsoft.com/office/drawing/2014/main" id="{4A16FB99-F4F0-E547-F698-2A9AD9E8EB78}"/>
              </a:ext>
            </a:extLst>
          </p:cNvPr>
          <p:cNvSpPr>
            <a:spLocks noChangeArrowheads="1"/>
          </p:cNvSpPr>
          <p:nvPr/>
        </p:nvSpPr>
        <p:spPr bwMode="auto">
          <a:xfrm>
            <a:off x="6200805" y="2772349"/>
            <a:ext cx="76459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New Job</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Opened</a:t>
            </a:r>
          </a:p>
        </p:txBody>
      </p:sp>
      <p:sp>
        <p:nvSpPr>
          <p:cNvPr id="29" name="Oval 26">
            <a:extLst>
              <a:ext uri="{FF2B5EF4-FFF2-40B4-BE49-F238E27FC236}">
                <a16:creationId xmlns:a16="http://schemas.microsoft.com/office/drawing/2014/main" id="{3884AA61-F719-06E8-5E67-0E78121F07E7}"/>
              </a:ext>
            </a:extLst>
          </p:cNvPr>
          <p:cNvSpPr>
            <a:spLocks noChangeArrowheads="1"/>
          </p:cNvSpPr>
          <p:nvPr/>
        </p:nvSpPr>
        <p:spPr bwMode="auto">
          <a:xfrm>
            <a:off x="10217019" y="2162749"/>
            <a:ext cx="243091"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32" name="Rectangle 29">
            <a:extLst>
              <a:ext uri="{FF2B5EF4-FFF2-40B4-BE49-F238E27FC236}">
                <a16:creationId xmlns:a16="http://schemas.microsoft.com/office/drawing/2014/main" id="{5FB471B0-630C-993C-3D58-D8DD80D9774E}"/>
              </a:ext>
            </a:extLst>
          </p:cNvPr>
          <p:cNvSpPr>
            <a:spLocks noChangeArrowheads="1"/>
          </p:cNvSpPr>
          <p:nvPr/>
        </p:nvSpPr>
        <p:spPr bwMode="auto">
          <a:xfrm>
            <a:off x="5853828" y="3855024"/>
            <a:ext cx="916269"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Update log</a:t>
            </a:r>
          </a:p>
        </p:txBody>
      </p:sp>
      <p:sp>
        <p:nvSpPr>
          <p:cNvPr id="34" name="Rectangle 31">
            <a:extLst>
              <a:ext uri="{FF2B5EF4-FFF2-40B4-BE49-F238E27FC236}">
                <a16:creationId xmlns:a16="http://schemas.microsoft.com/office/drawing/2014/main" id="{AF2EE2D9-4271-0237-B7D7-E453CFCE5E91}"/>
              </a:ext>
            </a:extLst>
          </p:cNvPr>
          <p:cNvSpPr>
            <a:spLocks noChangeArrowheads="1"/>
          </p:cNvSpPr>
          <p:nvPr/>
        </p:nvSpPr>
        <p:spPr bwMode="auto">
          <a:xfrm>
            <a:off x="8586016" y="3839149"/>
            <a:ext cx="876794"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Update log</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and sign</a:t>
            </a:r>
          </a:p>
        </p:txBody>
      </p:sp>
      <p:sp>
        <p:nvSpPr>
          <p:cNvPr id="35" name="Text Box 32">
            <a:extLst>
              <a:ext uri="{FF2B5EF4-FFF2-40B4-BE49-F238E27FC236}">
                <a16:creationId xmlns:a16="http://schemas.microsoft.com/office/drawing/2014/main" id="{AC27F8D8-6379-8104-A28A-48C79FC2C614}"/>
              </a:ext>
            </a:extLst>
          </p:cNvPr>
          <p:cNvSpPr txBox="1">
            <a:spLocks noChangeArrowheads="1"/>
          </p:cNvSpPr>
          <p:nvPr/>
        </p:nvSpPr>
        <p:spPr bwMode="auto">
          <a:xfrm>
            <a:off x="10133910" y="38042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6" name="Rectangle 33">
            <a:extLst>
              <a:ext uri="{FF2B5EF4-FFF2-40B4-BE49-F238E27FC236}">
                <a16:creationId xmlns:a16="http://schemas.microsoft.com/office/drawing/2014/main" id="{6BF19187-7100-D124-5B7A-710C8DA4B825}"/>
              </a:ext>
            </a:extLst>
          </p:cNvPr>
          <p:cNvSpPr>
            <a:spLocks noChangeArrowheads="1"/>
          </p:cNvSpPr>
          <p:nvPr/>
        </p:nvSpPr>
        <p:spPr bwMode="auto">
          <a:xfrm rot="18782085">
            <a:off x="9840093" y="3597333"/>
            <a:ext cx="714375" cy="791607"/>
          </a:xfrm>
          <a:prstGeom prst="rect">
            <a:avLst/>
          </a:prstGeom>
          <a:solidFill>
            <a:schemeClr val="accent5"/>
          </a:solidFill>
          <a:ln w="9525">
            <a:solidFill>
              <a:schemeClr val="bg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Lit code needed?</a:t>
            </a:r>
          </a:p>
        </p:txBody>
      </p:sp>
      <p:sp>
        <p:nvSpPr>
          <p:cNvPr id="38" name="Oval 35">
            <a:extLst>
              <a:ext uri="{FF2B5EF4-FFF2-40B4-BE49-F238E27FC236}">
                <a16:creationId xmlns:a16="http://schemas.microsoft.com/office/drawing/2014/main" id="{FBACE9E4-8067-DE14-FAB1-23B8E789CC76}"/>
              </a:ext>
            </a:extLst>
          </p:cNvPr>
          <p:cNvSpPr>
            <a:spLocks noChangeArrowheads="1"/>
          </p:cNvSpPr>
          <p:nvPr/>
        </p:nvSpPr>
        <p:spPr bwMode="auto">
          <a:xfrm>
            <a:off x="11100045" y="3991549"/>
            <a:ext cx="243093"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3</a:t>
            </a:r>
          </a:p>
        </p:txBody>
      </p:sp>
      <p:sp>
        <p:nvSpPr>
          <p:cNvPr id="40" name="Rectangle 37">
            <a:extLst>
              <a:ext uri="{FF2B5EF4-FFF2-40B4-BE49-F238E27FC236}">
                <a16:creationId xmlns:a16="http://schemas.microsoft.com/office/drawing/2014/main" id="{092930E9-C851-7C1C-A74B-D73C028F98CE}"/>
              </a:ext>
            </a:extLst>
          </p:cNvPr>
          <p:cNvSpPr>
            <a:spLocks noChangeArrowheads="1"/>
          </p:cNvSpPr>
          <p:nvPr/>
        </p:nvSpPr>
        <p:spPr bwMode="auto">
          <a:xfrm>
            <a:off x="3715863" y="4829749"/>
            <a:ext cx="860172"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Draft Copy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Created</a:t>
            </a:r>
          </a:p>
        </p:txBody>
      </p:sp>
      <p:sp>
        <p:nvSpPr>
          <p:cNvPr id="42" name="Rectangle 39">
            <a:extLst>
              <a:ext uri="{FF2B5EF4-FFF2-40B4-BE49-F238E27FC236}">
                <a16:creationId xmlns:a16="http://schemas.microsoft.com/office/drawing/2014/main" id="{53B113D7-EBE3-75BB-E99D-6F106C348BDB}"/>
              </a:ext>
            </a:extLst>
          </p:cNvPr>
          <p:cNvSpPr>
            <a:spLocks noChangeArrowheads="1"/>
          </p:cNvSpPr>
          <p:nvPr/>
        </p:nvSpPr>
        <p:spPr bwMode="auto">
          <a:xfrm>
            <a:off x="6934237" y="4829749"/>
            <a:ext cx="1284025" cy="5334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 imagery</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Assemble 1st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Proof</a:t>
            </a:r>
          </a:p>
        </p:txBody>
      </p:sp>
      <p:sp>
        <p:nvSpPr>
          <p:cNvPr id="44" name="Rectangle 41">
            <a:extLst>
              <a:ext uri="{FF2B5EF4-FFF2-40B4-BE49-F238E27FC236}">
                <a16:creationId xmlns:a16="http://schemas.microsoft.com/office/drawing/2014/main" id="{BF0DE972-B685-FC67-5045-0ADA3841C351}"/>
              </a:ext>
            </a:extLst>
          </p:cNvPr>
          <p:cNvSpPr>
            <a:spLocks noChangeArrowheads="1"/>
          </p:cNvSpPr>
          <p:nvPr/>
        </p:nvSpPr>
        <p:spPr bwMode="auto">
          <a:xfrm>
            <a:off x="8567317" y="4753549"/>
            <a:ext cx="1072098"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Place Sticker/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Log into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tracking sys</a:t>
            </a:r>
          </a:p>
        </p:txBody>
      </p:sp>
      <p:sp>
        <p:nvSpPr>
          <p:cNvPr id="46" name="Rectangle 43">
            <a:extLst>
              <a:ext uri="{FF2B5EF4-FFF2-40B4-BE49-F238E27FC236}">
                <a16:creationId xmlns:a16="http://schemas.microsoft.com/office/drawing/2014/main" id="{8757CE75-2604-279A-5D40-F843615B8DA3}"/>
              </a:ext>
            </a:extLst>
          </p:cNvPr>
          <p:cNvSpPr>
            <a:spLocks noChangeArrowheads="1"/>
          </p:cNvSpPr>
          <p:nvPr/>
        </p:nvSpPr>
        <p:spPr bwMode="auto">
          <a:xfrm>
            <a:off x="10092356" y="5591749"/>
            <a:ext cx="1265325"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Notify External</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Vendors/ Quote</a:t>
            </a:r>
          </a:p>
        </p:txBody>
      </p:sp>
      <p:sp>
        <p:nvSpPr>
          <p:cNvPr id="48" name="Line 45">
            <a:extLst>
              <a:ext uri="{FF2B5EF4-FFF2-40B4-BE49-F238E27FC236}">
                <a16:creationId xmlns:a16="http://schemas.microsoft.com/office/drawing/2014/main" id="{60407CDA-E360-B19E-8B35-F03D26A7F938}"/>
              </a:ext>
            </a:extLst>
          </p:cNvPr>
          <p:cNvSpPr>
            <a:spLocks noChangeShapeType="1"/>
          </p:cNvSpPr>
          <p:nvPr/>
        </p:nvSpPr>
        <p:spPr bwMode="auto">
          <a:xfrm>
            <a:off x="2672853" y="2467549"/>
            <a:ext cx="0" cy="2286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0" name="Line 47">
            <a:extLst>
              <a:ext uri="{FF2B5EF4-FFF2-40B4-BE49-F238E27FC236}">
                <a16:creationId xmlns:a16="http://schemas.microsoft.com/office/drawing/2014/main" id="{916A42D2-861F-5D02-9B17-B37EF490B517}"/>
              </a:ext>
            </a:extLst>
          </p:cNvPr>
          <p:cNvSpPr>
            <a:spLocks noChangeShapeType="1"/>
          </p:cNvSpPr>
          <p:nvPr/>
        </p:nvSpPr>
        <p:spPr bwMode="auto">
          <a:xfrm flipV="1">
            <a:off x="4675765" y="2315149"/>
            <a:ext cx="0" cy="304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2" name="Line 49">
            <a:extLst>
              <a:ext uri="{FF2B5EF4-FFF2-40B4-BE49-F238E27FC236}">
                <a16:creationId xmlns:a16="http://schemas.microsoft.com/office/drawing/2014/main" id="{F2B4A3B7-5ECA-96E0-4CA3-03FA4E4728F7}"/>
              </a:ext>
            </a:extLst>
          </p:cNvPr>
          <p:cNvSpPr>
            <a:spLocks noChangeShapeType="1"/>
          </p:cNvSpPr>
          <p:nvPr/>
        </p:nvSpPr>
        <p:spPr bwMode="auto">
          <a:xfrm flipV="1">
            <a:off x="5263351" y="3072912"/>
            <a:ext cx="937454" cy="7411"/>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4" name="Line 51">
            <a:extLst>
              <a:ext uri="{FF2B5EF4-FFF2-40B4-BE49-F238E27FC236}">
                <a16:creationId xmlns:a16="http://schemas.microsoft.com/office/drawing/2014/main" id="{FF51D00F-C13C-C214-4A1F-C38D2B3F3B56}"/>
              </a:ext>
            </a:extLst>
          </p:cNvPr>
          <p:cNvSpPr>
            <a:spLocks noChangeShapeType="1"/>
          </p:cNvSpPr>
          <p:nvPr/>
        </p:nvSpPr>
        <p:spPr bwMode="auto">
          <a:xfrm flipV="1">
            <a:off x="10260650" y="2467549"/>
            <a:ext cx="0" cy="1219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5" name="Line 53">
            <a:extLst>
              <a:ext uri="{FF2B5EF4-FFF2-40B4-BE49-F238E27FC236}">
                <a16:creationId xmlns:a16="http://schemas.microsoft.com/office/drawing/2014/main" id="{EC5F154C-221E-F7AC-E2A7-88D23816B1AE}"/>
              </a:ext>
            </a:extLst>
          </p:cNvPr>
          <p:cNvSpPr>
            <a:spLocks noChangeShapeType="1"/>
          </p:cNvSpPr>
          <p:nvPr/>
        </p:nvSpPr>
        <p:spPr bwMode="auto">
          <a:xfrm>
            <a:off x="728116" y="2529462"/>
            <a:ext cx="10351152" cy="15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6" name="Line 55">
            <a:extLst>
              <a:ext uri="{FF2B5EF4-FFF2-40B4-BE49-F238E27FC236}">
                <a16:creationId xmlns:a16="http://schemas.microsoft.com/office/drawing/2014/main" id="{940F0F10-9355-C9D7-D64C-9E19EDFAD452}"/>
              </a:ext>
            </a:extLst>
          </p:cNvPr>
          <p:cNvSpPr>
            <a:spLocks noChangeShapeType="1"/>
          </p:cNvSpPr>
          <p:nvPr/>
        </p:nvSpPr>
        <p:spPr bwMode="auto">
          <a:xfrm flipV="1">
            <a:off x="784215" y="3675637"/>
            <a:ext cx="10255577" cy="28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7" name="Line 57">
            <a:extLst>
              <a:ext uri="{FF2B5EF4-FFF2-40B4-BE49-F238E27FC236}">
                <a16:creationId xmlns:a16="http://schemas.microsoft.com/office/drawing/2014/main" id="{3DAE4514-E164-A189-11B6-767A8F72F578}"/>
              </a:ext>
            </a:extLst>
          </p:cNvPr>
          <p:cNvSpPr>
            <a:spLocks noChangeShapeType="1"/>
          </p:cNvSpPr>
          <p:nvPr/>
        </p:nvSpPr>
        <p:spPr bwMode="auto">
          <a:xfrm flipV="1">
            <a:off x="765515" y="4617024"/>
            <a:ext cx="10311676"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8" name="Line 59">
            <a:extLst>
              <a:ext uri="{FF2B5EF4-FFF2-40B4-BE49-F238E27FC236}">
                <a16:creationId xmlns:a16="http://schemas.microsoft.com/office/drawing/2014/main" id="{39914255-9E91-FBE6-2363-507DEF044593}"/>
              </a:ext>
            </a:extLst>
          </p:cNvPr>
          <p:cNvSpPr>
            <a:spLocks noChangeShapeType="1"/>
          </p:cNvSpPr>
          <p:nvPr/>
        </p:nvSpPr>
        <p:spPr bwMode="auto">
          <a:xfrm flipV="1">
            <a:off x="763438" y="5429824"/>
            <a:ext cx="10292976" cy="412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0" name="Line 61">
            <a:extLst>
              <a:ext uri="{FF2B5EF4-FFF2-40B4-BE49-F238E27FC236}">
                <a16:creationId xmlns:a16="http://schemas.microsoft.com/office/drawing/2014/main" id="{F3D5D9DF-E6E3-000F-DCD4-121B4E449648}"/>
              </a:ext>
            </a:extLst>
          </p:cNvPr>
          <p:cNvSpPr>
            <a:spLocks noChangeShapeType="1"/>
          </p:cNvSpPr>
          <p:nvPr/>
        </p:nvSpPr>
        <p:spPr bwMode="auto">
          <a:xfrm>
            <a:off x="3179814" y="3077149"/>
            <a:ext cx="0" cy="19812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1" name="Rectangle 63">
            <a:extLst>
              <a:ext uri="{FF2B5EF4-FFF2-40B4-BE49-F238E27FC236}">
                <a16:creationId xmlns:a16="http://schemas.microsoft.com/office/drawing/2014/main" id="{809C34F5-C628-6E88-6C98-6B9E595727CA}"/>
              </a:ext>
            </a:extLst>
          </p:cNvPr>
          <p:cNvSpPr>
            <a:spLocks noChangeArrowheads="1"/>
          </p:cNvSpPr>
          <p:nvPr/>
        </p:nvSpPr>
        <p:spPr bwMode="auto">
          <a:xfrm>
            <a:off x="2614677" y="3839149"/>
            <a:ext cx="76459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Log new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Job</a:t>
            </a:r>
          </a:p>
        </p:txBody>
      </p:sp>
      <p:sp>
        <p:nvSpPr>
          <p:cNvPr id="134" name="Line 65">
            <a:extLst>
              <a:ext uri="{FF2B5EF4-FFF2-40B4-BE49-F238E27FC236}">
                <a16:creationId xmlns:a16="http://schemas.microsoft.com/office/drawing/2014/main" id="{41D8E3C6-A931-F486-061D-EAC0CB6CE7E7}"/>
              </a:ext>
            </a:extLst>
          </p:cNvPr>
          <p:cNvSpPr>
            <a:spLocks noChangeShapeType="1"/>
          </p:cNvSpPr>
          <p:nvPr/>
        </p:nvSpPr>
        <p:spPr bwMode="auto">
          <a:xfrm flipV="1">
            <a:off x="3892468" y="3089852"/>
            <a:ext cx="373569" cy="1586"/>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6" name="Line 67">
            <a:extLst>
              <a:ext uri="{FF2B5EF4-FFF2-40B4-BE49-F238E27FC236}">
                <a16:creationId xmlns:a16="http://schemas.microsoft.com/office/drawing/2014/main" id="{B88B69C5-0F34-6F9B-2135-B9C4ADBD300E}"/>
              </a:ext>
            </a:extLst>
          </p:cNvPr>
          <p:cNvSpPr>
            <a:spLocks noChangeShapeType="1"/>
          </p:cNvSpPr>
          <p:nvPr/>
        </p:nvSpPr>
        <p:spPr bwMode="auto">
          <a:xfrm flipV="1">
            <a:off x="3907013" y="3077149"/>
            <a:ext cx="0" cy="17526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8" name="Line 69">
            <a:extLst>
              <a:ext uri="{FF2B5EF4-FFF2-40B4-BE49-F238E27FC236}">
                <a16:creationId xmlns:a16="http://schemas.microsoft.com/office/drawing/2014/main" id="{847470F2-1444-8058-C114-8F5015561537}"/>
              </a:ext>
            </a:extLst>
          </p:cNvPr>
          <p:cNvSpPr>
            <a:spLocks noChangeShapeType="1"/>
          </p:cNvSpPr>
          <p:nvPr/>
        </p:nvSpPr>
        <p:spPr bwMode="auto">
          <a:xfrm>
            <a:off x="3175660" y="5045649"/>
            <a:ext cx="544535" cy="127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9" name="Line 70">
            <a:extLst>
              <a:ext uri="{FF2B5EF4-FFF2-40B4-BE49-F238E27FC236}">
                <a16:creationId xmlns:a16="http://schemas.microsoft.com/office/drawing/2014/main" id="{F48D3BD4-D13D-991C-6C05-D0E858BD1160}"/>
              </a:ext>
            </a:extLst>
          </p:cNvPr>
          <p:cNvSpPr>
            <a:spLocks noChangeShapeType="1"/>
          </p:cNvSpPr>
          <p:nvPr/>
        </p:nvSpPr>
        <p:spPr bwMode="auto">
          <a:xfrm>
            <a:off x="3119561" y="3077149"/>
            <a:ext cx="60253" cy="1588"/>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1" name="Text Box 72">
            <a:extLst>
              <a:ext uri="{FF2B5EF4-FFF2-40B4-BE49-F238E27FC236}">
                <a16:creationId xmlns:a16="http://schemas.microsoft.com/office/drawing/2014/main" id="{F9A63A02-1C1C-A496-170E-6FAC8B597FA8}"/>
              </a:ext>
            </a:extLst>
          </p:cNvPr>
          <p:cNvSpPr txBox="1">
            <a:spLocks noChangeArrowheads="1"/>
          </p:cNvSpPr>
          <p:nvPr/>
        </p:nvSpPr>
        <p:spPr bwMode="auto">
          <a:xfrm>
            <a:off x="4873149" y="2543749"/>
            <a:ext cx="380232" cy="2769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No</a:t>
            </a:r>
          </a:p>
        </p:txBody>
      </p:sp>
      <p:sp>
        <p:nvSpPr>
          <p:cNvPr id="143" name="Text Box 74">
            <a:extLst>
              <a:ext uri="{FF2B5EF4-FFF2-40B4-BE49-F238E27FC236}">
                <a16:creationId xmlns:a16="http://schemas.microsoft.com/office/drawing/2014/main" id="{CD721663-DFEF-FD90-20EA-9E216A751535}"/>
              </a:ext>
            </a:extLst>
          </p:cNvPr>
          <p:cNvSpPr txBox="1">
            <a:spLocks noChangeArrowheads="1"/>
          </p:cNvSpPr>
          <p:nvPr/>
        </p:nvSpPr>
        <p:spPr bwMode="auto">
          <a:xfrm>
            <a:off x="5382491" y="2746859"/>
            <a:ext cx="441146" cy="2769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145" name="Line 76">
            <a:extLst>
              <a:ext uri="{FF2B5EF4-FFF2-40B4-BE49-F238E27FC236}">
                <a16:creationId xmlns:a16="http://schemas.microsoft.com/office/drawing/2014/main" id="{2480DDF1-E2F6-6941-1D90-90971EECD5F1}"/>
              </a:ext>
            </a:extLst>
          </p:cNvPr>
          <p:cNvSpPr>
            <a:spLocks noChangeShapeType="1"/>
          </p:cNvSpPr>
          <p:nvPr/>
        </p:nvSpPr>
        <p:spPr bwMode="auto">
          <a:xfrm>
            <a:off x="6869827" y="3991549"/>
            <a:ext cx="0" cy="838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7" name="Line 78">
            <a:extLst>
              <a:ext uri="{FF2B5EF4-FFF2-40B4-BE49-F238E27FC236}">
                <a16:creationId xmlns:a16="http://schemas.microsoft.com/office/drawing/2014/main" id="{9260A26D-0550-B15C-8317-FD3EE751D238}"/>
              </a:ext>
            </a:extLst>
          </p:cNvPr>
          <p:cNvSpPr>
            <a:spLocks noChangeShapeType="1"/>
          </p:cNvSpPr>
          <p:nvPr/>
        </p:nvSpPr>
        <p:spPr bwMode="auto">
          <a:xfrm>
            <a:off x="8222417" y="5105974"/>
            <a:ext cx="392687" cy="15875"/>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9" name="Line 80">
            <a:extLst>
              <a:ext uri="{FF2B5EF4-FFF2-40B4-BE49-F238E27FC236}">
                <a16:creationId xmlns:a16="http://schemas.microsoft.com/office/drawing/2014/main" id="{E749F4B6-5FDC-D173-0A46-C062CC96B2C5}"/>
              </a:ext>
            </a:extLst>
          </p:cNvPr>
          <p:cNvSpPr>
            <a:spLocks noChangeShapeType="1"/>
          </p:cNvSpPr>
          <p:nvPr/>
        </p:nvSpPr>
        <p:spPr bwMode="auto">
          <a:xfrm flipV="1">
            <a:off x="9491897" y="4140774"/>
            <a:ext cx="332570"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1" name="Line 82">
            <a:extLst>
              <a:ext uri="{FF2B5EF4-FFF2-40B4-BE49-F238E27FC236}">
                <a16:creationId xmlns:a16="http://schemas.microsoft.com/office/drawing/2014/main" id="{89949D7C-65ED-0DCB-F70E-89E4C748E7B5}"/>
              </a:ext>
            </a:extLst>
          </p:cNvPr>
          <p:cNvSpPr>
            <a:spLocks noChangeShapeType="1"/>
          </p:cNvSpPr>
          <p:nvPr/>
        </p:nvSpPr>
        <p:spPr bwMode="auto">
          <a:xfrm>
            <a:off x="10688658" y="4143949"/>
            <a:ext cx="0" cy="1447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3" name="Line 84">
            <a:extLst>
              <a:ext uri="{FF2B5EF4-FFF2-40B4-BE49-F238E27FC236}">
                <a16:creationId xmlns:a16="http://schemas.microsoft.com/office/drawing/2014/main" id="{BA61B9F0-8403-F89E-39E3-C55D3E56070D}"/>
              </a:ext>
            </a:extLst>
          </p:cNvPr>
          <p:cNvSpPr>
            <a:spLocks noChangeShapeType="1"/>
          </p:cNvSpPr>
          <p:nvPr/>
        </p:nvSpPr>
        <p:spPr bwMode="auto">
          <a:xfrm flipV="1">
            <a:off x="10850720" y="4129662"/>
            <a:ext cx="0" cy="14478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5" name="Line 86">
            <a:extLst>
              <a:ext uri="{FF2B5EF4-FFF2-40B4-BE49-F238E27FC236}">
                <a16:creationId xmlns:a16="http://schemas.microsoft.com/office/drawing/2014/main" id="{DF6F343B-978A-6142-EC53-9EDB160D4133}"/>
              </a:ext>
            </a:extLst>
          </p:cNvPr>
          <p:cNvSpPr>
            <a:spLocks noChangeShapeType="1"/>
          </p:cNvSpPr>
          <p:nvPr/>
        </p:nvSpPr>
        <p:spPr bwMode="auto">
          <a:xfrm flipV="1">
            <a:off x="10850720" y="4128074"/>
            <a:ext cx="182838" cy="1588"/>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6" name="Line 87">
            <a:extLst>
              <a:ext uri="{FF2B5EF4-FFF2-40B4-BE49-F238E27FC236}">
                <a16:creationId xmlns:a16="http://schemas.microsoft.com/office/drawing/2014/main" id="{CEED97C4-12FD-4BBE-36F3-3B7ECC7925C9}"/>
              </a:ext>
            </a:extLst>
          </p:cNvPr>
          <p:cNvSpPr>
            <a:spLocks noChangeShapeType="1"/>
          </p:cNvSpPr>
          <p:nvPr/>
        </p:nvSpPr>
        <p:spPr bwMode="auto">
          <a:xfrm>
            <a:off x="6770097" y="3991548"/>
            <a:ext cx="99731" cy="1587"/>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8" name="Line 89">
            <a:extLst>
              <a:ext uri="{FF2B5EF4-FFF2-40B4-BE49-F238E27FC236}">
                <a16:creationId xmlns:a16="http://schemas.microsoft.com/office/drawing/2014/main" id="{2402E9BE-478E-F9E1-DC9B-33CE1EC2FE4F}"/>
              </a:ext>
            </a:extLst>
          </p:cNvPr>
          <p:cNvSpPr>
            <a:spLocks noChangeShapeType="1"/>
          </p:cNvSpPr>
          <p:nvPr/>
        </p:nvSpPr>
        <p:spPr bwMode="auto">
          <a:xfrm>
            <a:off x="6271447" y="3381949"/>
            <a:ext cx="0" cy="457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0" name="Line 91">
            <a:extLst>
              <a:ext uri="{FF2B5EF4-FFF2-40B4-BE49-F238E27FC236}">
                <a16:creationId xmlns:a16="http://schemas.microsoft.com/office/drawing/2014/main" id="{FAED8F66-D80C-4C9A-1027-8052D0A55B30}"/>
              </a:ext>
            </a:extLst>
          </p:cNvPr>
          <p:cNvSpPr>
            <a:spLocks noChangeShapeType="1"/>
          </p:cNvSpPr>
          <p:nvPr/>
        </p:nvSpPr>
        <p:spPr bwMode="auto">
          <a:xfrm flipV="1">
            <a:off x="8864429" y="4448749"/>
            <a:ext cx="0" cy="304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1" name="Line 92">
            <a:extLst>
              <a:ext uri="{FF2B5EF4-FFF2-40B4-BE49-F238E27FC236}">
                <a16:creationId xmlns:a16="http://schemas.microsoft.com/office/drawing/2014/main" id="{97F42824-F320-419A-66A1-A58E431C9FC9}"/>
              </a:ext>
            </a:extLst>
          </p:cNvPr>
          <p:cNvSpPr>
            <a:spLocks noChangeShapeType="1"/>
          </p:cNvSpPr>
          <p:nvPr/>
        </p:nvSpPr>
        <p:spPr bwMode="auto">
          <a:xfrm>
            <a:off x="10859031" y="4143949"/>
            <a:ext cx="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2" name="Line 93">
            <a:extLst>
              <a:ext uri="{FF2B5EF4-FFF2-40B4-BE49-F238E27FC236}">
                <a16:creationId xmlns:a16="http://schemas.microsoft.com/office/drawing/2014/main" id="{D4049376-8C98-C5C3-787B-FF5E172CF78E}"/>
              </a:ext>
            </a:extLst>
          </p:cNvPr>
          <p:cNvSpPr>
            <a:spLocks noChangeShapeType="1"/>
          </p:cNvSpPr>
          <p:nvPr/>
        </p:nvSpPr>
        <p:spPr bwMode="auto">
          <a:xfrm>
            <a:off x="10859031" y="4143949"/>
            <a:ext cx="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4" name="Text Box 95">
            <a:extLst>
              <a:ext uri="{FF2B5EF4-FFF2-40B4-BE49-F238E27FC236}">
                <a16:creationId xmlns:a16="http://schemas.microsoft.com/office/drawing/2014/main" id="{9F55CCAE-20FB-EAF3-C9C3-400B1321D5BF}"/>
              </a:ext>
            </a:extLst>
          </p:cNvPr>
          <p:cNvSpPr txBox="1">
            <a:spLocks noChangeArrowheads="1"/>
          </p:cNvSpPr>
          <p:nvPr/>
        </p:nvSpPr>
        <p:spPr bwMode="auto">
          <a:xfrm>
            <a:off x="2733107" y="3294637"/>
            <a:ext cx="354584"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rPr>
              <a:t>VA</a:t>
            </a:r>
            <a:endParaRPr lang="en-US" altLang="en-US" sz="1000"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66" name="Rectangle 97">
            <a:extLst>
              <a:ext uri="{FF2B5EF4-FFF2-40B4-BE49-F238E27FC236}">
                <a16:creationId xmlns:a16="http://schemas.microsoft.com/office/drawing/2014/main" id="{DF055981-6E21-A3BB-384B-9D4EB4D4C0D0}"/>
              </a:ext>
            </a:extLst>
          </p:cNvPr>
          <p:cNvSpPr>
            <a:spLocks noChangeArrowheads="1"/>
          </p:cNvSpPr>
          <p:nvPr/>
        </p:nvSpPr>
        <p:spPr bwMode="auto">
          <a:xfrm>
            <a:off x="5101697" y="3380362"/>
            <a:ext cx="431528"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p>
        </p:txBody>
      </p:sp>
      <p:sp>
        <p:nvSpPr>
          <p:cNvPr id="168" name="Rectangle 99">
            <a:extLst>
              <a:ext uri="{FF2B5EF4-FFF2-40B4-BE49-F238E27FC236}">
                <a16:creationId xmlns:a16="http://schemas.microsoft.com/office/drawing/2014/main" id="{9BB309E8-BDAB-9E9B-F5EC-5149916C07BA}"/>
              </a:ext>
            </a:extLst>
          </p:cNvPr>
          <p:cNvSpPr>
            <a:spLocks noChangeArrowheads="1"/>
          </p:cNvSpPr>
          <p:nvPr/>
        </p:nvSpPr>
        <p:spPr bwMode="auto">
          <a:xfrm>
            <a:off x="8143170" y="4089697"/>
            <a:ext cx="430269" cy="2444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endParaRPr lang="en-US" altLang="en-US" sz="24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endParaRPr>
          </a:p>
        </p:txBody>
      </p:sp>
      <p:sp>
        <p:nvSpPr>
          <p:cNvPr id="170" name="Text Box 101">
            <a:extLst>
              <a:ext uri="{FF2B5EF4-FFF2-40B4-BE49-F238E27FC236}">
                <a16:creationId xmlns:a16="http://schemas.microsoft.com/office/drawing/2014/main" id="{3B3A38CE-11DD-3C36-BCE2-2299B0A0DC4C}"/>
              </a:ext>
            </a:extLst>
          </p:cNvPr>
          <p:cNvSpPr txBox="1">
            <a:spLocks noChangeArrowheads="1"/>
          </p:cNvSpPr>
          <p:nvPr/>
        </p:nvSpPr>
        <p:spPr bwMode="auto">
          <a:xfrm>
            <a:off x="4760952" y="5185349"/>
            <a:ext cx="354584"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rPr>
              <a:t>VA</a:t>
            </a:r>
            <a:endParaRPr lang="en-US" altLang="en-US" sz="1000"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72" name="Rectangle 103">
            <a:extLst>
              <a:ext uri="{FF2B5EF4-FFF2-40B4-BE49-F238E27FC236}">
                <a16:creationId xmlns:a16="http://schemas.microsoft.com/office/drawing/2014/main" id="{3035C1D9-C8EB-FBEE-FADE-8674291FEC9B}"/>
              </a:ext>
            </a:extLst>
          </p:cNvPr>
          <p:cNvSpPr>
            <a:spLocks noChangeArrowheads="1"/>
          </p:cNvSpPr>
          <p:nvPr/>
        </p:nvSpPr>
        <p:spPr bwMode="auto">
          <a:xfrm>
            <a:off x="9689280" y="5132962"/>
            <a:ext cx="431528"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endParaRPr lang="en-US" altLang="en-US" sz="24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endParaRPr>
          </a:p>
        </p:txBody>
      </p:sp>
      <p:sp>
        <p:nvSpPr>
          <p:cNvPr id="8" name="Title 7">
            <a:extLst>
              <a:ext uri="{FF2B5EF4-FFF2-40B4-BE49-F238E27FC236}">
                <a16:creationId xmlns:a16="http://schemas.microsoft.com/office/drawing/2014/main" id="{92A76C73-D3C5-0197-40CA-97A62B7C7C08}"/>
              </a:ext>
            </a:extLst>
          </p:cNvPr>
          <p:cNvSpPr>
            <a:spLocks noGrp="1"/>
          </p:cNvSpPr>
          <p:nvPr>
            <p:ph type="title"/>
          </p:nvPr>
        </p:nvSpPr>
        <p:spPr/>
        <p:txBody>
          <a:bodyPr>
            <a:normAutofit/>
          </a:bodyPr>
          <a:lstStyle/>
          <a:p>
            <a:r>
              <a:rPr lang="en-US" sz="4000" dirty="0"/>
              <a:t>Process Map Example Using Swim Lanes</a:t>
            </a:r>
          </a:p>
        </p:txBody>
      </p:sp>
      <p:sp>
        <p:nvSpPr>
          <p:cNvPr id="6" name="Slide Number Placeholder 16">
            <a:extLst>
              <a:ext uri="{FF2B5EF4-FFF2-40B4-BE49-F238E27FC236}">
                <a16:creationId xmlns:a16="http://schemas.microsoft.com/office/drawing/2014/main" id="{EAE348DE-6926-4D07-AF48-877B1EED4C1E}"/>
              </a:ext>
            </a:extLst>
          </p:cNvPr>
          <p:cNvSpPr>
            <a:spLocks noGrp="1"/>
          </p:cNvSpPr>
          <p:nvPr>
            <p:ph type="sldNum" sz="quarter" idx="4"/>
          </p:nvPr>
        </p:nvSpPr>
        <p:spPr/>
        <p:txBody>
          <a:bodyPr/>
          <a:lstStyle/>
          <a:p>
            <a:fld id="{CC6D4273-7FC1-0947-B9FE-19CB3C0D1FB6}" type="slidenum">
              <a:rPr lang="en-US" smtClean="0"/>
              <a:t>27</a:t>
            </a:fld>
            <a:endParaRPr lang="en-US"/>
          </a:p>
        </p:txBody>
      </p:sp>
    </p:spTree>
    <p:extLst>
      <p:ext uri="{BB962C8B-B14F-4D97-AF65-F5344CB8AC3E}">
        <p14:creationId xmlns:p14="http://schemas.microsoft.com/office/powerpoint/2010/main" val="1107239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Process Map Exercise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a basic Process Map</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31551"/>
            <a:ext cx="4419809" cy="1949252"/>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basic Process Mapping symbols introduced in this chapter to map the process of starting your automobile.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next page to draw the map of your process.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Share process maps</a:t>
            </a:r>
          </a:p>
        </p:txBody>
      </p:sp>
      <p:sp>
        <p:nvSpPr>
          <p:cNvPr id="6" name="Slide Number Placeholder 16">
            <a:extLst>
              <a:ext uri="{FF2B5EF4-FFF2-40B4-BE49-F238E27FC236}">
                <a16:creationId xmlns:a16="http://schemas.microsoft.com/office/drawing/2014/main" id="{C0150516-9E5F-D7C6-5F07-D9A7FED6FFD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28</a:t>
            </a:fld>
            <a:endParaRPr lang="en-US"/>
          </a:p>
        </p:txBody>
      </p:sp>
    </p:spTree>
    <p:extLst>
      <p:ext uri="{BB962C8B-B14F-4D97-AF65-F5344CB8AC3E}">
        <p14:creationId xmlns:p14="http://schemas.microsoft.com/office/powerpoint/2010/main" val="3780677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85915BF-CC1D-3EF7-156A-3BDC5675324C}"/>
              </a:ext>
            </a:extLst>
          </p:cNvPr>
          <p:cNvSpPr txBox="1">
            <a:spLocks/>
          </p:cNvSpPr>
          <p:nvPr/>
        </p:nvSpPr>
        <p:spPr>
          <a:xfrm>
            <a:off x="838200" y="681037"/>
            <a:ext cx="10515600" cy="100965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4000" dirty="0"/>
              <a:t>Process Map Exercise</a:t>
            </a:r>
          </a:p>
        </p:txBody>
      </p:sp>
      <p:sp>
        <p:nvSpPr>
          <p:cNvPr id="13" name="Title 12">
            <a:extLst>
              <a:ext uri="{FF2B5EF4-FFF2-40B4-BE49-F238E27FC236}">
                <a16:creationId xmlns:a16="http://schemas.microsoft.com/office/drawing/2014/main" id="{1999BC96-077B-7657-F3F2-4F3597633A81}"/>
              </a:ext>
            </a:extLst>
          </p:cNvPr>
          <p:cNvSpPr>
            <a:spLocks noGrp="1"/>
          </p:cNvSpPr>
          <p:nvPr>
            <p:ph type="title"/>
          </p:nvPr>
        </p:nvSpPr>
        <p:spPr/>
        <p:txBody>
          <a:bodyPr>
            <a:normAutofit/>
          </a:bodyPr>
          <a:lstStyle/>
          <a:p>
            <a:r>
              <a:rPr lang="en-US" sz="4400" dirty="0"/>
              <a:t>Process Map Exercise</a:t>
            </a:r>
            <a:endParaRPr lang="en-US" dirty="0"/>
          </a:p>
        </p:txBody>
      </p:sp>
      <p:sp>
        <p:nvSpPr>
          <p:cNvPr id="12" name="Slide Number Placeholder 16">
            <a:extLst>
              <a:ext uri="{FF2B5EF4-FFF2-40B4-BE49-F238E27FC236}">
                <a16:creationId xmlns:a16="http://schemas.microsoft.com/office/drawing/2014/main" id="{521F20EF-48FD-A0FD-683A-A357F621E53E}"/>
              </a:ext>
            </a:extLst>
          </p:cNvPr>
          <p:cNvSpPr>
            <a:spLocks noGrp="1"/>
          </p:cNvSpPr>
          <p:nvPr>
            <p:ph type="sldNum" sz="quarter" idx="4"/>
          </p:nvPr>
        </p:nvSpPr>
        <p:spPr/>
        <p:txBody>
          <a:bodyPr/>
          <a:lstStyle/>
          <a:p>
            <a:fld id="{CC6D4273-7FC1-0947-B9FE-19CB3C0D1FB6}" type="slidenum">
              <a:rPr lang="en-US" smtClean="0"/>
              <a:t>29</a:t>
            </a:fld>
            <a:endParaRPr lang="en-US"/>
          </a:p>
        </p:txBody>
      </p:sp>
      <p:sp>
        <p:nvSpPr>
          <p:cNvPr id="16" name="Rounded Rectangle 15">
            <a:extLst>
              <a:ext uri="{FF2B5EF4-FFF2-40B4-BE49-F238E27FC236}">
                <a16:creationId xmlns:a16="http://schemas.microsoft.com/office/drawing/2014/main" id="{430953DD-B020-1DBC-7656-698496F70C1A}"/>
              </a:ext>
            </a:extLst>
          </p:cNvPr>
          <p:cNvSpPr/>
          <p:nvPr/>
        </p:nvSpPr>
        <p:spPr>
          <a:xfrm>
            <a:off x="1439187" y="2083242"/>
            <a:ext cx="1494844" cy="625475"/>
          </a:xfrm>
          <a:prstGeom prst="roundRect">
            <a:avLst>
              <a:gd name="adj" fmla="val 50000"/>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panose="02000000000000000000" pitchFamily="2" charset="0"/>
                <a:ea typeface="Roboto" panose="02000000000000000000" pitchFamily="2" charset="0"/>
              </a:rPr>
              <a:t>Open Car Door</a:t>
            </a:r>
          </a:p>
        </p:txBody>
      </p:sp>
      <p:sp>
        <p:nvSpPr>
          <p:cNvPr id="17" name="Rounded Rectangle 16">
            <a:extLst>
              <a:ext uri="{FF2B5EF4-FFF2-40B4-BE49-F238E27FC236}">
                <a16:creationId xmlns:a16="http://schemas.microsoft.com/office/drawing/2014/main" id="{2F2A2591-3591-8278-2157-B261D89CED32}"/>
              </a:ext>
            </a:extLst>
          </p:cNvPr>
          <p:cNvSpPr/>
          <p:nvPr/>
        </p:nvSpPr>
        <p:spPr>
          <a:xfrm>
            <a:off x="8344613" y="5184252"/>
            <a:ext cx="1622065" cy="625475"/>
          </a:xfrm>
          <a:prstGeom prst="roundRect">
            <a:avLst>
              <a:gd name="adj" fmla="val 50000"/>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panose="02000000000000000000" pitchFamily="2" charset="0"/>
                <a:ea typeface="Roboto" panose="02000000000000000000" pitchFamily="2" charset="0"/>
              </a:rPr>
              <a:t>Engine Starts</a:t>
            </a:r>
          </a:p>
        </p:txBody>
      </p:sp>
    </p:spTree>
    <p:extLst>
      <p:ext uri="{BB962C8B-B14F-4D97-AF65-F5344CB8AC3E}">
        <p14:creationId xmlns:p14="http://schemas.microsoft.com/office/powerpoint/2010/main" val="651674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Complete Describing the “As Is” Process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000" dirty="0"/>
              <a:t>Confirm the boundaries of the process</a:t>
            </a:r>
          </a:p>
          <a:p>
            <a:r>
              <a:rPr lang="en-US" sz="2000" dirty="0"/>
              <a:t>Define elements of a Process Walk</a:t>
            </a:r>
          </a:p>
          <a:p>
            <a:r>
              <a:rPr lang="en-US" sz="2000" dirty="0"/>
              <a:t>Identify deliverables of Process Walk</a:t>
            </a:r>
          </a:p>
          <a:p>
            <a:r>
              <a:rPr lang="en-US" sz="2000" dirty="0"/>
              <a:t>Define components of Process Walk Form</a:t>
            </a:r>
          </a:p>
          <a:p>
            <a:r>
              <a:rPr lang="en-US" sz="2000" dirty="0"/>
              <a:t>Perform Process Walks</a:t>
            </a:r>
          </a:p>
          <a:p>
            <a:r>
              <a:rPr lang="en-US" sz="2000" dirty="0"/>
              <a:t>Complete Process Data Summary Sheet and Spaghetti Diagram for As Is Process</a:t>
            </a:r>
          </a:p>
          <a:p>
            <a:r>
              <a:rPr lang="en-US" sz="2000" dirty="0"/>
              <a:t>Draw a consensus “As Is” Process Map</a:t>
            </a:r>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Complete “As Is” Process</a:t>
                </a:r>
              </a:p>
            </p:txBody>
          </p:sp>
        </p:grpSp>
      </p:grpSp>
    </p:spTree>
    <p:extLst>
      <p:ext uri="{BB962C8B-B14F-4D97-AF65-F5344CB8AC3E}">
        <p14:creationId xmlns:p14="http://schemas.microsoft.com/office/powerpoint/2010/main" val="95830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a:bodyPr>
          <a:lstStyle/>
          <a:p>
            <a:r>
              <a:rPr lang="en-US" sz="3600" dirty="0">
                <a:ea typeface="+mj-ea"/>
                <a:cs typeface="+mj-cs"/>
              </a:rPr>
              <a:t>As Is/Should Be vs. Current State/Future State</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sz="2400" dirty="0"/>
              <a:t>Note that in TPI we choose to use different names for our before and after than the ones we use in Value Stream Mapping</a:t>
            </a:r>
          </a:p>
          <a:p>
            <a:r>
              <a:rPr lang="en-US" sz="2400" dirty="0"/>
              <a:t>We want to reserve Current State Map and Future State Map for that high level tool known as Value Stream Mapping</a:t>
            </a:r>
          </a:p>
          <a:p>
            <a:r>
              <a:rPr lang="en-US" sz="2400" dirty="0"/>
              <a:t>TPI is a tool we use to work on reaching Goals and Objectives that, as an example, are listed in a Value Stream Plan and/or a Site Plan.  </a:t>
            </a:r>
          </a:p>
          <a:p>
            <a:r>
              <a:rPr lang="en-US" sz="2400" dirty="0"/>
              <a:t>We don’t want the level at which we are working to be confused</a:t>
            </a:r>
          </a:p>
          <a:p>
            <a:r>
              <a:rPr lang="en-US" sz="2400" dirty="0"/>
              <a:t>We use “As Is” and “Should Be” when we are working with TPI</a:t>
            </a:r>
          </a:p>
        </p:txBody>
      </p:sp>
      <p:sp>
        <p:nvSpPr>
          <p:cNvPr id="7" name="Slide Number Placeholder 16">
            <a:extLst>
              <a:ext uri="{FF2B5EF4-FFF2-40B4-BE49-F238E27FC236}">
                <a16:creationId xmlns:a16="http://schemas.microsoft.com/office/drawing/2014/main" id="{DF995972-BB21-ADEB-CE1B-F34712C134C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31</a:t>
            </a:fld>
            <a:endParaRPr lang="en-US"/>
          </a:p>
        </p:txBody>
      </p:sp>
      <p:grpSp>
        <p:nvGrpSpPr>
          <p:cNvPr id="16" name="Group 15">
            <a:extLst>
              <a:ext uri="{FF2B5EF4-FFF2-40B4-BE49-F238E27FC236}">
                <a16:creationId xmlns:a16="http://schemas.microsoft.com/office/drawing/2014/main" id="{A62B95AF-C37E-BCD5-2A1E-2A29697D6765}"/>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0B63316-04E0-8E4D-B806-C79F435BC52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D5FA4F32-3BB8-E27E-4866-C841669B6E1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FD5AD08-2877-716F-F9AC-E7C2128F7EFA}"/>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A7D418E4-E34D-FE82-A8E4-F5B1D187AD14}"/>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46BFD09-2F23-F484-FE89-F4F21C4A65C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7B24506D-CAF4-9FDD-38BD-37F3663F57B3}"/>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883121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6" name="Title 5">
            <a:extLst>
              <a:ext uri="{FF2B5EF4-FFF2-40B4-BE49-F238E27FC236}">
                <a16:creationId xmlns:a16="http://schemas.microsoft.com/office/drawing/2014/main" id="{DA7E4ACA-90B3-E0E1-BF63-FF92A187E948}"/>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02602169-8067-8FF8-42FD-7B562A411BB4}"/>
              </a:ext>
            </a:extLst>
          </p:cNvPr>
          <p:cNvSpPr>
            <a:spLocks noGrp="1"/>
          </p:cNvSpPr>
          <p:nvPr>
            <p:ph type="sldNum" sz="quarter" idx="4"/>
          </p:nvPr>
        </p:nvSpPr>
        <p:spPr/>
        <p:txBody>
          <a:bodyPr/>
          <a:lstStyle/>
          <a:p>
            <a:fld id="{CC6D4273-7FC1-0947-B9FE-19CB3C0D1FB6}" type="slidenum">
              <a:rPr lang="en-US" smtClean="0"/>
              <a:t>32</a:t>
            </a:fld>
            <a:endParaRPr lang="en-US"/>
          </a:p>
        </p:txBody>
      </p:sp>
      <p:grpSp>
        <p:nvGrpSpPr>
          <p:cNvPr id="3" name="Group 2">
            <a:extLst>
              <a:ext uri="{FF2B5EF4-FFF2-40B4-BE49-F238E27FC236}">
                <a16:creationId xmlns:a16="http://schemas.microsoft.com/office/drawing/2014/main" id="{956F7BD3-14AD-043A-1FF8-540DE2A6B5E7}"/>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3D76CA60-0F7D-A158-E221-63050728C72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81877668-3BC1-9096-EC29-450684A58EF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F8DC18A-8F45-3DBA-D75A-8BBD946BBB63}"/>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B6CA8B13-549B-28AF-CB54-E09A8FC9F4A6}"/>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178B271D-69C0-7ACF-27C6-2287323CB2B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C7CAF8EC-372A-1888-9640-A2409D888AFE}"/>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133910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B62396F3-92F0-DC64-FF09-7B4858B71DCF}"/>
              </a:ext>
            </a:extLst>
          </p:cNvPr>
          <p:cNvGrpSpPr/>
          <p:nvPr/>
        </p:nvGrpSpPr>
        <p:grpSpPr>
          <a:xfrm>
            <a:off x="1022810" y="2046647"/>
            <a:ext cx="10624666" cy="3908425"/>
            <a:chOff x="550863" y="1781175"/>
            <a:chExt cx="10624666" cy="3908425"/>
          </a:xfrm>
        </p:grpSpPr>
        <p:sp>
          <p:nvSpPr>
            <p:cNvPr id="2" name="AutoShape 3">
              <a:extLst>
                <a:ext uri="{FF2B5EF4-FFF2-40B4-BE49-F238E27FC236}">
                  <a16:creationId xmlns:a16="http://schemas.microsoft.com/office/drawing/2014/main" id="{A0DBA7F9-FE09-2E65-FC04-85801E276F05}"/>
                </a:ext>
              </a:extLst>
            </p:cNvPr>
            <p:cNvSpPr>
              <a:spLocks noChangeAspect="1" noChangeArrowheads="1"/>
            </p:cNvSpPr>
            <p:nvPr/>
          </p:nvSpPr>
          <p:spPr bwMode="auto">
            <a:xfrm>
              <a:off x="550863" y="2781300"/>
              <a:ext cx="3976483" cy="2000250"/>
            </a:xfrm>
            <a:prstGeom prst="homePlate">
              <a:avLst>
                <a:gd name="adj" fmla="val 26561"/>
              </a:avLst>
            </a:prstGeom>
            <a:solidFill>
              <a:schemeClr val="accent4"/>
            </a:solidFill>
            <a:ln>
              <a:noFill/>
            </a:ln>
          </p:spPr>
          <p:txBody>
            <a:bodyPr lIns="274320" rIns="45720"/>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START BOUNDARY</a:t>
              </a:r>
            </a:p>
            <a:p>
              <a:pPr algn="l">
                <a:lnSpc>
                  <a:spcPct val="100000"/>
                </a:lnSpc>
                <a:spcBef>
                  <a:spcPct val="30000"/>
                </a:spcBef>
              </a:pPr>
              <a:endParaRPr lang="en-US" altLang="en-US" sz="16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pP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What must my suppliers provide my process to meet my needs?</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6" name="Text Box 4">
              <a:extLst>
                <a:ext uri="{FF2B5EF4-FFF2-40B4-BE49-F238E27FC236}">
                  <a16:creationId xmlns:a16="http://schemas.microsoft.com/office/drawing/2014/main" id="{E000450D-DCAF-5687-FBD0-C145EFA9DF41}"/>
                </a:ext>
              </a:extLst>
            </p:cNvPr>
            <p:cNvSpPr txBox="1">
              <a:spLocks noChangeArrowheads="1"/>
            </p:cNvSpPr>
            <p:nvPr/>
          </p:nvSpPr>
          <p:spPr bwMode="auto">
            <a:xfrm>
              <a:off x="701003" y="2401888"/>
              <a:ext cx="859530" cy="31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INPUT</a:t>
              </a:r>
            </a:p>
          </p:txBody>
        </p:sp>
        <p:sp>
          <p:nvSpPr>
            <p:cNvPr id="7" name="AutoShape 5">
              <a:extLst>
                <a:ext uri="{FF2B5EF4-FFF2-40B4-BE49-F238E27FC236}">
                  <a16:creationId xmlns:a16="http://schemas.microsoft.com/office/drawing/2014/main" id="{B16861B5-244E-C1A7-1F52-26DC2B5E2304}"/>
                </a:ext>
              </a:extLst>
            </p:cNvPr>
            <p:cNvSpPr>
              <a:spLocks noChangeAspect="1" noChangeArrowheads="1"/>
            </p:cNvSpPr>
            <p:nvPr/>
          </p:nvSpPr>
          <p:spPr bwMode="auto">
            <a:xfrm>
              <a:off x="7199046" y="2776538"/>
              <a:ext cx="3976483" cy="2000250"/>
            </a:xfrm>
            <a:prstGeom prst="homePlate">
              <a:avLst>
                <a:gd name="adj" fmla="val 26561"/>
              </a:avLst>
            </a:prstGeom>
            <a:solidFill>
              <a:schemeClr val="accent4"/>
            </a:solidFill>
            <a:ln>
              <a:noFill/>
            </a:ln>
          </p:spPr>
          <p:txBody>
            <a:bodyPr lIns="274320" rIns="45720"/>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STOP BOUNDARY</a:t>
              </a:r>
            </a:p>
            <a:p>
              <a:pPr algn="l">
                <a:lnSpc>
                  <a:spcPct val="100000"/>
                </a:lnSpc>
                <a:spcBef>
                  <a:spcPct val="30000"/>
                </a:spcBef>
              </a:pPr>
              <a:endParaRPr lang="en-US" altLang="en-US" sz="16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How can I assure that </a:t>
              </a: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my process output meets</a:t>
              </a: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the needs of my customer?</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8" name="Text Box 6">
              <a:extLst>
                <a:ext uri="{FF2B5EF4-FFF2-40B4-BE49-F238E27FC236}">
                  <a16:creationId xmlns:a16="http://schemas.microsoft.com/office/drawing/2014/main" id="{2C51E2FA-88E3-75DA-C254-7A0BF815D6BF}"/>
                </a:ext>
              </a:extLst>
            </p:cNvPr>
            <p:cNvSpPr txBox="1">
              <a:spLocks noChangeArrowheads="1"/>
            </p:cNvSpPr>
            <p:nvPr/>
          </p:nvSpPr>
          <p:spPr bwMode="auto">
            <a:xfrm>
              <a:off x="7442812" y="2397125"/>
              <a:ext cx="1082348" cy="31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OUTPUT</a:t>
              </a:r>
            </a:p>
          </p:txBody>
        </p:sp>
        <p:sp>
          <p:nvSpPr>
            <p:cNvPr id="9" name="Rectangle 7">
              <a:extLst>
                <a:ext uri="{FF2B5EF4-FFF2-40B4-BE49-F238E27FC236}">
                  <a16:creationId xmlns:a16="http://schemas.microsoft.com/office/drawing/2014/main" id="{CEDAF27B-38EC-8C6C-ED73-BB3494690C75}"/>
                </a:ext>
              </a:extLst>
            </p:cNvPr>
            <p:cNvSpPr>
              <a:spLocks noChangeArrowheads="1"/>
            </p:cNvSpPr>
            <p:nvPr/>
          </p:nvSpPr>
          <p:spPr bwMode="auto">
            <a:xfrm>
              <a:off x="4661966" y="2787650"/>
              <a:ext cx="2271981" cy="1973263"/>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rPr>
                <a:t>PROCESS</a:t>
              </a:r>
            </a:p>
            <a:p>
              <a:br>
                <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Agree on the</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beginning</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and end of</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the process</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to be</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analyzed</a:t>
              </a:r>
              <a:endPar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 name="Line 8">
              <a:extLst>
                <a:ext uri="{FF2B5EF4-FFF2-40B4-BE49-F238E27FC236}">
                  <a16:creationId xmlns:a16="http://schemas.microsoft.com/office/drawing/2014/main" id="{63D35ED5-B93F-25A0-0D9D-9FD44EA89F3F}"/>
                </a:ext>
              </a:extLst>
            </p:cNvPr>
            <p:cNvSpPr>
              <a:spLocks noChangeShapeType="1"/>
            </p:cNvSpPr>
            <p:nvPr/>
          </p:nvSpPr>
          <p:spPr bwMode="auto">
            <a:xfrm>
              <a:off x="4562554" y="1800225"/>
              <a:ext cx="0" cy="3889375"/>
            </a:xfrm>
            <a:prstGeom prst="line">
              <a:avLst/>
            </a:prstGeom>
            <a:noFill/>
            <a:ln w="57150">
              <a:solidFill>
                <a:srgbClr val="22222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6" name="Line 9">
              <a:extLst>
                <a:ext uri="{FF2B5EF4-FFF2-40B4-BE49-F238E27FC236}">
                  <a16:creationId xmlns:a16="http://schemas.microsoft.com/office/drawing/2014/main" id="{CA164892-7CDA-D21B-8AA6-652C48CF9D1D}"/>
                </a:ext>
              </a:extLst>
            </p:cNvPr>
            <p:cNvSpPr>
              <a:spLocks noChangeShapeType="1"/>
            </p:cNvSpPr>
            <p:nvPr/>
          </p:nvSpPr>
          <p:spPr bwMode="auto">
            <a:xfrm>
              <a:off x="7054070" y="1781175"/>
              <a:ext cx="0" cy="3889375"/>
            </a:xfrm>
            <a:prstGeom prst="line">
              <a:avLst/>
            </a:prstGeom>
            <a:noFill/>
            <a:ln w="57150">
              <a:solidFill>
                <a:srgbClr val="22222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sp>
        <p:nvSpPr>
          <p:cNvPr id="30" name="Title 29">
            <a:extLst>
              <a:ext uri="{FF2B5EF4-FFF2-40B4-BE49-F238E27FC236}">
                <a16:creationId xmlns:a16="http://schemas.microsoft.com/office/drawing/2014/main" id="{62304493-F95F-120F-AC59-32F85088A530}"/>
              </a:ext>
            </a:extLst>
          </p:cNvPr>
          <p:cNvSpPr>
            <a:spLocks noGrp="1"/>
          </p:cNvSpPr>
          <p:nvPr>
            <p:ph type="title"/>
          </p:nvPr>
        </p:nvSpPr>
        <p:spPr/>
        <p:txBody>
          <a:bodyPr>
            <a:normAutofit/>
          </a:bodyPr>
          <a:lstStyle/>
          <a:p>
            <a:r>
              <a:rPr lang="en-US" sz="4400" dirty="0">
                <a:ea typeface="+mj-ea"/>
              </a:rPr>
              <a:t>Confirm the boundaries of the process</a:t>
            </a:r>
            <a:endParaRPr lang="en-US" dirty="0"/>
          </a:p>
        </p:txBody>
      </p:sp>
      <p:sp>
        <p:nvSpPr>
          <p:cNvPr id="11" name="Slide Number Placeholder 16">
            <a:extLst>
              <a:ext uri="{FF2B5EF4-FFF2-40B4-BE49-F238E27FC236}">
                <a16:creationId xmlns:a16="http://schemas.microsoft.com/office/drawing/2014/main" id="{15B137F7-F831-9F43-5DB7-0B9AF65D7CF6}"/>
              </a:ext>
            </a:extLst>
          </p:cNvPr>
          <p:cNvSpPr>
            <a:spLocks noGrp="1"/>
          </p:cNvSpPr>
          <p:nvPr>
            <p:ph type="sldNum" sz="quarter" idx="4"/>
          </p:nvPr>
        </p:nvSpPr>
        <p:spPr/>
        <p:txBody>
          <a:bodyPr/>
          <a:lstStyle/>
          <a:p>
            <a:fld id="{CC6D4273-7FC1-0947-B9FE-19CB3C0D1FB6}" type="slidenum">
              <a:rPr lang="en-US" smtClean="0"/>
              <a:t>33</a:t>
            </a:fld>
            <a:endParaRPr lang="en-US"/>
          </a:p>
        </p:txBody>
      </p:sp>
      <p:grpSp>
        <p:nvGrpSpPr>
          <p:cNvPr id="3" name="Group 2">
            <a:extLst>
              <a:ext uri="{FF2B5EF4-FFF2-40B4-BE49-F238E27FC236}">
                <a16:creationId xmlns:a16="http://schemas.microsoft.com/office/drawing/2014/main" id="{C7C32D2D-E4DB-E9FD-1136-4ADE55A5253E}"/>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403AA557-AF4C-F12D-A8ED-196939ECD6E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0B71183A-5030-AE8D-9637-39AA6B4620F6}"/>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E428C00E-23E8-E3AF-4DFF-D1853B858AC8}"/>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8932D92D-AA3A-B904-5004-19EED9C6FB8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2C9E6F55-06C1-31A6-5848-681201E52F30}"/>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DD63B7B4-BFA4-B067-FEC4-00B98BE5226A}"/>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925946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fontScale="90000"/>
          </a:bodyPr>
          <a:lstStyle/>
          <a:p>
            <a:r>
              <a:rPr lang="en-US" sz="3600" dirty="0">
                <a:ea typeface="+mj-ea"/>
                <a:cs typeface="+mj-cs"/>
              </a:rPr>
              <a:t>In order to confirm the boundaries </a:t>
            </a:r>
            <a:br>
              <a:rPr lang="en-US" sz="3600" dirty="0">
                <a:ea typeface="+mj-ea"/>
                <a:cs typeface="+mj-cs"/>
              </a:rPr>
            </a:br>
            <a:r>
              <a:rPr lang="en-US" sz="3600" dirty="0">
                <a:ea typeface="+mj-ea"/>
                <a:cs typeface="+mj-cs"/>
              </a:rPr>
              <a:t>we must answer the following:</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sz="2400" dirty="0"/>
              <a:t>What starts this process?</a:t>
            </a:r>
          </a:p>
          <a:p>
            <a:r>
              <a:rPr lang="en-US" sz="2400" dirty="0"/>
              <a:t>What ends this process?</a:t>
            </a:r>
          </a:p>
          <a:p>
            <a:r>
              <a:rPr lang="en-US" sz="2400" dirty="0"/>
              <a:t>What does this process produce?</a:t>
            </a:r>
          </a:p>
          <a:p>
            <a:r>
              <a:rPr lang="en-US" sz="2400" dirty="0"/>
              <a:t>Who is the customer?</a:t>
            </a:r>
          </a:p>
          <a:p>
            <a:r>
              <a:rPr lang="en-US" sz="2400" dirty="0"/>
              <a:t>Who is the supplier?</a:t>
            </a:r>
          </a:p>
          <a:p>
            <a:r>
              <a:rPr lang="en-US" sz="2400" dirty="0"/>
              <a:t>How is this process measured?</a:t>
            </a:r>
          </a:p>
        </p:txBody>
      </p:sp>
      <p:sp>
        <p:nvSpPr>
          <p:cNvPr id="7" name="Slide Number Placeholder 16">
            <a:extLst>
              <a:ext uri="{FF2B5EF4-FFF2-40B4-BE49-F238E27FC236}">
                <a16:creationId xmlns:a16="http://schemas.microsoft.com/office/drawing/2014/main" id="{9511A461-3BDC-260B-34DE-D3F34D55167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34</a:t>
            </a:fld>
            <a:endParaRPr lang="en-US"/>
          </a:p>
        </p:txBody>
      </p:sp>
      <p:grpSp>
        <p:nvGrpSpPr>
          <p:cNvPr id="4" name="Group 3">
            <a:extLst>
              <a:ext uri="{FF2B5EF4-FFF2-40B4-BE49-F238E27FC236}">
                <a16:creationId xmlns:a16="http://schemas.microsoft.com/office/drawing/2014/main" id="{D969EACF-6338-E399-F1A7-366ABDD027B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007D2802-87B9-9A66-717D-4D810FDEB9E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1F2075C1-1573-E495-9D4F-3DC54526248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4FCCE83B-E22C-DBFD-DB42-19D46678AB0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D4A44C96-09DA-BD25-3B8E-99C7DED927E8}"/>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8C27714A-A298-3500-2EC9-68FD9A6D0D3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53290B13-206B-133E-54EB-5E785AF3E234}"/>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155526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Exercise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pre-event information and confirm boundaries of the process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664239"/>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124952"/>
            <a:ext cx="4419809" cy="2872581"/>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the following questions: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starts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ends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does this process produce?</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customer for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supplier to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How is this process measured?</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as a team</a:t>
            </a:r>
          </a:p>
        </p:txBody>
      </p:sp>
      <p:sp>
        <p:nvSpPr>
          <p:cNvPr id="22" name="Slide Number Placeholder 16">
            <a:extLst>
              <a:ext uri="{FF2B5EF4-FFF2-40B4-BE49-F238E27FC236}">
                <a16:creationId xmlns:a16="http://schemas.microsoft.com/office/drawing/2014/main" id="{A4E99DF0-41C8-DAA5-6D25-7C7DC927163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35</a:t>
            </a:fld>
            <a:endParaRPr lang="en-US"/>
          </a:p>
        </p:txBody>
      </p:sp>
      <p:grpSp>
        <p:nvGrpSpPr>
          <p:cNvPr id="3" name="Group 2">
            <a:extLst>
              <a:ext uri="{FF2B5EF4-FFF2-40B4-BE49-F238E27FC236}">
                <a16:creationId xmlns:a16="http://schemas.microsoft.com/office/drawing/2014/main" id="{AB07D05D-EA03-3E83-4F29-57D382B87A83}"/>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5061AA14-1B97-2297-0B97-236A7B4BD30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5FF8497B-4903-081A-9DE1-1112E79A2DB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0BFF8496-30D1-6F4A-1A87-9D434CDA1DA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5C25A2E3-0450-92D2-B6D2-1380A8BDC641}"/>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8088E70-1915-375F-F3E6-0D0E55B40E9A}"/>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DF60918B-E872-D5A9-A54B-E7987683ED3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7955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17" name="Title 16">
            <a:extLst>
              <a:ext uri="{FF2B5EF4-FFF2-40B4-BE49-F238E27FC236}">
                <a16:creationId xmlns:a16="http://schemas.microsoft.com/office/drawing/2014/main" id="{E52AABEB-3BB4-E186-BB6E-C074D94640A6}"/>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FC69B830-E3FE-789E-D7EE-98833A647CC5}"/>
              </a:ext>
            </a:extLst>
          </p:cNvPr>
          <p:cNvSpPr>
            <a:spLocks noGrp="1"/>
          </p:cNvSpPr>
          <p:nvPr>
            <p:ph type="sldNum" sz="quarter" idx="4"/>
          </p:nvPr>
        </p:nvSpPr>
        <p:spPr/>
        <p:txBody>
          <a:bodyPr/>
          <a:lstStyle/>
          <a:p>
            <a:fld id="{CC6D4273-7FC1-0947-B9FE-19CB3C0D1FB6}" type="slidenum">
              <a:rPr lang="en-US" smtClean="0"/>
              <a:t>36</a:t>
            </a:fld>
            <a:endParaRPr lang="en-US"/>
          </a:p>
        </p:txBody>
      </p:sp>
      <p:grpSp>
        <p:nvGrpSpPr>
          <p:cNvPr id="3" name="Group 2">
            <a:extLst>
              <a:ext uri="{FF2B5EF4-FFF2-40B4-BE49-F238E27FC236}">
                <a16:creationId xmlns:a16="http://schemas.microsoft.com/office/drawing/2014/main" id="{90CA574A-9698-3FDE-9E32-5DF327C22536}"/>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7B8F0EB-1E60-A299-F547-4A9901E9DF9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179C81AB-884E-42BC-65D0-478C4490F0CA}"/>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BF261707-318B-E5F8-B893-5AE32FEEF9C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25C3D9A3-C8EF-79BE-54F9-E425F0D44E5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2246BFE0-33AF-E752-499B-78196FD173B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3D6A34A8-3955-3BC3-6CC3-62F9685ABE7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527065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51EFF-4776-F1B1-BDE4-8CA4D1566BBB}"/>
              </a:ext>
            </a:extLst>
          </p:cNvPr>
          <p:cNvSpPr>
            <a:spLocks noGrp="1"/>
          </p:cNvSpPr>
          <p:nvPr>
            <p:ph type="title"/>
          </p:nvPr>
        </p:nvSpPr>
        <p:spPr/>
        <p:txBody>
          <a:bodyPr/>
          <a:lstStyle/>
          <a:p>
            <a:r>
              <a:rPr lang="en-US" dirty="0">
                <a:ea typeface="+mj-ea"/>
                <a:cs typeface="+mj-cs"/>
              </a:rPr>
              <a:t>Define Elements of Process Walk</a:t>
            </a:r>
            <a:endParaRPr lang="en-US" dirty="0"/>
          </a:p>
        </p:txBody>
      </p:sp>
      <p:sp>
        <p:nvSpPr>
          <p:cNvPr id="4" name="Text Placeholder 3">
            <a:extLst>
              <a:ext uri="{FF2B5EF4-FFF2-40B4-BE49-F238E27FC236}">
                <a16:creationId xmlns:a16="http://schemas.microsoft.com/office/drawing/2014/main" id="{AAAFB543-D544-FD2C-0A9A-3CC06110AD8A}"/>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2800" dirty="0"/>
              <a:t>Determine Process Steps and Component Tasks</a:t>
            </a:r>
          </a:p>
          <a:p>
            <a:pPr marL="285750" indent="-285750">
              <a:buFont typeface="Arial" panose="020B0604020202020204" pitchFamily="34" charset="0"/>
              <a:buChar char="•"/>
            </a:pPr>
            <a:r>
              <a:rPr lang="en-US" sz="2800" dirty="0"/>
              <a:t>Look for OODA Loops: Observe, Orient, Decide, Act</a:t>
            </a:r>
          </a:p>
        </p:txBody>
      </p:sp>
      <p:pic>
        <p:nvPicPr>
          <p:cNvPr id="8" name="Picture 4" descr="A group of people standing in front of a window&#10;&#10;Description automatically generated with medium confidence">
            <a:extLst>
              <a:ext uri="{FF2B5EF4-FFF2-40B4-BE49-F238E27FC236}">
                <a16:creationId xmlns:a16="http://schemas.microsoft.com/office/drawing/2014/main" id="{1DE439B5-94D7-7A07-D8AF-2757E4514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853" y="2146852"/>
            <a:ext cx="418782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D4386DCA-99F0-1563-73D6-20E9BE11B9E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37</a:t>
            </a:fld>
            <a:endParaRPr lang="en-US"/>
          </a:p>
        </p:txBody>
      </p:sp>
      <p:grpSp>
        <p:nvGrpSpPr>
          <p:cNvPr id="5" name="Group 4">
            <a:extLst>
              <a:ext uri="{FF2B5EF4-FFF2-40B4-BE49-F238E27FC236}">
                <a16:creationId xmlns:a16="http://schemas.microsoft.com/office/drawing/2014/main" id="{65495FB3-52C0-D8C1-CC82-0DEBE16E2011}"/>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585A46F6-9F9C-37ED-180F-39D7F9E85225}"/>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B093C56C-3AA2-0796-4856-E894CE2FA84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25DA9B3-FE1A-5333-7DCE-E0D446B1FAA9}"/>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843A1564-E0D5-9AA0-0C3A-F5F45C7D0A5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6519C5D3-9F30-7B88-7C16-A0168BF6508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D58C11A-D51F-127F-9F88-8819054F31D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250237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a:bodyPr>
          <a:lstStyle/>
          <a:p>
            <a:r>
              <a:rPr lang="en-US" sz="3600" dirty="0">
                <a:ea typeface="+mj-ea"/>
                <a:cs typeface="+mj-cs"/>
              </a:rPr>
              <a:t>Roles during the Process Walk #1</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dirty="0"/>
              <a:t>Assign each role below to a team member prior to starting walk:</a:t>
            </a:r>
          </a:p>
          <a:p>
            <a:pPr lvl="1"/>
            <a:r>
              <a:rPr lang="en-US" dirty="0"/>
              <a:t>Lead the interview </a:t>
            </a:r>
          </a:p>
          <a:p>
            <a:pPr lvl="1"/>
            <a:r>
              <a:rPr lang="en-US" dirty="0"/>
              <a:t>Record process steps (what and by whom; “who from” and “who to”)</a:t>
            </a:r>
          </a:p>
          <a:p>
            <a:pPr lvl="1"/>
            <a:r>
              <a:rPr lang="en-US" dirty="0"/>
              <a:t>Identify value adding steps  (mark as such – but do not time yet)</a:t>
            </a:r>
          </a:p>
          <a:p>
            <a:pPr lvl="1"/>
            <a:r>
              <a:rPr lang="en-US" dirty="0"/>
              <a:t>Determine how many queues</a:t>
            </a:r>
          </a:p>
          <a:p>
            <a:pPr lvl="1"/>
            <a:r>
              <a:rPr lang="en-US" dirty="0"/>
              <a:t>Identify and document waste </a:t>
            </a:r>
          </a:p>
          <a:p>
            <a:r>
              <a:rPr lang="en-US" dirty="0"/>
              <a:t>Team Leader keeps the team on track	</a:t>
            </a:r>
          </a:p>
        </p:txBody>
      </p:sp>
      <p:sp>
        <p:nvSpPr>
          <p:cNvPr id="7" name="Slide Number Placeholder 16">
            <a:extLst>
              <a:ext uri="{FF2B5EF4-FFF2-40B4-BE49-F238E27FC236}">
                <a16:creationId xmlns:a16="http://schemas.microsoft.com/office/drawing/2014/main" id="{B66596AD-427D-C091-D3CE-134233C94A33}"/>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38</a:t>
            </a:fld>
            <a:endParaRPr lang="en-US"/>
          </a:p>
        </p:txBody>
      </p:sp>
      <p:grpSp>
        <p:nvGrpSpPr>
          <p:cNvPr id="4" name="Group 3">
            <a:extLst>
              <a:ext uri="{FF2B5EF4-FFF2-40B4-BE49-F238E27FC236}">
                <a16:creationId xmlns:a16="http://schemas.microsoft.com/office/drawing/2014/main" id="{4A91F04E-63C6-81B0-A549-A751229F77D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12C07B4D-A9F3-7AC9-2F51-F3FBB366D7F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389EF385-8827-E4F9-1426-1BF2B913FE3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493F4C24-16CE-6926-24C2-719AD5D688B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FBCF3BCD-8F0F-E44B-5F75-1919AF5A156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F614E109-1219-75B9-5C1E-2163B56788A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60C9EF47-BF67-6EAA-643D-FC1364F3FE81}"/>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038328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5140388" cy="1463045"/>
          </a:xfrm>
        </p:spPr>
        <p:txBody>
          <a:bodyPr>
            <a:normAutofit/>
          </a:bodyPr>
          <a:lstStyle/>
          <a:p>
            <a:r>
              <a:rPr lang="en-US" sz="2800" dirty="0"/>
              <a:t>Typical Interviewing Questions for Process Walk #1</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lstStyle/>
          <a:p>
            <a:pPr marL="342900" indent="-342900">
              <a:buFont typeface="+mj-lt"/>
              <a:buAutoNum type="arabicPeriod"/>
            </a:pPr>
            <a:r>
              <a:rPr lang="en-US" dirty="0"/>
              <a:t>What do you do?</a:t>
            </a:r>
          </a:p>
          <a:p>
            <a:pPr marL="342900" indent="-342900">
              <a:buFont typeface="+mj-lt"/>
              <a:buAutoNum type="arabicPeriod"/>
            </a:pPr>
            <a:r>
              <a:rPr lang="en-US" dirty="0"/>
              <a:t>How many queues in front of each person?</a:t>
            </a:r>
          </a:p>
          <a:p>
            <a:pPr marL="342900" indent="-342900">
              <a:buFont typeface="+mj-lt"/>
              <a:buAutoNum type="arabicPeriod"/>
            </a:pPr>
            <a:r>
              <a:rPr lang="en-US" dirty="0"/>
              <a:t>How many handoffs?</a:t>
            </a:r>
          </a:p>
          <a:p>
            <a:pPr marL="342900" indent="-342900">
              <a:buFont typeface="+mj-lt"/>
              <a:buAutoNum type="arabicPeriod"/>
            </a:pPr>
            <a:r>
              <a:rPr lang="en-US" dirty="0"/>
              <a:t>Are there inspection steps performed by others?</a:t>
            </a:r>
          </a:p>
          <a:p>
            <a:pPr marL="342900" indent="-342900">
              <a:buFont typeface="+mj-lt"/>
              <a:buAutoNum type="arabicPeriod"/>
            </a:pPr>
            <a:r>
              <a:rPr lang="en-US" dirty="0"/>
              <a:t>What causes delays or problems?</a:t>
            </a:r>
          </a:p>
          <a:p>
            <a:pPr marL="342900" indent="-342900">
              <a:buFont typeface="+mj-lt"/>
              <a:buAutoNum type="arabicPeriod"/>
            </a:pPr>
            <a:r>
              <a:rPr lang="en-US" dirty="0"/>
              <a:t>Modify these or use other questions as appropriate</a:t>
            </a:r>
          </a:p>
          <a:p>
            <a:pPr marL="342900" indent="-342900">
              <a:buFont typeface="+mj-lt"/>
              <a:buAutoNum type="arabicPeriod"/>
            </a:pPr>
            <a:endParaRPr lang="en-US" dirty="0"/>
          </a:p>
        </p:txBody>
      </p:sp>
      <p:pic>
        <p:nvPicPr>
          <p:cNvPr id="8" name="Picture 4" descr="A person showing something on a paper to a person">
            <a:extLst>
              <a:ext uri="{FF2B5EF4-FFF2-40B4-BE49-F238E27FC236}">
                <a16:creationId xmlns:a16="http://schemas.microsoft.com/office/drawing/2014/main" id="{F65BC0EA-F952-25E8-5D28-7FAA61D35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223" y="1645859"/>
            <a:ext cx="5465834" cy="363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1390A380-4960-A666-16CF-28B8E1B3E6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39</a:t>
            </a:fld>
            <a:endParaRPr lang="en-US"/>
          </a:p>
        </p:txBody>
      </p:sp>
      <p:grpSp>
        <p:nvGrpSpPr>
          <p:cNvPr id="5" name="Group 4">
            <a:extLst>
              <a:ext uri="{FF2B5EF4-FFF2-40B4-BE49-F238E27FC236}">
                <a16:creationId xmlns:a16="http://schemas.microsoft.com/office/drawing/2014/main" id="{E22B8C4C-3402-EAE9-F6F5-78CC360B0025}"/>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5B78F071-7506-AAC3-38E3-E9E9B6BB72A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70435664-C587-C4AD-A2CA-4865BA59C7C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94F0E0-BA46-975D-0C15-7B6BAB6A449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2EBE7157-BF46-C2FE-2FA1-AE82EE2AAA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84759F5B-1B05-72B0-504C-663584EE991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D679064D-8366-F306-179B-C2811AB11D12}"/>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665744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Exercise: Perform Process Walk </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Process Walk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761564"/>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274871"/>
            <a:ext cx="4419809" cy="2626360"/>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Go to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place</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talk to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people</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working in the process; observe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a tour guide, the team walks the process and </a:t>
            </a:r>
            <a:r>
              <a:rPr kumimoji="0" lang="en-US" sz="1600" b="0" i="0" u="sng"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person lists the Process Steps, Component Tasks, mark VA steps, # of handoffs, # of queues, and # of inspection steps on the Process Walk Form</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Each person sketches what he/she saw in basic Process Map form</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22" name="Slide Number Placeholder 16">
            <a:extLst>
              <a:ext uri="{FF2B5EF4-FFF2-40B4-BE49-F238E27FC236}">
                <a16:creationId xmlns:a16="http://schemas.microsoft.com/office/drawing/2014/main" id="{89BD04F7-B6CB-CBBE-E68A-964894435AA8}"/>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40</a:t>
            </a:fld>
            <a:endParaRPr lang="en-US"/>
          </a:p>
        </p:txBody>
      </p:sp>
      <p:grpSp>
        <p:nvGrpSpPr>
          <p:cNvPr id="3" name="Group 2">
            <a:extLst>
              <a:ext uri="{FF2B5EF4-FFF2-40B4-BE49-F238E27FC236}">
                <a16:creationId xmlns:a16="http://schemas.microsoft.com/office/drawing/2014/main" id="{972D9563-E1FB-C17A-26E6-67321E8368E8}"/>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BE32476-17C3-E9AF-87C3-FE721CD736E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F6304010-486C-21B2-ECDA-2A6556093A4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96052694-EA4C-D44B-3482-407D3B0F318C}"/>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4C84F82E-EF79-46D9-9D6A-DFBC725B661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13377463-FB26-0D4D-8F9D-7C4B2EFBC75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DF58DA5-6367-0F03-1051-490F12B008C0}"/>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992821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20" name="Title 1">
            <a:extLst>
              <a:ext uri="{FF2B5EF4-FFF2-40B4-BE49-F238E27FC236}">
                <a16:creationId xmlns:a16="http://schemas.microsoft.com/office/drawing/2014/main" id="{1D3830FC-E25D-44CE-62A1-4D363F55D4BD}"/>
              </a:ext>
            </a:extLst>
          </p:cNvPr>
          <p:cNvSpPr txBox="1">
            <a:spLocks/>
          </p:cNvSpPr>
          <p:nvPr/>
        </p:nvSpPr>
        <p:spPr>
          <a:xfrm>
            <a:off x="838200" y="681037"/>
            <a:ext cx="10515600" cy="100965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600" dirty="0">
                <a:ea typeface="+mj-ea"/>
              </a:rPr>
              <a:t>Steps to Describe the As Is Process</a:t>
            </a:r>
            <a:endParaRPr lang="en-US" sz="3600" dirty="0"/>
          </a:p>
        </p:txBody>
      </p:sp>
      <p:sp>
        <p:nvSpPr>
          <p:cNvPr id="6" name="Title 5">
            <a:extLst>
              <a:ext uri="{FF2B5EF4-FFF2-40B4-BE49-F238E27FC236}">
                <a16:creationId xmlns:a16="http://schemas.microsoft.com/office/drawing/2014/main" id="{24591085-43D5-DCE6-73ED-2FF413CFEA02}"/>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AFE1620F-C415-87C8-F792-AC319A60AD5A}"/>
              </a:ext>
            </a:extLst>
          </p:cNvPr>
          <p:cNvSpPr>
            <a:spLocks noGrp="1"/>
          </p:cNvSpPr>
          <p:nvPr>
            <p:ph type="sldNum" sz="quarter" idx="4"/>
          </p:nvPr>
        </p:nvSpPr>
        <p:spPr/>
        <p:txBody>
          <a:bodyPr/>
          <a:lstStyle/>
          <a:p>
            <a:fld id="{CC6D4273-7FC1-0947-B9FE-19CB3C0D1FB6}" type="slidenum">
              <a:rPr lang="en-US" smtClean="0"/>
              <a:t>41</a:t>
            </a:fld>
            <a:endParaRPr lang="en-US"/>
          </a:p>
        </p:txBody>
      </p:sp>
      <p:grpSp>
        <p:nvGrpSpPr>
          <p:cNvPr id="3" name="Group 2">
            <a:extLst>
              <a:ext uri="{FF2B5EF4-FFF2-40B4-BE49-F238E27FC236}">
                <a16:creationId xmlns:a16="http://schemas.microsoft.com/office/drawing/2014/main" id="{4DED5CF5-7AF8-BF3E-D49F-1B059EE4D704}"/>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B42CBC5-B285-7A64-1D3B-B2EE9D92547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4E19419A-7526-AAE8-7BCF-B3F727D13B94}"/>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B9E9EDBB-8C7C-D229-E25D-F6E53740D8A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E4DB27A-2DD1-7E03-68B4-082FC6F0BF3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6761AE68-A050-81FE-DE67-CA6572B68CD3}"/>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6DB28D64-D123-BC21-4A37-ABAADB4753B4}"/>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5470164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4430302" cy="1463045"/>
          </a:xfrm>
        </p:spPr>
        <p:txBody>
          <a:bodyPr>
            <a:normAutofit/>
          </a:bodyPr>
          <a:lstStyle/>
          <a:p>
            <a:r>
              <a:rPr lang="en-US" sz="2800" dirty="0"/>
              <a:t>Document the </a:t>
            </a:r>
            <a:br>
              <a:rPr lang="en-US" sz="2800" dirty="0"/>
            </a:br>
            <a:r>
              <a:rPr lang="en-US" sz="2800" dirty="0"/>
              <a:t>Preliminary Process Map</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Create a process map to arrange the process steps in time sequence</a:t>
            </a:r>
          </a:p>
          <a:p>
            <a:pPr marL="342900" indent="-342900">
              <a:buFont typeface="Arial" panose="020B0604020202020204" pitchFamily="34" charset="0"/>
              <a:buChar char="•"/>
            </a:pPr>
            <a:r>
              <a:rPr lang="en-US" dirty="0"/>
              <a:t>Document current process and identify customer/supplier relationships</a:t>
            </a:r>
          </a:p>
          <a:p>
            <a:pPr marL="342900" indent="-342900">
              <a:buFont typeface="Arial" panose="020B0604020202020204" pitchFamily="34" charset="0"/>
              <a:buChar char="•"/>
            </a:pPr>
            <a:r>
              <a:rPr lang="en-US" dirty="0"/>
              <a:t>Document the current way things are actually done, not the ideal, in order to identify opportunities</a:t>
            </a:r>
          </a:p>
          <a:p>
            <a:pPr marL="342900" indent="-342900">
              <a:buFont typeface="Arial" panose="020B0604020202020204" pitchFamily="34" charset="0"/>
              <a:buChar char="•"/>
            </a:pPr>
            <a:r>
              <a:rPr lang="en-US" dirty="0"/>
              <a:t>Keep a record of problems, ideas or suggestions for change</a:t>
            </a:r>
          </a:p>
        </p:txBody>
      </p:sp>
      <p:pic>
        <p:nvPicPr>
          <p:cNvPr id="16" name="Picture 5" descr="bigstockphoto_Process_Management_539400">
            <a:extLst>
              <a:ext uri="{FF2B5EF4-FFF2-40B4-BE49-F238E27FC236}">
                <a16:creationId xmlns:a16="http://schemas.microsoft.com/office/drawing/2014/main" id="{58643737-FAF3-FACF-DEB3-2B89B1BB2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
          <a:stretch>
            <a:fillRect/>
          </a:stretch>
        </p:blipFill>
        <p:spPr bwMode="auto">
          <a:xfrm>
            <a:off x="6467785" y="1564481"/>
            <a:ext cx="2782888" cy="372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Lst>
        </p:spPr>
      </p:pic>
      <p:sp>
        <p:nvSpPr>
          <p:cNvPr id="8" name="Slide Number Placeholder 16">
            <a:extLst>
              <a:ext uri="{FF2B5EF4-FFF2-40B4-BE49-F238E27FC236}">
                <a16:creationId xmlns:a16="http://schemas.microsoft.com/office/drawing/2014/main" id="{4B847EE7-5746-A048-0FFC-04C36C9A735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42</a:t>
            </a:fld>
            <a:endParaRPr lang="en-US"/>
          </a:p>
        </p:txBody>
      </p:sp>
      <p:grpSp>
        <p:nvGrpSpPr>
          <p:cNvPr id="3" name="Group 2">
            <a:extLst>
              <a:ext uri="{FF2B5EF4-FFF2-40B4-BE49-F238E27FC236}">
                <a16:creationId xmlns:a16="http://schemas.microsoft.com/office/drawing/2014/main" id="{CBCD540E-65A7-8C8B-EBE9-33E10893C6D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9BF9D432-9BEF-8393-B5E0-0766CD917AE6}"/>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D73E23FA-8924-1CA3-AE69-C8AF2A82D95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9AA6BDF-B462-D77C-C766-6473D23507A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C3175C1-50DD-0E35-D14B-0A06219FD34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97B022D4-8237-40F4-184E-CB53085A4A1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A4446C-07A8-BB40-6286-CA5EE4B0773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393544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Review and Draw Preliminary Process Map</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and draw the consensus Process Map.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1688357"/>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then compares each member’s process map and arrives at a “consensus” process map.</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The consensus process map.</a:t>
            </a:r>
          </a:p>
        </p:txBody>
      </p:sp>
      <p:sp>
        <p:nvSpPr>
          <p:cNvPr id="22" name="Slide Number Placeholder 16">
            <a:extLst>
              <a:ext uri="{FF2B5EF4-FFF2-40B4-BE49-F238E27FC236}">
                <a16:creationId xmlns:a16="http://schemas.microsoft.com/office/drawing/2014/main" id="{4B8FD49B-B854-2B3E-B55F-7DF114F8021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43</a:t>
            </a:fld>
            <a:endParaRPr lang="en-US"/>
          </a:p>
        </p:txBody>
      </p:sp>
      <p:grpSp>
        <p:nvGrpSpPr>
          <p:cNvPr id="3" name="Group 2">
            <a:extLst>
              <a:ext uri="{FF2B5EF4-FFF2-40B4-BE49-F238E27FC236}">
                <a16:creationId xmlns:a16="http://schemas.microsoft.com/office/drawing/2014/main" id="{4E504C9C-9E7B-AE23-D3D2-E58C9C0C2A0B}"/>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B09CA438-4E84-028F-B4C7-6C403F3ACA0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0B336847-D3C9-BDC6-3B1E-8088834D78D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C18F1800-3A2D-421E-57F8-FCB176472E22}"/>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99812BE9-C231-25BD-D192-3451A965163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C851E49-EEEE-D1F7-DB86-20E81FC1407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FC4A3C2-A9AE-6563-B2FA-C3A1B40ED32D}"/>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937612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4361477" cy="1463045"/>
          </a:xfrm>
        </p:spPr>
        <p:txBody>
          <a:bodyPr>
            <a:normAutofit/>
          </a:bodyPr>
          <a:lstStyle/>
          <a:p>
            <a:r>
              <a:rPr lang="en-US" sz="2800" dirty="0"/>
              <a:t>Draw Spaghetti Diagram for the As Is Process</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sz="2800" dirty="0"/>
              <a:t>Draw a visual depiction of the physical and/or electronic path of the process as it exists today</a:t>
            </a:r>
          </a:p>
        </p:txBody>
      </p:sp>
      <p:sp>
        <p:nvSpPr>
          <p:cNvPr id="16" name="Slide Number Placeholder 16">
            <a:extLst>
              <a:ext uri="{FF2B5EF4-FFF2-40B4-BE49-F238E27FC236}">
                <a16:creationId xmlns:a16="http://schemas.microsoft.com/office/drawing/2014/main" id="{F4A87DEE-7E17-BEE6-C040-EC3937A5F7E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44</a:t>
            </a:fld>
            <a:endParaRPr lang="en-US"/>
          </a:p>
        </p:txBody>
      </p:sp>
      <p:grpSp>
        <p:nvGrpSpPr>
          <p:cNvPr id="3" name="Group 2">
            <a:extLst>
              <a:ext uri="{FF2B5EF4-FFF2-40B4-BE49-F238E27FC236}">
                <a16:creationId xmlns:a16="http://schemas.microsoft.com/office/drawing/2014/main" id="{237D8750-3A9A-401E-079F-6CE50F8D67DB}"/>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DC8B9823-4760-441C-50A2-5FDCEB53D4D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514E5033-F9B8-EECE-DAF4-F7A749E74CC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3F2D988-B1EF-E5D6-2573-46AF82D4001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D1DAD76D-74D2-1191-A356-988B61E093B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5F9C8BBB-1C6E-0DC1-C0D0-876BAC9BC38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A57B51B4-9DE5-EB84-5236-67F73D8D63D9}"/>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12" name="Picture 11">
            <a:extLst>
              <a:ext uri="{FF2B5EF4-FFF2-40B4-BE49-F238E27FC236}">
                <a16:creationId xmlns:a16="http://schemas.microsoft.com/office/drawing/2014/main" id="{A68F00EC-E0FB-E4EF-C9F2-5B25B3D840E2}"/>
              </a:ext>
            </a:extLst>
          </p:cNvPr>
          <p:cNvPicPr>
            <a:picLocks noChangeAspect="1"/>
          </p:cNvPicPr>
          <p:nvPr/>
        </p:nvPicPr>
        <p:blipFill>
          <a:blip r:embed="rId3"/>
          <a:stretch>
            <a:fillRect/>
          </a:stretch>
        </p:blipFill>
        <p:spPr>
          <a:xfrm>
            <a:off x="5958800" y="2148836"/>
            <a:ext cx="4875276" cy="2923032"/>
          </a:xfrm>
          <a:prstGeom prst="rect">
            <a:avLst/>
          </a:prstGeom>
        </p:spPr>
      </p:pic>
    </p:spTree>
    <p:extLst>
      <p:ext uri="{BB962C8B-B14F-4D97-AF65-F5344CB8AC3E}">
        <p14:creationId xmlns:p14="http://schemas.microsoft.com/office/powerpoint/2010/main" val="1887930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18" name="Title 17">
            <a:extLst>
              <a:ext uri="{FF2B5EF4-FFF2-40B4-BE49-F238E27FC236}">
                <a16:creationId xmlns:a16="http://schemas.microsoft.com/office/drawing/2014/main" id="{27508A12-47E0-9C39-FBB7-06161EC4A9BF}"/>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FCD569A3-037C-68C6-0F2C-135B59BAC32F}"/>
              </a:ext>
            </a:extLst>
          </p:cNvPr>
          <p:cNvSpPr>
            <a:spLocks noGrp="1"/>
          </p:cNvSpPr>
          <p:nvPr>
            <p:ph type="sldNum" sz="quarter" idx="4"/>
          </p:nvPr>
        </p:nvSpPr>
        <p:spPr/>
        <p:txBody>
          <a:bodyPr/>
          <a:lstStyle/>
          <a:p>
            <a:fld id="{CC6D4273-7FC1-0947-B9FE-19CB3C0D1FB6}" type="slidenum">
              <a:rPr lang="en-US" smtClean="0"/>
              <a:t>45</a:t>
            </a:fld>
            <a:endParaRPr lang="en-US"/>
          </a:p>
        </p:txBody>
      </p:sp>
      <p:grpSp>
        <p:nvGrpSpPr>
          <p:cNvPr id="3" name="Group 2">
            <a:extLst>
              <a:ext uri="{FF2B5EF4-FFF2-40B4-BE49-F238E27FC236}">
                <a16:creationId xmlns:a16="http://schemas.microsoft.com/office/drawing/2014/main" id="{E074494C-549C-D077-C3EC-9686403AD48A}"/>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770CE5F1-90C3-C34E-367E-9C8028B5126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E04705F8-40BB-62E7-E6F5-8504F5C5152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2C02B8B9-10DA-56B4-C7CE-5C3CE578964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83D055FB-C62C-F526-A9C6-1F2B9D11610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62F58372-7FB3-3D35-DABE-B475D43434A3}"/>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A3D449F2-D5E2-3451-CEBF-02EBC072FB36}"/>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8611594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Draw a Consensus “As Is” Process Map</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a consensus “As Is” Process Map</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1688357"/>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Now—using all we have seen by doing Walk #1,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Walk #2, Process Walk Forms, Process Data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Summary, and Spaghetti Diagram—re-draw a consensus “As Is” Process Map and include a data block underneath each process step.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Conduct Leadership Review of completed “As Is” Process Map</a:t>
            </a:r>
          </a:p>
        </p:txBody>
      </p:sp>
      <p:sp>
        <p:nvSpPr>
          <p:cNvPr id="23" name="Slide Number Placeholder 16">
            <a:extLst>
              <a:ext uri="{FF2B5EF4-FFF2-40B4-BE49-F238E27FC236}">
                <a16:creationId xmlns:a16="http://schemas.microsoft.com/office/drawing/2014/main" id="{05E82C1D-4E94-18B6-D6B9-F9EC3748C44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46</a:t>
            </a:fld>
            <a:endParaRPr lang="en-US"/>
          </a:p>
        </p:txBody>
      </p:sp>
      <p:grpSp>
        <p:nvGrpSpPr>
          <p:cNvPr id="3" name="Group 2">
            <a:extLst>
              <a:ext uri="{FF2B5EF4-FFF2-40B4-BE49-F238E27FC236}">
                <a16:creationId xmlns:a16="http://schemas.microsoft.com/office/drawing/2014/main" id="{631FD3DD-360E-B08B-2317-CE70D283873C}"/>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6F1406E-ED44-1C0E-A062-1F24F43F734C}"/>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94512EF1-5CB2-51CC-BA11-6C13F42C31F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07F3E69E-1550-D43A-8415-AE544DCF914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D12CD102-897E-71F3-DCC8-1E2FE5F39D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93CAAE3-82CC-3F5C-E346-60A06D0AFD5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D8D2A178-2537-54CA-6A62-B137499FA9F3}"/>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1926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a:xfrm>
            <a:off x="839788" y="457200"/>
            <a:ext cx="4715438" cy="1463045"/>
          </a:xfrm>
        </p:spPr>
        <p:txBody>
          <a:bodyPr>
            <a:normAutofit/>
          </a:bodyPr>
          <a:lstStyle/>
          <a:p>
            <a:r>
              <a:rPr lang="en-US" sz="2800" dirty="0"/>
              <a:t>Conduct Leadership Review of “As Is” Process Map</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Give leadership the advantage of an early “peek” so they can begin to think about what resources we may be likely to ask for (including lead time to overcome barriers to our objectives)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3" name="Slide Number Placeholder 16">
            <a:extLst>
              <a:ext uri="{FF2B5EF4-FFF2-40B4-BE49-F238E27FC236}">
                <a16:creationId xmlns:a16="http://schemas.microsoft.com/office/drawing/2014/main" id="{A16D882D-832C-CEEB-F711-6B4A53ABEBB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47</a:t>
            </a:fld>
            <a:endParaRPr lang="en-US"/>
          </a:p>
        </p:txBody>
      </p:sp>
      <p:grpSp>
        <p:nvGrpSpPr>
          <p:cNvPr id="5" name="Group 4">
            <a:extLst>
              <a:ext uri="{FF2B5EF4-FFF2-40B4-BE49-F238E27FC236}">
                <a16:creationId xmlns:a16="http://schemas.microsoft.com/office/drawing/2014/main" id="{58F44E5C-DF62-365E-7406-7E324BFF4E14}"/>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F7510619-771E-F4A6-1829-8814555572D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1087031B-D8E4-378C-8B82-E7D1EA43D29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3640B6CF-80C2-4266-55F7-BD914E5D6D6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69FBB70-7A4A-E512-BCEC-1E00CEADF5F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70C97DEA-2D24-7311-905A-B8AAFC85780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6716EC5C-0170-A7A1-B5F1-8BBC12679A09}"/>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805553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fontScale="90000"/>
          </a:bodyPr>
          <a:lstStyle/>
          <a:p>
            <a:r>
              <a:rPr lang="en-US" sz="4000" dirty="0">
                <a:latin typeface="Roboto Medium"/>
                <a:ea typeface="Roboto Medium"/>
                <a:cs typeface="Roboto Medium"/>
              </a:rPr>
              <a:t>Identify and Define the </a:t>
            </a:r>
            <a:br>
              <a:rPr lang="en-US" sz="4000" dirty="0">
                <a:latin typeface="Roboto Medium"/>
                <a:ea typeface="Roboto Medium"/>
                <a:cs typeface="Roboto Medium"/>
              </a:rPr>
            </a:br>
            <a:r>
              <a:rPr lang="en-US" sz="4000" dirty="0">
                <a:latin typeface="Roboto Medium"/>
                <a:ea typeface="Roboto Medium"/>
                <a:cs typeface="Roboto Medium"/>
              </a:rPr>
              <a:t>Barriers Within the “As Is” Process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Review types of waste</a:t>
            </a:r>
          </a:p>
          <a:p>
            <a:r>
              <a:rPr lang="en-US" dirty="0"/>
              <a:t>Differentiate between barriers and solutions</a:t>
            </a:r>
          </a:p>
          <a:p>
            <a:r>
              <a:rPr lang="en-US" dirty="0"/>
              <a:t>Identify Barriers to our goals that was observed in the “As Is” Process</a:t>
            </a:r>
          </a:p>
          <a:p>
            <a:r>
              <a:rPr lang="en-US" dirty="0"/>
              <a:t>Describe each Barrier and gain consensus as a team of the barriers</a:t>
            </a:r>
          </a:p>
          <a:p>
            <a:r>
              <a:rPr lang="en-US" dirty="0"/>
              <a:t>Prioritize Barriers by impact and time to implement</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Identify &amp;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2438430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913520765"/>
              </p:ext>
            </p:extLst>
          </p:nvPr>
        </p:nvGraphicFramePr>
        <p:xfrm>
          <a:off x="1207915" y="1845408"/>
          <a:ext cx="9776170" cy="3864510"/>
        </p:xfrm>
        <a:graphic>
          <a:graphicData uri="http://schemas.openxmlformats.org/drawingml/2006/table">
            <a:tbl>
              <a:tblPr/>
              <a:tblGrid>
                <a:gridCol w="2889590">
                  <a:extLst>
                    <a:ext uri="{9D8B030D-6E8A-4147-A177-3AD203B41FA5}">
                      <a16:colId xmlns:a16="http://schemas.microsoft.com/office/drawing/2014/main" val="20000"/>
                    </a:ext>
                  </a:extLst>
                </a:gridCol>
                <a:gridCol w="6886580">
                  <a:extLst>
                    <a:ext uri="{9D8B030D-6E8A-4147-A177-3AD203B41FA5}">
                      <a16:colId xmlns:a16="http://schemas.microsoft.com/office/drawing/2014/main" val="20001"/>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a:miter lim="400000"/>
                    </a:lnT>
                    <a:lnB w="12700" cap="flat" cmpd="sng" algn="ctr">
                      <a:solidFill>
                        <a:schemeClr val="bg1">
                          <a:lumMod val="7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Example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75000"/>
                        </a:schemeClr>
                      </a:solidFill>
                      <a:prstDash val="solid"/>
                      <a:round/>
                      <a:headEnd type="none" w="med" len="med"/>
                      <a:tailEnd type="none" w="med" len="med"/>
                    </a:lnL>
                    <a:lnR w="0">
                      <a:noFill/>
                      <a:miter lim="400000"/>
                    </a:lnR>
                    <a:lnT w="0">
                      <a:noFill/>
                      <a:miter lim="400000"/>
                    </a:lnT>
                    <a:lnB w="12700" cap="flat" cmpd="sng" algn="ctr">
                      <a:solidFill>
                        <a:schemeClr val="bg1">
                          <a:lumMod val="7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AutoNum type="arabicPeriod"/>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 Defects</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2. Over Production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3. Waiting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4. Non-Utilized Talent</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5. Transportation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6. Inventory </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7. Motion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780965238"/>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8. Extra Processing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extLst>
                  <a:ext uri="{0D108BD9-81ED-4DB2-BD59-A6C34878D82A}">
                    <a16:rowId xmlns:a16="http://schemas.microsoft.com/office/drawing/2014/main" val="514211142"/>
                  </a:ext>
                </a:extLst>
              </a:tr>
            </a:tbl>
          </a:graphicData>
        </a:graphic>
      </p:graphicFrame>
      <p:sp>
        <p:nvSpPr>
          <p:cNvPr id="7" name="Title 6">
            <a:extLst>
              <a:ext uri="{FF2B5EF4-FFF2-40B4-BE49-F238E27FC236}">
                <a16:creationId xmlns:a16="http://schemas.microsoft.com/office/drawing/2014/main" id="{3B4D8AF4-51D2-07CF-D8CE-A7C005D278B8}"/>
              </a:ext>
            </a:extLst>
          </p:cNvPr>
          <p:cNvSpPr>
            <a:spLocks noGrp="1"/>
          </p:cNvSpPr>
          <p:nvPr>
            <p:ph type="title"/>
          </p:nvPr>
        </p:nvSpPr>
        <p:spPr/>
        <p:txBody>
          <a:bodyPr>
            <a:normAutofit/>
          </a:bodyPr>
          <a:lstStyle/>
          <a:p>
            <a:r>
              <a:rPr lang="en-US" dirty="0"/>
              <a:t>Eight Wastes</a:t>
            </a:r>
          </a:p>
        </p:txBody>
      </p:sp>
      <p:sp>
        <p:nvSpPr>
          <p:cNvPr id="6" name="Slide Number Placeholder 16">
            <a:extLst>
              <a:ext uri="{FF2B5EF4-FFF2-40B4-BE49-F238E27FC236}">
                <a16:creationId xmlns:a16="http://schemas.microsoft.com/office/drawing/2014/main" id="{050EF8A4-5671-23C1-B2C0-2076B9B509CA}"/>
              </a:ext>
            </a:extLst>
          </p:cNvPr>
          <p:cNvSpPr>
            <a:spLocks noGrp="1"/>
          </p:cNvSpPr>
          <p:nvPr>
            <p:ph type="sldNum" sz="quarter" idx="4"/>
          </p:nvPr>
        </p:nvSpPr>
        <p:spPr/>
        <p:txBody>
          <a:bodyPr/>
          <a:lstStyle/>
          <a:p>
            <a:fld id="{CC6D4273-7FC1-0947-B9FE-19CB3C0D1FB6}" type="slidenum">
              <a:rPr lang="en-US" smtClean="0"/>
              <a:t>49</a:t>
            </a:fld>
            <a:endParaRPr lang="en-US"/>
          </a:p>
        </p:txBody>
      </p:sp>
      <p:grpSp>
        <p:nvGrpSpPr>
          <p:cNvPr id="2" name="Group 1">
            <a:extLst>
              <a:ext uri="{FF2B5EF4-FFF2-40B4-BE49-F238E27FC236}">
                <a16:creationId xmlns:a16="http://schemas.microsoft.com/office/drawing/2014/main" id="{B9353B81-C8DB-FAB8-6067-C126AC5F5AB7}"/>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196075F8-DE53-107A-7C62-489804FDA13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6CAA4596-C6C9-530E-FC26-087E0CCA8B7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BAB21735-A5FC-8F1D-8592-6140965356ED}"/>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D6EB5C6-8E0D-0C04-9000-F1C9FB92F54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153EBD3-6D55-BB5D-EEC5-E3CB3C64B610}"/>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BC2BF69F-2FBF-8A93-AB97-9BF2A51315A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0422356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448668918"/>
              </p:ext>
            </p:extLst>
          </p:nvPr>
        </p:nvGraphicFramePr>
        <p:xfrm>
          <a:off x="1207915" y="1845408"/>
          <a:ext cx="9776170" cy="3864510"/>
        </p:xfrm>
        <a:graphic>
          <a:graphicData uri="http://schemas.openxmlformats.org/drawingml/2006/table">
            <a:tbl>
              <a:tblPr/>
              <a:tblGrid>
                <a:gridCol w="2889590">
                  <a:extLst>
                    <a:ext uri="{9D8B030D-6E8A-4147-A177-3AD203B41FA5}">
                      <a16:colId xmlns:a16="http://schemas.microsoft.com/office/drawing/2014/main" val="20000"/>
                    </a:ext>
                  </a:extLst>
                </a:gridCol>
                <a:gridCol w="6886580">
                  <a:extLst>
                    <a:ext uri="{9D8B030D-6E8A-4147-A177-3AD203B41FA5}">
                      <a16:colId xmlns:a16="http://schemas.microsoft.com/office/drawing/2014/main" val="20001"/>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0">
                      <a:miter lim="400000"/>
                    </a:lnR>
                    <a:lnT w="12700">
                      <a:miter lim="400000"/>
                    </a:lnT>
                    <a:lnB w="12700" cap="flat" cmpd="sng" algn="ctr">
                      <a:solidFill>
                        <a:schemeClr val="bg1">
                          <a:lumMod val="7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Example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miter lim="400000"/>
                    </a:lnR>
                    <a:lnT w="0">
                      <a:miter lim="400000"/>
                    </a:lnT>
                    <a:lnB w="12700" cap="flat" cmpd="sng" algn="ctr">
                      <a:solidFill>
                        <a:schemeClr val="bg1">
                          <a:lumMod val="7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AutoNum type="arabicPeriod"/>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 Defects</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Incomplete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2. Over Production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Unnecessary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3. Waiting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Delays and queues</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4. Non-Utilized Talent</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Time not given for improvement</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5. Transportation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Handoffs of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6. Inventory </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task waiting to be started (WIP)</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7. Motion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Walking, routing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780965238"/>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8. Extra Processing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Variation of process, unnecessary steps</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extLst>
                  <a:ext uri="{0D108BD9-81ED-4DB2-BD59-A6C34878D82A}">
                    <a16:rowId xmlns:a16="http://schemas.microsoft.com/office/drawing/2014/main" val="514211142"/>
                  </a:ext>
                </a:extLst>
              </a:tr>
            </a:tbl>
          </a:graphicData>
        </a:graphic>
      </p:graphicFrame>
      <p:sp>
        <p:nvSpPr>
          <p:cNvPr id="40" name="Title 39">
            <a:extLst>
              <a:ext uri="{FF2B5EF4-FFF2-40B4-BE49-F238E27FC236}">
                <a16:creationId xmlns:a16="http://schemas.microsoft.com/office/drawing/2014/main" id="{95C0CE2D-0006-4279-965F-A7030C08A09B}"/>
              </a:ext>
            </a:extLst>
          </p:cNvPr>
          <p:cNvSpPr>
            <a:spLocks noGrp="1"/>
          </p:cNvSpPr>
          <p:nvPr>
            <p:ph type="title"/>
          </p:nvPr>
        </p:nvSpPr>
        <p:spPr/>
        <p:txBody>
          <a:bodyPr>
            <a:normAutofit/>
          </a:bodyPr>
          <a:lstStyle/>
          <a:p>
            <a:r>
              <a:rPr lang="en-US" dirty="0"/>
              <a:t>Eight Wastes</a:t>
            </a:r>
          </a:p>
        </p:txBody>
      </p:sp>
      <p:sp>
        <p:nvSpPr>
          <p:cNvPr id="6" name="Slide Number Placeholder 16">
            <a:extLst>
              <a:ext uri="{FF2B5EF4-FFF2-40B4-BE49-F238E27FC236}">
                <a16:creationId xmlns:a16="http://schemas.microsoft.com/office/drawing/2014/main" id="{9CCEDF3C-97E9-36BA-6D00-2D3DE6D511D5}"/>
              </a:ext>
            </a:extLst>
          </p:cNvPr>
          <p:cNvSpPr>
            <a:spLocks noGrp="1"/>
          </p:cNvSpPr>
          <p:nvPr>
            <p:ph type="sldNum" sz="quarter" idx="4"/>
          </p:nvPr>
        </p:nvSpPr>
        <p:spPr/>
        <p:txBody>
          <a:bodyPr/>
          <a:lstStyle/>
          <a:p>
            <a:fld id="{CC6D4273-7FC1-0947-B9FE-19CB3C0D1FB6}" type="slidenum">
              <a:rPr lang="en-US" smtClean="0"/>
              <a:t>50</a:t>
            </a:fld>
            <a:endParaRPr lang="en-US"/>
          </a:p>
        </p:txBody>
      </p:sp>
      <p:grpSp>
        <p:nvGrpSpPr>
          <p:cNvPr id="10" name="Group 9">
            <a:extLst>
              <a:ext uri="{FF2B5EF4-FFF2-40B4-BE49-F238E27FC236}">
                <a16:creationId xmlns:a16="http://schemas.microsoft.com/office/drawing/2014/main" id="{8A9A8A21-DE47-7B65-093B-E80744CE7498}"/>
              </a:ext>
            </a:extLst>
          </p:cNvPr>
          <p:cNvGrpSpPr/>
          <p:nvPr/>
        </p:nvGrpSpPr>
        <p:grpSpPr>
          <a:xfrm>
            <a:off x="940249" y="302538"/>
            <a:ext cx="6219503" cy="311932"/>
            <a:chOff x="940249" y="302538"/>
            <a:chExt cx="6219503" cy="311932"/>
          </a:xfrm>
        </p:grpSpPr>
        <p:sp>
          <p:nvSpPr>
            <p:cNvPr id="11" name="TextBox 10">
              <a:extLst>
                <a:ext uri="{FF2B5EF4-FFF2-40B4-BE49-F238E27FC236}">
                  <a16:creationId xmlns:a16="http://schemas.microsoft.com/office/drawing/2014/main" id="{8A5E024E-3AE6-CC4C-D8D4-25B352561D1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12" name="AutoShape 9">
              <a:extLst>
                <a:ext uri="{FF2B5EF4-FFF2-40B4-BE49-F238E27FC236}">
                  <a16:creationId xmlns:a16="http://schemas.microsoft.com/office/drawing/2014/main" id="{366124FA-0A88-12CB-2C25-724E6843441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1690C2C6-14EE-163F-0FEB-C9869CFEEEDC}"/>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A4C18970-E4EA-EEDA-B717-B64F9F4D522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403FD8F7-337D-BCF8-96CA-74A267488755}"/>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5FBF7689-4DFD-361A-D958-456BEDB6312E}"/>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900354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A71A-F9A4-D27F-C410-EEA6D4495FA3}"/>
              </a:ext>
            </a:extLst>
          </p:cNvPr>
          <p:cNvSpPr>
            <a:spLocks noGrp="1"/>
          </p:cNvSpPr>
          <p:nvPr>
            <p:ph type="title"/>
          </p:nvPr>
        </p:nvSpPr>
        <p:spPr/>
        <p:txBody>
          <a:bodyPr/>
          <a:lstStyle/>
          <a:p>
            <a:r>
              <a:rPr lang="en-US" dirty="0"/>
              <a:t>Causes of Transactional Waste</a:t>
            </a:r>
          </a:p>
        </p:txBody>
      </p:sp>
      <p:sp>
        <p:nvSpPr>
          <p:cNvPr id="3" name="Content Placeholder 2">
            <a:extLst>
              <a:ext uri="{FF2B5EF4-FFF2-40B4-BE49-F238E27FC236}">
                <a16:creationId xmlns:a16="http://schemas.microsoft.com/office/drawing/2014/main" id="{02F23779-C985-BAC7-0511-4517ECE35D3C}"/>
              </a:ext>
            </a:extLst>
          </p:cNvPr>
          <p:cNvSpPr>
            <a:spLocks noGrp="1"/>
          </p:cNvSpPr>
          <p:nvPr>
            <p:ph sz="half" idx="1"/>
          </p:nvPr>
        </p:nvSpPr>
        <p:spPr/>
        <p:txBody>
          <a:bodyPr/>
          <a:lstStyle/>
          <a:p>
            <a:r>
              <a:rPr lang="en-US" dirty="0"/>
              <a:t>Functional Organization</a:t>
            </a:r>
          </a:p>
          <a:p>
            <a:r>
              <a:rPr lang="en-US" dirty="0"/>
              <a:t>Information Technology gaps</a:t>
            </a:r>
          </a:p>
          <a:p>
            <a:r>
              <a:rPr lang="en-US" dirty="0"/>
              <a:t>Excessive controls</a:t>
            </a:r>
          </a:p>
          <a:p>
            <a:r>
              <a:rPr lang="en-US" dirty="0"/>
              <a:t>Outdated process design</a:t>
            </a:r>
          </a:p>
          <a:p>
            <a:r>
              <a:rPr lang="en-US" dirty="0"/>
              <a:t>No back-up/cross-training</a:t>
            </a:r>
          </a:p>
          <a:p>
            <a:r>
              <a:rPr lang="en-US" dirty="0"/>
              <a:t>Unbalanced workload	</a:t>
            </a:r>
          </a:p>
          <a:p>
            <a:r>
              <a:rPr lang="en-US" dirty="0"/>
              <a:t>System batching</a:t>
            </a:r>
          </a:p>
        </p:txBody>
      </p:sp>
      <p:sp>
        <p:nvSpPr>
          <p:cNvPr id="4" name="Content Placeholder 3">
            <a:extLst>
              <a:ext uri="{FF2B5EF4-FFF2-40B4-BE49-F238E27FC236}">
                <a16:creationId xmlns:a16="http://schemas.microsoft.com/office/drawing/2014/main" id="{33CD2EA0-FD5E-6899-9EFE-BCCD518035C5}"/>
              </a:ext>
            </a:extLst>
          </p:cNvPr>
          <p:cNvSpPr>
            <a:spLocks noGrp="1"/>
          </p:cNvSpPr>
          <p:nvPr>
            <p:ph sz="half" idx="2"/>
          </p:nvPr>
        </p:nvSpPr>
        <p:spPr/>
        <p:txBody>
          <a:bodyPr/>
          <a:lstStyle/>
          <a:p>
            <a:r>
              <a:rPr lang="en-US" dirty="0"/>
              <a:t>Changing Priorities</a:t>
            </a:r>
          </a:p>
          <a:p>
            <a:r>
              <a:rPr lang="en-US" dirty="0"/>
              <a:t>Responsibilities not defined</a:t>
            </a:r>
          </a:p>
          <a:p>
            <a:r>
              <a:rPr lang="en-US" dirty="0"/>
              <a:t>Poor visual control</a:t>
            </a:r>
          </a:p>
          <a:p>
            <a:r>
              <a:rPr lang="en-US" dirty="0"/>
              <a:t>Disorganized workplace</a:t>
            </a:r>
          </a:p>
          <a:p>
            <a:r>
              <a:rPr lang="en-US" dirty="0"/>
              <a:t>Lack of training</a:t>
            </a:r>
          </a:p>
          <a:p>
            <a:r>
              <a:rPr lang="en-US" dirty="0"/>
              <a:t>Obsolete forms</a:t>
            </a:r>
          </a:p>
          <a:p>
            <a:r>
              <a:rPr lang="en-US" dirty="0"/>
              <a:t>No SOPs</a:t>
            </a:r>
          </a:p>
        </p:txBody>
      </p:sp>
      <p:sp>
        <p:nvSpPr>
          <p:cNvPr id="16" name="Slide Number Placeholder 16">
            <a:extLst>
              <a:ext uri="{FF2B5EF4-FFF2-40B4-BE49-F238E27FC236}">
                <a16:creationId xmlns:a16="http://schemas.microsoft.com/office/drawing/2014/main" id="{674CE84F-B114-BE0A-DB88-4E45735CFCF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51</a:t>
            </a:fld>
            <a:endParaRPr lang="en-US"/>
          </a:p>
        </p:txBody>
      </p:sp>
      <p:grpSp>
        <p:nvGrpSpPr>
          <p:cNvPr id="12" name="Group 11">
            <a:extLst>
              <a:ext uri="{FF2B5EF4-FFF2-40B4-BE49-F238E27FC236}">
                <a16:creationId xmlns:a16="http://schemas.microsoft.com/office/drawing/2014/main" id="{AD4E0AD8-59D2-2C8B-6ED1-C9936C6BFAC6}"/>
              </a:ext>
            </a:extLst>
          </p:cNvPr>
          <p:cNvGrpSpPr/>
          <p:nvPr/>
        </p:nvGrpSpPr>
        <p:grpSpPr>
          <a:xfrm>
            <a:off x="940249" y="302538"/>
            <a:ext cx="6219503" cy="311932"/>
            <a:chOff x="940249" y="302538"/>
            <a:chExt cx="6219503" cy="311932"/>
          </a:xfrm>
        </p:grpSpPr>
        <p:sp>
          <p:nvSpPr>
            <p:cNvPr id="13" name="TextBox 12">
              <a:extLst>
                <a:ext uri="{FF2B5EF4-FFF2-40B4-BE49-F238E27FC236}">
                  <a16:creationId xmlns:a16="http://schemas.microsoft.com/office/drawing/2014/main" id="{3B080382-8AB4-138E-2235-7AD7C0DDAC4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14" name="AutoShape 9">
              <a:extLst>
                <a:ext uri="{FF2B5EF4-FFF2-40B4-BE49-F238E27FC236}">
                  <a16:creationId xmlns:a16="http://schemas.microsoft.com/office/drawing/2014/main" id="{DE1A198E-DA9D-1D97-995E-010FA23DA31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94F2AE1-7DA6-39B6-1381-D1F853CD1E3D}"/>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83A1A97C-CA83-ACA7-0379-95A9C065B54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61E6000A-B005-238B-DCC1-548E36F6BF8B}"/>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265427C6-87A1-C984-0773-8D952B36ACF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3756647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Barriers vs. Solutions</a:t>
            </a:r>
            <a:endParaRPr lang="en-US" dirty="0"/>
          </a:p>
        </p:txBody>
      </p:sp>
      <p:sp>
        <p:nvSpPr>
          <p:cNvPr id="3" name="Content Placeholder 2">
            <a:extLst>
              <a:ext uri="{FF2B5EF4-FFF2-40B4-BE49-F238E27FC236}">
                <a16:creationId xmlns:a16="http://schemas.microsoft.com/office/drawing/2014/main" id="{506F63D4-0D44-A93E-78B4-FB6643789F05}"/>
              </a:ext>
            </a:extLst>
          </p:cNvPr>
          <p:cNvSpPr>
            <a:spLocks noGrp="1"/>
          </p:cNvSpPr>
          <p:nvPr>
            <p:ph idx="1"/>
          </p:nvPr>
        </p:nvSpPr>
        <p:spPr/>
        <p:txBody>
          <a:bodyPr/>
          <a:lstStyle/>
          <a:p>
            <a:r>
              <a:rPr lang="en-US" dirty="0"/>
              <a:t>A barrier states the obstacle to the goal</a:t>
            </a:r>
          </a:p>
          <a:p>
            <a:r>
              <a:rPr lang="en-US" dirty="0"/>
              <a:t>A solution states how to overcome the obstacle in order to </a:t>
            </a:r>
            <a:br>
              <a:rPr lang="en-US" dirty="0"/>
            </a:br>
            <a:r>
              <a:rPr lang="en-US" dirty="0"/>
              <a:t>achieve the goal</a:t>
            </a:r>
          </a:p>
          <a:p>
            <a:r>
              <a:rPr lang="en-US" dirty="0"/>
              <a:t>It is tempting to work on solutions before we define barriers</a:t>
            </a:r>
          </a:p>
          <a:p>
            <a:r>
              <a:rPr lang="en-US" dirty="0"/>
              <a:t>Important to keep in mind:</a:t>
            </a:r>
          </a:p>
          <a:p>
            <a:pPr lvl="1"/>
            <a:r>
              <a:rPr lang="en-US" dirty="0"/>
              <a:t>A common pitfall at this point in the event is to jump to solutions</a:t>
            </a:r>
          </a:p>
          <a:p>
            <a:pPr lvl="1"/>
            <a:r>
              <a:rPr lang="en-US" dirty="0"/>
              <a:t>Steer clear of this… it will lead to lots of talking and no acting</a:t>
            </a:r>
          </a:p>
          <a:p>
            <a:pPr lvl="1"/>
            <a:r>
              <a:rPr lang="en-US" dirty="0"/>
              <a:t>At this point we are only identifying and defining barriers</a:t>
            </a:r>
          </a:p>
          <a:p>
            <a:endParaRPr lang="en-US" dirty="0"/>
          </a:p>
        </p:txBody>
      </p:sp>
      <p:sp>
        <p:nvSpPr>
          <p:cNvPr id="15" name="Slide Number Placeholder 16">
            <a:extLst>
              <a:ext uri="{FF2B5EF4-FFF2-40B4-BE49-F238E27FC236}">
                <a16:creationId xmlns:a16="http://schemas.microsoft.com/office/drawing/2014/main" id="{B2905ACB-1F43-3219-EBE7-D4015CFA421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52</a:t>
            </a:fld>
            <a:endParaRPr lang="en-US"/>
          </a:p>
        </p:txBody>
      </p:sp>
      <p:grpSp>
        <p:nvGrpSpPr>
          <p:cNvPr id="4" name="Group 3">
            <a:extLst>
              <a:ext uri="{FF2B5EF4-FFF2-40B4-BE49-F238E27FC236}">
                <a16:creationId xmlns:a16="http://schemas.microsoft.com/office/drawing/2014/main" id="{93AE2A8B-CFA1-F300-6B9B-BDFE7E8398CA}"/>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E120562-0E59-F2F6-EBE8-4303E09B3EE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8CD2ADBC-7E61-EA0E-6A00-F2CEA5319F1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A0C66EB-0BA8-21E1-4FE9-253F7AB35B7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F0E852A-0CEC-9DBB-DADB-B69CC113EDB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345B9A0C-4EFA-DBFD-5F06-99E86750905E}"/>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E233230-6DFB-3DF1-8E1E-49E794F3E08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347843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Barrier Definition and Selection</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1803399"/>
            <a:ext cx="9610725" cy="3235325"/>
            <a:chOff x="488950" y="1679575"/>
            <a:chExt cx="8189913" cy="2209800"/>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latin typeface="Roboto" panose="02000000000000000000" pitchFamily="2" charset="0"/>
                  <a:ea typeface="Roboto" panose="02000000000000000000" pitchFamily="2" charset="0"/>
                  <a:cs typeface="Roboto" panose="02000000000000000000" pitchFamily="2" charset="0"/>
                </a:rPr>
                <a:t>Select and Prioritize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Define Barriers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rgbClr val="EE3228"/>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Identify Barriers</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brainstorming process to provide a brief name for each barrier </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name to 3 words max</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No judgments made at this point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Move quickly and list as many as possible</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Go back and write a brief description for each barrier</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to 3 sentences max</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Avoid jumping to solutions</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Review each barrier and gain team consensus on which to keep and which to discard</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matrix on the following slide to prioritize remaining barriers</a:t>
              </a:r>
            </a:p>
          </p:txBody>
        </p:sp>
        <p:sp>
          <p:nvSpPr>
            <p:cNvPr id="23" name="Oval 9">
              <a:extLst>
                <a:ext uri="{FF2B5EF4-FFF2-40B4-BE49-F238E27FC236}">
                  <a16:creationId xmlns:a16="http://schemas.microsoft.com/office/drawing/2014/main" id="{C6628F62-CEA3-FA0C-CF76-61BE796C4C6A}"/>
                </a:ext>
              </a:extLst>
            </p:cNvPr>
            <p:cNvSpPr>
              <a:spLocks noChangeArrowheads="1"/>
            </p:cNvSpPr>
            <p:nvPr/>
          </p:nvSpPr>
          <p:spPr bwMode="auto">
            <a:xfrm>
              <a:off x="619125"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rgbClr val="000066"/>
                  </a:solidFill>
                  <a:latin typeface="Roboto" panose="02000000000000000000" pitchFamily="2" charset="0"/>
                  <a:ea typeface="Roboto" panose="02000000000000000000" pitchFamily="2" charset="0"/>
                  <a:cs typeface="Roboto" panose="02000000000000000000" pitchFamily="2" charset="0"/>
                </a:rPr>
                <a:t>1</a:t>
              </a:r>
            </a:p>
          </p:txBody>
        </p:sp>
        <p:sp>
          <p:nvSpPr>
            <p:cNvPr id="24" name="Oval 10">
              <a:extLst>
                <a:ext uri="{FF2B5EF4-FFF2-40B4-BE49-F238E27FC236}">
                  <a16:creationId xmlns:a16="http://schemas.microsoft.com/office/drawing/2014/main" id="{38E14B23-27DE-6F0E-FC8C-44CF25CE015E}"/>
                </a:ext>
              </a:extLst>
            </p:cNvPr>
            <p:cNvSpPr>
              <a:spLocks noChangeArrowheads="1"/>
            </p:cNvSpPr>
            <p:nvPr/>
          </p:nvSpPr>
          <p:spPr bwMode="auto">
            <a:xfrm>
              <a:off x="3290888"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2</a:t>
              </a:r>
            </a:p>
          </p:txBody>
        </p:sp>
        <p:sp>
          <p:nvSpPr>
            <p:cNvPr id="25" name="Oval 11">
              <a:extLst>
                <a:ext uri="{FF2B5EF4-FFF2-40B4-BE49-F238E27FC236}">
                  <a16:creationId xmlns:a16="http://schemas.microsoft.com/office/drawing/2014/main" id="{73D59C05-D769-001C-2FF4-6C77F71B3165}"/>
                </a:ext>
              </a:extLst>
            </p:cNvPr>
            <p:cNvSpPr>
              <a:spLocks noChangeArrowheads="1"/>
            </p:cNvSpPr>
            <p:nvPr/>
          </p:nvSpPr>
          <p:spPr bwMode="auto">
            <a:xfrm>
              <a:off x="5813425"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3</a:t>
              </a:r>
            </a:p>
          </p:txBody>
        </p:sp>
      </p:grpSp>
      <p:sp>
        <p:nvSpPr>
          <p:cNvPr id="3" name="Slide Number Placeholder 16">
            <a:extLst>
              <a:ext uri="{FF2B5EF4-FFF2-40B4-BE49-F238E27FC236}">
                <a16:creationId xmlns:a16="http://schemas.microsoft.com/office/drawing/2014/main" id="{D8980A33-412C-2372-B3D8-6C41309A441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53</a:t>
            </a:fld>
            <a:endParaRPr lang="en-US"/>
          </a:p>
        </p:txBody>
      </p:sp>
      <p:grpSp>
        <p:nvGrpSpPr>
          <p:cNvPr id="4" name="Group 3">
            <a:extLst>
              <a:ext uri="{FF2B5EF4-FFF2-40B4-BE49-F238E27FC236}">
                <a16:creationId xmlns:a16="http://schemas.microsoft.com/office/drawing/2014/main" id="{E218A606-F2DA-651B-939E-C7BB3617E8B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ECD176E-8CB2-48F4-14CD-CF111968341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C9BB93DE-49C1-BF42-E511-1B39AA5CD41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B8F286DB-F155-6918-7444-378ABB22A99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8F95F185-71E1-8008-4CBA-9A533F2884CD}"/>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94795433-AECB-A27A-AD89-4F14F7531215}"/>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96B4C31-A7A7-23C0-0EAD-B5BC9A7A429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31214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noAutofit/>
          </a:bodyPr>
          <a:lstStyle/>
          <a:p>
            <a:r>
              <a:rPr lang="en-US" sz="3200" dirty="0">
                <a:ea typeface="+mj-ea"/>
                <a:cs typeface="+mj-cs"/>
              </a:rPr>
              <a:t>Prioritize Remaining Barriers </a:t>
            </a:r>
            <a:br>
              <a:rPr lang="en-US" sz="3200" dirty="0">
                <a:ea typeface="+mj-ea"/>
                <a:cs typeface="+mj-cs"/>
              </a:rPr>
            </a:br>
            <a:r>
              <a:rPr lang="en-US" sz="3200" dirty="0">
                <a:ea typeface="+mj-ea"/>
                <a:cs typeface="+mj-cs"/>
              </a:rPr>
              <a:t>by Impact and Time to Implement</a:t>
            </a:r>
            <a:endParaRPr lang="en-US" sz="3200" dirty="0"/>
          </a:p>
        </p:txBody>
      </p:sp>
      <p:grpSp>
        <p:nvGrpSpPr>
          <p:cNvPr id="49" name="Group 48">
            <a:extLst>
              <a:ext uri="{FF2B5EF4-FFF2-40B4-BE49-F238E27FC236}">
                <a16:creationId xmlns:a16="http://schemas.microsoft.com/office/drawing/2014/main" id="{4417766F-007C-EDBA-13FC-57888E4E0E76}"/>
              </a:ext>
            </a:extLst>
          </p:cNvPr>
          <p:cNvGrpSpPr/>
          <p:nvPr/>
        </p:nvGrpSpPr>
        <p:grpSpPr>
          <a:xfrm>
            <a:off x="2656724" y="2011423"/>
            <a:ext cx="6878553" cy="4245172"/>
            <a:chOff x="1007973" y="1646400"/>
            <a:chExt cx="6878553" cy="4245172"/>
          </a:xfrm>
        </p:grpSpPr>
        <p:grpSp>
          <p:nvGrpSpPr>
            <p:cNvPr id="3" name="Group 2">
              <a:extLst>
                <a:ext uri="{FF2B5EF4-FFF2-40B4-BE49-F238E27FC236}">
                  <a16:creationId xmlns:a16="http://schemas.microsoft.com/office/drawing/2014/main" id="{1B0024B7-1385-94D1-93B9-4A4E60331FB1}"/>
                </a:ext>
              </a:extLst>
            </p:cNvPr>
            <p:cNvGrpSpPr/>
            <p:nvPr/>
          </p:nvGrpSpPr>
          <p:grpSpPr>
            <a:xfrm>
              <a:off x="1007973" y="1646400"/>
              <a:ext cx="6878553" cy="4245172"/>
              <a:chOff x="1007973" y="1646400"/>
              <a:chExt cx="6878553" cy="4245172"/>
            </a:xfrm>
          </p:grpSpPr>
          <p:sp>
            <p:nvSpPr>
              <p:cNvPr id="15" name="Rectangle 14">
                <a:extLst>
                  <a:ext uri="{FF2B5EF4-FFF2-40B4-BE49-F238E27FC236}">
                    <a16:creationId xmlns:a16="http://schemas.microsoft.com/office/drawing/2014/main" id="{88DA59BC-5A06-0B51-BACA-C08F17F09511}"/>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16" name="Straight Connector 15">
                <a:extLst>
                  <a:ext uri="{FF2B5EF4-FFF2-40B4-BE49-F238E27FC236}">
                    <a16:creationId xmlns:a16="http://schemas.microsoft.com/office/drawing/2014/main" id="{CB8F2A38-A805-6EC2-F92A-276F63B75508}"/>
                  </a:ext>
                </a:extLst>
              </p:cNvPr>
              <p:cNvCxnSpPr>
                <a:cxnSpLocks/>
                <a:stCxn id="15" idx="0"/>
                <a:endCxn id="15"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27" name="Straight Connector 26">
                <a:extLst>
                  <a:ext uri="{FF2B5EF4-FFF2-40B4-BE49-F238E27FC236}">
                    <a16:creationId xmlns:a16="http://schemas.microsoft.com/office/drawing/2014/main" id="{0992E38D-ED4B-032D-5707-37A557C0ED9C}"/>
                  </a:ext>
                </a:extLst>
              </p:cNvPr>
              <p:cNvCxnSpPr>
                <a:cxnSpLocks/>
                <a:stCxn id="15" idx="1"/>
                <a:endCxn id="15"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28" name="Text Box 37">
                <a:extLst>
                  <a:ext uri="{FF2B5EF4-FFF2-40B4-BE49-F238E27FC236}">
                    <a16:creationId xmlns:a16="http://schemas.microsoft.com/office/drawing/2014/main" id="{66E9912E-111C-C6D3-F182-9C4388E3790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9" name="Text Box 36">
                <a:extLst>
                  <a:ext uri="{FF2B5EF4-FFF2-40B4-BE49-F238E27FC236}">
                    <a16:creationId xmlns:a16="http://schemas.microsoft.com/office/drawing/2014/main" id="{F8F3B1B6-CEE1-CE01-0D4A-FC69B1ADFA1D}"/>
                  </a:ext>
                </a:extLst>
              </p:cNvPr>
              <p:cNvSpPr txBox="1">
                <a:spLocks noChangeArrowheads="1"/>
              </p:cNvSpPr>
              <p:nvPr/>
            </p:nvSpPr>
            <p:spPr bwMode="auto">
              <a:xfrm>
                <a:off x="1007973" y="3144565"/>
                <a:ext cx="1079574"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30" name="Text Box 19">
                <a:extLst>
                  <a:ext uri="{FF2B5EF4-FFF2-40B4-BE49-F238E27FC236}">
                    <a16:creationId xmlns:a16="http://schemas.microsoft.com/office/drawing/2014/main" id="{6732642D-8028-4E16-026A-5181308EDE6F}"/>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31" name="Text Box 35">
                <a:extLst>
                  <a:ext uri="{FF2B5EF4-FFF2-40B4-BE49-F238E27FC236}">
                    <a16:creationId xmlns:a16="http://schemas.microsoft.com/office/drawing/2014/main" id="{E7D5691C-60BA-0458-216E-88D951B9663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32" name="Text Box 26">
                <a:extLst>
                  <a:ext uri="{FF2B5EF4-FFF2-40B4-BE49-F238E27FC236}">
                    <a16:creationId xmlns:a16="http://schemas.microsoft.com/office/drawing/2014/main" id="{998BC5E7-610F-933C-7825-FE74A5E9A437}"/>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a:t>
                </a:r>
                <a:br>
                  <a:rPr lang="en-US"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1-person team</a:t>
                </a:r>
              </a:p>
            </p:txBody>
          </p:sp>
          <p:cxnSp>
            <p:nvCxnSpPr>
              <p:cNvPr id="33" name="Straight Connector 32">
                <a:extLst>
                  <a:ext uri="{FF2B5EF4-FFF2-40B4-BE49-F238E27FC236}">
                    <a16:creationId xmlns:a16="http://schemas.microsoft.com/office/drawing/2014/main" id="{C1E5ECC7-A35B-B292-3376-713DF499ECA1}"/>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34" name="Text Box 35">
                <a:extLst>
                  <a:ext uri="{FF2B5EF4-FFF2-40B4-BE49-F238E27FC236}">
                    <a16:creationId xmlns:a16="http://schemas.microsoft.com/office/drawing/2014/main" id="{C1E37A46-632E-8655-16FF-68A2D35A908D}"/>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35" name="Text Box 19">
                <a:extLst>
                  <a:ext uri="{FF2B5EF4-FFF2-40B4-BE49-F238E27FC236}">
                    <a16:creationId xmlns:a16="http://schemas.microsoft.com/office/drawing/2014/main" id="{2756758A-2AA4-129B-F5F0-EE32B7C4358A}"/>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36" name="TextBox 35">
                <a:extLst>
                  <a:ext uri="{FF2B5EF4-FFF2-40B4-BE49-F238E27FC236}">
                    <a16:creationId xmlns:a16="http://schemas.microsoft.com/office/drawing/2014/main" id="{2F8A052E-5997-400B-0806-5F37223F4A23}"/>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37" name="TextBox 36">
                <a:extLst>
                  <a:ext uri="{FF2B5EF4-FFF2-40B4-BE49-F238E27FC236}">
                    <a16:creationId xmlns:a16="http://schemas.microsoft.com/office/drawing/2014/main" id="{D7372109-8CF0-BA25-B12B-16BC6C5C6A92}"/>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8" name="TextBox 37">
                <a:extLst>
                  <a:ext uri="{FF2B5EF4-FFF2-40B4-BE49-F238E27FC236}">
                    <a16:creationId xmlns:a16="http://schemas.microsoft.com/office/drawing/2014/main" id="{76176BCC-34B5-AB9A-8DDE-1367B6802C49}"/>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9" name="TextBox 38">
                <a:extLst>
                  <a:ext uri="{FF2B5EF4-FFF2-40B4-BE49-F238E27FC236}">
                    <a16:creationId xmlns:a16="http://schemas.microsoft.com/office/drawing/2014/main" id="{256532D9-4A1A-1AB3-D5ED-0C37CC054FD1}"/>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40" name="TextBox 39">
                <a:extLst>
                  <a:ext uri="{FF2B5EF4-FFF2-40B4-BE49-F238E27FC236}">
                    <a16:creationId xmlns:a16="http://schemas.microsoft.com/office/drawing/2014/main" id="{D9163EA4-F2D0-16BE-3B53-C866D911297C}"/>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41" name="TextBox 40">
                <a:extLst>
                  <a:ext uri="{FF2B5EF4-FFF2-40B4-BE49-F238E27FC236}">
                    <a16:creationId xmlns:a16="http://schemas.microsoft.com/office/drawing/2014/main" id="{5640D5FF-D516-8DA9-37C6-F63CC404D099}"/>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42" name="TextBox 41">
                <a:extLst>
                  <a:ext uri="{FF2B5EF4-FFF2-40B4-BE49-F238E27FC236}">
                    <a16:creationId xmlns:a16="http://schemas.microsoft.com/office/drawing/2014/main" id="{C9FF8530-60AB-2063-C677-BD5308B6D9F6}"/>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43" name="TextBox 42">
                <a:extLst>
                  <a:ext uri="{FF2B5EF4-FFF2-40B4-BE49-F238E27FC236}">
                    <a16:creationId xmlns:a16="http://schemas.microsoft.com/office/drawing/2014/main" id="{E4DEC30F-31B0-7665-68F6-9329616EF872}"/>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44" name="TextBox 43">
                <a:extLst>
                  <a:ext uri="{FF2B5EF4-FFF2-40B4-BE49-F238E27FC236}">
                    <a16:creationId xmlns:a16="http://schemas.microsoft.com/office/drawing/2014/main" id="{81A0A545-5352-774D-4A52-F0914A4AA593}"/>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45" name="Rectangle 53">
              <a:extLst>
                <a:ext uri="{FF2B5EF4-FFF2-40B4-BE49-F238E27FC236}">
                  <a16:creationId xmlns:a16="http://schemas.microsoft.com/office/drawing/2014/main" id="{8A638873-B2B8-C6C4-2F6A-FC002A03213D}"/>
                </a:ext>
              </a:extLst>
            </p:cNvPr>
            <p:cNvSpPr>
              <a:spLocks noChangeArrowheads="1"/>
            </p:cNvSpPr>
            <p:nvPr/>
          </p:nvSpPr>
          <p:spPr bwMode="auto">
            <a:xfrm>
              <a:off x="3148952" y="3619408"/>
              <a:ext cx="1353443" cy="606743"/>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latin typeface="Roboto" panose="02000000000000000000" pitchFamily="2" charset="0"/>
                  <a:ea typeface="Roboto" panose="02000000000000000000" pitchFamily="2" charset="0"/>
                  <a:cs typeface="Roboto" panose="02000000000000000000" pitchFamily="2" charset="0"/>
                </a:rPr>
                <a:t>Attack next</a:t>
              </a:r>
              <a:br>
                <a:rPr lang="en-US" altLang="en-US" sz="1600" b="0" dirty="0">
                  <a:latin typeface="Roboto" panose="02000000000000000000" pitchFamily="2" charset="0"/>
                  <a:ea typeface="Roboto" panose="02000000000000000000" pitchFamily="2" charset="0"/>
                  <a:cs typeface="Roboto" panose="02000000000000000000" pitchFamily="2" charset="0"/>
                </a:rPr>
              </a:br>
              <a:r>
                <a:rPr lang="en-US" altLang="en-US" sz="1050" b="0" dirty="0">
                  <a:latin typeface="Roboto" panose="02000000000000000000" pitchFamily="2" charset="0"/>
                  <a:ea typeface="Roboto" panose="02000000000000000000" pitchFamily="2" charset="0"/>
                  <a:cs typeface="Roboto" panose="02000000000000000000" pitchFamily="2" charset="0"/>
                </a:rPr>
                <a:t>(as decided by team)</a:t>
              </a:r>
            </a:p>
          </p:txBody>
        </p:sp>
        <p:sp>
          <p:nvSpPr>
            <p:cNvPr id="46" name="Rectangle 54">
              <a:extLst>
                <a:ext uri="{FF2B5EF4-FFF2-40B4-BE49-F238E27FC236}">
                  <a16:creationId xmlns:a16="http://schemas.microsoft.com/office/drawing/2014/main" id="{A71D208F-8E25-7445-BB7E-364E933782B2}"/>
                </a:ext>
              </a:extLst>
            </p:cNvPr>
            <p:cNvSpPr>
              <a:spLocks noChangeArrowheads="1"/>
            </p:cNvSpPr>
            <p:nvPr/>
          </p:nvSpPr>
          <p:spPr bwMode="auto">
            <a:xfrm>
              <a:off x="3183054" y="1866023"/>
              <a:ext cx="1291823" cy="539753"/>
            </a:xfrm>
            <a:prstGeom prst="rect">
              <a:avLst/>
            </a:prstGeom>
            <a:solidFill>
              <a:schemeClr val="accent2"/>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Attack first!</a:t>
              </a:r>
            </a:p>
          </p:txBody>
        </p:sp>
        <p:sp>
          <p:nvSpPr>
            <p:cNvPr id="47" name="Rectangle 56">
              <a:extLst>
                <a:ext uri="{FF2B5EF4-FFF2-40B4-BE49-F238E27FC236}">
                  <a16:creationId xmlns:a16="http://schemas.microsoft.com/office/drawing/2014/main" id="{98388E58-E9EC-1DEE-BC39-733D248E6EB4}"/>
                </a:ext>
              </a:extLst>
            </p:cNvPr>
            <p:cNvSpPr>
              <a:spLocks noChangeArrowheads="1"/>
            </p:cNvSpPr>
            <p:nvPr/>
          </p:nvSpPr>
          <p:spPr bwMode="auto">
            <a:xfrm>
              <a:off x="5919837" y="3619198"/>
              <a:ext cx="1339478" cy="606954"/>
            </a:xfrm>
            <a:prstGeom prst="rect">
              <a:avLst/>
            </a:prstGeom>
            <a:solidFill>
              <a:schemeClr val="bg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b="0" dirty="0">
                  <a:latin typeface="Roboto" panose="02000000000000000000" pitchFamily="2" charset="0"/>
                  <a:ea typeface="Roboto" panose="02000000000000000000" pitchFamily="2" charset="0"/>
                  <a:cs typeface="Roboto" panose="02000000000000000000" pitchFamily="2" charset="0"/>
                </a:rPr>
                <a:t>Don’</a:t>
              </a:r>
              <a:r>
                <a:rPr lang="en-US" altLang="ja-JP" sz="1600" b="0" dirty="0">
                  <a:latin typeface="Roboto" panose="02000000000000000000" pitchFamily="2" charset="0"/>
                  <a:ea typeface="Roboto" panose="02000000000000000000" pitchFamily="2" charset="0"/>
                  <a:cs typeface="Roboto" panose="02000000000000000000" pitchFamily="2" charset="0"/>
                </a:rPr>
                <a:t>t attack</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48" name="Rectangle 53">
              <a:extLst>
                <a:ext uri="{FF2B5EF4-FFF2-40B4-BE49-F238E27FC236}">
                  <a16:creationId xmlns:a16="http://schemas.microsoft.com/office/drawing/2014/main" id="{900CE233-C61A-2866-4FC4-F23FD276A096}"/>
                </a:ext>
              </a:extLst>
            </p:cNvPr>
            <p:cNvSpPr>
              <a:spLocks noChangeArrowheads="1"/>
            </p:cNvSpPr>
            <p:nvPr/>
          </p:nvSpPr>
          <p:spPr bwMode="auto">
            <a:xfrm>
              <a:off x="5123868" y="2135671"/>
              <a:ext cx="1442752" cy="606743"/>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latin typeface="Roboto" panose="02000000000000000000" pitchFamily="2" charset="0"/>
                  <a:ea typeface="Roboto" panose="02000000000000000000" pitchFamily="2" charset="0"/>
                  <a:cs typeface="Roboto" panose="02000000000000000000" pitchFamily="2" charset="0"/>
                </a:rPr>
                <a:t>Attack next</a:t>
              </a:r>
              <a:br>
                <a:rPr lang="en-US" altLang="en-US" sz="1600" b="0" dirty="0">
                  <a:latin typeface="Roboto" panose="02000000000000000000" pitchFamily="2" charset="0"/>
                  <a:ea typeface="Roboto" panose="02000000000000000000" pitchFamily="2" charset="0"/>
                  <a:cs typeface="Roboto" panose="02000000000000000000" pitchFamily="2" charset="0"/>
                </a:rPr>
              </a:br>
              <a:r>
                <a:rPr lang="en-US" altLang="en-US" sz="1050" b="0" dirty="0">
                  <a:latin typeface="Roboto" panose="02000000000000000000" pitchFamily="2" charset="0"/>
                  <a:ea typeface="Roboto" panose="02000000000000000000" pitchFamily="2" charset="0"/>
                  <a:cs typeface="Roboto" panose="02000000000000000000" pitchFamily="2" charset="0"/>
                </a:rPr>
                <a:t>(as decided by team)</a:t>
              </a:r>
            </a:p>
          </p:txBody>
        </p:sp>
      </p:grpSp>
      <p:sp>
        <p:nvSpPr>
          <p:cNvPr id="17" name="Slide Number Placeholder 16">
            <a:extLst>
              <a:ext uri="{FF2B5EF4-FFF2-40B4-BE49-F238E27FC236}">
                <a16:creationId xmlns:a16="http://schemas.microsoft.com/office/drawing/2014/main" id="{71B9DC7F-0994-AD21-3616-D5F1ABC84A33}"/>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54</a:t>
            </a:fld>
            <a:endParaRPr lang="en-US"/>
          </a:p>
        </p:txBody>
      </p:sp>
      <p:grpSp>
        <p:nvGrpSpPr>
          <p:cNvPr id="4" name="Group 3">
            <a:extLst>
              <a:ext uri="{FF2B5EF4-FFF2-40B4-BE49-F238E27FC236}">
                <a16:creationId xmlns:a16="http://schemas.microsoft.com/office/drawing/2014/main" id="{D902AA02-10D6-D513-44B0-77A83FDCD84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070F4ECB-41E8-155D-0AD9-03370FD437D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EC569D3D-4CD0-9A90-1814-9B234CA79C8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F13C94A-FA42-A740-105F-3F8E80FA406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3FAC7D1-F519-D3C1-AF27-B21B33ED94E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5A80036-E7DB-97AB-4258-3A98AA09F2C8}"/>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75A07519-0199-67AB-371A-3BD417EF29C6}"/>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9134031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4704-3DCD-254C-4F2A-4952AC08C31F}"/>
              </a:ext>
            </a:extLst>
          </p:cNvPr>
          <p:cNvSpPr>
            <a:spLocks noGrp="1"/>
          </p:cNvSpPr>
          <p:nvPr>
            <p:ph type="title"/>
          </p:nvPr>
        </p:nvSpPr>
        <p:spPr/>
        <p:txBody>
          <a:bodyPr/>
          <a:lstStyle/>
          <a:p>
            <a:r>
              <a:rPr lang="en-US" dirty="0"/>
              <a:t>Brainstorming Barriers</a:t>
            </a:r>
          </a:p>
        </p:txBody>
      </p:sp>
      <p:pic>
        <p:nvPicPr>
          <p:cNvPr id="9" name="Content Placeholder 8">
            <a:extLst>
              <a:ext uri="{FF2B5EF4-FFF2-40B4-BE49-F238E27FC236}">
                <a16:creationId xmlns:a16="http://schemas.microsoft.com/office/drawing/2014/main" id="{229C92A0-06B4-9C2E-AE7C-7A7FE23F12CE}"/>
              </a:ext>
            </a:extLst>
          </p:cNvPr>
          <p:cNvPicPr>
            <a:picLocks noGrp="1" noChangeAspect="1"/>
          </p:cNvPicPr>
          <p:nvPr>
            <p:ph idx="1"/>
          </p:nvPr>
        </p:nvPicPr>
        <p:blipFill>
          <a:blip r:embed="rId3"/>
          <a:stretch>
            <a:fillRect/>
          </a:stretch>
        </p:blipFill>
        <p:spPr>
          <a:xfrm>
            <a:off x="5183188" y="1922229"/>
            <a:ext cx="5339112" cy="3559408"/>
          </a:xfrm>
        </p:spPr>
      </p:pic>
      <p:sp>
        <p:nvSpPr>
          <p:cNvPr id="4" name="Text Placeholder 3">
            <a:extLst>
              <a:ext uri="{FF2B5EF4-FFF2-40B4-BE49-F238E27FC236}">
                <a16:creationId xmlns:a16="http://schemas.microsoft.com/office/drawing/2014/main" id="{B8A713BB-90BA-60A7-3D27-415C666743BB}"/>
              </a:ext>
            </a:extLst>
          </p:cNvPr>
          <p:cNvSpPr>
            <a:spLocks noGrp="1"/>
          </p:cNvSpPr>
          <p:nvPr>
            <p:ph type="body" sz="half" idx="2"/>
          </p:nvPr>
        </p:nvSpPr>
        <p:spPr/>
        <p:txBody>
          <a:bodyPr>
            <a:normAutofit fontScale="92500" lnSpcReduction="10000"/>
          </a:bodyPr>
          <a:lstStyle/>
          <a:p>
            <a:pPr marL="285750" indent="-285750">
              <a:buFont typeface="Arial" panose="020B0604020202020204" pitchFamily="34" charset="0"/>
              <a:buChar char="•"/>
            </a:pPr>
            <a:r>
              <a:rPr lang="en-US" sz="2400" dirty="0"/>
              <a:t>Goal: Incoming faxes arrive completely and to the correct person within 1 hour of receipt</a:t>
            </a:r>
          </a:p>
          <a:p>
            <a:pPr marL="285750" indent="-285750">
              <a:buFont typeface="Arial" panose="020B0604020202020204" pitchFamily="34" charset="0"/>
              <a:buChar char="•"/>
            </a:pPr>
            <a:r>
              <a:rPr lang="en-US" sz="2400" dirty="0"/>
              <a:t>Examples of Barriers:</a:t>
            </a:r>
          </a:p>
          <a:p>
            <a:pPr marL="742950" lvl="1" indent="-285750">
              <a:buFont typeface="Arial" panose="020B0604020202020204" pitchFamily="34" charset="0"/>
              <a:buChar char="•"/>
            </a:pPr>
            <a:r>
              <a:rPr lang="en-US" sz="2200" dirty="0"/>
              <a:t>Electricity outage</a:t>
            </a:r>
          </a:p>
          <a:p>
            <a:pPr marL="742950" lvl="1" indent="-285750">
              <a:buFont typeface="Arial" panose="020B0604020202020204" pitchFamily="34" charset="0"/>
              <a:buChar char="•"/>
            </a:pPr>
            <a:r>
              <a:rPr lang="en-US" sz="2200" dirty="0"/>
              <a:t>No fax paper</a:t>
            </a:r>
          </a:p>
          <a:p>
            <a:pPr marL="742950" lvl="1" indent="-285750">
              <a:buFont typeface="Arial" panose="020B0604020202020204" pitchFamily="34" charset="0"/>
              <a:buChar char="•"/>
            </a:pPr>
            <a:r>
              <a:rPr lang="en-US" sz="2200" dirty="0"/>
              <a:t>No cover sheet</a:t>
            </a:r>
          </a:p>
          <a:p>
            <a:pPr marL="742950" lvl="1" indent="-285750">
              <a:buFont typeface="Arial" panose="020B0604020202020204" pitchFamily="34" charset="0"/>
              <a:buChar char="•"/>
            </a:pPr>
            <a:r>
              <a:rPr lang="en-US" sz="2200" dirty="0"/>
              <a:t>No ownership</a:t>
            </a:r>
          </a:p>
          <a:p>
            <a:pPr marL="742950" lvl="1" indent="-285750">
              <a:buFont typeface="Arial" panose="020B0604020202020204" pitchFamily="34" charset="0"/>
              <a:buChar char="•"/>
            </a:pPr>
            <a:r>
              <a:rPr lang="en-US" sz="2200" dirty="0"/>
              <a:t>No specific location</a:t>
            </a:r>
          </a:p>
          <a:p>
            <a:pPr marL="742950" lvl="1" indent="-285750">
              <a:buFont typeface="Arial" panose="020B0604020202020204" pitchFamily="34" charset="0"/>
              <a:buChar char="•"/>
            </a:pPr>
            <a:r>
              <a:rPr lang="en-US" sz="2200" dirty="0"/>
              <a:t>Faxes mixed with copies</a:t>
            </a:r>
          </a:p>
        </p:txBody>
      </p:sp>
      <p:sp>
        <p:nvSpPr>
          <p:cNvPr id="16" name="Slide Number Placeholder 16">
            <a:extLst>
              <a:ext uri="{FF2B5EF4-FFF2-40B4-BE49-F238E27FC236}">
                <a16:creationId xmlns:a16="http://schemas.microsoft.com/office/drawing/2014/main" id="{07A162C8-B014-2ACB-DEC1-B997B7EA15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55</a:t>
            </a:fld>
            <a:endParaRPr lang="en-US"/>
          </a:p>
        </p:txBody>
      </p:sp>
      <p:grpSp>
        <p:nvGrpSpPr>
          <p:cNvPr id="3" name="Group 2">
            <a:extLst>
              <a:ext uri="{FF2B5EF4-FFF2-40B4-BE49-F238E27FC236}">
                <a16:creationId xmlns:a16="http://schemas.microsoft.com/office/drawing/2014/main" id="{3A2B9E8B-38F8-5685-E7BD-2BF793CB7E91}"/>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A9FB19A-BEDC-4896-F03F-3E615B43048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09E637AE-09AC-766F-799D-771FEAD3032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AE8BC60-E333-2432-6290-8EA11AD59EF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80FD167D-89CB-37C1-3CFF-3C002A8BE68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23BDF12-3721-9457-564E-4D39E5A63F19}"/>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27C5502-A5F2-8B48-136F-3F2D81DA9D58}"/>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42464837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3741281817"/>
              </p:ext>
            </p:extLst>
          </p:nvPr>
        </p:nvGraphicFramePr>
        <p:xfrm>
          <a:off x="1207915" y="1958744"/>
          <a:ext cx="9776170" cy="4178430"/>
        </p:xfrm>
        <a:graphic>
          <a:graphicData uri="http://schemas.openxmlformats.org/drawingml/2006/table">
            <a:tbl>
              <a:tblPr/>
              <a:tblGrid>
                <a:gridCol w="1695346">
                  <a:extLst>
                    <a:ext uri="{9D8B030D-6E8A-4147-A177-3AD203B41FA5}">
                      <a16:colId xmlns:a16="http://schemas.microsoft.com/office/drawing/2014/main" val="20000"/>
                    </a:ext>
                  </a:extLst>
                </a:gridCol>
                <a:gridCol w="5869264">
                  <a:extLst>
                    <a:ext uri="{9D8B030D-6E8A-4147-A177-3AD203B41FA5}">
                      <a16:colId xmlns:a16="http://schemas.microsoft.com/office/drawing/2014/main" val="20001"/>
                    </a:ext>
                  </a:extLst>
                </a:gridCol>
                <a:gridCol w="2211560">
                  <a:extLst>
                    <a:ext uri="{9D8B030D-6E8A-4147-A177-3AD203B41FA5}">
                      <a16:colId xmlns:a16="http://schemas.microsoft.com/office/drawing/2014/main" val="612739004"/>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Barriers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Barrier Descriptions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Selected Barriers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None/>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Electricity outage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there is a power outage, there is no way to tell if an incoming fax was missed.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fax paper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 fax machine may run out of paper during the middle of receiving an incoming fax.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algn="ctr"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cover sheet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are times no cover sheets arrive with the faxes so we cannot tell if it is a fax or a print out, who it belongs to, and how many pages were sent.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ownership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is no one responsible for the correct distribution of faxes. People just bring faxes to each other when they are at the copy machine if they happen to see one there.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specific location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is no defined place to deliver the fax. Some people leave on chairs, on desks, or on in-boxes.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Faxes mixed with copies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 fax machine, copy machine and printer are all-in-one. If someone prints a document while a fax is being received it can bury the fax within the document.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bl>
          </a:graphicData>
        </a:graphic>
      </p:graphicFrame>
      <p:sp>
        <p:nvSpPr>
          <p:cNvPr id="7" name="Title 6">
            <a:extLst>
              <a:ext uri="{FF2B5EF4-FFF2-40B4-BE49-F238E27FC236}">
                <a16:creationId xmlns:a16="http://schemas.microsoft.com/office/drawing/2014/main" id="{12CCEEA2-DE92-3C01-B3A9-90DE8F29581D}"/>
              </a:ext>
            </a:extLst>
          </p:cNvPr>
          <p:cNvSpPr>
            <a:spLocks noGrp="1"/>
          </p:cNvSpPr>
          <p:nvPr>
            <p:ph type="title"/>
          </p:nvPr>
        </p:nvSpPr>
        <p:spPr/>
        <p:txBody>
          <a:bodyPr>
            <a:normAutofit/>
          </a:bodyPr>
          <a:lstStyle/>
          <a:p>
            <a:r>
              <a:rPr lang="en-US" dirty="0">
                <a:ea typeface="+mj-ea"/>
                <a:cs typeface="+mj-cs"/>
              </a:rPr>
              <a:t>Example</a:t>
            </a:r>
            <a:endParaRPr lang="en-US" dirty="0"/>
          </a:p>
        </p:txBody>
      </p:sp>
      <p:sp>
        <p:nvSpPr>
          <p:cNvPr id="6" name="Slide Number Placeholder 16">
            <a:extLst>
              <a:ext uri="{FF2B5EF4-FFF2-40B4-BE49-F238E27FC236}">
                <a16:creationId xmlns:a16="http://schemas.microsoft.com/office/drawing/2014/main" id="{62302F22-779E-DC11-A7C1-8EF36BEAA0EB}"/>
              </a:ext>
            </a:extLst>
          </p:cNvPr>
          <p:cNvSpPr>
            <a:spLocks noGrp="1"/>
          </p:cNvSpPr>
          <p:nvPr>
            <p:ph type="sldNum" sz="quarter" idx="4"/>
          </p:nvPr>
        </p:nvSpPr>
        <p:spPr/>
        <p:txBody>
          <a:bodyPr/>
          <a:lstStyle/>
          <a:p>
            <a:fld id="{CC6D4273-7FC1-0947-B9FE-19CB3C0D1FB6}" type="slidenum">
              <a:rPr lang="en-US" smtClean="0"/>
              <a:t>56</a:t>
            </a:fld>
            <a:endParaRPr lang="en-US"/>
          </a:p>
        </p:txBody>
      </p:sp>
      <p:grpSp>
        <p:nvGrpSpPr>
          <p:cNvPr id="2" name="Group 1">
            <a:extLst>
              <a:ext uri="{FF2B5EF4-FFF2-40B4-BE49-F238E27FC236}">
                <a16:creationId xmlns:a16="http://schemas.microsoft.com/office/drawing/2014/main" id="{E671B66F-3756-250D-7605-E5541C08A98E}"/>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95C7B7B4-62BD-4135-C0D7-7541554ECC7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57E086C7-5E67-2714-8142-3BA5B0DBD7A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980A841A-67DB-F8B6-F00B-E287C99DA8C6}"/>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1C818407-EEAF-2D94-6251-35678E67418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52C5CE5-8E40-E239-0C83-B79D42F76696}"/>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7CF3DC36-44D8-8E6C-B6B0-F84E7AF6426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999928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74F1920-8F68-58D0-21F5-B36AC48E839A}"/>
              </a:ext>
            </a:extLst>
          </p:cNvPr>
          <p:cNvGrpSpPr/>
          <p:nvPr/>
        </p:nvGrpSpPr>
        <p:grpSpPr>
          <a:xfrm>
            <a:off x="2660987" y="1940705"/>
            <a:ext cx="6843537" cy="4245172"/>
            <a:chOff x="1042989" y="1646400"/>
            <a:chExt cx="6843537" cy="4245172"/>
          </a:xfrm>
        </p:grpSpPr>
        <p:sp>
          <p:nvSpPr>
            <p:cNvPr id="7" name="Rectangle 6">
              <a:extLst>
                <a:ext uri="{FF2B5EF4-FFF2-40B4-BE49-F238E27FC236}">
                  <a16:creationId xmlns:a16="http://schemas.microsoft.com/office/drawing/2014/main" id="{F38892B6-C3C2-F439-498A-CD216BD549FB}"/>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8" name="Straight Connector 7">
              <a:extLst>
                <a:ext uri="{FF2B5EF4-FFF2-40B4-BE49-F238E27FC236}">
                  <a16:creationId xmlns:a16="http://schemas.microsoft.com/office/drawing/2014/main" id="{6F88FB37-30D5-7413-61F8-FE848F8C3AFD}"/>
                </a:ext>
              </a:extLst>
            </p:cNvPr>
            <p:cNvCxnSpPr>
              <a:cxnSpLocks/>
              <a:stCxn id="7" idx="0"/>
              <a:endCxn id="7"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9" name="Straight Connector 8">
              <a:extLst>
                <a:ext uri="{FF2B5EF4-FFF2-40B4-BE49-F238E27FC236}">
                  <a16:creationId xmlns:a16="http://schemas.microsoft.com/office/drawing/2014/main" id="{74BE2B0D-7673-7F64-B4A2-54C2DC189198}"/>
                </a:ext>
              </a:extLst>
            </p:cNvPr>
            <p:cNvCxnSpPr>
              <a:cxnSpLocks/>
              <a:stCxn id="7" idx="1"/>
              <a:endCxn id="7"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10" name="Text Box 37">
              <a:extLst>
                <a:ext uri="{FF2B5EF4-FFF2-40B4-BE49-F238E27FC236}">
                  <a16:creationId xmlns:a16="http://schemas.microsoft.com/office/drawing/2014/main" id="{251F6827-F3F0-0B0C-9E8C-682DBCB271D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0" name="Text Box 36">
              <a:extLst>
                <a:ext uri="{FF2B5EF4-FFF2-40B4-BE49-F238E27FC236}">
                  <a16:creationId xmlns:a16="http://schemas.microsoft.com/office/drawing/2014/main" id="{F0EF47E1-DA74-CE5E-EAEF-A4FF4114623B}"/>
                </a:ext>
              </a:extLst>
            </p:cNvPr>
            <p:cNvSpPr txBox="1">
              <a:spLocks noChangeArrowheads="1"/>
            </p:cNvSpPr>
            <p:nvPr/>
          </p:nvSpPr>
          <p:spPr bwMode="auto">
            <a:xfrm>
              <a:off x="1042989" y="3173858"/>
              <a:ext cx="1079574"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21" name="Text Box 19">
              <a:extLst>
                <a:ext uri="{FF2B5EF4-FFF2-40B4-BE49-F238E27FC236}">
                  <a16:creationId xmlns:a16="http://schemas.microsoft.com/office/drawing/2014/main" id="{6262A74B-4E57-37D6-97AC-1A39CFC20B5A}"/>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22" name="Text Box 35">
              <a:extLst>
                <a:ext uri="{FF2B5EF4-FFF2-40B4-BE49-F238E27FC236}">
                  <a16:creationId xmlns:a16="http://schemas.microsoft.com/office/drawing/2014/main" id="{F0B56DE9-E370-C5E4-F6E3-75D3028BAAF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3" name="Text Box 26">
              <a:extLst>
                <a:ext uri="{FF2B5EF4-FFF2-40B4-BE49-F238E27FC236}">
                  <a16:creationId xmlns:a16="http://schemas.microsoft.com/office/drawing/2014/main" id="{A2C1779C-3612-5F52-F8A1-E001F4412165}"/>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1-person team</a:t>
              </a:r>
            </a:p>
          </p:txBody>
        </p:sp>
        <p:cxnSp>
          <p:nvCxnSpPr>
            <p:cNvPr id="24" name="Straight Connector 23">
              <a:extLst>
                <a:ext uri="{FF2B5EF4-FFF2-40B4-BE49-F238E27FC236}">
                  <a16:creationId xmlns:a16="http://schemas.microsoft.com/office/drawing/2014/main" id="{27F7AF56-3027-1971-70E7-7999FA5E28AD}"/>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25" name="Text Box 35">
              <a:extLst>
                <a:ext uri="{FF2B5EF4-FFF2-40B4-BE49-F238E27FC236}">
                  <a16:creationId xmlns:a16="http://schemas.microsoft.com/office/drawing/2014/main" id="{6F21A696-68DF-1625-824A-7FDE528DCB17}"/>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6" name="Text Box 19">
              <a:extLst>
                <a:ext uri="{FF2B5EF4-FFF2-40B4-BE49-F238E27FC236}">
                  <a16:creationId xmlns:a16="http://schemas.microsoft.com/office/drawing/2014/main" id="{C3545391-7783-87D9-0B05-059D8AC547D7}"/>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27" name="TextBox 26">
              <a:extLst>
                <a:ext uri="{FF2B5EF4-FFF2-40B4-BE49-F238E27FC236}">
                  <a16:creationId xmlns:a16="http://schemas.microsoft.com/office/drawing/2014/main" id="{DE546750-545D-DE0E-0843-8D136C12532F}"/>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28" name="TextBox 27">
              <a:extLst>
                <a:ext uri="{FF2B5EF4-FFF2-40B4-BE49-F238E27FC236}">
                  <a16:creationId xmlns:a16="http://schemas.microsoft.com/office/drawing/2014/main" id="{6F60A996-41BC-84A6-5749-70D7C8085EC7}"/>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29" name="TextBox 28">
              <a:extLst>
                <a:ext uri="{FF2B5EF4-FFF2-40B4-BE49-F238E27FC236}">
                  <a16:creationId xmlns:a16="http://schemas.microsoft.com/office/drawing/2014/main" id="{DBC158BB-770E-6064-F5D2-0AF5EEF1E693}"/>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0" name="TextBox 29">
              <a:extLst>
                <a:ext uri="{FF2B5EF4-FFF2-40B4-BE49-F238E27FC236}">
                  <a16:creationId xmlns:a16="http://schemas.microsoft.com/office/drawing/2014/main" id="{A39B6E7E-B99A-FC55-FCC1-79B68C3360E7}"/>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1" name="TextBox 30">
              <a:extLst>
                <a:ext uri="{FF2B5EF4-FFF2-40B4-BE49-F238E27FC236}">
                  <a16:creationId xmlns:a16="http://schemas.microsoft.com/office/drawing/2014/main" id="{C351EFF5-4821-AF93-C3A5-743073E7C834}"/>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32" name="TextBox 31">
              <a:extLst>
                <a:ext uri="{FF2B5EF4-FFF2-40B4-BE49-F238E27FC236}">
                  <a16:creationId xmlns:a16="http://schemas.microsoft.com/office/drawing/2014/main" id="{97367025-C680-30CA-CAF6-44BC687DD1E7}"/>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3" name="TextBox 32">
              <a:extLst>
                <a:ext uri="{FF2B5EF4-FFF2-40B4-BE49-F238E27FC236}">
                  <a16:creationId xmlns:a16="http://schemas.microsoft.com/office/drawing/2014/main" id="{4E8B2B5F-1037-CE74-DEF3-CF145AF150D4}"/>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4" name="TextBox 33">
              <a:extLst>
                <a:ext uri="{FF2B5EF4-FFF2-40B4-BE49-F238E27FC236}">
                  <a16:creationId xmlns:a16="http://schemas.microsoft.com/office/drawing/2014/main" id="{EB1DCB0C-8E2C-1CB2-0E3B-1F14DB0215DD}"/>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5" name="TextBox 34">
              <a:extLst>
                <a:ext uri="{FF2B5EF4-FFF2-40B4-BE49-F238E27FC236}">
                  <a16:creationId xmlns:a16="http://schemas.microsoft.com/office/drawing/2014/main" id="{E881FC23-4CA3-919D-1AB8-5EDA0E2B145D}"/>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36" name="Rectangle 25">
            <a:extLst>
              <a:ext uri="{FF2B5EF4-FFF2-40B4-BE49-F238E27FC236}">
                <a16:creationId xmlns:a16="http://schemas.microsoft.com/office/drawing/2014/main" id="{CDF21FF8-3451-7ADA-EFB3-6A06EA362246}"/>
              </a:ext>
            </a:extLst>
          </p:cNvPr>
          <p:cNvSpPr>
            <a:spLocks noChangeArrowheads="1"/>
          </p:cNvSpPr>
          <p:nvPr/>
        </p:nvSpPr>
        <p:spPr bwMode="auto">
          <a:xfrm>
            <a:off x="7857350" y="2293183"/>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No fax</a:t>
            </a:r>
            <a:b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paper</a:t>
            </a:r>
          </a:p>
        </p:txBody>
      </p:sp>
      <p:sp>
        <p:nvSpPr>
          <p:cNvPr id="37" name="Rectangle 26">
            <a:extLst>
              <a:ext uri="{FF2B5EF4-FFF2-40B4-BE49-F238E27FC236}">
                <a16:creationId xmlns:a16="http://schemas.microsoft.com/office/drawing/2014/main" id="{76FE5893-CAFC-6485-0488-1424F6924417}"/>
              </a:ext>
            </a:extLst>
          </p:cNvPr>
          <p:cNvSpPr>
            <a:spLocks noChangeArrowheads="1"/>
          </p:cNvSpPr>
          <p:nvPr/>
        </p:nvSpPr>
        <p:spPr bwMode="auto">
          <a:xfrm>
            <a:off x="6683008" y="2500661"/>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specific</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location</a:t>
            </a:r>
          </a:p>
        </p:txBody>
      </p:sp>
      <p:sp>
        <p:nvSpPr>
          <p:cNvPr id="38" name="Oval 27">
            <a:extLst>
              <a:ext uri="{FF2B5EF4-FFF2-40B4-BE49-F238E27FC236}">
                <a16:creationId xmlns:a16="http://schemas.microsoft.com/office/drawing/2014/main" id="{0E754A54-BF3A-B507-CF22-9DBC2225C95A}"/>
              </a:ext>
            </a:extLst>
          </p:cNvPr>
          <p:cNvSpPr>
            <a:spLocks noChangeArrowheads="1"/>
          </p:cNvSpPr>
          <p:nvPr/>
        </p:nvSpPr>
        <p:spPr bwMode="auto">
          <a:xfrm>
            <a:off x="4583448" y="2899393"/>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9" name="Oval 28">
            <a:extLst>
              <a:ext uri="{FF2B5EF4-FFF2-40B4-BE49-F238E27FC236}">
                <a16:creationId xmlns:a16="http://schemas.microsoft.com/office/drawing/2014/main" id="{65C07B0F-C75B-4682-2649-54CB46268A43}"/>
              </a:ext>
            </a:extLst>
          </p:cNvPr>
          <p:cNvSpPr>
            <a:spLocks noChangeArrowheads="1"/>
          </p:cNvSpPr>
          <p:nvPr/>
        </p:nvSpPr>
        <p:spPr bwMode="auto">
          <a:xfrm>
            <a:off x="5807411" y="2908918"/>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0" name="Rectangle 29">
            <a:extLst>
              <a:ext uri="{FF2B5EF4-FFF2-40B4-BE49-F238E27FC236}">
                <a16:creationId xmlns:a16="http://schemas.microsoft.com/office/drawing/2014/main" id="{1E13B09F-1997-958F-83B1-9480408F0EAB}"/>
              </a:ext>
            </a:extLst>
          </p:cNvPr>
          <p:cNvSpPr>
            <a:spLocks noChangeArrowheads="1"/>
          </p:cNvSpPr>
          <p:nvPr/>
        </p:nvSpPr>
        <p:spPr bwMode="auto">
          <a:xfrm>
            <a:off x="3906939" y="2114916"/>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ownership</a:t>
            </a:r>
          </a:p>
        </p:txBody>
      </p:sp>
      <p:sp>
        <p:nvSpPr>
          <p:cNvPr id="41" name="Oval 30">
            <a:extLst>
              <a:ext uri="{FF2B5EF4-FFF2-40B4-BE49-F238E27FC236}">
                <a16:creationId xmlns:a16="http://schemas.microsoft.com/office/drawing/2014/main" id="{48CA9C2E-E654-483C-E5C0-0668A3C543FC}"/>
              </a:ext>
            </a:extLst>
          </p:cNvPr>
          <p:cNvSpPr>
            <a:spLocks noChangeArrowheads="1"/>
          </p:cNvSpPr>
          <p:nvPr/>
        </p:nvSpPr>
        <p:spPr bwMode="auto">
          <a:xfrm>
            <a:off x="8599823" y="2904155"/>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2" name="Rectangle 31">
            <a:extLst>
              <a:ext uri="{FF2B5EF4-FFF2-40B4-BE49-F238E27FC236}">
                <a16:creationId xmlns:a16="http://schemas.microsoft.com/office/drawing/2014/main" id="{DE1364A9-A0FB-2CE8-6804-0DFE4ACFE4CE}"/>
              </a:ext>
            </a:extLst>
          </p:cNvPr>
          <p:cNvSpPr>
            <a:spLocks noChangeArrowheads="1"/>
          </p:cNvSpPr>
          <p:nvPr/>
        </p:nvSpPr>
        <p:spPr bwMode="auto">
          <a:xfrm>
            <a:off x="4051737" y="3901494"/>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Faxes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mixed</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with</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copies</a:t>
            </a:r>
          </a:p>
        </p:txBody>
      </p:sp>
      <p:sp>
        <p:nvSpPr>
          <p:cNvPr id="43" name="Oval 32">
            <a:extLst>
              <a:ext uri="{FF2B5EF4-FFF2-40B4-BE49-F238E27FC236}">
                <a16:creationId xmlns:a16="http://schemas.microsoft.com/office/drawing/2014/main" id="{07D024F9-DBC2-2E2F-9D36-ED68E06FBEC2}"/>
              </a:ext>
            </a:extLst>
          </p:cNvPr>
          <p:cNvSpPr>
            <a:spLocks noChangeArrowheads="1"/>
          </p:cNvSpPr>
          <p:nvPr/>
        </p:nvSpPr>
        <p:spPr bwMode="auto">
          <a:xfrm>
            <a:off x="8664911" y="4766293"/>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1" name="Title 50">
            <a:extLst>
              <a:ext uri="{FF2B5EF4-FFF2-40B4-BE49-F238E27FC236}">
                <a16:creationId xmlns:a16="http://schemas.microsoft.com/office/drawing/2014/main" id="{9053BBA7-5AFC-3684-7E52-1952BE3F602B}"/>
              </a:ext>
            </a:extLst>
          </p:cNvPr>
          <p:cNvSpPr>
            <a:spLocks noGrp="1"/>
          </p:cNvSpPr>
          <p:nvPr>
            <p:ph type="title"/>
          </p:nvPr>
        </p:nvSpPr>
        <p:spPr/>
        <p:txBody>
          <a:bodyPr>
            <a:normAutofit fontScale="90000"/>
          </a:bodyPr>
          <a:lstStyle/>
          <a:p>
            <a:r>
              <a:rPr lang="en-US" sz="4400" dirty="0">
                <a:ea typeface="+mj-ea"/>
                <a:cs typeface="+mj-cs"/>
              </a:rPr>
              <a:t>Prioritize Remaining Barriers</a:t>
            </a:r>
            <a:br>
              <a:rPr lang="en-US" sz="4400" dirty="0">
                <a:ea typeface="+mj-ea"/>
                <a:cs typeface="+mj-cs"/>
              </a:rPr>
            </a:br>
            <a:r>
              <a:rPr lang="en-US" sz="4400" dirty="0">
                <a:ea typeface="+mj-ea"/>
                <a:cs typeface="+mj-cs"/>
              </a:rPr>
              <a:t> by Impact and Time to Implement</a:t>
            </a:r>
            <a:endParaRPr lang="en-US" dirty="0"/>
          </a:p>
        </p:txBody>
      </p:sp>
      <p:sp>
        <p:nvSpPr>
          <p:cNvPr id="14" name="Slide Number Placeholder 16">
            <a:extLst>
              <a:ext uri="{FF2B5EF4-FFF2-40B4-BE49-F238E27FC236}">
                <a16:creationId xmlns:a16="http://schemas.microsoft.com/office/drawing/2014/main" id="{1F566172-75F4-CFFA-30FE-930DFEC2EA7D}"/>
              </a:ext>
            </a:extLst>
          </p:cNvPr>
          <p:cNvSpPr>
            <a:spLocks noGrp="1"/>
          </p:cNvSpPr>
          <p:nvPr>
            <p:ph type="sldNum" sz="quarter" idx="4"/>
          </p:nvPr>
        </p:nvSpPr>
        <p:spPr/>
        <p:txBody>
          <a:bodyPr/>
          <a:lstStyle/>
          <a:p>
            <a:fld id="{CC6D4273-7FC1-0947-B9FE-19CB3C0D1FB6}" type="slidenum">
              <a:rPr lang="en-US" smtClean="0"/>
              <a:t>57</a:t>
            </a:fld>
            <a:endParaRPr lang="en-US"/>
          </a:p>
        </p:txBody>
      </p:sp>
      <p:grpSp>
        <p:nvGrpSpPr>
          <p:cNvPr id="2" name="Group 1">
            <a:extLst>
              <a:ext uri="{FF2B5EF4-FFF2-40B4-BE49-F238E27FC236}">
                <a16:creationId xmlns:a16="http://schemas.microsoft.com/office/drawing/2014/main" id="{8440E1E5-85A9-86C2-0DA8-F7D2374B5493}"/>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823ABC4B-B58D-65A4-9C43-8506A829B11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3B45E157-7270-F99F-2CA5-F9FED6F73ABA}"/>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5386089B-6E62-7234-CEA8-70180D73569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9A76800E-0EED-E4B7-8D7F-74784FC99FF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9E6ED73E-1020-79E9-74EF-484F5B02595D}"/>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0C72384C-9A76-2B8C-ED17-45CAAA3ECC7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1027298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Barriers</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202635"/>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process to identify, define, select and prioritize the observed barriers.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steps identified in the previous slides: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Brainstorm all observed barriers (3 word)</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each barrier (3 sentence)</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which barriers to select as a team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by consensus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matrix to prioritize the selected</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barriers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86678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Barriers selected and prioritized.</a:t>
            </a:r>
          </a:p>
        </p:txBody>
      </p:sp>
      <p:sp>
        <p:nvSpPr>
          <p:cNvPr id="6" name="Slide Number Placeholder 16">
            <a:extLst>
              <a:ext uri="{FF2B5EF4-FFF2-40B4-BE49-F238E27FC236}">
                <a16:creationId xmlns:a16="http://schemas.microsoft.com/office/drawing/2014/main" id="{C4B9F452-2547-5D84-04A4-3E6549789B8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58</a:t>
            </a:fld>
            <a:endParaRPr lang="en-US"/>
          </a:p>
        </p:txBody>
      </p:sp>
      <p:grpSp>
        <p:nvGrpSpPr>
          <p:cNvPr id="3" name="Group 2">
            <a:extLst>
              <a:ext uri="{FF2B5EF4-FFF2-40B4-BE49-F238E27FC236}">
                <a16:creationId xmlns:a16="http://schemas.microsoft.com/office/drawing/2014/main" id="{411957EC-E9F1-F5B0-2FC4-A243D3EBDC5F}"/>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2CC80B79-0ED0-5360-0F99-2DFF26F05EB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5" name="AutoShape 9">
              <a:extLst>
                <a:ext uri="{FF2B5EF4-FFF2-40B4-BE49-F238E27FC236}">
                  <a16:creationId xmlns:a16="http://schemas.microsoft.com/office/drawing/2014/main" id="{962AB25E-724D-1741-F33C-AF412453860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21CFEDA6-B5CC-755B-DB3D-703B8B42410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DAB9D176-0AB6-87F6-E684-A232008B327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A4F089DE-07D8-63BD-C839-12CCD28B45ED}"/>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FF919605-722F-F59E-69E1-E8DDBD6E245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3194745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p:txBody>
          <a:bodyPr>
            <a:normAutofit/>
          </a:bodyPr>
          <a:lstStyle/>
          <a:p>
            <a:r>
              <a:rPr lang="en-US" sz="2800" dirty="0"/>
              <a:t>Conduct Leadership Review of Barriers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This is one way to match our barriers list with Leadership’s view of resources and acceptable time-lines for improving the Process we are looking to improve</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14" name="Slide Number Placeholder 16">
            <a:extLst>
              <a:ext uri="{FF2B5EF4-FFF2-40B4-BE49-F238E27FC236}">
                <a16:creationId xmlns:a16="http://schemas.microsoft.com/office/drawing/2014/main" id="{FEEFE3C7-7E3E-D462-BBD1-7A229112D9E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59</a:t>
            </a:fld>
            <a:endParaRPr lang="en-US"/>
          </a:p>
        </p:txBody>
      </p:sp>
      <p:grpSp>
        <p:nvGrpSpPr>
          <p:cNvPr id="3" name="Group 2">
            <a:extLst>
              <a:ext uri="{FF2B5EF4-FFF2-40B4-BE49-F238E27FC236}">
                <a16:creationId xmlns:a16="http://schemas.microsoft.com/office/drawing/2014/main" id="{D0407617-6E8D-853D-B4B5-B05F698A0D6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F605AF82-C6D4-AD8C-2D38-AE4FC5E3E2F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3C43FE13-3F53-6247-DEF0-303B74B8E02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7DDFA5D1-A05B-5AE1-252E-FA1EF8DCACE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282F85D-B49A-11B2-FCAA-0B9B0C7F990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A496590D-E82E-7FF8-3F26-D42ED2164D9A}"/>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F78739C-A1BF-6A5E-B54E-A194E3C685D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4702042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Identify Potential Solutions to the Barriers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Review improvement tools typically used to identify solutions</a:t>
            </a:r>
          </a:p>
          <a:p>
            <a:r>
              <a:rPr lang="en-US" dirty="0"/>
              <a:t>Identify solutions to the selected barriers</a:t>
            </a:r>
          </a:p>
          <a:p>
            <a:r>
              <a:rPr lang="en-US" dirty="0"/>
              <a:t>Gain consensus on solutions as a team</a:t>
            </a:r>
          </a:p>
          <a:p>
            <a:r>
              <a:rPr lang="en-US" dirty="0"/>
              <a:t>Prioritize solutions by impact and time to implement</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Identify</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Potential</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3587566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0D61-B0D2-A3EB-6A26-2252A55E47CB}"/>
              </a:ext>
            </a:extLst>
          </p:cNvPr>
          <p:cNvSpPr>
            <a:spLocks noGrp="1"/>
          </p:cNvSpPr>
          <p:nvPr>
            <p:ph type="title"/>
          </p:nvPr>
        </p:nvSpPr>
        <p:spPr/>
        <p:txBody>
          <a:bodyPr/>
          <a:lstStyle/>
          <a:p>
            <a:r>
              <a:rPr lang="en-US" dirty="0"/>
              <a:t>Using Lean Tools to Arrive at Solutions</a:t>
            </a:r>
          </a:p>
        </p:txBody>
      </p:sp>
      <p:sp>
        <p:nvSpPr>
          <p:cNvPr id="3" name="Content Placeholder 2">
            <a:extLst>
              <a:ext uri="{FF2B5EF4-FFF2-40B4-BE49-F238E27FC236}">
                <a16:creationId xmlns:a16="http://schemas.microsoft.com/office/drawing/2014/main" id="{35265A44-200F-4BC2-C26C-5D5055E3FD73}"/>
              </a:ext>
            </a:extLst>
          </p:cNvPr>
          <p:cNvSpPr>
            <a:spLocks noGrp="1"/>
          </p:cNvSpPr>
          <p:nvPr>
            <p:ph idx="1"/>
          </p:nvPr>
        </p:nvSpPr>
        <p:spPr/>
        <p:txBody>
          <a:bodyPr/>
          <a:lstStyle/>
          <a:p>
            <a:r>
              <a:rPr lang="en-US" dirty="0"/>
              <a:t>Use the “Lean Toolbox” as needed to determine solutions </a:t>
            </a:r>
            <a:br>
              <a:rPr lang="en-US" dirty="0"/>
            </a:br>
            <a:r>
              <a:rPr lang="en-US" dirty="0"/>
              <a:t>to the barriers</a:t>
            </a:r>
          </a:p>
          <a:p>
            <a:r>
              <a:rPr lang="en-US" dirty="0"/>
              <a:t>See Appendix A thru D for an overview of various lean tools</a:t>
            </a:r>
          </a:p>
          <a:p>
            <a:r>
              <a:rPr lang="en-US" dirty="0"/>
              <a:t>As needed, your event facilitator will guide the team through the use of any of these lean tools</a:t>
            </a:r>
          </a:p>
        </p:txBody>
      </p:sp>
      <p:sp>
        <p:nvSpPr>
          <p:cNvPr id="15" name="Slide Number Placeholder 16">
            <a:extLst>
              <a:ext uri="{FF2B5EF4-FFF2-40B4-BE49-F238E27FC236}">
                <a16:creationId xmlns:a16="http://schemas.microsoft.com/office/drawing/2014/main" id="{07D4666E-B532-EFFE-2268-3D5C045D579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61</a:t>
            </a:fld>
            <a:endParaRPr lang="en-US"/>
          </a:p>
        </p:txBody>
      </p:sp>
      <p:grpSp>
        <p:nvGrpSpPr>
          <p:cNvPr id="4" name="Group 3">
            <a:extLst>
              <a:ext uri="{FF2B5EF4-FFF2-40B4-BE49-F238E27FC236}">
                <a16:creationId xmlns:a16="http://schemas.microsoft.com/office/drawing/2014/main" id="{387AFF17-AFAC-AB85-9487-253ED3435C7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30160E2-0827-F05F-F1BA-469CD71A6E1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6" name="AutoShape 9">
              <a:extLst>
                <a:ext uri="{FF2B5EF4-FFF2-40B4-BE49-F238E27FC236}">
                  <a16:creationId xmlns:a16="http://schemas.microsoft.com/office/drawing/2014/main" id="{2DF6C73D-BE0A-FA24-92C3-826302527F8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56200AB-8131-E03C-DB36-AEAB3F5B1BC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3B9E64D-6FD5-20E7-70B6-16EEEC95C7C4}"/>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9485DC9-639E-DBB1-9FF4-19A86E08988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D288FDB8-0CF2-2163-6407-B0881F6BF8D0}"/>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8344423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Brainstorming Solutions</a:t>
            </a:r>
            <a:endParaRPr lang="en-US" dirty="0"/>
          </a:p>
        </p:txBody>
      </p:sp>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7453126" y="2021876"/>
            <a:ext cx="3448237" cy="683323"/>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latin typeface="Roboto" panose="02000000000000000000" pitchFamily="2" charset="0"/>
                <a:ea typeface="Roboto" panose="02000000000000000000" pitchFamily="2" charset="0"/>
                <a:cs typeface="Roboto" panose="02000000000000000000" pitchFamily="2" charset="0"/>
              </a:rPr>
              <a:t>Select and Prioritize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4360705" y="2021876"/>
            <a:ext cx="3446373" cy="683323"/>
          </a:xfrm>
          <a:prstGeom prst="homePlate">
            <a:avLst>
              <a:gd name="adj" fmla="val 51884"/>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000066"/>
                </a:solidFill>
                <a:latin typeface="Roboto" panose="02000000000000000000" pitchFamily="2" charset="0"/>
                <a:ea typeface="Roboto" panose="02000000000000000000" pitchFamily="2" charset="0"/>
                <a:cs typeface="Roboto" panose="02000000000000000000" pitchFamily="2" charset="0"/>
              </a:rPr>
              <a:t>Define Solutions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1290638" y="2021876"/>
            <a:ext cx="3448237" cy="683323"/>
          </a:xfrm>
          <a:prstGeom prst="homePlate">
            <a:avLst>
              <a:gd name="adj" fmla="val 51912"/>
            </a:avLst>
          </a:prstGeom>
          <a:solidFill>
            <a:srgbClr val="EE3228"/>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Identify Solutions</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1296227" y="2779575"/>
            <a:ext cx="3187429" cy="2247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brainstorming process to provide a brief name for a solution to each barrier that made the consensus list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3 words max</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No judgments made at this point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Move quickly and list as many as possible</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4535818" y="2791197"/>
            <a:ext cx="2965744" cy="2247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Go back and write a brief sentence description for each solution</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3 sentences max</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7529506" y="2791197"/>
            <a:ext cx="3237728" cy="2247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Review each solution and gain team consensus on which to keep and which to discard</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2 x 2 matrix to force rank potential solutions if necessary</a:t>
            </a:r>
          </a:p>
        </p:txBody>
      </p:sp>
      <p:sp>
        <p:nvSpPr>
          <p:cNvPr id="23" name="Oval 9">
            <a:extLst>
              <a:ext uri="{FF2B5EF4-FFF2-40B4-BE49-F238E27FC236}">
                <a16:creationId xmlns:a16="http://schemas.microsoft.com/office/drawing/2014/main" id="{C6628F62-CEA3-FA0C-CF76-61BE796C4C6A}"/>
              </a:ext>
            </a:extLst>
          </p:cNvPr>
          <p:cNvSpPr>
            <a:spLocks noChangeArrowheads="1"/>
          </p:cNvSpPr>
          <p:nvPr/>
        </p:nvSpPr>
        <p:spPr bwMode="auto">
          <a:xfrm>
            <a:off x="1443396" y="1808047"/>
            <a:ext cx="380033" cy="420686"/>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rgbClr val="000066"/>
                </a:solidFill>
                <a:latin typeface="Roboto" panose="02000000000000000000" pitchFamily="2" charset="0"/>
                <a:ea typeface="Roboto" panose="02000000000000000000" pitchFamily="2" charset="0"/>
                <a:cs typeface="Roboto" panose="02000000000000000000" pitchFamily="2" charset="0"/>
              </a:rPr>
              <a:t>1</a:t>
            </a:r>
          </a:p>
        </p:txBody>
      </p:sp>
      <p:sp>
        <p:nvSpPr>
          <p:cNvPr id="24" name="Oval 10">
            <a:extLst>
              <a:ext uri="{FF2B5EF4-FFF2-40B4-BE49-F238E27FC236}">
                <a16:creationId xmlns:a16="http://schemas.microsoft.com/office/drawing/2014/main" id="{38E14B23-27DE-6F0E-FC8C-44CF25CE015E}"/>
              </a:ext>
            </a:extLst>
          </p:cNvPr>
          <p:cNvSpPr>
            <a:spLocks noChangeArrowheads="1"/>
          </p:cNvSpPr>
          <p:nvPr/>
        </p:nvSpPr>
        <p:spPr bwMode="auto">
          <a:xfrm>
            <a:off x="4578665" y="1819669"/>
            <a:ext cx="380033" cy="420684"/>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2</a:t>
            </a:r>
          </a:p>
        </p:txBody>
      </p:sp>
      <p:sp>
        <p:nvSpPr>
          <p:cNvPr id="25" name="Oval 11">
            <a:extLst>
              <a:ext uri="{FF2B5EF4-FFF2-40B4-BE49-F238E27FC236}">
                <a16:creationId xmlns:a16="http://schemas.microsoft.com/office/drawing/2014/main" id="{73D59C05-D769-001C-2FF4-6C77F71B3165}"/>
              </a:ext>
            </a:extLst>
          </p:cNvPr>
          <p:cNvSpPr>
            <a:spLocks noChangeArrowheads="1"/>
          </p:cNvSpPr>
          <p:nvPr/>
        </p:nvSpPr>
        <p:spPr bwMode="auto">
          <a:xfrm>
            <a:off x="7538820" y="1803399"/>
            <a:ext cx="380033" cy="420686"/>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3</a:t>
            </a:r>
          </a:p>
        </p:txBody>
      </p:sp>
      <p:sp>
        <p:nvSpPr>
          <p:cNvPr id="7" name="Slide Number Placeholder 16">
            <a:extLst>
              <a:ext uri="{FF2B5EF4-FFF2-40B4-BE49-F238E27FC236}">
                <a16:creationId xmlns:a16="http://schemas.microsoft.com/office/drawing/2014/main" id="{D4F50611-3C98-C8CA-D28C-4BD8A710D66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62</a:t>
            </a:fld>
            <a:endParaRPr lang="en-US"/>
          </a:p>
        </p:txBody>
      </p:sp>
      <p:grpSp>
        <p:nvGrpSpPr>
          <p:cNvPr id="3" name="Group 2">
            <a:extLst>
              <a:ext uri="{FF2B5EF4-FFF2-40B4-BE49-F238E27FC236}">
                <a16:creationId xmlns:a16="http://schemas.microsoft.com/office/drawing/2014/main" id="{253841D2-8D20-F217-E95F-9F770B018570}"/>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CE1E7C9C-6F38-E501-E1CA-DD1BD331D22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5" name="AutoShape 9">
              <a:extLst>
                <a:ext uri="{FF2B5EF4-FFF2-40B4-BE49-F238E27FC236}">
                  <a16:creationId xmlns:a16="http://schemas.microsoft.com/office/drawing/2014/main" id="{1E390813-AAA3-ACB7-7D55-196A538B3F9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9616E7F5-495E-6BF4-E370-8E0E758735B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A152C5A2-CFD2-B6A4-40C2-14E41B66C05C}"/>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A8581787-CC29-B450-3925-5F5E75DA025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87BB4C3D-5BC0-46FC-2F1C-19DE965028D8}"/>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276755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4080325005"/>
              </p:ext>
            </p:extLst>
          </p:nvPr>
        </p:nvGraphicFramePr>
        <p:xfrm>
          <a:off x="1207915" y="2101785"/>
          <a:ext cx="9776171" cy="2654430"/>
        </p:xfrm>
        <a:graphic>
          <a:graphicData uri="http://schemas.openxmlformats.org/drawingml/2006/table">
            <a:tbl>
              <a:tblPr/>
              <a:tblGrid>
                <a:gridCol w="1382580">
                  <a:extLst>
                    <a:ext uri="{9D8B030D-6E8A-4147-A177-3AD203B41FA5}">
                      <a16:colId xmlns:a16="http://schemas.microsoft.com/office/drawing/2014/main" val="20000"/>
                    </a:ext>
                  </a:extLst>
                </a:gridCol>
                <a:gridCol w="2248205">
                  <a:extLst>
                    <a:ext uri="{9D8B030D-6E8A-4147-A177-3AD203B41FA5}">
                      <a16:colId xmlns:a16="http://schemas.microsoft.com/office/drawing/2014/main" val="20001"/>
                    </a:ext>
                  </a:extLst>
                </a:gridCol>
                <a:gridCol w="2628900">
                  <a:extLst>
                    <a:ext uri="{9D8B030D-6E8A-4147-A177-3AD203B41FA5}">
                      <a16:colId xmlns:a16="http://schemas.microsoft.com/office/drawing/2014/main" val="612739004"/>
                    </a:ext>
                  </a:extLst>
                </a:gridCol>
                <a:gridCol w="3516486">
                  <a:extLst>
                    <a:ext uri="{9D8B030D-6E8A-4147-A177-3AD203B41FA5}">
                      <a16:colId xmlns:a16="http://schemas.microsoft.com/office/drawing/2014/main" val="2801063363"/>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Barriers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0">
                      <a:miter lim="400000"/>
                    </a:lnR>
                    <a:lnT w="1270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Barrier Descriptions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noFill/>
                      <a:miter lim="400000"/>
                    </a:lnR>
                    <a:lnT w="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Solutions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noFill/>
                      <a:miter lim="400000"/>
                    </a:lnR>
                    <a:lnT w="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Solution Description</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miter lim="400000"/>
                    </a:lnR>
                    <a:lnT w="0">
                      <a:miter lim="400000"/>
                    </a:lnT>
                    <a:lnB w="12700" cap="flat" cmpd="sng" algn="ctr">
                      <a:solidFill>
                        <a:schemeClr val="tx1"/>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fax paper</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 fax machine may run out of paper during the middle of receiving an incoming fax. </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Signal to PC </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Assign ownership</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more faxes</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Route to e-mail</a:t>
                      </a:r>
                    </a:p>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Have a pop up box appear at a person’s pc to inform them when the machine is out of paper</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Designate a person who is responsible for faxes and ensuring paper is loaded</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Eliminate faxes altogether – use scanning and e-mail attachments</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Purchase and download software that will route all incoming faxes as pdfs to people’s e-mail accounts</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23" name="Title 22">
            <a:extLst>
              <a:ext uri="{FF2B5EF4-FFF2-40B4-BE49-F238E27FC236}">
                <a16:creationId xmlns:a16="http://schemas.microsoft.com/office/drawing/2014/main" id="{FD087354-1ED0-ECFD-87CA-497594379D3D}"/>
              </a:ext>
            </a:extLst>
          </p:cNvPr>
          <p:cNvSpPr>
            <a:spLocks noGrp="1"/>
          </p:cNvSpPr>
          <p:nvPr>
            <p:ph type="title"/>
          </p:nvPr>
        </p:nvSpPr>
        <p:spPr/>
        <p:txBody>
          <a:bodyPr>
            <a:normAutofit/>
          </a:bodyPr>
          <a:lstStyle/>
          <a:p>
            <a:r>
              <a:rPr lang="en-US" dirty="0">
                <a:ea typeface="+mj-ea"/>
                <a:cs typeface="+mj-cs"/>
              </a:rPr>
              <a:t>Example</a:t>
            </a:r>
            <a:endParaRPr lang="en-US" dirty="0"/>
          </a:p>
        </p:txBody>
      </p:sp>
      <p:sp>
        <p:nvSpPr>
          <p:cNvPr id="11" name="Slide Number Placeholder 16">
            <a:extLst>
              <a:ext uri="{FF2B5EF4-FFF2-40B4-BE49-F238E27FC236}">
                <a16:creationId xmlns:a16="http://schemas.microsoft.com/office/drawing/2014/main" id="{19D08B6F-40F0-42A9-2A5C-861D8C08C65F}"/>
              </a:ext>
            </a:extLst>
          </p:cNvPr>
          <p:cNvSpPr>
            <a:spLocks noGrp="1"/>
          </p:cNvSpPr>
          <p:nvPr>
            <p:ph type="sldNum" sz="quarter" idx="4"/>
          </p:nvPr>
        </p:nvSpPr>
        <p:spPr/>
        <p:txBody>
          <a:bodyPr/>
          <a:lstStyle/>
          <a:p>
            <a:fld id="{CC6D4273-7FC1-0947-B9FE-19CB3C0D1FB6}" type="slidenum">
              <a:rPr lang="en-US" smtClean="0"/>
              <a:t>63</a:t>
            </a:fld>
            <a:endParaRPr lang="en-US"/>
          </a:p>
        </p:txBody>
      </p:sp>
      <p:grpSp>
        <p:nvGrpSpPr>
          <p:cNvPr id="2" name="Group 1">
            <a:extLst>
              <a:ext uri="{FF2B5EF4-FFF2-40B4-BE49-F238E27FC236}">
                <a16:creationId xmlns:a16="http://schemas.microsoft.com/office/drawing/2014/main" id="{3592D338-3399-AC53-00B5-615B1EB97B6D}"/>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006B91B4-AEAF-4180-F4E8-BC27C0A2F29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4" name="AutoShape 9">
              <a:extLst>
                <a:ext uri="{FF2B5EF4-FFF2-40B4-BE49-F238E27FC236}">
                  <a16:creationId xmlns:a16="http://schemas.microsoft.com/office/drawing/2014/main" id="{E8392E45-6325-BF4A-C9C9-BD25CCACC827}"/>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3B8E90EE-DB7B-476F-C658-EAA642F781F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32D03728-8E8C-484C-7DDC-13C82FDAFA48}"/>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09EC458A-F3A3-333B-8661-647A20CC8E6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F68C2CA8-B866-E287-B57F-85AE513FE844}"/>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0357330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74F1920-8F68-58D0-21F5-B36AC48E839A}"/>
              </a:ext>
            </a:extLst>
          </p:cNvPr>
          <p:cNvGrpSpPr/>
          <p:nvPr/>
        </p:nvGrpSpPr>
        <p:grpSpPr>
          <a:xfrm>
            <a:off x="2606804" y="1916074"/>
            <a:ext cx="6914638" cy="4245172"/>
            <a:chOff x="971888" y="1646400"/>
            <a:chExt cx="6914638" cy="4245172"/>
          </a:xfrm>
        </p:grpSpPr>
        <p:sp>
          <p:nvSpPr>
            <p:cNvPr id="7" name="Rectangle 6">
              <a:extLst>
                <a:ext uri="{FF2B5EF4-FFF2-40B4-BE49-F238E27FC236}">
                  <a16:creationId xmlns:a16="http://schemas.microsoft.com/office/drawing/2014/main" id="{F38892B6-C3C2-F439-498A-CD216BD549FB}"/>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8" name="Straight Connector 7">
              <a:extLst>
                <a:ext uri="{FF2B5EF4-FFF2-40B4-BE49-F238E27FC236}">
                  <a16:creationId xmlns:a16="http://schemas.microsoft.com/office/drawing/2014/main" id="{6F88FB37-30D5-7413-61F8-FE848F8C3AFD}"/>
                </a:ext>
              </a:extLst>
            </p:cNvPr>
            <p:cNvCxnSpPr>
              <a:cxnSpLocks/>
              <a:stCxn id="7" idx="0"/>
              <a:endCxn id="7"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9" name="Straight Connector 8">
              <a:extLst>
                <a:ext uri="{FF2B5EF4-FFF2-40B4-BE49-F238E27FC236}">
                  <a16:creationId xmlns:a16="http://schemas.microsoft.com/office/drawing/2014/main" id="{74BE2B0D-7673-7F64-B4A2-54C2DC189198}"/>
                </a:ext>
              </a:extLst>
            </p:cNvPr>
            <p:cNvCxnSpPr>
              <a:cxnSpLocks/>
              <a:stCxn id="7" idx="1"/>
              <a:endCxn id="7"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10" name="Text Box 37">
              <a:extLst>
                <a:ext uri="{FF2B5EF4-FFF2-40B4-BE49-F238E27FC236}">
                  <a16:creationId xmlns:a16="http://schemas.microsoft.com/office/drawing/2014/main" id="{251F6827-F3F0-0B0C-9E8C-682DBCB271D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0" name="Text Box 36">
              <a:extLst>
                <a:ext uri="{FF2B5EF4-FFF2-40B4-BE49-F238E27FC236}">
                  <a16:creationId xmlns:a16="http://schemas.microsoft.com/office/drawing/2014/main" id="{F0EF47E1-DA74-CE5E-EAEF-A4FF4114623B}"/>
                </a:ext>
              </a:extLst>
            </p:cNvPr>
            <p:cNvSpPr txBox="1">
              <a:spLocks noChangeArrowheads="1"/>
            </p:cNvSpPr>
            <p:nvPr/>
          </p:nvSpPr>
          <p:spPr bwMode="auto">
            <a:xfrm>
              <a:off x="971888" y="3144565"/>
              <a:ext cx="1079574"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21" name="Text Box 19">
              <a:extLst>
                <a:ext uri="{FF2B5EF4-FFF2-40B4-BE49-F238E27FC236}">
                  <a16:creationId xmlns:a16="http://schemas.microsoft.com/office/drawing/2014/main" id="{6262A74B-4E57-37D6-97AC-1A39CFC20B5A}"/>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22" name="Text Box 35">
              <a:extLst>
                <a:ext uri="{FF2B5EF4-FFF2-40B4-BE49-F238E27FC236}">
                  <a16:creationId xmlns:a16="http://schemas.microsoft.com/office/drawing/2014/main" id="{F0B56DE9-E370-C5E4-F6E3-75D3028BAAF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3" name="Text Box 26">
              <a:extLst>
                <a:ext uri="{FF2B5EF4-FFF2-40B4-BE49-F238E27FC236}">
                  <a16:creationId xmlns:a16="http://schemas.microsoft.com/office/drawing/2014/main" id="{A2C1779C-3612-5F52-F8A1-E001F4412165}"/>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a:t>
              </a:r>
              <a:br>
                <a:rPr lang="en-US"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1-person team</a:t>
              </a:r>
            </a:p>
          </p:txBody>
        </p:sp>
        <p:cxnSp>
          <p:nvCxnSpPr>
            <p:cNvPr id="24" name="Straight Connector 23">
              <a:extLst>
                <a:ext uri="{FF2B5EF4-FFF2-40B4-BE49-F238E27FC236}">
                  <a16:creationId xmlns:a16="http://schemas.microsoft.com/office/drawing/2014/main" id="{27F7AF56-3027-1971-70E7-7999FA5E28AD}"/>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25" name="Text Box 35">
              <a:extLst>
                <a:ext uri="{FF2B5EF4-FFF2-40B4-BE49-F238E27FC236}">
                  <a16:creationId xmlns:a16="http://schemas.microsoft.com/office/drawing/2014/main" id="{6F21A696-68DF-1625-824A-7FDE528DCB17}"/>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6" name="Text Box 19">
              <a:extLst>
                <a:ext uri="{FF2B5EF4-FFF2-40B4-BE49-F238E27FC236}">
                  <a16:creationId xmlns:a16="http://schemas.microsoft.com/office/drawing/2014/main" id="{C3545391-7783-87D9-0B05-059D8AC547D7}"/>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27" name="TextBox 26">
              <a:extLst>
                <a:ext uri="{FF2B5EF4-FFF2-40B4-BE49-F238E27FC236}">
                  <a16:creationId xmlns:a16="http://schemas.microsoft.com/office/drawing/2014/main" id="{DE546750-545D-DE0E-0843-8D136C12532F}"/>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28" name="TextBox 27">
              <a:extLst>
                <a:ext uri="{FF2B5EF4-FFF2-40B4-BE49-F238E27FC236}">
                  <a16:creationId xmlns:a16="http://schemas.microsoft.com/office/drawing/2014/main" id="{6F60A996-41BC-84A6-5749-70D7C8085EC7}"/>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29" name="TextBox 28">
              <a:extLst>
                <a:ext uri="{FF2B5EF4-FFF2-40B4-BE49-F238E27FC236}">
                  <a16:creationId xmlns:a16="http://schemas.microsoft.com/office/drawing/2014/main" id="{DBC158BB-770E-6064-F5D2-0AF5EEF1E693}"/>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0" name="TextBox 29">
              <a:extLst>
                <a:ext uri="{FF2B5EF4-FFF2-40B4-BE49-F238E27FC236}">
                  <a16:creationId xmlns:a16="http://schemas.microsoft.com/office/drawing/2014/main" id="{A39B6E7E-B99A-FC55-FCC1-79B68C3360E7}"/>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1" name="TextBox 30">
              <a:extLst>
                <a:ext uri="{FF2B5EF4-FFF2-40B4-BE49-F238E27FC236}">
                  <a16:creationId xmlns:a16="http://schemas.microsoft.com/office/drawing/2014/main" id="{C351EFF5-4821-AF93-C3A5-743073E7C834}"/>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32" name="TextBox 31">
              <a:extLst>
                <a:ext uri="{FF2B5EF4-FFF2-40B4-BE49-F238E27FC236}">
                  <a16:creationId xmlns:a16="http://schemas.microsoft.com/office/drawing/2014/main" id="{97367025-C680-30CA-CAF6-44BC687DD1E7}"/>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3" name="TextBox 32">
              <a:extLst>
                <a:ext uri="{FF2B5EF4-FFF2-40B4-BE49-F238E27FC236}">
                  <a16:creationId xmlns:a16="http://schemas.microsoft.com/office/drawing/2014/main" id="{4E8B2B5F-1037-CE74-DEF3-CF145AF150D4}"/>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4" name="TextBox 33">
              <a:extLst>
                <a:ext uri="{FF2B5EF4-FFF2-40B4-BE49-F238E27FC236}">
                  <a16:creationId xmlns:a16="http://schemas.microsoft.com/office/drawing/2014/main" id="{EB1DCB0C-8E2C-1CB2-0E3B-1F14DB0215DD}"/>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5" name="TextBox 34">
              <a:extLst>
                <a:ext uri="{FF2B5EF4-FFF2-40B4-BE49-F238E27FC236}">
                  <a16:creationId xmlns:a16="http://schemas.microsoft.com/office/drawing/2014/main" id="{E881FC23-4CA3-919D-1AB8-5EDA0E2B145D}"/>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39" name="Oval 28">
            <a:extLst>
              <a:ext uri="{FF2B5EF4-FFF2-40B4-BE49-F238E27FC236}">
                <a16:creationId xmlns:a16="http://schemas.microsoft.com/office/drawing/2014/main" id="{65C07B0F-C75B-4682-2649-54CB46268A43}"/>
              </a:ext>
            </a:extLst>
          </p:cNvPr>
          <p:cNvSpPr>
            <a:spLocks noChangeArrowheads="1"/>
          </p:cNvSpPr>
          <p:nvPr/>
        </p:nvSpPr>
        <p:spPr bwMode="auto">
          <a:xfrm>
            <a:off x="5824329" y="2884287"/>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6" name="Rectangle 25">
            <a:extLst>
              <a:ext uri="{FF2B5EF4-FFF2-40B4-BE49-F238E27FC236}">
                <a16:creationId xmlns:a16="http://schemas.microsoft.com/office/drawing/2014/main" id="{CDF21FF8-3451-7ADA-EFB3-6A06EA362246}"/>
              </a:ext>
            </a:extLst>
          </p:cNvPr>
          <p:cNvSpPr>
            <a:spLocks noChangeArrowheads="1"/>
          </p:cNvSpPr>
          <p:nvPr/>
        </p:nvSpPr>
        <p:spPr bwMode="auto">
          <a:xfrm>
            <a:off x="5646624" y="2734873"/>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Route to e-mail</a:t>
            </a:r>
          </a:p>
        </p:txBody>
      </p:sp>
      <p:sp>
        <p:nvSpPr>
          <p:cNvPr id="37" name="Rectangle 26">
            <a:extLst>
              <a:ext uri="{FF2B5EF4-FFF2-40B4-BE49-F238E27FC236}">
                <a16:creationId xmlns:a16="http://schemas.microsoft.com/office/drawing/2014/main" id="{76FE5893-CAFC-6485-0488-1424F6924417}"/>
              </a:ext>
            </a:extLst>
          </p:cNvPr>
          <p:cNvSpPr>
            <a:spLocks noChangeArrowheads="1"/>
          </p:cNvSpPr>
          <p:nvPr/>
        </p:nvSpPr>
        <p:spPr bwMode="auto">
          <a:xfrm>
            <a:off x="5634622" y="3863572"/>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more faxes</a:t>
            </a:r>
          </a:p>
        </p:txBody>
      </p:sp>
      <p:sp>
        <p:nvSpPr>
          <p:cNvPr id="38" name="Oval 27">
            <a:extLst>
              <a:ext uri="{FF2B5EF4-FFF2-40B4-BE49-F238E27FC236}">
                <a16:creationId xmlns:a16="http://schemas.microsoft.com/office/drawing/2014/main" id="{0E754A54-BF3A-B507-CF22-9DBC2225C95A}"/>
              </a:ext>
            </a:extLst>
          </p:cNvPr>
          <p:cNvSpPr>
            <a:spLocks noChangeArrowheads="1"/>
          </p:cNvSpPr>
          <p:nvPr/>
        </p:nvSpPr>
        <p:spPr bwMode="auto">
          <a:xfrm>
            <a:off x="4600366" y="2874762"/>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0" name="Rectangle 29">
            <a:extLst>
              <a:ext uri="{FF2B5EF4-FFF2-40B4-BE49-F238E27FC236}">
                <a16:creationId xmlns:a16="http://schemas.microsoft.com/office/drawing/2014/main" id="{1E13B09F-1997-958F-83B1-9480408F0EAB}"/>
              </a:ext>
            </a:extLst>
          </p:cNvPr>
          <p:cNvSpPr>
            <a:spLocks noChangeArrowheads="1"/>
          </p:cNvSpPr>
          <p:nvPr/>
        </p:nvSpPr>
        <p:spPr bwMode="auto">
          <a:xfrm>
            <a:off x="3923857" y="2090285"/>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Assign</a:t>
            </a:r>
            <a:b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ownership</a:t>
            </a:r>
          </a:p>
        </p:txBody>
      </p:sp>
      <p:sp>
        <p:nvSpPr>
          <p:cNvPr id="41" name="Oval 30">
            <a:extLst>
              <a:ext uri="{FF2B5EF4-FFF2-40B4-BE49-F238E27FC236}">
                <a16:creationId xmlns:a16="http://schemas.microsoft.com/office/drawing/2014/main" id="{48CA9C2E-E654-483C-E5C0-0668A3C543FC}"/>
              </a:ext>
            </a:extLst>
          </p:cNvPr>
          <p:cNvSpPr>
            <a:spLocks noChangeArrowheads="1"/>
          </p:cNvSpPr>
          <p:nvPr/>
        </p:nvSpPr>
        <p:spPr bwMode="auto">
          <a:xfrm>
            <a:off x="8616741" y="2879524"/>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2" name="Rectangle 31">
            <a:extLst>
              <a:ext uri="{FF2B5EF4-FFF2-40B4-BE49-F238E27FC236}">
                <a16:creationId xmlns:a16="http://schemas.microsoft.com/office/drawing/2014/main" id="{DE1364A9-A0FB-2CE8-6804-0DFE4ACFE4CE}"/>
              </a:ext>
            </a:extLst>
          </p:cNvPr>
          <p:cNvSpPr>
            <a:spLocks noChangeArrowheads="1"/>
          </p:cNvSpPr>
          <p:nvPr/>
        </p:nvSpPr>
        <p:spPr bwMode="auto">
          <a:xfrm>
            <a:off x="4068655" y="3876863"/>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Signal to PC</a:t>
            </a:r>
          </a:p>
        </p:txBody>
      </p:sp>
      <p:sp>
        <p:nvSpPr>
          <p:cNvPr id="43" name="Oval 32">
            <a:extLst>
              <a:ext uri="{FF2B5EF4-FFF2-40B4-BE49-F238E27FC236}">
                <a16:creationId xmlns:a16="http://schemas.microsoft.com/office/drawing/2014/main" id="{07D024F9-DBC2-2E2F-9D36-ED68E06FBEC2}"/>
              </a:ext>
            </a:extLst>
          </p:cNvPr>
          <p:cNvSpPr>
            <a:spLocks noChangeArrowheads="1"/>
          </p:cNvSpPr>
          <p:nvPr/>
        </p:nvSpPr>
        <p:spPr bwMode="auto">
          <a:xfrm>
            <a:off x="8681829" y="4741662"/>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2" name="Oval 30">
            <a:extLst>
              <a:ext uri="{FF2B5EF4-FFF2-40B4-BE49-F238E27FC236}">
                <a16:creationId xmlns:a16="http://schemas.microsoft.com/office/drawing/2014/main" id="{46E51C9A-B32F-C538-CC49-8B030560A208}"/>
              </a:ext>
            </a:extLst>
          </p:cNvPr>
          <p:cNvSpPr>
            <a:spLocks noChangeArrowheads="1"/>
          </p:cNvSpPr>
          <p:nvPr/>
        </p:nvSpPr>
        <p:spPr bwMode="auto">
          <a:xfrm>
            <a:off x="9220618" y="2627272"/>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3" name="Oval 30">
            <a:extLst>
              <a:ext uri="{FF2B5EF4-FFF2-40B4-BE49-F238E27FC236}">
                <a16:creationId xmlns:a16="http://schemas.microsoft.com/office/drawing/2014/main" id="{D0433303-AD8E-B186-E6CA-C6F0E3351F1D}"/>
              </a:ext>
            </a:extLst>
          </p:cNvPr>
          <p:cNvSpPr>
            <a:spLocks noChangeArrowheads="1"/>
          </p:cNvSpPr>
          <p:nvPr/>
        </p:nvSpPr>
        <p:spPr bwMode="auto">
          <a:xfrm>
            <a:off x="5406377" y="4749233"/>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9" name="Title 18">
            <a:extLst>
              <a:ext uri="{FF2B5EF4-FFF2-40B4-BE49-F238E27FC236}">
                <a16:creationId xmlns:a16="http://schemas.microsoft.com/office/drawing/2014/main" id="{0698AC70-FA9B-7CF2-6517-F3667804530B}"/>
              </a:ext>
            </a:extLst>
          </p:cNvPr>
          <p:cNvSpPr>
            <a:spLocks noGrp="1"/>
          </p:cNvSpPr>
          <p:nvPr>
            <p:ph type="title"/>
          </p:nvPr>
        </p:nvSpPr>
        <p:spPr/>
        <p:txBody>
          <a:bodyPr>
            <a:normAutofit fontScale="90000"/>
          </a:bodyPr>
          <a:lstStyle/>
          <a:p>
            <a:r>
              <a:rPr lang="en-US" sz="4400" dirty="0">
                <a:ea typeface="+mj-ea"/>
                <a:cs typeface="+mj-cs"/>
              </a:rPr>
              <a:t>Prioritize Solutions by </a:t>
            </a:r>
            <a:br>
              <a:rPr lang="en-US" sz="4400" dirty="0">
                <a:ea typeface="+mj-ea"/>
                <a:cs typeface="+mj-cs"/>
              </a:rPr>
            </a:br>
            <a:r>
              <a:rPr lang="en-US" sz="4400" dirty="0">
                <a:ea typeface="+mj-ea"/>
                <a:cs typeface="+mj-cs"/>
              </a:rPr>
              <a:t>Impact and Time to Implement</a:t>
            </a:r>
            <a:endParaRPr lang="en-US" dirty="0"/>
          </a:p>
        </p:txBody>
      </p:sp>
      <p:sp>
        <p:nvSpPr>
          <p:cNvPr id="11" name="Slide Number Placeholder 16">
            <a:extLst>
              <a:ext uri="{FF2B5EF4-FFF2-40B4-BE49-F238E27FC236}">
                <a16:creationId xmlns:a16="http://schemas.microsoft.com/office/drawing/2014/main" id="{56ADE376-22F1-BB07-97C4-9BD33713CC7B}"/>
              </a:ext>
            </a:extLst>
          </p:cNvPr>
          <p:cNvSpPr>
            <a:spLocks noGrp="1"/>
          </p:cNvSpPr>
          <p:nvPr>
            <p:ph type="sldNum" sz="quarter" idx="4"/>
          </p:nvPr>
        </p:nvSpPr>
        <p:spPr/>
        <p:txBody>
          <a:bodyPr/>
          <a:lstStyle/>
          <a:p>
            <a:fld id="{CC6D4273-7FC1-0947-B9FE-19CB3C0D1FB6}" type="slidenum">
              <a:rPr lang="en-US" smtClean="0"/>
              <a:t>64</a:t>
            </a:fld>
            <a:endParaRPr lang="en-US"/>
          </a:p>
        </p:txBody>
      </p:sp>
      <p:grpSp>
        <p:nvGrpSpPr>
          <p:cNvPr id="46" name="Group 45">
            <a:extLst>
              <a:ext uri="{FF2B5EF4-FFF2-40B4-BE49-F238E27FC236}">
                <a16:creationId xmlns:a16="http://schemas.microsoft.com/office/drawing/2014/main" id="{234D5453-62DC-78BE-CE48-54C2E4F9E5DE}"/>
              </a:ext>
            </a:extLst>
          </p:cNvPr>
          <p:cNvGrpSpPr/>
          <p:nvPr/>
        </p:nvGrpSpPr>
        <p:grpSpPr>
          <a:xfrm>
            <a:off x="940249" y="302538"/>
            <a:ext cx="6219503" cy="311932"/>
            <a:chOff x="940249" y="302538"/>
            <a:chExt cx="6219503" cy="311932"/>
          </a:xfrm>
        </p:grpSpPr>
        <p:sp>
          <p:nvSpPr>
            <p:cNvPr id="47" name="TextBox 46">
              <a:extLst>
                <a:ext uri="{FF2B5EF4-FFF2-40B4-BE49-F238E27FC236}">
                  <a16:creationId xmlns:a16="http://schemas.microsoft.com/office/drawing/2014/main" id="{31375658-C27C-DE66-830A-B7219FF339EC}"/>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48" name="AutoShape 9">
              <a:extLst>
                <a:ext uri="{FF2B5EF4-FFF2-40B4-BE49-F238E27FC236}">
                  <a16:creationId xmlns:a16="http://schemas.microsoft.com/office/drawing/2014/main" id="{8F50D779-7BBF-207B-0A87-D31C890C6FB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9" name="AutoShape 9">
              <a:extLst>
                <a:ext uri="{FF2B5EF4-FFF2-40B4-BE49-F238E27FC236}">
                  <a16:creationId xmlns:a16="http://schemas.microsoft.com/office/drawing/2014/main" id="{FAB68338-6B8B-252C-D6D1-62E70512D2D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0" name="AutoShape 9">
              <a:extLst>
                <a:ext uri="{FF2B5EF4-FFF2-40B4-BE49-F238E27FC236}">
                  <a16:creationId xmlns:a16="http://schemas.microsoft.com/office/drawing/2014/main" id="{51C1E125-F5FD-BF2C-50D1-C1E544AEA6DF}"/>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1" name="AutoShape 9">
              <a:extLst>
                <a:ext uri="{FF2B5EF4-FFF2-40B4-BE49-F238E27FC236}">
                  <a16:creationId xmlns:a16="http://schemas.microsoft.com/office/drawing/2014/main" id="{F0F7FCFC-37B1-4D5A-060B-4B67F2EEB3B8}"/>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4" name="AutoShape 11">
              <a:extLst>
                <a:ext uri="{FF2B5EF4-FFF2-40B4-BE49-F238E27FC236}">
                  <a16:creationId xmlns:a16="http://schemas.microsoft.com/office/drawing/2014/main" id="{4DCB83DE-63BE-371E-7CC8-3EB5EADE5B3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225112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Solutions</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65528"/>
            <a:ext cx="9722342" cy="65659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Follow the brainstorming process to identify, define and select the solutions for each barrier from the previous exercise.</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improvement tools to identify, define, select and prioritize solutions for each barrier.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86678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Solutions identified</a:t>
            </a:r>
          </a:p>
        </p:txBody>
      </p:sp>
      <p:sp>
        <p:nvSpPr>
          <p:cNvPr id="22" name="Slide Number Placeholder 16">
            <a:extLst>
              <a:ext uri="{FF2B5EF4-FFF2-40B4-BE49-F238E27FC236}">
                <a16:creationId xmlns:a16="http://schemas.microsoft.com/office/drawing/2014/main" id="{5ABFCA80-8AFE-7222-5246-A5D2ECB27A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65</a:t>
            </a:fld>
            <a:endParaRPr lang="en-US"/>
          </a:p>
        </p:txBody>
      </p:sp>
      <p:grpSp>
        <p:nvGrpSpPr>
          <p:cNvPr id="3" name="Group 2">
            <a:extLst>
              <a:ext uri="{FF2B5EF4-FFF2-40B4-BE49-F238E27FC236}">
                <a16:creationId xmlns:a16="http://schemas.microsoft.com/office/drawing/2014/main" id="{44E05C47-B598-D25D-4B8A-D7C5737F313C}"/>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7C8F4119-C4D0-60A8-C769-2AB696B3A10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5" name="AutoShape 9">
              <a:extLst>
                <a:ext uri="{FF2B5EF4-FFF2-40B4-BE49-F238E27FC236}">
                  <a16:creationId xmlns:a16="http://schemas.microsoft.com/office/drawing/2014/main" id="{FCD0F5E5-48E5-1E60-E949-B41558ACB1C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AD1E1D21-47B2-9F16-5D10-BDE1267D0F5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12914D31-6DC6-49AE-DCA4-C8F08E6613F4}"/>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3B5E1FA-1C7D-FD7C-3C7C-1BFCB57D9AE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B78EAA9-84DA-9E73-A852-8DDD025A08B3}"/>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8643721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p:txBody>
          <a:bodyPr>
            <a:normAutofit/>
          </a:bodyPr>
          <a:lstStyle/>
          <a:p>
            <a:r>
              <a:rPr lang="en-US" sz="2800" dirty="0"/>
              <a:t>Conduct Leadership Review of Solutions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Give leadership the advantage of an early “peek” so they can begin to think about what resources we may be likely to ask for (including lead time to overcome barriers to our objectives)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3" name="Slide Number Placeholder 16">
            <a:extLst>
              <a:ext uri="{FF2B5EF4-FFF2-40B4-BE49-F238E27FC236}">
                <a16:creationId xmlns:a16="http://schemas.microsoft.com/office/drawing/2014/main" id="{F1DFF257-B9F7-1E85-D65C-B4108F3ECDF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66</a:t>
            </a:fld>
            <a:endParaRPr lang="en-US"/>
          </a:p>
        </p:txBody>
      </p:sp>
      <p:grpSp>
        <p:nvGrpSpPr>
          <p:cNvPr id="18" name="Group 17">
            <a:extLst>
              <a:ext uri="{FF2B5EF4-FFF2-40B4-BE49-F238E27FC236}">
                <a16:creationId xmlns:a16="http://schemas.microsoft.com/office/drawing/2014/main" id="{4D74188E-DC8E-8EFF-31AF-71483FD9D626}"/>
              </a:ext>
            </a:extLst>
          </p:cNvPr>
          <p:cNvGrpSpPr/>
          <p:nvPr/>
        </p:nvGrpSpPr>
        <p:grpSpPr>
          <a:xfrm>
            <a:off x="940249" y="302538"/>
            <a:ext cx="6219503" cy="311932"/>
            <a:chOff x="940249" y="302538"/>
            <a:chExt cx="6219503" cy="311932"/>
          </a:xfrm>
        </p:grpSpPr>
        <p:sp>
          <p:nvSpPr>
            <p:cNvPr id="19" name="TextBox 18">
              <a:extLst>
                <a:ext uri="{FF2B5EF4-FFF2-40B4-BE49-F238E27FC236}">
                  <a16:creationId xmlns:a16="http://schemas.microsoft.com/office/drawing/2014/main" id="{9F5E7FE0-850A-1589-A200-23911AFAF38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20" name="AutoShape 9">
              <a:extLst>
                <a:ext uri="{FF2B5EF4-FFF2-40B4-BE49-F238E27FC236}">
                  <a16:creationId xmlns:a16="http://schemas.microsoft.com/office/drawing/2014/main" id="{7A9A2668-C6B8-AA2B-54D6-6B0AC68424F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E80EC1BF-D592-209A-83E3-990EF77C87F6}"/>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0CD4A540-B3AE-5EBD-E772-0C88D3B73B67}"/>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33D4BCBC-910D-F76B-1159-C0AA6FF853BA}"/>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4C1CA8AF-6D44-92D6-B967-06862B0F911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4972876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fontScale="90000"/>
          </a:bodyPr>
          <a:lstStyle/>
          <a:p>
            <a:r>
              <a:rPr lang="en-US" sz="4000" dirty="0">
                <a:latin typeface="Roboto Medium"/>
                <a:ea typeface="Roboto Medium"/>
                <a:cs typeface="Roboto Medium"/>
              </a:rPr>
              <a:t>Complete Description of the “Should Be” Process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Complete the “Should Be” Process Flow Map</a:t>
            </a:r>
          </a:p>
          <a:p>
            <a:r>
              <a:rPr lang="en-US" dirty="0"/>
              <a:t>Complete the “Should Be” Process Documentation</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Complete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20768375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ACB4-6B6B-265B-0E4E-1F099DDA0035}"/>
              </a:ext>
            </a:extLst>
          </p:cNvPr>
          <p:cNvSpPr>
            <a:spLocks noGrp="1"/>
          </p:cNvSpPr>
          <p:nvPr>
            <p:ph type="title"/>
          </p:nvPr>
        </p:nvSpPr>
        <p:spPr/>
        <p:txBody>
          <a:bodyPr/>
          <a:lstStyle/>
          <a:p>
            <a:r>
              <a:rPr lang="en-US" dirty="0"/>
              <a:t>Creating the Should Be Process</a:t>
            </a:r>
          </a:p>
        </p:txBody>
      </p:sp>
      <p:sp>
        <p:nvSpPr>
          <p:cNvPr id="4" name="Text Placeholder 3">
            <a:extLst>
              <a:ext uri="{FF2B5EF4-FFF2-40B4-BE49-F238E27FC236}">
                <a16:creationId xmlns:a16="http://schemas.microsoft.com/office/drawing/2014/main" id="{88B00F49-1572-4C59-3A03-A23150763660}"/>
              </a:ext>
            </a:extLst>
          </p:cNvPr>
          <p:cNvSpPr>
            <a:spLocks noGrp="1"/>
          </p:cNvSpPr>
          <p:nvPr>
            <p:ph type="body" sz="half" idx="2"/>
          </p:nvPr>
        </p:nvSpPr>
        <p:spPr/>
        <p:txBody>
          <a:bodyPr/>
          <a:lstStyle/>
          <a:p>
            <a:r>
              <a:rPr lang="en-US" dirty="0"/>
              <a:t>What is driving the non-value added?</a:t>
            </a:r>
          </a:p>
          <a:p>
            <a:pPr marL="285750" indent="-285750">
              <a:buFont typeface="Arial" panose="020B0604020202020204" pitchFamily="34" charset="0"/>
              <a:buChar char="•"/>
            </a:pPr>
            <a:r>
              <a:rPr lang="en-US" dirty="0"/>
              <a:t>Lack of Visual Systems?</a:t>
            </a:r>
          </a:p>
          <a:p>
            <a:pPr marL="285750" indent="-285750">
              <a:buFont typeface="Arial" panose="020B0604020202020204" pitchFamily="34" charset="0"/>
              <a:buChar char="•"/>
            </a:pPr>
            <a:r>
              <a:rPr lang="en-US" dirty="0"/>
              <a:t>Lack of Standard Work?</a:t>
            </a:r>
          </a:p>
          <a:p>
            <a:pPr marL="285750" indent="-285750">
              <a:buFont typeface="Arial" panose="020B0604020202020204" pitchFamily="34" charset="0"/>
              <a:buChar char="•"/>
            </a:pPr>
            <a:r>
              <a:rPr lang="en-US" dirty="0"/>
              <a:t>Lack of Flow?</a:t>
            </a:r>
          </a:p>
          <a:p>
            <a:pPr marL="285750" indent="-285750">
              <a:buFont typeface="Arial" panose="020B0604020202020204" pitchFamily="34" charset="0"/>
              <a:buChar char="•"/>
            </a:pPr>
            <a:r>
              <a:rPr lang="en-US" dirty="0"/>
              <a:t>Excessive handoffs?</a:t>
            </a:r>
          </a:p>
          <a:p>
            <a:pPr marL="285750" indent="-285750">
              <a:buFont typeface="Arial" panose="020B0604020202020204" pitchFamily="34" charset="0"/>
              <a:buChar char="•"/>
            </a:pPr>
            <a:r>
              <a:rPr lang="en-US" dirty="0"/>
              <a:t>Process Complexity?</a:t>
            </a:r>
          </a:p>
          <a:p>
            <a:pPr marL="742950" lvl="1" indent="-285750">
              <a:buFont typeface="Arial" panose="020B0604020202020204" pitchFamily="34" charset="0"/>
              <a:buChar char="•"/>
            </a:pPr>
            <a:r>
              <a:rPr lang="en-US" dirty="0"/>
              <a:t>What steps can be eliminated or redesigned?</a:t>
            </a:r>
          </a:p>
        </p:txBody>
      </p:sp>
      <p:sp>
        <p:nvSpPr>
          <p:cNvPr id="8" name="Rectangle 4">
            <a:extLst>
              <a:ext uri="{FF2B5EF4-FFF2-40B4-BE49-F238E27FC236}">
                <a16:creationId xmlns:a16="http://schemas.microsoft.com/office/drawing/2014/main" id="{7FD0DFAB-6BFE-0C19-B8E0-09580F3A61A3}"/>
              </a:ext>
            </a:extLst>
          </p:cNvPr>
          <p:cNvSpPr>
            <a:spLocks noChangeArrowheads="1"/>
          </p:cNvSpPr>
          <p:nvPr/>
        </p:nvSpPr>
        <p:spPr bwMode="auto">
          <a:xfrm>
            <a:off x="6329363" y="1068388"/>
            <a:ext cx="2620962" cy="6350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Begin by asking from the</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customer</a:t>
            </a:r>
            <a:r>
              <a:rPr lang="ja-JP" altLang="en-US" sz="1400" dirty="0">
                <a:latin typeface="Roboto" panose="02000000000000000000" pitchFamily="2" charset="0"/>
                <a:cs typeface="Roboto" panose="02000000000000000000" pitchFamily="2" charset="0"/>
              </a:rPr>
              <a:t>’</a:t>
            </a:r>
            <a:r>
              <a:rPr lang="en-US" altLang="ja-JP" sz="1400" dirty="0">
                <a:latin typeface="Roboto" panose="02000000000000000000" pitchFamily="2" charset="0"/>
                <a:ea typeface="Roboto" panose="02000000000000000000" pitchFamily="2" charset="0"/>
                <a:cs typeface="Roboto" panose="02000000000000000000" pitchFamily="2" charset="0"/>
              </a:rPr>
              <a:t>s perspective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9" name="Rectangle 5">
            <a:extLst>
              <a:ext uri="{FF2B5EF4-FFF2-40B4-BE49-F238E27FC236}">
                <a16:creationId xmlns:a16="http://schemas.microsoft.com/office/drawing/2014/main" id="{D67CBD51-6A4B-21AB-CC54-B0AA0864C3ED}"/>
              </a:ext>
            </a:extLst>
          </p:cNvPr>
          <p:cNvSpPr>
            <a:spLocks noChangeArrowheads="1"/>
          </p:cNvSpPr>
          <p:nvPr/>
        </p:nvSpPr>
        <p:spPr bwMode="auto">
          <a:xfrm>
            <a:off x="6329363" y="1998663"/>
            <a:ext cx="2620962" cy="635000"/>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ja-JP" altLang="en-US" sz="1400" dirty="0">
                <a:solidFill>
                  <a:schemeClr val="bg1"/>
                </a:solidFill>
                <a:latin typeface="Roboto" panose="02000000000000000000" pitchFamily="2" charset="0"/>
                <a:cs typeface="Roboto" panose="02000000000000000000" pitchFamily="2" charset="0"/>
              </a:rPr>
              <a:t>“</a:t>
            </a: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What would the ideal</a:t>
            </a:r>
            <a:b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process look like?</a:t>
            </a:r>
            <a:r>
              <a:rPr lang="ja-JP" altLang="en-US" sz="1400" dirty="0">
                <a:solidFill>
                  <a:schemeClr val="bg1"/>
                </a:solidFill>
                <a:latin typeface="Roboto" panose="02000000000000000000" pitchFamily="2" charset="0"/>
                <a:cs typeface="Roboto" panose="02000000000000000000" pitchFamily="2" charset="0"/>
              </a:rPr>
              <a:t>”</a:t>
            </a:r>
            <a:endPar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Rectangle 6">
            <a:extLst>
              <a:ext uri="{FF2B5EF4-FFF2-40B4-BE49-F238E27FC236}">
                <a16:creationId xmlns:a16="http://schemas.microsoft.com/office/drawing/2014/main" id="{3A5E7CC2-BB8B-0598-69DA-C4CAD2A82B09}"/>
              </a:ext>
            </a:extLst>
          </p:cNvPr>
          <p:cNvSpPr>
            <a:spLocks noChangeArrowheads="1"/>
          </p:cNvSpPr>
          <p:nvPr/>
        </p:nvSpPr>
        <p:spPr bwMode="auto">
          <a:xfrm>
            <a:off x="6329363" y="2932113"/>
            <a:ext cx="2620962" cy="635000"/>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Create high level process</a:t>
            </a:r>
            <a:b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flow from this</a:t>
            </a:r>
          </a:p>
        </p:txBody>
      </p:sp>
      <p:sp>
        <p:nvSpPr>
          <p:cNvPr id="11" name="Rectangle 7">
            <a:extLst>
              <a:ext uri="{FF2B5EF4-FFF2-40B4-BE49-F238E27FC236}">
                <a16:creationId xmlns:a16="http://schemas.microsoft.com/office/drawing/2014/main" id="{A22363E7-1A78-5A4C-0727-87E1F5192580}"/>
              </a:ext>
            </a:extLst>
          </p:cNvPr>
          <p:cNvSpPr>
            <a:spLocks noChangeArrowheads="1"/>
          </p:cNvSpPr>
          <p:nvPr/>
        </p:nvSpPr>
        <p:spPr bwMode="auto">
          <a:xfrm>
            <a:off x="6329363" y="3905250"/>
            <a:ext cx="2620962" cy="635000"/>
          </a:xfrm>
          <a:prstGeom prst="rect">
            <a:avLst/>
          </a:prstGeom>
          <a:solidFill>
            <a:schemeClr val="tx1"/>
          </a:solidFill>
          <a:ln w="12700" cap="sq">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latin typeface="Roboto" panose="02000000000000000000" pitchFamily="2" charset="0"/>
                <a:ea typeface="Roboto" panose="02000000000000000000" pitchFamily="2" charset="0"/>
                <a:cs typeface="Roboto" panose="02000000000000000000" pitchFamily="2" charset="0"/>
              </a:rPr>
              <a:t>Where is the non-value</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added?</a:t>
            </a:r>
          </a:p>
        </p:txBody>
      </p:sp>
      <p:cxnSp>
        <p:nvCxnSpPr>
          <p:cNvPr id="12" name="AutoShape 8">
            <a:extLst>
              <a:ext uri="{FF2B5EF4-FFF2-40B4-BE49-F238E27FC236}">
                <a16:creationId xmlns:a16="http://schemas.microsoft.com/office/drawing/2014/main" id="{7DD99B0E-AAC4-922D-51BA-C0ADDB5BC1E9}"/>
              </a:ext>
            </a:extLst>
          </p:cNvPr>
          <p:cNvCxnSpPr>
            <a:cxnSpLocks noChangeShapeType="1"/>
            <a:stCxn id="8" idx="2"/>
            <a:endCxn id="9" idx="0"/>
          </p:cNvCxnSpPr>
          <p:nvPr/>
        </p:nvCxnSpPr>
        <p:spPr bwMode="auto">
          <a:xfrm>
            <a:off x="7640638" y="1703388"/>
            <a:ext cx="0" cy="295275"/>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3" name="AutoShape 9">
            <a:extLst>
              <a:ext uri="{FF2B5EF4-FFF2-40B4-BE49-F238E27FC236}">
                <a16:creationId xmlns:a16="http://schemas.microsoft.com/office/drawing/2014/main" id="{10E56626-309C-86D8-19DD-7D883CC8C987}"/>
              </a:ext>
            </a:extLst>
          </p:cNvPr>
          <p:cNvCxnSpPr>
            <a:cxnSpLocks noChangeShapeType="1"/>
            <a:stCxn id="9" idx="2"/>
            <a:endCxn id="10" idx="0"/>
          </p:cNvCxnSpPr>
          <p:nvPr/>
        </p:nvCxnSpPr>
        <p:spPr bwMode="auto">
          <a:xfrm>
            <a:off x="7640638" y="2633663"/>
            <a:ext cx="0" cy="298450"/>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4" name="AutoShape 10">
            <a:extLst>
              <a:ext uri="{FF2B5EF4-FFF2-40B4-BE49-F238E27FC236}">
                <a16:creationId xmlns:a16="http://schemas.microsoft.com/office/drawing/2014/main" id="{75DC2DE6-3B67-DAF2-E16A-B3A0BE337569}"/>
              </a:ext>
            </a:extLst>
          </p:cNvPr>
          <p:cNvCxnSpPr>
            <a:cxnSpLocks noChangeShapeType="1"/>
            <a:stCxn id="10" idx="2"/>
            <a:endCxn id="11" idx="0"/>
          </p:cNvCxnSpPr>
          <p:nvPr/>
        </p:nvCxnSpPr>
        <p:spPr bwMode="auto">
          <a:xfrm>
            <a:off x="7640638" y="3567113"/>
            <a:ext cx="0" cy="338137"/>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sp>
        <p:nvSpPr>
          <p:cNvPr id="15" name="Oval 11">
            <a:extLst>
              <a:ext uri="{FF2B5EF4-FFF2-40B4-BE49-F238E27FC236}">
                <a16:creationId xmlns:a16="http://schemas.microsoft.com/office/drawing/2014/main" id="{344B00D7-38A4-0B4C-74CE-F5DDA3DE0A06}"/>
              </a:ext>
            </a:extLst>
          </p:cNvPr>
          <p:cNvSpPr>
            <a:spLocks noChangeArrowheads="1"/>
          </p:cNvSpPr>
          <p:nvPr/>
        </p:nvSpPr>
        <p:spPr bwMode="auto">
          <a:xfrm>
            <a:off x="6329363" y="4864100"/>
            <a:ext cx="2620962" cy="601663"/>
          </a:xfrm>
          <a:prstGeom prst="ellipse">
            <a:avLst/>
          </a:prstGeom>
          <a:solidFill>
            <a:schemeClr val="accent1"/>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latin typeface="Roboto" panose="02000000000000000000" pitchFamily="2" charset="0"/>
                <a:ea typeface="Roboto" panose="02000000000000000000" pitchFamily="2" charset="0"/>
                <a:cs typeface="Roboto" panose="02000000000000000000" pitchFamily="2" charset="0"/>
              </a:rPr>
              <a:t>What is driving</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the non-value added?</a:t>
            </a:r>
          </a:p>
        </p:txBody>
      </p:sp>
      <p:cxnSp>
        <p:nvCxnSpPr>
          <p:cNvPr id="16" name="AutoShape 12">
            <a:extLst>
              <a:ext uri="{FF2B5EF4-FFF2-40B4-BE49-F238E27FC236}">
                <a16:creationId xmlns:a16="http://schemas.microsoft.com/office/drawing/2014/main" id="{5718493F-A357-DF67-690D-719C9ECB4CE9}"/>
              </a:ext>
            </a:extLst>
          </p:cNvPr>
          <p:cNvCxnSpPr>
            <a:cxnSpLocks noChangeShapeType="1"/>
            <a:stCxn id="11" idx="2"/>
            <a:endCxn id="15" idx="0"/>
          </p:cNvCxnSpPr>
          <p:nvPr/>
        </p:nvCxnSpPr>
        <p:spPr bwMode="auto">
          <a:xfrm>
            <a:off x="7640638" y="4540250"/>
            <a:ext cx="0" cy="323850"/>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sp>
        <p:nvSpPr>
          <p:cNvPr id="3" name="Slide Number Placeholder 16">
            <a:extLst>
              <a:ext uri="{FF2B5EF4-FFF2-40B4-BE49-F238E27FC236}">
                <a16:creationId xmlns:a16="http://schemas.microsoft.com/office/drawing/2014/main" id="{47D3D226-BADB-FC9A-110F-2C210637661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68</a:t>
            </a:fld>
            <a:endParaRPr lang="en-US"/>
          </a:p>
        </p:txBody>
      </p:sp>
      <p:grpSp>
        <p:nvGrpSpPr>
          <p:cNvPr id="5" name="Group 4">
            <a:extLst>
              <a:ext uri="{FF2B5EF4-FFF2-40B4-BE49-F238E27FC236}">
                <a16:creationId xmlns:a16="http://schemas.microsoft.com/office/drawing/2014/main" id="{C80D650B-7976-5923-0F26-9720689322BD}"/>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F3B00A24-7E8F-0F6F-A448-F07EDDE54E2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16343E0A-0E37-B011-64E4-C2AB303BED3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7AC33630-A453-2B7C-5086-AE99E6CEBF9B}"/>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DE159CA7-BFD3-4C2E-2B49-70BCF9A93F96}"/>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D8A3B155-A088-9835-5A66-56FE672CC43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245FED5F-ABF5-6DC5-FBA1-820FB39B4984}"/>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8171989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670A-267C-881B-2F2A-80248B544371}"/>
              </a:ext>
            </a:extLst>
          </p:cNvPr>
          <p:cNvSpPr>
            <a:spLocks noGrp="1"/>
          </p:cNvSpPr>
          <p:nvPr>
            <p:ph type="title"/>
          </p:nvPr>
        </p:nvSpPr>
        <p:spPr>
          <a:xfrm>
            <a:off x="839788" y="457200"/>
            <a:ext cx="4656932" cy="1465029"/>
          </a:xfrm>
        </p:spPr>
        <p:txBody>
          <a:bodyPr>
            <a:normAutofit/>
          </a:bodyPr>
          <a:lstStyle/>
          <a:p>
            <a:r>
              <a:rPr lang="en-US" sz="2800" dirty="0"/>
              <a:t>Draw the Initial Consensus Should Be Process Map</a:t>
            </a:r>
          </a:p>
        </p:txBody>
      </p:sp>
      <p:sp>
        <p:nvSpPr>
          <p:cNvPr id="4" name="Text Placeholder 3">
            <a:extLst>
              <a:ext uri="{FF2B5EF4-FFF2-40B4-BE49-F238E27FC236}">
                <a16:creationId xmlns:a16="http://schemas.microsoft.com/office/drawing/2014/main" id="{3E4F9631-D90A-4FEA-3CB6-8B88D9BE2DDD}"/>
              </a:ext>
            </a:extLst>
          </p:cNvPr>
          <p:cNvSpPr>
            <a:spLocks noGrp="1"/>
          </p:cNvSpPr>
          <p:nvPr>
            <p:ph type="body" sz="half" idx="2"/>
          </p:nvPr>
        </p:nvSpPr>
        <p:spPr>
          <a:xfrm>
            <a:off x="839788" y="2146852"/>
            <a:ext cx="4427537" cy="3722136"/>
          </a:xfrm>
        </p:spPr>
        <p:txBody>
          <a:bodyPr>
            <a:normAutofit/>
          </a:bodyPr>
          <a:lstStyle/>
          <a:p>
            <a:pPr marL="285750" indent="-285750">
              <a:buFont typeface="Arial" panose="020B0604020202020204" pitchFamily="34" charset="0"/>
              <a:buChar char="•"/>
            </a:pPr>
            <a:r>
              <a:rPr lang="en-US" sz="2800" dirty="0"/>
              <a:t>Discuss amongst team to reach consensus</a:t>
            </a:r>
          </a:p>
          <a:p>
            <a:pPr marL="285750" indent="-285750">
              <a:buFont typeface="Arial" panose="020B0604020202020204" pitchFamily="34" charset="0"/>
              <a:buChar char="•"/>
            </a:pPr>
            <a:r>
              <a:rPr lang="en-US" sz="2800" dirty="0"/>
              <a:t>Draw initial consensus Should Be Process Map</a:t>
            </a:r>
          </a:p>
        </p:txBody>
      </p:sp>
      <p:pic>
        <p:nvPicPr>
          <p:cNvPr id="16" name="Picture 12" descr="bigstockphoto_Process_Management_541138">
            <a:extLst>
              <a:ext uri="{FF2B5EF4-FFF2-40B4-BE49-F238E27FC236}">
                <a16:creationId xmlns:a16="http://schemas.microsoft.com/office/drawing/2014/main" id="{54A7FB21-94DC-C1A7-9FBF-04671FD46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5281" y="1230312"/>
            <a:ext cx="2916237"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4A7BDE98-7DE1-2DF6-B8D8-DBBDDDB7179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69</a:t>
            </a:fld>
            <a:endParaRPr lang="en-US"/>
          </a:p>
        </p:txBody>
      </p:sp>
      <p:grpSp>
        <p:nvGrpSpPr>
          <p:cNvPr id="5" name="Group 4">
            <a:extLst>
              <a:ext uri="{FF2B5EF4-FFF2-40B4-BE49-F238E27FC236}">
                <a16:creationId xmlns:a16="http://schemas.microsoft.com/office/drawing/2014/main" id="{ED06DBE4-C819-61CE-FB2E-3010C4910618}"/>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31FE19CB-140A-00C1-6C34-E0E21C79E4C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7E7D757B-0C27-5500-A1BD-A19EFA3F7D7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8381E81-D9F6-36EB-524A-25CBEE7CA90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FCC3B49-D7CE-ABDD-D2F8-675FF7580C0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FBB3B0B7-E426-F0F3-AD1B-C156C1DB62E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5996BF49-6970-EC9F-7C6F-47AEAB0F8E8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3175313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670A-267C-881B-2F2A-80248B544371}"/>
              </a:ext>
            </a:extLst>
          </p:cNvPr>
          <p:cNvSpPr>
            <a:spLocks noGrp="1"/>
          </p:cNvSpPr>
          <p:nvPr>
            <p:ph type="title"/>
          </p:nvPr>
        </p:nvSpPr>
        <p:spPr>
          <a:xfrm>
            <a:off x="839788" y="457200"/>
            <a:ext cx="4427537" cy="1465029"/>
          </a:xfrm>
        </p:spPr>
        <p:txBody>
          <a:bodyPr>
            <a:normAutofit/>
          </a:bodyPr>
          <a:lstStyle/>
          <a:p>
            <a:r>
              <a:rPr lang="en-US" sz="2800" dirty="0"/>
              <a:t>Draw Spaghetti Diagram for Should Be Process</a:t>
            </a:r>
          </a:p>
        </p:txBody>
      </p:sp>
      <p:sp>
        <p:nvSpPr>
          <p:cNvPr id="4" name="Text Placeholder 3">
            <a:extLst>
              <a:ext uri="{FF2B5EF4-FFF2-40B4-BE49-F238E27FC236}">
                <a16:creationId xmlns:a16="http://schemas.microsoft.com/office/drawing/2014/main" id="{3E4F9631-D90A-4FEA-3CB6-8B88D9BE2DDD}"/>
              </a:ext>
            </a:extLst>
          </p:cNvPr>
          <p:cNvSpPr>
            <a:spLocks noGrp="1"/>
          </p:cNvSpPr>
          <p:nvPr>
            <p:ph type="body" sz="half" idx="2"/>
          </p:nvPr>
        </p:nvSpPr>
        <p:spPr>
          <a:xfrm>
            <a:off x="839788" y="2146852"/>
            <a:ext cx="4427537" cy="2282273"/>
          </a:xfrm>
        </p:spPr>
        <p:txBody>
          <a:bodyPr>
            <a:normAutofit/>
          </a:bodyPr>
          <a:lstStyle/>
          <a:p>
            <a:pPr marL="285750" indent="-285750">
              <a:buFont typeface="Arial" panose="020B0604020202020204" pitchFamily="34" charset="0"/>
              <a:buChar char="•"/>
            </a:pPr>
            <a:r>
              <a:rPr lang="en-US" sz="2800" dirty="0"/>
              <a:t>Same methodology as the Spaghetti Diagram for the As Is Process</a:t>
            </a:r>
          </a:p>
        </p:txBody>
      </p:sp>
      <p:sp>
        <p:nvSpPr>
          <p:cNvPr id="16" name="Slide Number Placeholder 16">
            <a:extLst>
              <a:ext uri="{FF2B5EF4-FFF2-40B4-BE49-F238E27FC236}">
                <a16:creationId xmlns:a16="http://schemas.microsoft.com/office/drawing/2014/main" id="{CD5EDF24-FB97-A2B2-8BA5-8872232E5B3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70</a:t>
            </a:fld>
            <a:endParaRPr lang="en-US"/>
          </a:p>
        </p:txBody>
      </p:sp>
      <p:grpSp>
        <p:nvGrpSpPr>
          <p:cNvPr id="5" name="Group 4">
            <a:extLst>
              <a:ext uri="{FF2B5EF4-FFF2-40B4-BE49-F238E27FC236}">
                <a16:creationId xmlns:a16="http://schemas.microsoft.com/office/drawing/2014/main" id="{9DBBE6CB-F96C-7CF7-AB72-85F2278873E6}"/>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172A1EB8-A7CC-DD6E-DBDC-C52BBFB63B3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67F8B95D-DFE2-A284-005F-F25F27C402F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2AC5E5D-C812-EECB-2E1A-6C70ED21AC8B}"/>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7AA2713-DCD9-D2DF-BD7C-6C1F7EC7697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279FF54E-A217-CFF6-B189-012AE3F0044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0C5F35A-268B-C236-A47A-958B500FF24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13" name="Picture 12">
            <a:extLst>
              <a:ext uri="{FF2B5EF4-FFF2-40B4-BE49-F238E27FC236}">
                <a16:creationId xmlns:a16="http://schemas.microsoft.com/office/drawing/2014/main" id="{9DD2EA89-8E02-A829-0495-DC691BE83F20}"/>
              </a:ext>
            </a:extLst>
          </p:cNvPr>
          <p:cNvPicPr>
            <a:picLocks noChangeAspect="1"/>
          </p:cNvPicPr>
          <p:nvPr/>
        </p:nvPicPr>
        <p:blipFill>
          <a:blip r:embed="rId3"/>
          <a:stretch>
            <a:fillRect/>
          </a:stretch>
        </p:blipFill>
        <p:spPr>
          <a:xfrm>
            <a:off x="5968426" y="2212086"/>
            <a:ext cx="4875276" cy="2433828"/>
          </a:xfrm>
          <a:prstGeom prst="rect">
            <a:avLst/>
          </a:prstGeom>
        </p:spPr>
      </p:pic>
    </p:spTree>
    <p:extLst>
      <p:ext uri="{BB962C8B-B14F-4D97-AF65-F5344CB8AC3E}">
        <p14:creationId xmlns:p14="http://schemas.microsoft.com/office/powerpoint/2010/main" val="27480914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625720D-04F3-671A-3DDC-15F2AB9A2CF5}"/>
              </a:ext>
            </a:extLst>
          </p:cNvPr>
          <p:cNvPicPr>
            <a:picLocks noChangeAspect="1"/>
          </p:cNvPicPr>
          <p:nvPr/>
        </p:nvPicPr>
        <p:blipFill>
          <a:blip r:embed="rId3"/>
          <a:stretch>
            <a:fillRect/>
          </a:stretch>
        </p:blipFill>
        <p:spPr>
          <a:xfrm>
            <a:off x="6352640" y="2780457"/>
            <a:ext cx="4415028" cy="2990088"/>
          </a:xfrm>
          <a:prstGeom prst="rect">
            <a:avLst/>
          </a:prstGeom>
        </p:spPr>
      </p:pic>
      <p:sp>
        <p:nvSpPr>
          <p:cNvPr id="2" name="Title 1">
            <a:extLst>
              <a:ext uri="{FF2B5EF4-FFF2-40B4-BE49-F238E27FC236}">
                <a16:creationId xmlns:a16="http://schemas.microsoft.com/office/drawing/2014/main" id="{7016647D-2B09-B362-DFAD-4CE95B02F0A3}"/>
              </a:ext>
            </a:extLst>
          </p:cNvPr>
          <p:cNvSpPr>
            <a:spLocks noGrp="1"/>
          </p:cNvSpPr>
          <p:nvPr>
            <p:ph type="title"/>
          </p:nvPr>
        </p:nvSpPr>
        <p:spPr/>
        <p:txBody>
          <a:bodyPr>
            <a:noAutofit/>
          </a:bodyPr>
          <a:lstStyle/>
          <a:p>
            <a:r>
              <a:rPr lang="en-US" sz="4000" dirty="0"/>
              <a:t>Typical Considerations </a:t>
            </a:r>
            <a:br>
              <a:rPr lang="en-US" sz="4000" dirty="0"/>
            </a:br>
            <a:r>
              <a:rPr lang="en-US" sz="4000" dirty="0"/>
              <a:t>for the “Should Be” Process</a:t>
            </a:r>
          </a:p>
        </p:txBody>
      </p:sp>
      <p:sp>
        <p:nvSpPr>
          <p:cNvPr id="3" name="Text Placeholder 2">
            <a:extLst>
              <a:ext uri="{FF2B5EF4-FFF2-40B4-BE49-F238E27FC236}">
                <a16:creationId xmlns:a16="http://schemas.microsoft.com/office/drawing/2014/main" id="{C6406283-2322-F072-F4E2-745F82598B78}"/>
              </a:ext>
            </a:extLst>
          </p:cNvPr>
          <p:cNvSpPr>
            <a:spLocks noGrp="1"/>
          </p:cNvSpPr>
          <p:nvPr>
            <p:ph type="body" idx="1"/>
          </p:nvPr>
        </p:nvSpPr>
        <p:spPr>
          <a:xfrm>
            <a:off x="839788" y="1958413"/>
            <a:ext cx="5157787" cy="823912"/>
          </a:xfrm>
        </p:spPr>
        <p:txBody>
          <a:bodyPr/>
          <a:lstStyle/>
          <a:p>
            <a:r>
              <a:rPr lang="en-US" dirty="0"/>
              <a:t>“As Is” Layout</a:t>
            </a:r>
          </a:p>
        </p:txBody>
      </p:sp>
      <p:sp>
        <p:nvSpPr>
          <p:cNvPr id="5" name="Text Placeholder 4">
            <a:extLst>
              <a:ext uri="{FF2B5EF4-FFF2-40B4-BE49-F238E27FC236}">
                <a16:creationId xmlns:a16="http://schemas.microsoft.com/office/drawing/2014/main" id="{58A7E38C-D417-7F7A-BB5E-F427CBD23CD8}"/>
              </a:ext>
            </a:extLst>
          </p:cNvPr>
          <p:cNvSpPr>
            <a:spLocks noGrp="1"/>
          </p:cNvSpPr>
          <p:nvPr>
            <p:ph type="body" sz="quarter" idx="3"/>
          </p:nvPr>
        </p:nvSpPr>
        <p:spPr>
          <a:xfrm>
            <a:off x="6172200" y="1958413"/>
            <a:ext cx="5183188" cy="823912"/>
          </a:xfrm>
        </p:spPr>
        <p:txBody>
          <a:bodyPr/>
          <a:lstStyle/>
          <a:p>
            <a:r>
              <a:rPr lang="en-US" dirty="0"/>
              <a:t>“Should Be” Layout</a:t>
            </a:r>
          </a:p>
        </p:txBody>
      </p:sp>
      <p:pic>
        <p:nvPicPr>
          <p:cNvPr id="19" name="Picture 13">
            <a:extLst>
              <a:ext uri="{FF2B5EF4-FFF2-40B4-BE49-F238E27FC236}">
                <a16:creationId xmlns:a16="http://schemas.microsoft.com/office/drawing/2014/main" id="{830E6184-2B56-F971-1E80-1BCFFED2E1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292" y="2872055"/>
            <a:ext cx="4696302" cy="308403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47" name="Group 46">
            <a:extLst>
              <a:ext uri="{FF2B5EF4-FFF2-40B4-BE49-F238E27FC236}">
                <a16:creationId xmlns:a16="http://schemas.microsoft.com/office/drawing/2014/main" id="{9DF30FA7-F754-E40E-572E-EF15F3258E13}"/>
              </a:ext>
            </a:extLst>
          </p:cNvPr>
          <p:cNvGrpSpPr/>
          <p:nvPr/>
        </p:nvGrpSpPr>
        <p:grpSpPr>
          <a:xfrm>
            <a:off x="6755324" y="2755033"/>
            <a:ext cx="3724985" cy="3099816"/>
            <a:chOff x="7234590" y="2526497"/>
            <a:chExt cx="2939424" cy="2701925"/>
          </a:xfrm>
        </p:grpSpPr>
        <p:sp>
          <p:nvSpPr>
            <p:cNvPr id="23" name="Text Box 14">
              <a:extLst>
                <a:ext uri="{FF2B5EF4-FFF2-40B4-BE49-F238E27FC236}">
                  <a16:creationId xmlns:a16="http://schemas.microsoft.com/office/drawing/2014/main" id="{8B189F25-EA57-CBA3-2746-1048BDD37E4D}"/>
                </a:ext>
              </a:extLst>
            </p:cNvPr>
            <p:cNvSpPr txBox="1">
              <a:spLocks noChangeArrowheads="1"/>
            </p:cNvSpPr>
            <p:nvPr/>
          </p:nvSpPr>
          <p:spPr bwMode="auto">
            <a:xfrm>
              <a:off x="8056915" y="2526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Text Box 19">
              <a:extLst>
                <a:ext uri="{FF2B5EF4-FFF2-40B4-BE49-F238E27FC236}">
                  <a16:creationId xmlns:a16="http://schemas.microsoft.com/office/drawing/2014/main" id="{EDCEEAC8-8DFE-3893-75B5-743FEC2EA48C}"/>
                </a:ext>
              </a:extLst>
            </p:cNvPr>
            <p:cNvSpPr txBox="1">
              <a:spLocks noChangeArrowheads="1"/>
            </p:cNvSpPr>
            <p:nvPr/>
          </p:nvSpPr>
          <p:spPr bwMode="auto">
            <a:xfrm>
              <a:off x="9504715" y="3364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Text Box 20">
              <a:extLst>
                <a:ext uri="{FF2B5EF4-FFF2-40B4-BE49-F238E27FC236}">
                  <a16:creationId xmlns:a16="http://schemas.microsoft.com/office/drawing/2014/main" id="{56E2A7A4-FED7-AA4C-9696-95387B0B9639}"/>
                </a:ext>
              </a:extLst>
            </p:cNvPr>
            <p:cNvSpPr txBox="1">
              <a:spLocks noChangeArrowheads="1"/>
            </p:cNvSpPr>
            <p:nvPr/>
          </p:nvSpPr>
          <p:spPr bwMode="auto">
            <a:xfrm>
              <a:off x="8682390" y="3018622"/>
              <a:ext cx="1491624" cy="1368179"/>
            </a:xfrm>
            <a:prstGeom prst="rect">
              <a:avLst/>
            </a:prstGeom>
            <a:solidFill>
              <a:srgbClr val="DDDDDD"/>
            </a:solidFill>
            <a:ln w="9525">
              <a:solidFill>
                <a:schemeClr val="tx1"/>
              </a:solidFill>
              <a:miter lim="800000"/>
              <a:headEnd/>
              <a:tailEnd/>
            </a:ln>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Instructions:</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1. Task A</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2. Task B</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3. Task C</a:t>
              </a:r>
            </a:p>
          </p:txBody>
        </p:sp>
        <p:sp>
          <p:nvSpPr>
            <p:cNvPr id="27" name="Text Box 21">
              <a:extLst>
                <a:ext uri="{FF2B5EF4-FFF2-40B4-BE49-F238E27FC236}">
                  <a16:creationId xmlns:a16="http://schemas.microsoft.com/office/drawing/2014/main" id="{717B4685-C550-BF72-45EC-3FDACB1F1E1B}"/>
                </a:ext>
              </a:extLst>
            </p:cNvPr>
            <p:cNvSpPr txBox="1">
              <a:spLocks noChangeArrowheads="1"/>
            </p:cNvSpPr>
            <p:nvPr/>
          </p:nvSpPr>
          <p:spPr bwMode="auto">
            <a:xfrm>
              <a:off x="7828315" y="3517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Oval 22">
              <a:extLst>
                <a:ext uri="{FF2B5EF4-FFF2-40B4-BE49-F238E27FC236}">
                  <a16:creationId xmlns:a16="http://schemas.microsoft.com/office/drawing/2014/main" id="{8958D832-1D11-6B8D-C85F-F8794B03C194}"/>
                </a:ext>
              </a:extLst>
            </p:cNvPr>
            <p:cNvSpPr>
              <a:spLocks noChangeArrowheads="1"/>
            </p:cNvSpPr>
            <p:nvPr/>
          </p:nvSpPr>
          <p:spPr bwMode="auto">
            <a:xfrm>
              <a:off x="7234590" y="3552022"/>
              <a:ext cx="1447800" cy="16764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9" name="Text Box 23">
              <a:extLst>
                <a:ext uri="{FF2B5EF4-FFF2-40B4-BE49-F238E27FC236}">
                  <a16:creationId xmlns:a16="http://schemas.microsoft.com/office/drawing/2014/main" id="{6828E835-E364-895C-0D06-58EC8254F9EF}"/>
                </a:ext>
              </a:extLst>
            </p:cNvPr>
            <p:cNvSpPr txBox="1">
              <a:spLocks noChangeArrowheads="1"/>
            </p:cNvSpPr>
            <p:nvPr/>
          </p:nvSpPr>
          <p:spPr bwMode="auto">
            <a:xfrm>
              <a:off x="7675915" y="3669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24">
              <a:extLst>
                <a:ext uri="{FF2B5EF4-FFF2-40B4-BE49-F238E27FC236}">
                  <a16:creationId xmlns:a16="http://schemas.microsoft.com/office/drawing/2014/main" id="{B8B564FD-86B6-7361-38D4-C42E1A0DE380}"/>
                </a:ext>
              </a:extLst>
            </p:cNvPr>
            <p:cNvSpPr>
              <a:spLocks noChangeArrowheads="1"/>
            </p:cNvSpPr>
            <p:nvPr/>
          </p:nvSpPr>
          <p:spPr bwMode="auto">
            <a:xfrm>
              <a:off x="7539390" y="3856822"/>
              <a:ext cx="4572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Processing</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Area</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1" name="Text Box 25">
              <a:extLst>
                <a:ext uri="{FF2B5EF4-FFF2-40B4-BE49-F238E27FC236}">
                  <a16:creationId xmlns:a16="http://schemas.microsoft.com/office/drawing/2014/main" id="{9CA771C1-7577-E5CA-F7FF-C1DE9C7309F0}"/>
                </a:ext>
              </a:extLst>
            </p:cNvPr>
            <p:cNvSpPr txBox="1">
              <a:spLocks noChangeArrowheads="1"/>
            </p:cNvSpPr>
            <p:nvPr/>
          </p:nvSpPr>
          <p:spPr bwMode="auto">
            <a:xfrm>
              <a:off x="8209315" y="4050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Rectangle 26">
              <a:extLst>
                <a:ext uri="{FF2B5EF4-FFF2-40B4-BE49-F238E27FC236}">
                  <a16:creationId xmlns:a16="http://schemas.microsoft.com/office/drawing/2014/main" id="{E9F02472-EAE7-9F41-D27C-2EE244B3CBE5}"/>
                </a:ext>
              </a:extLst>
            </p:cNvPr>
            <p:cNvSpPr>
              <a:spLocks noChangeArrowheads="1"/>
            </p:cNvSpPr>
            <p:nvPr/>
          </p:nvSpPr>
          <p:spPr bwMode="auto">
            <a:xfrm>
              <a:off x="8148990" y="4161622"/>
              <a:ext cx="3048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Printer</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&amp; Fax</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3" name="Text Box 27">
              <a:extLst>
                <a:ext uri="{FF2B5EF4-FFF2-40B4-BE49-F238E27FC236}">
                  <a16:creationId xmlns:a16="http://schemas.microsoft.com/office/drawing/2014/main" id="{CA4E16C2-8339-8883-B709-F9305CA139FC}"/>
                </a:ext>
              </a:extLst>
            </p:cNvPr>
            <p:cNvSpPr txBox="1">
              <a:spLocks noChangeArrowheads="1"/>
            </p:cNvSpPr>
            <p:nvPr/>
          </p:nvSpPr>
          <p:spPr bwMode="auto">
            <a:xfrm>
              <a:off x="7447315" y="42028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4" name="Rectangle 28">
              <a:extLst>
                <a:ext uri="{FF2B5EF4-FFF2-40B4-BE49-F238E27FC236}">
                  <a16:creationId xmlns:a16="http://schemas.microsoft.com/office/drawing/2014/main" id="{11D2285D-1521-8A57-A7A5-7022E67DCC2C}"/>
                </a:ext>
              </a:extLst>
            </p:cNvPr>
            <p:cNvSpPr>
              <a:spLocks noChangeArrowheads="1"/>
            </p:cNvSpPr>
            <p:nvPr/>
          </p:nvSpPr>
          <p:spPr bwMode="auto">
            <a:xfrm>
              <a:off x="7539390" y="4390222"/>
              <a:ext cx="3048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Desk</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Text Box 29">
              <a:extLst>
                <a:ext uri="{FF2B5EF4-FFF2-40B4-BE49-F238E27FC236}">
                  <a16:creationId xmlns:a16="http://schemas.microsoft.com/office/drawing/2014/main" id="{2DBCFE63-DEA5-2BA8-4D77-4B8C288E2B53}"/>
                </a:ext>
              </a:extLst>
            </p:cNvPr>
            <p:cNvSpPr txBox="1">
              <a:spLocks noChangeArrowheads="1"/>
            </p:cNvSpPr>
            <p:nvPr/>
          </p:nvSpPr>
          <p:spPr bwMode="auto">
            <a:xfrm>
              <a:off x="8056915" y="43552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6" name="Rectangle 30">
              <a:extLst>
                <a:ext uri="{FF2B5EF4-FFF2-40B4-BE49-F238E27FC236}">
                  <a16:creationId xmlns:a16="http://schemas.microsoft.com/office/drawing/2014/main" id="{042385CD-7B59-970B-D8AB-D5FBAE6EE7C8}"/>
                </a:ext>
              </a:extLst>
            </p:cNvPr>
            <p:cNvSpPr>
              <a:spLocks noChangeArrowheads="1"/>
            </p:cNvSpPr>
            <p:nvPr/>
          </p:nvSpPr>
          <p:spPr bwMode="auto">
            <a:xfrm>
              <a:off x="8072790" y="4542622"/>
              <a:ext cx="3810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File</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Cabinets</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Text Box 31">
              <a:extLst>
                <a:ext uri="{FF2B5EF4-FFF2-40B4-BE49-F238E27FC236}">
                  <a16:creationId xmlns:a16="http://schemas.microsoft.com/office/drawing/2014/main" id="{4EAB1F2B-AA60-7F2A-EA13-9D7E4F5FF030}"/>
                </a:ext>
              </a:extLst>
            </p:cNvPr>
            <p:cNvSpPr txBox="1">
              <a:spLocks noChangeArrowheads="1"/>
            </p:cNvSpPr>
            <p:nvPr/>
          </p:nvSpPr>
          <p:spPr bwMode="auto">
            <a:xfrm>
              <a:off x="8437915" y="3364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8" name="Line 32">
              <a:extLst>
                <a:ext uri="{FF2B5EF4-FFF2-40B4-BE49-F238E27FC236}">
                  <a16:creationId xmlns:a16="http://schemas.microsoft.com/office/drawing/2014/main" id="{AB40ED2F-2D12-A524-D39F-C40CB25AC412}"/>
                </a:ext>
              </a:extLst>
            </p:cNvPr>
            <p:cNvSpPr>
              <a:spLocks noChangeShapeType="1"/>
            </p:cNvSpPr>
            <p:nvPr/>
          </p:nvSpPr>
          <p:spPr bwMode="auto">
            <a:xfrm flipV="1">
              <a:off x="7920390" y="3399622"/>
              <a:ext cx="838200" cy="457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9" name="Text Box 37">
              <a:extLst>
                <a:ext uri="{FF2B5EF4-FFF2-40B4-BE49-F238E27FC236}">
                  <a16:creationId xmlns:a16="http://schemas.microsoft.com/office/drawing/2014/main" id="{794F456D-048F-BC7D-5925-9029EB8C38F7}"/>
                </a:ext>
              </a:extLst>
            </p:cNvPr>
            <p:cNvSpPr txBox="1">
              <a:spLocks noChangeArrowheads="1"/>
            </p:cNvSpPr>
            <p:nvPr/>
          </p:nvSpPr>
          <p:spPr bwMode="auto">
            <a:xfrm>
              <a:off x="7675915" y="39742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Line 38">
              <a:extLst>
                <a:ext uri="{FF2B5EF4-FFF2-40B4-BE49-F238E27FC236}">
                  <a16:creationId xmlns:a16="http://schemas.microsoft.com/office/drawing/2014/main" id="{79DEECEE-2FC2-8045-52D8-A4605B354C7F}"/>
                </a:ext>
              </a:extLst>
            </p:cNvPr>
            <p:cNvSpPr>
              <a:spLocks noChangeShapeType="1"/>
            </p:cNvSpPr>
            <p:nvPr/>
          </p:nvSpPr>
          <p:spPr bwMode="auto">
            <a:xfrm flipV="1">
              <a:off x="7767990" y="4161622"/>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1" name="Text Box 39">
              <a:extLst>
                <a:ext uri="{FF2B5EF4-FFF2-40B4-BE49-F238E27FC236}">
                  <a16:creationId xmlns:a16="http://schemas.microsoft.com/office/drawing/2014/main" id="{344C08E9-AA8B-41A0-C2C0-1A7B7F7387AD}"/>
                </a:ext>
              </a:extLst>
            </p:cNvPr>
            <p:cNvSpPr txBox="1">
              <a:spLocks noChangeArrowheads="1"/>
            </p:cNvSpPr>
            <p:nvPr/>
          </p:nvSpPr>
          <p:spPr bwMode="auto">
            <a:xfrm>
              <a:off x="7980715" y="3898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Line 40">
              <a:extLst>
                <a:ext uri="{FF2B5EF4-FFF2-40B4-BE49-F238E27FC236}">
                  <a16:creationId xmlns:a16="http://schemas.microsoft.com/office/drawing/2014/main" id="{E3116F6E-7B80-018D-1CC2-21FFECC27663}"/>
                </a:ext>
              </a:extLst>
            </p:cNvPr>
            <p:cNvSpPr>
              <a:spLocks noChangeShapeType="1"/>
            </p:cNvSpPr>
            <p:nvPr/>
          </p:nvSpPr>
          <p:spPr bwMode="auto">
            <a:xfrm>
              <a:off x="7920390" y="4161622"/>
              <a:ext cx="228600" cy="152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3" name="Text Box 41">
              <a:extLst>
                <a:ext uri="{FF2B5EF4-FFF2-40B4-BE49-F238E27FC236}">
                  <a16:creationId xmlns:a16="http://schemas.microsoft.com/office/drawing/2014/main" id="{75267FEA-11E2-82CD-49AC-7DA32A06F4A1}"/>
                </a:ext>
              </a:extLst>
            </p:cNvPr>
            <p:cNvSpPr txBox="1">
              <a:spLocks noChangeArrowheads="1"/>
            </p:cNvSpPr>
            <p:nvPr/>
          </p:nvSpPr>
          <p:spPr bwMode="auto">
            <a:xfrm>
              <a:off x="7904515" y="4126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4" name="Line 42">
              <a:extLst>
                <a:ext uri="{FF2B5EF4-FFF2-40B4-BE49-F238E27FC236}">
                  <a16:creationId xmlns:a16="http://schemas.microsoft.com/office/drawing/2014/main" id="{A53696CD-2247-EE5A-C372-E0DAD401BF11}"/>
                </a:ext>
              </a:extLst>
            </p:cNvPr>
            <p:cNvSpPr>
              <a:spLocks noChangeShapeType="1"/>
            </p:cNvSpPr>
            <p:nvPr/>
          </p:nvSpPr>
          <p:spPr bwMode="auto">
            <a:xfrm flipH="1" flipV="1">
              <a:off x="7844190" y="4161622"/>
              <a:ext cx="228600" cy="3810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5" name="Text Box 43">
              <a:extLst>
                <a:ext uri="{FF2B5EF4-FFF2-40B4-BE49-F238E27FC236}">
                  <a16:creationId xmlns:a16="http://schemas.microsoft.com/office/drawing/2014/main" id="{3416CCC4-7BBC-C488-650E-5D8B1B219E36}"/>
                </a:ext>
              </a:extLst>
            </p:cNvPr>
            <p:cNvSpPr txBox="1">
              <a:spLocks noChangeArrowheads="1"/>
            </p:cNvSpPr>
            <p:nvPr/>
          </p:nvSpPr>
          <p:spPr bwMode="auto">
            <a:xfrm>
              <a:off x="7828315" y="4279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Line 44">
              <a:extLst>
                <a:ext uri="{FF2B5EF4-FFF2-40B4-BE49-F238E27FC236}">
                  <a16:creationId xmlns:a16="http://schemas.microsoft.com/office/drawing/2014/main" id="{85DAC8B8-FAE9-E9BD-F8B1-837EDC7C8997}"/>
                </a:ext>
              </a:extLst>
            </p:cNvPr>
            <p:cNvSpPr>
              <a:spLocks noChangeShapeType="1"/>
            </p:cNvSpPr>
            <p:nvPr/>
          </p:nvSpPr>
          <p:spPr bwMode="auto">
            <a:xfrm flipH="1" flipV="1">
              <a:off x="7844190" y="4542622"/>
              <a:ext cx="228600" cy="76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grpSp>
      <p:sp>
        <p:nvSpPr>
          <p:cNvPr id="48" name="Rectangle 36">
            <a:extLst>
              <a:ext uri="{FF2B5EF4-FFF2-40B4-BE49-F238E27FC236}">
                <a16:creationId xmlns:a16="http://schemas.microsoft.com/office/drawing/2014/main" id="{12624EB3-882B-95D7-2EFD-AB4C60262599}"/>
              </a:ext>
            </a:extLst>
          </p:cNvPr>
          <p:cNvSpPr>
            <a:spLocks noChangeArrowheads="1"/>
          </p:cNvSpPr>
          <p:nvPr/>
        </p:nvSpPr>
        <p:spPr bwMode="auto">
          <a:xfrm>
            <a:off x="6928541" y="5889090"/>
            <a:ext cx="3757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Do we need create standard work?</a:t>
            </a:r>
          </a:p>
        </p:txBody>
      </p:sp>
      <p:sp>
        <p:nvSpPr>
          <p:cNvPr id="49" name="Rectangle 7">
            <a:extLst>
              <a:ext uri="{FF2B5EF4-FFF2-40B4-BE49-F238E27FC236}">
                <a16:creationId xmlns:a16="http://schemas.microsoft.com/office/drawing/2014/main" id="{94C94AD6-55D2-C216-FEAB-054428786642}"/>
              </a:ext>
            </a:extLst>
          </p:cNvPr>
          <p:cNvSpPr>
            <a:spLocks noChangeArrowheads="1"/>
          </p:cNvSpPr>
          <p:nvPr/>
        </p:nvSpPr>
        <p:spPr bwMode="auto">
          <a:xfrm>
            <a:off x="2442059" y="1773381"/>
            <a:ext cx="64988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Do we need to change our layout to co-locate process steps?</a:t>
            </a:r>
          </a:p>
        </p:txBody>
      </p:sp>
      <p:sp>
        <p:nvSpPr>
          <p:cNvPr id="50" name="Line 18">
            <a:extLst>
              <a:ext uri="{FF2B5EF4-FFF2-40B4-BE49-F238E27FC236}">
                <a16:creationId xmlns:a16="http://schemas.microsoft.com/office/drawing/2014/main" id="{88110963-72DF-873F-B53E-31D5CAFED45E}"/>
              </a:ext>
            </a:extLst>
          </p:cNvPr>
          <p:cNvSpPr>
            <a:spLocks noChangeShapeType="1"/>
          </p:cNvSpPr>
          <p:nvPr/>
        </p:nvSpPr>
        <p:spPr bwMode="auto">
          <a:xfrm>
            <a:off x="5187662" y="2247029"/>
            <a:ext cx="1463675" cy="1579562"/>
          </a:xfrm>
          <a:prstGeom prst="line">
            <a:avLst/>
          </a:prstGeom>
          <a:noFill/>
          <a:ln w="57150">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34">
            <a:extLst>
              <a:ext uri="{FF2B5EF4-FFF2-40B4-BE49-F238E27FC236}">
                <a16:creationId xmlns:a16="http://schemas.microsoft.com/office/drawing/2014/main" id="{A9FE1539-6EB0-411C-42C0-02EE92FECFA0}"/>
              </a:ext>
            </a:extLst>
          </p:cNvPr>
          <p:cNvSpPr>
            <a:spLocks noChangeShapeType="1"/>
          </p:cNvSpPr>
          <p:nvPr/>
        </p:nvSpPr>
        <p:spPr bwMode="auto">
          <a:xfrm flipV="1">
            <a:off x="9085202" y="4889289"/>
            <a:ext cx="304800" cy="1066800"/>
          </a:xfrm>
          <a:prstGeom prst="line">
            <a:avLst/>
          </a:prstGeom>
          <a:noFill/>
          <a:ln w="57150">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2" name="AutoShape 16">
            <a:extLst>
              <a:ext uri="{FF2B5EF4-FFF2-40B4-BE49-F238E27FC236}">
                <a16:creationId xmlns:a16="http://schemas.microsoft.com/office/drawing/2014/main" id="{9ED1D91B-2C57-6B93-8A12-782605189B20}"/>
              </a:ext>
            </a:extLst>
          </p:cNvPr>
          <p:cNvSpPr>
            <a:spLocks noChangeArrowheads="1"/>
          </p:cNvSpPr>
          <p:nvPr/>
        </p:nvSpPr>
        <p:spPr bwMode="auto">
          <a:xfrm>
            <a:off x="5335255" y="4044414"/>
            <a:ext cx="914400" cy="457200"/>
          </a:xfrm>
          <a:prstGeom prst="rightArrow">
            <a:avLst>
              <a:gd name="adj1" fmla="val 50000"/>
              <a:gd name="adj2" fmla="val 50000"/>
            </a:avLst>
          </a:prstGeom>
          <a:solidFill>
            <a:schemeClr val="accent1"/>
          </a:solidFill>
          <a:ln w="12700">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 name="Slide Number Placeholder 16">
            <a:extLst>
              <a:ext uri="{FF2B5EF4-FFF2-40B4-BE49-F238E27FC236}">
                <a16:creationId xmlns:a16="http://schemas.microsoft.com/office/drawing/2014/main" id="{9F1184B7-1619-F58C-3A02-BEEC9F9F35F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71</a:t>
            </a:fld>
            <a:endParaRPr lang="en-US" sz="1000" dirty="0"/>
          </a:p>
        </p:txBody>
      </p:sp>
      <p:grpSp>
        <p:nvGrpSpPr>
          <p:cNvPr id="4" name="Group 3">
            <a:extLst>
              <a:ext uri="{FF2B5EF4-FFF2-40B4-BE49-F238E27FC236}">
                <a16:creationId xmlns:a16="http://schemas.microsoft.com/office/drawing/2014/main" id="{74FF59F9-109F-2C1F-D381-E2A47FBD9063}"/>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3EF2C0BD-1FA9-4916-1BE7-480127823D5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9F5EDAEA-7810-9FB4-F42C-6961B0B0AEB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0C3AC56-C670-D433-5D56-E54E59004E80}"/>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CE45E4C-DE36-4051-0AB0-4571A37D32F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4752E086-96AA-5D9F-7091-8E1BB4F7F5B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9B8887CE-A6F7-6EDB-B8CD-0B6E4EB9620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7695871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8FC55-8AA7-6FF5-B2C6-1DB006584CB1}"/>
              </a:ext>
            </a:extLst>
          </p:cNvPr>
          <p:cNvSpPr>
            <a:spLocks noGrp="1"/>
          </p:cNvSpPr>
          <p:nvPr>
            <p:ph idx="1"/>
          </p:nvPr>
        </p:nvSpPr>
        <p:spPr/>
        <p:txBody>
          <a:bodyPr/>
          <a:lstStyle/>
          <a:p>
            <a:r>
              <a:rPr lang="en-US" dirty="0"/>
              <a:t>Reflecting upon latest Process Data Summary and latest Spaghetti Diagram </a:t>
            </a:r>
          </a:p>
          <a:p>
            <a:pPr lvl="1"/>
            <a:r>
              <a:rPr lang="en-US" dirty="0"/>
              <a:t>Have discussion amongst team to reach consensus on Should Be Process</a:t>
            </a:r>
          </a:p>
          <a:p>
            <a:pPr lvl="1"/>
            <a:r>
              <a:rPr lang="en-US" dirty="0"/>
              <a:t>Draw the revised consensus Should Be Process Map</a:t>
            </a:r>
          </a:p>
        </p:txBody>
      </p:sp>
      <p:sp>
        <p:nvSpPr>
          <p:cNvPr id="15" name="Slide Number Placeholder 16">
            <a:extLst>
              <a:ext uri="{FF2B5EF4-FFF2-40B4-BE49-F238E27FC236}">
                <a16:creationId xmlns:a16="http://schemas.microsoft.com/office/drawing/2014/main" id="{0D6E9177-837A-A0B1-5F0C-84665231EBE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72</a:t>
            </a:fld>
            <a:endParaRPr lang="en-US"/>
          </a:p>
        </p:txBody>
      </p:sp>
      <p:sp>
        <p:nvSpPr>
          <p:cNvPr id="23" name="Title 22">
            <a:extLst>
              <a:ext uri="{FF2B5EF4-FFF2-40B4-BE49-F238E27FC236}">
                <a16:creationId xmlns:a16="http://schemas.microsoft.com/office/drawing/2014/main" id="{BF666ED1-A801-58B3-9DD7-5EA15CC2F1E7}"/>
              </a:ext>
            </a:extLst>
          </p:cNvPr>
          <p:cNvSpPr>
            <a:spLocks noGrp="1"/>
          </p:cNvSpPr>
          <p:nvPr>
            <p:ph type="title"/>
          </p:nvPr>
        </p:nvSpPr>
        <p:spPr/>
        <p:txBody>
          <a:bodyPr>
            <a:noAutofit/>
          </a:bodyPr>
          <a:lstStyle/>
          <a:p>
            <a:r>
              <a:rPr lang="en-US" sz="3600" dirty="0"/>
              <a:t>Draw the Revised Consensus </a:t>
            </a:r>
            <a:br>
              <a:rPr lang="en-US" sz="3600" dirty="0"/>
            </a:br>
            <a:r>
              <a:rPr lang="en-US" sz="3600" dirty="0"/>
              <a:t>Should Be Process Map</a:t>
            </a:r>
          </a:p>
        </p:txBody>
      </p:sp>
      <p:grpSp>
        <p:nvGrpSpPr>
          <p:cNvPr id="2" name="Group 1">
            <a:extLst>
              <a:ext uri="{FF2B5EF4-FFF2-40B4-BE49-F238E27FC236}">
                <a16:creationId xmlns:a16="http://schemas.microsoft.com/office/drawing/2014/main" id="{4066572C-2E07-635C-0279-BA8BD8A50C5F}"/>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BADCD962-2C2B-6880-6E95-34AE8A30EA4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5" name="AutoShape 9">
              <a:extLst>
                <a:ext uri="{FF2B5EF4-FFF2-40B4-BE49-F238E27FC236}">
                  <a16:creationId xmlns:a16="http://schemas.microsoft.com/office/drawing/2014/main" id="{ABD1C4AC-6B13-1F98-4F4C-7229DCF6EA39}"/>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AEF910EF-83CA-BF2B-A44B-D74B76EB16D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A9923F33-54F0-146A-4D16-BF3F4662D86C}"/>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5682195-B2E6-2EC0-26A0-681C1026292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E681AF82-F939-C194-1F65-DD309E3CFB06}"/>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44198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t>Exercise: Complete </a:t>
            </a:r>
            <a:br>
              <a:rPr lang="en-US" sz="4000" dirty="0"/>
            </a:br>
            <a:r>
              <a:rPr lang="en-US" sz="4000" dirty="0"/>
              <a:t>Should Be Process Documentation</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48938"/>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“Should Be” Process.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91378"/>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For each process block, fill in Component Tasks of the Process Walk Form with data-based approved Barriers and Solutions.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Process Data Summary Sheet</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and Spaghetti Chart for the “Should Be Process.”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Make any updates to the “Should Be Process Map” as needed.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Should Be Process Documentation complete</a:t>
            </a:r>
          </a:p>
        </p:txBody>
      </p:sp>
      <p:sp>
        <p:nvSpPr>
          <p:cNvPr id="6" name="Slide Number Placeholder 16">
            <a:extLst>
              <a:ext uri="{FF2B5EF4-FFF2-40B4-BE49-F238E27FC236}">
                <a16:creationId xmlns:a16="http://schemas.microsoft.com/office/drawing/2014/main" id="{7FBA2997-AACB-D250-A988-369DFA4958D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73</a:t>
            </a:fld>
            <a:endParaRPr lang="en-US"/>
          </a:p>
        </p:txBody>
      </p:sp>
      <p:grpSp>
        <p:nvGrpSpPr>
          <p:cNvPr id="3" name="Group 2">
            <a:extLst>
              <a:ext uri="{FF2B5EF4-FFF2-40B4-BE49-F238E27FC236}">
                <a16:creationId xmlns:a16="http://schemas.microsoft.com/office/drawing/2014/main" id="{F40BBC70-8BAE-0DB9-545A-CFE764FFAC7A}"/>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FAB12DA-856B-5697-525B-1DA0E6AE5B1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5" name="AutoShape 9">
              <a:extLst>
                <a:ext uri="{FF2B5EF4-FFF2-40B4-BE49-F238E27FC236}">
                  <a16:creationId xmlns:a16="http://schemas.microsoft.com/office/drawing/2014/main" id="{6538EF79-EFA1-120C-AE96-F660B98FEB9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95C969DA-3E91-8706-F60F-3CC98F74F60C}"/>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A5CAB27-80F5-1701-771E-C7B336502E5D}"/>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8E52AABF-C0EB-6E9B-3F54-5A981C553BB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1">
              <a:extLst>
                <a:ext uri="{FF2B5EF4-FFF2-40B4-BE49-F238E27FC236}">
                  <a16:creationId xmlns:a16="http://schemas.microsoft.com/office/drawing/2014/main" id="{0C06FD2E-F5B4-22B3-6DAC-60C8BD206B4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532164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a:xfrm>
            <a:off x="839788" y="457200"/>
            <a:ext cx="4884356" cy="1463045"/>
          </a:xfrm>
        </p:spPr>
        <p:txBody>
          <a:bodyPr>
            <a:normAutofit/>
          </a:bodyPr>
          <a:lstStyle/>
          <a:p>
            <a:r>
              <a:rPr lang="en-US" sz="2800" dirty="0"/>
              <a:t>Conduct Leadership Review of Should Be Process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a:bodyPr>
          <a:lstStyle/>
          <a:p>
            <a:r>
              <a:rPr lang="en-US" sz="2000" dirty="0"/>
              <a:t>This is an opportunity to:</a:t>
            </a:r>
          </a:p>
          <a:p>
            <a:pPr marL="285750" indent="-285750">
              <a:buFont typeface="Arial" panose="020B0604020202020204" pitchFamily="34" charset="0"/>
              <a:buChar char="•"/>
            </a:pPr>
            <a:r>
              <a:rPr lang="en-US" sz="2000" dirty="0"/>
              <a:t>Review latest consensus Should Be Process Map with Leadership</a:t>
            </a:r>
          </a:p>
          <a:p>
            <a:pPr marL="285750" indent="-285750">
              <a:buFont typeface="Arial" panose="020B0604020202020204" pitchFamily="34" charset="0"/>
              <a:buChar char="•"/>
            </a:pPr>
            <a:r>
              <a:rPr lang="en-US" sz="2000" dirty="0"/>
              <a:t>Gain approval to proceed with final detailing and implementation of Solutions to achieve Should Be Process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14" name="Slide Number Placeholder 16">
            <a:extLst>
              <a:ext uri="{FF2B5EF4-FFF2-40B4-BE49-F238E27FC236}">
                <a16:creationId xmlns:a16="http://schemas.microsoft.com/office/drawing/2014/main" id="{C438A239-DA25-7DF0-3DB6-CAB4803D93B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74</a:t>
            </a:fld>
            <a:endParaRPr lang="en-US"/>
          </a:p>
        </p:txBody>
      </p:sp>
      <p:grpSp>
        <p:nvGrpSpPr>
          <p:cNvPr id="3" name="Group 2">
            <a:extLst>
              <a:ext uri="{FF2B5EF4-FFF2-40B4-BE49-F238E27FC236}">
                <a16:creationId xmlns:a16="http://schemas.microsoft.com/office/drawing/2014/main" id="{60836866-BDE7-BFE8-7035-122148AB8A6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8B53DC14-2CAE-ED24-357E-28C85C768BA5}"/>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6" name="AutoShape 9">
              <a:extLst>
                <a:ext uri="{FF2B5EF4-FFF2-40B4-BE49-F238E27FC236}">
                  <a16:creationId xmlns:a16="http://schemas.microsoft.com/office/drawing/2014/main" id="{5608C5E6-A8AB-721D-89C6-A8B40DB971B5}"/>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75CBE47-B1B1-DB3A-E627-1FBB5FF1046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677E6B2-0F7D-238B-10C2-10D0E6042D3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631B420-293E-03F4-8D52-96DCFEE9466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56FA204-EDA6-BE30-3412-3530C6E65C2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5517521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Define and Implement Solutions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Determine resources needed for each solution</a:t>
            </a:r>
          </a:p>
          <a:p>
            <a:r>
              <a:rPr lang="en-US" sz="2400" dirty="0"/>
              <a:t>Assign organizational responsibility for each solution</a:t>
            </a:r>
          </a:p>
          <a:p>
            <a:r>
              <a:rPr lang="en-US" sz="2400" dirty="0"/>
              <a:t>Identify components of Kaizen Newspaper</a:t>
            </a:r>
          </a:p>
          <a:p>
            <a:r>
              <a:rPr lang="en-US" sz="2400" dirty="0"/>
              <a:t>Identify purpose of Future Plans Sheet</a:t>
            </a:r>
          </a:p>
          <a:p>
            <a:r>
              <a:rPr lang="en-US" sz="2400" dirty="0"/>
              <a:t>Complete procedure schedule</a:t>
            </a:r>
          </a:p>
          <a:p>
            <a:r>
              <a:rPr lang="en-US" sz="2400" dirty="0"/>
              <a:t>Implement improvements</a:t>
            </a:r>
          </a:p>
          <a:p>
            <a:r>
              <a:rPr lang="en-US" sz="2400" dirty="0"/>
              <a:t>Conduct report-out presentation to leadership</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Complete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19850067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309364687"/>
              </p:ext>
            </p:extLst>
          </p:nvPr>
        </p:nvGraphicFramePr>
        <p:xfrm>
          <a:off x="1813632" y="2365056"/>
          <a:ext cx="8564735" cy="3579085"/>
        </p:xfrm>
        <a:graphic>
          <a:graphicData uri="http://schemas.openxmlformats.org/drawingml/2006/table">
            <a:tbl>
              <a:tblPr>
                <a:solidFill>
                  <a:srgbClr val="7F7F7F"/>
                </a:solidFill>
              </a:tblPr>
              <a:tblGrid>
                <a:gridCol w="3261397">
                  <a:extLst>
                    <a:ext uri="{9D8B030D-6E8A-4147-A177-3AD203B41FA5}">
                      <a16:colId xmlns:a16="http://schemas.microsoft.com/office/drawing/2014/main" val="20000"/>
                    </a:ext>
                  </a:extLst>
                </a:gridCol>
                <a:gridCol w="5303338">
                  <a:extLst>
                    <a:ext uri="{9D8B030D-6E8A-4147-A177-3AD203B41FA5}">
                      <a16:colId xmlns:a16="http://schemas.microsoft.com/office/drawing/2014/main" val="20001"/>
                    </a:ext>
                  </a:extLst>
                </a:gridCol>
              </a:tblGrid>
              <a:tr h="651007">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One person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kind of solution only takes one person and requires no formal event</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Just do it!</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90852">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Multiple person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kind of solution only takes 2 or 3 people from the same function and does not require a formal event</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Just do it!</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9495773"/>
                  </a:ext>
                </a:extLst>
              </a:tr>
              <a:tr h="990030">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Cross-functional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takes 2 or more people who are from more than one function</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Takes more time and coordination than MPT events but does not require a full tool event with a Sensei</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7234801"/>
                  </a:ext>
                </a:extLst>
              </a:tr>
              <a:tr h="531085">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Full Kaizen Event, cross-functional team, </a:t>
                      </a:r>
                      <a:b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Sensei required</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0431273"/>
                  </a:ext>
                </a:extLst>
              </a:tr>
            </a:tbl>
          </a:graphicData>
        </a:graphic>
      </p:graphicFrame>
      <p:sp>
        <p:nvSpPr>
          <p:cNvPr id="23" name="AutoShape 9">
            <a:extLst>
              <a:ext uri="{FF2B5EF4-FFF2-40B4-BE49-F238E27FC236}">
                <a16:creationId xmlns:a16="http://schemas.microsoft.com/office/drawing/2014/main" id="{31A4BF14-14EA-88DE-4CC6-49252845FA9C}"/>
              </a:ext>
            </a:extLst>
          </p:cNvPr>
          <p:cNvSpPr>
            <a:spLocks noChangeArrowheads="1"/>
          </p:cNvSpPr>
          <p:nvPr/>
        </p:nvSpPr>
        <p:spPr bwMode="auto">
          <a:xfrm>
            <a:off x="2362200" y="2484961"/>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OPT</a:t>
            </a:r>
          </a:p>
        </p:txBody>
      </p:sp>
      <p:sp>
        <p:nvSpPr>
          <p:cNvPr id="24" name="AutoShape 10">
            <a:extLst>
              <a:ext uri="{FF2B5EF4-FFF2-40B4-BE49-F238E27FC236}">
                <a16:creationId xmlns:a16="http://schemas.microsoft.com/office/drawing/2014/main" id="{A7EBB5AF-A578-9611-7073-CF25CFDAF2DF}"/>
              </a:ext>
            </a:extLst>
          </p:cNvPr>
          <p:cNvSpPr>
            <a:spLocks noChangeArrowheads="1"/>
          </p:cNvSpPr>
          <p:nvPr/>
        </p:nvSpPr>
        <p:spPr bwMode="auto">
          <a:xfrm>
            <a:off x="2362200" y="3385884"/>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MPT</a:t>
            </a:r>
          </a:p>
        </p:txBody>
      </p:sp>
      <p:sp>
        <p:nvSpPr>
          <p:cNvPr id="25" name="AutoShape 11">
            <a:extLst>
              <a:ext uri="{FF2B5EF4-FFF2-40B4-BE49-F238E27FC236}">
                <a16:creationId xmlns:a16="http://schemas.microsoft.com/office/drawing/2014/main" id="{8CE3E57D-3F6A-B80E-DF3F-0641F9A8155B}"/>
              </a:ext>
            </a:extLst>
          </p:cNvPr>
          <p:cNvSpPr>
            <a:spLocks noChangeArrowheads="1"/>
          </p:cNvSpPr>
          <p:nvPr/>
        </p:nvSpPr>
        <p:spPr bwMode="auto">
          <a:xfrm>
            <a:off x="2359025" y="4474114"/>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CFT</a:t>
            </a:r>
          </a:p>
        </p:txBody>
      </p:sp>
      <p:sp>
        <p:nvSpPr>
          <p:cNvPr id="26" name="AutoShape 13">
            <a:extLst>
              <a:ext uri="{FF2B5EF4-FFF2-40B4-BE49-F238E27FC236}">
                <a16:creationId xmlns:a16="http://schemas.microsoft.com/office/drawing/2014/main" id="{10A9BDF2-DE9C-A749-A55A-140A5193531C}"/>
              </a:ext>
            </a:extLst>
          </p:cNvPr>
          <p:cNvSpPr>
            <a:spLocks noChangeArrowheads="1"/>
          </p:cNvSpPr>
          <p:nvPr/>
        </p:nvSpPr>
        <p:spPr bwMode="auto">
          <a:xfrm>
            <a:off x="2359025" y="5291292"/>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dirty="0">
                <a:cs typeface="Arial" panose="020B0604020202020204" pitchFamily="34" charset="0"/>
              </a:rPr>
              <a:t>FKE</a:t>
            </a:r>
          </a:p>
        </p:txBody>
      </p:sp>
      <p:sp>
        <p:nvSpPr>
          <p:cNvPr id="22" name="Title 21">
            <a:extLst>
              <a:ext uri="{FF2B5EF4-FFF2-40B4-BE49-F238E27FC236}">
                <a16:creationId xmlns:a16="http://schemas.microsoft.com/office/drawing/2014/main" id="{14A79548-0FC5-3D0D-929B-AED21FEC3F31}"/>
              </a:ext>
            </a:extLst>
          </p:cNvPr>
          <p:cNvSpPr>
            <a:spLocks noGrp="1"/>
          </p:cNvSpPr>
          <p:nvPr>
            <p:ph type="title"/>
          </p:nvPr>
        </p:nvSpPr>
        <p:spPr/>
        <p:txBody>
          <a:bodyPr>
            <a:normAutofit/>
          </a:bodyPr>
          <a:lstStyle/>
          <a:p>
            <a:r>
              <a:rPr lang="en-US" dirty="0">
                <a:solidFill>
                  <a:srgbClr val="222222"/>
                </a:solidFill>
                <a:ea typeface="+mj-ea"/>
                <a:cs typeface="+mj-cs"/>
              </a:rPr>
              <a:t>Label Each Solution</a:t>
            </a:r>
            <a:endParaRPr lang="en-US" dirty="0"/>
          </a:p>
        </p:txBody>
      </p:sp>
      <p:sp>
        <p:nvSpPr>
          <p:cNvPr id="6" name="Slide Number Placeholder 16">
            <a:extLst>
              <a:ext uri="{FF2B5EF4-FFF2-40B4-BE49-F238E27FC236}">
                <a16:creationId xmlns:a16="http://schemas.microsoft.com/office/drawing/2014/main" id="{85625241-8935-1AAC-F0C5-0E81C1986388}"/>
              </a:ext>
            </a:extLst>
          </p:cNvPr>
          <p:cNvSpPr>
            <a:spLocks noGrp="1"/>
          </p:cNvSpPr>
          <p:nvPr>
            <p:ph type="sldNum" sz="quarter" idx="4"/>
          </p:nvPr>
        </p:nvSpPr>
        <p:spPr/>
        <p:txBody>
          <a:bodyPr/>
          <a:lstStyle/>
          <a:p>
            <a:fld id="{CC6D4273-7FC1-0947-B9FE-19CB3C0D1FB6}" type="slidenum">
              <a:rPr lang="en-US" smtClean="0"/>
              <a:t>76</a:t>
            </a:fld>
            <a:endParaRPr lang="en-US"/>
          </a:p>
        </p:txBody>
      </p:sp>
      <p:grpSp>
        <p:nvGrpSpPr>
          <p:cNvPr id="2" name="Group 1">
            <a:extLst>
              <a:ext uri="{FF2B5EF4-FFF2-40B4-BE49-F238E27FC236}">
                <a16:creationId xmlns:a16="http://schemas.microsoft.com/office/drawing/2014/main" id="{4C7A6CD6-645E-00F8-E60A-578CFF168180}"/>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E2F2188D-CF19-BBB8-D313-B9AFA6186E3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4" name="AutoShape 9">
              <a:extLst>
                <a:ext uri="{FF2B5EF4-FFF2-40B4-BE49-F238E27FC236}">
                  <a16:creationId xmlns:a16="http://schemas.microsoft.com/office/drawing/2014/main" id="{DE7CB0D1-4687-366B-088B-C28BE1C20A7A}"/>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D59046D8-F91A-BB29-504C-42A26584E8E2}"/>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5B3F0615-7FEF-098B-589A-2EFC0C9DE3E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A05575E-9601-5977-4593-043160FAB28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45E87147-81D4-CB46-071F-B943B045E6DA}"/>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9505984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3200" dirty="0">
                <a:ea typeface="+mj-ea"/>
                <a:cs typeface="+mj-cs"/>
              </a:rPr>
              <a:t>Assign Organizational Responsibility for Each Solution</a:t>
            </a:r>
            <a:endParaRPr lang="en-US" sz="32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25625"/>
            <a:ext cx="6723888" cy="4351338"/>
          </a:xfrm>
        </p:spPr>
        <p:txBody>
          <a:bodyPr/>
          <a:lstStyle/>
          <a:p>
            <a:r>
              <a:rPr lang="en-US" dirty="0"/>
              <a:t>Each name and date for each item must be agreed to by the individual named; it is assumed they gained appropriate higher level approval to accept responsibility</a:t>
            </a:r>
          </a:p>
        </p:txBody>
      </p:sp>
      <p:sp>
        <p:nvSpPr>
          <p:cNvPr id="15" name="Slide Number Placeholder 16">
            <a:extLst>
              <a:ext uri="{FF2B5EF4-FFF2-40B4-BE49-F238E27FC236}">
                <a16:creationId xmlns:a16="http://schemas.microsoft.com/office/drawing/2014/main" id="{F1F8273B-10CC-8852-64F6-8C1761A448A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77</a:t>
            </a:fld>
            <a:endParaRPr lang="en-US"/>
          </a:p>
        </p:txBody>
      </p:sp>
      <p:grpSp>
        <p:nvGrpSpPr>
          <p:cNvPr id="4" name="Group 3">
            <a:extLst>
              <a:ext uri="{FF2B5EF4-FFF2-40B4-BE49-F238E27FC236}">
                <a16:creationId xmlns:a16="http://schemas.microsoft.com/office/drawing/2014/main" id="{6002261F-B0C0-37DF-E63A-EA31B0075AD5}"/>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DA044FFD-D9D4-D58F-882D-63E344F7D72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1EF5D0DA-3D3C-13C8-770D-7E22F8A46DD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A0F3841B-E1CC-2602-3A5F-86B083591F7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5C94D75-AA05-DC49-55F0-F5D68DD541E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DBA4ADDF-93C6-00B0-EFD3-CEC103B99AB5}"/>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33D8AAF-A919-1F3D-BBF6-D138556907C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740631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3200" dirty="0">
                <a:ea typeface="+mj-ea"/>
                <a:cs typeface="+mj-cs"/>
              </a:rPr>
              <a:t>Determine Tasks to be Accomplished</a:t>
            </a:r>
            <a:endParaRPr lang="en-US" sz="32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lnSpcReduction="10000"/>
          </a:bodyPr>
          <a:lstStyle/>
          <a:p>
            <a:r>
              <a:rPr lang="en-US" sz="2400" dirty="0"/>
              <a:t>Roles and Responsibility Matrix</a:t>
            </a:r>
          </a:p>
          <a:p>
            <a:r>
              <a:rPr lang="en-US" sz="2400" dirty="0"/>
              <a:t>New Documents, Checklists</a:t>
            </a:r>
          </a:p>
          <a:p>
            <a:r>
              <a:rPr lang="en-US" sz="2400" dirty="0"/>
              <a:t>Training Plan</a:t>
            </a:r>
          </a:p>
          <a:p>
            <a:r>
              <a:rPr lang="en-US" sz="2400" dirty="0"/>
              <a:t>New Reports</a:t>
            </a:r>
          </a:p>
          <a:p>
            <a:r>
              <a:rPr lang="en-US" sz="2400" dirty="0"/>
              <a:t>Metrics for New Process</a:t>
            </a:r>
          </a:p>
          <a:p>
            <a:r>
              <a:rPr lang="en-US" sz="2400" dirty="0"/>
              <a:t>Complete Standard Work Sheets</a:t>
            </a:r>
          </a:p>
          <a:p>
            <a:r>
              <a:rPr lang="en-US" sz="2400" dirty="0"/>
              <a:t>Other Deliverables from Team Charter</a:t>
            </a:r>
          </a:p>
          <a:p>
            <a:pPr lvl="1"/>
            <a:r>
              <a:rPr lang="en-US" sz="2000" dirty="0"/>
              <a:t>Separate by time to complete:</a:t>
            </a:r>
          </a:p>
          <a:p>
            <a:pPr lvl="2"/>
            <a:r>
              <a:rPr lang="en-US" sz="1800" dirty="0"/>
              <a:t>This Week</a:t>
            </a:r>
          </a:p>
          <a:p>
            <a:pPr lvl="2"/>
            <a:r>
              <a:rPr lang="en-US" sz="1800" dirty="0"/>
              <a:t>Within 4 weeks</a:t>
            </a:r>
          </a:p>
          <a:p>
            <a:pPr lvl="2"/>
            <a:r>
              <a:rPr lang="en-US" sz="1800" dirty="0"/>
              <a:t>Within 5 weeks -6 months</a:t>
            </a:r>
          </a:p>
        </p:txBody>
      </p:sp>
      <p:sp>
        <p:nvSpPr>
          <p:cNvPr id="15" name="Slide Number Placeholder 16">
            <a:extLst>
              <a:ext uri="{FF2B5EF4-FFF2-40B4-BE49-F238E27FC236}">
                <a16:creationId xmlns:a16="http://schemas.microsoft.com/office/drawing/2014/main" id="{1A007F13-F715-C159-1D83-CAFEEBFAFAC4}"/>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78</a:t>
            </a:fld>
            <a:endParaRPr lang="en-US"/>
          </a:p>
        </p:txBody>
      </p:sp>
      <p:grpSp>
        <p:nvGrpSpPr>
          <p:cNvPr id="4" name="Group 3">
            <a:extLst>
              <a:ext uri="{FF2B5EF4-FFF2-40B4-BE49-F238E27FC236}">
                <a16:creationId xmlns:a16="http://schemas.microsoft.com/office/drawing/2014/main" id="{82A3F3D7-9506-0832-D0FC-64DA473443D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8C24886-068F-4570-3CE7-3B271869FD5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6C3F3B94-6554-38DA-585F-0621B4D071DE}"/>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C6D8F03-3BA6-BAAE-D588-A78651BFF4E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4CB4B428-5DB2-7077-DC8C-64A17E3C284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7D00A62-9CB5-B7AD-3F1E-D1D295CED87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D9228B74-4429-4A89-A633-3297A4D2782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6093405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2800" dirty="0">
                <a:ea typeface="+mj-ea"/>
                <a:cs typeface="+mj-cs"/>
              </a:rPr>
              <a:t>Define Purpose and Components of Kaizen Newspaper</a:t>
            </a:r>
            <a:endParaRPr lang="en-US" sz="28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a:bodyPr>
          <a:lstStyle/>
          <a:p>
            <a:r>
              <a:rPr lang="en-US" sz="2400" dirty="0"/>
              <a:t>Purpose of the Kaizen Newspaper is to track progress on implementing solutions after the event has concluded (4 week time horizon)</a:t>
            </a:r>
          </a:p>
          <a:p>
            <a:r>
              <a:rPr lang="en-US" sz="2400" dirty="0"/>
              <a:t>The top of the form must bear the name of the event; date of the event, Team  Leaders Name.  </a:t>
            </a:r>
          </a:p>
          <a:p>
            <a:pPr lvl="1"/>
            <a:r>
              <a:rPr lang="en-US" sz="2000" dirty="0"/>
              <a:t>Example: TPI – Order Configuration - Order Entry Value Stream – 01-26-07 – Tom Swift</a:t>
            </a:r>
          </a:p>
          <a:p>
            <a:r>
              <a:rPr lang="en-US" sz="2400" dirty="0"/>
              <a:t>An item must have a brief description, owner’s name the date</a:t>
            </a:r>
          </a:p>
          <a:p>
            <a:pPr lvl="1"/>
            <a:r>
              <a:rPr lang="en-US" sz="2000" dirty="0"/>
              <a:t>Must be accepted by the person whose name appears for that item</a:t>
            </a:r>
          </a:p>
          <a:p>
            <a:r>
              <a:rPr lang="en-US" sz="2400" dirty="0"/>
              <a:t>Newspapers with open items should be reviewed on a fixed day each week </a:t>
            </a:r>
          </a:p>
          <a:p>
            <a:pPr lvl="1"/>
            <a:r>
              <a:rPr lang="en-US" sz="2000" dirty="0"/>
              <a:t>Attendees should include Leadership, VS Managers, Team Leaders, Process Owners, and Improvement Item Owners</a:t>
            </a:r>
          </a:p>
          <a:p>
            <a:endParaRPr lang="en-US" sz="2400" dirty="0"/>
          </a:p>
        </p:txBody>
      </p:sp>
      <p:sp>
        <p:nvSpPr>
          <p:cNvPr id="15" name="Slide Number Placeholder 16">
            <a:extLst>
              <a:ext uri="{FF2B5EF4-FFF2-40B4-BE49-F238E27FC236}">
                <a16:creationId xmlns:a16="http://schemas.microsoft.com/office/drawing/2014/main" id="{53458F98-1060-E5C6-7D55-1DAD56C5EFD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79</a:t>
            </a:fld>
            <a:endParaRPr lang="en-US"/>
          </a:p>
        </p:txBody>
      </p:sp>
      <p:grpSp>
        <p:nvGrpSpPr>
          <p:cNvPr id="4" name="Group 3">
            <a:extLst>
              <a:ext uri="{FF2B5EF4-FFF2-40B4-BE49-F238E27FC236}">
                <a16:creationId xmlns:a16="http://schemas.microsoft.com/office/drawing/2014/main" id="{DFD526BF-640F-2334-2B1C-1DF8F27B9B97}"/>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DFD5141-1EFD-F916-CEFF-D7554F8AD12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7644BEF8-2CE0-0335-11DF-EC594932BEFE}"/>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DAB290A1-E7D4-1ABD-9B68-25BEBF39D31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E36B8D44-32FF-E949-6856-FEED4B6C06B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0D8ABC4-6F29-0BEF-E12A-F3EF77463D5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86829754-4C50-5905-3B4B-FB842C77D4F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8362249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601D95A4-39B3-02A2-E78F-13F715BA66AB}"/>
              </a:ext>
            </a:extLst>
          </p:cNvPr>
          <p:cNvSpPr>
            <a:spLocks noGrp="1"/>
          </p:cNvSpPr>
          <p:nvPr>
            <p:ph type="title"/>
          </p:nvPr>
        </p:nvSpPr>
        <p:spPr/>
        <p:txBody>
          <a:bodyPr>
            <a:normAutofit/>
          </a:bodyPr>
          <a:lstStyle/>
          <a:p>
            <a:r>
              <a:rPr lang="en-US" dirty="0">
                <a:ea typeface="+mj-ea"/>
              </a:rPr>
              <a:t>Kaizen Newspaper Form</a:t>
            </a:r>
            <a:endParaRPr lang="en-US" dirty="0"/>
          </a:p>
        </p:txBody>
      </p:sp>
      <p:sp>
        <p:nvSpPr>
          <p:cNvPr id="2" name="Slide Number Placeholder 16">
            <a:extLst>
              <a:ext uri="{FF2B5EF4-FFF2-40B4-BE49-F238E27FC236}">
                <a16:creationId xmlns:a16="http://schemas.microsoft.com/office/drawing/2014/main" id="{27D29EFC-DB19-8B0C-855E-9C8B96F352DB}"/>
              </a:ext>
            </a:extLst>
          </p:cNvPr>
          <p:cNvSpPr>
            <a:spLocks noGrp="1"/>
          </p:cNvSpPr>
          <p:nvPr>
            <p:ph type="sldNum" sz="quarter" idx="4"/>
          </p:nvPr>
        </p:nvSpPr>
        <p:spPr/>
        <p:txBody>
          <a:bodyPr/>
          <a:lstStyle/>
          <a:p>
            <a:fld id="{CC6D4273-7FC1-0947-B9FE-19CB3C0D1FB6}" type="slidenum">
              <a:rPr lang="en-US" smtClean="0"/>
              <a:t>80</a:t>
            </a:fld>
            <a:endParaRPr lang="en-US"/>
          </a:p>
        </p:txBody>
      </p:sp>
      <p:grpSp>
        <p:nvGrpSpPr>
          <p:cNvPr id="4" name="Group 3">
            <a:extLst>
              <a:ext uri="{FF2B5EF4-FFF2-40B4-BE49-F238E27FC236}">
                <a16:creationId xmlns:a16="http://schemas.microsoft.com/office/drawing/2014/main" id="{056B9435-9A65-4385-B7BD-2D2E569F7BA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05F9EEF-1B11-21FE-38D7-10817804365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C1083AD3-ED80-FD5C-2B2B-5F5FB33AAA80}"/>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9113CBF-18DF-0532-6FF0-4693448DFC2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9CB164F6-54EA-A2E7-7463-47CC33F3C74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527F3BAF-DE6F-C669-F930-061C6D9A1C1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6AA73FAD-4C4B-2CF9-5D88-F12D6D1F30A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3" name="Picture 2">
            <a:extLst>
              <a:ext uri="{FF2B5EF4-FFF2-40B4-BE49-F238E27FC236}">
                <a16:creationId xmlns:a16="http://schemas.microsoft.com/office/drawing/2014/main" id="{5F9535E3-45B2-C1A1-5CA7-49193E468F9D}"/>
              </a:ext>
            </a:extLst>
          </p:cNvPr>
          <p:cNvPicPr>
            <a:picLocks noChangeAspect="1"/>
          </p:cNvPicPr>
          <p:nvPr/>
        </p:nvPicPr>
        <p:blipFill>
          <a:blip r:embed="rId3"/>
          <a:stretch>
            <a:fillRect/>
          </a:stretch>
        </p:blipFill>
        <p:spPr>
          <a:xfrm>
            <a:off x="3393186" y="1781016"/>
            <a:ext cx="5405628" cy="4399788"/>
          </a:xfrm>
          <a:prstGeom prst="rect">
            <a:avLst/>
          </a:prstGeom>
        </p:spPr>
      </p:pic>
    </p:spTree>
    <p:extLst>
      <p:ext uri="{BB962C8B-B14F-4D97-AF65-F5344CB8AC3E}">
        <p14:creationId xmlns:p14="http://schemas.microsoft.com/office/powerpoint/2010/main" val="15149776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4000" dirty="0">
                <a:ea typeface="+mj-ea"/>
                <a:cs typeface="+mj-cs"/>
              </a:rPr>
              <a:t>Future Plans</a:t>
            </a:r>
            <a:endParaRPr lang="en-US" sz="40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a:bodyPr>
          <a:lstStyle/>
          <a:p>
            <a:r>
              <a:rPr lang="en-US" sz="2400" dirty="0"/>
              <a:t>Purpose of the Future Plans Sheet is to track progress on solutions defined during the event to be completed within 5 weeks - 6 months from the Friday ending the event</a:t>
            </a:r>
          </a:p>
          <a:p>
            <a:r>
              <a:rPr lang="en-US" sz="2400" dirty="0"/>
              <a:t>An item must have a brief description (the “3 sentence” </a:t>
            </a:r>
            <a:br>
              <a:rPr lang="en-US" sz="2400" dirty="0"/>
            </a:br>
            <a:r>
              <a:rPr lang="en-US" sz="2400" dirty="0"/>
              <a:t>description is fine)</a:t>
            </a:r>
          </a:p>
          <a:p>
            <a:r>
              <a:rPr lang="en-US" sz="2400" dirty="0"/>
              <a:t>An item must have an individual’s name, month of completion, and (OPT, MPT, etc.) resource label</a:t>
            </a:r>
          </a:p>
          <a:p>
            <a:r>
              <a:rPr lang="en-US" sz="2400" dirty="0"/>
              <a:t>As an item moves into the 4 week horizon it should be added to the Kaizen Newspaper and be handled per the description given for Kaizen Newspapers</a:t>
            </a:r>
          </a:p>
        </p:txBody>
      </p:sp>
      <p:sp>
        <p:nvSpPr>
          <p:cNvPr id="15" name="Slide Number Placeholder 16">
            <a:extLst>
              <a:ext uri="{FF2B5EF4-FFF2-40B4-BE49-F238E27FC236}">
                <a16:creationId xmlns:a16="http://schemas.microsoft.com/office/drawing/2014/main" id="{2D82A087-18B0-E7F1-4AF1-4B134E9299C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81</a:t>
            </a:fld>
            <a:endParaRPr lang="en-US"/>
          </a:p>
        </p:txBody>
      </p:sp>
      <p:grpSp>
        <p:nvGrpSpPr>
          <p:cNvPr id="4" name="Group 3">
            <a:extLst>
              <a:ext uri="{FF2B5EF4-FFF2-40B4-BE49-F238E27FC236}">
                <a16:creationId xmlns:a16="http://schemas.microsoft.com/office/drawing/2014/main" id="{17AB5454-5272-D062-2EB0-FC9AE25D84F6}"/>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FA27D1D2-3945-12AC-977C-51A38F961F4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C7986B15-774A-056C-9D03-2468BA8B8FE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B614FBD8-3177-2870-29D0-3EF2ED5B019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F1AE2A3-EE82-38EE-4DFF-D6699E1791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69B4766-9FA9-FF8A-262B-6357FFC40F1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4CEBB92B-9626-DBDE-FE00-08A980F29FA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3942300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4000" dirty="0">
                <a:ea typeface="+mj-ea"/>
                <a:cs typeface="+mj-cs"/>
              </a:rPr>
              <a:t>Complete Procedure Schedule</a:t>
            </a:r>
            <a:endParaRPr lang="en-US" sz="40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25625"/>
            <a:ext cx="7235952" cy="4351338"/>
          </a:xfrm>
        </p:spPr>
        <p:txBody>
          <a:bodyPr>
            <a:normAutofit/>
          </a:bodyPr>
          <a:lstStyle/>
          <a:p>
            <a:r>
              <a:rPr lang="en-US" sz="2400" dirty="0"/>
              <a:t>For procedures (SOPs) that are to be part of the “solutions” we should maintain a schedule showing name of author, date to be completely written, name of implementation leader, date to begin implementation, date to complete implementation</a:t>
            </a:r>
          </a:p>
        </p:txBody>
      </p:sp>
      <p:sp>
        <p:nvSpPr>
          <p:cNvPr id="15" name="Slide Number Placeholder 16">
            <a:extLst>
              <a:ext uri="{FF2B5EF4-FFF2-40B4-BE49-F238E27FC236}">
                <a16:creationId xmlns:a16="http://schemas.microsoft.com/office/drawing/2014/main" id="{53AEDB34-1B52-2831-0471-025A79FCA79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82</a:t>
            </a:fld>
            <a:endParaRPr lang="en-US"/>
          </a:p>
        </p:txBody>
      </p:sp>
      <p:grpSp>
        <p:nvGrpSpPr>
          <p:cNvPr id="4" name="Group 3">
            <a:extLst>
              <a:ext uri="{FF2B5EF4-FFF2-40B4-BE49-F238E27FC236}">
                <a16:creationId xmlns:a16="http://schemas.microsoft.com/office/drawing/2014/main" id="{E1E23667-D983-53A6-D7D3-47FFB9E50F1E}"/>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26882D9-0E41-40BC-AD7B-590E6556CAA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1566E9D6-6E91-F520-9F37-794240A6F928}"/>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D28923E-5364-E2BF-8418-1A6E1F41491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B393F5-F9FE-7D50-CFAE-B05C4B293F1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3FE1B7F-78E3-AE53-B8ED-0E0E2592B2E9}"/>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FDAFB22-F5B2-D6AA-B676-3D897384E04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7217904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B15E9EF2-1B50-39BE-A0DC-AA1EADCABC41}"/>
              </a:ext>
            </a:extLst>
          </p:cNvPr>
          <p:cNvSpPr>
            <a:spLocks noGrp="1"/>
          </p:cNvSpPr>
          <p:nvPr>
            <p:ph type="title"/>
          </p:nvPr>
        </p:nvSpPr>
        <p:spPr/>
        <p:txBody>
          <a:bodyPr>
            <a:normAutofit/>
          </a:bodyPr>
          <a:lstStyle/>
          <a:p>
            <a:r>
              <a:rPr lang="en-US" dirty="0">
                <a:ea typeface="+mj-ea"/>
              </a:rPr>
              <a:t>Procedure Schedule Example</a:t>
            </a:r>
            <a:endParaRPr lang="en-US" dirty="0"/>
          </a:p>
        </p:txBody>
      </p:sp>
      <p:sp>
        <p:nvSpPr>
          <p:cNvPr id="3" name="Slide Number Placeholder 16">
            <a:extLst>
              <a:ext uri="{FF2B5EF4-FFF2-40B4-BE49-F238E27FC236}">
                <a16:creationId xmlns:a16="http://schemas.microsoft.com/office/drawing/2014/main" id="{46E45B5D-12B6-49A7-0726-8C1C4CC18829}"/>
              </a:ext>
            </a:extLst>
          </p:cNvPr>
          <p:cNvSpPr>
            <a:spLocks noGrp="1"/>
          </p:cNvSpPr>
          <p:nvPr>
            <p:ph type="sldNum" sz="quarter" idx="4"/>
          </p:nvPr>
        </p:nvSpPr>
        <p:spPr/>
        <p:txBody>
          <a:bodyPr/>
          <a:lstStyle/>
          <a:p>
            <a:fld id="{CC6D4273-7FC1-0947-B9FE-19CB3C0D1FB6}" type="slidenum">
              <a:rPr lang="en-US" smtClean="0"/>
              <a:t>83</a:t>
            </a:fld>
            <a:endParaRPr lang="en-US"/>
          </a:p>
        </p:txBody>
      </p:sp>
      <p:grpSp>
        <p:nvGrpSpPr>
          <p:cNvPr id="11" name="Group 10">
            <a:extLst>
              <a:ext uri="{FF2B5EF4-FFF2-40B4-BE49-F238E27FC236}">
                <a16:creationId xmlns:a16="http://schemas.microsoft.com/office/drawing/2014/main" id="{82638903-9843-D2BC-F73C-24446FD2B1DE}"/>
              </a:ext>
            </a:extLst>
          </p:cNvPr>
          <p:cNvGrpSpPr/>
          <p:nvPr/>
        </p:nvGrpSpPr>
        <p:grpSpPr>
          <a:xfrm>
            <a:off x="940249" y="302538"/>
            <a:ext cx="6219503" cy="311932"/>
            <a:chOff x="940249" y="302538"/>
            <a:chExt cx="6219503" cy="311932"/>
          </a:xfrm>
        </p:grpSpPr>
        <p:sp>
          <p:nvSpPr>
            <p:cNvPr id="12" name="TextBox 11">
              <a:extLst>
                <a:ext uri="{FF2B5EF4-FFF2-40B4-BE49-F238E27FC236}">
                  <a16:creationId xmlns:a16="http://schemas.microsoft.com/office/drawing/2014/main" id="{0A2117C2-179F-DE01-D358-DFD7AC31A45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13" name="AutoShape 9">
              <a:extLst>
                <a:ext uri="{FF2B5EF4-FFF2-40B4-BE49-F238E27FC236}">
                  <a16:creationId xmlns:a16="http://schemas.microsoft.com/office/drawing/2014/main" id="{C3645D09-A6E3-BAB5-9B5A-B7D338633204}"/>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FC491A4F-4707-DA60-F1B1-D640D2770334}"/>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2EE34C9D-D329-C791-DBC1-BF5F7086BB8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0D5F8C0F-3EBC-7865-2D32-39C5A5BFE9A0}"/>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DEC43B89-A9B9-42C3-E72D-090CA7EED1B2}"/>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4" name="Picture 3">
            <a:extLst>
              <a:ext uri="{FF2B5EF4-FFF2-40B4-BE49-F238E27FC236}">
                <a16:creationId xmlns:a16="http://schemas.microsoft.com/office/drawing/2014/main" id="{E04C4130-2FB9-D849-13DD-F82CF17437FE}"/>
              </a:ext>
            </a:extLst>
          </p:cNvPr>
          <p:cNvPicPr>
            <a:picLocks noChangeAspect="1"/>
          </p:cNvPicPr>
          <p:nvPr/>
        </p:nvPicPr>
        <p:blipFill>
          <a:blip r:embed="rId3"/>
          <a:stretch>
            <a:fillRect/>
          </a:stretch>
        </p:blipFill>
        <p:spPr>
          <a:xfrm>
            <a:off x="1076706" y="2512314"/>
            <a:ext cx="10343388" cy="2138172"/>
          </a:xfrm>
          <a:prstGeom prst="rect">
            <a:avLst/>
          </a:prstGeom>
        </p:spPr>
      </p:pic>
    </p:spTree>
    <p:extLst>
      <p:ext uri="{BB962C8B-B14F-4D97-AF65-F5344CB8AC3E}">
        <p14:creationId xmlns:p14="http://schemas.microsoft.com/office/powerpoint/2010/main" val="30914528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2800" dirty="0">
                <a:ea typeface="+mj-ea"/>
                <a:cs typeface="+mj-cs"/>
              </a:rPr>
              <a:t>Develop and Complete Compelling Report Out Presentation</a:t>
            </a:r>
            <a:endParaRPr lang="en-US" sz="28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43913"/>
            <a:ext cx="10515600" cy="4351338"/>
          </a:xfrm>
        </p:spPr>
        <p:txBody>
          <a:bodyPr>
            <a:normAutofit fontScale="70000" lnSpcReduction="20000"/>
          </a:bodyPr>
          <a:lstStyle/>
          <a:p>
            <a:pPr marL="0" indent="0" algn="ctr">
              <a:buNone/>
            </a:pPr>
            <a:r>
              <a:rPr lang="en-US" sz="2400" dirty="0"/>
              <a:t>(Target 15 Minutes for Report Out)</a:t>
            </a:r>
          </a:p>
          <a:p>
            <a:r>
              <a:rPr lang="en-US" sz="2400" dirty="0"/>
              <a:t>PowerPoint of less than 1MB size </a:t>
            </a:r>
          </a:p>
          <a:p>
            <a:r>
              <a:rPr lang="en-US" sz="2400" dirty="0"/>
              <a:t>Team Photo (with names)</a:t>
            </a:r>
          </a:p>
          <a:p>
            <a:r>
              <a:rPr lang="en-US" sz="2400" dirty="0"/>
              <a:t>Goals, Objectives and Deliverables</a:t>
            </a:r>
          </a:p>
          <a:p>
            <a:r>
              <a:rPr lang="en-US" sz="2400" dirty="0"/>
              <a:t>“As-Is” and “Should-Be” Process Maps</a:t>
            </a:r>
          </a:p>
          <a:p>
            <a:r>
              <a:rPr lang="en-US" sz="2400" dirty="0"/>
              <a:t>Process Walk Form example for one process block </a:t>
            </a:r>
          </a:p>
          <a:p>
            <a:r>
              <a:rPr lang="en-US" sz="2400" dirty="0"/>
              <a:t>Process Summary sheets .</a:t>
            </a:r>
            <a:r>
              <a:rPr lang="en-US" sz="2400" dirty="0" err="1"/>
              <a:t>xls</a:t>
            </a:r>
            <a:r>
              <a:rPr lang="en-US" sz="2400" dirty="0"/>
              <a:t> for one Swim Lane if appropriate (ask Consultant)</a:t>
            </a:r>
          </a:p>
          <a:p>
            <a:r>
              <a:rPr lang="en-US" sz="2400" dirty="0"/>
              <a:t>As time permits – more photos, spaghetti charts, but always show before and after on same slide</a:t>
            </a:r>
          </a:p>
          <a:p>
            <a:r>
              <a:rPr lang="en-US" sz="2400" dirty="0"/>
              <a:t>Accomplishments</a:t>
            </a:r>
          </a:p>
          <a:p>
            <a:r>
              <a:rPr lang="en-US" sz="2400" dirty="0"/>
              <a:t>Kaizen Results Form</a:t>
            </a:r>
          </a:p>
          <a:p>
            <a:r>
              <a:rPr lang="en-US" sz="2400" dirty="0"/>
              <a:t>Kaizen Newspaper Form</a:t>
            </a:r>
          </a:p>
          <a:p>
            <a:r>
              <a:rPr lang="en-US" sz="2400" dirty="0"/>
              <a:t>Future Plans</a:t>
            </a:r>
          </a:p>
          <a:p>
            <a:r>
              <a:rPr lang="en-US" sz="2400" dirty="0"/>
              <a:t>Lessons Learned</a:t>
            </a:r>
          </a:p>
        </p:txBody>
      </p:sp>
      <p:sp>
        <p:nvSpPr>
          <p:cNvPr id="15" name="Slide Number Placeholder 16">
            <a:extLst>
              <a:ext uri="{FF2B5EF4-FFF2-40B4-BE49-F238E27FC236}">
                <a16:creationId xmlns:a16="http://schemas.microsoft.com/office/drawing/2014/main" id="{F5F1DB48-44D9-DD40-73A2-5223228363E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84</a:t>
            </a:fld>
            <a:endParaRPr lang="en-US"/>
          </a:p>
        </p:txBody>
      </p:sp>
      <p:grpSp>
        <p:nvGrpSpPr>
          <p:cNvPr id="4" name="Group 3">
            <a:extLst>
              <a:ext uri="{FF2B5EF4-FFF2-40B4-BE49-F238E27FC236}">
                <a16:creationId xmlns:a16="http://schemas.microsoft.com/office/drawing/2014/main" id="{EAEC064C-349E-40D3-93DC-1AB10B12806D}"/>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302C8593-3CEB-31DA-FE68-142898ABED9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D0C37D2E-3369-2E26-8D98-7CD974B4E24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E5CB3536-F5AE-92D7-59EB-D0385F185443}"/>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2AFA882-324B-1A8C-0404-F1D822F7784C}"/>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DF4213C-D1C6-F0D3-B012-805DAE4BE96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E044C58-55C3-ED1A-742B-A6ADDA7DBE0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0771803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Implement Solutions and Schedule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76370"/>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Implement solutions.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73090"/>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remainder of the event to implement the “OPT”, “MPT”, and “CFT” solutions that can be completed this week. </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Kaizen Newspaper and Future Plans for any items that do not or may not be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accomplished during the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589781"/>
            <a:ext cx="4681292" cy="1025922"/>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Improvements implemented and </a:t>
            </a:r>
            <a:b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kaizen newspaper and future plans completed</a:t>
            </a:r>
          </a:p>
        </p:txBody>
      </p:sp>
      <p:sp>
        <p:nvSpPr>
          <p:cNvPr id="22" name="Slide Number Placeholder 16">
            <a:extLst>
              <a:ext uri="{FF2B5EF4-FFF2-40B4-BE49-F238E27FC236}">
                <a16:creationId xmlns:a16="http://schemas.microsoft.com/office/drawing/2014/main" id="{1C64C878-3CAD-8169-4058-4B6653F235F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85</a:t>
            </a:fld>
            <a:endParaRPr lang="en-US"/>
          </a:p>
        </p:txBody>
      </p:sp>
      <p:grpSp>
        <p:nvGrpSpPr>
          <p:cNvPr id="3" name="Group 2">
            <a:extLst>
              <a:ext uri="{FF2B5EF4-FFF2-40B4-BE49-F238E27FC236}">
                <a16:creationId xmlns:a16="http://schemas.microsoft.com/office/drawing/2014/main" id="{1E2074DE-C375-B8E2-0DA9-B7D046976B51}"/>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D27DFCF-9198-3C7B-5E07-F719C2D235E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5" name="AutoShape 9">
              <a:extLst>
                <a:ext uri="{FF2B5EF4-FFF2-40B4-BE49-F238E27FC236}">
                  <a16:creationId xmlns:a16="http://schemas.microsoft.com/office/drawing/2014/main" id="{51445881-C1E0-4A54-D853-147859E42ABA}"/>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3E0C3FCC-C6E8-7EC3-04DC-1A1BC2695A5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B789661-397B-A9A4-F030-FF336421E1E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A50FCD5-6403-17A3-88C9-F7C9F98D8A2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418C6759-CA79-8907-5E80-10DB226C8223}"/>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5230860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A</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Problem Solving Tools</a:t>
            </a:r>
          </a:p>
        </p:txBody>
      </p:sp>
      <p:sp>
        <p:nvSpPr>
          <p:cNvPr id="7" name="Slide Number Placeholder 16">
            <a:extLst>
              <a:ext uri="{FF2B5EF4-FFF2-40B4-BE49-F238E27FC236}">
                <a16:creationId xmlns:a16="http://schemas.microsoft.com/office/drawing/2014/main" id="{D919DB18-79FB-A947-1061-A57BCCEAC9C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86</a:t>
            </a:fld>
            <a:endParaRPr lang="en-US"/>
          </a:p>
        </p:txBody>
      </p:sp>
    </p:spTree>
    <p:extLst>
      <p:ext uri="{BB962C8B-B14F-4D97-AF65-F5344CB8AC3E}">
        <p14:creationId xmlns:p14="http://schemas.microsoft.com/office/powerpoint/2010/main" val="19711450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9 Steps to Problem Solving</a:t>
            </a:r>
          </a:p>
        </p:txBody>
      </p:sp>
      <p:grpSp>
        <p:nvGrpSpPr>
          <p:cNvPr id="266" name="Group 265">
            <a:extLst>
              <a:ext uri="{FF2B5EF4-FFF2-40B4-BE49-F238E27FC236}">
                <a16:creationId xmlns:a16="http://schemas.microsoft.com/office/drawing/2014/main" id="{88981AD5-C980-7328-68D5-F165049091B4}"/>
              </a:ext>
            </a:extLst>
          </p:cNvPr>
          <p:cNvGrpSpPr/>
          <p:nvPr/>
        </p:nvGrpSpPr>
        <p:grpSpPr>
          <a:xfrm>
            <a:off x="976448" y="1924110"/>
            <a:ext cx="9163292" cy="4229100"/>
            <a:chOff x="915988" y="1285875"/>
            <a:chExt cx="7508875" cy="4953000"/>
          </a:xfrm>
        </p:grpSpPr>
        <p:sp>
          <p:nvSpPr>
            <p:cNvPr id="135" name="AutoShape 3">
              <a:extLst>
                <a:ext uri="{FF2B5EF4-FFF2-40B4-BE49-F238E27FC236}">
                  <a16:creationId xmlns:a16="http://schemas.microsoft.com/office/drawing/2014/main" id="{61E4C360-0CA7-D547-B894-0B86A384F51F}"/>
                </a:ext>
              </a:extLst>
            </p:cNvPr>
            <p:cNvSpPr>
              <a:spLocks noChangeArrowheads="1"/>
            </p:cNvSpPr>
            <p:nvPr/>
          </p:nvSpPr>
          <p:spPr bwMode="auto">
            <a:xfrm>
              <a:off x="6773510" y="4005263"/>
              <a:ext cx="1368425" cy="1255712"/>
            </a:xfrm>
            <a:prstGeom prst="flowChartDecision">
              <a:avLst/>
            </a:prstGeom>
            <a:solidFill>
              <a:srgbClr val="7F7F7F"/>
            </a:solidFill>
            <a:ln w="9525">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OBJECTIVE MET?</a:t>
              </a:r>
            </a:p>
            <a:p>
              <a:r>
                <a:rPr lang="en-US" altLang="en-US" dirty="0">
                  <a:latin typeface="Roboto" panose="02000000000000000000" pitchFamily="2" charset="0"/>
                  <a:ea typeface="Roboto" panose="02000000000000000000" pitchFamily="2" charset="0"/>
                  <a:cs typeface="Roboto" panose="02000000000000000000" pitchFamily="2" charset="0"/>
                </a:rPr>
                <a:t>CUSTOMER SATISFIED?</a:t>
              </a:r>
            </a:p>
          </p:txBody>
        </p:sp>
        <p:sp>
          <p:nvSpPr>
            <p:cNvPr id="136" name="Rectangle 4">
              <a:extLst>
                <a:ext uri="{FF2B5EF4-FFF2-40B4-BE49-F238E27FC236}">
                  <a16:creationId xmlns:a16="http://schemas.microsoft.com/office/drawing/2014/main" id="{B20092A5-CE0F-CB29-EE02-DE3144C63E6C}"/>
                </a:ext>
              </a:extLst>
            </p:cNvPr>
            <p:cNvSpPr>
              <a:spLocks noChangeArrowheads="1"/>
            </p:cNvSpPr>
            <p:nvPr/>
          </p:nvSpPr>
          <p:spPr bwMode="auto">
            <a:xfrm>
              <a:off x="915988" y="1285875"/>
              <a:ext cx="1938337" cy="623888"/>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1. DESCRIBE PROBLEM</a:t>
              </a:r>
            </a:p>
            <a:p>
              <a:r>
                <a:rPr lang="en-US" altLang="en-US" dirty="0">
                  <a:latin typeface="Roboto" panose="02000000000000000000" pitchFamily="2" charset="0"/>
                  <a:ea typeface="Roboto" panose="02000000000000000000" pitchFamily="2" charset="0"/>
                  <a:cs typeface="Roboto" panose="02000000000000000000" pitchFamily="2" charset="0"/>
                </a:rPr>
                <a:t>(WHO, WHAT, WHERE, WHEN)</a:t>
              </a:r>
            </a:p>
          </p:txBody>
        </p:sp>
        <p:sp>
          <p:nvSpPr>
            <p:cNvPr id="139" name="Rectangle 8">
              <a:extLst>
                <a:ext uri="{FF2B5EF4-FFF2-40B4-BE49-F238E27FC236}">
                  <a16:creationId xmlns:a16="http://schemas.microsoft.com/office/drawing/2014/main" id="{3E8AC4B6-37C6-FB77-78C3-01B389ADC1AE}"/>
                </a:ext>
              </a:extLst>
            </p:cNvPr>
            <p:cNvSpPr>
              <a:spLocks noChangeArrowheads="1"/>
            </p:cNvSpPr>
            <p:nvPr/>
          </p:nvSpPr>
          <p:spPr bwMode="auto">
            <a:xfrm>
              <a:off x="930275" y="3276600"/>
              <a:ext cx="223838" cy="241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solidFill>
                    <a:srgbClr val="000000"/>
                  </a:solidFill>
                  <a:latin typeface="Roboto" panose="02000000000000000000" pitchFamily="2" charset="0"/>
                  <a:ea typeface="Roboto" panose="02000000000000000000" pitchFamily="2" charset="0"/>
                  <a:cs typeface="Roboto" panose="02000000000000000000" pitchFamily="2" charset="0"/>
                </a:rPr>
                <a:t>2</a:t>
              </a:r>
            </a:p>
          </p:txBody>
        </p:sp>
        <p:sp>
          <p:nvSpPr>
            <p:cNvPr id="140" name="Rectangle 9">
              <a:extLst>
                <a:ext uri="{FF2B5EF4-FFF2-40B4-BE49-F238E27FC236}">
                  <a16:creationId xmlns:a16="http://schemas.microsoft.com/office/drawing/2014/main" id="{315AD2AA-DF27-18B6-4026-21E1BA91BC3F}"/>
                </a:ext>
              </a:extLst>
            </p:cNvPr>
            <p:cNvSpPr>
              <a:spLocks noChangeArrowheads="1"/>
            </p:cNvSpPr>
            <p:nvPr/>
          </p:nvSpPr>
          <p:spPr bwMode="auto">
            <a:xfrm>
              <a:off x="3890963" y="1341438"/>
              <a:ext cx="1938337" cy="1020762"/>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5. IMPLEMENT TEMPORARY COUNTERMEASURES </a:t>
              </a:r>
            </a:p>
            <a:p>
              <a:r>
                <a:rPr lang="en-US" altLang="en-US" sz="1200" dirty="0">
                  <a:latin typeface="Roboto" panose="02000000000000000000" pitchFamily="2" charset="0"/>
                  <a:ea typeface="Roboto" panose="02000000000000000000" pitchFamily="2" charset="0"/>
                  <a:cs typeface="Roboto" panose="02000000000000000000" pitchFamily="2" charset="0"/>
                </a:rPr>
                <a:t>(IF NECESSARY)</a:t>
              </a:r>
            </a:p>
          </p:txBody>
        </p:sp>
        <p:sp>
          <p:nvSpPr>
            <p:cNvPr id="148" name="Rectangle 17">
              <a:extLst>
                <a:ext uri="{FF2B5EF4-FFF2-40B4-BE49-F238E27FC236}">
                  <a16:creationId xmlns:a16="http://schemas.microsoft.com/office/drawing/2014/main" id="{8919C0B9-731E-24BE-5799-D4D2E12E6F12}"/>
                </a:ext>
              </a:extLst>
            </p:cNvPr>
            <p:cNvSpPr>
              <a:spLocks noChangeArrowheads="1"/>
            </p:cNvSpPr>
            <p:nvPr/>
          </p:nvSpPr>
          <p:spPr bwMode="auto">
            <a:xfrm>
              <a:off x="3889375" y="2874515"/>
              <a:ext cx="1939925"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6. DETERMINE CAUSE(S)</a:t>
              </a:r>
            </a:p>
            <a:p>
              <a:r>
                <a:rPr lang="en-US" altLang="en-US" dirty="0">
                  <a:latin typeface="Roboto" panose="02000000000000000000" pitchFamily="2" charset="0"/>
                  <a:ea typeface="Roboto" panose="02000000000000000000" pitchFamily="2" charset="0"/>
                  <a:cs typeface="Roboto" panose="02000000000000000000" pitchFamily="2" charset="0"/>
                </a:rPr>
                <a:t>(WHY PROBLEM IS OCCURRING)</a:t>
              </a:r>
            </a:p>
          </p:txBody>
        </p:sp>
        <p:sp>
          <p:nvSpPr>
            <p:cNvPr id="149" name="Rectangle 18">
              <a:extLst>
                <a:ext uri="{FF2B5EF4-FFF2-40B4-BE49-F238E27FC236}">
                  <a16:creationId xmlns:a16="http://schemas.microsoft.com/office/drawing/2014/main" id="{159B2952-C1B4-5531-F69B-3309CE4ED079}"/>
                </a:ext>
              </a:extLst>
            </p:cNvPr>
            <p:cNvSpPr>
              <a:spLocks noChangeArrowheads="1"/>
            </p:cNvSpPr>
            <p:nvPr/>
          </p:nvSpPr>
          <p:spPr bwMode="auto">
            <a:xfrm>
              <a:off x="915988" y="3225800"/>
              <a:ext cx="1938337"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2. VISUALLY QUANTIFY PROBLEM &amp; OBJECTIVE</a:t>
              </a:r>
            </a:p>
          </p:txBody>
        </p:sp>
        <p:sp>
          <p:nvSpPr>
            <p:cNvPr id="150" name="Rectangle 19">
              <a:extLst>
                <a:ext uri="{FF2B5EF4-FFF2-40B4-BE49-F238E27FC236}">
                  <a16:creationId xmlns:a16="http://schemas.microsoft.com/office/drawing/2014/main" id="{622CEB68-1EEF-23E7-EA2C-51B26EA37C77}"/>
                </a:ext>
              </a:extLst>
            </p:cNvPr>
            <p:cNvSpPr>
              <a:spLocks noChangeArrowheads="1"/>
            </p:cNvSpPr>
            <p:nvPr/>
          </p:nvSpPr>
          <p:spPr bwMode="auto">
            <a:xfrm>
              <a:off x="915988" y="5676900"/>
              <a:ext cx="1938337" cy="496888"/>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4. IDENTIFY CUSTOMER/SUPPLIER RELATIONSHIPS</a:t>
              </a:r>
            </a:p>
          </p:txBody>
        </p:sp>
        <p:sp>
          <p:nvSpPr>
            <p:cNvPr id="151" name="Rectangle 20">
              <a:extLst>
                <a:ext uri="{FF2B5EF4-FFF2-40B4-BE49-F238E27FC236}">
                  <a16:creationId xmlns:a16="http://schemas.microsoft.com/office/drawing/2014/main" id="{FA6CE254-E370-563D-3B70-ED61F83C693B}"/>
                </a:ext>
              </a:extLst>
            </p:cNvPr>
            <p:cNvSpPr>
              <a:spLocks noChangeArrowheads="1"/>
            </p:cNvSpPr>
            <p:nvPr/>
          </p:nvSpPr>
          <p:spPr bwMode="auto">
            <a:xfrm>
              <a:off x="915988" y="4117975"/>
              <a:ext cx="1938337"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3. DOCUMENT CURRENT PROCESS</a:t>
              </a:r>
            </a:p>
          </p:txBody>
        </p:sp>
        <p:sp>
          <p:nvSpPr>
            <p:cNvPr id="152" name="Rectangle 21">
              <a:extLst>
                <a:ext uri="{FF2B5EF4-FFF2-40B4-BE49-F238E27FC236}">
                  <a16:creationId xmlns:a16="http://schemas.microsoft.com/office/drawing/2014/main" id="{70EF78DA-2772-A8BB-6A09-BCF003DE41D7}"/>
                </a:ext>
              </a:extLst>
            </p:cNvPr>
            <p:cNvSpPr>
              <a:spLocks noChangeArrowheads="1"/>
            </p:cNvSpPr>
            <p:nvPr/>
          </p:nvSpPr>
          <p:spPr bwMode="auto">
            <a:xfrm>
              <a:off x="1644650" y="2343150"/>
              <a:ext cx="165100" cy="441325"/>
            </a:xfrm>
            <a:prstGeom prst="rect">
              <a:avLst/>
            </a:prstGeom>
            <a:solidFill>
              <a:srgbClr val="0000FF"/>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3" name="Rectangle 22">
              <a:extLst>
                <a:ext uri="{FF2B5EF4-FFF2-40B4-BE49-F238E27FC236}">
                  <a16:creationId xmlns:a16="http://schemas.microsoft.com/office/drawing/2014/main" id="{8B6FD9D0-54EE-88FC-D067-C68214719486}"/>
                </a:ext>
              </a:extLst>
            </p:cNvPr>
            <p:cNvSpPr>
              <a:spLocks noChangeArrowheads="1"/>
            </p:cNvSpPr>
            <p:nvPr/>
          </p:nvSpPr>
          <p:spPr bwMode="auto">
            <a:xfrm>
              <a:off x="1998663" y="2617788"/>
              <a:ext cx="161925" cy="168275"/>
            </a:xfrm>
            <a:prstGeom prst="rect">
              <a:avLst/>
            </a:prstGeom>
            <a:solidFill>
              <a:srgbClr val="008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4" name="Rectangle 23">
              <a:extLst>
                <a:ext uri="{FF2B5EF4-FFF2-40B4-BE49-F238E27FC236}">
                  <a16:creationId xmlns:a16="http://schemas.microsoft.com/office/drawing/2014/main" id="{1591B1DF-1792-5244-121B-183F0CBB5D61}"/>
                </a:ext>
              </a:extLst>
            </p:cNvPr>
            <p:cNvSpPr>
              <a:spLocks noChangeArrowheads="1"/>
            </p:cNvSpPr>
            <p:nvPr/>
          </p:nvSpPr>
          <p:spPr bwMode="auto">
            <a:xfrm>
              <a:off x="1824038" y="2503488"/>
              <a:ext cx="163512" cy="280987"/>
            </a:xfrm>
            <a:prstGeom prst="rect">
              <a:avLst/>
            </a:prstGeom>
            <a:solidFill>
              <a:srgbClr val="FF0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5" name="Rectangle 24">
              <a:extLst>
                <a:ext uri="{FF2B5EF4-FFF2-40B4-BE49-F238E27FC236}">
                  <a16:creationId xmlns:a16="http://schemas.microsoft.com/office/drawing/2014/main" id="{64E25DEC-6B14-1C01-B1C3-436589BE372D}"/>
                </a:ext>
              </a:extLst>
            </p:cNvPr>
            <p:cNvSpPr>
              <a:spLocks noChangeArrowheads="1"/>
            </p:cNvSpPr>
            <p:nvPr/>
          </p:nvSpPr>
          <p:spPr bwMode="auto">
            <a:xfrm>
              <a:off x="1500274" y="2784475"/>
              <a:ext cx="769760"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Pareto Chart</a:t>
              </a:r>
            </a:p>
          </p:txBody>
        </p:sp>
        <p:sp>
          <p:nvSpPr>
            <p:cNvPr id="156" name="Rectangle 25">
              <a:extLst>
                <a:ext uri="{FF2B5EF4-FFF2-40B4-BE49-F238E27FC236}">
                  <a16:creationId xmlns:a16="http://schemas.microsoft.com/office/drawing/2014/main" id="{3A1DFDDE-E0B5-9097-0410-A4CAAE72D10B}"/>
                </a:ext>
              </a:extLst>
            </p:cNvPr>
            <p:cNvSpPr>
              <a:spLocks noChangeArrowheads="1"/>
            </p:cNvSpPr>
            <p:nvPr/>
          </p:nvSpPr>
          <p:spPr bwMode="auto">
            <a:xfrm>
              <a:off x="1472033" y="2132013"/>
              <a:ext cx="826244"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(Collect Data)</a:t>
              </a:r>
            </a:p>
          </p:txBody>
        </p:sp>
        <p:sp>
          <p:nvSpPr>
            <p:cNvPr id="171" name="Oval 40">
              <a:extLst>
                <a:ext uri="{FF2B5EF4-FFF2-40B4-BE49-F238E27FC236}">
                  <a16:creationId xmlns:a16="http://schemas.microsoft.com/office/drawing/2014/main" id="{B80E5D53-30BF-EDC0-5D9B-62FD7B66996B}"/>
                </a:ext>
              </a:extLst>
            </p:cNvPr>
            <p:cNvSpPr>
              <a:spLocks noChangeArrowheads="1"/>
            </p:cNvSpPr>
            <p:nvPr/>
          </p:nvSpPr>
          <p:spPr bwMode="auto">
            <a:xfrm>
              <a:off x="1382713" y="5019675"/>
              <a:ext cx="261937" cy="73025"/>
            </a:xfrm>
            <a:prstGeom prst="ellipse">
              <a:avLst/>
            </a:prstGeom>
            <a:noFill/>
            <a:ln w="12700">
              <a:solidFill>
                <a:srgbClr val="22222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2" name="Line 41">
              <a:extLst>
                <a:ext uri="{FF2B5EF4-FFF2-40B4-BE49-F238E27FC236}">
                  <a16:creationId xmlns:a16="http://schemas.microsoft.com/office/drawing/2014/main" id="{6D5106AF-CEAB-5372-790C-5761FDB3AE8C}"/>
                </a:ext>
              </a:extLst>
            </p:cNvPr>
            <p:cNvSpPr>
              <a:spLocks noChangeShapeType="1"/>
            </p:cNvSpPr>
            <p:nvPr/>
          </p:nvSpPr>
          <p:spPr bwMode="auto">
            <a:xfrm flipH="1">
              <a:off x="1506538" y="5299075"/>
              <a:ext cx="138112" cy="10953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3" name="Line 42">
              <a:extLst>
                <a:ext uri="{FF2B5EF4-FFF2-40B4-BE49-F238E27FC236}">
                  <a16:creationId xmlns:a16="http://schemas.microsoft.com/office/drawing/2014/main" id="{5FAD0E49-DB90-F5B3-3C4D-A5F09398DF5F}"/>
                </a:ext>
              </a:extLst>
            </p:cNvPr>
            <p:cNvSpPr>
              <a:spLocks noChangeShapeType="1"/>
            </p:cNvSpPr>
            <p:nvPr/>
          </p:nvSpPr>
          <p:spPr bwMode="auto">
            <a:xfrm flipV="1">
              <a:off x="1379538" y="5181600"/>
              <a:ext cx="141287" cy="119063"/>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4" name="Line 43">
              <a:extLst>
                <a:ext uri="{FF2B5EF4-FFF2-40B4-BE49-F238E27FC236}">
                  <a16:creationId xmlns:a16="http://schemas.microsoft.com/office/drawing/2014/main" id="{E8D43369-3E06-8B7A-F006-170804D928BA}"/>
                </a:ext>
              </a:extLst>
            </p:cNvPr>
            <p:cNvSpPr>
              <a:spLocks noChangeShapeType="1"/>
            </p:cNvSpPr>
            <p:nvPr/>
          </p:nvSpPr>
          <p:spPr bwMode="auto">
            <a:xfrm flipH="1" flipV="1">
              <a:off x="1517650" y="5183188"/>
              <a:ext cx="127000" cy="1158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5" name="Line 44">
              <a:extLst>
                <a:ext uri="{FF2B5EF4-FFF2-40B4-BE49-F238E27FC236}">
                  <a16:creationId xmlns:a16="http://schemas.microsoft.com/office/drawing/2014/main" id="{4586C991-092B-3306-6FC3-D156B8C75BCC}"/>
                </a:ext>
              </a:extLst>
            </p:cNvPr>
            <p:cNvSpPr>
              <a:spLocks noChangeShapeType="1"/>
            </p:cNvSpPr>
            <p:nvPr/>
          </p:nvSpPr>
          <p:spPr bwMode="auto">
            <a:xfrm>
              <a:off x="1376363" y="5300663"/>
              <a:ext cx="130175" cy="11112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6" name="Rectangle 45">
              <a:extLst>
                <a:ext uri="{FF2B5EF4-FFF2-40B4-BE49-F238E27FC236}">
                  <a16:creationId xmlns:a16="http://schemas.microsoft.com/office/drawing/2014/main" id="{43D9D992-E7B5-E20E-AB9D-B7506D28BCEC}"/>
                </a:ext>
              </a:extLst>
            </p:cNvPr>
            <p:cNvSpPr>
              <a:spLocks noChangeArrowheads="1"/>
            </p:cNvSpPr>
            <p:nvPr/>
          </p:nvSpPr>
          <p:spPr bwMode="auto">
            <a:xfrm>
              <a:off x="1374775" y="5503863"/>
              <a:ext cx="269875" cy="103187"/>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7" name="Rectangle 46">
              <a:extLst>
                <a:ext uri="{FF2B5EF4-FFF2-40B4-BE49-F238E27FC236}">
                  <a16:creationId xmlns:a16="http://schemas.microsoft.com/office/drawing/2014/main" id="{0C6F8D6B-6CD4-11DB-4CE6-FB1044829FE8}"/>
                </a:ext>
              </a:extLst>
            </p:cNvPr>
            <p:cNvSpPr>
              <a:spLocks noChangeArrowheads="1"/>
            </p:cNvSpPr>
            <p:nvPr/>
          </p:nvSpPr>
          <p:spPr bwMode="auto">
            <a:xfrm>
              <a:off x="1714500" y="5259388"/>
              <a:ext cx="236538" cy="58737"/>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8" name="Rectangle 47">
              <a:extLst>
                <a:ext uri="{FF2B5EF4-FFF2-40B4-BE49-F238E27FC236}">
                  <a16:creationId xmlns:a16="http://schemas.microsoft.com/office/drawing/2014/main" id="{76A5D2A7-0E28-5529-26F6-3D911888870E}"/>
                </a:ext>
              </a:extLst>
            </p:cNvPr>
            <p:cNvSpPr>
              <a:spLocks noChangeArrowheads="1"/>
            </p:cNvSpPr>
            <p:nvPr/>
          </p:nvSpPr>
          <p:spPr bwMode="auto">
            <a:xfrm>
              <a:off x="2030413" y="5202238"/>
              <a:ext cx="250825" cy="1762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9" name="Line 48">
              <a:extLst>
                <a:ext uri="{FF2B5EF4-FFF2-40B4-BE49-F238E27FC236}">
                  <a16:creationId xmlns:a16="http://schemas.microsoft.com/office/drawing/2014/main" id="{C7899F6F-3794-295F-AFAD-0DC320BA8B9C}"/>
                </a:ext>
              </a:extLst>
            </p:cNvPr>
            <p:cNvSpPr>
              <a:spLocks noChangeShapeType="1"/>
            </p:cNvSpPr>
            <p:nvPr/>
          </p:nvSpPr>
          <p:spPr bwMode="auto">
            <a:xfrm flipV="1">
              <a:off x="1512888" y="5094288"/>
              <a:ext cx="1587" cy="87312"/>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0" name="Line 49">
              <a:extLst>
                <a:ext uri="{FF2B5EF4-FFF2-40B4-BE49-F238E27FC236}">
                  <a16:creationId xmlns:a16="http://schemas.microsoft.com/office/drawing/2014/main" id="{8205F702-1C53-39A1-182B-A01C7A6CD3DF}"/>
                </a:ext>
              </a:extLst>
            </p:cNvPr>
            <p:cNvSpPr>
              <a:spLocks noChangeShapeType="1"/>
            </p:cNvSpPr>
            <p:nvPr/>
          </p:nvSpPr>
          <p:spPr bwMode="auto">
            <a:xfrm>
              <a:off x="1506538" y="5407025"/>
              <a:ext cx="1587" cy="8572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1" name="Line 50">
              <a:extLst>
                <a:ext uri="{FF2B5EF4-FFF2-40B4-BE49-F238E27FC236}">
                  <a16:creationId xmlns:a16="http://schemas.microsoft.com/office/drawing/2014/main" id="{6C3D2B71-10C4-416D-1D9A-E258829AB575}"/>
                </a:ext>
              </a:extLst>
            </p:cNvPr>
            <p:cNvSpPr>
              <a:spLocks noChangeShapeType="1"/>
            </p:cNvSpPr>
            <p:nvPr/>
          </p:nvSpPr>
          <p:spPr bwMode="auto">
            <a:xfrm>
              <a:off x="1639888" y="5300663"/>
              <a:ext cx="68262" cy="15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2" name="Line 51">
              <a:extLst>
                <a:ext uri="{FF2B5EF4-FFF2-40B4-BE49-F238E27FC236}">
                  <a16:creationId xmlns:a16="http://schemas.microsoft.com/office/drawing/2014/main" id="{F013AEF6-7770-A7C6-A8D9-9622806D8CD0}"/>
                </a:ext>
              </a:extLst>
            </p:cNvPr>
            <p:cNvSpPr>
              <a:spLocks noChangeShapeType="1"/>
            </p:cNvSpPr>
            <p:nvPr/>
          </p:nvSpPr>
          <p:spPr bwMode="auto">
            <a:xfrm>
              <a:off x="1954213" y="5300663"/>
              <a:ext cx="65087" cy="15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3" name="Line 52">
              <a:extLst>
                <a:ext uri="{FF2B5EF4-FFF2-40B4-BE49-F238E27FC236}">
                  <a16:creationId xmlns:a16="http://schemas.microsoft.com/office/drawing/2014/main" id="{95EAC3BB-CE47-252A-8A13-6DB5CA0DC92C}"/>
                </a:ext>
              </a:extLst>
            </p:cNvPr>
            <p:cNvSpPr>
              <a:spLocks noChangeShapeType="1"/>
            </p:cNvSpPr>
            <p:nvPr/>
          </p:nvSpPr>
          <p:spPr bwMode="auto">
            <a:xfrm>
              <a:off x="2154238" y="5381625"/>
              <a:ext cx="1587" cy="5715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4" name="Line 53">
              <a:extLst>
                <a:ext uri="{FF2B5EF4-FFF2-40B4-BE49-F238E27FC236}">
                  <a16:creationId xmlns:a16="http://schemas.microsoft.com/office/drawing/2014/main" id="{DE6A98BF-CA1E-64A2-043A-D014C1F2B08E}"/>
                </a:ext>
              </a:extLst>
            </p:cNvPr>
            <p:cNvSpPr>
              <a:spLocks noChangeShapeType="1"/>
            </p:cNvSpPr>
            <p:nvPr/>
          </p:nvSpPr>
          <p:spPr bwMode="auto">
            <a:xfrm flipH="1">
              <a:off x="1506538" y="5435600"/>
              <a:ext cx="647700" cy="158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91" name="Rectangle 61">
              <a:extLst>
                <a:ext uri="{FF2B5EF4-FFF2-40B4-BE49-F238E27FC236}">
                  <a16:creationId xmlns:a16="http://schemas.microsoft.com/office/drawing/2014/main" id="{84B1A666-D7B2-8EED-A3D4-0C1DD37E46B0}"/>
                </a:ext>
              </a:extLst>
            </p:cNvPr>
            <p:cNvSpPr>
              <a:spLocks noChangeArrowheads="1"/>
            </p:cNvSpPr>
            <p:nvPr/>
          </p:nvSpPr>
          <p:spPr bwMode="auto">
            <a:xfrm>
              <a:off x="4276725" y="4492625"/>
              <a:ext cx="520179"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latin typeface="Roboto" panose="02000000000000000000" pitchFamily="2" charset="0"/>
                  <a:ea typeface="Roboto" panose="02000000000000000000" pitchFamily="2" charset="0"/>
                  <a:cs typeface="Roboto" panose="02000000000000000000" pitchFamily="2" charset="0"/>
                </a:rPr>
                <a:t>Why?--&gt;</a:t>
              </a:r>
            </a:p>
          </p:txBody>
        </p:sp>
        <p:sp>
          <p:nvSpPr>
            <p:cNvPr id="192" name="Rectangle 62">
              <a:extLst>
                <a:ext uri="{FF2B5EF4-FFF2-40B4-BE49-F238E27FC236}">
                  <a16:creationId xmlns:a16="http://schemas.microsoft.com/office/drawing/2014/main" id="{05E10507-F18E-36D6-D9CD-7FF6C8F5E728}"/>
                </a:ext>
              </a:extLst>
            </p:cNvPr>
            <p:cNvSpPr>
              <a:spLocks noChangeArrowheads="1"/>
            </p:cNvSpPr>
            <p:nvPr/>
          </p:nvSpPr>
          <p:spPr bwMode="auto">
            <a:xfrm>
              <a:off x="4276725" y="4675188"/>
              <a:ext cx="722471"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Why?--&gt;</a:t>
              </a:r>
            </a:p>
          </p:txBody>
        </p:sp>
        <p:sp>
          <p:nvSpPr>
            <p:cNvPr id="193" name="Rectangle 63">
              <a:extLst>
                <a:ext uri="{FF2B5EF4-FFF2-40B4-BE49-F238E27FC236}">
                  <a16:creationId xmlns:a16="http://schemas.microsoft.com/office/drawing/2014/main" id="{2EE36F49-E7EC-B712-2BDB-92DF28AAD846}"/>
                </a:ext>
              </a:extLst>
            </p:cNvPr>
            <p:cNvSpPr>
              <a:spLocks noChangeArrowheads="1"/>
            </p:cNvSpPr>
            <p:nvPr/>
          </p:nvSpPr>
          <p:spPr bwMode="auto">
            <a:xfrm>
              <a:off x="4276725" y="4857750"/>
              <a:ext cx="924763"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Why?--&gt;</a:t>
              </a:r>
            </a:p>
          </p:txBody>
        </p:sp>
        <p:sp>
          <p:nvSpPr>
            <p:cNvPr id="194" name="Rectangle 64">
              <a:extLst>
                <a:ext uri="{FF2B5EF4-FFF2-40B4-BE49-F238E27FC236}">
                  <a16:creationId xmlns:a16="http://schemas.microsoft.com/office/drawing/2014/main" id="{138FD64A-838F-3E84-6ACA-26E143ED7EA0}"/>
                </a:ext>
              </a:extLst>
            </p:cNvPr>
            <p:cNvSpPr>
              <a:spLocks noChangeArrowheads="1"/>
            </p:cNvSpPr>
            <p:nvPr/>
          </p:nvSpPr>
          <p:spPr bwMode="auto">
            <a:xfrm>
              <a:off x="4276725" y="5040312"/>
              <a:ext cx="1098155"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latin typeface="Roboto" panose="02000000000000000000" pitchFamily="2" charset="0"/>
                  <a:ea typeface="Roboto" panose="02000000000000000000" pitchFamily="2" charset="0"/>
                  <a:cs typeface="Roboto" panose="02000000000000000000" pitchFamily="2" charset="0"/>
                </a:rPr>
                <a:t>                    Why?--&gt;</a:t>
              </a:r>
            </a:p>
          </p:txBody>
        </p:sp>
        <p:sp>
          <p:nvSpPr>
            <p:cNvPr id="195" name="Rectangle 65">
              <a:extLst>
                <a:ext uri="{FF2B5EF4-FFF2-40B4-BE49-F238E27FC236}">
                  <a16:creationId xmlns:a16="http://schemas.microsoft.com/office/drawing/2014/main" id="{5D4EDCB5-4878-E3F1-44E0-9354F9586415}"/>
                </a:ext>
              </a:extLst>
            </p:cNvPr>
            <p:cNvSpPr>
              <a:spLocks noChangeArrowheads="1"/>
            </p:cNvSpPr>
            <p:nvPr/>
          </p:nvSpPr>
          <p:spPr bwMode="auto">
            <a:xfrm>
              <a:off x="4276725" y="5226050"/>
              <a:ext cx="1148072"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a:t>
              </a:r>
            </a:p>
          </p:txBody>
        </p:sp>
        <p:sp>
          <p:nvSpPr>
            <p:cNvPr id="196" name="Rectangle 66">
              <a:extLst>
                <a:ext uri="{FF2B5EF4-FFF2-40B4-BE49-F238E27FC236}">
                  <a16:creationId xmlns:a16="http://schemas.microsoft.com/office/drawing/2014/main" id="{C8332259-20C0-E13B-2508-53A718C9CAF1}"/>
                </a:ext>
              </a:extLst>
            </p:cNvPr>
            <p:cNvSpPr>
              <a:spLocks noChangeArrowheads="1"/>
            </p:cNvSpPr>
            <p:nvPr/>
          </p:nvSpPr>
          <p:spPr bwMode="auto">
            <a:xfrm>
              <a:off x="6484938" y="1341438"/>
              <a:ext cx="1938337" cy="1020762"/>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7. PROPOSE &amp; IMPLEMENT COUNTERMEASURES</a:t>
              </a:r>
            </a:p>
            <a:p>
              <a:r>
                <a:rPr lang="en-US" altLang="en-US" dirty="0">
                  <a:latin typeface="Roboto" panose="02000000000000000000" pitchFamily="2" charset="0"/>
                  <a:ea typeface="Roboto" panose="02000000000000000000" pitchFamily="2" charset="0"/>
                  <a:cs typeface="Roboto" panose="02000000000000000000" pitchFamily="2" charset="0"/>
                </a:rPr>
                <a:t>(HOW TO SOLVE THE PROBLEM)</a:t>
              </a:r>
            </a:p>
          </p:txBody>
        </p:sp>
        <p:sp>
          <p:nvSpPr>
            <p:cNvPr id="197" name="Rectangle 67">
              <a:extLst>
                <a:ext uri="{FF2B5EF4-FFF2-40B4-BE49-F238E27FC236}">
                  <a16:creationId xmlns:a16="http://schemas.microsoft.com/office/drawing/2014/main" id="{DF699E4C-663B-080C-D2CE-86D8A7BD2F18}"/>
                </a:ext>
              </a:extLst>
            </p:cNvPr>
            <p:cNvSpPr>
              <a:spLocks noChangeArrowheads="1"/>
            </p:cNvSpPr>
            <p:nvPr/>
          </p:nvSpPr>
          <p:spPr bwMode="auto">
            <a:xfrm>
              <a:off x="6485730" y="2784475"/>
              <a:ext cx="1936750" cy="7778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8. MONITOR COUNTERMEASURE EFFECTIVENESS</a:t>
              </a:r>
            </a:p>
          </p:txBody>
        </p:sp>
        <p:sp>
          <p:nvSpPr>
            <p:cNvPr id="208" name="Rectangle 78">
              <a:extLst>
                <a:ext uri="{FF2B5EF4-FFF2-40B4-BE49-F238E27FC236}">
                  <a16:creationId xmlns:a16="http://schemas.microsoft.com/office/drawing/2014/main" id="{7F68F474-B1EF-21D1-D2AC-C539656C65AD}"/>
                </a:ext>
              </a:extLst>
            </p:cNvPr>
            <p:cNvSpPr>
              <a:spLocks noChangeArrowheads="1"/>
            </p:cNvSpPr>
            <p:nvPr/>
          </p:nvSpPr>
          <p:spPr bwMode="auto">
            <a:xfrm>
              <a:off x="6484938" y="5613400"/>
              <a:ext cx="1939925"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9. ESTABLISH STANDARD PROCEDURE</a:t>
              </a:r>
            </a:p>
          </p:txBody>
        </p:sp>
        <p:sp>
          <p:nvSpPr>
            <p:cNvPr id="220" name="Rectangle 91">
              <a:extLst>
                <a:ext uri="{FF2B5EF4-FFF2-40B4-BE49-F238E27FC236}">
                  <a16:creationId xmlns:a16="http://schemas.microsoft.com/office/drawing/2014/main" id="{08B8C705-3823-F097-7457-85CD0726EF1B}"/>
                </a:ext>
              </a:extLst>
            </p:cNvPr>
            <p:cNvSpPr>
              <a:spLocks noChangeArrowheads="1"/>
            </p:cNvSpPr>
            <p:nvPr/>
          </p:nvSpPr>
          <p:spPr bwMode="auto">
            <a:xfrm>
              <a:off x="7699375" y="5218113"/>
              <a:ext cx="324455"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221" name="Rectangle 92">
              <a:extLst>
                <a:ext uri="{FF2B5EF4-FFF2-40B4-BE49-F238E27FC236}">
                  <a16:creationId xmlns:a16="http://schemas.microsoft.com/office/drawing/2014/main" id="{6FC922AF-371E-A8B4-1D50-E9F7A6662F4C}"/>
                </a:ext>
              </a:extLst>
            </p:cNvPr>
            <p:cNvSpPr>
              <a:spLocks noChangeArrowheads="1"/>
            </p:cNvSpPr>
            <p:nvPr/>
          </p:nvSpPr>
          <p:spPr bwMode="auto">
            <a:xfrm>
              <a:off x="6623050" y="3965576"/>
              <a:ext cx="283734"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NO</a:t>
              </a:r>
            </a:p>
          </p:txBody>
        </p:sp>
        <p:sp>
          <p:nvSpPr>
            <p:cNvPr id="235" name="Rectangle 106">
              <a:extLst>
                <a:ext uri="{FF2B5EF4-FFF2-40B4-BE49-F238E27FC236}">
                  <a16:creationId xmlns:a16="http://schemas.microsoft.com/office/drawing/2014/main" id="{09DBC6B2-BFA4-061E-0285-636E370B557E}"/>
                </a:ext>
              </a:extLst>
            </p:cNvPr>
            <p:cNvSpPr>
              <a:spLocks noChangeArrowheads="1"/>
            </p:cNvSpPr>
            <p:nvPr/>
          </p:nvSpPr>
          <p:spPr bwMode="auto">
            <a:xfrm>
              <a:off x="4668838" y="5437188"/>
              <a:ext cx="165100" cy="441325"/>
            </a:xfrm>
            <a:prstGeom prst="rect">
              <a:avLst/>
            </a:prstGeom>
            <a:solidFill>
              <a:srgbClr val="0000FF"/>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6" name="Rectangle 107">
              <a:extLst>
                <a:ext uri="{FF2B5EF4-FFF2-40B4-BE49-F238E27FC236}">
                  <a16:creationId xmlns:a16="http://schemas.microsoft.com/office/drawing/2014/main" id="{47AC3024-C9A8-5AE9-95E8-DE99D4DCE392}"/>
                </a:ext>
              </a:extLst>
            </p:cNvPr>
            <p:cNvSpPr>
              <a:spLocks noChangeArrowheads="1"/>
            </p:cNvSpPr>
            <p:nvPr/>
          </p:nvSpPr>
          <p:spPr bwMode="auto">
            <a:xfrm>
              <a:off x="5022850" y="5711825"/>
              <a:ext cx="161925" cy="168275"/>
            </a:xfrm>
            <a:prstGeom prst="rect">
              <a:avLst/>
            </a:prstGeom>
            <a:solidFill>
              <a:srgbClr val="008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7" name="Rectangle 108">
              <a:extLst>
                <a:ext uri="{FF2B5EF4-FFF2-40B4-BE49-F238E27FC236}">
                  <a16:creationId xmlns:a16="http://schemas.microsoft.com/office/drawing/2014/main" id="{355C5ECC-6401-F1AB-2167-6CC9C824D857}"/>
                </a:ext>
              </a:extLst>
            </p:cNvPr>
            <p:cNvSpPr>
              <a:spLocks noChangeArrowheads="1"/>
            </p:cNvSpPr>
            <p:nvPr/>
          </p:nvSpPr>
          <p:spPr bwMode="auto">
            <a:xfrm>
              <a:off x="4849813" y="5597525"/>
              <a:ext cx="161925" cy="280988"/>
            </a:xfrm>
            <a:prstGeom prst="rect">
              <a:avLst/>
            </a:prstGeom>
            <a:solidFill>
              <a:srgbClr val="FF0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8" name="Rectangle 109">
              <a:extLst>
                <a:ext uri="{FF2B5EF4-FFF2-40B4-BE49-F238E27FC236}">
                  <a16:creationId xmlns:a16="http://schemas.microsoft.com/office/drawing/2014/main" id="{22D17B41-3BC7-B379-4516-97737641BBE4}"/>
                </a:ext>
              </a:extLst>
            </p:cNvPr>
            <p:cNvSpPr>
              <a:spLocks noChangeArrowheads="1"/>
            </p:cNvSpPr>
            <p:nvPr/>
          </p:nvSpPr>
          <p:spPr bwMode="auto">
            <a:xfrm>
              <a:off x="4486275" y="5889625"/>
              <a:ext cx="769760"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Pareto Chart</a:t>
              </a:r>
            </a:p>
          </p:txBody>
        </p:sp>
        <p:grpSp>
          <p:nvGrpSpPr>
            <p:cNvPr id="239" name="Group 110">
              <a:extLst>
                <a:ext uri="{FF2B5EF4-FFF2-40B4-BE49-F238E27FC236}">
                  <a16:creationId xmlns:a16="http://schemas.microsoft.com/office/drawing/2014/main" id="{D5026543-7025-32D0-AF7B-DD9037FAD932}"/>
                </a:ext>
              </a:extLst>
            </p:cNvPr>
            <p:cNvGrpSpPr>
              <a:grpSpLocks/>
            </p:cNvGrpSpPr>
            <p:nvPr/>
          </p:nvGrpSpPr>
          <p:grpSpPr bwMode="auto">
            <a:xfrm>
              <a:off x="4338638" y="3648078"/>
              <a:ext cx="1254125" cy="779835"/>
              <a:chOff x="2698" y="2270"/>
              <a:chExt cx="548" cy="384"/>
            </a:xfrm>
          </p:grpSpPr>
          <p:sp>
            <p:nvSpPr>
              <p:cNvPr id="240" name="Rectangle 111">
                <a:extLst>
                  <a:ext uri="{FF2B5EF4-FFF2-40B4-BE49-F238E27FC236}">
                    <a16:creationId xmlns:a16="http://schemas.microsoft.com/office/drawing/2014/main" id="{946CB665-FC32-499E-3602-2D7EFC79B9C6}"/>
                  </a:ext>
                </a:extLst>
              </p:cNvPr>
              <p:cNvSpPr>
                <a:spLocks noChangeArrowheads="1"/>
              </p:cNvSpPr>
              <p:nvPr/>
            </p:nvSpPr>
            <p:spPr bwMode="auto">
              <a:xfrm>
                <a:off x="2745" y="2309"/>
                <a:ext cx="94"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41" name="Line 112">
                <a:extLst>
                  <a:ext uri="{FF2B5EF4-FFF2-40B4-BE49-F238E27FC236}">
                    <a16:creationId xmlns:a16="http://schemas.microsoft.com/office/drawing/2014/main" id="{0AA77400-A75F-0102-98B8-1D723DD59D17}"/>
                  </a:ext>
                </a:extLst>
              </p:cNvPr>
              <p:cNvSpPr>
                <a:spLocks noChangeShapeType="1"/>
              </p:cNvSpPr>
              <p:nvPr/>
            </p:nvSpPr>
            <p:spPr bwMode="auto">
              <a:xfrm>
                <a:off x="2799" y="2326"/>
                <a:ext cx="83" cy="14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2" name="Freeform 113">
                <a:extLst>
                  <a:ext uri="{FF2B5EF4-FFF2-40B4-BE49-F238E27FC236}">
                    <a16:creationId xmlns:a16="http://schemas.microsoft.com/office/drawing/2014/main" id="{415385B2-BAB6-EF57-CF39-441F9E2E217A}"/>
                  </a:ext>
                </a:extLst>
              </p:cNvPr>
              <p:cNvSpPr>
                <a:spLocks/>
              </p:cNvSpPr>
              <p:nvPr/>
            </p:nvSpPr>
            <p:spPr bwMode="auto">
              <a:xfrm>
                <a:off x="2838" y="2409"/>
                <a:ext cx="45" cy="66"/>
              </a:xfrm>
              <a:custGeom>
                <a:avLst/>
                <a:gdLst>
                  <a:gd name="T0" fmla="*/ 24 w 41"/>
                  <a:gd name="T1" fmla="*/ 0 h 57"/>
                  <a:gd name="T2" fmla="*/ 44 w 41"/>
                  <a:gd name="T3" fmla="*/ 65 h 57"/>
                  <a:gd name="T4" fmla="*/ 0 w 41"/>
                  <a:gd name="T5" fmla="*/ 16 h 57"/>
                  <a:gd name="T6" fmla="*/ 24 w 41"/>
                  <a:gd name="T7" fmla="*/ 0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7">
                    <a:moveTo>
                      <a:pt x="22" y="0"/>
                    </a:moveTo>
                    <a:lnTo>
                      <a:pt x="40" y="56"/>
                    </a:lnTo>
                    <a:lnTo>
                      <a:pt x="0" y="14"/>
                    </a:lnTo>
                    <a:lnTo>
                      <a:pt x="22"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3" name="Line 114">
                <a:extLst>
                  <a:ext uri="{FF2B5EF4-FFF2-40B4-BE49-F238E27FC236}">
                    <a16:creationId xmlns:a16="http://schemas.microsoft.com/office/drawing/2014/main" id="{C92961E4-91DA-3103-DC6D-67FA44CCA29B}"/>
                  </a:ext>
                </a:extLst>
              </p:cNvPr>
              <p:cNvSpPr>
                <a:spLocks noChangeShapeType="1"/>
              </p:cNvSpPr>
              <p:nvPr/>
            </p:nvSpPr>
            <p:spPr bwMode="auto">
              <a:xfrm>
                <a:off x="2752" y="2477"/>
                <a:ext cx="444"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44" name="Freeform 115">
                <a:extLst>
                  <a:ext uri="{FF2B5EF4-FFF2-40B4-BE49-F238E27FC236}">
                    <a16:creationId xmlns:a16="http://schemas.microsoft.com/office/drawing/2014/main" id="{AFDADFD4-B1F1-443E-E08D-000418F732B0}"/>
                  </a:ext>
                </a:extLst>
              </p:cNvPr>
              <p:cNvSpPr>
                <a:spLocks/>
              </p:cNvSpPr>
              <p:nvPr/>
            </p:nvSpPr>
            <p:spPr bwMode="auto">
              <a:xfrm>
                <a:off x="3136" y="2460"/>
                <a:ext cx="61" cy="34"/>
              </a:xfrm>
              <a:custGeom>
                <a:avLst/>
                <a:gdLst>
                  <a:gd name="T0" fmla="*/ 0 w 55"/>
                  <a:gd name="T1" fmla="*/ 0 h 30"/>
                  <a:gd name="T2" fmla="*/ 60 w 55"/>
                  <a:gd name="T3" fmla="*/ 16 h 30"/>
                  <a:gd name="T4" fmla="*/ 0 w 55"/>
                  <a:gd name="T5" fmla="*/ 33 h 30"/>
                  <a:gd name="T6" fmla="*/ 0 w 5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 h="30">
                    <a:moveTo>
                      <a:pt x="0" y="0"/>
                    </a:moveTo>
                    <a:lnTo>
                      <a:pt x="54" y="14"/>
                    </a:lnTo>
                    <a:lnTo>
                      <a:pt x="0" y="29"/>
                    </a:lnTo>
                    <a:lnTo>
                      <a:pt x="0"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5" name="Line 116">
                <a:extLst>
                  <a:ext uri="{FF2B5EF4-FFF2-40B4-BE49-F238E27FC236}">
                    <a16:creationId xmlns:a16="http://schemas.microsoft.com/office/drawing/2014/main" id="{7D548AD2-8F75-C6A2-1924-EC8547975A17}"/>
                  </a:ext>
                </a:extLst>
              </p:cNvPr>
              <p:cNvSpPr>
                <a:spLocks noChangeShapeType="1"/>
              </p:cNvSpPr>
              <p:nvPr/>
            </p:nvSpPr>
            <p:spPr bwMode="auto">
              <a:xfrm>
                <a:off x="3044" y="2327"/>
                <a:ext cx="83" cy="14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6" name="Freeform 117">
                <a:extLst>
                  <a:ext uri="{FF2B5EF4-FFF2-40B4-BE49-F238E27FC236}">
                    <a16:creationId xmlns:a16="http://schemas.microsoft.com/office/drawing/2014/main" id="{EA1E0DAA-46A1-1B3E-78B5-FE2A119C67F4}"/>
                  </a:ext>
                </a:extLst>
              </p:cNvPr>
              <p:cNvSpPr>
                <a:spLocks/>
              </p:cNvSpPr>
              <p:nvPr/>
            </p:nvSpPr>
            <p:spPr bwMode="auto">
              <a:xfrm>
                <a:off x="3083" y="2412"/>
                <a:ext cx="46" cy="64"/>
              </a:xfrm>
              <a:custGeom>
                <a:avLst/>
                <a:gdLst>
                  <a:gd name="T0" fmla="*/ 26 w 41"/>
                  <a:gd name="T1" fmla="*/ 0 h 56"/>
                  <a:gd name="T2" fmla="*/ 45 w 41"/>
                  <a:gd name="T3" fmla="*/ 63 h 56"/>
                  <a:gd name="T4" fmla="*/ 0 w 41"/>
                  <a:gd name="T5" fmla="*/ 16 h 56"/>
                  <a:gd name="T6" fmla="*/ 26 w 41"/>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6">
                    <a:moveTo>
                      <a:pt x="23" y="0"/>
                    </a:moveTo>
                    <a:lnTo>
                      <a:pt x="40" y="55"/>
                    </a:lnTo>
                    <a:lnTo>
                      <a:pt x="0" y="14"/>
                    </a:lnTo>
                    <a:lnTo>
                      <a:pt x="23"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7" name="Line 118">
                <a:extLst>
                  <a:ext uri="{FF2B5EF4-FFF2-40B4-BE49-F238E27FC236}">
                    <a16:creationId xmlns:a16="http://schemas.microsoft.com/office/drawing/2014/main" id="{72AD28E5-CAA8-3E8E-C7E0-4F875EB2E189}"/>
                  </a:ext>
                </a:extLst>
              </p:cNvPr>
              <p:cNvSpPr>
                <a:spLocks noChangeShapeType="1"/>
              </p:cNvSpPr>
              <p:nvPr/>
            </p:nvSpPr>
            <p:spPr bwMode="auto">
              <a:xfrm flipV="1">
                <a:off x="2796" y="2481"/>
                <a:ext cx="89" cy="144"/>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8" name="Freeform 119">
                <a:extLst>
                  <a:ext uri="{FF2B5EF4-FFF2-40B4-BE49-F238E27FC236}">
                    <a16:creationId xmlns:a16="http://schemas.microsoft.com/office/drawing/2014/main" id="{E04E0F94-3900-3C6F-99BC-749C6FF9E4DD}"/>
                  </a:ext>
                </a:extLst>
              </p:cNvPr>
              <p:cNvSpPr>
                <a:spLocks/>
              </p:cNvSpPr>
              <p:nvPr/>
            </p:nvSpPr>
            <p:spPr bwMode="auto">
              <a:xfrm>
                <a:off x="2838" y="2481"/>
                <a:ext cx="48" cy="64"/>
              </a:xfrm>
              <a:custGeom>
                <a:avLst/>
                <a:gdLst>
                  <a:gd name="T0" fmla="*/ 0 w 43"/>
                  <a:gd name="T1" fmla="*/ 45 h 56"/>
                  <a:gd name="T2" fmla="*/ 47 w 43"/>
                  <a:gd name="T3" fmla="*/ 0 h 56"/>
                  <a:gd name="T4" fmla="*/ 25 w 43"/>
                  <a:gd name="T5" fmla="*/ 63 h 56"/>
                  <a:gd name="T6" fmla="*/ 0 w 43"/>
                  <a:gd name="T7" fmla="*/ 45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6">
                    <a:moveTo>
                      <a:pt x="0" y="39"/>
                    </a:moveTo>
                    <a:lnTo>
                      <a:pt x="42" y="0"/>
                    </a:lnTo>
                    <a:lnTo>
                      <a:pt x="22" y="55"/>
                    </a:lnTo>
                    <a:lnTo>
                      <a:pt x="0" y="39"/>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9" name="Line 120">
                <a:extLst>
                  <a:ext uri="{FF2B5EF4-FFF2-40B4-BE49-F238E27FC236}">
                    <a16:creationId xmlns:a16="http://schemas.microsoft.com/office/drawing/2014/main" id="{1F46E2B1-37CA-3F17-2DA8-AE03D8338E5B}"/>
                  </a:ext>
                </a:extLst>
              </p:cNvPr>
              <p:cNvSpPr>
                <a:spLocks noChangeShapeType="1"/>
              </p:cNvSpPr>
              <p:nvPr/>
            </p:nvSpPr>
            <p:spPr bwMode="auto">
              <a:xfrm flipV="1">
                <a:off x="3037" y="2483"/>
                <a:ext cx="89" cy="14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0" name="Freeform 121">
                <a:extLst>
                  <a:ext uri="{FF2B5EF4-FFF2-40B4-BE49-F238E27FC236}">
                    <a16:creationId xmlns:a16="http://schemas.microsoft.com/office/drawing/2014/main" id="{6E8268FD-CD44-8222-1863-FBB59AF50D98}"/>
                  </a:ext>
                </a:extLst>
              </p:cNvPr>
              <p:cNvSpPr>
                <a:spLocks/>
              </p:cNvSpPr>
              <p:nvPr/>
            </p:nvSpPr>
            <p:spPr bwMode="auto">
              <a:xfrm>
                <a:off x="3080" y="2483"/>
                <a:ext cx="46" cy="66"/>
              </a:xfrm>
              <a:custGeom>
                <a:avLst/>
                <a:gdLst>
                  <a:gd name="T0" fmla="*/ 0 w 43"/>
                  <a:gd name="T1" fmla="*/ 46 h 57"/>
                  <a:gd name="T2" fmla="*/ 45 w 43"/>
                  <a:gd name="T3" fmla="*/ 0 h 57"/>
                  <a:gd name="T4" fmla="*/ 24 w 43"/>
                  <a:gd name="T5" fmla="*/ 65 h 57"/>
                  <a:gd name="T6" fmla="*/ 0 w 43"/>
                  <a:gd name="T7" fmla="*/ 46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7">
                    <a:moveTo>
                      <a:pt x="0" y="40"/>
                    </a:moveTo>
                    <a:lnTo>
                      <a:pt x="42" y="0"/>
                    </a:lnTo>
                    <a:lnTo>
                      <a:pt x="22" y="56"/>
                    </a:lnTo>
                    <a:lnTo>
                      <a:pt x="0" y="4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51" name="Rectangle 122">
                <a:extLst>
                  <a:ext uri="{FF2B5EF4-FFF2-40B4-BE49-F238E27FC236}">
                    <a16:creationId xmlns:a16="http://schemas.microsoft.com/office/drawing/2014/main" id="{B25EBBCE-5286-63B8-5A71-B534E5D65397}"/>
                  </a:ext>
                </a:extLst>
              </p:cNvPr>
              <p:cNvSpPr>
                <a:spLocks noChangeArrowheads="1"/>
              </p:cNvSpPr>
              <p:nvPr/>
            </p:nvSpPr>
            <p:spPr bwMode="auto">
              <a:xfrm>
                <a:off x="2993" y="2309"/>
                <a:ext cx="95"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2" name="Rectangle 123">
                <a:extLst>
                  <a:ext uri="{FF2B5EF4-FFF2-40B4-BE49-F238E27FC236}">
                    <a16:creationId xmlns:a16="http://schemas.microsoft.com/office/drawing/2014/main" id="{141DB16A-FB16-F8AD-1792-ACE04FA498DA}"/>
                  </a:ext>
                </a:extLst>
              </p:cNvPr>
              <p:cNvSpPr>
                <a:spLocks noChangeArrowheads="1"/>
              </p:cNvSpPr>
              <p:nvPr/>
            </p:nvSpPr>
            <p:spPr bwMode="auto">
              <a:xfrm>
                <a:off x="2747" y="2630"/>
                <a:ext cx="95"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3" name="Rectangle 124">
                <a:extLst>
                  <a:ext uri="{FF2B5EF4-FFF2-40B4-BE49-F238E27FC236}">
                    <a16:creationId xmlns:a16="http://schemas.microsoft.com/office/drawing/2014/main" id="{F8B945DA-BBB3-87AF-53F0-3E63F47C40C8}"/>
                  </a:ext>
                </a:extLst>
              </p:cNvPr>
              <p:cNvSpPr>
                <a:spLocks noChangeArrowheads="1"/>
              </p:cNvSpPr>
              <p:nvPr/>
            </p:nvSpPr>
            <p:spPr bwMode="auto">
              <a:xfrm>
                <a:off x="2980" y="2634"/>
                <a:ext cx="94"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4" name="Rectangle 125">
                <a:extLst>
                  <a:ext uri="{FF2B5EF4-FFF2-40B4-BE49-F238E27FC236}">
                    <a16:creationId xmlns:a16="http://schemas.microsoft.com/office/drawing/2014/main" id="{4DC49002-D18E-3162-947E-D7E0EA0F7D15}"/>
                  </a:ext>
                </a:extLst>
              </p:cNvPr>
              <p:cNvSpPr>
                <a:spLocks noChangeArrowheads="1"/>
              </p:cNvSpPr>
              <p:nvPr/>
            </p:nvSpPr>
            <p:spPr bwMode="auto">
              <a:xfrm>
                <a:off x="2708" y="2270"/>
                <a:ext cx="117"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latin typeface="Roboto" panose="02000000000000000000" pitchFamily="2" charset="0"/>
                    <a:ea typeface="Roboto" panose="02000000000000000000" pitchFamily="2" charset="0"/>
                    <a:cs typeface="Roboto" panose="02000000000000000000" pitchFamily="2" charset="0"/>
                  </a:rPr>
                  <a:t>Manpower</a:t>
                </a:r>
              </a:p>
            </p:txBody>
          </p:sp>
          <p:sp>
            <p:nvSpPr>
              <p:cNvPr id="255" name="Rectangle 126">
                <a:extLst>
                  <a:ext uri="{FF2B5EF4-FFF2-40B4-BE49-F238E27FC236}">
                    <a16:creationId xmlns:a16="http://schemas.microsoft.com/office/drawing/2014/main" id="{581B5D26-AE15-6EF3-1B66-E40FEB7E7CD1}"/>
                  </a:ext>
                </a:extLst>
              </p:cNvPr>
              <p:cNvSpPr>
                <a:spLocks noChangeArrowheads="1"/>
              </p:cNvSpPr>
              <p:nvPr/>
            </p:nvSpPr>
            <p:spPr bwMode="auto">
              <a:xfrm>
                <a:off x="2964" y="2270"/>
                <a:ext cx="108"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latin typeface="Roboto" panose="02000000000000000000" pitchFamily="2" charset="0"/>
                    <a:ea typeface="Roboto" panose="02000000000000000000" pitchFamily="2" charset="0"/>
                    <a:cs typeface="Roboto" panose="02000000000000000000" pitchFamily="2" charset="0"/>
                  </a:rPr>
                  <a:t>Methods</a:t>
                </a:r>
              </a:p>
            </p:txBody>
          </p:sp>
          <p:sp>
            <p:nvSpPr>
              <p:cNvPr id="256" name="Rectangle 127">
                <a:extLst>
                  <a:ext uri="{FF2B5EF4-FFF2-40B4-BE49-F238E27FC236}">
                    <a16:creationId xmlns:a16="http://schemas.microsoft.com/office/drawing/2014/main" id="{A836A1AD-2708-8982-BDE5-ECCC280C9369}"/>
                  </a:ext>
                </a:extLst>
              </p:cNvPr>
              <p:cNvSpPr>
                <a:spLocks noChangeArrowheads="1"/>
              </p:cNvSpPr>
              <p:nvPr/>
            </p:nvSpPr>
            <p:spPr bwMode="auto">
              <a:xfrm>
                <a:off x="2712" y="2592"/>
                <a:ext cx="91"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Materials</a:t>
                </a:r>
              </a:p>
            </p:txBody>
          </p:sp>
          <p:sp>
            <p:nvSpPr>
              <p:cNvPr id="257" name="Rectangle 128">
                <a:extLst>
                  <a:ext uri="{FF2B5EF4-FFF2-40B4-BE49-F238E27FC236}">
                    <a16:creationId xmlns:a16="http://schemas.microsoft.com/office/drawing/2014/main" id="{FD95F96E-6267-2EE1-F0E3-8520BE66E1C9}"/>
                  </a:ext>
                </a:extLst>
              </p:cNvPr>
              <p:cNvSpPr>
                <a:spLocks noChangeArrowheads="1"/>
              </p:cNvSpPr>
              <p:nvPr/>
            </p:nvSpPr>
            <p:spPr bwMode="auto">
              <a:xfrm>
                <a:off x="2947" y="2594"/>
                <a:ext cx="95"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Machinery</a:t>
                </a:r>
              </a:p>
            </p:txBody>
          </p:sp>
          <p:sp>
            <p:nvSpPr>
              <p:cNvPr id="258" name="Rectangle 129">
                <a:extLst>
                  <a:ext uri="{FF2B5EF4-FFF2-40B4-BE49-F238E27FC236}">
                    <a16:creationId xmlns:a16="http://schemas.microsoft.com/office/drawing/2014/main" id="{03D3B912-FD89-2F56-2CF8-3846C82B16F9}"/>
                  </a:ext>
                </a:extLst>
              </p:cNvPr>
              <p:cNvSpPr>
                <a:spLocks noChangeArrowheads="1"/>
              </p:cNvSpPr>
              <p:nvPr/>
            </p:nvSpPr>
            <p:spPr bwMode="auto">
              <a:xfrm>
                <a:off x="2698" y="2573"/>
                <a:ext cx="66"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 b="0">
                    <a:latin typeface="Roboto" panose="02000000000000000000" pitchFamily="2" charset="0"/>
                    <a:ea typeface="Roboto" panose="02000000000000000000" pitchFamily="2" charset="0"/>
                    <a:cs typeface="Roboto" panose="02000000000000000000" pitchFamily="2" charset="0"/>
                  </a:rPr>
                  <a:t>Wrong</a:t>
                </a:r>
              </a:p>
            </p:txBody>
          </p:sp>
          <p:sp>
            <p:nvSpPr>
              <p:cNvPr id="259" name="Rectangle 130">
                <a:extLst>
                  <a:ext uri="{FF2B5EF4-FFF2-40B4-BE49-F238E27FC236}">
                    <a16:creationId xmlns:a16="http://schemas.microsoft.com/office/drawing/2014/main" id="{3A162A31-31AA-FBBC-F69B-695C4A43BCED}"/>
                  </a:ext>
                </a:extLst>
              </p:cNvPr>
              <p:cNvSpPr>
                <a:spLocks noChangeArrowheads="1"/>
              </p:cNvSpPr>
              <p:nvPr/>
            </p:nvSpPr>
            <p:spPr bwMode="auto">
              <a:xfrm>
                <a:off x="3203" y="2430"/>
                <a:ext cx="43" cy="8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60" name="Rectangle 131">
                <a:extLst>
                  <a:ext uri="{FF2B5EF4-FFF2-40B4-BE49-F238E27FC236}">
                    <a16:creationId xmlns:a16="http://schemas.microsoft.com/office/drawing/2014/main" id="{20F7B233-B2B7-3EE8-4332-DC592C8A8F19}"/>
                  </a:ext>
                </a:extLst>
              </p:cNvPr>
              <p:cNvSpPr>
                <a:spLocks noChangeArrowheads="1"/>
              </p:cNvSpPr>
              <p:nvPr/>
            </p:nvSpPr>
            <p:spPr bwMode="auto">
              <a:xfrm>
                <a:off x="3154" y="2400"/>
                <a:ext cx="69"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P.C.</a:t>
                </a:r>
              </a:p>
            </p:txBody>
          </p:sp>
          <p:sp>
            <p:nvSpPr>
              <p:cNvPr id="261" name="Rectangle 132">
                <a:extLst>
                  <a:ext uri="{FF2B5EF4-FFF2-40B4-BE49-F238E27FC236}">
                    <a16:creationId xmlns:a16="http://schemas.microsoft.com/office/drawing/2014/main" id="{72C64505-B18A-C924-205E-A6FEE804A41A}"/>
                  </a:ext>
                </a:extLst>
              </p:cNvPr>
              <p:cNvSpPr>
                <a:spLocks noChangeArrowheads="1"/>
              </p:cNvSpPr>
              <p:nvPr/>
            </p:nvSpPr>
            <p:spPr bwMode="auto">
              <a:xfrm>
                <a:off x="3151" y="2413"/>
                <a:ext cx="77"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Board</a:t>
                </a:r>
              </a:p>
            </p:txBody>
          </p:sp>
          <p:sp>
            <p:nvSpPr>
              <p:cNvPr id="262" name="Rectangle 133">
                <a:extLst>
                  <a:ext uri="{FF2B5EF4-FFF2-40B4-BE49-F238E27FC236}">
                    <a16:creationId xmlns:a16="http://schemas.microsoft.com/office/drawing/2014/main" id="{991D7B4E-BE27-0FAD-02E2-E725AB263805}"/>
                  </a:ext>
                </a:extLst>
              </p:cNvPr>
              <p:cNvSpPr>
                <a:spLocks noChangeArrowheads="1"/>
              </p:cNvSpPr>
              <p:nvPr/>
            </p:nvSpPr>
            <p:spPr bwMode="auto">
              <a:xfrm>
                <a:off x="3153" y="2426"/>
                <a:ext cx="73"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Yield</a:t>
                </a:r>
              </a:p>
            </p:txBody>
          </p:sp>
          <p:sp>
            <p:nvSpPr>
              <p:cNvPr id="263" name="Rectangle 134">
                <a:extLst>
                  <a:ext uri="{FF2B5EF4-FFF2-40B4-BE49-F238E27FC236}">
                    <a16:creationId xmlns:a16="http://schemas.microsoft.com/office/drawing/2014/main" id="{5E9D91C3-2F96-5468-B508-B53C319DE584}"/>
                  </a:ext>
                </a:extLst>
              </p:cNvPr>
              <p:cNvSpPr>
                <a:spLocks noChangeArrowheads="1"/>
              </p:cNvSpPr>
              <p:nvPr/>
            </p:nvSpPr>
            <p:spPr bwMode="auto">
              <a:xfrm>
                <a:off x="3154" y="2439"/>
                <a:ext cx="71"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Too </a:t>
                </a:r>
              </a:p>
            </p:txBody>
          </p:sp>
          <p:sp>
            <p:nvSpPr>
              <p:cNvPr id="264" name="Rectangle 135">
                <a:extLst>
                  <a:ext uri="{FF2B5EF4-FFF2-40B4-BE49-F238E27FC236}">
                    <a16:creationId xmlns:a16="http://schemas.microsoft.com/office/drawing/2014/main" id="{5FAE43D0-2FAA-0DB7-DEFD-83C4AD29C6C0}"/>
                  </a:ext>
                </a:extLst>
              </p:cNvPr>
              <p:cNvSpPr>
                <a:spLocks noChangeArrowheads="1"/>
              </p:cNvSpPr>
              <p:nvPr/>
            </p:nvSpPr>
            <p:spPr bwMode="auto">
              <a:xfrm>
                <a:off x="3155" y="2453"/>
                <a:ext cx="70"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Low</a:t>
                </a:r>
              </a:p>
            </p:txBody>
          </p:sp>
        </p:grpSp>
      </p:grpSp>
      <p:cxnSp>
        <p:nvCxnSpPr>
          <p:cNvPr id="268" name="Straight Arrow Connector 267">
            <a:extLst>
              <a:ext uri="{FF2B5EF4-FFF2-40B4-BE49-F238E27FC236}">
                <a16:creationId xmlns:a16="http://schemas.microsoft.com/office/drawing/2014/main" id="{6B9BB632-DB52-41D2-087F-68FAC51CDDFE}"/>
              </a:ext>
            </a:extLst>
          </p:cNvPr>
          <p:cNvCxnSpPr>
            <a:cxnSpLocks/>
            <a:stCxn id="136" idx="2"/>
            <a:endCxn id="156" idx="0"/>
          </p:cNvCxnSpPr>
          <p:nvPr/>
        </p:nvCxnSpPr>
        <p:spPr>
          <a:xfrm flipH="1">
            <a:off x="2159150" y="2456814"/>
            <a:ext cx="2" cy="18976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9AD403A0-F182-668A-87A0-DC7BA2627A2D}"/>
              </a:ext>
            </a:extLst>
          </p:cNvPr>
          <p:cNvCxnSpPr>
            <a:cxnSpLocks/>
            <a:stCxn id="155" idx="2"/>
            <a:endCxn id="149" idx="0"/>
          </p:cNvCxnSpPr>
          <p:nvPr/>
        </p:nvCxnSpPr>
        <p:spPr>
          <a:xfrm>
            <a:off x="2159149" y="3446698"/>
            <a:ext cx="3" cy="13381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AEDE5355-6538-4E8D-A6BF-9775169ED326}"/>
              </a:ext>
            </a:extLst>
          </p:cNvPr>
          <p:cNvCxnSpPr>
            <a:cxnSpLocks/>
            <a:stCxn id="149" idx="2"/>
            <a:endCxn id="151" idx="0"/>
          </p:cNvCxnSpPr>
          <p:nvPr/>
        </p:nvCxnSpPr>
        <p:spPr>
          <a:xfrm>
            <a:off x="2159152" y="4114567"/>
            <a:ext cx="0" cy="227721"/>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9CC935D9-2DE9-6862-B8CF-5A3F6C8AA888}"/>
              </a:ext>
            </a:extLst>
          </p:cNvPr>
          <p:cNvCxnSpPr>
            <a:cxnSpLocks/>
            <a:stCxn id="151" idx="2"/>
          </p:cNvCxnSpPr>
          <p:nvPr/>
        </p:nvCxnSpPr>
        <p:spPr>
          <a:xfrm flipH="1">
            <a:off x="2153566" y="4876347"/>
            <a:ext cx="5586" cy="299562"/>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Connector: Elbow 281">
            <a:extLst>
              <a:ext uri="{FF2B5EF4-FFF2-40B4-BE49-F238E27FC236}">
                <a16:creationId xmlns:a16="http://schemas.microsoft.com/office/drawing/2014/main" id="{77749730-0B1C-9031-EF21-F5A59A594DB6}"/>
              </a:ext>
            </a:extLst>
          </p:cNvPr>
          <p:cNvCxnSpPr>
            <a:cxnSpLocks/>
            <a:stCxn id="150" idx="3"/>
            <a:endCxn id="140" idx="1"/>
          </p:cNvCxnSpPr>
          <p:nvPr/>
        </p:nvCxnSpPr>
        <p:spPr>
          <a:xfrm flipV="1">
            <a:off x="3341855" y="2407339"/>
            <a:ext cx="1265039" cy="3478164"/>
          </a:xfrm>
          <a:prstGeom prst="bentConnector3">
            <a:avLst>
              <a:gd name="adj1" fmla="val 50000"/>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4" name="Straight Arrow Connector 283">
            <a:extLst>
              <a:ext uri="{FF2B5EF4-FFF2-40B4-BE49-F238E27FC236}">
                <a16:creationId xmlns:a16="http://schemas.microsoft.com/office/drawing/2014/main" id="{4E9F2288-A83E-200C-E136-738AF6DFB559}"/>
              </a:ext>
            </a:extLst>
          </p:cNvPr>
          <p:cNvCxnSpPr>
            <a:cxnSpLocks/>
            <a:stCxn id="140" idx="2"/>
            <a:endCxn id="148" idx="0"/>
          </p:cNvCxnSpPr>
          <p:nvPr/>
        </p:nvCxnSpPr>
        <p:spPr>
          <a:xfrm flipH="1">
            <a:off x="5788629" y="2843126"/>
            <a:ext cx="969" cy="43743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8" name="Connector: Elbow 287">
            <a:extLst>
              <a:ext uri="{FF2B5EF4-FFF2-40B4-BE49-F238E27FC236}">
                <a16:creationId xmlns:a16="http://schemas.microsoft.com/office/drawing/2014/main" id="{0D997DC1-7C29-9D3D-6324-709A231E8A52}"/>
              </a:ext>
            </a:extLst>
          </p:cNvPr>
          <p:cNvCxnSpPr>
            <a:cxnSpLocks/>
            <a:stCxn id="148" idx="3"/>
            <a:endCxn id="196" idx="1"/>
          </p:cNvCxnSpPr>
          <p:nvPr/>
        </p:nvCxnSpPr>
        <p:spPr>
          <a:xfrm flipV="1">
            <a:off x="6972301" y="2407339"/>
            <a:ext cx="800094" cy="1140255"/>
          </a:xfrm>
          <a:prstGeom prst="bentConnector3">
            <a:avLst>
              <a:gd name="adj1" fmla="val 50000"/>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4B8BEDA4-619E-9816-7B8F-06E838788BE3}"/>
              </a:ext>
            </a:extLst>
          </p:cNvPr>
          <p:cNvCxnSpPr>
            <a:cxnSpLocks/>
            <a:stCxn id="196" idx="2"/>
            <a:endCxn id="197" idx="0"/>
          </p:cNvCxnSpPr>
          <p:nvPr/>
        </p:nvCxnSpPr>
        <p:spPr>
          <a:xfrm flipH="1">
            <a:off x="8955097" y="2843126"/>
            <a:ext cx="2" cy="36055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Straight Arrow Connector 294">
            <a:extLst>
              <a:ext uri="{FF2B5EF4-FFF2-40B4-BE49-F238E27FC236}">
                <a16:creationId xmlns:a16="http://schemas.microsoft.com/office/drawing/2014/main" id="{11F742DA-9891-39AF-2B77-779D1949A2EF}"/>
              </a:ext>
            </a:extLst>
          </p:cNvPr>
          <p:cNvCxnSpPr>
            <a:cxnSpLocks/>
            <a:stCxn id="197" idx="2"/>
            <a:endCxn id="135" idx="0"/>
          </p:cNvCxnSpPr>
          <p:nvPr/>
        </p:nvCxnSpPr>
        <p:spPr>
          <a:xfrm>
            <a:off x="8955097" y="3867870"/>
            <a:ext cx="4414" cy="378179"/>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Connector: Elbow 298">
            <a:extLst>
              <a:ext uri="{FF2B5EF4-FFF2-40B4-BE49-F238E27FC236}">
                <a16:creationId xmlns:a16="http://schemas.microsoft.com/office/drawing/2014/main" id="{03E46BEF-985E-5E6B-8AAD-772987BB5582}"/>
              </a:ext>
            </a:extLst>
          </p:cNvPr>
          <p:cNvCxnSpPr>
            <a:cxnSpLocks/>
            <a:stCxn id="135" idx="1"/>
            <a:endCxn id="148" idx="3"/>
          </p:cNvCxnSpPr>
          <p:nvPr/>
        </p:nvCxnSpPr>
        <p:spPr>
          <a:xfrm rot="10800000">
            <a:off x="6972301" y="3547594"/>
            <a:ext cx="1152246" cy="1234548"/>
          </a:xfrm>
          <a:prstGeom prst="bentConnector3">
            <a:avLst>
              <a:gd name="adj1" fmla="val 88356"/>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D351DF8F-7803-88C1-64A0-3E9A9C8EC3DA}"/>
              </a:ext>
            </a:extLst>
          </p:cNvPr>
          <p:cNvCxnSpPr>
            <a:cxnSpLocks/>
            <a:stCxn id="135" idx="2"/>
            <a:endCxn id="208" idx="0"/>
          </p:cNvCxnSpPr>
          <p:nvPr/>
        </p:nvCxnSpPr>
        <p:spPr>
          <a:xfrm flipH="1">
            <a:off x="8956068" y="5318234"/>
            <a:ext cx="3443" cy="300917"/>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sp>
        <p:nvSpPr>
          <p:cNvPr id="6" name="Slide Number Placeholder 16">
            <a:extLst>
              <a:ext uri="{FF2B5EF4-FFF2-40B4-BE49-F238E27FC236}">
                <a16:creationId xmlns:a16="http://schemas.microsoft.com/office/drawing/2014/main" id="{37FD2AB5-6835-DB59-1D41-A9D510B3501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87</a:t>
            </a:fld>
            <a:endParaRPr lang="en-US"/>
          </a:p>
        </p:txBody>
      </p:sp>
    </p:spTree>
    <p:extLst>
      <p:ext uri="{BB962C8B-B14F-4D97-AF65-F5344CB8AC3E}">
        <p14:creationId xmlns:p14="http://schemas.microsoft.com/office/powerpoint/2010/main" val="33127334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Check Sheet</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Tool for collecting and organizing facts and data</a:t>
            </a:r>
          </a:p>
          <a:p>
            <a:r>
              <a:rPr lang="en-US" sz="1600" dirty="0"/>
              <a:t>When you need to gather data based on sample observations in order to begin to detect patterns. This is the logical point to start in most problem solving cycles</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Histogram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Data collection and presentation tool for frequency of occurrence</a:t>
            </a:r>
          </a:p>
          <a:p>
            <a:r>
              <a:rPr lang="en-US" sz="1600" dirty="0"/>
              <a:t>When you need to discover and distribute data by bar graphing the number of units in each category</a:t>
            </a:r>
          </a:p>
        </p:txBody>
      </p:sp>
      <p:pic>
        <p:nvPicPr>
          <p:cNvPr id="10" name="Picture 3" descr="checksheet">
            <a:extLst>
              <a:ext uri="{FF2B5EF4-FFF2-40B4-BE49-F238E27FC236}">
                <a16:creationId xmlns:a16="http://schemas.microsoft.com/office/drawing/2014/main" id="{37EBD127-339E-F6ED-B481-ED1365EC82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6531" y="3827463"/>
            <a:ext cx="3924300" cy="199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7">
            <a:extLst>
              <a:ext uri="{FF2B5EF4-FFF2-40B4-BE49-F238E27FC236}">
                <a16:creationId xmlns:a16="http://schemas.microsoft.com/office/drawing/2014/main" id="{48B9FE26-910C-E34C-844C-EDAD5962CBDF}"/>
              </a:ext>
            </a:extLst>
          </p:cNvPr>
          <p:cNvSpPr>
            <a:spLocks noChangeArrowheads="1"/>
          </p:cNvSpPr>
          <p:nvPr/>
        </p:nvSpPr>
        <p:spPr bwMode="auto">
          <a:xfrm>
            <a:off x="6628959" y="3681412"/>
            <a:ext cx="3932238" cy="21447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12" name="Group 12">
            <a:extLst>
              <a:ext uri="{FF2B5EF4-FFF2-40B4-BE49-F238E27FC236}">
                <a16:creationId xmlns:a16="http://schemas.microsoft.com/office/drawing/2014/main" id="{1854A72B-9E6E-D7FF-C933-18C80975F216}"/>
              </a:ext>
            </a:extLst>
          </p:cNvPr>
          <p:cNvGrpSpPr>
            <a:grpSpLocks/>
          </p:cNvGrpSpPr>
          <p:nvPr/>
        </p:nvGrpSpPr>
        <p:grpSpPr bwMode="auto">
          <a:xfrm>
            <a:off x="7311584" y="3959225"/>
            <a:ext cx="2747963" cy="1420812"/>
            <a:chOff x="3444" y="1481"/>
            <a:chExt cx="1731" cy="895"/>
          </a:xfrm>
        </p:grpSpPr>
        <p:sp>
          <p:nvSpPr>
            <p:cNvPr id="13" name="Rectangle 13">
              <a:extLst>
                <a:ext uri="{FF2B5EF4-FFF2-40B4-BE49-F238E27FC236}">
                  <a16:creationId xmlns:a16="http://schemas.microsoft.com/office/drawing/2014/main" id="{2FFF7D8E-AFEB-2D16-46BD-FEF1CDD4DDE3}"/>
                </a:ext>
              </a:extLst>
            </p:cNvPr>
            <p:cNvSpPr>
              <a:spLocks noChangeArrowheads="1"/>
            </p:cNvSpPr>
            <p:nvPr/>
          </p:nvSpPr>
          <p:spPr bwMode="auto">
            <a:xfrm>
              <a:off x="3444" y="1481"/>
              <a:ext cx="1557" cy="82"/>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Rectangle 14">
              <a:extLst>
                <a:ext uri="{FF2B5EF4-FFF2-40B4-BE49-F238E27FC236}">
                  <a16:creationId xmlns:a16="http://schemas.microsoft.com/office/drawing/2014/main" id="{12BB380C-891E-D39E-E158-B917A37DDAD2}"/>
                </a:ext>
              </a:extLst>
            </p:cNvPr>
            <p:cNvSpPr>
              <a:spLocks noChangeArrowheads="1"/>
            </p:cNvSpPr>
            <p:nvPr/>
          </p:nvSpPr>
          <p:spPr bwMode="auto">
            <a:xfrm>
              <a:off x="3444" y="1559"/>
              <a:ext cx="1728" cy="91"/>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dirty="0"/>
            </a:p>
          </p:txBody>
        </p:sp>
        <p:sp>
          <p:nvSpPr>
            <p:cNvPr id="15" name="Rectangle 15">
              <a:extLst>
                <a:ext uri="{FF2B5EF4-FFF2-40B4-BE49-F238E27FC236}">
                  <a16:creationId xmlns:a16="http://schemas.microsoft.com/office/drawing/2014/main" id="{4B29C667-1C5C-ECEC-D35F-C978F3316D19}"/>
                </a:ext>
              </a:extLst>
            </p:cNvPr>
            <p:cNvSpPr>
              <a:spLocks noChangeArrowheads="1"/>
            </p:cNvSpPr>
            <p:nvPr/>
          </p:nvSpPr>
          <p:spPr bwMode="auto">
            <a:xfrm>
              <a:off x="3444" y="1655"/>
              <a:ext cx="1215" cy="94"/>
            </a:xfrm>
            <a:prstGeom prst="rect">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Rectangle 16">
              <a:extLst>
                <a:ext uri="{FF2B5EF4-FFF2-40B4-BE49-F238E27FC236}">
                  <a16:creationId xmlns:a16="http://schemas.microsoft.com/office/drawing/2014/main" id="{6D0E0D1E-ED48-5D43-0329-DEC9ECD9BAAC}"/>
                </a:ext>
              </a:extLst>
            </p:cNvPr>
            <p:cNvSpPr>
              <a:spLocks noChangeArrowheads="1"/>
            </p:cNvSpPr>
            <p:nvPr/>
          </p:nvSpPr>
          <p:spPr bwMode="auto">
            <a:xfrm>
              <a:off x="3444" y="1739"/>
              <a:ext cx="1728" cy="91"/>
            </a:xfrm>
            <a:prstGeom prst="rect">
              <a:avLst/>
            </a:prstGeom>
            <a:solidFill>
              <a:schemeClr val="tx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Rectangle 17">
              <a:extLst>
                <a:ext uri="{FF2B5EF4-FFF2-40B4-BE49-F238E27FC236}">
                  <a16:creationId xmlns:a16="http://schemas.microsoft.com/office/drawing/2014/main" id="{84E166BE-45F8-2A16-C114-D9FF812E7908}"/>
                </a:ext>
              </a:extLst>
            </p:cNvPr>
            <p:cNvSpPr>
              <a:spLocks noChangeArrowheads="1"/>
            </p:cNvSpPr>
            <p:nvPr/>
          </p:nvSpPr>
          <p:spPr bwMode="auto">
            <a:xfrm>
              <a:off x="3444" y="1829"/>
              <a:ext cx="1614" cy="103"/>
            </a:xfrm>
            <a:prstGeom prst="rect">
              <a:avLst/>
            </a:prstGeom>
            <a:solidFill>
              <a:schemeClr val="accent5"/>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Rectangle 18">
              <a:extLst>
                <a:ext uri="{FF2B5EF4-FFF2-40B4-BE49-F238E27FC236}">
                  <a16:creationId xmlns:a16="http://schemas.microsoft.com/office/drawing/2014/main" id="{502EB005-091D-5C1E-02F8-AE94A1AB565B}"/>
                </a:ext>
              </a:extLst>
            </p:cNvPr>
            <p:cNvSpPr>
              <a:spLocks noChangeArrowheads="1"/>
            </p:cNvSpPr>
            <p:nvPr/>
          </p:nvSpPr>
          <p:spPr bwMode="auto">
            <a:xfrm>
              <a:off x="3444" y="1928"/>
              <a:ext cx="777" cy="91"/>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Rectangle 19">
              <a:extLst>
                <a:ext uri="{FF2B5EF4-FFF2-40B4-BE49-F238E27FC236}">
                  <a16:creationId xmlns:a16="http://schemas.microsoft.com/office/drawing/2014/main" id="{B638AD00-9BBB-590D-4447-02AA6BB656ED}"/>
                </a:ext>
              </a:extLst>
            </p:cNvPr>
            <p:cNvSpPr>
              <a:spLocks noChangeArrowheads="1"/>
            </p:cNvSpPr>
            <p:nvPr/>
          </p:nvSpPr>
          <p:spPr bwMode="auto">
            <a:xfrm>
              <a:off x="3447" y="2015"/>
              <a:ext cx="1728" cy="91"/>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Rectangle 20">
              <a:extLst>
                <a:ext uri="{FF2B5EF4-FFF2-40B4-BE49-F238E27FC236}">
                  <a16:creationId xmlns:a16="http://schemas.microsoft.com/office/drawing/2014/main" id="{0470A212-4199-AC25-710B-670BD0E2C8E3}"/>
                </a:ext>
              </a:extLst>
            </p:cNvPr>
            <p:cNvSpPr>
              <a:spLocks noChangeArrowheads="1"/>
            </p:cNvSpPr>
            <p:nvPr/>
          </p:nvSpPr>
          <p:spPr bwMode="auto">
            <a:xfrm>
              <a:off x="3447" y="2105"/>
              <a:ext cx="1101" cy="91"/>
            </a:xfrm>
            <a:prstGeom prst="rect">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Rectangle 21">
              <a:extLst>
                <a:ext uri="{FF2B5EF4-FFF2-40B4-BE49-F238E27FC236}">
                  <a16:creationId xmlns:a16="http://schemas.microsoft.com/office/drawing/2014/main" id="{FB6C86EC-E257-0391-8A0E-04789F4A4DA9}"/>
                </a:ext>
              </a:extLst>
            </p:cNvPr>
            <p:cNvSpPr>
              <a:spLocks noChangeArrowheads="1"/>
            </p:cNvSpPr>
            <p:nvPr/>
          </p:nvSpPr>
          <p:spPr bwMode="auto">
            <a:xfrm>
              <a:off x="3447" y="2195"/>
              <a:ext cx="1359" cy="91"/>
            </a:xfrm>
            <a:prstGeom prst="rect">
              <a:avLst/>
            </a:prstGeom>
            <a:solidFill>
              <a:schemeClr val="tx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sz="1200">
                <a:solidFill>
                  <a:srgbClr val="000066"/>
                </a:solidFill>
              </a:endParaRPr>
            </a:p>
          </p:txBody>
        </p:sp>
        <p:sp>
          <p:nvSpPr>
            <p:cNvPr id="22" name="Rectangle 22">
              <a:extLst>
                <a:ext uri="{FF2B5EF4-FFF2-40B4-BE49-F238E27FC236}">
                  <a16:creationId xmlns:a16="http://schemas.microsoft.com/office/drawing/2014/main" id="{3BF7FB50-C5CE-F8C5-1740-3DCD9C4E0937}"/>
                </a:ext>
              </a:extLst>
            </p:cNvPr>
            <p:cNvSpPr>
              <a:spLocks noChangeArrowheads="1"/>
            </p:cNvSpPr>
            <p:nvPr/>
          </p:nvSpPr>
          <p:spPr bwMode="auto">
            <a:xfrm>
              <a:off x="3447" y="2285"/>
              <a:ext cx="1728" cy="91"/>
            </a:xfrm>
            <a:prstGeom prst="rect">
              <a:avLst/>
            </a:prstGeom>
            <a:solidFill>
              <a:schemeClr val="accent5"/>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24" name="Slide Number Placeholder 16">
            <a:extLst>
              <a:ext uri="{FF2B5EF4-FFF2-40B4-BE49-F238E27FC236}">
                <a16:creationId xmlns:a16="http://schemas.microsoft.com/office/drawing/2014/main" id="{FA81A2FF-3A7E-BE17-027E-3A88232BF7E7}"/>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88</a:t>
            </a:fld>
            <a:endParaRPr lang="en-US" sz="1000" dirty="0"/>
          </a:p>
        </p:txBody>
      </p:sp>
    </p:spTree>
    <p:extLst>
      <p:ext uri="{BB962C8B-B14F-4D97-AF65-F5344CB8AC3E}">
        <p14:creationId xmlns:p14="http://schemas.microsoft.com/office/powerpoint/2010/main" val="30353097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Pareto Diagram</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Separates vital few from trivial many; organizes data from highest value to lowest</a:t>
            </a:r>
          </a:p>
          <a:p>
            <a:r>
              <a:rPr lang="en-US" sz="1600" dirty="0"/>
              <a:t>When you need to display the relative importance of all conditions in order to: choose the starting point for problem solving, monitor success, and identify the basic cause of a problem</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Scatter Diagram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X-y graph to determine the relationship between variables</a:t>
            </a:r>
          </a:p>
          <a:p>
            <a:r>
              <a:rPr lang="en-US" sz="1600" dirty="0"/>
              <a:t>When you need to display what happens to one variable when another variable changes in order to test a theory that the two variables are related</a:t>
            </a:r>
          </a:p>
        </p:txBody>
      </p:sp>
      <p:grpSp>
        <p:nvGrpSpPr>
          <p:cNvPr id="27" name="Group 26">
            <a:extLst>
              <a:ext uri="{FF2B5EF4-FFF2-40B4-BE49-F238E27FC236}">
                <a16:creationId xmlns:a16="http://schemas.microsoft.com/office/drawing/2014/main" id="{BDBDDA97-85D3-8C42-B60B-FD71E5DD9ADE}"/>
              </a:ext>
            </a:extLst>
          </p:cNvPr>
          <p:cNvGrpSpPr/>
          <p:nvPr/>
        </p:nvGrpSpPr>
        <p:grpSpPr>
          <a:xfrm>
            <a:off x="1752600" y="4013200"/>
            <a:ext cx="3267075" cy="1892300"/>
            <a:chOff x="458788" y="2073275"/>
            <a:chExt cx="3976687" cy="2117725"/>
          </a:xfrm>
        </p:grpSpPr>
        <p:sp>
          <p:nvSpPr>
            <p:cNvPr id="23" name="Rectangle 4">
              <a:extLst>
                <a:ext uri="{FF2B5EF4-FFF2-40B4-BE49-F238E27FC236}">
                  <a16:creationId xmlns:a16="http://schemas.microsoft.com/office/drawing/2014/main" id="{078DB7CE-F58E-C98B-80C7-C7E4605736BF}"/>
                </a:ext>
              </a:extLst>
            </p:cNvPr>
            <p:cNvSpPr>
              <a:spLocks noChangeArrowheads="1"/>
            </p:cNvSpPr>
            <p:nvPr/>
          </p:nvSpPr>
          <p:spPr bwMode="auto">
            <a:xfrm>
              <a:off x="458788" y="2073275"/>
              <a:ext cx="3976687" cy="21177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 name="Rectangle 11">
              <a:extLst>
                <a:ext uri="{FF2B5EF4-FFF2-40B4-BE49-F238E27FC236}">
                  <a16:creationId xmlns:a16="http://schemas.microsoft.com/office/drawing/2014/main" id="{CE298815-C45F-7266-DB91-2EA18F49FF90}"/>
                </a:ext>
              </a:extLst>
            </p:cNvPr>
            <p:cNvSpPr>
              <a:spLocks noChangeArrowheads="1"/>
            </p:cNvSpPr>
            <p:nvPr/>
          </p:nvSpPr>
          <p:spPr bwMode="auto">
            <a:xfrm>
              <a:off x="1841500" y="2411413"/>
              <a:ext cx="382588" cy="1212850"/>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 name="Rectangle 12">
              <a:extLst>
                <a:ext uri="{FF2B5EF4-FFF2-40B4-BE49-F238E27FC236}">
                  <a16:creationId xmlns:a16="http://schemas.microsoft.com/office/drawing/2014/main" id="{0097018C-F8BB-1DC0-05AD-40C4B2D9F0B9}"/>
                </a:ext>
              </a:extLst>
            </p:cNvPr>
            <p:cNvSpPr>
              <a:spLocks noChangeArrowheads="1"/>
            </p:cNvSpPr>
            <p:nvPr/>
          </p:nvSpPr>
          <p:spPr bwMode="auto">
            <a:xfrm>
              <a:off x="2671763" y="3162300"/>
              <a:ext cx="388937" cy="463550"/>
            </a:xfrm>
            <a:prstGeom prst="rect">
              <a:avLst/>
            </a:prstGeom>
            <a:solidFill>
              <a:schemeClr val="accent4"/>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 name="Rectangle 13">
              <a:extLst>
                <a:ext uri="{FF2B5EF4-FFF2-40B4-BE49-F238E27FC236}">
                  <a16:creationId xmlns:a16="http://schemas.microsoft.com/office/drawing/2014/main" id="{2B4EDB92-AF6B-FB0F-FF97-1DABD59BE8CE}"/>
                </a:ext>
              </a:extLst>
            </p:cNvPr>
            <p:cNvSpPr>
              <a:spLocks noChangeArrowheads="1"/>
            </p:cNvSpPr>
            <p:nvPr/>
          </p:nvSpPr>
          <p:spPr bwMode="auto">
            <a:xfrm>
              <a:off x="2260600" y="2862263"/>
              <a:ext cx="388938" cy="768350"/>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49" name="Group 48">
            <a:extLst>
              <a:ext uri="{FF2B5EF4-FFF2-40B4-BE49-F238E27FC236}">
                <a16:creationId xmlns:a16="http://schemas.microsoft.com/office/drawing/2014/main" id="{C0897401-56A2-8AE9-E127-443D7C203029}"/>
              </a:ext>
            </a:extLst>
          </p:cNvPr>
          <p:cNvGrpSpPr>
            <a:grpSpLocks noChangeAspect="1"/>
          </p:cNvGrpSpPr>
          <p:nvPr/>
        </p:nvGrpSpPr>
        <p:grpSpPr>
          <a:xfrm>
            <a:off x="6859887" y="3999124"/>
            <a:ext cx="3470381" cy="1892808"/>
            <a:chOff x="4784725" y="2073275"/>
            <a:chExt cx="3932238" cy="2144713"/>
          </a:xfrm>
        </p:grpSpPr>
        <p:sp>
          <p:nvSpPr>
            <p:cNvPr id="28" name="Rectangle 6">
              <a:extLst>
                <a:ext uri="{FF2B5EF4-FFF2-40B4-BE49-F238E27FC236}">
                  <a16:creationId xmlns:a16="http://schemas.microsoft.com/office/drawing/2014/main" id="{4F8E94AB-3723-33B0-7DBB-192217B916B0}"/>
                </a:ext>
              </a:extLst>
            </p:cNvPr>
            <p:cNvSpPr>
              <a:spLocks noChangeArrowheads="1"/>
            </p:cNvSpPr>
            <p:nvPr/>
          </p:nvSpPr>
          <p:spPr bwMode="auto">
            <a:xfrm>
              <a:off x="4784725" y="2073275"/>
              <a:ext cx="3932238" cy="21447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29" name="Group 14">
              <a:extLst>
                <a:ext uri="{FF2B5EF4-FFF2-40B4-BE49-F238E27FC236}">
                  <a16:creationId xmlns:a16="http://schemas.microsoft.com/office/drawing/2014/main" id="{644C3128-B507-E19A-9D4E-979A5F065E48}"/>
                </a:ext>
              </a:extLst>
            </p:cNvPr>
            <p:cNvGrpSpPr>
              <a:grpSpLocks/>
            </p:cNvGrpSpPr>
            <p:nvPr/>
          </p:nvGrpSpPr>
          <p:grpSpPr bwMode="auto">
            <a:xfrm>
              <a:off x="5839171" y="2457452"/>
              <a:ext cx="1544292" cy="1519021"/>
              <a:chOff x="4145" y="3504"/>
              <a:chExt cx="847" cy="769"/>
            </a:xfrm>
          </p:grpSpPr>
          <p:grpSp>
            <p:nvGrpSpPr>
              <p:cNvPr id="30" name="Group 15">
                <a:extLst>
                  <a:ext uri="{FF2B5EF4-FFF2-40B4-BE49-F238E27FC236}">
                    <a16:creationId xmlns:a16="http://schemas.microsoft.com/office/drawing/2014/main" id="{1BA4E42A-E2FC-4565-0620-B051698FB52B}"/>
                  </a:ext>
                </a:extLst>
              </p:cNvPr>
              <p:cNvGrpSpPr>
                <a:grpSpLocks/>
              </p:cNvGrpSpPr>
              <p:nvPr/>
            </p:nvGrpSpPr>
            <p:grpSpPr bwMode="auto">
              <a:xfrm>
                <a:off x="4416" y="3504"/>
                <a:ext cx="576" cy="576"/>
                <a:chOff x="4416" y="3504"/>
                <a:chExt cx="576" cy="576"/>
              </a:xfrm>
            </p:grpSpPr>
            <p:grpSp>
              <p:nvGrpSpPr>
                <p:cNvPr id="33" name="Group 16">
                  <a:extLst>
                    <a:ext uri="{FF2B5EF4-FFF2-40B4-BE49-F238E27FC236}">
                      <a16:creationId xmlns:a16="http://schemas.microsoft.com/office/drawing/2014/main" id="{EDF39C69-5962-A55D-B592-A47E8C12E28A}"/>
                    </a:ext>
                  </a:extLst>
                </p:cNvPr>
                <p:cNvGrpSpPr>
                  <a:grpSpLocks/>
                </p:cNvGrpSpPr>
                <p:nvPr/>
              </p:nvGrpSpPr>
              <p:grpSpPr bwMode="auto">
                <a:xfrm>
                  <a:off x="4416" y="3504"/>
                  <a:ext cx="576" cy="576"/>
                  <a:chOff x="4416" y="3504"/>
                  <a:chExt cx="576" cy="576"/>
                </a:xfrm>
              </p:grpSpPr>
              <p:sp>
                <p:nvSpPr>
                  <p:cNvPr id="47" name="Line 17">
                    <a:extLst>
                      <a:ext uri="{FF2B5EF4-FFF2-40B4-BE49-F238E27FC236}">
                        <a16:creationId xmlns:a16="http://schemas.microsoft.com/office/drawing/2014/main" id="{407CF71D-2851-34E5-F4E1-F3BB99F81559}"/>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8">
                    <a:extLst>
                      <a:ext uri="{FF2B5EF4-FFF2-40B4-BE49-F238E27FC236}">
                        <a16:creationId xmlns:a16="http://schemas.microsoft.com/office/drawing/2014/main" id="{E865109D-DF43-4B61-9FF3-971B08499094}"/>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 name="Oval 19">
                  <a:extLst>
                    <a:ext uri="{FF2B5EF4-FFF2-40B4-BE49-F238E27FC236}">
                      <a16:creationId xmlns:a16="http://schemas.microsoft.com/office/drawing/2014/main" id="{8BDF8E62-0EFC-2470-26E6-EC0AF0C3181F}"/>
                    </a:ext>
                  </a:extLst>
                </p:cNvPr>
                <p:cNvSpPr>
                  <a:spLocks noChangeArrowheads="1"/>
                </p:cNvSpPr>
                <p:nvPr/>
              </p:nvSpPr>
              <p:spPr bwMode="auto">
                <a:xfrm flipH="1" flipV="1">
                  <a:off x="4463" y="3793"/>
                  <a:ext cx="48"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 name="Oval 20">
                  <a:extLst>
                    <a:ext uri="{FF2B5EF4-FFF2-40B4-BE49-F238E27FC236}">
                      <a16:creationId xmlns:a16="http://schemas.microsoft.com/office/drawing/2014/main" id="{D55BAB04-BCC3-16C0-300D-4696738E05B5}"/>
                    </a:ext>
                  </a:extLst>
                </p:cNvPr>
                <p:cNvSpPr>
                  <a:spLocks noChangeArrowheads="1"/>
                </p:cNvSpPr>
                <p:nvPr/>
              </p:nvSpPr>
              <p:spPr bwMode="auto">
                <a:xfrm>
                  <a:off x="4511" y="3648"/>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 name="Oval 21">
                  <a:extLst>
                    <a:ext uri="{FF2B5EF4-FFF2-40B4-BE49-F238E27FC236}">
                      <a16:creationId xmlns:a16="http://schemas.microsoft.com/office/drawing/2014/main" id="{4B5FB3FC-FBF9-1A44-8555-9FB43C8E08EB}"/>
                    </a:ext>
                  </a:extLst>
                </p:cNvPr>
                <p:cNvSpPr>
                  <a:spLocks noChangeArrowheads="1"/>
                </p:cNvSpPr>
                <p:nvPr/>
              </p:nvSpPr>
              <p:spPr bwMode="auto">
                <a:xfrm>
                  <a:off x="4560" y="3936"/>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Oval 22">
                  <a:extLst>
                    <a:ext uri="{FF2B5EF4-FFF2-40B4-BE49-F238E27FC236}">
                      <a16:creationId xmlns:a16="http://schemas.microsoft.com/office/drawing/2014/main" id="{B528761E-F1C1-8C2D-601D-F088DEE710E2}"/>
                    </a:ext>
                  </a:extLst>
                </p:cNvPr>
                <p:cNvSpPr>
                  <a:spLocks noChangeArrowheads="1"/>
                </p:cNvSpPr>
                <p:nvPr/>
              </p:nvSpPr>
              <p:spPr bwMode="auto">
                <a:xfrm>
                  <a:off x="4511" y="3744"/>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 name="Oval 23">
                  <a:extLst>
                    <a:ext uri="{FF2B5EF4-FFF2-40B4-BE49-F238E27FC236}">
                      <a16:creationId xmlns:a16="http://schemas.microsoft.com/office/drawing/2014/main" id="{1B229EE1-FCD0-2351-9289-15FB2E3F0B3B}"/>
                    </a:ext>
                  </a:extLst>
                </p:cNvPr>
                <p:cNvSpPr>
                  <a:spLocks noChangeArrowheads="1"/>
                </p:cNvSpPr>
                <p:nvPr/>
              </p:nvSpPr>
              <p:spPr bwMode="auto">
                <a:xfrm>
                  <a:off x="4511" y="3840"/>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Oval 24">
                  <a:extLst>
                    <a:ext uri="{FF2B5EF4-FFF2-40B4-BE49-F238E27FC236}">
                      <a16:creationId xmlns:a16="http://schemas.microsoft.com/office/drawing/2014/main" id="{80A4DC88-E1AA-2F0E-8D1D-D56D6AB49B94}"/>
                    </a:ext>
                  </a:extLst>
                </p:cNvPr>
                <p:cNvSpPr>
                  <a:spLocks noChangeArrowheads="1"/>
                </p:cNvSpPr>
                <p:nvPr/>
              </p:nvSpPr>
              <p:spPr bwMode="auto">
                <a:xfrm>
                  <a:off x="4608" y="3793"/>
                  <a:ext cx="48"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 name="Oval 25">
                  <a:extLst>
                    <a:ext uri="{FF2B5EF4-FFF2-40B4-BE49-F238E27FC236}">
                      <a16:creationId xmlns:a16="http://schemas.microsoft.com/office/drawing/2014/main" id="{0AF603BE-DF8B-91D1-745B-E43A66DEB361}"/>
                    </a:ext>
                  </a:extLst>
                </p:cNvPr>
                <p:cNvSpPr>
                  <a:spLocks noChangeArrowheads="1"/>
                </p:cNvSpPr>
                <p:nvPr/>
              </p:nvSpPr>
              <p:spPr bwMode="auto">
                <a:xfrm>
                  <a:off x="4608"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 name="Oval 26">
                  <a:extLst>
                    <a:ext uri="{FF2B5EF4-FFF2-40B4-BE49-F238E27FC236}">
                      <a16:creationId xmlns:a16="http://schemas.microsoft.com/office/drawing/2014/main" id="{8EED21EF-391C-C86D-C195-288644607D67}"/>
                    </a:ext>
                  </a:extLst>
                </p:cNvPr>
                <p:cNvSpPr>
                  <a:spLocks noChangeArrowheads="1"/>
                </p:cNvSpPr>
                <p:nvPr/>
              </p:nvSpPr>
              <p:spPr bwMode="auto">
                <a:xfrm>
                  <a:off x="4704"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 name="Oval 27">
                  <a:extLst>
                    <a:ext uri="{FF2B5EF4-FFF2-40B4-BE49-F238E27FC236}">
                      <a16:creationId xmlns:a16="http://schemas.microsoft.com/office/drawing/2014/main" id="{6062B1BD-07FF-9976-F2D4-3A1CB470A22B}"/>
                    </a:ext>
                  </a:extLst>
                </p:cNvPr>
                <p:cNvSpPr>
                  <a:spLocks noChangeArrowheads="1"/>
                </p:cNvSpPr>
                <p:nvPr/>
              </p:nvSpPr>
              <p:spPr bwMode="auto">
                <a:xfrm>
                  <a:off x="4704" y="384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 name="Oval 28">
                  <a:extLst>
                    <a:ext uri="{FF2B5EF4-FFF2-40B4-BE49-F238E27FC236}">
                      <a16:creationId xmlns:a16="http://schemas.microsoft.com/office/drawing/2014/main" id="{6ABC5B20-B899-2478-CFE5-9E7D8A4C5D8A}"/>
                    </a:ext>
                  </a:extLst>
                </p:cNvPr>
                <p:cNvSpPr>
                  <a:spLocks noChangeArrowheads="1"/>
                </p:cNvSpPr>
                <p:nvPr/>
              </p:nvSpPr>
              <p:spPr bwMode="auto">
                <a:xfrm>
                  <a:off x="4752" y="384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Oval 29">
                  <a:extLst>
                    <a:ext uri="{FF2B5EF4-FFF2-40B4-BE49-F238E27FC236}">
                      <a16:creationId xmlns:a16="http://schemas.microsoft.com/office/drawing/2014/main" id="{4488737C-6D55-CEE6-BAF7-702ED3A85838}"/>
                    </a:ext>
                  </a:extLst>
                </p:cNvPr>
                <p:cNvSpPr>
                  <a:spLocks noChangeArrowheads="1"/>
                </p:cNvSpPr>
                <p:nvPr/>
              </p:nvSpPr>
              <p:spPr bwMode="auto">
                <a:xfrm>
                  <a:off x="4800" y="3696"/>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 name="Oval 30">
                  <a:extLst>
                    <a:ext uri="{FF2B5EF4-FFF2-40B4-BE49-F238E27FC236}">
                      <a16:creationId xmlns:a16="http://schemas.microsoft.com/office/drawing/2014/main" id="{32A1A09E-30E2-C11D-D69B-7E6E31B76B90}"/>
                    </a:ext>
                  </a:extLst>
                </p:cNvPr>
                <p:cNvSpPr>
                  <a:spLocks noChangeArrowheads="1"/>
                </p:cNvSpPr>
                <p:nvPr/>
              </p:nvSpPr>
              <p:spPr bwMode="auto">
                <a:xfrm>
                  <a:off x="4800" y="3793"/>
                  <a:ext cx="50"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 name="Oval 31">
                  <a:extLst>
                    <a:ext uri="{FF2B5EF4-FFF2-40B4-BE49-F238E27FC236}">
                      <a16:creationId xmlns:a16="http://schemas.microsoft.com/office/drawing/2014/main" id="{8A589870-7D8A-89A9-C890-5572910EEE5A}"/>
                    </a:ext>
                  </a:extLst>
                </p:cNvPr>
                <p:cNvSpPr>
                  <a:spLocks noChangeArrowheads="1"/>
                </p:cNvSpPr>
                <p:nvPr/>
              </p:nvSpPr>
              <p:spPr bwMode="auto">
                <a:xfrm>
                  <a:off x="4896"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31" name="Text Box 32">
                <a:extLst>
                  <a:ext uri="{FF2B5EF4-FFF2-40B4-BE49-F238E27FC236}">
                    <a16:creationId xmlns:a16="http://schemas.microsoft.com/office/drawing/2014/main" id="{9D871EA4-49A9-5B17-A6A2-13FA13CD23D1}"/>
                  </a:ext>
                </a:extLst>
              </p:cNvPr>
              <p:cNvSpPr txBox="1">
                <a:spLocks noChangeArrowheads="1"/>
              </p:cNvSpPr>
              <p:nvPr/>
            </p:nvSpPr>
            <p:spPr bwMode="auto">
              <a:xfrm rot="16200000">
                <a:off x="4017" y="3696"/>
                <a:ext cx="46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Height</a:t>
                </a:r>
              </a:p>
            </p:txBody>
          </p:sp>
          <p:sp>
            <p:nvSpPr>
              <p:cNvPr id="32" name="Text Box 33">
                <a:extLst>
                  <a:ext uri="{FF2B5EF4-FFF2-40B4-BE49-F238E27FC236}">
                    <a16:creationId xmlns:a16="http://schemas.microsoft.com/office/drawing/2014/main" id="{769C4CCD-BE04-BA5F-DE11-2838C107C3F3}"/>
                  </a:ext>
                </a:extLst>
              </p:cNvPr>
              <p:cNvSpPr txBox="1">
                <a:spLocks noChangeArrowheads="1"/>
              </p:cNvSpPr>
              <p:nvPr/>
            </p:nvSpPr>
            <p:spPr bwMode="auto">
              <a:xfrm>
                <a:off x="4464" y="4079"/>
                <a:ext cx="51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Weight</a:t>
                </a:r>
              </a:p>
            </p:txBody>
          </p:sp>
        </p:grpSp>
      </p:grpSp>
      <p:sp>
        <p:nvSpPr>
          <p:cNvPr id="11" name="Slide Number Placeholder 16">
            <a:extLst>
              <a:ext uri="{FF2B5EF4-FFF2-40B4-BE49-F238E27FC236}">
                <a16:creationId xmlns:a16="http://schemas.microsoft.com/office/drawing/2014/main" id="{5104C463-EFFA-BA7B-892A-552041F18231}"/>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89</a:t>
            </a:fld>
            <a:endParaRPr lang="en-US" sz="1000" dirty="0"/>
          </a:p>
        </p:txBody>
      </p:sp>
    </p:spTree>
    <p:extLst>
      <p:ext uri="{BB962C8B-B14F-4D97-AF65-F5344CB8AC3E}">
        <p14:creationId xmlns:p14="http://schemas.microsoft.com/office/powerpoint/2010/main" val="39696889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Run Chart</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Method of graphing trends</a:t>
            </a:r>
          </a:p>
          <a:p>
            <a:r>
              <a:rPr lang="en-US" sz="1600" dirty="0"/>
              <a:t>When you need to do the simplest possible display of trends within observation points over a specified time period</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Control Chart</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Statistically determines upper and lower control limits based on the process average</a:t>
            </a:r>
          </a:p>
          <a:p>
            <a:r>
              <a:rPr lang="en-US" sz="1600" dirty="0"/>
              <a:t>When you need to determine whether a process is in statistical control</a:t>
            </a:r>
          </a:p>
        </p:txBody>
      </p:sp>
      <p:grpSp>
        <p:nvGrpSpPr>
          <p:cNvPr id="54" name="Group 53">
            <a:extLst>
              <a:ext uri="{FF2B5EF4-FFF2-40B4-BE49-F238E27FC236}">
                <a16:creationId xmlns:a16="http://schemas.microsoft.com/office/drawing/2014/main" id="{394C3184-EA95-804D-363B-26EB283FCFA8}"/>
              </a:ext>
            </a:extLst>
          </p:cNvPr>
          <p:cNvGrpSpPr/>
          <p:nvPr/>
        </p:nvGrpSpPr>
        <p:grpSpPr>
          <a:xfrm>
            <a:off x="1651000" y="3657600"/>
            <a:ext cx="3756024" cy="2151064"/>
            <a:chOff x="458788" y="2073275"/>
            <a:chExt cx="3976687" cy="2290763"/>
          </a:xfrm>
        </p:grpSpPr>
        <p:sp>
          <p:nvSpPr>
            <p:cNvPr id="10" name="Rectangle 4">
              <a:extLst>
                <a:ext uri="{FF2B5EF4-FFF2-40B4-BE49-F238E27FC236}">
                  <a16:creationId xmlns:a16="http://schemas.microsoft.com/office/drawing/2014/main" id="{5B1B4190-9F28-FF6E-8CCF-7DB91741AE18}"/>
                </a:ext>
              </a:extLst>
            </p:cNvPr>
            <p:cNvSpPr>
              <a:spLocks noChangeArrowheads="1"/>
            </p:cNvSpPr>
            <p:nvPr/>
          </p:nvSpPr>
          <p:spPr bwMode="auto">
            <a:xfrm>
              <a:off x="458788" y="2073275"/>
              <a:ext cx="3976687" cy="229076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11" name="Group 11">
              <a:extLst>
                <a:ext uri="{FF2B5EF4-FFF2-40B4-BE49-F238E27FC236}">
                  <a16:creationId xmlns:a16="http://schemas.microsoft.com/office/drawing/2014/main" id="{D4620731-CCE9-1530-DBDA-EF6C1485A4E7}"/>
                </a:ext>
              </a:extLst>
            </p:cNvPr>
            <p:cNvGrpSpPr>
              <a:grpSpLocks/>
            </p:cNvGrpSpPr>
            <p:nvPr/>
          </p:nvGrpSpPr>
          <p:grpSpPr bwMode="auto">
            <a:xfrm>
              <a:off x="1146240" y="2328862"/>
              <a:ext cx="2562163" cy="1975101"/>
              <a:chOff x="4705" y="1372"/>
              <a:chExt cx="815" cy="703"/>
            </a:xfrm>
          </p:grpSpPr>
          <p:sp>
            <p:nvSpPr>
              <p:cNvPr id="12" name="Line 12">
                <a:extLst>
                  <a:ext uri="{FF2B5EF4-FFF2-40B4-BE49-F238E27FC236}">
                    <a16:creationId xmlns:a16="http://schemas.microsoft.com/office/drawing/2014/main" id="{0857D307-A975-B348-21C4-14AF6B3D749C}"/>
                  </a:ext>
                </a:extLst>
              </p:cNvPr>
              <p:cNvSpPr>
                <a:spLocks noChangeShapeType="1"/>
              </p:cNvSpPr>
              <p:nvPr/>
            </p:nvSpPr>
            <p:spPr bwMode="auto">
              <a:xfrm>
                <a:off x="4912" y="1680"/>
                <a:ext cx="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 name="Group 13">
                <a:extLst>
                  <a:ext uri="{FF2B5EF4-FFF2-40B4-BE49-F238E27FC236}">
                    <a16:creationId xmlns:a16="http://schemas.microsoft.com/office/drawing/2014/main" id="{F4EF2596-446E-6773-6057-BAF056C5FEEF}"/>
                  </a:ext>
                </a:extLst>
              </p:cNvPr>
              <p:cNvGrpSpPr>
                <a:grpSpLocks/>
              </p:cNvGrpSpPr>
              <p:nvPr/>
            </p:nvGrpSpPr>
            <p:grpSpPr bwMode="auto">
              <a:xfrm>
                <a:off x="4916" y="1372"/>
                <a:ext cx="576" cy="576"/>
                <a:chOff x="4416" y="3504"/>
                <a:chExt cx="576" cy="576"/>
              </a:xfrm>
            </p:grpSpPr>
            <p:sp>
              <p:nvSpPr>
                <p:cNvPr id="52" name="Line 14">
                  <a:extLst>
                    <a:ext uri="{FF2B5EF4-FFF2-40B4-BE49-F238E27FC236}">
                      <a16:creationId xmlns:a16="http://schemas.microsoft.com/office/drawing/2014/main" id="{E03E35BF-4743-B7E0-BB9F-23B7DBD3ADE8}"/>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5">
                  <a:extLst>
                    <a:ext uri="{FF2B5EF4-FFF2-40B4-BE49-F238E27FC236}">
                      <a16:creationId xmlns:a16="http://schemas.microsoft.com/office/drawing/2014/main" id="{58B131EA-8222-BC7E-3442-8FE06B1BF8FF}"/>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 name="Oval 16">
                <a:extLst>
                  <a:ext uri="{FF2B5EF4-FFF2-40B4-BE49-F238E27FC236}">
                    <a16:creationId xmlns:a16="http://schemas.microsoft.com/office/drawing/2014/main" id="{4F7F117E-EE70-9E74-4BA8-AF27B3EB6A18}"/>
                  </a:ext>
                </a:extLst>
              </p:cNvPr>
              <p:cNvSpPr>
                <a:spLocks noChangeArrowheads="1"/>
              </p:cNvSpPr>
              <p:nvPr/>
            </p:nvSpPr>
            <p:spPr bwMode="auto">
              <a:xfrm flipH="1" flipV="1">
                <a:off x="4944" y="172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 name="Oval 17">
                <a:extLst>
                  <a:ext uri="{FF2B5EF4-FFF2-40B4-BE49-F238E27FC236}">
                    <a16:creationId xmlns:a16="http://schemas.microsoft.com/office/drawing/2014/main" id="{9BED609E-956B-A902-AA70-02F9C430F526}"/>
                  </a:ext>
                </a:extLst>
              </p:cNvPr>
              <p:cNvSpPr>
                <a:spLocks noChangeArrowheads="1"/>
              </p:cNvSpPr>
              <p:nvPr/>
            </p:nvSpPr>
            <p:spPr bwMode="auto">
              <a:xfrm>
                <a:off x="5040"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Oval 18">
                <a:extLst>
                  <a:ext uri="{FF2B5EF4-FFF2-40B4-BE49-F238E27FC236}">
                    <a16:creationId xmlns:a16="http://schemas.microsoft.com/office/drawing/2014/main" id="{438DFFE1-8603-8244-78AF-E1C16BAB0ACE}"/>
                  </a:ext>
                </a:extLst>
              </p:cNvPr>
              <p:cNvSpPr>
                <a:spLocks noChangeArrowheads="1"/>
              </p:cNvSpPr>
              <p:nvPr/>
            </p:nvSpPr>
            <p:spPr bwMode="auto">
              <a:xfrm>
                <a:off x="5012" y="170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Oval 19">
                <a:extLst>
                  <a:ext uri="{FF2B5EF4-FFF2-40B4-BE49-F238E27FC236}">
                    <a16:creationId xmlns:a16="http://schemas.microsoft.com/office/drawing/2014/main" id="{00D3FF94-1B16-9557-0D40-8AB1B302ACD3}"/>
                  </a:ext>
                </a:extLst>
              </p:cNvPr>
              <p:cNvSpPr>
                <a:spLocks noChangeArrowheads="1"/>
              </p:cNvSpPr>
              <p:nvPr/>
            </p:nvSpPr>
            <p:spPr bwMode="auto">
              <a:xfrm>
                <a:off x="5108"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Oval 20">
                <a:extLst>
                  <a:ext uri="{FF2B5EF4-FFF2-40B4-BE49-F238E27FC236}">
                    <a16:creationId xmlns:a16="http://schemas.microsoft.com/office/drawing/2014/main" id="{1732745E-FB8B-3959-BF18-8DBC130C6FDE}"/>
                  </a:ext>
                </a:extLst>
              </p:cNvPr>
              <p:cNvSpPr>
                <a:spLocks noChangeArrowheads="1"/>
              </p:cNvSpPr>
              <p:nvPr/>
            </p:nvSpPr>
            <p:spPr bwMode="auto">
              <a:xfrm>
                <a:off x="5232"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Oval 21">
                <a:extLst>
                  <a:ext uri="{FF2B5EF4-FFF2-40B4-BE49-F238E27FC236}">
                    <a16:creationId xmlns:a16="http://schemas.microsoft.com/office/drawing/2014/main" id="{2B2AE9E9-A3FA-3EDA-96A4-3CB79029DF9D}"/>
                  </a:ext>
                </a:extLst>
              </p:cNvPr>
              <p:cNvSpPr>
                <a:spLocks noChangeArrowheads="1"/>
              </p:cNvSpPr>
              <p:nvPr/>
            </p:nvSpPr>
            <p:spPr bwMode="auto">
              <a:xfrm>
                <a:off x="5184"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Oval 22">
                <a:extLst>
                  <a:ext uri="{FF2B5EF4-FFF2-40B4-BE49-F238E27FC236}">
                    <a16:creationId xmlns:a16="http://schemas.microsoft.com/office/drawing/2014/main" id="{F7F53E0A-AFE6-CB66-666E-B45D191ACA74}"/>
                  </a:ext>
                </a:extLst>
              </p:cNvPr>
              <p:cNvSpPr>
                <a:spLocks noChangeArrowheads="1"/>
              </p:cNvSpPr>
              <p:nvPr/>
            </p:nvSpPr>
            <p:spPr bwMode="auto">
              <a:xfrm>
                <a:off x="5376"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Oval 23">
                <a:extLst>
                  <a:ext uri="{FF2B5EF4-FFF2-40B4-BE49-F238E27FC236}">
                    <a16:creationId xmlns:a16="http://schemas.microsoft.com/office/drawing/2014/main" id="{A6AD9F9E-977A-D066-1A2B-4AEEF5F758C9}"/>
                  </a:ext>
                </a:extLst>
              </p:cNvPr>
              <p:cNvSpPr>
                <a:spLocks noChangeArrowheads="1"/>
              </p:cNvSpPr>
              <p:nvPr/>
            </p:nvSpPr>
            <p:spPr bwMode="auto">
              <a:xfrm>
                <a:off x="5300"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2" name="Oval 24">
                <a:extLst>
                  <a:ext uri="{FF2B5EF4-FFF2-40B4-BE49-F238E27FC236}">
                    <a16:creationId xmlns:a16="http://schemas.microsoft.com/office/drawing/2014/main" id="{1AE66AA1-BE9F-7AB8-8AAD-A0F3E0AB4720}"/>
                  </a:ext>
                </a:extLst>
              </p:cNvPr>
              <p:cNvSpPr>
                <a:spLocks noChangeArrowheads="1"/>
              </p:cNvSpPr>
              <p:nvPr/>
            </p:nvSpPr>
            <p:spPr bwMode="auto">
              <a:xfrm>
                <a:off x="5396" y="161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 name="Text Box 25">
                <a:extLst>
                  <a:ext uri="{FF2B5EF4-FFF2-40B4-BE49-F238E27FC236}">
                    <a16:creationId xmlns:a16="http://schemas.microsoft.com/office/drawing/2014/main" id="{A459D1FB-CC0C-17FC-5C5C-618347B85844}"/>
                  </a:ext>
                </a:extLst>
              </p:cNvPr>
              <p:cNvSpPr txBox="1">
                <a:spLocks noChangeArrowheads="1"/>
              </p:cNvSpPr>
              <p:nvPr/>
            </p:nvSpPr>
            <p:spPr bwMode="auto">
              <a:xfrm rot="16200000">
                <a:off x="4574" y="1703"/>
                <a:ext cx="34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b="0" dirty="0">
                    <a:solidFill>
                      <a:schemeClr val="tx1"/>
                    </a:solidFill>
                    <a:latin typeface="Roboto" panose="02000000000000000000" pitchFamily="2" charset="0"/>
                    <a:ea typeface="Roboto" panose="02000000000000000000" pitchFamily="2" charset="0"/>
                    <a:cs typeface="Roboto" panose="02000000000000000000" pitchFamily="2" charset="0"/>
                  </a:rPr>
                  <a:t>Measurement</a:t>
                </a:r>
              </a:p>
            </p:txBody>
          </p:sp>
          <p:sp>
            <p:nvSpPr>
              <p:cNvPr id="51" name="Text Box 26">
                <a:extLst>
                  <a:ext uri="{FF2B5EF4-FFF2-40B4-BE49-F238E27FC236}">
                    <a16:creationId xmlns:a16="http://schemas.microsoft.com/office/drawing/2014/main" id="{693B3782-9000-F673-1E5C-1D10BCB0DADB}"/>
                  </a:ext>
                </a:extLst>
              </p:cNvPr>
              <p:cNvSpPr txBox="1">
                <a:spLocks noChangeArrowheads="1"/>
              </p:cNvSpPr>
              <p:nvPr/>
            </p:nvSpPr>
            <p:spPr bwMode="auto">
              <a:xfrm>
                <a:off x="4964" y="1947"/>
                <a:ext cx="21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Time</a:t>
                </a:r>
              </a:p>
            </p:txBody>
          </p:sp>
        </p:grpSp>
      </p:grpSp>
      <p:grpSp>
        <p:nvGrpSpPr>
          <p:cNvPr id="75" name="Group 74">
            <a:extLst>
              <a:ext uri="{FF2B5EF4-FFF2-40B4-BE49-F238E27FC236}">
                <a16:creationId xmlns:a16="http://schemas.microsoft.com/office/drawing/2014/main" id="{25BF4EAF-5DD7-BE5F-7199-2F9850983CBC}"/>
              </a:ext>
            </a:extLst>
          </p:cNvPr>
          <p:cNvGrpSpPr>
            <a:grpSpLocks noChangeAspect="1"/>
          </p:cNvGrpSpPr>
          <p:nvPr/>
        </p:nvGrpSpPr>
        <p:grpSpPr>
          <a:xfrm>
            <a:off x="6714273" y="3659824"/>
            <a:ext cx="3761609" cy="2148840"/>
            <a:chOff x="4784725" y="2073275"/>
            <a:chExt cx="3932238" cy="2246313"/>
          </a:xfrm>
        </p:grpSpPr>
        <p:sp>
          <p:nvSpPr>
            <p:cNvPr id="55" name="Rectangle 6">
              <a:extLst>
                <a:ext uri="{FF2B5EF4-FFF2-40B4-BE49-F238E27FC236}">
                  <a16:creationId xmlns:a16="http://schemas.microsoft.com/office/drawing/2014/main" id="{4357E776-F263-0617-4735-8A225481945A}"/>
                </a:ext>
              </a:extLst>
            </p:cNvPr>
            <p:cNvSpPr>
              <a:spLocks noChangeArrowheads="1"/>
            </p:cNvSpPr>
            <p:nvPr/>
          </p:nvSpPr>
          <p:spPr bwMode="auto">
            <a:xfrm>
              <a:off x="4784725" y="2073275"/>
              <a:ext cx="3932238" cy="22463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56" name="Group 27">
              <a:extLst>
                <a:ext uri="{FF2B5EF4-FFF2-40B4-BE49-F238E27FC236}">
                  <a16:creationId xmlns:a16="http://schemas.microsoft.com/office/drawing/2014/main" id="{AF31C88F-1D87-0D20-FA07-2B8290B94497}"/>
                </a:ext>
              </a:extLst>
            </p:cNvPr>
            <p:cNvGrpSpPr>
              <a:grpSpLocks/>
            </p:cNvGrpSpPr>
            <p:nvPr/>
          </p:nvGrpSpPr>
          <p:grpSpPr bwMode="auto">
            <a:xfrm>
              <a:off x="5425375" y="2459038"/>
              <a:ext cx="2290088" cy="1811852"/>
              <a:chOff x="4223" y="3168"/>
              <a:chExt cx="1182" cy="862"/>
            </a:xfrm>
          </p:grpSpPr>
          <p:grpSp>
            <p:nvGrpSpPr>
              <p:cNvPr id="57" name="Group 28">
                <a:extLst>
                  <a:ext uri="{FF2B5EF4-FFF2-40B4-BE49-F238E27FC236}">
                    <a16:creationId xmlns:a16="http://schemas.microsoft.com/office/drawing/2014/main" id="{F58727C6-5AD1-D2EC-19B4-4B32B4CE51EF}"/>
                  </a:ext>
                </a:extLst>
              </p:cNvPr>
              <p:cNvGrpSpPr>
                <a:grpSpLocks/>
              </p:cNvGrpSpPr>
              <p:nvPr/>
            </p:nvGrpSpPr>
            <p:grpSpPr bwMode="auto">
              <a:xfrm>
                <a:off x="4223" y="3168"/>
                <a:ext cx="955" cy="862"/>
                <a:chOff x="4709" y="1372"/>
                <a:chExt cx="811" cy="707"/>
              </a:xfrm>
            </p:grpSpPr>
            <p:sp>
              <p:nvSpPr>
                <p:cNvPr id="60" name="Line 29">
                  <a:extLst>
                    <a:ext uri="{FF2B5EF4-FFF2-40B4-BE49-F238E27FC236}">
                      <a16:creationId xmlns:a16="http://schemas.microsoft.com/office/drawing/2014/main" id="{385DF39A-5CA4-4ED2-1E1B-80819E861983}"/>
                    </a:ext>
                  </a:extLst>
                </p:cNvPr>
                <p:cNvSpPr>
                  <a:spLocks noChangeShapeType="1"/>
                </p:cNvSpPr>
                <p:nvPr/>
              </p:nvSpPr>
              <p:spPr bwMode="auto">
                <a:xfrm>
                  <a:off x="4912" y="1680"/>
                  <a:ext cx="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1" name="Group 30">
                  <a:extLst>
                    <a:ext uri="{FF2B5EF4-FFF2-40B4-BE49-F238E27FC236}">
                      <a16:creationId xmlns:a16="http://schemas.microsoft.com/office/drawing/2014/main" id="{5332B693-C88D-AB32-0F54-4D407E8F8C7B}"/>
                    </a:ext>
                  </a:extLst>
                </p:cNvPr>
                <p:cNvGrpSpPr>
                  <a:grpSpLocks/>
                </p:cNvGrpSpPr>
                <p:nvPr/>
              </p:nvGrpSpPr>
              <p:grpSpPr bwMode="auto">
                <a:xfrm>
                  <a:off x="4916" y="1372"/>
                  <a:ext cx="576" cy="576"/>
                  <a:chOff x="4416" y="3504"/>
                  <a:chExt cx="576" cy="576"/>
                </a:xfrm>
              </p:grpSpPr>
              <p:sp>
                <p:nvSpPr>
                  <p:cNvPr id="73" name="Line 31">
                    <a:extLst>
                      <a:ext uri="{FF2B5EF4-FFF2-40B4-BE49-F238E27FC236}">
                        <a16:creationId xmlns:a16="http://schemas.microsoft.com/office/drawing/2014/main" id="{C2350EC6-59F4-4146-01F0-3CF12E89F8A5}"/>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32">
                    <a:extLst>
                      <a:ext uri="{FF2B5EF4-FFF2-40B4-BE49-F238E27FC236}">
                        <a16:creationId xmlns:a16="http://schemas.microsoft.com/office/drawing/2014/main" id="{AA4F3318-F9D2-CFF5-7FB4-8D4864598646}"/>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2" name="Oval 33">
                  <a:extLst>
                    <a:ext uri="{FF2B5EF4-FFF2-40B4-BE49-F238E27FC236}">
                      <a16:creationId xmlns:a16="http://schemas.microsoft.com/office/drawing/2014/main" id="{8C92A08E-DD3F-0AA5-0880-C36B0F076C7D}"/>
                    </a:ext>
                  </a:extLst>
                </p:cNvPr>
                <p:cNvSpPr>
                  <a:spLocks noChangeArrowheads="1"/>
                </p:cNvSpPr>
                <p:nvPr/>
              </p:nvSpPr>
              <p:spPr bwMode="auto">
                <a:xfrm flipH="1" flipV="1">
                  <a:off x="4944" y="172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 name="Oval 34">
                  <a:extLst>
                    <a:ext uri="{FF2B5EF4-FFF2-40B4-BE49-F238E27FC236}">
                      <a16:creationId xmlns:a16="http://schemas.microsoft.com/office/drawing/2014/main" id="{0AF7D743-CC7E-6DCF-624F-EA66D548F873}"/>
                    </a:ext>
                  </a:extLst>
                </p:cNvPr>
                <p:cNvSpPr>
                  <a:spLocks noChangeArrowheads="1"/>
                </p:cNvSpPr>
                <p:nvPr/>
              </p:nvSpPr>
              <p:spPr bwMode="auto">
                <a:xfrm>
                  <a:off x="5040"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 name="Oval 35">
                  <a:extLst>
                    <a:ext uri="{FF2B5EF4-FFF2-40B4-BE49-F238E27FC236}">
                      <a16:creationId xmlns:a16="http://schemas.microsoft.com/office/drawing/2014/main" id="{84E6D7BD-38AA-9480-1786-6B49CAA4E315}"/>
                    </a:ext>
                  </a:extLst>
                </p:cNvPr>
                <p:cNvSpPr>
                  <a:spLocks noChangeArrowheads="1"/>
                </p:cNvSpPr>
                <p:nvPr/>
              </p:nvSpPr>
              <p:spPr bwMode="auto">
                <a:xfrm>
                  <a:off x="5012" y="170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 name="Oval 36">
                  <a:extLst>
                    <a:ext uri="{FF2B5EF4-FFF2-40B4-BE49-F238E27FC236}">
                      <a16:creationId xmlns:a16="http://schemas.microsoft.com/office/drawing/2014/main" id="{80C10DF8-BFE4-EF2F-00DE-C796DF6BC231}"/>
                    </a:ext>
                  </a:extLst>
                </p:cNvPr>
                <p:cNvSpPr>
                  <a:spLocks noChangeArrowheads="1"/>
                </p:cNvSpPr>
                <p:nvPr/>
              </p:nvSpPr>
              <p:spPr bwMode="auto">
                <a:xfrm>
                  <a:off x="5108"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 name="Oval 37">
                  <a:extLst>
                    <a:ext uri="{FF2B5EF4-FFF2-40B4-BE49-F238E27FC236}">
                      <a16:creationId xmlns:a16="http://schemas.microsoft.com/office/drawing/2014/main" id="{2BD38A4F-3DA2-A80A-457F-400B4EDB6BE3}"/>
                    </a:ext>
                  </a:extLst>
                </p:cNvPr>
                <p:cNvSpPr>
                  <a:spLocks noChangeArrowheads="1"/>
                </p:cNvSpPr>
                <p:nvPr/>
              </p:nvSpPr>
              <p:spPr bwMode="auto">
                <a:xfrm>
                  <a:off x="5232"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7" name="Oval 38">
                  <a:extLst>
                    <a:ext uri="{FF2B5EF4-FFF2-40B4-BE49-F238E27FC236}">
                      <a16:creationId xmlns:a16="http://schemas.microsoft.com/office/drawing/2014/main" id="{94D21484-0FCB-23BB-C90F-D4C8C6D54FA7}"/>
                    </a:ext>
                  </a:extLst>
                </p:cNvPr>
                <p:cNvSpPr>
                  <a:spLocks noChangeArrowheads="1"/>
                </p:cNvSpPr>
                <p:nvPr/>
              </p:nvSpPr>
              <p:spPr bwMode="auto">
                <a:xfrm>
                  <a:off x="5184"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 name="Oval 39">
                  <a:extLst>
                    <a:ext uri="{FF2B5EF4-FFF2-40B4-BE49-F238E27FC236}">
                      <a16:creationId xmlns:a16="http://schemas.microsoft.com/office/drawing/2014/main" id="{E44170FF-D1E6-E1C5-5376-2A88317B86AB}"/>
                    </a:ext>
                  </a:extLst>
                </p:cNvPr>
                <p:cNvSpPr>
                  <a:spLocks noChangeArrowheads="1"/>
                </p:cNvSpPr>
                <p:nvPr/>
              </p:nvSpPr>
              <p:spPr bwMode="auto">
                <a:xfrm>
                  <a:off x="5376"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 name="Oval 40">
                  <a:extLst>
                    <a:ext uri="{FF2B5EF4-FFF2-40B4-BE49-F238E27FC236}">
                      <a16:creationId xmlns:a16="http://schemas.microsoft.com/office/drawing/2014/main" id="{099672C2-D67E-0B45-C7D0-D24BB5D6546F}"/>
                    </a:ext>
                  </a:extLst>
                </p:cNvPr>
                <p:cNvSpPr>
                  <a:spLocks noChangeArrowheads="1"/>
                </p:cNvSpPr>
                <p:nvPr/>
              </p:nvSpPr>
              <p:spPr bwMode="auto">
                <a:xfrm>
                  <a:off x="5300"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 name="Oval 41">
                  <a:extLst>
                    <a:ext uri="{FF2B5EF4-FFF2-40B4-BE49-F238E27FC236}">
                      <a16:creationId xmlns:a16="http://schemas.microsoft.com/office/drawing/2014/main" id="{35514590-5985-D7AA-C941-AB0B7E657D14}"/>
                    </a:ext>
                  </a:extLst>
                </p:cNvPr>
                <p:cNvSpPr>
                  <a:spLocks noChangeArrowheads="1"/>
                </p:cNvSpPr>
                <p:nvPr/>
              </p:nvSpPr>
              <p:spPr bwMode="auto">
                <a:xfrm>
                  <a:off x="5396" y="161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1" name="Text Box 42">
                  <a:extLst>
                    <a:ext uri="{FF2B5EF4-FFF2-40B4-BE49-F238E27FC236}">
                      <a16:creationId xmlns:a16="http://schemas.microsoft.com/office/drawing/2014/main" id="{8822A584-DEAA-D71D-8B39-77E6ABF74DBE}"/>
                    </a:ext>
                  </a:extLst>
                </p:cNvPr>
                <p:cNvSpPr txBox="1">
                  <a:spLocks noChangeArrowheads="1"/>
                </p:cNvSpPr>
                <p:nvPr/>
              </p:nvSpPr>
              <p:spPr bwMode="auto">
                <a:xfrm rot="16200000">
                  <a:off x="4585" y="1675"/>
                  <a:ext cx="350"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b="0">
                      <a:solidFill>
                        <a:schemeClr val="tx1"/>
                      </a:solidFill>
                      <a:latin typeface="Roboto" panose="02000000000000000000" pitchFamily="2" charset="0"/>
                      <a:ea typeface="Roboto" panose="02000000000000000000" pitchFamily="2" charset="0"/>
                      <a:cs typeface="Roboto" panose="02000000000000000000" pitchFamily="2" charset="0"/>
                    </a:rPr>
                    <a:t>Measurement</a:t>
                  </a:r>
                </a:p>
              </p:txBody>
            </p:sp>
            <p:sp>
              <p:nvSpPr>
                <p:cNvPr id="72" name="Text Box 43">
                  <a:extLst>
                    <a:ext uri="{FF2B5EF4-FFF2-40B4-BE49-F238E27FC236}">
                      <a16:creationId xmlns:a16="http://schemas.microsoft.com/office/drawing/2014/main" id="{915E8C12-F4E2-39FC-AF52-93FB5B34734B}"/>
                    </a:ext>
                  </a:extLst>
                </p:cNvPr>
                <p:cNvSpPr txBox="1">
                  <a:spLocks noChangeArrowheads="1"/>
                </p:cNvSpPr>
                <p:nvPr/>
              </p:nvSpPr>
              <p:spPr bwMode="auto">
                <a:xfrm>
                  <a:off x="4964" y="1947"/>
                  <a:ext cx="2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a:solidFill>
                        <a:schemeClr val="tx1"/>
                      </a:solidFill>
                      <a:latin typeface="Roboto" panose="02000000000000000000" pitchFamily="2" charset="0"/>
                      <a:ea typeface="Roboto" panose="02000000000000000000" pitchFamily="2" charset="0"/>
                      <a:cs typeface="Roboto" panose="02000000000000000000" pitchFamily="2" charset="0"/>
                    </a:rPr>
                    <a:t>Time</a:t>
                  </a:r>
                </a:p>
              </p:txBody>
            </p:sp>
          </p:grpSp>
          <p:sp>
            <p:nvSpPr>
              <p:cNvPr id="58" name="Text Box 44">
                <a:extLst>
                  <a:ext uri="{FF2B5EF4-FFF2-40B4-BE49-F238E27FC236}">
                    <a16:creationId xmlns:a16="http://schemas.microsoft.com/office/drawing/2014/main" id="{2EFF6E1F-DD42-3F16-FD7D-93C7A53BF587}"/>
                  </a:ext>
                </a:extLst>
              </p:cNvPr>
              <p:cNvSpPr txBox="1">
                <a:spLocks noChangeArrowheads="1"/>
              </p:cNvSpPr>
              <p:nvPr/>
            </p:nvSpPr>
            <p:spPr bwMode="auto">
              <a:xfrm>
                <a:off x="5139" y="3210"/>
                <a:ext cx="26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UCL</a:t>
                </a:r>
              </a:p>
            </p:txBody>
          </p:sp>
          <p:sp>
            <p:nvSpPr>
              <p:cNvPr id="59" name="Text Box 45">
                <a:extLst>
                  <a:ext uri="{FF2B5EF4-FFF2-40B4-BE49-F238E27FC236}">
                    <a16:creationId xmlns:a16="http://schemas.microsoft.com/office/drawing/2014/main" id="{3DC1B09C-4C25-CBC3-53F0-43E409AC1549}"/>
                  </a:ext>
                </a:extLst>
              </p:cNvPr>
              <p:cNvSpPr txBox="1">
                <a:spLocks noChangeArrowheads="1"/>
              </p:cNvSpPr>
              <p:nvPr/>
            </p:nvSpPr>
            <p:spPr bwMode="auto">
              <a:xfrm>
                <a:off x="5136" y="3645"/>
                <a:ext cx="25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LCL</a:t>
                </a:r>
              </a:p>
            </p:txBody>
          </p:sp>
        </p:grpSp>
      </p:grpSp>
      <p:sp>
        <p:nvSpPr>
          <p:cNvPr id="23" name="Slide Number Placeholder 16">
            <a:extLst>
              <a:ext uri="{FF2B5EF4-FFF2-40B4-BE49-F238E27FC236}">
                <a16:creationId xmlns:a16="http://schemas.microsoft.com/office/drawing/2014/main" id="{12B8C32E-62AC-9273-38A7-24DA76753A7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90</a:t>
            </a:fld>
            <a:endParaRPr lang="en-US" sz="1000" dirty="0"/>
          </a:p>
        </p:txBody>
      </p:sp>
    </p:spTree>
    <p:extLst>
      <p:ext uri="{BB962C8B-B14F-4D97-AF65-F5344CB8AC3E}">
        <p14:creationId xmlns:p14="http://schemas.microsoft.com/office/powerpoint/2010/main" val="22451024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a:xfrm>
            <a:off x="938213" y="1681163"/>
            <a:ext cx="5157787" cy="823912"/>
          </a:xfrm>
        </p:spPr>
        <p:txBody>
          <a:bodyPr/>
          <a:lstStyle/>
          <a:p>
            <a:r>
              <a:rPr lang="en-US" dirty="0"/>
              <a:t>5 Whys</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a:xfrm>
            <a:off x="938213" y="2505075"/>
            <a:ext cx="5157787" cy="3684588"/>
          </a:xfrm>
        </p:spPr>
        <p:txBody>
          <a:bodyPr>
            <a:normAutofit/>
          </a:bodyPr>
          <a:lstStyle/>
          <a:p>
            <a:r>
              <a:rPr lang="en-US" sz="1600" dirty="0"/>
              <a:t>Method of breaking down the problem to its root cause</a:t>
            </a:r>
          </a:p>
          <a:p>
            <a:r>
              <a:rPr lang="en-US" sz="1600" dirty="0"/>
              <a:t>When you need to implement corrective action and want to be sure your actions will address root cause, not symptoms</a:t>
            </a:r>
          </a:p>
          <a:p>
            <a:pPr marL="0" indent="0">
              <a:buNone/>
            </a:pPr>
            <a:r>
              <a:rPr lang="en-US" sz="2000" dirty="0"/>
              <a:t>Why?</a:t>
            </a:r>
          </a:p>
          <a:p>
            <a:pPr marL="0" indent="0">
              <a:buNone/>
            </a:pPr>
            <a:r>
              <a:rPr lang="en-US" sz="2000" dirty="0"/>
              <a:t>	Why?</a:t>
            </a:r>
          </a:p>
          <a:p>
            <a:pPr marL="0" indent="0">
              <a:buNone/>
            </a:pPr>
            <a:r>
              <a:rPr lang="en-US" sz="2000" dirty="0"/>
              <a:t>		Why?</a:t>
            </a:r>
          </a:p>
          <a:p>
            <a:pPr marL="0" indent="0">
              <a:buNone/>
            </a:pPr>
            <a:r>
              <a:rPr lang="en-US" sz="2000" dirty="0"/>
              <a:t>			Why?</a:t>
            </a:r>
          </a:p>
          <a:p>
            <a:pPr marL="0" indent="0">
              <a:buNone/>
            </a:pPr>
            <a:r>
              <a:rPr lang="en-US" sz="2000" dirty="0"/>
              <a:t>				Why?</a:t>
            </a:r>
          </a:p>
        </p:txBody>
      </p:sp>
      <p:sp>
        <p:nvSpPr>
          <p:cNvPr id="8" name="Slide Number Placeholder 16">
            <a:extLst>
              <a:ext uri="{FF2B5EF4-FFF2-40B4-BE49-F238E27FC236}">
                <a16:creationId xmlns:a16="http://schemas.microsoft.com/office/drawing/2014/main" id="{624AADC2-723B-A663-8291-BC00E5D1255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91</a:t>
            </a:fld>
            <a:endParaRPr lang="en-US" sz="1000" dirty="0"/>
          </a:p>
        </p:txBody>
      </p:sp>
    </p:spTree>
    <p:extLst>
      <p:ext uri="{BB962C8B-B14F-4D97-AF65-F5344CB8AC3E}">
        <p14:creationId xmlns:p14="http://schemas.microsoft.com/office/powerpoint/2010/main" val="10790397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CEDAC</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2021877"/>
            <a:ext cx="9610725" cy="3016848"/>
            <a:chOff x="488950" y="1828800"/>
            <a:chExt cx="8189913" cy="2060575"/>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When to Use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 Benefits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Defined</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C</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ause and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E</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ffect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D</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iagram with the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A</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ddition of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C</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ards</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 tool which covers every step in the Customer Focused Problem Solving Process</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CEDAC involves everyone in the Problem Solving Process, even those not directly working on the problem because it is visually displayed in the workplace</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Extremely useful for multi-shift operations</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When you need to identify, explore and display the possible causes of, and potential solutions to, a specific problem or condition</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When team-based involvement is essential to the successful root cause solution to a specific problem</a:t>
              </a:r>
            </a:p>
          </p:txBody>
        </p:sp>
      </p:grpSp>
      <p:sp>
        <p:nvSpPr>
          <p:cNvPr id="7" name="AutoShape 10">
            <a:extLst>
              <a:ext uri="{FF2B5EF4-FFF2-40B4-BE49-F238E27FC236}">
                <a16:creationId xmlns:a16="http://schemas.microsoft.com/office/drawing/2014/main" id="{D5156AA9-2668-5C47-5A80-3500DBD1D1E0}"/>
              </a:ext>
            </a:extLst>
          </p:cNvPr>
          <p:cNvSpPr>
            <a:spLocks noChangeArrowheads="1"/>
          </p:cNvSpPr>
          <p:nvPr/>
        </p:nvSpPr>
        <p:spPr bwMode="auto">
          <a:xfrm>
            <a:off x="1993900" y="5244174"/>
            <a:ext cx="8204200" cy="520700"/>
          </a:xfrm>
          <a:prstGeom prst="homePlate">
            <a:avLst>
              <a:gd name="adj" fmla="val 32169"/>
            </a:avLst>
          </a:prstGeom>
          <a:solidFill>
            <a:schemeClr val="accent1"/>
          </a:solidFill>
          <a:ln>
            <a:noFill/>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800" dirty="0">
                <a:latin typeface="Roboto" panose="02000000000000000000" pitchFamily="2" charset="0"/>
                <a:ea typeface="Roboto" panose="02000000000000000000" pitchFamily="2" charset="0"/>
                <a:cs typeface="Roboto" panose="02000000000000000000" pitchFamily="2" charset="0"/>
              </a:rPr>
              <a:t>CEDAC involves everyone in the Problem Solving Process</a:t>
            </a:r>
          </a:p>
        </p:txBody>
      </p:sp>
      <p:sp>
        <p:nvSpPr>
          <p:cNvPr id="3" name="Slide Number Placeholder 16">
            <a:extLst>
              <a:ext uri="{FF2B5EF4-FFF2-40B4-BE49-F238E27FC236}">
                <a16:creationId xmlns:a16="http://schemas.microsoft.com/office/drawing/2014/main" id="{DC73B3EF-6D56-7DB3-7200-30C8D8B287F2}"/>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92</a:t>
            </a:fld>
            <a:endParaRPr lang="en-US" sz="1000" dirty="0"/>
          </a:p>
        </p:txBody>
      </p:sp>
    </p:spTree>
    <p:extLst>
      <p:ext uri="{BB962C8B-B14F-4D97-AF65-F5344CB8AC3E}">
        <p14:creationId xmlns:p14="http://schemas.microsoft.com/office/powerpoint/2010/main" val="25545793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Flow Charts</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Pictorial representation showing all steps of a process</a:t>
            </a:r>
          </a:p>
          <a:p>
            <a:r>
              <a:rPr lang="en-US" sz="1600" dirty="0"/>
              <a:t>When you need to identify the actual and ideal path that any product or service follows in order to identify problems</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Cause and Effect Diagram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Method for organizing ideas (Fishbone diagram)</a:t>
            </a:r>
          </a:p>
          <a:p>
            <a:r>
              <a:rPr lang="en-US" sz="1600" dirty="0"/>
              <a:t>When you need to identify, explore and display the possible causes of a specific problem or condition</a:t>
            </a:r>
          </a:p>
        </p:txBody>
      </p:sp>
      <p:grpSp>
        <p:nvGrpSpPr>
          <p:cNvPr id="35" name="Group 34">
            <a:extLst>
              <a:ext uri="{FF2B5EF4-FFF2-40B4-BE49-F238E27FC236}">
                <a16:creationId xmlns:a16="http://schemas.microsoft.com/office/drawing/2014/main" id="{2C720D6D-1FDB-3D1A-0C40-59A54F570604}"/>
              </a:ext>
            </a:extLst>
          </p:cNvPr>
          <p:cNvGrpSpPr/>
          <p:nvPr/>
        </p:nvGrpSpPr>
        <p:grpSpPr>
          <a:xfrm>
            <a:off x="1576388" y="3864416"/>
            <a:ext cx="3262311" cy="2015684"/>
            <a:chOff x="458788" y="2073275"/>
            <a:chExt cx="3976687" cy="2536825"/>
          </a:xfrm>
        </p:grpSpPr>
        <p:sp>
          <p:nvSpPr>
            <p:cNvPr id="23" name="Rectangle 4">
              <a:extLst>
                <a:ext uri="{FF2B5EF4-FFF2-40B4-BE49-F238E27FC236}">
                  <a16:creationId xmlns:a16="http://schemas.microsoft.com/office/drawing/2014/main" id="{628962BE-27A2-FBDC-34B6-7CF0C88B00F4}"/>
                </a:ext>
              </a:extLst>
            </p:cNvPr>
            <p:cNvSpPr>
              <a:spLocks noChangeArrowheads="1"/>
            </p:cNvSpPr>
            <p:nvPr/>
          </p:nvSpPr>
          <p:spPr bwMode="auto">
            <a:xfrm>
              <a:off x="458788" y="2073275"/>
              <a:ext cx="3976687" cy="25368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24" name="Group 11">
              <a:extLst>
                <a:ext uri="{FF2B5EF4-FFF2-40B4-BE49-F238E27FC236}">
                  <a16:creationId xmlns:a16="http://schemas.microsoft.com/office/drawing/2014/main" id="{D424DF75-87A3-BAF3-B8B9-08F4389C9960}"/>
                </a:ext>
              </a:extLst>
            </p:cNvPr>
            <p:cNvGrpSpPr>
              <a:grpSpLocks/>
            </p:cNvGrpSpPr>
            <p:nvPr/>
          </p:nvGrpSpPr>
          <p:grpSpPr bwMode="auto">
            <a:xfrm>
              <a:off x="1906588" y="2233613"/>
              <a:ext cx="1217612" cy="2243137"/>
              <a:chOff x="4632" y="720"/>
              <a:chExt cx="584" cy="1248"/>
            </a:xfrm>
          </p:grpSpPr>
          <p:sp>
            <p:nvSpPr>
              <p:cNvPr id="25" name="Line 12">
                <a:extLst>
                  <a:ext uri="{FF2B5EF4-FFF2-40B4-BE49-F238E27FC236}">
                    <a16:creationId xmlns:a16="http://schemas.microsoft.com/office/drawing/2014/main" id="{21C3DEA9-4203-9ED3-DB55-6D9582137DC0}"/>
                  </a:ext>
                </a:extLst>
              </p:cNvPr>
              <p:cNvSpPr>
                <a:spLocks noChangeShapeType="1"/>
              </p:cNvSpPr>
              <p:nvPr/>
            </p:nvSpPr>
            <p:spPr bwMode="auto">
              <a:xfrm>
                <a:off x="4800" y="768"/>
                <a:ext cx="0"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Rectangle 13">
                <a:extLst>
                  <a:ext uri="{FF2B5EF4-FFF2-40B4-BE49-F238E27FC236}">
                    <a16:creationId xmlns:a16="http://schemas.microsoft.com/office/drawing/2014/main" id="{E7B8F244-56B4-8F10-E53A-F13ADE787FE1}"/>
                  </a:ext>
                </a:extLst>
              </p:cNvPr>
              <p:cNvSpPr>
                <a:spLocks noChangeArrowheads="1"/>
              </p:cNvSpPr>
              <p:nvPr/>
            </p:nvSpPr>
            <p:spPr bwMode="auto">
              <a:xfrm>
                <a:off x="4632" y="984"/>
                <a:ext cx="336" cy="144"/>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 name="Oval 14">
                <a:extLst>
                  <a:ext uri="{FF2B5EF4-FFF2-40B4-BE49-F238E27FC236}">
                    <a16:creationId xmlns:a16="http://schemas.microsoft.com/office/drawing/2014/main" id="{392503DD-EAD6-80A5-0D38-2813FC83DF03}"/>
                  </a:ext>
                </a:extLst>
              </p:cNvPr>
              <p:cNvSpPr>
                <a:spLocks noChangeArrowheads="1"/>
              </p:cNvSpPr>
              <p:nvPr/>
            </p:nvSpPr>
            <p:spPr bwMode="auto">
              <a:xfrm>
                <a:off x="4728" y="720"/>
                <a:ext cx="144" cy="144"/>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 name="AutoShape 15">
                <a:extLst>
                  <a:ext uri="{FF2B5EF4-FFF2-40B4-BE49-F238E27FC236}">
                    <a16:creationId xmlns:a16="http://schemas.microsoft.com/office/drawing/2014/main" id="{96B1EE88-6363-B506-0304-4027D421B914}"/>
                  </a:ext>
                </a:extLst>
              </p:cNvPr>
              <p:cNvSpPr>
                <a:spLocks noChangeArrowheads="1"/>
              </p:cNvSpPr>
              <p:nvPr/>
            </p:nvSpPr>
            <p:spPr bwMode="auto">
              <a:xfrm>
                <a:off x="4632" y="1248"/>
                <a:ext cx="336" cy="192"/>
              </a:xfrm>
              <a:prstGeom prst="flowChartDecision">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 name="Rectangle 16">
                <a:extLst>
                  <a:ext uri="{FF2B5EF4-FFF2-40B4-BE49-F238E27FC236}">
                    <a16:creationId xmlns:a16="http://schemas.microsoft.com/office/drawing/2014/main" id="{2947585B-BE51-7A85-BAF1-C76E91FF46DB}"/>
                  </a:ext>
                </a:extLst>
              </p:cNvPr>
              <p:cNvSpPr>
                <a:spLocks noChangeArrowheads="1"/>
              </p:cNvSpPr>
              <p:nvPr/>
            </p:nvSpPr>
            <p:spPr bwMode="auto">
              <a:xfrm>
                <a:off x="4632" y="1560"/>
                <a:ext cx="336" cy="144"/>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 name="Oval 17">
                <a:extLst>
                  <a:ext uri="{FF2B5EF4-FFF2-40B4-BE49-F238E27FC236}">
                    <a16:creationId xmlns:a16="http://schemas.microsoft.com/office/drawing/2014/main" id="{29F58EEA-F2BC-9BDB-EBEA-1377B2AA88B0}"/>
                  </a:ext>
                </a:extLst>
              </p:cNvPr>
              <p:cNvSpPr>
                <a:spLocks noChangeArrowheads="1"/>
              </p:cNvSpPr>
              <p:nvPr/>
            </p:nvSpPr>
            <p:spPr bwMode="auto">
              <a:xfrm>
                <a:off x="4728" y="1824"/>
                <a:ext cx="144" cy="144"/>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31" name="Group 18">
                <a:extLst>
                  <a:ext uri="{FF2B5EF4-FFF2-40B4-BE49-F238E27FC236}">
                    <a16:creationId xmlns:a16="http://schemas.microsoft.com/office/drawing/2014/main" id="{F52F8804-DFDE-E70F-813C-275F85F88673}"/>
                  </a:ext>
                </a:extLst>
              </p:cNvPr>
              <p:cNvGrpSpPr>
                <a:grpSpLocks/>
              </p:cNvGrpSpPr>
              <p:nvPr/>
            </p:nvGrpSpPr>
            <p:grpSpPr bwMode="auto">
              <a:xfrm>
                <a:off x="4976" y="1056"/>
                <a:ext cx="240" cy="288"/>
                <a:chOff x="4944" y="1056"/>
                <a:chExt cx="240" cy="288"/>
              </a:xfrm>
            </p:grpSpPr>
            <p:sp>
              <p:nvSpPr>
                <p:cNvPr id="32" name="Line 19">
                  <a:extLst>
                    <a:ext uri="{FF2B5EF4-FFF2-40B4-BE49-F238E27FC236}">
                      <a16:creationId xmlns:a16="http://schemas.microsoft.com/office/drawing/2014/main" id="{298B4440-365E-1049-3F1E-2B23F03521DD}"/>
                    </a:ext>
                  </a:extLst>
                </p:cNvPr>
                <p:cNvSpPr>
                  <a:spLocks noChangeShapeType="1"/>
                </p:cNvSpPr>
                <p:nvPr/>
              </p:nvSpPr>
              <p:spPr bwMode="auto">
                <a:xfrm>
                  <a:off x="4944" y="1344"/>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20">
                  <a:extLst>
                    <a:ext uri="{FF2B5EF4-FFF2-40B4-BE49-F238E27FC236}">
                      <a16:creationId xmlns:a16="http://schemas.microsoft.com/office/drawing/2014/main" id="{7DAF2A45-4381-A7DC-57EF-ADF1F2B60B6E}"/>
                    </a:ext>
                  </a:extLst>
                </p:cNvPr>
                <p:cNvSpPr>
                  <a:spLocks noChangeShapeType="1"/>
                </p:cNvSpPr>
                <p:nvPr/>
              </p:nvSpPr>
              <p:spPr bwMode="auto">
                <a:xfrm flipV="1">
                  <a:off x="5184" y="1056"/>
                  <a:ext cx="0" cy="2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1">
                  <a:extLst>
                    <a:ext uri="{FF2B5EF4-FFF2-40B4-BE49-F238E27FC236}">
                      <a16:creationId xmlns:a16="http://schemas.microsoft.com/office/drawing/2014/main" id="{EE7640AC-7A65-E040-5667-C28C307603CA}"/>
                    </a:ext>
                  </a:extLst>
                </p:cNvPr>
                <p:cNvSpPr>
                  <a:spLocks noChangeShapeType="1"/>
                </p:cNvSpPr>
                <p:nvPr/>
              </p:nvSpPr>
              <p:spPr bwMode="auto">
                <a:xfrm flipH="1">
                  <a:off x="4944" y="1056"/>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grpSp>
        <p:nvGrpSpPr>
          <p:cNvPr id="89" name="Group 88">
            <a:extLst>
              <a:ext uri="{FF2B5EF4-FFF2-40B4-BE49-F238E27FC236}">
                <a16:creationId xmlns:a16="http://schemas.microsoft.com/office/drawing/2014/main" id="{59561707-35FF-E671-72FA-03BE2EE302C8}"/>
              </a:ext>
            </a:extLst>
          </p:cNvPr>
          <p:cNvGrpSpPr>
            <a:grpSpLocks noChangeAspect="1"/>
          </p:cNvGrpSpPr>
          <p:nvPr/>
        </p:nvGrpSpPr>
        <p:grpSpPr>
          <a:xfrm>
            <a:off x="7035963" y="3864416"/>
            <a:ext cx="3118229" cy="2011680"/>
            <a:chOff x="4725988" y="2073275"/>
            <a:chExt cx="3932237" cy="2536825"/>
          </a:xfrm>
        </p:grpSpPr>
        <p:sp>
          <p:nvSpPr>
            <p:cNvPr id="36" name="Rectangle 6">
              <a:extLst>
                <a:ext uri="{FF2B5EF4-FFF2-40B4-BE49-F238E27FC236}">
                  <a16:creationId xmlns:a16="http://schemas.microsoft.com/office/drawing/2014/main" id="{EFB333F2-B78E-84F3-A1A1-1DD0C741C176}"/>
                </a:ext>
              </a:extLst>
            </p:cNvPr>
            <p:cNvSpPr>
              <a:spLocks noChangeArrowheads="1"/>
            </p:cNvSpPr>
            <p:nvPr/>
          </p:nvSpPr>
          <p:spPr bwMode="auto">
            <a:xfrm>
              <a:off x="4725988" y="2073275"/>
              <a:ext cx="3932237" cy="25368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37" name="Group 22">
              <a:extLst>
                <a:ext uri="{FF2B5EF4-FFF2-40B4-BE49-F238E27FC236}">
                  <a16:creationId xmlns:a16="http://schemas.microsoft.com/office/drawing/2014/main" id="{811198D0-0B5B-8A5A-568D-BA54C46B7AC9}"/>
                </a:ext>
              </a:extLst>
            </p:cNvPr>
            <p:cNvGrpSpPr>
              <a:grpSpLocks/>
            </p:cNvGrpSpPr>
            <p:nvPr/>
          </p:nvGrpSpPr>
          <p:grpSpPr bwMode="auto">
            <a:xfrm>
              <a:off x="5700713" y="2476500"/>
              <a:ext cx="2127250" cy="1738313"/>
              <a:chOff x="2699" y="2271"/>
              <a:chExt cx="547" cy="375"/>
            </a:xfrm>
          </p:grpSpPr>
          <p:sp>
            <p:nvSpPr>
              <p:cNvPr id="38" name="Rectangle 23">
                <a:extLst>
                  <a:ext uri="{FF2B5EF4-FFF2-40B4-BE49-F238E27FC236}">
                    <a16:creationId xmlns:a16="http://schemas.microsoft.com/office/drawing/2014/main" id="{40CBBAED-875B-C75C-8570-58F2FD126DC9}"/>
                  </a:ext>
                </a:extLst>
              </p:cNvPr>
              <p:cNvSpPr>
                <a:spLocks noChangeArrowheads="1"/>
              </p:cNvSpPr>
              <p:nvPr/>
            </p:nvSpPr>
            <p:spPr bwMode="auto">
              <a:xfrm>
                <a:off x="2745" y="2309"/>
                <a:ext cx="94"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Line 24">
                <a:extLst>
                  <a:ext uri="{FF2B5EF4-FFF2-40B4-BE49-F238E27FC236}">
                    <a16:creationId xmlns:a16="http://schemas.microsoft.com/office/drawing/2014/main" id="{43B9C6C0-4647-E59C-EC89-BF87EF127188}"/>
                  </a:ext>
                </a:extLst>
              </p:cNvPr>
              <p:cNvSpPr>
                <a:spLocks noChangeShapeType="1"/>
              </p:cNvSpPr>
              <p:nvPr/>
            </p:nvSpPr>
            <p:spPr bwMode="auto">
              <a:xfrm>
                <a:off x="2799" y="2326"/>
                <a:ext cx="83" cy="14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 name="Freeform 25">
                <a:extLst>
                  <a:ext uri="{FF2B5EF4-FFF2-40B4-BE49-F238E27FC236}">
                    <a16:creationId xmlns:a16="http://schemas.microsoft.com/office/drawing/2014/main" id="{7F8D5B62-42C5-1863-22C5-A44B356D9AEB}"/>
                  </a:ext>
                </a:extLst>
              </p:cNvPr>
              <p:cNvSpPr>
                <a:spLocks/>
              </p:cNvSpPr>
              <p:nvPr/>
            </p:nvSpPr>
            <p:spPr bwMode="auto">
              <a:xfrm>
                <a:off x="2838" y="2409"/>
                <a:ext cx="45" cy="66"/>
              </a:xfrm>
              <a:custGeom>
                <a:avLst/>
                <a:gdLst>
                  <a:gd name="T0" fmla="*/ 24 w 41"/>
                  <a:gd name="T1" fmla="*/ 0 h 57"/>
                  <a:gd name="T2" fmla="*/ 44 w 41"/>
                  <a:gd name="T3" fmla="*/ 65 h 57"/>
                  <a:gd name="T4" fmla="*/ 0 w 41"/>
                  <a:gd name="T5" fmla="*/ 16 h 57"/>
                  <a:gd name="T6" fmla="*/ 24 w 41"/>
                  <a:gd name="T7" fmla="*/ 0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7">
                    <a:moveTo>
                      <a:pt x="22" y="0"/>
                    </a:moveTo>
                    <a:lnTo>
                      <a:pt x="40" y="56"/>
                    </a:lnTo>
                    <a:lnTo>
                      <a:pt x="0" y="14"/>
                    </a:lnTo>
                    <a:lnTo>
                      <a:pt x="22"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1" name="Line 26">
                <a:extLst>
                  <a:ext uri="{FF2B5EF4-FFF2-40B4-BE49-F238E27FC236}">
                    <a16:creationId xmlns:a16="http://schemas.microsoft.com/office/drawing/2014/main" id="{BD2A75F7-B5D7-3985-F5BF-4999DFC6F85C}"/>
                  </a:ext>
                </a:extLst>
              </p:cNvPr>
              <p:cNvSpPr>
                <a:spLocks noChangeShapeType="1"/>
              </p:cNvSpPr>
              <p:nvPr/>
            </p:nvSpPr>
            <p:spPr bwMode="auto">
              <a:xfrm>
                <a:off x="2752" y="2477"/>
                <a:ext cx="4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 name="Freeform 27">
                <a:extLst>
                  <a:ext uri="{FF2B5EF4-FFF2-40B4-BE49-F238E27FC236}">
                    <a16:creationId xmlns:a16="http://schemas.microsoft.com/office/drawing/2014/main" id="{72FE3530-F077-4421-5032-8BFBBD13815A}"/>
                  </a:ext>
                </a:extLst>
              </p:cNvPr>
              <p:cNvSpPr>
                <a:spLocks/>
              </p:cNvSpPr>
              <p:nvPr/>
            </p:nvSpPr>
            <p:spPr bwMode="auto">
              <a:xfrm>
                <a:off x="3136" y="2460"/>
                <a:ext cx="61" cy="34"/>
              </a:xfrm>
              <a:custGeom>
                <a:avLst/>
                <a:gdLst>
                  <a:gd name="T0" fmla="*/ 0 w 55"/>
                  <a:gd name="T1" fmla="*/ 0 h 30"/>
                  <a:gd name="T2" fmla="*/ 60 w 55"/>
                  <a:gd name="T3" fmla="*/ 16 h 30"/>
                  <a:gd name="T4" fmla="*/ 0 w 55"/>
                  <a:gd name="T5" fmla="*/ 33 h 30"/>
                  <a:gd name="T6" fmla="*/ 0 w 5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 h="30">
                    <a:moveTo>
                      <a:pt x="0" y="0"/>
                    </a:moveTo>
                    <a:lnTo>
                      <a:pt x="54" y="14"/>
                    </a:lnTo>
                    <a:lnTo>
                      <a:pt x="0" y="29"/>
                    </a:lnTo>
                    <a:lnTo>
                      <a:pt x="0"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3" name="Line 28">
                <a:extLst>
                  <a:ext uri="{FF2B5EF4-FFF2-40B4-BE49-F238E27FC236}">
                    <a16:creationId xmlns:a16="http://schemas.microsoft.com/office/drawing/2014/main" id="{3015D290-0E3D-E64B-1739-7B6A25A01CC4}"/>
                  </a:ext>
                </a:extLst>
              </p:cNvPr>
              <p:cNvSpPr>
                <a:spLocks noChangeShapeType="1"/>
              </p:cNvSpPr>
              <p:nvPr/>
            </p:nvSpPr>
            <p:spPr bwMode="auto">
              <a:xfrm>
                <a:off x="3044" y="2327"/>
                <a:ext cx="83" cy="14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 name="Freeform 29">
                <a:extLst>
                  <a:ext uri="{FF2B5EF4-FFF2-40B4-BE49-F238E27FC236}">
                    <a16:creationId xmlns:a16="http://schemas.microsoft.com/office/drawing/2014/main" id="{EB606479-E081-800D-2CA4-2EC07CB129B1}"/>
                  </a:ext>
                </a:extLst>
              </p:cNvPr>
              <p:cNvSpPr>
                <a:spLocks/>
              </p:cNvSpPr>
              <p:nvPr/>
            </p:nvSpPr>
            <p:spPr bwMode="auto">
              <a:xfrm>
                <a:off x="3083" y="2412"/>
                <a:ext cx="46" cy="64"/>
              </a:xfrm>
              <a:custGeom>
                <a:avLst/>
                <a:gdLst>
                  <a:gd name="T0" fmla="*/ 26 w 41"/>
                  <a:gd name="T1" fmla="*/ 0 h 56"/>
                  <a:gd name="T2" fmla="*/ 45 w 41"/>
                  <a:gd name="T3" fmla="*/ 63 h 56"/>
                  <a:gd name="T4" fmla="*/ 0 w 41"/>
                  <a:gd name="T5" fmla="*/ 16 h 56"/>
                  <a:gd name="T6" fmla="*/ 26 w 41"/>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6">
                    <a:moveTo>
                      <a:pt x="23" y="0"/>
                    </a:moveTo>
                    <a:lnTo>
                      <a:pt x="40" y="55"/>
                    </a:lnTo>
                    <a:lnTo>
                      <a:pt x="0" y="14"/>
                    </a:lnTo>
                    <a:lnTo>
                      <a:pt x="23"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5" name="Line 30">
                <a:extLst>
                  <a:ext uri="{FF2B5EF4-FFF2-40B4-BE49-F238E27FC236}">
                    <a16:creationId xmlns:a16="http://schemas.microsoft.com/office/drawing/2014/main" id="{01EE07CA-A6F3-8AD8-43C1-703B335E42D1}"/>
                  </a:ext>
                </a:extLst>
              </p:cNvPr>
              <p:cNvSpPr>
                <a:spLocks noChangeShapeType="1"/>
              </p:cNvSpPr>
              <p:nvPr/>
            </p:nvSpPr>
            <p:spPr bwMode="auto">
              <a:xfrm flipV="1">
                <a:off x="2796" y="2481"/>
                <a:ext cx="89" cy="1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 name="Freeform 31">
                <a:extLst>
                  <a:ext uri="{FF2B5EF4-FFF2-40B4-BE49-F238E27FC236}">
                    <a16:creationId xmlns:a16="http://schemas.microsoft.com/office/drawing/2014/main" id="{6431E92D-853D-3D4C-E3AF-A0FFE9E0BBF4}"/>
                  </a:ext>
                </a:extLst>
              </p:cNvPr>
              <p:cNvSpPr>
                <a:spLocks/>
              </p:cNvSpPr>
              <p:nvPr/>
            </p:nvSpPr>
            <p:spPr bwMode="auto">
              <a:xfrm>
                <a:off x="2838" y="2481"/>
                <a:ext cx="48" cy="64"/>
              </a:xfrm>
              <a:custGeom>
                <a:avLst/>
                <a:gdLst>
                  <a:gd name="T0" fmla="*/ 0 w 43"/>
                  <a:gd name="T1" fmla="*/ 45 h 56"/>
                  <a:gd name="T2" fmla="*/ 47 w 43"/>
                  <a:gd name="T3" fmla="*/ 0 h 56"/>
                  <a:gd name="T4" fmla="*/ 25 w 43"/>
                  <a:gd name="T5" fmla="*/ 63 h 56"/>
                  <a:gd name="T6" fmla="*/ 0 w 43"/>
                  <a:gd name="T7" fmla="*/ 45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6">
                    <a:moveTo>
                      <a:pt x="0" y="39"/>
                    </a:moveTo>
                    <a:lnTo>
                      <a:pt x="42" y="0"/>
                    </a:lnTo>
                    <a:lnTo>
                      <a:pt x="22" y="55"/>
                    </a:lnTo>
                    <a:lnTo>
                      <a:pt x="0" y="39"/>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7" name="Line 32">
                <a:extLst>
                  <a:ext uri="{FF2B5EF4-FFF2-40B4-BE49-F238E27FC236}">
                    <a16:creationId xmlns:a16="http://schemas.microsoft.com/office/drawing/2014/main" id="{B69322CD-5DBD-E1DB-6F2E-19E3DADD4C13}"/>
                  </a:ext>
                </a:extLst>
              </p:cNvPr>
              <p:cNvSpPr>
                <a:spLocks noChangeShapeType="1"/>
              </p:cNvSpPr>
              <p:nvPr/>
            </p:nvSpPr>
            <p:spPr bwMode="auto">
              <a:xfrm flipV="1">
                <a:off x="3037" y="2483"/>
                <a:ext cx="89" cy="1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8" name="Freeform 33">
                <a:extLst>
                  <a:ext uri="{FF2B5EF4-FFF2-40B4-BE49-F238E27FC236}">
                    <a16:creationId xmlns:a16="http://schemas.microsoft.com/office/drawing/2014/main" id="{29785B4E-FC0F-D318-DB9F-3132694DC51B}"/>
                  </a:ext>
                </a:extLst>
              </p:cNvPr>
              <p:cNvSpPr>
                <a:spLocks/>
              </p:cNvSpPr>
              <p:nvPr/>
            </p:nvSpPr>
            <p:spPr bwMode="auto">
              <a:xfrm>
                <a:off x="3080" y="2483"/>
                <a:ext cx="47" cy="65"/>
              </a:xfrm>
              <a:custGeom>
                <a:avLst/>
                <a:gdLst>
                  <a:gd name="T0" fmla="*/ 0 w 43"/>
                  <a:gd name="T1" fmla="*/ 46 h 57"/>
                  <a:gd name="T2" fmla="*/ 46 w 43"/>
                  <a:gd name="T3" fmla="*/ 0 h 57"/>
                  <a:gd name="T4" fmla="*/ 24 w 43"/>
                  <a:gd name="T5" fmla="*/ 64 h 57"/>
                  <a:gd name="T6" fmla="*/ 0 w 43"/>
                  <a:gd name="T7" fmla="*/ 46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7">
                    <a:moveTo>
                      <a:pt x="0" y="40"/>
                    </a:moveTo>
                    <a:lnTo>
                      <a:pt x="42" y="0"/>
                    </a:lnTo>
                    <a:lnTo>
                      <a:pt x="22" y="56"/>
                    </a:lnTo>
                    <a:lnTo>
                      <a:pt x="0" y="4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9" name="Rectangle 34">
                <a:extLst>
                  <a:ext uri="{FF2B5EF4-FFF2-40B4-BE49-F238E27FC236}">
                    <a16:creationId xmlns:a16="http://schemas.microsoft.com/office/drawing/2014/main" id="{EF427FA4-4E75-16AE-0C51-5782BC7F3C40}"/>
                  </a:ext>
                </a:extLst>
              </p:cNvPr>
              <p:cNvSpPr>
                <a:spLocks noChangeArrowheads="1"/>
              </p:cNvSpPr>
              <p:nvPr/>
            </p:nvSpPr>
            <p:spPr bwMode="auto">
              <a:xfrm>
                <a:off x="2993" y="2309"/>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6" name="Rectangle 35">
                <a:extLst>
                  <a:ext uri="{FF2B5EF4-FFF2-40B4-BE49-F238E27FC236}">
                    <a16:creationId xmlns:a16="http://schemas.microsoft.com/office/drawing/2014/main" id="{3D110F84-0498-0E0D-BA39-5039D96123C0}"/>
                  </a:ext>
                </a:extLst>
              </p:cNvPr>
              <p:cNvSpPr>
                <a:spLocks noChangeArrowheads="1"/>
              </p:cNvSpPr>
              <p:nvPr/>
            </p:nvSpPr>
            <p:spPr bwMode="auto">
              <a:xfrm>
                <a:off x="2747" y="2630"/>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7" name="Rectangle 36">
                <a:extLst>
                  <a:ext uri="{FF2B5EF4-FFF2-40B4-BE49-F238E27FC236}">
                    <a16:creationId xmlns:a16="http://schemas.microsoft.com/office/drawing/2014/main" id="{CC81CCB1-76EE-A641-0E10-8320283B0511}"/>
                  </a:ext>
                </a:extLst>
              </p:cNvPr>
              <p:cNvSpPr>
                <a:spLocks noChangeArrowheads="1"/>
              </p:cNvSpPr>
              <p:nvPr/>
            </p:nvSpPr>
            <p:spPr bwMode="auto">
              <a:xfrm>
                <a:off x="2980" y="2634"/>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8" name="Rectangle 37">
                <a:extLst>
                  <a:ext uri="{FF2B5EF4-FFF2-40B4-BE49-F238E27FC236}">
                    <a16:creationId xmlns:a16="http://schemas.microsoft.com/office/drawing/2014/main" id="{100A7EFA-CA5A-C61F-6338-54BA1B2EAB68}"/>
                  </a:ext>
                </a:extLst>
              </p:cNvPr>
              <p:cNvSpPr>
                <a:spLocks noChangeArrowheads="1"/>
              </p:cNvSpPr>
              <p:nvPr/>
            </p:nvSpPr>
            <p:spPr bwMode="auto">
              <a:xfrm>
                <a:off x="2708" y="2271"/>
                <a:ext cx="68"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Manpower</a:t>
                </a:r>
              </a:p>
            </p:txBody>
          </p:sp>
          <p:sp>
            <p:nvSpPr>
              <p:cNvPr id="79" name="Rectangle 38">
                <a:extLst>
                  <a:ext uri="{FF2B5EF4-FFF2-40B4-BE49-F238E27FC236}">
                    <a16:creationId xmlns:a16="http://schemas.microsoft.com/office/drawing/2014/main" id="{34D8AA6C-D5D0-53E0-063E-9CEFAB93D084}"/>
                  </a:ext>
                </a:extLst>
              </p:cNvPr>
              <p:cNvSpPr>
                <a:spLocks noChangeArrowheads="1"/>
              </p:cNvSpPr>
              <p:nvPr/>
            </p:nvSpPr>
            <p:spPr bwMode="auto">
              <a:xfrm>
                <a:off x="2964" y="2271"/>
                <a:ext cx="62"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Methods</a:t>
                </a:r>
              </a:p>
            </p:txBody>
          </p:sp>
          <p:sp>
            <p:nvSpPr>
              <p:cNvPr id="80" name="Rectangle 39">
                <a:extLst>
                  <a:ext uri="{FF2B5EF4-FFF2-40B4-BE49-F238E27FC236}">
                    <a16:creationId xmlns:a16="http://schemas.microsoft.com/office/drawing/2014/main" id="{66BA9227-0346-C816-631A-D71EA410482C}"/>
                  </a:ext>
                </a:extLst>
              </p:cNvPr>
              <p:cNvSpPr>
                <a:spLocks noChangeArrowheads="1"/>
              </p:cNvSpPr>
              <p:nvPr/>
            </p:nvSpPr>
            <p:spPr bwMode="auto">
              <a:xfrm>
                <a:off x="2712" y="2593"/>
                <a:ext cx="64"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Materials</a:t>
                </a:r>
              </a:p>
            </p:txBody>
          </p:sp>
          <p:sp>
            <p:nvSpPr>
              <p:cNvPr id="81" name="Rectangle 40">
                <a:extLst>
                  <a:ext uri="{FF2B5EF4-FFF2-40B4-BE49-F238E27FC236}">
                    <a16:creationId xmlns:a16="http://schemas.microsoft.com/office/drawing/2014/main" id="{A59F86ED-E626-D480-22E3-9A072AF5D05E}"/>
                  </a:ext>
                </a:extLst>
              </p:cNvPr>
              <p:cNvSpPr>
                <a:spLocks noChangeArrowheads="1"/>
              </p:cNvSpPr>
              <p:nvPr/>
            </p:nvSpPr>
            <p:spPr bwMode="auto">
              <a:xfrm>
                <a:off x="2947" y="2595"/>
                <a:ext cx="68"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Machinery</a:t>
                </a:r>
              </a:p>
            </p:txBody>
          </p:sp>
          <p:sp>
            <p:nvSpPr>
              <p:cNvPr id="82" name="Rectangle 41">
                <a:extLst>
                  <a:ext uri="{FF2B5EF4-FFF2-40B4-BE49-F238E27FC236}">
                    <a16:creationId xmlns:a16="http://schemas.microsoft.com/office/drawing/2014/main" id="{D4BCB474-11D1-4AC7-FC44-B60091A1F65E}"/>
                  </a:ext>
                </a:extLst>
              </p:cNvPr>
              <p:cNvSpPr>
                <a:spLocks noChangeArrowheads="1"/>
              </p:cNvSpPr>
              <p:nvPr/>
            </p:nvSpPr>
            <p:spPr bwMode="auto">
              <a:xfrm>
                <a:off x="2699" y="2576"/>
                <a:ext cx="47" cy="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 b="0">
                    <a:solidFill>
                      <a:srgbClr val="000000"/>
                    </a:solidFill>
                  </a:rPr>
                  <a:t>Wrong</a:t>
                </a:r>
              </a:p>
            </p:txBody>
          </p:sp>
          <p:sp>
            <p:nvSpPr>
              <p:cNvPr id="83" name="Rectangle 42">
                <a:extLst>
                  <a:ext uri="{FF2B5EF4-FFF2-40B4-BE49-F238E27FC236}">
                    <a16:creationId xmlns:a16="http://schemas.microsoft.com/office/drawing/2014/main" id="{CAF750CF-0B72-3413-8D6B-10A52DE91FA2}"/>
                  </a:ext>
                </a:extLst>
              </p:cNvPr>
              <p:cNvSpPr>
                <a:spLocks noChangeArrowheads="1"/>
              </p:cNvSpPr>
              <p:nvPr/>
            </p:nvSpPr>
            <p:spPr bwMode="auto">
              <a:xfrm>
                <a:off x="3203" y="2430"/>
                <a:ext cx="43" cy="8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4" name="Rectangle 43">
                <a:extLst>
                  <a:ext uri="{FF2B5EF4-FFF2-40B4-BE49-F238E27FC236}">
                    <a16:creationId xmlns:a16="http://schemas.microsoft.com/office/drawing/2014/main" id="{0101D6CB-A1E8-39E4-4B40-D25C6E4059A2}"/>
                  </a:ext>
                </a:extLst>
              </p:cNvPr>
              <p:cNvSpPr>
                <a:spLocks noChangeArrowheads="1"/>
              </p:cNvSpPr>
              <p:nvPr/>
            </p:nvSpPr>
            <p:spPr bwMode="auto">
              <a:xfrm>
                <a:off x="3154" y="2401"/>
                <a:ext cx="50"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P.C.</a:t>
                </a:r>
              </a:p>
            </p:txBody>
          </p:sp>
          <p:sp>
            <p:nvSpPr>
              <p:cNvPr id="85" name="Rectangle 44">
                <a:extLst>
                  <a:ext uri="{FF2B5EF4-FFF2-40B4-BE49-F238E27FC236}">
                    <a16:creationId xmlns:a16="http://schemas.microsoft.com/office/drawing/2014/main" id="{89366F7C-CD72-FBF9-B983-FD789269D380}"/>
                  </a:ext>
                </a:extLst>
              </p:cNvPr>
              <p:cNvSpPr>
                <a:spLocks noChangeArrowheads="1"/>
              </p:cNvSpPr>
              <p:nvPr/>
            </p:nvSpPr>
            <p:spPr bwMode="auto">
              <a:xfrm>
                <a:off x="3151" y="2414"/>
                <a:ext cx="55"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Board</a:t>
                </a:r>
              </a:p>
            </p:txBody>
          </p:sp>
          <p:sp>
            <p:nvSpPr>
              <p:cNvPr id="86" name="Rectangle 45">
                <a:extLst>
                  <a:ext uri="{FF2B5EF4-FFF2-40B4-BE49-F238E27FC236}">
                    <a16:creationId xmlns:a16="http://schemas.microsoft.com/office/drawing/2014/main" id="{7BAF7A99-A746-DE94-8D30-D3E6755E4822}"/>
                  </a:ext>
                </a:extLst>
              </p:cNvPr>
              <p:cNvSpPr>
                <a:spLocks noChangeArrowheads="1"/>
              </p:cNvSpPr>
              <p:nvPr/>
            </p:nvSpPr>
            <p:spPr bwMode="auto">
              <a:xfrm>
                <a:off x="3153" y="2428"/>
                <a:ext cx="53"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Yield</a:t>
                </a:r>
              </a:p>
            </p:txBody>
          </p:sp>
          <p:sp>
            <p:nvSpPr>
              <p:cNvPr id="87" name="Rectangle 46">
                <a:extLst>
                  <a:ext uri="{FF2B5EF4-FFF2-40B4-BE49-F238E27FC236}">
                    <a16:creationId xmlns:a16="http://schemas.microsoft.com/office/drawing/2014/main" id="{7EA3E1CF-3306-261C-6297-8DB945C27978}"/>
                  </a:ext>
                </a:extLst>
              </p:cNvPr>
              <p:cNvSpPr>
                <a:spLocks noChangeArrowheads="1"/>
              </p:cNvSpPr>
              <p:nvPr/>
            </p:nvSpPr>
            <p:spPr bwMode="auto">
              <a:xfrm>
                <a:off x="3154" y="2440"/>
                <a:ext cx="51"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Too </a:t>
                </a:r>
              </a:p>
            </p:txBody>
          </p:sp>
          <p:sp>
            <p:nvSpPr>
              <p:cNvPr id="88" name="Rectangle 47">
                <a:extLst>
                  <a:ext uri="{FF2B5EF4-FFF2-40B4-BE49-F238E27FC236}">
                    <a16:creationId xmlns:a16="http://schemas.microsoft.com/office/drawing/2014/main" id="{52A9B350-04EF-2D3F-6930-BC09DF913EF5}"/>
                  </a:ext>
                </a:extLst>
              </p:cNvPr>
              <p:cNvSpPr>
                <a:spLocks noChangeArrowheads="1"/>
              </p:cNvSpPr>
              <p:nvPr/>
            </p:nvSpPr>
            <p:spPr bwMode="auto">
              <a:xfrm>
                <a:off x="3155" y="2454"/>
                <a:ext cx="50"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Low</a:t>
                </a:r>
              </a:p>
            </p:txBody>
          </p:sp>
        </p:grpSp>
      </p:grpSp>
      <p:sp>
        <p:nvSpPr>
          <p:cNvPr id="10" name="Slide Number Placeholder 16">
            <a:extLst>
              <a:ext uri="{FF2B5EF4-FFF2-40B4-BE49-F238E27FC236}">
                <a16:creationId xmlns:a16="http://schemas.microsoft.com/office/drawing/2014/main" id="{0BCC382A-6DAC-BC23-905B-D1FD4923E62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93</a:t>
            </a:fld>
            <a:endParaRPr lang="en-US" sz="1000" dirty="0"/>
          </a:p>
        </p:txBody>
      </p:sp>
    </p:spTree>
    <p:extLst>
      <p:ext uri="{BB962C8B-B14F-4D97-AF65-F5344CB8AC3E}">
        <p14:creationId xmlns:p14="http://schemas.microsoft.com/office/powerpoint/2010/main" val="19923300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B</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5S and Visual Management</a:t>
            </a:r>
          </a:p>
        </p:txBody>
      </p:sp>
      <p:sp>
        <p:nvSpPr>
          <p:cNvPr id="7" name="Slide Number Placeholder 16">
            <a:extLst>
              <a:ext uri="{FF2B5EF4-FFF2-40B4-BE49-F238E27FC236}">
                <a16:creationId xmlns:a16="http://schemas.microsoft.com/office/drawing/2014/main" id="{C250CD5B-B6C8-9BF5-21C0-0397C0A94953}"/>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94</a:t>
            </a:fld>
            <a:endParaRPr lang="en-US" sz="1000" dirty="0"/>
          </a:p>
        </p:txBody>
      </p:sp>
    </p:spTree>
    <p:extLst>
      <p:ext uri="{BB962C8B-B14F-4D97-AF65-F5344CB8AC3E}">
        <p14:creationId xmlns:p14="http://schemas.microsoft.com/office/powerpoint/2010/main" val="25315888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9652-0344-649C-4899-5C51019C9104}"/>
              </a:ext>
            </a:extLst>
          </p:cNvPr>
          <p:cNvSpPr>
            <a:spLocks noGrp="1"/>
          </p:cNvSpPr>
          <p:nvPr>
            <p:ph type="title"/>
          </p:nvPr>
        </p:nvSpPr>
        <p:spPr/>
        <p:txBody>
          <a:bodyPr/>
          <a:lstStyle/>
          <a:p>
            <a:r>
              <a:rPr lang="en-US" dirty="0"/>
              <a:t>Goal of 5S</a:t>
            </a:r>
          </a:p>
        </p:txBody>
      </p:sp>
      <p:sp>
        <p:nvSpPr>
          <p:cNvPr id="3" name="Content Placeholder 2">
            <a:extLst>
              <a:ext uri="{FF2B5EF4-FFF2-40B4-BE49-F238E27FC236}">
                <a16:creationId xmlns:a16="http://schemas.microsoft.com/office/drawing/2014/main" id="{11C84BD3-830D-F9E6-82EF-A0A207884C4A}"/>
              </a:ext>
            </a:extLst>
          </p:cNvPr>
          <p:cNvSpPr>
            <a:spLocks noGrp="1"/>
          </p:cNvSpPr>
          <p:nvPr>
            <p:ph sz="half" idx="1"/>
          </p:nvPr>
        </p:nvSpPr>
        <p:spPr>
          <a:xfrm>
            <a:off x="838200" y="2118233"/>
            <a:ext cx="3352800" cy="4351338"/>
          </a:xfrm>
        </p:spPr>
        <p:txBody>
          <a:bodyPr>
            <a:normAutofit lnSpcReduction="10000"/>
          </a:bodyPr>
          <a:lstStyle/>
          <a:p>
            <a:r>
              <a:rPr lang="en-US" dirty="0"/>
              <a:t>The goal of 5S is to create workplace organization, improve productivity, enable visual management, and lay the foundation for all other lean tools. </a:t>
            </a:r>
          </a:p>
          <a:p>
            <a:endParaRPr lang="en-US" dirty="0"/>
          </a:p>
        </p:txBody>
      </p:sp>
      <p:sp>
        <p:nvSpPr>
          <p:cNvPr id="4" name="Content Placeholder 3">
            <a:extLst>
              <a:ext uri="{FF2B5EF4-FFF2-40B4-BE49-F238E27FC236}">
                <a16:creationId xmlns:a16="http://schemas.microsoft.com/office/drawing/2014/main" id="{F722547B-EEC8-E769-6ECF-4C745E6ED25E}"/>
              </a:ext>
            </a:extLst>
          </p:cNvPr>
          <p:cNvSpPr>
            <a:spLocks noGrp="1"/>
          </p:cNvSpPr>
          <p:nvPr>
            <p:ph sz="half" idx="2"/>
          </p:nvPr>
        </p:nvSpPr>
        <p:spPr>
          <a:xfrm>
            <a:off x="4826000" y="2118233"/>
            <a:ext cx="5334000" cy="4351338"/>
          </a:xfrm>
        </p:spPr>
        <p:txBody>
          <a:bodyPr>
            <a:normAutofit lnSpcReduction="10000"/>
          </a:bodyPr>
          <a:lstStyle/>
          <a:p>
            <a:r>
              <a:rPr lang="en-US" sz="2200" dirty="0"/>
              <a:t>Safety</a:t>
            </a:r>
          </a:p>
          <a:p>
            <a:pPr lvl="1"/>
            <a:r>
              <a:rPr lang="en-US" sz="1900" dirty="0"/>
              <a:t>Reduce the number of lost time accidents, worker’s compensation claims and OSHA recordables</a:t>
            </a:r>
          </a:p>
          <a:p>
            <a:r>
              <a:rPr lang="en-US" sz="2200" dirty="0"/>
              <a:t>Quality</a:t>
            </a:r>
          </a:p>
          <a:p>
            <a:pPr lvl="1"/>
            <a:r>
              <a:rPr lang="en-US" sz="1900" dirty="0"/>
              <a:t>Eliminate the possibility of using previously rejected parts or the wrong tools; eliminate contamination and assure compliance to standard procedures</a:t>
            </a:r>
          </a:p>
          <a:p>
            <a:r>
              <a:rPr lang="en-US" sz="2200" dirty="0"/>
              <a:t>Productivity</a:t>
            </a:r>
          </a:p>
          <a:p>
            <a:pPr lvl="1"/>
            <a:r>
              <a:rPr lang="en-US" sz="1900" dirty="0"/>
              <a:t>Eliminate wasted time looking for tools; reduce cycle time, reduce equipment downtime through regular cleaning and inspection</a:t>
            </a:r>
          </a:p>
          <a:p>
            <a:endParaRPr lang="en-US" sz="2400" dirty="0"/>
          </a:p>
        </p:txBody>
      </p:sp>
      <p:sp>
        <p:nvSpPr>
          <p:cNvPr id="8" name="Rectangle 5">
            <a:extLst>
              <a:ext uri="{FF2B5EF4-FFF2-40B4-BE49-F238E27FC236}">
                <a16:creationId xmlns:a16="http://schemas.microsoft.com/office/drawing/2014/main" id="{CDCC0EA7-C8D3-BBF5-DB27-1FF484592534}"/>
              </a:ext>
            </a:extLst>
          </p:cNvPr>
          <p:cNvSpPr>
            <a:spLocks noChangeArrowheads="1"/>
          </p:cNvSpPr>
          <p:nvPr/>
        </p:nvSpPr>
        <p:spPr bwMode="auto">
          <a:xfrm>
            <a:off x="4884738" y="1750473"/>
            <a:ext cx="5021262" cy="307975"/>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dirty="0">
                <a:latin typeface="Roboto" panose="02000000000000000000" pitchFamily="2" charset="0"/>
                <a:ea typeface="Roboto" panose="02000000000000000000" pitchFamily="2" charset="0"/>
                <a:cs typeface="Roboto" panose="02000000000000000000" pitchFamily="2" charset="0"/>
              </a:rPr>
              <a:t>Benefits of 5S Culture</a:t>
            </a:r>
          </a:p>
        </p:txBody>
      </p:sp>
      <p:sp>
        <p:nvSpPr>
          <p:cNvPr id="9" name="Slide Number Placeholder 16">
            <a:extLst>
              <a:ext uri="{FF2B5EF4-FFF2-40B4-BE49-F238E27FC236}">
                <a16:creationId xmlns:a16="http://schemas.microsoft.com/office/drawing/2014/main" id="{DBE4AFB5-665A-1773-8A19-75DDE84DE0AD}"/>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95</a:t>
            </a:fld>
            <a:endParaRPr lang="en-US" sz="1000" dirty="0"/>
          </a:p>
        </p:txBody>
      </p:sp>
    </p:spTree>
    <p:extLst>
      <p:ext uri="{BB962C8B-B14F-4D97-AF65-F5344CB8AC3E}">
        <p14:creationId xmlns:p14="http://schemas.microsoft.com/office/powerpoint/2010/main" val="14644690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3322111873"/>
              </p:ext>
            </p:extLst>
          </p:nvPr>
        </p:nvGraphicFramePr>
        <p:xfrm>
          <a:off x="862832" y="2206560"/>
          <a:ext cx="8564736" cy="3378090"/>
        </p:xfrm>
        <a:graphic>
          <a:graphicData uri="http://schemas.openxmlformats.org/drawingml/2006/table">
            <a:tbl>
              <a:tblPr/>
              <a:tblGrid>
                <a:gridCol w="3261397">
                  <a:extLst>
                    <a:ext uri="{9D8B030D-6E8A-4147-A177-3AD203B41FA5}">
                      <a16:colId xmlns:a16="http://schemas.microsoft.com/office/drawing/2014/main" val="20000"/>
                    </a:ext>
                  </a:extLst>
                </a:gridCol>
                <a:gridCol w="5303339">
                  <a:extLst>
                    <a:ext uri="{9D8B030D-6E8A-4147-A177-3AD203B41FA5}">
                      <a16:colId xmlns:a16="http://schemas.microsoft.com/office/drawing/2014/main" val="20001"/>
                    </a:ext>
                  </a:extLst>
                </a:gridCol>
              </a:tblGrid>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1S – Sort</a:t>
                      </a:r>
                    </a:p>
                  </a:txBody>
                  <a:tcPr anchor="ctr" horzOverflow="overflow">
                    <a:lnL w="0">
                      <a:miter lim="400000"/>
                    </a:lnL>
                    <a:lnR w="12700" cap="flat" cmpd="sng" algn="ctr">
                      <a:solidFill>
                        <a:srgbClr val="7F7F7F"/>
                      </a:solidFill>
                      <a:prstDash val="solid"/>
                      <a:round/>
                      <a:headEnd type="none" w="med" len="med"/>
                      <a:tailEnd type="none" w="med" len="med"/>
                    </a:lnR>
                    <a:lnT w="0">
                      <a:noFill/>
                      <a:miter lim="400000"/>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Define what is necessary and unnecessary </a:t>
                      </a:r>
                    </a:p>
                  </a:txBody>
                  <a:tcPr anchor="ctr" horzOverflow="overflow">
                    <a:lnL w="12700" cap="flat" cmpd="sng" algn="ctr">
                      <a:solidFill>
                        <a:srgbClr val="7F7F7F"/>
                      </a:solidFill>
                      <a:prstDash val="solid"/>
                      <a:round/>
                      <a:headEnd type="none" w="med" len="med"/>
                      <a:tailEnd type="none" w="med" len="med"/>
                    </a:lnL>
                    <a:lnR w="0">
                      <a:noFill/>
                      <a:miter lim="400000"/>
                    </a:lnR>
                    <a:lnT w="0">
                      <a:noFill/>
                      <a:miter lim="400000"/>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2S – Straighten</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A place for everything and everything in its place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2079495773"/>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3S – Scrub</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Thoroughly clean the area and identify the sources of uncleanliness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3337234801"/>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4S – Standardize</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Execute process to maintain/improve the standards of the first 3 S’s</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686762846"/>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5S - Sustain</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0">
                      <a:noFill/>
                      <a:miter lim="400000"/>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A sustained, disciplined 5S culture in the workplace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0">
                      <a:noFill/>
                      <a:miter lim="400000"/>
                    </a:lnB>
                    <a:solidFill>
                      <a:schemeClr val="tx1"/>
                    </a:solidFill>
                  </a:tcPr>
                </a:tc>
                <a:extLst>
                  <a:ext uri="{0D108BD9-81ED-4DB2-BD59-A6C34878D82A}">
                    <a16:rowId xmlns:a16="http://schemas.microsoft.com/office/drawing/2014/main" val="1020431273"/>
                  </a:ext>
                </a:extLst>
              </a:tr>
            </a:tbl>
          </a:graphicData>
        </a:graphic>
      </p:graphicFrame>
      <p:sp>
        <p:nvSpPr>
          <p:cNvPr id="6" name="Slide Number Placeholder 16">
            <a:extLst>
              <a:ext uri="{FF2B5EF4-FFF2-40B4-BE49-F238E27FC236}">
                <a16:creationId xmlns:a16="http://schemas.microsoft.com/office/drawing/2014/main" id="{3FF76988-270B-B2F2-FABD-09ABE3BB0952}"/>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96</a:t>
            </a:fld>
            <a:endParaRPr lang="en-US" sz="1000" dirty="0"/>
          </a:p>
        </p:txBody>
      </p:sp>
      <p:sp>
        <p:nvSpPr>
          <p:cNvPr id="7" name="Title 6">
            <a:extLst>
              <a:ext uri="{FF2B5EF4-FFF2-40B4-BE49-F238E27FC236}">
                <a16:creationId xmlns:a16="http://schemas.microsoft.com/office/drawing/2014/main" id="{B58043DC-708D-D877-5535-209416136557}"/>
              </a:ext>
            </a:extLst>
          </p:cNvPr>
          <p:cNvSpPr>
            <a:spLocks noGrp="1"/>
          </p:cNvSpPr>
          <p:nvPr>
            <p:ph type="title"/>
          </p:nvPr>
        </p:nvSpPr>
        <p:spPr/>
        <p:txBody>
          <a:bodyPr>
            <a:normAutofit/>
          </a:bodyPr>
          <a:lstStyle/>
          <a:p>
            <a:r>
              <a:rPr lang="en-US" dirty="0">
                <a:ea typeface="+mj-ea"/>
                <a:cs typeface="+mj-cs"/>
              </a:rPr>
              <a:t>5S – English Translations </a:t>
            </a:r>
            <a:endParaRPr lang="en-US" dirty="0"/>
          </a:p>
        </p:txBody>
      </p:sp>
    </p:spTree>
    <p:extLst>
      <p:ext uri="{BB962C8B-B14F-4D97-AF65-F5344CB8AC3E}">
        <p14:creationId xmlns:p14="http://schemas.microsoft.com/office/powerpoint/2010/main" val="13104530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FA1E5D7-5D11-B3C2-8F4B-29039920DCEE}"/>
              </a:ext>
            </a:extLst>
          </p:cNvPr>
          <p:cNvSpPr>
            <a:spLocks noGrp="1"/>
          </p:cNvSpPr>
          <p:nvPr>
            <p:ph type="title"/>
          </p:nvPr>
        </p:nvSpPr>
        <p:spPr/>
        <p:txBody>
          <a:bodyPr>
            <a:normAutofit/>
          </a:bodyPr>
          <a:lstStyle/>
          <a:p>
            <a:r>
              <a:rPr lang="en-US" sz="4000" dirty="0">
                <a:ea typeface="+mj-ea"/>
                <a:cs typeface="+mj-cs"/>
              </a:rPr>
              <a:t>Visual Management</a:t>
            </a:r>
            <a:endParaRPr lang="en-US" sz="4000" dirty="0"/>
          </a:p>
        </p:txBody>
      </p:sp>
      <p:sp>
        <p:nvSpPr>
          <p:cNvPr id="8" name="Text Placeholder 7">
            <a:extLst>
              <a:ext uri="{FF2B5EF4-FFF2-40B4-BE49-F238E27FC236}">
                <a16:creationId xmlns:a16="http://schemas.microsoft.com/office/drawing/2014/main" id="{1C161974-DCEA-78FF-2256-6D0E9A3D9D91}"/>
              </a:ext>
            </a:extLst>
          </p:cNvPr>
          <p:cNvSpPr>
            <a:spLocks noGrp="1"/>
          </p:cNvSpPr>
          <p:nvPr>
            <p:ph type="body" sz="half" idx="2"/>
          </p:nvPr>
        </p:nvSpPr>
        <p:spPr/>
        <p:txBody>
          <a:bodyPr>
            <a:normAutofit fontScale="92500"/>
          </a:bodyPr>
          <a:lstStyle/>
          <a:p>
            <a:pPr marL="285750" indent="-285750">
              <a:buFont typeface="Arial" panose="020B0604020202020204" pitchFamily="34" charset="0"/>
              <a:buChar char="•"/>
            </a:pPr>
            <a:r>
              <a:rPr lang="en-US" sz="2400" dirty="0"/>
              <a:t>Visual Management allows us to separate the Normal from the Abnormal at a glance</a:t>
            </a:r>
          </a:p>
          <a:p>
            <a:pPr marL="285750" indent="-285750">
              <a:buFont typeface="Arial" panose="020B0604020202020204" pitchFamily="34" charset="0"/>
              <a:buChar char="•"/>
            </a:pPr>
            <a:r>
              <a:rPr lang="en-US" sz="2400" dirty="0"/>
              <a:t>This enables any level of the organization to very quickly find the focus for their efforts</a:t>
            </a:r>
          </a:p>
          <a:p>
            <a:pPr marL="285750" indent="-285750">
              <a:buFont typeface="Arial" panose="020B0604020202020204" pitchFamily="34" charset="0"/>
              <a:buChar char="•"/>
            </a:pPr>
            <a:r>
              <a:rPr lang="en-US" sz="2400" dirty="0"/>
              <a:t>If you don’t have visual management…how do you know what to work on?</a:t>
            </a:r>
          </a:p>
        </p:txBody>
      </p:sp>
      <p:pic>
        <p:nvPicPr>
          <p:cNvPr id="9" name="Picture 5" descr="mvc-001l">
            <a:extLst>
              <a:ext uri="{FF2B5EF4-FFF2-40B4-BE49-F238E27FC236}">
                <a16:creationId xmlns:a16="http://schemas.microsoft.com/office/drawing/2014/main" id="{BBDC2B86-3CC2-833B-5750-CB4B18509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184628"/>
            <a:ext cx="2012950" cy="194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bigstockphoto_Instrument_Cluster_131244">
            <a:extLst>
              <a:ext uri="{FF2B5EF4-FFF2-40B4-BE49-F238E27FC236}">
                <a16:creationId xmlns:a16="http://schemas.microsoft.com/office/drawing/2014/main" id="{EED781C8-D1DF-305A-CB4B-F461AA4F5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1088" y="3957991"/>
            <a:ext cx="3779837"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descr="GEMS03">
            <a:extLst>
              <a:ext uri="{FF2B5EF4-FFF2-40B4-BE49-F238E27FC236}">
                <a16:creationId xmlns:a16="http://schemas.microsoft.com/office/drawing/2014/main" id="{769883F5-E482-ED93-28FA-BBA6440197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6688" y="2213328"/>
            <a:ext cx="2201862"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16">
            <a:extLst>
              <a:ext uri="{FF2B5EF4-FFF2-40B4-BE49-F238E27FC236}">
                <a16:creationId xmlns:a16="http://schemas.microsoft.com/office/drawing/2014/main" id="{B72C9838-6B83-F035-495F-734877931F65}"/>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97</a:t>
            </a:fld>
            <a:endParaRPr lang="en-US" sz="1000" dirty="0"/>
          </a:p>
        </p:txBody>
      </p:sp>
    </p:spTree>
    <p:extLst>
      <p:ext uri="{BB962C8B-B14F-4D97-AF65-F5344CB8AC3E}">
        <p14:creationId xmlns:p14="http://schemas.microsoft.com/office/powerpoint/2010/main" val="39519746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C</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Poka-yoke</a:t>
            </a:r>
          </a:p>
        </p:txBody>
      </p:sp>
      <p:sp>
        <p:nvSpPr>
          <p:cNvPr id="8" name="Slide Number Placeholder 16">
            <a:extLst>
              <a:ext uri="{FF2B5EF4-FFF2-40B4-BE49-F238E27FC236}">
                <a16:creationId xmlns:a16="http://schemas.microsoft.com/office/drawing/2014/main" id="{C3A43081-A835-062E-E79D-3173154E6DFD}"/>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98</a:t>
            </a:fld>
            <a:endParaRPr lang="en-US" sz="1000" dirty="0"/>
          </a:p>
        </p:txBody>
      </p:sp>
    </p:spTree>
    <p:extLst>
      <p:ext uri="{BB962C8B-B14F-4D97-AF65-F5344CB8AC3E}">
        <p14:creationId xmlns:p14="http://schemas.microsoft.com/office/powerpoint/2010/main" val="42170540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Poka-Yoke: Error-Proofing</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2021877"/>
            <a:ext cx="9610725" cy="3016848"/>
            <a:chOff x="488950" y="1828800"/>
            <a:chExt cx="8189913" cy="2060575"/>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Examples</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 </a:t>
              </a:r>
              <a:r>
                <a:rPr lang="en-US" altLang="en-US" sz="1800" dirty="0" err="1">
                  <a:solidFill>
                    <a:srgbClr val="222222"/>
                  </a:solidFill>
                  <a:latin typeface="Roboto" panose="02000000000000000000" pitchFamily="2" charset="0"/>
                  <a:ea typeface="Roboto" panose="02000000000000000000" pitchFamily="2" charset="0"/>
                  <a:cs typeface="Roboto" panose="02000000000000000000" pitchFamily="2" charset="0"/>
                </a:rPr>
                <a:t>Jidoka</a:t>
              </a:r>
              <a:endPar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Poka-Yoke</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 Japanese term meaning “mistake-proof”</a:t>
              </a:r>
            </a:p>
            <a:p>
              <a:pPr lvl="1"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Inadvertent errors (</a:t>
              </a:r>
              <a:r>
                <a:rPr lang="en-US" altLang="en-US" sz="1400" b="0" dirty="0" err="1">
                  <a:solidFill>
                    <a:srgbClr val="222222"/>
                  </a:solidFill>
                  <a:latin typeface="Roboto" panose="02000000000000000000" pitchFamily="2" charset="0"/>
                  <a:ea typeface="Roboto" panose="02000000000000000000" pitchFamily="2" charset="0"/>
                  <a:cs typeface="Roboto" panose="02000000000000000000" pitchFamily="2" charset="0"/>
                </a:rPr>
                <a:t>Poka</a:t>
              </a: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t>
              </a:r>
            </a:p>
            <a:p>
              <a:pPr lvl="1"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To avoid (</a:t>
              </a:r>
              <a:r>
                <a:rPr lang="en-US" altLang="en-US" sz="1400" b="0" dirty="0" err="1">
                  <a:solidFill>
                    <a:srgbClr val="222222"/>
                  </a:solidFill>
                  <a:latin typeface="Roboto" panose="02000000000000000000" pitchFamily="2" charset="0"/>
                  <a:ea typeface="Roboto" panose="02000000000000000000" pitchFamily="2" charset="0"/>
                  <a:cs typeface="Roboto" panose="02000000000000000000" pitchFamily="2" charset="0"/>
                </a:rPr>
                <a:t>yokeru</a:t>
              </a: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t>
              </a:r>
            </a:p>
            <a:p>
              <a:pPr algn="l" eaLnBrk="1" hangingPunct="1">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 method of designing processes that will prevent errors</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Also referred to as “autonomation,” means a method of transferring human intelligence to the process</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The process detects abnormalities and stops when detected</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Motion detect light switches room enter and exit</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Car stops when object in path</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Auto shut-off irons </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Automatic sinks in public restrooms</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Low clearance barriers in parking garage</a:t>
              </a:r>
            </a:p>
          </p:txBody>
        </p:sp>
      </p:grpSp>
      <p:sp>
        <p:nvSpPr>
          <p:cNvPr id="3" name="Slide Number Placeholder 16">
            <a:extLst>
              <a:ext uri="{FF2B5EF4-FFF2-40B4-BE49-F238E27FC236}">
                <a16:creationId xmlns:a16="http://schemas.microsoft.com/office/drawing/2014/main" id="{A91A7B38-F4FF-C53F-EC1E-706D51647F2E}"/>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99</a:t>
            </a:fld>
            <a:endParaRPr lang="en-US" sz="1000" dirty="0"/>
          </a:p>
        </p:txBody>
      </p:sp>
    </p:spTree>
    <p:extLst>
      <p:ext uri="{BB962C8B-B14F-4D97-AF65-F5344CB8AC3E}">
        <p14:creationId xmlns:p14="http://schemas.microsoft.com/office/powerpoint/2010/main" val="4334135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lstStyle/>
          <a:p>
            <a:r>
              <a:rPr lang="en-US" dirty="0"/>
              <a:t>Poka-Yoke Philosophy</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Promotes defect prevention vs. defect detection</a:t>
            </a:r>
          </a:p>
          <a:p>
            <a:r>
              <a:rPr lang="en-US" dirty="0"/>
              <a:t>Recognizes that people forget and make errors, and machines and processes fail and make errors </a:t>
            </a:r>
          </a:p>
          <a:p>
            <a:r>
              <a:rPr lang="en-US" dirty="0"/>
              <a:t>Respects the intelligence of workers by taking the judgment out of repetitive tasks or actions where errors are likely to occur</a:t>
            </a:r>
          </a:p>
          <a:p>
            <a:r>
              <a:rPr lang="en-US" dirty="0"/>
              <a:t>Utilizes people working in the process to “mistake-proof” the process because they own it</a:t>
            </a:r>
          </a:p>
        </p:txBody>
      </p:sp>
      <p:sp>
        <p:nvSpPr>
          <p:cNvPr id="7" name="Slide Number Placeholder 16">
            <a:extLst>
              <a:ext uri="{FF2B5EF4-FFF2-40B4-BE49-F238E27FC236}">
                <a16:creationId xmlns:a16="http://schemas.microsoft.com/office/drawing/2014/main" id="{BEDCFCA5-612D-402A-B0F0-D7B8A80DA49B}"/>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100</a:t>
            </a:fld>
            <a:endParaRPr lang="en-US" sz="1000" dirty="0"/>
          </a:p>
        </p:txBody>
      </p:sp>
    </p:spTree>
    <p:extLst>
      <p:ext uri="{BB962C8B-B14F-4D97-AF65-F5344CB8AC3E}">
        <p14:creationId xmlns:p14="http://schemas.microsoft.com/office/powerpoint/2010/main" val="2507733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D</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Standard Work</a:t>
            </a:r>
          </a:p>
        </p:txBody>
      </p:sp>
      <p:sp>
        <p:nvSpPr>
          <p:cNvPr id="7" name="Slide Number Placeholder 16">
            <a:extLst>
              <a:ext uri="{FF2B5EF4-FFF2-40B4-BE49-F238E27FC236}">
                <a16:creationId xmlns:a16="http://schemas.microsoft.com/office/drawing/2014/main" id="{B17E76AA-6D56-2AA1-387E-B54F59BF9F7B}"/>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101</a:t>
            </a:fld>
            <a:endParaRPr lang="en-US" sz="1000" dirty="0"/>
          </a:p>
        </p:txBody>
      </p:sp>
    </p:spTree>
    <p:extLst>
      <p:ext uri="{BB962C8B-B14F-4D97-AF65-F5344CB8AC3E}">
        <p14:creationId xmlns:p14="http://schemas.microsoft.com/office/powerpoint/2010/main" val="32658313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lstStyle/>
          <a:p>
            <a:r>
              <a:rPr lang="en-US" dirty="0"/>
              <a:t>Standard Work—Defined </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A tool that defines the interaction of people and their environment when processing a product or service</a:t>
            </a:r>
          </a:p>
          <a:p>
            <a:r>
              <a:rPr lang="en-US" dirty="0"/>
              <a:t>Details the motion of the operator and the work sequence of the operator</a:t>
            </a:r>
          </a:p>
          <a:p>
            <a:r>
              <a:rPr lang="en-US" dirty="0"/>
              <a:t>Provides a routine for consistency of an operation</a:t>
            </a:r>
          </a:p>
          <a:p>
            <a:r>
              <a:rPr lang="en-US" dirty="0"/>
              <a:t>Details the best process we currently know and understand</a:t>
            </a:r>
          </a:p>
          <a:p>
            <a:r>
              <a:rPr lang="en-US" dirty="0"/>
              <a:t>Provides a basis for improvement by defining the normal and highlighting the abnormal</a:t>
            </a:r>
          </a:p>
        </p:txBody>
      </p:sp>
      <p:sp>
        <p:nvSpPr>
          <p:cNvPr id="7" name="Text Box 12">
            <a:extLst>
              <a:ext uri="{FF2B5EF4-FFF2-40B4-BE49-F238E27FC236}">
                <a16:creationId xmlns:a16="http://schemas.microsoft.com/office/drawing/2014/main" id="{A43CDD53-7697-AD3E-A2D3-563BD32FCD1B}"/>
              </a:ext>
            </a:extLst>
          </p:cNvPr>
          <p:cNvSpPr txBox="1">
            <a:spLocks noChangeArrowheads="1"/>
          </p:cNvSpPr>
          <p:nvPr/>
        </p:nvSpPr>
        <p:spPr bwMode="auto">
          <a:xfrm>
            <a:off x="1997075" y="5574665"/>
            <a:ext cx="8197850" cy="400110"/>
          </a:xfrm>
          <a:prstGeom prst="rect">
            <a:avLst/>
          </a:prstGeom>
          <a:solidFill>
            <a:srgbClr val="FFB627"/>
          </a:solidFill>
          <a:ln w="12700">
            <a:solidFill>
              <a:schemeClr val="tx1"/>
            </a:solidFill>
            <a:miter lim="800000"/>
            <a:headEnd type="none" w="sm" len="sm"/>
            <a:tailEnd type="none" w="sm" len="sm"/>
          </a:ln>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2000" b="0" i="1" dirty="0">
                <a:solidFill>
                  <a:schemeClr val="tx1"/>
                </a:solidFill>
                <a:latin typeface="Roboto" panose="02000000000000000000" pitchFamily="2" charset="0"/>
                <a:ea typeface="Roboto" panose="02000000000000000000" pitchFamily="2" charset="0"/>
                <a:cs typeface="Roboto" panose="02000000000000000000" pitchFamily="2" charset="0"/>
              </a:rPr>
              <a:t>There can be no improvement without a standard!</a:t>
            </a:r>
          </a:p>
        </p:txBody>
      </p:sp>
      <p:sp>
        <p:nvSpPr>
          <p:cNvPr id="8" name="Slide Number Placeholder 16">
            <a:extLst>
              <a:ext uri="{FF2B5EF4-FFF2-40B4-BE49-F238E27FC236}">
                <a16:creationId xmlns:a16="http://schemas.microsoft.com/office/drawing/2014/main" id="{8C591172-D201-9E1F-C53A-EA57CB018297}"/>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102</a:t>
            </a:fld>
            <a:endParaRPr lang="en-US" sz="1000" dirty="0"/>
          </a:p>
        </p:txBody>
      </p:sp>
    </p:spTree>
    <p:extLst>
      <p:ext uri="{BB962C8B-B14F-4D97-AF65-F5344CB8AC3E}">
        <p14:creationId xmlns:p14="http://schemas.microsoft.com/office/powerpoint/2010/main" val="46626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Transactional Standard Work you already know</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SOP’s</a:t>
            </a:r>
          </a:p>
          <a:p>
            <a:r>
              <a:rPr lang="en-US" dirty="0"/>
              <a:t>Forms, Tables, Checklists</a:t>
            </a:r>
          </a:p>
          <a:p>
            <a:r>
              <a:rPr lang="en-US" dirty="0"/>
              <a:t>Pictures</a:t>
            </a:r>
          </a:p>
          <a:p>
            <a:r>
              <a:rPr lang="en-US" dirty="0"/>
              <a:t>Flow charts</a:t>
            </a:r>
          </a:p>
          <a:p>
            <a:r>
              <a:rPr lang="en-US" dirty="0"/>
              <a:t>Worksheets </a:t>
            </a:r>
          </a:p>
        </p:txBody>
      </p:sp>
      <p:sp>
        <p:nvSpPr>
          <p:cNvPr id="7" name="Slide Number Placeholder 16">
            <a:extLst>
              <a:ext uri="{FF2B5EF4-FFF2-40B4-BE49-F238E27FC236}">
                <a16:creationId xmlns:a16="http://schemas.microsoft.com/office/drawing/2014/main" id="{F89E9657-769F-43BE-ECC0-4452D6F726E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103</a:t>
            </a:fld>
            <a:endParaRPr lang="en-US" sz="1000" dirty="0"/>
          </a:p>
        </p:txBody>
      </p:sp>
    </p:spTree>
    <p:extLst>
      <p:ext uri="{BB962C8B-B14F-4D97-AF65-F5344CB8AC3E}">
        <p14:creationId xmlns:p14="http://schemas.microsoft.com/office/powerpoint/2010/main" val="4983799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Standard Operating Procedures (SOPs)</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Pictures</a:t>
            </a:r>
          </a:p>
          <a:p>
            <a:r>
              <a:rPr lang="en-US" dirty="0"/>
              <a:t>Diagrams</a:t>
            </a:r>
          </a:p>
          <a:p>
            <a:r>
              <a:rPr lang="en-US" dirty="0"/>
              <a:t>Signs</a:t>
            </a:r>
          </a:p>
          <a:p>
            <a:r>
              <a:rPr lang="en-US" dirty="0"/>
              <a:t>Written Text</a:t>
            </a:r>
          </a:p>
          <a:p>
            <a:r>
              <a:rPr lang="en-US" dirty="0"/>
              <a:t>Electronic Instructions</a:t>
            </a:r>
          </a:p>
        </p:txBody>
      </p:sp>
      <p:sp>
        <p:nvSpPr>
          <p:cNvPr id="7" name="Slide Number Placeholder 16">
            <a:extLst>
              <a:ext uri="{FF2B5EF4-FFF2-40B4-BE49-F238E27FC236}">
                <a16:creationId xmlns:a16="http://schemas.microsoft.com/office/drawing/2014/main" id="{F94C9ED1-561F-0724-DA10-B92F7F403294}"/>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104</a:t>
            </a:fld>
            <a:endParaRPr lang="en-US" sz="1000" dirty="0"/>
          </a:p>
        </p:txBody>
      </p:sp>
    </p:spTree>
    <p:extLst>
      <p:ext uri="{BB962C8B-B14F-4D97-AF65-F5344CB8AC3E}">
        <p14:creationId xmlns:p14="http://schemas.microsoft.com/office/powerpoint/2010/main" val="25847148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Cellularization</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Construct U-Shaped Cells that link processes and locate </a:t>
            </a:r>
            <a:br>
              <a:rPr lang="en-US" sz="2400" dirty="0"/>
            </a:br>
            <a:r>
              <a:rPr lang="en-US" sz="2400" dirty="0"/>
              <a:t>teams together</a:t>
            </a:r>
          </a:p>
          <a:p>
            <a:r>
              <a:rPr lang="en-US" sz="2400" dirty="0"/>
              <a:t>Equipment and layout should permit easy material and </a:t>
            </a:r>
            <a:br>
              <a:rPr lang="en-US" sz="2400" dirty="0"/>
            </a:br>
            <a:r>
              <a:rPr lang="en-US" sz="2400" dirty="0"/>
              <a:t>information flow</a:t>
            </a:r>
          </a:p>
          <a:p>
            <a:r>
              <a:rPr lang="en-US" sz="2400" dirty="0"/>
              <a:t>Make equipment easy to disconnect and relocate</a:t>
            </a:r>
          </a:p>
          <a:p>
            <a:r>
              <a:rPr lang="en-US" sz="2400" dirty="0"/>
              <a:t>Utilize the open room concept for better visual management and to improve associate communication</a:t>
            </a:r>
          </a:p>
          <a:p>
            <a:r>
              <a:rPr lang="en-US" sz="2400" dirty="0"/>
              <a:t>Process should be pulled to takt time - do not allow room or capability for batching</a:t>
            </a:r>
          </a:p>
          <a:p>
            <a:r>
              <a:rPr lang="en-US" sz="2400" dirty="0"/>
              <a:t>Implement single piece flow and avoid excessive WIP</a:t>
            </a:r>
          </a:p>
        </p:txBody>
      </p:sp>
      <p:sp>
        <p:nvSpPr>
          <p:cNvPr id="7" name="Slide Number Placeholder 16">
            <a:extLst>
              <a:ext uri="{FF2B5EF4-FFF2-40B4-BE49-F238E27FC236}">
                <a16:creationId xmlns:a16="http://schemas.microsoft.com/office/drawing/2014/main" id="{7DFC7E4B-4006-83AB-E910-2610697F568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105</a:t>
            </a:fld>
            <a:endParaRPr lang="en-US" sz="1000" dirty="0"/>
          </a:p>
        </p:txBody>
      </p:sp>
    </p:spTree>
    <p:extLst>
      <p:ext uri="{BB962C8B-B14F-4D97-AF65-F5344CB8AC3E}">
        <p14:creationId xmlns:p14="http://schemas.microsoft.com/office/powerpoint/2010/main" val="6239420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How Many People Do We Need?</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Staffing is approximated using</a:t>
            </a:r>
          </a:p>
          <a:p>
            <a:endParaRPr lang="en-US" sz="2400" dirty="0"/>
          </a:p>
          <a:p>
            <a:pPr marL="0" indent="0">
              <a:buNone/>
            </a:pPr>
            <a:r>
              <a:rPr lang="en-US" sz="2400" dirty="0"/>
              <a:t># of People  =  Sum of Individual Process Cycle Times</a:t>
            </a:r>
          </a:p>
          <a:p>
            <a:pPr marL="0" indent="0">
              <a:buNone/>
            </a:pPr>
            <a:r>
              <a:rPr lang="en-US" sz="2400" dirty="0"/>
              <a:t>				Takt Time</a:t>
            </a:r>
          </a:p>
          <a:p>
            <a:pPr marL="0" indent="0">
              <a:buNone/>
            </a:pPr>
            <a:endParaRPr lang="en-US" sz="2400" dirty="0"/>
          </a:p>
        </p:txBody>
      </p:sp>
      <p:cxnSp>
        <p:nvCxnSpPr>
          <p:cNvPr id="8" name="Straight Connector 7">
            <a:extLst>
              <a:ext uri="{FF2B5EF4-FFF2-40B4-BE49-F238E27FC236}">
                <a16:creationId xmlns:a16="http://schemas.microsoft.com/office/drawing/2014/main" id="{9B39A64D-E091-1D0B-B0F9-7F0F1B4214D1}"/>
              </a:ext>
            </a:extLst>
          </p:cNvPr>
          <p:cNvCxnSpPr/>
          <p:nvPr/>
        </p:nvCxnSpPr>
        <p:spPr>
          <a:xfrm>
            <a:off x="2933700" y="3149600"/>
            <a:ext cx="52197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16">
            <a:extLst>
              <a:ext uri="{FF2B5EF4-FFF2-40B4-BE49-F238E27FC236}">
                <a16:creationId xmlns:a16="http://schemas.microsoft.com/office/drawing/2014/main" id="{7133A3F3-1C99-7FEA-3B83-212A70D160A0}"/>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106</a:t>
            </a:fld>
            <a:endParaRPr lang="en-US" sz="1000" dirty="0"/>
          </a:p>
        </p:txBody>
      </p:sp>
    </p:spTree>
    <p:extLst>
      <p:ext uri="{BB962C8B-B14F-4D97-AF65-F5344CB8AC3E}">
        <p14:creationId xmlns:p14="http://schemas.microsoft.com/office/powerpoint/2010/main" val="1947491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Operator Loading Chart</a:t>
            </a:r>
          </a:p>
        </p:txBody>
      </p:sp>
      <p:pic>
        <p:nvPicPr>
          <p:cNvPr id="10" name="Picture 1">
            <a:extLst>
              <a:ext uri="{FF2B5EF4-FFF2-40B4-BE49-F238E27FC236}">
                <a16:creationId xmlns:a16="http://schemas.microsoft.com/office/drawing/2014/main" id="{36873B07-1B0D-9D4C-8E72-8AF34DA01AE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690688"/>
            <a:ext cx="8305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3B6231F8-7874-DEA6-9EF1-A61476282740}"/>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107</a:t>
            </a:fld>
            <a:endParaRPr lang="en-US" sz="1000" dirty="0"/>
          </a:p>
        </p:txBody>
      </p:sp>
    </p:spTree>
    <p:extLst>
      <p:ext uri="{BB962C8B-B14F-4D97-AF65-F5344CB8AC3E}">
        <p14:creationId xmlns:p14="http://schemas.microsoft.com/office/powerpoint/2010/main" val="1597280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Operator/Process Loading Chart</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Visual picture of time allocated to each team member</a:t>
            </a:r>
          </a:p>
          <a:p>
            <a:r>
              <a:rPr lang="en-US" sz="2400" dirty="0"/>
              <a:t>Documents how many people are on the team for a given process</a:t>
            </a:r>
          </a:p>
          <a:p>
            <a:r>
              <a:rPr lang="en-US" sz="2400" dirty="0"/>
              <a:t>Plotted against TAKT Time</a:t>
            </a:r>
          </a:p>
          <a:p>
            <a:r>
              <a:rPr lang="en-US" sz="2400" dirty="0"/>
              <a:t>Post at mouth of cell</a:t>
            </a:r>
          </a:p>
        </p:txBody>
      </p:sp>
      <p:sp>
        <p:nvSpPr>
          <p:cNvPr id="7" name="Slide Number Placeholder 16">
            <a:extLst>
              <a:ext uri="{FF2B5EF4-FFF2-40B4-BE49-F238E27FC236}">
                <a16:creationId xmlns:a16="http://schemas.microsoft.com/office/drawing/2014/main" id="{AC976711-DB76-6C1D-A038-EF1AA9ABF764}"/>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108</a:t>
            </a:fld>
            <a:endParaRPr lang="en-US" sz="1000" dirty="0"/>
          </a:p>
        </p:txBody>
      </p:sp>
    </p:spTree>
    <p:extLst>
      <p:ext uri="{BB962C8B-B14F-4D97-AF65-F5344CB8AC3E}">
        <p14:creationId xmlns:p14="http://schemas.microsoft.com/office/powerpoint/2010/main" val="38664990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Standardized Work</a:t>
            </a:r>
          </a:p>
        </p:txBody>
      </p:sp>
      <p:sp>
        <p:nvSpPr>
          <p:cNvPr id="81" name="Rectangle 80">
            <a:extLst>
              <a:ext uri="{FF2B5EF4-FFF2-40B4-BE49-F238E27FC236}">
                <a16:creationId xmlns:a16="http://schemas.microsoft.com/office/drawing/2014/main" id="{5F5FD905-C936-6C13-9CAE-0417C0F85E31}"/>
              </a:ext>
            </a:extLst>
          </p:cNvPr>
          <p:cNvSpPr/>
          <p:nvPr/>
        </p:nvSpPr>
        <p:spPr>
          <a:xfrm>
            <a:off x="838200" y="1793935"/>
            <a:ext cx="8750300" cy="4276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812225BC-92EF-B3DD-0712-39C361EB09A6}"/>
              </a:ext>
            </a:extLst>
          </p:cNvPr>
          <p:cNvGrpSpPr/>
          <p:nvPr/>
        </p:nvGrpSpPr>
        <p:grpSpPr>
          <a:xfrm>
            <a:off x="846931" y="1789302"/>
            <a:ext cx="8609013" cy="4629551"/>
            <a:chOff x="406400" y="1421999"/>
            <a:chExt cx="8609013" cy="4629551"/>
          </a:xfrm>
        </p:grpSpPr>
        <p:sp>
          <p:nvSpPr>
            <p:cNvPr id="3" name="Rectangle 54">
              <a:extLst>
                <a:ext uri="{FF2B5EF4-FFF2-40B4-BE49-F238E27FC236}">
                  <a16:creationId xmlns:a16="http://schemas.microsoft.com/office/drawing/2014/main" id="{27653E16-99FB-FBC0-F205-700441426A4D}"/>
                </a:ext>
              </a:extLst>
            </p:cNvPr>
            <p:cNvSpPr>
              <a:spLocks noChangeArrowheads="1"/>
            </p:cNvSpPr>
            <p:nvPr/>
          </p:nvSpPr>
          <p:spPr bwMode="auto">
            <a:xfrm>
              <a:off x="3787775" y="4346575"/>
              <a:ext cx="1223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dirty="0">
                  <a:solidFill>
                    <a:srgbClr val="EE3228"/>
                  </a:solidFill>
                  <a:latin typeface="Roboto" panose="02000000000000000000" pitchFamily="2" charset="0"/>
                  <a:ea typeface="Roboto" panose="02000000000000000000" pitchFamily="2" charset="0"/>
                  <a:cs typeface="Roboto" panose="02000000000000000000" pitchFamily="2" charset="0"/>
                </a:rPr>
                <a:t>Traditional</a:t>
              </a:r>
            </a:p>
          </p:txBody>
        </p:sp>
        <p:sp>
          <p:nvSpPr>
            <p:cNvPr id="7" name="Text Box 2">
              <a:extLst>
                <a:ext uri="{FF2B5EF4-FFF2-40B4-BE49-F238E27FC236}">
                  <a16:creationId xmlns:a16="http://schemas.microsoft.com/office/drawing/2014/main" id="{3D8D1D98-3582-A69B-65E2-28B4A6D5E3AA}"/>
                </a:ext>
              </a:extLst>
            </p:cNvPr>
            <p:cNvSpPr txBox="1">
              <a:spLocks noChangeArrowheads="1"/>
            </p:cNvSpPr>
            <p:nvPr/>
          </p:nvSpPr>
          <p:spPr bwMode="auto">
            <a:xfrm>
              <a:off x="3870325" y="3013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Text Box 4">
              <a:extLst>
                <a:ext uri="{FF2B5EF4-FFF2-40B4-BE49-F238E27FC236}">
                  <a16:creationId xmlns:a16="http://schemas.microsoft.com/office/drawing/2014/main" id="{A998157F-4C9A-DDEF-4C81-EFA87EFDD310}"/>
                </a:ext>
              </a:extLst>
            </p:cNvPr>
            <p:cNvSpPr txBox="1">
              <a:spLocks noChangeArrowheads="1"/>
            </p:cNvSpPr>
            <p:nvPr/>
          </p:nvSpPr>
          <p:spPr bwMode="auto">
            <a:xfrm>
              <a:off x="3794125" y="2446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 name="Text Box 7">
              <a:extLst>
                <a:ext uri="{FF2B5EF4-FFF2-40B4-BE49-F238E27FC236}">
                  <a16:creationId xmlns:a16="http://schemas.microsoft.com/office/drawing/2014/main" id="{A6FFBB31-FA43-ADD0-E570-6963C1282855}"/>
                </a:ext>
              </a:extLst>
            </p:cNvPr>
            <p:cNvSpPr txBox="1">
              <a:spLocks noChangeArrowheads="1"/>
            </p:cNvSpPr>
            <p:nvPr/>
          </p:nvSpPr>
          <p:spPr bwMode="auto">
            <a:xfrm>
              <a:off x="2955925" y="2065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Rectangle 8">
              <a:extLst>
                <a:ext uri="{FF2B5EF4-FFF2-40B4-BE49-F238E27FC236}">
                  <a16:creationId xmlns:a16="http://schemas.microsoft.com/office/drawing/2014/main" id="{72202004-74A4-3B05-F5E4-4EE5EF1FD97F}"/>
                </a:ext>
              </a:extLst>
            </p:cNvPr>
            <p:cNvSpPr>
              <a:spLocks noChangeArrowheads="1"/>
            </p:cNvSpPr>
            <p:nvPr/>
          </p:nvSpPr>
          <p:spPr bwMode="auto">
            <a:xfrm>
              <a:off x="2771775" y="1421999"/>
              <a:ext cx="1096454"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dirty="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12" name="Text Box 9">
              <a:extLst>
                <a:ext uri="{FF2B5EF4-FFF2-40B4-BE49-F238E27FC236}">
                  <a16:creationId xmlns:a16="http://schemas.microsoft.com/office/drawing/2014/main" id="{98386503-7F51-EF1C-19B3-D97F037AEDEE}"/>
                </a:ext>
              </a:extLst>
            </p:cNvPr>
            <p:cNvSpPr txBox="1">
              <a:spLocks noChangeArrowheads="1"/>
            </p:cNvSpPr>
            <p:nvPr/>
          </p:nvSpPr>
          <p:spPr bwMode="auto">
            <a:xfrm>
              <a:off x="12795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3" name="Line 10">
              <a:extLst>
                <a:ext uri="{FF2B5EF4-FFF2-40B4-BE49-F238E27FC236}">
                  <a16:creationId xmlns:a16="http://schemas.microsoft.com/office/drawing/2014/main" id="{1EB74D3B-A01D-099A-00DD-7A104C924C69}"/>
                </a:ext>
              </a:extLst>
            </p:cNvPr>
            <p:cNvSpPr>
              <a:spLocks noChangeShapeType="1"/>
            </p:cNvSpPr>
            <p:nvPr/>
          </p:nvSpPr>
          <p:spPr bwMode="auto">
            <a:xfrm>
              <a:off x="406400" y="1536299"/>
              <a:ext cx="2392363"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 name="Text Box 11">
              <a:extLst>
                <a:ext uri="{FF2B5EF4-FFF2-40B4-BE49-F238E27FC236}">
                  <a16:creationId xmlns:a16="http://schemas.microsoft.com/office/drawing/2014/main" id="{4BF9DB71-C3A8-1DD3-F6D2-A749798423A3}"/>
                </a:ext>
              </a:extLst>
            </p:cNvPr>
            <p:cNvSpPr txBox="1">
              <a:spLocks noChangeArrowheads="1"/>
            </p:cNvSpPr>
            <p:nvPr/>
          </p:nvSpPr>
          <p:spPr bwMode="auto">
            <a:xfrm>
              <a:off x="517525" y="1989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Line 12">
              <a:extLst>
                <a:ext uri="{FF2B5EF4-FFF2-40B4-BE49-F238E27FC236}">
                  <a16:creationId xmlns:a16="http://schemas.microsoft.com/office/drawing/2014/main" id="{1424ABAF-7D26-F717-16FF-47234EDC87A5}"/>
                </a:ext>
              </a:extLst>
            </p:cNvPr>
            <p:cNvSpPr>
              <a:spLocks noChangeShapeType="1"/>
            </p:cNvSpPr>
            <p:nvPr/>
          </p:nvSpPr>
          <p:spPr bwMode="auto">
            <a:xfrm>
              <a:off x="561975" y="1812925"/>
              <a:ext cx="0" cy="120491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 name="Text Box 13">
              <a:extLst>
                <a:ext uri="{FF2B5EF4-FFF2-40B4-BE49-F238E27FC236}">
                  <a16:creationId xmlns:a16="http://schemas.microsoft.com/office/drawing/2014/main" id="{1C9F1A45-5DFF-5A46-E55F-EEACAB1B6346}"/>
                </a:ext>
              </a:extLst>
            </p:cNvPr>
            <p:cNvSpPr txBox="1">
              <a:spLocks noChangeArrowheads="1"/>
            </p:cNvSpPr>
            <p:nvPr/>
          </p:nvSpPr>
          <p:spPr bwMode="auto">
            <a:xfrm>
              <a:off x="746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7" name="Rectangle 14">
              <a:extLst>
                <a:ext uri="{FF2B5EF4-FFF2-40B4-BE49-F238E27FC236}">
                  <a16:creationId xmlns:a16="http://schemas.microsoft.com/office/drawing/2014/main" id="{F7A86512-A485-5CA6-F86A-B867C6D1DEB4}"/>
                </a:ext>
              </a:extLst>
            </p:cNvPr>
            <p:cNvSpPr>
              <a:spLocks noChangeArrowheads="1"/>
            </p:cNvSpPr>
            <p:nvPr/>
          </p:nvSpPr>
          <p:spPr bwMode="auto">
            <a:xfrm>
              <a:off x="700088" y="1747838"/>
              <a:ext cx="322262" cy="12636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8" name="Rectangle 15">
              <a:extLst>
                <a:ext uri="{FF2B5EF4-FFF2-40B4-BE49-F238E27FC236}">
                  <a16:creationId xmlns:a16="http://schemas.microsoft.com/office/drawing/2014/main" id="{29D82C6D-BAD9-D9F8-8A50-6EDA3DC06B7C}"/>
                </a:ext>
              </a:extLst>
            </p:cNvPr>
            <p:cNvSpPr>
              <a:spLocks noChangeArrowheads="1"/>
            </p:cNvSpPr>
            <p:nvPr/>
          </p:nvSpPr>
          <p:spPr bwMode="auto">
            <a:xfrm>
              <a:off x="1185863" y="2147888"/>
              <a:ext cx="347662" cy="8572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9" name="Text Box 16">
              <a:extLst>
                <a:ext uri="{FF2B5EF4-FFF2-40B4-BE49-F238E27FC236}">
                  <a16:creationId xmlns:a16="http://schemas.microsoft.com/office/drawing/2014/main" id="{649FDAE5-683C-B846-6972-D3CE9BD71BE4}"/>
                </a:ext>
              </a:extLst>
            </p:cNvPr>
            <p:cNvSpPr txBox="1">
              <a:spLocks noChangeArrowheads="1"/>
            </p:cNvSpPr>
            <p:nvPr/>
          </p:nvSpPr>
          <p:spPr bwMode="auto">
            <a:xfrm>
              <a:off x="1736725" y="2446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0" name="Rectangle 17">
              <a:extLst>
                <a:ext uri="{FF2B5EF4-FFF2-40B4-BE49-F238E27FC236}">
                  <a16:creationId xmlns:a16="http://schemas.microsoft.com/office/drawing/2014/main" id="{9D8564B7-C232-AF23-7A5C-5E58F9E08F6F}"/>
                </a:ext>
              </a:extLst>
            </p:cNvPr>
            <p:cNvSpPr>
              <a:spLocks noChangeArrowheads="1"/>
            </p:cNvSpPr>
            <p:nvPr/>
          </p:nvSpPr>
          <p:spPr bwMode="auto">
            <a:xfrm>
              <a:off x="1697038" y="1670050"/>
              <a:ext cx="323850" cy="13398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1" name="Text Box 18">
              <a:extLst>
                <a:ext uri="{FF2B5EF4-FFF2-40B4-BE49-F238E27FC236}">
                  <a16:creationId xmlns:a16="http://schemas.microsoft.com/office/drawing/2014/main" id="{84791C6E-EE6E-114E-25BA-496974E51078}"/>
                </a:ext>
              </a:extLst>
            </p:cNvPr>
            <p:cNvSpPr txBox="1">
              <a:spLocks noChangeArrowheads="1"/>
            </p:cNvSpPr>
            <p:nvPr/>
          </p:nvSpPr>
          <p:spPr bwMode="auto">
            <a:xfrm>
              <a:off x="21939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2" name="Rectangle 19">
              <a:extLst>
                <a:ext uri="{FF2B5EF4-FFF2-40B4-BE49-F238E27FC236}">
                  <a16:creationId xmlns:a16="http://schemas.microsoft.com/office/drawing/2014/main" id="{AB5AD963-F1E6-9ED7-1033-CAA1B9B80EA9}"/>
                </a:ext>
              </a:extLst>
            </p:cNvPr>
            <p:cNvSpPr>
              <a:spLocks noChangeArrowheads="1"/>
            </p:cNvSpPr>
            <p:nvPr/>
          </p:nvSpPr>
          <p:spPr bwMode="auto">
            <a:xfrm>
              <a:off x="2176463" y="2543175"/>
              <a:ext cx="323850" cy="4619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3" name="Text Box 20">
              <a:extLst>
                <a:ext uri="{FF2B5EF4-FFF2-40B4-BE49-F238E27FC236}">
                  <a16:creationId xmlns:a16="http://schemas.microsoft.com/office/drawing/2014/main" id="{C92088CE-921E-4F8E-07FD-383F5F754891}"/>
                </a:ext>
              </a:extLst>
            </p:cNvPr>
            <p:cNvSpPr txBox="1">
              <a:spLocks noChangeArrowheads="1"/>
            </p:cNvSpPr>
            <p:nvPr/>
          </p:nvSpPr>
          <p:spPr bwMode="auto">
            <a:xfrm>
              <a:off x="2651125" y="25225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4" name="Rectangle 21">
              <a:extLst>
                <a:ext uri="{FF2B5EF4-FFF2-40B4-BE49-F238E27FC236}">
                  <a16:creationId xmlns:a16="http://schemas.microsoft.com/office/drawing/2014/main" id="{BC068C86-854B-D493-5181-421EF896E1E8}"/>
                </a:ext>
              </a:extLst>
            </p:cNvPr>
            <p:cNvSpPr>
              <a:spLocks noChangeArrowheads="1"/>
            </p:cNvSpPr>
            <p:nvPr/>
          </p:nvSpPr>
          <p:spPr bwMode="auto">
            <a:xfrm>
              <a:off x="2667000" y="2055813"/>
              <a:ext cx="301625" cy="9572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 name="Text Box 22">
              <a:extLst>
                <a:ext uri="{FF2B5EF4-FFF2-40B4-BE49-F238E27FC236}">
                  <a16:creationId xmlns:a16="http://schemas.microsoft.com/office/drawing/2014/main" id="{A4C58A91-B5FB-D31C-8ECD-DEE405867E86}"/>
                </a:ext>
              </a:extLst>
            </p:cNvPr>
            <p:cNvSpPr txBox="1">
              <a:spLocks noChangeArrowheads="1"/>
            </p:cNvSpPr>
            <p:nvPr/>
          </p:nvSpPr>
          <p:spPr bwMode="auto">
            <a:xfrm>
              <a:off x="669925" y="2827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Line 23">
              <a:extLst>
                <a:ext uri="{FF2B5EF4-FFF2-40B4-BE49-F238E27FC236}">
                  <a16:creationId xmlns:a16="http://schemas.microsoft.com/office/drawing/2014/main" id="{F0775B53-B50A-948E-EAD2-61F84DCA6CDA}"/>
                </a:ext>
              </a:extLst>
            </p:cNvPr>
            <p:cNvSpPr>
              <a:spLocks noChangeShapeType="1"/>
            </p:cNvSpPr>
            <p:nvPr/>
          </p:nvSpPr>
          <p:spPr bwMode="auto">
            <a:xfrm>
              <a:off x="566738" y="3019425"/>
              <a:ext cx="24495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7" name="Text Box 24">
              <a:extLst>
                <a:ext uri="{FF2B5EF4-FFF2-40B4-BE49-F238E27FC236}">
                  <a16:creationId xmlns:a16="http://schemas.microsoft.com/office/drawing/2014/main" id="{BF25443A-4F9D-720D-B277-5C723E7F132F}"/>
                </a:ext>
              </a:extLst>
            </p:cNvPr>
            <p:cNvSpPr txBox="1">
              <a:spLocks noChangeArrowheads="1"/>
            </p:cNvSpPr>
            <p:nvPr/>
          </p:nvSpPr>
          <p:spPr bwMode="auto">
            <a:xfrm>
              <a:off x="746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Rectangle 25">
              <a:extLst>
                <a:ext uri="{FF2B5EF4-FFF2-40B4-BE49-F238E27FC236}">
                  <a16:creationId xmlns:a16="http://schemas.microsoft.com/office/drawing/2014/main" id="{F0014AD1-D7A3-16AA-53A0-B7B104ACA104}"/>
                </a:ext>
              </a:extLst>
            </p:cNvPr>
            <p:cNvSpPr>
              <a:spLocks noChangeArrowheads="1"/>
            </p:cNvSpPr>
            <p:nvPr/>
          </p:nvSpPr>
          <p:spPr bwMode="auto">
            <a:xfrm>
              <a:off x="712788" y="2774950"/>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29" name="Text Box 26">
              <a:extLst>
                <a:ext uri="{FF2B5EF4-FFF2-40B4-BE49-F238E27FC236}">
                  <a16:creationId xmlns:a16="http://schemas.microsoft.com/office/drawing/2014/main" id="{BF87A781-8BA2-E50F-2AD2-4F810B81A142}"/>
                </a:ext>
              </a:extLst>
            </p:cNvPr>
            <p:cNvSpPr txBox="1">
              <a:spLocks noChangeArrowheads="1"/>
            </p:cNvSpPr>
            <p:nvPr/>
          </p:nvSpPr>
          <p:spPr bwMode="auto">
            <a:xfrm>
              <a:off x="12033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27">
              <a:extLst>
                <a:ext uri="{FF2B5EF4-FFF2-40B4-BE49-F238E27FC236}">
                  <a16:creationId xmlns:a16="http://schemas.microsoft.com/office/drawing/2014/main" id="{850BF59F-7E89-F9BF-281C-34694AB36BEC}"/>
                </a:ext>
              </a:extLst>
            </p:cNvPr>
            <p:cNvSpPr>
              <a:spLocks noChangeArrowheads="1"/>
            </p:cNvSpPr>
            <p:nvPr/>
          </p:nvSpPr>
          <p:spPr bwMode="auto">
            <a:xfrm>
              <a:off x="1219200" y="2774950"/>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31" name="Text Box 28">
              <a:extLst>
                <a:ext uri="{FF2B5EF4-FFF2-40B4-BE49-F238E27FC236}">
                  <a16:creationId xmlns:a16="http://schemas.microsoft.com/office/drawing/2014/main" id="{46B887D6-2CC3-A500-50C7-96951F4114FE}"/>
                </a:ext>
              </a:extLst>
            </p:cNvPr>
            <p:cNvSpPr txBox="1">
              <a:spLocks noChangeArrowheads="1"/>
            </p:cNvSpPr>
            <p:nvPr/>
          </p:nvSpPr>
          <p:spPr bwMode="auto">
            <a:xfrm>
              <a:off x="17367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Rectangle 29">
              <a:extLst>
                <a:ext uri="{FF2B5EF4-FFF2-40B4-BE49-F238E27FC236}">
                  <a16:creationId xmlns:a16="http://schemas.microsoft.com/office/drawing/2014/main" id="{E116B70B-708C-C8C1-7510-711EF6B1215D}"/>
                </a:ext>
              </a:extLst>
            </p:cNvPr>
            <p:cNvSpPr>
              <a:spLocks noChangeArrowheads="1"/>
            </p:cNvSpPr>
            <p:nvPr/>
          </p:nvSpPr>
          <p:spPr bwMode="auto">
            <a:xfrm>
              <a:off x="1712913" y="2774950"/>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33" name="Rectangle 30">
              <a:extLst>
                <a:ext uri="{FF2B5EF4-FFF2-40B4-BE49-F238E27FC236}">
                  <a16:creationId xmlns:a16="http://schemas.microsoft.com/office/drawing/2014/main" id="{24C42B4A-99FC-ABB6-342E-33ADC674165F}"/>
                </a:ext>
              </a:extLst>
            </p:cNvPr>
            <p:cNvSpPr>
              <a:spLocks noChangeArrowheads="1"/>
            </p:cNvSpPr>
            <p:nvPr/>
          </p:nvSpPr>
          <p:spPr bwMode="auto">
            <a:xfrm>
              <a:off x="2192338" y="2774950"/>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34" name="Text Box 31">
              <a:extLst>
                <a:ext uri="{FF2B5EF4-FFF2-40B4-BE49-F238E27FC236}">
                  <a16:creationId xmlns:a16="http://schemas.microsoft.com/office/drawing/2014/main" id="{FB526990-7216-8162-C854-A4B22C04FA21}"/>
                </a:ext>
              </a:extLst>
            </p:cNvPr>
            <p:cNvSpPr txBox="1">
              <a:spLocks noChangeArrowheads="1"/>
            </p:cNvSpPr>
            <p:nvPr/>
          </p:nvSpPr>
          <p:spPr bwMode="auto">
            <a:xfrm>
              <a:off x="2651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Rectangle 32">
              <a:extLst>
                <a:ext uri="{FF2B5EF4-FFF2-40B4-BE49-F238E27FC236}">
                  <a16:creationId xmlns:a16="http://schemas.microsoft.com/office/drawing/2014/main" id="{1537968C-7E2A-8DD8-887C-2F05FBFC5B41}"/>
                </a:ext>
              </a:extLst>
            </p:cNvPr>
            <p:cNvSpPr>
              <a:spLocks noChangeArrowheads="1"/>
            </p:cNvSpPr>
            <p:nvPr/>
          </p:nvSpPr>
          <p:spPr bwMode="auto">
            <a:xfrm>
              <a:off x="2682875" y="2774950"/>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36" name="Text Box 33">
              <a:extLst>
                <a:ext uri="{FF2B5EF4-FFF2-40B4-BE49-F238E27FC236}">
                  <a16:creationId xmlns:a16="http://schemas.microsoft.com/office/drawing/2014/main" id="{F693345D-1FA7-250B-44DC-85EAF76F8E7D}"/>
                </a:ext>
              </a:extLst>
            </p:cNvPr>
            <p:cNvSpPr txBox="1">
              <a:spLocks noChangeArrowheads="1"/>
            </p:cNvSpPr>
            <p:nvPr/>
          </p:nvSpPr>
          <p:spPr bwMode="auto">
            <a:xfrm>
              <a:off x="1508125" y="30559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Rectangle 34">
              <a:extLst>
                <a:ext uri="{FF2B5EF4-FFF2-40B4-BE49-F238E27FC236}">
                  <a16:creationId xmlns:a16="http://schemas.microsoft.com/office/drawing/2014/main" id="{050B0E23-21B0-99C4-7BC1-3EA2D43381EE}"/>
                </a:ext>
              </a:extLst>
            </p:cNvPr>
            <p:cNvSpPr>
              <a:spLocks noChangeArrowheads="1"/>
            </p:cNvSpPr>
            <p:nvPr/>
          </p:nvSpPr>
          <p:spPr bwMode="auto">
            <a:xfrm>
              <a:off x="1182688" y="3081338"/>
              <a:ext cx="8842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dirty="0">
                  <a:solidFill>
                    <a:srgbClr val="EE3228"/>
                  </a:solidFill>
                  <a:latin typeface="Roboto" panose="02000000000000000000" pitchFamily="2" charset="0"/>
                  <a:ea typeface="Roboto" panose="02000000000000000000" pitchFamily="2" charset="0"/>
                  <a:cs typeface="Roboto" panose="02000000000000000000" pitchFamily="2" charset="0"/>
                </a:rPr>
                <a:t>Natural</a:t>
              </a:r>
            </a:p>
          </p:txBody>
        </p:sp>
        <p:sp>
          <p:nvSpPr>
            <p:cNvPr id="38" name="Text Box 35">
              <a:extLst>
                <a:ext uri="{FF2B5EF4-FFF2-40B4-BE49-F238E27FC236}">
                  <a16:creationId xmlns:a16="http://schemas.microsoft.com/office/drawing/2014/main" id="{A4006674-D516-6CC8-C705-50B339816770}"/>
                </a:ext>
              </a:extLst>
            </p:cNvPr>
            <p:cNvSpPr txBox="1">
              <a:spLocks noChangeArrowheads="1"/>
            </p:cNvSpPr>
            <p:nvPr/>
          </p:nvSpPr>
          <p:spPr bwMode="auto">
            <a:xfrm>
              <a:off x="5846763" y="32845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Rectangle 36">
              <a:extLst>
                <a:ext uri="{FF2B5EF4-FFF2-40B4-BE49-F238E27FC236}">
                  <a16:creationId xmlns:a16="http://schemas.microsoft.com/office/drawing/2014/main" id="{A3614C2A-4231-2975-24B9-F3487D57FA51}"/>
                </a:ext>
              </a:extLst>
            </p:cNvPr>
            <p:cNvSpPr>
              <a:spLocks noChangeArrowheads="1"/>
            </p:cNvSpPr>
            <p:nvPr/>
          </p:nvSpPr>
          <p:spPr bwMode="auto">
            <a:xfrm>
              <a:off x="5448300" y="3294063"/>
              <a:ext cx="1255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40" name="Text Box 37">
              <a:extLst>
                <a:ext uri="{FF2B5EF4-FFF2-40B4-BE49-F238E27FC236}">
                  <a16:creationId xmlns:a16="http://schemas.microsoft.com/office/drawing/2014/main" id="{B8336B86-48F7-ECC8-B16C-B344689B2FB2}"/>
                </a:ext>
              </a:extLst>
            </p:cNvPr>
            <p:cNvSpPr txBox="1">
              <a:spLocks noChangeArrowheads="1"/>
            </p:cNvSpPr>
            <p:nvPr/>
          </p:nvSpPr>
          <p:spPr bwMode="auto">
            <a:xfrm>
              <a:off x="4475163" y="3132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1" name="Line 38">
              <a:extLst>
                <a:ext uri="{FF2B5EF4-FFF2-40B4-BE49-F238E27FC236}">
                  <a16:creationId xmlns:a16="http://schemas.microsoft.com/office/drawing/2014/main" id="{D359374F-FA9A-E45F-8D6A-A1B3CE850C14}"/>
                </a:ext>
              </a:extLst>
            </p:cNvPr>
            <p:cNvSpPr>
              <a:spLocks noChangeShapeType="1"/>
            </p:cNvSpPr>
            <p:nvPr/>
          </p:nvSpPr>
          <p:spPr bwMode="auto">
            <a:xfrm>
              <a:off x="3146425" y="3362325"/>
              <a:ext cx="2309813"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2" name="Text Box 39">
              <a:extLst>
                <a:ext uri="{FF2B5EF4-FFF2-40B4-BE49-F238E27FC236}">
                  <a16:creationId xmlns:a16="http://schemas.microsoft.com/office/drawing/2014/main" id="{82CF6F20-7BA9-90B4-7E8D-60BF198C2BF9}"/>
                </a:ext>
              </a:extLst>
            </p:cNvPr>
            <p:cNvSpPr txBox="1">
              <a:spLocks noChangeArrowheads="1"/>
            </p:cNvSpPr>
            <p:nvPr/>
          </p:nvSpPr>
          <p:spPr bwMode="auto">
            <a:xfrm>
              <a:off x="3027363" y="3589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3" name="Line 40">
              <a:extLst>
                <a:ext uri="{FF2B5EF4-FFF2-40B4-BE49-F238E27FC236}">
                  <a16:creationId xmlns:a16="http://schemas.microsoft.com/office/drawing/2014/main" id="{B37E4E62-6B68-A3F4-227C-F5D68774B7F2}"/>
                </a:ext>
              </a:extLst>
            </p:cNvPr>
            <p:cNvSpPr>
              <a:spLocks noChangeShapeType="1"/>
            </p:cNvSpPr>
            <p:nvPr/>
          </p:nvSpPr>
          <p:spPr bwMode="auto">
            <a:xfrm>
              <a:off x="3146425" y="3216275"/>
              <a:ext cx="0" cy="106362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4" name="Text Box 41">
              <a:extLst>
                <a:ext uri="{FF2B5EF4-FFF2-40B4-BE49-F238E27FC236}">
                  <a16:creationId xmlns:a16="http://schemas.microsoft.com/office/drawing/2014/main" id="{5F52F235-1080-51FE-C168-ACEBC8F207DC}"/>
                </a:ext>
              </a:extLst>
            </p:cNvPr>
            <p:cNvSpPr txBox="1">
              <a:spLocks noChangeArrowheads="1"/>
            </p:cNvSpPr>
            <p:nvPr/>
          </p:nvSpPr>
          <p:spPr bwMode="auto">
            <a:xfrm>
              <a:off x="3179763" y="3894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5" name="Rectangle 42">
              <a:extLst>
                <a:ext uri="{FF2B5EF4-FFF2-40B4-BE49-F238E27FC236}">
                  <a16:creationId xmlns:a16="http://schemas.microsoft.com/office/drawing/2014/main" id="{AED07548-FBC8-AC52-67C6-B40B20928DFA}"/>
                </a:ext>
              </a:extLst>
            </p:cNvPr>
            <p:cNvSpPr>
              <a:spLocks noChangeArrowheads="1"/>
            </p:cNvSpPr>
            <p:nvPr/>
          </p:nvSpPr>
          <p:spPr bwMode="auto">
            <a:xfrm>
              <a:off x="3276600" y="3524250"/>
              <a:ext cx="319088"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Rectangle 43">
              <a:extLst>
                <a:ext uri="{FF2B5EF4-FFF2-40B4-BE49-F238E27FC236}">
                  <a16:creationId xmlns:a16="http://schemas.microsoft.com/office/drawing/2014/main" id="{02BF3E0F-A49C-7FD6-ABE7-2C15F349B054}"/>
                </a:ext>
              </a:extLst>
            </p:cNvPr>
            <p:cNvSpPr>
              <a:spLocks noChangeArrowheads="1"/>
            </p:cNvSpPr>
            <p:nvPr/>
          </p:nvSpPr>
          <p:spPr bwMode="auto">
            <a:xfrm>
              <a:off x="5176838" y="3524250"/>
              <a:ext cx="306387" cy="7588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7" name="Rectangle 44">
              <a:extLst>
                <a:ext uri="{FF2B5EF4-FFF2-40B4-BE49-F238E27FC236}">
                  <a16:creationId xmlns:a16="http://schemas.microsoft.com/office/drawing/2014/main" id="{13B6B3DE-52DA-8776-21B3-A3379E459618}"/>
                </a:ext>
              </a:extLst>
            </p:cNvPr>
            <p:cNvSpPr>
              <a:spLocks noChangeArrowheads="1"/>
            </p:cNvSpPr>
            <p:nvPr/>
          </p:nvSpPr>
          <p:spPr bwMode="auto">
            <a:xfrm>
              <a:off x="4244975" y="3524250"/>
              <a:ext cx="320675"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8" name="Rectangle 45">
              <a:extLst>
                <a:ext uri="{FF2B5EF4-FFF2-40B4-BE49-F238E27FC236}">
                  <a16:creationId xmlns:a16="http://schemas.microsoft.com/office/drawing/2014/main" id="{A4263283-D04F-B7D1-EE66-749EBC56F9D4}"/>
                </a:ext>
              </a:extLst>
            </p:cNvPr>
            <p:cNvSpPr>
              <a:spLocks noChangeArrowheads="1"/>
            </p:cNvSpPr>
            <p:nvPr/>
          </p:nvSpPr>
          <p:spPr bwMode="auto">
            <a:xfrm>
              <a:off x="3763963" y="3524250"/>
              <a:ext cx="315912"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9" name="Rectangle 46">
              <a:extLst>
                <a:ext uri="{FF2B5EF4-FFF2-40B4-BE49-F238E27FC236}">
                  <a16:creationId xmlns:a16="http://schemas.microsoft.com/office/drawing/2014/main" id="{8C6FBF78-14E5-FA28-33D1-5D4E8A93605A}"/>
                </a:ext>
              </a:extLst>
            </p:cNvPr>
            <p:cNvSpPr>
              <a:spLocks noChangeArrowheads="1"/>
            </p:cNvSpPr>
            <p:nvPr/>
          </p:nvSpPr>
          <p:spPr bwMode="auto">
            <a:xfrm>
              <a:off x="4683125" y="3524250"/>
              <a:ext cx="320675"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0" name="Rectangle 47">
              <a:extLst>
                <a:ext uri="{FF2B5EF4-FFF2-40B4-BE49-F238E27FC236}">
                  <a16:creationId xmlns:a16="http://schemas.microsoft.com/office/drawing/2014/main" id="{E0F0A904-B041-9200-74FA-3F6A231EA678}"/>
                </a:ext>
              </a:extLst>
            </p:cNvPr>
            <p:cNvSpPr>
              <a:spLocks noChangeArrowheads="1"/>
            </p:cNvSpPr>
            <p:nvPr/>
          </p:nvSpPr>
          <p:spPr bwMode="auto">
            <a:xfrm>
              <a:off x="3287713" y="4062413"/>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51" name="Rectangle 48">
              <a:extLst>
                <a:ext uri="{FF2B5EF4-FFF2-40B4-BE49-F238E27FC236}">
                  <a16:creationId xmlns:a16="http://schemas.microsoft.com/office/drawing/2014/main" id="{100FD811-2DB7-2856-917A-3C2108C2BDF3}"/>
                </a:ext>
              </a:extLst>
            </p:cNvPr>
            <p:cNvSpPr>
              <a:spLocks noChangeArrowheads="1"/>
            </p:cNvSpPr>
            <p:nvPr/>
          </p:nvSpPr>
          <p:spPr bwMode="auto">
            <a:xfrm>
              <a:off x="3781425" y="4062413"/>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52" name="Rectangle 49">
              <a:extLst>
                <a:ext uri="{FF2B5EF4-FFF2-40B4-BE49-F238E27FC236}">
                  <a16:creationId xmlns:a16="http://schemas.microsoft.com/office/drawing/2014/main" id="{7958D6D0-A974-118B-BAAF-A23E2B4CFC46}"/>
                </a:ext>
              </a:extLst>
            </p:cNvPr>
            <p:cNvSpPr>
              <a:spLocks noChangeArrowheads="1"/>
            </p:cNvSpPr>
            <p:nvPr/>
          </p:nvSpPr>
          <p:spPr bwMode="auto">
            <a:xfrm>
              <a:off x="4259263" y="4062413"/>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53" name="Rectangle 50">
              <a:extLst>
                <a:ext uri="{FF2B5EF4-FFF2-40B4-BE49-F238E27FC236}">
                  <a16:creationId xmlns:a16="http://schemas.microsoft.com/office/drawing/2014/main" id="{020C8388-4B46-FF5B-A019-F7B1F87455A1}"/>
                </a:ext>
              </a:extLst>
            </p:cNvPr>
            <p:cNvSpPr>
              <a:spLocks noChangeArrowheads="1"/>
            </p:cNvSpPr>
            <p:nvPr/>
          </p:nvSpPr>
          <p:spPr bwMode="auto">
            <a:xfrm>
              <a:off x="4697413" y="4062413"/>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54" name="Rectangle 51">
              <a:extLst>
                <a:ext uri="{FF2B5EF4-FFF2-40B4-BE49-F238E27FC236}">
                  <a16:creationId xmlns:a16="http://schemas.microsoft.com/office/drawing/2014/main" id="{03D84127-A17D-27DD-5D2E-ACFA9CE20590}"/>
                </a:ext>
              </a:extLst>
            </p:cNvPr>
            <p:cNvSpPr>
              <a:spLocks noChangeArrowheads="1"/>
            </p:cNvSpPr>
            <p:nvPr/>
          </p:nvSpPr>
          <p:spPr bwMode="auto">
            <a:xfrm>
              <a:off x="5194300" y="4062413"/>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55" name="Line 52">
              <a:extLst>
                <a:ext uri="{FF2B5EF4-FFF2-40B4-BE49-F238E27FC236}">
                  <a16:creationId xmlns:a16="http://schemas.microsoft.com/office/drawing/2014/main" id="{4F3A7884-91B9-13CB-2A92-5FF9F24A964C}"/>
                </a:ext>
              </a:extLst>
            </p:cNvPr>
            <p:cNvSpPr>
              <a:spLocks noChangeShapeType="1"/>
            </p:cNvSpPr>
            <p:nvPr/>
          </p:nvSpPr>
          <p:spPr bwMode="auto">
            <a:xfrm>
              <a:off x="3151188" y="4292600"/>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6" name="Text Box 53">
              <a:extLst>
                <a:ext uri="{FF2B5EF4-FFF2-40B4-BE49-F238E27FC236}">
                  <a16:creationId xmlns:a16="http://schemas.microsoft.com/office/drawing/2014/main" id="{CA7CAF9C-6D79-127C-B6C4-BC8077C4F679}"/>
                </a:ext>
              </a:extLst>
            </p:cNvPr>
            <p:cNvSpPr txBox="1">
              <a:spLocks noChangeArrowheads="1"/>
            </p:cNvSpPr>
            <p:nvPr/>
          </p:nvSpPr>
          <p:spPr bwMode="auto">
            <a:xfrm>
              <a:off x="4094163" y="4275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7" name="Rectangle 55">
              <a:extLst>
                <a:ext uri="{FF2B5EF4-FFF2-40B4-BE49-F238E27FC236}">
                  <a16:creationId xmlns:a16="http://schemas.microsoft.com/office/drawing/2014/main" id="{7C8D18AC-A98E-4F90-B573-38DDB1F5204B}"/>
                </a:ext>
              </a:extLst>
            </p:cNvPr>
            <p:cNvSpPr>
              <a:spLocks noChangeArrowheads="1"/>
            </p:cNvSpPr>
            <p:nvPr/>
          </p:nvSpPr>
          <p:spPr bwMode="auto">
            <a:xfrm>
              <a:off x="7491413" y="4477807"/>
              <a:ext cx="1524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58" name="Text Box 56">
              <a:extLst>
                <a:ext uri="{FF2B5EF4-FFF2-40B4-BE49-F238E27FC236}">
                  <a16:creationId xmlns:a16="http://schemas.microsoft.com/office/drawing/2014/main" id="{CBA139FA-AF0F-8679-723D-2543076F41EB}"/>
                </a:ext>
              </a:extLst>
            </p:cNvPr>
            <p:cNvSpPr txBox="1">
              <a:spLocks noChangeArrowheads="1"/>
            </p:cNvSpPr>
            <p:nvPr/>
          </p:nvSpPr>
          <p:spPr bwMode="auto">
            <a:xfrm>
              <a:off x="6918325" y="497046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9" name="Line 57">
              <a:extLst>
                <a:ext uri="{FF2B5EF4-FFF2-40B4-BE49-F238E27FC236}">
                  <a16:creationId xmlns:a16="http://schemas.microsoft.com/office/drawing/2014/main" id="{229078BF-E836-6FF1-956E-C4F8D2C1F171}"/>
                </a:ext>
              </a:extLst>
            </p:cNvPr>
            <p:cNvSpPr>
              <a:spLocks noChangeShapeType="1"/>
            </p:cNvSpPr>
            <p:nvPr/>
          </p:nvSpPr>
          <p:spPr bwMode="auto">
            <a:xfrm flipV="1">
              <a:off x="5053013" y="4630207"/>
              <a:ext cx="2362200"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60" name="Text Box 58">
              <a:extLst>
                <a:ext uri="{FF2B5EF4-FFF2-40B4-BE49-F238E27FC236}">
                  <a16:creationId xmlns:a16="http://schemas.microsoft.com/office/drawing/2014/main" id="{FDAD3B9C-B6AE-DC50-BE58-C6289AC9D7A8}"/>
                </a:ext>
              </a:extLst>
            </p:cNvPr>
            <p:cNvSpPr txBox="1">
              <a:spLocks noChangeArrowheads="1"/>
            </p:cNvSpPr>
            <p:nvPr/>
          </p:nvSpPr>
          <p:spPr bwMode="auto">
            <a:xfrm>
              <a:off x="4884738" y="50609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Line 59">
              <a:extLst>
                <a:ext uri="{FF2B5EF4-FFF2-40B4-BE49-F238E27FC236}">
                  <a16:creationId xmlns:a16="http://schemas.microsoft.com/office/drawing/2014/main" id="{BF2B311A-DD0F-46B7-9BAC-EB0A86567AA1}"/>
                </a:ext>
              </a:extLst>
            </p:cNvPr>
            <p:cNvSpPr>
              <a:spLocks noChangeShapeType="1"/>
            </p:cNvSpPr>
            <p:nvPr/>
          </p:nvSpPr>
          <p:spPr bwMode="auto">
            <a:xfrm>
              <a:off x="5053013" y="4638675"/>
              <a:ext cx="0" cy="11430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62" name="Text Box 60">
              <a:extLst>
                <a:ext uri="{FF2B5EF4-FFF2-40B4-BE49-F238E27FC236}">
                  <a16:creationId xmlns:a16="http://schemas.microsoft.com/office/drawing/2014/main" id="{EFB496E7-1296-7BE1-31E8-929DE584C5EF}"/>
                </a:ext>
              </a:extLst>
            </p:cNvPr>
            <p:cNvSpPr txBox="1">
              <a:spLocks noChangeArrowheads="1"/>
            </p:cNvSpPr>
            <p:nvPr/>
          </p:nvSpPr>
          <p:spPr bwMode="auto">
            <a:xfrm>
              <a:off x="5189538" y="51371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3" name="Rectangle 61">
              <a:extLst>
                <a:ext uri="{FF2B5EF4-FFF2-40B4-BE49-F238E27FC236}">
                  <a16:creationId xmlns:a16="http://schemas.microsoft.com/office/drawing/2014/main" id="{BB8409EA-E91B-78FB-D421-1236B94903B4}"/>
                </a:ext>
              </a:extLst>
            </p:cNvPr>
            <p:cNvSpPr>
              <a:spLocks noChangeArrowheads="1"/>
            </p:cNvSpPr>
            <p:nvPr/>
          </p:nvSpPr>
          <p:spPr bwMode="auto">
            <a:xfrm>
              <a:off x="5172075" y="4868863"/>
              <a:ext cx="311150"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4" name="Rectangle 62">
              <a:extLst>
                <a:ext uri="{FF2B5EF4-FFF2-40B4-BE49-F238E27FC236}">
                  <a16:creationId xmlns:a16="http://schemas.microsoft.com/office/drawing/2014/main" id="{1B12F7C0-C52B-7033-6C01-D9A5CF6E377A}"/>
                </a:ext>
              </a:extLst>
            </p:cNvPr>
            <p:cNvSpPr>
              <a:spLocks noChangeArrowheads="1"/>
            </p:cNvSpPr>
            <p:nvPr/>
          </p:nvSpPr>
          <p:spPr bwMode="auto">
            <a:xfrm>
              <a:off x="7043738" y="5341938"/>
              <a:ext cx="342900" cy="434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5" name="Rectangle 63">
              <a:extLst>
                <a:ext uri="{FF2B5EF4-FFF2-40B4-BE49-F238E27FC236}">
                  <a16:creationId xmlns:a16="http://schemas.microsoft.com/office/drawing/2014/main" id="{0083910E-04C6-7944-4995-A16CEBBF246C}"/>
                </a:ext>
              </a:extLst>
            </p:cNvPr>
            <p:cNvSpPr>
              <a:spLocks noChangeArrowheads="1"/>
            </p:cNvSpPr>
            <p:nvPr/>
          </p:nvSpPr>
          <p:spPr bwMode="auto">
            <a:xfrm>
              <a:off x="6604000" y="4868863"/>
              <a:ext cx="312738"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6" name="Rectangle 64">
              <a:extLst>
                <a:ext uri="{FF2B5EF4-FFF2-40B4-BE49-F238E27FC236}">
                  <a16:creationId xmlns:a16="http://schemas.microsoft.com/office/drawing/2014/main" id="{4166C0FF-2DAD-F040-EC9C-0A592FAECFAD}"/>
                </a:ext>
              </a:extLst>
            </p:cNvPr>
            <p:cNvSpPr>
              <a:spLocks noChangeArrowheads="1"/>
            </p:cNvSpPr>
            <p:nvPr/>
          </p:nvSpPr>
          <p:spPr bwMode="auto">
            <a:xfrm>
              <a:off x="6142038" y="4868863"/>
              <a:ext cx="311150"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7" name="Rectangle 65">
              <a:extLst>
                <a:ext uri="{FF2B5EF4-FFF2-40B4-BE49-F238E27FC236}">
                  <a16:creationId xmlns:a16="http://schemas.microsoft.com/office/drawing/2014/main" id="{AAEA3A42-F0E2-A8FC-B1A5-A71E0AE2CB43}"/>
                </a:ext>
              </a:extLst>
            </p:cNvPr>
            <p:cNvSpPr>
              <a:spLocks noChangeArrowheads="1"/>
            </p:cNvSpPr>
            <p:nvPr/>
          </p:nvSpPr>
          <p:spPr bwMode="auto">
            <a:xfrm>
              <a:off x="5657850" y="4868863"/>
              <a:ext cx="312738"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8" name="Text Box 66">
              <a:extLst>
                <a:ext uri="{FF2B5EF4-FFF2-40B4-BE49-F238E27FC236}">
                  <a16:creationId xmlns:a16="http://schemas.microsoft.com/office/drawing/2014/main" id="{E7DCA656-C175-CC83-B290-9F9BF60B7560}"/>
                </a:ext>
              </a:extLst>
            </p:cNvPr>
            <p:cNvSpPr txBox="1">
              <a:spLocks noChangeArrowheads="1"/>
            </p:cNvSpPr>
            <p:nvPr/>
          </p:nvSpPr>
          <p:spPr bwMode="auto">
            <a:xfrm>
              <a:off x="5113338" y="55181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9" name="Line 67">
              <a:extLst>
                <a:ext uri="{FF2B5EF4-FFF2-40B4-BE49-F238E27FC236}">
                  <a16:creationId xmlns:a16="http://schemas.microsoft.com/office/drawing/2014/main" id="{1C2D4569-A055-D4BD-B52C-123F76BDDEC1}"/>
                </a:ext>
              </a:extLst>
            </p:cNvPr>
            <p:cNvSpPr>
              <a:spLocks noChangeShapeType="1"/>
            </p:cNvSpPr>
            <p:nvPr/>
          </p:nvSpPr>
          <p:spPr bwMode="auto">
            <a:xfrm>
              <a:off x="5053013" y="5781675"/>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70" name="Text Box 68">
              <a:extLst>
                <a:ext uri="{FF2B5EF4-FFF2-40B4-BE49-F238E27FC236}">
                  <a16:creationId xmlns:a16="http://schemas.microsoft.com/office/drawing/2014/main" id="{74B9BF26-740B-C8D5-773C-D3175CCF0765}"/>
                </a:ext>
              </a:extLst>
            </p:cNvPr>
            <p:cNvSpPr txBox="1">
              <a:spLocks noChangeArrowheads="1"/>
            </p:cNvSpPr>
            <p:nvPr/>
          </p:nvSpPr>
          <p:spPr bwMode="auto">
            <a:xfrm>
              <a:off x="4884738" y="55943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1" name="Text Box 70">
              <a:extLst>
                <a:ext uri="{FF2B5EF4-FFF2-40B4-BE49-F238E27FC236}">
                  <a16:creationId xmlns:a16="http://schemas.microsoft.com/office/drawing/2014/main" id="{C8ECA890-205C-73BD-AE63-53E4AD0A73CF}"/>
                </a:ext>
              </a:extLst>
            </p:cNvPr>
            <p:cNvSpPr txBox="1">
              <a:spLocks noChangeArrowheads="1"/>
            </p:cNvSpPr>
            <p:nvPr/>
          </p:nvSpPr>
          <p:spPr bwMode="auto">
            <a:xfrm>
              <a:off x="7932738" y="49847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2" name="Rectangle 71">
              <a:extLst>
                <a:ext uri="{FF2B5EF4-FFF2-40B4-BE49-F238E27FC236}">
                  <a16:creationId xmlns:a16="http://schemas.microsoft.com/office/drawing/2014/main" id="{F37B367C-6E5E-499E-50B1-F478957DE445}"/>
                </a:ext>
              </a:extLst>
            </p:cNvPr>
            <p:cNvSpPr>
              <a:spLocks noChangeArrowheads="1"/>
            </p:cNvSpPr>
            <p:nvPr/>
          </p:nvSpPr>
          <p:spPr bwMode="auto">
            <a:xfrm>
              <a:off x="7367588" y="5240338"/>
              <a:ext cx="1500411"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dirty="0">
                  <a:solidFill>
                    <a:srgbClr val="EE3228"/>
                  </a:solidFill>
                  <a:latin typeface="Roboto" panose="02000000000000000000" pitchFamily="2" charset="0"/>
                  <a:ea typeface="Roboto" panose="02000000000000000000" pitchFamily="2" charset="0"/>
                  <a:cs typeface="Roboto" panose="02000000000000000000" pitchFamily="2" charset="0"/>
                </a:rPr>
                <a:t>"Least Operator"</a:t>
              </a:r>
            </a:p>
          </p:txBody>
        </p:sp>
        <p:sp>
          <p:nvSpPr>
            <p:cNvPr id="73" name="Text Box 75">
              <a:extLst>
                <a:ext uri="{FF2B5EF4-FFF2-40B4-BE49-F238E27FC236}">
                  <a16:creationId xmlns:a16="http://schemas.microsoft.com/office/drawing/2014/main" id="{0CC045C2-D869-6182-7BBA-567E611300A0}"/>
                </a:ext>
              </a:extLst>
            </p:cNvPr>
            <p:cNvSpPr txBox="1">
              <a:spLocks noChangeArrowheads="1"/>
            </p:cNvSpPr>
            <p:nvPr/>
          </p:nvSpPr>
          <p:spPr bwMode="auto">
            <a:xfrm>
              <a:off x="5102225" y="53816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4" name="Rectangle 76">
              <a:extLst>
                <a:ext uri="{FF2B5EF4-FFF2-40B4-BE49-F238E27FC236}">
                  <a16:creationId xmlns:a16="http://schemas.microsoft.com/office/drawing/2014/main" id="{9891B4BF-7BB9-34DD-205F-0F5F102047EE}"/>
                </a:ext>
              </a:extLst>
            </p:cNvPr>
            <p:cNvSpPr>
              <a:spLocks noChangeArrowheads="1"/>
            </p:cNvSpPr>
            <p:nvPr/>
          </p:nvSpPr>
          <p:spPr bwMode="auto">
            <a:xfrm>
              <a:off x="5210175" y="5549900"/>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75" name="Rectangle 77">
              <a:extLst>
                <a:ext uri="{FF2B5EF4-FFF2-40B4-BE49-F238E27FC236}">
                  <a16:creationId xmlns:a16="http://schemas.microsoft.com/office/drawing/2014/main" id="{2D385043-611B-8B87-B378-8A32EF7CE745}"/>
                </a:ext>
              </a:extLst>
            </p:cNvPr>
            <p:cNvSpPr>
              <a:spLocks noChangeArrowheads="1"/>
            </p:cNvSpPr>
            <p:nvPr/>
          </p:nvSpPr>
          <p:spPr bwMode="auto">
            <a:xfrm>
              <a:off x="5703888" y="5549900"/>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76" name="Rectangle 78">
              <a:extLst>
                <a:ext uri="{FF2B5EF4-FFF2-40B4-BE49-F238E27FC236}">
                  <a16:creationId xmlns:a16="http://schemas.microsoft.com/office/drawing/2014/main" id="{0C02580B-DBE9-B858-968B-494D4A790EFB}"/>
                </a:ext>
              </a:extLst>
            </p:cNvPr>
            <p:cNvSpPr>
              <a:spLocks noChangeArrowheads="1"/>
            </p:cNvSpPr>
            <p:nvPr/>
          </p:nvSpPr>
          <p:spPr bwMode="auto">
            <a:xfrm>
              <a:off x="6181725" y="5549900"/>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77" name="Rectangle 79">
              <a:extLst>
                <a:ext uri="{FF2B5EF4-FFF2-40B4-BE49-F238E27FC236}">
                  <a16:creationId xmlns:a16="http://schemas.microsoft.com/office/drawing/2014/main" id="{EAAA1273-827E-28F5-09A3-584EB9B1B9ED}"/>
                </a:ext>
              </a:extLst>
            </p:cNvPr>
            <p:cNvSpPr>
              <a:spLocks noChangeArrowheads="1"/>
            </p:cNvSpPr>
            <p:nvPr/>
          </p:nvSpPr>
          <p:spPr bwMode="auto">
            <a:xfrm>
              <a:off x="6619875" y="5549900"/>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78" name="Rectangle 80">
              <a:extLst>
                <a:ext uri="{FF2B5EF4-FFF2-40B4-BE49-F238E27FC236}">
                  <a16:creationId xmlns:a16="http://schemas.microsoft.com/office/drawing/2014/main" id="{80D526EC-2F29-140C-56C3-F1B4FB058E2C}"/>
                </a:ext>
              </a:extLst>
            </p:cNvPr>
            <p:cNvSpPr>
              <a:spLocks noChangeArrowheads="1"/>
            </p:cNvSpPr>
            <p:nvPr/>
          </p:nvSpPr>
          <p:spPr bwMode="auto">
            <a:xfrm>
              <a:off x="7116763" y="5549900"/>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79" name="Line 81">
              <a:extLst>
                <a:ext uri="{FF2B5EF4-FFF2-40B4-BE49-F238E27FC236}">
                  <a16:creationId xmlns:a16="http://schemas.microsoft.com/office/drawing/2014/main" id="{BE8F0F29-E598-6DE8-5907-C8CD179DD452}"/>
                </a:ext>
              </a:extLst>
            </p:cNvPr>
            <p:cNvSpPr>
              <a:spLocks noChangeShapeType="1"/>
            </p:cNvSpPr>
            <p:nvPr/>
          </p:nvSpPr>
          <p:spPr bwMode="auto">
            <a:xfrm>
              <a:off x="5073650" y="5780088"/>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grpSp>
      <p:sp>
        <p:nvSpPr>
          <p:cNvPr id="10" name="Slide Number Placeholder 16">
            <a:extLst>
              <a:ext uri="{FF2B5EF4-FFF2-40B4-BE49-F238E27FC236}">
                <a16:creationId xmlns:a16="http://schemas.microsoft.com/office/drawing/2014/main" id="{D8CCEB53-6720-F89D-E2CA-2B4BB2BFC8C5}"/>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109</a:t>
            </a:fld>
            <a:endParaRPr lang="en-US" sz="1000" dirty="0"/>
          </a:p>
        </p:txBody>
      </p:sp>
    </p:spTree>
    <p:extLst>
      <p:ext uri="{BB962C8B-B14F-4D97-AF65-F5344CB8AC3E}">
        <p14:creationId xmlns:p14="http://schemas.microsoft.com/office/powerpoint/2010/main" val="40812270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Least Operator Concept</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Cell should be front loaded</a:t>
            </a:r>
          </a:p>
          <a:p>
            <a:r>
              <a:rPr lang="en-US" sz="2400" dirty="0"/>
              <a:t>All waiting time is allocated to the “least” processor</a:t>
            </a:r>
          </a:p>
          <a:p>
            <a:r>
              <a:rPr lang="en-US" sz="2400" dirty="0"/>
              <a:t>All other team members should be loaded fully to TAKT time</a:t>
            </a:r>
          </a:p>
          <a:p>
            <a:r>
              <a:rPr lang="en-US" sz="2400" dirty="0"/>
              <a:t>Makes the waiting waste visible</a:t>
            </a:r>
          </a:p>
          <a:p>
            <a:r>
              <a:rPr lang="en-US" sz="2400" dirty="0"/>
              <a:t>Exposes opportunity for improvement</a:t>
            </a:r>
          </a:p>
        </p:txBody>
      </p:sp>
      <p:sp>
        <p:nvSpPr>
          <p:cNvPr id="7" name="Slide Number Placeholder 16">
            <a:extLst>
              <a:ext uri="{FF2B5EF4-FFF2-40B4-BE49-F238E27FC236}">
                <a16:creationId xmlns:a16="http://schemas.microsoft.com/office/drawing/2014/main" id="{F01F02BF-B2A1-A960-4B69-5F8A58541EB1}"/>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110</a:t>
            </a:fld>
            <a:endParaRPr lang="en-US" sz="1000" dirty="0"/>
          </a:p>
        </p:txBody>
      </p:sp>
    </p:spTree>
    <p:extLst>
      <p:ext uri="{BB962C8B-B14F-4D97-AF65-F5344CB8AC3E}">
        <p14:creationId xmlns:p14="http://schemas.microsoft.com/office/powerpoint/2010/main" val="12197231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rgbClr val="222222"/>
                </a:solidFill>
                <a:latin typeface="Roboto Medium" panose="02000000000000000000" pitchFamily="2" charset="0"/>
                <a:ea typeface="Roboto Medium" panose="02000000000000000000" pitchFamily="2" charset="0"/>
                <a:cs typeface="Roboto Medium" panose="02000000000000000000" pitchFamily="2" charset="0"/>
              </a:rPr>
              <a:t>Other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solidFill>
                  <a:srgbClr val="222222"/>
                </a:solidFill>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5" name="Content Placeholder 3">
            <a:extLst>
              <a:ext uri="{FF2B5EF4-FFF2-40B4-BE49-F238E27FC236}">
                <a16:creationId xmlns:a16="http://schemas.microsoft.com/office/drawing/2014/main" id="{6D5862E1-6CCB-F525-B192-15CBF9758DFB}"/>
              </a:ext>
            </a:extLst>
          </p:cNvPr>
          <p:cNvSpPr txBox="1">
            <a:spLocks/>
          </p:cNvSpPr>
          <p:nvPr/>
        </p:nvSpPr>
        <p:spPr>
          <a:xfrm>
            <a:off x="596451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rgbClr val="222222"/>
                </a:solidFill>
              </a:rPr>
              <a:t>5S</a:t>
            </a:r>
          </a:p>
          <a:p>
            <a:pPr marL="0" indent="0" algn="r">
              <a:buNone/>
            </a:pPr>
            <a:r>
              <a:rPr lang="en-US" sz="1400" dirty="0">
                <a:solidFill>
                  <a:srgbClr val="222222"/>
                </a:solidFill>
              </a:rPr>
              <a:t>Standard Work</a:t>
            </a:r>
          </a:p>
          <a:p>
            <a:pPr marL="0" indent="0" algn="r">
              <a:buNone/>
            </a:pPr>
            <a:r>
              <a:rPr lang="en-US" sz="1400" dirty="0">
                <a:solidFill>
                  <a:srgbClr val="222222"/>
                </a:solidFill>
              </a:rPr>
              <a:t>Total Productive Maintenance (TPM)</a:t>
            </a:r>
          </a:p>
          <a:p>
            <a:pPr marL="0" indent="0" algn="r">
              <a:buNone/>
            </a:pPr>
            <a:r>
              <a:rPr lang="en-US" sz="1400" dirty="0">
                <a:solidFill>
                  <a:srgbClr val="222222"/>
                </a:solidFill>
              </a:rPr>
              <a:t>Administrative Lean</a:t>
            </a:r>
          </a:p>
          <a:p>
            <a:pPr marL="0" indent="0" algn="r">
              <a:buNone/>
            </a:pPr>
            <a:r>
              <a:rPr lang="en-US" sz="1400" dirty="0">
                <a:solidFill>
                  <a:srgbClr val="222222"/>
                </a:solidFill>
              </a:rPr>
              <a:t>Cell Design/ Production Preparation Process (3P)</a:t>
            </a:r>
          </a:p>
          <a:p>
            <a:pPr marL="0" indent="0" algn="r">
              <a:buNone/>
            </a:pPr>
            <a:r>
              <a:rPr lang="en-US" sz="1400" dirty="0">
                <a:solidFill>
                  <a:srgbClr val="222222"/>
                </a:solidFill>
              </a:rPr>
              <a:t>Kaizen</a:t>
            </a:r>
          </a:p>
          <a:p>
            <a:pPr marL="0" indent="0" algn="r">
              <a:buNone/>
            </a:pPr>
            <a:r>
              <a:rPr lang="en-US" sz="1400" dirty="0">
                <a:solidFill>
                  <a:srgbClr val="222222"/>
                </a:solidFill>
              </a:rPr>
              <a:t>Kanban</a:t>
            </a:r>
          </a:p>
          <a:p>
            <a:pPr marL="0" indent="0" algn="r">
              <a:buNone/>
            </a:pPr>
            <a:r>
              <a:rPr lang="en-US" sz="1400" dirty="0">
                <a:solidFill>
                  <a:srgbClr val="222222"/>
                </a:solidFill>
              </a:rPr>
              <a:t>Problem Solving</a:t>
            </a:r>
          </a:p>
          <a:p>
            <a:pPr marL="0" indent="0" algn="r">
              <a:buNone/>
            </a:pPr>
            <a:r>
              <a:rPr lang="en-US" sz="1400" dirty="0" err="1">
                <a:solidFill>
                  <a:srgbClr val="222222"/>
                </a:solidFill>
              </a:rPr>
              <a:t>Poka</a:t>
            </a:r>
            <a:r>
              <a:rPr lang="en-US" sz="1400" dirty="0">
                <a:solidFill>
                  <a:srgbClr val="222222"/>
                </a:solidFill>
              </a:rPr>
              <a:t> Yoke Quality Systems</a:t>
            </a:r>
          </a:p>
          <a:p>
            <a:pPr marL="0" indent="0" algn="r">
              <a:buNone/>
            </a:pPr>
            <a:r>
              <a:rPr lang="en-US" sz="1400" dirty="0">
                <a:solidFill>
                  <a:srgbClr val="222222"/>
                </a:solidFill>
              </a:rPr>
              <a:t>Transaction Process Improvement (TPI)</a:t>
            </a:r>
          </a:p>
          <a:p>
            <a:pPr marL="0" indent="0" algn="r">
              <a:buNone/>
            </a:pPr>
            <a:r>
              <a:rPr lang="en-US" sz="1400" dirty="0">
                <a:solidFill>
                  <a:srgbClr val="222222"/>
                </a:solidFill>
              </a:rPr>
              <a:t>Cause &amp; Effect Diagram with the Additions of Cards (CEDAC)</a:t>
            </a:r>
          </a:p>
          <a:p>
            <a:pPr marL="0" indent="0" algn="r">
              <a:buNone/>
            </a:pPr>
            <a:r>
              <a:rPr lang="en-US" sz="1400" dirty="0">
                <a:solidFill>
                  <a:srgbClr val="222222"/>
                </a:solidFill>
              </a:rPr>
              <a:t>Single Minute Exchange of Dies (SMED)</a:t>
            </a:r>
          </a:p>
          <a:p>
            <a:pPr marL="0" indent="0" algn="r">
              <a:buNone/>
            </a:pPr>
            <a:r>
              <a:rPr lang="en-US" sz="1400" dirty="0">
                <a:solidFill>
                  <a:srgbClr val="222222"/>
                </a:solidFill>
              </a:rPr>
              <a:t>Value Stream Mapping (</a:t>
            </a:r>
            <a:r>
              <a:rPr lang="en-US" sz="1400" dirty="0" err="1">
                <a:solidFill>
                  <a:srgbClr val="222222"/>
                </a:solidFill>
              </a:rPr>
              <a:t>VSMi</a:t>
            </a:r>
            <a:r>
              <a:rPr lang="en-US" sz="1400" dirty="0">
                <a:solidFill>
                  <a:srgbClr val="222222"/>
                </a:solidFill>
              </a:rPr>
              <a:t>®)</a:t>
            </a:r>
          </a:p>
          <a:p>
            <a:pPr marL="0" indent="0" algn="r">
              <a:buNone/>
            </a:pPr>
            <a:r>
              <a:rPr lang="en-US" sz="1400" dirty="0">
                <a:solidFill>
                  <a:srgbClr val="222222"/>
                </a:solidFill>
              </a:rPr>
              <a:t>Visual Management</a:t>
            </a:r>
          </a:p>
          <a:p>
            <a:pPr marL="0" indent="0" algn="r">
              <a:buNone/>
            </a:pPr>
            <a:r>
              <a:rPr lang="en-US" sz="1400" dirty="0">
                <a:solidFill>
                  <a:srgbClr val="222222"/>
                </a:solidFill>
              </a:rPr>
              <a:t>Managing Daily Process Excellence</a:t>
            </a:r>
          </a:p>
        </p:txBody>
      </p:sp>
      <p:sp>
        <p:nvSpPr>
          <p:cNvPr id="4" name="Slide Number Placeholder 16">
            <a:extLst>
              <a:ext uri="{FF2B5EF4-FFF2-40B4-BE49-F238E27FC236}">
                <a16:creationId xmlns:a16="http://schemas.microsoft.com/office/drawing/2014/main" id="{E00373DC-78CB-3D04-3192-20C355FFEA4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111</a:t>
            </a:fld>
            <a:endParaRPr lang="en-US" sz="1000" dirty="0"/>
          </a:p>
        </p:txBody>
      </p:sp>
      <p:pic>
        <p:nvPicPr>
          <p:cNvPr id="6" name="Picture 5">
            <a:extLst>
              <a:ext uri="{FF2B5EF4-FFF2-40B4-BE49-F238E27FC236}">
                <a16:creationId xmlns:a16="http://schemas.microsoft.com/office/drawing/2014/main" id="{87A04EA8-9038-B4A7-1140-66E5C8E9E5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Tree>
    <p:extLst>
      <p:ext uri="{BB962C8B-B14F-4D97-AF65-F5344CB8AC3E}">
        <p14:creationId xmlns:p14="http://schemas.microsoft.com/office/powerpoint/2010/main" val="245004856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4212</TotalTime>
  <Words>9547</Words>
  <Application>Microsoft Office PowerPoint</Application>
  <PresentationFormat>Widescreen</PresentationFormat>
  <Paragraphs>1435</Paragraphs>
  <Slides>111</Slides>
  <Notes>111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111</vt:i4>
      </vt:variant>
    </vt:vector>
  </HeadingPairs>
  <TitlesOfParts>
    <vt:vector size="120" baseType="lpstr">
      <vt:lpstr>ＭＳ Ｐゴシック</vt:lpstr>
      <vt:lpstr>Arial</vt:lpstr>
      <vt:lpstr>Calibri</vt:lpstr>
      <vt:lpstr>Monotype Sorts</vt:lpstr>
      <vt:lpstr>Roboto</vt:lpstr>
      <vt:lpstr>Roboto Medium</vt:lpstr>
      <vt:lpstr>Times New Roman</vt:lpstr>
      <vt:lpstr>Wingdings 2</vt:lpstr>
      <vt:lpstr>Office Theme</vt:lpstr>
      <vt:lpstr>PowerPoint Presentation</vt:lpstr>
      <vt:lpstr>PowerPoint Presentation</vt:lpstr>
      <vt:lpstr>PowerPoint Presentation</vt:lpstr>
      <vt:lpstr>Ground Rules for Event</vt:lpstr>
      <vt:lpstr>Transactional Process Improvement (TPI)</vt:lpstr>
      <vt:lpstr>Goal of TPI</vt:lpstr>
      <vt:lpstr>TPI Linkage to Strategy</vt:lpstr>
      <vt:lpstr>Benefits of TPI</vt:lpstr>
      <vt:lpstr>TPI Process</vt:lpstr>
      <vt:lpstr>TPI Session Agenda</vt:lpstr>
      <vt:lpstr>Pre-Requisites for TPI</vt:lpstr>
      <vt:lpstr>Review of Pre-Event Preparation Document</vt:lpstr>
      <vt:lpstr>TPI Report-out Expectations</vt:lpstr>
      <vt:lpstr>Process Mapping Basics</vt:lpstr>
      <vt:lpstr>Process Mapping</vt:lpstr>
      <vt:lpstr>Value Stream Map and Process Map Distinction</vt:lpstr>
      <vt:lpstr>Example: From VSM to Process Map</vt:lpstr>
      <vt:lpstr>PowerPoint Presentation</vt:lpstr>
      <vt:lpstr>PowerPoint Presentation</vt:lpstr>
      <vt:lpstr>Any Process has at Least Three Versions</vt:lpstr>
      <vt:lpstr>Process Mapping</vt:lpstr>
      <vt:lpstr>Process Mapping Symbols</vt:lpstr>
      <vt:lpstr>Process Mapping</vt:lpstr>
      <vt:lpstr>Process Map Example</vt:lpstr>
      <vt:lpstr>Process Map Example</vt:lpstr>
      <vt:lpstr>When the Use of “Swim Lanes” is Appropriate</vt:lpstr>
      <vt:lpstr>Process Map Example Using Swim Lanes</vt:lpstr>
      <vt:lpstr>Process Map Exercise</vt:lpstr>
      <vt:lpstr>Process Map Exercise</vt:lpstr>
      <vt:lpstr>Complete Describing the “As Is” Process</vt:lpstr>
      <vt:lpstr>As Is/Should Be vs. Current State/Future State</vt:lpstr>
      <vt:lpstr>Steps to Describe the As Is Process</vt:lpstr>
      <vt:lpstr>Confirm the boundaries of the process</vt:lpstr>
      <vt:lpstr>In order to confirm the boundaries  we must answer the following:</vt:lpstr>
      <vt:lpstr>Exercise</vt:lpstr>
      <vt:lpstr>Steps to Describe the As Is Process</vt:lpstr>
      <vt:lpstr>Define Elements of Process Walk</vt:lpstr>
      <vt:lpstr>Roles during the Process Walk #1</vt:lpstr>
      <vt:lpstr>Typical Interviewing Questions for Process Walk #1</vt:lpstr>
      <vt:lpstr>Exercise: Perform Process Walk </vt:lpstr>
      <vt:lpstr>Steps to Describe the As Is Process</vt:lpstr>
      <vt:lpstr>Document the  Preliminary Process Map</vt:lpstr>
      <vt:lpstr>Exercise: Review and Draw Preliminary Process Map</vt:lpstr>
      <vt:lpstr>Draw Spaghetti Diagram for the As Is Process</vt:lpstr>
      <vt:lpstr>Steps to Describe the As Is Process</vt:lpstr>
      <vt:lpstr>Exercise: Draw a Consensus “As Is” Process Map</vt:lpstr>
      <vt:lpstr>Conduct Leadership Review of “As Is” Process Map</vt:lpstr>
      <vt:lpstr>Identify and Define the  Barriers Within the “As Is” Process </vt:lpstr>
      <vt:lpstr>Eight Wastes</vt:lpstr>
      <vt:lpstr>Eight Wastes</vt:lpstr>
      <vt:lpstr>Causes of Transactional Waste</vt:lpstr>
      <vt:lpstr>Barriers vs. Solutions</vt:lpstr>
      <vt:lpstr>Barrier Definition and Selection</vt:lpstr>
      <vt:lpstr>Prioritize Remaining Barriers  by Impact and Time to Implement</vt:lpstr>
      <vt:lpstr>Brainstorming Barriers</vt:lpstr>
      <vt:lpstr>Example</vt:lpstr>
      <vt:lpstr>Prioritize Remaining Barriers  by Impact and Time to Implement</vt:lpstr>
      <vt:lpstr>Exercise: Barriers</vt:lpstr>
      <vt:lpstr>Conduct Leadership Review of Barriers</vt:lpstr>
      <vt:lpstr>Identify Potential Solutions to the Barriers </vt:lpstr>
      <vt:lpstr>Using Lean Tools to Arrive at Solutions</vt:lpstr>
      <vt:lpstr>Brainstorming Solutions</vt:lpstr>
      <vt:lpstr>Example</vt:lpstr>
      <vt:lpstr>Prioritize Solutions by  Impact and Time to Implement</vt:lpstr>
      <vt:lpstr>Exercise: Solutions</vt:lpstr>
      <vt:lpstr>Conduct Leadership Review of Solutions</vt:lpstr>
      <vt:lpstr>Complete Description of the “Should Be” Process</vt:lpstr>
      <vt:lpstr>Creating the Should Be Process</vt:lpstr>
      <vt:lpstr>Draw the Initial Consensus Should Be Process Map</vt:lpstr>
      <vt:lpstr>Draw Spaghetti Diagram for Should Be Process</vt:lpstr>
      <vt:lpstr>Typical Considerations  for the “Should Be” Process</vt:lpstr>
      <vt:lpstr>Draw the Revised Consensus  Should Be Process Map</vt:lpstr>
      <vt:lpstr>Exercise: Complete  Should Be Process Documentation</vt:lpstr>
      <vt:lpstr>Conduct Leadership Review of Should Be Process</vt:lpstr>
      <vt:lpstr>Define and Implement Solutions </vt:lpstr>
      <vt:lpstr>Label Each Solution</vt:lpstr>
      <vt:lpstr>Assign Organizational Responsibility for Each Solution</vt:lpstr>
      <vt:lpstr>Determine Tasks to be Accomplished</vt:lpstr>
      <vt:lpstr>Define Purpose and Components of Kaizen Newspaper</vt:lpstr>
      <vt:lpstr>Kaizen Newspaper Form</vt:lpstr>
      <vt:lpstr>Future Plans</vt:lpstr>
      <vt:lpstr>Complete Procedure Schedule</vt:lpstr>
      <vt:lpstr>Procedure Schedule Example</vt:lpstr>
      <vt:lpstr>Develop and Complete Compelling Report Out Presentation</vt:lpstr>
      <vt:lpstr>Exercise: Implement Solutions and Schedule</vt:lpstr>
      <vt:lpstr>Appendix A</vt:lpstr>
      <vt:lpstr>9 Steps to Problem Solving</vt:lpstr>
      <vt:lpstr>Problem Solving Tools</vt:lpstr>
      <vt:lpstr>Problem Solving Tools</vt:lpstr>
      <vt:lpstr>Problem Solving Tools</vt:lpstr>
      <vt:lpstr>Problem Solving Tools</vt:lpstr>
      <vt:lpstr>CEDAC</vt:lpstr>
      <vt:lpstr>Problem Solving Tools</vt:lpstr>
      <vt:lpstr>Appendix B</vt:lpstr>
      <vt:lpstr>Goal of 5S</vt:lpstr>
      <vt:lpstr>5S – English Translations </vt:lpstr>
      <vt:lpstr>Visual Management</vt:lpstr>
      <vt:lpstr>Appendix C</vt:lpstr>
      <vt:lpstr>Poka-Yoke: Error-Proofing</vt:lpstr>
      <vt:lpstr>Poka-Yoke Philosophy</vt:lpstr>
      <vt:lpstr>Appendix D</vt:lpstr>
      <vt:lpstr>Standard Work—Defined </vt:lpstr>
      <vt:lpstr>Transactional Standard Work you already know</vt:lpstr>
      <vt:lpstr>Standard Operating Procedures (SOPs)</vt:lpstr>
      <vt:lpstr>Cellularization</vt:lpstr>
      <vt:lpstr>How Many People Do We Need?</vt:lpstr>
      <vt:lpstr>Operator Loading Chart</vt:lpstr>
      <vt:lpstr>Operator/Process Loading Chart</vt:lpstr>
      <vt:lpstr>Standardized Work</vt:lpstr>
      <vt:lpstr>Least Operator Concept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133</cp:revision>
  <dcterms:created xsi:type="dcterms:W3CDTF">2023-02-08T22:10:20Z</dcterms:created>
  <dcterms:modified xsi:type="dcterms:W3CDTF">2024-09-06T22:54:39Z</dcterms:modified>
</cp:coreProperties>
</file>