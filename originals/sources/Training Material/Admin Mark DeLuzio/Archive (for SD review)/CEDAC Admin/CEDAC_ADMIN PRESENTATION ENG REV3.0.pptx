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4"/>
  </p:notesMasterIdLst>
  <p:sldIdLst>
    <p:sldId id="258" r:id="rId2"/>
    <p:sldId id="283" r:id="rId3"/>
    <p:sldId id="284" r:id="rId4"/>
    <p:sldId id="285" r:id="rId5"/>
    <p:sldId id="313" r:id="rId6"/>
    <p:sldId id="334" r:id="rId7"/>
    <p:sldId id="335" r:id="rId8"/>
    <p:sldId id="316"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4" r:id="rId57"/>
    <p:sldId id="385" r:id="rId58"/>
    <p:sldId id="386" r:id="rId59"/>
    <p:sldId id="387" r:id="rId60"/>
    <p:sldId id="388" r:id="rId61"/>
    <p:sldId id="389" r:id="rId62"/>
    <p:sldId id="390" r:id="rId63"/>
    <p:sldId id="392" r:id="rId64"/>
    <p:sldId id="393"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08" r:id="rId80"/>
    <p:sldId id="409" r:id="rId81"/>
    <p:sldId id="410" r:id="rId82"/>
    <p:sldId id="411" r:id="rId83"/>
    <p:sldId id="412" r:id="rId84"/>
    <p:sldId id="413" r:id="rId85"/>
    <p:sldId id="414" r:id="rId86"/>
    <p:sldId id="415" r:id="rId87"/>
    <p:sldId id="416" r:id="rId88"/>
    <p:sldId id="417" r:id="rId89"/>
    <p:sldId id="418" r:id="rId90"/>
    <p:sldId id="419" r:id="rId91"/>
    <p:sldId id="420" r:id="rId92"/>
    <p:sldId id="421" r:id="rId93"/>
    <p:sldId id="422" r:id="rId94"/>
    <p:sldId id="423" r:id="rId95"/>
    <p:sldId id="424" r:id="rId96"/>
    <p:sldId id="425" r:id="rId97"/>
    <p:sldId id="426" r:id="rId98"/>
    <p:sldId id="427" r:id="rId99"/>
    <p:sldId id="428" r:id="rId100"/>
    <p:sldId id="286" r:id="rId101"/>
    <p:sldId id="429" r:id="rId102"/>
    <p:sldId id="430"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p:scale>
        <a:sx n="100" d="100"/>
        <a:sy n="100" d="100"/>
      </p:scale>
      <p:origin x="0" y="-4240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8/10/relationships/authors" Targe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 </a:t>
            </a:r>
            <a:r>
              <a:rPr lang="en-US" altLang="en-US" dirty="0">
                <a:latin typeface="Arial" panose="020B0604020202020204" pitchFamily="34" charset="0"/>
              </a:rPr>
              <a:t>The CEDAC training module is intended for use at kaizen event training. The training is a </a:t>
            </a:r>
            <a:r>
              <a:rPr lang="ja-JP" altLang="en-US" dirty="0">
                <a:latin typeface="Arial" panose="020B0604020202020204" pitchFamily="34" charset="0"/>
              </a:rPr>
              <a:t>“</a:t>
            </a:r>
            <a:r>
              <a:rPr lang="en-US" altLang="ja-JP" dirty="0">
                <a:latin typeface="Arial" panose="020B0604020202020204" pitchFamily="34" charset="0"/>
              </a:rPr>
              <a:t>Learn-Do</a:t>
            </a:r>
            <a:r>
              <a:rPr lang="ja-JP" altLang="en-US" dirty="0">
                <a:latin typeface="Arial" panose="020B0604020202020204" pitchFamily="34" charset="0"/>
              </a:rPr>
              <a:t>”</a:t>
            </a:r>
            <a:r>
              <a:rPr lang="en-US" altLang="ja-JP" dirty="0">
                <a:latin typeface="Arial" panose="020B0604020202020204" pitchFamily="34" charset="0"/>
              </a:rPr>
              <a:t> approach in which there are designated points in the training course for the participants/kaizen teams to stop and apply their learning to their kaizen project/event. The training material is recommended for a 5 day event, but is scalable for events of any length.</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dirty="0"/>
          </a:p>
        </p:txBody>
      </p:sp>
    </p:spTree>
    <p:extLst>
      <p:ext uri="{BB962C8B-B14F-4D97-AF65-F5344CB8AC3E}">
        <p14:creationId xmlns:p14="http://schemas.microsoft.com/office/powerpoint/2010/main" val="1582284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494345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3125258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1134353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While not all CEDAC events are 5 full days this represents the preferred method of improvement to ensure that the systematic approach is followed.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676668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026964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is also a great tool to get to root cause and involve not only those on the actual event team but also those on other shifts and from other areas.  Anyone can fill out cards as long as they follow the basic rules.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119490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Defining the problem in step 1 is what is thought to be the issue although it may turn out differently when inputs and fact finding occur.  Don</a:t>
            </a:r>
            <a:r>
              <a:rPr lang="ja-JP" altLang="en-US" dirty="0">
                <a:latin typeface="Arial" panose="020B0604020202020204" pitchFamily="34" charset="0"/>
              </a:rPr>
              <a:t>’</a:t>
            </a:r>
            <a:r>
              <a:rPr lang="en-US" altLang="ja-JP" dirty="0">
                <a:latin typeface="Arial" panose="020B0604020202020204" pitchFamily="34" charset="0"/>
              </a:rPr>
              <a:t>t let the problem define the correction action if it is not the true problem.</a:t>
            </a:r>
          </a:p>
          <a:p>
            <a:endParaRPr lang="en-US" altLang="en-US" dirty="0">
              <a:latin typeface="Arial" panose="020B0604020202020204" pitchFamily="34" charset="0"/>
            </a:endParaRPr>
          </a:p>
          <a:p>
            <a:r>
              <a:rPr lang="en-US" altLang="en-US" dirty="0">
                <a:latin typeface="Arial" panose="020B0604020202020204" pitchFamily="34" charset="0"/>
              </a:rPr>
              <a:t>Taichi Ohno (the father of TPS) says that 80% of our time should be spent defining and proving the true root cause problem, not fixing it.</a:t>
            </a:r>
          </a:p>
          <a:p>
            <a:endParaRPr lang="en-US" altLang="en-US" dirty="0">
              <a:latin typeface="Arial" panose="020B0604020202020204" pitchFamily="34" charset="0"/>
            </a:endParaRPr>
          </a:p>
          <a:p>
            <a:r>
              <a:rPr lang="en-US" altLang="en-US" dirty="0">
                <a:latin typeface="Arial" panose="020B0604020202020204" pitchFamily="34" charset="0"/>
              </a:rPr>
              <a:t>Traditionally, most </a:t>
            </a:r>
            <a:r>
              <a:rPr lang="ja-JP" altLang="en-US" dirty="0">
                <a:latin typeface="Arial" panose="020B0604020202020204" pitchFamily="34" charset="0"/>
              </a:rPr>
              <a:t>“</a:t>
            </a:r>
            <a:r>
              <a:rPr lang="en-US" altLang="ja-JP" dirty="0">
                <a:latin typeface="Arial" panose="020B0604020202020204" pitchFamily="34" charset="0"/>
              </a:rPr>
              <a:t>problem solvers</a:t>
            </a:r>
            <a:r>
              <a:rPr lang="ja-JP" altLang="en-US" dirty="0">
                <a:latin typeface="Arial" panose="020B0604020202020204" pitchFamily="34" charset="0"/>
              </a:rPr>
              <a:t>”</a:t>
            </a:r>
            <a:r>
              <a:rPr lang="en-US" altLang="ja-JP" dirty="0">
                <a:latin typeface="Arial" panose="020B0604020202020204" pitchFamily="34" charset="0"/>
              </a:rPr>
              <a:t> already know what the problem is and have a solution but most often there was no systematic approach to determine the true problem/s and they jump to the solution phase without allowing others to contribute.</a:t>
            </a:r>
          </a:p>
          <a:p>
            <a:endParaRPr lang="en-US" altLang="en-US" dirty="0">
              <a:latin typeface="Arial" panose="020B0604020202020204" pitchFamily="34" charset="0"/>
            </a:endParaRPr>
          </a:p>
          <a:p>
            <a:r>
              <a:rPr lang="en-US" altLang="en-US" dirty="0">
                <a:latin typeface="Arial" panose="020B0604020202020204" pitchFamily="34" charset="0"/>
              </a:rPr>
              <a:t>The PDCA cycle is inherently incorporated into CEDAC along with the 5-why</a:t>
            </a:r>
            <a:r>
              <a:rPr lang="ja-JP" altLang="en-US" dirty="0">
                <a:latin typeface="Arial" panose="020B0604020202020204" pitchFamily="34" charset="0"/>
              </a:rPr>
              <a:t>’</a:t>
            </a:r>
            <a:r>
              <a:rPr lang="en-US" altLang="ja-JP" dirty="0">
                <a:latin typeface="Arial" panose="020B0604020202020204" pitchFamily="34" charset="0"/>
              </a:rPr>
              <a:t>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38511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Discuss each step and the activities under each box one by one.  Following this process will allow the team to learn the stepped process to solve problems to the root level.</a:t>
            </a: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768979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slide refers to the main phases of planning that must be carried out prior to the event week but should include critical members of the team and or management responsible for the process being reviewed.</a:t>
            </a: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649892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These steps reference the items that will be addressed during the event and throughout the CEDAC activity if the CEDAC is used outside of the team.</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is a good tool used for multi-shift operations and in environments that need input from areas that are not included on the team.</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126948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NOTE: </a:t>
            </a:r>
            <a:r>
              <a:rPr lang="en-US" altLang="en-US" b="1" dirty="0">
                <a:latin typeface="Arial" panose="020B0604020202020204" pitchFamily="34" charset="0"/>
              </a:rPr>
              <a:t>Specific company name and information have been removed from this example.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325429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812798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572034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758291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733491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Defining the problem does not mean define the solution.  Simply state what the observed failure or defect is and let the process amplify the </a:t>
            </a:r>
            <a:r>
              <a:rPr lang="ja-JP" altLang="en-US" dirty="0">
                <a:latin typeface="Arial" panose="020B0604020202020204" pitchFamily="34" charset="0"/>
              </a:rPr>
              <a:t>“</a:t>
            </a:r>
            <a:r>
              <a:rPr lang="en-US" altLang="ja-JP" dirty="0">
                <a:latin typeface="Arial" panose="020B0604020202020204" pitchFamily="34" charset="0"/>
              </a:rPr>
              <a:t>who, what, where, when</a:t>
            </a:r>
            <a:r>
              <a:rPr lang="ja-JP" altLang="en-US" dirty="0">
                <a:latin typeface="Arial" panose="020B0604020202020204" pitchFamily="34" charset="0"/>
              </a:rPr>
              <a:t>”</a:t>
            </a:r>
            <a:r>
              <a:rPr lang="en-US" altLang="ja-JP" dirty="0">
                <a:latin typeface="Arial" panose="020B0604020202020204" pitchFamily="34" charset="0"/>
              </a:rPr>
              <a:t> that will lead to the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Objective statement = goal or desired condition</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4255106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756868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Add your own examples or ask the team to explain some of their past problems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726817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494504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887859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10643456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90000"/>
              </a:lnSpc>
            </a:pPr>
            <a:r>
              <a:rPr lang="en-US" altLang="en-US" sz="1200" b="1" dirty="0">
                <a:latin typeface="Arial" panose="020B0604020202020204" pitchFamily="34" charset="0"/>
              </a:rPr>
              <a:t>SAMPLE CRITIQUES:</a:t>
            </a:r>
          </a:p>
          <a:p>
            <a:pPr marL="228600" indent="-228600">
              <a:lnSpc>
                <a:spcPct val="90000"/>
              </a:lnSpc>
            </a:pPr>
            <a:endParaRPr lang="en-US" altLang="en-US" sz="1200" b="1" dirty="0">
              <a:latin typeface="Arial" panose="020B0604020202020204" pitchFamily="34" charset="0"/>
            </a:endParaRPr>
          </a:p>
          <a:p>
            <a:pPr marL="228600" indent="-228600">
              <a:lnSpc>
                <a:spcPct val="90000"/>
              </a:lnSpc>
              <a:buFontTx/>
              <a:buAutoNum type="arabicPeriod"/>
            </a:pPr>
            <a:r>
              <a:rPr lang="en-US" altLang="en-US" sz="1200" dirty="0">
                <a:latin typeface="Arial" panose="020B0604020202020204" pitchFamily="34" charset="0"/>
              </a:rPr>
              <a:t>Problem statement unclear – is the problem that we want to solve that our monthly sales forecasts are only 60% or that there are staffing issues in data entry (and what specifically are the staffing issues?)</a:t>
            </a:r>
          </a:p>
          <a:p>
            <a:pPr marL="228600" indent="-228600">
              <a:lnSpc>
                <a:spcPct val="90000"/>
              </a:lnSpc>
              <a:buFontTx/>
              <a:buAutoNum type="arabicPeriod"/>
            </a:pPr>
            <a:r>
              <a:rPr lang="en-US" altLang="en-US" sz="1200" dirty="0">
                <a:latin typeface="Arial" panose="020B0604020202020204" pitchFamily="34" charset="0"/>
              </a:rPr>
              <a:t>Also assuming the cause in the problem statement</a:t>
            </a:r>
          </a:p>
          <a:p>
            <a:pPr marL="228600" indent="-228600">
              <a:lnSpc>
                <a:spcPct val="90000"/>
              </a:lnSpc>
              <a:buFontTx/>
              <a:buAutoNum type="arabicPeriod"/>
            </a:pPr>
            <a:r>
              <a:rPr lang="en-US" altLang="en-US" sz="1200" dirty="0">
                <a:latin typeface="Arial" panose="020B0604020202020204" pitchFamily="34" charset="0"/>
              </a:rPr>
              <a:t>Includes the solution in the problem statement</a:t>
            </a:r>
          </a:p>
          <a:p>
            <a:pPr marL="228600" indent="-228600">
              <a:lnSpc>
                <a:spcPct val="90000"/>
              </a:lnSpc>
              <a:buFontTx/>
              <a:buAutoNum type="arabicPeriod"/>
            </a:pPr>
            <a:r>
              <a:rPr lang="en-US" altLang="en-US" sz="1200" dirty="0">
                <a:latin typeface="Arial" panose="020B0604020202020204" pitchFamily="34" charset="0"/>
              </a:rPr>
              <a:t>Includes the solution in the problem statement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132401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At this point, probably the best problem statement would be:  </a:t>
            </a:r>
            <a:r>
              <a:rPr lang="ja-JP" altLang="en-US" sz="800" dirty="0">
                <a:latin typeface="Arial" panose="020B0604020202020204" pitchFamily="34" charset="0"/>
              </a:rPr>
              <a:t>“</a:t>
            </a:r>
            <a:r>
              <a:rPr lang="en-US" altLang="ja-JP" sz="800" dirty="0">
                <a:latin typeface="Arial" panose="020B0604020202020204" pitchFamily="34" charset="0"/>
              </a:rPr>
              <a:t>Customer complaints have increased significantly during this past summer.</a:t>
            </a:r>
            <a:r>
              <a:rPr lang="ja-JP" altLang="en-US" sz="800" dirty="0">
                <a:latin typeface="Arial" panose="020B0604020202020204" pitchFamily="34" charset="0"/>
              </a:rPr>
              <a:t>”</a:t>
            </a:r>
            <a:r>
              <a:rPr lang="en-US" altLang="ja-JP" sz="800" dirty="0">
                <a:latin typeface="Arial" panose="020B0604020202020204" pitchFamily="34" charset="0"/>
              </a:rPr>
              <a:t>  The learners may struggle given that there is no additional data, and that is GOOD!  There is really no wrong answer at this point, since the teams will have an opportunity to more data in steps 2 and 3.</a:t>
            </a:r>
          </a:p>
          <a:p>
            <a:r>
              <a:rPr lang="en-US" altLang="en-US" sz="800" b="1" dirty="0">
                <a:latin typeface="Arial" panose="020B0604020202020204" pitchFamily="34" charset="0"/>
              </a:rPr>
              <a:t>NOTE:</a:t>
            </a:r>
            <a:r>
              <a:rPr lang="en-US" altLang="en-US" sz="800" dirty="0">
                <a:latin typeface="Arial" panose="020B0604020202020204" pitchFamily="34" charset="0"/>
              </a:rPr>
              <a:t>  This restaurant is NOT REAL!  In case anyone should ask – only a hypothetical situation.</a:t>
            </a: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103063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15216231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175151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296847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You cannot improve what you don</a:t>
            </a:r>
            <a:r>
              <a:rPr lang="ja-JP" altLang="en-US" dirty="0">
                <a:latin typeface="Arial" panose="020B0604020202020204" pitchFamily="34" charset="0"/>
              </a:rPr>
              <a:t>’</a:t>
            </a:r>
            <a:r>
              <a:rPr lang="en-US" altLang="ja-JP" dirty="0">
                <a:latin typeface="Arial" panose="020B0604020202020204" pitchFamily="34" charset="0"/>
              </a:rPr>
              <a:t>t measure.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239490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It is important to collect and use measures that are easy to get and hard to fool.  If the measures can be </a:t>
            </a:r>
            <a:r>
              <a:rPr lang="ja-JP" altLang="en-US" dirty="0">
                <a:latin typeface="Arial" panose="020B0604020202020204" pitchFamily="34" charset="0"/>
              </a:rPr>
              <a:t>“</a:t>
            </a:r>
            <a:r>
              <a:rPr lang="en-US" altLang="ja-JP" dirty="0">
                <a:latin typeface="Arial" panose="020B0604020202020204" pitchFamily="34" charset="0"/>
              </a:rPr>
              <a:t>gamed</a:t>
            </a:r>
            <a:r>
              <a:rPr lang="ja-JP" altLang="en-US" dirty="0">
                <a:latin typeface="Arial" panose="020B0604020202020204" pitchFamily="34" charset="0"/>
              </a:rPr>
              <a:t>”</a:t>
            </a:r>
            <a:r>
              <a:rPr lang="en-US" altLang="ja-JP" dirty="0">
                <a:latin typeface="Arial" panose="020B0604020202020204" pitchFamily="34" charset="0"/>
              </a:rPr>
              <a:t> then they probably will be…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6134820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team to identify some of their own metrics (personal or professional) based on what they interpret here.</a:t>
            </a: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5538219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It is helpful to expand on each of the items listed and ask the class what they mean and how they relate to their experience.  Don</a:t>
            </a:r>
            <a:r>
              <a:rPr lang="ja-JP" altLang="en-US" dirty="0">
                <a:latin typeface="Arial" panose="020B0604020202020204" pitchFamily="34" charset="0"/>
              </a:rPr>
              <a:t>’</a:t>
            </a:r>
            <a:r>
              <a:rPr lang="en-US" altLang="ja-JP" dirty="0">
                <a:latin typeface="Arial" panose="020B0604020202020204" pitchFamily="34" charset="0"/>
              </a:rPr>
              <a:t>t let them off easy, make them tell you some instances for some of the items listed to be sure they relate to the pitfalls and find the truth in what is being taught.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604273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769285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en-US" altLang="en-US" b="1" dirty="0">
                <a:latin typeface="Arial" panose="020B0604020202020204" pitchFamily="34" charset="0"/>
              </a:rPr>
              <a:t>ANSWERS:</a:t>
            </a:r>
          </a:p>
          <a:p>
            <a:pPr marL="228600" indent="-228600">
              <a:buFontTx/>
              <a:buAutoNum type="arabicPeriod"/>
            </a:pPr>
            <a:r>
              <a:rPr lang="en-US" altLang="en-US" dirty="0">
                <a:latin typeface="Arial" panose="020B0604020202020204" pitchFamily="34" charset="0"/>
              </a:rPr>
              <a:t>Metric does not directly correlate to problem</a:t>
            </a:r>
          </a:p>
          <a:p>
            <a:pPr marL="228600" indent="-228600">
              <a:buFontTx/>
              <a:buAutoNum type="arabicPeriod"/>
            </a:pPr>
            <a:r>
              <a:rPr lang="en-US" altLang="en-US" dirty="0">
                <a:latin typeface="Arial" panose="020B0604020202020204" pitchFamily="34" charset="0"/>
              </a:rPr>
              <a:t>Adequate</a:t>
            </a:r>
          </a:p>
          <a:p>
            <a:pPr marL="228600" indent="-228600">
              <a:buFontTx/>
              <a:buAutoNum type="arabicPeriod"/>
            </a:pPr>
            <a:r>
              <a:rPr lang="en-US" altLang="en-US" dirty="0">
                <a:latin typeface="Arial" panose="020B0604020202020204" pitchFamily="34" charset="0"/>
              </a:rPr>
              <a:t>Customer satisfaction ratings may apply to this depending on what was measured – but the metric as it is written is not clear.</a:t>
            </a:r>
          </a:p>
          <a:p>
            <a:pPr marL="228600" indent="-228600">
              <a:buFontTx/>
              <a:buAutoNum type="arabicPeriod"/>
            </a:pPr>
            <a:r>
              <a:rPr lang="en-US" altLang="en-US" dirty="0">
                <a:latin typeface="Arial" panose="020B0604020202020204" pitchFamily="34" charset="0"/>
              </a:rPr>
              <a:t>Daily account receivables does not point directly to available budget for an accountant</a:t>
            </a: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7744778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At this point, probably the best problem statement would be: </a:t>
            </a:r>
            <a:r>
              <a:rPr lang="ja-JP" altLang="en-US" sz="800" dirty="0">
                <a:latin typeface="Arial" panose="020B0604020202020204" pitchFamily="34" charset="0"/>
              </a:rPr>
              <a:t>“</a:t>
            </a:r>
            <a:r>
              <a:rPr lang="en-US" altLang="ja-JP" sz="800" dirty="0">
                <a:latin typeface="Arial" panose="020B0604020202020204" pitchFamily="34" charset="0"/>
              </a:rPr>
              <a:t>Customer complaints have increased significantly during this past summer, primarily on Fridays.</a:t>
            </a:r>
            <a:r>
              <a:rPr lang="ja-JP" altLang="en-US" sz="800" dirty="0">
                <a:latin typeface="Arial" panose="020B0604020202020204" pitchFamily="34" charset="0"/>
              </a:rPr>
              <a:t>”</a:t>
            </a:r>
            <a:r>
              <a:rPr lang="en-US" altLang="ja-JP" sz="800" dirty="0">
                <a:latin typeface="Arial" panose="020B0604020202020204" pitchFamily="34" charset="0"/>
              </a:rPr>
              <a:t>  Additional metrics would definitely include a Pareto analysis of the actual COMPLAINTS, especially on Friday.  You may want to point out that, at this point, your primary focus WILL be on FRIDAY complaints, given that it accounts for 80% of the problem.</a:t>
            </a:r>
            <a:endParaRPr lang="en-US" altLang="en-US" sz="800" dirty="0">
              <a:latin typeface="Arial" panose="020B0604020202020204" pitchFamily="34" charset="0"/>
            </a:endParaRP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314438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Don</a:t>
            </a:r>
            <a:r>
              <a:rPr lang="ja-JP" altLang="en-US" sz="1200" dirty="0">
                <a:latin typeface="Arial" panose="020B0604020202020204" pitchFamily="34" charset="0"/>
              </a:rPr>
              <a:t>’</a:t>
            </a:r>
            <a:r>
              <a:rPr lang="en-US" altLang="ja-JP" sz="1200" dirty="0">
                <a:latin typeface="Arial" panose="020B0604020202020204" pitchFamily="34" charset="0"/>
              </a:rPr>
              <a:t>t forget Pareto</a:t>
            </a:r>
            <a:r>
              <a:rPr lang="ja-JP" altLang="en-US" sz="1200" dirty="0">
                <a:latin typeface="Arial" panose="020B0604020202020204" pitchFamily="34" charset="0"/>
              </a:rPr>
              <a:t>’</a:t>
            </a:r>
            <a:r>
              <a:rPr lang="en-US" altLang="ja-JP" sz="1200" dirty="0">
                <a:latin typeface="Arial" panose="020B0604020202020204" pitchFamily="34" charset="0"/>
              </a:rPr>
              <a:t>s Law and the 80/20 rule…</a:t>
            </a:r>
          </a:p>
          <a:p>
            <a:pPr>
              <a:lnSpc>
                <a:spcPct val="90000"/>
              </a:lnSpc>
            </a:pPr>
            <a:endParaRPr lang="en-US" altLang="en-US" sz="1200" dirty="0">
              <a:latin typeface="Arial" panose="020B0604020202020204" pitchFamily="34" charset="0"/>
            </a:endParaRPr>
          </a:p>
          <a:p>
            <a:pPr>
              <a:lnSpc>
                <a:spcPct val="90000"/>
              </a:lnSpc>
            </a:pPr>
            <a:r>
              <a:rPr lang="en-US" altLang="en-US" sz="1200" dirty="0">
                <a:latin typeface="Arial" panose="020B0604020202020204" pitchFamily="34" charset="0"/>
              </a:rPr>
              <a:t>The original observation was in connection with income and wealth. Pareto noticed that 80% of Italy's wealth was owned by 20% of the population. He then carried out surveys on a variety of other countries and found to his surprise that a similar distribution applied.</a:t>
            </a:r>
          </a:p>
          <a:p>
            <a:pPr>
              <a:lnSpc>
                <a:spcPct val="90000"/>
              </a:lnSpc>
            </a:pPr>
            <a:r>
              <a:rPr lang="en-US" altLang="en-US" sz="1200" dirty="0">
                <a:latin typeface="Arial" panose="020B0604020202020204" pitchFamily="34" charset="0"/>
              </a:rPr>
              <a:t>It also applies to a variety of more mundane matters: we wear our 20% most favored clothes about 80% of the time, we spend 80% of the time with 20% of our acquaintances etc.</a:t>
            </a:r>
          </a:p>
          <a:p>
            <a:pPr>
              <a:lnSpc>
                <a:spcPct val="90000"/>
              </a:lnSpc>
            </a:pPr>
            <a:r>
              <a:rPr lang="en-US" altLang="en-US" sz="1200" dirty="0">
                <a:latin typeface="Arial" panose="020B0604020202020204" pitchFamily="34" charset="0"/>
              </a:rPr>
              <a:t>The Pareto principle has many applications in quality control. It is the basis for the Pareto chart, one of the key tools used in total quality control and six sigma. The Pareto principle serves as a baseline for ABC-analysis and XYZ-analysis, widely used in logistics and procurement for the purpose of optimizing stock of goods, as well as costs of keeping and replenishing that stock.</a:t>
            </a:r>
          </a:p>
          <a:p>
            <a:pPr>
              <a:lnSpc>
                <a:spcPct val="90000"/>
              </a:lnSpc>
            </a:pPr>
            <a:r>
              <a:rPr lang="en-US" altLang="en-US" sz="1200" dirty="0">
                <a:latin typeface="Arial" panose="020B0604020202020204" pitchFamily="34" charset="0"/>
              </a:rPr>
              <a:t>In computer science the Pareto principle can be applied to resource optimization by observing that 80% of the resources are typically used by 20% of the operations. In software engineering, it is often a better approximation that 90% of the execution time of a computer program is spent executing 10% of the code (known as the 90/10 law in this context).</a:t>
            </a:r>
          </a:p>
          <a:p>
            <a:pPr>
              <a:lnSpc>
                <a:spcPct val="90000"/>
              </a:lnSpc>
            </a:pPr>
            <a:r>
              <a:rPr lang="en-US" altLang="en-US" sz="1200" dirty="0">
                <a:latin typeface="Arial" panose="020B0604020202020204" pitchFamily="34" charset="0"/>
              </a:rPr>
              <a:t>In business, dramatic improvements can often be achieved by identifying the 20% of customers, activities, products or processes that account for the 80% of contribution to profit and maximizing the attention applied to them. Similarly a vast majority of the business risk is contained in few risk scenarios. The greatest reduction in risk may therefore be focused in this area.</a:t>
            </a:r>
            <a:r>
              <a:rPr lang="ja-JP" altLang="en-US" sz="1200" dirty="0">
                <a:latin typeface="Arial" panose="020B0604020202020204" pitchFamily="34" charset="0"/>
              </a:rPr>
              <a:t>”</a:t>
            </a:r>
            <a:endParaRPr lang="en-US" altLang="en-US" sz="12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30987236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3977204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Objective = goal</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6422729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978397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224979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Be sure that this statement is clear and completely addresses the issue.  </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An improvement on any of the statements above would be to add </a:t>
            </a:r>
            <a:r>
              <a:rPr lang="ja-JP" altLang="en-US" dirty="0">
                <a:latin typeface="Arial" panose="020B0604020202020204" pitchFamily="34" charset="0"/>
              </a:rPr>
              <a:t>“</a:t>
            </a:r>
            <a:r>
              <a:rPr lang="en-US" altLang="ja-JP" dirty="0">
                <a:latin typeface="Arial" panose="020B0604020202020204" pitchFamily="34" charset="0"/>
              </a:rPr>
              <a:t>as measured by _____</a:t>
            </a:r>
            <a:r>
              <a:rPr lang="ja-JP" altLang="en-US" dirty="0">
                <a:latin typeface="Arial" panose="020B0604020202020204" pitchFamily="34" charset="0"/>
              </a:rPr>
              <a:t>”</a:t>
            </a:r>
            <a:r>
              <a:rPr lang="en-US" altLang="ja-JP" dirty="0">
                <a:latin typeface="Arial" panose="020B0604020202020204" pitchFamily="34" charset="0"/>
              </a:rPr>
              <a:t>.  Can the class add anything else?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1465861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The best objective statement would be something like: </a:t>
            </a:r>
            <a:r>
              <a:rPr lang="ja-JP" altLang="en-US" sz="800" dirty="0">
                <a:latin typeface="Arial" panose="020B0604020202020204" pitchFamily="34" charset="0"/>
              </a:rPr>
              <a:t>“</a:t>
            </a:r>
            <a:r>
              <a:rPr lang="en-US" altLang="ja-JP" sz="800" dirty="0">
                <a:latin typeface="Arial" panose="020B0604020202020204" pitchFamily="34" charset="0"/>
              </a:rPr>
              <a:t>Reduce waiting time for order taking on Fridays from x to y by middle of September.</a:t>
            </a:r>
            <a:r>
              <a:rPr lang="ja-JP" altLang="en-US" sz="800" dirty="0">
                <a:latin typeface="Arial" panose="020B0604020202020204" pitchFamily="34" charset="0"/>
              </a:rPr>
              <a:t>”</a:t>
            </a:r>
            <a:r>
              <a:rPr lang="en-US" altLang="ja-JP" sz="800" dirty="0">
                <a:latin typeface="Arial" panose="020B0604020202020204" pitchFamily="34" charset="0"/>
              </a:rPr>
              <a:t> </a:t>
            </a:r>
          </a:p>
          <a:p>
            <a:endParaRPr lang="en-US" altLang="en-US" sz="800" dirty="0">
              <a:latin typeface="Arial" panose="020B0604020202020204" pitchFamily="34" charset="0"/>
            </a:endParaRPr>
          </a:p>
          <a:p>
            <a:r>
              <a:rPr lang="en-US" altLang="en-US" sz="800" dirty="0">
                <a:latin typeface="Arial" panose="020B0604020202020204" pitchFamily="34" charset="0"/>
              </a:rPr>
              <a:t>Don</a:t>
            </a:r>
            <a:r>
              <a:rPr lang="ja-JP" altLang="en-US" sz="800" dirty="0">
                <a:latin typeface="Arial" panose="020B0604020202020204" pitchFamily="34" charset="0"/>
              </a:rPr>
              <a:t>’</a:t>
            </a:r>
            <a:r>
              <a:rPr lang="en-US" altLang="ja-JP" sz="800" dirty="0">
                <a:latin typeface="Arial" panose="020B0604020202020204" pitchFamily="34" charset="0"/>
              </a:rPr>
              <a:t>t forget how it will or could be measured…</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1276735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63144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When beginning, first write the problem statement and agree to this as a team. Then, write the objective statement – which is what you want to accomplish. The objective statement should be a quantifiable statement with set measurement criteria and established target dates. Include any supporting data such as a visual measurement graph.</a:t>
            </a:r>
            <a:r>
              <a:rPr lang="ja-JP" altLang="en-US" sz="800" dirty="0">
                <a:latin typeface="Arial" panose="020B0604020202020204" pitchFamily="34" charset="0"/>
              </a:rPr>
              <a:t>”</a:t>
            </a:r>
            <a:endParaRPr lang="en-US" altLang="ja-JP"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9500143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1318771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Use a flipchart or dry-erase board to create a model diagram for the team to use.</a:t>
            </a: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999727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Format provides a framework for arranging fact and improvement Cards (explained later). Use whatever works best for your situation; There is no right or wrong format.  If in doubt, use the Cause and Effect Fishbone Diagram. </a:t>
            </a:r>
          </a:p>
          <a:p>
            <a:endParaRPr lang="en-US" altLang="en-US" dirty="0">
              <a:latin typeface="Arial" panose="020B0604020202020204" pitchFamily="34" charset="0"/>
            </a:endParaRPr>
          </a:p>
          <a:p>
            <a:r>
              <a:rPr lang="en-US" altLang="en-US"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 </a:t>
            </a:r>
          </a:p>
          <a:p>
            <a:endParaRPr lang="en-US" altLang="en-US" dirty="0">
              <a:latin typeface="Arial" panose="020B0604020202020204" pitchFamily="34" charset="0"/>
            </a:endParaRPr>
          </a:p>
          <a:p>
            <a:r>
              <a:rPr lang="en-US" altLang="en-US" dirty="0">
                <a:latin typeface="Arial" panose="020B0604020202020204" pitchFamily="34" charset="0"/>
              </a:rPr>
              <a:t>It is known as a fishbone diagram because of its shape.</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32289427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Notes from prior slide for reference:</a:t>
            </a:r>
          </a:p>
          <a:p>
            <a:r>
              <a:rPr lang="en-US" altLang="en-US" b="1" dirty="0">
                <a:latin typeface="Arial" panose="020B0604020202020204" pitchFamily="34" charset="0"/>
              </a:rPr>
              <a:t>SAY:</a:t>
            </a:r>
            <a:r>
              <a:rPr lang="en-US" altLang="en-US" dirty="0">
                <a:latin typeface="Arial" panose="020B0604020202020204" pitchFamily="34" charset="0"/>
              </a:rPr>
              <a:t>  Format provides a framework for arranging fact and improvement Cards (explained later). Use whatever works best for your situation; There is no right or wrong format.  If in doubt, use the Cause and Effect Fishbone Diagram. </a:t>
            </a:r>
          </a:p>
          <a:p>
            <a:endParaRPr lang="en-US" altLang="en-US" dirty="0">
              <a:latin typeface="Arial" panose="020B0604020202020204" pitchFamily="34" charset="0"/>
            </a:endParaRPr>
          </a:p>
          <a:p>
            <a:r>
              <a:rPr lang="en-US" altLang="en-US"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 </a:t>
            </a:r>
          </a:p>
          <a:p>
            <a:endParaRPr lang="en-US" altLang="en-US" dirty="0">
              <a:latin typeface="Arial" panose="020B0604020202020204" pitchFamily="34" charset="0"/>
            </a:endParaRPr>
          </a:p>
          <a:p>
            <a:r>
              <a:rPr lang="en-US" altLang="en-US" dirty="0">
                <a:latin typeface="Arial" panose="020B0604020202020204" pitchFamily="34" charset="0"/>
              </a:rPr>
              <a:t>It is known as a fishbone diagram because of its shape.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5058746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When creating the FACT cards using the categories, don</a:t>
            </a:r>
            <a:r>
              <a:rPr lang="ja-JP" altLang="en-US" dirty="0">
                <a:latin typeface="Arial" panose="020B0604020202020204" pitchFamily="34" charset="0"/>
              </a:rPr>
              <a:t>’</a:t>
            </a:r>
            <a:r>
              <a:rPr lang="en-US" altLang="ja-JP" dirty="0">
                <a:latin typeface="Arial" panose="020B0604020202020204" pitchFamily="34" charset="0"/>
              </a:rPr>
              <a:t>t get caught up in debating in which </a:t>
            </a:r>
            <a:r>
              <a:rPr lang="ja-JP" altLang="en-US" dirty="0">
                <a:latin typeface="Arial" panose="020B0604020202020204" pitchFamily="34" charset="0"/>
              </a:rPr>
              <a:t>“</a:t>
            </a:r>
            <a:r>
              <a:rPr lang="en-US" altLang="ja-JP" dirty="0">
                <a:latin typeface="Arial" panose="020B0604020202020204" pitchFamily="34" charset="0"/>
              </a:rPr>
              <a:t>category</a:t>
            </a:r>
            <a:r>
              <a:rPr lang="ja-JP" altLang="en-US" dirty="0">
                <a:latin typeface="Arial" panose="020B0604020202020204" pitchFamily="34" charset="0"/>
              </a:rPr>
              <a:t>”</a:t>
            </a:r>
            <a:r>
              <a:rPr lang="en-US" altLang="ja-JP" dirty="0">
                <a:latin typeface="Arial" panose="020B0604020202020204" pitchFamily="34" charset="0"/>
              </a:rPr>
              <a:t> the card should be placed.  These categories are primarily used to stimulate ideas and systemic thinking.</a:t>
            </a:r>
          </a:p>
          <a:p>
            <a:endParaRPr lang="en-US" altLang="en-US" dirty="0">
              <a:latin typeface="Arial" panose="020B0604020202020204" pitchFamily="34" charset="0"/>
            </a:endParaRPr>
          </a:p>
          <a:p>
            <a:r>
              <a:rPr lang="en-US" altLang="en-US" b="1" dirty="0">
                <a:latin typeface="Arial" panose="020B0604020202020204" pitchFamily="34" charset="0"/>
              </a:rPr>
              <a:t>The 6 M's </a:t>
            </a:r>
          </a:p>
          <a:p>
            <a:r>
              <a:rPr lang="en-US" altLang="en-US" dirty="0">
                <a:latin typeface="Arial" panose="020B0604020202020204" pitchFamily="34" charset="0"/>
              </a:rPr>
              <a:t>Machine, Method, Materials, Measurement, Man and Mother Nature (Environment) (recommended for manufacturing industry). Note: a more modern selection of categories used in manufacturing are Equipment, Process, People, Materials, Environment, and Management </a:t>
            </a:r>
          </a:p>
          <a:p>
            <a:r>
              <a:rPr lang="en-US" altLang="en-US" b="1" dirty="0">
                <a:latin typeface="Arial" panose="020B0604020202020204" pitchFamily="34" charset="0"/>
              </a:rPr>
              <a:t>The 8 P's</a:t>
            </a:r>
            <a:r>
              <a:rPr lang="en-US" altLang="en-US" dirty="0">
                <a:latin typeface="Arial" panose="020B0604020202020204" pitchFamily="34" charset="0"/>
              </a:rPr>
              <a:t> </a:t>
            </a:r>
          </a:p>
          <a:p>
            <a:r>
              <a:rPr lang="en-US" altLang="en-US" dirty="0">
                <a:latin typeface="Arial" panose="020B0604020202020204" pitchFamily="34" charset="0"/>
              </a:rPr>
              <a:t>Price, Promotion, People, Processes, Place / Plant, Policies, Procedures &amp; Product (or Service) (recommended for administration and service industry). </a:t>
            </a:r>
          </a:p>
          <a:p>
            <a:r>
              <a:rPr lang="en-US" altLang="en-US" b="1" dirty="0">
                <a:latin typeface="Arial" panose="020B0604020202020204" pitchFamily="34" charset="0"/>
              </a:rPr>
              <a:t>Other: The 4 S's </a:t>
            </a:r>
          </a:p>
          <a:p>
            <a:r>
              <a:rPr lang="en-US" altLang="en-US" dirty="0">
                <a:latin typeface="Arial" panose="020B0604020202020204" pitchFamily="34" charset="0"/>
              </a:rPr>
              <a:t>Surroundings, Suppliers, Systems, Skills (recommended for service industry). </a:t>
            </a:r>
          </a:p>
          <a:p>
            <a:r>
              <a:rPr lang="en-US" altLang="en-US" dirty="0">
                <a:latin typeface="Arial" panose="020B0604020202020204" pitchFamily="34" charset="0"/>
              </a:rPr>
              <a:t>When labeling place any of the above at the end of the leg where you chose.  It is not important the location or proximity to other topics but there should be one leg of the fishbone for each topic.</a:t>
            </a: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1847999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use a process map?</a:t>
            </a:r>
            <a:r>
              <a:rPr lang="ja-JP" altLang="en-US" dirty="0">
                <a:latin typeface="Arial" panose="020B0604020202020204" pitchFamily="34" charset="0"/>
              </a:rPr>
              <a:t>”</a:t>
            </a:r>
            <a:r>
              <a:rPr lang="en-US" altLang="ja-JP" dirty="0">
                <a:latin typeface="Arial" panose="020B0604020202020204" pitchFamily="34" charset="0"/>
              </a:rPr>
              <a:t> and have the class submit suggestions.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Is there often a difference from what we think happens to what truly happens</a:t>
            </a:r>
            <a:r>
              <a:rPr lang="ja-JP" altLang="en-US" dirty="0">
                <a:latin typeface="Arial" panose="020B0604020202020204" pitchFamily="34" charset="0"/>
              </a:rPr>
              <a:t>”</a:t>
            </a:r>
            <a:r>
              <a:rPr lang="en-US" altLang="ja-JP" dirty="0">
                <a:latin typeface="Arial" panose="020B0604020202020204" pitchFamily="34" charset="0"/>
              </a:rPr>
              <a:t>. </a:t>
            </a:r>
          </a:p>
          <a:p>
            <a:r>
              <a:rPr lang="ja-JP" altLang="en-US" dirty="0">
                <a:latin typeface="Arial" panose="020B0604020202020204" pitchFamily="34" charset="0"/>
              </a:rPr>
              <a:t>“</a:t>
            </a:r>
            <a:r>
              <a:rPr lang="en-US" altLang="ja-JP" dirty="0">
                <a:latin typeface="Arial" panose="020B0604020202020204" pitchFamily="34" charset="0"/>
              </a:rPr>
              <a:t>Do we all do or see things differently and could that cause variation?</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8001036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It may be beneficial (depending on audience) to construct a process flow chart for something simple like writing on a flip chart (beginning with get up from chair and end with sit back down).  This simple process will show several different opinions about how it should work and you will be able to demonstrate how what is thought to happen can differ from what does happen.  Have the class observe you doing the process and then have them map your actions out. </a:t>
            </a:r>
          </a:p>
          <a:p>
            <a:endParaRPr lang="en-US" altLang="en-US" dirty="0">
              <a:latin typeface="Arial" panose="020B0604020202020204" pitchFamily="34" charset="0"/>
            </a:endParaRPr>
          </a:p>
          <a:p>
            <a:r>
              <a:rPr lang="en-US" altLang="en-US" dirty="0">
                <a:latin typeface="Arial" panose="020B0604020202020204" pitchFamily="34" charset="0"/>
              </a:rPr>
              <a:t>Discuss the results and thoughts.</a:t>
            </a: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4246881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4152224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4652703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a:t>
            </a:r>
            <a:r>
              <a:rPr lang="en-US" altLang="en-US" sz="800" dirty="0">
                <a:latin typeface="Arial" panose="020B0604020202020204" pitchFamily="34" charset="0"/>
              </a:rPr>
              <a:t>  Be sure to include the objective statement and supporting metrics on the diagram.</a:t>
            </a:r>
          </a:p>
          <a:p>
            <a:r>
              <a:rPr lang="en-US" altLang="en-US" sz="800" b="1" dirty="0">
                <a:latin typeface="Arial" panose="020B0604020202020204" pitchFamily="34" charset="0"/>
              </a:rPr>
              <a:t>NOTE:</a:t>
            </a:r>
            <a:r>
              <a:rPr lang="en-US" altLang="en-US" sz="800" dirty="0">
                <a:latin typeface="Arial" panose="020B0604020202020204" pitchFamily="34" charset="0"/>
              </a:rPr>
              <a:t>  The best format would be the fishbone diagram, since the process is very simple and ALL the cards would be placed on the second process step where the </a:t>
            </a:r>
            <a:r>
              <a:rPr lang="ja-JP" altLang="en-US" sz="800" dirty="0">
                <a:latin typeface="Arial" panose="020B0604020202020204" pitchFamily="34" charset="0"/>
              </a:rPr>
              <a:t>“</a:t>
            </a:r>
            <a:r>
              <a:rPr lang="en-US" altLang="ja-JP" sz="800" dirty="0">
                <a:latin typeface="Arial" panose="020B0604020202020204" pitchFamily="34" charset="0"/>
              </a:rPr>
              <a:t>order is taken.</a:t>
            </a:r>
            <a:r>
              <a:rPr lang="ja-JP" altLang="en-US" sz="800" dirty="0">
                <a:latin typeface="Arial" panose="020B0604020202020204" pitchFamily="34" charset="0"/>
              </a:rPr>
              <a:t>”</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5145572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8592975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0950701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36279593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There are no bad ideas when it comes to brainstorming.  Everyone should be encouraged to offer up ideas that could represent the problems or issues.</a:t>
            </a: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2549634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Fact cards = notes or thoughts of problems or instances that could result in the failure of the process being reviewed.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4736669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33030928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why sign and date cards?</a:t>
            </a:r>
            <a:r>
              <a:rPr lang="ja-JP" altLang="en-US" dirty="0">
                <a:latin typeface="Arial" panose="020B0604020202020204" pitchFamily="34" charset="0"/>
              </a:rPr>
              <a:t>”</a:t>
            </a:r>
            <a:r>
              <a:rPr lang="en-US" altLang="ja-JP" dirty="0">
                <a:latin typeface="Arial" panose="020B0604020202020204" pitchFamily="34" charset="0"/>
              </a:rPr>
              <a:t> – Say: so that clarification can be had and recognition can be given</a:t>
            </a:r>
          </a:p>
          <a:p>
            <a:endParaRPr lang="en-US" altLang="en-US" dirty="0">
              <a:latin typeface="Arial" panose="020B0604020202020204" pitchFamily="34" charset="0"/>
            </a:endParaRPr>
          </a:p>
          <a:p>
            <a:r>
              <a:rPr lang="en-US" altLang="en-US"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r>
              <a:rPr lang="en-US" altLang="ja-JP" dirty="0">
                <a:latin typeface="Arial" panose="020B0604020202020204" pitchFamily="34" charset="0"/>
              </a:rPr>
              <a:t> on several of the other guidelines to ensure that the team fully understands the process of card writing and agrees with it.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29883236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0560692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1380126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Allow whatever assumptions the team wants to make… no right or wrong answers here.  The data and </a:t>
            </a:r>
            <a:r>
              <a:rPr lang="ja-JP" altLang="en-US" sz="800" dirty="0">
                <a:latin typeface="Arial" panose="020B0604020202020204" pitchFamily="34" charset="0"/>
              </a:rPr>
              <a:t>“</a:t>
            </a:r>
            <a:r>
              <a:rPr lang="en-US" altLang="ja-JP" sz="800" dirty="0">
                <a:latin typeface="Arial" panose="020B0604020202020204" pitchFamily="34" charset="0"/>
              </a:rPr>
              <a:t>situation</a:t>
            </a:r>
            <a:r>
              <a:rPr lang="ja-JP" altLang="en-US" sz="800" dirty="0">
                <a:latin typeface="Arial" panose="020B0604020202020204" pitchFamily="34" charset="0"/>
              </a:rPr>
              <a:t>”</a:t>
            </a:r>
            <a:r>
              <a:rPr lang="en-US" altLang="ja-JP" sz="800" dirty="0">
                <a:latin typeface="Arial" panose="020B0604020202020204" pitchFamily="34" charset="0"/>
              </a:rPr>
              <a:t> statement might lead you to believe that the wait staff is short-handed during the summer months due to the college students being away… so one assumption might be that the majority of the serving staff is comprised of part-time college students and staff is insufficient or not properly trained during the summer months.  OR Maybe the menu is too complicated since they serve three different styles of cuisine….and so forth.  Remember that the purpose of this particular exercise is for the learners to practice using FACT cards and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debate with each other.</a:t>
            </a:r>
            <a:endParaRPr lang="en-US" altLang="en-US"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654044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10852954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4175237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Improvement Cards = ideas that will solve the Fact/problem cards</a:t>
            </a:r>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3249087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Improvement cards must be related back to a Fact card to be valid.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20315233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4120961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7729238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No improvement cards can be placed on the CEDAC without a FACT card.  This equates to the standard method of problem solving that </a:t>
            </a:r>
            <a:r>
              <a:rPr lang="ja-JP" altLang="en-US" dirty="0">
                <a:latin typeface="Arial" panose="020B0604020202020204" pitchFamily="34" charset="0"/>
              </a:rPr>
              <a:t>“</a:t>
            </a:r>
            <a:r>
              <a:rPr lang="en-US" altLang="ja-JP" dirty="0">
                <a:latin typeface="Arial" panose="020B0604020202020204" pitchFamily="34" charset="0"/>
              </a:rPr>
              <a:t>has always been used</a:t>
            </a:r>
            <a:r>
              <a:rPr lang="ja-JP" altLang="en-US" dirty="0">
                <a:latin typeface="Arial" panose="020B0604020202020204" pitchFamily="34" charset="0"/>
              </a:rPr>
              <a:t>”</a:t>
            </a:r>
            <a:r>
              <a:rPr lang="en-US" altLang="ja-JP" dirty="0">
                <a:latin typeface="Arial" panose="020B0604020202020204" pitchFamily="34" charset="0"/>
              </a:rPr>
              <a:t> in that someone always has a </a:t>
            </a:r>
            <a:r>
              <a:rPr lang="ja-JP" altLang="en-US" dirty="0">
                <a:latin typeface="Arial" panose="020B0604020202020204" pitchFamily="34" charset="0"/>
              </a:rPr>
              <a:t>“</a:t>
            </a:r>
            <a:r>
              <a:rPr lang="en-US" altLang="ja-JP" dirty="0">
                <a:latin typeface="Arial" panose="020B0604020202020204" pitchFamily="34" charset="0"/>
              </a:rPr>
              <a:t>solution</a:t>
            </a:r>
            <a:r>
              <a:rPr lang="ja-JP" altLang="en-US" dirty="0">
                <a:latin typeface="Arial" panose="020B0604020202020204" pitchFamily="34" charset="0"/>
              </a:rPr>
              <a:t>”</a:t>
            </a:r>
            <a:r>
              <a:rPr lang="en-US" altLang="ja-JP" dirty="0">
                <a:latin typeface="Arial" panose="020B0604020202020204" pitchFamily="34" charset="0"/>
              </a:rPr>
              <a:t> but has not determined what the problem is.</a:t>
            </a:r>
          </a:p>
          <a:p>
            <a:endParaRPr lang="en-US" altLang="en-US" dirty="0">
              <a:latin typeface="Arial" panose="020B0604020202020204" pitchFamily="34" charset="0"/>
            </a:endParaRPr>
          </a:p>
          <a:p>
            <a:r>
              <a:rPr lang="en-US" altLang="en-US" dirty="0">
                <a:latin typeface="Arial" panose="020B0604020202020204" pitchFamily="34" charset="0"/>
              </a:rPr>
              <a:t>Be sure that cards are signed and dated.  If not, they will not be able to be reviewed with the author should there be any questions or to provide an explanation as to why the idea is not feasible.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11540534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listing is a great resource to refer to when brainstorming… it will help generate more ideas.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42024884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else could be done if the team struggles with developing or obtaining improvement cards?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401288967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4445517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Again, allow whatever assumptions the team wants to make… no right or wrong answers here.  Remember that the purpose of this particular exercise is for the learners to practice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waste time debating.</a:t>
            </a:r>
            <a:endParaRPr lang="en-US" altLang="en-US"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211023513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7375097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12568564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21176298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31087874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27705931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8823834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16450962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diagram shown is an example PICK (Possible, Implement, Challenge, Kill) diagram used to help sort ideas.  Draw this up on flip chart and use the Post-its to place them in the category the team agrees with while sticking to the two basic questions.</a:t>
            </a:r>
            <a:r>
              <a:rPr lang="ja-JP" altLang="en-US" dirty="0">
                <a:latin typeface="Arial" panose="020B0604020202020204" pitchFamily="34" charset="0"/>
              </a:rPr>
              <a:t>”</a:t>
            </a:r>
            <a:endParaRPr lang="en-US" altLang="ja-JP" dirty="0">
              <a:latin typeface="Arial" panose="020B0604020202020204" pitchFamily="34" charset="0"/>
            </a:endParaRPr>
          </a:p>
          <a:p>
            <a:pPr>
              <a:buFontTx/>
              <a:buAutoNum type="arabicPeriod"/>
            </a:pPr>
            <a:r>
              <a:rPr lang="en-US" altLang="en-US" dirty="0">
                <a:latin typeface="Arial" panose="020B0604020202020204" pitchFamily="34" charset="0"/>
              </a:rPr>
              <a:t> How easy to implement?</a:t>
            </a:r>
          </a:p>
          <a:p>
            <a:pPr>
              <a:buFontTx/>
              <a:buAutoNum type="arabicPeriod"/>
            </a:pPr>
            <a:r>
              <a:rPr lang="en-US" altLang="en-US" dirty="0">
                <a:latin typeface="Arial" panose="020B0604020202020204" pitchFamily="34" charset="0"/>
              </a:rPr>
              <a:t> Is the impact of this going to be big or small?</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707711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Attack items that fall into the Big Impact/Short time to Implement category first. Beyond that, the team should prioritize the items in the Small Impact/Short Time to Implement and the Big Impact/Long Time to Implement quadrants.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Often times items that fall under the Don</a:t>
            </a:r>
            <a:r>
              <a:rPr lang="ja-JP" altLang="en-US" dirty="0">
                <a:latin typeface="Arial" panose="020B0604020202020204" pitchFamily="34" charset="0"/>
              </a:rPr>
              <a:t>’</a:t>
            </a:r>
            <a:r>
              <a:rPr lang="en-US" altLang="ja-JP" dirty="0">
                <a:latin typeface="Arial" panose="020B0604020202020204" pitchFamily="34" charset="0"/>
              </a:rPr>
              <a:t>t Attack quadrant are addressed by actions taken from the other quadrants. If they are not, generally we don</a:t>
            </a:r>
            <a:r>
              <a:rPr lang="ja-JP" altLang="en-US" dirty="0">
                <a:latin typeface="Arial" panose="020B0604020202020204" pitchFamily="34" charset="0"/>
              </a:rPr>
              <a:t>’</a:t>
            </a:r>
            <a:r>
              <a:rPr lang="en-US" altLang="ja-JP" dirty="0">
                <a:latin typeface="Arial" panose="020B0604020202020204" pitchFamily="34" charset="0"/>
              </a:rPr>
              <a:t>t spend time here given their nature.</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46173500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Again, allow whatever assumptions the team wants to make… no right or wrong answers here.  Remember that the purpose of this particular exercise is for the learners to practice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waste time debating.</a:t>
            </a:r>
            <a:endParaRPr lang="en-US" altLang="en-US"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8341357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Use this spreadsheet for this event week and to keep track of open actions for follow-up going forward.  May also use this format to retain sustainability and impact data after implementation.  </a:t>
            </a:r>
          </a:p>
          <a:p>
            <a:r>
              <a:rPr lang="en-US" altLang="en-US" b="1" dirty="0">
                <a:latin typeface="Arial" panose="020B0604020202020204" pitchFamily="34" charset="0"/>
              </a:rPr>
              <a:t>NOTE:</a:t>
            </a:r>
            <a:r>
              <a:rPr lang="en-US" altLang="en-US" dirty="0">
                <a:latin typeface="Arial" panose="020B0604020202020204" pitchFamily="34" charset="0"/>
              </a:rPr>
              <a:t>  Establish one </a:t>
            </a:r>
            <a:r>
              <a:rPr lang="ja-JP" altLang="en-US" dirty="0">
                <a:latin typeface="Arial" panose="020B0604020202020204" pitchFamily="34" charset="0"/>
              </a:rPr>
              <a:t>“</a:t>
            </a:r>
            <a:r>
              <a:rPr lang="en-US" altLang="ja-JP" dirty="0">
                <a:latin typeface="Arial" panose="020B0604020202020204" pitchFamily="34" charset="0"/>
              </a:rPr>
              <a:t>owner</a:t>
            </a:r>
            <a:r>
              <a:rPr lang="ja-JP" altLang="en-US" dirty="0">
                <a:latin typeface="Arial" panose="020B0604020202020204" pitchFamily="34" charset="0"/>
              </a:rPr>
              <a:t>”</a:t>
            </a:r>
            <a:r>
              <a:rPr lang="en-US" altLang="ja-JP" dirty="0">
                <a:latin typeface="Arial" panose="020B0604020202020204" pitchFamily="34" charset="0"/>
              </a:rPr>
              <a:t> of this spreadsheet OR designate an update process and post on shared drive for regular update (however business prefers to handle).</a:t>
            </a:r>
          </a:p>
          <a:p>
            <a:r>
              <a:rPr lang="en-US" altLang="en-US" b="1" dirty="0">
                <a:latin typeface="Arial" panose="020B0604020202020204" pitchFamily="34" charset="0"/>
              </a:rPr>
              <a:t>SAY:</a:t>
            </a:r>
            <a:r>
              <a:rPr lang="en-US" altLang="en-US" dirty="0">
                <a:latin typeface="Arial" panose="020B0604020202020204" pitchFamily="34" charset="0"/>
              </a:rPr>
              <a:t>  Enter all IMPROVEMENT card data into spreadsheet with column headings as follows:</a:t>
            </a:r>
          </a:p>
          <a:p>
            <a:r>
              <a:rPr lang="en-US" altLang="en-US" dirty="0">
                <a:latin typeface="Arial" panose="020B0604020202020204" pitchFamily="34" charset="0"/>
              </a:rPr>
              <a:t>Card # = Improvement Card #</a:t>
            </a:r>
          </a:p>
          <a:p>
            <a:r>
              <a:rPr lang="en-US" altLang="en-US" dirty="0">
                <a:latin typeface="Arial" panose="020B0604020202020204" pitchFamily="34" charset="0"/>
              </a:rPr>
              <a:t>Description = Improvement Action Identified</a:t>
            </a:r>
          </a:p>
          <a:p>
            <a:r>
              <a:rPr lang="en-US" altLang="en-US" dirty="0">
                <a:latin typeface="Arial" panose="020B0604020202020204" pitchFamily="34" charset="0"/>
              </a:rPr>
              <a:t>Reference Fact Cards by Number = the FACT card(s) which this improvement action addresses</a:t>
            </a:r>
          </a:p>
          <a:p>
            <a:r>
              <a:rPr lang="en-US" altLang="en-US" dirty="0">
                <a:latin typeface="Arial" panose="020B0604020202020204" pitchFamily="34" charset="0"/>
              </a:rPr>
              <a:t>Date Written = Date Written</a:t>
            </a:r>
          </a:p>
          <a:p>
            <a:r>
              <a:rPr lang="en-US" altLang="en-US" dirty="0">
                <a:latin typeface="Arial" panose="020B0604020202020204" pitchFamily="34" charset="0"/>
              </a:rPr>
              <a:t>Author = Author</a:t>
            </a:r>
          </a:p>
          <a:p>
            <a:r>
              <a:rPr lang="en-US" altLang="en-US" dirty="0">
                <a:latin typeface="Arial" panose="020B0604020202020204" pitchFamily="34" charset="0"/>
              </a:rPr>
              <a:t>Action (Dots) =  refers to the CEDAC Dot System for </a:t>
            </a:r>
            <a:r>
              <a:rPr lang="en-US" altLang="en-US" dirty="0" err="1">
                <a:latin typeface="Arial" panose="020B0604020202020204" pitchFamily="34" charset="0"/>
              </a:rPr>
              <a:t>statusing</a:t>
            </a:r>
            <a:r>
              <a:rPr lang="en-US" altLang="en-US" dirty="0">
                <a:latin typeface="Arial" panose="020B0604020202020204" pitchFamily="34" charset="0"/>
              </a:rPr>
              <a:t> IMPROVEMENT Cards</a:t>
            </a:r>
          </a:p>
          <a:p>
            <a:r>
              <a:rPr lang="en-US" altLang="en-US" dirty="0">
                <a:latin typeface="Arial" panose="020B0604020202020204" pitchFamily="34" charset="0"/>
              </a:rPr>
              <a:t>Responsible Individual = an individual should be assigned wherever The "Action" is Under Preparation, Under Test or Successful Test  &amp; where further rollout of the new standard is required.</a:t>
            </a:r>
          </a:p>
          <a:p>
            <a:r>
              <a:rPr lang="en-US" altLang="en-US" dirty="0">
                <a:latin typeface="Arial" panose="020B0604020202020204" pitchFamily="34" charset="0"/>
              </a:rPr>
              <a:t>Status = reflects status of current assigned action by responsible person</a:t>
            </a:r>
          </a:p>
          <a:p>
            <a:r>
              <a:rPr lang="en-US" altLang="en-US" dirty="0">
                <a:latin typeface="Arial" panose="020B0604020202020204" pitchFamily="34" charset="0"/>
              </a:rPr>
              <a:t>Date = Date of last update</a:t>
            </a:r>
          </a:p>
          <a:p>
            <a:r>
              <a:rPr lang="en-US" altLang="en-US" dirty="0">
                <a:latin typeface="Arial" panose="020B0604020202020204" pitchFamily="34" charset="0"/>
              </a:rPr>
              <a:t>Comments = for additional pertinent information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129603587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33706222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26480971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 change can be proven without the data to support that it has in fact addressed the root cause and eliminated the variation causing the defect or undesired condition.</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34869114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20470537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92952752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04924101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Cover report-out guidelines.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3356496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207080038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involves everyone in the continuous improvement process, even those not directly working on the problem.</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Review the benefits of the CEDAC process.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any other benefits that you can think of?</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Record any other benefits on a </a:t>
            </a:r>
            <a:r>
              <a:rPr lang="en-US" altLang="en-US" dirty="0" err="1">
                <a:latin typeface="Arial" panose="020B0604020202020204" pitchFamily="34" charset="0"/>
              </a:rPr>
              <a:t>chartpaper</a:t>
            </a:r>
            <a:r>
              <a:rPr lang="en-US" altLang="en-US" dirty="0">
                <a:latin typeface="Arial" panose="020B0604020202020204" pitchFamily="34" charset="0"/>
              </a:rPr>
              <a:t>.</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78775449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“The process of improvement never truly ends.  What is good enough today will no always be so in the future.  The process of CEDAC and Problem Solving can and will be repeated until the root issue is resolved.”</a:t>
            </a:r>
          </a:p>
          <a:p>
            <a:r>
              <a:rPr lang="en-US" altLang="en-US" b="1" dirty="0">
                <a:latin typeface="Arial" panose="020B0604020202020204" pitchFamily="34" charset="0"/>
              </a:rPr>
              <a:t>(SAY if Six Sigma is well understood by audience): “Much like the process of DMAIC in Six Sigma this method of variance reduction holds true to the same principles.”</a:t>
            </a:r>
          </a:p>
          <a:p>
            <a:r>
              <a:rPr lang="en-US" altLang="en-US" b="1" u="sng" dirty="0">
                <a:latin typeface="Arial" panose="020B0604020202020204" pitchFamily="34" charset="0"/>
              </a:rPr>
              <a:t>D</a:t>
            </a:r>
            <a:r>
              <a:rPr lang="en-US" altLang="en-US" b="1" dirty="0">
                <a:latin typeface="Arial" panose="020B0604020202020204" pitchFamily="34" charset="0"/>
              </a:rPr>
              <a:t>efine</a:t>
            </a:r>
          </a:p>
          <a:p>
            <a:r>
              <a:rPr lang="en-US" altLang="en-US" b="1" u="sng" dirty="0">
                <a:latin typeface="Arial" panose="020B0604020202020204" pitchFamily="34" charset="0"/>
              </a:rPr>
              <a:t>M</a:t>
            </a:r>
            <a:r>
              <a:rPr lang="en-US" altLang="en-US" b="1" dirty="0">
                <a:latin typeface="Arial" panose="020B0604020202020204" pitchFamily="34" charset="0"/>
              </a:rPr>
              <a:t>easure</a:t>
            </a:r>
          </a:p>
          <a:p>
            <a:r>
              <a:rPr lang="en-US" altLang="en-US" b="1" u="sng" dirty="0">
                <a:latin typeface="Arial" panose="020B0604020202020204" pitchFamily="34" charset="0"/>
              </a:rPr>
              <a:t>A</a:t>
            </a:r>
            <a:r>
              <a:rPr lang="en-US" altLang="en-US" b="1" dirty="0">
                <a:latin typeface="Arial" panose="020B0604020202020204" pitchFamily="34" charset="0"/>
              </a:rPr>
              <a:t>nalyze</a:t>
            </a:r>
          </a:p>
          <a:p>
            <a:r>
              <a:rPr lang="en-US" altLang="en-US" b="1" u="sng" dirty="0">
                <a:latin typeface="Arial" panose="020B0604020202020204" pitchFamily="34" charset="0"/>
              </a:rPr>
              <a:t>I</a:t>
            </a:r>
            <a:r>
              <a:rPr lang="en-US" altLang="en-US" b="1" dirty="0">
                <a:latin typeface="Arial" panose="020B0604020202020204" pitchFamily="34" charset="0"/>
              </a:rPr>
              <a:t>mprove</a:t>
            </a:r>
          </a:p>
          <a:p>
            <a:r>
              <a:rPr lang="en-US" altLang="en-US" b="1" u="sng" dirty="0">
                <a:latin typeface="Arial" panose="020B0604020202020204" pitchFamily="34" charset="0"/>
              </a:rPr>
              <a:t>C</a:t>
            </a:r>
            <a:r>
              <a:rPr lang="en-US" altLang="en-US" b="1" dirty="0">
                <a:latin typeface="Arial" panose="020B0604020202020204" pitchFamily="34" charset="0"/>
              </a:rPr>
              <a:t>ontrol</a:t>
            </a:r>
          </a:p>
          <a:p>
            <a:endParaRPr lang="en-US" altLang="en-US"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15272353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26239934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34389796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983445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CEDAC_ADMIN PRESENTATION ENG REV3.0</a:t>
            </a: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CEDAC</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dirty="0"/>
          </a:p>
        </p:txBody>
      </p:sp>
      <p:sp>
        <p:nvSpPr>
          <p:cNvPr id="2" name="Subtitle 2">
            <a:extLst>
              <a:ext uri="{FF2B5EF4-FFF2-40B4-BE49-F238E27FC236}">
                <a16:creationId xmlns:a16="http://schemas.microsoft.com/office/drawing/2014/main" id="{A2970FE6-0D80-3C2D-192E-43B873BAE6AF}"/>
              </a:ext>
            </a:extLst>
          </p:cNvPr>
          <p:cNvSpPr txBox="1">
            <a:spLocks/>
          </p:cNvSpPr>
          <p:nvPr/>
        </p:nvSpPr>
        <p:spPr>
          <a:xfrm>
            <a:off x="1523998" y="4953466"/>
            <a:ext cx="9144000" cy="145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Cause and Effect Diagram with the Addition of Cards</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CEDAC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To solve complex business and technical problems through the </a:t>
            </a:r>
            <a:br>
              <a:rPr lang="en-US" dirty="0"/>
            </a:br>
            <a:r>
              <a:rPr lang="en-US" dirty="0"/>
              <a:t>effective use of the CEDAC tool and method.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10" name="Group 9">
            <a:extLst>
              <a:ext uri="{FF2B5EF4-FFF2-40B4-BE49-F238E27FC236}">
                <a16:creationId xmlns:a16="http://schemas.microsoft.com/office/drawing/2014/main" id="{C0F27BF9-3298-5866-23C3-B3EF97479A10}"/>
              </a:ext>
            </a:extLst>
          </p:cNvPr>
          <p:cNvGrpSpPr/>
          <p:nvPr/>
        </p:nvGrpSpPr>
        <p:grpSpPr>
          <a:xfrm>
            <a:off x="1486218" y="3819525"/>
            <a:ext cx="9219565" cy="2226945"/>
            <a:chOff x="930275" y="3819525"/>
            <a:chExt cx="7292975" cy="1350963"/>
          </a:xfrm>
        </p:grpSpPr>
        <p:sp>
          <p:nvSpPr>
            <p:cNvPr id="4" name="AutoShape 11">
              <a:extLst>
                <a:ext uri="{FF2B5EF4-FFF2-40B4-BE49-F238E27FC236}">
                  <a16:creationId xmlns:a16="http://schemas.microsoft.com/office/drawing/2014/main" id="{D1AC9AF0-FEE0-2C98-547B-99F591CCF09C}"/>
                </a:ext>
              </a:extLst>
            </p:cNvPr>
            <p:cNvSpPr>
              <a:spLocks noChangeArrowheads="1"/>
            </p:cNvSpPr>
            <p:nvPr/>
          </p:nvSpPr>
          <p:spPr bwMode="auto">
            <a:xfrm>
              <a:off x="6623050"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Review</a:t>
              </a:r>
            </a:p>
          </p:txBody>
        </p:sp>
        <p:sp>
          <p:nvSpPr>
            <p:cNvPr id="6" name="AutoShape 14">
              <a:extLst>
                <a:ext uri="{FF2B5EF4-FFF2-40B4-BE49-F238E27FC236}">
                  <a16:creationId xmlns:a16="http://schemas.microsoft.com/office/drawing/2014/main" id="{E5E1DBE1-114F-C920-392F-8BCBDAC9715B}"/>
                </a:ext>
              </a:extLst>
            </p:cNvPr>
            <p:cNvSpPr>
              <a:spLocks noChangeArrowheads="1"/>
            </p:cNvSpPr>
            <p:nvPr/>
          </p:nvSpPr>
          <p:spPr bwMode="auto">
            <a:xfrm>
              <a:off x="5178425" y="3824288"/>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Solution</a:t>
              </a:r>
            </a:p>
          </p:txBody>
        </p:sp>
        <p:sp>
          <p:nvSpPr>
            <p:cNvPr id="7" name="AutoShape 2">
              <a:extLst>
                <a:ext uri="{FF2B5EF4-FFF2-40B4-BE49-F238E27FC236}">
                  <a16:creationId xmlns:a16="http://schemas.microsoft.com/office/drawing/2014/main" id="{D742DFA4-B51D-A675-BDB6-630C649017F3}"/>
                </a:ext>
              </a:extLst>
            </p:cNvPr>
            <p:cNvSpPr>
              <a:spLocks noChangeArrowheads="1"/>
            </p:cNvSpPr>
            <p:nvPr/>
          </p:nvSpPr>
          <p:spPr bwMode="auto">
            <a:xfrm>
              <a:off x="3725863"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Cause</a:t>
              </a:r>
            </a:p>
          </p:txBody>
        </p:sp>
        <p:sp>
          <p:nvSpPr>
            <p:cNvPr id="8" name="AutoShape 3">
              <a:extLst>
                <a:ext uri="{FF2B5EF4-FFF2-40B4-BE49-F238E27FC236}">
                  <a16:creationId xmlns:a16="http://schemas.microsoft.com/office/drawing/2014/main" id="{3989A12E-9472-B8E0-83C7-17EA6B27ED09}"/>
                </a:ext>
              </a:extLst>
            </p:cNvPr>
            <p:cNvSpPr>
              <a:spLocks noChangeArrowheads="1"/>
            </p:cNvSpPr>
            <p:nvPr/>
          </p:nvSpPr>
          <p:spPr bwMode="auto">
            <a:xfrm>
              <a:off x="2386013"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Effect</a:t>
              </a:r>
            </a:p>
          </p:txBody>
        </p:sp>
        <p:sp>
          <p:nvSpPr>
            <p:cNvPr id="9" name="AutoShape 5">
              <a:extLst>
                <a:ext uri="{FF2B5EF4-FFF2-40B4-BE49-F238E27FC236}">
                  <a16:creationId xmlns:a16="http://schemas.microsoft.com/office/drawing/2014/main" id="{A1793CA3-0AC1-F521-544B-CCD435DF9D76}"/>
                </a:ext>
              </a:extLst>
            </p:cNvPr>
            <p:cNvSpPr>
              <a:spLocks noChangeArrowheads="1"/>
            </p:cNvSpPr>
            <p:nvPr/>
          </p:nvSpPr>
          <p:spPr bwMode="auto">
            <a:xfrm>
              <a:off x="930275" y="3824288"/>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Overview</a:t>
              </a:r>
            </a:p>
          </p:txBody>
        </p:sp>
      </p:grpSp>
    </p:spTree>
    <p:extLst>
      <p:ext uri="{BB962C8B-B14F-4D97-AF65-F5344CB8AC3E}">
        <p14:creationId xmlns:p14="http://schemas.microsoft.com/office/powerpoint/2010/main" val="216991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Typical CEDAC Event Agenda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200824135"/>
              </p:ext>
            </p:extLst>
          </p:nvPr>
        </p:nvGraphicFramePr>
        <p:xfrm>
          <a:off x="260985" y="1902863"/>
          <a:ext cx="11670030" cy="4459927"/>
        </p:xfrm>
        <a:graphic>
          <a:graphicData uri="http://schemas.openxmlformats.org/drawingml/2006/table">
            <a:tbl>
              <a:tblPr/>
              <a:tblGrid>
                <a:gridCol w="1251966">
                  <a:extLst>
                    <a:ext uri="{9D8B030D-6E8A-4147-A177-3AD203B41FA5}">
                      <a16:colId xmlns:a16="http://schemas.microsoft.com/office/drawing/2014/main" val="20000"/>
                    </a:ext>
                  </a:extLst>
                </a:gridCol>
                <a:gridCol w="4830295">
                  <a:extLst>
                    <a:ext uri="{9D8B030D-6E8A-4147-A177-3AD203B41FA5}">
                      <a16:colId xmlns:a16="http://schemas.microsoft.com/office/drawing/2014/main" val="20001"/>
                    </a:ext>
                  </a:extLst>
                </a:gridCol>
                <a:gridCol w="5587769">
                  <a:extLst>
                    <a:ext uri="{9D8B030D-6E8A-4147-A177-3AD203B41FA5}">
                      <a16:colId xmlns:a16="http://schemas.microsoft.com/office/drawing/2014/main" val="20002"/>
                    </a:ext>
                  </a:extLst>
                </a:gridCol>
              </a:tblGrid>
              <a:tr h="38817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Day</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Key Learnings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Daily Deliverables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864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1</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CEDAC Overview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“CEDAC Chart (Process flowchart or fishbone) on wall</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“Effect” side posted on CEDAC Chart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518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2</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Using FACT Cards to identify root causes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process flowchart or fishbone and “Effect” Side of chart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FACT Cards posted on CEDAC chart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18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3</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Using IMPROVEMENT Cards to propose countermeasures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IMPROVEMENT Cards Posted on CEDAC chart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FACT Cards and IMPROVEMENT Cards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17234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4</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Prioritizing and acting on IMPROVEMENT Cards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Post-event Follow-up and tracking to problem resolution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Selected IMPROVEMENT Cards marked for action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IMPROVEMENT Card action and status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Follow-up Plan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75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5</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Report out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536967"/>
                  </a:ext>
                </a:extLst>
              </a:tr>
            </a:tbl>
          </a:graphicData>
        </a:graphic>
      </p:graphicFrame>
    </p:spTree>
    <p:extLst>
      <p:ext uri="{BB962C8B-B14F-4D97-AF65-F5344CB8AC3E}">
        <p14:creationId xmlns:p14="http://schemas.microsoft.com/office/powerpoint/2010/main" val="838160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CEDAC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CEDAC Charter for the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clear boundaries?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scope for this event?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1840648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CEDAC</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CEDAC</a:t>
            </a:r>
          </a:p>
          <a:p>
            <a:r>
              <a:rPr lang="en-US" sz="2400" dirty="0"/>
              <a:t>When to use CEDAC</a:t>
            </a:r>
          </a:p>
          <a:p>
            <a:r>
              <a:rPr lang="en-US" sz="2400" dirty="0"/>
              <a:t>Identify steps of the CEDAC Roadmap and Process</a:t>
            </a:r>
          </a:p>
          <a:p>
            <a:r>
              <a:rPr lang="en-US" sz="2400" dirty="0"/>
              <a:t>Review examples of success with CEDAC</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CEDAC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u="sng" dirty="0"/>
              <a:t>C</a:t>
            </a:r>
            <a:r>
              <a:rPr lang="en-US" dirty="0"/>
              <a:t>ause and </a:t>
            </a:r>
            <a:r>
              <a:rPr lang="en-US" u="sng" dirty="0"/>
              <a:t>E</a:t>
            </a:r>
            <a:r>
              <a:rPr lang="en-US" dirty="0"/>
              <a:t>ffect </a:t>
            </a:r>
            <a:r>
              <a:rPr lang="en-US" u="sng" dirty="0"/>
              <a:t>D</a:t>
            </a:r>
            <a:r>
              <a:rPr lang="en-US" dirty="0"/>
              <a:t>iagram with the </a:t>
            </a:r>
            <a:r>
              <a:rPr lang="en-US" u="sng" dirty="0"/>
              <a:t>A</a:t>
            </a:r>
            <a:r>
              <a:rPr lang="en-US" dirty="0"/>
              <a:t>ddition of </a:t>
            </a:r>
            <a:r>
              <a:rPr lang="en-US" u="sng" dirty="0"/>
              <a:t>C</a:t>
            </a:r>
            <a:r>
              <a:rPr lang="en-US" dirty="0"/>
              <a:t>ards</a:t>
            </a:r>
          </a:p>
          <a:p>
            <a:r>
              <a:rPr lang="en-US" dirty="0"/>
              <a:t>An extension of traditional cause and effect diagram (aka: Fishbone diagram) </a:t>
            </a:r>
          </a:p>
          <a:p>
            <a:r>
              <a:rPr lang="en-US" dirty="0"/>
              <a:t>Used in a team-based environment to solve problems by categorizing root causes and testing countermeasures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1834109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r>
              <a:rPr lang="en-US" dirty="0"/>
              <a:t>When addressing complex business or technical problems</a:t>
            </a:r>
          </a:p>
          <a:p>
            <a:r>
              <a:rPr lang="en-US" dirty="0"/>
              <a:t>When there are perceived to be multiple root causes of the problem and multiple countermeasures required to fully solve the problem</a:t>
            </a:r>
          </a:p>
          <a:p>
            <a:r>
              <a:rPr lang="en-US" dirty="0"/>
              <a:t>Where the </a:t>
            </a:r>
            <a:r>
              <a:rPr lang="en-US" u="sng" dirty="0"/>
              <a:t>resolution</a:t>
            </a:r>
            <a:r>
              <a:rPr lang="en-US" dirty="0"/>
              <a:t> of the problem is likely to exceed one week</a:t>
            </a:r>
          </a:p>
          <a:p>
            <a:r>
              <a:rPr lang="en-US" dirty="0"/>
              <a:t>Where cross-functional expertise is required in order to understand all aspects of the problem and its solution</a:t>
            </a:r>
          </a:p>
          <a:p>
            <a:r>
              <a:rPr lang="en-US" dirty="0"/>
              <a:t>Where prior attempts using other problem-solving tools and methods have failed to solve the problem</a:t>
            </a:r>
          </a:p>
          <a:p>
            <a:r>
              <a:rPr lang="en-US" dirty="0"/>
              <a:t>When a systematic, structured approach and process is required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301628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4194212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Roadmap</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47" name="Group 46">
            <a:extLst>
              <a:ext uri="{FF2B5EF4-FFF2-40B4-BE49-F238E27FC236}">
                <a16:creationId xmlns:a16="http://schemas.microsoft.com/office/drawing/2014/main" id="{1030B0D3-94CC-B7BF-E916-F53B62AF20B0}"/>
              </a:ext>
            </a:extLst>
          </p:cNvPr>
          <p:cNvGrpSpPr/>
          <p:nvPr/>
        </p:nvGrpSpPr>
        <p:grpSpPr>
          <a:xfrm>
            <a:off x="838200" y="1783429"/>
            <a:ext cx="10515600" cy="4271614"/>
            <a:chOff x="238125" y="1431925"/>
            <a:chExt cx="8547100" cy="4497388"/>
          </a:xfrm>
        </p:grpSpPr>
        <p:grpSp>
          <p:nvGrpSpPr>
            <p:cNvPr id="24" name="Group 4">
              <a:extLst>
                <a:ext uri="{FF2B5EF4-FFF2-40B4-BE49-F238E27FC236}">
                  <a16:creationId xmlns:a16="http://schemas.microsoft.com/office/drawing/2014/main" id="{A90B559C-DC98-CDED-8CA3-0D50744C4800}"/>
                </a:ext>
              </a:extLst>
            </p:cNvPr>
            <p:cNvGrpSpPr>
              <a:grpSpLocks/>
            </p:cNvGrpSpPr>
            <p:nvPr/>
          </p:nvGrpSpPr>
          <p:grpSpPr bwMode="auto">
            <a:xfrm>
              <a:off x="4267200" y="1431925"/>
              <a:ext cx="4462463" cy="2395538"/>
              <a:chOff x="1389" y="1410"/>
              <a:chExt cx="4116" cy="1795"/>
            </a:xfrm>
          </p:grpSpPr>
          <p:sp>
            <p:nvSpPr>
              <p:cNvPr id="25" name="Rectangle 5">
                <a:extLst>
                  <a:ext uri="{FF2B5EF4-FFF2-40B4-BE49-F238E27FC236}">
                    <a16:creationId xmlns:a16="http://schemas.microsoft.com/office/drawing/2014/main" id="{48A1FA0B-DC74-F0D7-E5CA-DFECA95ABB82}"/>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6">
                <a:extLst>
                  <a:ext uri="{FF2B5EF4-FFF2-40B4-BE49-F238E27FC236}">
                    <a16:creationId xmlns:a16="http://schemas.microsoft.com/office/drawing/2014/main" id="{EAF9EF83-3ED8-A8D0-1332-E27CEDFDB1BD}"/>
                  </a:ext>
                </a:extLst>
              </p:cNvPr>
              <p:cNvSpPr txBox="1">
                <a:spLocks noChangeArrowheads="1"/>
              </p:cNvSpPr>
              <p:nvPr/>
            </p:nvSpPr>
            <p:spPr bwMode="auto">
              <a:xfrm>
                <a:off x="2346" y="1508"/>
                <a:ext cx="2237" cy="26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25">
              <a:extLst>
                <a:ext uri="{FF2B5EF4-FFF2-40B4-BE49-F238E27FC236}">
                  <a16:creationId xmlns:a16="http://schemas.microsoft.com/office/drawing/2014/main" id="{44EB1519-39A5-5F3F-4A7A-0C9C3E6E39B7}"/>
                </a:ext>
              </a:extLst>
            </p:cNvPr>
            <p:cNvGrpSpPr>
              <a:grpSpLocks/>
            </p:cNvGrpSpPr>
            <p:nvPr/>
          </p:nvGrpSpPr>
          <p:grpSpPr bwMode="auto">
            <a:xfrm>
              <a:off x="238125" y="2227263"/>
              <a:ext cx="1835150" cy="1341437"/>
              <a:chOff x="317" y="1707"/>
              <a:chExt cx="959" cy="845"/>
            </a:xfrm>
          </p:grpSpPr>
          <p:sp>
            <p:nvSpPr>
              <p:cNvPr id="28" name="Rectangle 8">
                <a:extLst>
                  <a:ext uri="{FF2B5EF4-FFF2-40B4-BE49-F238E27FC236}">
                    <a16:creationId xmlns:a16="http://schemas.microsoft.com/office/drawing/2014/main" id="{E40B71A0-533A-5F0F-E0A1-EFBD394B273F}"/>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9">
                <a:extLst>
                  <a:ext uri="{FF2B5EF4-FFF2-40B4-BE49-F238E27FC236}">
                    <a16:creationId xmlns:a16="http://schemas.microsoft.com/office/drawing/2014/main" id="{78F983B1-97FB-2380-635C-E34135C7A5D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26">
              <a:extLst>
                <a:ext uri="{FF2B5EF4-FFF2-40B4-BE49-F238E27FC236}">
                  <a16:creationId xmlns:a16="http://schemas.microsoft.com/office/drawing/2014/main" id="{AE108493-002D-762B-E25E-65EFC71AADC7}"/>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A943C807-3838-2E92-4335-9A8D5DDFDEB8}"/>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BCD8D306-7006-583F-ABA8-8BEF80849EA0}"/>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27">
              <a:extLst>
                <a:ext uri="{FF2B5EF4-FFF2-40B4-BE49-F238E27FC236}">
                  <a16:creationId xmlns:a16="http://schemas.microsoft.com/office/drawing/2014/main" id="{A2A40F5C-ECA8-4480-F395-48589EAC5623}"/>
                </a:ext>
              </a:extLst>
            </p:cNvPr>
            <p:cNvGrpSpPr>
              <a:grpSpLocks/>
            </p:cNvGrpSpPr>
            <p:nvPr/>
          </p:nvGrpSpPr>
          <p:grpSpPr bwMode="auto">
            <a:xfrm>
              <a:off x="4500563" y="2227263"/>
              <a:ext cx="1835150" cy="1341437"/>
              <a:chOff x="2591" y="1704"/>
              <a:chExt cx="959" cy="845"/>
            </a:xfrm>
          </p:grpSpPr>
          <p:sp>
            <p:nvSpPr>
              <p:cNvPr id="34" name="Rectangle 12">
                <a:extLst>
                  <a:ext uri="{FF2B5EF4-FFF2-40B4-BE49-F238E27FC236}">
                    <a16:creationId xmlns:a16="http://schemas.microsoft.com/office/drawing/2014/main" id="{5ACA9FFB-7DB0-9B7B-CD6D-F28240F5659F}"/>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3">
                <a:extLst>
                  <a:ext uri="{FF2B5EF4-FFF2-40B4-BE49-F238E27FC236}">
                    <a16:creationId xmlns:a16="http://schemas.microsoft.com/office/drawing/2014/main" id="{A890A5C2-2F97-ED1A-7496-11D30F70F424}"/>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28">
              <a:extLst>
                <a:ext uri="{FF2B5EF4-FFF2-40B4-BE49-F238E27FC236}">
                  <a16:creationId xmlns:a16="http://schemas.microsoft.com/office/drawing/2014/main" id="{3D307BC7-A0E9-A034-225F-47F972E56E89}"/>
                </a:ext>
              </a:extLst>
            </p:cNvPr>
            <p:cNvGrpSpPr>
              <a:grpSpLocks/>
            </p:cNvGrpSpPr>
            <p:nvPr/>
          </p:nvGrpSpPr>
          <p:grpSpPr bwMode="auto">
            <a:xfrm>
              <a:off x="6538913" y="2227263"/>
              <a:ext cx="1835150" cy="1341437"/>
              <a:chOff x="3734" y="1704"/>
              <a:chExt cx="959" cy="845"/>
            </a:xfrm>
          </p:grpSpPr>
          <p:sp>
            <p:nvSpPr>
              <p:cNvPr id="37" name="Rectangle 14">
                <a:extLst>
                  <a:ext uri="{FF2B5EF4-FFF2-40B4-BE49-F238E27FC236}">
                    <a16:creationId xmlns:a16="http://schemas.microsoft.com/office/drawing/2014/main" id="{D39A15C3-F3D9-F6FB-BA43-64A0EDB861FC}"/>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Conduct CEDAC Follow-up Workshops</a:t>
                </a:r>
              </a:p>
            </p:txBody>
          </p:sp>
          <p:sp>
            <p:nvSpPr>
              <p:cNvPr id="38" name="Rectangle 15">
                <a:extLst>
                  <a:ext uri="{FF2B5EF4-FFF2-40B4-BE49-F238E27FC236}">
                    <a16:creationId xmlns:a16="http://schemas.microsoft.com/office/drawing/2014/main" id="{5DF13676-67E6-7839-3EB4-9DCC2E84ECBF}"/>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6">
              <a:extLst>
                <a:ext uri="{FF2B5EF4-FFF2-40B4-BE49-F238E27FC236}">
                  <a16:creationId xmlns:a16="http://schemas.microsoft.com/office/drawing/2014/main" id="{0AEA85B2-0D30-1A9F-6C00-2493B1F59F73}"/>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7">
              <a:extLst>
                <a:ext uri="{FF2B5EF4-FFF2-40B4-BE49-F238E27FC236}">
                  <a16:creationId xmlns:a16="http://schemas.microsoft.com/office/drawing/2014/main" id="{06056B4E-E108-D9C4-AA53-D92F876CA113}"/>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18">
              <a:extLst>
                <a:ext uri="{FF2B5EF4-FFF2-40B4-BE49-F238E27FC236}">
                  <a16:creationId xmlns:a16="http://schemas.microsoft.com/office/drawing/2014/main" id="{239A209E-9B0D-5C4F-85A6-2CE644AF97CB}"/>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0">
              <a:extLst>
                <a:ext uri="{FF2B5EF4-FFF2-40B4-BE49-F238E27FC236}">
                  <a16:creationId xmlns:a16="http://schemas.microsoft.com/office/drawing/2014/main" id="{0F5379BA-72B8-9C13-F237-624E24322606}"/>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21">
              <a:extLst>
                <a:ext uri="{FF2B5EF4-FFF2-40B4-BE49-F238E27FC236}">
                  <a16:creationId xmlns:a16="http://schemas.microsoft.com/office/drawing/2014/main" id="{48890BC4-B94B-B79A-022C-180EC3B6DF3E}"/>
                </a:ext>
              </a:extLst>
            </p:cNvPr>
            <p:cNvSpPr>
              <a:spLocks noChangeArrowheads="1"/>
            </p:cNvSpPr>
            <p:nvPr/>
          </p:nvSpPr>
          <p:spPr bwMode="auto">
            <a:xfrm>
              <a:off x="238125" y="4019550"/>
              <a:ext cx="2008188"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the Problem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Validate problem using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target </a:t>
              </a:r>
            </a:p>
            <a:p>
              <a:pPr lvl="1">
                <a:lnSpc>
                  <a:spcPct val="100000"/>
                </a:lnSpc>
                <a:spcBef>
                  <a:spcPct val="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(When is the problem solved?)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Plan CEDAC Event</a:t>
              </a:r>
            </a:p>
          </p:txBody>
        </p:sp>
        <p:sp>
          <p:nvSpPr>
            <p:cNvPr id="44" name="Rectangle 22">
              <a:extLst>
                <a:ext uri="{FF2B5EF4-FFF2-40B4-BE49-F238E27FC236}">
                  <a16:creationId xmlns:a16="http://schemas.microsoft.com/office/drawing/2014/main" id="{376F1F3A-DCB1-F52E-7844-6BDD2C97BC2E}"/>
                </a:ext>
              </a:extLst>
            </p:cNvPr>
            <p:cNvSpPr>
              <a:spLocks noChangeArrowheads="1"/>
            </p:cNvSpPr>
            <p:nvPr/>
          </p:nvSpPr>
          <p:spPr bwMode="auto">
            <a:xfrm>
              <a:off x="2311400" y="4019550"/>
              <a:ext cx="20478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CEDAC Chart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FACT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Follow-up Plan</a:t>
              </a:r>
            </a:p>
          </p:txBody>
        </p:sp>
        <p:sp>
          <p:nvSpPr>
            <p:cNvPr id="45" name="Rectangle 23">
              <a:extLst>
                <a:ext uri="{FF2B5EF4-FFF2-40B4-BE49-F238E27FC236}">
                  <a16:creationId xmlns:a16="http://schemas.microsoft.com/office/drawing/2014/main" id="{0353CBCA-7BA7-9FCE-B86A-6AF08B23C118}"/>
                </a:ext>
              </a:extLst>
            </p:cNvPr>
            <p:cNvSpPr>
              <a:spLocks noChangeArrowheads="1"/>
            </p:cNvSpPr>
            <p:nvPr/>
          </p:nvSpPr>
          <p:spPr bwMode="auto">
            <a:xfrm>
              <a:off x="4495800" y="4043363"/>
              <a:ext cx="2290763"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Countermeasure Test results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Problem / target metric tracking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FACT Cards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IMPROVEMENT Cards</a:t>
              </a:r>
            </a:p>
          </p:txBody>
        </p:sp>
        <p:sp>
          <p:nvSpPr>
            <p:cNvPr id="46" name="Rectangle 24">
              <a:extLst>
                <a:ext uri="{FF2B5EF4-FFF2-40B4-BE49-F238E27FC236}">
                  <a16:creationId xmlns:a16="http://schemas.microsoft.com/office/drawing/2014/main" id="{FF4B6604-545B-F685-4671-FA3D5FBF09EB}"/>
                </a:ext>
              </a:extLst>
            </p:cNvPr>
            <p:cNvSpPr>
              <a:spLocks noChangeArrowheads="1"/>
            </p:cNvSpPr>
            <p:nvPr/>
          </p:nvSpPr>
          <p:spPr bwMode="auto">
            <a:xfrm>
              <a:off x="6645275" y="4019550"/>
              <a:ext cx="21399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Changes and adjustments to countermeasure priorities and implementation plans</a:t>
              </a:r>
            </a:p>
            <a:p>
              <a:pPr eaLnBrk="1" hangingPunct="1">
                <a:lnSpc>
                  <a:spcPct val="100000"/>
                </a:lnSpc>
                <a:spcBef>
                  <a:spcPct val="30000"/>
                </a:spcBef>
                <a:spcAft>
                  <a:spcPct val="0"/>
                </a:spcAft>
                <a:buClr>
                  <a:schemeClr val="tx1"/>
                </a:buClr>
                <a:buFont typeface="Arial" panose="020B0604020202020204" pitchFamily="34" charset="0"/>
                <a:buChar char="•"/>
              </a:pPr>
              <a:endParaRPr lang="en-US" altLang="en-US" sz="140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386021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Pre-Event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62" name="Group 61">
            <a:extLst>
              <a:ext uri="{FF2B5EF4-FFF2-40B4-BE49-F238E27FC236}">
                <a16:creationId xmlns:a16="http://schemas.microsoft.com/office/drawing/2014/main" id="{F4E9FE3A-CCB7-2274-A9A0-F4F0363AB060}"/>
              </a:ext>
            </a:extLst>
          </p:cNvPr>
          <p:cNvGrpSpPr/>
          <p:nvPr/>
        </p:nvGrpSpPr>
        <p:grpSpPr>
          <a:xfrm>
            <a:off x="768668" y="1783429"/>
            <a:ext cx="10654665" cy="4336384"/>
            <a:chOff x="238125" y="1431925"/>
            <a:chExt cx="8491538" cy="4687888"/>
          </a:xfrm>
        </p:grpSpPr>
        <p:grpSp>
          <p:nvGrpSpPr>
            <p:cNvPr id="3" name="Group 3">
              <a:extLst>
                <a:ext uri="{FF2B5EF4-FFF2-40B4-BE49-F238E27FC236}">
                  <a16:creationId xmlns:a16="http://schemas.microsoft.com/office/drawing/2014/main" id="{F1E6A946-2F0E-80AF-5109-F13BE43EEF58}"/>
                </a:ext>
              </a:extLst>
            </p:cNvPr>
            <p:cNvGrpSpPr>
              <a:grpSpLocks/>
            </p:cNvGrpSpPr>
            <p:nvPr/>
          </p:nvGrpSpPr>
          <p:grpSpPr bwMode="auto">
            <a:xfrm>
              <a:off x="4267200" y="1431925"/>
              <a:ext cx="4462463" cy="2395538"/>
              <a:chOff x="1389" y="1410"/>
              <a:chExt cx="4116" cy="1795"/>
            </a:xfrm>
          </p:grpSpPr>
          <p:sp>
            <p:nvSpPr>
              <p:cNvPr id="4" name="Rectangle 4">
                <a:extLst>
                  <a:ext uri="{FF2B5EF4-FFF2-40B4-BE49-F238E27FC236}">
                    <a16:creationId xmlns:a16="http://schemas.microsoft.com/office/drawing/2014/main" id="{E43F577D-DB66-FF85-07C1-17C203850F94}"/>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6" name="Text Box 5">
                <a:extLst>
                  <a:ext uri="{FF2B5EF4-FFF2-40B4-BE49-F238E27FC236}">
                    <a16:creationId xmlns:a16="http://schemas.microsoft.com/office/drawing/2014/main" id="{AA8BDCF9-4ABF-3B01-846F-5E15E1F0E045}"/>
                  </a:ext>
                </a:extLst>
              </p:cNvPr>
              <p:cNvSpPr txBox="1">
                <a:spLocks noChangeArrowheads="1"/>
              </p:cNvSpPr>
              <p:nvPr/>
            </p:nvSpPr>
            <p:spPr bwMode="auto">
              <a:xfrm>
                <a:off x="2089" y="1508"/>
                <a:ext cx="2752" cy="254"/>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7" name="Group 6">
              <a:extLst>
                <a:ext uri="{FF2B5EF4-FFF2-40B4-BE49-F238E27FC236}">
                  <a16:creationId xmlns:a16="http://schemas.microsoft.com/office/drawing/2014/main" id="{419AF901-4061-FBF8-EFD3-DA56329E7617}"/>
                </a:ext>
              </a:extLst>
            </p:cNvPr>
            <p:cNvGrpSpPr>
              <a:grpSpLocks/>
            </p:cNvGrpSpPr>
            <p:nvPr/>
          </p:nvGrpSpPr>
          <p:grpSpPr bwMode="auto">
            <a:xfrm>
              <a:off x="238125" y="2227263"/>
              <a:ext cx="1835150" cy="1341437"/>
              <a:chOff x="317" y="1707"/>
              <a:chExt cx="959" cy="845"/>
            </a:xfrm>
          </p:grpSpPr>
          <p:sp>
            <p:nvSpPr>
              <p:cNvPr id="8" name="Rectangle 7">
                <a:extLst>
                  <a:ext uri="{FF2B5EF4-FFF2-40B4-BE49-F238E27FC236}">
                    <a16:creationId xmlns:a16="http://schemas.microsoft.com/office/drawing/2014/main" id="{800518D2-2234-66D1-503B-56BA5C6EF0C8}"/>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9" name="Rectangle 8">
                <a:extLst>
                  <a:ext uri="{FF2B5EF4-FFF2-40B4-BE49-F238E27FC236}">
                    <a16:creationId xmlns:a16="http://schemas.microsoft.com/office/drawing/2014/main" id="{ECE1326F-45B7-A63F-6F4C-79F6F36DB40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10" name="Group 9">
              <a:extLst>
                <a:ext uri="{FF2B5EF4-FFF2-40B4-BE49-F238E27FC236}">
                  <a16:creationId xmlns:a16="http://schemas.microsoft.com/office/drawing/2014/main" id="{8A366D31-D36A-0411-4B77-E6B2708534CF}"/>
                </a:ext>
              </a:extLst>
            </p:cNvPr>
            <p:cNvGrpSpPr>
              <a:grpSpLocks/>
            </p:cNvGrpSpPr>
            <p:nvPr/>
          </p:nvGrpSpPr>
          <p:grpSpPr bwMode="auto">
            <a:xfrm>
              <a:off x="2295525" y="2227263"/>
              <a:ext cx="1835150" cy="1341437"/>
              <a:chOff x="1448" y="1704"/>
              <a:chExt cx="959" cy="845"/>
            </a:xfrm>
          </p:grpSpPr>
          <p:sp>
            <p:nvSpPr>
              <p:cNvPr id="11" name="Rectangle 10">
                <a:extLst>
                  <a:ext uri="{FF2B5EF4-FFF2-40B4-BE49-F238E27FC236}">
                    <a16:creationId xmlns:a16="http://schemas.microsoft.com/office/drawing/2014/main" id="{7CF6FCF3-39F7-118B-B182-4486654D51CB}"/>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12" name="Rectangle 11">
                <a:extLst>
                  <a:ext uri="{FF2B5EF4-FFF2-40B4-BE49-F238E27FC236}">
                    <a16:creationId xmlns:a16="http://schemas.microsoft.com/office/drawing/2014/main" id="{DAD655C4-35B6-CDBE-6F60-CCCEBFDF51A9}"/>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13" name="Group 12">
              <a:extLst>
                <a:ext uri="{FF2B5EF4-FFF2-40B4-BE49-F238E27FC236}">
                  <a16:creationId xmlns:a16="http://schemas.microsoft.com/office/drawing/2014/main" id="{B7FF1BDA-B759-7FF0-535A-B90B6CA6B27B}"/>
                </a:ext>
              </a:extLst>
            </p:cNvPr>
            <p:cNvGrpSpPr>
              <a:grpSpLocks/>
            </p:cNvGrpSpPr>
            <p:nvPr/>
          </p:nvGrpSpPr>
          <p:grpSpPr bwMode="auto">
            <a:xfrm>
              <a:off x="4500563" y="2227263"/>
              <a:ext cx="1835150" cy="1341437"/>
              <a:chOff x="2591" y="1704"/>
              <a:chExt cx="959" cy="845"/>
            </a:xfrm>
          </p:grpSpPr>
          <p:sp>
            <p:nvSpPr>
              <p:cNvPr id="23" name="Rectangle 13">
                <a:extLst>
                  <a:ext uri="{FF2B5EF4-FFF2-40B4-BE49-F238E27FC236}">
                    <a16:creationId xmlns:a16="http://schemas.microsoft.com/office/drawing/2014/main" id="{0921AB22-0A64-53F3-6AC8-ACEC2E33C0B9}"/>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48" name="Rectangle 14">
                <a:extLst>
                  <a:ext uri="{FF2B5EF4-FFF2-40B4-BE49-F238E27FC236}">
                    <a16:creationId xmlns:a16="http://schemas.microsoft.com/office/drawing/2014/main" id="{E51287E8-AC94-9861-2B31-1780C3BCC103}"/>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49" name="Group 15">
              <a:extLst>
                <a:ext uri="{FF2B5EF4-FFF2-40B4-BE49-F238E27FC236}">
                  <a16:creationId xmlns:a16="http://schemas.microsoft.com/office/drawing/2014/main" id="{8F4D85F4-232E-F783-8D86-8381255839FD}"/>
                </a:ext>
              </a:extLst>
            </p:cNvPr>
            <p:cNvGrpSpPr>
              <a:grpSpLocks/>
            </p:cNvGrpSpPr>
            <p:nvPr/>
          </p:nvGrpSpPr>
          <p:grpSpPr bwMode="auto">
            <a:xfrm>
              <a:off x="6538913" y="2227263"/>
              <a:ext cx="1835150" cy="1341437"/>
              <a:chOff x="3734" y="1704"/>
              <a:chExt cx="959" cy="845"/>
            </a:xfrm>
          </p:grpSpPr>
          <p:sp>
            <p:nvSpPr>
              <p:cNvPr id="50" name="Rectangle 16">
                <a:extLst>
                  <a:ext uri="{FF2B5EF4-FFF2-40B4-BE49-F238E27FC236}">
                    <a16:creationId xmlns:a16="http://schemas.microsoft.com/office/drawing/2014/main" id="{8FE994A5-1FD3-7E54-4743-B7BDA0CD2C71}"/>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Follow-up Workshops</a:t>
                </a:r>
              </a:p>
            </p:txBody>
          </p:sp>
          <p:sp>
            <p:nvSpPr>
              <p:cNvPr id="51" name="Rectangle 17">
                <a:extLst>
                  <a:ext uri="{FF2B5EF4-FFF2-40B4-BE49-F238E27FC236}">
                    <a16:creationId xmlns:a16="http://schemas.microsoft.com/office/drawing/2014/main" id="{7AE8A8FB-F15A-84D4-056B-8941E97B8D4B}"/>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52" name="AutoShape 18">
              <a:extLst>
                <a:ext uri="{FF2B5EF4-FFF2-40B4-BE49-F238E27FC236}">
                  <a16:creationId xmlns:a16="http://schemas.microsoft.com/office/drawing/2014/main" id="{CEF68A8C-A288-807F-58A8-D2AC3DB10957}"/>
                </a:ext>
              </a:extLst>
            </p:cNvPr>
            <p:cNvCxnSpPr>
              <a:cxnSpLocks noChangeShapeType="1"/>
              <a:stCxn id="8" idx="3"/>
              <a:endCxn id="1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AutoShape 19">
              <a:extLst>
                <a:ext uri="{FF2B5EF4-FFF2-40B4-BE49-F238E27FC236}">
                  <a16:creationId xmlns:a16="http://schemas.microsoft.com/office/drawing/2014/main" id="{9AD7CED2-3AFF-561D-6528-EC061E96211F}"/>
                </a:ext>
              </a:extLst>
            </p:cNvPr>
            <p:cNvCxnSpPr>
              <a:cxnSpLocks noChangeShapeType="1"/>
              <a:stCxn id="11" idx="3"/>
              <a:endCxn id="23"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 name="AutoShape 20">
              <a:extLst>
                <a:ext uri="{FF2B5EF4-FFF2-40B4-BE49-F238E27FC236}">
                  <a16:creationId xmlns:a16="http://schemas.microsoft.com/office/drawing/2014/main" id="{B59A6E9A-F4A2-FE52-168E-5BCB4D4061BF}"/>
                </a:ext>
              </a:extLst>
            </p:cNvPr>
            <p:cNvCxnSpPr>
              <a:cxnSpLocks noChangeShapeType="1"/>
              <a:stCxn id="23" idx="3"/>
              <a:endCxn id="50"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AutoShape 21">
              <a:extLst>
                <a:ext uri="{FF2B5EF4-FFF2-40B4-BE49-F238E27FC236}">
                  <a16:creationId xmlns:a16="http://schemas.microsoft.com/office/drawing/2014/main" id="{80A83827-DFBC-5211-8BEE-99F3BB634009}"/>
                </a:ext>
              </a:extLst>
            </p:cNvPr>
            <p:cNvCxnSpPr>
              <a:cxnSpLocks noChangeShapeType="1"/>
              <a:stCxn id="50" idx="3"/>
              <a:endCxn id="48"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6" name="AutoShape 30">
              <a:extLst>
                <a:ext uri="{FF2B5EF4-FFF2-40B4-BE49-F238E27FC236}">
                  <a16:creationId xmlns:a16="http://schemas.microsoft.com/office/drawing/2014/main" id="{641EF899-1F67-8B5B-DD50-0CB238593AE0}"/>
                </a:ext>
              </a:extLst>
            </p:cNvPr>
            <p:cNvSpPr>
              <a:spLocks noChangeArrowheads="1"/>
            </p:cNvSpPr>
            <p:nvPr/>
          </p:nvSpPr>
          <p:spPr bwMode="auto">
            <a:xfrm>
              <a:off x="3743325"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Determine Objective Statement</a:t>
              </a:r>
            </a:p>
          </p:txBody>
        </p:sp>
        <p:sp>
          <p:nvSpPr>
            <p:cNvPr id="57" name="AutoShape 31">
              <a:extLst>
                <a:ext uri="{FF2B5EF4-FFF2-40B4-BE49-F238E27FC236}">
                  <a16:creationId xmlns:a16="http://schemas.microsoft.com/office/drawing/2014/main" id="{565EC999-E159-CC7A-712C-7E55F9ABB226}"/>
                </a:ext>
              </a:extLst>
            </p:cNvPr>
            <p:cNvSpPr>
              <a:spLocks noChangeArrowheads="1"/>
            </p:cNvSpPr>
            <p:nvPr/>
          </p:nvSpPr>
          <p:spPr bwMode="auto">
            <a:xfrm>
              <a:off x="2130425"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Establish and Validate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Metrics</a:t>
              </a:r>
            </a:p>
          </p:txBody>
        </p:sp>
        <p:sp>
          <p:nvSpPr>
            <p:cNvPr id="58" name="AutoShape 32">
              <a:extLst>
                <a:ext uri="{FF2B5EF4-FFF2-40B4-BE49-F238E27FC236}">
                  <a16:creationId xmlns:a16="http://schemas.microsoft.com/office/drawing/2014/main" id="{4D3A7F43-2414-C5A6-AA1A-78D6488F202F}"/>
                </a:ext>
              </a:extLst>
            </p:cNvPr>
            <p:cNvSpPr>
              <a:spLocks noChangeArrowheads="1"/>
            </p:cNvSpPr>
            <p:nvPr/>
          </p:nvSpPr>
          <p:spPr bwMode="auto">
            <a:xfrm>
              <a:off x="488950"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Define </a:t>
              </a:r>
            </a:p>
            <a:p>
              <a:pPr algn="ctr">
                <a:lnSpc>
                  <a:spcPct val="100000"/>
                </a:lnSpc>
                <a:spcBef>
                  <a:spcPct val="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Problem</a:t>
              </a:r>
            </a:p>
          </p:txBody>
        </p:sp>
        <p:sp>
          <p:nvSpPr>
            <p:cNvPr id="59" name="Line 33">
              <a:extLst>
                <a:ext uri="{FF2B5EF4-FFF2-40B4-BE49-F238E27FC236}">
                  <a16:creationId xmlns:a16="http://schemas.microsoft.com/office/drawing/2014/main" id="{30CA4393-4E9C-64BF-8BC3-AD7A534570EA}"/>
                </a:ext>
              </a:extLst>
            </p:cNvPr>
            <p:cNvSpPr>
              <a:spLocks noChangeShapeType="1"/>
            </p:cNvSpPr>
            <p:nvPr/>
          </p:nvSpPr>
          <p:spPr bwMode="auto">
            <a:xfrm>
              <a:off x="246063" y="3546475"/>
              <a:ext cx="220662" cy="115570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0" name="Line 34">
              <a:extLst>
                <a:ext uri="{FF2B5EF4-FFF2-40B4-BE49-F238E27FC236}">
                  <a16:creationId xmlns:a16="http://schemas.microsoft.com/office/drawing/2014/main" id="{BE313227-A3B3-B588-9B19-2B87CA7636D8}"/>
                </a:ext>
              </a:extLst>
            </p:cNvPr>
            <p:cNvSpPr>
              <a:spLocks noChangeShapeType="1"/>
            </p:cNvSpPr>
            <p:nvPr/>
          </p:nvSpPr>
          <p:spPr bwMode="auto">
            <a:xfrm>
              <a:off x="2032000" y="3560763"/>
              <a:ext cx="3327400" cy="1144587"/>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1" name="Text Box 35">
              <a:extLst>
                <a:ext uri="{FF2B5EF4-FFF2-40B4-BE49-F238E27FC236}">
                  <a16:creationId xmlns:a16="http://schemas.microsoft.com/office/drawing/2014/main" id="{04462F01-DA9F-9D64-DBA8-17803D58D0FB}"/>
                </a:ext>
              </a:extLst>
            </p:cNvPr>
            <p:cNvSpPr txBox="1">
              <a:spLocks noChangeArrowheads="1"/>
            </p:cNvSpPr>
            <p:nvPr/>
          </p:nvSpPr>
          <p:spPr bwMode="auto">
            <a:xfrm>
              <a:off x="1440424" y="4418013"/>
              <a:ext cx="1984839"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CEDAC Process Steps 1-3</a:t>
              </a:r>
            </a:p>
          </p:txBody>
        </p:sp>
      </p:grpSp>
    </p:spTree>
    <p:extLst>
      <p:ext uri="{BB962C8B-B14F-4D97-AF65-F5344CB8AC3E}">
        <p14:creationId xmlns:p14="http://schemas.microsoft.com/office/powerpoint/2010/main" val="4140627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Event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67" name="Group 66">
            <a:extLst>
              <a:ext uri="{FF2B5EF4-FFF2-40B4-BE49-F238E27FC236}">
                <a16:creationId xmlns:a16="http://schemas.microsoft.com/office/drawing/2014/main" id="{BE28F6B7-98CA-1386-C7E8-F9F63DF5B8AB}"/>
              </a:ext>
            </a:extLst>
          </p:cNvPr>
          <p:cNvGrpSpPr/>
          <p:nvPr/>
        </p:nvGrpSpPr>
        <p:grpSpPr>
          <a:xfrm>
            <a:off x="785813" y="1897379"/>
            <a:ext cx="10620375" cy="4222433"/>
            <a:chOff x="238125" y="1431925"/>
            <a:chExt cx="8542338" cy="4687888"/>
          </a:xfrm>
        </p:grpSpPr>
        <p:grpSp>
          <p:nvGrpSpPr>
            <p:cNvPr id="24" name="Group 3">
              <a:extLst>
                <a:ext uri="{FF2B5EF4-FFF2-40B4-BE49-F238E27FC236}">
                  <a16:creationId xmlns:a16="http://schemas.microsoft.com/office/drawing/2014/main" id="{B46271EC-E5F6-5759-1CCF-686BF83A799E}"/>
                </a:ext>
              </a:extLst>
            </p:cNvPr>
            <p:cNvGrpSpPr>
              <a:grpSpLocks/>
            </p:cNvGrpSpPr>
            <p:nvPr/>
          </p:nvGrpSpPr>
          <p:grpSpPr bwMode="auto">
            <a:xfrm>
              <a:off x="4267200" y="1431925"/>
              <a:ext cx="4462463" cy="2395538"/>
              <a:chOff x="1389" y="1410"/>
              <a:chExt cx="4116" cy="1795"/>
            </a:xfrm>
          </p:grpSpPr>
          <p:sp>
            <p:nvSpPr>
              <p:cNvPr id="25" name="Rectangle 4">
                <a:extLst>
                  <a:ext uri="{FF2B5EF4-FFF2-40B4-BE49-F238E27FC236}">
                    <a16:creationId xmlns:a16="http://schemas.microsoft.com/office/drawing/2014/main" id="{7EFC6F45-EAA5-802E-0AA7-EFE1C24D999F}"/>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5">
                <a:extLst>
                  <a:ext uri="{FF2B5EF4-FFF2-40B4-BE49-F238E27FC236}">
                    <a16:creationId xmlns:a16="http://schemas.microsoft.com/office/drawing/2014/main" id="{E372D48D-8315-1C6C-20A6-3B7AAC79338C}"/>
                  </a:ext>
                </a:extLst>
              </p:cNvPr>
              <p:cNvSpPr txBox="1">
                <a:spLocks noChangeArrowheads="1"/>
              </p:cNvSpPr>
              <p:nvPr/>
            </p:nvSpPr>
            <p:spPr bwMode="auto">
              <a:xfrm>
                <a:off x="2357" y="1508"/>
                <a:ext cx="2213" cy="282"/>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6">
              <a:extLst>
                <a:ext uri="{FF2B5EF4-FFF2-40B4-BE49-F238E27FC236}">
                  <a16:creationId xmlns:a16="http://schemas.microsoft.com/office/drawing/2014/main" id="{14C4D7EE-5FAA-8AE9-882E-EA627DDCCD1A}"/>
                </a:ext>
              </a:extLst>
            </p:cNvPr>
            <p:cNvGrpSpPr>
              <a:grpSpLocks/>
            </p:cNvGrpSpPr>
            <p:nvPr/>
          </p:nvGrpSpPr>
          <p:grpSpPr bwMode="auto">
            <a:xfrm>
              <a:off x="238125" y="2227263"/>
              <a:ext cx="1835150" cy="1341437"/>
              <a:chOff x="317" y="1707"/>
              <a:chExt cx="959" cy="845"/>
            </a:xfrm>
          </p:grpSpPr>
          <p:sp>
            <p:nvSpPr>
              <p:cNvPr id="28" name="Rectangle 7">
                <a:extLst>
                  <a:ext uri="{FF2B5EF4-FFF2-40B4-BE49-F238E27FC236}">
                    <a16:creationId xmlns:a16="http://schemas.microsoft.com/office/drawing/2014/main" id="{DB038A6E-5660-9D23-015F-E7B7B1C03461}"/>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8">
                <a:extLst>
                  <a:ext uri="{FF2B5EF4-FFF2-40B4-BE49-F238E27FC236}">
                    <a16:creationId xmlns:a16="http://schemas.microsoft.com/office/drawing/2014/main" id="{CD205EE1-D25C-B8F8-D27F-E63BC3CFDF70}"/>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9">
              <a:extLst>
                <a:ext uri="{FF2B5EF4-FFF2-40B4-BE49-F238E27FC236}">
                  <a16:creationId xmlns:a16="http://schemas.microsoft.com/office/drawing/2014/main" id="{F98F5F9D-2AF2-D151-0E6F-30ACB6FA2B9B}"/>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1FA59AA5-D515-F765-513A-68F86EB0684F}"/>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C8BCC492-14B6-DBBB-C796-9E816A827F8B}"/>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12">
              <a:extLst>
                <a:ext uri="{FF2B5EF4-FFF2-40B4-BE49-F238E27FC236}">
                  <a16:creationId xmlns:a16="http://schemas.microsoft.com/office/drawing/2014/main" id="{0744F701-E1DD-1013-E97B-27B3DD39019B}"/>
                </a:ext>
              </a:extLst>
            </p:cNvPr>
            <p:cNvGrpSpPr>
              <a:grpSpLocks/>
            </p:cNvGrpSpPr>
            <p:nvPr/>
          </p:nvGrpSpPr>
          <p:grpSpPr bwMode="auto">
            <a:xfrm>
              <a:off x="4500563" y="2227263"/>
              <a:ext cx="1835150" cy="1341437"/>
              <a:chOff x="2591" y="1704"/>
              <a:chExt cx="959" cy="845"/>
            </a:xfrm>
          </p:grpSpPr>
          <p:sp>
            <p:nvSpPr>
              <p:cNvPr id="34" name="Rectangle 13">
                <a:extLst>
                  <a:ext uri="{FF2B5EF4-FFF2-40B4-BE49-F238E27FC236}">
                    <a16:creationId xmlns:a16="http://schemas.microsoft.com/office/drawing/2014/main" id="{5AEF176E-8178-3897-FB52-3989279B5157}"/>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4">
                <a:extLst>
                  <a:ext uri="{FF2B5EF4-FFF2-40B4-BE49-F238E27FC236}">
                    <a16:creationId xmlns:a16="http://schemas.microsoft.com/office/drawing/2014/main" id="{7BD5D521-6CF0-065C-5E33-D49AB377D7BB}"/>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15">
              <a:extLst>
                <a:ext uri="{FF2B5EF4-FFF2-40B4-BE49-F238E27FC236}">
                  <a16:creationId xmlns:a16="http://schemas.microsoft.com/office/drawing/2014/main" id="{60A100D4-76E6-C3D7-EE10-94AB07FC2C62}"/>
                </a:ext>
              </a:extLst>
            </p:cNvPr>
            <p:cNvGrpSpPr>
              <a:grpSpLocks/>
            </p:cNvGrpSpPr>
            <p:nvPr/>
          </p:nvGrpSpPr>
          <p:grpSpPr bwMode="auto">
            <a:xfrm>
              <a:off x="6538913" y="2227263"/>
              <a:ext cx="1835150" cy="1341437"/>
              <a:chOff x="3734" y="1704"/>
              <a:chExt cx="959" cy="845"/>
            </a:xfrm>
          </p:grpSpPr>
          <p:sp>
            <p:nvSpPr>
              <p:cNvPr id="37" name="Rectangle 16">
                <a:extLst>
                  <a:ext uri="{FF2B5EF4-FFF2-40B4-BE49-F238E27FC236}">
                    <a16:creationId xmlns:a16="http://schemas.microsoft.com/office/drawing/2014/main" id="{19F3B10B-76E8-7A2C-1EF4-8FA3D36F4D9D}"/>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Follow-up Workshops</a:t>
                </a:r>
              </a:p>
            </p:txBody>
          </p:sp>
          <p:sp>
            <p:nvSpPr>
              <p:cNvPr id="38" name="Rectangle 17">
                <a:extLst>
                  <a:ext uri="{FF2B5EF4-FFF2-40B4-BE49-F238E27FC236}">
                    <a16:creationId xmlns:a16="http://schemas.microsoft.com/office/drawing/2014/main" id="{32C302E7-DE3C-44D7-D9F4-74B7484F5C49}"/>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8">
              <a:extLst>
                <a:ext uri="{FF2B5EF4-FFF2-40B4-BE49-F238E27FC236}">
                  <a16:creationId xmlns:a16="http://schemas.microsoft.com/office/drawing/2014/main" id="{C8013AC7-2C9F-82CE-75C5-C3534B20ADE1}"/>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9">
              <a:extLst>
                <a:ext uri="{FF2B5EF4-FFF2-40B4-BE49-F238E27FC236}">
                  <a16:creationId xmlns:a16="http://schemas.microsoft.com/office/drawing/2014/main" id="{E33F6E8D-CACE-E935-4C62-3263A9DE7EFE}"/>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20">
              <a:extLst>
                <a:ext uri="{FF2B5EF4-FFF2-40B4-BE49-F238E27FC236}">
                  <a16:creationId xmlns:a16="http://schemas.microsoft.com/office/drawing/2014/main" id="{B182FA75-E887-D4AC-AADF-57C6D2F76C60}"/>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1">
              <a:extLst>
                <a:ext uri="{FF2B5EF4-FFF2-40B4-BE49-F238E27FC236}">
                  <a16:creationId xmlns:a16="http://schemas.microsoft.com/office/drawing/2014/main" id="{52198D36-7DCB-EC8C-9244-FBF0EE717C1E}"/>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43" name="Group 22">
              <a:extLst>
                <a:ext uri="{FF2B5EF4-FFF2-40B4-BE49-F238E27FC236}">
                  <a16:creationId xmlns:a16="http://schemas.microsoft.com/office/drawing/2014/main" id="{C4AD71C4-C510-8BDC-15BB-67F87860B161}"/>
                </a:ext>
              </a:extLst>
            </p:cNvPr>
            <p:cNvGrpSpPr>
              <a:grpSpLocks/>
            </p:cNvGrpSpPr>
            <p:nvPr/>
          </p:nvGrpSpPr>
          <p:grpSpPr bwMode="auto">
            <a:xfrm>
              <a:off x="488950" y="4713288"/>
              <a:ext cx="8291513" cy="1406525"/>
              <a:chOff x="1350" y="2060"/>
              <a:chExt cx="3035" cy="208"/>
            </a:xfrm>
          </p:grpSpPr>
          <p:sp>
            <p:nvSpPr>
              <p:cNvPr id="44" name="AutoShape 23">
                <a:extLst>
                  <a:ext uri="{FF2B5EF4-FFF2-40B4-BE49-F238E27FC236}">
                    <a16:creationId xmlns:a16="http://schemas.microsoft.com/office/drawing/2014/main" id="{E1B9B333-720B-87A0-192F-FD96567A4803}"/>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br>
                  <a:rPr lang="en-US" altLang="en-US" sz="1400">
                    <a:solidFill>
                      <a:schemeClr val="bg1"/>
                    </a:solidFill>
                    <a:latin typeface="Roboto" panose="02000000000000000000" pitchFamily="2" charset="0"/>
                    <a:ea typeface="Roboto" panose="02000000000000000000" pitchFamily="2" charset="0"/>
                  </a:rPr>
                </a:br>
                <a:r>
                  <a:rPr lang="en-US" altLang="en-US" sz="1400">
                    <a:solidFill>
                      <a:schemeClr val="bg1"/>
                    </a:solidFill>
                    <a:latin typeface="Roboto" panose="02000000000000000000" pitchFamily="2" charset="0"/>
                    <a:ea typeface="Roboto" panose="02000000000000000000" pitchFamily="2" charset="0"/>
                  </a:rPr>
                  <a:t>Follow-up</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Plan</a:t>
                </a:r>
              </a:p>
            </p:txBody>
          </p:sp>
          <p:sp>
            <p:nvSpPr>
              <p:cNvPr id="45" name="AutoShape 24">
                <a:extLst>
                  <a:ext uri="{FF2B5EF4-FFF2-40B4-BE49-F238E27FC236}">
                    <a16:creationId xmlns:a16="http://schemas.microsoft.com/office/drawing/2014/main" id="{B1994422-BD57-3600-010B-BBBC5F2A04CC}"/>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Act on</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IMPROVEMENT Cards</a:t>
                </a:r>
              </a:p>
            </p:txBody>
          </p:sp>
          <p:sp>
            <p:nvSpPr>
              <p:cNvPr id="46" name="AutoShape 25">
                <a:extLst>
                  <a:ext uri="{FF2B5EF4-FFF2-40B4-BE49-F238E27FC236}">
                    <a16:creationId xmlns:a16="http://schemas.microsoft.com/office/drawing/2014/main" id="{04C76D58-B766-4F78-E894-AAC01AEE7595}"/>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IMPROVEMENT Cards</a:t>
                </a:r>
              </a:p>
            </p:txBody>
          </p:sp>
          <p:sp>
            <p:nvSpPr>
              <p:cNvPr id="47" name="AutoShape 26">
                <a:extLst>
                  <a:ext uri="{FF2B5EF4-FFF2-40B4-BE49-F238E27FC236}">
                    <a16:creationId xmlns:a16="http://schemas.microsoft.com/office/drawing/2014/main" id="{06A0BC45-B631-21DC-24FF-AA1D2D4E0057}"/>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FACT </a:t>
                </a:r>
                <a:br>
                  <a:rPr lang="en-US" altLang="en-US" sz="1400">
                    <a:solidFill>
                      <a:schemeClr val="bg1"/>
                    </a:solidFill>
                    <a:latin typeface="Roboto" panose="02000000000000000000" pitchFamily="2" charset="0"/>
                    <a:ea typeface="Roboto" panose="02000000000000000000" pitchFamily="2" charset="0"/>
                  </a:rPr>
                </a:br>
                <a:r>
                  <a:rPr lang="en-US" altLang="en-US" sz="1400">
                    <a:solidFill>
                      <a:schemeClr val="bg1"/>
                    </a:solidFill>
                    <a:latin typeface="Roboto" panose="02000000000000000000" pitchFamily="2" charset="0"/>
                    <a:ea typeface="Roboto" panose="02000000000000000000" pitchFamily="2" charset="0"/>
                  </a:rPr>
                  <a:t>Cards </a:t>
                </a:r>
              </a:p>
            </p:txBody>
          </p:sp>
          <p:sp>
            <p:nvSpPr>
              <p:cNvPr id="63" name="AutoShape 27">
                <a:extLst>
                  <a:ext uri="{FF2B5EF4-FFF2-40B4-BE49-F238E27FC236}">
                    <a16:creationId xmlns:a16="http://schemas.microsoft.com/office/drawing/2014/main" id="{7B44AC3C-6412-1BA9-3998-C68B85E73D78}"/>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Create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CEDAC Diagram / Fishbone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Chart </a:t>
                </a:r>
              </a:p>
            </p:txBody>
          </p:sp>
        </p:grpSp>
        <p:sp>
          <p:nvSpPr>
            <p:cNvPr id="64" name="Line 28">
              <a:extLst>
                <a:ext uri="{FF2B5EF4-FFF2-40B4-BE49-F238E27FC236}">
                  <a16:creationId xmlns:a16="http://schemas.microsoft.com/office/drawing/2014/main" id="{33BCD813-3699-BE4C-38CE-E4F23FFD37E8}"/>
                </a:ext>
              </a:extLst>
            </p:cNvPr>
            <p:cNvSpPr>
              <a:spLocks noChangeShapeType="1"/>
            </p:cNvSpPr>
            <p:nvPr/>
          </p:nvSpPr>
          <p:spPr bwMode="auto">
            <a:xfrm flipH="1">
              <a:off x="466725" y="3581400"/>
              <a:ext cx="1816100" cy="1120775"/>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5" name="Line 29">
              <a:extLst>
                <a:ext uri="{FF2B5EF4-FFF2-40B4-BE49-F238E27FC236}">
                  <a16:creationId xmlns:a16="http://schemas.microsoft.com/office/drawing/2014/main" id="{45A33DDA-5E6A-1875-B144-40FC31213BD2}"/>
                </a:ext>
              </a:extLst>
            </p:cNvPr>
            <p:cNvSpPr>
              <a:spLocks noChangeShapeType="1"/>
            </p:cNvSpPr>
            <p:nvPr/>
          </p:nvSpPr>
          <p:spPr bwMode="auto">
            <a:xfrm>
              <a:off x="4127500" y="3571875"/>
              <a:ext cx="4462463" cy="114458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6" name="Text Box 30">
              <a:extLst>
                <a:ext uri="{FF2B5EF4-FFF2-40B4-BE49-F238E27FC236}">
                  <a16:creationId xmlns:a16="http://schemas.microsoft.com/office/drawing/2014/main" id="{68703CE0-7E19-11BF-7007-93B753C0D44C}"/>
                </a:ext>
              </a:extLst>
            </p:cNvPr>
            <p:cNvSpPr txBox="1">
              <a:spLocks noChangeArrowheads="1"/>
            </p:cNvSpPr>
            <p:nvPr/>
          </p:nvSpPr>
          <p:spPr bwMode="auto">
            <a:xfrm>
              <a:off x="3143812" y="4465638"/>
              <a:ext cx="1984839"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CEDAC Process Steps 4-8</a:t>
              </a:r>
            </a:p>
          </p:txBody>
        </p:sp>
      </p:grpSp>
    </p:spTree>
    <p:extLst>
      <p:ext uri="{BB962C8B-B14F-4D97-AF65-F5344CB8AC3E}">
        <p14:creationId xmlns:p14="http://schemas.microsoft.com/office/powerpoint/2010/main" val="60662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CEDAC Example: Cash Collection Process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PROBLEM STATEMENT</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rmAutofit fontScale="70000" lnSpcReduction="20000"/>
          </a:bodyPr>
          <a:lstStyle/>
          <a:p>
            <a:r>
              <a:rPr lang="en-US" dirty="0"/>
              <a:t>Monthly performance is not consistent – bad results come after good and the key drivers for this inconsistency are not well understood</a:t>
            </a:r>
          </a:p>
          <a:p>
            <a:r>
              <a:rPr lang="en-US" dirty="0"/>
              <a:t>Collections performance often falls short of targets set / does not meet customer expectations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TARGET</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70000" lnSpcReduction="20000"/>
          </a:bodyPr>
          <a:lstStyle/>
          <a:p>
            <a:r>
              <a:rPr lang="en-US" dirty="0"/>
              <a:t>Improve customer satisfaction by creating a collections process capable of consistently hitting established targets. Want to consistently hit 90% or better for current debt %.</a:t>
            </a:r>
          </a:p>
          <a:p>
            <a:r>
              <a:rPr lang="en-US" dirty="0"/>
              <a:t>Reduce month to month variation in performance and improve consistency of results.</a:t>
            </a:r>
          </a:p>
          <a:p>
            <a:r>
              <a:rPr lang="en-US" dirty="0"/>
              <a:t>Put a simple, robust collections model in place to be replicated in other business streams.</a:t>
            </a:r>
          </a:p>
          <a:p>
            <a:r>
              <a:rPr lang="en-US" dirty="0"/>
              <a:t>Create an improvement model (the event and tools) that can be leveraged across other business streams.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7" name="Group 6">
            <a:extLst>
              <a:ext uri="{FF2B5EF4-FFF2-40B4-BE49-F238E27FC236}">
                <a16:creationId xmlns:a16="http://schemas.microsoft.com/office/drawing/2014/main" id="{50ED0378-32F9-E431-50CB-E70A4626C52E}"/>
              </a:ext>
            </a:extLst>
          </p:cNvPr>
          <p:cNvGrpSpPr/>
          <p:nvPr/>
        </p:nvGrpSpPr>
        <p:grpSpPr>
          <a:xfrm>
            <a:off x="838200" y="297639"/>
            <a:ext cx="3396162" cy="306433"/>
            <a:chOff x="838200" y="297639"/>
            <a:chExt cx="3396162" cy="306433"/>
          </a:xfrm>
        </p:grpSpPr>
        <p:grpSp>
          <p:nvGrpSpPr>
            <p:cNvPr id="9" name="Group 8">
              <a:extLst>
                <a:ext uri="{FF2B5EF4-FFF2-40B4-BE49-F238E27FC236}">
                  <a16:creationId xmlns:a16="http://schemas.microsoft.com/office/drawing/2014/main" id="{323E81ED-2435-C8F9-5124-B606E86EEE51}"/>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FDEAC907-8DE9-CF26-A8C8-44228462F34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CBD3A2A0-0413-A3C4-167F-C5040FA2329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820DDC70-7E1E-AE34-11D4-01AA2F3FE9AC}"/>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60FB9D3B-AAE1-2962-B66E-587C29D1FB3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029C1468-6B97-53ED-6FC5-B0717785831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81692B60-5300-9D56-18A5-987DE08267B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D47FCEEE-FB3C-E68D-46EB-F76F8395350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4020147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CEDAC Example: Cash Collection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grpSp>
        <p:nvGrpSpPr>
          <p:cNvPr id="3" name="Group 2">
            <a:extLst>
              <a:ext uri="{FF2B5EF4-FFF2-40B4-BE49-F238E27FC236}">
                <a16:creationId xmlns:a16="http://schemas.microsoft.com/office/drawing/2014/main" id="{F2573F34-490F-296C-9DAE-8A12729E272D}"/>
              </a:ext>
            </a:extLst>
          </p:cNvPr>
          <p:cNvGrpSpPr/>
          <p:nvPr/>
        </p:nvGrpSpPr>
        <p:grpSpPr>
          <a:xfrm>
            <a:off x="838200" y="297639"/>
            <a:ext cx="3396162" cy="306433"/>
            <a:chOff x="838200" y="297639"/>
            <a:chExt cx="3396162" cy="306433"/>
          </a:xfrm>
        </p:grpSpPr>
        <p:grpSp>
          <p:nvGrpSpPr>
            <p:cNvPr id="5" name="Group 4">
              <a:extLst>
                <a:ext uri="{FF2B5EF4-FFF2-40B4-BE49-F238E27FC236}">
                  <a16:creationId xmlns:a16="http://schemas.microsoft.com/office/drawing/2014/main" id="{50E764E2-9BAB-25C4-3DE7-64CE9B983644}"/>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BC475496-02C4-DF63-2A24-5615C6C74F6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A951251A-82A3-4C16-9C88-9DADA71949D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B60F499-1C75-FACC-1068-D6DE1B7AAAEC}"/>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BCB63D2-0D47-4B53-7168-2ECF55B03F3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896D4A1-D8DE-D26C-C3D7-40DFB6C990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3DBF1DD-60F8-08EA-C388-33A9E64A8B5E}"/>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AF7DC0B9-DE33-0841-DFF6-68A867968161}"/>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pic>
        <p:nvPicPr>
          <p:cNvPr id="13" name="Picture 3" descr="IMG00027">
            <a:extLst>
              <a:ext uri="{FF2B5EF4-FFF2-40B4-BE49-F238E27FC236}">
                <a16:creationId xmlns:a16="http://schemas.microsoft.com/office/drawing/2014/main" id="{F2D8B8A2-9586-AD1F-5CD5-F37B2EEA8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82" t="14209" r="3249" b="21332"/>
          <a:stretch>
            <a:fillRect/>
          </a:stretch>
        </p:blipFill>
        <p:spPr bwMode="auto">
          <a:xfrm>
            <a:off x="1980565" y="1783428"/>
            <a:ext cx="8230870" cy="445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5207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CEDAC Example: Cash Collection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pPr marL="0" indent="0">
              <a:buNone/>
            </a:pPr>
            <a:r>
              <a:rPr lang="en-US" b="1" dirty="0"/>
              <a:t>Summary of Findings:</a:t>
            </a:r>
          </a:p>
          <a:p>
            <a:r>
              <a:rPr lang="en-US" dirty="0"/>
              <a:t>52 potential root causes identified (FACT Cards)</a:t>
            </a:r>
          </a:p>
          <a:p>
            <a:r>
              <a:rPr lang="en-US" dirty="0"/>
              <a:t>Collections process too long</a:t>
            </a:r>
          </a:p>
          <a:p>
            <a:r>
              <a:rPr lang="en-US" dirty="0"/>
              <a:t>Lack of clear information being secured prior to the billing process </a:t>
            </a:r>
          </a:p>
          <a:p>
            <a:r>
              <a:rPr lang="en-US" dirty="0"/>
              <a:t>Collectors’ techniques and skill levels vary (e.g. escalation process)</a:t>
            </a:r>
          </a:p>
          <a:p>
            <a:r>
              <a:rPr lang="en-US" dirty="0"/>
              <a:t>Inconsistent knowledge of products by the Collectors</a:t>
            </a:r>
          </a:p>
          <a:p>
            <a:r>
              <a:rPr lang="en-US" dirty="0"/>
              <a:t>Stability and response time issues with system</a:t>
            </a:r>
          </a:p>
          <a:p>
            <a:r>
              <a:rPr lang="en-US" dirty="0"/>
              <a:t>All collection tools functionality not being used (e.g. Reminders)</a:t>
            </a:r>
          </a:p>
          <a:p>
            <a:r>
              <a:rPr lang="en-US" dirty="0"/>
              <a:t>All steps in the collections process not being followed consistently</a:t>
            </a:r>
          </a:p>
          <a:p>
            <a:r>
              <a:rPr lang="en-US" dirty="0"/>
              <a:t>Every customer, regardless of dollar value, follows the same collection process – no formal method for prioritization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1666465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CEDAC Example: Cash Collection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pPr marL="0" indent="0">
              <a:buNone/>
            </a:pPr>
            <a:r>
              <a:rPr lang="en-US" b="1" dirty="0"/>
              <a:t>Summary of Key Improvements:</a:t>
            </a:r>
          </a:p>
          <a:p>
            <a:r>
              <a:rPr lang="en-US" dirty="0"/>
              <a:t>23 Improvements identified (18 to be started immediately)</a:t>
            </a:r>
          </a:p>
          <a:p>
            <a:r>
              <a:rPr lang="en-US" dirty="0"/>
              <a:t>Collector training (techniques, tools, products)</a:t>
            </a:r>
          </a:p>
          <a:p>
            <a:r>
              <a:rPr lang="en-US" dirty="0"/>
              <a:t>Cleanse unneeded data from system (e.g. old reminders)</a:t>
            </a:r>
          </a:p>
          <a:p>
            <a:r>
              <a:rPr lang="en-US" dirty="0"/>
              <a:t>Bulk upload of latest activity information into system</a:t>
            </a:r>
          </a:p>
          <a:p>
            <a:r>
              <a:rPr lang="en-US" dirty="0"/>
              <a:t>Automation of dunning letters and statements</a:t>
            </a:r>
          </a:p>
          <a:p>
            <a:r>
              <a:rPr lang="en-US" dirty="0"/>
              <a:t>Work with subsidiaries to improve the quality of information</a:t>
            </a:r>
          </a:p>
          <a:p>
            <a:r>
              <a:rPr lang="en-US" dirty="0"/>
              <a:t>Implement tracking system for telephone calls</a:t>
            </a:r>
          </a:p>
          <a:p>
            <a:r>
              <a:rPr lang="en-US" dirty="0"/>
              <a:t>Capture customer payment history to better enable future collections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3529772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CEDAC Step 1 - Define the Problem</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elements of a problem statement</a:t>
            </a:r>
          </a:p>
          <a:p>
            <a:r>
              <a:rPr lang="en-US" sz="2400" dirty="0"/>
              <a:t>Define problem in terms of its effect</a:t>
            </a:r>
          </a:p>
          <a:p>
            <a:r>
              <a:rPr lang="en-US" sz="2400" dirty="0"/>
              <a:t>Identify common pitfalls</a:t>
            </a:r>
          </a:p>
          <a:p>
            <a:r>
              <a:rPr lang="en-US" sz="2400" dirty="0"/>
              <a:t>Critique sample problem statements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23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1767653"/>
            <a:ext cx="312039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34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Elements of a CEDAC Problem Statement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 Problem Statement should describe the problem in terms of its specific </a:t>
            </a:r>
            <a:r>
              <a:rPr lang="en-US" u="sng" dirty="0"/>
              <a:t>effect</a:t>
            </a:r>
            <a:r>
              <a:rPr lang="en-US" dirty="0"/>
              <a:t> on the process or on the business</a:t>
            </a:r>
          </a:p>
          <a:p>
            <a:r>
              <a:rPr lang="en-US" dirty="0"/>
              <a:t>Should be clear and concise – one sentence ideal</a:t>
            </a:r>
          </a:p>
          <a:p>
            <a:r>
              <a:rPr lang="en-US" dirty="0"/>
              <a:t>Should be as specific as possible – to ensure that we are solving one problem and not many</a:t>
            </a:r>
          </a:p>
          <a:p>
            <a:r>
              <a:rPr lang="en-US" dirty="0"/>
              <a:t>Should be based on data and quantifiable</a:t>
            </a:r>
          </a:p>
          <a:p>
            <a:r>
              <a:rPr lang="en-US" dirty="0"/>
              <a:t>Should not contain embedded solutions or perceived root causes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452517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dirty="0"/>
              <a:t>Too vague or too large</a:t>
            </a:r>
          </a:p>
          <a:p>
            <a:pPr lvl="1"/>
            <a:r>
              <a:rPr lang="en-US" b="1" u="sng" dirty="0"/>
              <a:t>Example</a:t>
            </a:r>
            <a:r>
              <a:rPr lang="en-US" dirty="0"/>
              <a:t>: </a:t>
            </a:r>
            <a:r>
              <a:rPr lang="en-US" i="1" dirty="0">
                <a:solidFill>
                  <a:schemeClr val="accent5"/>
                </a:solidFill>
              </a:rPr>
              <a:t>Customer satisfaction is an all-time low</a:t>
            </a:r>
          </a:p>
          <a:p>
            <a:pPr lvl="1"/>
            <a:r>
              <a:rPr lang="en-US" b="1" u="sng" dirty="0"/>
              <a:t>Remedy</a:t>
            </a:r>
            <a:r>
              <a:rPr lang="en-US" dirty="0"/>
              <a:t>: Redefine the problem so that it is clear and concise, can be easily validated by the stakeholders and will better focus the scope of the CEDAC project.</a:t>
            </a:r>
          </a:p>
          <a:p>
            <a:pPr lvl="1"/>
            <a:r>
              <a:rPr lang="en-US" b="1" u="sng" dirty="0"/>
              <a:t>Better Example</a:t>
            </a:r>
            <a:r>
              <a:rPr lang="en-US" dirty="0"/>
              <a:t>: </a:t>
            </a:r>
            <a:r>
              <a:rPr lang="en-US" i="1" dirty="0">
                <a:solidFill>
                  <a:schemeClr val="accent5"/>
                </a:solidFill>
              </a:rPr>
              <a:t>The percentage of customer applications processed and decisioned within the 30 minute committed response time has fallen to 73% in the past month as measured by the Daily Response Time Report</a:t>
            </a:r>
          </a:p>
          <a:p>
            <a:r>
              <a:rPr lang="en-US" dirty="0"/>
              <a:t>Not specific enough</a:t>
            </a:r>
          </a:p>
          <a:p>
            <a:pPr lvl="1"/>
            <a:r>
              <a:rPr lang="en-US" b="1" u="sng" dirty="0"/>
              <a:t>Example</a:t>
            </a:r>
            <a:r>
              <a:rPr lang="en-US" dirty="0"/>
              <a:t>: </a:t>
            </a:r>
            <a:r>
              <a:rPr lang="en-US" i="1" dirty="0">
                <a:solidFill>
                  <a:schemeClr val="accent5"/>
                </a:solidFill>
              </a:rPr>
              <a:t>25% of applications submitted are incomplete</a:t>
            </a:r>
          </a:p>
          <a:p>
            <a:pPr lvl="1"/>
            <a:r>
              <a:rPr lang="en-US" b="1" u="sng" dirty="0"/>
              <a:t>Remedy</a:t>
            </a:r>
            <a:r>
              <a:rPr lang="en-US" dirty="0"/>
              <a:t>: Narrow the problem to where the effect has specifically been observed to avoid a CEDAC scope that is larger than necessary.</a:t>
            </a:r>
          </a:p>
          <a:p>
            <a:pPr lvl="1"/>
            <a:r>
              <a:rPr lang="en-US" b="1" u="sng" dirty="0"/>
              <a:t>Better Example</a:t>
            </a:r>
            <a:r>
              <a:rPr lang="en-US" dirty="0"/>
              <a:t>: </a:t>
            </a:r>
            <a:r>
              <a:rPr lang="en-US" i="1" dirty="0">
                <a:solidFill>
                  <a:schemeClr val="accent5"/>
                </a:solidFill>
              </a:rPr>
              <a:t>25% of applications submitted are missing complete customer contact information, 18% are missing valid proof of residency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868824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Problem identified as the absence of the solution</a:t>
            </a:r>
          </a:p>
          <a:p>
            <a:pPr lvl="1"/>
            <a:r>
              <a:rPr lang="en-US" b="1" u="sng" dirty="0"/>
              <a:t>Example</a:t>
            </a:r>
            <a:r>
              <a:rPr lang="en-US" dirty="0"/>
              <a:t>: </a:t>
            </a:r>
            <a:r>
              <a:rPr lang="en-US" i="1" dirty="0">
                <a:solidFill>
                  <a:schemeClr val="accent5"/>
                </a:solidFill>
              </a:rPr>
              <a:t>We don’t have good Project Management System to track and manage our software update projects</a:t>
            </a:r>
          </a:p>
          <a:p>
            <a:pPr lvl="1"/>
            <a:r>
              <a:rPr lang="en-US" b="1" u="sng" dirty="0"/>
              <a:t>Remedy</a:t>
            </a:r>
            <a:r>
              <a:rPr lang="en-US" dirty="0"/>
              <a:t>: If the embedded solution (e.g. new project management software) is really all that is needed, then don’t do CEDAC – just implement the solution. Otherwise, get away from the solution and restate the problem in terms of its effect.</a:t>
            </a:r>
          </a:p>
          <a:p>
            <a:pPr lvl="1"/>
            <a:r>
              <a:rPr lang="en-US" b="1" u="sng" dirty="0"/>
              <a:t>Better Example</a:t>
            </a:r>
            <a:r>
              <a:rPr lang="en-US" dirty="0"/>
              <a:t>: </a:t>
            </a:r>
            <a:r>
              <a:rPr lang="en-US" i="1" dirty="0">
                <a:solidFill>
                  <a:schemeClr val="accent5"/>
                </a:solidFill>
              </a:rPr>
              <a:t>80% of our software update projects have had cost overruns by more than 20% and 60% have missed their delivery dates by at least a month</a:t>
            </a:r>
          </a:p>
          <a:p>
            <a:r>
              <a:rPr lang="en-US" dirty="0"/>
              <a:t>Root causes embedded in the Problem Statement</a:t>
            </a:r>
          </a:p>
          <a:p>
            <a:pPr lvl="1"/>
            <a:r>
              <a:rPr lang="en-US" b="1" u="sng" dirty="0"/>
              <a:t>Example</a:t>
            </a:r>
            <a:r>
              <a:rPr lang="en-US" dirty="0"/>
              <a:t>: </a:t>
            </a:r>
            <a:r>
              <a:rPr lang="en-US" i="1" dirty="0">
                <a:solidFill>
                  <a:schemeClr val="accent5"/>
                </a:solidFill>
              </a:rPr>
              <a:t>Poor maintenance practices are causing scanning machine #4 to produce defects</a:t>
            </a:r>
          </a:p>
          <a:p>
            <a:pPr lvl="1"/>
            <a:r>
              <a:rPr lang="en-US" b="1" u="sng" dirty="0"/>
              <a:t>Remedy</a:t>
            </a:r>
            <a:r>
              <a:rPr lang="en-US" dirty="0"/>
              <a:t>: This is a hypothesis at best that will divert the CEDAC team from discovering other possibilities which may be the true root cause. Remove the causal reference and re-state the problem in terms of its effect.</a:t>
            </a:r>
          </a:p>
          <a:p>
            <a:pPr lvl="1"/>
            <a:r>
              <a:rPr lang="en-US" b="1" u="sng" dirty="0"/>
              <a:t>Better Example</a:t>
            </a:r>
            <a:r>
              <a:rPr lang="en-US" dirty="0"/>
              <a:t>: </a:t>
            </a:r>
            <a:r>
              <a:rPr lang="en-US" i="1" dirty="0">
                <a:solidFill>
                  <a:schemeClr val="accent5"/>
                </a:solidFill>
              </a:rPr>
              <a:t>The scanning operation performed by scanning machine #4 is experiencing a defect rate of 22% on the mortgage documentation packages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082661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Multiple problems (effects)</a:t>
            </a:r>
          </a:p>
          <a:p>
            <a:pPr lvl="1"/>
            <a:r>
              <a:rPr lang="en-US" b="1" u="sng" dirty="0"/>
              <a:t>Example</a:t>
            </a:r>
            <a:r>
              <a:rPr lang="en-US" dirty="0"/>
              <a:t>: </a:t>
            </a:r>
            <a:r>
              <a:rPr lang="en-US" i="1" dirty="0">
                <a:solidFill>
                  <a:schemeClr val="accent5"/>
                </a:solidFill>
              </a:rPr>
              <a:t>Employee turnover in the data entry has risen to 28% over the last year causing data accuracy to fall to 73%</a:t>
            </a:r>
          </a:p>
          <a:p>
            <a:pPr lvl="1"/>
            <a:r>
              <a:rPr lang="en-US" b="1" u="sng" dirty="0"/>
              <a:t>Remedy</a:t>
            </a:r>
            <a:r>
              <a:rPr lang="en-US" dirty="0"/>
              <a:t>: While these two problems may seem to be related, they are really separate problems with different solutions (countermeasures). Separate into two CEDAC projects with separate problem statements. This also removes the causal relationship that is implied.</a:t>
            </a:r>
          </a:p>
          <a:p>
            <a:pPr lvl="1"/>
            <a:r>
              <a:rPr lang="en-US" b="1" u="sng" dirty="0"/>
              <a:t>Better Example (CEDAC #1)</a:t>
            </a:r>
            <a:r>
              <a:rPr lang="en-US" dirty="0"/>
              <a:t>: </a:t>
            </a:r>
            <a:r>
              <a:rPr lang="en-US" i="1" dirty="0">
                <a:solidFill>
                  <a:schemeClr val="accent5"/>
                </a:solidFill>
              </a:rPr>
              <a:t>Employee turnover in the data entry operation has risen to 28% over the last year</a:t>
            </a:r>
          </a:p>
          <a:p>
            <a:pPr lvl="1"/>
            <a:r>
              <a:rPr lang="en-US" b="1" u="sng" dirty="0"/>
              <a:t>Better Example (CEDAC #2)</a:t>
            </a:r>
            <a:r>
              <a:rPr lang="en-US" dirty="0"/>
              <a:t>: </a:t>
            </a:r>
            <a:r>
              <a:rPr lang="en-US" i="1" dirty="0">
                <a:solidFill>
                  <a:schemeClr val="accent5"/>
                </a:solidFill>
              </a:rPr>
              <a:t>Data accuracy in the customer master data base has fallen to 73% as measured by daily audit reports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896999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fr-FR" sz="2800" dirty="0">
                <a:latin typeface="Roboto Medium"/>
                <a:ea typeface="Roboto Medium"/>
                <a:cs typeface="Roboto Medium"/>
              </a:rPr>
              <a:t>CEDAC </a:t>
            </a:r>
            <a:r>
              <a:rPr lang="fr-FR" sz="2800" dirty="0" err="1">
                <a:latin typeface="Roboto Medium"/>
                <a:ea typeface="Roboto Medium"/>
                <a:cs typeface="Roboto Medium"/>
              </a:rPr>
              <a:t>Step</a:t>
            </a:r>
            <a:r>
              <a:rPr lang="fr-FR" sz="2800" dirty="0">
                <a:latin typeface="Roboto Medium"/>
                <a:ea typeface="Roboto Medium"/>
                <a:cs typeface="Roboto Medium"/>
              </a:rPr>
              <a:t> 1 </a:t>
            </a:r>
            <a:r>
              <a:rPr lang="fr-FR" sz="2800" dirty="0" err="1">
                <a:latin typeface="Roboto Medium"/>
                <a:ea typeface="Roboto Medium"/>
                <a:cs typeface="Roboto Medium"/>
              </a:rPr>
              <a:t>Exercise</a:t>
            </a:r>
            <a:r>
              <a:rPr lang="fr-FR" sz="2800" dirty="0">
                <a:latin typeface="Roboto Medium"/>
                <a:ea typeface="Roboto Medium"/>
                <a:cs typeface="Roboto Medium"/>
              </a:rPr>
              <a:t>: Critique </a:t>
            </a:r>
            <a:r>
              <a:rPr lang="fr-FR" sz="2800" dirty="0" err="1">
                <a:latin typeface="Roboto Medium"/>
                <a:ea typeface="Roboto Medium"/>
                <a:cs typeface="Roboto Medium"/>
              </a:rPr>
              <a:t>sample</a:t>
            </a:r>
            <a:r>
              <a:rPr lang="fr-FR" sz="2800" dirty="0">
                <a:latin typeface="Roboto Medium"/>
                <a:ea typeface="Roboto Medium"/>
                <a:cs typeface="Roboto Medium"/>
              </a:rPr>
              <a:t> </a:t>
            </a:r>
            <a:r>
              <a:rPr lang="fr-FR" sz="2800" dirty="0" err="1">
                <a:latin typeface="Roboto Medium"/>
                <a:ea typeface="Roboto Medium"/>
                <a:cs typeface="Roboto Medium"/>
              </a:rPr>
              <a:t>problem</a:t>
            </a:r>
            <a:r>
              <a:rPr lang="fr-FR" sz="2800" dirty="0">
                <a:latin typeface="Roboto Medium"/>
                <a:ea typeface="Roboto Medium"/>
                <a:cs typeface="Roboto Medium"/>
              </a:rPr>
              <a:t> </a:t>
            </a:r>
            <a:r>
              <a:rPr lang="fr-FR" sz="2800" dirty="0" err="1">
                <a:latin typeface="Roboto Medium"/>
                <a:ea typeface="Roboto Medium"/>
                <a:cs typeface="Roboto Medium"/>
              </a:rPr>
              <a:t>statements</a:t>
            </a:r>
            <a:endParaRPr lang="en-US" sz="2800" dirty="0">
              <a:latin typeface="Roboto Medium"/>
              <a:ea typeface="Roboto Medium"/>
              <a:cs typeface="Roboto Medium"/>
            </a:endParaRP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74598"/>
            <a:ext cx="9722342" cy="37959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sample problem statements, critique and rewrite if necessary each problem statement.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critique each of the problem statements on the following slide against the criteria outlined on the previous slides.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If necessary, re-write the problem statements to make more effective.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evaluation for each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009474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Sample Problem Statements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18970311"/>
              </p:ext>
            </p:extLst>
          </p:nvPr>
        </p:nvGraphicFramePr>
        <p:xfrm>
          <a:off x="1419853" y="1902863"/>
          <a:ext cx="9352295" cy="4166820"/>
        </p:xfrm>
        <a:graphic>
          <a:graphicData uri="http://schemas.openxmlformats.org/drawingml/2006/table">
            <a:tbl>
              <a:tblPr/>
              <a:tblGrid>
                <a:gridCol w="4874289">
                  <a:extLst>
                    <a:ext uri="{9D8B030D-6E8A-4147-A177-3AD203B41FA5}">
                      <a16:colId xmlns:a16="http://schemas.microsoft.com/office/drawing/2014/main" val="20000"/>
                    </a:ext>
                  </a:extLst>
                </a:gridCol>
                <a:gridCol w="4478006">
                  <a:extLst>
                    <a:ext uri="{9D8B030D-6E8A-4147-A177-3AD203B41FA5}">
                      <a16:colId xmlns:a16="http://schemas.microsoft.com/office/drawing/2014/main" val="20002"/>
                    </a:ext>
                  </a:extLst>
                </a:gridCol>
              </a:tblGrid>
              <a:tr h="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Sample Problem Statements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Critique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1. Our monthly sales forecasts are only 60% accurate causing staffing issues in data entry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2.  Poor application layout is causing customers to improperly complete required information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3.  We don’t have a good training course for our field sales to provide the proper products for customers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4.  We need a new a phone system to properly route incoming customer calls to the correct service representatives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34528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1 – Define Problem</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Divide into small groups of 3-4 persons/team</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situation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what you know thus far, create a problem statement</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problem statement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234516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3600" dirty="0"/>
              <a:t>Sample Case Study – “Spencer’s” Restaurant</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a:bodyPr>
          <a:lstStyle/>
          <a:p>
            <a:pPr>
              <a:lnSpc>
                <a:spcPct val="95000"/>
              </a:lnSpc>
            </a:pPr>
            <a:r>
              <a:rPr lang="ja-JP" altLang="en-US" sz="1600" dirty="0"/>
              <a:t>“</a:t>
            </a:r>
            <a:r>
              <a:rPr lang="en-US" altLang="ja-JP" sz="1600" dirty="0"/>
              <a:t>Spencer</a:t>
            </a:r>
            <a:r>
              <a:rPr lang="ja-JP" altLang="en-US" sz="1600" dirty="0"/>
              <a:t>’</a:t>
            </a:r>
            <a:r>
              <a:rPr lang="en-US" altLang="ja-JP" sz="1600" dirty="0"/>
              <a:t>s</a:t>
            </a:r>
            <a:r>
              <a:rPr lang="ja-JP" altLang="en-US" sz="1600" dirty="0"/>
              <a:t>”</a:t>
            </a:r>
            <a:r>
              <a:rPr lang="en-US" altLang="ja-JP" sz="1600" dirty="0"/>
              <a:t> is a popular restaurant in Blacksburg, Virginia, located right next to Virginia Tech.  </a:t>
            </a:r>
          </a:p>
          <a:p>
            <a:pPr>
              <a:lnSpc>
                <a:spcPct val="95000"/>
              </a:lnSpc>
            </a:pPr>
            <a:r>
              <a:rPr lang="en-US" altLang="en-US" sz="1600" dirty="0"/>
              <a:t>It has been open for nine years and has enjoyed increased annual business revenue every year.  </a:t>
            </a:r>
          </a:p>
          <a:p>
            <a:pPr>
              <a:lnSpc>
                <a:spcPct val="95000"/>
              </a:lnSpc>
            </a:pPr>
            <a:r>
              <a:rPr lang="en-US" altLang="en-US" sz="1600" dirty="0"/>
              <a:t>Spencer</a:t>
            </a:r>
            <a:r>
              <a:rPr lang="ja-JP" altLang="en-US" sz="1600" dirty="0"/>
              <a:t>’</a:t>
            </a:r>
            <a:r>
              <a:rPr lang="en-US" altLang="ja-JP" sz="1600" dirty="0"/>
              <a:t>s offers a nice variety of American, Italian and German food.  It is open for lunch and dinner.  </a:t>
            </a:r>
          </a:p>
          <a:p>
            <a:pPr>
              <a:lnSpc>
                <a:spcPct val="95000"/>
              </a:lnSpc>
            </a:pPr>
            <a:r>
              <a:rPr lang="en-US" altLang="en-US" sz="1600" dirty="0"/>
              <a:t>Spencer</a:t>
            </a:r>
            <a:r>
              <a:rPr lang="ja-JP" altLang="en-US" sz="1600" dirty="0"/>
              <a:t>’</a:t>
            </a:r>
            <a:r>
              <a:rPr lang="en-US" altLang="ja-JP" sz="1600" dirty="0"/>
              <a:t>s is looking forward to the return of the college students next month, since that always means more business.   </a:t>
            </a:r>
          </a:p>
          <a:p>
            <a:pPr>
              <a:lnSpc>
                <a:spcPct val="95000"/>
              </a:lnSpc>
            </a:pPr>
            <a:r>
              <a:rPr lang="en-US" altLang="en-US" sz="1600" dirty="0"/>
              <a:t>While the restaurant has had a profitable summer, it has seen a substantial increase in customer complaints. </a:t>
            </a:r>
          </a:p>
          <a:p>
            <a:pPr>
              <a:lnSpc>
                <a:spcPct val="95000"/>
              </a:lnSpc>
            </a:pPr>
            <a:r>
              <a:rPr lang="en-US" altLang="en-US" sz="1600" dirty="0"/>
              <a:t>Spencer</a:t>
            </a:r>
            <a:r>
              <a:rPr lang="ja-JP" altLang="en-US" sz="1600" dirty="0"/>
              <a:t>’</a:t>
            </a:r>
            <a:r>
              <a:rPr lang="en-US" altLang="ja-JP" sz="1600" dirty="0"/>
              <a:t>s has a good rapport with its customers and wants to eliminate these complaints before business ramps back up in the next month.</a:t>
            </a:r>
            <a:endParaRPr lang="en-US" altLang="en-US" sz="16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5" name="Group 4">
            <a:extLst>
              <a:ext uri="{FF2B5EF4-FFF2-40B4-BE49-F238E27FC236}">
                <a16:creationId xmlns:a16="http://schemas.microsoft.com/office/drawing/2014/main" id="{6D806AC5-5CC2-0E87-44F5-56514DA5D380}"/>
              </a:ext>
            </a:extLst>
          </p:cNvPr>
          <p:cNvGrpSpPr/>
          <p:nvPr/>
        </p:nvGrpSpPr>
        <p:grpSpPr>
          <a:xfrm>
            <a:off x="838200" y="297639"/>
            <a:ext cx="4110990" cy="307138"/>
            <a:chOff x="838200" y="297639"/>
            <a:chExt cx="4110990" cy="307138"/>
          </a:xfrm>
        </p:grpSpPr>
        <p:grpSp>
          <p:nvGrpSpPr>
            <p:cNvPr id="7" name="Group 6">
              <a:extLst>
                <a:ext uri="{FF2B5EF4-FFF2-40B4-BE49-F238E27FC236}">
                  <a16:creationId xmlns:a16="http://schemas.microsoft.com/office/drawing/2014/main" id="{6235E924-2902-706A-B34E-189AE9E144D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C0E33A7-8892-C23A-4A1B-BCA32D45872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9967505-2DDD-4D71-F61F-AA9241DA0FC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D42CFBA-CECC-B86E-4629-672BF39FDBC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A02657E9-C9EE-C457-502E-715481FF75E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BDA35210-733F-2EDE-FD5B-34A9E39547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5581DFA6-21B0-3EB3-2A4D-CAAB66E4B2A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420648D0-D054-7623-F4FE-0519C9D05253}"/>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pic>
        <p:nvPicPr>
          <p:cNvPr id="15" name="Object 12">
            <a:extLst>
              <a:ext uri="{FF2B5EF4-FFF2-40B4-BE49-F238E27FC236}">
                <a16:creationId xmlns:a16="http://schemas.microsoft.com/office/drawing/2014/main" id="{D0477016-3475-47D8-2EDA-B0F10E29168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29781" y="2180672"/>
            <a:ext cx="5876059" cy="336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01704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fontScale="90000"/>
          </a:bodyPr>
          <a:lstStyle/>
          <a:p>
            <a:r>
              <a:rPr lang="en-US" sz="4000" dirty="0">
                <a:latin typeface="Roboto Medium"/>
                <a:ea typeface="Roboto Medium"/>
                <a:cs typeface="Roboto Medium"/>
              </a:rPr>
              <a:t>CEDAC Step 2 – Establish and Validate Metrics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Explain why metrics are essential to solving problems</a:t>
            </a:r>
          </a:p>
          <a:p>
            <a:r>
              <a:rPr lang="en-US" sz="2400" dirty="0"/>
              <a:t>Characterize an appropriate metric as it relates to a problem</a:t>
            </a:r>
          </a:p>
          <a:p>
            <a:r>
              <a:rPr lang="en-US" sz="2400" dirty="0"/>
              <a:t>Differentiate quantitative versus qualitative metrics</a:t>
            </a:r>
          </a:p>
          <a:p>
            <a:r>
              <a:rPr lang="en-US" sz="2400" dirty="0"/>
              <a:t>Identify common pitfalls</a:t>
            </a:r>
          </a:p>
          <a:p>
            <a:r>
              <a:rPr lang="en-US" sz="2400" dirty="0"/>
              <a:t>Evaluate sample metrics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62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137297"/>
            <a:ext cx="521208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274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Metrics are Essential</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Provide an objective measure of the “health” of a process and give clear direction for problem solving</a:t>
            </a:r>
          </a:p>
          <a:p>
            <a:pPr lvl="1"/>
            <a:r>
              <a:rPr lang="en-US" dirty="0"/>
              <a:t>Personal health measures:  weight, blood pressure, cholesterol levels</a:t>
            </a:r>
          </a:p>
          <a:p>
            <a:pPr lvl="1"/>
            <a:r>
              <a:rPr lang="en-US" dirty="0"/>
              <a:t>Automobile measures:  oil level, gas mileage, tire pressure, temperature</a:t>
            </a:r>
          </a:p>
          <a:p>
            <a:r>
              <a:rPr lang="en-US" dirty="0"/>
              <a:t>Without metrics, you may not solve the correct problem or you may be “solving” something that isn’t a problem at all!</a:t>
            </a:r>
          </a:p>
          <a:p>
            <a:r>
              <a:rPr lang="en-US" dirty="0"/>
              <a:t>Provide feedback around the impact of the solutions you implement</a:t>
            </a:r>
          </a:p>
          <a:p>
            <a:r>
              <a:rPr lang="en-US" dirty="0"/>
              <a:t>Enable sustainability and further improvement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691248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Characteristics of Appropriate Metrics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200" dirty="0"/>
              <a:t>Measurable and specific</a:t>
            </a:r>
          </a:p>
          <a:p>
            <a:r>
              <a:rPr lang="en-US" sz="3200" dirty="0"/>
              <a:t>Cover appropriate time period reflective of entire process</a:t>
            </a:r>
          </a:p>
          <a:p>
            <a:r>
              <a:rPr lang="en-US" sz="3200" dirty="0"/>
              <a:t>Easy to capture, read and understand</a:t>
            </a:r>
          </a:p>
          <a:p>
            <a:r>
              <a:rPr lang="en-US" sz="3200" dirty="0"/>
              <a:t>Detailed to enable root cause resolution</a:t>
            </a:r>
          </a:p>
          <a:p>
            <a:r>
              <a:rPr lang="en-US" sz="3200" dirty="0"/>
              <a:t>Customer focused</a:t>
            </a:r>
          </a:p>
          <a:p>
            <a:r>
              <a:rPr lang="en-US" sz="3200" dirty="0"/>
              <a:t>Lead to action</a:t>
            </a:r>
          </a:p>
          <a:p>
            <a:r>
              <a:rPr lang="en-US" sz="3200" dirty="0"/>
              <a:t>Include clear ownership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075616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Differentiate Qualitative versus Quantitative metrics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459502157"/>
              </p:ext>
            </p:extLst>
          </p:nvPr>
        </p:nvGraphicFramePr>
        <p:xfrm>
          <a:off x="838201" y="1902863"/>
          <a:ext cx="10706100" cy="3225750"/>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Qualitative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Quantitative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It is hot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It is 100 degrees F</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Quality is poor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First pass yield has decreased from 90% to 60%</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Customers are not happy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 complaints have tripled in the last month</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Morale is low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Employee turnover is 46%</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086985" y="2688273"/>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086984" y="3258315"/>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6" name="AutoShape 30">
            <a:extLst>
              <a:ext uri="{FF2B5EF4-FFF2-40B4-BE49-F238E27FC236}">
                <a16:creationId xmlns:a16="http://schemas.microsoft.com/office/drawing/2014/main" id="{4234F59D-A9E3-626E-8425-C27FC7C0B770}"/>
              </a:ext>
            </a:extLst>
          </p:cNvPr>
          <p:cNvSpPr>
            <a:spLocks noChangeArrowheads="1"/>
          </p:cNvSpPr>
          <p:nvPr/>
        </p:nvSpPr>
        <p:spPr bwMode="auto">
          <a:xfrm>
            <a:off x="5086983" y="4113295"/>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7" name="AutoShape 30">
            <a:extLst>
              <a:ext uri="{FF2B5EF4-FFF2-40B4-BE49-F238E27FC236}">
                <a16:creationId xmlns:a16="http://schemas.microsoft.com/office/drawing/2014/main" id="{DED2207C-EC56-5DDF-3C58-E6613FD00987}"/>
              </a:ext>
            </a:extLst>
          </p:cNvPr>
          <p:cNvSpPr>
            <a:spLocks noChangeArrowheads="1"/>
          </p:cNvSpPr>
          <p:nvPr/>
        </p:nvSpPr>
        <p:spPr bwMode="auto">
          <a:xfrm>
            <a:off x="5087300" y="480954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3725589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Common Pitfalls to Determining Metrics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200" dirty="0"/>
              <a:t>Measurement too broad</a:t>
            </a:r>
          </a:p>
          <a:p>
            <a:r>
              <a:rPr lang="en-US" sz="3200" dirty="0"/>
              <a:t>Metric not actionable</a:t>
            </a:r>
          </a:p>
          <a:p>
            <a:r>
              <a:rPr lang="en-US" sz="3200" dirty="0"/>
              <a:t>Data not taken over long enough period</a:t>
            </a:r>
          </a:p>
          <a:p>
            <a:r>
              <a:rPr lang="en-US" sz="3200" dirty="0"/>
              <a:t>Data too difficult to capture </a:t>
            </a:r>
          </a:p>
          <a:p>
            <a:r>
              <a:rPr lang="en-US" sz="3200" dirty="0"/>
              <a:t>Inconsistent data collection</a:t>
            </a:r>
          </a:p>
          <a:p>
            <a:r>
              <a:rPr lang="en-US" sz="3200" dirty="0"/>
              <a:t>Lack of a goal</a:t>
            </a:r>
          </a:p>
          <a:p>
            <a:r>
              <a:rPr lang="en-US" sz="3200" dirty="0"/>
              <a:t>Too many items in a “miscellaneous” category</a:t>
            </a:r>
          </a:p>
          <a:p>
            <a:r>
              <a:rPr lang="en-US" sz="3200" dirty="0"/>
              <a:t>Metric inadequately deployed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935010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fr-FR" sz="2800" dirty="0">
                <a:latin typeface="Roboto Medium"/>
                <a:ea typeface="Roboto Medium"/>
                <a:cs typeface="Roboto Medium"/>
              </a:rPr>
              <a:t>CEDAC </a:t>
            </a:r>
            <a:r>
              <a:rPr lang="fr-FR" sz="2800" dirty="0" err="1">
                <a:latin typeface="Roboto Medium"/>
                <a:ea typeface="Roboto Medium"/>
                <a:cs typeface="Roboto Medium"/>
              </a:rPr>
              <a:t>Step</a:t>
            </a:r>
            <a:r>
              <a:rPr lang="fr-FR" sz="2800" dirty="0">
                <a:latin typeface="Roboto Medium"/>
                <a:ea typeface="Roboto Medium"/>
                <a:cs typeface="Roboto Medium"/>
              </a:rPr>
              <a:t> 2 </a:t>
            </a:r>
            <a:r>
              <a:rPr lang="fr-FR" sz="2800" dirty="0" err="1">
                <a:latin typeface="Roboto Medium"/>
                <a:ea typeface="Roboto Medium"/>
                <a:cs typeface="Roboto Medium"/>
              </a:rPr>
              <a:t>Exercise</a:t>
            </a:r>
            <a:r>
              <a:rPr lang="fr-FR" sz="2800" dirty="0">
                <a:latin typeface="Roboto Medium"/>
                <a:ea typeface="Roboto Medium"/>
                <a:cs typeface="Roboto Medium"/>
              </a:rPr>
              <a:t>: Critique </a:t>
            </a:r>
            <a:r>
              <a:rPr lang="fr-FR" sz="2800" dirty="0" err="1">
                <a:latin typeface="Roboto Medium"/>
                <a:ea typeface="Roboto Medium"/>
                <a:cs typeface="Roboto Medium"/>
              </a:rPr>
              <a:t>sample</a:t>
            </a:r>
            <a:r>
              <a:rPr lang="fr-FR" sz="2800" dirty="0">
                <a:latin typeface="Roboto Medium"/>
                <a:ea typeface="Roboto Medium"/>
                <a:cs typeface="Roboto Medium"/>
              </a:rPr>
              <a:t> </a:t>
            </a:r>
            <a:r>
              <a:rPr lang="fr-FR" sz="2800" dirty="0" err="1">
                <a:latin typeface="Roboto Medium"/>
                <a:ea typeface="Roboto Medium"/>
                <a:cs typeface="Roboto Medium"/>
              </a:rPr>
              <a:t>metrics</a:t>
            </a:r>
            <a:endParaRPr lang="en-US" sz="2800" dirty="0">
              <a:latin typeface="Roboto Medium"/>
              <a:ea typeface="Roboto Medium"/>
              <a:cs typeface="Roboto Medium"/>
            </a:endParaRP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05321"/>
            <a:ext cx="9722342" cy="718145"/>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sample problem statements and metrics, critique and rewrite if necessary each metric.</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critique each of the metrics as they correspond to the problem statements on the following slide against the criteria outlined on the previous slides.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If necessary, re-write the metrics to make more effective.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evaluation for each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and metric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495684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Exercise: Critique sample metrics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360603015"/>
              </p:ext>
            </p:extLst>
          </p:nvPr>
        </p:nvGraphicFramePr>
        <p:xfrm>
          <a:off x="838201" y="1902863"/>
          <a:ext cx="10706101" cy="3856178"/>
        </p:xfrm>
        <a:graphic>
          <a:graphicData uri="http://schemas.openxmlformats.org/drawingml/2006/table">
            <a:tbl>
              <a:tblPr/>
              <a:tblGrid>
                <a:gridCol w="3668107">
                  <a:extLst>
                    <a:ext uri="{9D8B030D-6E8A-4147-A177-3AD203B41FA5}">
                      <a16:colId xmlns:a16="http://schemas.microsoft.com/office/drawing/2014/main" val="20000"/>
                    </a:ext>
                  </a:extLst>
                </a:gridCol>
                <a:gridCol w="3668107">
                  <a:extLst>
                    <a:ext uri="{9D8B030D-6E8A-4147-A177-3AD203B41FA5}">
                      <a16:colId xmlns:a16="http://schemas.microsoft.com/office/drawing/2014/main" val="853178682"/>
                    </a:ext>
                  </a:extLst>
                </a:gridCol>
                <a:gridCol w="3369887">
                  <a:extLst>
                    <a:ext uri="{9D8B030D-6E8A-4147-A177-3AD203B41FA5}">
                      <a16:colId xmlns:a16="http://schemas.microsoft.com/office/drawing/2014/main" val="20002"/>
                    </a:ext>
                  </a:extLst>
                </a:gridCol>
              </a:tblGrid>
              <a:tr h="121367">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PROBLEM STATEMENT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METRIC</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CRITIQUE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1. The number of incomplete applications submitted has risen to 60% in the past month</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 Callbacks</a:t>
                      </a:r>
                    </a:p>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2. Over the last three months, 85 out of 630 supplier invoices did not have associated purchase orders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Automatic invoice posting</a:t>
                      </a:r>
                    </a:p>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3. 30% of all customer service requests needed more than status calls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 satisfaction</a:t>
                      </a:r>
                    </a:p>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Daily Account Receivables $$</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26732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4. There is inadequate budget to hire a new accountant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Daily Account Receivables $$</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0610316"/>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703339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400" dirty="0">
                <a:latin typeface="Roboto Medium"/>
                <a:ea typeface="Roboto Medium"/>
                <a:cs typeface="Roboto Medium"/>
              </a:rPr>
              <a:t>Case Study Exercise: CEDAC Step 2 – Establish/Validate Metrics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additional metrics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this new data, evaluate and refine your problem statement</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what other data may be necessary to get to root cause and solve the problem</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problem statement and list of potential metrics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157992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and list of other potential metrics–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350751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3600" dirty="0"/>
              <a:t>Sample Case Study – “Spencer’s” Restaurant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5" name="Group 4">
            <a:extLst>
              <a:ext uri="{FF2B5EF4-FFF2-40B4-BE49-F238E27FC236}">
                <a16:creationId xmlns:a16="http://schemas.microsoft.com/office/drawing/2014/main" id="{68E38FC1-CD73-7FDA-3591-DA586749E99B}"/>
              </a:ext>
            </a:extLst>
          </p:cNvPr>
          <p:cNvGrpSpPr/>
          <p:nvPr/>
        </p:nvGrpSpPr>
        <p:grpSpPr>
          <a:xfrm>
            <a:off x="838200" y="297639"/>
            <a:ext cx="4110990" cy="307138"/>
            <a:chOff x="838200" y="297639"/>
            <a:chExt cx="4110990" cy="307138"/>
          </a:xfrm>
        </p:grpSpPr>
        <p:grpSp>
          <p:nvGrpSpPr>
            <p:cNvPr id="7" name="Group 6">
              <a:extLst>
                <a:ext uri="{FF2B5EF4-FFF2-40B4-BE49-F238E27FC236}">
                  <a16:creationId xmlns:a16="http://schemas.microsoft.com/office/drawing/2014/main" id="{88902AC2-ED77-D9BD-3A30-1711156AEA5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DA563EBA-FD59-BC88-EE21-D6F497AED9B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F0DE2CB0-529E-DEEA-F1EE-8FD387480C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7AFF397-B7CE-94DC-7FE0-2693420274E1}"/>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06370C7-6FA3-BF9E-AD9F-49F2E7950B0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90168785-C7E7-6C97-304E-9AA008AE67F1}"/>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B3BF2947-6F2A-B7AC-C33C-7962C0968EE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A0EBB898-3471-87FC-7F4F-2F0A1E98E683}"/>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pic>
        <p:nvPicPr>
          <p:cNvPr id="15" name="Object 3">
            <a:extLst>
              <a:ext uri="{FF2B5EF4-FFF2-40B4-BE49-F238E27FC236}">
                <a16:creationId xmlns:a16="http://schemas.microsoft.com/office/drawing/2014/main" id="{185640B1-3983-A399-9E31-0283A18C08E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21043" y="1783429"/>
            <a:ext cx="5774957" cy="3305016"/>
          </a:xfrm>
        </p:spPr>
      </p:pic>
      <p:pic>
        <p:nvPicPr>
          <p:cNvPr id="16" name="Object 10">
            <a:extLst>
              <a:ext uri="{FF2B5EF4-FFF2-40B4-BE49-F238E27FC236}">
                <a16:creationId xmlns:a16="http://schemas.microsoft.com/office/drawing/2014/main" id="{B6D2A496-BC95-5A65-B497-3C32BF6990D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907455" y="2743994"/>
            <a:ext cx="6139330" cy="3300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7" name="AutoShape 11">
            <a:extLst>
              <a:ext uri="{FF2B5EF4-FFF2-40B4-BE49-F238E27FC236}">
                <a16:creationId xmlns:a16="http://schemas.microsoft.com/office/drawing/2014/main" id="{1CF0F215-2557-077A-FDBA-7791B1390FD9}"/>
              </a:ext>
            </a:extLst>
          </p:cNvPr>
          <p:cNvSpPr>
            <a:spLocks noChangeArrowheads="1"/>
          </p:cNvSpPr>
          <p:nvPr/>
        </p:nvSpPr>
        <p:spPr bwMode="auto">
          <a:xfrm rot="5400000">
            <a:off x="8834245" y="1208843"/>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8" name="AutoShape 12">
            <a:extLst>
              <a:ext uri="{FF2B5EF4-FFF2-40B4-BE49-F238E27FC236}">
                <a16:creationId xmlns:a16="http://schemas.microsoft.com/office/drawing/2014/main" id="{F8E4EE33-157E-DA41-EAEC-B64BE387319C}"/>
              </a:ext>
            </a:extLst>
          </p:cNvPr>
          <p:cNvSpPr>
            <a:spLocks noChangeArrowheads="1"/>
          </p:cNvSpPr>
          <p:nvPr/>
        </p:nvSpPr>
        <p:spPr bwMode="auto">
          <a:xfrm rot="16200000">
            <a:off x="3065646" y="4452423"/>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3674085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3 – Determine Objective Statement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objective in terms of problem solving</a:t>
            </a:r>
          </a:p>
          <a:p>
            <a:r>
              <a:rPr lang="en-US" sz="2400" dirty="0"/>
              <a:t>Explain purpose of setting objective</a:t>
            </a:r>
          </a:p>
          <a:p>
            <a:r>
              <a:rPr lang="en-US" sz="2400" dirty="0"/>
              <a:t>Identify examples of well-defined objectives</a:t>
            </a:r>
          </a:p>
          <a:p>
            <a:r>
              <a:rPr lang="en-US" sz="2400" dirty="0"/>
              <a:t>Review CEDAC charter and validate the problem statement, metrics, and objective</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63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548777"/>
            <a:ext cx="521208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38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Define Objective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sz="3200" dirty="0"/>
              <a:t>“Objective” is the end result you expect from your problem solving activities and actions – the target for problem resolution</a:t>
            </a:r>
          </a:p>
          <a:p>
            <a:r>
              <a:rPr lang="en-US" sz="3200" dirty="0"/>
              <a:t>The objective should be:</a:t>
            </a:r>
          </a:p>
          <a:p>
            <a:pPr lvl="1"/>
            <a:r>
              <a:rPr lang="en-US" sz="2800" dirty="0"/>
              <a:t>Detailed and specific</a:t>
            </a:r>
          </a:p>
          <a:p>
            <a:pPr lvl="1"/>
            <a:r>
              <a:rPr lang="en-US" sz="2800" dirty="0"/>
              <a:t>Action-oriented</a:t>
            </a:r>
          </a:p>
          <a:p>
            <a:pPr lvl="1"/>
            <a:r>
              <a:rPr lang="en-US" sz="2800" dirty="0"/>
              <a:t>Measurable</a:t>
            </a:r>
          </a:p>
          <a:p>
            <a:pPr lvl="1"/>
            <a:r>
              <a:rPr lang="en-US" sz="2800" dirty="0"/>
              <a:t>Aggressive and realistic</a:t>
            </a:r>
          </a:p>
          <a:p>
            <a:pPr lvl="1"/>
            <a:r>
              <a:rPr lang="en-US" sz="2800" dirty="0"/>
              <a:t>Stated within specific time frame</a:t>
            </a:r>
          </a:p>
          <a:p>
            <a:pPr lvl="1"/>
            <a:r>
              <a:rPr lang="en-US" sz="2800" dirty="0"/>
              <a:t>Written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254702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Explain Purpose of Setting the Objective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Defines current situation</a:t>
            </a:r>
          </a:p>
          <a:p>
            <a:r>
              <a:rPr lang="en-US" sz="3200" dirty="0"/>
              <a:t>Enables owner to gain clarity and focus</a:t>
            </a:r>
          </a:p>
          <a:p>
            <a:r>
              <a:rPr lang="en-US" sz="3200" dirty="0"/>
              <a:t>Communicates direction to team members</a:t>
            </a:r>
          </a:p>
          <a:p>
            <a:r>
              <a:rPr lang="en-US" sz="3200" dirty="0"/>
              <a:t>Establishes what “winning” looks like</a:t>
            </a:r>
          </a:p>
          <a:p>
            <a:r>
              <a:rPr lang="en-US" sz="3200" dirty="0"/>
              <a:t>Builds a success-oriented culture</a:t>
            </a:r>
          </a:p>
          <a:p>
            <a:pPr marL="0" indent="0">
              <a:buNone/>
            </a:pPr>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885031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Examples of Well-Defined Objectives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Improve first pass yield at first assembly operation from 75% to 95% by end of October</a:t>
            </a:r>
          </a:p>
          <a:p>
            <a:r>
              <a:rPr lang="en-US" sz="3200" dirty="0"/>
              <a:t>Reduce number of customer complaints by 50%, from 10/day to 5/day, within next month</a:t>
            </a:r>
          </a:p>
          <a:p>
            <a:r>
              <a:rPr lang="en-US" sz="3200" dirty="0"/>
              <a:t>Increase sales in the medical market by $100k per month, by the end of this year</a:t>
            </a:r>
          </a:p>
          <a:p>
            <a:r>
              <a:rPr lang="en-US" sz="3200" dirty="0"/>
              <a:t>Eliminate order entry errors, from 7/day to zero, by the close of this quarter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140508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3 – Objective Statement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additional metrics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this new data, determine your objective statement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objective statement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Objective statement–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452006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3600" dirty="0"/>
              <a:t>Sample Case Study – “Spencer’s” Restaurant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pic>
        <p:nvPicPr>
          <p:cNvPr id="3" name="Object 3">
            <a:extLst>
              <a:ext uri="{FF2B5EF4-FFF2-40B4-BE49-F238E27FC236}">
                <a16:creationId xmlns:a16="http://schemas.microsoft.com/office/drawing/2014/main" id="{DAE6608C-48C1-E376-C5CC-C56CCE9C1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013744" y="1958023"/>
            <a:ext cx="8164513" cy="4103687"/>
          </a:xfrm>
          <a:prstGeom prst="rect">
            <a:avLst/>
          </a:prstGeom>
        </p:spPr>
      </p:pic>
      <p:grpSp>
        <p:nvGrpSpPr>
          <p:cNvPr id="5" name="Group 4">
            <a:extLst>
              <a:ext uri="{FF2B5EF4-FFF2-40B4-BE49-F238E27FC236}">
                <a16:creationId xmlns:a16="http://schemas.microsoft.com/office/drawing/2014/main" id="{B26F9E8C-B24A-ADE4-D852-FFFBBDEE10F7}"/>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A57C2583-BD5B-C1A0-85E2-CCF78701F82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34A6B57B-35BE-5BB5-B6BC-AB83A54404B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9564E32B-7E57-8950-AD76-A655E6559E0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35D4AE5B-E445-E564-7E6D-F1DFB7BB3EA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76E9A7C-79A5-F7E5-2DC1-5D04A2FDC6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8FADF0-E994-46DC-DE48-470A735F8A1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4DE425E-8CC0-CD8A-7BF7-A6FFC87B8E0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C7698E6D-91C8-6BED-0AC4-41F9D3DB727D}"/>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440445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CEDAC Step 3 Exercise: Validate event charter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57459" y="2301132"/>
            <a:ext cx="9722342" cy="964367"/>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Evaluate the CEDAC event charter in terms of key learnings about Problem Statements, Metrics, and Objectives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57459" y="3171470"/>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04948"/>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CEDAC Event Charter and validate that we have the right Problem Statement, Metrics, and Objective.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Make any needed modifications.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98509" y="3171469"/>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98509" y="4355393"/>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98509" y="3715917"/>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98509" y="488180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Validated Event Charter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681628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4 - Create CEDAC Diagram</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various formats for CEDAC and review example of each</a:t>
            </a:r>
          </a:p>
          <a:p>
            <a:r>
              <a:rPr lang="en-US" sz="2400" dirty="0"/>
              <a:t>Identify when to use each format</a:t>
            </a:r>
          </a:p>
          <a:p>
            <a:r>
              <a:rPr lang="en-US" sz="2400" dirty="0"/>
              <a:t>Identify steps to construct a Fishbone Diagram</a:t>
            </a:r>
          </a:p>
          <a:p>
            <a:r>
              <a:rPr lang="en-US" sz="2400" dirty="0"/>
              <a:t>Identify steps to construct a Process Flow Chart</a:t>
            </a:r>
          </a:p>
          <a:p>
            <a:r>
              <a:rPr lang="en-US" sz="2400" dirty="0"/>
              <a:t>Determine which format will be used for this CEDAC event</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913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960257"/>
            <a:ext cx="802386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448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Various Formats for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Fishbone (Ishikawa) diagram</a:t>
            </a:r>
          </a:p>
          <a:p>
            <a:r>
              <a:rPr lang="en-US" sz="3200" dirty="0"/>
              <a:t>Process flow map</a:t>
            </a:r>
          </a:p>
          <a:p>
            <a:r>
              <a:rPr lang="en-US" sz="3200" dirty="0"/>
              <a:t>Diagram of product</a:t>
            </a:r>
          </a:p>
          <a:p>
            <a:r>
              <a:rPr lang="en-US" sz="3200" dirty="0"/>
              <a:t>Diagram (layout) of work area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1423892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#1 - Fishbone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Fishbone diagram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pic>
        <p:nvPicPr>
          <p:cNvPr id="4" name="Picture 17" descr="CEDAC">
            <a:extLst>
              <a:ext uri="{FF2B5EF4-FFF2-40B4-BE49-F238E27FC236}">
                <a16:creationId xmlns:a16="http://schemas.microsoft.com/office/drawing/2014/main" id="{AB794E0D-E102-B218-1539-5BD7AA3BD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014" y="2517775"/>
            <a:ext cx="5607273" cy="340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Consolidates a succinct picture of cause and effect relationships</a:t>
              </a:r>
            </a:p>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Uses major categories to stimulate possible causes</a:t>
              </a:r>
            </a:p>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Identifies root causes</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Simple processes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Specific problems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Answer, why is there variation?</a:t>
              </a:r>
            </a:p>
            <a:p>
              <a:pPr eaLnBrk="1" hangingPunct="1">
                <a:spcBef>
                  <a:spcPct val="30000"/>
                </a:spcBef>
                <a:spcAft>
                  <a:spcPct val="0"/>
                </a:spcAft>
                <a:buClr>
                  <a:schemeClr val="accent1"/>
                </a:buClr>
              </a:pPr>
              <a:endParaRPr lang="en-US" altLang="en-US" sz="18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533832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Steps to Construct a Fishbone Diagram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sz="3200" dirty="0"/>
              <a:t>Place effect (problem statement) in box on far right, along with metrics exemplifying the problem</a:t>
            </a:r>
          </a:p>
          <a:p>
            <a:r>
              <a:rPr lang="en-US" sz="3200" dirty="0"/>
              <a:t>Extend fishbone to the left of problem statement</a:t>
            </a:r>
          </a:p>
          <a:p>
            <a:r>
              <a:rPr lang="en-US" sz="3200" dirty="0"/>
              <a:t>Major bones (categories) are drawn as 45 degree feeder lines from the horizontal line</a:t>
            </a:r>
          </a:p>
          <a:p>
            <a:r>
              <a:rPr lang="en-US" sz="3200" dirty="0"/>
              <a:t>Label the six categories using six “M’s” or eight “P’s”</a:t>
            </a:r>
          </a:p>
          <a:p>
            <a:pPr lvl="1"/>
            <a:r>
              <a:rPr lang="en-US" sz="2800" dirty="0"/>
              <a:t>Man, Machines, Methods, Materials, Measurement, Mother Nature</a:t>
            </a:r>
          </a:p>
          <a:p>
            <a:pPr lvl="1"/>
            <a:r>
              <a:rPr lang="en-US" sz="2800" dirty="0"/>
              <a:t>People, Procedures, Policies, Plant/Place, Performance, Planet, Price, Promotion</a:t>
            </a:r>
          </a:p>
          <a:p>
            <a:pPr lvl="1"/>
            <a:r>
              <a:rPr lang="en-US" sz="2800" dirty="0"/>
              <a:t>Price, Promotion, People, Processes, Place / Plant, Policies, Procedures &amp; Product (or Service)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3802459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#2 – Process Flow Map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Process Flow Map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Displays each major step within the process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Links causes to specific process steps</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Complex processes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Unknown where/when the problem is occurring</a:t>
              </a:r>
            </a:p>
          </p:txBody>
        </p:sp>
      </p:grpSp>
      <p:pic>
        <p:nvPicPr>
          <p:cNvPr id="23" name="Picture 19" descr="bigstockphoto_Business_Process_d_On_Blue_Ba_177693">
            <a:extLst>
              <a:ext uri="{FF2B5EF4-FFF2-40B4-BE49-F238E27FC236}">
                <a16:creationId xmlns:a16="http://schemas.microsoft.com/office/drawing/2014/main" id="{1254A488-6978-222F-CFA2-35FF9141A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034" y="2363721"/>
            <a:ext cx="5464252" cy="38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5538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Steps to construct a Process Flow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sz="3200" dirty="0"/>
              <a:t>Start with the INPUT into the process (indicated by an oval shape)</a:t>
            </a:r>
          </a:p>
          <a:p>
            <a:r>
              <a:rPr lang="en-US" sz="3200" dirty="0"/>
              <a:t>Ask, “what happens next?” and record each process step in a rectangular box</a:t>
            </a:r>
          </a:p>
          <a:p>
            <a:r>
              <a:rPr lang="en-US" sz="3200" dirty="0"/>
              <a:t>Use a diamond shapes to indicate decision points in the process</a:t>
            </a:r>
          </a:p>
          <a:p>
            <a:r>
              <a:rPr lang="en-US" sz="3200" dirty="0"/>
              <a:t>Connect steps (boxes and diamonds) using arrows to indicate flow</a:t>
            </a:r>
          </a:p>
          <a:p>
            <a:r>
              <a:rPr lang="en-US" sz="3200" dirty="0"/>
              <a:t>Conclude with OUTPUT of the process (also indicated by an oval shape)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40640614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#3 – Diagram of Product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Diagram of Product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Drawing of the product itself</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Relates possible causes to locations on the product</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Very specific product</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Complex design</a:t>
              </a:r>
            </a:p>
          </p:txBody>
        </p:sp>
      </p:grpSp>
      <p:pic>
        <p:nvPicPr>
          <p:cNvPr id="4" name="Picture 2">
            <a:extLst>
              <a:ext uri="{FF2B5EF4-FFF2-40B4-BE49-F238E27FC236}">
                <a16:creationId xmlns:a16="http://schemas.microsoft.com/office/drawing/2014/main" id="{AD444E77-2F87-8343-55BA-90CD17FB2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248" y="2262390"/>
            <a:ext cx="4873944" cy="394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5271355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#4 – Layout of Area</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a:t>Picture of Format</a:t>
            </a:r>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Physical layout of problem area</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Relates possible causes to locations within the area</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Systemic problems in environment</a:t>
              </a:r>
            </a:p>
          </p:txBody>
        </p:sp>
      </p:grpSp>
      <p:pic>
        <p:nvPicPr>
          <p:cNvPr id="23" name="Picture 19" descr="bigstockphoto_Electronics_804313">
            <a:extLst>
              <a:ext uri="{FF2B5EF4-FFF2-40B4-BE49-F238E27FC236}">
                <a16:creationId xmlns:a16="http://schemas.microsoft.com/office/drawing/2014/main" id="{D4D4CD13-5382-F64B-9FEB-6DCDBBCB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495" y="2253402"/>
            <a:ext cx="5421791" cy="378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1707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4 – Create CEDAC diagram</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process flow map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your problem statement, objective statement and metrics, decide which CEDAC format to use for this case study</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CEDAC diagram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CEDAC diagram– one person to report out to rest of class</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159174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Sample Case Study – “Spencer’s” Restaurant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36" name="Group 35">
            <a:extLst>
              <a:ext uri="{FF2B5EF4-FFF2-40B4-BE49-F238E27FC236}">
                <a16:creationId xmlns:a16="http://schemas.microsoft.com/office/drawing/2014/main" id="{3C9EA077-67B8-34D2-E6A0-483EE610C3A1}"/>
              </a:ext>
            </a:extLst>
          </p:cNvPr>
          <p:cNvGrpSpPr/>
          <p:nvPr/>
        </p:nvGrpSpPr>
        <p:grpSpPr>
          <a:xfrm>
            <a:off x="2122647" y="1954530"/>
            <a:ext cx="7946707" cy="4058920"/>
            <a:chOff x="500063" y="1616075"/>
            <a:chExt cx="5967412" cy="4397375"/>
          </a:xfrm>
        </p:grpSpPr>
        <p:sp>
          <p:nvSpPr>
            <p:cNvPr id="25" name="Rectangle 10">
              <a:extLst>
                <a:ext uri="{FF2B5EF4-FFF2-40B4-BE49-F238E27FC236}">
                  <a16:creationId xmlns:a16="http://schemas.microsoft.com/office/drawing/2014/main" id="{763917A9-98FB-3827-D853-ABDE8D3FF074}"/>
                </a:ext>
              </a:extLst>
            </p:cNvPr>
            <p:cNvSpPr>
              <a:spLocks noChangeArrowheads="1"/>
            </p:cNvSpPr>
            <p:nvPr/>
          </p:nvSpPr>
          <p:spPr bwMode="auto">
            <a:xfrm>
              <a:off x="3846513" y="1616075"/>
              <a:ext cx="2620962"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Customer enters, is greeted and seated with menu</a:t>
              </a:r>
            </a:p>
          </p:txBody>
        </p:sp>
        <p:sp>
          <p:nvSpPr>
            <p:cNvPr id="26" name="Rectangle 11">
              <a:extLst>
                <a:ext uri="{FF2B5EF4-FFF2-40B4-BE49-F238E27FC236}">
                  <a16:creationId xmlns:a16="http://schemas.microsoft.com/office/drawing/2014/main" id="{017956AD-C850-45E4-2894-DE1EB67B17A5}"/>
                </a:ext>
              </a:extLst>
            </p:cNvPr>
            <p:cNvSpPr>
              <a:spLocks noChangeArrowheads="1"/>
            </p:cNvSpPr>
            <p:nvPr/>
          </p:nvSpPr>
          <p:spPr bwMode="auto">
            <a:xfrm>
              <a:off x="3846513" y="2546350"/>
              <a:ext cx="2620962"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Customer reviews menu and order is taken by server</a:t>
              </a:r>
            </a:p>
          </p:txBody>
        </p:sp>
        <p:sp>
          <p:nvSpPr>
            <p:cNvPr id="27" name="Rectangle 12">
              <a:extLst>
                <a:ext uri="{FF2B5EF4-FFF2-40B4-BE49-F238E27FC236}">
                  <a16:creationId xmlns:a16="http://schemas.microsoft.com/office/drawing/2014/main" id="{5732940F-D73F-EC45-8D5C-3664C742C318}"/>
                </a:ext>
              </a:extLst>
            </p:cNvPr>
            <p:cNvSpPr>
              <a:spLocks noChangeArrowheads="1"/>
            </p:cNvSpPr>
            <p:nvPr/>
          </p:nvSpPr>
          <p:spPr bwMode="auto">
            <a:xfrm>
              <a:off x="3846513" y="3479800"/>
              <a:ext cx="2620962"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Customer is served food and presented with check</a:t>
              </a:r>
            </a:p>
          </p:txBody>
        </p:sp>
        <p:sp>
          <p:nvSpPr>
            <p:cNvPr id="28" name="Rectangle 13">
              <a:extLst>
                <a:ext uri="{FF2B5EF4-FFF2-40B4-BE49-F238E27FC236}">
                  <a16:creationId xmlns:a16="http://schemas.microsoft.com/office/drawing/2014/main" id="{E8CDCBEB-0D62-6C60-8C65-CE9C4DF74F7A}"/>
                </a:ext>
              </a:extLst>
            </p:cNvPr>
            <p:cNvSpPr>
              <a:spLocks noChangeArrowheads="1"/>
            </p:cNvSpPr>
            <p:nvPr/>
          </p:nvSpPr>
          <p:spPr bwMode="auto">
            <a:xfrm>
              <a:off x="3846513" y="4452938"/>
              <a:ext cx="2620962" cy="635000"/>
            </a:xfrm>
            <a:prstGeom prst="rect">
              <a:avLst/>
            </a:prstGeom>
            <a:solidFill>
              <a:schemeClr val="tx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Customer pays and completes survey form</a:t>
              </a:r>
            </a:p>
          </p:txBody>
        </p:sp>
        <p:cxnSp>
          <p:nvCxnSpPr>
            <p:cNvPr id="29" name="AutoShape 14">
              <a:extLst>
                <a:ext uri="{FF2B5EF4-FFF2-40B4-BE49-F238E27FC236}">
                  <a16:creationId xmlns:a16="http://schemas.microsoft.com/office/drawing/2014/main" id="{9BACE576-B05F-651C-D41D-0FE4EC719FB5}"/>
                </a:ext>
              </a:extLst>
            </p:cNvPr>
            <p:cNvCxnSpPr>
              <a:cxnSpLocks noChangeShapeType="1"/>
              <a:stCxn id="25" idx="2"/>
              <a:endCxn id="26" idx="0"/>
            </p:cNvCxnSpPr>
            <p:nvPr/>
          </p:nvCxnSpPr>
          <p:spPr bwMode="auto">
            <a:xfrm>
              <a:off x="5157788" y="22510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15">
              <a:extLst>
                <a:ext uri="{FF2B5EF4-FFF2-40B4-BE49-F238E27FC236}">
                  <a16:creationId xmlns:a16="http://schemas.microsoft.com/office/drawing/2014/main" id="{9467DABE-6148-62DF-A453-50588121FB92}"/>
                </a:ext>
              </a:extLst>
            </p:cNvPr>
            <p:cNvCxnSpPr>
              <a:cxnSpLocks noChangeShapeType="1"/>
              <a:stCxn id="26" idx="2"/>
              <a:endCxn id="27" idx="0"/>
            </p:cNvCxnSpPr>
            <p:nvPr/>
          </p:nvCxnSpPr>
          <p:spPr bwMode="auto">
            <a:xfrm>
              <a:off x="5157788" y="31813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AutoShape 16">
              <a:extLst>
                <a:ext uri="{FF2B5EF4-FFF2-40B4-BE49-F238E27FC236}">
                  <a16:creationId xmlns:a16="http://schemas.microsoft.com/office/drawing/2014/main" id="{F33ED312-0EC3-3694-005D-1D66B8DD11D8}"/>
                </a:ext>
              </a:extLst>
            </p:cNvPr>
            <p:cNvCxnSpPr>
              <a:cxnSpLocks noChangeShapeType="1"/>
              <a:stCxn id="27" idx="2"/>
              <a:endCxn id="28" idx="0"/>
            </p:cNvCxnSpPr>
            <p:nvPr/>
          </p:nvCxnSpPr>
          <p:spPr bwMode="auto">
            <a:xfrm>
              <a:off x="5157788" y="41148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Oval 17">
              <a:extLst>
                <a:ext uri="{FF2B5EF4-FFF2-40B4-BE49-F238E27FC236}">
                  <a16:creationId xmlns:a16="http://schemas.microsoft.com/office/drawing/2014/main" id="{426ACCC2-4BB5-4A02-38C0-F08EDA9B7DE8}"/>
                </a:ext>
              </a:extLst>
            </p:cNvPr>
            <p:cNvSpPr>
              <a:spLocks noChangeArrowheads="1"/>
            </p:cNvSpPr>
            <p:nvPr/>
          </p:nvSpPr>
          <p:spPr bwMode="auto">
            <a:xfrm>
              <a:off x="3846513" y="5411788"/>
              <a:ext cx="2620962" cy="601662"/>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Satisfied, FULL customer</a:t>
              </a:r>
            </a:p>
          </p:txBody>
        </p:sp>
        <p:cxnSp>
          <p:nvCxnSpPr>
            <p:cNvPr id="33" name="AutoShape 18">
              <a:extLst>
                <a:ext uri="{FF2B5EF4-FFF2-40B4-BE49-F238E27FC236}">
                  <a16:creationId xmlns:a16="http://schemas.microsoft.com/office/drawing/2014/main" id="{C3D67C91-BD31-28D4-0136-47C45317DB5A}"/>
                </a:ext>
              </a:extLst>
            </p:cNvPr>
            <p:cNvCxnSpPr>
              <a:cxnSpLocks noChangeShapeType="1"/>
              <a:stCxn id="28" idx="2"/>
              <a:endCxn id="32" idx="0"/>
            </p:cNvCxnSpPr>
            <p:nvPr/>
          </p:nvCxnSpPr>
          <p:spPr bwMode="auto">
            <a:xfrm>
              <a:off x="5157788" y="50879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Oval 19">
              <a:extLst>
                <a:ext uri="{FF2B5EF4-FFF2-40B4-BE49-F238E27FC236}">
                  <a16:creationId xmlns:a16="http://schemas.microsoft.com/office/drawing/2014/main" id="{1A3EFF76-9DD5-00C2-4C80-1F162F3D60A4}"/>
                </a:ext>
              </a:extLst>
            </p:cNvPr>
            <p:cNvSpPr>
              <a:spLocks noChangeArrowheads="1"/>
            </p:cNvSpPr>
            <p:nvPr/>
          </p:nvSpPr>
          <p:spPr bwMode="auto">
            <a:xfrm>
              <a:off x="500063" y="1646238"/>
              <a:ext cx="2620962" cy="601662"/>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Hungry customer</a:t>
              </a:r>
            </a:p>
          </p:txBody>
        </p:sp>
        <p:cxnSp>
          <p:nvCxnSpPr>
            <p:cNvPr id="35" name="AutoShape 20">
              <a:extLst>
                <a:ext uri="{FF2B5EF4-FFF2-40B4-BE49-F238E27FC236}">
                  <a16:creationId xmlns:a16="http://schemas.microsoft.com/office/drawing/2014/main" id="{FF12505B-8F00-DE43-33D2-33A9EE6574BC}"/>
                </a:ext>
              </a:extLst>
            </p:cNvPr>
            <p:cNvCxnSpPr>
              <a:cxnSpLocks noChangeShapeType="1"/>
              <a:endCxn id="25" idx="1"/>
            </p:cNvCxnSpPr>
            <p:nvPr/>
          </p:nvCxnSpPr>
          <p:spPr bwMode="auto">
            <a:xfrm>
              <a:off x="3121025" y="1928813"/>
              <a:ext cx="725488" cy="476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249066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200" dirty="0">
                <a:latin typeface="Roboto Medium"/>
                <a:ea typeface="Roboto Medium"/>
                <a:cs typeface="Roboto Medium"/>
              </a:rPr>
              <a:t>CEDAC Step 4 Exercise: Determine Format for CEDAC</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which format will be used for this CEDAC event.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determine which format will be used for this CEDAC event.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the decided format on the wall of the training room in preparation to begin the next part of the CEDAC process. </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4437" y="4634782"/>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Format agreed upon and transferred to “the wall” of the training room.</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28600254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5 - Develop FACT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FACT Cards and how they are used</a:t>
            </a:r>
          </a:p>
          <a:p>
            <a:r>
              <a:rPr lang="en-US" sz="2400" dirty="0"/>
              <a:t>Describe the detail of the format for a FACT Card and review example</a:t>
            </a:r>
          </a:p>
          <a:p>
            <a:r>
              <a:rPr lang="en-US" sz="2400" dirty="0"/>
              <a:t>Describe process for developing and posting the FACT Cards</a:t>
            </a:r>
          </a:p>
          <a:p>
            <a:r>
              <a:rPr lang="en-US" sz="2400" dirty="0"/>
              <a:t>Complete development of FACT Cards for business problem</a:t>
            </a:r>
          </a:p>
          <a:p>
            <a:r>
              <a:rPr lang="en-US" sz="2400" dirty="0"/>
              <a:t>Conduct team review of FACT Cards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027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339459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1107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FACT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973630" y="2068831"/>
            <a:ext cx="4730691" cy="3342319"/>
            <a:chOff x="6798849" y="2356803"/>
            <a:chExt cx="3378200" cy="2788498"/>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3594311"/>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 to record your ideas about what is causing the problem or standing in the way of target</a:t>
              </a: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3929276"/>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Observations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Perceptions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Opinions</a:t>
              </a:r>
            </a:p>
            <a:p>
              <a:pPr>
                <a:lnSpc>
                  <a:spcPct val="100000"/>
                </a:lnSpc>
                <a:spcBef>
                  <a:spcPts val="0"/>
                </a:spcBef>
                <a:spcAft>
                  <a:spcPct val="0"/>
                </a:spcAft>
                <a:buClr>
                  <a:schemeClr val="tx1"/>
                </a:buClr>
                <a:buFont typeface="Arial" panose="020B0604020202020204" pitchFamily="34" charset="0"/>
                <a:buChar char="•"/>
              </a:pPr>
              <a:r>
                <a:rPr lang="fr-FR" altLang="en-US" sz="1800" dirty="0" err="1">
                  <a:latin typeface="Roboto" panose="02000000000000000000" pitchFamily="2" charset="0"/>
                  <a:ea typeface="Roboto" panose="02000000000000000000" pitchFamily="2" charset="0"/>
                </a:rPr>
                <a:t>Facts</a:t>
              </a:r>
              <a:endParaRPr lang="fr-FR" altLang="en-US" sz="1800" dirty="0">
                <a:latin typeface="Roboto" panose="02000000000000000000" pitchFamily="2" charset="0"/>
                <a:ea typeface="Roboto" panose="02000000000000000000" pitchFamily="2" charset="0"/>
              </a:endParaRP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Questions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Obstacles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Causes</a:t>
              </a:r>
            </a:p>
          </p:txBody>
        </p:sp>
      </p:grpSp>
      <p:grpSp>
        <p:nvGrpSpPr>
          <p:cNvPr id="4" name="Group 15">
            <a:extLst>
              <a:ext uri="{FF2B5EF4-FFF2-40B4-BE49-F238E27FC236}">
                <a16:creationId xmlns:a16="http://schemas.microsoft.com/office/drawing/2014/main" id="{7CA0280E-245A-0345-5EC4-45F499AB25EA}"/>
              </a:ext>
            </a:extLst>
          </p:cNvPr>
          <p:cNvGrpSpPr>
            <a:grpSpLocks/>
          </p:cNvGrpSpPr>
          <p:nvPr/>
        </p:nvGrpSpPr>
        <p:grpSpPr bwMode="auto">
          <a:xfrm>
            <a:off x="2011894" y="1783429"/>
            <a:ext cx="3351545" cy="4471262"/>
            <a:chOff x="757" y="1076"/>
            <a:chExt cx="1611" cy="2389"/>
          </a:xfrm>
        </p:grpSpPr>
        <p:sp>
          <p:nvSpPr>
            <p:cNvPr id="24" name="Rectangle 16">
              <a:extLst>
                <a:ext uri="{FF2B5EF4-FFF2-40B4-BE49-F238E27FC236}">
                  <a16:creationId xmlns:a16="http://schemas.microsoft.com/office/drawing/2014/main" id="{9CF7D77E-8C56-F44C-D4AB-30CB3124E39C}"/>
                </a:ext>
              </a:extLst>
            </p:cNvPr>
            <p:cNvSpPr>
              <a:spLocks noChangeArrowheads="1"/>
            </p:cNvSpPr>
            <p:nvPr/>
          </p:nvSpPr>
          <p:spPr bwMode="auto">
            <a:xfrm>
              <a:off x="757" y="1078"/>
              <a:ext cx="1611" cy="2347"/>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2400">
                <a:latin typeface="Roboto" panose="02000000000000000000" pitchFamily="2" charset="0"/>
                <a:ea typeface="Roboto" panose="02000000000000000000" pitchFamily="2" charset="0"/>
              </a:endParaRPr>
            </a:p>
          </p:txBody>
        </p:sp>
        <p:sp>
          <p:nvSpPr>
            <p:cNvPr id="25" name="Text Box 17">
              <a:extLst>
                <a:ext uri="{FF2B5EF4-FFF2-40B4-BE49-F238E27FC236}">
                  <a16:creationId xmlns:a16="http://schemas.microsoft.com/office/drawing/2014/main" id="{3CBBC1B5-9AA2-7CE0-F59F-68A694C775F3}"/>
                </a:ext>
              </a:extLst>
            </p:cNvPr>
            <p:cNvSpPr txBox="1">
              <a:spLocks noChangeArrowheads="1"/>
            </p:cNvSpPr>
            <p:nvPr/>
          </p:nvSpPr>
          <p:spPr bwMode="auto">
            <a:xfrm>
              <a:off x="1889" y="1134"/>
              <a:ext cx="43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&lt;Date&gt;</a:t>
              </a:r>
            </a:p>
          </p:txBody>
        </p:sp>
        <p:sp>
          <p:nvSpPr>
            <p:cNvPr id="26" name="Text Box 18">
              <a:extLst>
                <a:ext uri="{FF2B5EF4-FFF2-40B4-BE49-F238E27FC236}">
                  <a16:creationId xmlns:a16="http://schemas.microsoft.com/office/drawing/2014/main" id="{006394EA-4758-C43E-DAC2-99E7F55C1DD3}"/>
                </a:ext>
              </a:extLst>
            </p:cNvPr>
            <p:cNvSpPr txBox="1">
              <a:spLocks noChangeArrowheads="1"/>
            </p:cNvSpPr>
            <p:nvPr/>
          </p:nvSpPr>
          <p:spPr bwMode="auto">
            <a:xfrm>
              <a:off x="1860" y="3198"/>
              <a:ext cx="496"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&lt;Name&gt;</a:t>
              </a:r>
            </a:p>
          </p:txBody>
        </p:sp>
        <p:sp>
          <p:nvSpPr>
            <p:cNvPr id="27" name="Text Box 19">
              <a:extLst>
                <a:ext uri="{FF2B5EF4-FFF2-40B4-BE49-F238E27FC236}">
                  <a16:creationId xmlns:a16="http://schemas.microsoft.com/office/drawing/2014/main" id="{F72520EE-A6CB-8206-19BC-F1A0210EAA54}"/>
                </a:ext>
              </a:extLst>
            </p:cNvPr>
            <p:cNvSpPr txBox="1">
              <a:spLocks noChangeArrowheads="1"/>
            </p:cNvSpPr>
            <p:nvPr/>
          </p:nvSpPr>
          <p:spPr bwMode="auto">
            <a:xfrm>
              <a:off x="767" y="1076"/>
              <a:ext cx="3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p>
          </p:txBody>
        </p:sp>
        <p:sp>
          <p:nvSpPr>
            <p:cNvPr id="28" name="Text Box 20">
              <a:extLst>
                <a:ext uri="{FF2B5EF4-FFF2-40B4-BE49-F238E27FC236}">
                  <a16:creationId xmlns:a16="http://schemas.microsoft.com/office/drawing/2014/main" id="{64E6A9F7-6DF9-2291-318F-5ED7FA449FAA}"/>
                </a:ext>
              </a:extLst>
            </p:cNvPr>
            <p:cNvSpPr txBox="1">
              <a:spLocks noChangeArrowheads="1"/>
            </p:cNvSpPr>
            <p:nvPr/>
          </p:nvSpPr>
          <p:spPr bwMode="auto">
            <a:xfrm>
              <a:off x="775" y="3148"/>
              <a:ext cx="49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t>
              </a:r>
            </a:p>
          </p:txBody>
        </p:sp>
        <p:sp>
          <p:nvSpPr>
            <p:cNvPr id="29" name="Rectangle 21">
              <a:extLst>
                <a:ext uri="{FF2B5EF4-FFF2-40B4-BE49-F238E27FC236}">
                  <a16:creationId xmlns:a16="http://schemas.microsoft.com/office/drawing/2014/main" id="{8544BFC7-4690-89A9-FD57-25982B16C96E}"/>
                </a:ext>
              </a:extLst>
            </p:cNvPr>
            <p:cNvSpPr>
              <a:spLocks noChangeArrowheads="1"/>
            </p:cNvSpPr>
            <p:nvPr/>
          </p:nvSpPr>
          <p:spPr bwMode="auto">
            <a:xfrm>
              <a:off x="822" y="1370"/>
              <a:ext cx="1480" cy="1684"/>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0" name="Text Box 22">
              <a:extLst>
                <a:ext uri="{FF2B5EF4-FFF2-40B4-BE49-F238E27FC236}">
                  <a16:creationId xmlns:a16="http://schemas.microsoft.com/office/drawing/2014/main" id="{AF8B8BCE-E49E-32F0-1B3F-371D5002F3FF}"/>
                </a:ext>
              </a:extLst>
            </p:cNvPr>
            <p:cNvSpPr txBox="1">
              <a:spLocks noChangeArrowheads="1"/>
            </p:cNvSpPr>
            <p:nvPr/>
          </p:nvSpPr>
          <p:spPr bwMode="auto">
            <a:xfrm>
              <a:off x="874" y="1574"/>
              <a:ext cx="137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&lt;Root Cause Description&gt;</a:t>
              </a:r>
            </a:p>
            <a:p>
              <a:pPr algn="ctr">
                <a:lnSpc>
                  <a:spcPct val="80000"/>
                </a:lnSpc>
                <a:spcBef>
                  <a:spcPct val="2000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r>
                <a:rPr lang="en-US" altLang="en-US" sz="1800" u="sng" dirty="0">
                  <a:latin typeface="Roboto" panose="02000000000000000000" pitchFamily="2" charset="0"/>
                  <a:ea typeface="Roboto" panose="02000000000000000000" pitchFamily="2" charset="0"/>
                </a:rPr>
                <a:t>Detailed</a:t>
              </a:r>
              <a:r>
                <a:rPr lang="en-US" altLang="en-US" sz="1800" dirty="0">
                  <a:latin typeface="Roboto" panose="02000000000000000000" pitchFamily="2" charset="0"/>
                  <a:ea typeface="Roboto" panose="02000000000000000000" pitchFamily="2" charset="0"/>
                </a:rPr>
                <a:t> Text)</a:t>
              </a:r>
            </a:p>
          </p:txBody>
        </p:sp>
      </p:grpSp>
    </p:spTree>
    <p:extLst>
      <p:ext uri="{BB962C8B-B14F-4D97-AF65-F5344CB8AC3E}">
        <p14:creationId xmlns:p14="http://schemas.microsoft.com/office/powerpoint/2010/main" val="3326721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FACT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4" name="Group 15">
            <a:extLst>
              <a:ext uri="{FF2B5EF4-FFF2-40B4-BE49-F238E27FC236}">
                <a16:creationId xmlns:a16="http://schemas.microsoft.com/office/drawing/2014/main" id="{7CA0280E-245A-0345-5EC4-45F499AB25EA}"/>
              </a:ext>
            </a:extLst>
          </p:cNvPr>
          <p:cNvGrpSpPr>
            <a:grpSpLocks/>
          </p:cNvGrpSpPr>
          <p:nvPr/>
        </p:nvGrpSpPr>
        <p:grpSpPr bwMode="auto">
          <a:xfrm>
            <a:off x="2922688" y="1862037"/>
            <a:ext cx="3351545" cy="4471262"/>
            <a:chOff x="757" y="1076"/>
            <a:chExt cx="1611" cy="2389"/>
          </a:xfrm>
        </p:grpSpPr>
        <p:sp>
          <p:nvSpPr>
            <p:cNvPr id="24" name="Rectangle 16">
              <a:extLst>
                <a:ext uri="{FF2B5EF4-FFF2-40B4-BE49-F238E27FC236}">
                  <a16:creationId xmlns:a16="http://schemas.microsoft.com/office/drawing/2014/main" id="{9CF7D77E-8C56-F44C-D4AB-30CB3124E39C}"/>
                </a:ext>
              </a:extLst>
            </p:cNvPr>
            <p:cNvSpPr>
              <a:spLocks noChangeArrowheads="1"/>
            </p:cNvSpPr>
            <p:nvPr/>
          </p:nvSpPr>
          <p:spPr bwMode="auto">
            <a:xfrm>
              <a:off x="757" y="1078"/>
              <a:ext cx="1611" cy="2347"/>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2400">
                <a:latin typeface="Roboto" panose="02000000000000000000" pitchFamily="2" charset="0"/>
                <a:ea typeface="Roboto" panose="02000000000000000000" pitchFamily="2" charset="0"/>
              </a:endParaRPr>
            </a:p>
          </p:txBody>
        </p:sp>
        <p:sp>
          <p:nvSpPr>
            <p:cNvPr id="25" name="Text Box 17">
              <a:extLst>
                <a:ext uri="{FF2B5EF4-FFF2-40B4-BE49-F238E27FC236}">
                  <a16:creationId xmlns:a16="http://schemas.microsoft.com/office/drawing/2014/main" id="{3CBBC1B5-9AA2-7CE0-F59F-68A694C775F3}"/>
                </a:ext>
              </a:extLst>
            </p:cNvPr>
            <p:cNvSpPr txBox="1">
              <a:spLocks noChangeArrowheads="1"/>
            </p:cNvSpPr>
            <p:nvPr/>
          </p:nvSpPr>
          <p:spPr bwMode="auto">
            <a:xfrm>
              <a:off x="1889" y="1134"/>
              <a:ext cx="43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&lt;Date&gt;</a:t>
              </a:r>
            </a:p>
          </p:txBody>
        </p:sp>
        <p:sp>
          <p:nvSpPr>
            <p:cNvPr id="26" name="Text Box 18">
              <a:extLst>
                <a:ext uri="{FF2B5EF4-FFF2-40B4-BE49-F238E27FC236}">
                  <a16:creationId xmlns:a16="http://schemas.microsoft.com/office/drawing/2014/main" id="{006394EA-4758-C43E-DAC2-99E7F55C1DD3}"/>
                </a:ext>
              </a:extLst>
            </p:cNvPr>
            <p:cNvSpPr txBox="1">
              <a:spLocks noChangeArrowheads="1"/>
            </p:cNvSpPr>
            <p:nvPr/>
          </p:nvSpPr>
          <p:spPr bwMode="auto">
            <a:xfrm>
              <a:off x="1860" y="3198"/>
              <a:ext cx="496"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&lt;Name&gt;</a:t>
              </a:r>
            </a:p>
          </p:txBody>
        </p:sp>
        <p:sp>
          <p:nvSpPr>
            <p:cNvPr id="27" name="Text Box 19">
              <a:extLst>
                <a:ext uri="{FF2B5EF4-FFF2-40B4-BE49-F238E27FC236}">
                  <a16:creationId xmlns:a16="http://schemas.microsoft.com/office/drawing/2014/main" id="{F72520EE-A6CB-8206-19BC-F1A0210EAA54}"/>
                </a:ext>
              </a:extLst>
            </p:cNvPr>
            <p:cNvSpPr txBox="1">
              <a:spLocks noChangeArrowheads="1"/>
            </p:cNvSpPr>
            <p:nvPr/>
          </p:nvSpPr>
          <p:spPr bwMode="auto">
            <a:xfrm>
              <a:off x="767" y="1076"/>
              <a:ext cx="3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p>
          </p:txBody>
        </p:sp>
        <p:sp>
          <p:nvSpPr>
            <p:cNvPr id="28" name="Text Box 20">
              <a:extLst>
                <a:ext uri="{FF2B5EF4-FFF2-40B4-BE49-F238E27FC236}">
                  <a16:creationId xmlns:a16="http://schemas.microsoft.com/office/drawing/2014/main" id="{64E6A9F7-6DF9-2291-318F-5ED7FA449FAA}"/>
                </a:ext>
              </a:extLst>
            </p:cNvPr>
            <p:cNvSpPr txBox="1">
              <a:spLocks noChangeArrowheads="1"/>
            </p:cNvSpPr>
            <p:nvPr/>
          </p:nvSpPr>
          <p:spPr bwMode="auto">
            <a:xfrm>
              <a:off x="775" y="3148"/>
              <a:ext cx="49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t>
              </a:r>
            </a:p>
          </p:txBody>
        </p:sp>
        <p:sp>
          <p:nvSpPr>
            <p:cNvPr id="29" name="Rectangle 21">
              <a:extLst>
                <a:ext uri="{FF2B5EF4-FFF2-40B4-BE49-F238E27FC236}">
                  <a16:creationId xmlns:a16="http://schemas.microsoft.com/office/drawing/2014/main" id="{8544BFC7-4690-89A9-FD57-25982B16C96E}"/>
                </a:ext>
              </a:extLst>
            </p:cNvPr>
            <p:cNvSpPr>
              <a:spLocks noChangeArrowheads="1"/>
            </p:cNvSpPr>
            <p:nvPr/>
          </p:nvSpPr>
          <p:spPr bwMode="auto">
            <a:xfrm>
              <a:off x="822" y="1370"/>
              <a:ext cx="1480" cy="1684"/>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0" name="Text Box 22">
              <a:extLst>
                <a:ext uri="{FF2B5EF4-FFF2-40B4-BE49-F238E27FC236}">
                  <a16:creationId xmlns:a16="http://schemas.microsoft.com/office/drawing/2014/main" id="{AF8B8BCE-E49E-32F0-1B3F-371D5002F3FF}"/>
                </a:ext>
              </a:extLst>
            </p:cNvPr>
            <p:cNvSpPr txBox="1">
              <a:spLocks noChangeArrowheads="1"/>
            </p:cNvSpPr>
            <p:nvPr/>
          </p:nvSpPr>
          <p:spPr bwMode="auto">
            <a:xfrm>
              <a:off x="874" y="1574"/>
              <a:ext cx="137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&lt;Root Cause Description&gt;</a:t>
              </a:r>
            </a:p>
            <a:p>
              <a:pPr algn="ctr">
                <a:lnSpc>
                  <a:spcPct val="80000"/>
                </a:lnSpc>
                <a:spcBef>
                  <a:spcPct val="2000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r>
                <a:rPr lang="en-US" altLang="en-US" sz="1800" u="sng" dirty="0">
                  <a:latin typeface="Roboto" panose="02000000000000000000" pitchFamily="2" charset="0"/>
                  <a:ea typeface="Roboto" panose="02000000000000000000" pitchFamily="2" charset="0"/>
                </a:rPr>
                <a:t>Detailed</a:t>
              </a:r>
              <a:r>
                <a:rPr lang="en-US" altLang="en-US" sz="1800" dirty="0">
                  <a:latin typeface="Roboto" panose="02000000000000000000" pitchFamily="2" charset="0"/>
                  <a:ea typeface="Roboto" panose="02000000000000000000" pitchFamily="2" charset="0"/>
                </a:rPr>
                <a:t> Text)</a:t>
              </a:r>
            </a:p>
          </p:txBody>
        </p:sp>
      </p:grpSp>
      <p:sp>
        <p:nvSpPr>
          <p:cNvPr id="3" name="Rectangle 2">
            <a:extLst>
              <a:ext uri="{FF2B5EF4-FFF2-40B4-BE49-F238E27FC236}">
                <a16:creationId xmlns:a16="http://schemas.microsoft.com/office/drawing/2014/main" id="{96C43F8E-9B0E-7668-9AF4-6479F2CB18FC}"/>
              </a:ext>
            </a:extLst>
          </p:cNvPr>
          <p:cNvSpPr txBox="1">
            <a:spLocks noChangeArrowheads="1"/>
          </p:cNvSpPr>
          <p:nvPr/>
        </p:nvSpPr>
        <p:spPr>
          <a:xfrm>
            <a:off x="336981" y="1921958"/>
            <a:ext cx="2884488" cy="42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1800" b="1" dirty="0"/>
              <a:t>Use 4x6 Yellow Post-it</a:t>
            </a:r>
          </a:p>
        </p:txBody>
      </p:sp>
      <p:grpSp>
        <p:nvGrpSpPr>
          <p:cNvPr id="38" name="Group 37">
            <a:extLst>
              <a:ext uri="{FF2B5EF4-FFF2-40B4-BE49-F238E27FC236}">
                <a16:creationId xmlns:a16="http://schemas.microsoft.com/office/drawing/2014/main" id="{232BA592-F69A-5F9E-A4C3-FBB677E0B1B0}"/>
              </a:ext>
            </a:extLst>
          </p:cNvPr>
          <p:cNvGrpSpPr/>
          <p:nvPr/>
        </p:nvGrpSpPr>
        <p:grpSpPr>
          <a:xfrm>
            <a:off x="7748995" y="1862037"/>
            <a:ext cx="3351545" cy="4392654"/>
            <a:chOff x="6067425" y="2049463"/>
            <a:chExt cx="2593975" cy="3725862"/>
          </a:xfrm>
        </p:grpSpPr>
        <p:sp>
          <p:nvSpPr>
            <p:cNvPr id="10" name="Rectangle 16">
              <a:extLst>
                <a:ext uri="{FF2B5EF4-FFF2-40B4-BE49-F238E27FC236}">
                  <a16:creationId xmlns:a16="http://schemas.microsoft.com/office/drawing/2014/main" id="{DCA35B96-9DF1-E01D-82C9-FBF03771E729}"/>
                </a:ext>
              </a:extLst>
            </p:cNvPr>
            <p:cNvSpPr>
              <a:spLocks noChangeArrowheads="1"/>
            </p:cNvSpPr>
            <p:nvPr/>
          </p:nvSpPr>
          <p:spPr bwMode="auto">
            <a:xfrm>
              <a:off x="6067425" y="2049463"/>
              <a:ext cx="2557463" cy="3725862"/>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Text Box 17">
              <a:extLst>
                <a:ext uri="{FF2B5EF4-FFF2-40B4-BE49-F238E27FC236}">
                  <a16:creationId xmlns:a16="http://schemas.microsoft.com/office/drawing/2014/main" id="{7603D4A5-5310-E3F9-712B-D8E7EEF41822}"/>
                </a:ext>
              </a:extLst>
            </p:cNvPr>
            <p:cNvSpPr txBox="1">
              <a:spLocks noChangeArrowheads="1"/>
            </p:cNvSpPr>
            <p:nvPr/>
          </p:nvSpPr>
          <p:spPr bwMode="auto">
            <a:xfrm>
              <a:off x="7759700" y="2141538"/>
              <a:ext cx="9017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04/02/07</a:t>
              </a:r>
            </a:p>
          </p:txBody>
        </p:sp>
        <p:sp>
          <p:nvSpPr>
            <p:cNvPr id="23" name="Text Box 18">
              <a:extLst>
                <a:ext uri="{FF2B5EF4-FFF2-40B4-BE49-F238E27FC236}">
                  <a16:creationId xmlns:a16="http://schemas.microsoft.com/office/drawing/2014/main" id="{0CA34134-98B5-E92F-C000-1F3009453DB5}"/>
                </a:ext>
              </a:extLst>
            </p:cNvPr>
            <p:cNvSpPr txBox="1">
              <a:spLocks noChangeArrowheads="1"/>
            </p:cNvSpPr>
            <p:nvPr/>
          </p:nvSpPr>
          <p:spPr bwMode="auto">
            <a:xfrm>
              <a:off x="7683500" y="5440363"/>
              <a:ext cx="8509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John Doe</a:t>
              </a:r>
            </a:p>
          </p:txBody>
        </p:sp>
        <p:sp>
          <p:nvSpPr>
            <p:cNvPr id="31" name="Text Box 19">
              <a:extLst>
                <a:ext uri="{FF2B5EF4-FFF2-40B4-BE49-F238E27FC236}">
                  <a16:creationId xmlns:a16="http://schemas.microsoft.com/office/drawing/2014/main" id="{FBA15316-8EAB-DF77-84A9-52EE23FF7838}"/>
                </a:ext>
              </a:extLst>
            </p:cNvPr>
            <p:cNvSpPr txBox="1">
              <a:spLocks noChangeArrowheads="1"/>
            </p:cNvSpPr>
            <p:nvPr/>
          </p:nvSpPr>
          <p:spPr bwMode="auto">
            <a:xfrm>
              <a:off x="6203950" y="2135188"/>
              <a:ext cx="277813"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2</a:t>
              </a:r>
            </a:p>
          </p:txBody>
        </p:sp>
        <p:sp>
          <p:nvSpPr>
            <p:cNvPr id="32" name="Text Box 20">
              <a:extLst>
                <a:ext uri="{FF2B5EF4-FFF2-40B4-BE49-F238E27FC236}">
                  <a16:creationId xmlns:a16="http://schemas.microsoft.com/office/drawing/2014/main" id="{5892034F-C49F-4C6E-880B-1A1E2CEA2D59}"/>
                </a:ext>
              </a:extLst>
            </p:cNvPr>
            <p:cNvSpPr txBox="1">
              <a:spLocks noChangeArrowheads="1"/>
            </p:cNvSpPr>
            <p:nvPr/>
          </p:nvSpPr>
          <p:spPr bwMode="auto">
            <a:xfrm>
              <a:off x="6161088" y="5438775"/>
              <a:ext cx="766762"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3.11, 4.2</a:t>
              </a:r>
            </a:p>
          </p:txBody>
        </p:sp>
        <p:sp>
          <p:nvSpPr>
            <p:cNvPr id="33" name="Text Box 21">
              <a:extLst>
                <a:ext uri="{FF2B5EF4-FFF2-40B4-BE49-F238E27FC236}">
                  <a16:creationId xmlns:a16="http://schemas.microsoft.com/office/drawing/2014/main" id="{A5F55592-189C-0EA5-C49C-80E19C2F9ED3}"/>
                </a:ext>
              </a:extLst>
            </p:cNvPr>
            <p:cNvSpPr txBox="1">
              <a:spLocks noChangeArrowheads="1"/>
            </p:cNvSpPr>
            <p:nvPr/>
          </p:nvSpPr>
          <p:spPr bwMode="auto">
            <a:xfrm>
              <a:off x="6324600" y="2671763"/>
              <a:ext cx="2136775" cy="139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b="0" dirty="0">
                  <a:latin typeface="Comic Sans MS" panose="030F0702030302020204" pitchFamily="66" charset="0"/>
                </a:rPr>
                <a:t>Sales force does not know how to properly construct a quote in the order entry system, causing errors when trying to convert quotes to orders.</a:t>
              </a:r>
            </a:p>
          </p:txBody>
        </p:sp>
        <p:sp>
          <p:nvSpPr>
            <p:cNvPr id="34" name="Freeform 22">
              <a:extLst>
                <a:ext uri="{FF2B5EF4-FFF2-40B4-BE49-F238E27FC236}">
                  <a16:creationId xmlns:a16="http://schemas.microsoft.com/office/drawing/2014/main" id="{884EBD3D-B6EE-FC00-7654-B1CF06A1B47B}"/>
                </a:ext>
              </a:extLst>
            </p:cNvPr>
            <p:cNvSpPr>
              <a:spLocks/>
            </p:cNvSpPr>
            <p:nvPr/>
          </p:nvSpPr>
          <p:spPr bwMode="auto">
            <a:xfrm>
              <a:off x="6167438" y="2124075"/>
              <a:ext cx="331787" cy="247650"/>
            </a:xfrm>
            <a:custGeom>
              <a:avLst/>
              <a:gdLst>
                <a:gd name="T0" fmla="*/ 2147483646 w 257"/>
                <a:gd name="T1" fmla="*/ 2147483646 h 213"/>
                <a:gd name="T2" fmla="*/ 2147483646 w 257"/>
                <a:gd name="T3" fmla="*/ 2147483646 h 213"/>
                <a:gd name="T4" fmla="*/ 2147483646 w 257"/>
                <a:gd name="T5" fmla="*/ 2147483646 h 213"/>
                <a:gd name="T6" fmla="*/ 2147483646 w 257"/>
                <a:gd name="T7" fmla="*/ 2147483646 h 213"/>
                <a:gd name="T8" fmla="*/ 2147483646 w 257"/>
                <a:gd name="T9" fmla="*/ 2147483646 h 213"/>
                <a:gd name="T10" fmla="*/ 2147483646 w 257"/>
                <a:gd name="T11" fmla="*/ 2147483646 h 213"/>
                <a:gd name="T12" fmla="*/ 2147483646 w 257"/>
                <a:gd name="T13" fmla="*/ 2147483646 h 213"/>
                <a:gd name="T14" fmla="*/ 2147483646 w 257"/>
                <a:gd name="T15" fmla="*/ 2147483646 h 213"/>
                <a:gd name="T16" fmla="*/ 2147483646 w 257"/>
                <a:gd name="T17" fmla="*/ 2147483646 h 213"/>
                <a:gd name="T18" fmla="*/ 2147483646 w 257"/>
                <a:gd name="T19" fmla="*/ 0 h 213"/>
                <a:gd name="T20" fmla="*/ 2147483646 w 257"/>
                <a:gd name="T21" fmla="*/ 2147483646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 h="213">
                  <a:moveTo>
                    <a:pt x="70" y="10"/>
                  </a:moveTo>
                  <a:cubicBezTo>
                    <a:pt x="41" y="23"/>
                    <a:pt x="38" y="37"/>
                    <a:pt x="22" y="62"/>
                  </a:cubicBezTo>
                  <a:cubicBezTo>
                    <a:pt x="16" y="91"/>
                    <a:pt x="0" y="136"/>
                    <a:pt x="22" y="163"/>
                  </a:cubicBezTo>
                  <a:cubicBezTo>
                    <a:pt x="38" y="182"/>
                    <a:pt x="62" y="189"/>
                    <a:pt x="84" y="197"/>
                  </a:cubicBezTo>
                  <a:cubicBezTo>
                    <a:pt x="89" y="199"/>
                    <a:pt x="98" y="202"/>
                    <a:pt x="98" y="202"/>
                  </a:cubicBezTo>
                  <a:cubicBezTo>
                    <a:pt x="218" y="196"/>
                    <a:pt x="180" y="213"/>
                    <a:pt x="242" y="168"/>
                  </a:cubicBezTo>
                  <a:cubicBezTo>
                    <a:pt x="245" y="158"/>
                    <a:pt x="249" y="149"/>
                    <a:pt x="252" y="139"/>
                  </a:cubicBezTo>
                  <a:cubicBezTo>
                    <a:pt x="254" y="134"/>
                    <a:pt x="257" y="125"/>
                    <a:pt x="257" y="125"/>
                  </a:cubicBezTo>
                  <a:cubicBezTo>
                    <a:pt x="252" y="87"/>
                    <a:pt x="251" y="86"/>
                    <a:pt x="233" y="58"/>
                  </a:cubicBezTo>
                  <a:cubicBezTo>
                    <a:pt x="225" y="26"/>
                    <a:pt x="206" y="10"/>
                    <a:pt x="175" y="0"/>
                  </a:cubicBezTo>
                  <a:cubicBezTo>
                    <a:pt x="146" y="2"/>
                    <a:pt x="102" y="10"/>
                    <a:pt x="70" y="10"/>
                  </a:cubicBezTo>
                  <a:close/>
                </a:path>
              </a:pathLst>
            </a:custGeom>
            <a:noFill/>
            <a:ln w="12700"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3">
              <a:extLst>
                <a:ext uri="{FF2B5EF4-FFF2-40B4-BE49-F238E27FC236}">
                  <a16:creationId xmlns:a16="http://schemas.microsoft.com/office/drawing/2014/main" id="{CA441660-DC74-6756-6B03-3B8E08554667}"/>
                </a:ext>
              </a:extLst>
            </p:cNvPr>
            <p:cNvSpPr>
              <a:spLocks/>
            </p:cNvSpPr>
            <p:nvPr/>
          </p:nvSpPr>
          <p:spPr bwMode="auto">
            <a:xfrm>
              <a:off x="6094413" y="2446338"/>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4">
              <a:extLst>
                <a:ext uri="{FF2B5EF4-FFF2-40B4-BE49-F238E27FC236}">
                  <a16:creationId xmlns:a16="http://schemas.microsoft.com/office/drawing/2014/main" id="{765F17EC-38A1-F542-0155-11F550CD913E}"/>
                </a:ext>
              </a:extLst>
            </p:cNvPr>
            <p:cNvSpPr>
              <a:spLocks/>
            </p:cNvSpPr>
            <p:nvPr/>
          </p:nvSpPr>
          <p:spPr bwMode="auto">
            <a:xfrm flipH="1" flipV="1">
              <a:off x="6086475" y="5343525"/>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 name="Rectangle 25">
            <a:extLst>
              <a:ext uri="{FF2B5EF4-FFF2-40B4-BE49-F238E27FC236}">
                <a16:creationId xmlns:a16="http://schemas.microsoft.com/office/drawing/2014/main" id="{906C3FFC-5EE1-EA69-9264-C0B9D0EABA8A}"/>
              </a:ext>
            </a:extLst>
          </p:cNvPr>
          <p:cNvSpPr>
            <a:spLocks noChangeArrowheads="1"/>
          </p:cNvSpPr>
          <p:nvPr/>
        </p:nvSpPr>
        <p:spPr bwMode="auto">
          <a:xfrm>
            <a:off x="6564969" y="1921958"/>
            <a:ext cx="1136851"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Example:</a:t>
            </a:r>
          </a:p>
        </p:txBody>
      </p:sp>
      <p:sp>
        <p:nvSpPr>
          <p:cNvPr id="39" name="Text Box 12">
            <a:extLst>
              <a:ext uri="{FF2B5EF4-FFF2-40B4-BE49-F238E27FC236}">
                <a16:creationId xmlns:a16="http://schemas.microsoft.com/office/drawing/2014/main" id="{8964ECA1-72A4-D334-1F59-978467124DFD}"/>
              </a:ext>
            </a:extLst>
          </p:cNvPr>
          <p:cNvSpPr txBox="1">
            <a:spLocks noChangeArrowheads="1"/>
          </p:cNvSpPr>
          <p:nvPr/>
        </p:nvSpPr>
        <p:spPr bwMode="auto">
          <a:xfrm>
            <a:off x="241554" y="4853524"/>
            <a:ext cx="1981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2000" dirty="0"/>
              <a:t>List 1 or more Process Steps where this root cause occurs</a:t>
            </a:r>
          </a:p>
        </p:txBody>
      </p:sp>
      <p:sp>
        <p:nvSpPr>
          <p:cNvPr id="40" name="Line 13">
            <a:extLst>
              <a:ext uri="{FF2B5EF4-FFF2-40B4-BE49-F238E27FC236}">
                <a16:creationId xmlns:a16="http://schemas.microsoft.com/office/drawing/2014/main" id="{D4BF2723-DCDC-E35F-2D0A-0E82C06E8DD4}"/>
              </a:ext>
            </a:extLst>
          </p:cNvPr>
          <p:cNvSpPr>
            <a:spLocks noChangeShapeType="1"/>
          </p:cNvSpPr>
          <p:nvPr/>
        </p:nvSpPr>
        <p:spPr bwMode="auto">
          <a:xfrm>
            <a:off x="2081578" y="5564070"/>
            <a:ext cx="929162" cy="29384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1" name="Text Box 14">
            <a:extLst>
              <a:ext uri="{FF2B5EF4-FFF2-40B4-BE49-F238E27FC236}">
                <a16:creationId xmlns:a16="http://schemas.microsoft.com/office/drawing/2014/main" id="{74B8DC43-863E-4035-DFCE-F620909086FC}"/>
              </a:ext>
            </a:extLst>
          </p:cNvPr>
          <p:cNvSpPr txBox="1">
            <a:spLocks noChangeArrowheads="1"/>
          </p:cNvSpPr>
          <p:nvPr/>
        </p:nvSpPr>
        <p:spPr bwMode="auto">
          <a:xfrm>
            <a:off x="292255" y="2794096"/>
            <a:ext cx="1633538"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Each FACT Card has a unique #</a:t>
            </a:r>
          </a:p>
        </p:txBody>
      </p:sp>
      <p:sp>
        <p:nvSpPr>
          <p:cNvPr id="42" name="Line 15">
            <a:extLst>
              <a:ext uri="{FF2B5EF4-FFF2-40B4-BE49-F238E27FC236}">
                <a16:creationId xmlns:a16="http://schemas.microsoft.com/office/drawing/2014/main" id="{587A7701-04C9-1992-D19E-B051346F1814}"/>
              </a:ext>
            </a:extLst>
          </p:cNvPr>
          <p:cNvSpPr>
            <a:spLocks noChangeShapeType="1"/>
          </p:cNvSpPr>
          <p:nvPr/>
        </p:nvSpPr>
        <p:spPr bwMode="auto">
          <a:xfrm flipV="1">
            <a:off x="1779225" y="2323564"/>
            <a:ext cx="1231515" cy="74703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842076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Describe the Detail and Format for a FACT Card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b="1" dirty="0"/>
              <a:t>Fact card writing guidelines</a:t>
            </a:r>
          </a:p>
          <a:p>
            <a:r>
              <a:rPr lang="en-US" sz="3200" dirty="0"/>
              <a:t>Use full thoughts and sentences</a:t>
            </a:r>
          </a:p>
          <a:p>
            <a:r>
              <a:rPr lang="en-US" sz="3200" dirty="0"/>
              <a:t>Write one main idea per card</a:t>
            </a:r>
          </a:p>
          <a:p>
            <a:r>
              <a:rPr lang="en-US" sz="3200" dirty="0"/>
              <a:t>Be concrete and specific</a:t>
            </a:r>
          </a:p>
          <a:p>
            <a:r>
              <a:rPr lang="en-US" sz="3200" dirty="0"/>
              <a:t>Sign and date cards</a:t>
            </a:r>
          </a:p>
          <a:p>
            <a:r>
              <a:rPr lang="en-US" sz="3200" dirty="0"/>
              <a:t>Make card readable</a:t>
            </a:r>
          </a:p>
          <a:p>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698437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Process for Developing and Posting FACT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sz="3200" dirty="0"/>
              <a:t>Review and clarify the data, objective and problem statement</a:t>
            </a:r>
          </a:p>
          <a:p>
            <a:r>
              <a:rPr lang="en-US" sz="3200" dirty="0"/>
              <a:t>Silent brainstorm for five minutes, creating as many cards as possible</a:t>
            </a:r>
          </a:p>
          <a:p>
            <a:r>
              <a:rPr lang="en-US" sz="3200" dirty="0"/>
              <a:t>Be creative – anything goes!</a:t>
            </a:r>
          </a:p>
          <a:p>
            <a:r>
              <a:rPr lang="en-US" sz="3200" dirty="0"/>
              <a:t>Each person takes turns explaining a fact card and posts on the diagram</a:t>
            </a:r>
          </a:p>
          <a:p>
            <a:r>
              <a:rPr lang="en-US" sz="3200" dirty="0"/>
              <a:t>Don’t discuss or “problem solve” during posting process</a:t>
            </a:r>
          </a:p>
          <a:p>
            <a:r>
              <a:rPr lang="en-US" sz="3200" dirty="0"/>
              <a:t>Don’t  judge or criticize – goal is to generate as many ideas as possible</a:t>
            </a:r>
          </a:p>
          <a:p>
            <a:r>
              <a:rPr lang="en-US" sz="3200" dirty="0"/>
              <a:t>Encourage hitchhiking – build on each other’s ideas</a:t>
            </a:r>
          </a:p>
          <a:p>
            <a:r>
              <a:rPr lang="en-US" sz="3200" dirty="0"/>
              <a:t>Continue posting cards until everyone “passes”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5178053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Process for Reviewing and Numbering FACT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Combine duplicate cards</a:t>
            </a:r>
          </a:p>
          <a:p>
            <a:r>
              <a:rPr lang="en-US" sz="3200" dirty="0"/>
              <a:t>Group “like” ideas together</a:t>
            </a:r>
          </a:p>
          <a:p>
            <a:r>
              <a:rPr lang="en-US" sz="3200" dirty="0"/>
              <a:t>Ensure everyone understands each possible cause</a:t>
            </a:r>
          </a:p>
          <a:p>
            <a:r>
              <a:rPr lang="en-US" sz="3200" dirty="0"/>
              <a:t>Number cards “1” through “x”</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24972317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5 – Develop FACT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develop and post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FACT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FACT Cards complete, posted on diagram and numbered.</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966166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5 Exercise: Develop FACT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FACT Cards that support the problem statement of this event.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develop and post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FACT Cards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155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FACT Cards complete, reviewed, and numbered.</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3662036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6 - Develop IMPROVEMENT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IMPROVEMENT Cards and how they are used</a:t>
            </a:r>
          </a:p>
          <a:p>
            <a:r>
              <a:rPr lang="en-US" sz="2400" dirty="0"/>
              <a:t>Describe the format details for IMPROVEMENT Cards</a:t>
            </a:r>
          </a:p>
          <a:p>
            <a:r>
              <a:rPr lang="en-US" sz="2400" dirty="0"/>
              <a:t>Describe process for developing and posting the IMPROVEMENT Cards</a:t>
            </a:r>
          </a:p>
          <a:p>
            <a:r>
              <a:rPr lang="en-US" sz="2400" dirty="0"/>
              <a:t>Define how to incorporate existing improvement actions into the CEDAC method and capture current actions and initiatives</a:t>
            </a:r>
          </a:p>
          <a:p>
            <a:r>
              <a:rPr lang="en-US" sz="2400" dirty="0"/>
              <a:t>Complete development of IMPROVEMENT Cards for business problem</a:t>
            </a:r>
          </a:p>
          <a:p>
            <a:r>
              <a:rPr lang="en-US" sz="2400" dirty="0"/>
              <a:t>Conduct team review of IMPROVEMENT Cards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717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406896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12679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IMPROVEMENT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grpSp>
        <p:nvGrpSpPr>
          <p:cNvPr id="13" name="Group 12">
            <a:extLst>
              <a:ext uri="{FF2B5EF4-FFF2-40B4-BE49-F238E27FC236}">
                <a16:creationId xmlns:a16="http://schemas.microsoft.com/office/drawing/2014/main" id="{FDB0EBAE-D458-D58C-899E-4F2DC285E99B}"/>
              </a:ext>
            </a:extLst>
          </p:cNvPr>
          <p:cNvGrpSpPr/>
          <p:nvPr/>
        </p:nvGrpSpPr>
        <p:grpSpPr>
          <a:xfrm>
            <a:off x="6973631" y="1908811"/>
            <a:ext cx="4728469" cy="3777498"/>
            <a:chOff x="6798849" y="2223299"/>
            <a:chExt cx="3376613" cy="3151567"/>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223299"/>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3811860"/>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577312"/>
              <a:ext cx="3376613" cy="91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 to record your proposals about how to solve the problem or reach the target</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Blue post-its address the yellow post-its</a:t>
              </a:r>
            </a:p>
            <a:p>
              <a:pPr marL="0" indent="0">
                <a:spcBef>
                  <a:spcPct val="30000"/>
                </a:spcBef>
                <a:spcAft>
                  <a:spcPct val="0"/>
                </a:spcAft>
                <a:buClr>
                  <a:schemeClr val="tx1"/>
                </a:buClr>
                <a:buNone/>
              </a:pPr>
              <a:endParaRPr lang="en-US" altLang="en-US" sz="1800" dirty="0">
                <a:latin typeface="Roboto" panose="02000000000000000000" pitchFamily="2" charset="0"/>
                <a:ea typeface="Roboto" panose="02000000000000000000" pitchFamily="2" charset="0"/>
              </a:endParaRP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798850" y="415884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ts val="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Recommendations</a:t>
              </a:r>
            </a:p>
            <a:p>
              <a:pPr>
                <a:lnSpc>
                  <a:spcPct val="100000"/>
                </a:lnSpc>
                <a:spcBef>
                  <a:spcPts val="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Countermeasures</a:t>
              </a:r>
            </a:p>
            <a:p>
              <a:pPr>
                <a:lnSpc>
                  <a:spcPct val="100000"/>
                </a:lnSpc>
                <a:spcBef>
                  <a:spcPts val="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Corrective ideas</a:t>
              </a:r>
            </a:p>
            <a:p>
              <a:pPr>
                <a:lnSpc>
                  <a:spcPct val="100000"/>
                </a:lnSpc>
                <a:spcBef>
                  <a:spcPts val="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Improvement ideas</a:t>
              </a:r>
            </a:p>
            <a:p>
              <a:pPr>
                <a:lnSpc>
                  <a:spcPct val="100000"/>
                </a:lnSpc>
                <a:spcBef>
                  <a:spcPts val="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Suggestions</a:t>
              </a:r>
            </a:p>
          </p:txBody>
        </p:sp>
      </p:gr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36" name="Group 15">
            <a:extLst>
              <a:ext uri="{FF2B5EF4-FFF2-40B4-BE49-F238E27FC236}">
                <a16:creationId xmlns:a16="http://schemas.microsoft.com/office/drawing/2014/main" id="{5AF6A7FA-DD08-9BF9-E59A-C853D37DB8A3}"/>
              </a:ext>
            </a:extLst>
          </p:cNvPr>
          <p:cNvGrpSpPr>
            <a:grpSpLocks/>
          </p:cNvGrpSpPr>
          <p:nvPr/>
        </p:nvGrpSpPr>
        <p:grpSpPr bwMode="auto">
          <a:xfrm>
            <a:off x="1734730" y="1858963"/>
            <a:ext cx="3830320" cy="4474185"/>
            <a:chOff x="739" y="1072"/>
            <a:chExt cx="1611" cy="2349"/>
          </a:xfrm>
        </p:grpSpPr>
        <p:sp>
          <p:nvSpPr>
            <p:cNvPr id="37" name="Rectangle 16">
              <a:extLst>
                <a:ext uri="{FF2B5EF4-FFF2-40B4-BE49-F238E27FC236}">
                  <a16:creationId xmlns:a16="http://schemas.microsoft.com/office/drawing/2014/main" id="{5DCC8D94-684B-9578-0D1B-B60C6A329391}"/>
                </a:ext>
              </a:extLst>
            </p:cNvPr>
            <p:cNvSpPr>
              <a:spLocks noChangeArrowheads="1"/>
            </p:cNvSpPr>
            <p:nvPr/>
          </p:nvSpPr>
          <p:spPr bwMode="auto">
            <a:xfrm>
              <a:off x="739" y="1074"/>
              <a:ext cx="1611" cy="234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8" name="Text Box 17">
              <a:extLst>
                <a:ext uri="{FF2B5EF4-FFF2-40B4-BE49-F238E27FC236}">
                  <a16:creationId xmlns:a16="http://schemas.microsoft.com/office/drawing/2014/main" id="{A3D6DDC5-B3F8-4538-FD1D-CE141F533FF3}"/>
                </a:ext>
              </a:extLst>
            </p:cNvPr>
            <p:cNvSpPr txBox="1">
              <a:spLocks noChangeArrowheads="1"/>
            </p:cNvSpPr>
            <p:nvPr/>
          </p:nvSpPr>
          <p:spPr bwMode="auto">
            <a:xfrm>
              <a:off x="1916" y="1130"/>
              <a:ext cx="34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&lt;Date&gt;</a:t>
              </a:r>
            </a:p>
          </p:txBody>
        </p:sp>
        <p:sp>
          <p:nvSpPr>
            <p:cNvPr id="39" name="Text Box 18">
              <a:extLst>
                <a:ext uri="{FF2B5EF4-FFF2-40B4-BE49-F238E27FC236}">
                  <a16:creationId xmlns:a16="http://schemas.microsoft.com/office/drawing/2014/main" id="{7048588E-9BCC-6569-460D-C0A20DFDB41E}"/>
                </a:ext>
              </a:extLst>
            </p:cNvPr>
            <p:cNvSpPr txBox="1">
              <a:spLocks noChangeArrowheads="1"/>
            </p:cNvSpPr>
            <p:nvPr/>
          </p:nvSpPr>
          <p:spPr bwMode="auto">
            <a:xfrm>
              <a:off x="1888" y="2886"/>
              <a:ext cx="39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&lt;Name&gt;</a:t>
              </a:r>
            </a:p>
          </p:txBody>
        </p:sp>
        <p:sp>
          <p:nvSpPr>
            <p:cNvPr id="40" name="Text Box 19">
              <a:extLst>
                <a:ext uri="{FF2B5EF4-FFF2-40B4-BE49-F238E27FC236}">
                  <a16:creationId xmlns:a16="http://schemas.microsoft.com/office/drawing/2014/main" id="{967C2E6F-ECD5-A3ED-42E3-E8EBB93BC2F0}"/>
                </a:ext>
              </a:extLst>
            </p:cNvPr>
            <p:cNvSpPr txBox="1">
              <a:spLocks noChangeArrowheads="1"/>
            </p:cNvSpPr>
            <p:nvPr/>
          </p:nvSpPr>
          <p:spPr bwMode="auto">
            <a:xfrm>
              <a:off x="787" y="1072"/>
              <a:ext cx="304"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a:t>
              </a:r>
            </a:p>
          </p:txBody>
        </p:sp>
        <p:sp>
          <p:nvSpPr>
            <p:cNvPr id="41" name="Text Box 20">
              <a:extLst>
                <a:ext uri="{FF2B5EF4-FFF2-40B4-BE49-F238E27FC236}">
                  <a16:creationId xmlns:a16="http://schemas.microsoft.com/office/drawing/2014/main" id="{9BDFE9BC-8F78-9608-3BD5-75024397725B}"/>
                </a:ext>
              </a:extLst>
            </p:cNvPr>
            <p:cNvSpPr txBox="1">
              <a:spLocks noChangeArrowheads="1"/>
            </p:cNvSpPr>
            <p:nvPr/>
          </p:nvSpPr>
          <p:spPr bwMode="auto">
            <a:xfrm>
              <a:off x="831" y="2887"/>
              <a:ext cx="5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FACT Card #</a:t>
              </a:r>
            </a:p>
          </p:txBody>
        </p:sp>
        <p:sp>
          <p:nvSpPr>
            <p:cNvPr id="42" name="Rectangle 21">
              <a:extLst>
                <a:ext uri="{FF2B5EF4-FFF2-40B4-BE49-F238E27FC236}">
                  <a16:creationId xmlns:a16="http://schemas.microsoft.com/office/drawing/2014/main" id="{61C4BCC9-AF01-58D7-976E-131A7078CC14}"/>
                </a:ext>
              </a:extLst>
            </p:cNvPr>
            <p:cNvSpPr>
              <a:spLocks noChangeArrowheads="1"/>
            </p:cNvSpPr>
            <p:nvPr/>
          </p:nvSpPr>
          <p:spPr bwMode="auto">
            <a:xfrm>
              <a:off x="804" y="1366"/>
              <a:ext cx="1480" cy="147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3" name="Text Box 22">
              <a:extLst>
                <a:ext uri="{FF2B5EF4-FFF2-40B4-BE49-F238E27FC236}">
                  <a16:creationId xmlns:a16="http://schemas.microsoft.com/office/drawing/2014/main" id="{4BEDEDCA-BFCB-C40E-65CB-92182D0686FF}"/>
                </a:ext>
              </a:extLst>
            </p:cNvPr>
            <p:cNvSpPr txBox="1">
              <a:spLocks noChangeArrowheads="1"/>
            </p:cNvSpPr>
            <p:nvPr/>
          </p:nvSpPr>
          <p:spPr bwMode="auto">
            <a:xfrm>
              <a:off x="909" y="1570"/>
              <a:ext cx="128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&lt;Countermeasure Description&gt;</a:t>
              </a:r>
            </a:p>
            <a:p>
              <a:pPr algn="ctr">
                <a:lnSpc>
                  <a:spcPct val="80000"/>
                </a:lnSpc>
                <a:spcBef>
                  <a:spcPct val="20000"/>
                </a:spcBef>
                <a:spcAft>
                  <a:spcPct val="0"/>
                </a:spcAft>
                <a:buClrTx/>
                <a:buSzTx/>
                <a:buFontTx/>
                <a:buNone/>
              </a:pPr>
              <a:endParaRPr lang="en-US" altLang="en-US" sz="160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a:t>
              </a:r>
              <a:r>
                <a:rPr lang="en-US" altLang="en-US" sz="1600" u="sng">
                  <a:latin typeface="Roboto" panose="02000000000000000000" pitchFamily="2" charset="0"/>
                  <a:ea typeface="Roboto" panose="02000000000000000000" pitchFamily="2" charset="0"/>
                </a:rPr>
                <a:t>Detailed</a:t>
              </a:r>
              <a:r>
                <a:rPr lang="en-US" altLang="en-US" sz="1600">
                  <a:latin typeface="Roboto" panose="02000000000000000000" pitchFamily="2" charset="0"/>
                  <a:ea typeface="Roboto" panose="02000000000000000000" pitchFamily="2" charset="0"/>
                </a:rPr>
                <a:t> Text)</a:t>
              </a:r>
            </a:p>
          </p:txBody>
        </p:sp>
        <p:sp>
          <p:nvSpPr>
            <p:cNvPr id="44" name="Rectangle 23">
              <a:extLst>
                <a:ext uri="{FF2B5EF4-FFF2-40B4-BE49-F238E27FC236}">
                  <a16:creationId xmlns:a16="http://schemas.microsoft.com/office/drawing/2014/main" id="{AF95CB45-D915-37BF-0E40-9025A29CC122}"/>
                </a:ext>
              </a:extLst>
            </p:cNvPr>
            <p:cNvSpPr>
              <a:spLocks noChangeArrowheads="1"/>
            </p:cNvSpPr>
            <p:nvPr/>
          </p:nvSpPr>
          <p:spPr bwMode="auto">
            <a:xfrm>
              <a:off x="756" y="3057"/>
              <a:ext cx="1562" cy="350"/>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5" name="Oval 24">
              <a:extLst>
                <a:ext uri="{FF2B5EF4-FFF2-40B4-BE49-F238E27FC236}">
                  <a16:creationId xmlns:a16="http://schemas.microsoft.com/office/drawing/2014/main" id="{27C7357F-9CB2-9D18-2AF9-43A7AAFEFD45}"/>
                </a:ext>
              </a:extLst>
            </p:cNvPr>
            <p:cNvSpPr>
              <a:spLocks noChangeArrowheads="1"/>
            </p:cNvSpPr>
            <p:nvPr/>
          </p:nvSpPr>
          <p:spPr bwMode="auto">
            <a:xfrm>
              <a:off x="1116" y="3099"/>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6" name="Oval 25">
              <a:extLst>
                <a:ext uri="{FF2B5EF4-FFF2-40B4-BE49-F238E27FC236}">
                  <a16:creationId xmlns:a16="http://schemas.microsoft.com/office/drawing/2014/main" id="{1921CF9F-0835-7857-139A-09CCEDA1D195}"/>
                </a:ext>
              </a:extLst>
            </p:cNvPr>
            <p:cNvSpPr>
              <a:spLocks noChangeArrowheads="1"/>
            </p:cNvSpPr>
            <p:nvPr/>
          </p:nvSpPr>
          <p:spPr bwMode="auto">
            <a:xfrm>
              <a:off x="1415" y="3095"/>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26">
              <a:extLst>
                <a:ext uri="{FF2B5EF4-FFF2-40B4-BE49-F238E27FC236}">
                  <a16:creationId xmlns:a16="http://schemas.microsoft.com/office/drawing/2014/main" id="{BC4A6714-7BC7-CE5C-3BB1-8F1C2BB9A6CD}"/>
                </a:ext>
              </a:extLst>
            </p:cNvPr>
            <p:cNvSpPr>
              <a:spLocks noChangeArrowheads="1"/>
            </p:cNvSpPr>
            <p:nvPr/>
          </p:nvSpPr>
          <p:spPr bwMode="auto">
            <a:xfrm>
              <a:off x="1709" y="3091"/>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sp>
        <p:nvSpPr>
          <p:cNvPr id="48" name="AutoShape 11">
            <a:extLst>
              <a:ext uri="{FF2B5EF4-FFF2-40B4-BE49-F238E27FC236}">
                <a16:creationId xmlns:a16="http://schemas.microsoft.com/office/drawing/2014/main" id="{B69C20E8-9812-E184-613C-88A13D881F11}"/>
              </a:ext>
            </a:extLst>
          </p:cNvPr>
          <p:cNvSpPr>
            <a:spLocks noChangeArrowheads="1"/>
          </p:cNvSpPr>
          <p:nvPr/>
        </p:nvSpPr>
        <p:spPr bwMode="auto">
          <a:xfrm>
            <a:off x="6180927" y="2578603"/>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1057809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IMPROVEMENT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36" name="Group 15">
            <a:extLst>
              <a:ext uri="{FF2B5EF4-FFF2-40B4-BE49-F238E27FC236}">
                <a16:creationId xmlns:a16="http://schemas.microsoft.com/office/drawing/2014/main" id="{5AF6A7FA-DD08-9BF9-E59A-C853D37DB8A3}"/>
              </a:ext>
            </a:extLst>
          </p:cNvPr>
          <p:cNvGrpSpPr>
            <a:grpSpLocks/>
          </p:cNvGrpSpPr>
          <p:nvPr/>
        </p:nvGrpSpPr>
        <p:grpSpPr bwMode="auto">
          <a:xfrm>
            <a:off x="2634762" y="1858963"/>
            <a:ext cx="3830320" cy="4474185"/>
            <a:chOff x="739" y="1072"/>
            <a:chExt cx="1611" cy="2349"/>
          </a:xfrm>
        </p:grpSpPr>
        <p:sp>
          <p:nvSpPr>
            <p:cNvPr id="37" name="Rectangle 16">
              <a:extLst>
                <a:ext uri="{FF2B5EF4-FFF2-40B4-BE49-F238E27FC236}">
                  <a16:creationId xmlns:a16="http://schemas.microsoft.com/office/drawing/2014/main" id="{5DCC8D94-684B-9578-0D1B-B60C6A329391}"/>
                </a:ext>
              </a:extLst>
            </p:cNvPr>
            <p:cNvSpPr>
              <a:spLocks noChangeArrowheads="1"/>
            </p:cNvSpPr>
            <p:nvPr/>
          </p:nvSpPr>
          <p:spPr bwMode="auto">
            <a:xfrm>
              <a:off x="739" y="1074"/>
              <a:ext cx="1611" cy="234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8" name="Text Box 17">
              <a:extLst>
                <a:ext uri="{FF2B5EF4-FFF2-40B4-BE49-F238E27FC236}">
                  <a16:creationId xmlns:a16="http://schemas.microsoft.com/office/drawing/2014/main" id="{A3D6DDC5-B3F8-4538-FD1D-CE141F533FF3}"/>
                </a:ext>
              </a:extLst>
            </p:cNvPr>
            <p:cNvSpPr txBox="1">
              <a:spLocks noChangeArrowheads="1"/>
            </p:cNvSpPr>
            <p:nvPr/>
          </p:nvSpPr>
          <p:spPr bwMode="auto">
            <a:xfrm>
              <a:off x="1916" y="1130"/>
              <a:ext cx="34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&lt;Date&gt;</a:t>
              </a:r>
            </a:p>
          </p:txBody>
        </p:sp>
        <p:sp>
          <p:nvSpPr>
            <p:cNvPr id="39" name="Text Box 18">
              <a:extLst>
                <a:ext uri="{FF2B5EF4-FFF2-40B4-BE49-F238E27FC236}">
                  <a16:creationId xmlns:a16="http://schemas.microsoft.com/office/drawing/2014/main" id="{7048588E-9BCC-6569-460D-C0A20DFDB41E}"/>
                </a:ext>
              </a:extLst>
            </p:cNvPr>
            <p:cNvSpPr txBox="1">
              <a:spLocks noChangeArrowheads="1"/>
            </p:cNvSpPr>
            <p:nvPr/>
          </p:nvSpPr>
          <p:spPr bwMode="auto">
            <a:xfrm>
              <a:off x="1888" y="2886"/>
              <a:ext cx="39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&lt;Name&gt;</a:t>
              </a:r>
            </a:p>
          </p:txBody>
        </p:sp>
        <p:sp>
          <p:nvSpPr>
            <p:cNvPr id="40" name="Text Box 19">
              <a:extLst>
                <a:ext uri="{FF2B5EF4-FFF2-40B4-BE49-F238E27FC236}">
                  <a16:creationId xmlns:a16="http://schemas.microsoft.com/office/drawing/2014/main" id="{967C2E6F-ECD5-A3ED-42E3-E8EBB93BC2F0}"/>
                </a:ext>
              </a:extLst>
            </p:cNvPr>
            <p:cNvSpPr txBox="1">
              <a:spLocks noChangeArrowheads="1"/>
            </p:cNvSpPr>
            <p:nvPr/>
          </p:nvSpPr>
          <p:spPr bwMode="auto">
            <a:xfrm>
              <a:off x="787" y="1072"/>
              <a:ext cx="304"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a:t>
              </a:r>
            </a:p>
          </p:txBody>
        </p:sp>
        <p:sp>
          <p:nvSpPr>
            <p:cNvPr id="41" name="Text Box 20">
              <a:extLst>
                <a:ext uri="{FF2B5EF4-FFF2-40B4-BE49-F238E27FC236}">
                  <a16:creationId xmlns:a16="http://schemas.microsoft.com/office/drawing/2014/main" id="{9BDFE9BC-8F78-9608-3BD5-75024397725B}"/>
                </a:ext>
              </a:extLst>
            </p:cNvPr>
            <p:cNvSpPr txBox="1">
              <a:spLocks noChangeArrowheads="1"/>
            </p:cNvSpPr>
            <p:nvPr/>
          </p:nvSpPr>
          <p:spPr bwMode="auto">
            <a:xfrm>
              <a:off x="831" y="2887"/>
              <a:ext cx="5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FACT Card #</a:t>
              </a:r>
            </a:p>
          </p:txBody>
        </p:sp>
        <p:sp>
          <p:nvSpPr>
            <p:cNvPr id="42" name="Rectangle 21">
              <a:extLst>
                <a:ext uri="{FF2B5EF4-FFF2-40B4-BE49-F238E27FC236}">
                  <a16:creationId xmlns:a16="http://schemas.microsoft.com/office/drawing/2014/main" id="{61C4BCC9-AF01-58D7-976E-131A7078CC14}"/>
                </a:ext>
              </a:extLst>
            </p:cNvPr>
            <p:cNvSpPr>
              <a:spLocks noChangeArrowheads="1"/>
            </p:cNvSpPr>
            <p:nvPr/>
          </p:nvSpPr>
          <p:spPr bwMode="auto">
            <a:xfrm>
              <a:off x="804" y="1366"/>
              <a:ext cx="1480" cy="147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3" name="Text Box 22">
              <a:extLst>
                <a:ext uri="{FF2B5EF4-FFF2-40B4-BE49-F238E27FC236}">
                  <a16:creationId xmlns:a16="http://schemas.microsoft.com/office/drawing/2014/main" id="{4BEDEDCA-BFCB-C40E-65CB-92182D0686FF}"/>
                </a:ext>
              </a:extLst>
            </p:cNvPr>
            <p:cNvSpPr txBox="1">
              <a:spLocks noChangeArrowheads="1"/>
            </p:cNvSpPr>
            <p:nvPr/>
          </p:nvSpPr>
          <p:spPr bwMode="auto">
            <a:xfrm>
              <a:off x="909" y="1570"/>
              <a:ext cx="128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&lt;Countermeasure Description&gt;</a:t>
              </a:r>
            </a:p>
            <a:p>
              <a:pPr algn="ctr">
                <a:lnSpc>
                  <a:spcPct val="80000"/>
                </a:lnSpc>
                <a:spcBef>
                  <a:spcPct val="20000"/>
                </a:spcBef>
                <a:spcAft>
                  <a:spcPct val="0"/>
                </a:spcAft>
                <a:buClrTx/>
                <a:buSzTx/>
                <a:buFontTx/>
                <a:buNone/>
              </a:pPr>
              <a:endParaRPr lang="en-US" altLang="en-US" sz="160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a:t>
              </a:r>
              <a:r>
                <a:rPr lang="en-US" altLang="en-US" sz="1600" u="sng">
                  <a:latin typeface="Roboto" panose="02000000000000000000" pitchFamily="2" charset="0"/>
                  <a:ea typeface="Roboto" panose="02000000000000000000" pitchFamily="2" charset="0"/>
                </a:rPr>
                <a:t>Detailed</a:t>
              </a:r>
              <a:r>
                <a:rPr lang="en-US" altLang="en-US" sz="1600">
                  <a:latin typeface="Roboto" panose="02000000000000000000" pitchFamily="2" charset="0"/>
                  <a:ea typeface="Roboto" panose="02000000000000000000" pitchFamily="2" charset="0"/>
                </a:rPr>
                <a:t> Text)</a:t>
              </a:r>
            </a:p>
          </p:txBody>
        </p:sp>
        <p:sp>
          <p:nvSpPr>
            <p:cNvPr id="44" name="Rectangle 23">
              <a:extLst>
                <a:ext uri="{FF2B5EF4-FFF2-40B4-BE49-F238E27FC236}">
                  <a16:creationId xmlns:a16="http://schemas.microsoft.com/office/drawing/2014/main" id="{AF95CB45-D915-37BF-0E40-9025A29CC122}"/>
                </a:ext>
              </a:extLst>
            </p:cNvPr>
            <p:cNvSpPr>
              <a:spLocks noChangeArrowheads="1"/>
            </p:cNvSpPr>
            <p:nvPr/>
          </p:nvSpPr>
          <p:spPr bwMode="auto">
            <a:xfrm>
              <a:off x="756" y="3057"/>
              <a:ext cx="1562" cy="350"/>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5" name="Oval 24">
              <a:extLst>
                <a:ext uri="{FF2B5EF4-FFF2-40B4-BE49-F238E27FC236}">
                  <a16:creationId xmlns:a16="http://schemas.microsoft.com/office/drawing/2014/main" id="{27C7357F-9CB2-9D18-2AF9-43A7AAFEFD45}"/>
                </a:ext>
              </a:extLst>
            </p:cNvPr>
            <p:cNvSpPr>
              <a:spLocks noChangeArrowheads="1"/>
            </p:cNvSpPr>
            <p:nvPr/>
          </p:nvSpPr>
          <p:spPr bwMode="auto">
            <a:xfrm>
              <a:off x="1116" y="3099"/>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6" name="Oval 25">
              <a:extLst>
                <a:ext uri="{FF2B5EF4-FFF2-40B4-BE49-F238E27FC236}">
                  <a16:creationId xmlns:a16="http://schemas.microsoft.com/office/drawing/2014/main" id="{1921CF9F-0835-7857-139A-09CCEDA1D195}"/>
                </a:ext>
              </a:extLst>
            </p:cNvPr>
            <p:cNvSpPr>
              <a:spLocks noChangeArrowheads="1"/>
            </p:cNvSpPr>
            <p:nvPr/>
          </p:nvSpPr>
          <p:spPr bwMode="auto">
            <a:xfrm>
              <a:off x="1415" y="3095"/>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26">
              <a:extLst>
                <a:ext uri="{FF2B5EF4-FFF2-40B4-BE49-F238E27FC236}">
                  <a16:creationId xmlns:a16="http://schemas.microsoft.com/office/drawing/2014/main" id="{BC4A6714-7BC7-CE5C-3BB1-8F1C2BB9A6CD}"/>
                </a:ext>
              </a:extLst>
            </p:cNvPr>
            <p:cNvSpPr>
              <a:spLocks noChangeArrowheads="1"/>
            </p:cNvSpPr>
            <p:nvPr/>
          </p:nvSpPr>
          <p:spPr bwMode="auto">
            <a:xfrm>
              <a:off x="1709" y="3091"/>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grpSp>
        <p:nvGrpSpPr>
          <p:cNvPr id="26" name="Group 25">
            <a:extLst>
              <a:ext uri="{FF2B5EF4-FFF2-40B4-BE49-F238E27FC236}">
                <a16:creationId xmlns:a16="http://schemas.microsoft.com/office/drawing/2014/main" id="{BB84D1BD-12BD-CA74-A78B-DC09FA3304A0}"/>
              </a:ext>
            </a:extLst>
          </p:cNvPr>
          <p:cNvGrpSpPr/>
          <p:nvPr/>
        </p:nvGrpSpPr>
        <p:grpSpPr>
          <a:xfrm>
            <a:off x="7858645" y="1847881"/>
            <a:ext cx="3776406" cy="4447520"/>
            <a:chOff x="7526574" y="1978729"/>
            <a:chExt cx="2557463" cy="3725862"/>
          </a:xfrm>
        </p:grpSpPr>
        <p:sp>
          <p:nvSpPr>
            <p:cNvPr id="4" name="Rectangle 16">
              <a:extLst>
                <a:ext uri="{FF2B5EF4-FFF2-40B4-BE49-F238E27FC236}">
                  <a16:creationId xmlns:a16="http://schemas.microsoft.com/office/drawing/2014/main" id="{E1C745B0-FA34-09AF-4814-EE180B1CE25A}"/>
                </a:ext>
              </a:extLst>
            </p:cNvPr>
            <p:cNvSpPr>
              <a:spLocks noChangeArrowheads="1"/>
            </p:cNvSpPr>
            <p:nvPr/>
          </p:nvSpPr>
          <p:spPr bwMode="auto">
            <a:xfrm>
              <a:off x="7526574" y="1978729"/>
              <a:ext cx="2557463" cy="3725862"/>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4" name="Text Box 17">
              <a:extLst>
                <a:ext uri="{FF2B5EF4-FFF2-40B4-BE49-F238E27FC236}">
                  <a16:creationId xmlns:a16="http://schemas.microsoft.com/office/drawing/2014/main" id="{9CC8E688-6926-04CA-B53D-6C0AE1FE7F98}"/>
                </a:ext>
              </a:extLst>
            </p:cNvPr>
            <p:cNvSpPr txBox="1">
              <a:spLocks noChangeArrowheads="1"/>
            </p:cNvSpPr>
            <p:nvPr/>
          </p:nvSpPr>
          <p:spPr bwMode="auto">
            <a:xfrm>
              <a:off x="9281491" y="2070804"/>
              <a:ext cx="776413"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04/02/07</a:t>
              </a:r>
            </a:p>
          </p:txBody>
        </p:sp>
        <p:sp>
          <p:nvSpPr>
            <p:cNvPr id="15" name="Text Box 18">
              <a:extLst>
                <a:ext uri="{FF2B5EF4-FFF2-40B4-BE49-F238E27FC236}">
                  <a16:creationId xmlns:a16="http://schemas.microsoft.com/office/drawing/2014/main" id="{82170A33-40FD-8F7B-EC25-7B4CBD18342A}"/>
                </a:ext>
              </a:extLst>
            </p:cNvPr>
            <p:cNvSpPr txBox="1">
              <a:spLocks noChangeArrowheads="1"/>
            </p:cNvSpPr>
            <p:nvPr/>
          </p:nvSpPr>
          <p:spPr bwMode="auto">
            <a:xfrm>
              <a:off x="9239703" y="4828291"/>
              <a:ext cx="732989"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dirty="0">
                  <a:latin typeface="Comic Sans MS" panose="030F0702030302020204" pitchFamily="66" charset="0"/>
                </a:rPr>
                <a:t>John Doe</a:t>
              </a:r>
            </a:p>
          </p:txBody>
        </p:sp>
        <p:sp>
          <p:nvSpPr>
            <p:cNvPr id="16" name="Text Box 19">
              <a:extLst>
                <a:ext uri="{FF2B5EF4-FFF2-40B4-BE49-F238E27FC236}">
                  <a16:creationId xmlns:a16="http://schemas.microsoft.com/office/drawing/2014/main" id="{1E424504-737D-F555-B354-5BADC2B5C435}"/>
                </a:ext>
              </a:extLst>
            </p:cNvPr>
            <p:cNvSpPr txBox="1">
              <a:spLocks noChangeArrowheads="1"/>
            </p:cNvSpPr>
            <p:nvPr/>
          </p:nvSpPr>
          <p:spPr bwMode="auto">
            <a:xfrm>
              <a:off x="7697138" y="2064454"/>
              <a:ext cx="209735"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5</a:t>
              </a:r>
            </a:p>
          </p:txBody>
        </p:sp>
        <p:sp>
          <p:nvSpPr>
            <p:cNvPr id="17" name="Text Box 20">
              <a:extLst>
                <a:ext uri="{FF2B5EF4-FFF2-40B4-BE49-F238E27FC236}">
                  <a16:creationId xmlns:a16="http://schemas.microsoft.com/office/drawing/2014/main" id="{FC513865-3B72-E561-58C7-A1300A7A13A1}"/>
                </a:ext>
              </a:extLst>
            </p:cNvPr>
            <p:cNvSpPr txBox="1">
              <a:spLocks noChangeArrowheads="1"/>
            </p:cNvSpPr>
            <p:nvPr/>
          </p:nvSpPr>
          <p:spPr bwMode="auto">
            <a:xfrm>
              <a:off x="7722536" y="4802891"/>
              <a:ext cx="209735"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2</a:t>
              </a:r>
            </a:p>
          </p:txBody>
        </p:sp>
        <p:sp>
          <p:nvSpPr>
            <p:cNvPr id="18" name="Text Box 21">
              <a:extLst>
                <a:ext uri="{FF2B5EF4-FFF2-40B4-BE49-F238E27FC236}">
                  <a16:creationId xmlns:a16="http://schemas.microsoft.com/office/drawing/2014/main" id="{77FE58CE-239B-2CF0-23C9-C9EDD0D508C8}"/>
                </a:ext>
              </a:extLst>
            </p:cNvPr>
            <p:cNvSpPr txBox="1">
              <a:spLocks noChangeArrowheads="1"/>
            </p:cNvSpPr>
            <p:nvPr/>
          </p:nvSpPr>
          <p:spPr bwMode="auto">
            <a:xfrm>
              <a:off x="7783748" y="2601029"/>
              <a:ext cx="2136775" cy="107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400" b="0" dirty="0">
                  <a:latin typeface="Comic Sans MS" panose="030F0702030302020204" pitchFamily="66" charset="0"/>
                </a:rPr>
                <a:t>Train sales force in proper method of entering quotes in Order Entry system</a:t>
              </a:r>
            </a:p>
          </p:txBody>
        </p:sp>
        <p:sp>
          <p:nvSpPr>
            <p:cNvPr id="19" name="Freeform 22">
              <a:extLst>
                <a:ext uri="{FF2B5EF4-FFF2-40B4-BE49-F238E27FC236}">
                  <a16:creationId xmlns:a16="http://schemas.microsoft.com/office/drawing/2014/main" id="{4F600CCD-A538-F2EA-BBD5-DCDE0486F987}"/>
                </a:ext>
              </a:extLst>
            </p:cNvPr>
            <p:cNvSpPr>
              <a:spLocks/>
            </p:cNvSpPr>
            <p:nvPr/>
          </p:nvSpPr>
          <p:spPr bwMode="auto">
            <a:xfrm>
              <a:off x="7626586" y="2053341"/>
              <a:ext cx="331787" cy="247650"/>
            </a:xfrm>
            <a:custGeom>
              <a:avLst/>
              <a:gdLst>
                <a:gd name="T0" fmla="*/ 2147483646 w 257"/>
                <a:gd name="T1" fmla="*/ 2147483646 h 213"/>
                <a:gd name="T2" fmla="*/ 2147483646 w 257"/>
                <a:gd name="T3" fmla="*/ 2147483646 h 213"/>
                <a:gd name="T4" fmla="*/ 2147483646 w 257"/>
                <a:gd name="T5" fmla="*/ 2147483646 h 213"/>
                <a:gd name="T6" fmla="*/ 2147483646 w 257"/>
                <a:gd name="T7" fmla="*/ 2147483646 h 213"/>
                <a:gd name="T8" fmla="*/ 2147483646 w 257"/>
                <a:gd name="T9" fmla="*/ 2147483646 h 213"/>
                <a:gd name="T10" fmla="*/ 2147483646 w 257"/>
                <a:gd name="T11" fmla="*/ 2147483646 h 213"/>
                <a:gd name="T12" fmla="*/ 2147483646 w 257"/>
                <a:gd name="T13" fmla="*/ 2147483646 h 213"/>
                <a:gd name="T14" fmla="*/ 2147483646 w 257"/>
                <a:gd name="T15" fmla="*/ 2147483646 h 213"/>
                <a:gd name="T16" fmla="*/ 2147483646 w 257"/>
                <a:gd name="T17" fmla="*/ 2147483646 h 213"/>
                <a:gd name="T18" fmla="*/ 2147483646 w 257"/>
                <a:gd name="T19" fmla="*/ 0 h 213"/>
                <a:gd name="T20" fmla="*/ 2147483646 w 257"/>
                <a:gd name="T21" fmla="*/ 2147483646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 h="213">
                  <a:moveTo>
                    <a:pt x="70" y="10"/>
                  </a:moveTo>
                  <a:cubicBezTo>
                    <a:pt x="41" y="23"/>
                    <a:pt x="38" y="37"/>
                    <a:pt x="22" y="62"/>
                  </a:cubicBezTo>
                  <a:cubicBezTo>
                    <a:pt x="16" y="91"/>
                    <a:pt x="0" y="136"/>
                    <a:pt x="22" y="163"/>
                  </a:cubicBezTo>
                  <a:cubicBezTo>
                    <a:pt x="38" y="182"/>
                    <a:pt x="62" y="189"/>
                    <a:pt x="84" y="197"/>
                  </a:cubicBezTo>
                  <a:cubicBezTo>
                    <a:pt x="89" y="199"/>
                    <a:pt x="98" y="202"/>
                    <a:pt x="98" y="202"/>
                  </a:cubicBezTo>
                  <a:cubicBezTo>
                    <a:pt x="218" y="196"/>
                    <a:pt x="180" y="213"/>
                    <a:pt x="242" y="168"/>
                  </a:cubicBezTo>
                  <a:cubicBezTo>
                    <a:pt x="245" y="158"/>
                    <a:pt x="249" y="149"/>
                    <a:pt x="252" y="139"/>
                  </a:cubicBezTo>
                  <a:cubicBezTo>
                    <a:pt x="254" y="134"/>
                    <a:pt x="257" y="125"/>
                    <a:pt x="257" y="125"/>
                  </a:cubicBezTo>
                  <a:cubicBezTo>
                    <a:pt x="252" y="87"/>
                    <a:pt x="251" y="86"/>
                    <a:pt x="233" y="58"/>
                  </a:cubicBezTo>
                  <a:cubicBezTo>
                    <a:pt x="225" y="26"/>
                    <a:pt x="206" y="10"/>
                    <a:pt x="175" y="0"/>
                  </a:cubicBezTo>
                  <a:cubicBezTo>
                    <a:pt x="146" y="2"/>
                    <a:pt x="102" y="10"/>
                    <a:pt x="70" y="10"/>
                  </a:cubicBezTo>
                  <a:close/>
                </a:path>
              </a:pathLst>
            </a:custGeom>
            <a:noFill/>
            <a:ln w="12700"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3">
              <a:extLst>
                <a:ext uri="{FF2B5EF4-FFF2-40B4-BE49-F238E27FC236}">
                  <a16:creationId xmlns:a16="http://schemas.microsoft.com/office/drawing/2014/main" id="{E72B130A-88A6-AE0D-2A80-756A6C5C232B}"/>
                </a:ext>
              </a:extLst>
            </p:cNvPr>
            <p:cNvSpPr>
              <a:spLocks/>
            </p:cNvSpPr>
            <p:nvPr/>
          </p:nvSpPr>
          <p:spPr bwMode="auto">
            <a:xfrm>
              <a:off x="7553561" y="2375604"/>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4">
              <a:extLst>
                <a:ext uri="{FF2B5EF4-FFF2-40B4-BE49-F238E27FC236}">
                  <a16:creationId xmlns:a16="http://schemas.microsoft.com/office/drawing/2014/main" id="{8A4658CD-DE7B-D600-6A6D-F750EA7C8049}"/>
                </a:ext>
              </a:extLst>
            </p:cNvPr>
            <p:cNvSpPr>
              <a:spLocks/>
            </p:cNvSpPr>
            <p:nvPr/>
          </p:nvSpPr>
          <p:spPr bwMode="auto">
            <a:xfrm flipH="1" flipV="1">
              <a:off x="7553561" y="5026729"/>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Oval 31">
              <a:extLst>
                <a:ext uri="{FF2B5EF4-FFF2-40B4-BE49-F238E27FC236}">
                  <a16:creationId xmlns:a16="http://schemas.microsoft.com/office/drawing/2014/main" id="{3258BD3E-E440-C12A-FF78-21E2F12DDA1D}"/>
                </a:ext>
              </a:extLst>
            </p:cNvPr>
            <p:cNvSpPr>
              <a:spLocks noChangeArrowheads="1"/>
            </p:cNvSpPr>
            <p:nvPr/>
          </p:nvSpPr>
          <p:spPr bwMode="auto">
            <a:xfrm>
              <a:off x="8093311" y="5148966"/>
              <a:ext cx="396875" cy="417513"/>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24" name="Oval 32">
              <a:extLst>
                <a:ext uri="{FF2B5EF4-FFF2-40B4-BE49-F238E27FC236}">
                  <a16:creationId xmlns:a16="http://schemas.microsoft.com/office/drawing/2014/main" id="{EA8A54EB-C8F7-3538-09FB-6DA4DBDF4A68}"/>
                </a:ext>
              </a:extLst>
            </p:cNvPr>
            <p:cNvSpPr>
              <a:spLocks noChangeArrowheads="1"/>
            </p:cNvSpPr>
            <p:nvPr/>
          </p:nvSpPr>
          <p:spPr bwMode="auto">
            <a:xfrm>
              <a:off x="8534636" y="5148966"/>
              <a:ext cx="396875" cy="417513"/>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sp>
        <p:nvSpPr>
          <p:cNvPr id="25" name="Rectangle 33">
            <a:extLst>
              <a:ext uri="{FF2B5EF4-FFF2-40B4-BE49-F238E27FC236}">
                <a16:creationId xmlns:a16="http://schemas.microsoft.com/office/drawing/2014/main" id="{5AC26CF6-783F-DBD9-B59F-19BC03F27023}"/>
              </a:ext>
            </a:extLst>
          </p:cNvPr>
          <p:cNvSpPr>
            <a:spLocks noChangeArrowheads="1"/>
          </p:cNvSpPr>
          <p:nvPr/>
        </p:nvSpPr>
        <p:spPr bwMode="auto">
          <a:xfrm>
            <a:off x="6512109" y="1912175"/>
            <a:ext cx="1241045"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Example:</a:t>
            </a:r>
          </a:p>
        </p:txBody>
      </p:sp>
      <p:sp>
        <p:nvSpPr>
          <p:cNvPr id="27" name="Rectangle 2">
            <a:extLst>
              <a:ext uri="{FF2B5EF4-FFF2-40B4-BE49-F238E27FC236}">
                <a16:creationId xmlns:a16="http://schemas.microsoft.com/office/drawing/2014/main" id="{0D150275-9FBC-56E1-DC3A-9D2D94BEA995}"/>
              </a:ext>
            </a:extLst>
          </p:cNvPr>
          <p:cNvSpPr txBox="1">
            <a:spLocks noChangeArrowheads="1"/>
          </p:cNvSpPr>
          <p:nvPr/>
        </p:nvSpPr>
        <p:spPr>
          <a:xfrm>
            <a:off x="19334" y="1802442"/>
            <a:ext cx="2541588" cy="42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000" b="1" dirty="0"/>
              <a:t>Use 4x6 Blue Post-it</a:t>
            </a:r>
          </a:p>
        </p:txBody>
      </p:sp>
      <p:sp>
        <p:nvSpPr>
          <p:cNvPr id="28" name="Text Box 12">
            <a:extLst>
              <a:ext uri="{FF2B5EF4-FFF2-40B4-BE49-F238E27FC236}">
                <a16:creationId xmlns:a16="http://schemas.microsoft.com/office/drawing/2014/main" id="{C7DF2EE1-AD3A-F950-22E4-AFE6DEF4E662}"/>
              </a:ext>
            </a:extLst>
          </p:cNvPr>
          <p:cNvSpPr txBox="1">
            <a:spLocks noChangeArrowheads="1"/>
          </p:cNvSpPr>
          <p:nvPr/>
        </p:nvSpPr>
        <p:spPr bwMode="auto">
          <a:xfrm>
            <a:off x="161275" y="4176364"/>
            <a:ext cx="1981200" cy="120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List 1 or more FACT cards for which this countermeasure applies</a:t>
            </a:r>
          </a:p>
        </p:txBody>
      </p:sp>
      <p:sp>
        <p:nvSpPr>
          <p:cNvPr id="29" name="Line 13">
            <a:extLst>
              <a:ext uri="{FF2B5EF4-FFF2-40B4-BE49-F238E27FC236}">
                <a16:creationId xmlns:a16="http://schemas.microsoft.com/office/drawing/2014/main" id="{317FEB75-7C5A-79B8-970E-A284CB49FC53}"/>
              </a:ext>
            </a:extLst>
          </p:cNvPr>
          <p:cNvSpPr>
            <a:spLocks noChangeShapeType="1"/>
          </p:cNvSpPr>
          <p:nvPr/>
        </p:nvSpPr>
        <p:spPr bwMode="auto">
          <a:xfrm>
            <a:off x="1898367" y="5097364"/>
            <a:ext cx="955135" cy="242356"/>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 name="Text Box 14">
            <a:extLst>
              <a:ext uri="{FF2B5EF4-FFF2-40B4-BE49-F238E27FC236}">
                <a16:creationId xmlns:a16="http://schemas.microsoft.com/office/drawing/2014/main" id="{78C99A7E-832B-F346-79E5-D4F1F396DF43}"/>
              </a:ext>
            </a:extLst>
          </p:cNvPr>
          <p:cNvSpPr txBox="1">
            <a:spLocks noChangeArrowheads="1"/>
          </p:cNvSpPr>
          <p:nvPr/>
        </p:nvSpPr>
        <p:spPr bwMode="auto">
          <a:xfrm>
            <a:off x="230842" y="2553908"/>
            <a:ext cx="1981200" cy="9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Each IMPROVEMENT Card has a unique #</a:t>
            </a:r>
          </a:p>
        </p:txBody>
      </p:sp>
      <p:sp>
        <p:nvSpPr>
          <p:cNvPr id="49" name="Line 15">
            <a:extLst>
              <a:ext uri="{FF2B5EF4-FFF2-40B4-BE49-F238E27FC236}">
                <a16:creationId xmlns:a16="http://schemas.microsoft.com/office/drawing/2014/main" id="{C87ECECD-F64B-D381-0F7C-6AB380A2C595}"/>
              </a:ext>
            </a:extLst>
          </p:cNvPr>
          <p:cNvSpPr>
            <a:spLocks noChangeShapeType="1"/>
          </p:cNvSpPr>
          <p:nvPr/>
        </p:nvSpPr>
        <p:spPr bwMode="auto">
          <a:xfrm flipV="1">
            <a:off x="1898367" y="2260859"/>
            <a:ext cx="890939" cy="435345"/>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0" name="Text Box 26">
            <a:extLst>
              <a:ext uri="{FF2B5EF4-FFF2-40B4-BE49-F238E27FC236}">
                <a16:creationId xmlns:a16="http://schemas.microsoft.com/office/drawing/2014/main" id="{2E1FA900-B1E7-9B50-2D9F-7AAF69AC0FCB}"/>
              </a:ext>
            </a:extLst>
          </p:cNvPr>
          <p:cNvSpPr txBox="1">
            <a:spLocks noChangeArrowheads="1"/>
          </p:cNvSpPr>
          <p:nvPr/>
        </p:nvSpPr>
        <p:spPr bwMode="auto">
          <a:xfrm>
            <a:off x="292210" y="5601331"/>
            <a:ext cx="1981200" cy="53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Leave space for Dots</a:t>
            </a:r>
          </a:p>
        </p:txBody>
      </p:sp>
      <p:sp>
        <p:nvSpPr>
          <p:cNvPr id="51" name="Line 27">
            <a:extLst>
              <a:ext uri="{FF2B5EF4-FFF2-40B4-BE49-F238E27FC236}">
                <a16:creationId xmlns:a16="http://schemas.microsoft.com/office/drawing/2014/main" id="{DE4714AB-A356-DB03-DF6F-6991E118A8A4}"/>
              </a:ext>
            </a:extLst>
          </p:cNvPr>
          <p:cNvSpPr>
            <a:spLocks noChangeShapeType="1"/>
          </p:cNvSpPr>
          <p:nvPr/>
        </p:nvSpPr>
        <p:spPr bwMode="auto">
          <a:xfrm>
            <a:off x="2028958" y="5797723"/>
            <a:ext cx="1210234" cy="31458"/>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63021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Linkage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67" name="Group 66">
            <a:extLst>
              <a:ext uri="{FF2B5EF4-FFF2-40B4-BE49-F238E27FC236}">
                <a16:creationId xmlns:a16="http://schemas.microsoft.com/office/drawing/2014/main" id="{AB3CA303-FECC-4323-DEE6-A8F21C980F69}"/>
              </a:ext>
            </a:extLst>
          </p:cNvPr>
          <p:cNvGrpSpPr/>
          <p:nvPr/>
        </p:nvGrpSpPr>
        <p:grpSpPr>
          <a:xfrm>
            <a:off x="1584692" y="1885951"/>
            <a:ext cx="8645158" cy="4085736"/>
            <a:chOff x="1584692" y="2052149"/>
            <a:chExt cx="7291587" cy="3919537"/>
          </a:xfrm>
        </p:grpSpPr>
        <p:grpSp>
          <p:nvGrpSpPr>
            <p:cNvPr id="6" name="Group 4">
              <a:extLst>
                <a:ext uri="{FF2B5EF4-FFF2-40B4-BE49-F238E27FC236}">
                  <a16:creationId xmlns:a16="http://schemas.microsoft.com/office/drawing/2014/main" id="{EF29B033-D1D0-9A86-9D4D-56562AA709DC}"/>
                </a:ext>
              </a:extLst>
            </p:cNvPr>
            <p:cNvGrpSpPr>
              <a:grpSpLocks/>
            </p:cNvGrpSpPr>
            <p:nvPr/>
          </p:nvGrpSpPr>
          <p:grpSpPr bwMode="auto">
            <a:xfrm>
              <a:off x="1584692" y="5125549"/>
              <a:ext cx="2068512" cy="846137"/>
              <a:chOff x="299" y="1151"/>
              <a:chExt cx="1303" cy="533"/>
            </a:xfrm>
          </p:grpSpPr>
          <p:grpSp>
            <p:nvGrpSpPr>
              <p:cNvPr id="7" name="Group 5">
                <a:extLst>
                  <a:ext uri="{FF2B5EF4-FFF2-40B4-BE49-F238E27FC236}">
                    <a16:creationId xmlns:a16="http://schemas.microsoft.com/office/drawing/2014/main" id="{CBA484D6-C11B-BB21-8071-4B291C15AA3F}"/>
                  </a:ext>
                </a:extLst>
              </p:cNvPr>
              <p:cNvGrpSpPr>
                <a:grpSpLocks/>
              </p:cNvGrpSpPr>
              <p:nvPr/>
            </p:nvGrpSpPr>
            <p:grpSpPr bwMode="auto">
              <a:xfrm>
                <a:off x="467" y="1152"/>
                <a:ext cx="482" cy="532"/>
                <a:chOff x="467" y="1152"/>
                <a:chExt cx="482" cy="532"/>
              </a:xfrm>
            </p:grpSpPr>
            <p:sp>
              <p:nvSpPr>
                <p:cNvPr id="52" name="Rectangle 6">
                  <a:extLst>
                    <a:ext uri="{FF2B5EF4-FFF2-40B4-BE49-F238E27FC236}">
                      <a16:creationId xmlns:a16="http://schemas.microsoft.com/office/drawing/2014/main" id="{4C5D6AB4-BAA5-C057-63E1-9E20C7F4E1D3}"/>
                    </a:ext>
                  </a:extLst>
                </p:cNvPr>
                <p:cNvSpPr>
                  <a:spLocks noChangeArrowheads="1"/>
                </p:cNvSpPr>
                <p:nvPr/>
              </p:nvSpPr>
              <p:spPr bwMode="auto">
                <a:xfrm>
                  <a:off x="467" y="1152"/>
                  <a:ext cx="481" cy="532"/>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53" name="Rectangle 7">
                  <a:extLst>
                    <a:ext uri="{FF2B5EF4-FFF2-40B4-BE49-F238E27FC236}">
                      <a16:creationId xmlns:a16="http://schemas.microsoft.com/office/drawing/2014/main" id="{4F5BD735-3ACC-A151-81B9-E706CEB88116}"/>
                    </a:ext>
                  </a:extLst>
                </p:cNvPr>
                <p:cNvSpPr>
                  <a:spLocks noChangeArrowheads="1"/>
                </p:cNvSpPr>
                <p:nvPr/>
              </p:nvSpPr>
              <p:spPr bwMode="auto">
                <a:xfrm>
                  <a:off x="467" y="1154"/>
                  <a:ext cx="482" cy="116"/>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1.0</a:t>
                  </a:r>
                </a:p>
              </p:txBody>
            </p:sp>
          </p:grpSp>
          <p:cxnSp>
            <p:nvCxnSpPr>
              <p:cNvPr id="8" name="AutoShape 8">
                <a:extLst>
                  <a:ext uri="{FF2B5EF4-FFF2-40B4-BE49-F238E27FC236}">
                    <a16:creationId xmlns:a16="http://schemas.microsoft.com/office/drawing/2014/main" id="{0E398A3E-F17F-FCA1-295A-CE015D0313ED}"/>
                  </a:ext>
                </a:extLst>
              </p:cNvPr>
              <p:cNvCxnSpPr>
                <a:cxnSpLocks noChangeShapeType="1"/>
                <a:stCxn id="52" idx="3"/>
                <a:endCxn id="13" idx="1"/>
              </p:cNvCxnSpPr>
              <p:nvPr/>
            </p:nvCxnSpPr>
            <p:spPr bwMode="auto">
              <a:xfrm flipV="1">
                <a:off x="948" y="1417"/>
                <a:ext cx="172" cy="1"/>
              </a:xfrm>
              <a:prstGeom prst="bentConnector3">
                <a:avLst>
                  <a:gd name="adj1" fmla="val 49417"/>
                </a:avLst>
              </a:prstGeom>
              <a:noFill/>
              <a:ln w="38100">
                <a:solidFill>
                  <a:schemeClr val="tx1"/>
                </a:solidFill>
                <a:miter lim="800000"/>
                <a:headEnd/>
                <a:tailEnd type="triangle" w="sm" len="sm"/>
              </a:ln>
              <a:extLst>
                <a:ext uri="{909E8E84-426E-40DD-AFC4-6F175D3DCCD1}">
                  <a14:hiddenFill xmlns:a14="http://schemas.microsoft.com/office/drawing/2010/main">
                    <a:noFill/>
                  </a14:hiddenFill>
                </a:ext>
              </a:extLst>
            </p:spPr>
          </p:cxnSp>
          <p:grpSp>
            <p:nvGrpSpPr>
              <p:cNvPr id="9" name="Group 9">
                <a:extLst>
                  <a:ext uri="{FF2B5EF4-FFF2-40B4-BE49-F238E27FC236}">
                    <a16:creationId xmlns:a16="http://schemas.microsoft.com/office/drawing/2014/main" id="{50D26986-C711-6273-48DE-01E08290D741}"/>
                  </a:ext>
                </a:extLst>
              </p:cNvPr>
              <p:cNvGrpSpPr>
                <a:grpSpLocks/>
              </p:cNvGrpSpPr>
              <p:nvPr/>
            </p:nvGrpSpPr>
            <p:grpSpPr bwMode="auto">
              <a:xfrm>
                <a:off x="1120" y="1151"/>
                <a:ext cx="482" cy="532"/>
                <a:chOff x="467" y="1152"/>
                <a:chExt cx="482" cy="532"/>
              </a:xfrm>
            </p:grpSpPr>
            <p:sp>
              <p:nvSpPr>
                <p:cNvPr id="13" name="Rectangle 10">
                  <a:extLst>
                    <a:ext uri="{FF2B5EF4-FFF2-40B4-BE49-F238E27FC236}">
                      <a16:creationId xmlns:a16="http://schemas.microsoft.com/office/drawing/2014/main" id="{4D35AB71-7DE7-E2B0-375E-020A0676D9B4}"/>
                    </a:ext>
                  </a:extLst>
                </p:cNvPr>
                <p:cNvSpPr>
                  <a:spLocks noChangeArrowheads="1"/>
                </p:cNvSpPr>
                <p:nvPr/>
              </p:nvSpPr>
              <p:spPr bwMode="auto">
                <a:xfrm>
                  <a:off x="467" y="1152"/>
                  <a:ext cx="481" cy="532"/>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8" name="Rectangle 11">
                  <a:extLst>
                    <a:ext uri="{FF2B5EF4-FFF2-40B4-BE49-F238E27FC236}">
                      <a16:creationId xmlns:a16="http://schemas.microsoft.com/office/drawing/2014/main" id="{BD90174C-D0F7-5673-45CA-568CF0969C3E}"/>
                    </a:ext>
                  </a:extLst>
                </p:cNvPr>
                <p:cNvSpPr>
                  <a:spLocks noChangeArrowheads="1"/>
                </p:cNvSpPr>
                <p:nvPr/>
              </p:nvSpPr>
              <p:spPr bwMode="auto">
                <a:xfrm>
                  <a:off x="467" y="1154"/>
                  <a:ext cx="482" cy="116"/>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2.0</a:t>
                  </a:r>
                </a:p>
              </p:txBody>
            </p:sp>
          </p:grpSp>
          <p:cxnSp>
            <p:nvCxnSpPr>
              <p:cNvPr id="12" name="AutoShape 12">
                <a:extLst>
                  <a:ext uri="{FF2B5EF4-FFF2-40B4-BE49-F238E27FC236}">
                    <a16:creationId xmlns:a16="http://schemas.microsoft.com/office/drawing/2014/main" id="{25C67B35-490B-2ABB-E849-2642B1E91BBE}"/>
                  </a:ext>
                </a:extLst>
              </p:cNvPr>
              <p:cNvCxnSpPr>
                <a:cxnSpLocks noChangeShapeType="1"/>
              </p:cNvCxnSpPr>
              <p:nvPr/>
            </p:nvCxnSpPr>
            <p:spPr bwMode="auto">
              <a:xfrm flipV="1">
                <a:off x="299" y="1413"/>
                <a:ext cx="172" cy="1"/>
              </a:xfrm>
              <a:prstGeom prst="bentConnector3">
                <a:avLst>
                  <a:gd name="adj1" fmla="val 49417"/>
                </a:avLst>
              </a:prstGeom>
              <a:noFill/>
              <a:ln w="38100">
                <a:solidFill>
                  <a:schemeClr val="tx1"/>
                </a:solidFill>
                <a:miter lim="800000"/>
                <a:headEnd/>
                <a:tailEnd type="triangle" w="sm" len="sm"/>
              </a:ln>
              <a:extLst>
                <a:ext uri="{909E8E84-426E-40DD-AFC4-6F175D3DCCD1}">
                  <a14:hiddenFill xmlns:a14="http://schemas.microsoft.com/office/drawing/2010/main">
                    <a:noFill/>
                  </a14:hiddenFill>
                </a:ext>
              </a:extLst>
            </p:spPr>
          </p:cxnSp>
        </p:grpSp>
        <p:grpSp>
          <p:nvGrpSpPr>
            <p:cNvPr id="54" name="Group 13">
              <a:extLst>
                <a:ext uri="{FF2B5EF4-FFF2-40B4-BE49-F238E27FC236}">
                  <a16:creationId xmlns:a16="http://schemas.microsoft.com/office/drawing/2014/main" id="{E8F9B704-10B1-1127-29FF-BED18F18007E}"/>
                </a:ext>
              </a:extLst>
            </p:cNvPr>
            <p:cNvGrpSpPr>
              <a:grpSpLocks/>
            </p:cNvGrpSpPr>
            <p:nvPr/>
          </p:nvGrpSpPr>
          <p:grpSpPr bwMode="auto">
            <a:xfrm>
              <a:off x="4670792" y="3661874"/>
              <a:ext cx="1249362" cy="1735137"/>
              <a:chOff x="2294" y="1636"/>
              <a:chExt cx="787" cy="1093"/>
            </a:xfrm>
          </p:grpSpPr>
          <p:sp>
            <p:nvSpPr>
              <p:cNvPr id="55" name="Rectangle 14">
                <a:extLst>
                  <a:ext uri="{FF2B5EF4-FFF2-40B4-BE49-F238E27FC236}">
                    <a16:creationId xmlns:a16="http://schemas.microsoft.com/office/drawing/2014/main" id="{17E2F976-C32E-5833-C7FC-F080726D19EE}"/>
                  </a:ext>
                </a:extLst>
              </p:cNvPr>
              <p:cNvSpPr>
                <a:spLocks noChangeArrowheads="1"/>
              </p:cNvSpPr>
              <p:nvPr/>
            </p:nvSpPr>
            <p:spPr bwMode="auto">
              <a:xfrm>
                <a:off x="2294" y="1636"/>
                <a:ext cx="787" cy="1093"/>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56" name="Text Box 15">
                <a:extLst>
                  <a:ext uri="{FF2B5EF4-FFF2-40B4-BE49-F238E27FC236}">
                    <a16:creationId xmlns:a16="http://schemas.microsoft.com/office/drawing/2014/main" id="{FE8360D7-160C-298A-4463-4B655A530A9B}"/>
                  </a:ext>
                </a:extLst>
              </p:cNvPr>
              <p:cNvSpPr txBox="1">
                <a:spLocks noChangeArrowheads="1"/>
              </p:cNvSpPr>
              <p:nvPr/>
            </p:nvSpPr>
            <p:spPr bwMode="auto">
              <a:xfrm>
                <a:off x="2329" y="1647"/>
                <a:ext cx="3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p>
            </p:txBody>
          </p:sp>
          <p:sp>
            <p:nvSpPr>
              <p:cNvPr id="57" name="Text Box 16">
                <a:extLst>
                  <a:ext uri="{FF2B5EF4-FFF2-40B4-BE49-F238E27FC236}">
                    <a16:creationId xmlns:a16="http://schemas.microsoft.com/office/drawing/2014/main" id="{E8A8F68A-72FF-9E60-AA61-CF3C666471C6}"/>
                  </a:ext>
                </a:extLst>
              </p:cNvPr>
              <p:cNvSpPr txBox="1">
                <a:spLocks noChangeArrowheads="1"/>
              </p:cNvSpPr>
              <p:nvPr/>
            </p:nvSpPr>
            <p:spPr bwMode="auto">
              <a:xfrm>
                <a:off x="2312" y="2494"/>
                <a:ext cx="4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dirty="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000" dirty="0">
                    <a:latin typeface="Roboto" panose="02000000000000000000" pitchFamily="2" charset="0"/>
                    <a:ea typeface="Roboto" panose="02000000000000000000" pitchFamily="2" charset="0"/>
                  </a:rPr>
                  <a:t>Steps</a:t>
                </a:r>
              </a:p>
            </p:txBody>
          </p:sp>
        </p:grpSp>
        <p:grpSp>
          <p:nvGrpSpPr>
            <p:cNvPr id="58" name="Group 17">
              <a:extLst>
                <a:ext uri="{FF2B5EF4-FFF2-40B4-BE49-F238E27FC236}">
                  <a16:creationId xmlns:a16="http://schemas.microsoft.com/office/drawing/2014/main" id="{B24DFE15-1574-2B3B-F569-AA5946BBC3C6}"/>
                </a:ext>
              </a:extLst>
            </p:cNvPr>
            <p:cNvGrpSpPr>
              <a:grpSpLocks/>
            </p:cNvGrpSpPr>
            <p:nvPr/>
          </p:nvGrpSpPr>
          <p:grpSpPr bwMode="auto">
            <a:xfrm>
              <a:off x="7240954" y="2361711"/>
              <a:ext cx="1249363" cy="1735138"/>
              <a:chOff x="3935" y="1864"/>
              <a:chExt cx="787" cy="1093"/>
            </a:xfrm>
          </p:grpSpPr>
          <p:sp>
            <p:nvSpPr>
              <p:cNvPr id="59" name="Rectangle 18">
                <a:extLst>
                  <a:ext uri="{FF2B5EF4-FFF2-40B4-BE49-F238E27FC236}">
                    <a16:creationId xmlns:a16="http://schemas.microsoft.com/office/drawing/2014/main" id="{9244B7CD-1DC8-E3B8-75F2-BFAE6734F3DA}"/>
                  </a:ext>
                </a:extLst>
              </p:cNvPr>
              <p:cNvSpPr>
                <a:spLocks noChangeArrowheads="1"/>
              </p:cNvSpPr>
              <p:nvPr/>
            </p:nvSpPr>
            <p:spPr bwMode="auto">
              <a:xfrm>
                <a:off x="3935" y="1864"/>
                <a:ext cx="787" cy="1093"/>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60" name="Text Box 19">
                <a:extLst>
                  <a:ext uri="{FF2B5EF4-FFF2-40B4-BE49-F238E27FC236}">
                    <a16:creationId xmlns:a16="http://schemas.microsoft.com/office/drawing/2014/main" id="{BFF50943-9C0B-E658-5201-D3D22CCA0755}"/>
                  </a:ext>
                </a:extLst>
              </p:cNvPr>
              <p:cNvSpPr txBox="1">
                <a:spLocks noChangeArrowheads="1"/>
              </p:cNvSpPr>
              <p:nvPr/>
            </p:nvSpPr>
            <p:spPr bwMode="auto">
              <a:xfrm>
                <a:off x="3970" y="1875"/>
                <a:ext cx="3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p>
            </p:txBody>
          </p:sp>
          <p:sp>
            <p:nvSpPr>
              <p:cNvPr id="61" name="Text Box 20">
                <a:extLst>
                  <a:ext uri="{FF2B5EF4-FFF2-40B4-BE49-F238E27FC236}">
                    <a16:creationId xmlns:a16="http://schemas.microsoft.com/office/drawing/2014/main" id="{A6EB0C30-C28C-3099-15AE-E5CD8DD58CFA}"/>
                  </a:ext>
                </a:extLst>
              </p:cNvPr>
              <p:cNvSpPr txBox="1">
                <a:spLocks noChangeArrowheads="1"/>
              </p:cNvSpPr>
              <p:nvPr/>
            </p:nvSpPr>
            <p:spPr bwMode="auto">
              <a:xfrm>
                <a:off x="3949" y="2722"/>
                <a:ext cx="5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FACT 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r>
                  <a:rPr lang="ja-JP" altLang="en-US" sz="1000">
                    <a:latin typeface="Roboto" panose="02000000000000000000" pitchFamily="2" charset="0"/>
                  </a:rPr>
                  <a:t>’</a:t>
                </a:r>
                <a:r>
                  <a:rPr lang="en-US" altLang="ja-JP" sz="1000">
                    <a:latin typeface="Roboto" panose="02000000000000000000" pitchFamily="2" charset="0"/>
                    <a:ea typeface="Roboto" panose="02000000000000000000" pitchFamily="2" charset="0"/>
                  </a:rPr>
                  <a:t>s</a:t>
                </a:r>
                <a:endParaRPr lang="en-US" altLang="en-US" sz="1000">
                  <a:latin typeface="Roboto" panose="02000000000000000000" pitchFamily="2" charset="0"/>
                  <a:ea typeface="Roboto" panose="02000000000000000000" pitchFamily="2" charset="0"/>
                </a:endParaRPr>
              </a:p>
            </p:txBody>
          </p:sp>
        </p:grpSp>
        <p:sp>
          <p:nvSpPr>
            <p:cNvPr id="62" name="Line 21">
              <a:extLst>
                <a:ext uri="{FF2B5EF4-FFF2-40B4-BE49-F238E27FC236}">
                  <a16:creationId xmlns:a16="http://schemas.microsoft.com/office/drawing/2014/main" id="{5D8543AB-4E35-8F69-C9BC-FE9FC511CEC4}"/>
                </a:ext>
              </a:extLst>
            </p:cNvPr>
            <p:cNvSpPr>
              <a:spLocks noChangeShapeType="1"/>
            </p:cNvSpPr>
            <p:nvPr/>
          </p:nvSpPr>
          <p:spPr bwMode="auto">
            <a:xfrm flipV="1">
              <a:off x="3772267" y="5185874"/>
              <a:ext cx="730250" cy="11112"/>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Line 22">
              <a:extLst>
                <a:ext uri="{FF2B5EF4-FFF2-40B4-BE49-F238E27FC236}">
                  <a16:creationId xmlns:a16="http://schemas.microsoft.com/office/drawing/2014/main" id="{8EDA51C4-D146-9BAA-D857-43C380B77335}"/>
                </a:ext>
              </a:extLst>
            </p:cNvPr>
            <p:cNvSpPr>
              <a:spLocks noChangeShapeType="1"/>
            </p:cNvSpPr>
            <p:nvPr/>
          </p:nvSpPr>
          <p:spPr bwMode="auto">
            <a:xfrm flipV="1">
              <a:off x="5335954" y="3844436"/>
              <a:ext cx="1784350" cy="11113"/>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Text Box 23">
              <a:extLst>
                <a:ext uri="{FF2B5EF4-FFF2-40B4-BE49-F238E27FC236}">
                  <a16:creationId xmlns:a16="http://schemas.microsoft.com/office/drawing/2014/main" id="{70930E3E-112C-B325-BF52-7600D18380C3}"/>
                </a:ext>
              </a:extLst>
            </p:cNvPr>
            <p:cNvSpPr txBox="1">
              <a:spLocks noChangeArrowheads="1"/>
            </p:cNvSpPr>
            <p:nvPr/>
          </p:nvSpPr>
          <p:spPr bwMode="auto">
            <a:xfrm>
              <a:off x="2091553" y="4809636"/>
              <a:ext cx="135165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Process Steps</a:t>
              </a:r>
            </a:p>
          </p:txBody>
        </p:sp>
        <p:sp>
          <p:nvSpPr>
            <p:cNvPr id="65" name="Text Box 24">
              <a:extLst>
                <a:ext uri="{FF2B5EF4-FFF2-40B4-BE49-F238E27FC236}">
                  <a16:creationId xmlns:a16="http://schemas.microsoft.com/office/drawing/2014/main" id="{A774A41C-12C8-F940-851E-C163EAA3FEC2}"/>
                </a:ext>
              </a:extLst>
            </p:cNvPr>
            <p:cNvSpPr txBox="1">
              <a:spLocks noChangeArrowheads="1"/>
            </p:cNvSpPr>
            <p:nvPr/>
          </p:nvSpPr>
          <p:spPr bwMode="auto">
            <a:xfrm>
              <a:off x="4661906" y="3355486"/>
              <a:ext cx="1148071"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FACT Cards</a:t>
              </a:r>
            </a:p>
          </p:txBody>
        </p:sp>
        <p:sp>
          <p:nvSpPr>
            <p:cNvPr id="66" name="Text Box 25">
              <a:extLst>
                <a:ext uri="{FF2B5EF4-FFF2-40B4-BE49-F238E27FC236}">
                  <a16:creationId xmlns:a16="http://schemas.microsoft.com/office/drawing/2014/main" id="{9D6B96DD-3776-EC3D-05DC-9FF7D3904F9D}"/>
                </a:ext>
              </a:extLst>
            </p:cNvPr>
            <p:cNvSpPr txBox="1">
              <a:spLocks noChangeArrowheads="1"/>
            </p:cNvSpPr>
            <p:nvPr/>
          </p:nvSpPr>
          <p:spPr bwMode="auto">
            <a:xfrm>
              <a:off x="6897853" y="2052149"/>
              <a:ext cx="1978426"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IMPROVEMENT Cards</a:t>
              </a:r>
            </a:p>
          </p:txBody>
        </p:sp>
      </p:grpSp>
    </p:spTree>
    <p:extLst>
      <p:ext uri="{BB962C8B-B14F-4D97-AF65-F5344CB8AC3E}">
        <p14:creationId xmlns:p14="http://schemas.microsoft.com/office/powerpoint/2010/main" val="2037920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Describe the Detail and Format for an IMPROVEMENT Card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Improvement card writing guidelines</a:t>
            </a:r>
          </a:p>
          <a:p>
            <a:r>
              <a:rPr lang="en-US" dirty="0"/>
              <a:t>Use full thoughts and sentences</a:t>
            </a:r>
          </a:p>
          <a:p>
            <a:r>
              <a:rPr lang="en-US" dirty="0"/>
              <a:t>Write one main idea per card</a:t>
            </a:r>
          </a:p>
          <a:p>
            <a:r>
              <a:rPr lang="en-US" dirty="0"/>
              <a:t>Must be preceded by FACT cards</a:t>
            </a:r>
          </a:p>
          <a:p>
            <a:r>
              <a:rPr lang="en-US" dirty="0"/>
              <a:t>Be concrete and specific</a:t>
            </a:r>
          </a:p>
          <a:p>
            <a:r>
              <a:rPr lang="en-US" dirty="0"/>
              <a:t>Sign and date cards</a:t>
            </a:r>
          </a:p>
          <a:p>
            <a:r>
              <a:rPr lang="en-US" dirty="0"/>
              <a:t>Make card readable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8942721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Improvement Card Idea Generator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843851706"/>
              </p:ext>
            </p:extLst>
          </p:nvPr>
        </p:nvGraphicFramePr>
        <p:xfrm>
          <a:off x="838201" y="1754273"/>
          <a:ext cx="10706100" cy="4526667"/>
        </p:xfrm>
        <a:graphic>
          <a:graphicData uri="http://schemas.openxmlformats.org/drawingml/2006/table">
            <a:tbl>
              <a:tblPr/>
              <a:tblGrid>
                <a:gridCol w="2179319">
                  <a:extLst>
                    <a:ext uri="{9D8B030D-6E8A-4147-A177-3AD203B41FA5}">
                      <a16:colId xmlns:a16="http://schemas.microsoft.com/office/drawing/2014/main" val="20000"/>
                    </a:ext>
                  </a:extLst>
                </a:gridCol>
                <a:gridCol w="8526781">
                  <a:extLst>
                    <a:ext uri="{9D8B030D-6E8A-4147-A177-3AD203B41FA5}">
                      <a16:colId xmlns:a16="http://schemas.microsoft.com/office/drawing/2014/main" val="20002"/>
                    </a:ext>
                  </a:extLst>
                </a:gridCol>
              </a:tblGrid>
              <a:tr h="0">
                <a:tc gridSpan="2">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Improvement Card Idea Generator</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of other uses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New use? Amend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Apply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What does it look like? Copy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8273691"/>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Revise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Can you change it? Think of its shape, form, movement.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6311565"/>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Expand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Add something. Add time, length, constituent element.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Reduce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Curtail something. Compress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544045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Substitute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Any other man, material, and/or machine? What happens if you change the constituent elements of process?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11110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Sort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Review layout and configuration. What about procedure and sequence?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Reverse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Reverse “plus” and “minus” (advantage and disadvantage). Go in reverse.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8558723"/>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Combine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Combine mixture, assortment, combination and ideas.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9147134"/>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Steal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Steal technology, steal method.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Make secretly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Nevertheless, make actual pieces.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801131"/>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Go to the next step</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Once you figure one out, think about what is next.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7382566"/>
                  </a:ext>
                </a:extLst>
              </a:tr>
            </a:tbl>
          </a:graphicData>
        </a:graphic>
      </p:graphicFrame>
      <p:grpSp>
        <p:nvGrpSpPr>
          <p:cNvPr id="18" name="Group 17">
            <a:extLst>
              <a:ext uri="{FF2B5EF4-FFF2-40B4-BE49-F238E27FC236}">
                <a16:creationId xmlns:a16="http://schemas.microsoft.com/office/drawing/2014/main" id="{67A0C54A-A864-AED1-3F3C-BE23DF5FF865}"/>
              </a:ext>
            </a:extLst>
          </p:cNvPr>
          <p:cNvGrpSpPr/>
          <p:nvPr/>
        </p:nvGrpSpPr>
        <p:grpSpPr>
          <a:xfrm>
            <a:off x="838200" y="297639"/>
            <a:ext cx="4351020" cy="307138"/>
            <a:chOff x="838200" y="297639"/>
            <a:chExt cx="4351020" cy="307138"/>
          </a:xfrm>
        </p:grpSpPr>
        <p:grpSp>
          <p:nvGrpSpPr>
            <p:cNvPr id="19" name="Group 18">
              <a:extLst>
                <a:ext uri="{FF2B5EF4-FFF2-40B4-BE49-F238E27FC236}">
                  <a16:creationId xmlns:a16="http://schemas.microsoft.com/office/drawing/2014/main" id="{EB28F2EB-E15B-B334-094A-238BC9B3E5B5}"/>
                </a:ext>
              </a:extLst>
            </p:cNvPr>
            <p:cNvGrpSpPr/>
            <p:nvPr/>
          </p:nvGrpSpPr>
          <p:grpSpPr>
            <a:xfrm>
              <a:off x="838200" y="297639"/>
              <a:ext cx="1687517" cy="290657"/>
              <a:chOff x="838200" y="297639"/>
              <a:chExt cx="1687517" cy="290657"/>
            </a:xfrm>
          </p:grpSpPr>
          <p:sp>
            <p:nvSpPr>
              <p:cNvPr id="21" name="AutoShape 9">
                <a:extLst>
                  <a:ext uri="{FF2B5EF4-FFF2-40B4-BE49-F238E27FC236}">
                    <a16:creationId xmlns:a16="http://schemas.microsoft.com/office/drawing/2014/main" id="{7C4EA576-51F8-FA30-A520-6108F1E2F2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25DC678-383F-8A13-E640-D34082B07A84}"/>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3" name="Group 22">
                <a:extLst>
                  <a:ext uri="{FF2B5EF4-FFF2-40B4-BE49-F238E27FC236}">
                    <a16:creationId xmlns:a16="http://schemas.microsoft.com/office/drawing/2014/main" id="{510DCF16-9BCA-FEB4-F5A1-AFA0BEEB0393}"/>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85E57617-4193-C4E2-D15C-A43352A480E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1900694D-3E67-6481-FF46-CCF0FD2E1F0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1652B39-1B60-9ED5-E937-14BFF5F638C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933CB83C-F3FC-F0A4-5580-58B8673F541B}"/>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42612640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for Developing and Posting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Divide into sub-teams to focus on specific areas of the yellow fact cards</a:t>
            </a:r>
          </a:p>
          <a:p>
            <a:r>
              <a:rPr lang="en-US" dirty="0"/>
              <a:t>Use brainstorming and data analysis to develop improvement cards</a:t>
            </a:r>
          </a:p>
          <a:p>
            <a:r>
              <a:rPr lang="en-US" dirty="0"/>
              <a:t>Make sure you include WHO will complete the action and by WHEN</a:t>
            </a:r>
          </a:p>
          <a:p>
            <a:r>
              <a:rPr lang="en-US" dirty="0"/>
              <a:t>Wherever possible, tie a metric to the action, to indicate impact to actual target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6847097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for Reviewing and Numbering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Combine duplicate cards</a:t>
            </a:r>
          </a:p>
          <a:p>
            <a:r>
              <a:rPr lang="en-US" dirty="0"/>
              <a:t>Group “like” ideas together</a:t>
            </a:r>
          </a:p>
          <a:p>
            <a:r>
              <a:rPr lang="en-US" dirty="0"/>
              <a:t>Show linkage to the numbered yellow fact card(s)</a:t>
            </a:r>
          </a:p>
          <a:p>
            <a:r>
              <a:rPr lang="en-US" dirty="0"/>
              <a:t>Ensure everyone understands each possible improvement idea</a:t>
            </a:r>
          </a:p>
          <a:p>
            <a:r>
              <a:rPr lang="en-US" dirty="0"/>
              <a:t>Number cards “1” through “x”</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585849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6 –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develop and post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complete, posted on diagram and numbered.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0744108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to Incorporate Existing Actions into CEDAC Method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Poll all related managers, departments, improvement boards for previous or current actions related to problem, metrics and objectives</a:t>
            </a:r>
          </a:p>
          <a:p>
            <a:r>
              <a:rPr lang="en-US" dirty="0"/>
              <a:t>Capture related actions onto CEDAC improvement card, using the standard blue post-it</a:t>
            </a:r>
          </a:p>
          <a:p>
            <a:r>
              <a:rPr lang="en-US" dirty="0"/>
              <a:t>Include names and dates on the improvement card, as well as status of action, using the DOT system (Explained in next section)</a:t>
            </a:r>
          </a:p>
          <a:p>
            <a:r>
              <a:rPr lang="en-US" dirty="0"/>
              <a:t>Be sure to update/include any affected associates concerning CEDAC process, who are not present in event, so they may keep your CEDAC updated and current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092259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Exercise: Take Inventory of Current Actions that are Underway</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Take an inventory of current actions and initiatives that are already underway.</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add existing actions onto your CEDAC format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new Improvement Cards or status update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updated and reviewed.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8081619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6 Exercise: Develop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IMPROVEMENT Cards for each FACT Card.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develop and post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IMPROVEMENT Cards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sz="15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complete, reviewed, and numbered.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7751215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2800" dirty="0">
                <a:latin typeface="Roboto Medium"/>
                <a:ea typeface="Roboto Medium"/>
                <a:cs typeface="Roboto Medium"/>
              </a:rPr>
              <a:t>CEDAC Step 7 - Prioritize and Act on IMPROVEMENT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Discuss the objectives of prioritizing IMPROVEMENT Cards</a:t>
            </a:r>
          </a:p>
          <a:p>
            <a:r>
              <a:rPr lang="en-US" sz="2400" dirty="0"/>
              <a:t>Describe the method for acting on IMPROVEMENT Cards</a:t>
            </a:r>
          </a:p>
          <a:p>
            <a:r>
              <a:rPr lang="en-US" sz="2400" dirty="0"/>
              <a:t>Describe the process for prioritization and acting on the IMPROVEMENT Cards</a:t>
            </a:r>
          </a:p>
          <a:p>
            <a:r>
              <a:rPr lang="en-US" sz="2400" dirty="0"/>
              <a:t>Discuss Case Study</a:t>
            </a:r>
          </a:p>
          <a:p>
            <a:r>
              <a:rPr lang="en-US" sz="2400" dirty="0"/>
              <a:t>Complete process for prioritization of IMPROVEMENT Cards for business problem</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213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82</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4709047"/>
            <a:ext cx="8023861" cy="44196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41998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Objectives of Prioritizing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Now that you have a multitude of possible causes and potential solutions, it is important that you prioritize your efforts impact results as quickly as possible</a:t>
            </a:r>
          </a:p>
          <a:p>
            <a:r>
              <a:rPr lang="en-US" dirty="0"/>
              <a:t>This process allows you to focus your efforts on the most important and most effective actions first</a:t>
            </a:r>
          </a:p>
          <a:p>
            <a:r>
              <a:rPr lang="en-US" dirty="0"/>
              <a:t>Enables efficient use of resources and quicker, tangible results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498128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DOT System: Use consensus to agree which improvements to test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54" name="Group 53">
            <a:extLst>
              <a:ext uri="{FF2B5EF4-FFF2-40B4-BE49-F238E27FC236}">
                <a16:creationId xmlns:a16="http://schemas.microsoft.com/office/drawing/2014/main" id="{76CD2C33-1409-EBB9-027E-97D93CF328F6}"/>
              </a:ext>
            </a:extLst>
          </p:cNvPr>
          <p:cNvGrpSpPr/>
          <p:nvPr/>
        </p:nvGrpSpPr>
        <p:grpSpPr>
          <a:xfrm>
            <a:off x="928212" y="1783428"/>
            <a:ext cx="10335577" cy="4377659"/>
            <a:chOff x="442913" y="1316038"/>
            <a:chExt cx="8266112" cy="4845050"/>
          </a:xfrm>
        </p:grpSpPr>
        <p:sp>
          <p:nvSpPr>
            <p:cNvPr id="16" name="Freeform 3">
              <a:extLst>
                <a:ext uri="{FF2B5EF4-FFF2-40B4-BE49-F238E27FC236}">
                  <a16:creationId xmlns:a16="http://schemas.microsoft.com/office/drawing/2014/main" id="{87E7EAB7-FD86-B569-2355-574E1E90A7AD}"/>
                </a:ext>
              </a:extLst>
            </p:cNvPr>
            <p:cNvSpPr>
              <a:spLocks/>
            </p:cNvSpPr>
            <p:nvPr/>
          </p:nvSpPr>
          <p:spPr bwMode="auto">
            <a:xfrm>
              <a:off x="449263" y="202882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17" name="Oval 4">
              <a:extLst>
                <a:ext uri="{FF2B5EF4-FFF2-40B4-BE49-F238E27FC236}">
                  <a16:creationId xmlns:a16="http://schemas.microsoft.com/office/drawing/2014/main" id="{1CC560EA-7C35-B008-FD71-CBCF514F0ABD}"/>
                </a:ext>
              </a:extLst>
            </p:cNvPr>
            <p:cNvSpPr>
              <a:spLocks noChangeArrowheads="1"/>
            </p:cNvSpPr>
            <p:nvPr/>
          </p:nvSpPr>
          <p:spPr bwMode="auto">
            <a:xfrm>
              <a:off x="1285875" y="22113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18" name="Freeform 5">
              <a:extLst>
                <a:ext uri="{FF2B5EF4-FFF2-40B4-BE49-F238E27FC236}">
                  <a16:creationId xmlns:a16="http://schemas.microsoft.com/office/drawing/2014/main" id="{4370B2D5-8C55-2E4C-2B74-AAF80CAF1E84}"/>
                </a:ext>
              </a:extLst>
            </p:cNvPr>
            <p:cNvSpPr>
              <a:spLocks/>
            </p:cNvSpPr>
            <p:nvPr/>
          </p:nvSpPr>
          <p:spPr bwMode="auto">
            <a:xfrm>
              <a:off x="449263" y="273050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19" name="Oval 6">
              <a:extLst>
                <a:ext uri="{FF2B5EF4-FFF2-40B4-BE49-F238E27FC236}">
                  <a16:creationId xmlns:a16="http://schemas.microsoft.com/office/drawing/2014/main" id="{AF52B269-C12D-6592-731A-2F3A6AC2A1EF}"/>
                </a:ext>
              </a:extLst>
            </p:cNvPr>
            <p:cNvSpPr>
              <a:spLocks noChangeArrowheads="1"/>
            </p:cNvSpPr>
            <p:nvPr/>
          </p:nvSpPr>
          <p:spPr bwMode="auto">
            <a:xfrm>
              <a:off x="1285875" y="29098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0" name="Freeform 7">
              <a:extLst>
                <a:ext uri="{FF2B5EF4-FFF2-40B4-BE49-F238E27FC236}">
                  <a16:creationId xmlns:a16="http://schemas.microsoft.com/office/drawing/2014/main" id="{F782AFBA-13C9-83B6-95B1-8642DC041C88}"/>
                </a:ext>
              </a:extLst>
            </p:cNvPr>
            <p:cNvSpPr>
              <a:spLocks/>
            </p:cNvSpPr>
            <p:nvPr/>
          </p:nvSpPr>
          <p:spPr bwMode="auto">
            <a:xfrm>
              <a:off x="449263" y="343217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1" name="Oval 8">
              <a:extLst>
                <a:ext uri="{FF2B5EF4-FFF2-40B4-BE49-F238E27FC236}">
                  <a16:creationId xmlns:a16="http://schemas.microsoft.com/office/drawing/2014/main" id="{06547AB3-5605-9B47-5884-DA4A978F637D}"/>
                </a:ext>
              </a:extLst>
            </p:cNvPr>
            <p:cNvSpPr>
              <a:spLocks noChangeArrowheads="1"/>
            </p:cNvSpPr>
            <p:nvPr/>
          </p:nvSpPr>
          <p:spPr bwMode="auto">
            <a:xfrm>
              <a:off x="1285875" y="361473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2" name="Freeform 9">
              <a:extLst>
                <a:ext uri="{FF2B5EF4-FFF2-40B4-BE49-F238E27FC236}">
                  <a16:creationId xmlns:a16="http://schemas.microsoft.com/office/drawing/2014/main" id="{327929F9-4314-5B6C-FB25-218B1EB5C3B3}"/>
                </a:ext>
              </a:extLst>
            </p:cNvPr>
            <p:cNvSpPr>
              <a:spLocks/>
            </p:cNvSpPr>
            <p:nvPr/>
          </p:nvSpPr>
          <p:spPr bwMode="auto">
            <a:xfrm>
              <a:off x="449263" y="413385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3" name="Oval 10">
              <a:extLst>
                <a:ext uri="{FF2B5EF4-FFF2-40B4-BE49-F238E27FC236}">
                  <a16:creationId xmlns:a16="http://schemas.microsoft.com/office/drawing/2014/main" id="{0C238E85-4828-BB62-CDB2-8602C97F74DC}"/>
                </a:ext>
              </a:extLst>
            </p:cNvPr>
            <p:cNvSpPr>
              <a:spLocks noChangeArrowheads="1"/>
            </p:cNvSpPr>
            <p:nvPr/>
          </p:nvSpPr>
          <p:spPr bwMode="auto">
            <a:xfrm>
              <a:off x="1289050" y="43195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4" name="Freeform 11">
              <a:extLst>
                <a:ext uri="{FF2B5EF4-FFF2-40B4-BE49-F238E27FC236}">
                  <a16:creationId xmlns:a16="http://schemas.microsoft.com/office/drawing/2014/main" id="{9DEDA1C7-5E3B-1E54-82A4-838E40D3A49D}"/>
                </a:ext>
              </a:extLst>
            </p:cNvPr>
            <p:cNvSpPr>
              <a:spLocks/>
            </p:cNvSpPr>
            <p:nvPr/>
          </p:nvSpPr>
          <p:spPr bwMode="auto">
            <a:xfrm>
              <a:off x="449263" y="483552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5" name="Oval 12">
              <a:extLst>
                <a:ext uri="{FF2B5EF4-FFF2-40B4-BE49-F238E27FC236}">
                  <a16:creationId xmlns:a16="http://schemas.microsoft.com/office/drawing/2014/main" id="{806C981C-6DF1-F79E-6E5A-409AD8525438}"/>
                </a:ext>
              </a:extLst>
            </p:cNvPr>
            <p:cNvSpPr>
              <a:spLocks noChangeArrowheads="1"/>
            </p:cNvSpPr>
            <p:nvPr/>
          </p:nvSpPr>
          <p:spPr bwMode="auto">
            <a:xfrm>
              <a:off x="1292225" y="50038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Freeform 13">
              <a:extLst>
                <a:ext uri="{FF2B5EF4-FFF2-40B4-BE49-F238E27FC236}">
                  <a16:creationId xmlns:a16="http://schemas.microsoft.com/office/drawing/2014/main" id="{078E22A4-E445-65C0-6365-DAF7466AE95F}"/>
                </a:ext>
              </a:extLst>
            </p:cNvPr>
            <p:cNvSpPr>
              <a:spLocks/>
            </p:cNvSpPr>
            <p:nvPr/>
          </p:nvSpPr>
          <p:spPr bwMode="auto">
            <a:xfrm>
              <a:off x="449263" y="553720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7" name="Oval 14">
              <a:extLst>
                <a:ext uri="{FF2B5EF4-FFF2-40B4-BE49-F238E27FC236}">
                  <a16:creationId xmlns:a16="http://schemas.microsoft.com/office/drawing/2014/main" id="{0E03D773-CF94-7293-D00F-9A1DD28CE96B}"/>
                </a:ext>
              </a:extLst>
            </p:cNvPr>
            <p:cNvSpPr>
              <a:spLocks noChangeArrowheads="1"/>
            </p:cNvSpPr>
            <p:nvPr/>
          </p:nvSpPr>
          <p:spPr bwMode="auto">
            <a:xfrm>
              <a:off x="1273175" y="57277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8" name="Oval 15">
              <a:extLst>
                <a:ext uri="{FF2B5EF4-FFF2-40B4-BE49-F238E27FC236}">
                  <a16:creationId xmlns:a16="http://schemas.microsoft.com/office/drawing/2014/main" id="{F0B62F13-3A72-5D70-A9A6-E535800C17B3}"/>
                </a:ext>
              </a:extLst>
            </p:cNvPr>
            <p:cNvSpPr>
              <a:spLocks noChangeArrowheads="1"/>
            </p:cNvSpPr>
            <p:nvPr/>
          </p:nvSpPr>
          <p:spPr bwMode="auto">
            <a:xfrm>
              <a:off x="873125" y="29083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9" name="Oval 16">
              <a:extLst>
                <a:ext uri="{FF2B5EF4-FFF2-40B4-BE49-F238E27FC236}">
                  <a16:creationId xmlns:a16="http://schemas.microsoft.com/office/drawing/2014/main" id="{309CF1F0-6169-C771-067D-BF563E351410}"/>
                </a:ext>
              </a:extLst>
            </p:cNvPr>
            <p:cNvSpPr>
              <a:spLocks noChangeArrowheads="1"/>
            </p:cNvSpPr>
            <p:nvPr/>
          </p:nvSpPr>
          <p:spPr bwMode="auto">
            <a:xfrm>
              <a:off x="858838" y="361315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0" name="Oval 17">
              <a:extLst>
                <a:ext uri="{FF2B5EF4-FFF2-40B4-BE49-F238E27FC236}">
                  <a16:creationId xmlns:a16="http://schemas.microsoft.com/office/drawing/2014/main" id="{71276577-A532-FDA0-D053-5FA332CDF365}"/>
                </a:ext>
              </a:extLst>
            </p:cNvPr>
            <p:cNvSpPr>
              <a:spLocks noChangeArrowheads="1"/>
            </p:cNvSpPr>
            <p:nvPr/>
          </p:nvSpPr>
          <p:spPr bwMode="auto">
            <a:xfrm>
              <a:off x="858838" y="4321175"/>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1" name="Oval 18">
              <a:extLst>
                <a:ext uri="{FF2B5EF4-FFF2-40B4-BE49-F238E27FC236}">
                  <a16:creationId xmlns:a16="http://schemas.microsoft.com/office/drawing/2014/main" id="{CEB3F2E7-6EE1-3DA6-5DE7-B976973C5048}"/>
                </a:ext>
              </a:extLst>
            </p:cNvPr>
            <p:cNvSpPr>
              <a:spLocks noChangeArrowheads="1"/>
            </p:cNvSpPr>
            <p:nvPr/>
          </p:nvSpPr>
          <p:spPr bwMode="auto">
            <a:xfrm>
              <a:off x="874713" y="500380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2" name="Oval 19">
              <a:extLst>
                <a:ext uri="{FF2B5EF4-FFF2-40B4-BE49-F238E27FC236}">
                  <a16:creationId xmlns:a16="http://schemas.microsoft.com/office/drawing/2014/main" id="{190115EA-DA21-7E5C-9529-AC14A854F974}"/>
                </a:ext>
              </a:extLst>
            </p:cNvPr>
            <p:cNvSpPr>
              <a:spLocks noChangeArrowheads="1"/>
            </p:cNvSpPr>
            <p:nvPr/>
          </p:nvSpPr>
          <p:spPr bwMode="auto">
            <a:xfrm>
              <a:off x="874713" y="572770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3" name="Oval 20">
              <a:extLst>
                <a:ext uri="{FF2B5EF4-FFF2-40B4-BE49-F238E27FC236}">
                  <a16:creationId xmlns:a16="http://schemas.microsoft.com/office/drawing/2014/main" id="{98108F58-FCD3-F6FA-9172-37C1B6553E92}"/>
                </a:ext>
              </a:extLst>
            </p:cNvPr>
            <p:cNvSpPr>
              <a:spLocks noChangeArrowheads="1"/>
            </p:cNvSpPr>
            <p:nvPr/>
          </p:nvSpPr>
          <p:spPr bwMode="auto">
            <a:xfrm>
              <a:off x="1719263" y="4319588"/>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4" name="Oval 21">
              <a:extLst>
                <a:ext uri="{FF2B5EF4-FFF2-40B4-BE49-F238E27FC236}">
                  <a16:creationId xmlns:a16="http://schemas.microsoft.com/office/drawing/2014/main" id="{F13F7388-E007-4B1E-BEB6-33A3CA91FB1A}"/>
                </a:ext>
              </a:extLst>
            </p:cNvPr>
            <p:cNvSpPr>
              <a:spLocks noChangeArrowheads="1"/>
            </p:cNvSpPr>
            <p:nvPr/>
          </p:nvSpPr>
          <p:spPr bwMode="auto">
            <a:xfrm>
              <a:off x="1711325" y="50038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5" name="Oval 22">
              <a:extLst>
                <a:ext uri="{FF2B5EF4-FFF2-40B4-BE49-F238E27FC236}">
                  <a16:creationId xmlns:a16="http://schemas.microsoft.com/office/drawing/2014/main" id="{AEB052A9-0446-03A9-37D7-B58C7625B312}"/>
                </a:ext>
              </a:extLst>
            </p:cNvPr>
            <p:cNvSpPr>
              <a:spLocks noChangeArrowheads="1"/>
            </p:cNvSpPr>
            <p:nvPr/>
          </p:nvSpPr>
          <p:spPr bwMode="auto">
            <a:xfrm>
              <a:off x="1673225" y="57277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6" name="Line 23">
              <a:extLst>
                <a:ext uri="{FF2B5EF4-FFF2-40B4-BE49-F238E27FC236}">
                  <a16:creationId xmlns:a16="http://schemas.microsoft.com/office/drawing/2014/main" id="{59F3FC0D-7EBB-02C2-CEEA-81961EC4507C}"/>
                </a:ext>
              </a:extLst>
            </p:cNvPr>
            <p:cNvSpPr>
              <a:spLocks noChangeShapeType="1"/>
            </p:cNvSpPr>
            <p:nvPr/>
          </p:nvSpPr>
          <p:spPr bwMode="auto">
            <a:xfrm>
              <a:off x="677863" y="5905500"/>
              <a:ext cx="1546225" cy="0"/>
            </a:xfrm>
            <a:prstGeom prst="line">
              <a:avLst/>
            </a:prstGeom>
            <a:noFill/>
            <a:ln w="2857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Line 24">
              <a:extLst>
                <a:ext uri="{FF2B5EF4-FFF2-40B4-BE49-F238E27FC236}">
                  <a16:creationId xmlns:a16="http://schemas.microsoft.com/office/drawing/2014/main" id="{6BEB30A7-2A19-8EB4-697C-BA8A6D3DA02B}"/>
                </a:ext>
              </a:extLst>
            </p:cNvPr>
            <p:cNvSpPr>
              <a:spLocks noChangeShapeType="1"/>
            </p:cNvSpPr>
            <p:nvPr/>
          </p:nvSpPr>
          <p:spPr bwMode="auto">
            <a:xfrm>
              <a:off x="701675" y="3795713"/>
              <a:ext cx="1081088" cy="0"/>
            </a:xfrm>
            <a:prstGeom prst="line">
              <a:avLst/>
            </a:prstGeom>
            <a:noFill/>
            <a:ln w="2857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Rectangle 25">
              <a:extLst>
                <a:ext uri="{FF2B5EF4-FFF2-40B4-BE49-F238E27FC236}">
                  <a16:creationId xmlns:a16="http://schemas.microsoft.com/office/drawing/2014/main" id="{15EC7D5C-2459-1990-DBC5-682C302D5506}"/>
                </a:ext>
              </a:extLst>
            </p:cNvPr>
            <p:cNvSpPr>
              <a:spLocks noChangeArrowheads="1"/>
            </p:cNvSpPr>
            <p:nvPr/>
          </p:nvSpPr>
          <p:spPr bwMode="auto">
            <a:xfrm>
              <a:off x="739775" y="4959350"/>
              <a:ext cx="1447800" cy="44291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9" name="Text Box 26">
              <a:extLst>
                <a:ext uri="{FF2B5EF4-FFF2-40B4-BE49-F238E27FC236}">
                  <a16:creationId xmlns:a16="http://schemas.microsoft.com/office/drawing/2014/main" id="{C79F06E4-35A5-03D2-7566-8F11AE02356B}"/>
                </a:ext>
              </a:extLst>
            </p:cNvPr>
            <p:cNvSpPr txBox="1">
              <a:spLocks noChangeArrowheads="1"/>
            </p:cNvSpPr>
            <p:nvPr/>
          </p:nvSpPr>
          <p:spPr bwMode="auto">
            <a:xfrm>
              <a:off x="2563813" y="2168525"/>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Of Interest</a:t>
              </a:r>
            </a:p>
          </p:txBody>
        </p:sp>
        <p:sp>
          <p:nvSpPr>
            <p:cNvPr id="40" name="Text Box 27">
              <a:extLst>
                <a:ext uri="{FF2B5EF4-FFF2-40B4-BE49-F238E27FC236}">
                  <a16:creationId xmlns:a16="http://schemas.microsoft.com/office/drawing/2014/main" id="{CA3E223A-7BDC-4CAC-75C7-83C2EE3F8C92}"/>
                </a:ext>
              </a:extLst>
            </p:cNvPr>
            <p:cNvSpPr txBox="1">
              <a:spLocks noChangeArrowheads="1"/>
            </p:cNvSpPr>
            <p:nvPr/>
          </p:nvSpPr>
          <p:spPr bwMode="auto">
            <a:xfrm>
              <a:off x="2563813" y="282416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Under Preparation</a:t>
              </a:r>
            </a:p>
          </p:txBody>
        </p:sp>
        <p:sp>
          <p:nvSpPr>
            <p:cNvPr id="41" name="Text Box 28">
              <a:extLst>
                <a:ext uri="{FF2B5EF4-FFF2-40B4-BE49-F238E27FC236}">
                  <a16:creationId xmlns:a16="http://schemas.microsoft.com/office/drawing/2014/main" id="{BA700D2D-59CA-E6CD-A201-5419DB0452FE}"/>
                </a:ext>
              </a:extLst>
            </p:cNvPr>
            <p:cNvSpPr txBox="1">
              <a:spLocks noChangeArrowheads="1"/>
            </p:cNvSpPr>
            <p:nvPr/>
          </p:nvSpPr>
          <p:spPr bwMode="auto">
            <a:xfrm>
              <a:off x="2563813" y="3627438"/>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Not Viable</a:t>
              </a:r>
            </a:p>
          </p:txBody>
        </p:sp>
        <p:sp>
          <p:nvSpPr>
            <p:cNvPr id="42" name="Text Box 29">
              <a:extLst>
                <a:ext uri="{FF2B5EF4-FFF2-40B4-BE49-F238E27FC236}">
                  <a16:creationId xmlns:a16="http://schemas.microsoft.com/office/drawing/2014/main" id="{7578071F-CE48-B542-DBB8-7B3C6AADBCAE}"/>
                </a:ext>
              </a:extLst>
            </p:cNvPr>
            <p:cNvSpPr txBox="1">
              <a:spLocks noChangeArrowheads="1"/>
            </p:cNvSpPr>
            <p:nvPr/>
          </p:nvSpPr>
          <p:spPr bwMode="auto">
            <a:xfrm>
              <a:off x="2563813" y="4295775"/>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Under Test</a:t>
              </a:r>
            </a:p>
          </p:txBody>
        </p:sp>
        <p:sp>
          <p:nvSpPr>
            <p:cNvPr id="43" name="Text Box 30">
              <a:extLst>
                <a:ext uri="{FF2B5EF4-FFF2-40B4-BE49-F238E27FC236}">
                  <a16:creationId xmlns:a16="http://schemas.microsoft.com/office/drawing/2014/main" id="{C42EC7E6-8761-F8B9-07F1-B427AD2431FE}"/>
                </a:ext>
              </a:extLst>
            </p:cNvPr>
            <p:cNvSpPr txBox="1">
              <a:spLocks noChangeArrowheads="1"/>
            </p:cNvSpPr>
            <p:nvPr/>
          </p:nvSpPr>
          <p:spPr bwMode="auto">
            <a:xfrm>
              <a:off x="2563813" y="496411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Successful Test</a:t>
              </a:r>
            </a:p>
          </p:txBody>
        </p:sp>
        <p:sp>
          <p:nvSpPr>
            <p:cNvPr id="44" name="Text Box 31">
              <a:extLst>
                <a:ext uri="{FF2B5EF4-FFF2-40B4-BE49-F238E27FC236}">
                  <a16:creationId xmlns:a16="http://schemas.microsoft.com/office/drawing/2014/main" id="{1A77523C-AE49-C59E-7E1E-8D99FDD5D475}"/>
                </a:ext>
              </a:extLst>
            </p:cNvPr>
            <p:cNvSpPr txBox="1">
              <a:spLocks noChangeArrowheads="1"/>
            </p:cNvSpPr>
            <p:nvPr/>
          </p:nvSpPr>
          <p:spPr bwMode="auto">
            <a:xfrm>
              <a:off x="2563813" y="562451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Unsuccessful Test</a:t>
              </a:r>
            </a:p>
          </p:txBody>
        </p:sp>
        <p:sp>
          <p:nvSpPr>
            <p:cNvPr id="45" name="Text Box 32">
              <a:extLst>
                <a:ext uri="{FF2B5EF4-FFF2-40B4-BE49-F238E27FC236}">
                  <a16:creationId xmlns:a16="http://schemas.microsoft.com/office/drawing/2014/main" id="{3A5558E2-59C2-D0B1-D758-EE49B4765DDF}"/>
                </a:ext>
              </a:extLst>
            </p:cNvPr>
            <p:cNvSpPr txBox="1">
              <a:spLocks noChangeArrowheads="1"/>
            </p:cNvSpPr>
            <p:nvPr/>
          </p:nvSpPr>
          <p:spPr bwMode="auto">
            <a:xfrm>
              <a:off x="3995738" y="203041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merit. It is visually marked for the purpose of consideration over cards that have no dots. No specific implementation action is required at this time.</a:t>
              </a:r>
            </a:p>
          </p:txBody>
        </p:sp>
        <p:sp>
          <p:nvSpPr>
            <p:cNvPr id="46" name="Text Box 33">
              <a:extLst>
                <a:ext uri="{FF2B5EF4-FFF2-40B4-BE49-F238E27FC236}">
                  <a16:creationId xmlns:a16="http://schemas.microsoft.com/office/drawing/2014/main" id="{FA5F6A51-E4F2-D7BB-C8F5-62A83F8E5C19}"/>
                </a:ext>
              </a:extLst>
            </p:cNvPr>
            <p:cNvSpPr txBox="1">
              <a:spLocks noChangeArrowheads="1"/>
            </p:cNvSpPr>
            <p:nvPr/>
          </p:nvSpPr>
          <p:spPr bwMode="auto">
            <a:xfrm>
              <a:off x="3995738" y="2730500"/>
              <a:ext cx="4706937" cy="573088"/>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been selected for implementation and activities to put the improvement in place are underway, including. validation of the related Facts and feasibility of the improvement.</a:t>
              </a:r>
            </a:p>
          </p:txBody>
        </p:sp>
        <p:sp>
          <p:nvSpPr>
            <p:cNvPr id="47" name="Text Box 34">
              <a:extLst>
                <a:ext uri="{FF2B5EF4-FFF2-40B4-BE49-F238E27FC236}">
                  <a16:creationId xmlns:a16="http://schemas.microsoft.com/office/drawing/2014/main" id="{809C1115-8C90-EA65-115B-2DA64A238389}"/>
                </a:ext>
              </a:extLst>
            </p:cNvPr>
            <p:cNvSpPr txBox="1">
              <a:spLocks noChangeArrowheads="1"/>
            </p:cNvSpPr>
            <p:nvPr/>
          </p:nvSpPr>
          <p:spPr bwMode="auto">
            <a:xfrm>
              <a:off x="3995738" y="3432175"/>
              <a:ext cx="4706937" cy="573088"/>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During the preparation process, it has been determined that the FACT cards could not be substantiated to support the improvement, or this is not feasible or cost effective to implement.</a:t>
              </a:r>
            </a:p>
          </p:txBody>
        </p:sp>
        <p:sp>
          <p:nvSpPr>
            <p:cNvPr id="48" name="Text Box 35">
              <a:extLst>
                <a:ext uri="{FF2B5EF4-FFF2-40B4-BE49-F238E27FC236}">
                  <a16:creationId xmlns:a16="http://schemas.microsoft.com/office/drawing/2014/main" id="{1174B96D-C8D6-AC0D-5BBC-5460C6B6B544}"/>
                </a:ext>
              </a:extLst>
            </p:cNvPr>
            <p:cNvSpPr txBox="1">
              <a:spLocks noChangeArrowheads="1"/>
            </p:cNvSpPr>
            <p:nvPr/>
          </p:nvSpPr>
          <p:spPr bwMode="auto">
            <a:xfrm>
              <a:off x="3995738" y="413226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a:t>
              </a:r>
              <a:r>
                <a:rPr lang="en-US" altLang="en-US" sz="1300" b="0" u="sng" dirty="0">
                  <a:latin typeface="Roboto" panose="02000000000000000000" pitchFamily="2" charset="0"/>
                  <a:ea typeface="Roboto" panose="02000000000000000000" pitchFamily="2" charset="0"/>
                </a:rPr>
                <a:t>has</a:t>
              </a:r>
              <a:r>
                <a:rPr lang="en-US" altLang="en-US" sz="1300" b="0" dirty="0">
                  <a:latin typeface="Roboto" panose="02000000000000000000" pitchFamily="2" charset="0"/>
                  <a:ea typeface="Roboto" panose="02000000000000000000" pitchFamily="2" charset="0"/>
                </a:rPr>
                <a:t> </a:t>
              </a:r>
              <a:r>
                <a:rPr lang="en-US" altLang="en-US" sz="1300" b="0" u="sng" dirty="0">
                  <a:latin typeface="Roboto" panose="02000000000000000000" pitchFamily="2" charset="0"/>
                  <a:ea typeface="Roboto" panose="02000000000000000000" pitchFamily="2" charset="0"/>
                </a:rPr>
                <a:t>been</a:t>
              </a:r>
              <a:r>
                <a:rPr lang="en-US" altLang="en-US" sz="1300" b="0" dirty="0">
                  <a:latin typeface="Roboto" panose="02000000000000000000" pitchFamily="2" charset="0"/>
                  <a:ea typeface="Roboto" panose="02000000000000000000" pitchFamily="2" charset="0"/>
                </a:rPr>
                <a:t> </a:t>
              </a:r>
              <a:r>
                <a:rPr lang="en-US" altLang="en-US" sz="1300" b="0" u="sng" dirty="0">
                  <a:latin typeface="Roboto" panose="02000000000000000000" pitchFamily="2" charset="0"/>
                  <a:ea typeface="Roboto" panose="02000000000000000000" pitchFamily="2" charset="0"/>
                </a:rPr>
                <a:t>implemented</a:t>
              </a:r>
              <a:r>
                <a:rPr lang="en-US" altLang="en-US" sz="1300" b="0" dirty="0">
                  <a:latin typeface="Roboto" panose="02000000000000000000" pitchFamily="2" charset="0"/>
                  <a:ea typeface="Roboto" panose="02000000000000000000" pitchFamily="2" charset="0"/>
                </a:rPr>
                <a:t>, either completely, or in a pilot mode, in a way that its effectiveness as a countermeasure can be tested using the problem </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effect</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 metric.</a:t>
              </a:r>
              <a:endParaRPr lang="en-US" altLang="en-US" sz="1300" b="0" dirty="0">
                <a:latin typeface="Roboto" panose="02000000000000000000" pitchFamily="2" charset="0"/>
                <a:ea typeface="Roboto" panose="02000000000000000000" pitchFamily="2" charset="0"/>
              </a:endParaRPr>
            </a:p>
          </p:txBody>
        </p:sp>
        <p:sp>
          <p:nvSpPr>
            <p:cNvPr id="49" name="Text Box 36">
              <a:extLst>
                <a:ext uri="{FF2B5EF4-FFF2-40B4-BE49-F238E27FC236}">
                  <a16:creationId xmlns:a16="http://schemas.microsoft.com/office/drawing/2014/main" id="{4FFC255C-1FFC-5093-C97B-E60AEEB32568}"/>
                </a:ext>
              </a:extLst>
            </p:cNvPr>
            <p:cNvSpPr txBox="1">
              <a:spLocks noChangeArrowheads="1"/>
            </p:cNvSpPr>
            <p:nvPr/>
          </p:nvSpPr>
          <p:spPr bwMode="auto">
            <a:xfrm>
              <a:off x="3995738" y="4833938"/>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implemented improvement has been validated as being effective in completely or partially solving the problem, as measured by the problem </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effect</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 metric.</a:t>
              </a:r>
              <a:endParaRPr lang="en-US" altLang="en-US" sz="1300" b="0" dirty="0">
                <a:latin typeface="Roboto" panose="02000000000000000000" pitchFamily="2" charset="0"/>
                <a:ea typeface="Roboto" panose="02000000000000000000" pitchFamily="2" charset="0"/>
              </a:endParaRPr>
            </a:p>
          </p:txBody>
        </p:sp>
        <p:sp>
          <p:nvSpPr>
            <p:cNvPr id="50" name="Text Box 37">
              <a:extLst>
                <a:ext uri="{FF2B5EF4-FFF2-40B4-BE49-F238E27FC236}">
                  <a16:creationId xmlns:a16="http://schemas.microsoft.com/office/drawing/2014/main" id="{BA83E070-1B4F-FFE3-F5D3-C9FC9A4A4BED}"/>
                </a:ext>
              </a:extLst>
            </p:cNvPr>
            <p:cNvSpPr txBox="1">
              <a:spLocks noChangeArrowheads="1"/>
            </p:cNvSpPr>
            <p:nvPr/>
          </p:nvSpPr>
          <p:spPr bwMode="auto">
            <a:xfrm>
              <a:off x="3995738" y="553561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implemented improvement has not had a positive effect on solving the problem. It may need to be backed out if it has added cost to the process without associated benefit.</a:t>
              </a:r>
            </a:p>
          </p:txBody>
        </p:sp>
        <p:sp>
          <p:nvSpPr>
            <p:cNvPr id="51" name="Freeform 38">
              <a:extLst>
                <a:ext uri="{FF2B5EF4-FFF2-40B4-BE49-F238E27FC236}">
                  <a16:creationId xmlns:a16="http://schemas.microsoft.com/office/drawing/2014/main" id="{C96A35AE-7420-CD38-0492-3BF424584094}"/>
                </a:ext>
              </a:extLst>
            </p:cNvPr>
            <p:cNvSpPr>
              <a:spLocks/>
            </p:cNvSpPr>
            <p:nvPr/>
          </p:nvSpPr>
          <p:spPr bwMode="auto">
            <a:xfrm>
              <a:off x="442913" y="1316038"/>
              <a:ext cx="2073275" cy="623887"/>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52" name="Text Box 39">
              <a:extLst>
                <a:ext uri="{FF2B5EF4-FFF2-40B4-BE49-F238E27FC236}">
                  <a16:creationId xmlns:a16="http://schemas.microsoft.com/office/drawing/2014/main" id="{0CC5474A-2603-D899-281B-9975B454ADB3}"/>
                </a:ext>
              </a:extLst>
            </p:cNvPr>
            <p:cNvSpPr txBox="1">
              <a:spLocks noChangeArrowheads="1"/>
            </p:cNvSpPr>
            <p:nvPr/>
          </p:nvSpPr>
          <p:spPr bwMode="auto">
            <a:xfrm>
              <a:off x="2557463" y="1484313"/>
              <a:ext cx="1411287"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Not of Interest</a:t>
              </a:r>
            </a:p>
          </p:txBody>
        </p:sp>
        <p:sp>
          <p:nvSpPr>
            <p:cNvPr id="53" name="Text Box 40">
              <a:extLst>
                <a:ext uri="{FF2B5EF4-FFF2-40B4-BE49-F238E27FC236}">
                  <a16:creationId xmlns:a16="http://schemas.microsoft.com/office/drawing/2014/main" id="{68B40AE2-85B0-307D-C3E5-FE2B7036539E}"/>
                </a:ext>
              </a:extLst>
            </p:cNvPr>
            <p:cNvSpPr txBox="1">
              <a:spLocks noChangeArrowheads="1"/>
            </p:cNvSpPr>
            <p:nvPr/>
          </p:nvSpPr>
          <p:spPr bwMode="auto">
            <a:xfrm>
              <a:off x="4002088" y="133826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been reviewed but is not being considered at the current point in time. It may be reconsidered in the future as other improvements are acted upon.</a:t>
              </a:r>
            </a:p>
          </p:txBody>
        </p:sp>
      </p:grpSp>
    </p:spTree>
    <p:extLst>
      <p:ext uri="{BB962C8B-B14F-4D97-AF65-F5344CB8AC3E}">
        <p14:creationId xmlns:p14="http://schemas.microsoft.com/office/powerpoint/2010/main" val="6290577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Process for Prioritization of the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r>
              <a:rPr lang="en-US" dirty="0"/>
              <a:t>One quick and easy method for prioritization of actions to test is to place the improvement card number on a quadrant chart, where:</a:t>
            </a:r>
          </a:p>
          <a:p>
            <a:pPr lvl="1"/>
            <a:r>
              <a:rPr lang="en-US" dirty="0"/>
              <a:t>One axis = “Ease of implementation”</a:t>
            </a:r>
          </a:p>
          <a:p>
            <a:pPr lvl="1"/>
            <a:r>
              <a:rPr lang="en-US" dirty="0"/>
              <a:t>Second axis = “Impact” to target or objective</a:t>
            </a:r>
          </a:p>
          <a:p>
            <a:endParaRPr lang="en-US" dirty="0"/>
          </a:p>
          <a:p>
            <a:r>
              <a:rPr lang="en-US" dirty="0"/>
              <a:t>Prioritize actions that are “easy to implement” with “high impact” first</a:t>
            </a:r>
          </a:p>
          <a:p>
            <a:r>
              <a:rPr lang="en-US" dirty="0"/>
              <a:t>Then select actions within the “difficult to implement”/”high impact” and “easy to implement”/”low impact” next</a:t>
            </a:r>
          </a:p>
          <a:p>
            <a:r>
              <a:rPr lang="en-US" dirty="0"/>
              <a:t>Re-evaluate improvement cards that fall within the “difficult to implement” and “low impact” quadrant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89178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Which Improvements to Work?</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86</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14" name="Group 8">
            <a:extLst>
              <a:ext uri="{FF2B5EF4-FFF2-40B4-BE49-F238E27FC236}">
                <a16:creationId xmlns:a16="http://schemas.microsoft.com/office/drawing/2014/main" id="{4D0A2A53-0648-DB90-7C53-1DD1569FACA1}"/>
              </a:ext>
            </a:extLst>
          </p:cNvPr>
          <p:cNvGrpSpPr>
            <a:grpSpLocks/>
          </p:cNvGrpSpPr>
          <p:nvPr/>
        </p:nvGrpSpPr>
        <p:grpSpPr bwMode="auto">
          <a:xfrm>
            <a:off x="7299643" y="883920"/>
            <a:ext cx="3444875" cy="400050"/>
            <a:chOff x="2868" y="382"/>
            <a:chExt cx="2170" cy="252"/>
          </a:xfrm>
        </p:grpSpPr>
        <p:grpSp>
          <p:nvGrpSpPr>
            <p:cNvPr id="15" name="Group 9">
              <a:extLst>
                <a:ext uri="{FF2B5EF4-FFF2-40B4-BE49-F238E27FC236}">
                  <a16:creationId xmlns:a16="http://schemas.microsoft.com/office/drawing/2014/main" id="{BD436353-85B6-AD56-C012-3451F0270458}"/>
                </a:ext>
              </a:extLst>
            </p:cNvPr>
            <p:cNvGrpSpPr>
              <a:grpSpLocks/>
            </p:cNvGrpSpPr>
            <p:nvPr/>
          </p:nvGrpSpPr>
          <p:grpSpPr bwMode="auto">
            <a:xfrm>
              <a:off x="2868" y="382"/>
              <a:ext cx="806" cy="252"/>
              <a:chOff x="2062" y="299"/>
              <a:chExt cx="1306" cy="393"/>
            </a:xfrm>
          </p:grpSpPr>
          <p:sp>
            <p:nvSpPr>
              <p:cNvPr id="21" name="Freeform 10">
                <a:extLst>
                  <a:ext uri="{FF2B5EF4-FFF2-40B4-BE49-F238E27FC236}">
                    <a16:creationId xmlns:a16="http://schemas.microsoft.com/office/drawing/2014/main" id="{50865F8A-4929-415A-719D-EF8A37D656F4}"/>
                  </a:ext>
                </a:extLst>
              </p:cNvPr>
              <p:cNvSpPr>
                <a:spLocks/>
              </p:cNvSpPr>
              <p:nvPr/>
            </p:nvSpPr>
            <p:spPr bwMode="auto">
              <a:xfrm>
                <a:off x="2062" y="299"/>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p>
            </p:txBody>
          </p:sp>
          <p:sp>
            <p:nvSpPr>
              <p:cNvPr id="22" name="Oval 11">
                <a:extLst>
                  <a:ext uri="{FF2B5EF4-FFF2-40B4-BE49-F238E27FC236}">
                    <a16:creationId xmlns:a16="http://schemas.microsoft.com/office/drawing/2014/main" id="{59F51D54-515B-0E20-7A79-D346C4EF5913}"/>
                  </a:ext>
                </a:extLst>
              </p:cNvPr>
              <p:cNvSpPr>
                <a:spLocks noChangeArrowheads="1"/>
              </p:cNvSpPr>
              <p:nvPr/>
            </p:nvSpPr>
            <p:spPr bwMode="auto">
              <a:xfrm>
                <a:off x="2589" y="414"/>
                <a:ext cx="230"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grpSp>
          <p:nvGrpSpPr>
            <p:cNvPr id="16" name="Group 12">
              <a:extLst>
                <a:ext uri="{FF2B5EF4-FFF2-40B4-BE49-F238E27FC236}">
                  <a16:creationId xmlns:a16="http://schemas.microsoft.com/office/drawing/2014/main" id="{9E856C97-DD36-85C8-77CC-E5CD6F848F9D}"/>
                </a:ext>
              </a:extLst>
            </p:cNvPr>
            <p:cNvGrpSpPr>
              <a:grpSpLocks/>
            </p:cNvGrpSpPr>
            <p:nvPr/>
          </p:nvGrpSpPr>
          <p:grpSpPr bwMode="auto">
            <a:xfrm>
              <a:off x="4206" y="407"/>
              <a:ext cx="832" cy="227"/>
              <a:chOff x="130" y="1720"/>
              <a:chExt cx="1306" cy="393"/>
            </a:xfrm>
          </p:grpSpPr>
          <p:sp>
            <p:nvSpPr>
              <p:cNvPr id="18" name="Freeform 13">
                <a:extLst>
                  <a:ext uri="{FF2B5EF4-FFF2-40B4-BE49-F238E27FC236}">
                    <a16:creationId xmlns:a16="http://schemas.microsoft.com/office/drawing/2014/main" id="{34075CF9-4EBD-D1F0-6101-88F039C9BE5D}"/>
                  </a:ext>
                </a:extLst>
              </p:cNvPr>
              <p:cNvSpPr>
                <a:spLocks/>
              </p:cNvSpPr>
              <p:nvPr/>
            </p:nvSpPr>
            <p:spPr bwMode="auto">
              <a:xfrm>
                <a:off x="130" y="1720"/>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p>
            </p:txBody>
          </p:sp>
          <p:sp>
            <p:nvSpPr>
              <p:cNvPr id="19" name="Oval 14">
                <a:extLst>
                  <a:ext uri="{FF2B5EF4-FFF2-40B4-BE49-F238E27FC236}">
                    <a16:creationId xmlns:a16="http://schemas.microsoft.com/office/drawing/2014/main" id="{29BF7715-A448-D16B-DA71-2A990EC21D3D}"/>
                  </a:ext>
                </a:extLst>
              </p:cNvPr>
              <p:cNvSpPr>
                <a:spLocks noChangeArrowheads="1"/>
              </p:cNvSpPr>
              <p:nvPr/>
            </p:nvSpPr>
            <p:spPr bwMode="auto">
              <a:xfrm>
                <a:off x="657" y="1833"/>
                <a:ext cx="229"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20" name="Oval 15">
                <a:extLst>
                  <a:ext uri="{FF2B5EF4-FFF2-40B4-BE49-F238E27FC236}">
                    <a16:creationId xmlns:a16="http://schemas.microsoft.com/office/drawing/2014/main" id="{937CE295-42DA-2D40-8224-F607158EA75C}"/>
                  </a:ext>
                </a:extLst>
              </p:cNvPr>
              <p:cNvSpPr>
                <a:spLocks noChangeArrowheads="1"/>
              </p:cNvSpPr>
              <p:nvPr/>
            </p:nvSpPr>
            <p:spPr bwMode="auto">
              <a:xfrm>
                <a:off x="397" y="1833"/>
                <a:ext cx="229"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sp>
          <p:nvSpPr>
            <p:cNvPr id="17" name="AutoShape 16">
              <a:extLst>
                <a:ext uri="{FF2B5EF4-FFF2-40B4-BE49-F238E27FC236}">
                  <a16:creationId xmlns:a16="http://schemas.microsoft.com/office/drawing/2014/main" id="{8B071C6A-FE73-B4EA-C024-4A5593895AFC}"/>
                </a:ext>
              </a:extLst>
            </p:cNvPr>
            <p:cNvSpPr>
              <a:spLocks noChangeArrowheads="1"/>
            </p:cNvSpPr>
            <p:nvPr/>
          </p:nvSpPr>
          <p:spPr bwMode="auto">
            <a:xfrm>
              <a:off x="3821" y="416"/>
              <a:ext cx="275" cy="192"/>
            </a:xfrm>
            <a:prstGeom prst="rightArrow">
              <a:avLst>
                <a:gd name="adj1" fmla="val 50000"/>
                <a:gd name="adj2" fmla="val 35807"/>
              </a:avLst>
            </a:prstGeom>
            <a:solidFill>
              <a:schemeClr val="accent1"/>
            </a:solidFill>
            <a:ln w="50800" cmpd="dbl">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grpSp>
        <p:nvGrpSpPr>
          <p:cNvPr id="51" name="Group 50">
            <a:extLst>
              <a:ext uri="{FF2B5EF4-FFF2-40B4-BE49-F238E27FC236}">
                <a16:creationId xmlns:a16="http://schemas.microsoft.com/office/drawing/2014/main" id="{F05A2DC2-6295-D748-D5F1-20EFA98D2880}"/>
              </a:ext>
            </a:extLst>
          </p:cNvPr>
          <p:cNvGrpSpPr/>
          <p:nvPr/>
        </p:nvGrpSpPr>
        <p:grpSpPr>
          <a:xfrm>
            <a:off x="2185344" y="1893571"/>
            <a:ext cx="7821312" cy="4283392"/>
            <a:chOff x="1062735" y="1893571"/>
            <a:chExt cx="6753225" cy="4077501"/>
          </a:xfrm>
        </p:grpSpPr>
        <p:grpSp>
          <p:nvGrpSpPr>
            <p:cNvPr id="25" name="Group 2">
              <a:extLst>
                <a:ext uri="{FF2B5EF4-FFF2-40B4-BE49-F238E27FC236}">
                  <a16:creationId xmlns:a16="http://schemas.microsoft.com/office/drawing/2014/main" id="{4F9A5F37-ACBF-92EE-008F-87FC3D408FFF}"/>
                </a:ext>
              </a:extLst>
            </p:cNvPr>
            <p:cNvGrpSpPr>
              <a:grpSpLocks/>
            </p:cNvGrpSpPr>
            <p:nvPr/>
          </p:nvGrpSpPr>
          <p:grpSpPr bwMode="auto">
            <a:xfrm>
              <a:off x="2997897" y="1969771"/>
              <a:ext cx="4818063" cy="3300412"/>
              <a:chOff x="5558" y="914"/>
              <a:chExt cx="3035" cy="2079"/>
            </a:xfrm>
          </p:grpSpPr>
          <p:sp>
            <p:nvSpPr>
              <p:cNvPr id="26" name="Rectangle 3">
                <a:extLst>
                  <a:ext uri="{FF2B5EF4-FFF2-40B4-BE49-F238E27FC236}">
                    <a16:creationId xmlns:a16="http://schemas.microsoft.com/office/drawing/2014/main" id="{7A4E36EE-0759-7A5B-214C-CAE59C2777CC}"/>
                  </a:ext>
                </a:extLst>
              </p:cNvPr>
              <p:cNvSpPr>
                <a:spLocks noChangeArrowheads="1"/>
              </p:cNvSpPr>
              <p:nvPr/>
            </p:nvSpPr>
            <p:spPr bwMode="auto">
              <a:xfrm>
                <a:off x="7076" y="1950"/>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7" name="Rectangle 4">
                <a:extLst>
                  <a:ext uri="{FF2B5EF4-FFF2-40B4-BE49-F238E27FC236}">
                    <a16:creationId xmlns:a16="http://schemas.microsoft.com/office/drawing/2014/main" id="{45C7B825-9EF9-15DD-E1BF-E456E2A54BF4}"/>
                  </a:ext>
                </a:extLst>
              </p:cNvPr>
              <p:cNvSpPr>
                <a:spLocks noChangeArrowheads="1"/>
              </p:cNvSpPr>
              <p:nvPr/>
            </p:nvSpPr>
            <p:spPr bwMode="auto">
              <a:xfrm>
                <a:off x="5558" y="1950"/>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8" name="Rectangle 5">
                <a:extLst>
                  <a:ext uri="{FF2B5EF4-FFF2-40B4-BE49-F238E27FC236}">
                    <a16:creationId xmlns:a16="http://schemas.microsoft.com/office/drawing/2014/main" id="{61E0058C-2167-4140-DEF8-922DDBA1AB99}"/>
                  </a:ext>
                </a:extLst>
              </p:cNvPr>
              <p:cNvSpPr>
                <a:spLocks noChangeArrowheads="1"/>
              </p:cNvSpPr>
              <p:nvPr/>
            </p:nvSpPr>
            <p:spPr bwMode="auto">
              <a:xfrm>
                <a:off x="7076" y="914"/>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9" name="Rectangle 6">
                <a:extLst>
                  <a:ext uri="{FF2B5EF4-FFF2-40B4-BE49-F238E27FC236}">
                    <a16:creationId xmlns:a16="http://schemas.microsoft.com/office/drawing/2014/main" id="{C6E75D99-6CE0-C6EB-316D-F4B9538255B0}"/>
                  </a:ext>
                </a:extLst>
              </p:cNvPr>
              <p:cNvSpPr>
                <a:spLocks noChangeArrowheads="1"/>
              </p:cNvSpPr>
              <p:nvPr/>
            </p:nvSpPr>
            <p:spPr bwMode="auto">
              <a:xfrm>
                <a:off x="5558" y="914"/>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grpSp>
          <p:nvGrpSpPr>
            <p:cNvPr id="30" name="Group 17">
              <a:extLst>
                <a:ext uri="{FF2B5EF4-FFF2-40B4-BE49-F238E27FC236}">
                  <a16:creationId xmlns:a16="http://schemas.microsoft.com/office/drawing/2014/main" id="{C73C1963-82E5-C906-F0D9-4A3CE9E331E9}"/>
                </a:ext>
              </a:extLst>
            </p:cNvPr>
            <p:cNvGrpSpPr>
              <a:grpSpLocks/>
            </p:cNvGrpSpPr>
            <p:nvPr/>
          </p:nvGrpSpPr>
          <p:grpSpPr bwMode="auto">
            <a:xfrm>
              <a:off x="5406135" y="1953896"/>
              <a:ext cx="2408237" cy="1655762"/>
              <a:chOff x="3133" y="1095"/>
              <a:chExt cx="1517" cy="1043"/>
            </a:xfrm>
          </p:grpSpPr>
          <p:sp>
            <p:nvSpPr>
              <p:cNvPr id="31" name="Rectangle 18">
                <a:extLst>
                  <a:ext uri="{FF2B5EF4-FFF2-40B4-BE49-F238E27FC236}">
                    <a16:creationId xmlns:a16="http://schemas.microsoft.com/office/drawing/2014/main" id="{668B2778-E75B-BB76-095B-1184E5787E58}"/>
                  </a:ext>
                </a:extLst>
              </p:cNvPr>
              <p:cNvSpPr>
                <a:spLocks noChangeArrowheads="1"/>
              </p:cNvSpPr>
              <p:nvPr/>
            </p:nvSpPr>
            <p:spPr bwMode="auto">
              <a:xfrm>
                <a:off x="3133" y="1095"/>
                <a:ext cx="1517" cy="1043"/>
              </a:xfrm>
              <a:prstGeom prst="rect">
                <a:avLst/>
              </a:prstGeom>
              <a:solidFill>
                <a:schemeClr val="accent1"/>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2" name="Text Box 19">
                <a:extLst>
                  <a:ext uri="{FF2B5EF4-FFF2-40B4-BE49-F238E27FC236}">
                    <a16:creationId xmlns:a16="http://schemas.microsoft.com/office/drawing/2014/main" id="{0EB0C722-C04D-503C-DF3D-6C6ABBFB9B53}"/>
                  </a:ext>
                </a:extLst>
              </p:cNvPr>
              <p:cNvSpPr txBox="1">
                <a:spLocks noChangeArrowheads="1"/>
              </p:cNvSpPr>
              <p:nvPr/>
            </p:nvSpPr>
            <p:spPr bwMode="auto">
              <a:xfrm>
                <a:off x="3705" y="1692"/>
                <a:ext cx="775" cy="37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Consider</a:t>
                </a:r>
              </a:p>
              <a:p>
                <a:pPr algn="ctr">
                  <a:lnSpc>
                    <a:spcPct val="80000"/>
                  </a:lnSpc>
                  <a:spcBef>
                    <a:spcPct val="2000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Alternatives</a:t>
                </a:r>
              </a:p>
            </p:txBody>
          </p:sp>
        </p:grpSp>
        <p:sp>
          <p:nvSpPr>
            <p:cNvPr id="33" name="Text Box 20">
              <a:extLst>
                <a:ext uri="{FF2B5EF4-FFF2-40B4-BE49-F238E27FC236}">
                  <a16:creationId xmlns:a16="http://schemas.microsoft.com/office/drawing/2014/main" id="{DEC00B07-C986-FAA0-A0B8-AB3AED41B14C}"/>
                </a:ext>
              </a:extLst>
            </p:cNvPr>
            <p:cNvSpPr txBox="1">
              <a:spLocks noChangeArrowheads="1"/>
            </p:cNvSpPr>
            <p:nvPr/>
          </p:nvSpPr>
          <p:spPr bwMode="auto">
            <a:xfrm>
              <a:off x="2476384" y="5054283"/>
              <a:ext cx="438963"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Low</a:t>
              </a:r>
            </a:p>
          </p:txBody>
        </p:sp>
        <p:sp>
          <p:nvSpPr>
            <p:cNvPr id="34" name="Text Box 21">
              <a:extLst>
                <a:ext uri="{FF2B5EF4-FFF2-40B4-BE49-F238E27FC236}">
                  <a16:creationId xmlns:a16="http://schemas.microsoft.com/office/drawing/2014/main" id="{3681EE72-378C-AB08-10A9-BCACE6E3F34B}"/>
                </a:ext>
              </a:extLst>
            </p:cNvPr>
            <p:cNvSpPr txBox="1">
              <a:spLocks noChangeArrowheads="1"/>
            </p:cNvSpPr>
            <p:nvPr/>
          </p:nvSpPr>
          <p:spPr bwMode="auto">
            <a:xfrm>
              <a:off x="2427448" y="1893571"/>
              <a:ext cx="47996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High</a:t>
              </a:r>
            </a:p>
          </p:txBody>
        </p:sp>
        <p:sp>
          <p:nvSpPr>
            <p:cNvPr id="35" name="Text Box 22">
              <a:extLst>
                <a:ext uri="{FF2B5EF4-FFF2-40B4-BE49-F238E27FC236}">
                  <a16:creationId xmlns:a16="http://schemas.microsoft.com/office/drawing/2014/main" id="{C161C4A0-72EC-46CF-D9A4-A646F53103C5}"/>
                </a:ext>
              </a:extLst>
            </p:cNvPr>
            <p:cNvSpPr txBox="1">
              <a:spLocks noChangeArrowheads="1"/>
            </p:cNvSpPr>
            <p:nvPr/>
          </p:nvSpPr>
          <p:spPr bwMode="auto">
            <a:xfrm>
              <a:off x="3095122" y="5338446"/>
              <a:ext cx="438963"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Low</a:t>
              </a:r>
            </a:p>
          </p:txBody>
        </p:sp>
        <p:sp>
          <p:nvSpPr>
            <p:cNvPr id="36" name="Text Box 23">
              <a:extLst>
                <a:ext uri="{FF2B5EF4-FFF2-40B4-BE49-F238E27FC236}">
                  <a16:creationId xmlns:a16="http://schemas.microsoft.com/office/drawing/2014/main" id="{7F1D5F60-2A06-BF9D-CAFC-9B22EA881807}"/>
                </a:ext>
              </a:extLst>
            </p:cNvPr>
            <p:cNvSpPr txBox="1">
              <a:spLocks noChangeArrowheads="1"/>
            </p:cNvSpPr>
            <p:nvPr/>
          </p:nvSpPr>
          <p:spPr bwMode="auto">
            <a:xfrm>
              <a:off x="7253716" y="5287646"/>
              <a:ext cx="47996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High</a:t>
              </a:r>
            </a:p>
          </p:txBody>
        </p:sp>
        <p:grpSp>
          <p:nvGrpSpPr>
            <p:cNvPr id="37" name="Group 24">
              <a:extLst>
                <a:ext uri="{FF2B5EF4-FFF2-40B4-BE49-F238E27FC236}">
                  <a16:creationId xmlns:a16="http://schemas.microsoft.com/office/drawing/2014/main" id="{AF037E8B-EF67-8558-588D-B1923D6399C9}"/>
                </a:ext>
              </a:extLst>
            </p:cNvPr>
            <p:cNvGrpSpPr>
              <a:grpSpLocks/>
            </p:cNvGrpSpPr>
            <p:nvPr/>
          </p:nvGrpSpPr>
          <p:grpSpPr bwMode="auto">
            <a:xfrm>
              <a:off x="3009010" y="3601721"/>
              <a:ext cx="2408237" cy="1655762"/>
              <a:chOff x="1623" y="2127"/>
              <a:chExt cx="1517" cy="1043"/>
            </a:xfrm>
          </p:grpSpPr>
          <p:sp>
            <p:nvSpPr>
              <p:cNvPr id="38" name="Rectangle 25">
                <a:extLst>
                  <a:ext uri="{FF2B5EF4-FFF2-40B4-BE49-F238E27FC236}">
                    <a16:creationId xmlns:a16="http://schemas.microsoft.com/office/drawing/2014/main" id="{C7A0CFC7-0103-0DAE-A43D-131128ABBB6F}"/>
                  </a:ext>
                </a:extLst>
              </p:cNvPr>
              <p:cNvSpPr>
                <a:spLocks noChangeArrowheads="1"/>
              </p:cNvSpPr>
              <p:nvPr/>
            </p:nvSpPr>
            <p:spPr bwMode="auto">
              <a:xfrm>
                <a:off x="1623" y="2127"/>
                <a:ext cx="1517" cy="1043"/>
              </a:xfrm>
              <a:prstGeom prst="rect">
                <a:avLst/>
              </a:prstGeom>
              <a:solidFill>
                <a:schemeClr val="accent3"/>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9" name="Text Box 26">
                <a:extLst>
                  <a:ext uri="{FF2B5EF4-FFF2-40B4-BE49-F238E27FC236}">
                    <a16:creationId xmlns:a16="http://schemas.microsoft.com/office/drawing/2014/main" id="{0CBE9EEE-3741-34B6-6785-CF15453CF51C}"/>
                  </a:ext>
                </a:extLst>
              </p:cNvPr>
              <p:cNvSpPr txBox="1">
                <a:spLocks noChangeArrowheads="1"/>
              </p:cNvSpPr>
              <p:nvPr/>
            </p:nvSpPr>
            <p:spPr bwMode="auto">
              <a:xfrm>
                <a:off x="2176" y="2562"/>
                <a:ext cx="405" cy="1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Defer</a:t>
                </a:r>
              </a:p>
            </p:txBody>
          </p:sp>
        </p:grpSp>
        <p:grpSp>
          <p:nvGrpSpPr>
            <p:cNvPr id="40" name="Group 27">
              <a:extLst>
                <a:ext uri="{FF2B5EF4-FFF2-40B4-BE49-F238E27FC236}">
                  <a16:creationId xmlns:a16="http://schemas.microsoft.com/office/drawing/2014/main" id="{DD606E13-99E9-591D-B808-AC63E8A744D8}"/>
                </a:ext>
              </a:extLst>
            </p:cNvPr>
            <p:cNvGrpSpPr>
              <a:grpSpLocks/>
            </p:cNvGrpSpPr>
            <p:nvPr/>
          </p:nvGrpSpPr>
          <p:grpSpPr bwMode="auto">
            <a:xfrm>
              <a:off x="5406135" y="3604896"/>
              <a:ext cx="2408237" cy="1655762"/>
              <a:chOff x="3133" y="2129"/>
              <a:chExt cx="1517" cy="1043"/>
            </a:xfrm>
          </p:grpSpPr>
          <p:sp>
            <p:nvSpPr>
              <p:cNvPr id="41" name="Rectangle 28">
                <a:extLst>
                  <a:ext uri="{FF2B5EF4-FFF2-40B4-BE49-F238E27FC236}">
                    <a16:creationId xmlns:a16="http://schemas.microsoft.com/office/drawing/2014/main" id="{87184E98-AED7-8F45-986B-B38D2F0D7196}"/>
                  </a:ext>
                </a:extLst>
              </p:cNvPr>
              <p:cNvSpPr>
                <a:spLocks noChangeArrowheads="1"/>
              </p:cNvSpPr>
              <p:nvPr/>
            </p:nvSpPr>
            <p:spPr bwMode="auto">
              <a:xfrm>
                <a:off x="3133" y="2129"/>
                <a:ext cx="1517" cy="1043"/>
              </a:xfrm>
              <a:prstGeom prst="rect">
                <a:avLst/>
              </a:prstGeom>
              <a:solidFill>
                <a:schemeClr val="tx2"/>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2" name="Text Box 29">
                <a:extLst>
                  <a:ext uri="{FF2B5EF4-FFF2-40B4-BE49-F238E27FC236}">
                    <a16:creationId xmlns:a16="http://schemas.microsoft.com/office/drawing/2014/main" id="{92578E16-E111-6DAB-F9EB-6F1E6F0E68D9}"/>
                  </a:ext>
                </a:extLst>
              </p:cNvPr>
              <p:cNvSpPr txBox="1">
                <a:spLocks noChangeArrowheads="1"/>
              </p:cNvSpPr>
              <p:nvPr/>
            </p:nvSpPr>
            <p:spPr bwMode="auto">
              <a:xfrm>
                <a:off x="3576" y="2569"/>
                <a:ext cx="606" cy="1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Don</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t Do</a:t>
                </a:r>
                <a:endParaRPr lang="en-US" altLang="en-US" sz="1800" dirty="0">
                  <a:solidFill>
                    <a:schemeClr val="bg1"/>
                  </a:solidFill>
                  <a:latin typeface="Roboto" panose="02000000000000000000" pitchFamily="2" charset="0"/>
                  <a:ea typeface="Roboto" panose="02000000000000000000" pitchFamily="2" charset="0"/>
                </a:endParaRPr>
              </a:p>
            </p:txBody>
          </p:sp>
        </p:grpSp>
        <p:sp>
          <p:nvSpPr>
            <p:cNvPr id="43" name="Freeform 30">
              <a:extLst>
                <a:ext uri="{FF2B5EF4-FFF2-40B4-BE49-F238E27FC236}">
                  <a16:creationId xmlns:a16="http://schemas.microsoft.com/office/drawing/2014/main" id="{084D9C3B-FC78-CA2A-90C3-7AAD13F31682}"/>
                </a:ext>
              </a:extLst>
            </p:cNvPr>
            <p:cNvSpPr>
              <a:spLocks/>
            </p:cNvSpPr>
            <p:nvPr/>
          </p:nvSpPr>
          <p:spPr bwMode="auto">
            <a:xfrm>
              <a:off x="2988372" y="1941196"/>
              <a:ext cx="4805363" cy="1657350"/>
            </a:xfrm>
            <a:custGeom>
              <a:avLst/>
              <a:gdLst>
                <a:gd name="T0" fmla="*/ 0 w 3027"/>
                <a:gd name="T1" fmla="*/ 2147483646 h 1076"/>
                <a:gd name="T2" fmla="*/ 2147483646 w 3027"/>
                <a:gd name="T3" fmla="*/ 2147483646 h 1076"/>
                <a:gd name="T4" fmla="*/ 2147483646 w 3027"/>
                <a:gd name="T5" fmla="*/ 2147483646 h 1076"/>
                <a:gd name="T6" fmla="*/ 2147483646 w 3027"/>
                <a:gd name="T7" fmla="*/ 0 h 1076"/>
                <a:gd name="T8" fmla="*/ 0 w 3027"/>
                <a:gd name="T9" fmla="*/ 2147483646 h 10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7" h="1076">
                  <a:moveTo>
                    <a:pt x="0" y="20"/>
                  </a:moveTo>
                  <a:lnTo>
                    <a:pt x="13" y="1076"/>
                  </a:lnTo>
                  <a:lnTo>
                    <a:pt x="1536" y="1076"/>
                  </a:lnTo>
                  <a:lnTo>
                    <a:pt x="3027" y="0"/>
                  </a:lnTo>
                  <a:lnTo>
                    <a:pt x="0" y="20"/>
                  </a:lnTo>
                  <a:close/>
                </a:path>
              </a:pathLst>
            </a:custGeom>
            <a:solidFill>
              <a:schemeClr val="accent2"/>
            </a:solidFill>
            <a:ln w="28575"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grpSp>
          <p:nvGrpSpPr>
            <p:cNvPr id="44" name="Group 31">
              <a:extLst>
                <a:ext uri="{FF2B5EF4-FFF2-40B4-BE49-F238E27FC236}">
                  <a16:creationId xmlns:a16="http://schemas.microsoft.com/office/drawing/2014/main" id="{D2B6D442-7475-5052-F1AC-3B994B75AC6B}"/>
                </a:ext>
              </a:extLst>
            </p:cNvPr>
            <p:cNvGrpSpPr>
              <a:grpSpLocks/>
            </p:cNvGrpSpPr>
            <p:nvPr/>
          </p:nvGrpSpPr>
          <p:grpSpPr bwMode="auto">
            <a:xfrm>
              <a:off x="3644010" y="2428558"/>
              <a:ext cx="1635125" cy="512763"/>
              <a:chOff x="1544" y="1438"/>
              <a:chExt cx="1306" cy="393"/>
            </a:xfrm>
          </p:grpSpPr>
          <p:sp>
            <p:nvSpPr>
              <p:cNvPr id="45" name="Freeform 32">
                <a:extLst>
                  <a:ext uri="{FF2B5EF4-FFF2-40B4-BE49-F238E27FC236}">
                    <a16:creationId xmlns:a16="http://schemas.microsoft.com/office/drawing/2014/main" id="{BDD95E05-C3E7-5BC2-3D6E-AC2C5DD9BD2A}"/>
                  </a:ext>
                </a:extLst>
              </p:cNvPr>
              <p:cNvSpPr>
                <a:spLocks/>
              </p:cNvSpPr>
              <p:nvPr/>
            </p:nvSpPr>
            <p:spPr bwMode="auto">
              <a:xfrm>
                <a:off x="1544" y="1438"/>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46" name="Oval 33">
                <a:extLst>
                  <a:ext uri="{FF2B5EF4-FFF2-40B4-BE49-F238E27FC236}">
                    <a16:creationId xmlns:a16="http://schemas.microsoft.com/office/drawing/2014/main" id="{8F41E383-4528-5603-A37C-57B0EB101588}"/>
                  </a:ext>
                </a:extLst>
              </p:cNvPr>
              <p:cNvSpPr>
                <a:spLocks noChangeArrowheads="1"/>
              </p:cNvSpPr>
              <p:nvPr/>
            </p:nvSpPr>
            <p:spPr bwMode="auto">
              <a:xfrm>
                <a:off x="2071" y="1551"/>
                <a:ext cx="228"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34">
                <a:extLst>
                  <a:ext uri="{FF2B5EF4-FFF2-40B4-BE49-F238E27FC236}">
                    <a16:creationId xmlns:a16="http://schemas.microsoft.com/office/drawing/2014/main" id="{1FBCF93D-48CF-2855-61B3-2DF34B6AE9DF}"/>
                  </a:ext>
                </a:extLst>
              </p:cNvPr>
              <p:cNvSpPr>
                <a:spLocks noChangeArrowheads="1"/>
              </p:cNvSpPr>
              <p:nvPr/>
            </p:nvSpPr>
            <p:spPr bwMode="auto">
              <a:xfrm>
                <a:off x="1812" y="1550"/>
                <a:ext cx="228"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sp>
          <p:nvSpPr>
            <p:cNvPr id="48" name="Text Box 35">
              <a:extLst>
                <a:ext uri="{FF2B5EF4-FFF2-40B4-BE49-F238E27FC236}">
                  <a16:creationId xmlns:a16="http://schemas.microsoft.com/office/drawing/2014/main" id="{134D353D-AAA3-B03F-9DF5-5D308754C356}"/>
                </a:ext>
              </a:extLst>
            </p:cNvPr>
            <p:cNvSpPr txBox="1">
              <a:spLocks noChangeArrowheads="1"/>
            </p:cNvSpPr>
            <p:nvPr/>
          </p:nvSpPr>
          <p:spPr bwMode="auto">
            <a:xfrm>
              <a:off x="4148614" y="2979421"/>
              <a:ext cx="667190"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Do it !</a:t>
              </a:r>
            </a:p>
          </p:txBody>
        </p:sp>
        <p:sp>
          <p:nvSpPr>
            <p:cNvPr id="49" name="Text Box 36">
              <a:extLst>
                <a:ext uri="{FF2B5EF4-FFF2-40B4-BE49-F238E27FC236}">
                  <a16:creationId xmlns:a16="http://schemas.microsoft.com/office/drawing/2014/main" id="{BCB9C3B8-0E4D-EF00-9618-03D192BFC2E7}"/>
                </a:ext>
              </a:extLst>
            </p:cNvPr>
            <p:cNvSpPr txBox="1">
              <a:spLocks noChangeArrowheads="1"/>
            </p:cNvSpPr>
            <p:nvPr/>
          </p:nvSpPr>
          <p:spPr bwMode="auto">
            <a:xfrm>
              <a:off x="1062735" y="3308033"/>
              <a:ext cx="19669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Level of Impact </a:t>
              </a:r>
              <a:r>
                <a:rPr lang="en-US" altLang="en-US" sz="1400">
                  <a:latin typeface="Roboto" panose="02000000000000000000" pitchFamily="2" charset="0"/>
                  <a:ea typeface="Roboto" panose="02000000000000000000" pitchFamily="2" charset="0"/>
                </a:rPr>
                <a:t>(on CEDAC Metric)</a:t>
              </a:r>
            </a:p>
          </p:txBody>
        </p:sp>
        <p:sp>
          <p:nvSpPr>
            <p:cNvPr id="50" name="Text Box 37">
              <a:extLst>
                <a:ext uri="{FF2B5EF4-FFF2-40B4-BE49-F238E27FC236}">
                  <a16:creationId xmlns:a16="http://schemas.microsoft.com/office/drawing/2014/main" id="{399BB886-C67A-A29E-512C-4206799E4B7F}"/>
                </a:ext>
              </a:extLst>
            </p:cNvPr>
            <p:cNvSpPr txBox="1">
              <a:spLocks noChangeArrowheads="1"/>
            </p:cNvSpPr>
            <p:nvPr/>
          </p:nvSpPr>
          <p:spPr bwMode="auto">
            <a:xfrm>
              <a:off x="4058347" y="5343208"/>
              <a:ext cx="2700338" cy="62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Level of Effort to Implement </a:t>
              </a:r>
            </a:p>
            <a:p>
              <a:pPr algn="ctr">
                <a:lnSpc>
                  <a:spcPct val="10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(Cost, Time, Resources)</a:t>
              </a:r>
            </a:p>
          </p:txBody>
        </p:sp>
      </p:grpSp>
    </p:spTree>
    <p:extLst>
      <p:ext uri="{BB962C8B-B14F-4D97-AF65-F5344CB8AC3E}">
        <p14:creationId xmlns:p14="http://schemas.microsoft.com/office/powerpoint/2010/main" val="19527556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7 – Prioritize Improvements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prioritize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a:t>
            </a:r>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4902208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Electronic transfer of all IMPROVEMENT Card data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88</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pic>
        <p:nvPicPr>
          <p:cNvPr id="3" name="Object 11">
            <a:extLst>
              <a:ext uri="{FF2B5EF4-FFF2-40B4-BE49-F238E27FC236}">
                <a16:creationId xmlns:a16="http://schemas.microsoft.com/office/drawing/2014/main" id="{5ABABC0E-FBA7-8B11-A5BF-BB39DDFF94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81" y="1620838"/>
            <a:ext cx="10837038" cy="431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0296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7 Exercise: Prioritize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Prioritize IMPROVEMENT Cards for the business problem.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prioritize the </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Capture all of the IMPROVEMENT Card data electronically and assign people responsible and dates for when action will go to next step.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 All IMPROVEMENT Card data transferred electronically</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5797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2800" dirty="0">
                <a:latin typeface="Roboto Medium"/>
                <a:ea typeface="Roboto Medium"/>
                <a:cs typeface="Roboto Medium"/>
              </a:rPr>
              <a:t>CEDAC Step 8 - Follow-up Process through to Problem Resolution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Describe the Follow-up Process</a:t>
            </a:r>
          </a:p>
          <a:p>
            <a:pPr lvl="1"/>
            <a:r>
              <a:rPr lang="en-US" sz="2000" dirty="0"/>
              <a:t>Adding FACT Cards</a:t>
            </a:r>
          </a:p>
          <a:p>
            <a:pPr lvl="1"/>
            <a:r>
              <a:rPr lang="en-US" sz="2000" dirty="0"/>
              <a:t>Adding IMPROVEMENT Cards</a:t>
            </a:r>
          </a:p>
          <a:p>
            <a:pPr lvl="1"/>
            <a:r>
              <a:rPr lang="en-US" sz="2000" dirty="0"/>
              <a:t>Gaining additional buy-in from stakeholders</a:t>
            </a:r>
          </a:p>
          <a:p>
            <a:r>
              <a:rPr lang="en-US" sz="2400" dirty="0"/>
              <a:t>Discuss tracking and management of periodic review process</a:t>
            </a:r>
          </a:p>
          <a:p>
            <a:r>
              <a:rPr lang="en-US" sz="2400" dirty="0"/>
              <a:t>Determine structure and details for how team will conduct follow-ups to the CEDAC event</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1162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91</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514338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16056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The Follow-Up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Update IMPROVEMENT cards with countermeasure test results (DOT system)</a:t>
            </a:r>
          </a:p>
          <a:p>
            <a:r>
              <a:rPr lang="en-US" dirty="0"/>
              <a:t>Track Problem / target metrics to confirm impact of actions</a:t>
            </a:r>
          </a:p>
          <a:p>
            <a:r>
              <a:rPr lang="en-US" dirty="0"/>
              <a:t>Continue taking action on IMPROVEMENT cards marked for action, as prioritized earlier</a:t>
            </a:r>
          </a:p>
          <a:p>
            <a:r>
              <a:rPr lang="en-US" dirty="0"/>
              <a:t>Add new FACT cards as additional data becomes available</a:t>
            </a:r>
          </a:p>
          <a:p>
            <a:r>
              <a:rPr lang="en-US" dirty="0"/>
              <a:t>Add new IMPROVEMENT cards to address new FACT cards, and to address further investigation of original FACT cards</a:t>
            </a:r>
          </a:p>
          <a:p>
            <a:r>
              <a:rPr lang="en-US" dirty="0"/>
              <a:t>Conduct CEDAC follow-up events, as needed to achieve problem resolution and achieve target objective</a:t>
            </a:r>
          </a:p>
          <a:p>
            <a:r>
              <a:rPr lang="en-US" dirty="0"/>
              <a:t>Implement changes and adjustments to countermeasure priorities and implementation plans, according to the metrics and results achieved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92</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7127177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Tracking and Management of Periodic Review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Establish process for update and review of improvement actions</a:t>
            </a:r>
          </a:p>
          <a:p>
            <a:r>
              <a:rPr lang="en-US" dirty="0"/>
              <a:t>Ensure clear roles and responsibilities are defined and assigned</a:t>
            </a:r>
          </a:p>
          <a:p>
            <a:r>
              <a:rPr lang="en-US" dirty="0"/>
              <a:t>Update metrics daily/weekly to show progress</a:t>
            </a:r>
          </a:p>
          <a:p>
            <a:r>
              <a:rPr lang="en-US" dirty="0"/>
              <a:t>Include other associates as needed</a:t>
            </a:r>
          </a:p>
          <a:p>
            <a:r>
              <a:rPr lang="en-US" dirty="0"/>
              <a:t>Standardize improved processes for similar business needs</a:t>
            </a:r>
          </a:p>
          <a:p>
            <a:r>
              <a:rPr lang="en-US" dirty="0"/>
              <a:t>Ensure improvements are sustainable and documented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8958432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8 Exercise: Follow-up Process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details of the Follow-up Process for this CEDAC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decide how you will conduct the follow-ups to the CEDAC.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rules.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roles and responsibilities and assign ownership.</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metric(s) of success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 All IMPROVEMENT Card data transferred electronically</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900713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goals and objectives</a:t>
            </a:r>
          </a:p>
          <a:p>
            <a:pPr lvl="1"/>
            <a:r>
              <a:rPr lang="en-US" dirty="0"/>
              <a:t>Review of Former Process and Documentation Forms</a:t>
            </a:r>
          </a:p>
          <a:p>
            <a:pPr lvl="1"/>
            <a:r>
              <a:rPr lang="en-US" dirty="0"/>
              <a:t>Review of Improvement Opportunities Identified and Implemented</a:t>
            </a:r>
          </a:p>
          <a:p>
            <a:pPr lvl="1"/>
            <a:r>
              <a:rPr lang="en-US" dirty="0"/>
              <a:t>Review of CEDAC Follow-Up Process</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7058704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4000" dirty="0">
                <a:latin typeface="Roboto Medium"/>
                <a:ea typeface="Roboto Medium"/>
                <a:cs typeface="Roboto Medium"/>
              </a:rPr>
              <a:t>CEDAC Review</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Benefits of CEDAC</a:t>
            </a:r>
          </a:p>
          <a:p>
            <a:r>
              <a:rPr lang="en-US" sz="2400" dirty="0"/>
              <a:t>Review CEDAC Roadmap</a:t>
            </a:r>
          </a:p>
          <a:p>
            <a:r>
              <a:rPr lang="en-US" sz="2400" dirty="0"/>
              <a:t>Discuss Key Learnings</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3598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Review - CEDAC Benefits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Brings problem solving out of the meeting room, eliminating “another one hour meeting each week”</a:t>
            </a:r>
          </a:p>
          <a:p>
            <a:r>
              <a:rPr lang="en-US" dirty="0"/>
              <a:t>Involves everyone in the continuous improvement process</a:t>
            </a:r>
          </a:p>
          <a:p>
            <a:r>
              <a:rPr lang="en-US" dirty="0"/>
              <a:t>Is visually displayed in the work place providing easy access</a:t>
            </a:r>
          </a:p>
          <a:p>
            <a:r>
              <a:rPr lang="en-US" dirty="0"/>
              <a:t>Covers every step in the problem solving process in one technique</a:t>
            </a:r>
          </a:p>
          <a:p>
            <a:r>
              <a:rPr lang="en-US" dirty="0"/>
              <a:t>Quantifies the effect and tracks progress providing immediate feedback for successful solution implementations</a:t>
            </a:r>
          </a:p>
          <a:p>
            <a:r>
              <a:rPr lang="en-US" dirty="0"/>
              <a:t>Is flexible; board design is limited only by extent of imagination; it does not require the fishbone format be used exclusively</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97</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38246999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Review - CEDAC Roadmap</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98</a:t>
            </a:fld>
            <a:endParaRPr lang="en-US"/>
          </a:p>
        </p:txBody>
      </p:sp>
      <p:grpSp>
        <p:nvGrpSpPr>
          <p:cNvPr id="47" name="Group 46">
            <a:extLst>
              <a:ext uri="{FF2B5EF4-FFF2-40B4-BE49-F238E27FC236}">
                <a16:creationId xmlns:a16="http://schemas.microsoft.com/office/drawing/2014/main" id="{1030B0D3-94CC-B7BF-E916-F53B62AF20B0}"/>
              </a:ext>
            </a:extLst>
          </p:cNvPr>
          <p:cNvGrpSpPr/>
          <p:nvPr/>
        </p:nvGrpSpPr>
        <p:grpSpPr>
          <a:xfrm>
            <a:off x="838200" y="1783429"/>
            <a:ext cx="10515600" cy="4271614"/>
            <a:chOff x="238125" y="1431925"/>
            <a:chExt cx="8547100" cy="4497388"/>
          </a:xfrm>
        </p:grpSpPr>
        <p:grpSp>
          <p:nvGrpSpPr>
            <p:cNvPr id="24" name="Group 4">
              <a:extLst>
                <a:ext uri="{FF2B5EF4-FFF2-40B4-BE49-F238E27FC236}">
                  <a16:creationId xmlns:a16="http://schemas.microsoft.com/office/drawing/2014/main" id="{A90B559C-DC98-CDED-8CA3-0D50744C4800}"/>
                </a:ext>
              </a:extLst>
            </p:cNvPr>
            <p:cNvGrpSpPr>
              <a:grpSpLocks/>
            </p:cNvGrpSpPr>
            <p:nvPr/>
          </p:nvGrpSpPr>
          <p:grpSpPr bwMode="auto">
            <a:xfrm>
              <a:off x="4267200" y="1431925"/>
              <a:ext cx="4462463" cy="2395538"/>
              <a:chOff x="1389" y="1410"/>
              <a:chExt cx="4116" cy="1795"/>
            </a:xfrm>
          </p:grpSpPr>
          <p:sp>
            <p:nvSpPr>
              <p:cNvPr id="25" name="Rectangle 5">
                <a:extLst>
                  <a:ext uri="{FF2B5EF4-FFF2-40B4-BE49-F238E27FC236}">
                    <a16:creationId xmlns:a16="http://schemas.microsoft.com/office/drawing/2014/main" id="{48A1FA0B-DC74-F0D7-E5CA-DFECA95ABB82}"/>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6">
                <a:extLst>
                  <a:ext uri="{FF2B5EF4-FFF2-40B4-BE49-F238E27FC236}">
                    <a16:creationId xmlns:a16="http://schemas.microsoft.com/office/drawing/2014/main" id="{EAF9EF83-3ED8-A8D0-1332-E27CEDFDB1BD}"/>
                  </a:ext>
                </a:extLst>
              </p:cNvPr>
              <p:cNvSpPr txBox="1">
                <a:spLocks noChangeArrowheads="1"/>
              </p:cNvSpPr>
              <p:nvPr/>
            </p:nvSpPr>
            <p:spPr bwMode="auto">
              <a:xfrm>
                <a:off x="2346" y="1508"/>
                <a:ext cx="2237" cy="26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25">
              <a:extLst>
                <a:ext uri="{FF2B5EF4-FFF2-40B4-BE49-F238E27FC236}">
                  <a16:creationId xmlns:a16="http://schemas.microsoft.com/office/drawing/2014/main" id="{44EB1519-39A5-5F3F-4A7A-0C9C3E6E39B7}"/>
                </a:ext>
              </a:extLst>
            </p:cNvPr>
            <p:cNvGrpSpPr>
              <a:grpSpLocks/>
            </p:cNvGrpSpPr>
            <p:nvPr/>
          </p:nvGrpSpPr>
          <p:grpSpPr bwMode="auto">
            <a:xfrm>
              <a:off x="238125" y="2227263"/>
              <a:ext cx="1835150" cy="1341437"/>
              <a:chOff x="317" y="1707"/>
              <a:chExt cx="959" cy="845"/>
            </a:xfrm>
          </p:grpSpPr>
          <p:sp>
            <p:nvSpPr>
              <p:cNvPr id="28" name="Rectangle 8">
                <a:extLst>
                  <a:ext uri="{FF2B5EF4-FFF2-40B4-BE49-F238E27FC236}">
                    <a16:creationId xmlns:a16="http://schemas.microsoft.com/office/drawing/2014/main" id="{E40B71A0-533A-5F0F-E0A1-EFBD394B273F}"/>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9">
                <a:extLst>
                  <a:ext uri="{FF2B5EF4-FFF2-40B4-BE49-F238E27FC236}">
                    <a16:creationId xmlns:a16="http://schemas.microsoft.com/office/drawing/2014/main" id="{78F983B1-97FB-2380-635C-E34135C7A5D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26">
              <a:extLst>
                <a:ext uri="{FF2B5EF4-FFF2-40B4-BE49-F238E27FC236}">
                  <a16:creationId xmlns:a16="http://schemas.microsoft.com/office/drawing/2014/main" id="{AE108493-002D-762B-E25E-65EFC71AADC7}"/>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A943C807-3838-2E92-4335-9A8D5DDFDEB8}"/>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BCD8D306-7006-583F-ABA8-8BEF80849EA0}"/>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27">
              <a:extLst>
                <a:ext uri="{FF2B5EF4-FFF2-40B4-BE49-F238E27FC236}">
                  <a16:creationId xmlns:a16="http://schemas.microsoft.com/office/drawing/2014/main" id="{A2A40F5C-ECA8-4480-F395-48589EAC5623}"/>
                </a:ext>
              </a:extLst>
            </p:cNvPr>
            <p:cNvGrpSpPr>
              <a:grpSpLocks/>
            </p:cNvGrpSpPr>
            <p:nvPr/>
          </p:nvGrpSpPr>
          <p:grpSpPr bwMode="auto">
            <a:xfrm>
              <a:off x="4500563" y="2227263"/>
              <a:ext cx="1835150" cy="1341437"/>
              <a:chOff x="2591" y="1704"/>
              <a:chExt cx="959" cy="845"/>
            </a:xfrm>
          </p:grpSpPr>
          <p:sp>
            <p:nvSpPr>
              <p:cNvPr id="34" name="Rectangle 12">
                <a:extLst>
                  <a:ext uri="{FF2B5EF4-FFF2-40B4-BE49-F238E27FC236}">
                    <a16:creationId xmlns:a16="http://schemas.microsoft.com/office/drawing/2014/main" id="{5ACA9FFB-7DB0-9B7B-CD6D-F28240F5659F}"/>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3">
                <a:extLst>
                  <a:ext uri="{FF2B5EF4-FFF2-40B4-BE49-F238E27FC236}">
                    <a16:creationId xmlns:a16="http://schemas.microsoft.com/office/drawing/2014/main" id="{A890A5C2-2F97-ED1A-7496-11D30F70F424}"/>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28">
              <a:extLst>
                <a:ext uri="{FF2B5EF4-FFF2-40B4-BE49-F238E27FC236}">
                  <a16:creationId xmlns:a16="http://schemas.microsoft.com/office/drawing/2014/main" id="{3D307BC7-A0E9-A034-225F-47F972E56E89}"/>
                </a:ext>
              </a:extLst>
            </p:cNvPr>
            <p:cNvGrpSpPr>
              <a:grpSpLocks/>
            </p:cNvGrpSpPr>
            <p:nvPr/>
          </p:nvGrpSpPr>
          <p:grpSpPr bwMode="auto">
            <a:xfrm>
              <a:off x="6538913" y="2227263"/>
              <a:ext cx="1835150" cy="1341437"/>
              <a:chOff x="3734" y="1704"/>
              <a:chExt cx="959" cy="845"/>
            </a:xfrm>
          </p:grpSpPr>
          <p:sp>
            <p:nvSpPr>
              <p:cNvPr id="37" name="Rectangle 14">
                <a:extLst>
                  <a:ext uri="{FF2B5EF4-FFF2-40B4-BE49-F238E27FC236}">
                    <a16:creationId xmlns:a16="http://schemas.microsoft.com/office/drawing/2014/main" id="{D39A15C3-F3D9-F6FB-BA43-64A0EDB861FC}"/>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Conduct CEDAC Follow-up Workshops</a:t>
                </a:r>
              </a:p>
            </p:txBody>
          </p:sp>
          <p:sp>
            <p:nvSpPr>
              <p:cNvPr id="38" name="Rectangle 15">
                <a:extLst>
                  <a:ext uri="{FF2B5EF4-FFF2-40B4-BE49-F238E27FC236}">
                    <a16:creationId xmlns:a16="http://schemas.microsoft.com/office/drawing/2014/main" id="{5DF13676-67E6-7839-3EB4-9DCC2E84ECBF}"/>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6">
              <a:extLst>
                <a:ext uri="{FF2B5EF4-FFF2-40B4-BE49-F238E27FC236}">
                  <a16:creationId xmlns:a16="http://schemas.microsoft.com/office/drawing/2014/main" id="{0AEA85B2-0D30-1A9F-6C00-2493B1F59F73}"/>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7">
              <a:extLst>
                <a:ext uri="{FF2B5EF4-FFF2-40B4-BE49-F238E27FC236}">
                  <a16:creationId xmlns:a16="http://schemas.microsoft.com/office/drawing/2014/main" id="{06056B4E-E108-D9C4-AA53-D92F876CA113}"/>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18">
              <a:extLst>
                <a:ext uri="{FF2B5EF4-FFF2-40B4-BE49-F238E27FC236}">
                  <a16:creationId xmlns:a16="http://schemas.microsoft.com/office/drawing/2014/main" id="{239A209E-9B0D-5C4F-85A6-2CE644AF97CB}"/>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0">
              <a:extLst>
                <a:ext uri="{FF2B5EF4-FFF2-40B4-BE49-F238E27FC236}">
                  <a16:creationId xmlns:a16="http://schemas.microsoft.com/office/drawing/2014/main" id="{0F5379BA-72B8-9C13-F237-624E24322606}"/>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21">
              <a:extLst>
                <a:ext uri="{FF2B5EF4-FFF2-40B4-BE49-F238E27FC236}">
                  <a16:creationId xmlns:a16="http://schemas.microsoft.com/office/drawing/2014/main" id="{48890BC4-B94B-B79A-022C-180EC3B6DF3E}"/>
                </a:ext>
              </a:extLst>
            </p:cNvPr>
            <p:cNvSpPr>
              <a:spLocks noChangeArrowheads="1"/>
            </p:cNvSpPr>
            <p:nvPr/>
          </p:nvSpPr>
          <p:spPr bwMode="auto">
            <a:xfrm>
              <a:off x="238125" y="4019550"/>
              <a:ext cx="2008188"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the Problem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Validate problem using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target</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(When is the problem solved?)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Plan CEDAC Event</a:t>
              </a:r>
            </a:p>
          </p:txBody>
        </p:sp>
        <p:sp>
          <p:nvSpPr>
            <p:cNvPr id="44" name="Rectangle 22">
              <a:extLst>
                <a:ext uri="{FF2B5EF4-FFF2-40B4-BE49-F238E27FC236}">
                  <a16:creationId xmlns:a16="http://schemas.microsoft.com/office/drawing/2014/main" id="{376F1F3A-DCB1-F52E-7844-6BDD2C97BC2E}"/>
                </a:ext>
              </a:extLst>
            </p:cNvPr>
            <p:cNvSpPr>
              <a:spLocks noChangeArrowheads="1"/>
            </p:cNvSpPr>
            <p:nvPr/>
          </p:nvSpPr>
          <p:spPr bwMode="auto">
            <a:xfrm>
              <a:off x="2311400" y="4019550"/>
              <a:ext cx="20478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CEDAC Chart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FACT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Follow-up Plan</a:t>
              </a:r>
            </a:p>
          </p:txBody>
        </p:sp>
        <p:sp>
          <p:nvSpPr>
            <p:cNvPr id="45" name="Rectangle 23">
              <a:extLst>
                <a:ext uri="{FF2B5EF4-FFF2-40B4-BE49-F238E27FC236}">
                  <a16:creationId xmlns:a16="http://schemas.microsoft.com/office/drawing/2014/main" id="{0353CBCA-7BA7-9FCE-B86A-6AF08B23C118}"/>
                </a:ext>
              </a:extLst>
            </p:cNvPr>
            <p:cNvSpPr>
              <a:spLocks noChangeArrowheads="1"/>
            </p:cNvSpPr>
            <p:nvPr/>
          </p:nvSpPr>
          <p:spPr bwMode="auto">
            <a:xfrm>
              <a:off x="4495800" y="4043363"/>
              <a:ext cx="2290763"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Countermeasure Test results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Problem / target metric tracking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FACT Cards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IMPROVEMENT Cards</a:t>
              </a:r>
            </a:p>
          </p:txBody>
        </p:sp>
        <p:sp>
          <p:nvSpPr>
            <p:cNvPr id="46" name="Rectangle 24">
              <a:extLst>
                <a:ext uri="{FF2B5EF4-FFF2-40B4-BE49-F238E27FC236}">
                  <a16:creationId xmlns:a16="http://schemas.microsoft.com/office/drawing/2014/main" id="{FF4B6604-545B-F685-4671-FA3D5FBF09EB}"/>
                </a:ext>
              </a:extLst>
            </p:cNvPr>
            <p:cNvSpPr>
              <a:spLocks noChangeArrowheads="1"/>
            </p:cNvSpPr>
            <p:nvPr/>
          </p:nvSpPr>
          <p:spPr bwMode="auto">
            <a:xfrm>
              <a:off x="6645275" y="4019550"/>
              <a:ext cx="21399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Changes and adjustments to countermeasure priorities and implementation plans</a:t>
              </a:r>
            </a:p>
            <a:p>
              <a:pPr eaLnBrk="1" hangingPunct="1">
                <a:lnSpc>
                  <a:spcPct val="100000"/>
                </a:lnSpc>
                <a:spcBef>
                  <a:spcPct val="30000"/>
                </a:spcBef>
                <a:spcAft>
                  <a:spcPct val="0"/>
                </a:spcAft>
                <a:buClr>
                  <a:schemeClr val="tx1"/>
                </a:buClr>
                <a:buFont typeface="Arial" panose="020B0604020202020204" pitchFamily="34" charset="0"/>
                <a:buChar char="•"/>
              </a:pPr>
              <a:endParaRPr lang="en-US" altLang="en-US" sz="1400">
                <a:latin typeface="Roboto" panose="02000000000000000000" pitchFamily="2" charset="0"/>
                <a:ea typeface="Roboto" panose="02000000000000000000" pitchFamily="2" charset="0"/>
              </a:endParaRPr>
            </a:p>
          </p:txBody>
        </p:sp>
      </p:grpSp>
      <p:grpSp>
        <p:nvGrpSpPr>
          <p:cNvPr id="13" name="Group 12">
            <a:extLst>
              <a:ext uri="{FF2B5EF4-FFF2-40B4-BE49-F238E27FC236}">
                <a16:creationId xmlns:a16="http://schemas.microsoft.com/office/drawing/2014/main" id="{88FC350D-62F4-2C0E-B6E2-5FEEA6F9848B}"/>
              </a:ext>
            </a:extLst>
          </p:cNvPr>
          <p:cNvGrpSpPr/>
          <p:nvPr/>
        </p:nvGrpSpPr>
        <p:grpSpPr>
          <a:xfrm>
            <a:off x="838200" y="297639"/>
            <a:ext cx="4351020" cy="307138"/>
            <a:chOff x="838200" y="297639"/>
            <a:chExt cx="4351020" cy="307138"/>
          </a:xfrm>
        </p:grpSpPr>
        <p:grpSp>
          <p:nvGrpSpPr>
            <p:cNvPr id="23" name="Group 22">
              <a:extLst>
                <a:ext uri="{FF2B5EF4-FFF2-40B4-BE49-F238E27FC236}">
                  <a16:creationId xmlns:a16="http://schemas.microsoft.com/office/drawing/2014/main" id="{A59B9922-6964-F632-950A-8CBDCC661795}"/>
                </a:ext>
              </a:extLst>
            </p:cNvPr>
            <p:cNvGrpSpPr/>
            <p:nvPr/>
          </p:nvGrpSpPr>
          <p:grpSpPr>
            <a:xfrm>
              <a:off x="838200" y="297639"/>
              <a:ext cx="1687517" cy="290657"/>
              <a:chOff x="838200" y="297639"/>
              <a:chExt cx="1687517" cy="290657"/>
            </a:xfrm>
          </p:grpSpPr>
          <p:sp>
            <p:nvSpPr>
              <p:cNvPr id="49" name="AutoShape 9">
                <a:extLst>
                  <a:ext uri="{FF2B5EF4-FFF2-40B4-BE49-F238E27FC236}">
                    <a16:creationId xmlns:a16="http://schemas.microsoft.com/office/drawing/2014/main" id="{4D295DFF-5B61-5DD4-737F-96FF4B868ACF}"/>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0" name="AutoShape 9">
                <a:extLst>
                  <a:ext uri="{FF2B5EF4-FFF2-40B4-BE49-F238E27FC236}">
                    <a16:creationId xmlns:a16="http://schemas.microsoft.com/office/drawing/2014/main" id="{2731429B-EDA0-E796-92B0-B8BC5011DC2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51" name="Group 50">
                <a:extLst>
                  <a:ext uri="{FF2B5EF4-FFF2-40B4-BE49-F238E27FC236}">
                    <a16:creationId xmlns:a16="http://schemas.microsoft.com/office/drawing/2014/main" id="{DD8F6880-3B5D-DA9F-0D83-6B858FE8B13B}"/>
                  </a:ext>
                </a:extLst>
              </p:cNvPr>
              <p:cNvGrpSpPr/>
              <p:nvPr/>
            </p:nvGrpSpPr>
            <p:grpSpPr>
              <a:xfrm>
                <a:off x="838200" y="297639"/>
                <a:ext cx="1060167" cy="290657"/>
                <a:chOff x="826426" y="4041857"/>
                <a:chExt cx="1060167" cy="290657"/>
              </a:xfrm>
            </p:grpSpPr>
            <p:sp>
              <p:nvSpPr>
                <p:cNvPr id="52" name="AutoShape 9">
                  <a:extLst>
                    <a:ext uri="{FF2B5EF4-FFF2-40B4-BE49-F238E27FC236}">
                      <a16:creationId xmlns:a16="http://schemas.microsoft.com/office/drawing/2014/main" id="{E85F5E23-E2CC-6FFE-E7A8-089BE1FB892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3" name="AutoShape 11">
                  <a:extLst>
                    <a:ext uri="{FF2B5EF4-FFF2-40B4-BE49-F238E27FC236}">
                      <a16:creationId xmlns:a16="http://schemas.microsoft.com/office/drawing/2014/main" id="{74D0C803-2D1A-939E-7580-FC3CA62C9D9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4" name="AutoShape 10">
                  <a:extLst>
                    <a:ext uri="{FF2B5EF4-FFF2-40B4-BE49-F238E27FC236}">
                      <a16:creationId xmlns:a16="http://schemas.microsoft.com/office/drawing/2014/main" id="{2344304C-7669-DF08-12F9-51F103D9790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8" name="TextBox 47">
              <a:extLst>
                <a:ext uri="{FF2B5EF4-FFF2-40B4-BE49-F238E27FC236}">
                  <a16:creationId xmlns:a16="http://schemas.microsoft.com/office/drawing/2014/main" id="{9EB16D49-6400-A536-B3B0-54690B5E0125}"/>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3807160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Exercise: Review Key Learnings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key learnings from this CEDAC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spend 5 minutes discussing key learnings and take-aways from this CEDAC Event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person from each group will share one learning with the rest of the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Report-out of key learning to rest of class</a:t>
            </a:r>
          </a:p>
        </p:txBody>
      </p:sp>
      <p:grpSp>
        <p:nvGrpSpPr>
          <p:cNvPr id="21" name="Group 20">
            <a:extLst>
              <a:ext uri="{FF2B5EF4-FFF2-40B4-BE49-F238E27FC236}">
                <a16:creationId xmlns:a16="http://schemas.microsoft.com/office/drawing/2014/main" id="{F1D51CA6-AECF-5AC7-ACD7-DCFBE7C5CD45}"/>
              </a:ext>
            </a:extLst>
          </p:cNvPr>
          <p:cNvGrpSpPr/>
          <p:nvPr/>
        </p:nvGrpSpPr>
        <p:grpSpPr>
          <a:xfrm>
            <a:off x="838200" y="297639"/>
            <a:ext cx="4351020" cy="307138"/>
            <a:chOff x="838200" y="297639"/>
            <a:chExt cx="4351020" cy="307138"/>
          </a:xfrm>
        </p:grpSpPr>
        <p:grpSp>
          <p:nvGrpSpPr>
            <p:cNvPr id="22" name="Group 21">
              <a:extLst>
                <a:ext uri="{FF2B5EF4-FFF2-40B4-BE49-F238E27FC236}">
                  <a16:creationId xmlns:a16="http://schemas.microsoft.com/office/drawing/2014/main" id="{7D6386A2-D94F-9098-A0D6-E35AB4609EF3}"/>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ED526DAD-2ED3-9E7F-14E0-A272D28F1D7F}"/>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9">
                <a:extLst>
                  <a:ext uri="{FF2B5EF4-FFF2-40B4-BE49-F238E27FC236}">
                    <a16:creationId xmlns:a16="http://schemas.microsoft.com/office/drawing/2014/main" id="{715AC3A4-B5B7-E95C-4762-0AEF2C06D44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1634BFEB-DAC8-D5D2-3881-CBB188494CE6}"/>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A168FC9C-35F2-ECCA-09A7-2F6501AA725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D661AB51-6AF5-78C0-8BF4-7FCE8924C7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88E215A8-30C7-CEA6-A307-48D12C18A6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C1A75539-8B52-3F5E-F7CA-63A88D6ADFEB}"/>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4228510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9C19-D9DE-E2E1-B56E-07E75302E78F}"/>
              </a:ext>
            </a:extLst>
          </p:cNvPr>
          <p:cNvSpPr>
            <a:spLocks noGrp="1"/>
          </p:cNvSpPr>
          <p:nvPr>
            <p:ph type="ctrTitle"/>
          </p:nvPr>
        </p:nvSpPr>
        <p:spPr/>
        <p:txBody>
          <a:bodyPr/>
          <a:lstStyle/>
          <a:p>
            <a:r>
              <a:rPr lang="en-US" dirty="0"/>
              <a:t>Appendix</a:t>
            </a:r>
          </a:p>
        </p:txBody>
      </p:sp>
      <p:sp>
        <p:nvSpPr>
          <p:cNvPr id="3" name="Subtitle 2">
            <a:extLst>
              <a:ext uri="{FF2B5EF4-FFF2-40B4-BE49-F238E27FC236}">
                <a16:creationId xmlns:a16="http://schemas.microsoft.com/office/drawing/2014/main" id="{D6E9F0E8-44DF-17F4-C428-4A846A182A35}"/>
              </a:ext>
            </a:extLst>
          </p:cNvPr>
          <p:cNvSpPr>
            <a:spLocks noGrp="1"/>
          </p:cNvSpPr>
          <p:nvPr>
            <p:ph type="subTitle" idx="1"/>
          </p:nvPr>
        </p:nvSpPr>
        <p:spPr/>
        <p:txBody>
          <a:bodyPr/>
          <a:lstStyle/>
          <a:p>
            <a:r>
              <a:rPr lang="en-US" dirty="0"/>
              <a:t>History of CEDAC</a:t>
            </a:r>
          </a:p>
        </p:txBody>
      </p:sp>
      <p:sp>
        <p:nvSpPr>
          <p:cNvPr id="5" name="Slide Number Placeholder 4">
            <a:extLst>
              <a:ext uri="{FF2B5EF4-FFF2-40B4-BE49-F238E27FC236}">
                <a16:creationId xmlns:a16="http://schemas.microsoft.com/office/drawing/2014/main" id="{F8827CDC-E359-D8C5-1138-53B58F0B6B22}"/>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100</a:t>
            </a:fld>
            <a:endParaRPr lang="en-US"/>
          </a:p>
        </p:txBody>
      </p:sp>
    </p:spTree>
    <p:extLst>
      <p:ext uri="{BB962C8B-B14F-4D97-AF65-F5344CB8AC3E}">
        <p14:creationId xmlns:p14="http://schemas.microsoft.com/office/powerpoint/2010/main" val="19049783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History of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Cause-Effect “Fishbone” Diagram (aka: Ishikawa Diagram) was named after it’s originator, Kaoru Ishikawa, who first used them in the shipyards in Kobe Japan in the 1960’s</a:t>
            </a:r>
          </a:p>
          <a:p>
            <a:pPr lvl="1"/>
            <a:r>
              <a:rPr lang="en-US" dirty="0"/>
              <a:t>The Cause Effect Diagram has been a standard QC tool for several decades</a:t>
            </a:r>
          </a:p>
          <a:p>
            <a:r>
              <a:rPr lang="en-US" dirty="0"/>
              <a:t>CEDAC developed by Ryuji </a:t>
            </a:r>
            <a:r>
              <a:rPr lang="en-US" dirty="0" err="1"/>
              <a:t>Fukada</a:t>
            </a:r>
            <a:r>
              <a:rPr lang="en-US" dirty="0"/>
              <a:t> in the mid-1970’s while working at Sumitomo Electric in Japan</a:t>
            </a:r>
          </a:p>
          <a:p>
            <a:pPr lvl="1"/>
            <a:r>
              <a:rPr lang="en-US" dirty="0"/>
              <a:t>CEDAC piloted in 350 projects in 40 Sumitomo plants</a:t>
            </a:r>
          </a:p>
          <a:p>
            <a:pPr lvl="1"/>
            <a:r>
              <a:rPr lang="en-US" dirty="0"/>
              <a:t>Awarded the Japanese Deming (</a:t>
            </a:r>
            <a:r>
              <a:rPr lang="en-US" dirty="0" err="1"/>
              <a:t>Nikai</a:t>
            </a:r>
            <a:r>
              <a:rPr lang="en-US" dirty="0"/>
              <a:t>) prize in 1978 for a paper on the subject</a:t>
            </a:r>
          </a:p>
          <a:p>
            <a:pPr lvl="1"/>
            <a:r>
              <a:rPr lang="en-US" dirty="0"/>
              <a:t>Published Book: CEDAC: A Tool for Continuous Systematic Improvement, 1996, Productivity Press</a:t>
            </a:r>
          </a:p>
          <a:p>
            <a:r>
              <a:rPr lang="en-US" dirty="0"/>
              <a:t>CEDAC has been accepted and is widely used today as a Lean transformation and quality improvement tool and method </a:t>
            </a:r>
          </a:p>
          <a:p>
            <a:pPr lvl="1"/>
            <a:r>
              <a:rPr lang="en-US" dirty="0"/>
              <a:t>CEDAC has been successfully adapted for use with process flows and other baseline maps in addition to Cause-Effect diagrams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101</a:t>
            </a:fld>
            <a:endParaRPr lang="en-US"/>
          </a:p>
        </p:txBody>
      </p:sp>
    </p:spTree>
    <p:extLst>
      <p:ext uri="{BB962C8B-B14F-4D97-AF65-F5344CB8AC3E}">
        <p14:creationId xmlns:p14="http://schemas.microsoft.com/office/powerpoint/2010/main" val="203799951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102</a:t>
            </a:fld>
            <a:endParaRPr lang="en-US" dirty="0"/>
          </a:p>
        </p:txBody>
      </p:sp>
    </p:spTree>
    <p:extLst>
      <p:ext uri="{BB962C8B-B14F-4D97-AF65-F5344CB8AC3E}">
        <p14:creationId xmlns:p14="http://schemas.microsoft.com/office/powerpoint/2010/main" val="3151529435"/>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14150</TotalTime>
  <Words>11115</Words>
  <Application>Microsoft Office PowerPoint</Application>
  <PresentationFormat>Widescreen</PresentationFormat>
  <Paragraphs>1505</Paragraphs>
  <Slides>102</Slides>
  <Notes>101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102</vt:i4>
      </vt:variant>
    </vt:vector>
  </HeadingPairs>
  <TitlesOfParts>
    <vt:vector size="109" baseType="lpstr">
      <vt:lpstr>Arial</vt:lpstr>
      <vt:lpstr>Calibri</vt:lpstr>
      <vt:lpstr>Comic Sans MS</vt:lpstr>
      <vt:lpstr>Roboto</vt:lpstr>
      <vt:lpstr>Roboto Medium</vt:lpstr>
      <vt:lpstr>Wingdings</vt:lpstr>
      <vt:lpstr>Office Theme</vt:lpstr>
      <vt:lpstr>PowerPoint Presentation</vt:lpstr>
      <vt:lpstr>PowerPoint Presentation</vt:lpstr>
      <vt:lpstr>PowerPoint Presentation</vt:lpstr>
      <vt:lpstr>Ground Rules for Event</vt:lpstr>
      <vt:lpstr>Goal of CEDAC Module</vt:lpstr>
      <vt:lpstr>Typical CEDAC Event Agenda</vt:lpstr>
      <vt:lpstr>Exercise: CEDAC Charter Review</vt:lpstr>
      <vt:lpstr>CEDAC</vt:lpstr>
      <vt:lpstr>CEDAC Defined</vt:lpstr>
      <vt:lpstr>When to Use CEDAC</vt:lpstr>
      <vt:lpstr>Steps of the CEDAC Process</vt:lpstr>
      <vt:lpstr>CEDAC Roadmap</vt:lpstr>
      <vt:lpstr>CEDAC Pre-Event Process</vt:lpstr>
      <vt:lpstr>CEDAC Event Process</vt:lpstr>
      <vt:lpstr>CEDAC Example: Cash Collection Process</vt:lpstr>
      <vt:lpstr>CEDAC Example: Cash Collection Process</vt:lpstr>
      <vt:lpstr>CEDAC Example: Cash Collection Process</vt:lpstr>
      <vt:lpstr>CEDAC Example: Cash Collection Process</vt:lpstr>
      <vt:lpstr>CEDAC Step 1 - Define the Problem</vt:lpstr>
      <vt:lpstr>Steps of the CEDAC Process</vt:lpstr>
      <vt:lpstr>Elements of a CEDAC Problem Statement</vt:lpstr>
      <vt:lpstr>Common Pitfalls in CEDAC Problem Statements</vt:lpstr>
      <vt:lpstr>Common Pitfalls in CEDAC Problem Statements</vt:lpstr>
      <vt:lpstr>Common Pitfalls in CEDAC Problem Statements</vt:lpstr>
      <vt:lpstr>CEDAC Step 1 Exercise: Critique sample problem statements</vt:lpstr>
      <vt:lpstr>Sample Problem Statements</vt:lpstr>
      <vt:lpstr>Case Study Exercise: CEDAC Step 1 – Define Problem</vt:lpstr>
      <vt:lpstr>Sample Case Study – “Spencer’s” Restaurant</vt:lpstr>
      <vt:lpstr>CEDAC Step 2 – Establish and Validate Metrics</vt:lpstr>
      <vt:lpstr>Steps of the CEDAC Process</vt:lpstr>
      <vt:lpstr>Metrics are Essential</vt:lpstr>
      <vt:lpstr>Characteristics of Appropriate Metrics</vt:lpstr>
      <vt:lpstr>Differentiate Qualitative versus Quantitative metrics</vt:lpstr>
      <vt:lpstr>Common Pitfalls to Determining Metrics</vt:lpstr>
      <vt:lpstr>CEDAC Step 2 Exercise: Critique sample metrics</vt:lpstr>
      <vt:lpstr>Exercise: Critique sample metrics</vt:lpstr>
      <vt:lpstr>Case Study Exercise: CEDAC Step 2 – Establish/Validate Metrics</vt:lpstr>
      <vt:lpstr>Sample Case Study – “Spencer’s” Restaurant</vt:lpstr>
      <vt:lpstr>CEDAC Step 3 – Determine Objective Statement</vt:lpstr>
      <vt:lpstr>Steps of the CEDAC Process</vt:lpstr>
      <vt:lpstr>Define Objective</vt:lpstr>
      <vt:lpstr>Explain Purpose of Setting the Objective</vt:lpstr>
      <vt:lpstr>Examples of Well-Defined Objectives</vt:lpstr>
      <vt:lpstr>Case Study Exercise: CEDAC Step 3 – Objective Statement</vt:lpstr>
      <vt:lpstr>Sample Case Study – “Spencer’s” Restaurant</vt:lpstr>
      <vt:lpstr>CEDAC Step 3 Exercise: Validate event charter</vt:lpstr>
      <vt:lpstr>CEDAC Step 4 - Create CEDAC Diagram</vt:lpstr>
      <vt:lpstr>Steps of the CEDAC Process</vt:lpstr>
      <vt:lpstr>Various Formats for CEDAC</vt:lpstr>
      <vt:lpstr>CEDAC Format #1 - Fishbone</vt:lpstr>
      <vt:lpstr>Steps to Construct a Fishbone Diagram</vt:lpstr>
      <vt:lpstr>CEDAC Format #2 – Process Flow Map</vt:lpstr>
      <vt:lpstr>Steps to construct a Process Flow Chart</vt:lpstr>
      <vt:lpstr>CEDAC Format #3 – Diagram of Product</vt:lpstr>
      <vt:lpstr>CEDAC Format #4 – Layout of Area</vt:lpstr>
      <vt:lpstr>Case Study Exercise: CEDAC Step 4 – Create CEDAC diagram</vt:lpstr>
      <vt:lpstr>Sample Case Study – “Spencer’s” Restaurant</vt:lpstr>
      <vt:lpstr>CEDAC Step 4 Exercise: Determine Format for CEDAC</vt:lpstr>
      <vt:lpstr>CEDAC Step 5 - Develop FACT Cards</vt:lpstr>
      <vt:lpstr>Steps of the CEDAC Process</vt:lpstr>
      <vt:lpstr>FACT Cards</vt:lpstr>
      <vt:lpstr>FACT Cards</vt:lpstr>
      <vt:lpstr>Describe the Detail and Format for a FACT Card</vt:lpstr>
      <vt:lpstr>Process for Developing and Posting FACT Cards</vt:lpstr>
      <vt:lpstr>Process for Reviewing and Numbering FACT Cards</vt:lpstr>
      <vt:lpstr>Case Study Exercise: CEDAC Step 5 – Develop FACT cards</vt:lpstr>
      <vt:lpstr>CEDAC Step 5 Exercise: Develop FACT Cards</vt:lpstr>
      <vt:lpstr>CEDAC Step 6 - Develop IMPROVEMENT Cards</vt:lpstr>
      <vt:lpstr>Steps of the CEDAC Process</vt:lpstr>
      <vt:lpstr>IMPROVEMENT Cards</vt:lpstr>
      <vt:lpstr>IMPROVEMENT Cards</vt:lpstr>
      <vt:lpstr>Linkage</vt:lpstr>
      <vt:lpstr>Describe the Detail and Format for an IMPROVEMENT Card</vt:lpstr>
      <vt:lpstr>Improvement Card Idea Generator</vt:lpstr>
      <vt:lpstr>Process for Developing and Posting IMPROVEMENT Cards</vt:lpstr>
      <vt:lpstr>Process for Reviewing and Numbering IMPROVEMENT Cards</vt:lpstr>
      <vt:lpstr>Case Study Exercise: CEDAC Step 6 – IMPROVEMENT cards</vt:lpstr>
      <vt:lpstr>Process to Incorporate Existing Actions into CEDAC Method</vt:lpstr>
      <vt:lpstr>Exercise: Take Inventory of Current Actions that are Underway</vt:lpstr>
      <vt:lpstr>CEDAC Step 6 Exercise: Develop IMPROVEMENT Cards</vt:lpstr>
      <vt:lpstr>CEDAC Step 7 - Prioritize and Act on IMPROVEMENT Cards</vt:lpstr>
      <vt:lpstr>Steps of the CEDAC Process</vt:lpstr>
      <vt:lpstr>Objectives of Prioritizing IMPROVEMENT Cards</vt:lpstr>
      <vt:lpstr>DOT System: Use consensus to agree which improvements to test</vt:lpstr>
      <vt:lpstr>Process for Prioritization of the IMPROVEMENT Cards</vt:lpstr>
      <vt:lpstr>Which Improvements to Work?</vt:lpstr>
      <vt:lpstr>Case Study Exercise: CEDAC Step 7 – Prioritize Improvements</vt:lpstr>
      <vt:lpstr>Electronic transfer of all IMPROVEMENT Card data</vt:lpstr>
      <vt:lpstr>CEDAC Step 7 Exercise: Prioritize IMPROVEMENT Cards</vt:lpstr>
      <vt:lpstr>CEDAC Step 8 - Follow-up Process through to Problem Resolution</vt:lpstr>
      <vt:lpstr>Steps of the CEDAC Process</vt:lpstr>
      <vt:lpstr>The Follow-Up Process</vt:lpstr>
      <vt:lpstr>Tracking and Management of Periodic Review Process</vt:lpstr>
      <vt:lpstr>CEDAC Step 8 Exercise: Follow-up Process</vt:lpstr>
      <vt:lpstr>Prepare for Final Report-Out to Management</vt:lpstr>
      <vt:lpstr>CEDAC Review</vt:lpstr>
      <vt:lpstr>Review - CEDAC Benefits</vt:lpstr>
      <vt:lpstr>Review - CEDAC Roadmap</vt:lpstr>
      <vt:lpstr>CEDAC Exercise: Review Key Learnings</vt:lpstr>
      <vt:lpstr>Appendix</vt:lpstr>
      <vt:lpstr>History of CEDAC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426</cp:revision>
  <dcterms:created xsi:type="dcterms:W3CDTF">2023-02-08T22:10:20Z</dcterms:created>
  <dcterms:modified xsi:type="dcterms:W3CDTF">2023-09-29T19:41:55Z</dcterms:modified>
</cp:coreProperties>
</file>