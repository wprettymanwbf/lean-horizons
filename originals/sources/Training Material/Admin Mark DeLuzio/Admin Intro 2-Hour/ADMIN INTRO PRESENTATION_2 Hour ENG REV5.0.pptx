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58" r:id="rId2"/>
    <p:sldId id="283" r:id="rId3"/>
    <p:sldId id="284" r:id="rId4"/>
    <p:sldId id="285" r:id="rId5"/>
    <p:sldId id="286" r:id="rId6"/>
    <p:sldId id="287" r:id="rId7"/>
    <p:sldId id="288" r:id="rId8"/>
    <p:sldId id="289" r:id="rId9"/>
    <p:sldId id="290" r:id="rId10"/>
    <p:sldId id="291" r:id="rId11"/>
    <p:sldId id="292" r:id="rId12"/>
    <p:sldId id="293" r:id="rId13"/>
    <p:sldId id="315" r:id="rId14"/>
    <p:sldId id="343" r:id="rId15"/>
    <p:sldId id="296" r:id="rId16"/>
    <p:sldId id="297" r:id="rId17"/>
    <p:sldId id="330" r:id="rId18"/>
    <p:sldId id="298" r:id="rId19"/>
    <p:sldId id="299" r:id="rId20"/>
    <p:sldId id="331" r:id="rId21"/>
    <p:sldId id="332" r:id="rId22"/>
    <p:sldId id="344" r:id="rId23"/>
    <p:sldId id="1393" r:id="rId24"/>
    <p:sldId id="345" r:id="rId25"/>
    <p:sldId id="304" r:id="rId26"/>
    <p:sldId id="346" r:id="rId27"/>
    <p:sldId id="306" r:id="rId28"/>
    <p:sldId id="310" r:id="rId29"/>
    <p:sldId id="347" r:id="rId30"/>
    <p:sldId id="348" r:id="rId31"/>
    <p:sldId id="313" r:id="rId32"/>
    <p:sldId id="316" r:id="rId33"/>
    <p:sldId id="317" r:id="rId34"/>
    <p:sldId id="349" r:id="rId35"/>
    <p:sldId id="1383" r:id="rId36"/>
    <p:sldId id="1384" r:id="rId37"/>
    <p:sldId id="1385" r:id="rId38"/>
    <p:sldId id="1386" r:id="rId39"/>
    <p:sldId id="1118" r:id="rId40"/>
    <p:sldId id="1387" r:id="rId41"/>
    <p:sldId id="1388" r:id="rId42"/>
    <p:sldId id="1389" r:id="rId43"/>
    <p:sldId id="1390" r:id="rId44"/>
    <p:sldId id="1391" r:id="rId45"/>
    <p:sldId id="319" r:id="rId46"/>
    <p:sldId id="320" r:id="rId47"/>
    <p:sldId id="321" r:id="rId48"/>
    <p:sldId id="1368" r:id="rId49"/>
    <p:sldId id="1392" r:id="rId50"/>
    <p:sldId id="324" r:id="rId51"/>
    <p:sldId id="325" r:id="rId52"/>
    <p:sldId id="326" r:id="rId53"/>
    <p:sldId id="327" r:id="rId54"/>
    <p:sldId id="328" r:id="rId55"/>
    <p:sldId id="1381"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222"/>
    <a:srgbClr val="FFB627"/>
    <a:srgbClr val="7F7F7F"/>
    <a:srgbClr val="EE3629"/>
    <a:srgbClr val="177E89"/>
    <a:srgbClr val="8EDCE6"/>
    <a:srgbClr val="F1BF98"/>
    <a:srgbClr val="2EC4B6"/>
    <a:srgbClr val="BDDBD0"/>
    <a:srgbClr val="2D7D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58039" autoAdjust="0"/>
  </p:normalViewPr>
  <p:slideViewPr>
    <p:cSldViewPr snapToGrid="0">
      <p:cViewPr>
        <p:scale>
          <a:sx n="75" d="100"/>
          <a:sy n="75" d="100"/>
        </p:scale>
        <p:origin x="1860" y="-582"/>
      </p:cViewPr>
      <p:guideLst/>
    </p:cSldViewPr>
  </p:slideViewPr>
  <p:outlineViewPr>
    <p:cViewPr>
      <p:scale>
        <a:sx n="33" d="100"/>
        <a:sy n="33" d="100"/>
      </p:scale>
      <p:origin x="0" y="-5106"/>
    </p:cViewPr>
  </p:outlineViewPr>
  <p:notesTextViewPr>
    <p:cViewPr>
      <p:scale>
        <a:sx n="3" d="2"/>
        <a:sy n="3" d="2"/>
      </p:scale>
      <p:origin x="0" y="0"/>
    </p:cViewPr>
  </p:notesTextViewPr>
  <p:sorterViewPr>
    <p:cViewPr>
      <p:scale>
        <a:sx n="125" d="100"/>
        <a:sy n="125" d="100"/>
      </p:scale>
      <p:origin x="0" y="-19704"/>
    </p:cViewPr>
  </p:sorter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0906910501714866E-2"/>
          <c:w val="0.96682400920568434"/>
          <c:h val="0.92480628333121617"/>
        </c:manualLayout>
      </c:layout>
      <c:lineChart>
        <c:grouping val="standard"/>
        <c:varyColors val="0"/>
        <c:ser>
          <c:idx val="0"/>
          <c:order val="0"/>
          <c:tx>
            <c:strRef>
              <c:f>Sheet1!$B$1</c:f>
              <c:strCache>
                <c:ptCount val="1"/>
                <c:pt idx="0">
                  <c:v>Series 1</c:v>
                </c:pt>
              </c:strCache>
            </c:strRef>
          </c:tx>
          <c:spPr>
            <a:ln w="50800" cap="rnd">
              <a:solidFill>
                <a:schemeClr val="accent1"/>
              </a:solidFill>
              <a:round/>
            </a:ln>
            <a:effectLst/>
          </c:spPr>
          <c:marker>
            <c:symbol val="none"/>
          </c:marker>
          <c:cat>
            <c:strRef>
              <c:f>Sheet1!$A$2:$A$11</c:f>
              <c:strCache>
                <c:ptCount val="4"/>
                <c:pt idx="0">
                  <c:v>Category 1</c:v>
                </c:pt>
                <c:pt idx="1">
                  <c:v>Category 2</c:v>
                </c:pt>
                <c:pt idx="2">
                  <c:v>Category 3</c:v>
                </c:pt>
                <c:pt idx="3">
                  <c:v>Category 4</c:v>
                </c:pt>
              </c:strCache>
            </c:strRef>
          </c:cat>
          <c:val>
            <c:numRef>
              <c:f>Sheet1!$B$2:$B$11</c:f>
              <c:numCache>
                <c:formatCode>General</c:formatCode>
                <c:ptCount val="10"/>
                <c:pt idx="0">
                  <c:v>0</c:v>
                </c:pt>
                <c:pt idx="1">
                  <c:v>10</c:v>
                </c:pt>
                <c:pt idx="2">
                  <c:v>10</c:v>
                </c:pt>
                <c:pt idx="3">
                  <c:v>20</c:v>
                </c:pt>
                <c:pt idx="4">
                  <c:v>20</c:v>
                </c:pt>
                <c:pt idx="5">
                  <c:v>30</c:v>
                </c:pt>
                <c:pt idx="6">
                  <c:v>30</c:v>
                </c:pt>
                <c:pt idx="7">
                  <c:v>40</c:v>
                </c:pt>
                <c:pt idx="8">
                  <c:v>40</c:v>
                </c:pt>
                <c:pt idx="9">
                  <c:v>50</c:v>
                </c:pt>
              </c:numCache>
            </c:numRef>
          </c:val>
          <c:smooth val="0"/>
          <c:extLst>
            <c:ext xmlns:c16="http://schemas.microsoft.com/office/drawing/2014/chart" uri="{C3380CC4-5D6E-409C-BE32-E72D297353CC}">
              <c16:uniqueId val="{00000000-55CD-4C10-B2AE-7B71BEADFC0B}"/>
            </c:ext>
          </c:extLst>
        </c:ser>
        <c:ser>
          <c:idx val="1"/>
          <c:order val="1"/>
          <c:tx>
            <c:strRef>
              <c:f>Sheet1!$C$1</c:f>
              <c:strCache>
                <c:ptCount val="1"/>
                <c:pt idx="0">
                  <c:v>Series 2</c:v>
                </c:pt>
              </c:strCache>
            </c:strRef>
          </c:tx>
          <c:spPr>
            <a:ln w="50800" cap="rnd">
              <a:solidFill>
                <a:schemeClr val="bg2">
                  <a:lumMod val="10000"/>
                </a:schemeClr>
              </a:solidFill>
              <a:round/>
            </a:ln>
            <a:effectLst/>
          </c:spPr>
          <c:marker>
            <c:symbol val="none"/>
          </c:marker>
          <c:cat>
            <c:strRef>
              <c:f>Sheet1!$A$2:$A$11</c:f>
              <c:strCache>
                <c:ptCount val="4"/>
                <c:pt idx="0">
                  <c:v>Category 1</c:v>
                </c:pt>
                <c:pt idx="1">
                  <c:v>Category 2</c:v>
                </c:pt>
                <c:pt idx="2">
                  <c:v>Category 3</c:v>
                </c:pt>
                <c:pt idx="3">
                  <c:v>Category 4</c:v>
                </c:pt>
              </c:strCache>
            </c:strRef>
          </c:cat>
          <c:val>
            <c:numRef>
              <c:f>Sheet1!$C$2:$C$11</c:f>
              <c:numCache>
                <c:formatCode>General</c:formatCode>
                <c:ptCount val="10"/>
                <c:pt idx="0">
                  <c:v>0</c:v>
                </c:pt>
                <c:pt idx="1">
                  <c:v>10</c:v>
                </c:pt>
                <c:pt idx="2">
                  <c:v>8</c:v>
                </c:pt>
                <c:pt idx="3">
                  <c:v>3</c:v>
                </c:pt>
                <c:pt idx="4">
                  <c:v>13</c:v>
                </c:pt>
                <c:pt idx="5">
                  <c:v>5</c:v>
                </c:pt>
                <c:pt idx="6">
                  <c:v>10</c:v>
                </c:pt>
                <c:pt idx="7">
                  <c:v>8</c:v>
                </c:pt>
                <c:pt idx="8">
                  <c:v>5</c:v>
                </c:pt>
                <c:pt idx="9">
                  <c:v>13</c:v>
                </c:pt>
              </c:numCache>
            </c:numRef>
          </c:val>
          <c:smooth val="0"/>
          <c:extLst>
            <c:ext xmlns:c16="http://schemas.microsoft.com/office/drawing/2014/chart" uri="{C3380CC4-5D6E-409C-BE32-E72D297353CC}">
              <c16:uniqueId val="{00000001-55CD-4C10-B2AE-7B71BEADFC0B}"/>
            </c:ext>
          </c:extLst>
        </c:ser>
        <c:dLbls>
          <c:showLegendKey val="0"/>
          <c:showVal val="0"/>
          <c:showCatName val="0"/>
          <c:showSerName val="0"/>
          <c:showPercent val="0"/>
          <c:showBubbleSize val="0"/>
        </c:dLbls>
        <c:smooth val="0"/>
        <c:axId val="1498353967"/>
        <c:axId val="1498343983"/>
      </c:lineChart>
      <c:catAx>
        <c:axId val="1498353967"/>
        <c:scaling>
          <c:orientation val="minMax"/>
        </c:scaling>
        <c:delete val="0"/>
        <c:axPos val="b"/>
        <c:numFmt formatCode="General" sourceLinked="1"/>
        <c:majorTickMark val="none"/>
        <c:minorTickMark val="none"/>
        <c:tickLblPos val="none"/>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defRPr>
            </a:pPr>
            <a:endParaRPr lang="en-US"/>
          </a:p>
        </c:txPr>
        <c:crossAx val="1498343983"/>
        <c:crosses val="autoZero"/>
        <c:auto val="1"/>
        <c:lblAlgn val="ctr"/>
        <c:lblOffset val="100"/>
        <c:noMultiLvlLbl val="0"/>
      </c:catAx>
      <c:valAx>
        <c:axId val="1498343983"/>
        <c:scaling>
          <c:orientation val="minMax"/>
        </c:scaling>
        <c:delete val="0"/>
        <c:axPos val="l"/>
        <c:majorGridlines>
          <c:spPr>
            <a:ln w="9525" cap="flat" cmpd="sng" algn="ctr">
              <a:noFill/>
              <a:round/>
            </a:ln>
            <a:effectLst/>
          </c:spPr>
        </c:majorGridlines>
        <c:numFmt formatCode="General"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oboto" panose="02000000000000000000" pitchFamily="2" charset="0"/>
                <a:ea typeface="Roboto" panose="02000000000000000000" pitchFamily="2" charset="0"/>
                <a:cs typeface="Roboto" panose="02000000000000000000" pitchFamily="2" charset="0"/>
              </a:defRPr>
            </a:pPr>
            <a:endParaRPr lang="en-US"/>
          </a:p>
        </c:txPr>
        <c:crossAx val="1498353967"/>
        <c:crosses val="autoZero"/>
        <c:crossBetween val="between"/>
      </c:valAx>
      <c:spPr>
        <a:solidFill>
          <a:schemeClr val="accent3"/>
        </a:solid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Roboto" panose="02000000000000000000" pitchFamily="2" charset="0"/>
          <a:ea typeface="Roboto" panose="02000000000000000000" pitchFamily="2" charset="0"/>
          <a:cs typeface="Roboto" panose="02000000000000000000" pitchFamily="2" charset="0"/>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8CEBF2-2E3A-4E03-BB9A-282149A5D77C}" type="doc">
      <dgm:prSet loTypeId="urn:microsoft.com/office/officeart/2005/8/layout/hProcess11" loCatId="process" qsTypeId="urn:microsoft.com/office/officeart/2005/8/quickstyle/simple1" qsCatId="simple" csTypeId="urn:microsoft.com/office/officeart/2005/8/colors/colorful3" csCatId="colorful" phldr="1"/>
      <dgm:spPr/>
    </dgm:pt>
    <dgm:pt modelId="{8439AEC3-9BC6-47C5-AB1D-11FD7AF7900C}">
      <dgm:prSet phldrT="[Text]"/>
      <dgm:spPr/>
      <dgm:t>
        <a:bodyPr anchor="ctr"/>
        <a:lstStyle/>
        <a:p>
          <a:r>
            <a:rPr lang="en-US" dirty="0">
              <a:solidFill>
                <a:schemeClr val="bg2">
                  <a:lumMod val="10000"/>
                </a:schemeClr>
              </a:solidFill>
            </a:rPr>
            <a:t>1850</a:t>
          </a:r>
        </a:p>
      </dgm:t>
    </dgm:pt>
    <dgm:pt modelId="{DCE1D1D2-2E8D-4993-986D-64692F8446B6}" type="parTrans" cxnId="{D9DCD9DF-48DA-4488-87E4-95DB856C8B1E}">
      <dgm:prSet/>
      <dgm:spPr/>
      <dgm:t>
        <a:bodyPr/>
        <a:lstStyle/>
        <a:p>
          <a:endParaRPr lang="en-US"/>
        </a:p>
      </dgm:t>
    </dgm:pt>
    <dgm:pt modelId="{1AA0E5D5-F2FA-4E97-9B3F-14C70D79ECCE}" type="sibTrans" cxnId="{D9DCD9DF-48DA-4488-87E4-95DB856C8B1E}">
      <dgm:prSet/>
      <dgm:spPr/>
      <dgm:t>
        <a:bodyPr/>
        <a:lstStyle/>
        <a:p>
          <a:endParaRPr lang="en-US"/>
        </a:p>
      </dgm:t>
    </dgm:pt>
    <dgm:pt modelId="{7F600F17-E123-47C0-BC7D-CAE728A7ED15}">
      <dgm:prSet phldrT="[Text]"/>
      <dgm:spPr/>
      <dgm:t>
        <a:bodyPr anchor="ctr"/>
        <a:lstStyle/>
        <a:p>
          <a:r>
            <a:rPr lang="en-US" dirty="0">
              <a:solidFill>
                <a:schemeClr val="bg2">
                  <a:lumMod val="10000"/>
                </a:schemeClr>
              </a:solidFill>
            </a:rPr>
            <a:t>1900</a:t>
          </a:r>
        </a:p>
      </dgm:t>
    </dgm:pt>
    <dgm:pt modelId="{CCFC5126-456A-4170-B37A-92D0B11B8DE1}" type="parTrans" cxnId="{E94EB7C5-9744-42E2-AE60-799DC162F5AC}">
      <dgm:prSet/>
      <dgm:spPr/>
      <dgm:t>
        <a:bodyPr/>
        <a:lstStyle/>
        <a:p>
          <a:endParaRPr lang="en-US"/>
        </a:p>
      </dgm:t>
    </dgm:pt>
    <dgm:pt modelId="{379EEBA7-4F39-48B9-9A5A-867A459E8521}" type="sibTrans" cxnId="{E94EB7C5-9744-42E2-AE60-799DC162F5AC}">
      <dgm:prSet/>
      <dgm:spPr/>
      <dgm:t>
        <a:bodyPr/>
        <a:lstStyle/>
        <a:p>
          <a:endParaRPr lang="en-US"/>
        </a:p>
      </dgm:t>
    </dgm:pt>
    <dgm:pt modelId="{2D33C714-F094-4A79-835B-9C5EA0A19D10}">
      <dgm:prSet phldrT="[Text]"/>
      <dgm:spPr/>
      <dgm:t>
        <a:bodyPr anchor="ctr"/>
        <a:lstStyle/>
        <a:p>
          <a:r>
            <a:rPr lang="en-US" dirty="0">
              <a:solidFill>
                <a:schemeClr val="bg2">
                  <a:lumMod val="10000"/>
                </a:schemeClr>
              </a:solidFill>
            </a:rPr>
            <a:t>1950</a:t>
          </a:r>
        </a:p>
      </dgm:t>
    </dgm:pt>
    <dgm:pt modelId="{AC73EA1B-7077-475E-965D-76ABF643008C}" type="parTrans" cxnId="{4B5918F5-3623-4506-9D69-597C62FE96F2}">
      <dgm:prSet/>
      <dgm:spPr/>
      <dgm:t>
        <a:bodyPr/>
        <a:lstStyle/>
        <a:p>
          <a:endParaRPr lang="en-US"/>
        </a:p>
      </dgm:t>
    </dgm:pt>
    <dgm:pt modelId="{37639F2E-9FD0-4232-BD38-3D87E6A162D7}" type="sibTrans" cxnId="{4B5918F5-3623-4506-9D69-597C62FE96F2}">
      <dgm:prSet/>
      <dgm:spPr/>
      <dgm:t>
        <a:bodyPr/>
        <a:lstStyle/>
        <a:p>
          <a:endParaRPr lang="en-US"/>
        </a:p>
      </dgm:t>
    </dgm:pt>
    <dgm:pt modelId="{88CC54D6-B89F-464B-8671-3D93AB7EBC09}">
      <dgm:prSet phldrT="[Text]"/>
      <dgm:spPr/>
      <dgm:t>
        <a:bodyPr anchor="ctr"/>
        <a:lstStyle/>
        <a:p>
          <a:r>
            <a:rPr lang="en-US" dirty="0">
              <a:solidFill>
                <a:schemeClr val="bg2">
                  <a:lumMod val="10000"/>
                </a:schemeClr>
              </a:solidFill>
            </a:rPr>
            <a:t>2000</a:t>
          </a:r>
        </a:p>
      </dgm:t>
    </dgm:pt>
    <dgm:pt modelId="{C64BE4BC-627F-4CE3-B2C9-6391DDEC1FDB}" type="parTrans" cxnId="{C84A4929-1957-4C47-8428-9D78F914E44B}">
      <dgm:prSet/>
      <dgm:spPr/>
      <dgm:t>
        <a:bodyPr/>
        <a:lstStyle/>
        <a:p>
          <a:endParaRPr lang="en-US"/>
        </a:p>
      </dgm:t>
    </dgm:pt>
    <dgm:pt modelId="{04A1ACD7-9B27-4196-8702-9316C979C934}" type="sibTrans" cxnId="{C84A4929-1957-4C47-8428-9D78F914E44B}">
      <dgm:prSet/>
      <dgm:spPr/>
      <dgm:t>
        <a:bodyPr/>
        <a:lstStyle/>
        <a:p>
          <a:endParaRPr lang="en-US"/>
        </a:p>
      </dgm:t>
    </dgm:pt>
    <dgm:pt modelId="{C5BD3EE5-A83B-42BA-B0D6-92BEE0382BFE}">
      <dgm:prSet phldrT="[Text]"/>
      <dgm:spPr/>
      <dgm:t>
        <a:bodyPr/>
        <a:lstStyle/>
        <a:p>
          <a:endParaRPr lang="en-US" dirty="0">
            <a:solidFill>
              <a:schemeClr val="bg2">
                <a:lumMod val="10000"/>
              </a:schemeClr>
            </a:solidFill>
          </a:endParaRPr>
        </a:p>
      </dgm:t>
    </dgm:pt>
    <dgm:pt modelId="{64E593F3-8C8D-4658-95CA-C93092A54771}" type="parTrans" cxnId="{B7CEEE4F-E4A3-447E-ACBC-989CE3880AE0}">
      <dgm:prSet/>
      <dgm:spPr/>
      <dgm:t>
        <a:bodyPr/>
        <a:lstStyle/>
        <a:p>
          <a:endParaRPr lang="en-US"/>
        </a:p>
      </dgm:t>
    </dgm:pt>
    <dgm:pt modelId="{F9E31405-A97B-4086-B225-3B2A6CABB6C9}" type="sibTrans" cxnId="{B7CEEE4F-E4A3-447E-ACBC-989CE3880AE0}">
      <dgm:prSet/>
      <dgm:spPr/>
      <dgm:t>
        <a:bodyPr/>
        <a:lstStyle/>
        <a:p>
          <a:endParaRPr lang="en-US"/>
        </a:p>
      </dgm:t>
    </dgm:pt>
    <dgm:pt modelId="{3233A7B8-C167-4237-8911-94E4041350E5}">
      <dgm:prSet phldrT="[Text]"/>
      <dgm:spPr/>
      <dgm:t>
        <a:bodyPr/>
        <a:lstStyle/>
        <a:p>
          <a:endParaRPr lang="en-US" dirty="0">
            <a:solidFill>
              <a:schemeClr val="bg2">
                <a:lumMod val="10000"/>
              </a:schemeClr>
            </a:solidFill>
          </a:endParaRPr>
        </a:p>
      </dgm:t>
    </dgm:pt>
    <dgm:pt modelId="{40852FE6-965B-47EF-9D1D-71B679BB3B17}" type="parTrans" cxnId="{9E598755-5A53-44F2-A2B9-C3D7B8A71EFA}">
      <dgm:prSet/>
      <dgm:spPr/>
      <dgm:t>
        <a:bodyPr/>
        <a:lstStyle/>
        <a:p>
          <a:endParaRPr lang="en-US"/>
        </a:p>
      </dgm:t>
    </dgm:pt>
    <dgm:pt modelId="{FDE3BEA2-0930-4449-903A-7AFDE09A8000}" type="sibTrans" cxnId="{9E598755-5A53-44F2-A2B9-C3D7B8A71EFA}">
      <dgm:prSet/>
      <dgm:spPr/>
      <dgm:t>
        <a:bodyPr/>
        <a:lstStyle/>
        <a:p>
          <a:endParaRPr lang="en-US"/>
        </a:p>
      </dgm:t>
    </dgm:pt>
    <dgm:pt modelId="{C9ECC495-E461-4212-B918-12C62F2F1AA8}">
      <dgm:prSet phldrT="[Text]"/>
      <dgm:spPr/>
      <dgm:t>
        <a:bodyPr/>
        <a:lstStyle/>
        <a:p>
          <a:endParaRPr lang="en-US" dirty="0">
            <a:solidFill>
              <a:schemeClr val="bg2">
                <a:lumMod val="10000"/>
              </a:schemeClr>
            </a:solidFill>
          </a:endParaRPr>
        </a:p>
      </dgm:t>
    </dgm:pt>
    <dgm:pt modelId="{8B2D7B45-C493-4ECB-B688-D85894A1143F}" type="parTrans" cxnId="{A61901D2-94ED-4F95-8C12-991505F65313}">
      <dgm:prSet/>
      <dgm:spPr/>
      <dgm:t>
        <a:bodyPr/>
        <a:lstStyle/>
        <a:p>
          <a:endParaRPr lang="en-US"/>
        </a:p>
      </dgm:t>
    </dgm:pt>
    <dgm:pt modelId="{ED15A481-39F4-4070-912C-DED8453DFF14}" type="sibTrans" cxnId="{A61901D2-94ED-4F95-8C12-991505F65313}">
      <dgm:prSet/>
      <dgm:spPr/>
      <dgm:t>
        <a:bodyPr/>
        <a:lstStyle/>
        <a:p>
          <a:endParaRPr lang="en-US"/>
        </a:p>
      </dgm:t>
    </dgm:pt>
    <dgm:pt modelId="{42CC1DB1-2692-4A6F-9BF7-C816188D4592}">
      <dgm:prSet phldrT="[Text]"/>
      <dgm:spPr/>
      <dgm:t>
        <a:bodyPr/>
        <a:lstStyle/>
        <a:p>
          <a:endParaRPr lang="en-US" dirty="0">
            <a:solidFill>
              <a:schemeClr val="bg2">
                <a:lumMod val="10000"/>
              </a:schemeClr>
            </a:solidFill>
          </a:endParaRPr>
        </a:p>
      </dgm:t>
    </dgm:pt>
    <dgm:pt modelId="{D3FFCE2C-7D18-4D58-823A-407F069B5582}" type="parTrans" cxnId="{BF392791-F886-4F06-8A39-E06517B97DBE}">
      <dgm:prSet/>
      <dgm:spPr/>
      <dgm:t>
        <a:bodyPr/>
        <a:lstStyle/>
        <a:p>
          <a:endParaRPr lang="en-US"/>
        </a:p>
      </dgm:t>
    </dgm:pt>
    <dgm:pt modelId="{1367CC2F-54EE-46D2-8E67-6CC6393C8320}" type="sibTrans" cxnId="{BF392791-F886-4F06-8A39-E06517B97DBE}">
      <dgm:prSet/>
      <dgm:spPr/>
      <dgm:t>
        <a:bodyPr/>
        <a:lstStyle/>
        <a:p>
          <a:endParaRPr lang="en-US"/>
        </a:p>
      </dgm:t>
    </dgm:pt>
    <dgm:pt modelId="{3B43A99A-8C84-4049-8A41-2A1C6F6A9376}">
      <dgm:prSet phldrT="[Text]"/>
      <dgm:spPr/>
      <dgm:t>
        <a:bodyPr/>
        <a:lstStyle/>
        <a:p>
          <a:endParaRPr lang="en-US" dirty="0">
            <a:solidFill>
              <a:schemeClr val="bg2">
                <a:lumMod val="10000"/>
              </a:schemeClr>
            </a:solidFill>
          </a:endParaRPr>
        </a:p>
      </dgm:t>
    </dgm:pt>
    <dgm:pt modelId="{C14F5F7A-910D-410D-AE9C-E2270E055E1A}" type="parTrans" cxnId="{D4986E91-3384-4B92-8FB0-283B8A2D20C2}">
      <dgm:prSet/>
      <dgm:spPr/>
      <dgm:t>
        <a:bodyPr/>
        <a:lstStyle/>
        <a:p>
          <a:endParaRPr lang="en-US"/>
        </a:p>
      </dgm:t>
    </dgm:pt>
    <dgm:pt modelId="{C4D9E467-AFFD-49CA-9F7B-7F20C8BFFA7A}" type="sibTrans" cxnId="{D4986E91-3384-4B92-8FB0-283B8A2D20C2}">
      <dgm:prSet/>
      <dgm:spPr/>
      <dgm:t>
        <a:bodyPr/>
        <a:lstStyle/>
        <a:p>
          <a:endParaRPr lang="en-US"/>
        </a:p>
      </dgm:t>
    </dgm:pt>
    <dgm:pt modelId="{702BE1B1-EBF4-4608-8701-8F8A4CE9926A}">
      <dgm:prSet phldrT="[Text]"/>
      <dgm:spPr/>
      <dgm:t>
        <a:bodyPr/>
        <a:lstStyle/>
        <a:p>
          <a:endParaRPr lang="en-US" dirty="0">
            <a:solidFill>
              <a:schemeClr val="bg2">
                <a:lumMod val="10000"/>
              </a:schemeClr>
            </a:solidFill>
          </a:endParaRPr>
        </a:p>
      </dgm:t>
    </dgm:pt>
    <dgm:pt modelId="{FC92F143-C9F7-4D7F-8B76-A1898C923DC9}" type="parTrans" cxnId="{2A03EE78-9D68-40A6-9619-7AF216945110}">
      <dgm:prSet/>
      <dgm:spPr/>
      <dgm:t>
        <a:bodyPr/>
        <a:lstStyle/>
        <a:p>
          <a:endParaRPr lang="en-US"/>
        </a:p>
      </dgm:t>
    </dgm:pt>
    <dgm:pt modelId="{4356C31C-5CEB-457A-8837-871D8FAB60FF}" type="sibTrans" cxnId="{2A03EE78-9D68-40A6-9619-7AF216945110}">
      <dgm:prSet/>
      <dgm:spPr/>
      <dgm:t>
        <a:bodyPr/>
        <a:lstStyle/>
        <a:p>
          <a:endParaRPr lang="en-US"/>
        </a:p>
      </dgm:t>
    </dgm:pt>
    <dgm:pt modelId="{8D9BEFF3-3C78-4718-A5AD-7BF99958A1E6}">
      <dgm:prSet phldrT="[Text]"/>
      <dgm:spPr/>
      <dgm:t>
        <a:bodyPr/>
        <a:lstStyle/>
        <a:p>
          <a:endParaRPr lang="en-US" dirty="0">
            <a:solidFill>
              <a:schemeClr val="bg2">
                <a:lumMod val="10000"/>
              </a:schemeClr>
            </a:solidFill>
          </a:endParaRPr>
        </a:p>
      </dgm:t>
    </dgm:pt>
    <dgm:pt modelId="{00F4CA87-EA82-47F6-8755-2415F559A27D}" type="parTrans" cxnId="{6BE636B9-9AE6-42EC-BC3E-72EEDA8E1A65}">
      <dgm:prSet/>
      <dgm:spPr/>
      <dgm:t>
        <a:bodyPr/>
        <a:lstStyle/>
        <a:p>
          <a:endParaRPr lang="en-US"/>
        </a:p>
      </dgm:t>
    </dgm:pt>
    <dgm:pt modelId="{A4CE7954-7BDE-4BD5-BEF8-9D9B82CC2B37}" type="sibTrans" cxnId="{6BE636B9-9AE6-42EC-BC3E-72EEDA8E1A65}">
      <dgm:prSet/>
      <dgm:spPr/>
      <dgm:t>
        <a:bodyPr/>
        <a:lstStyle/>
        <a:p>
          <a:endParaRPr lang="en-US"/>
        </a:p>
      </dgm:t>
    </dgm:pt>
    <dgm:pt modelId="{419B8074-7AC4-4B13-B474-63A4E1FABD7E}">
      <dgm:prSet phldrT="[Text]"/>
      <dgm:spPr/>
      <dgm:t>
        <a:bodyPr/>
        <a:lstStyle/>
        <a:p>
          <a:endParaRPr lang="en-US" dirty="0">
            <a:solidFill>
              <a:schemeClr val="bg2">
                <a:lumMod val="10000"/>
              </a:schemeClr>
            </a:solidFill>
          </a:endParaRPr>
        </a:p>
      </dgm:t>
    </dgm:pt>
    <dgm:pt modelId="{82220545-7A75-48EF-8505-0B2D5E2AEFBE}" type="parTrans" cxnId="{EB44AD86-DA79-4AD1-976B-5CC9979A2062}">
      <dgm:prSet/>
      <dgm:spPr/>
      <dgm:t>
        <a:bodyPr/>
        <a:lstStyle/>
        <a:p>
          <a:endParaRPr lang="en-US"/>
        </a:p>
      </dgm:t>
    </dgm:pt>
    <dgm:pt modelId="{63F5642C-D20C-48B4-B271-686FEA2C3995}" type="sibTrans" cxnId="{EB44AD86-DA79-4AD1-976B-5CC9979A2062}">
      <dgm:prSet/>
      <dgm:spPr/>
      <dgm:t>
        <a:bodyPr/>
        <a:lstStyle/>
        <a:p>
          <a:endParaRPr lang="en-US"/>
        </a:p>
      </dgm:t>
    </dgm:pt>
    <dgm:pt modelId="{ABE24355-62FD-4A8D-8D8C-41AEDD3CDA7A}">
      <dgm:prSet phldrT="[Text]"/>
      <dgm:spPr/>
      <dgm:t>
        <a:bodyPr/>
        <a:lstStyle/>
        <a:p>
          <a:endParaRPr lang="en-US" dirty="0">
            <a:solidFill>
              <a:schemeClr val="bg2">
                <a:lumMod val="10000"/>
              </a:schemeClr>
            </a:solidFill>
          </a:endParaRPr>
        </a:p>
      </dgm:t>
    </dgm:pt>
    <dgm:pt modelId="{DE9A951F-B9DB-44A3-B982-FED2699E9760}" type="parTrans" cxnId="{075B7725-CF97-4082-8F0C-8848EFE84579}">
      <dgm:prSet/>
      <dgm:spPr/>
      <dgm:t>
        <a:bodyPr/>
        <a:lstStyle/>
        <a:p>
          <a:endParaRPr lang="en-US"/>
        </a:p>
      </dgm:t>
    </dgm:pt>
    <dgm:pt modelId="{B89E968D-EBA8-48B2-9BFE-AB1A167AB00E}" type="sibTrans" cxnId="{075B7725-CF97-4082-8F0C-8848EFE84579}">
      <dgm:prSet/>
      <dgm:spPr/>
      <dgm:t>
        <a:bodyPr/>
        <a:lstStyle/>
        <a:p>
          <a:endParaRPr lang="en-US"/>
        </a:p>
      </dgm:t>
    </dgm:pt>
    <dgm:pt modelId="{25BE3705-0C03-4AEC-A5C9-BA5C6F01D193}" type="pres">
      <dgm:prSet presAssocID="{9F8CEBF2-2E3A-4E03-BB9A-282149A5D77C}" presName="Name0" presStyleCnt="0">
        <dgm:presLayoutVars>
          <dgm:dir/>
          <dgm:resizeHandles val="exact"/>
        </dgm:presLayoutVars>
      </dgm:prSet>
      <dgm:spPr/>
    </dgm:pt>
    <dgm:pt modelId="{B80A10C1-E974-4430-8366-0063126F5B0D}" type="pres">
      <dgm:prSet presAssocID="{9F8CEBF2-2E3A-4E03-BB9A-282149A5D77C}" presName="arrow" presStyleLbl="bgShp" presStyleIdx="0" presStyleCnt="1"/>
      <dgm:spPr>
        <a:solidFill>
          <a:srgbClr val="222222"/>
        </a:solidFill>
        <a:ln>
          <a:solidFill>
            <a:schemeClr val="tx1"/>
          </a:solidFill>
        </a:ln>
      </dgm:spPr>
    </dgm:pt>
    <dgm:pt modelId="{A00312DB-3228-48D4-805E-E22F4B5BB5C6}" type="pres">
      <dgm:prSet presAssocID="{9F8CEBF2-2E3A-4E03-BB9A-282149A5D77C}" presName="points" presStyleCnt="0"/>
      <dgm:spPr/>
    </dgm:pt>
    <dgm:pt modelId="{6D92E2A2-20C0-4B3F-8D80-0F41A5B409A9}" type="pres">
      <dgm:prSet presAssocID="{8439AEC3-9BC6-47C5-AB1D-11FD7AF7900C}" presName="compositeA" presStyleCnt="0"/>
      <dgm:spPr/>
    </dgm:pt>
    <dgm:pt modelId="{A5D89F72-E4A9-4F28-A397-903903684C16}" type="pres">
      <dgm:prSet presAssocID="{8439AEC3-9BC6-47C5-AB1D-11FD7AF7900C}" presName="textA" presStyleLbl="revTx" presStyleIdx="0" presStyleCnt="13">
        <dgm:presLayoutVars>
          <dgm:bulletEnabled val="1"/>
        </dgm:presLayoutVars>
      </dgm:prSet>
      <dgm:spPr/>
    </dgm:pt>
    <dgm:pt modelId="{D0684367-F33D-4F80-93A0-324E43F3386D}" type="pres">
      <dgm:prSet presAssocID="{8439AEC3-9BC6-47C5-AB1D-11FD7AF7900C}" presName="circleA" presStyleLbl="node1" presStyleIdx="0" presStyleCnt="13"/>
      <dgm:spPr>
        <a:solidFill>
          <a:srgbClr val="EE3228"/>
        </a:solidFill>
      </dgm:spPr>
    </dgm:pt>
    <dgm:pt modelId="{72A8AA2F-0C7B-45DC-A6D4-4B6059813F5D}" type="pres">
      <dgm:prSet presAssocID="{8439AEC3-9BC6-47C5-AB1D-11FD7AF7900C}" presName="spaceA" presStyleCnt="0"/>
      <dgm:spPr/>
    </dgm:pt>
    <dgm:pt modelId="{C7AB5733-A1B2-4812-AD78-1394633F889C}" type="pres">
      <dgm:prSet presAssocID="{1AA0E5D5-F2FA-4E97-9B3F-14C70D79ECCE}" presName="space" presStyleCnt="0"/>
      <dgm:spPr/>
    </dgm:pt>
    <dgm:pt modelId="{D2235BFB-F800-4FF1-9938-78589A6A5FA8}" type="pres">
      <dgm:prSet presAssocID="{C5BD3EE5-A83B-42BA-B0D6-92BEE0382BFE}" presName="compositeB" presStyleCnt="0"/>
      <dgm:spPr/>
    </dgm:pt>
    <dgm:pt modelId="{5F6DE521-F6B2-4A35-9FEC-081DFA690DCD}" type="pres">
      <dgm:prSet presAssocID="{C5BD3EE5-A83B-42BA-B0D6-92BEE0382BFE}" presName="textB" presStyleLbl="revTx" presStyleIdx="1" presStyleCnt="13">
        <dgm:presLayoutVars>
          <dgm:bulletEnabled val="1"/>
        </dgm:presLayoutVars>
      </dgm:prSet>
      <dgm:spPr/>
    </dgm:pt>
    <dgm:pt modelId="{4CECD502-74B9-4DFE-8D42-F20D4A35A1F2}" type="pres">
      <dgm:prSet presAssocID="{C5BD3EE5-A83B-42BA-B0D6-92BEE0382BFE}" presName="circleB" presStyleLbl="node1" presStyleIdx="1" presStyleCnt="13"/>
      <dgm:spPr>
        <a:solidFill>
          <a:srgbClr val="EE3228"/>
        </a:solidFill>
      </dgm:spPr>
    </dgm:pt>
    <dgm:pt modelId="{53ACB5BB-B8CD-4B9F-88F7-87EFF5FB7717}" type="pres">
      <dgm:prSet presAssocID="{C5BD3EE5-A83B-42BA-B0D6-92BEE0382BFE}" presName="spaceB" presStyleCnt="0"/>
      <dgm:spPr/>
    </dgm:pt>
    <dgm:pt modelId="{4A9A2F57-B527-40D9-8E5E-277D3A7945D7}" type="pres">
      <dgm:prSet presAssocID="{F9E31405-A97B-4086-B225-3B2A6CABB6C9}" presName="space" presStyleCnt="0"/>
      <dgm:spPr/>
    </dgm:pt>
    <dgm:pt modelId="{EA8EDCD2-F2A3-4C99-B7C6-44EDDC170996}" type="pres">
      <dgm:prSet presAssocID="{3233A7B8-C167-4237-8911-94E4041350E5}" presName="compositeA" presStyleCnt="0"/>
      <dgm:spPr/>
    </dgm:pt>
    <dgm:pt modelId="{8B57A02F-780C-4BEB-AAA9-A38E012EA9A1}" type="pres">
      <dgm:prSet presAssocID="{3233A7B8-C167-4237-8911-94E4041350E5}" presName="textA" presStyleLbl="revTx" presStyleIdx="2" presStyleCnt="13">
        <dgm:presLayoutVars>
          <dgm:bulletEnabled val="1"/>
        </dgm:presLayoutVars>
      </dgm:prSet>
      <dgm:spPr/>
    </dgm:pt>
    <dgm:pt modelId="{5C8E534A-EDCA-49A8-A65F-6B710C8D63DD}" type="pres">
      <dgm:prSet presAssocID="{3233A7B8-C167-4237-8911-94E4041350E5}" presName="circleA" presStyleLbl="node1" presStyleIdx="2" presStyleCnt="13"/>
      <dgm:spPr>
        <a:solidFill>
          <a:srgbClr val="EE3228"/>
        </a:solidFill>
      </dgm:spPr>
    </dgm:pt>
    <dgm:pt modelId="{DDA90344-6DB8-4E88-9819-E7B4212671AA}" type="pres">
      <dgm:prSet presAssocID="{3233A7B8-C167-4237-8911-94E4041350E5}" presName="spaceA" presStyleCnt="0"/>
      <dgm:spPr/>
    </dgm:pt>
    <dgm:pt modelId="{8F86CFCB-56E7-4FB9-9117-7C4DBD27BF0A}" type="pres">
      <dgm:prSet presAssocID="{FDE3BEA2-0930-4449-903A-7AFDE09A8000}" presName="space" presStyleCnt="0"/>
      <dgm:spPr/>
    </dgm:pt>
    <dgm:pt modelId="{CE6E761B-15BD-442A-99D3-3D4AE00044C2}" type="pres">
      <dgm:prSet presAssocID="{C9ECC495-E461-4212-B918-12C62F2F1AA8}" presName="compositeB" presStyleCnt="0"/>
      <dgm:spPr/>
    </dgm:pt>
    <dgm:pt modelId="{5F65ACE6-C4D8-4BB7-B256-BC05E94D0428}" type="pres">
      <dgm:prSet presAssocID="{C9ECC495-E461-4212-B918-12C62F2F1AA8}" presName="textB" presStyleLbl="revTx" presStyleIdx="3" presStyleCnt="13">
        <dgm:presLayoutVars>
          <dgm:bulletEnabled val="1"/>
        </dgm:presLayoutVars>
      </dgm:prSet>
      <dgm:spPr/>
    </dgm:pt>
    <dgm:pt modelId="{6A7663AB-DB8E-4306-9EE8-D2909B9C1A0F}" type="pres">
      <dgm:prSet presAssocID="{C9ECC495-E461-4212-B918-12C62F2F1AA8}" presName="circleB" presStyleLbl="node1" presStyleIdx="3" presStyleCnt="13"/>
      <dgm:spPr>
        <a:solidFill>
          <a:srgbClr val="EE3228"/>
        </a:solidFill>
      </dgm:spPr>
    </dgm:pt>
    <dgm:pt modelId="{3FA8D0BE-19A4-4C1A-BAE1-C143679F9599}" type="pres">
      <dgm:prSet presAssocID="{C9ECC495-E461-4212-B918-12C62F2F1AA8}" presName="spaceB" presStyleCnt="0"/>
      <dgm:spPr/>
    </dgm:pt>
    <dgm:pt modelId="{41089F48-5DB1-49BA-B3EA-CE13E778E2CB}" type="pres">
      <dgm:prSet presAssocID="{ED15A481-39F4-4070-912C-DED8453DFF14}" presName="space" presStyleCnt="0"/>
      <dgm:spPr/>
    </dgm:pt>
    <dgm:pt modelId="{17D6FD2D-C1C9-4BD8-BE36-1C98AA6B6178}" type="pres">
      <dgm:prSet presAssocID="{7F600F17-E123-47C0-BC7D-CAE728A7ED15}" presName="compositeA" presStyleCnt="0"/>
      <dgm:spPr/>
    </dgm:pt>
    <dgm:pt modelId="{05C28E79-D4E5-486F-988B-8ECD8A757630}" type="pres">
      <dgm:prSet presAssocID="{7F600F17-E123-47C0-BC7D-CAE728A7ED15}" presName="textA" presStyleLbl="revTx" presStyleIdx="4" presStyleCnt="13">
        <dgm:presLayoutVars>
          <dgm:bulletEnabled val="1"/>
        </dgm:presLayoutVars>
      </dgm:prSet>
      <dgm:spPr/>
    </dgm:pt>
    <dgm:pt modelId="{AE532651-358C-4C73-B9CB-F8AECB2A0C2B}" type="pres">
      <dgm:prSet presAssocID="{7F600F17-E123-47C0-BC7D-CAE728A7ED15}" presName="circleA" presStyleLbl="node1" presStyleIdx="4" presStyleCnt="13"/>
      <dgm:spPr>
        <a:solidFill>
          <a:srgbClr val="EE3228"/>
        </a:solidFill>
      </dgm:spPr>
    </dgm:pt>
    <dgm:pt modelId="{93F18258-6C1F-4E84-8B93-2F2516AA87DB}" type="pres">
      <dgm:prSet presAssocID="{7F600F17-E123-47C0-BC7D-CAE728A7ED15}" presName="spaceA" presStyleCnt="0"/>
      <dgm:spPr/>
    </dgm:pt>
    <dgm:pt modelId="{EA7AC877-F6AE-49CF-B329-4B26B2C20CA0}" type="pres">
      <dgm:prSet presAssocID="{379EEBA7-4F39-48B9-9A5A-867A459E8521}" presName="space" presStyleCnt="0"/>
      <dgm:spPr/>
    </dgm:pt>
    <dgm:pt modelId="{14FC7170-91A3-4D80-9E8A-DCB816A2ED87}" type="pres">
      <dgm:prSet presAssocID="{42CC1DB1-2692-4A6F-9BF7-C816188D4592}" presName="compositeB" presStyleCnt="0"/>
      <dgm:spPr/>
    </dgm:pt>
    <dgm:pt modelId="{28CD05E7-B1E7-4968-AD07-17A752F664EC}" type="pres">
      <dgm:prSet presAssocID="{42CC1DB1-2692-4A6F-9BF7-C816188D4592}" presName="textB" presStyleLbl="revTx" presStyleIdx="5" presStyleCnt="13">
        <dgm:presLayoutVars>
          <dgm:bulletEnabled val="1"/>
        </dgm:presLayoutVars>
      </dgm:prSet>
      <dgm:spPr/>
    </dgm:pt>
    <dgm:pt modelId="{2775D6E8-C967-49F3-BDA2-9D05A782DE28}" type="pres">
      <dgm:prSet presAssocID="{42CC1DB1-2692-4A6F-9BF7-C816188D4592}" presName="circleB" presStyleLbl="node1" presStyleIdx="5" presStyleCnt="13"/>
      <dgm:spPr>
        <a:solidFill>
          <a:srgbClr val="EE3228"/>
        </a:solidFill>
      </dgm:spPr>
    </dgm:pt>
    <dgm:pt modelId="{9807A7FE-B7F5-4BC0-B889-26EB8124FA5C}" type="pres">
      <dgm:prSet presAssocID="{42CC1DB1-2692-4A6F-9BF7-C816188D4592}" presName="spaceB" presStyleCnt="0"/>
      <dgm:spPr/>
    </dgm:pt>
    <dgm:pt modelId="{4336F336-2F6A-4729-AEF1-57C4A8373C95}" type="pres">
      <dgm:prSet presAssocID="{1367CC2F-54EE-46D2-8E67-6CC6393C8320}" presName="space" presStyleCnt="0"/>
      <dgm:spPr/>
    </dgm:pt>
    <dgm:pt modelId="{1003D92B-E048-4CBD-A1B4-75E47B7B7E00}" type="pres">
      <dgm:prSet presAssocID="{3B43A99A-8C84-4049-8A41-2A1C6F6A9376}" presName="compositeA" presStyleCnt="0"/>
      <dgm:spPr/>
    </dgm:pt>
    <dgm:pt modelId="{8E4FF20C-6E85-40CD-9AD9-AF83ACBB30C4}" type="pres">
      <dgm:prSet presAssocID="{3B43A99A-8C84-4049-8A41-2A1C6F6A9376}" presName="textA" presStyleLbl="revTx" presStyleIdx="6" presStyleCnt="13">
        <dgm:presLayoutVars>
          <dgm:bulletEnabled val="1"/>
        </dgm:presLayoutVars>
      </dgm:prSet>
      <dgm:spPr/>
    </dgm:pt>
    <dgm:pt modelId="{69107A70-F12D-4B51-A257-97712B001BF0}" type="pres">
      <dgm:prSet presAssocID="{3B43A99A-8C84-4049-8A41-2A1C6F6A9376}" presName="circleA" presStyleLbl="node1" presStyleIdx="6" presStyleCnt="13"/>
      <dgm:spPr>
        <a:solidFill>
          <a:srgbClr val="EE3228"/>
        </a:solidFill>
      </dgm:spPr>
    </dgm:pt>
    <dgm:pt modelId="{33FDBCDD-586B-42A4-8B77-891488B1B5D9}" type="pres">
      <dgm:prSet presAssocID="{3B43A99A-8C84-4049-8A41-2A1C6F6A9376}" presName="spaceA" presStyleCnt="0"/>
      <dgm:spPr/>
    </dgm:pt>
    <dgm:pt modelId="{2A63AFE9-A8B4-49D2-A64C-8E681D90ADDA}" type="pres">
      <dgm:prSet presAssocID="{C4D9E467-AFFD-49CA-9F7B-7F20C8BFFA7A}" presName="space" presStyleCnt="0"/>
      <dgm:spPr/>
    </dgm:pt>
    <dgm:pt modelId="{B3E08D67-3D8B-477B-92CD-E39FCBCF1016}" type="pres">
      <dgm:prSet presAssocID="{702BE1B1-EBF4-4608-8701-8F8A4CE9926A}" presName="compositeB" presStyleCnt="0"/>
      <dgm:spPr/>
    </dgm:pt>
    <dgm:pt modelId="{E7AD48BF-951C-46B0-B23F-A14CE5E8830F}" type="pres">
      <dgm:prSet presAssocID="{702BE1B1-EBF4-4608-8701-8F8A4CE9926A}" presName="textB" presStyleLbl="revTx" presStyleIdx="7" presStyleCnt="13">
        <dgm:presLayoutVars>
          <dgm:bulletEnabled val="1"/>
        </dgm:presLayoutVars>
      </dgm:prSet>
      <dgm:spPr/>
    </dgm:pt>
    <dgm:pt modelId="{8C665515-889C-4F52-9036-9D4C2CE8ABEA}" type="pres">
      <dgm:prSet presAssocID="{702BE1B1-EBF4-4608-8701-8F8A4CE9926A}" presName="circleB" presStyleLbl="node1" presStyleIdx="7" presStyleCnt="13"/>
      <dgm:spPr>
        <a:solidFill>
          <a:srgbClr val="EE3228"/>
        </a:solidFill>
      </dgm:spPr>
    </dgm:pt>
    <dgm:pt modelId="{80793515-736C-4914-ACB1-F9D31CAABF8B}" type="pres">
      <dgm:prSet presAssocID="{702BE1B1-EBF4-4608-8701-8F8A4CE9926A}" presName="spaceB" presStyleCnt="0"/>
      <dgm:spPr/>
    </dgm:pt>
    <dgm:pt modelId="{8DB40514-8432-4AC4-B20B-A4540D677DB1}" type="pres">
      <dgm:prSet presAssocID="{4356C31C-5CEB-457A-8837-871D8FAB60FF}" presName="space" presStyleCnt="0"/>
      <dgm:spPr/>
    </dgm:pt>
    <dgm:pt modelId="{EE0A5FB8-9235-4001-BFCC-11633732EEA2}" type="pres">
      <dgm:prSet presAssocID="{2D33C714-F094-4A79-835B-9C5EA0A19D10}" presName="compositeA" presStyleCnt="0"/>
      <dgm:spPr/>
    </dgm:pt>
    <dgm:pt modelId="{E6AB4F9F-58F2-4DA0-B555-B281216CD1DF}" type="pres">
      <dgm:prSet presAssocID="{2D33C714-F094-4A79-835B-9C5EA0A19D10}" presName="textA" presStyleLbl="revTx" presStyleIdx="8" presStyleCnt="13">
        <dgm:presLayoutVars>
          <dgm:bulletEnabled val="1"/>
        </dgm:presLayoutVars>
      </dgm:prSet>
      <dgm:spPr/>
    </dgm:pt>
    <dgm:pt modelId="{6A8E5EC9-41E0-494C-91AB-1A4C16DB4987}" type="pres">
      <dgm:prSet presAssocID="{2D33C714-F094-4A79-835B-9C5EA0A19D10}" presName="circleA" presStyleLbl="node1" presStyleIdx="8" presStyleCnt="13"/>
      <dgm:spPr>
        <a:solidFill>
          <a:srgbClr val="EE3228"/>
        </a:solidFill>
      </dgm:spPr>
    </dgm:pt>
    <dgm:pt modelId="{7540FD6B-B16E-4689-B3E2-9B5A3EF116A0}" type="pres">
      <dgm:prSet presAssocID="{2D33C714-F094-4A79-835B-9C5EA0A19D10}" presName="spaceA" presStyleCnt="0"/>
      <dgm:spPr/>
    </dgm:pt>
    <dgm:pt modelId="{45AF90A4-1AF9-4BBF-BC58-2320D9DC3407}" type="pres">
      <dgm:prSet presAssocID="{37639F2E-9FD0-4232-BD38-3D87E6A162D7}" presName="space" presStyleCnt="0"/>
      <dgm:spPr/>
    </dgm:pt>
    <dgm:pt modelId="{36B8AA88-8829-4733-917F-015C95333A16}" type="pres">
      <dgm:prSet presAssocID="{8D9BEFF3-3C78-4718-A5AD-7BF99958A1E6}" presName="compositeB" presStyleCnt="0"/>
      <dgm:spPr/>
    </dgm:pt>
    <dgm:pt modelId="{597D87DE-C22A-4B5F-95EA-0B4F63C22896}" type="pres">
      <dgm:prSet presAssocID="{8D9BEFF3-3C78-4718-A5AD-7BF99958A1E6}" presName="textB" presStyleLbl="revTx" presStyleIdx="9" presStyleCnt="13">
        <dgm:presLayoutVars>
          <dgm:bulletEnabled val="1"/>
        </dgm:presLayoutVars>
      </dgm:prSet>
      <dgm:spPr/>
    </dgm:pt>
    <dgm:pt modelId="{6508F5B0-B2F0-4C25-BF61-8907D3B30F98}" type="pres">
      <dgm:prSet presAssocID="{8D9BEFF3-3C78-4718-A5AD-7BF99958A1E6}" presName="circleB" presStyleLbl="node1" presStyleIdx="9" presStyleCnt="13"/>
      <dgm:spPr>
        <a:solidFill>
          <a:srgbClr val="EE3228"/>
        </a:solidFill>
      </dgm:spPr>
    </dgm:pt>
    <dgm:pt modelId="{78237FA7-7A8C-4E02-803C-5B73CE1B939C}" type="pres">
      <dgm:prSet presAssocID="{8D9BEFF3-3C78-4718-A5AD-7BF99958A1E6}" presName="spaceB" presStyleCnt="0"/>
      <dgm:spPr/>
    </dgm:pt>
    <dgm:pt modelId="{F7819B04-A73C-4A37-99AF-26D8C6558081}" type="pres">
      <dgm:prSet presAssocID="{A4CE7954-7BDE-4BD5-BEF8-9D9B82CC2B37}" presName="space" presStyleCnt="0"/>
      <dgm:spPr/>
    </dgm:pt>
    <dgm:pt modelId="{BE01C5E2-5719-476D-B273-CA8FE54F8CD4}" type="pres">
      <dgm:prSet presAssocID="{419B8074-7AC4-4B13-B474-63A4E1FABD7E}" presName="compositeA" presStyleCnt="0"/>
      <dgm:spPr/>
    </dgm:pt>
    <dgm:pt modelId="{E2BE8CD9-D4CB-4C97-836A-1494B8E4A5F6}" type="pres">
      <dgm:prSet presAssocID="{419B8074-7AC4-4B13-B474-63A4E1FABD7E}" presName="textA" presStyleLbl="revTx" presStyleIdx="10" presStyleCnt="13">
        <dgm:presLayoutVars>
          <dgm:bulletEnabled val="1"/>
        </dgm:presLayoutVars>
      </dgm:prSet>
      <dgm:spPr/>
    </dgm:pt>
    <dgm:pt modelId="{7FB6FBFF-A7B0-41D1-B749-5B42CC63A311}" type="pres">
      <dgm:prSet presAssocID="{419B8074-7AC4-4B13-B474-63A4E1FABD7E}" presName="circleA" presStyleLbl="node1" presStyleIdx="10" presStyleCnt="13"/>
      <dgm:spPr>
        <a:solidFill>
          <a:srgbClr val="EE3228"/>
        </a:solidFill>
      </dgm:spPr>
    </dgm:pt>
    <dgm:pt modelId="{D2FCC8CF-23B7-49FB-92C5-0C01E1B1EE07}" type="pres">
      <dgm:prSet presAssocID="{419B8074-7AC4-4B13-B474-63A4E1FABD7E}" presName="spaceA" presStyleCnt="0"/>
      <dgm:spPr/>
    </dgm:pt>
    <dgm:pt modelId="{35148CD3-2FB1-4724-B468-37248976A35A}" type="pres">
      <dgm:prSet presAssocID="{63F5642C-D20C-48B4-B271-686FEA2C3995}" presName="space" presStyleCnt="0"/>
      <dgm:spPr/>
    </dgm:pt>
    <dgm:pt modelId="{F4D742EB-5B22-4E58-B58F-7835D5F4F5CB}" type="pres">
      <dgm:prSet presAssocID="{ABE24355-62FD-4A8D-8D8C-41AEDD3CDA7A}" presName="compositeB" presStyleCnt="0"/>
      <dgm:spPr/>
    </dgm:pt>
    <dgm:pt modelId="{9ACED34C-F763-45B4-B8E5-9B40BB2A2F83}" type="pres">
      <dgm:prSet presAssocID="{ABE24355-62FD-4A8D-8D8C-41AEDD3CDA7A}" presName="textB" presStyleLbl="revTx" presStyleIdx="11" presStyleCnt="13">
        <dgm:presLayoutVars>
          <dgm:bulletEnabled val="1"/>
        </dgm:presLayoutVars>
      </dgm:prSet>
      <dgm:spPr/>
    </dgm:pt>
    <dgm:pt modelId="{56D087FC-7597-43AE-B754-E61B1E09C90D}" type="pres">
      <dgm:prSet presAssocID="{ABE24355-62FD-4A8D-8D8C-41AEDD3CDA7A}" presName="circleB" presStyleLbl="node1" presStyleIdx="11" presStyleCnt="13"/>
      <dgm:spPr>
        <a:solidFill>
          <a:srgbClr val="EE3228"/>
        </a:solidFill>
      </dgm:spPr>
    </dgm:pt>
    <dgm:pt modelId="{88CD154C-0A9C-44FC-9DF2-EBCEB1C50CE7}" type="pres">
      <dgm:prSet presAssocID="{ABE24355-62FD-4A8D-8D8C-41AEDD3CDA7A}" presName="spaceB" presStyleCnt="0"/>
      <dgm:spPr/>
    </dgm:pt>
    <dgm:pt modelId="{EF57D572-8A9F-4795-9B3F-A730BC1012B7}" type="pres">
      <dgm:prSet presAssocID="{B89E968D-EBA8-48B2-9BFE-AB1A167AB00E}" presName="space" presStyleCnt="0"/>
      <dgm:spPr/>
    </dgm:pt>
    <dgm:pt modelId="{A44CD5B2-A5CF-4646-9457-BA223E5227DB}" type="pres">
      <dgm:prSet presAssocID="{88CC54D6-B89F-464B-8671-3D93AB7EBC09}" presName="compositeA" presStyleCnt="0"/>
      <dgm:spPr/>
    </dgm:pt>
    <dgm:pt modelId="{4B3FFDA9-183E-4253-B9C8-0CCDDD2A41D2}" type="pres">
      <dgm:prSet presAssocID="{88CC54D6-B89F-464B-8671-3D93AB7EBC09}" presName="textA" presStyleLbl="revTx" presStyleIdx="12" presStyleCnt="13">
        <dgm:presLayoutVars>
          <dgm:bulletEnabled val="1"/>
        </dgm:presLayoutVars>
      </dgm:prSet>
      <dgm:spPr/>
    </dgm:pt>
    <dgm:pt modelId="{536C66BA-4A20-4CF0-AEC8-CBBFC1AD1B3E}" type="pres">
      <dgm:prSet presAssocID="{88CC54D6-B89F-464B-8671-3D93AB7EBC09}" presName="circleA" presStyleLbl="node1" presStyleIdx="12" presStyleCnt="13"/>
      <dgm:spPr>
        <a:solidFill>
          <a:srgbClr val="EE3228"/>
        </a:solidFill>
      </dgm:spPr>
    </dgm:pt>
    <dgm:pt modelId="{5AE35AD1-02F9-4C13-A3A7-E7DAC60086EA}" type="pres">
      <dgm:prSet presAssocID="{88CC54D6-B89F-464B-8671-3D93AB7EBC09}" presName="spaceA" presStyleCnt="0"/>
      <dgm:spPr/>
    </dgm:pt>
  </dgm:ptLst>
  <dgm:cxnLst>
    <dgm:cxn modelId="{505A3815-35F7-4497-BBB2-29E36D3BBAFE}" type="presOf" srcId="{2D33C714-F094-4A79-835B-9C5EA0A19D10}" destId="{E6AB4F9F-58F2-4DA0-B555-B281216CD1DF}" srcOrd="0" destOrd="0" presId="urn:microsoft.com/office/officeart/2005/8/layout/hProcess11"/>
    <dgm:cxn modelId="{8CEBE41C-1D16-49EA-AAC6-48799984606C}" type="presOf" srcId="{42CC1DB1-2692-4A6F-9BF7-C816188D4592}" destId="{28CD05E7-B1E7-4968-AD07-17A752F664EC}" srcOrd="0" destOrd="0" presId="urn:microsoft.com/office/officeart/2005/8/layout/hProcess11"/>
    <dgm:cxn modelId="{075B7725-CF97-4082-8F0C-8848EFE84579}" srcId="{9F8CEBF2-2E3A-4E03-BB9A-282149A5D77C}" destId="{ABE24355-62FD-4A8D-8D8C-41AEDD3CDA7A}" srcOrd="11" destOrd="0" parTransId="{DE9A951F-B9DB-44A3-B982-FED2699E9760}" sibTransId="{B89E968D-EBA8-48B2-9BFE-AB1A167AB00E}"/>
    <dgm:cxn modelId="{C84A4929-1957-4C47-8428-9D78F914E44B}" srcId="{9F8CEBF2-2E3A-4E03-BB9A-282149A5D77C}" destId="{88CC54D6-B89F-464B-8671-3D93AB7EBC09}" srcOrd="12" destOrd="0" parTransId="{C64BE4BC-627F-4CE3-B2C9-6391DDEC1FDB}" sibTransId="{04A1ACD7-9B27-4196-8702-9316C979C934}"/>
    <dgm:cxn modelId="{50C0A967-7366-4733-B5B3-1148C08A041D}" type="presOf" srcId="{3233A7B8-C167-4237-8911-94E4041350E5}" destId="{8B57A02F-780C-4BEB-AAA9-A38E012EA9A1}" srcOrd="0" destOrd="0" presId="urn:microsoft.com/office/officeart/2005/8/layout/hProcess11"/>
    <dgm:cxn modelId="{C101F74E-35C0-4C18-A87B-7B6B2330E7EA}" type="presOf" srcId="{9F8CEBF2-2E3A-4E03-BB9A-282149A5D77C}" destId="{25BE3705-0C03-4AEC-A5C9-BA5C6F01D193}" srcOrd="0" destOrd="0" presId="urn:microsoft.com/office/officeart/2005/8/layout/hProcess11"/>
    <dgm:cxn modelId="{B7CEEE4F-E4A3-447E-ACBC-989CE3880AE0}" srcId="{9F8CEBF2-2E3A-4E03-BB9A-282149A5D77C}" destId="{C5BD3EE5-A83B-42BA-B0D6-92BEE0382BFE}" srcOrd="1" destOrd="0" parTransId="{64E593F3-8C8D-4658-95CA-C93092A54771}" sibTransId="{F9E31405-A97B-4086-B225-3B2A6CABB6C9}"/>
    <dgm:cxn modelId="{B0360450-B552-4A88-A21A-30B4916BA17A}" type="presOf" srcId="{ABE24355-62FD-4A8D-8D8C-41AEDD3CDA7A}" destId="{9ACED34C-F763-45B4-B8E5-9B40BB2A2F83}" srcOrd="0" destOrd="0" presId="urn:microsoft.com/office/officeart/2005/8/layout/hProcess11"/>
    <dgm:cxn modelId="{9E598755-5A53-44F2-A2B9-C3D7B8A71EFA}" srcId="{9F8CEBF2-2E3A-4E03-BB9A-282149A5D77C}" destId="{3233A7B8-C167-4237-8911-94E4041350E5}" srcOrd="2" destOrd="0" parTransId="{40852FE6-965B-47EF-9D1D-71B679BB3B17}" sibTransId="{FDE3BEA2-0930-4449-903A-7AFDE09A8000}"/>
    <dgm:cxn modelId="{2A03EE78-9D68-40A6-9619-7AF216945110}" srcId="{9F8CEBF2-2E3A-4E03-BB9A-282149A5D77C}" destId="{702BE1B1-EBF4-4608-8701-8F8A4CE9926A}" srcOrd="7" destOrd="0" parTransId="{FC92F143-C9F7-4D7F-8B76-A1898C923DC9}" sibTransId="{4356C31C-5CEB-457A-8837-871D8FAB60FF}"/>
    <dgm:cxn modelId="{EB44AD86-DA79-4AD1-976B-5CC9979A2062}" srcId="{9F8CEBF2-2E3A-4E03-BB9A-282149A5D77C}" destId="{419B8074-7AC4-4B13-B474-63A4E1FABD7E}" srcOrd="10" destOrd="0" parTransId="{82220545-7A75-48EF-8505-0B2D5E2AEFBE}" sibTransId="{63F5642C-D20C-48B4-B271-686FEA2C3995}"/>
    <dgm:cxn modelId="{7A780F88-46C3-4EA8-A84E-15BA31ED1D8E}" type="presOf" srcId="{7F600F17-E123-47C0-BC7D-CAE728A7ED15}" destId="{05C28E79-D4E5-486F-988B-8ECD8A757630}" srcOrd="0" destOrd="0" presId="urn:microsoft.com/office/officeart/2005/8/layout/hProcess11"/>
    <dgm:cxn modelId="{BF392791-F886-4F06-8A39-E06517B97DBE}" srcId="{9F8CEBF2-2E3A-4E03-BB9A-282149A5D77C}" destId="{42CC1DB1-2692-4A6F-9BF7-C816188D4592}" srcOrd="5" destOrd="0" parTransId="{D3FFCE2C-7D18-4D58-823A-407F069B5582}" sibTransId="{1367CC2F-54EE-46D2-8E67-6CC6393C8320}"/>
    <dgm:cxn modelId="{D4986E91-3384-4B92-8FB0-283B8A2D20C2}" srcId="{9F8CEBF2-2E3A-4E03-BB9A-282149A5D77C}" destId="{3B43A99A-8C84-4049-8A41-2A1C6F6A9376}" srcOrd="6" destOrd="0" parTransId="{C14F5F7A-910D-410D-AE9C-E2270E055E1A}" sibTransId="{C4D9E467-AFFD-49CA-9F7B-7F20C8BFFA7A}"/>
    <dgm:cxn modelId="{41BF1393-61B5-49C6-A69B-C9D9E9DFD912}" type="presOf" srcId="{C5BD3EE5-A83B-42BA-B0D6-92BEE0382BFE}" destId="{5F6DE521-F6B2-4A35-9FEC-081DFA690DCD}" srcOrd="0" destOrd="0" presId="urn:microsoft.com/office/officeart/2005/8/layout/hProcess11"/>
    <dgm:cxn modelId="{75B62E96-DC02-4151-BAB8-4C21660F0133}" type="presOf" srcId="{88CC54D6-B89F-464B-8671-3D93AB7EBC09}" destId="{4B3FFDA9-183E-4253-B9C8-0CCDDD2A41D2}" srcOrd="0" destOrd="0" presId="urn:microsoft.com/office/officeart/2005/8/layout/hProcess11"/>
    <dgm:cxn modelId="{8508629C-881B-4CAC-AA2E-6641630497FD}" type="presOf" srcId="{C9ECC495-E461-4212-B918-12C62F2F1AA8}" destId="{5F65ACE6-C4D8-4BB7-B256-BC05E94D0428}" srcOrd="0" destOrd="0" presId="urn:microsoft.com/office/officeart/2005/8/layout/hProcess11"/>
    <dgm:cxn modelId="{6BE636B9-9AE6-42EC-BC3E-72EEDA8E1A65}" srcId="{9F8CEBF2-2E3A-4E03-BB9A-282149A5D77C}" destId="{8D9BEFF3-3C78-4718-A5AD-7BF99958A1E6}" srcOrd="9" destOrd="0" parTransId="{00F4CA87-EA82-47F6-8755-2415F559A27D}" sibTransId="{A4CE7954-7BDE-4BD5-BEF8-9D9B82CC2B37}"/>
    <dgm:cxn modelId="{E94EB7C5-9744-42E2-AE60-799DC162F5AC}" srcId="{9F8CEBF2-2E3A-4E03-BB9A-282149A5D77C}" destId="{7F600F17-E123-47C0-BC7D-CAE728A7ED15}" srcOrd="4" destOrd="0" parTransId="{CCFC5126-456A-4170-B37A-92D0B11B8DE1}" sibTransId="{379EEBA7-4F39-48B9-9A5A-867A459E8521}"/>
    <dgm:cxn modelId="{A61901D2-94ED-4F95-8C12-991505F65313}" srcId="{9F8CEBF2-2E3A-4E03-BB9A-282149A5D77C}" destId="{C9ECC495-E461-4212-B918-12C62F2F1AA8}" srcOrd="3" destOrd="0" parTransId="{8B2D7B45-C493-4ECB-B688-D85894A1143F}" sibTransId="{ED15A481-39F4-4070-912C-DED8453DFF14}"/>
    <dgm:cxn modelId="{F585B8D5-2CDF-4642-8D6B-18EA206A7A8D}" type="presOf" srcId="{8439AEC3-9BC6-47C5-AB1D-11FD7AF7900C}" destId="{A5D89F72-E4A9-4F28-A397-903903684C16}" srcOrd="0" destOrd="0" presId="urn:microsoft.com/office/officeart/2005/8/layout/hProcess11"/>
    <dgm:cxn modelId="{D9DCD9DF-48DA-4488-87E4-95DB856C8B1E}" srcId="{9F8CEBF2-2E3A-4E03-BB9A-282149A5D77C}" destId="{8439AEC3-9BC6-47C5-AB1D-11FD7AF7900C}" srcOrd="0" destOrd="0" parTransId="{DCE1D1D2-2E8D-4993-986D-64692F8446B6}" sibTransId="{1AA0E5D5-F2FA-4E97-9B3F-14C70D79ECCE}"/>
    <dgm:cxn modelId="{497EF7E4-BA94-4FEA-AA0D-797FAD751B12}" type="presOf" srcId="{419B8074-7AC4-4B13-B474-63A4E1FABD7E}" destId="{E2BE8CD9-D4CB-4C97-836A-1494B8E4A5F6}" srcOrd="0" destOrd="0" presId="urn:microsoft.com/office/officeart/2005/8/layout/hProcess11"/>
    <dgm:cxn modelId="{DB4DFEE5-B62D-4CB4-AEA9-88D4DCAFCED3}" type="presOf" srcId="{3B43A99A-8C84-4049-8A41-2A1C6F6A9376}" destId="{8E4FF20C-6E85-40CD-9AD9-AF83ACBB30C4}" srcOrd="0" destOrd="0" presId="urn:microsoft.com/office/officeart/2005/8/layout/hProcess11"/>
    <dgm:cxn modelId="{254308E6-F4B5-4F68-9C44-744580FC93B3}" type="presOf" srcId="{702BE1B1-EBF4-4608-8701-8F8A4CE9926A}" destId="{E7AD48BF-951C-46B0-B23F-A14CE5E8830F}" srcOrd="0" destOrd="0" presId="urn:microsoft.com/office/officeart/2005/8/layout/hProcess11"/>
    <dgm:cxn modelId="{4B5918F5-3623-4506-9D69-597C62FE96F2}" srcId="{9F8CEBF2-2E3A-4E03-BB9A-282149A5D77C}" destId="{2D33C714-F094-4A79-835B-9C5EA0A19D10}" srcOrd="8" destOrd="0" parTransId="{AC73EA1B-7077-475E-965D-76ABF643008C}" sibTransId="{37639F2E-9FD0-4232-BD38-3D87E6A162D7}"/>
    <dgm:cxn modelId="{C9BE2FFF-1F14-4EEC-BBDB-8E171BDEFE36}" type="presOf" srcId="{8D9BEFF3-3C78-4718-A5AD-7BF99958A1E6}" destId="{597D87DE-C22A-4B5F-95EA-0B4F63C22896}" srcOrd="0" destOrd="0" presId="urn:microsoft.com/office/officeart/2005/8/layout/hProcess11"/>
    <dgm:cxn modelId="{651F404E-28E0-4C69-AA96-4B5100E0B661}" type="presParOf" srcId="{25BE3705-0C03-4AEC-A5C9-BA5C6F01D193}" destId="{B80A10C1-E974-4430-8366-0063126F5B0D}" srcOrd="0" destOrd="0" presId="urn:microsoft.com/office/officeart/2005/8/layout/hProcess11"/>
    <dgm:cxn modelId="{5F73FB8B-81DD-41C7-A998-59C687F77B91}" type="presParOf" srcId="{25BE3705-0C03-4AEC-A5C9-BA5C6F01D193}" destId="{A00312DB-3228-48D4-805E-E22F4B5BB5C6}" srcOrd="1" destOrd="0" presId="urn:microsoft.com/office/officeart/2005/8/layout/hProcess11"/>
    <dgm:cxn modelId="{457DF2DF-CA24-480D-8261-A5BADA82E346}" type="presParOf" srcId="{A00312DB-3228-48D4-805E-E22F4B5BB5C6}" destId="{6D92E2A2-20C0-4B3F-8D80-0F41A5B409A9}" srcOrd="0" destOrd="0" presId="urn:microsoft.com/office/officeart/2005/8/layout/hProcess11"/>
    <dgm:cxn modelId="{95BE41E3-0EDF-468B-8BCA-0851DDB0DB9F}" type="presParOf" srcId="{6D92E2A2-20C0-4B3F-8D80-0F41A5B409A9}" destId="{A5D89F72-E4A9-4F28-A397-903903684C16}" srcOrd="0" destOrd="0" presId="urn:microsoft.com/office/officeart/2005/8/layout/hProcess11"/>
    <dgm:cxn modelId="{AA2DC01E-B025-4F08-95FF-B57008E60C47}" type="presParOf" srcId="{6D92E2A2-20C0-4B3F-8D80-0F41A5B409A9}" destId="{D0684367-F33D-4F80-93A0-324E43F3386D}" srcOrd="1" destOrd="0" presId="urn:microsoft.com/office/officeart/2005/8/layout/hProcess11"/>
    <dgm:cxn modelId="{C526B476-B244-4D4B-A465-F9DCAA2B0386}" type="presParOf" srcId="{6D92E2A2-20C0-4B3F-8D80-0F41A5B409A9}" destId="{72A8AA2F-0C7B-45DC-A6D4-4B6059813F5D}" srcOrd="2" destOrd="0" presId="urn:microsoft.com/office/officeart/2005/8/layout/hProcess11"/>
    <dgm:cxn modelId="{04A2B7F5-67B2-498A-8A6F-F056A5F96161}" type="presParOf" srcId="{A00312DB-3228-48D4-805E-E22F4B5BB5C6}" destId="{C7AB5733-A1B2-4812-AD78-1394633F889C}" srcOrd="1" destOrd="0" presId="urn:microsoft.com/office/officeart/2005/8/layout/hProcess11"/>
    <dgm:cxn modelId="{C7B7A13E-3DDB-4BA3-A2DE-DD0D1057E8CC}" type="presParOf" srcId="{A00312DB-3228-48D4-805E-E22F4B5BB5C6}" destId="{D2235BFB-F800-4FF1-9938-78589A6A5FA8}" srcOrd="2" destOrd="0" presId="urn:microsoft.com/office/officeart/2005/8/layout/hProcess11"/>
    <dgm:cxn modelId="{32C6CB1B-1E3A-4451-871F-F20427FA95B9}" type="presParOf" srcId="{D2235BFB-F800-4FF1-9938-78589A6A5FA8}" destId="{5F6DE521-F6B2-4A35-9FEC-081DFA690DCD}" srcOrd="0" destOrd="0" presId="urn:microsoft.com/office/officeart/2005/8/layout/hProcess11"/>
    <dgm:cxn modelId="{E46D0BD7-05A7-4224-93CB-45DBCF5D9272}" type="presParOf" srcId="{D2235BFB-F800-4FF1-9938-78589A6A5FA8}" destId="{4CECD502-74B9-4DFE-8D42-F20D4A35A1F2}" srcOrd="1" destOrd="0" presId="urn:microsoft.com/office/officeart/2005/8/layout/hProcess11"/>
    <dgm:cxn modelId="{828A4DC9-F0A7-4387-B5E7-CD7B12A71A0D}" type="presParOf" srcId="{D2235BFB-F800-4FF1-9938-78589A6A5FA8}" destId="{53ACB5BB-B8CD-4B9F-88F7-87EFF5FB7717}" srcOrd="2" destOrd="0" presId="urn:microsoft.com/office/officeart/2005/8/layout/hProcess11"/>
    <dgm:cxn modelId="{29EBAE62-FCD5-47CB-BAC8-9CFCF28A4F17}" type="presParOf" srcId="{A00312DB-3228-48D4-805E-E22F4B5BB5C6}" destId="{4A9A2F57-B527-40D9-8E5E-277D3A7945D7}" srcOrd="3" destOrd="0" presId="urn:microsoft.com/office/officeart/2005/8/layout/hProcess11"/>
    <dgm:cxn modelId="{9B54BDBA-97FD-43BC-A55F-8C8235912D08}" type="presParOf" srcId="{A00312DB-3228-48D4-805E-E22F4B5BB5C6}" destId="{EA8EDCD2-F2A3-4C99-B7C6-44EDDC170996}" srcOrd="4" destOrd="0" presId="urn:microsoft.com/office/officeart/2005/8/layout/hProcess11"/>
    <dgm:cxn modelId="{0D29C7BC-8639-4D71-AE86-0EDE3C52E49A}" type="presParOf" srcId="{EA8EDCD2-F2A3-4C99-B7C6-44EDDC170996}" destId="{8B57A02F-780C-4BEB-AAA9-A38E012EA9A1}" srcOrd="0" destOrd="0" presId="urn:microsoft.com/office/officeart/2005/8/layout/hProcess11"/>
    <dgm:cxn modelId="{ECD9D9C1-68A4-4057-867A-5BDF6A25811C}" type="presParOf" srcId="{EA8EDCD2-F2A3-4C99-B7C6-44EDDC170996}" destId="{5C8E534A-EDCA-49A8-A65F-6B710C8D63DD}" srcOrd="1" destOrd="0" presId="urn:microsoft.com/office/officeart/2005/8/layout/hProcess11"/>
    <dgm:cxn modelId="{4320304F-F7D7-49F8-BC80-15F8371D3B5B}" type="presParOf" srcId="{EA8EDCD2-F2A3-4C99-B7C6-44EDDC170996}" destId="{DDA90344-6DB8-4E88-9819-E7B4212671AA}" srcOrd="2" destOrd="0" presId="urn:microsoft.com/office/officeart/2005/8/layout/hProcess11"/>
    <dgm:cxn modelId="{3AF18A68-6B7B-4F89-AF07-E8DFD81E2124}" type="presParOf" srcId="{A00312DB-3228-48D4-805E-E22F4B5BB5C6}" destId="{8F86CFCB-56E7-4FB9-9117-7C4DBD27BF0A}" srcOrd="5" destOrd="0" presId="urn:microsoft.com/office/officeart/2005/8/layout/hProcess11"/>
    <dgm:cxn modelId="{CE899D37-A320-4273-9AF1-ADEDC8CF6258}" type="presParOf" srcId="{A00312DB-3228-48D4-805E-E22F4B5BB5C6}" destId="{CE6E761B-15BD-442A-99D3-3D4AE00044C2}" srcOrd="6" destOrd="0" presId="urn:microsoft.com/office/officeart/2005/8/layout/hProcess11"/>
    <dgm:cxn modelId="{5D6FE42D-5CFB-4C63-B233-6340F2400724}" type="presParOf" srcId="{CE6E761B-15BD-442A-99D3-3D4AE00044C2}" destId="{5F65ACE6-C4D8-4BB7-B256-BC05E94D0428}" srcOrd="0" destOrd="0" presId="urn:microsoft.com/office/officeart/2005/8/layout/hProcess11"/>
    <dgm:cxn modelId="{069931F5-17BA-4AD8-9ACA-00392B1358C8}" type="presParOf" srcId="{CE6E761B-15BD-442A-99D3-3D4AE00044C2}" destId="{6A7663AB-DB8E-4306-9EE8-D2909B9C1A0F}" srcOrd="1" destOrd="0" presId="urn:microsoft.com/office/officeart/2005/8/layout/hProcess11"/>
    <dgm:cxn modelId="{A502E830-FD63-498C-8F4C-08F49DF9750C}" type="presParOf" srcId="{CE6E761B-15BD-442A-99D3-3D4AE00044C2}" destId="{3FA8D0BE-19A4-4C1A-BAE1-C143679F9599}" srcOrd="2" destOrd="0" presId="urn:microsoft.com/office/officeart/2005/8/layout/hProcess11"/>
    <dgm:cxn modelId="{91DB9DA7-7729-4DF4-87BF-2698CE5D85DE}" type="presParOf" srcId="{A00312DB-3228-48D4-805E-E22F4B5BB5C6}" destId="{41089F48-5DB1-49BA-B3EA-CE13E778E2CB}" srcOrd="7" destOrd="0" presId="urn:microsoft.com/office/officeart/2005/8/layout/hProcess11"/>
    <dgm:cxn modelId="{C72E6DD1-913E-4054-8872-8F9FAA3A41BA}" type="presParOf" srcId="{A00312DB-3228-48D4-805E-E22F4B5BB5C6}" destId="{17D6FD2D-C1C9-4BD8-BE36-1C98AA6B6178}" srcOrd="8" destOrd="0" presId="urn:microsoft.com/office/officeart/2005/8/layout/hProcess11"/>
    <dgm:cxn modelId="{AE030BDC-D659-4404-A029-4EC70F727280}" type="presParOf" srcId="{17D6FD2D-C1C9-4BD8-BE36-1C98AA6B6178}" destId="{05C28E79-D4E5-486F-988B-8ECD8A757630}" srcOrd="0" destOrd="0" presId="urn:microsoft.com/office/officeart/2005/8/layout/hProcess11"/>
    <dgm:cxn modelId="{9038BFFD-0ED0-49D1-9EC3-1AB44163E5EA}" type="presParOf" srcId="{17D6FD2D-C1C9-4BD8-BE36-1C98AA6B6178}" destId="{AE532651-358C-4C73-B9CB-F8AECB2A0C2B}" srcOrd="1" destOrd="0" presId="urn:microsoft.com/office/officeart/2005/8/layout/hProcess11"/>
    <dgm:cxn modelId="{6E9DCAA3-F65F-4AD4-BA9D-C21A6D7347B6}" type="presParOf" srcId="{17D6FD2D-C1C9-4BD8-BE36-1C98AA6B6178}" destId="{93F18258-6C1F-4E84-8B93-2F2516AA87DB}" srcOrd="2" destOrd="0" presId="urn:microsoft.com/office/officeart/2005/8/layout/hProcess11"/>
    <dgm:cxn modelId="{7CFA720E-66BA-47C6-B34D-EA2342381168}" type="presParOf" srcId="{A00312DB-3228-48D4-805E-E22F4B5BB5C6}" destId="{EA7AC877-F6AE-49CF-B329-4B26B2C20CA0}" srcOrd="9" destOrd="0" presId="urn:microsoft.com/office/officeart/2005/8/layout/hProcess11"/>
    <dgm:cxn modelId="{B51B4FB9-BE0B-43D2-A218-A8DF2ECF71DE}" type="presParOf" srcId="{A00312DB-3228-48D4-805E-E22F4B5BB5C6}" destId="{14FC7170-91A3-4D80-9E8A-DCB816A2ED87}" srcOrd="10" destOrd="0" presId="urn:microsoft.com/office/officeart/2005/8/layout/hProcess11"/>
    <dgm:cxn modelId="{34D37ED7-0AEA-4881-8E5B-306AAAF647FC}" type="presParOf" srcId="{14FC7170-91A3-4D80-9E8A-DCB816A2ED87}" destId="{28CD05E7-B1E7-4968-AD07-17A752F664EC}" srcOrd="0" destOrd="0" presId="urn:microsoft.com/office/officeart/2005/8/layout/hProcess11"/>
    <dgm:cxn modelId="{1AAA9F12-4AAA-4659-987E-81172A0B4388}" type="presParOf" srcId="{14FC7170-91A3-4D80-9E8A-DCB816A2ED87}" destId="{2775D6E8-C967-49F3-BDA2-9D05A782DE28}" srcOrd="1" destOrd="0" presId="urn:microsoft.com/office/officeart/2005/8/layout/hProcess11"/>
    <dgm:cxn modelId="{A1F617D9-F141-4215-B44B-653AE5F92606}" type="presParOf" srcId="{14FC7170-91A3-4D80-9E8A-DCB816A2ED87}" destId="{9807A7FE-B7F5-4BC0-B889-26EB8124FA5C}" srcOrd="2" destOrd="0" presId="urn:microsoft.com/office/officeart/2005/8/layout/hProcess11"/>
    <dgm:cxn modelId="{79CC8462-12AF-4DED-B14F-5376EE035137}" type="presParOf" srcId="{A00312DB-3228-48D4-805E-E22F4B5BB5C6}" destId="{4336F336-2F6A-4729-AEF1-57C4A8373C95}" srcOrd="11" destOrd="0" presId="urn:microsoft.com/office/officeart/2005/8/layout/hProcess11"/>
    <dgm:cxn modelId="{0B2442BB-9318-4EBE-8E02-113C37156E96}" type="presParOf" srcId="{A00312DB-3228-48D4-805E-E22F4B5BB5C6}" destId="{1003D92B-E048-4CBD-A1B4-75E47B7B7E00}" srcOrd="12" destOrd="0" presId="urn:microsoft.com/office/officeart/2005/8/layout/hProcess11"/>
    <dgm:cxn modelId="{932C847D-1BC9-443B-8689-756CF62F1CA4}" type="presParOf" srcId="{1003D92B-E048-4CBD-A1B4-75E47B7B7E00}" destId="{8E4FF20C-6E85-40CD-9AD9-AF83ACBB30C4}" srcOrd="0" destOrd="0" presId="urn:microsoft.com/office/officeart/2005/8/layout/hProcess11"/>
    <dgm:cxn modelId="{2011F2EB-599A-41FE-90B8-B2B620F21B70}" type="presParOf" srcId="{1003D92B-E048-4CBD-A1B4-75E47B7B7E00}" destId="{69107A70-F12D-4B51-A257-97712B001BF0}" srcOrd="1" destOrd="0" presId="urn:microsoft.com/office/officeart/2005/8/layout/hProcess11"/>
    <dgm:cxn modelId="{76F02F49-2A5A-40CD-B69C-8CC716932FDD}" type="presParOf" srcId="{1003D92B-E048-4CBD-A1B4-75E47B7B7E00}" destId="{33FDBCDD-586B-42A4-8B77-891488B1B5D9}" srcOrd="2" destOrd="0" presId="urn:microsoft.com/office/officeart/2005/8/layout/hProcess11"/>
    <dgm:cxn modelId="{4233D6C0-E297-4C09-9580-AD60B99FB1D1}" type="presParOf" srcId="{A00312DB-3228-48D4-805E-E22F4B5BB5C6}" destId="{2A63AFE9-A8B4-49D2-A64C-8E681D90ADDA}" srcOrd="13" destOrd="0" presId="urn:microsoft.com/office/officeart/2005/8/layout/hProcess11"/>
    <dgm:cxn modelId="{C0C44156-A167-4E61-9785-25DC176244AD}" type="presParOf" srcId="{A00312DB-3228-48D4-805E-E22F4B5BB5C6}" destId="{B3E08D67-3D8B-477B-92CD-E39FCBCF1016}" srcOrd="14" destOrd="0" presId="urn:microsoft.com/office/officeart/2005/8/layout/hProcess11"/>
    <dgm:cxn modelId="{543F3AE8-4286-4D08-B7AB-76A8A23DA434}" type="presParOf" srcId="{B3E08D67-3D8B-477B-92CD-E39FCBCF1016}" destId="{E7AD48BF-951C-46B0-B23F-A14CE5E8830F}" srcOrd="0" destOrd="0" presId="urn:microsoft.com/office/officeart/2005/8/layout/hProcess11"/>
    <dgm:cxn modelId="{2209F368-5BD0-4902-9F32-64081FBB7401}" type="presParOf" srcId="{B3E08D67-3D8B-477B-92CD-E39FCBCF1016}" destId="{8C665515-889C-4F52-9036-9D4C2CE8ABEA}" srcOrd="1" destOrd="0" presId="urn:microsoft.com/office/officeart/2005/8/layout/hProcess11"/>
    <dgm:cxn modelId="{FC4556F7-6724-4F71-AB6A-61A05394BA1E}" type="presParOf" srcId="{B3E08D67-3D8B-477B-92CD-E39FCBCF1016}" destId="{80793515-736C-4914-ACB1-F9D31CAABF8B}" srcOrd="2" destOrd="0" presId="urn:microsoft.com/office/officeart/2005/8/layout/hProcess11"/>
    <dgm:cxn modelId="{DF5DEAC1-2D0E-4B9A-A392-ABEE2C4A4863}" type="presParOf" srcId="{A00312DB-3228-48D4-805E-E22F4B5BB5C6}" destId="{8DB40514-8432-4AC4-B20B-A4540D677DB1}" srcOrd="15" destOrd="0" presId="urn:microsoft.com/office/officeart/2005/8/layout/hProcess11"/>
    <dgm:cxn modelId="{2151A703-D4B1-4704-96A2-CF06ABC62C77}" type="presParOf" srcId="{A00312DB-3228-48D4-805E-E22F4B5BB5C6}" destId="{EE0A5FB8-9235-4001-BFCC-11633732EEA2}" srcOrd="16" destOrd="0" presId="urn:microsoft.com/office/officeart/2005/8/layout/hProcess11"/>
    <dgm:cxn modelId="{64D0F790-598B-4F8D-9E46-DCA107B58F9A}" type="presParOf" srcId="{EE0A5FB8-9235-4001-BFCC-11633732EEA2}" destId="{E6AB4F9F-58F2-4DA0-B555-B281216CD1DF}" srcOrd="0" destOrd="0" presId="urn:microsoft.com/office/officeart/2005/8/layout/hProcess11"/>
    <dgm:cxn modelId="{C54E2456-05D8-4ED1-BD79-4BD198F9256D}" type="presParOf" srcId="{EE0A5FB8-9235-4001-BFCC-11633732EEA2}" destId="{6A8E5EC9-41E0-494C-91AB-1A4C16DB4987}" srcOrd="1" destOrd="0" presId="urn:microsoft.com/office/officeart/2005/8/layout/hProcess11"/>
    <dgm:cxn modelId="{B9BDA9D9-741D-4353-94D7-A70EAB6DB263}" type="presParOf" srcId="{EE0A5FB8-9235-4001-BFCC-11633732EEA2}" destId="{7540FD6B-B16E-4689-B3E2-9B5A3EF116A0}" srcOrd="2" destOrd="0" presId="urn:microsoft.com/office/officeart/2005/8/layout/hProcess11"/>
    <dgm:cxn modelId="{75CC6571-DD8A-466C-BAFE-965B546542D7}" type="presParOf" srcId="{A00312DB-3228-48D4-805E-E22F4B5BB5C6}" destId="{45AF90A4-1AF9-4BBF-BC58-2320D9DC3407}" srcOrd="17" destOrd="0" presId="urn:microsoft.com/office/officeart/2005/8/layout/hProcess11"/>
    <dgm:cxn modelId="{CA2BBB9D-156A-49FD-89C8-97C645DCD811}" type="presParOf" srcId="{A00312DB-3228-48D4-805E-E22F4B5BB5C6}" destId="{36B8AA88-8829-4733-917F-015C95333A16}" srcOrd="18" destOrd="0" presId="urn:microsoft.com/office/officeart/2005/8/layout/hProcess11"/>
    <dgm:cxn modelId="{AC401E77-6209-4036-9297-08D3615716EE}" type="presParOf" srcId="{36B8AA88-8829-4733-917F-015C95333A16}" destId="{597D87DE-C22A-4B5F-95EA-0B4F63C22896}" srcOrd="0" destOrd="0" presId="urn:microsoft.com/office/officeart/2005/8/layout/hProcess11"/>
    <dgm:cxn modelId="{7E4F4FBA-BBA9-494D-90B2-E13438FC7CC4}" type="presParOf" srcId="{36B8AA88-8829-4733-917F-015C95333A16}" destId="{6508F5B0-B2F0-4C25-BF61-8907D3B30F98}" srcOrd="1" destOrd="0" presId="urn:microsoft.com/office/officeart/2005/8/layout/hProcess11"/>
    <dgm:cxn modelId="{6906A69A-4739-428B-A80D-322B91C03C32}" type="presParOf" srcId="{36B8AA88-8829-4733-917F-015C95333A16}" destId="{78237FA7-7A8C-4E02-803C-5B73CE1B939C}" srcOrd="2" destOrd="0" presId="urn:microsoft.com/office/officeart/2005/8/layout/hProcess11"/>
    <dgm:cxn modelId="{D28DD278-4278-4474-905A-16E2EB5FD034}" type="presParOf" srcId="{A00312DB-3228-48D4-805E-E22F4B5BB5C6}" destId="{F7819B04-A73C-4A37-99AF-26D8C6558081}" srcOrd="19" destOrd="0" presId="urn:microsoft.com/office/officeart/2005/8/layout/hProcess11"/>
    <dgm:cxn modelId="{93BD9909-0438-4072-A6C5-8210A709B850}" type="presParOf" srcId="{A00312DB-3228-48D4-805E-E22F4B5BB5C6}" destId="{BE01C5E2-5719-476D-B273-CA8FE54F8CD4}" srcOrd="20" destOrd="0" presId="urn:microsoft.com/office/officeart/2005/8/layout/hProcess11"/>
    <dgm:cxn modelId="{98946E05-B849-4FDA-9F91-92F4BB08BD7C}" type="presParOf" srcId="{BE01C5E2-5719-476D-B273-CA8FE54F8CD4}" destId="{E2BE8CD9-D4CB-4C97-836A-1494B8E4A5F6}" srcOrd="0" destOrd="0" presId="urn:microsoft.com/office/officeart/2005/8/layout/hProcess11"/>
    <dgm:cxn modelId="{232C6E75-3815-4E9D-93B5-198425293F63}" type="presParOf" srcId="{BE01C5E2-5719-476D-B273-CA8FE54F8CD4}" destId="{7FB6FBFF-A7B0-41D1-B749-5B42CC63A311}" srcOrd="1" destOrd="0" presId="urn:microsoft.com/office/officeart/2005/8/layout/hProcess11"/>
    <dgm:cxn modelId="{5A89935E-DB4A-4ED3-BFCA-8C4098BF4EC8}" type="presParOf" srcId="{BE01C5E2-5719-476D-B273-CA8FE54F8CD4}" destId="{D2FCC8CF-23B7-49FB-92C5-0C01E1B1EE07}" srcOrd="2" destOrd="0" presId="urn:microsoft.com/office/officeart/2005/8/layout/hProcess11"/>
    <dgm:cxn modelId="{BF7075CB-76DE-4B68-BE36-F1D4879378BD}" type="presParOf" srcId="{A00312DB-3228-48D4-805E-E22F4B5BB5C6}" destId="{35148CD3-2FB1-4724-B468-37248976A35A}" srcOrd="21" destOrd="0" presId="urn:microsoft.com/office/officeart/2005/8/layout/hProcess11"/>
    <dgm:cxn modelId="{D6915A7B-E901-4166-93CC-D2DE8EF34FBE}" type="presParOf" srcId="{A00312DB-3228-48D4-805E-E22F4B5BB5C6}" destId="{F4D742EB-5B22-4E58-B58F-7835D5F4F5CB}" srcOrd="22" destOrd="0" presId="urn:microsoft.com/office/officeart/2005/8/layout/hProcess11"/>
    <dgm:cxn modelId="{518DA073-617F-4DA2-8583-2471C6BD2398}" type="presParOf" srcId="{F4D742EB-5B22-4E58-B58F-7835D5F4F5CB}" destId="{9ACED34C-F763-45B4-B8E5-9B40BB2A2F83}" srcOrd="0" destOrd="0" presId="urn:microsoft.com/office/officeart/2005/8/layout/hProcess11"/>
    <dgm:cxn modelId="{BC127A88-561A-4173-A4C5-0102E5DEB8C9}" type="presParOf" srcId="{F4D742EB-5B22-4E58-B58F-7835D5F4F5CB}" destId="{56D087FC-7597-43AE-B754-E61B1E09C90D}" srcOrd="1" destOrd="0" presId="urn:microsoft.com/office/officeart/2005/8/layout/hProcess11"/>
    <dgm:cxn modelId="{EA3BD6E7-572F-4AA1-8576-87CC8A031C5E}" type="presParOf" srcId="{F4D742EB-5B22-4E58-B58F-7835D5F4F5CB}" destId="{88CD154C-0A9C-44FC-9DF2-EBCEB1C50CE7}" srcOrd="2" destOrd="0" presId="urn:microsoft.com/office/officeart/2005/8/layout/hProcess11"/>
    <dgm:cxn modelId="{9CF3E3F7-6BEE-41E5-852F-D9141A09C931}" type="presParOf" srcId="{A00312DB-3228-48D4-805E-E22F4B5BB5C6}" destId="{EF57D572-8A9F-4795-9B3F-A730BC1012B7}" srcOrd="23" destOrd="0" presId="urn:microsoft.com/office/officeart/2005/8/layout/hProcess11"/>
    <dgm:cxn modelId="{8A88C01B-923E-491E-962A-2E04275CC75C}" type="presParOf" srcId="{A00312DB-3228-48D4-805E-E22F4B5BB5C6}" destId="{A44CD5B2-A5CF-4646-9457-BA223E5227DB}" srcOrd="24" destOrd="0" presId="urn:microsoft.com/office/officeart/2005/8/layout/hProcess11"/>
    <dgm:cxn modelId="{8DD120AA-FEFA-4A1B-9AC7-1A7EB65997A6}" type="presParOf" srcId="{A44CD5B2-A5CF-4646-9457-BA223E5227DB}" destId="{4B3FFDA9-183E-4253-B9C8-0CCDDD2A41D2}" srcOrd="0" destOrd="0" presId="urn:microsoft.com/office/officeart/2005/8/layout/hProcess11"/>
    <dgm:cxn modelId="{A64D47AA-FAB3-4791-9AAC-D26738D2A698}" type="presParOf" srcId="{A44CD5B2-A5CF-4646-9457-BA223E5227DB}" destId="{536C66BA-4A20-4CF0-AEC8-CBBFC1AD1B3E}" srcOrd="1" destOrd="0" presId="urn:microsoft.com/office/officeart/2005/8/layout/hProcess11"/>
    <dgm:cxn modelId="{C2D15DB0-B72F-4715-B39D-CD9C2D75A763}" type="presParOf" srcId="{A44CD5B2-A5CF-4646-9457-BA223E5227DB}" destId="{5AE35AD1-02F9-4C13-A3A7-E7DAC60086EA}"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74D4B73-5B32-4F83-8CCA-0C9FA9DCF27C}"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US"/>
        </a:p>
      </dgm:t>
    </dgm:pt>
    <dgm:pt modelId="{8C9574BD-09D2-4628-95CE-C36DE564A69A}">
      <dgm:prSet phldrT="[Text]"/>
      <dgm:spPr>
        <a:solidFill>
          <a:schemeClr val="accent3"/>
        </a:solidFill>
        <a:ln>
          <a:solidFill>
            <a:schemeClr val="bg1"/>
          </a:solidFill>
        </a:ln>
      </dgm:spPr>
      <dgm:t>
        <a:bodyPr/>
        <a:lstStyle/>
        <a:p>
          <a:r>
            <a:rPr lang="en-US" dirty="0">
              <a:latin typeface="Roboto" panose="02000000000000000000" pitchFamily="2" charset="0"/>
              <a:ea typeface="Roboto" panose="02000000000000000000" pitchFamily="2" charset="0"/>
              <a:cs typeface="Roboto" panose="02000000000000000000" pitchFamily="2" charset="0"/>
            </a:rPr>
            <a:t>Abnormality Occurs</a:t>
          </a:r>
        </a:p>
      </dgm:t>
    </dgm:pt>
    <dgm:pt modelId="{14D1DCAD-F584-4F61-96DA-2B8494297BAA}" type="parTrans" cxnId="{F7D0B119-B29C-48CB-B734-0848FBBB2635}">
      <dgm:prSet/>
      <dgm:spPr/>
      <dgm:t>
        <a:bodyPr/>
        <a:lstStyle/>
        <a:p>
          <a:endParaRPr lang="en-US"/>
        </a:p>
      </dgm:t>
    </dgm:pt>
    <dgm:pt modelId="{28D5CC07-F411-405F-912F-4E0FE9279C4B}" type="sibTrans" cxnId="{F7D0B119-B29C-48CB-B734-0848FBBB2635}">
      <dgm:prSet/>
      <dgm:spPr>
        <a:ln>
          <a:solidFill>
            <a:srgbClr val="7F7F7F"/>
          </a:solidFill>
        </a:ln>
      </dgm:spPr>
      <dgm:t>
        <a:bodyPr/>
        <a:lstStyle/>
        <a:p>
          <a:endParaRPr lang="en-US"/>
        </a:p>
      </dgm:t>
    </dgm:pt>
    <dgm:pt modelId="{6BA283C9-B30A-457A-A5AF-8C38057523F6}">
      <dgm:prSet phldrT="[Text]"/>
      <dgm:spPr>
        <a:solidFill>
          <a:schemeClr val="accent1"/>
        </a:solidFill>
        <a:ln>
          <a:solidFill>
            <a:schemeClr val="bg1"/>
          </a:solidFill>
        </a:ln>
      </dgm:spPr>
      <dgm:t>
        <a:bodyPr/>
        <a:lstStyle/>
        <a:p>
          <a:r>
            <a:rPr lang="en-US" dirty="0">
              <a:latin typeface="Roboto" panose="02000000000000000000" pitchFamily="2" charset="0"/>
              <a:ea typeface="Roboto" panose="02000000000000000000" pitchFamily="2" charset="0"/>
              <a:cs typeface="Roboto" panose="02000000000000000000" pitchFamily="2" charset="0"/>
            </a:rPr>
            <a:t>Discover Abnormality</a:t>
          </a:r>
        </a:p>
      </dgm:t>
    </dgm:pt>
    <dgm:pt modelId="{755F9060-A975-45F7-89C2-D1F39403AEE4}" type="parTrans" cxnId="{C5F50552-83FE-48C2-9206-2D2B60D19CD3}">
      <dgm:prSet/>
      <dgm:spPr/>
      <dgm:t>
        <a:bodyPr/>
        <a:lstStyle/>
        <a:p>
          <a:endParaRPr lang="en-US"/>
        </a:p>
      </dgm:t>
    </dgm:pt>
    <dgm:pt modelId="{500C02B1-FBBF-4493-B902-121402A80280}" type="sibTrans" cxnId="{C5F50552-83FE-48C2-9206-2D2B60D19CD3}">
      <dgm:prSet/>
      <dgm:spPr>
        <a:ln>
          <a:solidFill>
            <a:srgbClr val="7F7F7F"/>
          </a:solidFill>
        </a:ln>
      </dgm:spPr>
      <dgm:t>
        <a:bodyPr/>
        <a:lstStyle/>
        <a:p>
          <a:endParaRPr lang="en-US"/>
        </a:p>
      </dgm:t>
    </dgm:pt>
    <dgm:pt modelId="{E0BE63CC-772B-400D-84EA-302DC73C0C31}">
      <dgm:prSet phldrT="[Text]"/>
      <dgm:spPr>
        <a:solidFill>
          <a:schemeClr val="accent3"/>
        </a:solidFill>
        <a:ln>
          <a:solidFill>
            <a:schemeClr val="bg1"/>
          </a:solidFill>
        </a:ln>
      </dgm:spPr>
      <dgm:t>
        <a:bodyPr/>
        <a:lstStyle/>
        <a:p>
          <a:r>
            <a:rPr lang="en-US" dirty="0">
              <a:latin typeface="Roboto" panose="02000000000000000000" pitchFamily="2" charset="0"/>
              <a:ea typeface="Roboto" panose="02000000000000000000" pitchFamily="2" charset="0"/>
              <a:cs typeface="Roboto" panose="02000000000000000000" pitchFamily="2" charset="0"/>
            </a:rPr>
            <a:t>Identify Root Cause</a:t>
          </a:r>
        </a:p>
      </dgm:t>
    </dgm:pt>
    <dgm:pt modelId="{256B41F4-DF33-4C79-AFE1-B8F62AB538A5}" type="parTrans" cxnId="{2013DF47-2B0A-49D7-B09B-97C9F69B97AA}">
      <dgm:prSet/>
      <dgm:spPr/>
      <dgm:t>
        <a:bodyPr/>
        <a:lstStyle/>
        <a:p>
          <a:endParaRPr lang="en-US"/>
        </a:p>
      </dgm:t>
    </dgm:pt>
    <dgm:pt modelId="{0A11815E-705C-48FF-9E44-0E3BE700A93B}" type="sibTrans" cxnId="{2013DF47-2B0A-49D7-B09B-97C9F69B97AA}">
      <dgm:prSet/>
      <dgm:spPr>
        <a:ln>
          <a:solidFill>
            <a:srgbClr val="7F7F7F"/>
          </a:solidFill>
        </a:ln>
      </dgm:spPr>
      <dgm:t>
        <a:bodyPr/>
        <a:lstStyle/>
        <a:p>
          <a:endParaRPr lang="en-US"/>
        </a:p>
      </dgm:t>
    </dgm:pt>
    <dgm:pt modelId="{76C514BF-60EE-425E-B3F7-A1833E9279F6}">
      <dgm:prSet phldrT="[Text]"/>
      <dgm:spPr>
        <a:solidFill>
          <a:schemeClr val="accent3"/>
        </a:solidFill>
        <a:ln>
          <a:solidFill>
            <a:schemeClr val="bg1"/>
          </a:solidFill>
        </a:ln>
      </dgm:spPr>
      <dgm:t>
        <a:bodyPr/>
        <a:lstStyle/>
        <a:p>
          <a:r>
            <a:rPr lang="en-US" dirty="0">
              <a:latin typeface="Roboto" panose="02000000000000000000" pitchFamily="2" charset="0"/>
              <a:ea typeface="Roboto" panose="02000000000000000000" pitchFamily="2" charset="0"/>
              <a:cs typeface="Roboto" panose="02000000000000000000" pitchFamily="2" charset="0"/>
            </a:rPr>
            <a:t>Make Improvement (Countermeasure)</a:t>
          </a:r>
        </a:p>
      </dgm:t>
    </dgm:pt>
    <dgm:pt modelId="{01E62803-CD8A-4016-AAB3-57CDD738AD6A}" type="parTrans" cxnId="{51334F69-2E1A-4AB1-ACCA-2957367BCA1E}">
      <dgm:prSet/>
      <dgm:spPr/>
      <dgm:t>
        <a:bodyPr/>
        <a:lstStyle/>
        <a:p>
          <a:endParaRPr lang="en-US"/>
        </a:p>
      </dgm:t>
    </dgm:pt>
    <dgm:pt modelId="{7C02C4DD-6FF5-4641-BD2D-C52C2CBC06F2}" type="sibTrans" cxnId="{51334F69-2E1A-4AB1-ACCA-2957367BCA1E}">
      <dgm:prSet/>
      <dgm:spPr>
        <a:ln>
          <a:solidFill>
            <a:srgbClr val="7F7F7F"/>
          </a:solidFill>
        </a:ln>
      </dgm:spPr>
      <dgm:t>
        <a:bodyPr/>
        <a:lstStyle/>
        <a:p>
          <a:endParaRPr lang="en-US"/>
        </a:p>
      </dgm:t>
    </dgm:pt>
    <dgm:pt modelId="{5D7A3F09-24AB-4E48-8BAB-A991B8A6B276}">
      <dgm:prSet phldrT="[Text]"/>
      <dgm:spPr>
        <a:solidFill>
          <a:schemeClr val="accent3"/>
        </a:solidFill>
        <a:ln>
          <a:solidFill>
            <a:schemeClr val="bg1"/>
          </a:solidFill>
        </a:ln>
      </dgm:spPr>
      <dgm:t>
        <a:bodyPr/>
        <a:lstStyle/>
        <a:p>
          <a:r>
            <a:rPr lang="en-US" dirty="0">
              <a:latin typeface="Roboto" panose="02000000000000000000" pitchFamily="2" charset="0"/>
              <a:ea typeface="Roboto" panose="02000000000000000000" pitchFamily="2" charset="0"/>
              <a:cs typeface="Roboto" panose="02000000000000000000" pitchFamily="2" charset="0"/>
            </a:rPr>
            <a:t>Standardize Improvement</a:t>
          </a:r>
        </a:p>
      </dgm:t>
    </dgm:pt>
    <dgm:pt modelId="{388E4386-A116-4031-B3D6-DF5665AC3A2F}" type="parTrans" cxnId="{8E91CA57-C5A1-4959-A533-FBD98731FB76}">
      <dgm:prSet/>
      <dgm:spPr/>
      <dgm:t>
        <a:bodyPr/>
        <a:lstStyle/>
        <a:p>
          <a:endParaRPr lang="en-US"/>
        </a:p>
      </dgm:t>
    </dgm:pt>
    <dgm:pt modelId="{A2DC90ED-E030-4CBA-BEE0-58D7DDA39B8A}" type="sibTrans" cxnId="{8E91CA57-C5A1-4959-A533-FBD98731FB76}">
      <dgm:prSet/>
      <dgm:spPr>
        <a:ln>
          <a:solidFill>
            <a:srgbClr val="7F7F7F"/>
          </a:solidFill>
        </a:ln>
      </dgm:spPr>
      <dgm:t>
        <a:bodyPr/>
        <a:lstStyle/>
        <a:p>
          <a:endParaRPr lang="en-US"/>
        </a:p>
      </dgm:t>
    </dgm:pt>
    <dgm:pt modelId="{C04B5EE4-3478-4DD5-9624-60D95BA71AAB}" type="pres">
      <dgm:prSet presAssocID="{C74D4B73-5B32-4F83-8CCA-0C9FA9DCF27C}" presName="cycle" presStyleCnt="0">
        <dgm:presLayoutVars>
          <dgm:dir/>
          <dgm:resizeHandles val="exact"/>
        </dgm:presLayoutVars>
      </dgm:prSet>
      <dgm:spPr/>
    </dgm:pt>
    <dgm:pt modelId="{521CBDB7-6BB2-45CD-8A46-BF2DEC93447A}" type="pres">
      <dgm:prSet presAssocID="{8C9574BD-09D2-4628-95CE-C36DE564A69A}" presName="node" presStyleLbl="node1" presStyleIdx="0" presStyleCnt="5">
        <dgm:presLayoutVars>
          <dgm:bulletEnabled val="1"/>
        </dgm:presLayoutVars>
      </dgm:prSet>
      <dgm:spPr/>
    </dgm:pt>
    <dgm:pt modelId="{DC48D99A-A93E-4B77-B718-3CD8C8C0EA13}" type="pres">
      <dgm:prSet presAssocID="{8C9574BD-09D2-4628-95CE-C36DE564A69A}" presName="spNode" presStyleCnt="0"/>
      <dgm:spPr/>
    </dgm:pt>
    <dgm:pt modelId="{75B41429-74C2-4F67-A3F5-BA02CC155B62}" type="pres">
      <dgm:prSet presAssocID="{28D5CC07-F411-405F-912F-4E0FE9279C4B}" presName="sibTrans" presStyleLbl="sibTrans1D1" presStyleIdx="0" presStyleCnt="5"/>
      <dgm:spPr/>
    </dgm:pt>
    <dgm:pt modelId="{6C19DF87-D339-466E-ADE1-3368CCA3EDF2}" type="pres">
      <dgm:prSet presAssocID="{6BA283C9-B30A-457A-A5AF-8C38057523F6}" presName="node" presStyleLbl="node1" presStyleIdx="1" presStyleCnt="5">
        <dgm:presLayoutVars>
          <dgm:bulletEnabled val="1"/>
        </dgm:presLayoutVars>
      </dgm:prSet>
      <dgm:spPr/>
    </dgm:pt>
    <dgm:pt modelId="{8554384F-CE0E-4606-B2C3-FA0260AA11A8}" type="pres">
      <dgm:prSet presAssocID="{6BA283C9-B30A-457A-A5AF-8C38057523F6}" presName="spNode" presStyleCnt="0"/>
      <dgm:spPr/>
    </dgm:pt>
    <dgm:pt modelId="{5C121924-19EB-409A-A5EE-323D6ED0D05B}" type="pres">
      <dgm:prSet presAssocID="{500C02B1-FBBF-4493-B902-121402A80280}" presName="sibTrans" presStyleLbl="sibTrans1D1" presStyleIdx="1" presStyleCnt="5"/>
      <dgm:spPr/>
    </dgm:pt>
    <dgm:pt modelId="{2B185D14-AC14-4B5F-8A3D-A2D3216166AA}" type="pres">
      <dgm:prSet presAssocID="{E0BE63CC-772B-400D-84EA-302DC73C0C31}" presName="node" presStyleLbl="node1" presStyleIdx="2" presStyleCnt="5">
        <dgm:presLayoutVars>
          <dgm:bulletEnabled val="1"/>
        </dgm:presLayoutVars>
      </dgm:prSet>
      <dgm:spPr/>
    </dgm:pt>
    <dgm:pt modelId="{56A03175-8895-4F72-9A7E-4BF9A65D1B4A}" type="pres">
      <dgm:prSet presAssocID="{E0BE63CC-772B-400D-84EA-302DC73C0C31}" presName="spNode" presStyleCnt="0"/>
      <dgm:spPr/>
    </dgm:pt>
    <dgm:pt modelId="{5D4C7FD7-0256-4E28-BC74-E50F7E736104}" type="pres">
      <dgm:prSet presAssocID="{0A11815E-705C-48FF-9E44-0E3BE700A93B}" presName="sibTrans" presStyleLbl="sibTrans1D1" presStyleIdx="2" presStyleCnt="5"/>
      <dgm:spPr/>
    </dgm:pt>
    <dgm:pt modelId="{C961F893-B3BC-44EA-A6EE-A28F26FE14F4}" type="pres">
      <dgm:prSet presAssocID="{76C514BF-60EE-425E-B3F7-A1833E9279F6}" presName="node" presStyleLbl="node1" presStyleIdx="3" presStyleCnt="5">
        <dgm:presLayoutVars>
          <dgm:bulletEnabled val="1"/>
        </dgm:presLayoutVars>
      </dgm:prSet>
      <dgm:spPr/>
    </dgm:pt>
    <dgm:pt modelId="{82367424-567B-4E5D-8403-88C7DD6C1E9D}" type="pres">
      <dgm:prSet presAssocID="{76C514BF-60EE-425E-B3F7-A1833E9279F6}" presName="spNode" presStyleCnt="0"/>
      <dgm:spPr/>
    </dgm:pt>
    <dgm:pt modelId="{FB5018DC-E66D-4FC1-801F-5B919E3AEECE}" type="pres">
      <dgm:prSet presAssocID="{7C02C4DD-6FF5-4641-BD2D-C52C2CBC06F2}" presName="sibTrans" presStyleLbl="sibTrans1D1" presStyleIdx="3" presStyleCnt="5"/>
      <dgm:spPr/>
    </dgm:pt>
    <dgm:pt modelId="{D277FA3F-B038-42A9-A464-63229A24874E}" type="pres">
      <dgm:prSet presAssocID="{5D7A3F09-24AB-4E48-8BAB-A991B8A6B276}" presName="node" presStyleLbl="node1" presStyleIdx="4" presStyleCnt="5">
        <dgm:presLayoutVars>
          <dgm:bulletEnabled val="1"/>
        </dgm:presLayoutVars>
      </dgm:prSet>
      <dgm:spPr/>
    </dgm:pt>
    <dgm:pt modelId="{BD66B3F6-D33E-4967-AEE7-2A0257F3B957}" type="pres">
      <dgm:prSet presAssocID="{5D7A3F09-24AB-4E48-8BAB-A991B8A6B276}" presName="spNode" presStyleCnt="0"/>
      <dgm:spPr/>
    </dgm:pt>
    <dgm:pt modelId="{F9512622-4717-43DA-85F9-9B9D9B5C0646}" type="pres">
      <dgm:prSet presAssocID="{A2DC90ED-E030-4CBA-BEE0-58D7DDA39B8A}" presName="sibTrans" presStyleLbl="sibTrans1D1" presStyleIdx="4" presStyleCnt="5"/>
      <dgm:spPr/>
    </dgm:pt>
  </dgm:ptLst>
  <dgm:cxnLst>
    <dgm:cxn modelId="{F7D0B119-B29C-48CB-B734-0848FBBB2635}" srcId="{C74D4B73-5B32-4F83-8CCA-0C9FA9DCF27C}" destId="{8C9574BD-09D2-4628-95CE-C36DE564A69A}" srcOrd="0" destOrd="0" parTransId="{14D1DCAD-F584-4F61-96DA-2B8494297BAA}" sibTransId="{28D5CC07-F411-405F-912F-4E0FE9279C4B}"/>
    <dgm:cxn modelId="{95825440-4C15-4501-9491-B019B1ED1449}" type="presOf" srcId="{28D5CC07-F411-405F-912F-4E0FE9279C4B}" destId="{75B41429-74C2-4F67-A3F5-BA02CC155B62}" srcOrd="0" destOrd="0" presId="urn:microsoft.com/office/officeart/2005/8/layout/cycle5"/>
    <dgm:cxn modelId="{A396C05F-EFC0-4EBA-B1D1-0415DA9EBEB2}" type="presOf" srcId="{6BA283C9-B30A-457A-A5AF-8C38057523F6}" destId="{6C19DF87-D339-466E-ADE1-3368CCA3EDF2}" srcOrd="0" destOrd="0" presId="urn:microsoft.com/office/officeart/2005/8/layout/cycle5"/>
    <dgm:cxn modelId="{AD130165-D5BE-4D3B-AF58-DF0846B4C46E}" type="presOf" srcId="{8C9574BD-09D2-4628-95CE-C36DE564A69A}" destId="{521CBDB7-6BB2-45CD-8A46-BF2DEC93447A}" srcOrd="0" destOrd="0" presId="urn:microsoft.com/office/officeart/2005/8/layout/cycle5"/>
    <dgm:cxn modelId="{2013DF47-2B0A-49D7-B09B-97C9F69B97AA}" srcId="{C74D4B73-5B32-4F83-8CCA-0C9FA9DCF27C}" destId="{E0BE63CC-772B-400D-84EA-302DC73C0C31}" srcOrd="2" destOrd="0" parTransId="{256B41F4-DF33-4C79-AFE1-B8F62AB538A5}" sibTransId="{0A11815E-705C-48FF-9E44-0E3BE700A93B}"/>
    <dgm:cxn modelId="{51334F69-2E1A-4AB1-ACCA-2957367BCA1E}" srcId="{C74D4B73-5B32-4F83-8CCA-0C9FA9DCF27C}" destId="{76C514BF-60EE-425E-B3F7-A1833E9279F6}" srcOrd="3" destOrd="0" parTransId="{01E62803-CD8A-4016-AAB3-57CDD738AD6A}" sibTransId="{7C02C4DD-6FF5-4641-BD2D-C52C2CBC06F2}"/>
    <dgm:cxn modelId="{6CFA626D-845D-4FB6-8222-3D38E879293C}" type="presOf" srcId="{76C514BF-60EE-425E-B3F7-A1833E9279F6}" destId="{C961F893-B3BC-44EA-A6EE-A28F26FE14F4}" srcOrd="0" destOrd="0" presId="urn:microsoft.com/office/officeart/2005/8/layout/cycle5"/>
    <dgm:cxn modelId="{5F73BB71-228D-4220-81B4-FC38BB735618}" type="presOf" srcId="{C74D4B73-5B32-4F83-8CCA-0C9FA9DCF27C}" destId="{C04B5EE4-3478-4DD5-9624-60D95BA71AAB}" srcOrd="0" destOrd="0" presId="urn:microsoft.com/office/officeart/2005/8/layout/cycle5"/>
    <dgm:cxn modelId="{C5F50552-83FE-48C2-9206-2D2B60D19CD3}" srcId="{C74D4B73-5B32-4F83-8CCA-0C9FA9DCF27C}" destId="{6BA283C9-B30A-457A-A5AF-8C38057523F6}" srcOrd="1" destOrd="0" parTransId="{755F9060-A975-45F7-89C2-D1F39403AEE4}" sibTransId="{500C02B1-FBBF-4493-B902-121402A80280}"/>
    <dgm:cxn modelId="{8E91CA57-C5A1-4959-A533-FBD98731FB76}" srcId="{C74D4B73-5B32-4F83-8CCA-0C9FA9DCF27C}" destId="{5D7A3F09-24AB-4E48-8BAB-A991B8A6B276}" srcOrd="4" destOrd="0" parTransId="{388E4386-A116-4031-B3D6-DF5665AC3A2F}" sibTransId="{A2DC90ED-E030-4CBA-BEE0-58D7DDA39B8A}"/>
    <dgm:cxn modelId="{3DF7CC91-982D-4856-90C3-592948D6B106}" type="presOf" srcId="{7C02C4DD-6FF5-4641-BD2D-C52C2CBC06F2}" destId="{FB5018DC-E66D-4FC1-801F-5B919E3AEECE}" srcOrd="0" destOrd="0" presId="urn:microsoft.com/office/officeart/2005/8/layout/cycle5"/>
    <dgm:cxn modelId="{943EF79A-1075-4503-A105-CD8142038B8A}" type="presOf" srcId="{A2DC90ED-E030-4CBA-BEE0-58D7DDA39B8A}" destId="{F9512622-4717-43DA-85F9-9B9D9B5C0646}" srcOrd="0" destOrd="0" presId="urn:microsoft.com/office/officeart/2005/8/layout/cycle5"/>
    <dgm:cxn modelId="{D22A6BAE-9436-46A4-AF38-BEB1504D2E83}" type="presOf" srcId="{5D7A3F09-24AB-4E48-8BAB-A991B8A6B276}" destId="{D277FA3F-B038-42A9-A464-63229A24874E}" srcOrd="0" destOrd="0" presId="urn:microsoft.com/office/officeart/2005/8/layout/cycle5"/>
    <dgm:cxn modelId="{DFF20BB1-DE73-4F83-AD99-3B9692870A66}" type="presOf" srcId="{500C02B1-FBBF-4493-B902-121402A80280}" destId="{5C121924-19EB-409A-A5EE-323D6ED0D05B}" srcOrd="0" destOrd="0" presId="urn:microsoft.com/office/officeart/2005/8/layout/cycle5"/>
    <dgm:cxn modelId="{0889ECB8-9685-4C80-BC4A-161913EDF6D0}" type="presOf" srcId="{E0BE63CC-772B-400D-84EA-302DC73C0C31}" destId="{2B185D14-AC14-4B5F-8A3D-A2D3216166AA}" srcOrd="0" destOrd="0" presId="urn:microsoft.com/office/officeart/2005/8/layout/cycle5"/>
    <dgm:cxn modelId="{194E75BF-86C1-4DB0-8C64-F526B77ACB25}" type="presOf" srcId="{0A11815E-705C-48FF-9E44-0E3BE700A93B}" destId="{5D4C7FD7-0256-4E28-BC74-E50F7E736104}" srcOrd="0" destOrd="0" presId="urn:microsoft.com/office/officeart/2005/8/layout/cycle5"/>
    <dgm:cxn modelId="{B3FCDB72-5D00-43B5-94EE-73CA3E80C981}" type="presParOf" srcId="{C04B5EE4-3478-4DD5-9624-60D95BA71AAB}" destId="{521CBDB7-6BB2-45CD-8A46-BF2DEC93447A}" srcOrd="0" destOrd="0" presId="urn:microsoft.com/office/officeart/2005/8/layout/cycle5"/>
    <dgm:cxn modelId="{3BF8D09A-FBC3-4CC8-B659-7C9805DDEF8F}" type="presParOf" srcId="{C04B5EE4-3478-4DD5-9624-60D95BA71AAB}" destId="{DC48D99A-A93E-4B77-B718-3CD8C8C0EA13}" srcOrd="1" destOrd="0" presId="urn:microsoft.com/office/officeart/2005/8/layout/cycle5"/>
    <dgm:cxn modelId="{A234CB4F-3384-44E5-8BD4-CA2F3F2CB2DD}" type="presParOf" srcId="{C04B5EE4-3478-4DD5-9624-60D95BA71AAB}" destId="{75B41429-74C2-4F67-A3F5-BA02CC155B62}" srcOrd="2" destOrd="0" presId="urn:microsoft.com/office/officeart/2005/8/layout/cycle5"/>
    <dgm:cxn modelId="{6D27DD3B-D9AA-4258-88F8-9DE2E65BF4A2}" type="presParOf" srcId="{C04B5EE4-3478-4DD5-9624-60D95BA71AAB}" destId="{6C19DF87-D339-466E-ADE1-3368CCA3EDF2}" srcOrd="3" destOrd="0" presId="urn:microsoft.com/office/officeart/2005/8/layout/cycle5"/>
    <dgm:cxn modelId="{1AA8D6CF-9513-45A0-8B65-BACFF310F643}" type="presParOf" srcId="{C04B5EE4-3478-4DD5-9624-60D95BA71AAB}" destId="{8554384F-CE0E-4606-B2C3-FA0260AA11A8}" srcOrd="4" destOrd="0" presId="urn:microsoft.com/office/officeart/2005/8/layout/cycle5"/>
    <dgm:cxn modelId="{CB348871-671E-44E2-B37D-B29621162EC5}" type="presParOf" srcId="{C04B5EE4-3478-4DD5-9624-60D95BA71AAB}" destId="{5C121924-19EB-409A-A5EE-323D6ED0D05B}" srcOrd="5" destOrd="0" presId="urn:microsoft.com/office/officeart/2005/8/layout/cycle5"/>
    <dgm:cxn modelId="{C3A55484-CF15-49B2-9C30-226E454B275F}" type="presParOf" srcId="{C04B5EE4-3478-4DD5-9624-60D95BA71AAB}" destId="{2B185D14-AC14-4B5F-8A3D-A2D3216166AA}" srcOrd="6" destOrd="0" presId="urn:microsoft.com/office/officeart/2005/8/layout/cycle5"/>
    <dgm:cxn modelId="{972B7506-F325-40CF-8D05-030EB1688E1B}" type="presParOf" srcId="{C04B5EE4-3478-4DD5-9624-60D95BA71AAB}" destId="{56A03175-8895-4F72-9A7E-4BF9A65D1B4A}" srcOrd="7" destOrd="0" presId="urn:microsoft.com/office/officeart/2005/8/layout/cycle5"/>
    <dgm:cxn modelId="{78721E82-C9C4-4255-844E-4EEB07781C65}" type="presParOf" srcId="{C04B5EE4-3478-4DD5-9624-60D95BA71AAB}" destId="{5D4C7FD7-0256-4E28-BC74-E50F7E736104}" srcOrd="8" destOrd="0" presId="urn:microsoft.com/office/officeart/2005/8/layout/cycle5"/>
    <dgm:cxn modelId="{2E0E4995-ACE9-41F3-8400-EC03F452D85A}" type="presParOf" srcId="{C04B5EE4-3478-4DD5-9624-60D95BA71AAB}" destId="{C961F893-B3BC-44EA-A6EE-A28F26FE14F4}" srcOrd="9" destOrd="0" presId="urn:microsoft.com/office/officeart/2005/8/layout/cycle5"/>
    <dgm:cxn modelId="{BDD9A3BE-ABF6-4287-ABE8-4DA7F6782560}" type="presParOf" srcId="{C04B5EE4-3478-4DD5-9624-60D95BA71AAB}" destId="{82367424-567B-4E5D-8403-88C7DD6C1E9D}" srcOrd="10" destOrd="0" presId="urn:microsoft.com/office/officeart/2005/8/layout/cycle5"/>
    <dgm:cxn modelId="{497C6106-E430-4FA0-8484-A135CE3C3389}" type="presParOf" srcId="{C04B5EE4-3478-4DD5-9624-60D95BA71AAB}" destId="{FB5018DC-E66D-4FC1-801F-5B919E3AEECE}" srcOrd="11" destOrd="0" presId="urn:microsoft.com/office/officeart/2005/8/layout/cycle5"/>
    <dgm:cxn modelId="{D99F8B14-9809-4821-9259-2BEC984A4027}" type="presParOf" srcId="{C04B5EE4-3478-4DD5-9624-60D95BA71AAB}" destId="{D277FA3F-B038-42A9-A464-63229A24874E}" srcOrd="12" destOrd="0" presId="urn:microsoft.com/office/officeart/2005/8/layout/cycle5"/>
    <dgm:cxn modelId="{D47A4AD2-946D-4442-8DA7-A813D71156F8}" type="presParOf" srcId="{C04B5EE4-3478-4DD5-9624-60D95BA71AAB}" destId="{BD66B3F6-D33E-4967-AEE7-2A0257F3B957}" srcOrd="13" destOrd="0" presId="urn:microsoft.com/office/officeart/2005/8/layout/cycle5"/>
    <dgm:cxn modelId="{A176B875-1B30-46CA-B8E5-AD70E7F6A012}" type="presParOf" srcId="{C04B5EE4-3478-4DD5-9624-60D95BA71AAB}" destId="{F9512622-4717-43DA-85F9-9B9D9B5C0646}" srcOrd="14" destOrd="0" presId="urn:microsoft.com/office/officeart/2005/8/layout/cycle5"/>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0A10C1-E974-4430-8366-0063126F5B0D}">
      <dsp:nvSpPr>
        <dsp:cNvPr id="0" name=""/>
        <dsp:cNvSpPr/>
      </dsp:nvSpPr>
      <dsp:spPr>
        <a:xfrm>
          <a:off x="0" y="1304227"/>
          <a:ext cx="11561897" cy="1738970"/>
        </a:xfrm>
        <a:prstGeom prst="notchedRightArrow">
          <a:avLst/>
        </a:prstGeom>
        <a:solidFill>
          <a:srgbClr val="222222"/>
        </a:solidFill>
        <a:ln>
          <a:solidFill>
            <a:schemeClr val="tx1"/>
          </a:solidFill>
        </a:ln>
        <a:effectLst/>
      </dsp:spPr>
      <dsp:style>
        <a:lnRef idx="0">
          <a:scrgbClr r="0" g="0" b="0"/>
        </a:lnRef>
        <a:fillRef idx="1">
          <a:scrgbClr r="0" g="0" b="0"/>
        </a:fillRef>
        <a:effectRef idx="0">
          <a:scrgbClr r="0" g="0" b="0"/>
        </a:effectRef>
        <a:fontRef idx="minor"/>
      </dsp:style>
    </dsp:sp>
    <dsp:sp modelId="{A5D89F72-E4A9-4F28-A397-903903684C16}">
      <dsp:nvSpPr>
        <dsp:cNvPr id="0" name=""/>
        <dsp:cNvSpPr/>
      </dsp:nvSpPr>
      <dsp:spPr>
        <a:xfrm>
          <a:off x="3048"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2">
                  <a:lumMod val="10000"/>
                </a:schemeClr>
              </a:solidFill>
            </a:rPr>
            <a:t>1850</a:t>
          </a:r>
        </a:p>
      </dsp:txBody>
      <dsp:txXfrm>
        <a:off x="3048" y="0"/>
        <a:ext cx="764677" cy="1738970"/>
      </dsp:txXfrm>
    </dsp:sp>
    <dsp:sp modelId="{D0684367-F33D-4F80-93A0-324E43F3386D}">
      <dsp:nvSpPr>
        <dsp:cNvPr id="0" name=""/>
        <dsp:cNvSpPr/>
      </dsp:nvSpPr>
      <dsp:spPr>
        <a:xfrm>
          <a:off x="168015"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6DE521-F6B2-4A35-9FEC-081DFA690DCD}">
      <dsp:nvSpPr>
        <dsp:cNvPr id="0" name=""/>
        <dsp:cNvSpPr/>
      </dsp:nvSpPr>
      <dsp:spPr>
        <a:xfrm>
          <a:off x="805959"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805959" y="2608455"/>
        <a:ext cx="764677" cy="1738970"/>
      </dsp:txXfrm>
    </dsp:sp>
    <dsp:sp modelId="{4CECD502-74B9-4DFE-8D42-F20D4A35A1F2}">
      <dsp:nvSpPr>
        <dsp:cNvPr id="0" name=""/>
        <dsp:cNvSpPr/>
      </dsp:nvSpPr>
      <dsp:spPr>
        <a:xfrm>
          <a:off x="970926"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57A02F-780C-4BEB-AAA9-A38E012EA9A1}">
      <dsp:nvSpPr>
        <dsp:cNvPr id="0" name=""/>
        <dsp:cNvSpPr/>
      </dsp:nvSpPr>
      <dsp:spPr>
        <a:xfrm>
          <a:off x="1608870"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1608870" y="0"/>
        <a:ext cx="764677" cy="1738970"/>
      </dsp:txXfrm>
    </dsp:sp>
    <dsp:sp modelId="{5C8E534A-EDCA-49A8-A65F-6B710C8D63DD}">
      <dsp:nvSpPr>
        <dsp:cNvPr id="0" name=""/>
        <dsp:cNvSpPr/>
      </dsp:nvSpPr>
      <dsp:spPr>
        <a:xfrm>
          <a:off x="1773838"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65ACE6-C4D8-4BB7-B256-BC05E94D0428}">
      <dsp:nvSpPr>
        <dsp:cNvPr id="0" name=""/>
        <dsp:cNvSpPr/>
      </dsp:nvSpPr>
      <dsp:spPr>
        <a:xfrm>
          <a:off x="2411781"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2411781" y="2608455"/>
        <a:ext cx="764677" cy="1738970"/>
      </dsp:txXfrm>
    </dsp:sp>
    <dsp:sp modelId="{6A7663AB-DB8E-4306-9EE8-D2909B9C1A0F}">
      <dsp:nvSpPr>
        <dsp:cNvPr id="0" name=""/>
        <dsp:cNvSpPr/>
      </dsp:nvSpPr>
      <dsp:spPr>
        <a:xfrm>
          <a:off x="2576749"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C28E79-D4E5-486F-988B-8ECD8A757630}">
      <dsp:nvSpPr>
        <dsp:cNvPr id="0" name=""/>
        <dsp:cNvSpPr/>
      </dsp:nvSpPr>
      <dsp:spPr>
        <a:xfrm>
          <a:off x="3214692"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2">
                  <a:lumMod val="10000"/>
                </a:schemeClr>
              </a:solidFill>
            </a:rPr>
            <a:t>1900</a:t>
          </a:r>
        </a:p>
      </dsp:txBody>
      <dsp:txXfrm>
        <a:off x="3214692" y="0"/>
        <a:ext cx="764677" cy="1738970"/>
      </dsp:txXfrm>
    </dsp:sp>
    <dsp:sp modelId="{AE532651-358C-4C73-B9CB-F8AECB2A0C2B}">
      <dsp:nvSpPr>
        <dsp:cNvPr id="0" name=""/>
        <dsp:cNvSpPr/>
      </dsp:nvSpPr>
      <dsp:spPr>
        <a:xfrm>
          <a:off x="3379660"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CD05E7-B1E7-4968-AD07-17A752F664EC}">
      <dsp:nvSpPr>
        <dsp:cNvPr id="0" name=""/>
        <dsp:cNvSpPr/>
      </dsp:nvSpPr>
      <dsp:spPr>
        <a:xfrm>
          <a:off x="4017603"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4017603" y="2608455"/>
        <a:ext cx="764677" cy="1738970"/>
      </dsp:txXfrm>
    </dsp:sp>
    <dsp:sp modelId="{2775D6E8-C967-49F3-BDA2-9D05A782DE28}">
      <dsp:nvSpPr>
        <dsp:cNvPr id="0" name=""/>
        <dsp:cNvSpPr/>
      </dsp:nvSpPr>
      <dsp:spPr>
        <a:xfrm>
          <a:off x="4182571"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4FF20C-6E85-40CD-9AD9-AF83ACBB30C4}">
      <dsp:nvSpPr>
        <dsp:cNvPr id="0" name=""/>
        <dsp:cNvSpPr/>
      </dsp:nvSpPr>
      <dsp:spPr>
        <a:xfrm>
          <a:off x="4820515"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4820515" y="0"/>
        <a:ext cx="764677" cy="1738970"/>
      </dsp:txXfrm>
    </dsp:sp>
    <dsp:sp modelId="{69107A70-F12D-4B51-A257-97712B001BF0}">
      <dsp:nvSpPr>
        <dsp:cNvPr id="0" name=""/>
        <dsp:cNvSpPr/>
      </dsp:nvSpPr>
      <dsp:spPr>
        <a:xfrm>
          <a:off x="4985482"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AD48BF-951C-46B0-B23F-A14CE5E8830F}">
      <dsp:nvSpPr>
        <dsp:cNvPr id="0" name=""/>
        <dsp:cNvSpPr/>
      </dsp:nvSpPr>
      <dsp:spPr>
        <a:xfrm>
          <a:off x="5623426"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5623426" y="2608455"/>
        <a:ext cx="764677" cy="1738970"/>
      </dsp:txXfrm>
    </dsp:sp>
    <dsp:sp modelId="{8C665515-889C-4F52-9036-9D4C2CE8ABEA}">
      <dsp:nvSpPr>
        <dsp:cNvPr id="0" name=""/>
        <dsp:cNvSpPr/>
      </dsp:nvSpPr>
      <dsp:spPr>
        <a:xfrm>
          <a:off x="5788393"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AB4F9F-58F2-4DA0-B555-B281216CD1DF}">
      <dsp:nvSpPr>
        <dsp:cNvPr id="0" name=""/>
        <dsp:cNvSpPr/>
      </dsp:nvSpPr>
      <dsp:spPr>
        <a:xfrm>
          <a:off x="6426337"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2">
                  <a:lumMod val="10000"/>
                </a:schemeClr>
              </a:solidFill>
            </a:rPr>
            <a:t>1950</a:t>
          </a:r>
        </a:p>
      </dsp:txBody>
      <dsp:txXfrm>
        <a:off x="6426337" y="0"/>
        <a:ext cx="764677" cy="1738970"/>
      </dsp:txXfrm>
    </dsp:sp>
    <dsp:sp modelId="{6A8E5EC9-41E0-494C-91AB-1A4C16DB4987}">
      <dsp:nvSpPr>
        <dsp:cNvPr id="0" name=""/>
        <dsp:cNvSpPr/>
      </dsp:nvSpPr>
      <dsp:spPr>
        <a:xfrm>
          <a:off x="6591304"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7D87DE-C22A-4B5F-95EA-0B4F63C22896}">
      <dsp:nvSpPr>
        <dsp:cNvPr id="0" name=""/>
        <dsp:cNvSpPr/>
      </dsp:nvSpPr>
      <dsp:spPr>
        <a:xfrm>
          <a:off x="7229248"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7229248" y="2608455"/>
        <a:ext cx="764677" cy="1738970"/>
      </dsp:txXfrm>
    </dsp:sp>
    <dsp:sp modelId="{6508F5B0-B2F0-4C25-BF61-8907D3B30F98}">
      <dsp:nvSpPr>
        <dsp:cNvPr id="0" name=""/>
        <dsp:cNvSpPr/>
      </dsp:nvSpPr>
      <dsp:spPr>
        <a:xfrm>
          <a:off x="7394215"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BE8CD9-D4CB-4C97-836A-1494B8E4A5F6}">
      <dsp:nvSpPr>
        <dsp:cNvPr id="0" name=""/>
        <dsp:cNvSpPr/>
      </dsp:nvSpPr>
      <dsp:spPr>
        <a:xfrm>
          <a:off x="8032159"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8032159" y="0"/>
        <a:ext cx="764677" cy="1738970"/>
      </dsp:txXfrm>
    </dsp:sp>
    <dsp:sp modelId="{7FB6FBFF-A7B0-41D1-B749-5B42CC63A311}">
      <dsp:nvSpPr>
        <dsp:cNvPr id="0" name=""/>
        <dsp:cNvSpPr/>
      </dsp:nvSpPr>
      <dsp:spPr>
        <a:xfrm>
          <a:off x="8197126"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CED34C-F763-45B4-B8E5-9B40BB2A2F83}">
      <dsp:nvSpPr>
        <dsp:cNvPr id="0" name=""/>
        <dsp:cNvSpPr/>
      </dsp:nvSpPr>
      <dsp:spPr>
        <a:xfrm>
          <a:off x="8835070" y="2608455"/>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a:lnSpc>
              <a:spcPct val="90000"/>
            </a:lnSpc>
            <a:spcBef>
              <a:spcPct val="0"/>
            </a:spcBef>
            <a:spcAft>
              <a:spcPct val="35000"/>
            </a:spcAft>
            <a:buNone/>
          </a:pPr>
          <a:endParaRPr lang="en-US" sz="1900" kern="1200" dirty="0">
            <a:solidFill>
              <a:schemeClr val="bg2">
                <a:lumMod val="10000"/>
              </a:schemeClr>
            </a:solidFill>
          </a:endParaRPr>
        </a:p>
      </dsp:txBody>
      <dsp:txXfrm>
        <a:off x="8835070" y="2608455"/>
        <a:ext cx="764677" cy="1738970"/>
      </dsp:txXfrm>
    </dsp:sp>
    <dsp:sp modelId="{56D087FC-7597-43AE-B754-E61B1E09C90D}">
      <dsp:nvSpPr>
        <dsp:cNvPr id="0" name=""/>
        <dsp:cNvSpPr/>
      </dsp:nvSpPr>
      <dsp:spPr>
        <a:xfrm>
          <a:off x="9000037"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3FFDA9-183E-4253-B9C8-0CCDDD2A41D2}">
      <dsp:nvSpPr>
        <dsp:cNvPr id="0" name=""/>
        <dsp:cNvSpPr/>
      </dsp:nvSpPr>
      <dsp:spPr>
        <a:xfrm>
          <a:off x="9637981" y="0"/>
          <a:ext cx="764677" cy="173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en-US" sz="1900" kern="1200" dirty="0">
              <a:solidFill>
                <a:schemeClr val="bg2">
                  <a:lumMod val="10000"/>
                </a:schemeClr>
              </a:solidFill>
            </a:rPr>
            <a:t>2000</a:t>
          </a:r>
        </a:p>
      </dsp:txBody>
      <dsp:txXfrm>
        <a:off x="9637981" y="0"/>
        <a:ext cx="764677" cy="1738970"/>
      </dsp:txXfrm>
    </dsp:sp>
    <dsp:sp modelId="{536C66BA-4A20-4CF0-AEC8-CBBFC1AD1B3E}">
      <dsp:nvSpPr>
        <dsp:cNvPr id="0" name=""/>
        <dsp:cNvSpPr/>
      </dsp:nvSpPr>
      <dsp:spPr>
        <a:xfrm>
          <a:off x="9802948" y="1956341"/>
          <a:ext cx="434742" cy="434742"/>
        </a:xfrm>
        <a:prstGeom prst="ellipse">
          <a:avLst/>
        </a:prstGeom>
        <a:solidFill>
          <a:srgbClr val="EE322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1CBDB7-6BB2-45CD-8A46-BF2DEC93447A}">
      <dsp:nvSpPr>
        <dsp:cNvPr id="0" name=""/>
        <dsp:cNvSpPr/>
      </dsp:nvSpPr>
      <dsp:spPr>
        <a:xfrm>
          <a:off x="1849375" y="503"/>
          <a:ext cx="1194686" cy="776546"/>
        </a:xfrm>
        <a:prstGeom prst="roundRect">
          <a:avLst/>
        </a:prstGeom>
        <a:solidFill>
          <a:schemeClr val="accent3"/>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latin typeface="Roboto" panose="02000000000000000000" pitchFamily="2" charset="0"/>
              <a:ea typeface="Roboto" panose="02000000000000000000" pitchFamily="2" charset="0"/>
              <a:cs typeface="Roboto" panose="02000000000000000000" pitchFamily="2" charset="0"/>
            </a:rPr>
            <a:t>Abnormality Occurs</a:t>
          </a:r>
        </a:p>
      </dsp:txBody>
      <dsp:txXfrm>
        <a:off x="1887283" y="38411"/>
        <a:ext cx="1118870" cy="700730"/>
      </dsp:txXfrm>
    </dsp:sp>
    <dsp:sp modelId="{75B41429-74C2-4F67-A3F5-BA02CC155B62}">
      <dsp:nvSpPr>
        <dsp:cNvPr id="0" name=""/>
        <dsp:cNvSpPr/>
      </dsp:nvSpPr>
      <dsp:spPr>
        <a:xfrm>
          <a:off x="895342" y="388776"/>
          <a:ext cx="3102751" cy="3102751"/>
        </a:xfrm>
        <a:custGeom>
          <a:avLst/>
          <a:gdLst/>
          <a:ahLst/>
          <a:cxnLst/>
          <a:rect l="0" t="0" r="0" b="0"/>
          <a:pathLst>
            <a:path>
              <a:moveTo>
                <a:pt x="2308747" y="197435"/>
              </a:moveTo>
              <a:arcTo wR="1551375" hR="1551375" stAng="17953314" swAng="1211731"/>
            </a:path>
          </a:pathLst>
        </a:custGeom>
        <a:noFill/>
        <a:ln w="6350" cap="flat" cmpd="sng" algn="ctr">
          <a:solidFill>
            <a:srgbClr val="7F7F7F"/>
          </a:solidFill>
          <a:prstDash val="solid"/>
          <a:miter lim="800000"/>
          <a:tailEnd type="arrow"/>
        </a:ln>
        <a:effectLst/>
      </dsp:spPr>
      <dsp:style>
        <a:lnRef idx="1">
          <a:scrgbClr r="0" g="0" b="0"/>
        </a:lnRef>
        <a:fillRef idx="0">
          <a:scrgbClr r="0" g="0" b="0"/>
        </a:fillRef>
        <a:effectRef idx="0">
          <a:scrgbClr r="0" g="0" b="0"/>
        </a:effectRef>
        <a:fontRef idx="minor"/>
      </dsp:style>
    </dsp:sp>
    <dsp:sp modelId="{6C19DF87-D339-466E-ADE1-3368CCA3EDF2}">
      <dsp:nvSpPr>
        <dsp:cNvPr id="0" name=""/>
        <dsp:cNvSpPr/>
      </dsp:nvSpPr>
      <dsp:spPr>
        <a:xfrm>
          <a:off x="3324821" y="1072477"/>
          <a:ext cx="1194686" cy="776546"/>
        </a:xfrm>
        <a:prstGeom prst="roundRect">
          <a:avLst/>
        </a:prstGeom>
        <a:solidFill>
          <a:schemeClr val="accent1"/>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latin typeface="Roboto" panose="02000000000000000000" pitchFamily="2" charset="0"/>
              <a:ea typeface="Roboto" panose="02000000000000000000" pitchFamily="2" charset="0"/>
              <a:cs typeface="Roboto" panose="02000000000000000000" pitchFamily="2" charset="0"/>
            </a:rPr>
            <a:t>Discover Abnormality</a:t>
          </a:r>
        </a:p>
      </dsp:txBody>
      <dsp:txXfrm>
        <a:off x="3362729" y="1110385"/>
        <a:ext cx="1118870" cy="700730"/>
      </dsp:txXfrm>
    </dsp:sp>
    <dsp:sp modelId="{5C121924-19EB-409A-A5EE-323D6ED0D05B}">
      <dsp:nvSpPr>
        <dsp:cNvPr id="0" name=""/>
        <dsp:cNvSpPr/>
      </dsp:nvSpPr>
      <dsp:spPr>
        <a:xfrm>
          <a:off x="895342" y="388776"/>
          <a:ext cx="3102751" cy="3102751"/>
        </a:xfrm>
        <a:custGeom>
          <a:avLst/>
          <a:gdLst/>
          <a:ahLst/>
          <a:cxnLst/>
          <a:rect l="0" t="0" r="0" b="0"/>
          <a:pathLst>
            <a:path>
              <a:moveTo>
                <a:pt x="3099032" y="1658738"/>
              </a:moveTo>
              <a:arcTo wR="1551375" hR="1551375" stAng="21838099" swAng="1359875"/>
            </a:path>
          </a:pathLst>
        </a:custGeom>
        <a:noFill/>
        <a:ln w="6350" cap="flat" cmpd="sng" algn="ctr">
          <a:solidFill>
            <a:srgbClr val="7F7F7F"/>
          </a:solidFill>
          <a:prstDash val="solid"/>
          <a:miter lim="800000"/>
          <a:tailEnd type="arrow"/>
        </a:ln>
        <a:effectLst/>
      </dsp:spPr>
      <dsp:style>
        <a:lnRef idx="1">
          <a:scrgbClr r="0" g="0" b="0"/>
        </a:lnRef>
        <a:fillRef idx="0">
          <a:scrgbClr r="0" g="0" b="0"/>
        </a:fillRef>
        <a:effectRef idx="0">
          <a:scrgbClr r="0" g="0" b="0"/>
        </a:effectRef>
        <a:fontRef idx="minor"/>
      </dsp:style>
    </dsp:sp>
    <dsp:sp modelId="{2B185D14-AC14-4B5F-8A3D-A2D3216166AA}">
      <dsp:nvSpPr>
        <dsp:cNvPr id="0" name=""/>
        <dsp:cNvSpPr/>
      </dsp:nvSpPr>
      <dsp:spPr>
        <a:xfrm>
          <a:off x="2761250" y="2806968"/>
          <a:ext cx="1194686" cy="776546"/>
        </a:xfrm>
        <a:prstGeom prst="roundRect">
          <a:avLst/>
        </a:prstGeom>
        <a:solidFill>
          <a:schemeClr val="accent3"/>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latin typeface="Roboto" panose="02000000000000000000" pitchFamily="2" charset="0"/>
              <a:ea typeface="Roboto" panose="02000000000000000000" pitchFamily="2" charset="0"/>
              <a:cs typeface="Roboto" panose="02000000000000000000" pitchFamily="2" charset="0"/>
            </a:rPr>
            <a:t>Identify Root Cause</a:t>
          </a:r>
        </a:p>
      </dsp:txBody>
      <dsp:txXfrm>
        <a:off x="2799158" y="2844876"/>
        <a:ext cx="1118870" cy="700730"/>
      </dsp:txXfrm>
    </dsp:sp>
    <dsp:sp modelId="{5D4C7FD7-0256-4E28-BC74-E50F7E736104}">
      <dsp:nvSpPr>
        <dsp:cNvPr id="0" name=""/>
        <dsp:cNvSpPr/>
      </dsp:nvSpPr>
      <dsp:spPr>
        <a:xfrm>
          <a:off x="895342" y="388776"/>
          <a:ext cx="3102751" cy="3102751"/>
        </a:xfrm>
        <a:custGeom>
          <a:avLst/>
          <a:gdLst/>
          <a:ahLst/>
          <a:cxnLst/>
          <a:rect l="0" t="0" r="0" b="0"/>
          <a:pathLst>
            <a:path>
              <a:moveTo>
                <a:pt x="1741809" y="3091019"/>
              </a:moveTo>
              <a:arcTo wR="1551375" hR="1551375" stAng="4976945" swAng="846111"/>
            </a:path>
          </a:pathLst>
        </a:custGeom>
        <a:noFill/>
        <a:ln w="6350" cap="flat" cmpd="sng" algn="ctr">
          <a:solidFill>
            <a:srgbClr val="7F7F7F"/>
          </a:solidFill>
          <a:prstDash val="solid"/>
          <a:miter lim="800000"/>
          <a:tailEnd type="arrow"/>
        </a:ln>
        <a:effectLst/>
      </dsp:spPr>
      <dsp:style>
        <a:lnRef idx="1">
          <a:scrgbClr r="0" g="0" b="0"/>
        </a:lnRef>
        <a:fillRef idx="0">
          <a:scrgbClr r="0" g="0" b="0"/>
        </a:fillRef>
        <a:effectRef idx="0">
          <a:scrgbClr r="0" g="0" b="0"/>
        </a:effectRef>
        <a:fontRef idx="minor"/>
      </dsp:style>
    </dsp:sp>
    <dsp:sp modelId="{C961F893-B3BC-44EA-A6EE-A28F26FE14F4}">
      <dsp:nvSpPr>
        <dsp:cNvPr id="0" name=""/>
        <dsp:cNvSpPr/>
      </dsp:nvSpPr>
      <dsp:spPr>
        <a:xfrm>
          <a:off x="937499" y="2806968"/>
          <a:ext cx="1194686" cy="776546"/>
        </a:xfrm>
        <a:prstGeom prst="roundRect">
          <a:avLst/>
        </a:prstGeom>
        <a:solidFill>
          <a:schemeClr val="accent3"/>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latin typeface="Roboto" panose="02000000000000000000" pitchFamily="2" charset="0"/>
              <a:ea typeface="Roboto" panose="02000000000000000000" pitchFamily="2" charset="0"/>
              <a:cs typeface="Roboto" panose="02000000000000000000" pitchFamily="2" charset="0"/>
            </a:rPr>
            <a:t>Make Improvement (Countermeasure)</a:t>
          </a:r>
        </a:p>
      </dsp:txBody>
      <dsp:txXfrm>
        <a:off x="975407" y="2844876"/>
        <a:ext cx="1118870" cy="700730"/>
      </dsp:txXfrm>
    </dsp:sp>
    <dsp:sp modelId="{FB5018DC-E66D-4FC1-801F-5B919E3AEECE}">
      <dsp:nvSpPr>
        <dsp:cNvPr id="0" name=""/>
        <dsp:cNvSpPr/>
      </dsp:nvSpPr>
      <dsp:spPr>
        <a:xfrm>
          <a:off x="895342" y="388776"/>
          <a:ext cx="3102751" cy="3102751"/>
        </a:xfrm>
        <a:custGeom>
          <a:avLst/>
          <a:gdLst/>
          <a:ahLst/>
          <a:cxnLst/>
          <a:rect l="0" t="0" r="0" b="0"/>
          <a:pathLst>
            <a:path>
              <a:moveTo>
                <a:pt x="164605" y="2246814"/>
              </a:moveTo>
              <a:arcTo wR="1551375" hR="1551375" stAng="9202026" swAng="1359875"/>
            </a:path>
          </a:pathLst>
        </a:custGeom>
        <a:noFill/>
        <a:ln w="6350" cap="flat" cmpd="sng" algn="ctr">
          <a:solidFill>
            <a:srgbClr val="7F7F7F"/>
          </a:solidFill>
          <a:prstDash val="solid"/>
          <a:miter lim="800000"/>
          <a:tailEnd type="arrow"/>
        </a:ln>
        <a:effectLst/>
      </dsp:spPr>
      <dsp:style>
        <a:lnRef idx="1">
          <a:scrgbClr r="0" g="0" b="0"/>
        </a:lnRef>
        <a:fillRef idx="0">
          <a:scrgbClr r="0" g="0" b="0"/>
        </a:fillRef>
        <a:effectRef idx="0">
          <a:scrgbClr r="0" g="0" b="0"/>
        </a:effectRef>
        <a:fontRef idx="minor"/>
      </dsp:style>
    </dsp:sp>
    <dsp:sp modelId="{D277FA3F-B038-42A9-A464-63229A24874E}">
      <dsp:nvSpPr>
        <dsp:cNvPr id="0" name=""/>
        <dsp:cNvSpPr/>
      </dsp:nvSpPr>
      <dsp:spPr>
        <a:xfrm>
          <a:off x="373929" y="1072477"/>
          <a:ext cx="1194686" cy="776546"/>
        </a:xfrm>
        <a:prstGeom prst="roundRect">
          <a:avLst/>
        </a:prstGeom>
        <a:solidFill>
          <a:schemeClr val="accent3"/>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latin typeface="Roboto" panose="02000000000000000000" pitchFamily="2" charset="0"/>
              <a:ea typeface="Roboto" panose="02000000000000000000" pitchFamily="2" charset="0"/>
              <a:cs typeface="Roboto" panose="02000000000000000000" pitchFamily="2" charset="0"/>
            </a:rPr>
            <a:t>Standardize Improvement</a:t>
          </a:r>
        </a:p>
      </dsp:txBody>
      <dsp:txXfrm>
        <a:off x="411837" y="1110385"/>
        <a:ext cx="1118870" cy="700730"/>
      </dsp:txXfrm>
    </dsp:sp>
    <dsp:sp modelId="{F9512622-4717-43DA-85F9-9B9D9B5C0646}">
      <dsp:nvSpPr>
        <dsp:cNvPr id="0" name=""/>
        <dsp:cNvSpPr/>
      </dsp:nvSpPr>
      <dsp:spPr>
        <a:xfrm>
          <a:off x="895342" y="388776"/>
          <a:ext cx="3102751" cy="3102751"/>
        </a:xfrm>
        <a:custGeom>
          <a:avLst/>
          <a:gdLst/>
          <a:ahLst/>
          <a:cxnLst/>
          <a:rect l="0" t="0" r="0" b="0"/>
          <a:pathLst>
            <a:path>
              <a:moveTo>
                <a:pt x="373153" y="542138"/>
              </a:moveTo>
              <a:arcTo wR="1551375" hR="1551375" stAng="13234955" swAng="1211731"/>
            </a:path>
          </a:pathLst>
        </a:custGeom>
        <a:noFill/>
        <a:ln w="6350" cap="flat" cmpd="sng" algn="ctr">
          <a:solidFill>
            <a:srgbClr val="7F7F7F"/>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0.19133</cdr:x>
      <cdr:y>0.68481</cdr:y>
    </cdr:from>
    <cdr:to>
      <cdr:x>0.22883</cdr:x>
      <cdr:y>0.82839</cdr:y>
    </cdr:to>
    <cdr:sp macro="" textlink="">
      <cdr:nvSpPr>
        <cdr:cNvPr id="2" name="TextBox 15">
          <a:extLst xmlns:a="http://schemas.openxmlformats.org/drawingml/2006/main">
            <a:ext uri="{FF2B5EF4-FFF2-40B4-BE49-F238E27FC236}">
              <a16:creationId xmlns:a16="http://schemas.microsoft.com/office/drawing/2014/main" id="{3B8BEB15-DF01-FC46-5B04-DB754EC888F1}"/>
            </a:ext>
          </a:extLst>
        </cdr:cNvPr>
        <cdr:cNvSpPr txBox="1"/>
      </cdr:nvSpPr>
      <cdr:spPr>
        <a:xfrm xmlns:a="http://schemas.openxmlformats.org/drawingml/2006/main">
          <a:off x="1611317" y="2544585"/>
          <a:ext cx="315792" cy="53347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none" lIns="50800" tIns="50800" rIns="50800" bIns="50800" numCol="1" spcCol="38100" rtlCol="0" anchor="t">
          <a:spAutoFit/>
        </a:bodyPr>
        <a:lstStyle xmlns:a="http://schemas.openxmlformats.org/drawingml/2006/main">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9pPr>
        </a:lstStyle>
        <a:p xmlns:a="http://schemas.openxmlformats.org/drawingml/2006/main">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S</a:t>
          </a:r>
        </a:p>
      </cdr:txBody>
    </cdr:sp>
  </cdr:relSizeAnchor>
  <cdr:relSizeAnchor xmlns:cdr="http://schemas.openxmlformats.org/drawingml/2006/chartDrawing">
    <cdr:from>
      <cdr:x>0.38118</cdr:x>
      <cdr:y>0.53136</cdr:y>
    </cdr:from>
    <cdr:to>
      <cdr:x>0.41867</cdr:x>
      <cdr:y>0.67493</cdr:y>
    </cdr:to>
    <cdr:sp macro="" textlink="">
      <cdr:nvSpPr>
        <cdr:cNvPr id="3" name="TextBox 15">
          <a:extLst xmlns:a="http://schemas.openxmlformats.org/drawingml/2006/main">
            <a:ext uri="{FF2B5EF4-FFF2-40B4-BE49-F238E27FC236}">
              <a16:creationId xmlns:a16="http://schemas.microsoft.com/office/drawing/2014/main" id="{3B8BEB15-DF01-FC46-5B04-DB754EC888F1}"/>
            </a:ext>
          </a:extLst>
        </cdr:cNvPr>
        <cdr:cNvSpPr txBox="1"/>
      </cdr:nvSpPr>
      <cdr:spPr>
        <a:xfrm xmlns:a="http://schemas.openxmlformats.org/drawingml/2006/main">
          <a:off x="3210179" y="1974380"/>
          <a:ext cx="315792" cy="53347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none" lIns="50800" tIns="50800" rIns="50800" bIns="50800" numCol="1" spcCol="38100" rtlCol="0" anchor="t">
          <a:spAutoFit/>
        </a:bodyPr>
        <a:lstStyle xmlns:a="http://schemas.openxmlformats.org/drawingml/2006/main">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9pPr>
        </a:lstStyle>
        <a:p xmlns:a="http://schemas.openxmlformats.org/drawingml/2006/main">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S</a:t>
          </a:r>
        </a:p>
      </cdr:txBody>
    </cdr:sp>
  </cdr:relSizeAnchor>
  <cdr:relSizeAnchor xmlns:cdr="http://schemas.openxmlformats.org/drawingml/2006/chartDrawing">
    <cdr:from>
      <cdr:x>0.57932</cdr:x>
      <cdr:y>0.37903</cdr:y>
    </cdr:from>
    <cdr:to>
      <cdr:x>0.61682</cdr:x>
      <cdr:y>0.52261</cdr:y>
    </cdr:to>
    <cdr:sp macro="" textlink="">
      <cdr:nvSpPr>
        <cdr:cNvPr id="4" name="TextBox 15">
          <a:extLst xmlns:a="http://schemas.openxmlformats.org/drawingml/2006/main">
            <a:ext uri="{FF2B5EF4-FFF2-40B4-BE49-F238E27FC236}">
              <a16:creationId xmlns:a16="http://schemas.microsoft.com/office/drawing/2014/main" id="{3B8BEB15-DF01-FC46-5B04-DB754EC888F1}"/>
            </a:ext>
          </a:extLst>
        </cdr:cNvPr>
        <cdr:cNvSpPr txBox="1"/>
      </cdr:nvSpPr>
      <cdr:spPr>
        <a:xfrm xmlns:a="http://schemas.openxmlformats.org/drawingml/2006/main">
          <a:off x="4878898" y="1408390"/>
          <a:ext cx="315792" cy="53347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none" lIns="50800" tIns="50800" rIns="50800" bIns="50800" numCol="1" spcCol="38100" rtlCol="0" anchor="t">
          <a:spAutoFit/>
        </a:bodyPr>
        <a:lstStyle xmlns:a="http://schemas.openxmlformats.org/drawingml/2006/main">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9pPr>
        </a:lstStyle>
        <a:p xmlns:a="http://schemas.openxmlformats.org/drawingml/2006/main">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S</a:t>
          </a:r>
        </a:p>
      </cdr:txBody>
    </cdr:sp>
  </cdr:relSizeAnchor>
  <cdr:relSizeAnchor xmlns:cdr="http://schemas.openxmlformats.org/drawingml/2006/chartDrawing">
    <cdr:from>
      <cdr:x>0.78353</cdr:x>
      <cdr:y>0.22546</cdr:y>
    </cdr:from>
    <cdr:to>
      <cdr:x>0.82102</cdr:x>
      <cdr:y>0.36903</cdr:y>
    </cdr:to>
    <cdr:sp macro="" textlink="">
      <cdr:nvSpPr>
        <cdr:cNvPr id="5" name="TextBox 15">
          <a:extLst xmlns:a="http://schemas.openxmlformats.org/drawingml/2006/main">
            <a:ext uri="{FF2B5EF4-FFF2-40B4-BE49-F238E27FC236}">
              <a16:creationId xmlns:a16="http://schemas.microsoft.com/office/drawing/2014/main" id="{3B8BEB15-DF01-FC46-5B04-DB754EC888F1}"/>
            </a:ext>
          </a:extLst>
        </cdr:cNvPr>
        <cdr:cNvSpPr txBox="1"/>
      </cdr:nvSpPr>
      <cdr:spPr>
        <a:xfrm xmlns:a="http://schemas.openxmlformats.org/drawingml/2006/main">
          <a:off x="6598663" y="837735"/>
          <a:ext cx="315792" cy="533479"/>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horz" wrap="none" lIns="50800" tIns="50800" rIns="50800" bIns="50800" numCol="1" spcCol="38100" rtlCol="0" anchor="t">
          <a:spAutoFit/>
        </a:bodyPr>
        <a:lstStyle xmlns:a="http://schemas.openxmlformats.org/drawingml/2006/main">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mn-lt"/>
              <a:ea typeface="+mn-ea"/>
              <a:cs typeface="+mn-cs"/>
              <a:sym typeface="Roboto"/>
            </a:defRPr>
          </a:lvl9pPr>
        </a:lstStyle>
        <a:p xmlns:a="http://schemas.openxmlformats.org/drawingml/2006/main">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S</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3611379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Ask the group if they have any ground rules to add (capture them on chart paper). </a:t>
            </a:r>
          </a:p>
          <a:p>
            <a:r>
              <a:rPr lang="en-US" altLang="en-US" dirty="0">
                <a:latin typeface="Arial" panose="020B0604020202020204" pitchFamily="34" charset="0"/>
              </a:rPr>
              <a:t>Ask the group if they agree to these ground rules. </a:t>
            </a:r>
          </a:p>
          <a:p>
            <a:endParaRPr lang="en-US" altLang="en-US" dirty="0">
              <a:latin typeface="Arial" panose="020B0604020202020204" pitchFamily="34" charset="0"/>
            </a:endParaRPr>
          </a:p>
          <a:p>
            <a:r>
              <a:rPr lang="en-US" altLang="en-US" b="1" dirty="0">
                <a:latin typeface="Arial" panose="020B0604020202020204" pitchFamily="34" charset="0"/>
              </a:rPr>
              <a:t>DO:</a:t>
            </a:r>
            <a:r>
              <a:rPr lang="en-US" altLang="en-US" dirty="0">
                <a:latin typeface="Arial" panose="020B0604020202020204" pitchFamily="34" charset="0"/>
              </a:rPr>
              <a:t> Perform Group Introductions</a:t>
            </a: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092175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NOTE:</a:t>
            </a:r>
            <a:r>
              <a:rPr lang="en-US" altLang="en-US" dirty="0">
                <a:latin typeface="Arial" panose="020B0604020202020204" pitchFamily="34" charset="0"/>
              </a:rPr>
              <a:t> Lean creates the need for less effort, less equipment, less time, less space…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869595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 </a:t>
            </a:r>
            <a:r>
              <a:rPr lang="ja-JP" altLang="en-US" b="1" dirty="0">
                <a:latin typeface="Arial" panose="020B0604020202020204" pitchFamily="34" charset="0"/>
              </a:rPr>
              <a:t>“</a:t>
            </a:r>
            <a:r>
              <a:rPr lang="en-US" altLang="ja-JP" dirty="0">
                <a:latin typeface="Arial" panose="020B0604020202020204" pitchFamily="34" charset="0"/>
              </a:rPr>
              <a:t>Lean enables us to look at our processes in an unemotional, quantitative way. Lean is designed with two objectives: (1) Identify waste (2) Eliminate waste.</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At the end of the day – lean is quite simply about shrinking the lead time from concept to cash.</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876467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altLang="en-US" sz="1200" b="1" dirty="0">
                <a:latin typeface="Arial" panose="020B0604020202020204" pitchFamily="34" charset="0"/>
              </a:rPr>
              <a:t>NOTE:</a:t>
            </a:r>
            <a:r>
              <a:rPr lang="en-US" altLang="en-US" sz="1200" dirty="0">
                <a:latin typeface="Arial" panose="020B0604020202020204" pitchFamily="34" charset="0"/>
              </a:rPr>
              <a:t> Before saying each of the below, ask the participants first for each bullet how they think Lean will drive that bullet (i.e. How do you think Lean drives respect for the individual?</a:t>
            </a:r>
            <a:r>
              <a:rPr lang="ja-JP" altLang="en-US" sz="1200" dirty="0">
                <a:latin typeface="Arial" panose="020B0604020202020204" pitchFamily="34" charset="0"/>
              </a:rPr>
              <a:t>”</a:t>
            </a:r>
            <a:r>
              <a:rPr lang="en-US" altLang="ja-JP" sz="1200" dirty="0">
                <a:latin typeface="Arial" panose="020B0604020202020204" pitchFamily="34" charset="0"/>
              </a:rPr>
              <a:t>)</a:t>
            </a:r>
          </a:p>
          <a:p>
            <a:pPr>
              <a:lnSpc>
                <a:spcPct val="90000"/>
              </a:lnSpc>
            </a:pPr>
            <a:endParaRPr lang="en-US" altLang="en-US" sz="1200" dirty="0">
              <a:latin typeface="Arial" panose="020B0604020202020204" pitchFamily="34" charset="0"/>
            </a:endParaRPr>
          </a:p>
          <a:p>
            <a:pPr>
              <a:lnSpc>
                <a:spcPct val="90000"/>
              </a:lnSpc>
            </a:pPr>
            <a:r>
              <a:rPr lang="en-US" altLang="en-US" sz="1200" b="1" dirty="0">
                <a:latin typeface="Arial" panose="020B0604020202020204" pitchFamily="34" charset="0"/>
              </a:rPr>
              <a:t>SAY:</a:t>
            </a:r>
            <a:r>
              <a:rPr lang="en-US" altLang="en-US" sz="1200" dirty="0">
                <a:latin typeface="Arial" panose="020B0604020202020204" pitchFamily="34" charset="0"/>
              </a:rPr>
              <a:t> </a:t>
            </a:r>
            <a:r>
              <a:rPr lang="ja-JP" altLang="en-US" sz="1200" dirty="0">
                <a:latin typeface="Arial" panose="020B0604020202020204" pitchFamily="34" charset="0"/>
              </a:rPr>
              <a:t>“</a:t>
            </a:r>
            <a:r>
              <a:rPr lang="en-US" altLang="ja-JP" sz="1200" dirty="0">
                <a:latin typeface="Arial" panose="020B0604020202020204" pitchFamily="34" charset="0"/>
              </a:rPr>
              <a:t>Respect for the Individual: Virtually all work processes contain over 90%+ non-value adding activity. People by nature want to make a positive contribution. Lean provides the opportunity for people to add value to the customer. The skill set that the Lean transformation provides will enhance career potential.</a:t>
            </a:r>
            <a:r>
              <a:rPr lang="ja-JP" altLang="en-US" sz="1200" dirty="0">
                <a:latin typeface="Arial" panose="020B0604020202020204" pitchFamily="34" charset="0"/>
              </a:rPr>
              <a:t>”</a:t>
            </a:r>
            <a:endParaRPr lang="en-US" altLang="ja-JP" sz="1200" dirty="0">
              <a:latin typeface="Arial" panose="020B0604020202020204" pitchFamily="34" charset="0"/>
            </a:endParaRPr>
          </a:p>
          <a:p>
            <a:pPr>
              <a:lnSpc>
                <a:spcPct val="90000"/>
              </a:lnSpc>
            </a:pPr>
            <a:endParaRPr lang="en-US" altLang="en-US" sz="1200" dirty="0">
              <a:latin typeface="Arial" panose="020B0604020202020204" pitchFamily="34" charset="0"/>
            </a:endParaRPr>
          </a:p>
          <a:p>
            <a:pPr>
              <a:lnSpc>
                <a:spcPct val="90000"/>
              </a:lnSpc>
            </a:pPr>
            <a:r>
              <a:rPr lang="en-US" altLang="ja-JP" sz="1200" b="1" dirty="0">
                <a:latin typeface="Arial" panose="020B0604020202020204" pitchFamily="34" charset="0"/>
              </a:rPr>
              <a:t>SAY:</a:t>
            </a:r>
            <a:r>
              <a:rPr lang="en-US" altLang="ja-JP" sz="1200" dirty="0">
                <a:latin typeface="Arial" panose="020B0604020202020204" pitchFamily="34" charset="0"/>
              </a:rPr>
              <a:t> “Desire to fully utilize the creativity and capability of the individual: </a:t>
            </a:r>
            <a:r>
              <a:rPr lang="en-US" altLang="en-US" sz="1200" dirty="0">
                <a:latin typeface="Arial" panose="020B0604020202020204" pitchFamily="34" charset="0"/>
              </a:rPr>
              <a:t>Again, with 90%+ processes filled with waste, it is unreasonable to not to have a structure in place for individuals to create improvement. A Lean transformation drives accountability as far down in an organization as possible.  </a:t>
            </a:r>
          </a:p>
          <a:p>
            <a:pPr>
              <a:lnSpc>
                <a:spcPct val="90000"/>
              </a:lnSpc>
            </a:pPr>
            <a:r>
              <a:rPr lang="en-US" altLang="en-US" sz="1200" dirty="0">
                <a:latin typeface="Arial" panose="020B0604020202020204" pitchFamily="34" charset="0"/>
              </a:rPr>
              <a:t>This accountability creates ownership, which results in a much higher level of engagement.  In this case, engagement equals an employee</a:t>
            </a:r>
            <a:r>
              <a:rPr lang="ja-JP" altLang="en-US" sz="1200" dirty="0">
                <a:latin typeface="Arial" panose="020B0604020202020204" pitchFamily="34" charset="0"/>
              </a:rPr>
              <a:t>’</a:t>
            </a:r>
            <a:r>
              <a:rPr lang="en-US" altLang="ja-JP" sz="1200" dirty="0">
                <a:latin typeface="Arial" panose="020B0604020202020204" pitchFamily="34" charset="0"/>
              </a:rPr>
              <a:t>s ability to bring his / her creative input into their work process.</a:t>
            </a:r>
          </a:p>
          <a:p>
            <a:pPr>
              <a:lnSpc>
                <a:spcPct val="90000"/>
              </a:lnSpc>
            </a:pPr>
            <a:endParaRPr lang="en-US" altLang="ja-JP" sz="1200" dirty="0">
              <a:latin typeface="Arial" panose="020B0604020202020204" pitchFamily="34" charset="0"/>
            </a:endParaRPr>
          </a:p>
          <a:p>
            <a:pPr>
              <a:lnSpc>
                <a:spcPct val="90000"/>
              </a:lnSpc>
            </a:pPr>
            <a:r>
              <a:rPr lang="en-US" altLang="en-US" sz="1200" b="1" dirty="0">
                <a:latin typeface="Arial" panose="020B0604020202020204" pitchFamily="34" charset="0"/>
              </a:rPr>
              <a:t>SAY:</a:t>
            </a:r>
            <a:r>
              <a:rPr lang="en-US" altLang="en-US" sz="1200" dirty="0">
                <a:latin typeface="Arial" panose="020B0604020202020204" pitchFamily="34" charset="0"/>
              </a:rPr>
              <a:t> </a:t>
            </a:r>
            <a:r>
              <a:rPr lang="ja-JP" altLang="en-US" sz="1200" dirty="0">
                <a:latin typeface="Arial" panose="020B0604020202020204" pitchFamily="34" charset="0"/>
              </a:rPr>
              <a:t>“</a:t>
            </a:r>
            <a:r>
              <a:rPr lang="en-US" altLang="ja-JP" sz="1200" dirty="0">
                <a:latin typeface="Arial" panose="020B0604020202020204" pitchFamily="34" charset="0"/>
              </a:rPr>
              <a:t>Respect for the customer: Again, with 90%+ processes filled with waste. Typically customers</a:t>
            </a:r>
            <a:r>
              <a:rPr lang="ja-JP" altLang="en-US" sz="1200" dirty="0">
                <a:latin typeface="Arial" panose="020B0604020202020204" pitchFamily="34" charset="0"/>
              </a:rPr>
              <a:t>’</a:t>
            </a:r>
            <a:r>
              <a:rPr lang="en-US" altLang="ja-JP" sz="1200" dirty="0">
                <a:latin typeface="Arial" panose="020B0604020202020204" pitchFamily="34" charset="0"/>
              </a:rPr>
              <a:t> frustrations are not related to the actual product or service. Most frustrations are experienced with the processes they endure.  Processes must be improved to delight and achieve expectations of the customer.</a:t>
            </a:r>
            <a:r>
              <a:rPr lang="ja-JP" altLang="en-US" sz="1200" dirty="0">
                <a:latin typeface="Arial" panose="020B0604020202020204" pitchFamily="34" charset="0"/>
              </a:rPr>
              <a:t>”</a:t>
            </a:r>
            <a:r>
              <a:rPr lang="en-US" altLang="ja-JP" sz="1200" dirty="0">
                <a:latin typeface="Arial" panose="020B0604020202020204" pitchFamily="34" charset="0"/>
              </a:rPr>
              <a:t> </a:t>
            </a:r>
          </a:p>
          <a:p>
            <a:pPr>
              <a:lnSpc>
                <a:spcPct val="90000"/>
              </a:lnSpc>
            </a:pPr>
            <a:endParaRPr lang="en-US" altLang="en-US" sz="1200" dirty="0">
              <a:latin typeface="Arial" panose="020B0604020202020204" pitchFamily="34" charset="0"/>
            </a:endParaRPr>
          </a:p>
          <a:p>
            <a:pPr>
              <a:lnSpc>
                <a:spcPct val="90000"/>
              </a:lnSpc>
            </a:pPr>
            <a:r>
              <a:rPr lang="en-US" altLang="en-US" sz="1200" b="1" dirty="0">
                <a:latin typeface="Arial" panose="020B0604020202020204" pitchFamily="34" charset="0"/>
              </a:rPr>
              <a:t>SAY:</a:t>
            </a:r>
            <a:r>
              <a:rPr lang="en-US" altLang="en-US" sz="1200" dirty="0">
                <a:latin typeface="Arial" panose="020B0604020202020204" pitchFamily="34" charset="0"/>
              </a:rPr>
              <a:t> Enterprise-wide sustainable competitive advantage: Again, with 90%+ processes filled with waste, Lean enables companies to compete and win against competitors in the marketplace. This provides the growth that is required to protect security of jobs and finance new products both of which are required to sustain the company on a long-term basis. Lean will improve safety, quality, on-time delivery, inventory, and productivity.</a:t>
            </a:r>
            <a:r>
              <a:rPr lang="ja-JP" altLang="en-US" sz="1200" dirty="0">
                <a:latin typeface="Arial" panose="020B0604020202020204" pitchFamily="34" charset="0"/>
              </a:rPr>
              <a:t>”</a:t>
            </a:r>
            <a:endParaRPr lang="en-US" altLang="ja-JP" sz="1200" dirty="0">
              <a:latin typeface="Arial" panose="020B0604020202020204" pitchFamily="34" charset="0"/>
            </a:endParaRPr>
          </a:p>
          <a:p>
            <a:endParaRPr lang="en-US" altLang="en-US" sz="1200"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1832144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err="1">
                <a:latin typeface="Arial" panose="020B0604020202020204" pitchFamily="34" charset="0"/>
              </a:rPr>
              <a:t>Eiji</a:t>
            </a:r>
            <a:r>
              <a:rPr lang="en-US" altLang="en-US" sz="1200" dirty="0">
                <a:latin typeface="Arial" panose="020B0604020202020204" pitchFamily="34" charset="0"/>
              </a:rPr>
              <a:t> Toyoda photo By Thejorge11 CC BY-SA 4.0, https://commons.wikimedia.org/w/index.php?curid=63145509</a:t>
            </a:r>
          </a:p>
          <a:p>
            <a:r>
              <a:rPr lang="en-US" altLang="en-US" sz="1200" dirty="0" err="1">
                <a:latin typeface="Arial" panose="020B0604020202020204" pitchFamily="34" charset="0"/>
              </a:rPr>
              <a:t>Sakichi</a:t>
            </a:r>
            <a:r>
              <a:rPr lang="en-US" altLang="en-US" sz="1200" dirty="0">
                <a:latin typeface="Arial" panose="020B0604020202020204" pitchFamily="34" charset="0"/>
              </a:rPr>
              <a:t> Toyoda &amp; Kiichiro Toyoda photos are public domain.</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564705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14208828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998436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408739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11901599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1869044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INSTRUCTIONS:</a:t>
            </a:r>
            <a:r>
              <a:rPr lang="en-US" altLang="en-US" dirty="0">
                <a:latin typeface="Arial" panose="020B0604020202020204" pitchFamily="34" charset="0"/>
              </a:rPr>
              <a:t> Discuss each one of these. Have the class decide if they are value-added or non-value added activities in the eyes of both the ultimate  customer and the customer who is the recipient of the process itself (if other than the ultimate customer). </a:t>
            </a:r>
          </a:p>
          <a:p>
            <a:r>
              <a:rPr lang="en-US" altLang="en-US" dirty="0">
                <a:latin typeface="Arial" panose="020B0604020202020204" pitchFamily="34" charset="0"/>
              </a:rPr>
              <a:t>e.g.: The end customer may not view reviewing resumes of candidates to interview for hire as value-added, but the supervisor of the department that has the open position may view that as value added. </a:t>
            </a:r>
          </a:p>
          <a:p>
            <a:endParaRPr lang="en-US" dirty="0"/>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29106992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the three types of waste that originate from the Japanese. </a:t>
            </a: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29914675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Mnemonics: DOWNTIME</a:t>
            </a:r>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9038726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2845095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7172305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30335921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6619077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VSM is a graphical representation that uses a common mapping language</a:t>
            </a:r>
          </a:p>
          <a:p>
            <a:r>
              <a:rPr lang="en-US" altLang="en-US" dirty="0">
                <a:latin typeface="Arial" panose="020B0604020202020204" pitchFamily="34" charset="0"/>
              </a:rPr>
              <a:t>VSM provides the basis and direction for identifying improvement opportunities</a:t>
            </a:r>
          </a:p>
          <a:p>
            <a:r>
              <a:rPr lang="en-US" altLang="en-US" dirty="0">
                <a:latin typeface="Arial" panose="020B0604020202020204" pitchFamily="34" charset="0"/>
              </a:rPr>
              <a:t>The power is in the plan!</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19978034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VSM is an incremental and repeatable cycle. Full optimization of the value stream sometimes isn’t realized until the third or fourth iteration.</a:t>
            </a:r>
            <a:r>
              <a:rPr lang="ja-JP" altLang="en-US" dirty="0">
                <a:latin typeface="Arial" panose="020B0604020202020204" pitchFamily="34" charset="0"/>
              </a:rPr>
              <a:t>”</a:t>
            </a:r>
            <a:r>
              <a:rPr lang="en-US" altLang="ja-JP" dirty="0">
                <a:latin typeface="Arial" panose="020B0604020202020204" pitchFamily="34" charset="0"/>
              </a:rPr>
              <a:t>  For companies early on their journey it is common to reset the Current State Map and Future State Map and the VS Plan at the ½ way point – that is – if you set the Future State at one year out – you would reset at the 6 month point.</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39820163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Then we look to establish opportunities to create flow. Continuous flow is defined as producing or completing one item at a time and then passing the item immediately to the next step.</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does continuous flow look like in your environment (</a:t>
            </a:r>
            <a:r>
              <a:rPr lang="en-US" altLang="ja-JP" dirty="0" err="1">
                <a:latin typeface="Arial" panose="020B0604020202020204" pitchFamily="34" charset="0"/>
              </a:rPr>
              <a:t>ie</a:t>
            </a:r>
            <a:r>
              <a:rPr lang="en-US" altLang="ja-JP" dirty="0">
                <a:latin typeface="Arial" panose="020B0604020202020204" pitchFamily="34" charset="0"/>
              </a:rPr>
              <a:t>: traffic, line at fast food station, train, supermarket, </a:t>
            </a:r>
            <a:r>
              <a:rPr lang="en-US" altLang="ja-JP" dirty="0" err="1">
                <a:latin typeface="Arial" panose="020B0604020202020204" pitchFamily="34" charset="0"/>
              </a:rPr>
              <a:t>etc</a:t>
            </a:r>
            <a:r>
              <a:rPr lang="en-US" altLang="ja-JP"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What does continuous flow look like in some of your daily processes at work?</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263521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Characteristics of traditional batch processes:</a:t>
            </a:r>
          </a:p>
          <a:p>
            <a:pPr lvl="1"/>
            <a:r>
              <a:rPr lang="en-US" altLang="en-US" dirty="0">
                <a:latin typeface="Arial" panose="020B0604020202020204" pitchFamily="34" charset="0"/>
              </a:rPr>
              <a:t>Not customer focused, internally focused</a:t>
            </a:r>
          </a:p>
          <a:p>
            <a:pPr lvl="1"/>
            <a:r>
              <a:rPr lang="en-US" altLang="en-US" dirty="0">
                <a:latin typeface="Arial" panose="020B0604020202020204" pitchFamily="34" charset="0"/>
              </a:rPr>
              <a:t>Front Line Associates are focused on their task</a:t>
            </a:r>
          </a:p>
          <a:p>
            <a:pPr lvl="1"/>
            <a:r>
              <a:rPr lang="en-US" altLang="en-US" dirty="0">
                <a:latin typeface="Arial" panose="020B0604020202020204" pitchFamily="34" charset="0"/>
              </a:rPr>
              <a:t>Measurements considered bad</a:t>
            </a:r>
          </a:p>
          <a:p>
            <a:pPr lvl="1"/>
            <a:r>
              <a:rPr lang="en-US" altLang="en-US" dirty="0">
                <a:latin typeface="Arial" panose="020B0604020202020204" pitchFamily="34" charset="0"/>
              </a:rPr>
              <a:t>Cannot see flow from initiation to customer</a:t>
            </a:r>
          </a:p>
          <a:p>
            <a:pPr lvl="1"/>
            <a:r>
              <a:rPr lang="en-US" altLang="en-US" dirty="0">
                <a:latin typeface="Arial" panose="020B0604020202020204" pitchFamily="34" charset="0"/>
              </a:rPr>
              <a:t>High exposure to inventory ($)</a:t>
            </a:r>
          </a:p>
          <a:p>
            <a:pPr lvl="1"/>
            <a:r>
              <a:rPr lang="en-US" altLang="en-US" dirty="0">
                <a:latin typeface="Arial" panose="020B0604020202020204" pitchFamily="34" charset="0"/>
              </a:rPr>
              <a:t>Accountability difficult</a:t>
            </a:r>
          </a:p>
          <a:p>
            <a:pPr lvl="1"/>
            <a:r>
              <a:rPr lang="en-US" altLang="en-US" dirty="0">
                <a:latin typeface="Arial" panose="020B0604020202020204" pitchFamily="34" charset="0"/>
              </a:rPr>
              <a:t>Expediting is a primary method for short-term scheduling</a:t>
            </a:r>
            <a:r>
              <a:rPr lang="ja-JP" altLang="en-US" dirty="0">
                <a:latin typeface="Arial" panose="020B0604020202020204" pitchFamily="34" charset="0"/>
              </a:rPr>
              <a:t>”</a:t>
            </a:r>
            <a:endParaRPr lang="en-US" altLang="ja-JP" dirty="0">
              <a:latin typeface="Arial" panose="020B0604020202020204" pitchFamily="34" charset="0"/>
            </a:endParaRPr>
          </a:p>
          <a:p>
            <a:pPr lvl="1"/>
            <a:r>
              <a:rPr lang="en-US" altLang="en-US" dirty="0">
                <a:latin typeface="Arial" panose="020B0604020202020204" pitchFamily="34" charset="0"/>
              </a:rPr>
              <a:t>Organizations often go to batch processing because they feel that it makes them more efficient.  Unfortunately, this reflects an internal focus rather than a customer focus and sacrifices serving the customer to perceived organizational efficiency.</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At what time does the first customer get served?</a:t>
            </a:r>
            <a:r>
              <a:rPr lang="ja-JP" altLang="en-US" dirty="0">
                <a:latin typeface="Arial" panose="020B0604020202020204" pitchFamily="34" charset="0"/>
              </a:rPr>
              <a:t>”</a:t>
            </a:r>
            <a:r>
              <a:rPr lang="en-US" altLang="ja-JP" dirty="0">
                <a:latin typeface="Arial" panose="020B0604020202020204" pitchFamily="34" charset="0"/>
              </a:rPr>
              <a:t> (answer: 17 minutes)</a:t>
            </a: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Do you do any batch processing in your operation?  Can anyone give me an example?</a:t>
            </a:r>
            <a:r>
              <a:rPr lang="ja-JP" altLang="en-US" dirty="0">
                <a:latin typeface="Arial" panose="020B0604020202020204" pitchFamily="34" charset="0"/>
              </a:rPr>
              <a:t>”</a:t>
            </a:r>
            <a:endParaRPr lang="en-US" altLang="ja-JP" dirty="0">
              <a:latin typeface="Arial" panose="020B0604020202020204" pitchFamily="34" charset="0"/>
            </a:endParaRPr>
          </a:p>
          <a:p>
            <a:pPr lvl="1"/>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27557942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 Single Piece Flow significantly reduces:</a:t>
            </a:r>
          </a:p>
          <a:p>
            <a:pPr lvl="1"/>
            <a:r>
              <a:rPr lang="en-US" altLang="en-US" dirty="0">
                <a:latin typeface="Arial" panose="020B0604020202020204" pitchFamily="34" charset="0"/>
              </a:rPr>
              <a:t>Lead time</a:t>
            </a:r>
          </a:p>
          <a:p>
            <a:pPr lvl="1"/>
            <a:r>
              <a:rPr lang="en-US" altLang="en-US" dirty="0">
                <a:latin typeface="Arial" panose="020B0604020202020204" pitchFamily="34" charset="0"/>
              </a:rPr>
              <a:t>Velocity/Through-put</a:t>
            </a:r>
          </a:p>
          <a:p>
            <a:pPr lvl="1"/>
            <a:r>
              <a:rPr lang="en-US" altLang="en-US" dirty="0">
                <a:latin typeface="Arial" panose="020B0604020202020204" pitchFamily="34" charset="0"/>
              </a:rPr>
              <a:t>Inventory</a:t>
            </a:r>
          </a:p>
          <a:p>
            <a:endParaRPr lang="en-US" altLang="en-US" dirty="0">
              <a:latin typeface="Arial" panose="020B0604020202020204" pitchFamily="34" charset="0"/>
            </a:endParaRPr>
          </a:p>
          <a:p>
            <a:r>
              <a:rPr lang="en-US" altLang="en-US" dirty="0">
                <a:latin typeface="Arial" panose="020B0604020202020204" pitchFamily="34" charset="0"/>
              </a:rPr>
              <a:t>While improving:</a:t>
            </a:r>
          </a:p>
          <a:p>
            <a:pPr lvl="1"/>
            <a:r>
              <a:rPr lang="en-US" altLang="en-US" dirty="0">
                <a:latin typeface="Arial" panose="020B0604020202020204" pitchFamily="34" charset="0"/>
              </a:rPr>
              <a:t>Quality</a:t>
            </a:r>
          </a:p>
          <a:p>
            <a:pPr lvl="1"/>
            <a:r>
              <a:rPr lang="en-US" altLang="en-US" dirty="0">
                <a:latin typeface="Arial" panose="020B0604020202020204" pitchFamily="34" charset="0"/>
              </a:rPr>
              <a:t>Delivery</a:t>
            </a:r>
          </a:p>
          <a:p>
            <a:pPr lvl="1"/>
            <a:r>
              <a:rPr lang="en-US" altLang="en-US" dirty="0">
                <a:latin typeface="Arial" panose="020B0604020202020204" pitchFamily="34" charset="0"/>
              </a:rPr>
              <a:t>Cost</a:t>
            </a:r>
            <a:r>
              <a:rPr lang="ja-JP" altLang="en-US" dirty="0">
                <a:latin typeface="Arial" panose="020B0604020202020204" pitchFamily="34" charset="0"/>
              </a:rPr>
              <a:t>”</a:t>
            </a:r>
            <a:endParaRPr lang="en-US" altLang="ja-JP" dirty="0">
              <a:latin typeface="Arial" panose="020B0604020202020204" pitchFamily="34" charset="0"/>
            </a:endParaRPr>
          </a:p>
          <a:p>
            <a:pPr>
              <a:lnSpc>
                <a:spcPct val="115000"/>
              </a:lnSpc>
              <a:spcBef>
                <a:spcPct val="20000"/>
              </a:spcBef>
              <a:spcAft>
                <a:spcPct val="20000"/>
              </a:spcAft>
              <a:buClr>
                <a:schemeClr val="accent1"/>
              </a:buClr>
              <a:buSzPct val="40000"/>
              <a:buFont typeface="Wingdings 2" panose="05020102010507070707" pitchFamily="18" charset="2"/>
              <a:buNone/>
            </a:pPr>
            <a:r>
              <a:rPr lang="en-US" altLang="en-US" dirty="0">
                <a:latin typeface="Arial" panose="020B0604020202020204" pitchFamily="34" charset="0"/>
              </a:rPr>
              <a:t>By moving to a 1 piece flow environment, we shift our focus externally to the customer.  In this example, we are using exactly the same Associates following exactly the same process steps using exactly the same process times, but the result for the customer is significantly different</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a:p>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Now, what time does the first customer get served</a:t>
            </a:r>
            <a:r>
              <a:rPr lang="ja-JP" altLang="en-US" dirty="0">
                <a:latin typeface="Arial" panose="020B0604020202020204" pitchFamily="34" charset="0"/>
              </a:rPr>
              <a:t>”</a:t>
            </a:r>
            <a:r>
              <a:rPr lang="en-US" altLang="ja-JP" dirty="0">
                <a:latin typeface="Arial" panose="020B0604020202020204" pitchFamily="34" charset="0"/>
              </a:rPr>
              <a:t> (answer: 5 minutes)</a:t>
            </a:r>
          </a:p>
          <a:p>
            <a:pPr>
              <a:lnSpc>
                <a:spcPct val="115000"/>
              </a:lnSpc>
              <a:spcBef>
                <a:spcPct val="20000"/>
              </a:spcBef>
              <a:spcAft>
                <a:spcPct val="20000"/>
              </a:spcAft>
              <a:buClr>
                <a:schemeClr val="accent1"/>
              </a:buClr>
              <a:buSzPct val="40000"/>
              <a:buFont typeface="Wingdings 2" panose="05020102010507070707" pitchFamily="18" charset="2"/>
              <a:buNone/>
            </a:pP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7575879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Now while we always strive for flow, flow may not always be possible. In these instances, we look to establish pull. Pull is a method of controlling how much you are creating or providing between flows – ensuring the downstream process is only getting exactly what it needs when it needs it.</a:t>
            </a:r>
            <a:r>
              <a:rPr lang="ja-JP" altLang="en-US" dirty="0">
                <a:latin typeface="Arial" panose="020B0604020202020204" pitchFamily="34" charset="0"/>
              </a:rPr>
              <a:t>”</a:t>
            </a:r>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39689170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000" b="1" dirty="0">
                <a:latin typeface="Arial" panose="020B0604020202020204" pitchFamily="34" charset="0"/>
              </a:rPr>
              <a:t>DO:</a:t>
            </a:r>
            <a:r>
              <a:rPr lang="en-US" altLang="en-US" sz="1000" dirty="0">
                <a:latin typeface="Arial" panose="020B0604020202020204" pitchFamily="34" charset="0"/>
              </a:rPr>
              <a:t> </a:t>
            </a:r>
            <a:r>
              <a:rPr lang="en-US" altLang="en-US" sz="1000" b="1" dirty="0">
                <a:latin typeface="Arial" panose="020B0604020202020204" pitchFamily="34" charset="0"/>
              </a:rPr>
              <a:t>Post-it® exercise batch flow.</a:t>
            </a:r>
          </a:p>
          <a:p>
            <a:pPr lvl="1"/>
            <a:r>
              <a:rPr lang="en-US" altLang="en-US" sz="1000" dirty="0">
                <a:latin typeface="Arial" panose="020B0604020202020204" pitchFamily="34" charset="0"/>
              </a:rPr>
              <a:t>Batch Process</a:t>
            </a:r>
          </a:p>
          <a:p>
            <a:pPr lvl="1"/>
            <a:r>
              <a:rPr lang="en-US" altLang="en-US" sz="1000" dirty="0">
                <a:latin typeface="Arial" panose="020B0604020202020204" pitchFamily="34" charset="0"/>
              </a:rPr>
              <a:t>Each team member is write their name on each of the five post-its.</a:t>
            </a:r>
          </a:p>
          <a:p>
            <a:pPr lvl="1"/>
            <a:r>
              <a:rPr lang="en-US" altLang="en-US" sz="1000" dirty="0">
                <a:latin typeface="Arial" panose="020B0604020202020204" pitchFamily="34" charset="0"/>
              </a:rPr>
              <a:t>When you completed this pass the five post-its as a group to the next person in the sequence.</a:t>
            </a:r>
          </a:p>
          <a:p>
            <a:pPr lvl="1"/>
            <a:r>
              <a:rPr lang="en-US" altLang="en-US" sz="1000" dirty="0">
                <a:latin typeface="Arial" panose="020B0604020202020204" pitchFamily="34" charset="0"/>
              </a:rPr>
              <a:t>Record two times for each team</a:t>
            </a:r>
          </a:p>
          <a:p>
            <a:pPr lvl="2"/>
            <a:r>
              <a:rPr lang="en-US" altLang="en-US" sz="1000" dirty="0">
                <a:latin typeface="Arial" panose="020B0604020202020204" pitchFamily="34" charset="0"/>
              </a:rPr>
              <a:t>The time it takes for the 1</a:t>
            </a:r>
            <a:r>
              <a:rPr lang="en-US" altLang="en-US" sz="1000" baseline="30000" dirty="0">
                <a:latin typeface="Arial" panose="020B0604020202020204" pitchFamily="34" charset="0"/>
              </a:rPr>
              <a:t>st</a:t>
            </a:r>
            <a:r>
              <a:rPr lang="en-US" altLang="en-US" sz="1000" dirty="0">
                <a:latin typeface="Arial" panose="020B0604020202020204" pitchFamily="34" charset="0"/>
              </a:rPr>
              <a:t> post-it of the pack of five to be signed by all of the team members</a:t>
            </a:r>
          </a:p>
          <a:p>
            <a:pPr lvl="2"/>
            <a:r>
              <a:rPr lang="en-US" altLang="en-US" sz="1000" dirty="0">
                <a:latin typeface="Arial" panose="020B0604020202020204" pitchFamily="34" charset="0"/>
              </a:rPr>
              <a:t>The time it takes for the last pos-it of the pack of five to be signed by all of the team members</a:t>
            </a:r>
          </a:p>
          <a:p>
            <a:pPr lvl="2"/>
            <a:endParaRPr lang="en-US" altLang="en-US" sz="1000" dirty="0">
              <a:latin typeface="Arial" panose="020B0604020202020204" pitchFamily="34" charset="0"/>
            </a:endParaRPr>
          </a:p>
          <a:p>
            <a:r>
              <a:rPr lang="en-US" altLang="en-US" sz="1000" dirty="0">
                <a:latin typeface="Arial" panose="020B0604020202020204" pitchFamily="34" charset="0"/>
              </a:rPr>
              <a:t>NOTE: </a:t>
            </a:r>
            <a:r>
              <a:rPr lang="en-US" altLang="en-US" sz="1000" b="1" dirty="0">
                <a:latin typeface="Arial" panose="020B0604020202020204" pitchFamily="34" charset="0"/>
              </a:rPr>
              <a:t>Use Flip Chart to create Matrix</a:t>
            </a:r>
          </a:p>
          <a:p>
            <a:r>
              <a:rPr lang="en-US" altLang="en-US" sz="1000" dirty="0">
                <a:latin typeface="Arial" panose="020B0604020202020204" pitchFamily="34" charset="0"/>
              </a:rPr>
              <a:t>		    Trial</a:t>
            </a:r>
          </a:p>
          <a:p>
            <a:r>
              <a:rPr lang="en-US" altLang="en-US" sz="1000" dirty="0">
                <a:latin typeface="Arial" panose="020B0604020202020204" pitchFamily="34" charset="0"/>
              </a:rPr>
              <a:t>		1</a:t>
            </a:r>
            <a:r>
              <a:rPr lang="en-US" altLang="en-US" sz="1000" baseline="30000" dirty="0">
                <a:latin typeface="Arial" panose="020B0604020202020204" pitchFamily="34" charset="0"/>
              </a:rPr>
              <a:t>st</a:t>
            </a:r>
            <a:r>
              <a:rPr lang="en-US" altLang="en-US" sz="1000" dirty="0">
                <a:latin typeface="Arial" panose="020B0604020202020204" pitchFamily="34" charset="0"/>
              </a:rPr>
              <a:t>	Last</a:t>
            </a:r>
          </a:p>
          <a:p>
            <a:pPr lvl="2"/>
            <a:r>
              <a:rPr lang="en-US" altLang="en-US" sz="1000" dirty="0">
                <a:latin typeface="Arial" panose="020B0604020202020204" pitchFamily="34" charset="0"/>
              </a:rPr>
              <a:t>Team</a:t>
            </a:r>
          </a:p>
          <a:p>
            <a:pPr lvl="2"/>
            <a:r>
              <a:rPr lang="en-US" altLang="en-US" sz="1000" dirty="0">
                <a:latin typeface="Arial" panose="020B0604020202020204" pitchFamily="34" charset="0"/>
              </a:rPr>
              <a:t>#1</a:t>
            </a:r>
          </a:p>
          <a:p>
            <a:pPr lvl="2"/>
            <a:r>
              <a:rPr lang="en-US" altLang="en-US" sz="1000" dirty="0">
                <a:latin typeface="Arial" panose="020B0604020202020204" pitchFamily="34" charset="0"/>
              </a:rPr>
              <a:t>#2</a:t>
            </a:r>
          </a:p>
          <a:p>
            <a:pPr lvl="2"/>
            <a:r>
              <a:rPr lang="en-US" altLang="en-US" sz="1000" dirty="0">
                <a:latin typeface="Arial" panose="020B0604020202020204" pitchFamily="34" charset="0"/>
              </a:rPr>
              <a:t>#3</a:t>
            </a:r>
          </a:p>
          <a:p>
            <a:pPr lvl="2"/>
            <a:r>
              <a:rPr lang="en-US" altLang="en-US" sz="1000" dirty="0">
                <a:latin typeface="Arial" panose="020B0604020202020204" pitchFamily="34" charset="0"/>
              </a:rPr>
              <a:t>#4</a:t>
            </a:r>
          </a:p>
          <a:p>
            <a:endParaRPr lang="en-US" altLang="en-US" sz="1000" dirty="0">
              <a:latin typeface="Arial" panose="020B0604020202020204" pitchFamily="34" charset="0"/>
            </a:endParaRPr>
          </a:p>
          <a:p>
            <a:endParaRPr lang="en-US" altLang="en-US" sz="1000"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22276477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ct val="20000"/>
              </a:spcBef>
              <a:spcAft>
                <a:spcPct val="20000"/>
              </a:spcAft>
              <a:buClr>
                <a:schemeClr val="accent1"/>
              </a:buClr>
              <a:buSzPct val="40000"/>
              <a:buFont typeface="Wingdings 2" panose="05020102010507070707" pitchFamily="18" charset="2"/>
              <a:buNone/>
            </a:pPr>
            <a:r>
              <a:rPr lang="en-US" altLang="en-US" sz="800" b="1" dirty="0">
                <a:latin typeface="Arial" panose="020B0604020202020204" pitchFamily="34" charset="0"/>
              </a:rPr>
              <a:t>DO</a:t>
            </a:r>
            <a:r>
              <a:rPr lang="en-US" altLang="en-US" sz="800" dirty="0">
                <a:latin typeface="Arial" panose="020B0604020202020204" pitchFamily="34" charset="0"/>
              </a:rPr>
              <a:t>:</a:t>
            </a:r>
            <a:r>
              <a:rPr lang="en-US" altLang="en-US" sz="800" b="1" dirty="0">
                <a:latin typeface="Arial" panose="020B0604020202020204" pitchFamily="34" charset="0"/>
              </a:rPr>
              <a:t> Post-it® exercise One Piece Flow.</a:t>
            </a:r>
          </a:p>
          <a:p>
            <a:pPr lvl="1">
              <a:lnSpc>
                <a:spcPct val="115000"/>
              </a:lnSpc>
              <a:spcBef>
                <a:spcPct val="20000"/>
              </a:spcBef>
              <a:spcAft>
                <a:spcPct val="20000"/>
              </a:spcAft>
              <a:buClr>
                <a:schemeClr val="accent1"/>
              </a:buClr>
              <a:buSzPct val="40000"/>
              <a:buFont typeface="Wingdings 2" panose="05020102010507070707" pitchFamily="18" charset="2"/>
              <a:buChar char="¢"/>
            </a:pPr>
            <a:r>
              <a:rPr lang="en-US" altLang="en-US" sz="800" dirty="0">
                <a:latin typeface="Arial" panose="020B0604020202020204" pitchFamily="34" charset="0"/>
              </a:rPr>
              <a:t>One Piece Flow Process</a:t>
            </a:r>
          </a:p>
          <a:p>
            <a:pPr lvl="1">
              <a:lnSpc>
                <a:spcPct val="80000"/>
              </a:lnSpc>
            </a:pPr>
            <a:r>
              <a:rPr lang="en-US" altLang="en-US" sz="800" dirty="0">
                <a:latin typeface="Arial" panose="020B0604020202020204" pitchFamily="34" charset="0"/>
              </a:rPr>
              <a:t>Each team member is write their name on one of the five post-its.</a:t>
            </a:r>
          </a:p>
          <a:p>
            <a:pPr lvl="1">
              <a:lnSpc>
                <a:spcPct val="80000"/>
              </a:lnSpc>
            </a:pPr>
            <a:r>
              <a:rPr lang="en-US" altLang="en-US" sz="800" dirty="0">
                <a:latin typeface="Arial" panose="020B0604020202020204" pitchFamily="34" charset="0"/>
              </a:rPr>
              <a:t>When you completed this pass the post-it as a single piece to the next person in the sequence.</a:t>
            </a:r>
          </a:p>
          <a:p>
            <a:pPr lvl="1">
              <a:lnSpc>
                <a:spcPct val="80000"/>
              </a:lnSpc>
            </a:pPr>
            <a:r>
              <a:rPr lang="en-US" altLang="en-US" sz="800" dirty="0">
                <a:latin typeface="Arial" panose="020B0604020202020204" pitchFamily="34" charset="0"/>
              </a:rPr>
              <a:t>Repeat this for the remaining post-its passing them as soon as they are signed and the next person in the sequence is prepared to accept it.  Do not pass the post-it until the person is ready to accept it.</a:t>
            </a:r>
          </a:p>
          <a:p>
            <a:pPr lvl="1">
              <a:lnSpc>
                <a:spcPct val="80000"/>
              </a:lnSpc>
            </a:pPr>
            <a:r>
              <a:rPr lang="en-US" altLang="en-US" sz="800" dirty="0">
                <a:latin typeface="Arial" panose="020B0604020202020204" pitchFamily="34" charset="0"/>
              </a:rPr>
              <a:t>Record two times for each team</a:t>
            </a:r>
          </a:p>
          <a:p>
            <a:pPr lvl="2">
              <a:lnSpc>
                <a:spcPct val="80000"/>
              </a:lnSpc>
            </a:pPr>
            <a:r>
              <a:rPr lang="en-US" altLang="en-US" sz="800" dirty="0">
                <a:latin typeface="Arial" panose="020B0604020202020204" pitchFamily="34" charset="0"/>
              </a:rPr>
              <a:t>The time it takes for the 1</a:t>
            </a:r>
            <a:r>
              <a:rPr lang="en-US" altLang="en-US" sz="800" baseline="30000" dirty="0">
                <a:latin typeface="Arial" panose="020B0604020202020204" pitchFamily="34" charset="0"/>
              </a:rPr>
              <a:t>st</a:t>
            </a:r>
            <a:r>
              <a:rPr lang="en-US" altLang="en-US" sz="800" dirty="0">
                <a:latin typeface="Arial" panose="020B0604020202020204" pitchFamily="34" charset="0"/>
              </a:rPr>
              <a:t> post-it of the pack of three to be signed by all of the team members</a:t>
            </a:r>
          </a:p>
          <a:p>
            <a:pPr lvl="2">
              <a:lnSpc>
                <a:spcPct val="80000"/>
              </a:lnSpc>
            </a:pPr>
            <a:r>
              <a:rPr lang="en-US" altLang="en-US" sz="800" dirty="0">
                <a:latin typeface="Arial" panose="020B0604020202020204" pitchFamily="34" charset="0"/>
              </a:rPr>
              <a:t>The time it takes for the last post-it of the pack of three to be signed by all of the team members</a:t>
            </a:r>
          </a:p>
          <a:p>
            <a:pPr lvl="2">
              <a:lnSpc>
                <a:spcPct val="80000"/>
              </a:lnSpc>
            </a:pPr>
            <a:endParaRPr lang="en-US" altLang="en-US" sz="800" b="1" dirty="0">
              <a:latin typeface="Arial" panose="020B0604020202020204" pitchFamily="34" charset="0"/>
            </a:endParaRPr>
          </a:p>
          <a:p>
            <a:pPr>
              <a:lnSpc>
                <a:spcPct val="80000"/>
              </a:lnSpc>
            </a:pPr>
            <a:r>
              <a:rPr lang="en-US" altLang="en-US" sz="800" dirty="0">
                <a:latin typeface="Arial" panose="020B0604020202020204" pitchFamily="34" charset="0"/>
              </a:rPr>
              <a:t>Use: </a:t>
            </a:r>
            <a:r>
              <a:rPr lang="en-US" altLang="en-US" sz="800" b="1" dirty="0">
                <a:latin typeface="Arial" panose="020B0604020202020204" pitchFamily="34" charset="0"/>
              </a:rPr>
              <a:t>Flip Chart to create Matrix</a:t>
            </a:r>
          </a:p>
          <a:p>
            <a:pPr>
              <a:lnSpc>
                <a:spcPct val="80000"/>
              </a:lnSpc>
            </a:pPr>
            <a:r>
              <a:rPr lang="en-US" altLang="en-US" sz="800" dirty="0">
                <a:latin typeface="Arial" panose="020B0604020202020204" pitchFamily="34" charset="0"/>
              </a:rPr>
              <a:t>		</a:t>
            </a:r>
            <a:r>
              <a:rPr lang="en-US" altLang="en-US" sz="800">
                <a:latin typeface="Arial" panose="020B0604020202020204" pitchFamily="34" charset="0"/>
              </a:rPr>
              <a:t>         Trial </a:t>
            </a:r>
            <a:r>
              <a:rPr lang="en-US" altLang="en-US" sz="800" dirty="0">
                <a:latin typeface="Arial" panose="020B0604020202020204" pitchFamily="34" charset="0"/>
              </a:rPr>
              <a:t>1</a:t>
            </a:r>
            <a:r>
              <a:rPr lang="en-US" altLang="en-US" sz="800">
                <a:latin typeface="Arial" panose="020B0604020202020204" pitchFamily="34" charset="0"/>
              </a:rPr>
              <a:t>	                                   </a:t>
            </a:r>
            <a:r>
              <a:rPr lang="en-US" altLang="en-US" sz="800" dirty="0">
                <a:latin typeface="Arial" panose="020B0604020202020204" pitchFamily="34" charset="0"/>
              </a:rPr>
              <a:t>Trial 2</a:t>
            </a:r>
            <a:r>
              <a:rPr lang="en-US" altLang="en-US" sz="800">
                <a:latin typeface="Arial" panose="020B0604020202020204" pitchFamily="34" charset="0"/>
              </a:rPr>
              <a:t>		Delta</a:t>
            </a:r>
            <a:endParaRPr lang="en-US" altLang="en-US" sz="800" dirty="0">
              <a:latin typeface="Arial" panose="020B0604020202020204" pitchFamily="34" charset="0"/>
            </a:endParaRPr>
          </a:p>
          <a:p>
            <a:pPr>
              <a:lnSpc>
                <a:spcPct val="80000"/>
              </a:lnSpc>
            </a:pPr>
            <a:r>
              <a:rPr lang="en-US" altLang="en-US" sz="800" dirty="0">
                <a:latin typeface="Arial" panose="020B0604020202020204" pitchFamily="34" charset="0"/>
              </a:rPr>
              <a:t>		1</a:t>
            </a:r>
            <a:r>
              <a:rPr lang="en-US" altLang="en-US" sz="800" baseline="30000" dirty="0">
                <a:latin typeface="Arial" panose="020B0604020202020204" pitchFamily="34" charset="0"/>
              </a:rPr>
              <a:t>st</a:t>
            </a:r>
            <a:r>
              <a:rPr lang="en-US" altLang="en-US" sz="800" dirty="0">
                <a:latin typeface="Arial" panose="020B0604020202020204" pitchFamily="34" charset="0"/>
              </a:rPr>
              <a:t>	Last	1</a:t>
            </a:r>
            <a:r>
              <a:rPr lang="en-US" altLang="en-US" sz="800" baseline="30000" dirty="0">
                <a:latin typeface="Arial" panose="020B0604020202020204" pitchFamily="34" charset="0"/>
              </a:rPr>
              <a:t>st</a:t>
            </a:r>
            <a:r>
              <a:rPr lang="en-US" altLang="en-US" sz="800" dirty="0">
                <a:latin typeface="Arial" panose="020B0604020202020204" pitchFamily="34" charset="0"/>
              </a:rPr>
              <a:t>	Last</a:t>
            </a:r>
          </a:p>
          <a:p>
            <a:pPr lvl="2">
              <a:lnSpc>
                <a:spcPct val="80000"/>
              </a:lnSpc>
            </a:pPr>
            <a:r>
              <a:rPr lang="en-US" altLang="en-US" sz="800" dirty="0">
                <a:latin typeface="Arial" panose="020B0604020202020204" pitchFamily="34" charset="0"/>
              </a:rPr>
              <a:t>Team</a:t>
            </a:r>
          </a:p>
          <a:p>
            <a:pPr lvl="2">
              <a:lnSpc>
                <a:spcPct val="80000"/>
              </a:lnSpc>
            </a:pPr>
            <a:r>
              <a:rPr lang="en-US" altLang="en-US" sz="800" dirty="0">
                <a:latin typeface="Arial" panose="020B0604020202020204" pitchFamily="34" charset="0"/>
              </a:rPr>
              <a:t>#1</a:t>
            </a:r>
          </a:p>
          <a:p>
            <a:pPr lvl="2">
              <a:lnSpc>
                <a:spcPct val="80000"/>
              </a:lnSpc>
            </a:pPr>
            <a:r>
              <a:rPr lang="en-US" altLang="en-US" sz="800" dirty="0">
                <a:latin typeface="Arial" panose="020B0604020202020204" pitchFamily="34" charset="0"/>
              </a:rPr>
              <a:t>#2</a:t>
            </a:r>
          </a:p>
          <a:p>
            <a:pPr lvl="2">
              <a:lnSpc>
                <a:spcPct val="80000"/>
              </a:lnSpc>
            </a:pPr>
            <a:r>
              <a:rPr lang="en-US" altLang="en-US" sz="800" dirty="0">
                <a:latin typeface="Arial" panose="020B0604020202020204" pitchFamily="34" charset="0"/>
              </a:rPr>
              <a:t>#3</a:t>
            </a:r>
          </a:p>
          <a:p>
            <a:pPr lvl="2">
              <a:lnSpc>
                <a:spcPct val="80000"/>
              </a:lnSpc>
            </a:pPr>
            <a:r>
              <a:rPr lang="en-US" altLang="en-US" sz="800" dirty="0">
                <a:latin typeface="Arial" panose="020B0604020202020204" pitchFamily="34" charset="0"/>
              </a:rPr>
              <a:t>#4</a:t>
            </a:r>
          </a:p>
          <a:p>
            <a:pPr>
              <a:lnSpc>
                <a:spcPct val="80000"/>
              </a:lnSpc>
            </a:pPr>
            <a:endParaRPr lang="en-US" altLang="en-US" sz="800" b="1" dirty="0">
              <a:latin typeface="Arial" panose="020B0604020202020204" pitchFamily="34" charset="0"/>
            </a:endParaRPr>
          </a:p>
          <a:p>
            <a:pPr>
              <a:lnSpc>
                <a:spcPct val="80000"/>
              </a:lnSpc>
            </a:pPr>
            <a:r>
              <a:rPr lang="en-US" altLang="en-US" sz="800" dirty="0">
                <a:latin typeface="Arial" panose="020B0604020202020204" pitchFamily="34" charset="0"/>
              </a:rPr>
              <a:t>DO:</a:t>
            </a:r>
            <a:r>
              <a:rPr lang="en-US" altLang="en-US" sz="800" b="1" dirty="0">
                <a:latin typeface="Arial" panose="020B0604020202020204" pitchFamily="34" charset="0"/>
              </a:rPr>
              <a:t> Compare the results of the two trials noting the % change in performance</a:t>
            </a:r>
          </a:p>
          <a:p>
            <a:pPr>
              <a:lnSpc>
                <a:spcPct val="80000"/>
              </a:lnSpc>
            </a:pPr>
            <a:endParaRPr lang="en-US" altLang="en-US" sz="800" b="1" dirty="0">
              <a:latin typeface="Arial" panose="020B0604020202020204" pitchFamily="34" charset="0"/>
            </a:endParaRPr>
          </a:p>
          <a:p>
            <a:pPr>
              <a:lnSpc>
                <a:spcPct val="80000"/>
              </a:lnSpc>
            </a:pPr>
            <a:r>
              <a:rPr lang="en-US" altLang="en-US" sz="800" dirty="0">
                <a:latin typeface="Arial" panose="020B0604020202020204" pitchFamily="34" charset="0"/>
              </a:rPr>
              <a:t>SAY: </a:t>
            </a:r>
            <a:r>
              <a:rPr lang="ja-JP" altLang="en-US" sz="800" b="1" dirty="0">
                <a:latin typeface="Arial" panose="020B0604020202020204" pitchFamily="34" charset="0"/>
              </a:rPr>
              <a:t>“</a:t>
            </a:r>
            <a:r>
              <a:rPr lang="en-US" altLang="ja-JP" sz="800" b="1" dirty="0">
                <a:latin typeface="Arial" panose="020B0604020202020204" pitchFamily="34" charset="0"/>
              </a:rPr>
              <a:t>You all did something that you do multiple times everyday, sign your name, so there really </a:t>
            </a:r>
            <a:r>
              <a:rPr lang="en-US" altLang="ja-JP" sz="800" b="1" dirty="0" err="1">
                <a:latin typeface="Arial" panose="020B0604020202020204" pitchFamily="34" charset="0"/>
              </a:rPr>
              <a:t>wasn</a:t>
            </a:r>
            <a:r>
              <a:rPr lang="ja-JP" altLang="en-US" sz="800" b="1" dirty="0">
                <a:latin typeface="Arial" panose="020B0604020202020204" pitchFamily="34" charset="0"/>
              </a:rPr>
              <a:t>’</a:t>
            </a:r>
            <a:r>
              <a:rPr lang="en-US" altLang="ja-JP" sz="800" b="1" dirty="0">
                <a:latin typeface="Arial" panose="020B0604020202020204" pitchFamily="34" charset="0"/>
              </a:rPr>
              <a:t>t any learning curve involved.  You did exactly the same thing using the same technologies.  You didn't get a new IT system, or a preprinted form, or a faster pen, or slicker paper, it was all exactly the same except for the way you approached the process.  And by changing the way you approached the process, by moving to one piece flow and focusing on the customer there was a significantly different result.</a:t>
            </a:r>
            <a:r>
              <a:rPr lang="ja-JP" altLang="en-US" sz="800" b="1" dirty="0">
                <a:latin typeface="Arial" panose="020B0604020202020204" pitchFamily="34" charset="0"/>
              </a:rPr>
              <a:t>”</a:t>
            </a:r>
            <a:endParaRPr lang="en-US" altLang="en-US" sz="800"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37121267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r>
              <a:rPr lang="en-US" altLang="en-US" b="1" dirty="0">
                <a:latin typeface="Arial" panose="020B0604020202020204" pitchFamily="34" charset="0"/>
              </a:rPr>
              <a:t>REFERENCE FOR MORE ON ORIGINS OF TAKT TIME:</a:t>
            </a:r>
            <a:r>
              <a:rPr lang="en-US" altLang="en-US" dirty="0">
                <a:latin typeface="Arial" panose="020B0604020202020204" pitchFamily="34" charset="0"/>
              </a:rPr>
              <a:t> </a:t>
            </a:r>
            <a:br>
              <a:rPr lang="en-US" altLang="en-US" dirty="0">
                <a:latin typeface="Arial" panose="020B0604020202020204" pitchFamily="34" charset="0"/>
              </a:rPr>
            </a:br>
            <a:r>
              <a:rPr lang="en-US" altLang="en-US" dirty="0">
                <a:latin typeface="Arial" panose="020B0604020202020204" pitchFamily="34" charset="0"/>
              </a:rPr>
              <a:t>This term is an interesting example of a word moving from region to region until it is now becoming standard in German, Japanese, and English. The word itself, meaning a precision interval of time, as in musical meter, was first introduced in German industry as it embraced mass production in the 1930s. German aircraft firms moved aircraft fuselages ahead to the next workstation at steady intervals determined by the Takt time. Mitsubishi imported the term in its German form for its own aircraft production efforts in Japan and the term was later taken up by Toyota. It has only crept into English in the last decade as lean thinking has spread.</a:t>
            </a:r>
          </a:p>
          <a:p>
            <a:pPr>
              <a:spcBef>
                <a:spcPct val="0"/>
              </a:spcBef>
            </a:pPr>
            <a:endParaRPr lang="en-US" altLang="en-US" dirty="0">
              <a:latin typeface="Arial" panose="020B0604020202020204" pitchFamily="34" charset="0"/>
            </a:endParaRPr>
          </a:p>
          <a:p>
            <a:pPr>
              <a:spcBef>
                <a:spcPct val="0"/>
              </a:spcBef>
            </a:pPr>
            <a:r>
              <a:rPr lang="en-US" altLang="en-US" dirty="0">
                <a:latin typeface="Arial" panose="020B0604020202020204" pitchFamily="34" charset="0"/>
              </a:rPr>
              <a:t>For the historical details see </a:t>
            </a:r>
            <a:r>
              <a:rPr lang="en-US" altLang="en-US" dirty="0" err="1">
                <a:latin typeface="Arial" panose="020B0604020202020204" pitchFamily="34" charset="0"/>
              </a:rPr>
              <a:t>Kazou</a:t>
            </a:r>
            <a:r>
              <a:rPr lang="en-US" altLang="en-US" dirty="0">
                <a:latin typeface="Arial" panose="020B0604020202020204" pitchFamily="34" charset="0"/>
              </a:rPr>
              <a:t> Wada, "The Emergence of the 'Flow Production' Method in Japan," in </a:t>
            </a:r>
            <a:r>
              <a:rPr lang="en-US" altLang="en-US" dirty="0" err="1">
                <a:latin typeface="Arial" panose="020B0604020202020204" pitchFamily="34" charset="0"/>
              </a:rPr>
              <a:t>Haruhito</a:t>
            </a:r>
            <a:r>
              <a:rPr lang="en-US" altLang="en-US" dirty="0">
                <a:latin typeface="Arial" panose="020B0604020202020204" pitchFamily="34" charset="0"/>
              </a:rPr>
              <a:t> </a:t>
            </a:r>
            <a:r>
              <a:rPr lang="en-US" altLang="en-US" dirty="0" err="1">
                <a:latin typeface="Arial" panose="020B0604020202020204" pitchFamily="34" charset="0"/>
              </a:rPr>
              <a:t>Shiomi</a:t>
            </a:r>
            <a:r>
              <a:rPr lang="en-US" altLang="en-US" dirty="0">
                <a:latin typeface="Arial" panose="020B0604020202020204" pitchFamily="34" charset="0"/>
              </a:rPr>
              <a:t> and Kazuo Wada, Fordism Transformed: The Development of Production Methods in the Automobile Industry (Oxford: Oxford University Press, 1995.</a:t>
            </a:r>
            <a:br>
              <a:rPr lang="en-US" altLang="en-US" dirty="0">
                <a:latin typeface="Arial" panose="020B0604020202020204" pitchFamily="34" charset="0"/>
              </a:rPr>
            </a:br>
            <a:r>
              <a:rPr lang="en-US" altLang="en-US" dirty="0">
                <a:latin typeface="Arial" panose="020B0604020202020204" pitchFamily="34" charset="0"/>
              </a:rPr>
              <a:t>Later research led to the information that the specific German production line in question was the one for the Junker airplane. </a:t>
            </a:r>
          </a:p>
          <a:p>
            <a:r>
              <a:rPr lang="en-US" altLang="en-US" dirty="0">
                <a:latin typeface="Arial" panose="020B0604020202020204" pitchFamily="34" charset="0"/>
              </a:rPr>
              <a:t>Source:</a:t>
            </a:r>
          </a:p>
          <a:p>
            <a:r>
              <a:rPr lang="en-US" altLang="en-US" dirty="0">
                <a:latin typeface="Arial" panose="020B0604020202020204" pitchFamily="34" charset="0"/>
              </a:rPr>
              <a:t>James P. Womack </a:t>
            </a:r>
          </a:p>
          <a:p>
            <a:r>
              <a:rPr lang="en-US" altLang="en-US" dirty="0">
                <a:latin typeface="Arial" panose="020B0604020202020204" pitchFamily="34" charset="0"/>
              </a:rPr>
              <a:t>and Daniel T. Jones,</a:t>
            </a:r>
          </a:p>
          <a:p>
            <a:r>
              <a:rPr lang="en-US" altLang="en-US" u="sng" dirty="0">
                <a:latin typeface="Arial" panose="020B0604020202020204" pitchFamily="34" charset="0"/>
              </a:rPr>
              <a:t>Lean Thinking, 1996</a:t>
            </a:r>
            <a:endParaRPr lang="en-US" altLang="en-US" dirty="0">
              <a:latin typeface="Arial" panose="020B0604020202020204" pitchFamily="34" charset="0"/>
            </a:endParaRP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37156582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Review the definition for TAKT time here and the exact calculation. Here is an example of a TAKT time calculation.  The inputs are the customer demand is 350 units per shift, there are 8 hours per shift, an unpaid lunch and two 15 minute paid breaks.  Start by calculating the gross available time which is 8 hours * 60 minutes per hour * 60 seconds per minute.  Subtract from this total the breaks (30 minutes * 60 seconds per minute) for a total available time of 27,000 seconds.  Note, in this case there is a paid lunch.  To calculate the TAKT time, divide 27,000 seconds by 350 units to get 77 a TAKT time of 77 seconds.</a:t>
            </a:r>
          </a:p>
          <a:p>
            <a:endParaRPr lang="en-US" altLang="en-US" dirty="0">
              <a:latin typeface="Arial" panose="020B0604020202020204" pitchFamily="34" charset="0"/>
            </a:endParaRP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14412848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1EBC7989-A671-4EFF-B476-6762AC9400F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938213">
              <a:defRPr sz="900" b="1">
                <a:solidFill>
                  <a:schemeClr val="bg1"/>
                </a:solidFill>
                <a:latin typeface="Arial" panose="020B0604020202020204" pitchFamily="34" charset="0"/>
                <a:ea typeface="MS PGothic" panose="020B0600070205080204" pitchFamily="34" charset="-128"/>
              </a:defRPr>
            </a:lvl1pPr>
            <a:lvl2pPr marL="742950" indent="-285750" defTabSz="938213">
              <a:defRPr sz="900" b="1">
                <a:solidFill>
                  <a:schemeClr val="bg1"/>
                </a:solidFill>
                <a:latin typeface="Arial" panose="020B0604020202020204" pitchFamily="34" charset="0"/>
                <a:ea typeface="MS PGothic" panose="020B0600070205080204" pitchFamily="34" charset="-128"/>
              </a:defRPr>
            </a:lvl2pPr>
            <a:lvl3pPr marL="1143000" indent="-228600" defTabSz="938213">
              <a:defRPr sz="900" b="1">
                <a:solidFill>
                  <a:schemeClr val="bg1"/>
                </a:solidFill>
                <a:latin typeface="Arial" panose="020B0604020202020204" pitchFamily="34" charset="0"/>
                <a:ea typeface="MS PGothic" panose="020B0600070205080204" pitchFamily="34" charset="-128"/>
              </a:defRPr>
            </a:lvl3pPr>
            <a:lvl4pPr marL="1600200" indent="-228600" defTabSz="938213">
              <a:defRPr sz="900" b="1">
                <a:solidFill>
                  <a:schemeClr val="bg1"/>
                </a:solidFill>
                <a:latin typeface="Arial" panose="020B0604020202020204" pitchFamily="34" charset="0"/>
                <a:ea typeface="MS PGothic" panose="020B0600070205080204" pitchFamily="34" charset="-128"/>
              </a:defRPr>
            </a:lvl4pPr>
            <a:lvl5pPr marL="2057400" indent="-228600" defTabSz="938213">
              <a:defRPr sz="900" b="1">
                <a:solidFill>
                  <a:schemeClr val="bg1"/>
                </a:solidFill>
                <a:latin typeface="Arial" panose="020B0604020202020204" pitchFamily="34" charset="0"/>
                <a:ea typeface="MS PGothic" panose="020B0600070205080204" pitchFamily="34" charset="-128"/>
              </a:defRPr>
            </a:lvl5pPr>
            <a:lvl6pPr marL="2514600" indent="-228600" algn="ctr" defTabSz="938213"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938213"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938213"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938213"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fld id="{86FFF7CD-7B5B-4E4F-80E8-1989DB61F29E}" type="slidenum">
              <a:rPr lang="en-US" altLang="en-US" sz="1200" b="0">
                <a:solidFill>
                  <a:schemeClr val="tx1"/>
                </a:solidFill>
                <a:latin typeface="Times New Roman" panose="02020603050405020304" pitchFamily="18" charset="0"/>
              </a:rPr>
              <a:pPr/>
              <a:t>39</a:t>
            </a:fld>
            <a:endParaRPr lang="en-US" altLang="en-US" sz="1200" b="0">
              <a:solidFill>
                <a:schemeClr val="tx1"/>
              </a:solidFill>
              <a:latin typeface="Times New Roman" panose="02020603050405020304" pitchFamily="18" charset="0"/>
            </a:endParaRPr>
          </a:p>
        </p:txBody>
      </p:sp>
      <p:sp>
        <p:nvSpPr>
          <p:cNvPr id="98306" name="Rectangle 2">
            <a:extLst>
              <a:ext uri="{FF2B5EF4-FFF2-40B4-BE49-F238E27FC236}">
                <a16:creationId xmlns:a16="http://schemas.microsoft.com/office/drawing/2014/main" id="{EDADC018-09B6-445E-A9A5-D5263828C7B6}"/>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D34A90B2-76BE-461F-966C-B4EC0D774E4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a:extLst>
              <a:ext uri="{FF2B5EF4-FFF2-40B4-BE49-F238E27FC236}">
                <a16:creationId xmlns:a16="http://schemas.microsoft.com/office/drawing/2014/main" id="{1EBC7989-A671-4EFF-B476-6762AC9400F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938213">
              <a:defRPr sz="900" b="1">
                <a:solidFill>
                  <a:schemeClr val="bg1"/>
                </a:solidFill>
                <a:latin typeface="Arial" panose="020B0604020202020204" pitchFamily="34" charset="0"/>
                <a:ea typeface="MS PGothic" panose="020B0600070205080204" pitchFamily="34" charset="-128"/>
              </a:defRPr>
            </a:lvl1pPr>
            <a:lvl2pPr marL="742950" indent="-285750" defTabSz="938213">
              <a:defRPr sz="900" b="1">
                <a:solidFill>
                  <a:schemeClr val="bg1"/>
                </a:solidFill>
                <a:latin typeface="Arial" panose="020B0604020202020204" pitchFamily="34" charset="0"/>
                <a:ea typeface="MS PGothic" panose="020B0600070205080204" pitchFamily="34" charset="-128"/>
              </a:defRPr>
            </a:lvl2pPr>
            <a:lvl3pPr marL="1143000" indent="-228600" defTabSz="938213">
              <a:defRPr sz="900" b="1">
                <a:solidFill>
                  <a:schemeClr val="bg1"/>
                </a:solidFill>
                <a:latin typeface="Arial" panose="020B0604020202020204" pitchFamily="34" charset="0"/>
                <a:ea typeface="MS PGothic" panose="020B0600070205080204" pitchFamily="34" charset="-128"/>
              </a:defRPr>
            </a:lvl3pPr>
            <a:lvl4pPr marL="1600200" indent="-228600" defTabSz="938213">
              <a:defRPr sz="900" b="1">
                <a:solidFill>
                  <a:schemeClr val="bg1"/>
                </a:solidFill>
                <a:latin typeface="Arial" panose="020B0604020202020204" pitchFamily="34" charset="0"/>
                <a:ea typeface="MS PGothic" panose="020B0600070205080204" pitchFamily="34" charset="-128"/>
              </a:defRPr>
            </a:lvl4pPr>
            <a:lvl5pPr marL="2057400" indent="-228600" defTabSz="938213">
              <a:defRPr sz="900" b="1">
                <a:solidFill>
                  <a:schemeClr val="bg1"/>
                </a:solidFill>
                <a:latin typeface="Arial" panose="020B0604020202020204" pitchFamily="34" charset="0"/>
                <a:ea typeface="MS PGothic" panose="020B0600070205080204" pitchFamily="34" charset="-128"/>
              </a:defRPr>
            </a:lvl5pPr>
            <a:lvl6pPr marL="2514600" indent="-228600" algn="ctr" defTabSz="938213"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938213"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938213"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938213"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fld id="{86FFF7CD-7B5B-4E4F-80E8-1989DB61F29E}" type="slidenum">
              <a:rPr lang="en-US" altLang="en-US" sz="1200" b="0">
                <a:solidFill>
                  <a:schemeClr val="tx1"/>
                </a:solidFill>
                <a:latin typeface="Times New Roman" panose="02020603050405020304" pitchFamily="18" charset="0"/>
              </a:rPr>
              <a:pPr/>
              <a:t>41</a:t>
            </a:fld>
            <a:endParaRPr lang="en-US" altLang="en-US" sz="1200" b="0">
              <a:solidFill>
                <a:schemeClr val="tx1"/>
              </a:solidFill>
              <a:latin typeface="Times New Roman" panose="02020603050405020304" pitchFamily="18" charset="0"/>
            </a:endParaRPr>
          </a:p>
        </p:txBody>
      </p:sp>
      <p:sp>
        <p:nvSpPr>
          <p:cNvPr id="98306" name="Rectangle 2">
            <a:extLst>
              <a:ext uri="{FF2B5EF4-FFF2-40B4-BE49-F238E27FC236}">
                <a16:creationId xmlns:a16="http://schemas.microsoft.com/office/drawing/2014/main" id="{EDADC018-09B6-445E-A9A5-D5263828C7B6}"/>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D34A90B2-76BE-461F-966C-B4EC0D774E4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Tree>
    <p:extLst>
      <p:ext uri="{BB962C8B-B14F-4D97-AF65-F5344CB8AC3E}">
        <p14:creationId xmlns:p14="http://schemas.microsoft.com/office/powerpoint/2010/main" val="23059507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Keep the goal of continuous flow always in mind. While </a:t>
            </a:r>
            <a:r>
              <a:rPr lang="ja-JP" altLang="en-US" dirty="0">
                <a:latin typeface="Arial" panose="020B0604020202020204" pitchFamily="34" charset="0"/>
              </a:rPr>
              <a:t>“</a:t>
            </a:r>
            <a:r>
              <a:rPr lang="en-US" altLang="ja-JP" dirty="0">
                <a:latin typeface="Arial" panose="020B0604020202020204" pitchFamily="34" charset="0"/>
              </a:rPr>
              <a:t>pull</a:t>
            </a:r>
            <a:r>
              <a:rPr lang="ja-JP" altLang="en-US" dirty="0">
                <a:latin typeface="Arial" panose="020B0604020202020204" pitchFamily="34" charset="0"/>
              </a:rPr>
              <a:t>”</a:t>
            </a:r>
            <a:r>
              <a:rPr lang="en-US" altLang="ja-JP" dirty="0">
                <a:latin typeface="Arial" panose="020B0604020202020204" pitchFamily="34" charset="0"/>
              </a:rPr>
              <a:t> is the next best thing, pull is still a failure to flow.</a:t>
            </a:r>
            <a:r>
              <a:rPr lang="ja-JP" altLang="en-US" dirty="0">
                <a:latin typeface="Arial" panose="020B0604020202020204" pitchFamily="34" charset="0"/>
              </a:rPr>
              <a:t>”</a:t>
            </a:r>
            <a:endParaRPr lang="en-US" altLang="ja-JP" dirty="0">
              <a:latin typeface="Arial" panose="020B0604020202020204" pitchFamily="34" charset="0"/>
            </a:endParaRP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Whenever we reduce inventory, we expose problems that had been covered up by that inventory. This is a good thing (although at first it may not feel that way). </a:t>
            </a:r>
          </a:p>
          <a:p>
            <a:r>
              <a:rPr lang="en-US" altLang="ja-JP" b="1" dirty="0">
                <a:latin typeface="Arial" panose="020B0604020202020204" pitchFamily="34" charset="0"/>
              </a:rPr>
              <a:t>ASK:</a:t>
            </a:r>
            <a:r>
              <a:rPr lang="en-US" altLang="ja-JP" dirty="0">
                <a:latin typeface="Arial" panose="020B0604020202020204" pitchFamily="34" charset="0"/>
              </a:rPr>
              <a:t> Why is this a good thing?</a:t>
            </a:r>
            <a:r>
              <a:rPr lang="ja-JP" altLang="en-US" dirty="0">
                <a:latin typeface="Arial" panose="020B0604020202020204" pitchFamily="34" charset="0"/>
              </a:rPr>
              <a:t>”</a:t>
            </a:r>
            <a:r>
              <a:rPr lang="en-US" altLang="ja-JP" dirty="0">
                <a:latin typeface="Arial" panose="020B0604020202020204" pitchFamily="34" charset="0"/>
              </a:rPr>
              <a:t> (because you can</a:t>
            </a:r>
            <a:r>
              <a:rPr lang="ja-JP" altLang="en-US" dirty="0">
                <a:latin typeface="Arial" panose="020B0604020202020204" pitchFamily="34" charset="0"/>
              </a:rPr>
              <a:t>’</a:t>
            </a:r>
            <a:r>
              <a:rPr lang="en-US" altLang="ja-JP" dirty="0">
                <a:latin typeface="Arial" panose="020B0604020202020204" pitchFamily="34" charset="0"/>
              </a:rPr>
              <a:t>t solve problems that haven</a:t>
            </a:r>
            <a:r>
              <a:rPr lang="ja-JP" altLang="en-US" dirty="0">
                <a:latin typeface="Arial" panose="020B0604020202020204" pitchFamily="34" charset="0"/>
              </a:rPr>
              <a:t>’</a:t>
            </a:r>
            <a:r>
              <a:rPr lang="en-US" altLang="ja-JP" dirty="0">
                <a:latin typeface="Arial" panose="020B0604020202020204" pitchFamily="34" charset="0"/>
              </a:rPr>
              <a:t>t been identified).</a:t>
            </a:r>
          </a:p>
          <a:p>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commitment to striving for perfection is a big part of the cultural change that needs to take place.  We need to acknowledge that everything that we do can be done better and striving for perfection is how we make continuous improvement a part of our everyday lives.</a:t>
            </a:r>
            <a:r>
              <a:rPr lang="ja-JP" altLang="en-US" dirty="0">
                <a:latin typeface="Arial" panose="020B0604020202020204" pitchFamily="34" charset="0"/>
              </a:rPr>
              <a:t>”</a:t>
            </a:r>
            <a:endParaRPr lang="en-US" altLang="ja-JP"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42885072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24838354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23011780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4858169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ASK:</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Where are you in this journey?</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21781765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The key take-away from this graphic is that true Lean transformation takes place when Lean activity is the </a:t>
            </a:r>
            <a:r>
              <a:rPr lang="ja-JP" altLang="en-US" dirty="0">
                <a:latin typeface="Arial" panose="020B0604020202020204" pitchFamily="34" charset="0"/>
              </a:rPr>
              <a:t>“</a:t>
            </a:r>
            <a:r>
              <a:rPr lang="en-US" altLang="ja-JP" dirty="0">
                <a:latin typeface="Arial" panose="020B0604020202020204" pitchFamily="34" charset="0"/>
              </a:rPr>
              <a:t>go-to</a:t>
            </a:r>
            <a:r>
              <a:rPr lang="ja-JP" altLang="en-US" dirty="0">
                <a:latin typeface="Arial" panose="020B0604020202020204" pitchFamily="34" charset="0"/>
              </a:rPr>
              <a:t>”</a:t>
            </a:r>
            <a:r>
              <a:rPr lang="en-US" altLang="ja-JP" dirty="0">
                <a:latin typeface="Arial" panose="020B0604020202020204" pitchFamily="34" charset="0"/>
              </a:rPr>
              <a:t> way to drive improvements in all areas of the business: Administration, SD, Logistics, Manufacturing, Product Development, Employee Development/HR, etc.</a:t>
            </a:r>
            <a:r>
              <a:rPr lang="ja-JP" altLang="en-US" dirty="0">
                <a:latin typeface="Arial" panose="020B0604020202020204" pitchFamily="34" charset="0"/>
              </a:rPr>
              <a:t>”</a:t>
            </a:r>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17334984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SAY:</a:t>
            </a:r>
            <a:r>
              <a:rPr lang="en-US" altLang="en-US" dirty="0">
                <a:latin typeface="Arial" panose="020B0604020202020204" pitchFamily="34" charset="0"/>
              </a:rPr>
              <a:t> </a:t>
            </a:r>
            <a:r>
              <a:rPr lang="ja-JP" altLang="en-US" dirty="0">
                <a:latin typeface="Arial" panose="020B0604020202020204" pitchFamily="34" charset="0"/>
              </a:rPr>
              <a:t>“</a:t>
            </a:r>
            <a:r>
              <a:rPr lang="en-US" altLang="ja-JP" dirty="0">
                <a:latin typeface="Arial" panose="020B0604020202020204" pitchFamily="34" charset="0"/>
              </a:rPr>
              <a:t>Overall; Lean is about having a process to use everybody's "brains</a:t>
            </a:r>
            <a:r>
              <a:rPr lang="ja-JP" altLang="en-US" dirty="0">
                <a:latin typeface="Arial" panose="020B0604020202020204" pitchFamily="34" charset="0"/>
              </a:rPr>
              <a:t>“</a:t>
            </a:r>
            <a:r>
              <a:rPr lang="en-US" altLang="ja-JP" dirty="0">
                <a:latin typeface="Arial" panose="020B0604020202020204" pitchFamily="34" charset="0"/>
              </a:rPr>
              <a:t> to understand what is important for the customer, and identify and eliminate waste consistently.</a:t>
            </a:r>
            <a:r>
              <a:rPr lang="ja-JP" altLang="en-US" dirty="0">
                <a:latin typeface="Arial" panose="020B0604020202020204" pitchFamily="34" charset="0"/>
              </a:rPr>
              <a:t>”</a:t>
            </a:r>
            <a:endParaRPr lang="en-US" altLang="en-US" dirty="0">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5879400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21986751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4206079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a:xfrm>
            <a:off x="838200" y="681037"/>
            <a:ext cx="10515600" cy="1009651"/>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a:xfrm>
            <a:off x="838200" y="681037"/>
            <a:ext cx="10515600" cy="1009651"/>
          </a:xfrm>
          <a:prstGeom prst="rect">
            <a:avLst/>
          </a:prstGeo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a:prstGeom prst="rect">
            <a:avLst/>
          </a:prstGeo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a:xfrm>
            <a:off x="838200" y="681037"/>
            <a:ext cx="10515600" cy="1009651"/>
          </a:xfrm>
          <a:prstGeom prst="rect">
            <a:avLst/>
          </a:prstGeom>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a:prstGeom prst="rect">
            <a:avLst/>
          </a:prstGeo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a:prstGeom prst="rect">
            <a:avLst/>
          </a:prstGeo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a:xfrm>
            <a:off x="838200" y="681037"/>
            <a:ext cx="10515600" cy="1009651"/>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796636" y="6249243"/>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Slide Number Placeholder 7">
            <a:extLst>
              <a:ext uri="{FF2B5EF4-FFF2-40B4-BE49-F238E27FC236}">
                <a16:creationId xmlns:a16="http://schemas.microsoft.com/office/drawing/2014/main" id="{CD9BDA6C-5471-D9A3-4DFD-2D10BCB10D50}"/>
              </a:ext>
            </a:extLst>
          </p:cNvPr>
          <p:cNvSpPr>
            <a:spLocks noGrp="1"/>
          </p:cNvSpPr>
          <p:nvPr>
            <p:ph type="sldNum" sz="quarter" idx="4"/>
          </p:nvPr>
        </p:nvSpPr>
        <p:spPr>
          <a:xfrm>
            <a:off x="8595078" y="6386632"/>
            <a:ext cx="2743200" cy="331932"/>
          </a:xfrm>
          <a:prstGeom prst="rect">
            <a:avLst/>
          </a:prstGeom>
        </p:spPr>
        <p:txBody>
          <a:bodyPr/>
          <a:lstStyle>
            <a:lvl1pPr algn="r">
              <a:defRPr sz="1000"/>
            </a:lvl1pPr>
          </a:lstStyle>
          <a:p>
            <a:fld id="{CC6D4273-7FC1-0947-B9FE-19CB3C0D1FB6}" type="slidenum">
              <a:rPr lang="en-US" smtClean="0"/>
              <a:pPr/>
              <a:t>‹#›</a:t>
            </a:fld>
            <a:endParaRPr lang="en-US" dirty="0"/>
          </a:p>
        </p:txBody>
      </p:sp>
      <p:sp>
        <p:nvSpPr>
          <p:cNvPr id="17" name="TextBox 16">
            <a:extLst>
              <a:ext uri="{FF2B5EF4-FFF2-40B4-BE49-F238E27FC236}">
                <a16:creationId xmlns:a16="http://schemas.microsoft.com/office/drawing/2014/main" id="{ACEF615E-A8A4-4B10-5490-EA49E873AA26}"/>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18" name="TextBox 17">
            <a:extLst>
              <a:ext uri="{FF2B5EF4-FFF2-40B4-BE49-F238E27FC236}">
                <a16:creationId xmlns:a16="http://schemas.microsoft.com/office/drawing/2014/main" id="{02951385-14F3-A9AD-FDA8-7F46DBD9FF17}"/>
              </a:ext>
            </a:extLst>
          </p:cNvPr>
          <p:cNvSpPr txBox="1"/>
          <p:nvPr userDrawn="1"/>
        </p:nvSpPr>
        <p:spPr>
          <a:xfrm>
            <a:off x="838200" y="6389310"/>
            <a:ext cx="4171934" cy="400110"/>
          </a:xfrm>
          <a:prstGeom prst="rect">
            <a:avLst/>
          </a:prstGeom>
          <a:noFill/>
        </p:spPr>
        <p:txBody>
          <a:bodyPr wrap="square" rtlCol="0">
            <a:spAutoFit/>
          </a:bodyPr>
          <a:lstStyle/>
          <a:p>
            <a:r>
              <a:rPr lang="en-US" sz="1000" dirty="0"/>
              <a:t>ADMIN INTRO PRESENTATION_2 HOUR ENG REV5.0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19" name="Title Placeholder 18">
            <a:extLst>
              <a:ext uri="{FF2B5EF4-FFF2-40B4-BE49-F238E27FC236}">
                <a16:creationId xmlns:a16="http://schemas.microsoft.com/office/drawing/2014/main" id="{22DF8534-243A-541A-B77B-03E396E7CC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8" Type="http://schemas.openxmlformats.org/officeDocument/2006/relationships/image" Target="../media/image20.png"/><Relationship Id="rId13" Type="http://schemas.microsoft.com/office/2007/relationships/hdphoto" Target="../media/hdphoto5.wdp"/><Relationship Id="rId3" Type="http://schemas.openxmlformats.org/officeDocument/2006/relationships/image" Target="../media/image17.jpeg"/><Relationship Id="rId7" Type="http://schemas.microsoft.com/office/2007/relationships/hdphoto" Target="../media/hdphoto2.wdp"/><Relationship Id="rId12"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openxmlformats.org/officeDocument/2006/relationships/image" Target="../media/image19.png"/><Relationship Id="rId11" Type="http://schemas.microsoft.com/office/2007/relationships/hdphoto" Target="../media/hdphoto4.wdp"/><Relationship Id="rId5" Type="http://schemas.microsoft.com/office/2007/relationships/hdphoto" Target="../media/hdphoto1.wdp"/><Relationship Id="rId10" Type="http://schemas.openxmlformats.org/officeDocument/2006/relationships/image" Target="../media/image21.png"/><Relationship Id="rId4" Type="http://schemas.openxmlformats.org/officeDocument/2006/relationships/image" Target="../media/image18.png"/><Relationship Id="rId9" Type="http://schemas.microsoft.com/office/2007/relationships/hdphoto" Target="../media/hdphoto3.wdp"/></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25.jp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3442234" y="3900266"/>
            <a:ext cx="5674290" cy="920252"/>
          </a:xfrm>
          <a:prstGeom prst="rect">
            <a:avLst/>
          </a:prstGeom>
          <a:noFill/>
        </p:spPr>
        <p:txBody>
          <a:bodyPr wrap="square" rtlCol="0">
            <a:spAutoFit/>
          </a:bodyPr>
          <a:lstStyle/>
          <a:p>
            <a:pPr algn="ctr">
              <a:lnSpc>
                <a:spcPct val="150000"/>
              </a:lnSpc>
              <a:spcBef>
                <a:spcPct val="0"/>
              </a:spcBef>
            </a:pPr>
            <a:r>
              <a:rPr lang="en-GB" altLang="en-US" sz="4000" b="0" dirty="0"/>
              <a:t>Introduction to Lean</a:t>
            </a:r>
          </a:p>
        </p:txBody>
      </p:sp>
      <p:sp>
        <p:nvSpPr>
          <p:cNvPr id="6" name="Slide Number Placeholder 5">
            <a:extLst>
              <a:ext uri="{FF2B5EF4-FFF2-40B4-BE49-F238E27FC236}">
                <a16:creationId xmlns:a16="http://schemas.microsoft.com/office/drawing/2014/main" id="{6E4494D2-9BB1-413A-87A5-B87486367AE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a:t>
            </a:fld>
            <a:endParaRPr lang="en-US" dirty="0"/>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2"/>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9E472-DB78-D545-2AF4-17157A84BB80}"/>
              </a:ext>
            </a:extLst>
          </p:cNvPr>
          <p:cNvSpPr>
            <a:spLocks noGrp="1"/>
          </p:cNvSpPr>
          <p:nvPr>
            <p:ph type="title"/>
          </p:nvPr>
        </p:nvSpPr>
        <p:spPr>
          <a:xfrm>
            <a:off x="849149" y="919568"/>
            <a:ext cx="10515600" cy="615553"/>
          </a:xfrm>
        </p:spPr>
        <p:txBody>
          <a:bodyPr>
            <a:noAutofit/>
          </a:bodyPr>
          <a:lstStyle/>
          <a:p>
            <a:r>
              <a:rPr lang="en-US" sz="4000" dirty="0">
                <a:latin typeface="Roboto Medium"/>
                <a:ea typeface="Roboto Medium"/>
                <a:cs typeface="Roboto Medium"/>
              </a:rPr>
              <a:t>Introduction to Lean</a:t>
            </a:r>
          </a:p>
        </p:txBody>
      </p:sp>
      <p:sp>
        <p:nvSpPr>
          <p:cNvPr id="5" name="Slide Number Placeholder 4">
            <a:extLst>
              <a:ext uri="{FF2B5EF4-FFF2-40B4-BE49-F238E27FC236}">
                <a16:creationId xmlns:a16="http://schemas.microsoft.com/office/drawing/2014/main" id="{1FBABA61-41D6-C99B-A956-C4DC4E6E7AFD}"/>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a:t>
            </a:fld>
            <a:endParaRPr lang="en-US"/>
          </a:p>
        </p:txBody>
      </p:sp>
      <p:grpSp>
        <p:nvGrpSpPr>
          <p:cNvPr id="42" name="Group 41">
            <a:extLst>
              <a:ext uri="{FF2B5EF4-FFF2-40B4-BE49-F238E27FC236}">
                <a16:creationId xmlns:a16="http://schemas.microsoft.com/office/drawing/2014/main" id="{306A45EF-10B1-FE76-86C8-1E4E13FF70E0}"/>
              </a:ext>
            </a:extLst>
          </p:cNvPr>
          <p:cNvGrpSpPr/>
          <p:nvPr/>
        </p:nvGrpSpPr>
        <p:grpSpPr>
          <a:xfrm>
            <a:off x="609504" y="2562059"/>
            <a:ext cx="11301037" cy="2800159"/>
            <a:chOff x="1594131" y="4403095"/>
            <a:chExt cx="18986928" cy="4704563"/>
          </a:xfrm>
        </p:grpSpPr>
        <p:sp>
          <p:nvSpPr>
            <p:cNvPr id="24" name="Circle">
              <a:extLst>
                <a:ext uri="{FF2B5EF4-FFF2-40B4-BE49-F238E27FC236}">
                  <a16:creationId xmlns:a16="http://schemas.microsoft.com/office/drawing/2014/main" id="{B02B299C-AE5F-3A1E-2F42-289CDC5B326D}"/>
                </a:ext>
              </a:extLst>
            </p:cNvPr>
            <p:cNvSpPr/>
            <p:nvPr/>
          </p:nvSpPr>
          <p:spPr>
            <a:xfrm>
              <a:off x="1594131" y="4867369"/>
              <a:ext cx="2346159" cy="2346160"/>
            </a:xfrm>
            <a:prstGeom prst="ellipse">
              <a:avLst/>
            </a:prstGeom>
            <a:solidFill>
              <a:srgbClr val="EE3228"/>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26" name="Circle">
              <a:extLst>
                <a:ext uri="{FF2B5EF4-FFF2-40B4-BE49-F238E27FC236}">
                  <a16:creationId xmlns:a16="http://schemas.microsoft.com/office/drawing/2014/main" id="{0562CAF8-E5CA-8FF9-0FDE-865B2018734F}"/>
                </a:ext>
              </a:extLst>
            </p:cNvPr>
            <p:cNvSpPr/>
            <p:nvPr/>
          </p:nvSpPr>
          <p:spPr>
            <a:xfrm>
              <a:off x="5753703" y="4867371"/>
              <a:ext cx="2346159" cy="2346160"/>
            </a:xfrm>
            <a:prstGeom prst="ellipse">
              <a:avLst/>
            </a:prstGeom>
            <a:solidFill>
              <a:srgbClr val="EE3228"/>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27" name="Circle">
              <a:extLst>
                <a:ext uri="{FF2B5EF4-FFF2-40B4-BE49-F238E27FC236}">
                  <a16:creationId xmlns:a16="http://schemas.microsoft.com/office/drawing/2014/main" id="{F2372175-68F1-6857-EA02-B595DD5D1BD9}"/>
                </a:ext>
              </a:extLst>
            </p:cNvPr>
            <p:cNvSpPr/>
            <p:nvPr/>
          </p:nvSpPr>
          <p:spPr>
            <a:xfrm>
              <a:off x="5971347" y="5085015"/>
              <a:ext cx="1910871" cy="1910871"/>
            </a:xfrm>
            <a:prstGeom prst="ellipse">
              <a:avLst/>
            </a:prstGeom>
            <a:solidFill>
              <a:srgbClr val="191C26"/>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28" name="Arrow">
              <a:extLst>
                <a:ext uri="{FF2B5EF4-FFF2-40B4-BE49-F238E27FC236}">
                  <a16:creationId xmlns:a16="http://schemas.microsoft.com/office/drawing/2014/main" id="{77AFE016-C94C-38E2-41F9-6333E1A405D7}"/>
                </a:ext>
              </a:extLst>
            </p:cNvPr>
            <p:cNvSpPr/>
            <p:nvPr/>
          </p:nvSpPr>
          <p:spPr>
            <a:xfrm>
              <a:off x="4437005" y="5583647"/>
              <a:ext cx="913607" cy="913608"/>
            </a:xfrm>
            <a:prstGeom prst="rightArrow">
              <a:avLst>
                <a:gd name="adj1" fmla="val 54641"/>
                <a:gd name="adj2" fmla="val 68352"/>
              </a:avLst>
            </a:prstGeom>
            <a:solidFill>
              <a:srgbClr val="222222"/>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29" name="Arrow">
              <a:extLst>
                <a:ext uri="{FF2B5EF4-FFF2-40B4-BE49-F238E27FC236}">
                  <a16:creationId xmlns:a16="http://schemas.microsoft.com/office/drawing/2014/main" id="{903C119F-74F7-C737-6735-8BA9447E3A42}"/>
                </a:ext>
              </a:extLst>
            </p:cNvPr>
            <p:cNvSpPr/>
            <p:nvPr/>
          </p:nvSpPr>
          <p:spPr>
            <a:xfrm>
              <a:off x="8596577" y="5583647"/>
              <a:ext cx="913607" cy="913608"/>
            </a:xfrm>
            <a:prstGeom prst="rightArrow">
              <a:avLst>
                <a:gd name="adj1" fmla="val 54641"/>
                <a:gd name="adj2" fmla="val 68352"/>
              </a:avLst>
            </a:prstGeom>
            <a:solidFill>
              <a:srgbClr val="222222"/>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30" name="Circle">
              <a:extLst>
                <a:ext uri="{FF2B5EF4-FFF2-40B4-BE49-F238E27FC236}">
                  <a16:creationId xmlns:a16="http://schemas.microsoft.com/office/drawing/2014/main" id="{7CFA75CF-9CE6-2B20-86F8-7967424F7A72}"/>
                </a:ext>
              </a:extLst>
            </p:cNvPr>
            <p:cNvSpPr/>
            <p:nvPr/>
          </p:nvSpPr>
          <p:spPr>
            <a:xfrm>
              <a:off x="9932369" y="4867371"/>
              <a:ext cx="2346159" cy="2346160"/>
            </a:xfrm>
            <a:prstGeom prst="ellipse">
              <a:avLst/>
            </a:prstGeom>
            <a:solidFill>
              <a:srgbClr val="EE3228"/>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31" name="Circle">
              <a:extLst>
                <a:ext uri="{FF2B5EF4-FFF2-40B4-BE49-F238E27FC236}">
                  <a16:creationId xmlns:a16="http://schemas.microsoft.com/office/drawing/2014/main" id="{393F050E-FC49-2545-B3E1-17FABF322481}"/>
                </a:ext>
              </a:extLst>
            </p:cNvPr>
            <p:cNvSpPr/>
            <p:nvPr/>
          </p:nvSpPr>
          <p:spPr>
            <a:xfrm>
              <a:off x="10150012" y="5085015"/>
              <a:ext cx="1910871" cy="1910871"/>
            </a:xfrm>
            <a:prstGeom prst="ellipse">
              <a:avLst/>
            </a:prstGeom>
            <a:solidFill>
              <a:srgbClr val="191C26"/>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sp>
          <p:nvSpPr>
            <p:cNvPr id="32" name="Increase…">
              <a:extLst>
                <a:ext uri="{FF2B5EF4-FFF2-40B4-BE49-F238E27FC236}">
                  <a16:creationId xmlns:a16="http://schemas.microsoft.com/office/drawing/2014/main" id="{EA47C7D3-79B4-4B68-9FCD-C3A265B67413}"/>
                </a:ext>
              </a:extLst>
            </p:cNvPr>
            <p:cNvSpPr/>
            <p:nvPr/>
          </p:nvSpPr>
          <p:spPr>
            <a:xfrm>
              <a:off x="1636967" y="7783449"/>
              <a:ext cx="3538015" cy="5170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defTabSz="1155700">
                <a:defRPr sz="3000" b="1">
                  <a:solidFill>
                    <a:srgbClr val="DD4242"/>
                  </a:solidFill>
                </a:defRPr>
              </a:pPr>
              <a:r>
                <a:rPr lang="en-US" sz="2000" dirty="0">
                  <a:solidFill>
                    <a:schemeClr val="tx2"/>
                  </a:solidFill>
                  <a:latin typeface="Roboto" panose="02000000000000000000" pitchFamily="2" charset="0"/>
                  <a:ea typeface="Roboto" panose="02000000000000000000" pitchFamily="2" charset="0"/>
                  <a:cs typeface="Roboto" panose="02000000000000000000" pitchFamily="2" charset="0"/>
                </a:rPr>
                <a:t>Introduction</a:t>
              </a:r>
              <a:endParaRPr sz="2000" dirty="0">
                <a:solidFill>
                  <a:schemeClr val="tx2"/>
                </a:solidFill>
                <a:latin typeface="Roboto" panose="02000000000000000000" pitchFamily="2" charset="0"/>
                <a:ea typeface="Roboto" panose="02000000000000000000" pitchFamily="2" charset="0"/>
                <a:cs typeface="Roboto" panose="02000000000000000000" pitchFamily="2" charset="0"/>
              </a:endParaRPr>
            </a:p>
          </p:txBody>
        </p:sp>
        <p:sp>
          <p:nvSpPr>
            <p:cNvPr id="33" name="Increase  E-Commerce sales">
              <a:extLst>
                <a:ext uri="{FF2B5EF4-FFF2-40B4-BE49-F238E27FC236}">
                  <a16:creationId xmlns:a16="http://schemas.microsoft.com/office/drawing/2014/main" id="{8D17CE2D-D155-14A2-7C95-6E2D66EFC58B}"/>
                </a:ext>
              </a:extLst>
            </p:cNvPr>
            <p:cNvSpPr/>
            <p:nvPr/>
          </p:nvSpPr>
          <p:spPr>
            <a:xfrm>
              <a:off x="5246103" y="7524901"/>
              <a:ext cx="3361359" cy="10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gn="ctr" defTabSz="1155700">
                <a:defRPr sz="3000" b="1">
                  <a:solidFill>
                    <a:srgbClr val="DD4242"/>
                  </a:solidFill>
                </a:defRPr>
              </a:pPr>
              <a:r>
                <a:rPr lang="en-US" sz="2000" dirty="0">
                  <a:solidFill>
                    <a:schemeClr val="tx2"/>
                  </a:solidFill>
                  <a:latin typeface="Roboto" panose="02000000000000000000" pitchFamily="2" charset="0"/>
                  <a:ea typeface="Roboto" panose="02000000000000000000" pitchFamily="2" charset="0"/>
                  <a:cs typeface="Roboto" panose="02000000000000000000" pitchFamily="2" charset="0"/>
                </a:rPr>
                <a:t>Lean Fundamentals</a:t>
              </a:r>
              <a:endParaRPr sz="2000" dirty="0">
                <a:solidFill>
                  <a:schemeClr val="tx2"/>
                </a:solidFill>
                <a:latin typeface="Roboto" panose="02000000000000000000" pitchFamily="2" charset="0"/>
                <a:ea typeface="Roboto" panose="02000000000000000000" pitchFamily="2" charset="0"/>
                <a:cs typeface="Roboto" panose="02000000000000000000" pitchFamily="2" charset="0"/>
              </a:endParaRPr>
            </a:p>
          </p:txBody>
        </p:sp>
        <p:sp>
          <p:nvSpPr>
            <p:cNvPr id="34" name="Maximize Profit">
              <a:extLst>
                <a:ext uri="{FF2B5EF4-FFF2-40B4-BE49-F238E27FC236}">
                  <a16:creationId xmlns:a16="http://schemas.microsoft.com/office/drawing/2014/main" id="{A191146B-31A3-99EE-A1BA-EE53742390C8}"/>
                </a:ext>
              </a:extLst>
            </p:cNvPr>
            <p:cNvSpPr/>
            <p:nvPr/>
          </p:nvSpPr>
          <p:spPr>
            <a:xfrm>
              <a:off x="9592843" y="7491188"/>
              <a:ext cx="3025205" cy="10341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defTabSz="1155700">
                <a:defRPr sz="3000" b="1">
                  <a:solidFill>
                    <a:srgbClr val="DD4242"/>
                  </a:solidFill>
                </a:defRPr>
              </a:lvl1pPr>
            </a:lstStyle>
            <a:p>
              <a:pPr algn="ctr"/>
              <a:r>
                <a:rPr lang="en-US" sz="2000" dirty="0">
                  <a:solidFill>
                    <a:schemeClr val="tx2"/>
                  </a:solidFill>
                  <a:latin typeface="Roboto" panose="02000000000000000000" pitchFamily="2" charset="0"/>
                  <a:ea typeface="Roboto" panose="02000000000000000000" pitchFamily="2" charset="0"/>
                  <a:cs typeface="Roboto" panose="02000000000000000000" pitchFamily="2" charset="0"/>
                </a:rPr>
                <a:t>Lean Transformation</a:t>
              </a:r>
              <a:endParaRPr sz="2000" dirty="0">
                <a:solidFill>
                  <a:schemeClr val="tx2"/>
                </a:solidFill>
                <a:latin typeface="Roboto" panose="02000000000000000000" pitchFamily="2" charset="0"/>
                <a:ea typeface="Roboto" panose="02000000000000000000" pitchFamily="2" charset="0"/>
                <a:cs typeface="Roboto" panose="02000000000000000000" pitchFamily="2" charset="0"/>
              </a:endParaRPr>
            </a:p>
          </p:txBody>
        </p:sp>
        <p:sp>
          <p:nvSpPr>
            <p:cNvPr id="35" name="Lorem ipsum, or lipsum as it is sometimes known, is dummy text used in laying out print, graphic or web designs. The passage is attributed to an unknown typesetter in the 15th century who is thought to have scrambled parts of Cicero's De Finibus Bonorum ">
              <a:extLst>
                <a:ext uri="{FF2B5EF4-FFF2-40B4-BE49-F238E27FC236}">
                  <a16:creationId xmlns:a16="http://schemas.microsoft.com/office/drawing/2014/main" id="{712125D3-FE52-DF47-08F6-76134D09F2F2}"/>
                </a:ext>
              </a:extLst>
            </p:cNvPr>
            <p:cNvSpPr/>
            <p:nvPr/>
          </p:nvSpPr>
          <p:spPr>
            <a:xfrm>
              <a:off x="13793012" y="6479081"/>
              <a:ext cx="6788047" cy="2628577"/>
            </a:xfrm>
            <a:prstGeom prst="rect">
              <a:avLst/>
            </a:prstGeom>
            <a:ln w="12700"/>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lvl1pPr defTabSz="952500">
                <a:lnSpc>
                  <a:spcPct val="130000"/>
                </a:lnSpc>
                <a:buClr>
                  <a:srgbClr val="E9F6FA"/>
                </a:buClr>
                <a:defRPr sz="3000">
                  <a:solidFill>
                    <a:srgbClr val="A9AFC3"/>
                  </a:solidFill>
                  <a:uFill>
                    <a:solidFill>
                      <a:srgbClr val="323C40"/>
                    </a:solidFill>
                  </a:uFill>
                </a:defRPr>
              </a:lvl1pPr>
            </a:lstStyle>
            <a:p>
              <a:pPr algn="l">
                <a:spcBef>
                  <a:spcPct val="20000"/>
                </a:spcBef>
                <a:buClrTx/>
                <a:buSzTx/>
                <a:buFontTx/>
                <a:buNone/>
              </a:pPr>
              <a:r>
                <a:rPr lang="en-US" altLang="en-US" sz="2000" dirty="0">
                  <a:solidFill>
                    <a:schemeClr val="tx1"/>
                  </a:solidFill>
                  <a:latin typeface="Roboto" panose="02000000000000000000" pitchFamily="2" charset="0"/>
                  <a:ea typeface="Roboto" panose="02000000000000000000" pitchFamily="2" charset="0"/>
                  <a:cs typeface="Roboto" panose="02000000000000000000" pitchFamily="2" charset="0"/>
                </a:rPr>
                <a:t>To define “Lean” and identify all of the appropriate Lean tools to launch and support your journey to a Lean enterprise.</a:t>
              </a:r>
            </a:p>
          </p:txBody>
        </p:sp>
        <p:sp>
          <p:nvSpPr>
            <p:cNvPr id="36" name="Arrow">
              <a:extLst>
                <a:ext uri="{FF2B5EF4-FFF2-40B4-BE49-F238E27FC236}">
                  <a16:creationId xmlns:a16="http://schemas.microsoft.com/office/drawing/2014/main" id="{8666AAF9-6430-45AB-8D93-AD851D7E2B64}"/>
                </a:ext>
              </a:extLst>
            </p:cNvPr>
            <p:cNvSpPr/>
            <p:nvPr/>
          </p:nvSpPr>
          <p:spPr>
            <a:xfrm>
              <a:off x="12645186" y="5542978"/>
              <a:ext cx="913607" cy="913608"/>
            </a:xfrm>
            <a:prstGeom prst="rightArrow">
              <a:avLst>
                <a:gd name="adj1" fmla="val 54641"/>
                <a:gd name="adj2" fmla="val 68352"/>
              </a:avLst>
            </a:prstGeom>
            <a:solidFill>
              <a:srgbClr val="222222"/>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37" name="Change your…">
              <a:extLst>
                <a:ext uri="{FF2B5EF4-FFF2-40B4-BE49-F238E27FC236}">
                  <a16:creationId xmlns:a16="http://schemas.microsoft.com/office/drawing/2014/main" id="{F0CBF9A5-C821-FAC6-F01D-B90A1A9DCB72}"/>
                </a:ext>
              </a:extLst>
            </p:cNvPr>
            <p:cNvSpPr/>
            <p:nvPr/>
          </p:nvSpPr>
          <p:spPr>
            <a:xfrm>
              <a:off x="13793012" y="4403095"/>
              <a:ext cx="6788047" cy="1116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ctr">
              <a:spAutoFit/>
            </a:bodyPr>
            <a:lstStyle/>
            <a:p>
              <a:pPr algn="l" defTabSz="1155700">
                <a:lnSpc>
                  <a:spcPct val="90000"/>
                </a:lnSpc>
                <a:defRPr sz="8000" b="1">
                  <a:solidFill>
                    <a:srgbClr val="FFFFFF"/>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Goals of the Introduction </a:t>
              </a:r>
              <a:b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b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to Lean Experience:</a:t>
              </a:r>
            </a:p>
          </p:txBody>
        </p:sp>
        <p:pic>
          <p:nvPicPr>
            <p:cNvPr id="38" name="Graphic 37" descr="Classroom with solid fill">
              <a:extLst>
                <a:ext uri="{FF2B5EF4-FFF2-40B4-BE49-F238E27FC236}">
                  <a16:creationId xmlns:a16="http://schemas.microsoft.com/office/drawing/2014/main" id="{5175A9D9-7A7B-6027-61F4-96B4CBF246F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69582" y="5605013"/>
              <a:ext cx="914401" cy="914401"/>
            </a:xfrm>
            <a:prstGeom prst="rect">
              <a:avLst/>
            </a:prstGeom>
          </p:spPr>
        </p:pic>
        <p:sp>
          <p:nvSpPr>
            <p:cNvPr id="39" name="Circle">
              <a:extLst>
                <a:ext uri="{FF2B5EF4-FFF2-40B4-BE49-F238E27FC236}">
                  <a16:creationId xmlns:a16="http://schemas.microsoft.com/office/drawing/2014/main" id="{3AF1CAA7-1910-DF93-7F29-50206F72C8A8}"/>
                </a:ext>
              </a:extLst>
            </p:cNvPr>
            <p:cNvSpPr/>
            <p:nvPr/>
          </p:nvSpPr>
          <p:spPr>
            <a:xfrm>
              <a:off x="1811773" y="5104602"/>
              <a:ext cx="1910871" cy="1910871"/>
            </a:xfrm>
            <a:prstGeom prst="ellipse">
              <a:avLst/>
            </a:prstGeom>
            <a:solidFill>
              <a:srgbClr val="191C26"/>
            </a:solidFill>
            <a:ln w="12700">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a:p>
          </p:txBody>
        </p:sp>
        <p:pic>
          <p:nvPicPr>
            <p:cNvPr id="40" name="Graphic 39" descr="Books on shelf with solid fill">
              <a:extLst>
                <a:ext uri="{FF2B5EF4-FFF2-40B4-BE49-F238E27FC236}">
                  <a16:creationId xmlns:a16="http://schemas.microsoft.com/office/drawing/2014/main" id="{2D97DBE4-078B-BDDA-1B3A-7D0AEA9AD04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310009" y="5605013"/>
              <a:ext cx="914401" cy="914401"/>
            </a:xfrm>
            <a:prstGeom prst="rect">
              <a:avLst/>
            </a:prstGeom>
          </p:spPr>
        </p:pic>
        <p:pic>
          <p:nvPicPr>
            <p:cNvPr id="41" name="Graphic 40" descr="Tools with solid fill">
              <a:extLst>
                <a:ext uri="{FF2B5EF4-FFF2-40B4-BE49-F238E27FC236}">
                  <a16:creationId xmlns:a16="http://schemas.microsoft.com/office/drawing/2014/main" id="{EB321298-2827-9C2D-2AB3-2D46A5C66AC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648247" y="5571007"/>
              <a:ext cx="914401" cy="914401"/>
            </a:xfrm>
            <a:prstGeom prst="rect">
              <a:avLst/>
            </a:prstGeom>
          </p:spPr>
        </p:pic>
      </p:grpSp>
    </p:spTree>
    <p:extLst>
      <p:ext uri="{BB962C8B-B14F-4D97-AF65-F5344CB8AC3E}">
        <p14:creationId xmlns:p14="http://schemas.microsoft.com/office/powerpoint/2010/main" val="1350786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Introduction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“Lean”</a:t>
            </a:r>
          </a:p>
          <a:p>
            <a:r>
              <a:rPr lang="en-US" dirty="0"/>
              <a:t>Review history of Lean in the U.S.</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474AF9A4-BB02-7F22-D6B7-48A978DA585E}"/>
              </a:ext>
            </a:extLst>
          </p:cNvPr>
          <p:cNvGrpSpPr/>
          <p:nvPr/>
        </p:nvGrpSpPr>
        <p:grpSpPr>
          <a:xfrm>
            <a:off x="699911" y="837133"/>
            <a:ext cx="4425950" cy="659879"/>
            <a:chOff x="5627530" y="641179"/>
            <a:chExt cx="6564470" cy="804977"/>
          </a:xfrm>
        </p:grpSpPr>
        <p:sp>
          <p:nvSpPr>
            <p:cNvPr id="21" name="AutoShape 9">
              <a:extLst>
                <a:ext uri="{FF2B5EF4-FFF2-40B4-BE49-F238E27FC236}">
                  <a16:creationId xmlns:a16="http://schemas.microsoft.com/office/drawing/2014/main" id="{4F017762-50D0-592F-9200-E5AF7AE113EF}"/>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sp>
          <p:nvSpPr>
            <p:cNvPr id="22" name="AutoShape 10">
              <a:extLst>
                <a:ext uri="{FF2B5EF4-FFF2-40B4-BE49-F238E27FC236}">
                  <a16:creationId xmlns:a16="http://schemas.microsoft.com/office/drawing/2014/main" id="{A4D27072-6732-CD11-7229-28D1F9D9377B}"/>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23" name="AutoShape 11">
              <a:extLst>
                <a:ext uri="{FF2B5EF4-FFF2-40B4-BE49-F238E27FC236}">
                  <a16:creationId xmlns:a16="http://schemas.microsoft.com/office/drawing/2014/main" id="{54AFFE9F-30FB-8D35-C93F-180251418AAF}"/>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Introduction</a:t>
              </a:r>
            </a:p>
          </p:txBody>
        </p:sp>
      </p:grpSp>
    </p:spTree>
    <p:extLst>
      <p:ext uri="{BB962C8B-B14F-4D97-AF65-F5344CB8AC3E}">
        <p14:creationId xmlns:p14="http://schemas.microsoft.com/office/powerpoint/2010/main" val="95830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Content Placeholder 14">
            <a:extLst>
              <a:ext uri="{FF2B5EF4-FFF2-40B4-BE49-F238E27FC236}">
                <a16:creationId xmlns:a16="http://schemas.microsoft.com/office/drawing/2014/main" id="{8A17BB63-7A0B-4CB1-8138-248D0F45F207}"/>
              </a:ext>
              <a:ext uri="{C183D7F6-B498-43B3-948B-1728B52AA6E4}">
                <adec:decorative xmlns:adec="http://schemas.microsoft.com/office/drawing/2017/decorative" val="1"/>
              </a:ext>
            </a:extLst>
          </p:cNvPr>
          <p:cNvPicPr>
            <a:picLocks noGrp="1" noChangeAspect="1"/>
          </p:cNvPicPr>
          <p:nvPr>
            <p:ph idx="1"/>
          </p:nvPr>
        </p:nvPicPr>
        <p:blipFill>
          <a:blip r:embed="rId3"/>
          <a:stretch>
            <a:fillRect/>
          </a:stretch>
        </p:blipFill>
        <p:spPr>
          <a:xfrm>
            <a:off x="5349739" y="2242788"/>
            <a:ext cx="5559601" cy="2779801"/>
          </a:xfrm>
        </p:spPr>
      </p:pic>
      <p:sp>
        <p:nvSpPr>
          <p:cNvPr id="4" name="Text Placeholder 3">
            <a:extLst>
              <a:ext uri="{FF2B5EF4-FFF2-40B4-BE49-F238E27FC236}">
                <a16:creationId xmlns:a16="http://schemas.microsoft.com/office/drawing/2014/main" id="{1287BA79-BC0E-9B68-5E47-60ACB12957C8}"/>
              </a:ext>
            </a:extLst>
          </p:cNvPr>
          <p:cNvSpPr>
            <a:spLocks noGrp="1"/>
          </p:cNvSpPr>
          <p:nvPr>
            <p:ph type="body" sz="half" idx="2"/>
          </p:nvPr>
        </p:nvSpPr>
        <p:spPr/>
        <p:txBody>
          <a:bodyPr>
            <a:normAutofit/>
          </a:bodyPr>
          <a:lstStyle/>
          <a:p>
            <a:r>
              <a:rPr lang="ja-JP" altLang="en-US" sz="2200" dirty="0">
                <a:solidFill>
                  <a:schemeClr val="bg2">
                    <a:lumMod val="10000"/>
                  </a:schemeClr>
                </a:solidFill>
              </a:rPr>
              <a:t>“</a:t>
            </a:r>
            <a:r>
              <a:rPr lang="en-US" altLang="ja-JP" sz="2200" dirty="0">
                <a:solidFill>
                  <a:schemeClr val="bg2">
                    <a:lumMod val="10000"/>
                  </a:schemeClr>
                </a:solidFill>
              </a:rPr>
              <a:t>The relentless pursuit of the elimination of waste from every business process with the ultimate goal of providing World-Class quality, delivery and service to our customers at the lowest possible cost.</a:t>
            </a:r>
            <a:r>
              <a:rPr lang="ja-JP" altLang="en-US" sz="2200" dirty="0">
                <a:solidFill>
                  <a:schemeClr val="bg2">
                    <a:lumMod val="10000"/>
                  </a:schemeClr>
                </a:solidFill>
              </a:rPr>
              <a:t>”</a:t>
            </a:r>
            <a:endParaRPr lang="en-US" sz="2200" dirty="0">
              <a:solidFill>
                <a:schemeClr val="bg2">
                  <a:lumMod val="10000"/>
                </a:schemeClr>
              </a:solidFill>
            </a:endParaRPr>
          </a:p>
        </p:txBody>
      </p:sp>
      <p:sp>
        <p:nvSpPr>
          <p:cNvPr id="7" name="Slide Number Placeholder 6">
            <a:extLst>
              <a:ext uri="{FF2B5EF4-FFF2-40B4-BE49-F238E27FC236}">
                <a16:creationId xmlns:a16="http://schemas.microsoft.com/office/drawing/2014/main" id="{8DDF98C7-E326-67DA-15D8-AD0EFBA4380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a:t>
            </a:fld>
            <a:endParaRPr lang="en-US"/>
          </a:p>
        </p:txBody>
      </p:sp>
      <p:sp>
        <p:nvSpPr>
          <p:cNvPr id="2" name="Title 1">
            <a:extLst>
              <a:ext uri="{FF2B5EF4-FFF2-40B4-BE49-F238E27FC236}">
                <a16:creationId xmlns:a16="http://schemas.microsoft.com/office/drawing/2014/main" id="{3BEF1C1C-86A0-4488-68EC-1E6D1847DB51}"/>
              </a:ext>
            </a:extLst>
          </p:cNvPr>
          <p:cNvSpPr>
            <a:spLocks noGrp="1"/>
          </p:cNvSpPr>
          <p:nvPr>
            <p:ph type="title"/>
          </p:nvPr>
        </p:nvSpPr>
        <p:spPr>
          <a:xfrm>
            <a:off x="839788" y="1222913"/>
            <a:ext cx="3932237" cy="531812"/>
          </a:xfrm>
        </p:spPr>
        <p:txBody>
          <a:bodyPr>
            <a:noAutofit/>
          </a:bodyPr>
          <a:lstStyle/>
          <a:p>
            <a:r>
              <a:rPr lang="en-US" sz="4000" dirty="0">
                <a:latin typeface="Roboto Medium"/>
                <a:ea typeface="Roboto Medium"/>
                <a:cs typeface="Roboto Medium"/>
              </a:rPr>
              <a:t>What is “Lean?”</a:t>
            </a:r>
          </a:p>
        </p:txBody>
      </p:sp>
      <p:sp>
        <p:nvSpPr>
          <p:cNvPr id="8" name="AutoShape 155">
            <a:extLst>
              <a:ext uri="{FF2B5EF4-FFF2-40B4-BE49-F238E27FC236}">
                <a16:creationId xmlns:a16="http://schemas.microsoft.com/office/drawing/2014/main" id="{9845AFBB-D887-5F6F-9239-8CA41EEC5C88}"/>
              </a:ext>
            </a:extLst>
          </p:cNvPr>
          <p:cNvSpPr>
            <a:spLocks noChangeArrowheads="1"/>
          </p:cNvSpPr>
          <p:nvPr/>
        </p:nvSpPr>
        <p:spPr bwMode="auto">
          <a:xfrm>
            <a:off x="622771" y="4836700"/>
            <a:ext cx="4366269" cy="788939"/>
          </a:xfrm>
          <a:prstGeom prst="homePlate">
            <a:avLst>
              <a:gd name="adj" fmla="val 32169"/>
            </a:avLst>
          </a:prstGeom>
          <a:solidFill>
            <a:srgbClr val="EE3228"/>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Lean is about driving customer value</a:t>
            </a:r>
          </a:p>
        </p:txBody>
      </p:sp>
      <p:grpSp>
        <p:nvGrpSpPr>
          <p:cNvPr id="5" name="Group 4">
            <a:extLst>
              <a:ext uri="{FF2B5EF4-FFF2-40B4-BE49-F238E27FC236}">
                <a16:creationId xmlns:a16="http://schemas.microsoft.com/office/drawing/2014/main" id="{48C1D6E7-A893-4D82-3D52-586D3F4258E0}"/>
              </a:ext>
            </a:extLst>
          </p:cNvPr>
          <p:cNvGrpSpPr/>
          <p:nvPr/>
        </p:nvGrpSpPr>
        <p:grpSpPr>
          <a:xfrm>
            <a:off x="940249" y="289611"/>
            <a:ext cx="1060167" cy="324859"/>
            <a:chOff x="940249" y="315206"/>
            <a:chExt cx="1060167" cy="265062"/>
          </a:xfrm>
        </p:grpSpPr>
        <p:sp>
          <p:nvSpPr>
            <p:cNvPr id="10" name="AutoShape 9">
              <a:extLst>
                <a:ext uri="{FF2B5EF4-FFF2-40B4-BE49-F238E27FC236}">
                  <a16:creationId xmlns:a16="http://schemas.microsoft.com/office/drawing/2014/main" id="{7A8F5BB9-FAB4-6395-81D0-200F966608E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FC1625F7-8FC0-B69E-AF21-90E6799907A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1C4EF245-2BA4-F3FA-D88C-263F47010761}"/>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3" name="TextBox 12">
            <a:extLst>
              <a:ext uri="{FF2B5EF4-FFF2-40B4-BE49-F238E27FC236}">
                <a16:creationId xmlns:a16="http://schemas.microsoft.com/office/drawing/2014/main" id="{025EF277-5594-1C4C-8F9F-17DAF97192EC}"/>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spTree>
    <p:extLst>
      <p:ext uri="{BB962C8B-B14F-4D97-AF65-F5344CB8AC3E}">
        <p14:creationId xmlns:p14="http://schemas.microsoft.com/office/powerpoint/2010/main" val="258998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64EF14-686A-E3E4-B13B-8F4D7FF43C6B}"/>
              </a:ext>
            </a:extLst>
          </p:cNvPr>
          <p:cNvSpPr txBox="1">
            <a:spLocks/>
          </p:cNvSpPr>
          <p:nvPr/>
        </p:nvSpPr>
        <p:spPr>
          <a:xfrm>
            <a:off x="838200" y="681037"/>
            <a:ext cx="8819923" cy="1009651"/>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2800" dirty="0">
                <a:solidFill>
                  <a:schemeClr val="tx1"/>
                </a:solidFill>
                <a:latin typeface="Roboto" panose="02000000000000000000" pitchFamily="2" charset="0"/>
                <a:ea typeface="Roboto" panose="02000000000000000000" pitchFamily="2" charset="0"/>
              </a:rPr>
              <a:t>Lean is about customer focus and waste elimination at all levels</a:t>
            </a:r>
          </a:p>
        </p:txBody>
      </p:sp>
      <p:sp>
        <p:nvSpPr>
          <p:cNvPr id="12" name="Rectangle 11">
            <a:extLst>
              <a:ext uri="{FF2B5EF4-FFF2-40B4-BE49-F238E27FC236}">
                <a16:creationId xmlns:a16="http://schemas.microsoft.com/office/drawing/2014/main" id="{6FE66574-847E-17D0-6B9E-EAE30D62834D}"/>
              </a:ext>
            </a:extLst>
          </p:cNvPr>
          <p:cNvSpPr>
            <a:spLocks noChangeAspect="1"/>
          </p:cNvSpPr>
          <p:nvPr/>
        </p:nvSpPr>
        <p:spPr>
          <a:xfrm>
            <a:off x="413879" y="2239955"/>
            <a:ext cx="1298448" cy="718145"/>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Sales</a:t>
            </a:r>
          </a:p>
        </p:txBody>
      </p:sp>
      <p:sp>
        <p:nvSpPr>
          <p:cNvPr id="13" name="Rectangle 12">
            <a:extLst>
              <a:ext uri="{FF2B5EF4-FFF2-40B4-BE49-F238E27FC236}">
                <a16:creationId xmlns:a16="http://schemas.microsoft.com/office/drawing/2014/main" id="{EF1A787D-5562-BE89-E79B-0545F022263D}"/>
              </a:ext>
            </a:extLst>
          </p:cNvPr>
          <p:cNvSpPr>
            <a:spLocks noChangeAspect="1"/>
          </p:cNvSpPr>
          <p:nvPr/>
        </p:nvSpPr>
        <p:spPr>
          <a:xfrm>
            <a:off x="1710920" y="2239753"/>
            <a:ext cx="1298448" cy="718145"/>
          </a:xfrm>
          <a:prstGeom prst="rect">
            <a:avLst/>
          </a:prstGeom>
          <a:solidFill>
            <a:schemeClr val="bg2">
              <a:lumMod val="2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Order Entry</a:t>
            </a:r>
          </a:p>
        </p:txBody>
      </p:sp>
      <p:sp>
        <p:nvSpPr>
          <p:cNvPr id="14" name="Rectangle 13">
            <a:extLst>
              <a:ext uri="{FF2B5EF4-FFF2-40B4-BE49-F238E27FC236}">
                <a16:creationId xmlns:a16="http://schemas.microsoft.com/office/drawing/2014/main" id="{AF530858-BEEB-E2EF-B469-E655D2599194}"/>
              </a:ext>
            </a:extLst>
          </p:cNvPr>
          <p:cNvSpPr>
            <a:spLocks noChangeAspect="1"/>
          </p:cNvSpPr>
          <p:nvPr/>
        </p:nvSpPr>
        <p:spPr>
          <a:xfrm>
            <a:off x="3006169" y="2239753"/>
            <a:ext cx="1298448" cy="718145"/>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Order Coding</a:t>
            </a:r>
            <a:endPar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Rectangle 14">
            <a:extLst>
              <a:ext uri="{FF2B5EF4-FFF2-40B4-BE49-F238E27FC236}">
                <a16:creationId xmlns:a16="http://schemas.microsoft.com/office/drawing/2014/main" id="{C7F4A7BE-0CFA-D0FA-095B-7CB26A672845}"/>
              </a:ext>
            </a:extLst>
          </p:cNvPr>
          <p:cNvSpPr>
            <a:spLocks noChangeAspect="1"/>
          </p:cNvSpPr>
          <p:nvPr/>
        </p:nvSpPr>
        <p:spPr>
          <a:xfrm>
            <a:off x="4303209" y="2236611"/>
            <a:ext cx="1298448" cy="718145"/>
          </a:xfrm>
          <a:prstGeom prst="rect">
            <a:avLst/>
          </a:prstGeom>
          <a:solidFill>
            <a:srgbClr val="FFB627"/>
          </a:solidFill>
          <a:ln w="158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Engineering</a:t>
            </a:r>
          </a:p>
        </p:txBody>
      </p:sp>
      <p:sp>
        <p:nvSpPr>
          <p:cNvPr id="16" name="Rectangle 15">
            <a:extLst>
              <a:ext uri="{FF2B5EF4-FFF2-40B4-BE49-F238E27FC236}">
                <a16:creationId xmlns:a16="http://schemas.microsoft.com/office/drawing/2014/main" id="{0D2DFC43-C9C5-F024-4290-2291CB4DE248}"/>
              </a:ext>
            </a:extLst>
          </p:cNvPr>
          <p:cNvSpPr>
            <a:spLocks noChangeAspect="1"/>
          </p:cNvSpPr>
          <p:nvPr/>
        </p:nvSpPr>
        <p:spPr>
          <a:xfrm>
            <a:off x="5585194" y="2236611"/>
            <a:ext cx="1298448" cy="722376"/>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Scheduling</a:t>
            </a:r>
          </a:p>
        </p:txBody>
      </p:sp>
      <p:sp>
        <p:nvSpPr>
          <p:cNvPr id="17" name="Rectangle 16">
            <a:extLst>
              <a:ext uri="{FF2B5EF4-FFF2-40B4-BE49-F238E27FC236}">
                <a16:creationId xmlns:a16="http://schemas.microsoft.com/office/drawing/2014/main" id="{DA67EB78-ABCF-D004-A393-FCCD2181349B}"/>
              </a:ext>
            </a:extLst>
          </p:cNvPr>
          <p:cNvSpPr>
            <a:spLocks noChangeAspect="1"/>
          </p:cNvSpPr>
          <p:nvPr/>
        </p:nvSpPr>
        <p:spPr>
          <a:xfrm>
            <a:off x="6864477" y="2236611"/>
            <a:ext cx="1298448" cy="722376"/>
          </a:xfrm>
          <a:prstGeom prst="rect">
            <a:avLst/>
          </a:prstGeom>
          <a:solidFill>
            <a:schemeClr val="bg2">
              <a:lumMod val="2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lang="en-US" sz="20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Finance</a:t>
            </a:r>
            <a:endPar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8" name="Rectangle 17">
            <a:extLst>
              <a:ext uri="{FF2B5EF4-FFF2-40B4-BE49-F238E27FC236}">
                <a16:creationId xmlns:a16="http://schemas.microsoft.com/office/drawing/2014/main" id="{15AD595E-5F16-4ACA-1214-2F9664AD97B4}"/>
              </a:ext>
            </a:extLst>
          </p:cNvPr>
          <p:cNvSpPr>
            <a:spLocks noChangeAspect="1"/>
          </p:cNvSpPr>
          <p:nvPr/>
        </p:nvSpPr>
        <p:spPr>
          <a:xfrm>
            <a:off x="8158318" y="2236181"/>
            <a:ext cx="1298448" cy="72237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Delivery</a:t>
            </a:r>
          </a:p>
        </p:txBody>
      </p:sp>
      <p:sp>
        <p:nvSpPr>
          <p:cNvPr id="19" name="Arrow">
            <a:extLst>
              <a:ext uri="{FF2B5EF4-FFF2-40B4-BE49-F238E27FC236}">
                <a16:creationId xmlns:a16="http://schemas.microsoft.com/office/drawing/2014/main" id="{37026D1F-43BF-0FED-B7A1-FCA8B4210DD7}"/>
              </a:ext>
            </a:extLst>
          </p:cNvPr>
          <p:cNvSpPr/>
          <p:nvPr/>
        </p:nvSpPr>
        <p:spPr>
          <a:xfrm>
            <a:off x="9745576" y="2237228"/>
            <a:ext cx="456329" cy="456329"/>
          </a:xfrm>
          <a:prstGeom prst="rightArrow">
            <a:avLst>
              <a:gd name="adj1" fmla="val 54641"/>
              <a:gd name="adj2" fmla="val 68352"/>
            </a:avLst>
          </a:prstGeom>
          <a:solidFill>
            <a:srgbClr val="EE3228"/>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20" name="TextBox 19">
            <a:extLst>
              <a:ext uri="{FF2B5EF4-FFF2-40B4-BE49-F238E27FC236}">
                <a16:creationId xmlns:a16="http://schemas.microsoft.com/office/drawing/2014/main" id="{AC9F350A-D5C4-8F50-B5F9-47738E1711FD}"/>
              </a:ext>
            </a:extLst>
          </p:cNvPr>
          <p:cNvSpPr txBox="1"/>
          <p:nvPr/>
        </p:nvSpPr>
        <p:spPr>
          <a:xfrm rot="16200000">
            <a:off x="9610018" y="2137096"/>
            <a:ext cx="2117567" cy="6565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Customer</a:t>
            </a:r>
          </a:p>
        </p:txBody>
      </p:sp>
      <p:sp>
        <p:nvSpPr>
          <p:cNvPr id="21" name="Left Brace 20">
            <a:extLst>
              <a:ext uri="{FF2B5EF4-FFF2-40B4-BE49-F238E27FC236}">
                <a16:creationId xmlns:a16="http://schemas.microsoft.com/office/drawing/2014/main" id="{C683F8E0-DEF4-204C-057F-2EBE39FA06B4}"/>
              </a:ext>
            </a:extLst>
          </p:cNvPr>
          <p:cNvSpPr/>
          <p:nvPr/>
        </p:nvSpPr>
        <p:spPr>
          <a:xfrm rot="5400000">
            <a:off x="4811371" y="-2742732"/>
            <a:ext cx="310660" cy="9105642"/>
          </a:xfrm>
          <a:prstGeom prst="leftBrace">
            <a:avLst>
              <a:gd name="adj1" fmla="val 8333"/>
              <a:gd name="adj2" fmla="val 50129"/>
            </a:avLst>
          </a:prstGeom>
          <a:noFill/>
          <a:ln w="25400" cap="flat">
            <a:solidFill>
              <a:srgbClr val="EE3228">
                <a:alpha val="75000"/>
              </a:srgb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endParaRPr>
          </a:p>
        </p:txBody>
      </p:sp>
      <p:sp>
        <p:nvSpPr>
          <p:cNvPr id="22" name="TextBox 21">
            <a:extLst>
              <a:ext uri="{FF2B5EF4-FFF2-40B4-BE49-F238E27FC236}">
                <a16:creationId xmlns:a16="http://schemas.microsoft.com/office/drawing/2014/main" id="{0C4F9658-5EB8-DC48-46A8-E2B9124E83FA}"/>
              </a:ext>
            </a:extLst>
          </p:cNvPr>
          <p:cNvSpPr txBox="1"/>
          <p:nvPr/>
        </p:nvSpPr>
        <p:spPr>
          <a:xfrm>
            <a:off x="4231884" y="1196499"/>
            <a:ext cx="1413849"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6 weeks</a:t>
            </a:r>
          </a:p>
        </p:txBody>
      </p:sp>
      <p:sp>
        <p:nvSpPr>
          <p:cNvPr id="23" name="Left Brace 22">
            <a:extLst>
              <a:ext uri="{FF2B5EF4-FFF2-40B4-BE49-F238E27FC236}">
                <a16:creationId xmlns:a16="http://schemas.microsoft.com/office/drawing/2014/main" id="{F42954D0-9FC5-53F6-6A14-12A24FAA1F26}"/>
              </a:ext>
            </a:extLst>
          </p:cNvPr>
          <p:cNvSpPr/>
          <p:nvPr/>
        </p:nvSpPr>
        <p:spPr>
          <a:xfrm rot="16200000">
            <a:off x="4801647" y="2557781"/>
            <a:ext cx="270568" cy="1143129"/>
          </a:xfrm>
          <a:prstGeom prst="leftBrace">
            <a:avLst>
              <a:gd name="adj1" fmla="val 8333"/>
              <a:gd name="adj2" fmla="val 50129"/>
            </a:avLst>
          </a:prstGeom>
          <a:noFill/>
          <a:ln w="25400" cap="flat">
            <a:solidFill>
              <a:schemeClr val="bg1">
                <a:alpha val="75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24" name="TextBox 23">
            <a:extLst>
              <a:ext uri="{FF2B5EF4-FFF2-40B4-BE49-F238E27FC236}">
                <a16:creationId xmlns:a16="http://schemas.microsoft.com/office/drawing/2014/main" id="{D19EFD5F-EA99-5106-8FEE-29735DC3CD61}"/>
              </a:ext>
            </a:extLst>
          </p:cNvPr>
          <p:cNvSpPr txBox="1"/>
          <p:nvPr/>
        </p:nvSpPr>
        <p:spPr>
          <a:xfrm>
            <a:off x="4260578" y="3190790"/>
            <a:ext cx="1412246"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2 weeks</a:t>
            </a:r>
          </a:p>
        </p:txBody>
      </p:sp>
      <p:sp>
        <p:nvSpPr>
          <p:cNvPr id="26" name="Rectangle 25">
            <a:extLst>
              <a:ext uri="{FF2B5EF4-FFF2-40B4-BE49-F238E27FC236}">
                <a16:creationId xmlns:a16="http://schemas.microsoft.com/office/drawing/2014/main" id="{7C30B633-7309-337D-16C7-9264BB3E1EEB}"/>
              </a:ext>
            </a:extLst>
          </p:cNvPr>
          <p:cNvSpPr/>
          <p:nvPr/>
        </p:nvSpPr>
        <p:spPr>
          <a:xfrm>
            <a:off x="1750943" y="4059380"/>
            <a:ext cx="393192" cy="115214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27" name="Rectangle 26">
            <a:extLst>
              <a:ext uri="{FF2B5EF4-FFF2-40B4-BE49-F238E27FC236}">
                <a16:creationId xmlns:a16="http://schemas.microsoft.com/office/drawing/2014/main" id="{E9E79EA1-A453-7E03-C983-D071234676C1}"/>
              </a:ext>
            </a:extLst>
          </p:cNvPr>
          <p:cNvSpPr/>
          <p:nvPr/>
        </p:nvSpPr>
        <p:spPr>
          <a:xfrm>
            <a:off x="2141485" y="4059891"/>
            <a:ext cx="393192" cy="1152144"/>
          </a:xfrm>
          <a:prstGeom prst="rect">
            <a:avLst/>
          </a:prstGeom>
          <a:solidFill>
            <a:schemeClr val="bg2">
              <a:lumMod val="2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28" name="Rectangle 27">
            <a:extLst>
              <a:ext uri="{FF2B5EF4-FFF2-40B4-BE49-F238E27FC236}">
                <a16:creationId xmlns:a16="http://schemas.microsoft.com/office/drawing/2014/main" id="{2364818C-AC53-F61B-40A3-053B3A79F810}"/>
              </a:ext>
            </a:extLst>
          </p:cNvPr>
          <p:cNvSpPr/>
          <p:nvPr/>
        </p:nvSpPr>
        <p:spPr>
          <a:xfrm>
            <a:off x="2532027" y="4060402"/>
            <a:ext cx="393192" cy="115214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29" name="Rectangle 28">
            <a:extLst>
              <a:ext uri="{FF2B5EF4-FFF2-40B4-BE49-F238E27FC236}">
                <a16:creationId xmlns:a16="http://schemas.microsoft.com/office/drawing/2014/main" id="{341E43E4-472B-F018-F30B-3BB7A6850BBD}"/>
              </a:ext>
            </a:extLst>
          </p:cNvPr>
          <p:cNvSpPr/>
          <p:nvPr/>
        </p:nvSpPr>
        <p:spPr>
          <a:xfrm>
            <a:off x="2922569" y="4060913"/>
            <a:ext cx="393192" cy="1152144"/>
          </a:xfrm>
          <a:prstGeom prst="rect">
            <a:avLst/>
          </a:prstGeom>
          <a:solidFill>
            <a:srgbClr val="FFB627"/>
          </a:solidFill>
          <a:ln w="158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30" name="Rectangle 29">
            <a:extLst>
              <a:ext uri="{FF2B5EF4-FFF2-40B4-BE49-F238E27FC236}">
                <a16:creationId xmlns:a16="http://schemas.microsoft.com/office/drawing/2014/main" id="{B27BE332-BF0D-4CD6-EEAC-BCE6D20E27C0}"/>
              </a:ext>
            </a:extLst>
          </p:cNvPr>
          <p:cNvSpPr/>
          <p:nvPr/>
        </p:nvSpPr>
        <p:spPr>
          <a:xfrm>
            <a:off x="3313111" y="4061427"/>
            <a:ext cx="393192" cy="1152144"/>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33" name="Left Brace 32">
            <a:extLst>
              <a:ext uri="{FF2B5EF4-FFF2-40B4-BE49-F238E27FC236}">
                <a16:creationId xmlns:a16="http://schemas.microsoft.com/office/drawing/2014/main" id="{494EA461-5506-6D52-45BA-06E8E29B90F4}"/>
              </a:ext>
            </a:extLst>
          </p:cNvPr>
          <p:cNvSpPr/>
          <p:nvPr/>
        </p:nvSpPr>
        <p:spPr>
          <a:xfrm rot="16200000">
            <a:off x="2993919" y="5159138"/>
            <a:ext cx="270568" cy="367283"/>
          </a:xfrm>
          <a:prstGeom prst="leftBrace">
            <a:avLst>
              <a:gd name="adj1" fmla="val 8333"/>
              <a:gd name="adj2" fmla="val 50129"/>
            </a:avLst>
          </a:prstGeom>
          <a:noFill/>
          <a:ln w="25400" cap="flat">
            <a:solidFill>
              <a:schemeClr val="bg1">
                <a:alpha val="75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34" name="TextBox 33">
            <a:extLst>
              <a:ext uri="{FF2B5EF4-FFF2-40B4-BE49-F238E27FC236}">
                <a16:creationId xmlns:a16="http://schemas.microsoft.com/office/drawing/2014/main" id="{800E7B87-F5D7-F40E-2716-B1B9880CD907}"/>
              </a:ext>
            </a:extLst>
          </p:cNvPr>
          <p:cNvSpPr txBox="1"/>
          <p:nvPr/>
        </p:nvSpPr>
        <p:spPr>
          <a:xfrm>
            <a:off x="2589021" y="5415010"/>
            <a:ext cx="114775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3 days</a:t>
            </a:r>
          </a:p>
        </p:txBody>
      </p:sp>
      <p:sp>
        <p:nvSpPr>
          <p:cNvPr id="35" name="Left Brace 34">
            <a:extLst>
              <a:ext uri="{FF2B5EF4-FFF2-40B4-BE49-F238E27FC236}">
                <a16:creationId xmlns:a16="http://schemas.microsoft.com/office/drawing/2014/main" id="{AB91DB34-1BD2-95DF-C867-3DFA78BBFB00}"/>
              </a:ext>
            </a:extLst>
          </p:cNvPr>
          <p:cNvSpPr/>
          <p:nvPr/>
        </p:nvSpPr>
        <p:spPr>
          <a:xfrm rot="5400000">
            <a:off x="3014329" y="2478998"/>
            <a:ext cx="270568" cy="2761111"/>
          </a:xfrm>
          <a:prstGeom prst="leftBrace">
            <a:avLst>
              <a:gd name="adj1" fmla="val 8333"/>
              <a:gd name="adj2" fmla="val 50129"/>
            </a:avLst>
          </a:prstGeom>
          <a:noFill/>
          <a:ln w="25400" cap="flat">
            <a:solidFill>
              <a:schemeClr val="bg1">
                <a:alpha val="75000"/>
              </a:scheme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36" name="TextBox 35">
            <a:extLst>
              <a:ext uri="{FF2B5EF4-FFF2-40B4-BE49-F238E27FC236}">
                <a16:creationId xmlns:a16="http://schemas.microsoft.com/office/drawing/2014/main" id="{772B207E-F581-D3FC-D13E-64AF408714F6}"/>
              </a:ext>
            </a:extLst>
          </p:cNvPr>
          <p:cNvSpPr txBox="1"/>
          <p:nvPr/>
        </p:nvSpPr>
        <p:spPr>
          <a:xfrm>
            <a:off x="2543595" y="3292191"/>
            <a:ext cx="114775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8 days</a:t>
            </a:r>
          </a:p>
        </p:txBody>
      </p:sp>
      <p:sp>
        <p:nvSpPr>
          <p:cNvPr id="37" name="Line">
            <a:extLst>
              <a:ext uri="{FF2B5EF4-FFF2-40B4-BE49-F238E27FC236}">
                <a16:creationId xmlns:a16="http://schemas.microsoft.com/office/drawing/2014/main" id="{9D7F823C-9C52-7450-2BAE-F4F9F1AF306D}"/>
              </a:ext>
            </a:extLst>
          </p:cNvPr>
          <p:cNvSpPr/>
          <p:nvPr/>
        </p:nvSpPr>
        <p:spPr>
          <a:xfrm flipV="1">
            <a:off x="4620866" y="3111377"/>
            <a:ext cx="4898656" cy="1443593"/>
          </a:xfrm>
          <a:prstGeom prst="line">
            <a:avLst/>
          </a:prstGeom>
          <a:ln w="63500">
            <a:solidFill>
              <a:srgbClr val="EE3228"/>
            </a:solidFill>
            <a:miter lim="400000"/>
            <a:headEnd type="arrow"/>
          </a:ln>
        </p:spPr>
        <p:txBody>
          <a:bodyPr lIns="50800" tIns="50800" rIns="50800" bIns="50800" anchor="ctr"/>
          <a:lstStyle/>
          <a:p>
            <a:pPr algn="l" defTabSz="457200">
              <a:defRPr sz="1200"/>
            </a:pPr>
            <a:endParaRPr/>
          </a:p>
        </p:txBody>
      </p:sp>
      <p:sp>
        <p:nvSpPr>
          <p:cNvPr id="38" name="Line">
            <a:extLst>
              <a:ext uri="{FF2B5EF4-FFF2-40B4-BE49-F238E27FC236}">
                <a16:creationId xmlns:a16="http://schemas.microsoft.com/office/drawing/2014/main" id="{49108B15-EA4D-5054-8B4E-F4A4F2828FA3}"/>
              </a:ext>
            </a:extLst>
          </p:cNvPr>
          <p:cNvSpPr/>
          <p:nvPr/>
        </p:nvSpPr>
        <p:spPr>
          <a:xfrm flipH="1" flipV="1">
            <a:off x="491576" y="3017090"/>
            <a:ext cx="1168669" cy="1443594"/>
          </a:xfrm>
          <a:prstGeom prst="line">
            <a:avLst/>
          </a:prstGeom>
          <a:ln w="63500">
            <a:solidFill>
              <a:srgbClr val="EE3228"/>
            </a:solidFill>
            <a:miter lim="400000"/>
            <a:headEnd type="arrow"/>
          </a:ln>
        </p:spPr>
        <p:txBody>
          <a:bodyPr lIns="50800" tIns="50800" rIns="50800" bIns="50800" anchor="ctr"/>
          <a:lstStyle/>
          <a:p>
            <a:pPr algn="l" defTabSz="457200">
              <a:defRPr sz="1200"/>
            </a:pPr>
            <a:endParaRPr/>
          </a:p>
        </p:txBody>
      </p:sp>
      <p:sp>
        <p:nvSpPr>
          <p:cNvPr id="25" name="Rectangle 24">
            <a:extLst>
              <a:ext uri="{FF2B5EF4-FFF2-40B4-BE49-F238E27FC236}">
                <a16:creationId xmlns:a16="http://schemas.microsoft.com/office/drawing/2014/main" id="{9C108D9A-5A10-6979-CB2C-306FA148A31E}"/>
              </a:ext>
            </a:extLst>
          </p:cNvPr>
          <p:cNvSpPr/>
          <p:nvPr/>
        </p:nvSpPr>
        <p:spPr>
          <a:xfrm>
            <a:off x="3691345" y="4059380"/>
            <a:ext cx="393192" cy="1152144"/>
          </a:xfrm>
          <a:prstGeom prst="rect">
            <a:avLst/>
          </a:prstGeom>
          <a:solidFill>
            <a:schemeClr val="bg2">
              <a:lumMod val="2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40" name="Rectangle 39">
            <a:extLst>
              <a:ext uri="{FF2B5EF4-FFF2-40B4-BE49-F238E27FC236}">
                <a16:creationId xmlns:a16="http://schemas.microsoft.com/office/drawing/2014/main" id="{9646EAFA-66EA-7DD3-2411-480288C4F044}"/>
              </a:ext>
            </a:extLst>
          </p:cNvPr>
          <p:cNvSpPr/>
          <p:nvPr/>
        </p:nvSpPr>
        <p:spPr>
          <a:xfrm>
            <a:off x="4081887" y="4059891"/>
            <a:ext cx="393192" cy="115214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8" name="TextBox 7">
            <a:extLst>
              <a:ext uri="{FF2B5EF4-FFF2-40B4-BE49-F238E27FC236}">
                <a16:creationId xmlns:a16="http://schemas.microsoft.com/office/drawing/2014/main" id="{C2A73849-F063-316D-C8AE-E6D57EE81203}"/>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sp>
        <p:nvSpPr>
          <p:cNvPr id="7" name="Slide Number Placeholder 6">
            <a:extLst>
              <a:ext uri="{FF2B5EF4-FFF2-40B4-BE49-F238E27FC236}">
                <a16:creationId xmlns:a16="http://schemas.microsoft.com/office/drawing/2014/main" id="{E0966AB5-5455-0567-4F35-B0E4C4ECE4C7}"/>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pPr/>
              <a:t>8</a:t>
            </a:fld>
            <a:endParaRPr lang="en-US" dirty="0"/>
          </a:p>
        </p:txBody>
      </p:sp>
      <p:grpSp>
        <p:nvGrpSpPr>
          <p:cNvPr id="9" name="Group 8">
            <a:extLst>
              <a:ext uri="{FF2B5EF4-FFF2-40B4-BE49-F238E27FC236}">
                <a16:creationId xmlns:a16="http://schemas.microsoft.com/office/drawing/2014/main" id="{F3DC04BA-7D83-B76A-2955-2F762281B80F}"/>
              </a:ext>
            </a:extLst>
          </p:cNvPr>
          <p:cNvGrpSpPr/>
          <p:nvPr/>
        </p:nvGrpSpPr>
        <p:grpSpPr>
          <a:xfrm>
            <a:off x="940249" y="302311"/>
            <a:ext cx="1060167" cy="290657"/>
            <a:chOff x="940249" y="315206"/>
            <a:chExt cx="1060167" cy="265062"/>
          </a:xfrm>
        </p:grpSpPr>
        <p:sp>
          <p:nvSpPr>
            <p:cNvPr id="11" name="AutoShape 9">
              <a:extLst>
                <a:ext uri="{FF2B5EF4-FFF2-40B4-BE49-F238E27FC236}">
                  <a16:creationId xmlns:a16="http://schemas.microsoft.com/office/drawing/2014/main" id="{9966C958-1DE8-762C-9436-7CF55B3CE54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1" name="AutoShape 10">
              <a:extLst>
                <a:ext uri="{FF2B5EF4-FFF2-40B4-BE49-F238E27FC236}">
                  <a16:creationId xmlns:a16="http://schemas.microsoft.com/office/drawing/2014/main" id="{18EB33A6-4A78-BAF7-C4C3-94065847D28D}"/>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2" name="AutoShape 11">
              <a:extLst>
                <a:ext uri="{FF2B5EF4-FFF2-40B4-BE49-F238E27FC236}">
                  <a16:creationId xmlns:a16="http://schemas.microsoft.com/office/drawing/2014/main" id="{BEBC19CE-0284-9C0D-5505-7F2DDCC2772E}"/>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2" name="Left Brace 1">
            <a:extLst>
              <a:ext uri="{FF2B5EF4-FFF2-40B4-BE49-F238E27FC236}">
                <a16:creationId xmlns:a16="http://schemas.microsoft.com/office/drawing/2014/main" id="{D8490DD6-8F04-3D1B-25B6-5D85E5DD7073}"/>
              </a:ext>
            </a:extLst>
          </p:cNvPr>
          <p:cNvSpPr/>
          <p:nvPr/>
        </p:nvSpPr>
        <p:spPr>
          <a:xfrm rot="16200000" flipV="1">
            <a:off x="4788871" y="2427948"/>
            <a:ext cx="310660" cy="1281985"/>
          </a:xfrm>
          <a:prstGeom prst="leftBrace">
            <a:avLst>
              <a:gd name="adj1" fmla="val 8333"/>
              <a:gd name="adj2" fmla="val 50129"/>
            </a:avLst>
          </a:prstGeom>
          <a:noFill/>
          <a:ln w="25400" cap="flat">
            <a:solidFill>
              <a:srgbClr val="EE3228">
                <a:alpha val="75000"/>
              </a:srgb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endParaRPr>
          </a:p>
        </p:txBody>
      </p:sp>
      <p:sp>
        <p:nvSpPr>
          <p:cNvPr id="3" name="Left Brace 2">
            <a:extLst>
              <a:ext uri="{FF2B5EF4-FFF2-40B4-BE49-F238E27FC236}">
                <a16:creationId xmlns:a16="http://schemas.microsoft.com/office/drawing/2014/main" id="{F06C307A-64E5-DD83-975F-8C7C24E02338}"/>
              </a:ext>
            </a:extLst>
          </p:cNvPr>
          <p:cNvSpPr/>
          <p:nvPr/>
        </p:nvSpPr>
        <p:spPr>
          <a:xfrm rot="16200000" flipV="1">
            <a:off x="2962377" y="5163433"/>
            <a:ext cx="310660" cy="390276"/>
          </a:xfrm>
          <a:prstGeom prst="leftBrace">
            <a:avLst>
              <a:gd name="adj1" fmla="val 8333"/>
              <a:gd name="adj2" fmla="val 50129"/>
            </a:avLst>
          </a:prstGeom>
          <a:noFill/>
          <a:ln w="25400" cap="flat">
            <a:solidFill>
              <a:srgbClr val="EE3228">
                <a:alpha val="75000"/>
              </a:srgb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endParaRPr>
          </a:p>
        </p:txBody>
      </p:sp>
      <p:sp>
        <p:nvSpPr>
          <p:cNvPr id="4" name="Left Brace 3">
            <a:extLst>
              <a:ext uri="{FF2B5EF4-FFF2-40B4-BE49-F238E27FC236}">
                <a16:creationId xmlns:a16="http://schemas.microsoft.com/office/drawing/2014/main" id="{94949E1A-2979-FB69-5AD8-51710921A05D}"/>
              </a:ext>
            </a:extLst>
          </p:cNvPr>
          <p:cNvSpPr/>
          <p:nvPr/>
        </p:nvSpPr>
        <p:spPr>
          <a:xfrm rot="5400000">
            <a:off x="2957681" y="2536060"/>
            <a:ext cx="310660" cy="2724136"/>
          </a:xfrm>
          <a:prstGeom prst="leftBrace">
            <a:avLst>
              <a:gd name="adj1" fmla="val 8333"/>
              <a:gd name="adj2" fmla="val 50129"/>
            </a:avLst>
          </a:prstGeom>
          <a:noFill/>
          <a:ln w="25400" cap="flat">
            <a:solidFill>
              <a:srgbClr val="EE3228">
                <a:alpha val="75000"/>
              </a:srgb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endParaRPr>
          </a:p>
        </p:txBody>
      </p:sp>
    </p:spTree>
    <p:extLst>
      <p:ext uri="{BB962C8B-B14F-4D97-AF65-F5344CB8AC3E}">
        <p14:creationId xmlns:p14="http://schemas.microsoft.com/office/powerpoint/2010/main" val="4037208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287BA79-BC0E-9B68-5E47-60ACB12957C8}"/>
              </a:ext>
            </a:extLst>
          </p:cNvPr>
          <p:cNvSpPr>
            <a:spLocks noGrp="1"/>
          </p:cNvSpPr>
          <p:nvPr>
            <p:ph type="body" sz="half" idx="2"/>
          </p:nvPr>
        </p:nvSpPr>
        <p:spPr/>
        <p:txBody>
          <a:bodyPr>
            <a:normAutofit/>
          </a:bodyPr>
          <a:lstStyle/>
          <a:p>
            <a:pPr marL="342900" indent="-342900">
              <a:buFont typeface="Arial" panose="020B0604020202020204" pitchFamily="34" charset="0"/>
              <a:buChar char="•"/>
            </a:pPr>
            <a:r>
              <a:rPr lang="en-US" altLang="ja-JP" sz="2200" dirty="0"/>
              <a:t>Respect for the individual</a:t>
            </a:r>
          </a:p>
          <a:p>
            <a:pPr marL="342900" indent="-342900">
              <a:buFont typeface="Arial" panose="020B0604020202020204" pitchFamily="34" charset="0"/>
              <a:buChar char="•"/>
            </a:pPr>
            <a:r>
              <a:rPr lang="en-US" altLang="ja-JP" sz="2200" dirty="0"/>
              <a:t>Desire to fully utilize the creativity and capability of the individual</a:t>
            </a:r>
          </a:p>
          <a:p>
            <a:pPr marL="342900" indent="-342900">
              <a:buFont typeface="Arial" panose="020B0604020202020204" pitchFamily="34" charset="0"/>
              <a:buChar char="•"/>
            </a:pPr>
            <a:r>
              <a:rPr lang="en-US" altLang="ja-JP" sz="2200" dirty="0"/>
              <a:t>Respect for the customer</a:t>
            </a:r>
          </a:p>
          <a:p>
            <a:pPr marL="342900" indent="-342900">
              <a:buFont typeface="Arial" panose="020B0604020202020204" pitchFamily="34" charset="0"/>
              <a:buChar char="•"/>
            </a:pPr>
            <a:r>
              <a:rPr lang="en-US" altLang="ja-JP" sz="2200" dirty="0"/>
              <a:t>Enterprise-wide sustainable competitive advantage</a:t>
            </a:r>
          </a:p>
        </p:txBody>
      </p:sp>
      <p:sp>
        <p:nvSpPr>
          <p:cNvPr id="7" name="Slide Number Placeholder 6">
            <a:extLst>
              <a:ext uri="{FF2B5EF4-FFF2-40B4-BE49-F238E27FC236}">
                <a16:creationId xmlns:a16="http://schemas.microsoft.com/office/drawing/2014/main" id="{8DDF98C7-E326-67DA-15D8-AD0EFBA4380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9</a:t>
            </a:fld>
            <a:endParaRPr lang="en-US"/>
          </a:p>
        </p:txBody>
      </p:sp>
      <p:pic>
        <p:nvPicPr>
          <p:cNvPr id="17" name="Content Placeholder 16" descr="A person with the hand on the chin">
            <a:extLst>
              <a:ext uri="{FF2B5EF4-FFF2-40B4-BE49-F238E27FC236}">
                <a16:creationId xmlns:a16="http://schemas.microsoft.com/office/drawing/2014/main" id="{51FC5A95-8AF9-704B-0862-DB36D2BC26FC}"/>
              </a:ext>
            </a:extLst>
          </p:cNvPr>
          <p:cNvPicPr>
            <a:picLocks noGrp="1" noChangeAspect="1"/>
          </p:cNvPicPr>
          <p:nvPr>
            <p:ph idx="1"/>
          </p:nvPr>
        </p:nvPicPr>
        <p:blipFill rotWithShape="1">
          <a:blip r:embed="rId3"/>
          <a:srcRect l="10645" r="14531"/>
          <a:stretch/>
        </p:blipFill>
        <p:spPr>
          <a:xfrm flipH="1">
            <a:off x="5560216" y="1395412"/>
            <a:ext cx="4561237" cy="4067175"/>
          </a:xfrm>
        </p:spPr>
      </p:pic>
      <p:sp>
        <p:nvSpPr>
          <p:cNvPr id="12" name="TextBox 11">
            <a:extLst>
              <a:ext uri="{FF2B5EF4-FFF2-40B4-BE49-F238E27FC236}">
                <a16:creationId xmlns:a16="http://schemas.microsoft.com/office/drawing/2014/main" id="{3FED22B0-B2B7-9840-0B1F-66F773992CBC}"/>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sp>
        <p:nvSpPr>
          <p:cNvPr id="8" name="Title 1">
            <a:extLst>
              <a:ext uri="{FF2B5EF4-FFF2-40B4-BE49-F238E27FC236}">
                <a16:creationId xmlns:a16="http://schemas.microsoft.com/office/drawing/2014/main" id="{3BDD162C-1682-C140-3181-DE873F988CBF}"/>
              </a:ext>
            </a:extLst>
          </p:cNvPr>
          <p:cNvSpPr txBox="1">
            <a:spLocks/>
          </p:cNvSpPr>
          <p:nvPr/>
        </p:nvSpPr>
        <p:spPr>
          <a:xfrm>
            <a:off x="839788" y="1222913"/>
            <a:ext cx="3932237" cy="531812"/>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a:lstStyle>
          <a:p>
            <a:r>
              <a:rPr lang="en-US" sz="4000" dirty="0">
                <a:latin typeface="Roboto Medium"/>
                <a:ea typeface="Roboto Medium"/>
                <a:cs typeface="Roboto Medium"/>
              </a:rPr>
              <a:t>Why Lean?</a:t>
            </a:r>
            <a:endParaRPr lang="en-US" dirty="0"/>
          </a:p>
        </p:txBody>
      </p:sp>
      <p:grpSp>
        <p:nvGrpSpPr>
          <p:cNvPr id="15" name="Group 14">
            <a:extLst>
              <a:ext uri="{FF2B5EF4-FFF2-40B4-BE49-F238E27FC236}">
                <a16:creationId xmlns:a16="http://schemas.microsoft.com/office/drawing/2014/main" id="{5A958910-A32A-D393-44A5-7704E2E8A1AD}"/>
              </a:ext>
            </a:extLst>
          </p:cNvPr>
          <p:cNvGrpSpPr/>
          <p:nvPr/>
        </p:nvGrpSpPr>
        <p:grpSpPr>
          <a:xfrm>
            <a:off x="940249" y="302311"/>
            <a:ext cx="1060167" cy="290657"/>
            <a:chOff x="940249" y="315206"/>
            <a:chExt cx="1060167" cy="265062"/>
          </a:xfrm>
        </p:grpSpPr>
        <p:sp>
          <p:nvSpPr>
            <p:cNvPr id="16" name="AutoShape 9">
              <a:extLst>
                <a:ext uri="{FF2B5EF4-FFF2-40B4-BE49-F238E27FC236}">
                  <a16:creationId xmlns:a16="http://schemas.microsoft.com/office/drawing/2014/main" id="{D9EC67DA-3122-9940-97AB-062EC2B364B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0">
              <a:extLst>
                <a:ext uri="{FF2B5EF4-FFF2-40B4-BE49-F238E27FC236}">
                  <a16:creationId xmlns:a16="http://schemas.microsoft.com/office/drawing/2014/main" id="{20CCAEE4-EDA4-265B-DA51-184F9E950A0C}"/>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BDDBDCA8-6FB0-7E0F-C643-0B3DD4D4B830}"/>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1923368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287BA79-BC0E-9B68-5E47-60ACB12957C8}"/>
              </a:ext>
            </a:extLst>
          </p:cNvPr>
          <p:cNvSpPr>
            <a:spLocks noGrp="1"/>
          </p:cNvSpPr>
          <p:nvPr>
            <p:ph type="body" sz="half" idx="2"/>
          </p:nvPr>
        </p:nvSpPr>
        <p:spPr/>
        <p:txBody>
          <a:bodyPr>
            <a:normAutofit fontScale="77500" lnSpcReduction="20000"/>
          </a:bodyPr>
          <a:lstStyle/>
          <a:p>
            <a:pPr marL="342900" indent="-342900">
              <a:lnSpc>
                <a:spcPct val="100000"/>
              </a:lnSpc>
              <a:buFont typeface="Arial" panose="020B0604020202020204" pitchFamily="34" charset="0"/>
              <a:buChar char="•"/>
            </a:pPr>
            <a:r>
              <a:rPr lang="en-US" altLang="ja-JP" sz="2200" dirty="0" err="1"/>
              <a:t>Sakichi</a:t>
            </a:r>
            <a:r>
              <a:rPr lang="en-US" altLang="ja-JP" sz="2200" dirty="0"/>
              <a:t> Toyoda developed the concept of </a:t>
            </a:r>
            <a:r>
              <a:rPr lang="en-US" altLang="ja-JP" sz="2200" dirty="0" err="1"/>
              <a:t>jidoka</a:t>
            </a:r>
            <a:r>
              <a:rPr lang="en-US" altLang="ja-JP" sz="2200" dirty="0"/>
              <a:t> (autonomation), which became one of the pillars of TPS. Founded Toyota Motor Co. in 1937.</a:t>
            </a:r>
          </a:p>
          <a:p>
            <a:pPr marL="342900" indent="-342900">
              <a:lnSpc>
                <a:spcPct val="100000"/>
              </a:lnSpc>
              <a:buFont typeface="Arial" panose="020B0604020202020204" pitchFamily="34" charset="0"/>
              <a:buChar char="•"/>
            </a:pPr>
            <a:r>
              <a:rPr lang="en-US" altLang="ja-JP" sz="2200" dirty="0" err="1"/>
              <a:t>Eiji</a:t>
            </a:r>
            <a:r>
              <a:rPr lang="en-US" altLang="ja-JP" sz="2200" dirty="0"/>
              <a:t> Toyoda adapted the Ford suggestion scheme into a system for continuous improvement which became known as kaizen.</a:t>
            </a:r>
          </a:p>
          <a:p>
            <a:pPr marL="342900" indent="-342900">
              <a:lnSpc>
                <a:spcPct val="100000"/>
              </a:lnSpc>
              <a:buFont typeface="Arial" panose="020B0604020202020204" pitchFamily="34" charset="0"/>
              <a:buChar char="•"/>
            </a:pPr>
            <a:r>
              <a:rPr lang="en-US" altLang="ja-JP" sz="2200" dirty="0"/>
              <a:t>Kiichiro Toyoda studied Ford’s production system and adapted it to the smaller, more diverse Japanese market. Developed the key concepts behind “just-in-time”</a:t>
            </a:r>
          </a:p>
        </p:txBody>
      </p:sp>
      <p:sp>
        <p:nvSpPr>
          <p:cNvPr id="7" name="Slide Number Placeholder 6">
            <a:extLst>
              <a:ext uri="{FF2B5EF4-FFF2-40B4-BE49-F238E27FC236}">
                <a16:creationId xmlns:a16="http://schemas.microsoft.com/office/drawing/2014/main" id="{8DDF98C7-E326-67DA-15D8-AD0EFBA4380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10</a:t>
            </a:fld>
            <a:endParaRPr lang="en-US" dirty="0"/>
          </a:p>
        </p:txBody>
      </p:sp>
      <p:sp>
        <p:nvSpPr>
          <p:cNvPr id="2" name="Title 1">
            <a:extLst>
              <a:ext uri="{FF2B5EF4-FFF2-40B4-BE49-F238E27FC236}">
                <a16:creationId xmlns:a16="http://schemas.microsoft.com/office/drawing/2014/main" id="{3BEF1C1C-86A0-4488-68EC-1E6D1847DB51}"/>
              </a:ext>
            </a:extLst>
          </p:cNvPr>
          <p:cNvSpPr>
            <a:spLocks noGrp="1"/>
          </p:cNvSpPr>
          <p:nvPr>
            <p:ph type="title"/>
          </p:nvPr>
        </p:nvSpPr>
        <p:spPr>
          <a:xfrm>
            <a:off x="839788" y="352816"/>
            <a:ext cx="3932237" cy="1465029"/>
          </a:xfrm>
        </p:spPr>
        <p:txBody>
          <a:bodyPr>
            <a:normAutofit/>
          </a:bodyPr>
          <a:lstStyle/>
          <a:p>
            <a:r>
              <a:rPr lang="en-US" sz="4000" dirty="0">
                <a:latin typeface="Roboto Medium"/>
                <a:ea typeface="Roboto Medium"/>
                <a:cs typeface="Roboto Medium"/>
              </a:rPr>
              <a:t>History of Lean</a:t>
            </a:r>
          </a:p>
        </p:txBody>
      </p:sp>
      <p:pic>
        <p:nvPicPr>
          <p:cNvPr id="15" name="Content Placeholder 14" descr="A collage of Sakichi Toyoda, Eiji Toyoda, and Kiichiro Toyoda">
            <a:extLst>
              <a:ext uri="{FF2B5EF4-FFF2-40B4-BE49-F238E27FC236}">
                <a16:creationId xmlns:a16="http://schemas.microsoft.com/office/drawing/2014/main" id="{51BF8A90-AED8-1661-9A2B-425A2CF6C100}"/>
              </a:ext>
            </a:extLst>
          </p:cNvPr>
          <p:cNvPicPr>
            <a:picLocks noGrp="1" noChangeAspect="1"/>
          </p:cNvPicPr>
          <p:nvPr>
            <p:ph idx="1"/>
          </p:nvPr>
        </p:nvPicPr>
        <p:blipFill>
          <a:blip r:embed="rId3"/>
          <a:stretch>
            <a:fillRect/>
          </a:stretch>
        </p:blipFill>
        <p:spPr>
          <a:xfrm>
            <a:off x="5641010" y="933185"/>
            <a:ext cx="3921463" cy="4873625"/>
          </a:xfrm>
        </p:spPr>
      </p:pic>
      <p:sp>
        <p:nvSpPr>
          <p:cNvPr id="12" name="TextBox 11">
            <a:extLst>
              <a:ext uri="{FF2B5EF4-FFF2-40B4-BE49-F238E27FC236}">
                <a16:creationId xmlns:a16="http://schemas.microsoft.com/office/drawing/2014/main" id="{8B943A8B-1B59-B918-AA53-2FFD8D5707D3}"/>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nvGrpSpPr>
          <p:cNvPr id="13" name="Group 12">
            <a:extLst>
              <a:ext uri="{FF2B5EF4-FFF2-40B4-BE49-F238E27FC236}">
                <a16:creationId xmlns:a16="http://schemas.microsoft.com/office/drawing/2014/main" id="{DAF2035C-8797-65E8-7C89-4D475BA2C884}"/>
              </a:ext>
            </a:extLst>
          </p:cNvPr>
          <p:cNvGrpSpPr/>
          <p:nvPr/>
        </p:nvGrpSpPr>
        <p:grpSpPr>
          <a:xfrm>
            <a:off x="940249" y="302311"/>
            <a:ext cx="1060167" cy="290657"/>
            <a:chOff x="940249" y="315206"/>
            <a:chExt cx="1060167" cy="265062"/>
          </a:xfrm>
        </p:grpSpPr>
        <p:sp>
          <p:nvSpPr>
            <p:cNvPr id="14" name="AutoShape 9">
              <a:extLst>
                <a:ext uri="{FF2B5EF4-FFF2-40B4-BE49-F238E27FC236}">
                  <a16:creationId xmlns:a16="http://schemas.microsoft.com/office/drawing/2014/main" id="{DDD98F59-B312-7B0D-70F4-999B25B4B46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5C231189-4E46-39C5-89B2-72FA8613F354}"/>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1">
              <a:extLst>
                <a:ext uri="{FF2B5EF4-FFF2-40B4-BE49-F238E27FC236}">
                  <a16:creationId xmlns:a16="http://schemas.microsoft.com/office/drawing/2014/main" id="{03FC16D5-35DF-3A0D-2E20-59B1060C5FB4}"/>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967713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808457A-80E3-DE97-AFB7-8F48A1405C69}"/>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latin typeface="Roboto" panose="02000000000000000000" pitchFamily="2" charset="0"/>
                <a:ea typeface="Roboto" panose="02000000000000000000" pitchFamily="2" charset="0"/>
                <a:cs typeface="Roboto" panose="02000000000000000000" pitchFamily="2" charset="0"/>
              </a:rPr>
              <a:pPr/>
              <a:t>11</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0" name="Title 1">
            <a:extLst>
              <a:ext uri="{FF2B5EF4-FFF2-40B4-BE49-F238E27FC236}">
                <a16:creationId xmlns:a16="http://schemas.microsoft.com/office/drawing/2014/main" id="{FA64EF14-686A-E3E4-B13B-8F4D7FF43C6B}"/>
              </a:ext>
            </a:extLst>
          </p:cNvPr>
          <p:cNvSpPr txBox="1">
            <a:spLocks/>
          </p:cNvSpPr>
          <p:nvPr/>
        </p:nvSpPr>
        <p:spPr>
          <a:xfrm>
            <a:off x="656229" y="962988"/>
            <a:ext cx="10515600" cy="1009651"/>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3600" dirty="0">
                <a:solidFill>
                  <a:schemeClr val="bg2">
                    <a:lumMod val="10000"/>
                  </a:schemeClr>
                </a:solidFill>
                <a:latin typeface="Roboto Medium" panose="02000000000000000000" pitchFamily="2" charset="0"/>
                <a:ea typeface="Roboto Medium" panose="02000000000000000000" pitchFamily="2" charset="0"/>
                <a:cs typeface="Roboto Medium" panose="02000000000000000000" pitchFamily="2" charset="0"/>
              </a:rPr>
              <a:t>History of Lean - Timeline</a:t>
            </a:r>
            <a:endParaRPr lang="en-US" sz="2800" dirty="0">
              <a:solidFill>
                <a:schemeClr val="bg2">
                  <a:lumMod val="10000"/>
                </a:schemeClr>
              </a:solidFill>
              <a:latin typeface="Roboto Medium" panose="02000000000000000000" pitchFamily="2" charset="0"/>
              <a:ea typeface="Roboto Medium" panose="02000000000000000000" pitchFamily="2" charset="0"/>
              <a:cs typeface="Roboto Medium" panose="02000000000000000000" pitchFamily="2" charset="0"/>
            </a:endParaRPr>
          </a:p>
        </p:txBody>
      </p:sp>
      <p:grpSp>
        <p:nvGrpSpPr>
          <p:cNvPr id="132" name="Group 131">
            <a:extLst>
              <a:ext uri="{FF2B5EF4-FFF2-40B4-BE49-F238E27FC236}">
                <a16:creationId xmlns:a16="http://schemas.microsoft.com/office/drawing/2014/main" id="{E78D4EEB-496F-20B3-E8ED-9E07BE5CA236}"/>
              </a:ext>
            </a:extLst>
          </p:cNvPr>
          <p:cNvGrpSpPr/>
          <p:nvPr/>
        </p:nvGrpSpPr>
        <p:grpSpPr>
          <a:xfrm>
            <a:off x="154341" y="1033972"/>
            <a:ext cx="12037659" cy="4790056"/>
            <a:chOff x="1056719" y="462915"/>
            <a:chExt cx="21423831" cy="14092393"/>
          </a:xfrm>
        </p:grpSpPr>
        <p:grpSp>
          <p:nvGrpSpPr>
            <p:cNvPr id="85" name="Group 84">
              <a:extLst>
                <a:ext uri="{FF2B5EF4-FFF2-40B4-BE49-F238E27FC236}">
                  <a16:creationId xmlns:a16="http://schemas.microsoft.com/office/drawing/2014/main" id="{E61B3751-2B30-039E-30D0-759E2479D473}"/>
                </a:ext>
              </a:extLst>
            </p:cNvPr>
            <p:cNvGrpSpPr/>
            <p:nvPr/>
          </p:nvGrpSpPr>
          <p:grpSpPr>
            <a:xfrm>
              <a:off x="1903449" y="462915"/>
              <a:ext cx="20577101" cy="12790170"/>
              <a:chOff x="1198377" y="462915"/>
              <a:chExt cx="20577101" cy="12790170"/>
            </a:xfrm>
          </p:grpSpPr>
          <p:graphicFrame>
            <p:nvGraphicFramePr>
              <p:cNvPr id="86" name="Diagram 85">
                <a:extLst>
                  <a:ext uri="{FF2B5EF4-FFF2-40B4-BE49-F238E27FC236}">
                    <a16:creationId xmlns:a16="http://schemas.microsoft.com/office/drawing/2014/main" id="{E024D621-F4F1-E57A-E88B-5D46BC54D93B}"/>
                  </a:ext>
                </a:extLst>
              </p:cNvPr>
              <p:cNvGraphicFramePr/>
              <p:nvPr>
                <p:extLst>
                  <p:ext uri="{D42A27DB-BD31-4B8C-83A1-F6EECF244321}">
                    <p14:modId xmlns:p14="http://schemas.microsoft.com/office/powerpoint/2010/main" val="3483425721"/>
                  </p:ext>
                </p:extLst>
              </p:nvPr>
            </p:nvGraphicFramePr>
            <p:xfrm>
              <a:off x="1198377" y="462915"/>
              <a:ext cx="20577101" cy="127901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87" name="Straight Connector 86">
                <a:extLst>
                  <a:ext uri="{FF2B5EF4-FFF2-40B4-BE49-F238E27FC236}">
                    <a16:creationId xmlns:a16="http://schemas.microsoft.com/office/drawing/2014/main" id="{0BFC2A35-6E2C-171D-7517-103B33A796EB}"/>
                  </a:ext>
                </a:extLst>
              </p:cNvPr>
              <p:cNvCxnSpPr/>
              <p:nvPr/>
            </p:nvCxnSpPr>
            <p:spPr>
              <a:xfrm>
                <a:off x="1892595" y="3189767"/>
                <a:ext cx="0" cy="2402959"/>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88" name="Straight Connector 87">
                <a:extLst>
                  <a:ext uri="{FF2B5EF4-FFF2-40B4-BE49-F238E27FC236}">
                    <a16:creationId xmlns:a16="http://schemas.microsoft.com/office/drawing/2014/main" id="{6DEB8DC4-5437-0CB9-93CE-E9C0519E1479}"/>
                  </a:ext>
                </a:extLst>
              </p:cNvPr>
              <p:cNvCxnSpPr/>
              <p:nvPr/>
            </p:nvCxnSpPr>
            <p:spPr>
              <a:xfrm>
                <a:off x="7637721" y="3189767"/>
                <a:ext cx="0" cy="2402959"/>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89" name="Straight Connector 88">
                <a:extLst>
                  <a:ext uri="{FF2B5EF4-FFF2-40B4-BE49-F238E27FC236}">
                    <a16:creationId xmlns:a16="http://schemas.microsoft.com/office/drawing/2014/main" id="{45333AAB-6167-11EF-9013-671FE9E1B9E0}"/>
                  </a:ext>
                </a:extLst>
              </p:cNvPr>
              <p:cNvCxnSpPr/>
              <p:nvPr/>
            </p:nvCxnSpPr>
            <p:spPr>
              <a:xfrm>
                <a:off x="13379302" y="3189767"/>
                <a:ext cx="0" cy="2402959"/>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90" name="Straight Connector 89">
                <a:extLst>
                  <a:ext uri="{FF2B5EF4-FFF2-40B4-BE49-F238E27FC236}">
                    <a16:creationId xmlns:a16="http://schemas.microsoft.com/office/drawing/2014/main" id="{040E0523-2424-DB53-9497-E9760C2398D6}"/>
                  </a:ext>
                </a:extLst>
              </p:cNvPr>
              <p:cNvCxnSpPr/>
              <p:nvPr/>
            </p:nvCxnSpPr>
            <p:spPr>
              <a:xfrm>
                <a:off x="19057088" y="3189767"/>
                <a:ext cx="0" cy="2402959"/>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91" name="Group 90">
              <a:extLst>
                <a:ext uri="{FF2B5EF4-FFF2-40B4-BE49-F238E27FC236}">
                  <a16:creationId xmlns:a16="http://schemas.microsoft.com/office/drawing/2014/main" id="{F42AAFDC-B1BD-3D05-F02C-C3E830C978FD}"/>
                </a:ext>
              </a:extLst>
            </p:cNvPr>
            <p:cNvGrpSpPr/>
            <p:nvPr/>
          </p:nvGrpSpPr>
          <p:grpSpPr>
            <a:xfrm>
              <a:off x="2644153" y="3623020"/>
              <a:ext cx="1600488" cy="1969706"/>
              <a:chOff x="2644153" y="3623020"/>
              <a:chExt cx="1600488" cy="1969706"/>
            </a:xfrm>
          </p:grpSpPr>
          <p:sp>
            <p:nvSpPr>
              <p:cNvPr id="92" name="TextBox 91">
                <a:extLst>
                  <a:ext uri="{FF2B5EF4-FFF2-40B4-BE49-F238E27FC236}">
                    <a16:creationId xmlns:a16="http://schemas.microsoft.com/office/drawing/2014/main" id="{491278F9-6F16-C437-5EC2-DF5607D02541}"/>
                  </a:ext>
                </a:extLst>
              </p:cNvPr>
              <p:cNvSpPr txBox="1"/>
              <p:nvPr/>
            </p:nvSpPr>
            <p:spPr>
              <a:xfrm>
                <a:off x="2644153" y="3623020"/>
                <a:ext cx="1600488" cy="1569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American</a:t>
                </a:r>
              </a:p>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Civil War</a:t>
                </a:r>
              </a:p>
            </p:txBody>
          </p:sp>
          <p:cxnSp>
            <p:nvCxnSpPr>
              <p:cNvPr id="93" name="Straight Connector 92">
                <a:extLst>
                  <a:ext uri="{FF2B5EF4-FFF2-40B4-BE49-F238E27FC236}">
                    <a16:creationId xmlns:a16="http://schemas.microsoft.com/office/drawing/2014/main" id="{B4A1F465-E822-886E-62A9-43B13F2549DF}"/>
                  </a:ext>
                </a:extLst>
              </p:cNvPr>
              <p:cNvCxnSpPr/>
              <p:nvPr/>
            </p:nvCxnSpPr>
            <p:spPr>
              <a:xfrm>
                <a:off x="3291886" y="4994674"/>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94" name="Group 93">
              <a:extLst>
                <a:ext uri="{FF2B5EF4-FFF2-40B4-BE49-F238E27FC236}">
                  <a16:creationId xmlns:a16="http://schemas.microsoft.com/office/drawing/2014/main" id="{91511F9C-5718-7FC9-9EEC-D612220248D1}"/>
                </a:ext>
              </a:extLst>
            </p:cNvPr>
            <p:cNvGrpSpPr/>
            <p:nvPr/>
          </p:nvGrpSpPr>
          <p:grpSpPr>
            <a:xfrm>
              <a:off x="8595457" y="3650700"/>
              <a:ext cx="955726" cy="1971295"/>
              <a:chOff x="2780555" y="3621431"/>
              <a:chExt cx="955726" cy="1971295"/>
            </a:xfrm>
          </p:grpSpPr>
          <p:sp>
            <p:nvSpPr>
              <p:cNvPr id="95" name="TextBox 94">
                <a:extLst>
                  <a:ext uri="{FF2B5EF4-FFF2-40B4-BE49-F238E27FC236}">
                    <a16:creationId xmlns:a16="http://schemas.microsoft.com/office/drawing/2014/main" id="{4ACE0A82-E5CA-29D2-7DFB-6C135872CEBF}"/>
                  </a:ext>
                </a:extLst>
              </p:cNvPr>
              <p:cNvSpPr txBox="1"/>
              <p:nvPr/>
            </p:nvSpPr>
            <p:spPr>
              <a:xfrm>
                <a:off x="2780555" y="3621431"/>
                <a:ext cx="955726" cy="15695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Great</a:t>
                </a:r>
              </a:p>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War</a:t>
                </a:r>
              </a:p>
            </p:txBody>
          </p:sp>
          <p:cxnSp>
            <p:nvCxnSpPr>
              <p:cNvPr id="96" name="Straight Connector 95">
                <a:extLst>
                  <a:ext uri="{FF2B5EF4-FFF2-40B4-BE49-F238E27FC236}">
                    <a16:creationId xmlns:a16="http://schemas.microsoft.com/office/drawing/2014/main" id="{084DAFA3-23F8-E851-BFA5-2AB501239C7A}"/>
                  </a:ext>
                </a:extLst>
              </p:cNvPr>
              <p:cNvCxnSpPr/>
              <p:nvPr/>
            </p:nvCxnSpPr>
            <p:spPr>
              <a:xfrm>
                <a:off x="3291886" y="4994674"/>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97" name="Group 96">
              <a:extLst>
                <a:ext uri="{FF2B5EF4-FFF2-40B4-BE49-F238E27FC236}">
                  <a16:creationId xmlns:a16="http://schemas.microsoft.com/office/drawing/2014/main" id="{D56B4010-4367-248E-0876-5B6D26B882DF}"/>
                </a:ext>
              </a:extLst>
            </p:cNvPr>
            <p:cNvGrpSpPr/>
            <p:nvPr/>
          </p:nvGrpSpPr>
          <p:grpSpPr>
            <a:xfrm>
              <a:off x="12621469" y="3538632"/>
              <a:ext cx="1012787" cy="2054094"/>
              <a:chOff x="2785492" y="3538632"/>
              <a:chExt cx="1012787" cy="2054094"/>
            </a:xfrm>
          </p:grpSpPr>
          <p:sp>
            <p:nvSpPr>
              <p:cNvPr id="98" name="TextBox 97">
                <a:extLst>
                  <a:ext uri="{FF2B5EF4-FFF2-40B4-BE49-F238E27FC236}">
                    <a16:creationId xmlns:a16="http://schemas.microsoft.com/office/drawing/2014/main" id="{F315DDBD-070A-032F-A09D-6E532BD3E698}"/>
                  </a:ext>
                </a:extLst>
              </p:cNvPr>
              <p:cNvSpPr txBox="1"/>
              <p:nvPr/>
            </p:nvSpPr>
            <p:spPr>
              <a:xfrm>
                <a:off x="2785492" y="3538632"/>
                <a:ext cx="1012787" cy="156950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World</a:t>
                </a:r>
              </a:p>
              <a:p>
                <a:pPr marL="0" marR="0" indent="0" algn="ctr" defTabSz="825500" rtl="0" fontAlgn="auto" latinLnBrk="0" hangingPunct="0">
                  <a:lnSpc>
                    <a:spcPct val="100000"/>
                  </a:lnSpc>
                  <a:spcBef>
                    <a:spcPts val="0"/>
                  </a:spcBef>
                  <a:spcAft>
                    <a:spcPts val="0"/>
                  </a:spcAft>
                  <a:buClrTx/>
                  <a:buSzTx/>
                  <a:buFontTx/>
                  <a:buNone/>
                  <a:tabLst/>
                </a:pPr>
                <a:r>
                  <a:rPr lang="en-US" sz="1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War II</a:t>
                </a:r>
                <a:endParaRPr kumimoji="0" lang="en-US" sz="14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cxnSp>
            <p:nvCxnSpPr>
              <p:cNvPr id="99" name="Straight Connector 98">
                <a:extLst>
                  <a:ext uri="{FF2B5EF4-FFF2-40B4-BE49-F238E27FC236}">
                    <a16:creationId xmlns:a16="http://schemas.microsoft.com/office/drawing/2014/main" id="{C347A6E4-F012-87EB-390B-C473C1D8843E}"/>
                  </a:ext>
                </a:extLst>
              </p:cNvPr>
              <p:cNvCxnSpPr/>
              <p:nvPr/>
            </p:nvCxnSpPr>
            <p:spPr>
              <a:xfrm>
                <a:off x="3291886" y="4994674"/>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100" name="Group 99">
              <a:extLst>
                <a:ext uri="{FF2B5EF4-FFF2-40B4-BE49-F238E27FC236}">
                  <a16:creationId xmlns:a16="http://schemas.microsoft.com/office/drawing/2014/main" id="{2776B3D9-458C-D158-605C-F6CD2FC3281A}"/>
                </a:ext>
              </a:extLst>
            </p:cNvPr>
            <p:cNvGrpSpPr/>
            <p:nvPr/>
          </p:nvGrpSpPr>
          <p:grpSpPr>
            <a:xfrm>
              <a:off x="1056719" y="8094005"/>
              <a:ext cx="2858625" cy="4444077"/>
              <a:chOff x="1056719" y="8094005"/>
              <a:chExt cx="2858625" cy="4444077"/>
            </a:xfrm>
          </p:grpSpPr>
          <p:cxnSp>
            <p:nvCxnSpPr>
              <p:cNvPr id="101" name="Straight Connector 100">
                <a:extLst>
                  <a:ext uri="{FF2B5EF4-FFF2-40B4-BE49-F238E27FC236}">
                    <a16:creationId xmlns:a16="http://schemas.microsoft.com/office/drawing/2014/main" id="{47CD312A-B0AD-6873-FE9C-55080798BFC1}"/>
                  </a:ext>
                </a:extLst>
              </p:cNvPr>
              <p:cNvCxnSpPr>
                <a:cxnSpLocks/>
                <a:endCxn id="102" idx="0"/>
              </p:cNvCxnSpPr>
              <p:nvPr/>
            </p:nvCxnSpPr>
            <p:spPr>
              <a:xfrm>
                <a:off x="2477887" y="8094005"/>
                <a:ext cx="8146" cy="305567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102" name="TextBox 101">
                <a:extLst>
                  <a:ext uri="{FF2B5EF4-FFF2-40B4-BE49-F238E27FC236}">
                    <a16:creationId xmlns:a16="http://schemas.microsoft.com/office/drawing/2014/main" id="{E24468C2-04C7-F220-98F0-30235F3930C2}"/>
                  </a:ext>
                </a:extLst>
              </p:cNvPr>
              <p:cNvSpPr txBox="1"/>
              <p:nvPr/>
            </p:nvSpPr>
            <p:spPr>
              <a:xfrm>
                <a:off x="1056719" y="11149677"/>
                <a:ext cx="2858625" cy="13884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Eli Whitney</a:t>
                </a:r>
              </a:p>
              <a:p>
                <a:pPr marR="0" algn="ctr" defTabSz="825500" rtl="0" fontAlgn="auto" latinLnBrk="0" hangingPunct="0">
                  <a:lnSpc>
                    <a:spcPct val="100000"/>
                  </a:lnSpc>
                  <a:spcBef>
                    <a:spcPts val="0"/>
                  </a:spcBef>
                  <a:spcAft>
                    <a:spcPts val="0"/>
                  </a:spcAft>
                  <a:buClrTx/>
                  <a:buSzTx/>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Interchangeable Parts</a:t>
                </a:r>
              </a:p>
            </p:txBody>
          </p:sp>
        </p:grpSp>
        <p:grpSp>
          <p:nvGrpSpPr>
            <p:cNvPr id="103" name="Group 102">
              <a:extLst>
                <a:ext uri="{FF2B5EF4-FFF2-40B4-BE49-F238E27FC236}">
                  <a16:creationId xmlns:a16="http://schemas.microsoft.com/office/drawing/2014/main" id="{B58667E5-4C49-6058-B46E-32934938006B}"/>
                </a:ext>
              </a:extLst>
            </p:cNvPr>
            <p:cNvGrpSpPr/>
            <p:nvPr/>
          </p:nvGrpSpPr>
          <p:grpSpPr>
            <a:xfrm>
              <a:off x="2677936" y="8094006"/>
              <a:ext cx="4521877" cy="2529747"/>
              <a:chOff x="256614" y="8094006"/>
              <a:chExt cx="4521877" cy="2529747"/>
            </a:xfrm>
          </p:grpSpPr>
          <p:sp>
            <p:nvSpPr>
              <p:cNvPr id="104" name="TextBox 103">
                <a:extLst>
                  <a:ext uri="{FF2B5EF4-FFF2-40B4-BE49-F238E27FC236}">
                    <a16:creationId xmlns:a16="http://schemas.microsoft.com/office/drawing/2014/main" id="{59929352-E75B-927C-7DB1-E742A5AE0709}"/>
                  </a:ext>
                </a:extLst>
              </p:cNvPr>
              <p:cNvSpPr txBox="1"/>
              <p:nvPr/>
            </p:nvSpPr>
            <p:spPr>
              <a:xfrm>
                <a:off x="256614" y="8692058"/>
                <a:ext cx="4521877" cy="1931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Drawing Conventions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Tolerances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Modern Machine Tool Development</a:t>
                </a:r>
              </a:p>
            </p:txBody>
          </p:sp>
          <p:cxnSp>
            <p:nvCxnSpPr>
              <p:cNvPr id="105" name="Straight Connector 104">
                <a:extLst>
                  <a:ext uri="{FF2B5EF4-FFF2-40B4-BE49-F238E27FC236}">
                    <a16:creationId xmlns:a16="http://schemas.microsoft.com/office/drawing/2014/main" id="{35ABD56F-3082-EF4C-76C8-AE3FADB5F357}"/>
                  </a:ext>
                </a:extLst>
              </p:cNvPr>
              <p:cNvCxnSpPr>
                <a:cxnSpLocks/>
              </p:cNvCxnSpPr>
              <p:nvPr/>
            </p:nvCxnSpPr>
            <p:spPr>
              <a:xfrm>
                <a:off x="2749269"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sp>
          <p:nvSpPr>
            <p:cNvPr id="106" name="TextBox 105">
              <a:extLst>
                <a:ext uri="{FF2B5EF4-FFF2-40B4-BE49-F238E27FC236}">
                  <a16:creationId xmlns:a16="http://schemas.microsoft.com/office/drawing/2014/main" id="{D69A7C3A-8C10-D54E-7F40-7ECDF17FD628}"/>
                </a:ext>
              </a:extLst>
            </p:cNvPr>
            <p:cNvSpPr txBox="1"/>
            <p:nvPr/>
          </p:nvSpPr>
          <p:spPr>
            <a:xfrm>
              <a:off x="9990336" y="12015594"/>
              <a:ext cx="3041211" cy="24749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Henry Ford</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Assembly Lines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Flow Lines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Manufacturing Strategy</a:t>
              </a:r>
            </a:p>
          </p:txBody>
        </p:sp>
        <p:grpSp>
          <p:nvGrpSpPr>
            <p:cNvPr id="107" name="Group 106">
              <a:extLst>
                <a:ext uri="{FF2B5EF4-FFF2-40B4-BE49-F238E27FC236}">
                  <a16:creationId xmlns:a16="http://schemas.microsoft.com/office/drawing/2014/main" id="{DAFFA1E2-332B-F558-7F3A-DFDA7B7C886C}"/>
                </a:ext>
              </a:extLst>
            </p:cNvPr>
            <p:cNvGrpSpPr/>
            <p:nvPr/>
          </p:nvGrpSpPr>
          <p:grpSpPr>
            <a:xfrm>
              <a:off x="4694505" y="8094006"/>
              <a:ext cx="5555620" cy="6461302"/>
              <a:chOff x="4694505" y="8094006"/>
              <a:chExt cx="5555620" cy="6461302"/>
            </a:xfrm>
          </p:grpSpPr>
          <p:grpSp>
            <p:nvGrpSpPr>
              <p:cNvPr id="108" name="Group 107">
                <a:extLst>
                  <a:ext uri="{FF2B5EF4-FFF2-40B4-BE49-F238E27FC236}">
                    <a16:creationId xmlns:a16="http://schemas.microsoft.com/office/drawing/2014/main" id="{5830C675-2A8C-4375-7734-A251F8282696}"/>
                  </a:ext>
                </a:extLst>
              </p:cNvPr>
              <p:cNvGrpSpPr/>
              <p:nvPr/>
            </p:nvGrpSpPr>
            <p:grpSpPr>
              <a:xfrm>
                <a:off x="7761767" y="8094006"/>
                <a:ext cx="1039612" cy="598052"/>
                <a:chOff x="7761767" y="8094006"/>
                <a:chExt cx="1039612" cy="598052"/>
              </a:xfrm>
            </p:grpSpPr>
            <p:cxnSp>
              <p:nvCxnSpPr>
                <p:cNvPr id="114" name="Straight Connector 113">
                  <a:extLst>
                    <a:ext uri="{FF2B5EF4-FFF2-40B4-BE49-F238E27FC236}">
                      <a16:creationId xmlns:a16="http://schemas.microsoft.com/office/drawing/2014/main" id="{8E880AF8-9362-603B-2E08-D21B6962EEF7}"/>
                    </a:ext>
                  </a:extLst>
                </p:cNvPr>
                <p:cNvCxnSpPr/>
                <p:nvPr/>
              </p:nvCxnSpPr>
              <p:spPr>
                <a:xfrm>
                  <a:off x="7761767"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15" name="Straight Connector 114">
                  <a:extLst>
                    <a:ext uri="{FF2B5EF4-FFF2-40B4-BE49-F238E27FC236}">
                      <a16:creationId xmlns:a16="http://schemas.microsoft.com/office/drawing/2014/main" id="{093F4C80-F44E-F798-B86A-0359C69BD7EC}"/>
                    </a:ext>
                  </a:extLst>
                </p:cNvPr>
                <p:cNvCxnSpPr/>
                <p:nvPr/>
              </p:nvCxnSpPr>
              <p:spPr>
                <a:xfrm>
                  <a:off x="8801379"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16" name="Straight Connector 115">
                  <a:extLst>
                    <a:ext uri="{FF2B5EF4-FFF2-40B4-BE49-F238E27FC236}">
                      <a16:creationId xmlns:a16="http://schemas.microsoft.com/office/drawing/2014/main" id="{485B86B6-F792-7BDE-4B53-2D6CB84CA3BC}"/>
                    </a:ext>
                  </a:extLst>
                </p:cNvPr>
                <p:cNvCxnSpPr>
                  <a:cxnSpLocks/>
                </p:cNvCxnSpPr>
                <p:nvPr/>
              </p:nvCxnSpPr>
              <p:spPr>
                <a:xfrm>
                  <a:off x="7761767" y="8692058"/>
                  <a:ext cx="1039612" cy="0"/>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sp>
            <p:nvSpPr>
              <p:cNvPr id="109" name="TextBox 108">
                <a:extLst>
                  <a:ext uri="{FF2B5EF4-FFF2-40B4-BE49-F238E27FC236}">
                    <a16:creationId xmlns:a16="http://schemas.microsoft.com/office/drawing/2014/main" id="{3116844F-F03D-46C6-29E5-1D96E7AE22BC}"/>
                  </a:ext>
                </a:extLst>
              </p:cNvPr>
              <p:cNvSpPr txBox="1"/>
              <p:nvPr/>
            </p:nvSpPr>
            <p:spPr>
              <a:xfrm>
                <a:off x="4694505" y="12080325"/>
                <a:ext cx="4159556" cy="24749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Frederick Taylor</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Standardized Work</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Time Study &amp; Work Standards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Worker/Management Dichotomy</a:t>
                </a:r>
              </a:p>
            </p:txBody>
          </p:sp>
          <p:grpSp>
            <p:nvGrpSpPr>
              <p:cNvPr id="110" name="Group 109">
                <a:extLst>
                  <a:ext uri="{FF2B5EF4-FFF2-40B4-BE49-F238E27FC236}">
                    <a16:creationId xmlns:a16="http://schemas.microsoft.com/office/drawing/2014/main" id="{88E01F32-D8C9-7EBB-1748-47F24A464FFF}"/>
                  </a:ext>
                </a:extLst>
              </p:cNvPr>
              <p:cNvGrpSpPr/>
              <p:nvPr/>
            </p:nvGrpSpPr>
            <p:grpSpPr>
              <a:xfrm>
                <a:off x="8198875" y="8692057"/>
                <a:ext cx="2051250" cy="3526066"/>
                <a:chOff x="2346816" y="8064737"/>
                <a:chExt cx="2051250" cy="3526066"/>
              </a:xfrm>
            </p:grpSpPr>
            <p:sp>
              <p:nvSpPr>
                <p:cNvPr id="112" name="TextBox 111">
                  <a:extLst>
                    <a:ext uri="{FF2B5EF4-FFF2-40B4-BE49-F238E27FC236}">
                      <a16:creationId xmlns:a16="http://schemas.microsoft.com/office/drawing/2014/main" id="{B36E6B71-8CCF-DDB8-FB0B-610250B9A03B}"/>
                    </a:ext>
                  </a:extLst>
                </p:cNvPr>
                <p:cNvSpPr txBox="1"/>
                <p:nvPr/>
              </p:nvSpPr>
              <p:spPr>
                <a:xfrm>
                  <a:off x="2346816" y="9659109"/>
                  <a:ext cx="2051250" cy="19316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Frank </a:t>
                  </a:r>
                  <a:r>
                    <a:rPr lang="en-US" sz="12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Gilbrech</a:t>
                  </a:r>
                  <a:endPar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endParaRP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Process Charts</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Motion Study</a:t>
                  </a:r>
                </a:p>
              </p:txBody>
            </p:sp>
            <p:cxnSp>
              <p:nvCxnSpPr>
                <p:cNvPr id="113" name="Straight Connector 112">
                  <a:extLst>
                    <a:ext uri="{FF2B5EF4-FFF2-40B4-BE49-F238E27FC236}">
                      <a16:creationId xmlns:a16="http://schemas.microsoft.com/office/drawing/2014/main" id="{64D37E8C-6FE8-284D-226C-2E0AD9987055}"/>
                    </a:ext>
                  </a:extLst>
                </p:cNvPr>
                <p:cNvCxnSpPr>
                  <a:cxnSpLocks/>
                </p:cNvCxnSpPr>
                <p:nvPr/>
              </p:nvCxnSpPr>
              <p:spPr>
                <a:xfrm>
                  <a:off x="2749269" y="8064737"/>
                  <a:ext cx="0" cy="1735041"/>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cxnSp>
            <p:nvCxnSpPr>
              <p:cNvPr id="111" name="Connector: Elbow 110">
                <a:extLst>
                  <a:ext uri="{FF2B5EF4-FFF2-40B4-BE49-F238E27FC236}">
                    <a16:creationId xmlns:a16="http://schemas.microsoft.com/office/drawing/2014/main" id="{251C0C3D-67B1-AB77-C261-AE30FC9CD1AB}"/>
                  </a:ext>
                </a:extLst>
              </p:cNvPr>
              <p:cNvCxnSpPr>
                <a:cxnSpLocks/>
                <a:endCxn id="109" idx="0"/>
              </p:cNvCxnSpPr>
              <p:nvPr/>
            </p:nvCxnSpPr>
            <p:spPr>
              <a:xfrm rot="5400000">
                <a:off x="5590233" y="9876106"/>
                <a:ext cx="3388269" cy="1020167"/>
              </a:xfrm>
              <a:prstGeom prst="bentConnector3">
                <a:avLst>
                  <a:gd name="adj1" fmla="val 58822"/>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117" name="Group 116">
              <a:extLst>
                <a:ext uri="{FF2B5EF4-FFF2-40B4-BE49-F238E27FC236}">
                  <a16:creationId xmlns:a16="http://schemas.microsoft.com/office/drawing/2014/main" id="{2F4EE457-D18C-62EA-E710-907F06A0CF54}"/>
                </a:ext>
              </a:extLst>
            </p:cNvPr>
            <p:cNvGrpSpPr/>
            <p:nvPr/>
          </p:nvGrpSpPr>
          <p:grpSpPr>
            <a:xfrm>
              <a:off x="12545000" y="8094006"/>
              <a:ext cx="2242394" cy="3749875"/>
              <a:chOff x="1628072" y="8064737"/>
              <a:chExt cx="2242394" cy="3749875"/>
            </a:xfrm>
          </p:grpSpPr>
          <p:sp>
            <p:nvSpPr>
              <p:cNvPr id="118" name="TextBox 117">
                <a:extLst>
                  <a:ext uri="{FF2B5EF4-FFF2-40B4-BE49-F238E27FC236}">
                    <a16:creationId xmlns:a16="http://schemas.microsoft.com/office/drawing/2014/main" id="{8987B2FF-2AB6-42BF-24B4-7C9435F761AF}"/>
                  </a:ext>
                </a:extLst>
              </p:cNvPr>
              <p:cNvSpPr txBox="1"/>
              <p:nvPr/>
            </p:nvSpPr>
            <p:spPr>
              <a:xfrm>
                <a:off x="1628072" y="9339628"/>
                <a:ext cx="2242394" cy="24749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Edwards Deming</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Joseph </a:t>
                </a:r>
                <a:r>
                  <a:rPr lang="en-US" sz="12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Juran</a:t>
                </a:r>
                <a:endPar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endParaRP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Ishikawa</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SPC, TQM</a:t>
                </a:r>
              </a:p>
            </p:txBody>
          </p:sp>
          <p:cxnSp>
            <p:nvCxnSpPr>
              <p:cNvPr id="119" name="Straight Connector 118">
                <a:extLst>
                  <a:ext uri="{FF2B5EF4-FFF2-40B4-BE49-F238E27FC236}">
                    <a16:creationId xmlns:a16="http://schemas.microsoft.com/office/drawing/2014/main" id="{DC7BB784-96A6-1A6B-0F8A-24235A19F6F5}"/>
                  </a:ext>
                </a:extLst>
              </p:cNvPr>
              <p:cNvCxnSpPr>
                <a:cxnSpLocks/>
                <a:endCxn id="118" idx="0"/>
              </p:cNvCxnSpPr>
              <p:nvPr/>
            </p:nvCxnSpPr>
            <p:spPr>
              <a:xfrm flipH="1">
                <a:off x="2749269" y="8064737"/>
                <a:ext cx="2" cy="1274891"/>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grpSp>
          <p:nvGrpSpPr>
            <p:cNvPr id="120" name="Group 119">
              <a:extLst>
                <a:ext uri="{FF2B5EF4-FFF2-40B4-BE49-F238E27FC236}">
                  <a16:creationId xmlns:a16="http://schemas.microsoft.com/office/drawing/2014/main" id="{F77B8496-F88A-B607-336D-4CFF295605EE}"/>
                </a:ext>
              </a:extLst>
            </p:cNvPr>
            <p:cNvGrpSpPr/>
            <p:nvPr/>
          </p:nvGrpSpPr>
          <p:grpSpPr>
            <a:xfrm>
              <a:off x="14084375" y="8094005"/>
              <a:ext cx="4218864" cy="5713705"/>
              <a:chOff x="14084375" y="8094005"/>
              <a:chExt cx="4218864" cy="5713705"/>
            </a:xfrm>
          </p:grpSpPr>
          <p:grpSp>
            <p:nvGrpSpPr>
              <p:cNvPr id="121" name="Group 120">
                <a:extLst>
                  <a:ext uri="{FF2B5EF4-FFF2-40B4-BE49-F238E27FC236}">
                    <a16:creationId xmlns:a16="http://schemas.microsoft.com/office/drawing/2014/main" id="{612467DA-F16A-E4F7-1E60-D82400A2E8F5}"/>
                  </a:ext>
                </a:extLst>
              </p:cNvPr>
              <p:cNvGrpSpPr/>
              <p:nvPr/>
            </p:nvGrpSpPr>
            <p:grpSpPr>
              <a:xfrm>
                <a:off x="14084375" y="8094005"/>
                <a:ext cx="4218864" cy="598052"/>
                <a:chOff x="7761767" y="8094006"/>
                <a:chExt cx="1039612" cy="598052"/>
              </a:xfrm>
            </p:grpSpPr>
            <p:cxnSp>
              <p:nvCxnSpPr>
                <p:cNvPr id="124" name="Straight Connector 123">
                  <a:extLst>
                    <a:ext uri="{FF2B5EF4-FFF2-40B4-BE49-F238E27FC236}">
                      <a16:creationId xmlns:a16="http://schemas.microsoft.com/office/drawing/2014/main" id="{2D323DA0-77E5-91C8-D712-F89D50172597}"/>
                    </a:ext>
                  </a:extLst>
                </p:cNvPr>
                <p:cNvCxnSpPr/>
                <p:nvPr/>
              </p:nvCxnSpPr>
              <p:spPr>
                <a:xfrm>
                  <a:off x="7761767"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25" name="Straight Connector 124">
                  <a:extLst>
                    <a:ext uri="{FF2B5EF4-FFF2-40B4-BE49-F238E27FC236}">
                      <a16:creationId xmlns:a16="http://schemas.microsoft.com/office/drawing/2014/main" id="{2091C0E6-669B-B7EA-E191-553C113DD54B}"/>
                    </a:ext>
                  </a:extLst>
                </p:cNvPr>
                <p:cNvCxnSpPr/>
                <p:nvPr/>
              </p:nvCxnSpPr>
              <p:spPr>
                <a:xfrm>
                  <a:off x="8801379" y="8094006"/>
                  <a:ext cx="0" cy="598052"/>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26" name="Straight Connector 125">
                  <a:extLst>
                    <a:ext uri="{FF2B5EF4-FFF2-40B4-BE49-F238E27FC236}">
                      <a16:creationId xmlns:a16="http://schemas.microsoft.com/office/drawing/2014/main" id="{31A23D99-DBEF-9CFA-2CD4-710E439C24E3}"/>
                    </a:ext>
                  </a:extLst>
                </p:cNvPr>
                <p:cNvCxnSpPr>
                  <a:cxnSpLocks/>
                </p:cNvCxnSpPr>
                <p:nvPr/>
              </p:nvCxnSpPr>
              <p:spPr>
                <a:xfrm>
                  <a:off x="7761767" y="8692058"/>
                  <a:ext cx="1039612" cy="0"/>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cxnSp>
            <p:nvCxnSpPr>
              <p:cNvPr id="122" name="Straight Connector 121">
                <a:extLst>
                  <a:ext uri="{FF2B5EF4-FFF2-40B4-BE49-F238E27FC236}">
                    <a16:creationId xmlns:a16="http://schemas.microsoft.com/office/drawing/2014/main" id="{4019E0BC-0FCD-E595-F36E-A70D0247F20C}"/>
                  </a:ext>
                </a:extLst>
              </p:cNvPr>
              <p:cNvCxnSpPr/>
              <p:nvPr/>
            </p:nvCxnSpPr>
            <p:spPr>
              <a:xfrm>
                <a:off x="16196310" y="8692058"/>
                <a:ext cx="0" cy="933590"/>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sp>
            <p:nvSpPr>
              <p:cNvPr id="123" name="TextBox 122">
                <a:extLst>
                  <a:ext uri="{FF2B5EF4-FFF2-40B4-BE49-F238E27FC236}">
                    <a16:creationId xmlns:a16="http://schemas.microsoft.com/office/drawing/2014/main" id="{763096E1-8993-0E8A-87E1-2576F9E78CF8}"/>
                  </a:ext>
                </a:extLst>
              </p:cNvPr>
              <p:cNvSpPr txBox="1"/>
              <p:nvPr/>
            </p:nvSpPr>
            <p:spPr>
              <a:xfrm>
                <a:off x="14451753" y="9702858"/>
                <a:ext cx="3489120" cy="41048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Eiji</a:t>
                </a: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 Toyoda</a:t>
                </a:r>
              </a:p>
              <a:p>
                <a:pPr marL="0" marR="0" indent="0" algn="ctr" defTabSz="825500" rtl="0" fontAlgn="auto" latinLnBrk="0" hangingPunct="0">
                  <a:lnSpc>
                    <a:spcPct val="100000"/>
                  </a:lnSpc>
                  <a:spcBef>
                    <a:spcPts val="0"/>
                  </a:spcBef>
                  <a:spcAft>
                    <a:spcPts val="0"/>
                  </a:spcAft>
                  <a:buClrTx/>
                  <a:buSzTx/>
                  <a:buFontTx/>
                  <a:buNone/>
                  <a:tabLst/>
                </a:pPr>
                <a:r>
                  <a:rPr lang="en-US" sz="12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Taichi</a:t>
                </a: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 Ohno</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Shigeo Shingo</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Toyota Production System</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Just-In-Time</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Stockless Production</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World Class Manufacturing</a:t>
                </a:r>
              </a:p>
            </p:txBody>
          </p:sp>
        </p:grpSp>
        <p:grpSp>
          <p:nvGrpSpPr>
            <p:cNvPr id="127" name="Group 126">
              <a:extLst>
                <a:ext uri="{FF2B5EF4-FFF2-40B4-BE49-F238E27FC236}">
                  <a16:creationId xmlns:a16="http://schemas.microsoft.com/office/drawing/2014/main" id="{3D3F9C4A-B90A-1F3C-1EBE-9F23EE4FDA67}"/>
                </a:ext>
              </a:extLst>
            </p:cNvPr>
            <p:cNvGrpSpPr/>
            <p:nvPr/>
          </p:nvGrpSpPr>
          <p:grpSpPr>
            <a:xfrm>
              <a:off x="18161032" y="8094006"/>
              <a:ext cx="2624686" cy="2706282"/>
              <a:chOff x="1436928" y="8011849"/>
              <a:chExt cx="2624686" cy="2706282"/>
            </a:xfrm>
          </p:grpSpPr>
          <p:sp>
            <p:nvSpPr>
              <p:cNvPr id="128" name="TextBox 127">
                <a:extLst>
                  <a:ext uri="{FF2B5EF4-FFF2-40B4-BE49-F238E27FC236}">
                    <a16:creationId xmlns:a16="http://schemas.microsoft.com/office/drawing/2014/main" id="{A3F4437C-5083-3276-BFCD-2DAF1300B7B3}"/>
                  </a:ext>
                </a:extLst>
              </p:cNvPr>
              <p:cNvSpPr txBox="1"/>
              <p:nvPr/>
            </p:nvSpPr>
            <p:spPr>
              <a:xfrm>
                <a:off x="1436928" y="9873015"/>
                <a:ext cx="2624686" cy="8451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Lean Manufacturing</a:t>
                </a:r>
              </a:p>
            </p:txBody>
          </p:sp>
          <p:cxnSp>
            <p:nvCxnSpPr>
              <p:cNvPr id="129" name="Straight Connector 128">
                <a:extLst>
                  <a:ext uri="{FF2B5EF4-FFF2-40B4-BE49-F238E27FC236}">
                    <a16:creationId xmlns:a16="http://schemas.microsoft.com/office/drawing/2014/main" id="{1356235D-E1A5-79FA-52D3-97878B41F2C3}"/>
                  </a:ext>
                </a:extLst>
              </p:cNvPr>
              <p:cNvCxnSpPr>
                <a:cxnSpLocks/>
                <a:endCxn id="128" idx="0"/>
              </p:cNvCxnSpPr>
              <p:nvPr/>
            </p:nvCxnSpPr>
            <p:spPr>
              <a:xfrm flipH="1">
                <a:off x="2749272" y="8011849"/>
                <a:ext cx="2" cy="1861166"/>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cxnSp>
          <p:nvCxnSpPr>
            <p:cNvPr id="130" name="Connector: Elbow 129">
              <a:extLst>
                <a:ext uri="{FF2B5EF4-FFF2-40B4-BE49-F238E27FC236}">
                  <a16:creationId xmlns:a16="http://schemas.microsoft.com/office/drawing/2014/main" id="{91710D2E-8AF4-97A6-D3FB-AF4F84E991A5}"/>
                </a:ext>
              </a:extLst>
            </p:cNvPr>
            <p:cNvCxnSpPr>
              <a:cxnSpLocks/>
              <a:endCxn id="106" idx="0"/>
            </p:cNvCxnSpPr>
            <p:nvPr/>
          </p:nvCxnSpPr>
          <p:spPr>
            <a:xfrm>
              <a:off x="9106789" y="8625839"/>
              <a:ext cx="2404154" cy="3389754"/>
            </a:xfrm>
            <a:prstGeom prst="bentConnector2">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cxnSp>
          <p:nvCxnSpPr>
            <p:cNvPr id="131" name="Straight Connector 130">
              <a:extLst>
                <a:ext uri="{FF2B5EF4-FFF2-40B4-BE49-F238E27FC236}">
                  <a16:creationId xmlns:a16="http://schemas.microsoft.com/office/drawing/2014/main" id="{1FEE022B-FA35-48BD-CAD0-9A0B3776088C}"/>
                </a:ext>
              </a:extLst>
            </p:cNvPr>
            <p:cNvCxnSpPr>
              <a:cxnSpLocks/>
            </p:cNvCxnSpPr>
            <p:nvPr/>
          </p:nvCxnSpPr>
          <p:spPr>
            <a:xfrm>
              <a:off x="9106788" y="8094006"/>
              <a:ext cx="0" cy="531834"/>
            </a:xfrm>
            <a:prstGeom prst="line">
              <a:avLst/>
            </a:prstGeom>
            <a:noFill/>
            <a:ln w="25400" cap="flat">
              <a:solidFill>
                <a:schemeClr val="tx1">
                  <a:alpha val="75000"/>
                </a:schemeClr>
              </a:solidFill>
              <a:prstDash val="solid"/>
              <a:miter lim="400000"/>
            </a:ln>
            <a:effectLst/>
            <a:sp3d/>
          </p:spPr>
          <p:style>
            <a:lnRef idx="0">
              <a:scrgbClr r="0" g="0" b="0"/>
            </a:lnRef>
            <a:fillRef idx="0">
              <a:scrgbClr r="0" g="0" b="0"/>
            </a:fillRef>
            <a:effectRef idx="0">
              <a:scrgbClr r="0" g="0" b="0"/>
            </a:effectRef>
            <a:fontRef idx="none"/>
          </p:style>
        </p:cxnSp>
      </p:grpSp>
      <p:sp>
        <p:nvSpPr>
          <p:cNvPr id="8" name="TextBox 7">
            <a:extLst>
              <a:ext uri="{FF2B5EF4-FFF2-40B4-BE49-F238E27FC236}">
                <a16:creationId xmlns:a16="http://schemas.microsoft.com/office/drawing/2014/main" id="{EBB1FCA6-0117-2F07-8F45-2E391A49A2A7}"/>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nvGrpSpPr>
          <p:cNvPr id="6" name="Group 5">
            <a:extLst>
              <a:ext uri="{FF2B5EF4-FFF2-40B4-BE49-F238E27FC236}">
                <a16:creationId xmlns:a16="http://schemas.microsoft.com/office/drawing/2014/main" id="{06BFC1F3-EE68-95E9-14B8-75A5B616E372}"/>
              </a:ext>
            </a:extLst>
          </p:cNvPr>
          <p:cNvGrpSpPr/>
          <p:nvPr/>
        </p:nvGrpSpPr>
        <p:grpSpPr>
          <a:xfrm>
            <a:off x="940249" y="302311"/>
            <a:ext cx="1060167" cy="290657"/>
            <a:chOff x="940249" y="315206"/>
            <a:chExt cx="1060167" cy="265062"/>
          </a:xfrm>
        </p:grpSpPr>
        <p:sp>
          <p:nvSpPr>
            <p:cNvPr id="7" name="AutoShape 9">
              <a:extLst>
                <a:ext uri="{FF2B5EF4-FFF2-40B4-BE49-F238E27FC236}">
                  <a16:creationId xmlns:a16="http://schemas.microsoft.com/office/drawing/2014/main" id="{92BC7669-A733-20BD-F17F-80B34642593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F8BEB7FB-B90C-3EC2-8ED5-CFF71FB67C38}"/>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2A4479B3-86BC-C6F5-25BE-CA6341FB3640}"/>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873141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35">
            <a:extLst>
              <a:ext uri="{FF2B5EF4-FFF2-40B4-BE49-F238E27FC236}">
                <a16:creationId xmlns:a16="http://schemas.microsoft.com/office/drawing/2014/main" id="{C634ADB4-0FCC-1A92-2D37-7CFF8C8E2123}"/>
              </a:ext>
            </a:extLst>
          </p:cNvPr>
          <p:cNvSpPr>
            <a:spLocks noGrp="1"/>
          </p:cNvSpPr>
          <p:nvPr>
            <p:ph type="title"/>
          </p:nvPr>
        </p:nvSpPr>
        <p:spPr>
          <a:xfrm>
            <a:off x="838200" y="845601"/>
            <a:ext cx="10515600" cy="809026"/>
          </a:xfrm>
        </p:spPr>
        <p:txBody>
          <a:bodyPr>
            <a:noAutofit/>
          </a:bodyPr>
          <a:lstStyle/>
          <a:p>
            <a:r>
              <a:rPr lang="en-US" sz="3600" dirty="0">
                <a:solidFill>
                  <a:schemeClr val="bg2">
                    <a:lumMod val="10000"/>
                  </a:schemeClr>
                </a:solidFill>
              </a:rPr>
              <a:t>Taiichi Ohno and the Toyota Production System</a:t>
            </a:r>
            <a:endParaRPr lang="en-US" sz="2800" dirty="0">
              <a:solidFill>
                <a:schemeClr val="bg2">
                  <a:lumMod val="10000"/>
                </a:schemeClr>
              </a:solidFill>
            </a:endParaRPr>
          </a:p>
        </p:txBody>
      </p:sp>
      <p:sp>
        <p:nvSpPr>
          <p:cNvPr id="4" name="Slide Number Placeholder 3">
            <a:extLst>
              <a:ext uri="{FF2B5EF4-FFF2-40B4-BE49-F238E27FC236}">
                <a16:creationId xmlns:a16="http://schemas.microsoft.com/office/drawing/2014/main" id="{3808457A-80E3-DE97-AFB7-8F48A1405C69}"/>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latin typeface="Roboto" panose="02000000000000000000" pitchFamily="2" charset="0"/>
                <a:ea typeface="Roboto" panose="02000000000000000000" pitchFamily="2" charset="0"/>
                <a:cs typeface="Roboto" panose="02000000000000000000" pitchFamily="2" charset="0"/>
              </a:rPr>
              <a:pPr/>
              <a:t>12</a:t>
            </a:fld>
            <a:endParaRPr lang="en-US" dirty="0">
              <a:latin typeface="Roboto" panose="02000000000000000000" pitchFamily="2" charset="0"/>
              <a:ea typeface="Roboto" panose="02000000000000000000" pitchFamily="2" charset="0"/>
              <a:cs typeface="Roboto" panose="02000000000000000000" pitchFamily="2" charset="0"/>
            </a:endParaRPr>
          </a:p>
        </p:txBody>
      </p:sp>
      <p:sp>
        <p:nvSpPr>
          <p:cNvPr id="10" name="Title 1">
            <a:extLst>
              <a:ext uri="{FF2B5EF4-FFF2-40B4-BE49-F238E27FC236}">
                <a16:creationId xmlns:a16="http://schemas.microsoft.com/office/drawing/2014/main" id="{FA64EF14-686A-E3E4-B13B-8F4D7FF43C6B}"/>
              </a:ext>
            </a:extLst>
          </p:cNvPr>
          <p:cNvSpPr txBox="1">
            <a:spLocks/>
          </p:cNvSpPr>
          <p:nvPr/>
        </p:nvSpPr>
        <p:spPr>
          <a:xfrm>
            <a:off x="838200" y="1018743"/>
            <a:ext cx="10515600" cy="640630"/>
          </a:xfrm>
          <a:prstGeom prst="rect">
            <a:avLst/>
          </a:prstGeom>
        </p:spPr>
        <p:txBody>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2800" dirty="0">
              <a:solidFill>
                <a:schemeClr val="bg2">
                  <a:lumMod val="10000"/>
                </a:schemeClr>
              </a:solidFill>
            </a:endParaRPr>
          </a:p>
        </p:txBody>
      </p:sp>
      <p:sp>
        <p:nvSpPr>
          <p:cNvPr id="28" name="Rectangle 8">
            <a:extLst>
              <a:ext uri="{FF2B5EF4-FFF2-40B4-BE49-F238E27FC236}">
                <a16:creationId xmlns:a16="http://schemas.microsoft.com/office/drawing/2014/main" id="{6FC9F347-21F4-905A-64D6-37FE81502195}"/>
              </a:ext>
            </a:extLst>
          </p:cNvPr>
          <p:cNvSpPr>
            <a:spLocks noChangeArrowheads="1"/>
          </p:cNvSpPr>
          <p:nvPr/>
        </p:nvSpPr>
        <p:spPr bwMode="auto">
          <a:xfrm>
            <a:off x="828757" y="5055048"/>
            <a:ext cx="4347449" cy="589966"/>
          </a:xfrm>
          <a:prstGeom prst="rect">
            <a:avLst/>
          </a:prstGeom>
          <a:gradFill rotWithShape="0">
            <a:gsLst>
              <a:gs pos="0">
                <a:schemeClr val="accent4"/>
              </a:gs>
              <a:gs pos="50000">
                <a:schemeClr val="bg1"/>
              </a:gs>
              <a:gs pos="100000">
                <a:schemeClr val="accent4"/>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a:solidFill>
                <a:schemeClr val="bg1"/>
              </a:solidFill>
            </a:endParaRPr>
          </a:p>
        </p:txBody>
      </p:sp>
      <p:grpSp>
        <p:nvGrpSpPr>
          <p:cNvPr id="11" name="Group 10">
            <a:extLst>
              <a:ext uri="{FF2B5EF4-FFF2-40B4-BE49-F238E27FC236}">
                <a16:creationId xmlns:a16="http://schemas.microsoft.com/office/drawing/2014/main" id="{23E1B5BD-B5F2-83A0-69DB-145E5C9188B8}"/>
              </a:ext>
            </a:extLst>
          </p:cNvPr>
          <p:cNvGrpSpPr/>
          <p:nvPr/>
        </p:nvGrpSpPr>
        <p:grpSpPr>
          <a:xfrm>
            <a:off x="708595" y="1857921"/>
            <a:ext cx="4524575" cy="3875711"/>
            <a:chOff x="2024164" y="3457616"/>
            <a:chExt cx="7225308" cy="7370530"/>
          </a:xfrm>
        </p:grpSpPr>
        <p:grpSp>
          <p:nvGrpSpPr>
            <p:cNvPr id="12" name="Group 11">
              <a:extLst>
                <a:ext uri="{FF2B5EF4-FFF2-40B4-BE49-F238E27FC236}">
                  <a16:creationId xmlns:a16="http://schemas.microsoft.com/office/drawing/2014/main" id="{1AECED02-3354-D135-B52F-2A0B97A8D6C2}"/>
                </a:ext>
              </a:extLst>
            </p:cNvPr>
            <p:cNvGrpSpPr/>
            <p:nvPr/>
          </p:nvGrpSpPr>
          <p:grpSpPr>
            <a:xfrm>
              <a:off x="2165593" y="4236036"/>
              <a:ext cx="6942455" cy="6592110"/>
              <a:chOff x="631825" y="2111375"/>
              <a:chExt cx="3713163" cy="3525781"/>
            </a:xfrm>
          </p:grpSpPr>
          <p:sp>
            <p:nvSpPr>
              <p:cNvPr id="14" name="Rectangle 6">
                <a:extLst>
                  <a:ext uri="{FF2B5EF4-FFF2-40B4-BE49-F238E27FC236}">
                    <a16:creationId xmlns:a16="http://schemas.microsoft.com/office/drawing/2014/main" id="{7015C0E1-1CB2-0267-CD6F-009D96CDD564}"/>
                  </a:ext>
                </a:extLst>
              </p:cNvPr>
              <p:cNvSpPr>
                <a:spLocks noChangeArrowheads="1"/>
              </p:cNvSpPr>
              <p:nvPr/>
            </p:nvSpPr>
            <p:spPr bwMode="auto">
              <a:xfrm>
                <a:off x="741363" y="2725738"/>
                <a:ext cx="560387" cy="2136775"/>
              </a:xfrm>
              <a:prstGeom prst="rect">
                <a:avLst/>
              </a:prstGeom>
              <a:gradFill rotWithShape="0">
                <a:gsLst>
                  <a:gs pos="0">
                    <a:schemeClr val="accent4"/>
                  </a:gs>
                  <a:gs pos="50000">
                    <a:schemeClr val="bg1"/>
                  </a:gs>
                  <a:gs pos="100000">
                    <a:schemeClr val="accent4"/>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 name="Rectangle 8">
                <a:extLst>
                  <a:ext uri="{FF2B5EF4-FFF2-40B4-BE49-F238E27FC236}">
                    <a16:creationId xmlns:a16="http://schemas.microsoft.com/office/drawing/2014/main" id="{ABB5A2F6-4211-6005-EB6B-B5EB3589A08C}"/>
                  </a:ext>
                </a:extLst>
              </p:cNvPr>
              <p:cNvSpPr>
                <a:spLocks noChangeArrowheads="1"/>
              </p:cNvSpPr>
              <p:nvPr/>
            </p:nvSpPr>
            <p:spPr bwMode="auto">
              <a:xfrm>
                <a:off x="631825" y="2111375"/>
                <a:ext cx="3713163" cy="600075"/>
              </a:xfrm>
              <a:prstGeom prst="rect">
                <a:avLst/>
              </a:prstGeom>
              <a:gradFill rotWithShape="0">
                <a:gsLst>
                  <a:gs pos="0">
                    <a:schemeClr val="accent4"/>
                  </a:gs>
                  <a:gs pos="50000">
                    <a:schemeClr val="bg1"/>
                  </a:gs>
                  <a:gs pos="100000">
                    <a:schemeClr val="accent4"/>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a:solidFill>
                    <a:schemeClr val="bg1"/>
                  </a:solidFill>
                </a:endParaRPr>
              </a:p>
            </p:txBody>
          </p:sp>
          <p:sp>
            <p:nvSpPr>
              <p:cNvPr id="17" name="Rectangle 9">
                <a:extLst>
                  <a:ext uri="{FF2B5EF4-FFF2-40B4-BE49-F238E27FC236}">
                    <a16:creationId xmlns:a16="http://schemas.microsoft.com/office/drawing/2014/main" id="{E22FBA21-8792-0C73-7FCF-075A639FFFB6}"/>
                  </a:ext>
                </a:extLst>
              </p:cNvPr>
              <p:cNvSpPr>
                <a:spLocks noChangeArrowheads="1"/>
              </p:cNvSpPr>
              <p:nvPr/>
            </p:nvSpPr>
            <p:spPr bwMode="auto">
              <a:xfrm>
                <a:off x="3686175" y="2741613"/>
                <a:ext cx="560388" cy="2136775"/>
              </a:xfrm>
              <a:prstGeom prst="rect">
                <a:avLst/>
              </a:prstGeom>
              <a:gradFill rotWithShape="0">
                <a:gsLst>
                  <a:gs pos="0">
                    <a:schemeClr val="accent4"/>
                  </a:gs>
                  <a:gs pos="50000">
                    <a:schemeClr val="bg1"/>
                  </a:gs>
                  <a:gs pos="100000">
                    <a:schemeClr val="accent4"/>
                  </a:gs>
                </a:gsLst>
                <a:lin ang="0" scaled="1"/>
              </a:gradFill>
              <a:ln w="25400">
                <a:solidFill>
                  <a:srgbClr val="000000"/>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a:solidFill>
                    <a:schemeClr val="bg1"/>
                  </a:solidFill>
                </a:endParaRPr>
              </a:p>
            </p:txBody>
          </p:sp>
          <p:sp>
            <p:nvSpPr>
              <p:cNvPr id="18" name="Rectangle 10">
                <a:extLst>
                  <a:ext uri="{FF2B5EF4-FFF2-40B4-BE49-F238E27FC236}">
                    <a16:creationId xmlns:a16="http://schemas.microsoft.com/office/drawing/2014/main" id="{5EF3C991-AB84-BECA-8313-1DF2C9C9D3A7}"/>
                  </a:ext>
                </a:extLst>
              </p:cNvPr>
              <p:cNvSpPr>
                <a:spLocks noChangeArrowheads="1"/>
              </p:cNvSpPr>
              <p:nvPr/>
            </p:nvSpPr>
            <p:spPr bwMode="auto">
              <a:xfrm>
                <a:off x="1154010" y="2201863"/>
                <a:ext cx="2616403" cy="40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Toyota Production Model</a:t>
                </a:r>
              </a:p>
            </p:txBody>
          </p:sp>
          <p:sp>
            <p:nvSpPr>
              <p:cNvPr id="19" name="Rectangle 11">
                <a:extLst>
                  <a:ext uri="{FF2B5EF4-FFF2-40B4-BE49-F238E27FC236}">
                    <a16:creationId xmlns:a16="http://schemas.microsoft.com/office/drawing/2014/main" id="{B309A372-C0E3-E5BF-27BC-6C7B860F78A6}"/>
                  </a:ext>
                </a:extLst>
              </p:cNvPr>
              <p:cNvSpPr>
                <a:spLocks noChangeArrowheads="1"/>
              </p:cNvSpPr>
              <p:nvPr/>
            </p:nvSpPr>
            <p:spPr bwMode="auto">
              <a:xfrm>
                <a:off x="665210" y="5056188"/>
                <a:ext cx="1007678" cy="40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000" dirty="0" err="1">
                    <a:latin typeface="Roboto" panose="02000000000000000000" pitchFamily="2" charset="0"/>
                    <a:ea typeface="Roboto" panose="02000000000000000000" pitchFamily="2" charset="0"/>
                    <a:cs typeface="Roboto" panose="02000000000000000000" pitchFamily="2" charset="0"/>
                  </a:rPr>
                  <a:t>Heijunka</a:t>
                </a:r>
                <a:endParaRPr lang="en-US" altLang="en-US" sz="2000" dirty="0">
                  <a:latin typeface="Roboto" panose="02000000000000000000" pitchFamily="2" charset="0"/>
                  <a:ea typeface="Roboto" panose="02000000000000000000" pitchFamily="2" charset="0"/>
                  <a:cs typeface="Roboto" panose="02000000000000000000" pitchFamily="2" charset="0"/>
                </a:endParaRPr>
              </a:p>
            </p:txBody>
          </p:sp>
          <p:sp>
            <p:nvSpPr>
              <p:cNvPr id="20" name="Rectangle 19">
                <a:extLst>
                  <a:ext uri="{FF2B5EF4-FFF2-40B4-BE49-F238E27FC236}">
                    <a16:creationId xmlns:a16="http://schemas.microsoft.com/office/drawing/2014/main" id="{D4D2A693-487F-F7D3-B396-3760D0F8278D}"/>
                  </a:ext>
                </a:extLst>
              </p:cNvPr>
              <p:cNvSpPr>
                <a:spLocks noChangeArrowheads="1"/>
              </p:cNvSpPr>
              <p:nvPr/>
            </p:nvSpPr>
            <p:spPr bwMode="auto">
              <a:xfrm>
                <a:off x="3489092" y="5056188"/>
                <a:ext cx="813262" cy="407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Kaizen</a:t>
                </a:r>
              </a:p>
            </p:txBody>
          </p:sp>
          <p:sp>
            <p:nvSpPr>
              <p:cNvPr id="21" name="Rectangle 13">
                <a:extLst>
                  <a:ext uri="{FF2B5EF4-FFF2-40B4-BE49-F238E27FC236}">
                    <a16:creationId xmlns:a16="http://schemas.microsoft.com/office/drawing/2014/main" id="{FC6A9633-59FA-77CB-1926-2AF999C4B686}"/>
                  </a:ext>
                </a:extLst>
              </p:cNvPr>
              <p:cNvSpPr>
                <a:spLocks noChangeArrowheads="1"/>
              </p:cNvSpPr>
              <p:nvPr/>
            </p:nvSpPr>
            <p:spPr bwMode="auto">
              <a:xfrm>
                <a:off x="2006127" y="4916488"/>
                <a:ext cx="1039168" cy="720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Standard</a:t>
                </a:r>
              </a:p>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Work</a:t>
                </a:r>
              </a:p>
            </p:txBody>
          </p:sp>
          <p:sp>
            <p:nvSpPr>
              <p:cNvPr id="22" name="Rectangle 14">
                <a:extLst>
                  <a:ext uri="{FF2B5EF4-FFF2-40B4-BE49-F238E27FC236}">
                    <a16:creationId xmlns:a16="http://schemas.microsoft.com/office/drawing/2014/main" id="{C663512A-49CA-7F35-759E-690D913E8F40}"/>
                  </a:ext>
                </a:extLst>
              </p:cNvPr>
              <p:cNvSpPr>
                <a:spLocks noChangeArrowheads="1"/>
              </p:cNvSpPr>
              <p:nvPr/>
            </p:nvSpPr>
            <p:spPr bwMode="auto">
              <a:xfrm>
                <a:off x="658813" y="2713038"/>
                <a:ext cx="717550" cy="131762"/>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3" name="Rectangle 15">
                <a:extLst>
                  <a:ext uri="{FF2B5EF4-FFF2-40B4-BE49-F238E27FC236}">
                    <a16:creationId xmlns:a16="http://schemas.microsoft.com/office/drawing/2014/main" id="{2F96594A-AAA6-2EAD-9430-DE071D67F24B}"/>
                  </a:ext>
                </a:extLst>
              </p:cNvPr>
              <p:cNvSpPr>
                <a:spLocks noChangeArrowheads="1"/>
              </p:cNvSpPr>
              <p:nvPr/>
            </p:nvSpPr>
            <p:spPr bwMode="auto">
              <a:xfrm>
                <a:off x="658813" y="4781550"/>
                <a:ext cx="717550" cy="1333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wrap="none" anchor="ctr"/>
              <a:lstStyle/>
              <a:p>
                <a:pPr>
                  <a:lnSpc>
                    <a:spcPct val="80000"/>
                  </a:lnSpc>
                  <a:spcBef>
                    <a:spcPct val="20000"/>
                  </a:spcBef>
                  <a:spcAft>
                    <a:spcPct val="0"/>
                  </a:spcAft>
                </a:pPr>
                <a:endParaRPr lang="en-US" altLang="en-US">
                  <a:solidFill>
                    <a:schemeClr val="bg1"/>
                  </a:solidFill>
                  <a:latin typeface="Arial" panose="020B0604020202020204" pitchFamily="34" charset="0"/>
                  <a:ea typeface="MS PGothic" panose="020B0600070205080204" pitchFamily="34" charset="-128"/>
                </a:endParaRPr>
              </a:p>
            </p:txBody>
          </p:sp>
          <p:sp>
            <p:nvSpPr>
              <p:cNvPr id="24" name="Rectangle 16">
                <a:extLst>
                  <a:ext uri="{FF2B5EF4-FFF2-40B4-BE49-F238E27FC236}">
                    <a16:creationId xmlns:a16="http://schemas.microsoft.com/office/drawing/2014/main" id="{BD35F26A-F58D-BB26-6308-B36B24AD968E}"/>
                  </a:ext>
                </a:extLst>
              </p:cNvPr>
              <p:cNvSpPr>
                <a:spLocks noChangeArrowheads="1"/>
              </p:cNvSpPr>
              <p:nvPr/>
            </p:nvSpPr>
            <p:spPr bwMode="auto">
              <a:xfrm>
                <a:off x="3603625" y="4781550"/>
                <a:ext cx="715963" cy="133350"/>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wrap="none" anchor="ctr"/>
              <a:lstStyle/>
              <a:p>
                <a:pPr>
                  <a:lnSpc>
                    <a:spcPct val="80000"/>
                  </a:lnSpc>
                  <a:spcBef>
                    <a:spcPct val="20000"/>
                  </a:spcBef>
                  <a:spcAft>
                    <a:spcPct val="0"/>
                  </a:spcAft>
                </a:pPr>
                <a:endParaRPr lang="en-US" altLang="en-US">
                  <a:solidFill>
                    <a:schemeClr val="bg1"/>
                  </a:solidFill>
                  <a:latin typeface="Arial" panose="020B0604020202020204" pitchFamily="34" charset="0"/>
                  <a:ea typeface="MS PGothic" panose="020B0600070205080204" pitchFamily="34" charset="-128"/>
                </a:endParaRPr>
              </a:p>
            </p:txBody>
          </p:sp>
          <p:sp>
            <p:nvSpPr>
              <p:cNvPr id="25" name="Rectangle 17">
                <a:extLst>
                  <a:ext uri="{FF2B5EF4-FFF2-40B4-BE49-F238E27FC236}">
                    <a16:creationId xmlns:a16="http://schemas.microsoft.com/office/drawing/2014/main" id="{FBC19EA8-BE6F-4C2F-22F0-DF2741C93477}"/>
                  </a:ext>
                </a:extLst>
              </p:cNvPr>
              <p:cNvSpPr>
                <a:spLocks noChangeArrowheads="1"/>
              </p:cNvSpPr>
              <p:nvPr/>
            </p:nvSpPr>
            <p:spPr bwMode="auto">
              <a:xfrm>
                <a:off x="3605213" y="2709863"/>
                <a:ext cx="715962" cy="131762"/>
              </a:xfrm>
              <a:prstGeom prst="rect">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wrap="none" anchor="ctr"/>
              <a:lstStyle/>
              <a:p>
                <a:pPr>
                  <a:lnSpc>
                    <a:spcPct val="80000"/>
                  </a:lnSpc>
                  <a:spcBef>
                    <a:spcPct val="20000"/>
                  </a:spcBef>
                  <a:spcAft>
                    <a:spcPct val="0"/>
                  </a:spcAft>
                </a:pPr>
                <a:endParaRPr lang="en-US" altLang="en-US">
                  <a:solidFill>
                    <a:schemeClr val="bg1"/>
                  </a:solidFill>
                  <a:latin typeface="Arial" panose="020B0604020202020204" pitchFamily="34" charset="0"/>
                  <a:ea typeface="MS PGothic" panose="020B0600070205080204" pitchFamily="34" charset="-128"/>
                </a:endParaRPr>
              </a:p>
            </p:txBody>
          </p:sp>
          <p:sp>
            <p:nvSpPr>
              <p:cNvPr id="26" name="Rectangle 18">
                <a:extLst>
                  <a:ext uri="{FF2B5EF4-FFF2-40B4-BE49-F238E27FC236}">
                    <a16:creationId xmlns:a16="http://schemas.microsoft.com/office/drawing/2014/main" id="{C66C78C5-3938-74D8-F0E1-BFA1994973B7}"/>
                  </a:ext>
                </a:extLst>
              </p:cNvPr>
              <p:cNvSpPr>
                <a:spLocks noChangeArrowheads="1"/>
              </p:cNvSpPr>
              <p:nvPr/>
            </p:nvSpPr>
            <p:spPr bwMode="auto">
              <a:xfrm rot="16200000">
                <a:off x="223043" y="3468530"/>
                <a:ext cx="1604963" cy="605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cs typeface="Roboto" panose="02000000000000000000" pitchFamily="2" charset="0"/>
                  </a:rPr>
                  <a:t>Just In Time</a:t>
                </a:r>
              </a:p>
            </p:txBody>
          </p:sp>
          <p:sp>
            <p:nvSpPr>
              <p:cNvPr id="27" name="Rectangle 19">
                <a:extLst>
                  <a:ext uri="{FF2B5EF4-FFF2-40B4-BE49-F238E27FC236}">
                    <a16:creationId xmlns:a16="http://schemas.microsoft.com/office/drawing/2014/main" id="{0F554B23-298F-4AF3-EC01-C09451B1CD7A}"/>
                  </a:ext>
                </a:extLst>
              </p:cNvPr>
              <p:cNvSpPr>
                <a:spLocks noChangeArrowheads="1"/>
              </p:cNvSpPr>
              <p:nvPr/>
            </p:nvSpPr>
            <p:spPr bwMode="auto">
              <a:xfrm rot="16200000">
                <a:off x="3498831" y="3557102"/>
                <a:ext cx="965238" cy="342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err="1">
                    <a:latin typeface="Roboto" panose="02000000000000000000" pitchFamily="2" charset="0"/>
                    <a:ea typeface="Roboto" panose="02000000000000000000" pitchFamily="2" charset="0"/>
                    <a:cs typeface="Roboto" panose="02000000000000000000" pitchFamily="2" charset="0"/>
                  </a:rPr>
                  <a:t>Jidoka</a:t>
                </a:r>
                <a:endParaRPr lang="en-US" altLang="en-US" sz="2000" dirty="0">
                  <a:latin typeface="Roboto" panose="02000000000000000000" pitchFamily="2" charset="0"/>
                  <a:ea typeface="Roboto" panose="02000000000000000000" pitchFamily="2" charset="0"/>
                  <a:cs typeface="Roboto" panose="02000000000000000000" pitchFamily="2" charset="0"/>
                </a:endParaRPr>
              </a:p>
            </p:txBody>
          </p:sp>
        </p:grpSp>
        <p:sp>
          <p:nvSpPr>
            <p:cNvPr id="13" name="Change your…">
              <a:extLst>
                <a:ext uri="{FF2B5EF4-FFF2-40B4-BE49-F238E27FC236}">
                  <a16:creationId xmlns:a16="http://schemas.microsoft.com/office/drawing/2014/main" id="{1E1B6FCE-B3F7-F71D-993D-D3FC5E4628F9}"/>
                </a:ext>
              </a:extLst>
            </p:cNvPr>
            <p:cNvSpPr/>
            <p:nvPr/>
          </p:nvSpPr>
          <p:spPr>
            <a:xfrm>
              <a:off x="2024164" y="3457616"/>
              <a:ext cx="7225308" cy="7374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ctr">
              <a:spAutoFit/>
            </a:bodyPr>
            <a:lstStyle/>
            <a:p>
              <a:pPr algn="ctr" defTabSz="1155700">
                <a:lnSpc>
                  <a:spcPct val="90000"/>
                </a:lnSpc>
                <a:defRPr sz="8000" b="1">
                  <a:solidFill>
                    <a:srgbClr val="FFFFFF"/>
                  </a:solidFill>
                </a:defRPr>
              </a:pPr>
              <a:r>
                <a:rPr lang="en-US" sz="28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Toyota Production Model</a:t>
              </a:r>
              <a:endParaRPr sz="28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endParaRPr>
            </a:p>
          </p:txBody>
        </p:sp>
      </p:grpSp>
      <p:sp>
        <p:nvSpPr>
          <p:cNvPr id="32" name="Arrow: Right 31">
            <a:extLst>
              <a:ext uri="{FF2B5EF4-FFF2-40B4-BE49-F238E27FC236}">
                <a16:creationId xmlns:a16="http://schemas.microsoft.com/office/drawing/2014/main" id="{A2EA33DD-4D0A-D6B7-D120-65F886F06E83}"/>
              </a:ext>
            </a:extLst>
          </p:cNvPr>
          <p:cNvSpPr/>
          <p:nvPr/>
        </p:nvSpPr>
        <p:spPr>
          <a:xfrm>
            <a:off x="5568825" y="3110055"/>
            <a:ext cx="1214602" cy="1072791"/>
          </a:xfrm>
          <a:prstGeom prst="rightArrow">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en-US"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Roboto"/>
            </a:endParaRPr>
          </a:p>
        </p:txBody>
      </p:sp>
      <p:sp>
        <p:nvSpPr>
          <p:cNvPr id="33" name="Text Placeholder 3">
            <a:extLst>
              <a:ext uri="{FF2B5EF4-FFF2-40B4-BE49-F238E27FC236}">
                <a16:creationId xmlns:a16="http://schemas.microsoft.com/office/drawing/2014/main" id="{C26CC6AB-EFE4-098E-C03C-756E9681740D}"/>
              </a:ext>
            </a:extLst>
          </p:cNvPr>
          <p:cNvSpPr txBox="1">
            <a:spLocks/>
          </p:cNvSpPr>
          <p:nvPr/>
        </p:nvSpPr>
        <p:spPr>
          <a:xfrm>
            <a:off x="7232765" y="2212324"/>
            <a:ext cx="3932237" cy="3722136"/>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dirty="0">
                <a:solidFill>
                  <a:schemeClr val="bg2">
                    <a:lumMod val="10000"/>
                  </a:schemeClr>
                </a:solidFill>
              </a:rPr>
              <a:t>Taiichi Ohno took the concepts from </a:t>
            </a:r>
            <a:r>
              <a:rPr lang="en-US" altLang="ja-JP" dirty="0" err="1">
                <a:solidFill>
                  <a:schemeClr val="bg2">
                    <a:lumMod val="10000"/>
                  </a:schemeClr>
                </a:solidFill>
              </a:rPr>
              <a:t>Sakichi</a:t>
            </a:r>
            <a:r>
              <a:rPr lang="en-US" altLang="ja-JP" dirty="0">
                <a:solidFill>
                  <a:schemeClr val="bg2">
                    <a:lumMod val="10000"/>
                  </a:schemeClr>
                </a:solidFill>
              </a:rPr>
              <a:t> Toyoda, Kiichiro Toyoda, and </a:t>
            </a:r>
            <a:r>
              <a:rPr lang="en-US" altLang="ja-JP" dirty="0" err="1">
                <a:solidFill>
                  <a:schemeClr val="bg2">
                    <a:lumMod val="10000"/>
                  </a:schemeClr>
                </a:solidFill>
              </a:rPr>
              <a:t>Eiji</a:t>
            </a:r>
            <a:r>
              <a:rPr lang="en-US" altLang="ja-JP" dirty="0">
                <a:solidFill>
                  <a:schemeClr val="bg2">
                    <a:lumMod val="10000"/>
                  </a:schemeClr>
                </a:solidFill>
              </a:rPr>
              <a:t> Toyoda and created a system called the Toyota Production System</a:t>
            </a:r>
          </a:p>
        </p:txBody>
      </p:sp>
      <p:sp>
        <p:nvSpPr>
          <p:cNvPr id="8" name="TextBox 7">
            <a:extLst>
              <a:ext uri="{FF2B5EF4-FFF2-40B4-BE49-F238E27FC236}">
                <a16:creationId xmlns:a16="http://schemas.microsoft.com/office/drawing/2014/main" id="{A38CF654-85FA-8C7C-C1C6-6CFDEDF0811B}"/>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Introduction</a:t>
            </a:r>
          </a:p>
        </p:txBody>
      </p:sp>
      <p:grpSp>
        <p:nvGrpSpPr>
          <p:cNvPr id="6" name="Group 5">
            <a:extLst>
              <a:ext uri="{FF2B5EF4-FFF2-40B4-BE49-F238E27FC236}">
                <a16:creationId xmlns:a16="http://schemas.microsoft.com/office/drawing/2014/main" id="{F86BA7D0-BE14-99BC-F4C1-184E3CAD692C}"/>
              </a:ext>
            </a:extLst>
          </p:cNvPr>
          <p:cNvGrpSpPr/>
          <p:nvPr/>
        </p:nvGrpSpPr>
        <p:grpSpPr>
          <a:xfrm>
            <a:off x="940249" y="302311"/>
            <a:ext cx="1060167" cy="290657"/>
            <a:chOff x="940249" y="315206"/>
            <a:chExt cx="1060167" cy="265062"/>
          </a:xfrm>
        </p:grpSpPr>
        <p:sp>
          <p:nvSpPr>
            <p:cNvPr id="7" name="AutoShape 9">
              <a:extLst>
                <a:ext uri="{FF2B5EF4-FFF2-40B4-BE49-F238E27FC236}">
                  <a16:creationId xmlns:a16="http://schemas.microsoft.com/office/drawing/2014/main" id="{36C5E494-2B74-1DA5-7631-27A43F2A12E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9" name="AutoShape 10">
              <a:extLst>
                <a:ext uri="{FF2B5EF4-FFF2-40B4-BE49-F238E27FC236}">
                  <a16:creationId xmlns:a16="http://schemas.microsoft.com/office/drawing/2014/main" id="{02C8DB55-1E38-F05A-114B-2FE9BF933227}"/>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0" name="AutoShape 11">
              <a:extLst>
                <a:ext uri="{FF2B5EF4-FFF2-40B4-BE49-F238E27FC236}">
                  <a16:creationId xmlns:a16="http://schemas.microsoft.com/office/drawing/2014/main" id="{35FF9076-F5F1-5939-7D63-414924055579}"/>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Tree>
    <p:extLst>
      <p:ext uri="{BB962C8B-B14F-4D97-AF65-F5344CB8AC3E}">
        <p14:creationId xmlns:p14="http://schemas.microsoft.com/office/powerpoint/2010/main" val="2361733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Lean Fundamentals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Identify and explain core lean concepts</a:t>
            </a:r>
          </a:p>
          <a:p>
            <a:r>
              <a:rPr lang="en-US" sz="2400" dirty="0"/>
              <a:t>Define and distinguish Value Added from Non Value Added activities</a:t>
            </a:r>
          </a:p>
          <a:p>
            <a:r>
              <a:rPr lang="en-US" sz="2400" dirty="0"/>
              <a:t>Define “waste”</a:t>
            </a:r>
          </a:p>
          <a:p>
            <a:r>
              <a:rPr lang="en-US" sz="2400" dirty="0"/>
              <a:t>Identify the 8 Wastes</a:t>
            </a:r>
          </a:p>
          <a:p>
            <a:r>
              <a:rPr lang="en-US" sz="2400" dirty="0"/>
              <a:t>Define philosophy and principles of continuous improvement</a:t>
            </a:r>
          </a:p>
          <a:p>
            <a:r>
              <a:rPr lang="en-US" sz="2400" dirty="0"/>
              <a:t>Conduct flow production exercise</a:t>
            </a:r>
          </a:p>
          <a:p>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2C0F1CBD-8220-319D-77A4-E07BE80DEE2B}"/>
              </a:ext>
            </a:extLst>
          </p:cNvPr>
          <p:cNvGrpSpPr/>
          <p:nvPr/>
        </p:nvGrpSpPr>
        <p:grpSpPr>
          <a:xfrm>
            <a:off x="699911" y="837133"/>
            <a:ext cx="4425950" cy="659879"/>
            <a:chOff x="5627530" y="641179"/>
            <a:chExt cx="6564470" cy="804977"/>
          </a:xfrm>
        </p:grpSpPr>
        <p:sp>
          <p:nvSpPr>
            <p:cNvPr id="13" name="AutoShape 9">
              <a:extLst>
                <a:ext uri="{FF2B5EF4-FFF2-40B4-BE49-F238E27FC236}">
                  <a16:creationId xmlns:a16="http://schemas.microsoft.com/office/drawing/2014/main" id="{BAB05A7B-48E9-F0ED-0C79-CF67A14F0CD6}"/>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sp>
          <p:nvSpPr>
            <p:cNvPr id="14" name="AutoShape 10">
              <a:extLst>
                <a:ext uri="{FF2B5EF4-FFF2-40B4-BE49-F238E27FC236}">
                  <a16:creationId xmlns:a16="http://schemas.microsoft.com/office/drawing/2014/main" id="{ADCB4EFA-9BF5-023F-0234-1759D33DF072}"/>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Lean Fundamentals</a:t>
              </a:r>
            </a:p>
          </p:txBody>
        </p:sp>
        <p:sp>
          <p:nvSpPr>
            <p:cNvPr id="15" name="AutoShape 11">
              <a:extLst>
                <a:ext uri="{FF2B5EF4-FFF2-40B4-BE49-F238E27FC236}">
                  <a16:creationId xmlns:a16="http://schemas.microsoft.com/office/drawing/2014/main" id="{791EE183-39FC-28F2-2251-8891563E08CD}"/>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Introduction</a:t>
              </a:r>
            </a:p>
          </p:txBody>
        </p:sp>
      </p:grpSp>
    </p:spTree>
    <p:extLst>
      <p:ext uri="{BB962C8B-B14F-4D97-AF65-F5344CB8AC3E}">
        <p14:creationId xmlns:p14="http://schemas.microsoft.com/office/powerpoint/2010/main" val="2300054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Core Lean Concepts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14</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9" y="1934137"/>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49326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Stream</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9" y="3052393"/>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5" name="Rectangle 14">
            <a:extLst>
              <a:ext uri="{FF2B5EF4-FFF2-40B4-BE49-F238E27FC236}">
                <a16:creationId xmlns:a16="http://schemas.microsoft.com/office/drawing/2014/main" id="{D87C53B4-48B2-AD29-AFD8-1C5B6871B984}"/>
              </a:ext>
            </a:extLst>
          </p:cNvPr>
          <p:cNvSpPr/>
          <p:nvPr/>
        </p:nvSpPr>
        <p:spPr>
          <a:xfrm>
            <a:off x="940249" y="361276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8" name="Group 7">
            <a:extLst>
              <a:ext uri="{FF2B5EF4-FFF2-40B4-BE49-F238E27FC236}">
                <a16:creationId xmlns:a16="http://schemas.microsoft.com/office/drawing/2014/main" id="{A7750FF4-F0DD-BF1E-25F2-AA831646B589}"/>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6044AFCF-593A-89DB-8FFD-B0F6D78F2E0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E793FCD8-84D7-8DC2-7871-EC06C6095330}"/>
                </a:ext>
              </a:extLst>
            </p:cNvPr>
            <p:cNvGrpSpPr/>
            <p:nvPr/>
          </p:nvGrpSpPr>
          <p:grpSpPr>
            <a:xfrm>
              <a:off x="940249" y="315206"/>
              <a:ext cx="746492" cy="265062"/>
              <a:chOff x="940249" y="315206"/>
              <a:chExt cx="746492" cy="265062"/>
            </a:xfrm>
          </p:grpSpPr>
          <p:sp>
            <p:nvSpPr>
              <p:cNvPr id="10" name="AutoShape 11">
                <a:extLst>
                  <a:ext uri="{FF2B5EF4-FFF2-40B4-BE49-F238E27FC236}">
                    <a16:creationId xmlns:a16="http://schemas.microsoft.com/office/drawing/2014/main" id="{58CB8F04-2946-C28D-CE55-D587EF9F8B9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0">
                <a:extLst>
                  <a:ext uri="{FF2B5EF4-FFF2-40B4-BE49-F238E27FC236}">
                    <a16:creationId xmlns:a16="http://schemas.microsoft.com/office/drawing/2014/main" id="{AC45A982-22A8-3864-2EE2-182D24AF2DAD}"/>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9" name="TextBox 18">
            <a:extLst>
              <a:ext uri="{FF2B5EF4-FFF2-40B4-BE49-F238E27FC236}">
                <a16:creationId xmlns:a16="http://schemas.microsoft.com/office/drawing/2014/main" id="{F0829312-9117-46AB-EDB1-194D53CB9D7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3" name="Rectangle 2">
            <a:extLst>
              <a:ext uri="{FF2B5EF4-FFF2-40B4-BE49-F238E27FC236}">
                <a16:creationId xmlns:a16="http://schemas.microsoft.com/office/drawing/2014/main" id="{D60ED515-0219-717A-9960-62F98729D062}"/>
              </a:ext>
            </a:extLst>
          </p:cNvPr>
          <p:cNvSpPr/>
          <p:nvPr/>
        </p:nvSpPr>
        <p:spPr>
          <a:xfrm>
            <a:off x="940249" y="414616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 </a:t>
            </a:r>
          </a:p>
        </p:txBody>
      </p:sp>
      <p:sp>
        <p:nvSpPr>
          <p:cNvPr id="6" name="Rectangle 5">
            <a:extLst>
              <a:ext uri="{FF2B5EF4-FFF2-40B4-BE49-F238E27FC236}">
                <a16:creationId xmlns:a16="http://schemas.microsoft.com/office/drawing/2014/main" id="{83E33BE9-42A8-37DE-73F1-1894D8539046}"/>
              </a:ext>
            </a:extLst>
          </p:cNvPr>
          <p:cNvSpPr/>
          <p:nvPr/>
        </p:nvSpPr>
        <p:spPr>
          <a:xfrm>
            <a:off x="940249" y="467956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spTree>
    <p:extLst>
      <p:ext uri="{BB962C8B-B14F-4D97-AF65-F5344CB8AC3E}">
        <p14:creationId xmlns:p14="http://schemas.microsoft.com/office/powerpoint/2010/main" val="1711093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F6505EEA-4B08-7022-F6C0-4E5F328981B5}"/>
              </a:ext>
            </a:extLst>
          </p:cNvPr>
          <p:cNvSpPr>
            <a:spLocks noGrp="1"/>
          </p:cNvSpPr>
          <p:nvPr>
            <p:ph type="title"/>
          </p:nvPr>
        </p:nvSpPr>
        <p:spPr/>
        <p:txBody>
          <a:bodyPr>
            <a:normAutofit/>
          </a:bodyPr>
          <a:lstStyle/>
          <a:p>
            <a:r>
              <a:rPr lang="en-US" sz="4000" dirty="0">
                <a:latin typeface="Roboto Medium"/>
                <a:ea typeface="Roboto Medium"/>
                <a:cs typeface="Roboto Medium"/>
              </a:rPr>
              <a:t>Value Added vs. Non-Value Added</a:t>
            </a:r>
          </a:p>
        </p:txBody>
      </p:sp>
      <p:sp>
        <p:nvSpPr>
          <p:cNvPr id="5" name="Slide Number Placeholder 4">
            <a:extLst>
              <a:ext uri="{FF2B5EF4-FFF2-40B4-BE49-F238E27FC236}">
                <a16:creationId xmlns:a16="http://schemas.microsoft.com/office/drawing/2014/main" id="{E7725E3B-1EF4-AA11-87DC-D9087593820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15</a:t>
            </a:fld>
            <a:endParaRPr lang="en-US"/>
          </a:p>
        </p:txBody>
      </p:sp>
      <p:grpSp>
        <p:nvGrpSpPr>
          <p:cNvPr id="15" name="Group 14">
            <a:extLst>
              <a:ext uri="{FF2B5EF4-FFF2-40B4-BE49-F238E27FC236}">
                <a16:creationId xmlns:a16="http://schemas.microsoft.com/office/drawing/2014/main" id="{D994E87C-FE66-B367-E7E9-8CF873F952A4}"/>
              </a:ext>
            </a:extLst>
          </p:cNvPr>
          <p:cNvGrpSpPr/>
          <p:nvPr/>
        </p:nvGrpSpPr>
        <p:grpSpPr>
          <a:xfrm>
            <a:off x="1901073" y="1998892"/>
            <a:ext cx="8455805" cy="3837376"/>
            <a:chOff x="1665023" y="1002307"/>
            <a:chExt cx="20243187" cy="9186674"/>
          </a:xfrm>
        </p:grpSpPr>
        <p:sp>
          <p:nvSpPr>
            <p:cNvPr id="11" name="Rectangle 10">
              <a:extLst>
                <a:ext uri="{FF2B5EF4-FFF2-40B4-BE49-F238E27FC236}">
                  <a16:creationId xmlns:a16="http://schemas.microsoft.com/office/drawing/2014/main" id="{CD820E6C-7EFF-732F-2D50-BE4C86A54534}"/>
                </a:ext>
              </a:extLst>
            </p:cNvPr>
            <p:cNvSpPr/>
            <p:nvPr/>
          </p:nvSpPr>
          <p:spPr>
            <a:xfrm>
              <a:off x="1665023" y="1002307"/>
              <a:ext cx="9359592" cy="4224417"/>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b="1"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Non-Value Adding Processes</a:t>
              </a:r>
            </a:p>
            <a:p>
              <a:pPr marL="0" marR="0" indent="0" algn="ctr" defTabSz="584200" rtl="0" fontAlgn="auto" latinLnBrk="0" hangingPunct="0">
                <a:lnSpc>
                  <a:spcPct val="100000"/>
                </a:lnSpc>
                <a:spcBef>
                  <a:spcPts val="0"/>
                </a:spcBef>
                <a:spcAft>
                  <a:spcPts val="0"/>
                </a:spcAft>
                <a:buClrTx/>
                <a:buSzTx/>
                <a:buFontTx/>
                <a:buNone/>
                <a:tabLst/>
              </a:pPr>
              <a:r>
                <a:rPr lang="en-US" b="1"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rPr>
                <a:t>(NVA)</a:t>
              </a:r>
              <a:br>
                <a:rPr lang="en-US" b="1"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rPr>
              </a:br>
              <a:endParaRPr lang="en-US" b="1"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endParaRPr>
            </a:p>
            <a:p>
              <a:pPr marL="0" marR="0" indent="0" algn="ctr" defTabSz="584200" rtl="0" fontAlgn="auto" latinLnBrk="0" hangingPunct="0">
                <a:lnSpc>
                  <a:spcPct val="100000"/>
                </a:lnSpc>
                <a:spcBef>
                  <a:spcPts val="0"/>
                </a:spcBef>
                <a:spcAft>
                  <a:spcPts val="0"/>
                </a:spcAft>
                <a:buClrTx/>
                <a:buSzTx/>
                <a:buFontTx/>
                <a:buNone/>
                <a:tabLst/>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Those process steps that take time, resources, or space, but do not add value to the product or service</a:t>
              </a: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2" name="Rectangle 11">
              <a:extLst>
                <a:ext uri="{FF2B5EF4-FFF2-40B4-BE49-F238E27FC236}">
                  <a16:creationId xmlns:a16="http://schemas.microsoft.com/office/drawing/2014/main" id="{AC79534B-BD58-AD3E-AD16-A47315F8DEC5}"/>
                </a:ext>
              </a:extLst>
            </p:cNvPr>
            <p:cNvSpPr/>
            <p:nvPr/>
          </p:nvSpPr>
          <p:spPr>
            <a:xfrm>
              <a:off x="12544754" y="1002886"/>
              <a:ext cx="9363456" cy="4224417"/>
            </a:xfrm>
            <a:prstGeom prst="rect">
              <a:avLst/>
            </a:prstGeom>
            <a:solidFill>
              <a:srgbClr val="FFB62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b="1"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Adding Processes</a:t>
              </a:r>
            </a:p>
            <a:p>
              <a:pPr marL="0" marR="0" indent="0" algn="ctr" defTabSz="584200" rtl="0" fontAlgn="auto" latinLnBrk="0" hangingPunct="0">
                <a:lnSpc>
                  <a:spcPct val="100000"/>
                </a:lnSpc>
                <a:spcBef>
                  <a:spcPts val="0"/>
                </a:spcBef>
                <a:spcAft>
                  <a:spcPts val="0"/>
                </a:spcAft>
                <a:buClrTx/>
                <a:buSzTx/>
                <a:buFontTx/>
                <a:buNone/>
                <a:tabLst/>
              </a:pPr>
              <a:br>
                <a:rPr lang="en-US" altLang="en-US" dirty="0">
                  <a:latin typeface="Roboto" panose="02000000000000000000" pitchFamily="2" charset="0"/>
                  <a:ea typeface="Roboto" panose="02000000000000000000" pitchFamily="2" charset="0"/>
                  <a:cs typeface="Roboto" panose="02000000000000000000" pitchFamily="2" charset="0"/>
                </a:rPr>
              </a:br>
              <a:r>
                <a:rPr lang="en-US" altLang="en-US" dirty="0">
                  <a:latin typeface="Roboto" panose="02000000000000000000" pitchFamily="2" charset="0"/>
                  <a:ea typeface="Roboto" panose="02000000000000000000" pitchFamily="2" charset="0"/>
                  <a:cs typeface="Roboto" panose="02000000000000000000" pitchFamily="2" charset="0"/>
                </a:rPr>
                <a:t>A process step that transforms or shapes a product or service which is eventually sold to a customer</a:t>
              </a:r>
            </a:p>
            <a:p>
              <a:pPr marL="0" marR="0" indent="0" algn="ctr"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TextBox 12">
              <a:extLst>
                <a:ext uri="{FF2B5EF4-FFF2-40B4-BE49-F238E27FC236}">
                  <a16:creationId xmlns:a16="http://schemas.microsoft.com/office/drawing/2014/main" id="{0D8D35FC-DC8A-922F-C8D6-06C9882088ED}"/>
                </a:ext>
              </a:extLst>
            </p:cNvPr>
            <p:cNvSpPr txBox="1"/>
            <p:nvPr/>
          </p:nvSpPr>
          <p:spPr>
            <a:xfrm>
              <a:off x="12544754" y="6632957"/>
              <a:ext cx="8861755" cy="22350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112713" marR="0" indent="-112713" algn="l"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Something the customer wants</a:t>
              </a:r>
            </a:p>
            <a:p>
              <a:pPr marL="112713" marR="0" indent="-112713" algn="l"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Transforms the product or service</a:t>
              </a:r>
            </a:p>
            <a:p>
              <a:pPr marL="112713" marR="0" indent="-112713" algn="l" defTabSz="8255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Done right the first time</a:t>
              </a:r>
            </a:p>
          </p:txBody>
        </p:sp>
        <p:sp>
          <p:nvSpPr>
            <p:cNvPr id="14" name="Rectangle 13">
              <a:extLst>
                <a:ext uri="{FF2B5EF4-FFF2-40B4-BE49-F238E27FC236}">
                  <a16:creationId xmlns:a16="http://schemas.microsoft.com/office/drawing/2014/main" id="{ED918269-26C2-CE52-12B2-B93E43161BFD}"/>
                </a:ext>
              </a:extLst>
            </p:cNvPr>
            <p:cNvSpPr/>
            <p:nvPr/>
          </p:nvSpPr>
          <p:spPr>
            <a:xfrm>
              <a:off x="1665023" y="5964564"/>
              <a:ext cx="9359592" cy="4224417"/>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lang="en-US" b="1"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rPr>
                <a:t>“Business </a:t>
              </a:r>
              <a:r>
                <a:rPr kumimoji="0" lang="en-US" b="1"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Adding” Processes</a:t>
              </a:r>
            </a:p>
            <a:p>
              <a:pPr marL="0" marR="0" indent="0" algn="ctr" defTabSz="584200" rtl="0" fontAlgn="auto" latinLnBrk="0" hangingPunct="0">
                <a:lnSpc>
                  <a:spcPct val="100000"/>
                </a:lnSpc>
                <a:spcBef>
                  <a:spcPts val="0"/>
                </a:spcBef>
                <a:spcAft>
                  <a:spcPts val="0"/>
                </a:spcAft>
                <a:buClrTx/>
                <a:buSzTx/>
                <a:buFontTx/>
                <a:buNone/>
                <a:tabLst/>
              </a:pPr>
              <a:b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A Non-Value Adding process that is required by law or regulation to operate the business</a:t>
              </a:r>
            </a:p>
            <a:p>
              <a:pPr marL="0" marR="0" indent="0" algn="ctr" defTabSz="584200" rtl="0" fontAlgn="auto" latinLnBrk="0" hangingPunct="0">
                <a:lnSpc>
                  <a:spcPct val="100000"/>
                </a:lnSpc>
                <a:spcBef>
                  <a:spcPts val="0"/>
                </a:spcBef>
                <a:spcAft>
                  <a:spcPts val="0"/>
                </a:spcAft>
                <a:buClrTx/>
                <a:buSzTx/>
                <a:buFontTx/>
                <a:buNone/>
                <a:tabLst/>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Example: Tax Filing</a:t>
              </a: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grpSp>
      <p:sp>
        <p:nvSpPr>
          <p:cNvPr id="16" name="Title 1">
            <a:extLst>
              <a:ext uri="{FF2B5EF4-FFF2-40B4-BE49-F238E27FC236}">
                <a16:creationId xmlns:a16="http://schemas.microsoft.com/office/drawing/2014/main" id="{89E4A3BE-56AE-24A7-9500-23D05090D627}"/>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p>
        </p:txBody>
      </p:sp>
      <p:sp>
        <p:nvSpPr>
          <p:cNvPr id="19" name="TextBox 18">
            <a:extLst>
              <a:ext uri="{FF2B5EF4-FFF2-40B4-BE49-F238E27FC236}">
                <a16:creationId xmlns:a16="http://schemas.microsoft.com/office/drawing/2014/main" id="{FD2B6FF9-2B40-8F42-437C-B180A22DEAC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21" name="Group 20">
            <a:extLst>
              <a:ext uri="{FF2B5EF4-FFF2-40B4-BE49-F238E27FC236}">
                <a16:creationId xmlns:a16="http://schemas.microsoft.com/office/drawing/2014/main" id="{DF5F86FA-2E57-3436-9D07-943E1FBE7057}"/>
              </a:ext>
            </a:extLst>
          </p:cNvPr>
          <p:cNvGrpSpPr/>
          <p:nvPr/>
        </p:nvGrpSpPr>
        <p:grpSpPr>
          <a:xfrm>
            <a:off x="940249" y="302538"/>
            <a:ext cx="1060167" cy="290657"/>
            <a:chOff x="940249" y="315206"/>
            <a:chExt cx="1060167" cy="265062"/>
          </a:xfrm>
        </p:grpSpPr>
        <p:sp>
          <p:nvSpPr>
            <p:cNvPr id="22" name="AutoShape 9">
              <a:extLst>
                <a:ext uri="{FF2B5EF4-FFF2-40B4-BE49-F238E27FC236}">
                  <a16:creationId xmlns:a16="http://schemas.microsoft.com/office/drawing/2014/main" id="{573CAAA5-8443-CFAC-8AA2-986DD88F842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3" name="Group 22">
              <a:extLst>
                <a:ext uri="{FF2B5EF4-FFF2-40B4-BE49-F238E27FC236}">
                  <a16:creationId xmlns:a16="http://schemas.microsoft.com/office/drawing/2014/main" id="{CF08887D-68E8-5E70-DD86-CA59A2636D15}"/>
                </a:ext>
              </a:extLst>
            </p:cNvPr>
            <p:cNvGrpSpPr/>
            <p:nvPr/>
          </p:nvGrpSpPr>
          <p:grpSpPr>
            <a:xfrm>
              <a:off x="940249" y="315206"/>
              <a:ext cx="746492" cy="265062"/>
              <a:chOff x="940249" y="315206"/>
              <a:chExt cx="746492" cy="265062"/>
            </a:xfrm>
          </p:grpSpPr>
          <p:sp>
            <p:nvSpPr>
              <p:cNvPr id="24" name="AutoShape 11">
                <a:extLst>
                  <a:ext uri="{FF2B5EF4-FFF2-40B4-BE49-F238E27FC236}">
                    <a16:creationId xmlns:a16="http://schemas.microsoft.com/office/drawing/2014/main" id="{D76FCC04-810A-4CB3-3290-5E6E02734B0D}"/>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0">
                <a:extLst>
                  <a:ext uri="{FF2B5EF4-FFF2-40B4-BE49-F238E27FC236}">
                    <a16:creationId xmlns:a16="http://schemas.microsoft.com/office/drawing/2014/main" id="{D5DA97D8-1265-2E14-BC38-1935C7B6EE7E}"/>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006561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F75D42F-7867-FA6C-40B5-E8FBDADB39EB}"/>
              </a:ext>
            </a:extLst>
          </p:cNvPr>
          <p:cNvSpPr>
            <a:spLocks noGrp="1"/>
          </p:cNvSpPr>
          <p:nvPr>
            <p:ph type="title" idx="4294967295"/>
          </p:nvPr>
        </p:nvSpPr>
        <p:spPr>
          <a:xfrm>
            <a:off x="905585" y="821803"/>
            <a:ext cx="10515600" cy="919163"/>
          </a:xfrm>
          <a:prstGeom prst="rect">
            <a:avLst/>
          </a:prstGeom>
        </p:spPr>
        <p:txBody>
          <a:bodyPr>
            <a:normAutofit fontScale="90000"/>
          </a:bodyPr>
          <a:lstStyle/>
          <a:p>
            <a:r>
              <a:rPr lang="en-US" sz="4400" dirty="0"/>
              <a:t>Tasks can only be defined as </a:t>
            </a:r>
            <a:br>
              <a:rPr lang="en-US" sz="4400" dirty="0"/>
            </a:br>
            <a:r>
              <a:rPr lang="en-US" sz="4400" dirty="0"/>
              <a:t>“Value-adding” by the customer</a:t>
            </a:r>
          </a:p>
        </p:txBody>
      </p:sp>
      <p:sp>
        <p:nvSpPr>
          <p:cNvPr id="4" name="Slide Number Placeholder 3">
            <a:extLst>
              <a:ext uri="{FF2B5EF4-FFF2-40B4-BE49-F238E27FC236}">
                <a16:creationId xmlns:a16="http://schemas.microsoft.com/office/drawing/2014/main" id="{A755ECC6-7B60-E70F-09E0-A537E450F35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16</a:t>
            </a:fld>
            <a:endParaRPr lang="en-US" dirty="0"/>
          </a:p>
        </p:txBody>
      </p:sp>
      <p:pic>
        <p:nvPicPr>
          <p:cNvPr id="17" name="Picture 16" descr="A red emergency room sign in front of a building">
            <a:extLst>
              <a:ext uri="{FF2B5EF4-FFF2-40B4-BE49-F238E27FC236}">
                <a16:creationId xmlns:a16="http://schemas.microsoft.com/office/drawing/2014/main" id="{907CA127-A24D-19C3-0260-AFB461DE46B0}"/>
              </a:ext>
            </a:extLst>
          </p:cNvPr>
          <p:cNvPicPr>
            <a:picLocks noChangeAspect="1"/>
          </p:cNvPicPr>
          <p:nvPr/>
        </p:nvPicPr>
        <p:blipFill>
          <a:blip r:embed="rId3"/>
          <a:stretch>
            <a:fillRect/>
          </a:stretch>
        </p:blipFill>
        <p:spPr>
          <a:xfrm>
            <a:off x="905586" y="2178636"/>
            <a:ext cx="2148051" cy="3208652"/>
          </a:xfrm>
          <a:prstGeom prst="rect">
            <a:avLst/>
          </a:prstGeom>
        </p:spPr>
      </p:pic>
      <p:pic>
        <p:nvPicPr>
          <p:cNvPr id="19" name="Picture 18" descr="A roller coaster with people on it">
            <a:extLst>
              <a:ext uri="{FF2B5EF4-FFF2-40B4-BE49-F238E27FC236}">
                <a16:creationId xmlns:a16="http://schemas.microsoft.com/office/drawing/2014/main" id="{2BABE6B9-7BAA-2865-6F54-39AD94877BB9}"/>
              </a:ext>
            </a:extLst>
          </p:cNvPr>
          <p:cNvPicPr>
            <a:picLocks noChangeAspect="1"/>
          </p:cNvPicPr>
          <p:nvPr/>
        </p:nvPicPr>
        <p:blipFill>
          <a:blip r:embed="rId4"/>
          <a:stretch>
            <a:fillRect/>
          </a:stretch>
        </p:blipFill>
        <p:spPr>
          <a:xfrm>
            <a:off x="6717170" y="2178636"/>
            <a:ext cx="1805016" cy="3209544"/>
          </a:xfrm>
          <a:prstGeom prst="rect">
            <a:avLst/>
          </a:prstGeom>
        </p:spPr>
      </p:pic>
      <p:sp>
        <p:nvSpPr>
          <p:cNvPr id="20" name="Text Placeholder 3">
            <a:extLst>
              <a:ext uri="{FF2B5EF4-FFF2-40B4-BE49-F238E27FC236}">
                <a16:creationId xmlns:a16="http://schemas.microsoft.com/office/drawing/2014/main" id="{53CDEDC5-78E1-717B-DAB7-0B82D9684913}"/>
              </a:ext>
            </a:extLst>
          </p:cNvPr>
          <p:cNvSpPr txBox="1">
            <a:spLocks/>
          </p:cNvSpPr>
          <p:nvPr/>
        </p:nvSpPr>
        <p:spPr>
          <a:xfrm>
            <a:off x="3617524" y="2178636"/>
            <a:ext cx="2148840" cy="320954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400" dirty="0">
                <a:solidFill>
                  <a:schemeClr val="bg2">
                    <a:lumMod val="10000"/>
                  </a:schemeClr>
                </a:solidFill>
              </a:rPr>
              <a:t>How long will you spend at the hospital?</a:t>
            </a:r>
            <a:br>
              <a:rPr lang="en-US" altLang="ja-JP" sz="2400" dirty="0">
                <a:solidFill>
                  <a:schemeClr val="bg2">
                    <a:lumMod val="10000"/>
                  </a:schemeClr>
                </a:solidFill>
              </a:rPr>
            </a:br>
            <a:endParaRPr lang="en-US" altLang="ja-JP" sz="2400" dirty="0">
              <a:solidFill>
                <a:schemeClr val="bg2">
                  <a:lumMod val="10000"/>
                </a:schemeClr>
              </a:solidFill>
            </a:endParaRPr>
          </a:p>
          <a:p>
            <a:r>
              <a:rPr lang="en-US" altLang="ja-JP" sz="2400" dirty="0">
                <a:solidFill>
                  <a:schemeClr val="bg2">
                    <a:lumMod val="10000"/>
                  </a:schemeClr>
                </a:solidFill>
              </a:rPr>
              <a:t>Registration</a:t>
            </a:r>
          </a:p>
          <a:p>
            <a:r>
              <a:rPr lang="en-US" altLang="ja-JP" sz="2400" dirty="0">
                <a:solidFill>
                  <a:schemeClr val="bg2">
                    <a:lumMod val="10000"/>
                  </a:schemeClr>
                </a:solidFill>
              </a:rPr>
              <a:t>Waiting</a:t>
            </a:r>
          </a:p>
          <a:p>
            <a:r>
              <a:rPr lang="en-US" altLang="ja-JP" sz="2400" dirty="0">
                <a:solidFill>
                  <a:schemeClr val="bg2">
                    <a:lumMod val="10000"/>
                  </a:schemeClr>
                </a:solidFill>
              </a:rPr>
              <a:t>Pre-screen</a:t>
            </a:r>
          </a:p>
          <a:p>
            <a:r>
              <a:rPr lang="en-US" altLang="ja-JP" sz="2400" dirty="0">
                <a:solidFill>
                  <a:schemeClr val="bg2">
                    <a:lumMod val="10000"/>
                  </a:schemeClr>
                </a:solidFill>
              </a:rPr>
              <a:t>Diagnosis</a:t>
            </a:r>
          </a:p>
        </p:txBody>
      </p:sp>
      <p:sp>
        <p:nvSpPr>
          <p:cNvPr id="21" name="Text Placeholder 3">
            <a:extLst>
              <a:ext uri="{FF2B5EF4-FFF2-40B4-BE49-F238E27FC236}">
                <a16:creationId xmlns:a16="http://schemas.microsoft.com/office/drawing/2014/main" id="{76C619CA-9E5C-498E-B50A-0F5B88B8D734}"/>
              </a:ext>
            </a:extLst>
          </p:cNvPr>
          <p:cNvSpPr txBox="1">
            <a:spLocks/>
          </p:cNvSpPr>
          <p:nvPr/>
        </p:nvSpPr>
        <p:spPr>
          <a:xfrm>
            <a:off x="9045230" y="2178190"/>
            <a:ext cx="2148840" cy="3209544"/>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400" dirty="0">
                <a:solidFill>
                  <a:schemeClr val="bg2">
                    <a:lumMod val="10000"/>
                  </a:schemeClr>
                </a:solidFill>
              </a:rPr>
              <a:t>How long will you be at the park?</a:t>
            </a:r>
            <a:br>
              <a:rPr lang="en-US" altLang="ja-JP" sz="2400" dirty="0">
                <a:solidFill>
                  <a:schemeClr val="bg2">
                    <a:lumMod val="10000"/>
                  </a:schemeClr>
                </a:solidFill>
              </a:rPr>
            </a:br>
            <a:endParaRPr lang="en-US" altLang="ja-JP" sz="2400" dirty="0">
              <a:solidFill>
                <a:schemeClr val="bg2">
                  <a:lumMod val="10000"/>
                </a:schemeClr>
              </a:solidFill>
            </a:endParaRPr>
          </a:p>
          <a:p>
            <a:r>
              <a:rPr lang="en-US" altLang="ja-JP" sz="2400" dirty="0">
                <a:solidFill>
                  <a:schemeClr val="bg2">
                    <a:lumMod val="10000"/>
                  </a:schemeClr>
                </a:solidFill>
              </a:rPr>
              <a:t>Ride the rides</a:t>
            </a:r>
          </a:p>
          <a:p>
            <a:r>
              <a:rPr lang="en-US" altLang="ja-JP" sz="2400" dirty="0">
                <a:solidFill>
                  <a:schemeClr val="bg2">
                    <a:lumMod val="10000"/>
                  </a:schemeClr>
                </a:solidFill>
              </a:rPr>
              <a:t>Wait in line</a:t>
            </a:r>
          </a:p>
          <a:p>
            <a:r>
              <a:rPr lang="en-US" altLang="ja-JP" sz="2400" dirty="0">
                <a:solidFill>
                  <a:schemeClr val="bg2">
                    <a:lumMod val="10000"/>
                  </a:schemeClr>
                </a:solidFill>
              </a:rPr>
              <a:t>Eat the food</a:t>
            </a:r>
          </a:p>
          <a:p>
            <a:r>
              <a:rPr lang="en-US" altLang="ja-JP" sz="2400" dirty="0">
                <a:solidFill>
                  <a:schemeClr val="bg2">
                    <a:lumMod val="10000"/>
                  </a:schemeClr>
                </a:solidFill>
              </a:rPr>
              <a:t>Play the games</a:t>
            </a:r>
          </a:p>
        </p:txBody>
      </p:sp>
      <p:sp>
        <p:nvSpPr>
          <p:cNvPr id="23" name="Right Brace 22">
            <a:extLst>
              <a:ext uri="{FF2B5EF4-FFF2-40B4-BE49-F238E27FC236}">
                <a16:creationId xmlns:a16="http://schemas.microsoft.com/office/drawing/2014/main" id="{441C093D-B70A-FD82-2E53-3F3B05402488}"/>
              </a:ext>
            </a:extLst>
          </p:cNvPr>
          <p:cNvSpPr/>
          <p:nvPr/>
        </p:nvSpPr>
        <p:spPr>
          <a:xfrm rot="5400000">
            <a:off x="5836146" y="495563"/>
            <a:ext cx="365125" cy="10226246"/>
          </a:xfrm>
          <a:prstGeom prst="rightBrace">
            <a:avLst/>
          </a:prstGeom>
          <a:noFill/>
          <a:ln w="38100" cap="flat">
            <a:solidFill>
              <a:srgbClr val="EE3228">
                <a:alpha val="75000"/>
              </a:srgbClr>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dirty="0">
              <a:ln>
                <a:noFill/>
              </a:ln>
              <a:solidFill>
                <a:srgbClr val="000000"/>
              </a:solidFill>
              <a:effectLst/>
              <a:uFillTx/>
            </a:endParaRPr>
          </a:p>
        </p:txBody>
      </p:sp>
      <p:sp>
        <p:nvSpPr>
          <p:cNvPr id="24" name="Text Placeholder 3">
            <a:extLst>
              <a:ext uri="{FF2B5EF4-FFF2-40B4-BE49-F238E27FC236}">
                <a16:creationId xmlns:a16="http://schemas.microsoft.com/office/drawing/2014/main" id="{331F9739-BD21-DBAF-ABD6-599D158C3FE1}"/>
              </a:ext>
            </a:extLst>
          </p:cNvPr>
          <p:cNvSpPr txBox="1">
            <a:spLocks/>
          </p:cNvSpPr>
          <p:nvPr/>
        </p:nvSpPr>
        <p:spPr>
          <a:xfrm>
            <a:off x="4818058" y="5824108"/>
            <a:ext cx="2453599" cy="365125"/>
          </a:xfrm>
          <a:prstGeom prst="rect">
            <a:avLst/>
          </a:prstGeom>
        </p:spPr>
        <p:txBody>
          <a:bodyPr>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sz="2400" dirty="0">
                <a:solidFill>
                  <a:schemeClr val="bg2">
                    <a:lumMod val="10000"/>
                  </a:schemeClr>
                </a:solidFill>
              </a:rPr>
              <a:t>What is the value?</a:t>
            </a:r>
          </a:p>
        </p:txBody>
      </p:sp>
      <p:sp>
        <p:nvSpPr>
          <p:cNvPr id="12" name="Title 1">
            <a:extLst>
              <a:ext uri="{FF2B5EF4-FFF2-40B4-BE49-F238E27FC236}">
                <a16:creationId xmlns:a16="http://schemas.microsoft.com/office/drawing/2014/main" id="{660B6DFE-19F2-A0F6-ADBA-21EB1D9ACE91}"/>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2800" dirty="0"/>
          </a:p>
        </p:txBody>
      </p:sp>
      <p:cxnSp>
        <p:nvCxnSpPr>
          <p:cNvPr id="25" name="Straight Connector 24">
            <a:extLst>
              <a:ext uri="{FF2B5EF4-FFF2-40B4-BE49-F238E27FC236}">
                <a16:creationId xmlns:a16="http://schemas.microsoft.com/office/drawing/2014/main" id="{0D7B7DE2-FEC6-AF6E-9688-604020E4577D}"/>
              </a:ext>
            </a:extLst>
          </p:cNvPr>
          <p:cNvCxnSpPr/>
          <p:nvPr/>
        </p:nvCxnSpPr>
        <p:spPr>
          <a:xfrm>
            <a:off x="905585" y="1959536"/>
            <a:ext cx="768949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8DF734A-CE37-F09F-C9CE-39A83C33CD1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5" name="Group 4">
            <a:extLst>
              <a:ext uri="{FF2B5EF4-FFF2-40B4-BE49-F238E27FC236}">
                <a16:creationId xmlns:a16="http://schemas.microsoft.com/office/drawing/2014/main" id="{118F97F8-BF32-4301-14A5-A243145C74CD}"/>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C440482A-806D-9F90-142E-9C012B735E5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8AA7BE4E-1CE3-F38E-46CD-323CD4B8BCBA}"/>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3BE77EB8-984D-01AC-31F0-35C65279CA3B}"/>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188F2853-E500-8970-2A9E-B58D39F89F2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066370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17</a:t>
            </a:fld>
            <a:endParaRPr lang="en-US" dirty="0"/>
          </a:p>
        </p:txBody>
      </p:sp>
      <p:sp>
        <p:nvSpPr>
          <p:cNvPr id="5" name="Title 4">
            <a:extLst>
              <a:ext uri="{FF2B5EF4-FFF2-40B4-BE49-F238E27FC236}">
                <a16:creationId xmlns:a16="http://schemas.microsoft.com/office/drawing/2014/main" id="{598A23F7-7CBA-02B3-BCE0-D58B9AE10B65}"/>
              </a:ext>
            </a:extLst>
          </p:cNvPr>
          <p:cNvSpPr>
            <a:spLocks noGrp="1"/>
          </p:cNvSpPr>
          <p:nvPr>
            <p:ph type="title" idx="4294967295"/>
          </p:nvPr>
        </p:nvSpPr>
        <p:spPr>
          <a:xfrm>
            <a:off x="1207915" y="693482"/>
            <a:ext cx="10515600" cy="1009650"/>
          </a:xfrm>
          <a:prstGeom prst="rect">
            <a:avLst/>
          </a:prstGeom>
        </p:spPr>
        <p:txBody>
          <a:bodyPr/>
          <a:lstStyle/>
          <a:p>
            <a:r>
              <a:rPr lang="en-US" dirty="0"/>
              <a:t>Distinguish VA from NVA Activities</a:t>
            </a:r>
          </a:p>
        </p:txBody>
      </p:sp>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3676882755"/>
              </p:ext>
            </p:extLst>
          </p:nvPr>
        </p:nvGraphicFramePr>
        <p:xfrm>
          <a:off x="1207915" y="1756685"/>
          <a:ext cx="9776170" cy="3864510"/>
        </p:xfrm>
        <a:graphic>
          <a:graphicData uri="http://schemas.openxmlformats.org/drawingml/2006/table">
            <a:tbl>
              <a:tblPr/>
              <a:tblGrid>
                <a:gridCol w="5264005">
                  <a:extLst>
                    <a:ext uri="{9D8B030D-6E8A-4147-A177-3AD203B41FA5}">
                      <a16:colId xmlns:a16="http://schemas.microsoft.com/office/drawing/2014/main" val="20000"/>
                    </a:ext>
                  </a:extLst>
                </a:gridCol>
                <a:gridCol w="2082800">
                  <a:extLst>
                    <a:ext uri="{9D8B030D-6E8A-4147-A177-3AD203B41FA5}">
                      <a16:colId xmlns:a16="http://schemas.microsoft.com/office/drawing/2014/main" val="20001"/>
                    </a:ext>
                  </a:extLst>
                </a:gridCol>
                <a:gridCol w="2429365">
                  <a:extLst>
                    <a:ext uri="{9D8B030D-6E8A-4147-A177-3AD203B41FA5}">
                      <a16:colId xmlns:a16="http://schemas.microsoft.com/office/drawing/2014/main" val="3981583184"/>
                    </a:ext>
                  </a:extLst>
                </a:gridCol>
              </a:tblGrid>
              <a:tr h="429390">
                <a:tc>
                  <a:txBody>
                    <a:bodyPr/>
                    <a:lstStyle/>
                    <a:p>
                      <a:pPr algn="ctr" defTabSz="1828342">
                        <a:tabLst>
                          <a:tab pos="914400" algn="l"/>
                        </a:tabLst>
                        <a:defRPr sz="3500">
                          <a:solidFill>
                            <a:srgbClr val="999999"/>
                          </a:solidFill>
                        </a:defRPr>
                      </a:pPr>
                      <a:r>
                        <a:rPr lang="en-US" sz="1400" b="1" kern="1200" dirty="0">
                          <a:solidFill>
                            <a:schemeClr val="bg1"/>
                          </a:solidFill>
                          <a:latin typeface="Roboto" panose="02000000000000000000" pitchFamily="2" charset="0"/>
                          <a:ea typeface="Roboto" panose="02000000000000000000" pitchFamily="2" charset="0"/>
                          <a:cs typeface="Roboto" panose="02000000000000000000" pitchFamily="2" charset="0"/>
                          <a:sym typeface="Roboto"/>
                        </a:rPr>
                        <a:t>Activity</a:t>
                      </a:r>
                      <a:endParaRPr sz="1400" b="1" kern="1200" dirty="0">
                        <a:solidFill>
                          <a:schemeClr val="bg1"/>
                        </a:solidFill>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0">
                      <a:noFill/>
                      <a:miter lim="400000"/>
                    </a:lnL>
                    <a:lnR w="0">
                      <a:noFill/>
                      <a:miter lim="400000"/>
                    </a:lnR>
                    <a:lnT w="0">
                      <a:noFill/>
                      <a:miter lim="400000"/>
                    </a:lnT>
                    <a:lnB w="0">
                      <a:noFill/>
                      <a:miter lim="400000"/>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Internal Customer</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noFill/>
                      <a:miter lim="400000"/>
                    </a:lnR>
                    <a:lnT w="0">
                      <a:miter lim="400000"/>
                    </a:lnT>
                    <a:lnB w="0">
                      <a:miter lim="400000"/>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External Customer</a:t>
                      </a:r>
                      <a:endParaRPr sz="1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miter lim="400000"/>
                    </a:lnL>
                    <a:lnR w="0">
                      <a:miter lim="400000"/>
                    </a:lnR>
                    <a:lnT w="0">
                      <a:miter lim="400000"/>
                    </a:lnT>
                    <a:lnB w="0">
                      <a:noFill/>
                      <a:miter lim="400000"/>
                    </a:lnB>
                    <a:solidFill>
                      <a:srgbClr val="EE3228"/>
                    </a:solidFill>
                  </a:tcPr>
                </a:tc>
                <a:extLst>
                  <a:ext uri="{0D108BD9-81ED-4DB2-BD59-A6C34878D82A}">
                    <a16:rowId xmlns:a16="http://schemas.microsoft.com/office/drawing/2014/main" val="10000"/>
                  </a:ext>
                </a:extLst>
              </a:tr>
              <a:tr h="429390">
                <a:tc>
                  <a:txBody>
                    <a:bodyPr/>
                    <a:lstStyle/>
                    <a:p>
                      <a:pPr marL="0" indent="0" algn="l" defTabSz="1828342">
                        <a:buNone/>
                        <a:defRPr sz="1800">
                          <a:solidFill>
                            <a:srgbClr val="000000"/>
                          </a:solidFill>
                        </a:defRPr>
                      </a:pPr>
                      <a:r>
                        <a:rPr lang="en-US" sz="1400" kern="1200" dirty="0">
                          <a:solidFill>
                            <a:schemeClr val="tx1"/>
                          </a:solidFill>
                          <a:latin typeface="Roboto" panose="02000000000000000000" pitchFamily="2" charset="0"/>
                          <a:ea typeface="Roboto" panose="02000000000000000000" pitchFamily="2" charset="0"/>
                          <a:cs typeface="Roboto" panose="02000000000000000000" pitchFamily="2" charset="0"/>
                        </a:rPr>
                        <a:t>Selecting candidates to interview for hire </a:t>
                      </a:r>
                    </a:p>
                  </a:txBody>
                  <a:tcPr marL="45720" marR="45720" anchor="ctr" horzOverflow="overflow">
                    <a:lnL w="0">
                      <a:miter lim="400000"/>
                    </a:lnL>
                    <a:lnR w="0">
                      <a:miter lim="400000"/>
                    </a:lnR>
                    <a:lnT w="0">
                      <a:noFill/>
                      <a:miter lim="400000"/>
                    </a:lnT>
                    <a:lnB w="0">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VA</a:t>
                      </a: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NVA</a:t>
                      </a:r>
                    </a:p>
                  </a:txBody>
                  <a:tcPr marL="45720" marR="4572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Completing weekly expense report</a:t>
                      </a: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algn="ctr"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algn="ctr"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Entering a customer order</a:t>
                      </a: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3"/>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Resolving a customer billing error by phone</a:t>
                      </a:r>
                    </a:p>
                  </a:txBody>
                  <a:tcPr marL="45720" marR="45720" anchor="ctr" horzOverflow="overflow">
                    <a:lnL w="0">
                      <a:miter lim="400000"/>
                    </a:lnL>
                    <a:lnR w="0">
                      <a:miter lim="400000"/>
                    </a:lnR>
                    <a:lnT w="0">
                      <a:miter lim="400000"/>
                    </a:lnT>
                    <a:lnB w="0">
                      <a:noFill/>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Walking to the printer to pick up documents</a:t>
                      </a: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noFill/>
                      <a:miter lim="400000"/>
                    </a:lnR>
                    <a:lnT w="0">
                      <a:miter lim="400000"/>
                    </a:lnT>
                    <a:lnB w="0">
                      <a:noFill/>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878127364"/>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Attending training to learn about a new software application</a:t>
                      </a: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noFill/>
                      <a:miter lim="400000"/>
                    </a:lnR>
                    <a:lnT w="0">
                      <a:miter lim="400000"/>
                    </a:lnT>
                    <a:lnB w="0">
                      <a:noFill/>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2392731201"/>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Getting specifications from the customer</a:t>
                      </a: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algn="ctr"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noFill/>
                      <a:miter lim="400000"/>
                    </a:lnR>
                    <a:lnT w="0">
                      <a:miter lim="400000"/>
                    </a:lnT>
                    <a:lnB w="0">
                      <a:noFill/>
                      <a:miter lim="400000"/>
                    </a:lnB>
                    <a:solidFill>
                      <a:schemeClr val="bg1">
                        <a:lumMod val="85000"/>
                      </a:schemeClr>
                    </a:solidFill>
                  </a:tcPr>
                </a:tc>
                <a:tc>
                  <a:txBody>
                    <a:bodyPr/>
                    <a:lstStyle/>
                    <a:p>
                      <a:pPr algn="ctr" defTabSz="1828342">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780965238"/>
                  </a:ext>
                </a:extLst>
              </a:tr>
              <a:tr h="429390">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Waiting for approval before completing a special transaction</a:t>
                      </a: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noFill/>
                      <a:miter lim="400000"/>
                    </a:lnR>
                    <a:lnT w="0">
                      <a:miter lim="400000"/>
                    </a:lnT>
                    <a:lnB w="0">
                      <a:miter lim="400000"/>
                    </a:lnB>
                    <a:solidFill>
                      <a:schemeClr val="bg1">
                        <a:lumMod val="85000"/>
                      </a:schemeClr>
                    </a:solidFill>
                  </a:tcPr>
                </a:tc>
                <a:tc>
                  <a:txBody>
                    <a:bodyPr/>
                    <a:lstStyle/>
                    <a:p>
                      <a:pPr marL="0" marR="0" lvl="0" indent="0" algn="ctr" defTabSz="1828342" eaLnBrk="1" fontAlgn="auto" latinLnBrk="0" hangingPunct="1">
                        <a:lnSpc>
                          <a:spcPct val="100000"/>
                        </a:lnSpc>
                        <a:spcBef>
                          <a:spcPts val="0"/>
                        </a:spcBef>
                        <a:spcAft>
                          <a:spcPts val="0"/>
                        </a:spcAft>
                        <a:buClrTx/>
                        <a:buSzTx/>
                        <a:buFontTx/>
                        <a:buNone/>
                        <a:tabLst/>
                        <a:defRPr sz="1800">
                          <a:solidFill>
                            <a:srgbClr val="000000"/>
                          </a:solidFill>
                        </a:defRPr>
                      </a:pPr>
                      <a:endParaRPr lang="en-US"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noFill/>
                      <a:miter lim="400000"/>
                    </a:lnL>
                    <a:lnR w="0">
                      <a:miter lim="400000"/>
                    </a:lnR>
                    <a:lnT w="0">
                      <a:noFill/>
                      <a:miter lim="400000"/>
                    </a:lnT>
                    <a:lnB w="0">
                      <a:miter lim="400000"/>
                    </a:lnB>
                    <a:solidFill>
                      <a:schemeClr val="bg1">
                        <a:lumMod val="85000"/>
                      </a:schemeClr>
                    </a:solidFill>
                  </a:tcPr>
                </a:tc>
                <a:extLst>
                  <a:ext uri="{0D108BD9-81ED-4DB2-BD59-A6C34878D82A}">
                    <a16:rowId xmlns:a16="http://schemas.microsoft.com/office/drawing/2014/main" val="514211142"/>
                  </a:ext>
                </a:extLst>
              </a:tr>
            </a:tbl>
          </a:graphicData>
        </a:graphic>
      </p:graphicFrame>
      <p:sp>
        <p:nvSpPr>
          <p:cNvPr id="11" name="Title 1">
            <a:extLst>
              <a:ext uri="{FF2B5EF4-FFF2-40B4-BE49-F238E27FC236}">
                <a16:creationId xmlns:a16="http://schemas.microsoft.com/office/drawing/2014/main" id="{EBA58326-2396-7FE1-EC21-73DE0010FF0C}"/>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p>
        </p:txBody>
      </p:sp>
      <p:sp>
        <p:nvSpPr>
          <p:cNvPr id="15" name="TextBox 14">
            <a:extLst>
              <a:ext uri="{FF2B5EF4-FFF2-40B4-BE49-F238E27FC236}">
                <a16:creationId xmlns:a16="http://schemas.microsoft.com/office/drawing/2014/main" id="{EED06934-1BC7-4884-FAF1-1D7FDA57538D}"/>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9" name="Group 8">
            <a:extLst>
              <a:ext uri="{FF2B5EF4-FFF2-40B4-BE49-F238E27FC236}">
                <a16:creationId xmlns:a16="http://schemas.microsoft.com/office/drawing/2014/main" id="{E84A2E25-B0BD-0328-5D73-6247075D6B9A}"/>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102AAE6D-FAD9-1DDA-9BDD-7A9F95C5E2C5}"/>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4D23E6D8-0110-7255-EDD7-B31D3BE63B3F}"/>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D9174617-0563-5EC6-00C8-AB1F8429E849}"/>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B3E48C5A-FAD1-C3BC-2BE0-F310BD27303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662603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Medium"/>
                <a:ea typeface="Roboto Medium"/>
                <a:cs typeface="Roboto Medium"/>
              </a:rPr>
              <a:t>What is “Waste”?</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18</a:t>
            </a:fld>
            <a:endParaRPr lang="en-US" dirty="0"/>
          </a:p>
        </p:txBody>
      </p:sp>
      <p:grpSp>
        <p:nvGrpSpPr>
          <p:cNvPr id="11" name="Group 10">
            <a:extLst>
              <a:ext uri="{FF2B5EF4-FFF2-40B4-BE49-F238E27FC236}">
                <a16:creationId xmlns:a16="http://schemas.microsoft.com/office/drawing/2014/main" id="{39E8B8BC-0595-954D-7514-BFE194B231B8}"/>
              </a:ext>
            </a:extLst>
          </p:cNvPr>
          <p:cNvGrpSpPr/>
          <p:nvPr/>
        </p:nvGrpSpPr>
        <p:grpSpPr>
          <a:xfrm>
            <a:off x="838862" y="1877842"/>
            <a:ext cx="9770435" cy="3652710"/>
            <a:chOff x="-30228207" y="936425"/>
            <a:chExt cx="241338089" cy="29832423"/>
          </a:xfrm>
        </p:grpSpPr>
        <p:graphicFrame>
          <p:nvGraphicFramePr>
            <p:cNvPr id="12" name="Table">
              <a:extLst>
                <a:ext uri="{FF2B5EF4-FFF2-40B4-BE49-F238E27FC236}">
                  <a16:creationId xmlns:a16="http://schemas.microsoft.com/office/drawing/2014/main" id="{4DC24FE0-DEBE-2440-59A4-EAA62B706ECC}"/>
                </a:ext>
              </a:extLst>
            </p:cNvPr>
            <p:cNvGraphicFramePr/>
            <p:nvPr>
              <p:extLst>
                <p:ext uri="{D42A27DB-BD31-4B8C-83A1-F6EECF244321}">
                  <p14:modId xmlns:p14="http://schemas.microsoft.com/office/powerpoint/2010/main" val="1489832098"/>
                </p:ext>
              </p:extLst>
            </p:nvPr>
          </p:nvGraphicFramePr>
          <p:xfrm>
            <a:off x="-27324943" y="4864539"/>
            <a:ext cx="238434825" cy="25904309"/>
          </p:xfrm>
          <a:graphic>
            <a:graphicData uri="http://schemas.openxmlformats.org/drawingml/2006/table">
              <a:tbl>
                <a:tblPr/>
                <a:tblGrid>
                  <a:gridCol w="2508703">
                    <a:extLst>
                      <a:ext uri="{9D8B030D-6E8A-4147-A177-3AD203B41FA5}">
                        <a16:colId xmlns:a16="http://schemas.microsoft.com/office/drawing/2014/main" val="20000"/>
                      </a:ext>
                    </a:extLst>
                  </a:gridCol>
                  <a:gridCol w="7144195">
                    <a:extLst>
                      <a:ext uri="{9D8B030D-6E8A-4147-A177-3AD203B41FA5}">
                        <a16:colId xmlns:a16="http://schemas.microsoft.com/office/drawing/2014/main" val="20002"/>
                      </a:ext>
                    </a:extLst>
                  </a:gridCol>
                </a:tblGrid>
                <a:tr h="0">
                  <a:tc>
                    <a:txBody>
                      <a:bodyPr/>
                      <a:lstStyle/>
                      <a:p>
                        <a:pPr marL="0" marR="0" indent="0" algn="ctr" defTabSz="1828342" latinLnBrk="0">
                          <a:lnSpc>
                            <a:spcPct val="100000"/>
                          </a:lnSpc>
                          <a:spcBef>
                            <a:spcPts val="0"/>
                          </a:spcBef>
                          <a:spcAft>
                            <a:spcPts val="0"/>
                          </a:spcAft>
                          <a:buClrTx/>
                          <a:buSzTx/>
                          <a:buFontTx/>
                          <a:buNone/>
                          <a:tabLst/>
                          <a:defRPr sz="1800">
                            <a:solidFill>
                              <a:srgbClr val="000000"/>
                            </a:solidFill>
                          </a:defRPr>
                        </a:pPr>
                        <a:r>
                          <a:rPr lang="en-US" sz="16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The Three M’s</a:t>
                        </a: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1600" b="1" dirty="0">
                            <a:solidFill>
                              <a:schemeClr val="bg1"/>
                            </a:solidFill>
                            <a:latin typeface="Roboto" panose="02000000000000000000" pitchFamily="2" charset="0"/>
                            <a:ea typeface="Roboto" panose="02000000000000000000" pitchFamily="2" charset="0"/>
                            <a:cs typeface="Roboto" panose="02000000000000000000" pitchFamily="2" charset="0"/>
                          </a:rPr>
                          <a:t>Descriptions*</a:t>
                        </a:r>
                        <a:endParaRPr sz="16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miter lim="400000"/>
                      </a:lnT>
                      <a:lnB w="0">
                        <a:noFill/>
                        <a:miter lim="400000"/>
                      </a:lnB>
                      <a:solidFill>
                        <a:schemeClr val="accent1"/>
                      </a:solidFill>
                    </a:tcPr>
                  </a:tc>
                  <a:extLst>
                    <a:ext uri="{0D108BD9-81ED-4DB2-BD59-A6C34878D82A}">
                      <a16:rowId xmlns:a16="http://schemas.microsoft.com/office/drawing/2014/main" val="10000"/>
                    </a:ext>
                  </a:extLst>
                </a:tr>
                <a:tr h="1064623">
                  <a:tc>
                    <a:txBody>
                      <a:bodyPr/>
                      <a:lstStyle/>
                      <a:p>
                        <a:pPr marL="0" indent="0" algn="l">
                          <a:buNone/>
                        </a:pPr>
                        <a:r>
                          <a:rPr lang="en-US" sz="1600" dirty="0">
                            <a:solidFill>
                              <a:schemeClr val="bg2">
                                <a:lumMod val="10000"/>
                              </a:schemeClr>
                            </a:solidFill>
                            <a:latin typeface="Roboto"/>
                            <a:ea typeface="Roboto"/>
                            <a:cs typeface="Roboto"/>
                          </a:rPr>
                          <a:t>1. Muda</a:t>
                        </a:r>
                        <a:endParaRPr lang="en-US" dirty="0"/>
                      </a:p>
                    </a:txBody>
                    <a:tcPr anchor="ctr" horzOverflow="overflow">
                      <a:lnL w="0">
                        <a:miter lim="400000"/>
                      </a:lnL>
                      <a:lnR w="0">
                        <a:miter lim="400000"/>
                      </a:lnR>
                      <a:lnT w="0">
                        <a:noFill/>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Any activity that consumes resources without creating value for the customer</a:t>
                        </a:r>
                        <a:b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b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Aka: The Seven (or Eight) Wastes</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739900">
                  <a:tc>
                    <a:txBody>
                      <a:bodyPr/>
                      <a:lstStyle/>
                      <a:p>
                        <a:pPr marL="0" indent="0" algn="l" rtl="0" eaLnBrk="1" latinLnBrk="0" hangingPunct="1">
                          <a:buNone/>
                        </a:pPr>
                        <a:r>
                          <a:rPr lang="en-US" sz="1600" kern="1200" dirty="0">
                            <a:solidFill>
                              <a:schemeClr val="bg2">
                                <a:lumMod val="10000"/>
                              </a:schemeClr>
                            </a:solidFill>
                            <a:latin typeface="Roboto"/>
                            <a:ea typeface="Roboto"/>
                            <a:cs typeface="Roboto"/>
                          </a:rPr>
                          <a:t>2. Mura</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marL="0" algn="l" defTabSz="1828342" rtl="0" eaLnBrk="1" latinLnBrk="0" hangingPunct="1">
                          <a:spcBef>
                            <a:spcPts val="2300"/>
                          </a:spcBef>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Unevenness in an operation, inconsistency, shifting schedules or priorities, variation </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1031945">
                  <a:tc>
                    <a:txBody>
                      <a:bodyPr/>
                      <a:lstStyle/>
                      <a:p>
                        <a:pPr algn="l"/>
                        <a:r>
                          <a:rPr lang="en-US" sz="1600" dirty="0">
                            <a:solidFill>
                              <a:schemeClr val="bg2">
                                <a:lumMod val="10000"/>
                              </a:schemeClr>
                            </a:solidFill>
                            <a:latin typeface="Roboto"/>
                            <a:ea typeface="Roboto"/>
                            <a:cs typeface="Roboto"/>
                          </a:rPr>
                          <a:t>3. Muri</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Overburdening people and equipment by requiring them to run at a higher or harder pace with more force or effort for a longer period of time than equipment designs or appropriate workforce management allow</a:t>
                        </a:r>
                      </a:p>
                    </a:txBody>
                    <a:tcPr anchor="ctr" horzOverflow="overflow">
                      <a:lnL w="0">
                        <a:noFill/>
                        <a:miter lim="400000"/>
                      </a:lnL>
                      <a:lnR w="0">
                        <a:miter lim="400000"/>
                      </a:lnR>
                      <a:lnT w="0">
                        <a:noFill/>
                        <a:miter lim="400000"/>
                      </a:lnT>
                      <a:lnB w="0">
                        <a:miter lim="400000"/>
                      </a:lnB>
                      <a:solidFill>
                        <a:schemeClr val="bg1">
                          <a:lumMod val="85000"/>
                        </a:schemeClr>
                      </a:solidFill>
                    </a:tcPr>
                  </a:tc>
                  <a:extLst>
                    <a:ext uri="{0D108BD9-81ED-4DB2-BD59-A6C34878D82A}">
                      <a16:rowId xmlns:a16="http://schemas.microsoft.com/office/drawing/2014/main" val="10003"/>
                    </a:ext>
                  </a:extLst>
                </a:tr>
              </a:tbl>
            </a:graphicData>
          </a:graphic>
        </p:graphicFrame>
        <p:sp>
          <p:nvSpPr>
            <p:cNvPr id="13" name="TextBox 12">
              <a:extLst>
                <a:ext uri="{FF2B5EF4-FFF2-40B4-BE49-F238E27FC236}">
                  <a16:creationId xmlns:a16="http://schemas.microsoft.com/office/drawing/2014/main" id="{88941240-F188-431B-AE51-38DEB2CD320F}"/>
                </a:ext>
              </a:extLst>
            </p:cNvPr>
            <p:cNvSpPr txBox="1"/>
            <p:nvPr/>
          </p:nvSpPr>
          <p:spPr>
            <a:xfrm>
              <a:off x="-30228207" y="936425"/>
              <a:ext cx="225377855" cy="33515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Terms originating from the Toyota Production System, and called the Three M’s</a:t>
              </a:r>
            </a:p>
          </p:txBody>
        </p:sp>
      </p:grpSp>
      <p:sp>
        <p:nvSpPr>
          <p:cNvPr id="15" name="TextBox 14">
            <a:extLst>
              <a:ext uri="{FF2B5EF4-FFF2-40B4-BE49-F238E27FC236}">
                <a16:creationId xmlns:a16="http://schemas.microsoft.com/office/drawing/2014/main" id="{96D66AFF-B835-064B-5CD8-8E2D647EC435}"/>
              </a:ext>
            </a:extLst>
          </p:cNvPr>
          <p:cNvSpPr txBox="1"/>
          <p:nvPr/>
        </p:nvSpPr>
        <p:spPr>
          <a:xfrm>
            <a:off x="7118799" y="5636973"/>
            <a:ext cx="3803650" cy="253916"/>
          </a:xfrm>
          <a:prstGeom prst="rect">
            <a:avLst/>
          </a:prstGeom>
          <a:noFill/>
        </p:spPr>
        <p:txBody>
          <a:bodyPr wrap="square">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1050" b="0" i="0" u="none" strike="noStrike" cap="none" spc="0" normalizeH="0" baseline="0" dirty="0">
                <a:ln>
                  <a:noFill/>
                </a:ln>
                <a:solidFill>
                  <a:schemeClr val="bg2">
                    <a:lumMod val="10000"/>
                  </a:schemeClr>
                </a:solidFill>
                <a:effectLst/>
                <a:uFillTx/>
                <a:latin typeface="Roboto" panose="02000000000000000000" pitchFamily="2" charset="0"/>
                <a:ea typeface="Roboto" panose="02000000000000000000" pitchFamily="2" charset="0"/>
                <a:cs typeface="Roboto" panose="02000000000000000000" pitchFamily="2" charset="0"/>
                <a:sym typeface="Roboto"/>
              </a:rPr>
              <a:t>* Source: Lean Lexicon, 3rd Edition, Lean Enterprise Institute</a:t>
            </a:r>
          </a:p>
        </p:txBody>
      </p:sp>
      <p:sp>
        <p:nvSpPr>
          <p:cNvPr id="21" name="TextBox 20">
            <a:extLst>
              <a:ext uri="{FF2B5EF4-FFF2-40B4-BE49-F238E27FC236}">
                <a16:creationId xmlns:a16="http://schemas.microsoft.com/office/drawing/2014/main" id="{ABB26EC5-81A4-7C44-FDB2-6E0BB8939BA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8" name="Group 7">
            <a:extLst>
              <a:ext uri="{FF2B5EF4-FFF2-40B4-BE49-F238E27FC236}">
                <a16:creationId xmlns:a16="http://schemas.microsoft.com/office/drawing/2014/main" id="{369E49BB-9CE8-8CFE-511A-4C2349A99B1B}"/>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C59AE9C7-5C61-709A-6B3C-9E77A863DD7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0AD9D9D6-2EB8-43B3-32FB-72DDFE5C552D}"/>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B462CE7E-DA2D-474C-B079-3CFF0203DCD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6DC10DD0-CDC8-02A4-3275-EA8F3AB7B69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146125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19</a:t>
            </a:fld>
            <a:endParaRPr lang="en-US" dirty="0"/>
          </a:p>
        </p:txBody>
      </p:sp>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2673159095"/>
              </p:ext>
            </p:extLst>
          </p:nvPr>
        </p:nvGraphicFramePr>
        <p:xfrm>
          <a:off x="838200" y="1308024"/>
          <a:ext cx="10209170" cy="4687029"/>
        </p:xfrm>
        <a:graphic>
          <a:graphicData uri="http://schemas.openxmlformats.org/drawingml/2006/table">
            <a:tbl>
              <a:tblPr/>
              <a:tblGrid>
                <a:gridCol w="3017574">
                  <a:extLst>
                    <a:ext uri="{9D8B030D-6E8A-4147-A177-3AD203B41FA5}">
                      <a16:colId xmlns:a16="http://schemas.microsoft.com/office/drawing/2014/main" val="20000"/>
                    </a:ext>
                  </a:extLst>
                </a:gridCol>
                <a:gridCol w="7191596">
                  <a:extLst>
                    <a:ext uri="{9D8B030D-6E8A-4147-A177-3AD203B41FA5}">
                      <a16:colId xmlns:a16="http://schemas.microsoft.com/office/drawing/2014/main" val="20001"/>
                    </a:ext>
                  </a:extLst>
                </a:gridCol>
              </a:tblGrid>
              <a:tr h="520781">
                <a:tc>
                  <a:txBody>
                    <a:bodyPr/>
                    <a:lstStyle/>
                    <a:p>
                      <a:pPr algn="ctr" defTabSz="1828342">
                        <a:tabLst>
                          <a:tab pos="914400" algn="l"/>
                        </a:tabLst>
                        <a:defRPr sz="3500">
                          <a:solidFill>
                            <a:srgbClr val="999999"/>
                          </a:solidFill>
                        </a:defRPr>
                      </a:pPr>
                      <a:r>
                        <a:rPr lang="en-US"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rPr>
                        <a:t>Definition</a:t>
                      </a:r>
                      <a:endParaRPr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miter lim="400000"/>
                    </a:lnT>
                    <a:lnB w="0">
                      <a:miter lim="400000"/>
                    </a:lnB>
                    <a:solidFill>
                      <a:schemeClr val="accent1"/>
                    </a:solidFill>
                  </a:tcPr>
                </a:tc>
                <a:extLst>
                  <a:ext uri="{0D108BD9-81ED-4DB2-BD59-A6C34878D82A}">
                    <a16:rowId xmlns:a16="http://schemas.microsoft.com/office/drawing/2014/main" val="10000"/>
                  </a:ext>
                </a:extLst>
              </a:tr>
              <a:tr h="520781">
                <a:tc>
                  <a:txBody>
                    <a:bodyPr/>
                    <a:lstStyle/>
                    <a:p>
                      <a:pPr marL="0" indent="0" algn="l" defTabSz="1828342">
                        <a:buAutoNum type="arabicPeriod"/>
                        <a:defRPr sz="1800">
                          <a:solidFill>
                            <a:srgbClr val="000000"/>
                          </a:solidFill>
                        </a:defRPr>
                      </a:pPr>
                      <a:r>
                        <a:rPr lang="en-US" sz="1800" kern="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800" b="1" u="sng" kern="1200" dirty="0">
                          <a:solidFill>
                            <a:schemeClr val="tx1"/>
                          </a:solidFill>
                          <a:latin typeface="Roboto" panose="02000000000000000000" pitchFamily="2" charset="0"/>
                          <a:ea typeface="Roboto" panose="02000000000000000000" pitchFamily="2" charset="0"/>
                          <a:cs typeface="Roboto" panose="02000000000000000000" pitchFamily="2" charset="0"/>
                        </a:rPr>
                        <a:t>D</a:t>
                      </a:r>
                      <a:r>
                        <a:rPr lang="en-US" sz="1800" kern="1200" dirty="0">
                          <a:solidFill>
                            <a:schemeClr val="tx1"/>
                          </a:solidFill>
                          <a:latin typeface="Roboto" panose="02000000000000000000" pitchFamily="2" charset="0"/>
                          <a:ea typeface="Roboto" panose="02000000000000000000" pitchFamily="2" charset="0"/>
                          <a:cs typeface="Roboto" panose="02000000000000000000" pitchFamily="2" charset="0"/>
                        </a:rPr>
                        <a:t>efects</a:t>
                      </a:r>
                    </a:p>
                  </a:txBody>
                  <a:tcPr marL="45720" marR="45720" anchor="ctr" horzOverflow="overflow">
                    <a:lnL w="0">
                      <a:miter lim="400000"/>
                    </a:lnL>
                    <a:lnR w="0">
                      <a:miter lim="400000"/>
                    </a:lnR>
                    <a:lnT w="0">
                      <a:noFill/>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Process steps that result in scrap, rework or re-processing.</a:t>
                      </a: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1"/>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2.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O</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ver Production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algn="l" defTabSz="1828342">
                        <a:defRPr sz="1800">
                          <a:solidFill>
                            <a:srgbClr val="000000"/>
                          </a:solidFill>
                        </a:defRPr>
                      </a:pPr>
                      <a:r>
                        <a:rPr lang="en-US" sz="1600" b="0" i="0" u="none" strike="noStrike" cap="none" spc="0" baseline="0" dirty="0">
                          <a:solidFill>
                            <a:schemeClr val="tx1"/>
                          </a:solidFill>
                          <a:uFillTx/>
                          <a:latin typeface="Roboto" panose="02000000000000000000" pitchFamily="2" charset="0"/>
                          <a:ea typeface="Roboto" panose="02000000000000000000" pitchFamily="2" charset="0"/>
                          <a:cs typeface="Roboto" panose="02000000000000000000" pitchFamily="2" charset="0"/>
                          <a:sym typeface="Roboto"/>
                        </a:rPr>
                        <a:t>Producing more product than is required at the current time.</a:t>
                      </a:r>
                      <a:endParaRPr lang="en-US" sz="16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2"/>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3.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W</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aiting</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Periods of inactivity while waiting for the next process step to begin.</a:t>
                      </a: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3"/>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4.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N</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on-Utilized Talent</a:t>
                      </a:r>
                    </a:p>
                  </a:txBody>
                  <a:tcPr marL="45720" marR="45720" anchor="ctr" horzOverflow="overflow">
                    <a:lnL w="0">
                      <a:miter lim="400000"/>
                    </a:lnL>
                    <a:lnR w="0">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Unused creativity and underutilized human capital.</a:t>
                      </a:r>
                    </a:p>
                  </a:txBody>
                  <a:tcPr marL="45720" marR="45720" anchor="ctr" horzOverflow="overflow">
                    <a:lnL w="0">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0004"/>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5.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T</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ransportation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Product moving from person to person or between locations.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878127364"/>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6.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I</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nventory </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Unprocessed or partially processed materials, or undelivered finished goods.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2392731201"/>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7.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M</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otion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algn="l" defTabSz="1828342">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Excessive movement by people or machines.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780965238"/>
                  </a:ext>
                </a:extLst>
              </a:tr>
              <a:tr h="520781">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8.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E</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xtra Processing</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Unnecessary work beyond what is required to meet customer requirements.</a:t>
                      </a:r>
                    </a:p>
                  </a:txBody>
                  <a:tcPr marL="45720" marR="45720" anchor="ctr" horzOverflow="overflow">
                    <a:lnL w="0">
                      <a:noFill/>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514211142"/>
                  </a:ext>
                </a:extLst>
              </a:tr>
            </a:tbl>
          </a:graphicData>
        </a:graphic>
      </p:graphicFrame>
      <p:sp>
        <p:nvSpPr>
          <p:cNvPr id="11" name="Title 1">
            <a:extLst>
              <a:ext uri="{FF2B5EF4-FFF2-40B4-BE49-F238E27FC236}">
                <a16:creationId xmlns:a16="http://schemas.microsoft.com/office/drawing/2014/main" id="{1234640B-AB39-3DA4-F2A4-7CFCE83819D1}"/>
              </a:ext>
            </a:extLst>
          </p:cNvPr>
          <p:cNvSpPr txBox="1">
            <a:spLocks/>
          </p:cNvSpPr>
          <p:nvPr/>
        </p:nvSpPr>
        <p:spPr>
          <a:xfrm>
            <a:off x="744255" y="687435"/>
            <a:ext cx="9815689" cy="57012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sz="3200" dirty="0">
                <a:solidFill>
                  <a:schemeClr val="bg2">
                    <a:lumMod val="10000"/>
                  </a:schemeClr>
                </a:solidFill>
                <a:latin typeface="Roboto Medium" panose="02000000000000000000" pitchFamily="2" charset="0"/>
                <a:ea typeface="Roboto Medium" panose="02000000000000000000" pitchFamily="2" charset="0"/>
                <a:cs typeface="Roboto Medium" panose="02000000000000000000" pitchFamily="2" charset="0"/>
              </a:rPr>
              <a:t>The Eight Wastes Defined</a:t>
            </a:r>
          </a:p>
        </p:txBody>
      </p:sp>
      <p:sp>
        <p:nvSpPr>
          <p:cNvPr id="13" name="TextBox 12">
            <a:extLst>
              <a:ext uri="{FF2B5EF4-FFF2-40B4-BE49-F238E27FC236}">
                <a16:creationId xmlns:a16="http://schemas.microsoft.com/office/drawing/2014/main" id="{2D500C20-E9D8-2519-26B4-2789477B50C5}"/>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8" name="Group 7">
            <a:extLst>
              <a:ext uri="{FF2B5EF4-FFF2-40B4-BE49-F238E27FC236}">
                <a16:creationId xmlns:a16="http://schemas.microsoft.com/office/drawing/2014/main" id="{5753D418-5E33-5D8D-58A3-5E2F0221E85F}"/>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996CA7FE-E45C-C65D-9176-B034E0AEE45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08B1BC09-05C5-4E0A-2774-D212106015A0}"/>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8DF64C05-F81A-F92B-9890-21E8CC8EBFF1}"/>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A2E7B447-C0B8-E45A-2CAC-EF8905B6AB93}"/>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946847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34A6059C-D3A6-A5DA-3B98-CA1A8ED6E313}"/>
              </a:ext>
            </a:extLst>
          </p:cNvPr>
          <p:cNvSpPr>
            <a:spLocks noGrp="1"/>
          </p:cNvSpPr>
          <p:nvPr>
            <p:ph type="title"/>
          </p:nvPr>
        </p:nvSpPr>
        <p:spPr>
          <a:xfrm>
            <a:off x="822678" y="800882"/>
            <a:ext cx="10515600" cy="1009651"/>
          </a:xfrm>
        </p:spPr>
        <p:txBody>
          <a:bodyPr/>
          <a:lstStyle/>
          <a:p>
            <a:r>
              <a:rPr lang="en-US" sz="4000" dirty="0">
                <a:latin typeface="Roboto Medium"/>
                <a:ea typeface="Roboto Medium"/>
                <a:cs typeface="Roboto Medium"/>
              </a:rPr>
              <a:t>Eight Wastes Examples</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20</a:t>
            </a:fld>
            <a:endParaRPr lang="en-US" dirty="0"/>
          </a:p>
        </p:txBody>
      </p:sp>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1958052793"/>
              </p:ext>
            </p:extLst>
          </p:nvPr>
        </p:nvGraphicFramePr>
        <p:xfrm>
          <a:off x="838200" y="2071304"/>
          <a:ext cx="10447486" cy="3650766"/>
        </p:xfrm>
        <a:graphic>
          <a:graphicData uri="http://schemas.openxmlformats.org/drawingml/2006/table">
            <a:tbl>
              <a:tblPr/>
              <a:tblGrid>
                <a:gridCol w="1944726">
                  <a:extLst>
                    <a:ext uri="{9D8B030D-6E8A-4147-A177-3AD203B41FA5}">
                      <a16:colId xmlns:a16="http://schemas.microsoft.com/office/drawing/2014/main" val="20000"/>
                    </a:ext>
                  </a:extLst>
                </a:gridCol>
                <a:gridCol w="4184899">
                  <a:extLst>
                    <a:ext uri="{9D8B030D-6E8A-4147-A177-3AD203B41FA5}">
                      <a16:colId xmlns:a16="http://schemas.microsoft.com/office/drawing/2014/main" val="20001"/>
                    </a:ext>
                  </a:extLst>
                </a:gridCol>
                <a:gridCol w="4317861">
                  <a:extLst>
                    <a:ext uri="{9D8B030D-6E8A-4147-A177-3AD203B41FA5}">
                      <a16:colId xmlns:a16="http://schemas.microsoft.com/office/drawing/2014/main" val="2663648458"/>
                    </a:ext>
                  </a:extLst>
                </a:gridCol>
              </a:tblGrid>
              <a:tr h="576250">
                <a:tc>
                  <a:txBody>
                    <a:bodyPr/>
                    <a:lstStyle/>
                    <a:p>
                      <a:pPr algn="ctr" defTabSz="1828342">
                        <a:tabLst>
                          <a:tab pos="914400" algn="l"/>
                        </a:tabLst>
                        <a:defRPr sz="3500">
                          <a:solidFill>
                            <a:srgbClr val="999999"/>
                          </a:solidFill>
                        </a:defRPr>
                      </a:pPr>
                      <a:r>
                        <a:rPr lang="en-US" sz="15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5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marL="97719" marR="97719" marT="48860" marB="48860" anchor="ctr" horzOverflow="overflow">
                    <a:lnL w="0">
                      <a:noFill/>
                      <a:miter lim="400000"/>
                    </a:lnL>
                    <a:lnR w="0">
                      <a:noFill/>
                      <a:miter lim="400000"/>
                    </a:lnR>
                    <a:lnT w="0">
                      <a:noFill/>
                      <a:miter lim="400000"/>
                    </a:lnT>
                    <a:lnB w="0">
                      <a:noFill/>
                      <a:miter lim="400000"/>
                    </a:lnB>
                    <a:solidFill>
                      <a:srgbClr val="EE3228"/>
                    </a:solidFill>
                  </a:tcPr>
                </a:tc>
                <a:tc>
                  <a:txBody>
                    <a:bodyPr/>
                    <a:lstStyle/>
                    <a:p>
                      <a:pPr algn="ctr" defTabSz="1828342">
                        <a:defRPr sz="1800">
                          <a:solidFill>
                            <a:srgbClr val="000000"/>
                          </a:solidFill>
                        </a:defRPr>
                      </a:pPr>
                      <a:r>
                        <a:rPr lang="en-US" sz="1500" b="1" dirty="0">
                          <a:solidFill>
                            <a:schemeClr val="bg1"/>
                          </a:solidFill>
                          <a:latin typeface="Roboto" panose="02000000000000000000" pitchFamily="2" charset="0"/>
                          <a:ea typeface="Roboto" panose="02000000000000000000" pitchFamily="2" charset="0"/>
                          <a:cs typeface="Roboto" panose="02000000000000000000" pitchFamily="2" charset="0"/>
                        </a:rPr>
                        <a:t>Manufacturing Example</a:t>
                      </a:r>
                    </a:p>
                  </a:txBody>
                  <a:tcPr marL="97719" marR="97719" marT="48860" marB="48860" anchor="ctr" horzOverflow="overflow">
                    <a:lnL w="0">
                      <a:noFill/>
                      <a:miter lim="400000"/>
                    </a:lnL>
                    <a:lnR w="0">
                      <a:noFill/>
                      <a:miter lim="400000"/>
                    </a:lnR>
                    <a:lnT w="0">
                      <a:miter lim="400000"/>
                    </a:lnT>
                    <a:lnB w="0">
                      <a:miter lim="400000"/>
                    </a:lnB>
                    <a:solidFill>
                      <a:srgbClr val="EE3228"/>
                    </a:solidFill>
                  </a:tcPr>
                </a:tc>
                <a:tc>
                  <a:txBody>
                    <a:bodyPr/>
                    <a:lstStyle/>
                    <a:p>
                      <a:pPr algn="ctr" defTabSz="1828342">
                        <a:defRPr sz="1800">
                          <a:solidFill>
                            <a:srgbClr val="000000"/>
                          </a:solidFill>
                        </a:defRPr>
                      </a:pPr>
                      <a:r>
                        <a:rPr lang="en-US" sz="1500" b="1" dirty="0">
                          <a:solidFill>
                            <a:schemeClr val="bg1"/>
                          </a:solidFill>
                          <a:latin typeface="Roboto" panose="02000000000000000000" pitchFamily="2" charset="0"/>
                          <a:ea typeface="Roboto" panose="02000000000000000000" pitchFamily="2" charset="0"/>
                          <a:cs typeface="Roboto" panose="02000000000000000000" pitchFamily="2" charset="0"/>
                        </a:rPr>
                        <a:t>Office Example</a:t>
                      </a:r>
                    </a:p>
                  </a:txBody>
                  <a:tcPr marL="97719" marR="97719" marT="48860" marB="48860" anchor="ctr" horzOverflow="overflow">
                    <a:lnL w="0">
                      <a:miter lim="400000"/>
                    </a:lnL>
                    <a:lnR w="0">
                      <a:miter lim="400000"/>
                    </a:lnR>
                    <a:lnT w="0">
                      <a:miter lim="400000"/>
                    </a:lnT>
                    <a:lnB w="0">
                      <a:noFill/>
                      <a:miter lim="400000"/>
                    </a:lnB>
                    <a:solidFill>
                      <a:srgbClr val="EE3228"/>
                    </a:solidFill>
                  </a:tcPr>
                </a:tc>
                <a:extLst>
                  <a:ext uri="{0D108BD9-81ED-4DB2-BD59-A6C34878D82A}">
                    <a16:rowId xmlns:a16="http://schemas.microsoft.com/office/drawing/2014/main" val="10000"/>
                  </a:ext>
                </a:extLst>
              </a:tr>
              <a:tr h="983933">
                <a:tc>
                  <a:txBody>
                    <a:bodyPr/>
                    <a:lstStyle/>
                    <a:p>
                      <a:pPr marL="0" indent="0" algn="l" defTabSz="1828342">
                        <a:buAutoNum type="arabicPeriod"/>
                        <a:defRPr sz="1800">
                          <a:solidFill>
                            <a:srgbClr val="000000"/>
                          </a:solidFill>
                        </a:defRPr>
                      </a:pPr>
                      <a:r>
                        <a:rPr lang="en-US" sz="1500" kern="1200" dirty="0">
                          <a:solidFill>
                            <a:schemeClr val="tx1"/>
                          </a:solidFill>
                          <a:latin typeface="Roboto" panose="02000000000000000000" pitchFamily="2" charset="0"/>
                          <a:ea typeface="Roboto" panose="02000000000000000000" pitchFamily="2" charset="0"/>
                          <a:cs typeface="Roboto" panose="02000000000000000000" pitchFamily="2" charset="0"/>
                        </a:rPr>
                        <a:t> Defects</a:t>
                      </a:r>
                    </a:p>
                  </a:txBody>
                  <a:tcPr marL="48860" marR="48860" marT="48860" marB="48860" anchor="ctr" horzOverflow="overflow">
                    <a:lnL w="0">
                      <a:miter lim="400000"/>
                    </a:lnL>
                    <a:lnR w="0">
                      <a:miter lim="400000"/>
                    </a:lnR>
                    <a:lnT w="0">
                      <a:noFill/>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Rejected parts that do not meet specifications, parts damaged during processing or transportation</a:t>
                      </a:r>
                    </a:p>
                  </a:txBody>
                  <a:tcPr marL="48860" marR="48860" marT="48860" marB="4886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Customer orders with incomplete information, rejected drawings and documents, revisions/iterations</a:t>
                      </a:r>
                    </a:p>
                  </a:txBody>
                  <a:tcPr marL="48860" marR="48860" marT="48860" marB="4886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696861">
                <a:tc>
                  <a:txBody>
                    <a:bodyPr/>
                    <a:lstStyle/>
                    <a:p>
                      <a:pPr algn="l" defTabSz="1828342">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2. Over Production</a:t>
                      </a:r>
                      <a:endParaRPr sz="15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8860" marR="48860" marT="48860" marB="48860" anchor="ctr" horzOverflow="overflow">
                    <a:lnL w="0">
                      <a:miter lim="400000"/>
                    </a:lnL>
                    <a:lnR w="0">
                      <a:miter lim="400000"/>
                    </a:lnR>
                    <a:lnT w="0">
                      <a:miter lim="400000"/>
                    </a:lnT>
                    <a:lnB w="0">
                      <a:miter lim="400000"/>
                    </a:lnB>
                    <a:solidFill>
                      <a:schemeClr val="bg1">
                        <a:lumMod val="85000"/>
                      </a:schemeClr>
                    </a:solidFill>
                  </a:tcPr>
                </a:tc>
                <a:tc>
                  <a:txBody>
                    <a:bodyPr/>
                    <a:lstStyle/>
                    <a:p>
                      <a:pPr algn="l" defTabSz="1828342">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Producing more pieces than required, large batches, keeping machines “busy”</a:t>
                      </a:r>
                    </a:p>
                  </a:txBody>
                  <a:tcPr marL="48860" marR="48860" marT="48860" marB="48860" anchor="ctr" horzOverflow="overflow">
                    <a:lnL w="0">
                      <a:miter lim="400000"/>
                    </a:lnL>
                    <a:lnR w="0">
                      <a:noFill/>
                      <a:miter lim="400000"/>
                    </a:lnR>
                    <a:lnT w="0">
                      <a:miter lim="400000"/>
                    </a:lnT>
                    <a:lnB w="0">
                      <a:miter lim="400000"/>
                    </a:lnB>
                    <a:solidFill>
                      <a:schemeClr val="bg1">
                        <a:lumMod val="85000"/>
                      </a:schemeClr>
                    </a:solidFill>
                  </a:tcPr>
                </a:tc>
                <a:tc>
                  <a:txBody>
                    <a:bodyPr/>
                    <a:lstStyle/>
                    <a:p>
                      <a:pPr algn="l" defTabSz="1828342">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Working ahead of schedule, building up large transaction queues, keeping people “busy”</a:t>
                      </a:r>
                    </a:p>
                  </a:txBody>
                  <a:tcPr marL="48860" marR="48860" marT="48860" marB="4886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696861">
                <a:tc>
                  <a:txBody>
                    <a:bodyPr/>
                    <a:lstStyle/>
                    <a:p>
                      <a:pPr algn="l" defTabSz="1828342">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3. Waiting</a:t>
                      </a:r>
                      <a:endParaRPr sz="15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8860" marR="48860" marT="48860" marB="48860" anchor="ctr" horzOverflow="overflow">
                    <a:lnL w="0">
                      <a:miter lim="400000"/>
                    </a:lnL>
                    <a:lnR w="0">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Parts waiting to be processed by a machine or work cell</a:t>
                      </a:r>
                    </a:p>
                  </a:txBody>
                  <a:tcPr marL="48860" marR="48860" marT="48860" marB="4886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Time waiting to receive a quote from a supplier, turnaround time to get an approval </a:t>
                      </a:r>
                    </a:p>
                  </a:txBody>
                  <a:tcPr marL="48860" marR="48860" marT="48860" marB="4886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3"/>
                  </a:ext>
                </a:extLst>
              </a:tr>
              <a:tr h="696861">
                <a:tc>
                  <a:txBody>
                    <a:bodyPr/>
                    <a:lstStyle/>
                    <a:p>
                      <a:pPr algn="l" defTabSz="1828342">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4. Non-Utilized Talent</a:t>
                      </a:r>
                    </a:p>
                  </a:txBody>
                  <a:tcPr marL="48860" marR="48860" marT="48860" marB="48860" anchor="ctr" horzOverflow="overflow">
                    <a:lnL w="0">
                      <a:miter lim="400000"/>
                    </a:lnL>
                    <a:lnR w="0">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Insufficient time devoted to  continuous improvement, limited knowledge sharing</a:t>
                      </a:r>
                    </a:p>
                  </a:txBody>
                  <a:tcPr marL="48860" marR="48860" marT="48860" marB="4886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500" dirty="0">
                          <a:solidFill>
                            <a:schemeClr val="tx1"/>
                          </a:solidFill>
                          <a:latin typeface="Roboto" panose="02000000000000000000" pitchFamily="2" charset="0"/>
                          <a:ea typeface="Roboto" panose="02000000000000000000" pitchFamily="2" charset="0"/>
                          <a:cs typeface="Roboto" panose="02000000000000000000" pitchFamily="2" charset="0"/>
                        </a:rPr>
                        <a:t>Insufficient time devoted to  continuous improvement, limited knowledge sharing</a:t>
                      </a:r>
                    </a:p>
                  </a:txBody>
                  <a:tcPr marL="48860" marR="48860" marT="48860" marB="48860" anchor="ctr" horzOverflow="overflow">
                    <a:lnL w="0">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4"/>
                  </a:ext>
                </a:extLst>
              </a:tr>
            </a:tbl>
          </a:graphicData>
        </a:graphic>
      </p:graphicFrame>
      <p:sp>
        <p:nvSpPr>
          <p:cNvPr id="11" name="Title 1">
            <a:extLst>
              <a:ext uri="{FF2B5EF4-FFF2-40B4-BE49-F238E27FC236}">
                <a16:creationId xmlns:a16="http://schemas.microsoft.com/office/drawing/2014/main" id="{8DA916FB-8E1E-A4D2-9740-281F0453B1AE}"/>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19" name="TextBox 18">
            <a:extLst>
              <a:ext uri="{FF2B5EF4-FFF2-40B4-BE49-F238E27FC236}">
                <a16:creationId xmlns:a16="http://schemas.microsoft.com/office/drawing/2014/main" id="{BD25A8AF-CFCD-FAC1-D3FA-B8B948F5598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8" name="Group 7">
            <a:extLst>
              <a:ext uri="{FF2B5EF4-FFF2-40B4-BE49-F238E27FC236}">
                <a16:creationId xmlns:a16="http://schemas.microsoft.com/office/drawing/2014/main" id="{78350183-EE61-41E9-481A-9ADB5145F221}"/>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0CF923DF-BA1A-3C85-89CF-D614292B8D2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47657093-0F37-E7D1-E002-87DD0F27606A}"/>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058D4770-6266-87E0-4261-56BF48494A21}"/>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7359684C-80A5-9F8F-8578-9877868F1CD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339814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1A18CF98-FA57-9690-D556-5804A074FA92}"/>
              </a:ext>
            </a:extLst>
          </p:cNvPr>
          <p:cNvSpPr>
            <a:spLocks noGrp="1"/>
          </p:cNvSpPr>
          <p:nvPr>
            <p:ph type="title"/>
          </p:nvPr>
        </p:nvSpPr>
        <p:spPr/>
        <p:txBody>
          <a:bodyPr>
            <a:normAutofit/>
          </a:bodyPr>
          <a:lstStyle/>
          <a:p>
            <a:r>
              <a:rPr lang="en-US" dirty="0">
                <a:solidFill>
                  <a:schemeClr val="tx1"/>
                </a:solidFill>
              </a:rPr>
              <a:t>Eight Wastes Examples (</a:t>
            </a:r>
            <a:r>
              <a:rPr lang="en-US" dirty="0" err="1">
                <a:solidFill>
                  <a:schemeClr val="tx1"/>
                </a:solidFill>
              </a:rPr>
              <a:t>Con’t</a:t>
            </a:r>
            <a:r>
              <a:rPr lang="en-US" dirty="0">
                <a:solidFill>
                  <a:schemeClr val="tx1"/>
                </a:solidFill>
              </a:rPr>
              <a:t>)</a:t>
            </a:r>
            <a:endParaRPr lang="en-US" dirty="0"/>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21</a:t>
            </a:fld>
            <a:endParaRPr lang="en-US" dirty="0"/>
          </a:p>
        </p:txBody>
      </p:sp>
      <p:graphicFrame>
        <p:nvGraphicFramePr>
          <p:cNvPr id="14" name="Table">
            <a:extLst>
              <a:ext uri="{FF2B5EF4-FFF2-40B4-BE49-F238E27FC236}">
                <a16:creationId xmlns:a16="http://schemas.microsoft.com/office/drawing/2014/main" id="{E517C667-B767-4995-357A-139D3B28AFF6}"/>
              </a:ext>
            </a:extLst>
          </p:cNvPr>
          <p:cNvGraphicFramePr/>
          <p:nvPr>
            <p:extLst>
              <p:ext uri="{D42A27DB-BD31-4B8C-83A1-F6EECF244321}">
                <p14:modId xmlns:p14="http://schemas.microsoft.com/office/powerpoint/2010/main" val="1380727202"/>
              </p:ext>
            </p:extLst>
          </p:nvPr>
        </p:nvGraphicFramePr>
        <p:xfrm>
          <a:off x="838200" y="1964624"/>
          <a:ext cx="10500077" cy="3757445"/>
        </p:xfrm>
        <a:graphic>
          <a:graphicData uri="http://schemas.openxmlformats.org/drawingml/2006/table">
            <a:tbl>
              <a:tblPr/>
              <a:tblGrid>
                <a:gridCol w="1954515">
                  <a:extLst>
                    <a:ext uri="{9D8B030D-6E8A-4147-A177-3AD203B41FA5}">
                      <a16:colId xmlns:a16="http://schemas.microsoft.com/office/drawing/2014/main" val="20000"/>
                    </a:ext>
                  </a:extLst>
                </a:gridCol>
                <a:gridCol w="4205965">
                  <a:extLst>
                    <a:ext uri="{9D8B030D-6E8A-4147-A177-3AD203B41FA5}">
                      <a16:colId xmlns:a16="http://schemas.microsoft.com/office/drawing/2014/main" val="20001"/>
                    </a:ext>
                  </a:extLst>
                </a:gridCol>
                <a:gridCol w="4339597">
                  <a:extLst>
                    <a:ext uri="{9D8B030D-6E8A-4147-A177-3AD203B41FA5}">
                      <a16:colId xmlns:a16="http://schemas.microsoft.com/office/drawing/2014/main" val="2663648458"/>
                    </a:ext>
                  </a:extLst>
                </a:gridCol>
              </a:tblGrid>
              <a:tr h="550887">
                <a:tc>
                  <a:txBody>
                    <a:bodyPr/>
                    <a:lstStyle/>
                    <a:p>
                      <a:pPr algn="ctr" defTabSz="1828342">
                        <a:tabLst>
                          <a:tab pos="914400" algn="l"/>
                        </a:tabLst>
                        <a:defRPr sz="3500">
                          <a:solidFill>
                            <a:srgbClr val="999999"/>
                          </a:solidFill>
                        </a:defRPr>
                      </a:pPr>
                      <a:r>
                        <a:rPr lang="en-US"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12700">
                      <a:miter lim="400000"/>
                    </a:lnL>
                    <a:lnR w="0">
                      <a:miter lim="400000"/>
                    </a:lnR>
                    <a:lnT w="12700">
                      <a:miter lim="400000"/>
                    </a:lnT>
                    <a:lnB w="0">
                      <a:miter lim="400000"/>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Manufacturing Example</a:t>
                      </a:r>
                    </a:p>
                  </a:txBody>
                  <a:tcPr anchor="ctr" horzOverflow="overflow">
                    <a:lnL w="0">
                      <a:miter lim="400000"/>
                    </a:lnL>
                    <a:lnR w="0">
                      <a:noFill/>
                      <a:miter lim="400000"/>
                    </a:lnR>
                    <a:lnT w="0">
                      <a:miter lim="400000"/>
                    </a:lnT>
                    <a:lnB w="0">
                      <a:miter lim="400000"/>
                    </a:lnB>
                    <a:solidFill>
                      <a:srgbClr val="EE3228"/>
                    </a:solidFill>
                  </a:tcPr>
                </a:tc>
                <a:tc>
                  <a:txBody>
                    <a:bodyPr/>
                    <a:lstStyle/>
                    <a:p>
                      <a:pPr algn="ctr" defTabSz="1828342">
                        <a:defRPr sz="1800">
                          <a:solidFill>
                            <a:srgbClr val="000000"/>
                          </a:solidFill>
                        </a:defRPr>
                      </a:pPr>
                      <a:r>
                        <a:rPr lang="en-US" sz="1400" b="1" dirty="0">
                          <a:solidFill>
                            <a:schemeClr val="bg1"/>
                          </a:solidFill>
                          <a:latin typeface="Roboto" panose="02000000000000000000" pitchFamily="2" charset="0"/>
                          <a:ea typeface="Roboto" panose="02000000000000000000" pitchFamily="2" charset="0"/>
                          <a:cs typeface="Roboto" panose="02000000000000000000" pitchFamily="2" charset="0"/>
                        </a:rPr>
                        <a:t>Office Example</a:t>
                      </a:r>
                    </a:p>
                  </a:txBody>
                  <a:tcPr anchor="ctr" horzOverflow="overflow">
                    <a:lnL w="0">
                      <a:miter lim="400000"/>
                    </a:lnL>
                    <a:lnR w="0">
                      <a:miter lim="400000"/>
                    </a:lnR>
                    <a:lnT w="0">
                      <a:miter lim="400000"/>
                    </a:lnT>
                    <a:lnB w="0">
                      <a:noFill/>
                      <a:miter lim="400000"/>
                    </a:lnB>
                    <a:solidFill>
                      <a:srgbClr val="EE3228"/>
                    </a:solidFill>
                  </a:tcPr>
                </a:tc>
                <a:extLst>
                  <a:ext uri="{0D108BD9-81ED-4DB2-BD59-A6C34878D82A}">
                    <a16:rowId xmlns:a16="http://schemas.microsoft.com/office/drawing/2014/main" val="10000"/>
                  </a:ext>
                </a:extLst>
              </a:tr>
              <a:tr h="938505">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5. Transportation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noFill/>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Parts that are hand-carried or moved by conveyor, hand truck, tow motor, truck, ship, or plane.</a:t>
                      </a:r>
                    </a:p>
                  </a:txBody>
                  <a:tcPr marL="45720" marR="45720" anchor="ct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Functional hand-offs (including electronic), document movement (physical or electronic)</a:t>
                      </a:r>
                    </a:p>
                  </a:txBody>
                  <a:tcPr marL="45720" marR="45720"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878127364"/>
                  </a:ext>
                </a:extLst>
              </a:tr>
              <a:tr h="938505">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6. Inventory </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Accumulation of raw materials, WIP, and finished goods stored in warehouses, or staging areas</a:t>
                      </a:r>
                    </a:p>
                  </a:txBody>
                  <a:tcPr marL="45720" marR="45720" anchor="ctr" horzOverflow="overflow">
                    <a:lnL w="0">
                      <a:noFill/>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Transactions/documents waiting in queue (e.g. incomplete customer order, unreleased engineering drawing)</a:t>
                      </a:r>
                    </a:p>
                  </a:txBody>
                  <a:tcPr marL="45720" marR="45720"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2392731201"/>
                  </a:ext>
                </a:extLst>
              </a:tr>
              <a:tr h="664774">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7. Motion</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Operators reaching for parts, bending, lifting, excessive movement within cell</a:t>
                      </a:r>
                    </a:p>
                  </a:txBody>
                  <a:tcPr marL="45720" marR="45720" anchor="ctr" horzOverflow="overflow">
                    <a:lnL w="0">
                      <a:noFill/>
                      <a:miter lim="400000"/>
                    </a:lnL>
                    <a:lnR w="0">
                      <a:noFill/>
                      <a:miter lim="400000"/>
                    </a:lnR>
                    <a:lnT w="0">
                      <a:miter lim="400000"/>
                    </a:lnT>
                    <a:lnB w="0">
                      <a:noFill/>
                      <a:miter lim="400000"/>
                    </a:lnB>
                    <a:solidFill>
                      <a:schemeClr val="bg1">
                        <a:lumMod val="85000"/>
                      </a:schemeClr>
                    </a:solidFill>
                  </a:tcPr>
                </a:tc>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Reaching, bending, unnecessary steps within office or work area</a:t>
                      </a:r>
                    </a:p>
                  </a:txBody>
                  <a:tcPr marL="45720" marR="45720"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780965238"/>
                  </a:ext>
                </a:extLst>
              </a:tr>
              <a:tr h="664774">
                <a:tc>
                  <a:txBody>
                    <a:bodyPr/>
                    <a:lstStyle/>
                    <a:p>
                      <a:pPr algn="l" defTabSz="1828342">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8. Extra Processing</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Machining to overly tight tolerances, washing parts longer than required, excessive polishing</a:t>
                      </a:r>
                    </a:p>
                  </a:txBody>
                  <a:tcPr marL="45720" marR="45720" anchor="ctr" horzOverflow="overflow">
                    <a:lnL w="0">
                      <a:noFill/>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Excessive information, unnecessary reports, unnecessary approvals, excessive specifications</a:t>
                      </a:r>
                    </a:p>
                  </a:txBody>
                  <a:tcPr marL="45720" marR="45720" anchor="ctr" horzOverflow="overflow">
                    <a:lnL w="0">
                      <a:noFill/>
                      <a:miter lim="400000"/>
                    </a:lnL>
                    <a:lnR w="0">
                      <a:miter lim="400000"/>
                    </a:lnR>
                    <a:lnT w="0">
                      <a:noFill/>
                      <a:miter lim="400000"/>
                    </a:lnT>
                    <a:lnB w="0">
                      <a:miter lim="400000"/>
                    </a:lnB>
                    <a:solidFill>
                      <a:schemeClr val="bg1">
                        <a:lumMod val="85000"/>
                      </a:schemeClr>
                    </a:solidFill>
                  </a:tcPr>
                </a:tc>
                <a:extLst>
                  <a:ext uri="{0D108BD9-81ED-4DB2-BD59-A6C34878D82A}">
                    <a16:rowId xmlns:a16="http://schemas.microsoft.com/office/drawing/2014/main" val="514211142"/>
                  </a:ext>
                </a:extLst>
              </a:tr>
            </a:tbl>
          </a:graphicData>
        </a:graphic>
      </p:graphicFrame>
      <p:sp>
        <p:nvSpPr>
          <p:cNvPr id="11" name="Title 1">
            <a:extLst>
              <a:ext uri="{FF2B5EF4-FFF2-40B4-BE49-F238E27FC236}">
                <a16:creationId xmlns:a16="http://schemas.microsoft.com/office/drawing/2014/main" id="{88193168-C150-6CDE-FF02-7E7D4879A68B}"/>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19" name="TextBox 18">
            <a:extLst>
              <a:ext uri="{FF2B5EF4-FFF2-40B4-BE49-F238E27FC236}">
                <a16:creationId xmlns:a16="http://schemas.microsoft.com/office/drawing/2014/main" id="{E3B35907-7A00-D6A1-F404-61604F7F6E37}"/>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5" name="Group 4">
            <a:extLst>
              <a:ext uri="{FF2B5EF4-FFF2-40B4-BE49-F238E27FC236}">
                <a16:creationId xmlns:a16="http://schemas.microsoft.com/office/drawing/2014/main" id="{3FFD1703-8E16-502F-64F1-F0AFB879C55B}"/>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82945F0D-ACC9-B2CB-D78E-CCB4ED5E5B2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4DFFBBD6-A48A-731C-9D77-3B48D98DE935}"/>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CF1557F-BD00-CF7B-1C31-ACC47BAD0E80}"/>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AC26E76C-84B3-B559-A839-4D7AC2BE77DA}"/>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249696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218D22A9-1F02-C4A5-E3B0-42BFA087C9A8}"/>
              </a:ext>
            </a:extLst>
          </p:cNvPr>
          <p:cNvSpPr>
            <a:spLocks noGrp="1"/>
          </p:cNvSpPr>
          <p:nvPr>
            <p:ph type="title"/>
          </p:nvPr>
        </p:nvSpPr>
        <p:spPr/>
        <p:txBody>
          <a:bodyPr>
            <a:normAutofit/>
          </a:bodyPr>
          <a:lstStyle/>
          <a:p>
            <a:r>
              <a:rPr lang="en-US" sz="4000" dirty="0">
                <a:latin typeface="Roboto Medium"/>
                <a:ea typeface="Roboto Medium"/>
                <a:cs typeface="Roboto Medium"/>
              </a:rPr>
              <a:t>Sample Drivers of Waste</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22</a:t>
            </a:fld>
            <a:endParaRPr lang="en-US"/>
          </a:p>
        </p:txBody>
      </p:sp>
      <p:sp>
        <p:nvSpPr>
          <p:cNvPr id="24" name="TextBox 23">
            <a:extLst>
              <a:ext uri="{FF2B5EF4-FFF2-40B4-BE49-F238E27FC236}">
                <a16:creationId xmlns:a16="http://schemas.microsoft.com/office/drawing/2014/main" id="{CA9660DE-D289-53E3-DA88-9FAFC871E39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1" name="Group 10">
            <a:extLst>
              <a:ext uri="{FF2B5EF4-FFF2-40B4-BE49-F238E27FC236}">
                <a16:creationId xmlns:a16="http://schemas.microsoft.com/office/drawing/2014/main" id="{5D46E60F-6445-A8C7-7680-15650B8D98FC}"/>
              </a:ext>
            </a:extLst>
          </p:cNvPr>
          <p:cNvGrpSpPr/>
          <p:nvPr/>
        </p:nvGrpSpPr>
        <p:grpSpPr>
          <a:xfrm>
            <a:off x="940249" y="302538"/>
            <a:ext cx="1060167" cy="290657"/>
            <a:chOff x="940249" y="315206"/>
            <a:chExt cx="1060167" cy="265062"/>
          </a:xfrm>
        </p:grpSpPr>
        <p:sp>
          <p:nvSpPr>
            <p:cNvPr id="12" name="AutoShape 9">
              <a:extLst>
                <a:ext uri="{FF2B5EF4-FFF2-40B4-BE49-F238E27FC236}">
                  <a16:creationId xmlns:a16="http://schemas.microsoft.com/office/drawing/2014/main" id="{3F0B5169-8049-C1CD-1933-91118B6ADC5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35E1AE3D-14C2-94FB-161C-A4528DDE6A37}"/>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9980A490-D942-2BA3-3F56-851253DD5AC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889D002D-DC9C-411E-C9AF-3430EBD3C20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grpSp>
        <p:nvGrpSpPr>
          <p:cNvPr id="2" name="Group 1">
            <a:extLst>
              <a:ext uri="{FF2B5EF4-FFF2-40B4-BE49-F238E27FC236}">
                <a16:creationId xmlns:a16="http://schemas.microsoft.com/office/drawing/2014/main" id="{FEC8F190-E1E9-43AE-AC53-A85A12ABF3D6}"/>
              </a:ext>
            </a:extLst>
          </p:cNvPr>
          <p:cNvGrpSpPr/>
          <p:nvPr/>
        </p:nvGrpSpPr>
        <p:grpSpPr>
          <a:xfrm>
            <a:off x="1028700" y="1885950"/>
            <a:ext cx="10103132" cy="4004940"/>
            <a:chOff x="8281557" y="4737895"/>
            <a:chExt cx="7821249" cy="4240215"/>
          </a:xfrm>
        </p:grpSpPr>
        <p:grpSp>
          <p:nvGrpSpPr>
            <p:cNvPr id="3" name="Group 2">
              <a:extLst>
                <a:ext uri="{FF2B5EF4-FFF2-40B4-BE49-F238E27FC236}">
                  <a16:creationId xmlns:a16="http://schemas.microsoft.com/office/drawing/2014/main" id="{3A411CC3-A069-64E7-CE7F-B74A52A0F468}"/>
                </a:ext>
              </a:extLst>
            </p:cNvPr>
            <p:cNvGrpSpPr>
              <a:grpSpLocks/>
            </p:cNvGrpSpPr>
            <p:nvPr/>
          </p:nvGrpSpPr>
          <p:grpSpPr bwMode="auto">
            <a:xfrm>
              <a:off x="8281557" y="4737895"/>
              <a:ext cx="7821249" cy="4240215"/>
              <a:chOff x="1128079" y="2791379"/>
              <a:chExt cx="6619312" cy="2792502"/>
            </a:xfrm>
          </p:grpSpPr>
          <p:sp>
            <p:nvSpPr>
              <p:cNvPr id="16" name="Rectangle 15">
                <a:extLst>
                  <a:ext uri="{FF2B5EF4-FFF2-40B4-BE49-F238E27FC236}">
                    <a16:creationId xmlns:a16="http://schemas.microsoft.com/office/drawing/2014/main" id="{7DB00828-7B89-B6EB-A590-F4787DF89A78}"/>
                  </a:ext>
                </a:extLst>
              </p:cNvPr>
              <p:cNvSpPr/>
              <p:nvPr/>
            </p:nvSpPr>
            <p:spPr>
              <a:xfrm>
                <a:off x="1142550" y="2791379"/>
                <a:ext cx="6604841" cy="12068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sz="900" b="1" kern="1200">
                    <a:solidFill>
                      <a:schemeClr val="lt1"/>
                    </a:solidFill>
                    <a:latin typeface="+mn-lt"/>
                    <a:ea typeface="+mn-ea"/>
                    <a:cs typeface="+mn-cs"/>
                  </a:defRPr>
                </a:lvl1pPr>
                <a:lvl2pPr marL="457200" algn="l" rtl="0" eaLnBrk="0" fontAlgn="base" hangingPunct="0">
                  <a:spcBef>
                    <a:spcPct val="0"/>
                  </a:spcBef>
                  <a:spcAft>
                    <a:spcPct val="0"/>
                  </a:spcAft>
                  <a:defRPr sz="900" b="1" kern="1200">
                    <a:solidFill>
                      <a:schemeClr val="lt1"/>
                    </a:solidFill>
                    <a:latin typeface="+mn-lt"/>
                    <a:ea typeface="+mn-ea"/>
                    <a:cs typeface="+mn-cs"/>
                  </a:defRPr>
                </a:lvl2pPr>
                <a:lvl3pPr marL="914400" algn="l" rtl="0" eaLnBrk="0" fontAlgn="base" hangingPunct="0">
                  <a:spcBef>
                    <a:spcPct val="0"/>
                  </a:spcBef>
                  <a:spcAft>
                    <a:spcPct val="0"/>
                  </a:spcAft>
                  <a:defRPr sz="900" b="1" kern="1200">
                    <a:solidFill>
                      <a:schemeClr val="lt1"/>
                    </a:solidFill>
                    <a:latin typeface="+mn-lt"/>
                    <a:ea typeface="+mn-ea"/>
                    <a:cs typeface="+mn-cs"/>
                  </a:defRPr>
                </a:lvl3pPr>
                <a:lvl4pPr marL="1371600" algn="l" rtl="0" eaLnBrk="0" fontAlgn="base" hangingPunct="0">
                  <a:spcBef>
                    <a:spcPct val="0"/>
                  </a:spcBef>
                  <a:spcAft>
                    <a:spcPct val="0"/>
                  </a:spcAft>
                  <a:defRPr sz="900" b="1" kern="1200">
                    <a:solidFill>
                      <a:schemeClr val="lt1"/>
                    </a:solidFill>
                    <a:latin typeface="+mn-lt"/>
                    <a:ea typeface="+mn-ea"/>
                    <a:cs typeface="+mn-cs"/>
                  </a:defRPr>
                </a:lvl4pPr>
                <a:lvl5pPr marL="1828800" algn="l" rtl="0" eaLnBrk="0" fontAlgn="base" hangingPunct="0">
                  <a:spcBef>
                    <a:spcPct val="0"/>
                  </a:spcBef>
                  <a:spcAft>
                    <a:spcPct val="0"/>
                  </a:spcAft>
                  <a:defRPr sz="900" b="1" kern="1200">
                    <a:solidFill>
                      <a:schemeClr val="lt1"/>
                    </a:solidFill>
                    <a:latin typeface="+mn-lt"/>
                    <a:ea typeface="+mn-ea"/>
                    <a:cs typeface="+mn-cs"/>
                  </a:defRPr>
                </a:lvl5pPr>
                <a:lvl6pPr marL="2286000" algn="l" defTabSz="914400" rtl="0" eaLnBrk="1" latinLnBrk="0" hangingPunct="1">
                  <a:defRPr sz="900" b="1" kern="1200">
                    <a:solidFill>
                      <a:schemeClr val="lt1"/>
                    </a:solidFill>
                    <a:latin typeface="+mn-lt"/>
                    <a:ea typeface="+mn-ea"/>
                    <a:cs typeface="+mn-cs"/>
                  </a:defRPr>
                </a:lvl6pPr>
                <a:lvl7pPr marL="2743200" algn="l" defTabSz="914400" rtl="0" eaLnBrk="1" latinLnBrk="0" hangingPunct="1">
                  <a:defRPr sz="900" b="1" kern="1200">
                    <a:solidFill>
                      <a:schemeClr val="lt1"/>
                    </a:solidFill>
                    <a:latin typeface="+mn-lt"/>
                    <a:ea typeface="+mn-ea"/>
                    <a:cs typeface="+mn-cs"/>
                  </a:defRPr>
                </a:lvl7pPr>
                <a:lvl8pPr marL="3200400" algn="l" defTabSz="914400" rtl="0" eaLnBrk="1" latinLnBrk="0" hangingPunct="1">
                  <a:defRPr sz="900" b="1" kern="1200">
                    <a:solidFill>
                      <a:schemeClr val="lt1"/>
                    </a:solidFill>
                    <a:latin typeface="+mn-lt"/>
                    <a:ea typeface="+mn-ea"/>
                    <a:cs typeface="+mn-cs"/>
                  </a:defRPr>
                </a:lvl8pPr>
                <a:lvl9pPr marL="3657600" algn="l" defTabSz="914400" rtl="0" eaLnBrk="1" latinLnBrk="0" hangingPunct="1">
                  <a:defRPr sz="900" b="1" kern="1200">
                    <a:solidFill>
                      <a:schemeClr val="lt1"/>
                    </a:solidFill>
                    <a:latin typeface="+mn-lt"/>
                    <a:ea typeface="+mn-ea"/>
                    <a:cs typeface="+mn-cs"/>
                  </a:defRPr>
                </a:lvl9pPr>
              </a:lstStyle>
              <a:p>
                <a:pPr algn="ctr">
                  <a:lnSpc>
                    <a:spcPct val="80000"/>
                  </a:lnSpc>
                  <a:spcBef>
                    <a:spcPct val="20000"/>
                  </a:spcBef>
                  <a:defRPr/>
                </a:pPr>
                <a:endParaRPr lang="en-US" sz="675"/>
              </a:p>
            </p:txBody>
          </p:sp>
          <p:pic>
            <p:nvPicPr>
              <p:cNvPr id="21" name="Picture 20" descr="&#10;">
                <a:extLst>
                  <a:ext uri="{FF2B5EF4-FFF2-40B4-BE49-F238E27FC236}">
                    <a16:creationId xmlns:a16="http://schemas.microsoft.com/office/drawing/2014/main" id="{34FDA7C7-B569-C49A-821B-07902F429E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8079" y="2791379"/>
                <a:ext cx="2753267" cy="116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1">
                <a:extLst>
                  <a:ext uri="{FF2B5EF4-FFF2-40B4-BE49-F238E27FC236}">
                    <a16:creationId xmlns:a16="http://schemas.microsoft.com/office/drawing/2014/main" id="{F8EC8C31-7D48-2993-DCC2-2F8013F3C5AB}"/>
                  </a:ext>
                </a:extLst>
              </p:cNvPr>
              <p:cNvSpPr/>
              <p:nvPr/>
            </p:nvSpPr>
            <p:spPr>
              <a:xfrm>
                <a:off x="1142550" y="3960236"/>
                <a:ext cx="6604841" cy="1613190"/>
              </a:xfrm>
              <a:prstGeom prst="rect">
                <a:avLst/>
              </a:prstGeom>
              <a:solidFill>
                <a:srgbClr val="A4C9F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sz="900" b="1" kern="1200">
                    <a:solidFill>
                      <a:schemeClr val="lt1"/>
                    </a:solidFill>
                    <a:latin typeface="+mn-lt"/>
                    <a:ea typeface="+mn-ea"/>
                    <a:cs typeface="+mn-cs"/>
                  </a:defRPr>
                </a:lvl1pPr>
                <a:lvl2pPr marL="457200" algn="l" rtl="0" eaLnBrk="0" fontAlgn="base" hangingPunct="0">
                  <a:spcBef>
                    <a:spcPct val="0"/>
                  </a:spcBef>
                  <a:spcAft>
                    <a:spcPct val="0"/>
                  </a:spcAft>
                  <a:defRPr sz="900" b="1" kern="1200">
                    <a:solidFill>
                      <a:schemeClr val="lt1"/>
                    </a:solidFill>
                    <a:latin typeface="+mn-lt"/>
                    <a:ea typeface="+mn-ea"/>
                    <a:cs typeface="+mn-cs"/>
                  </a:defRPr>
                </a:lvl2pPr>
                <a:lvl3pPr marL="914400" algn="l" rtl="0" eaLnBrk="0" fontAlgn="base" hangingPunct="0">
                  <a:spcBef>
                    <a:spcPct val="0"/>
                  </a:spcBef>
                  <a:spcAft>
                    <a:spcPct val="0"/>
                  </a:spcAft>
                  <a:defRPr sz="900" b="1" kern="1200">
                    <a:solidFill>
                      <a:schemeClr val="lt1"/>
                    </a:solidFill>
                    <a:latin typeface="+mn-lt"/>
                    <a:ea typeface="+mn-ea"/>
                    <a:cs typeface="+mn-cs"/>
                  </a:defRPr>
                </a:lvl3pPr>
                <a:lvl4pPr marL="1371600" algn="l" rtl="0" eaLnBrk="0" fontAlgn="base" hangingPunct="0">
                  <a:spcBef>
                    <a:spcPct val="0"/>
                  </a:spcBef>
                  <a:spcAft>
                    <a:spcPct val="0"/>
                  </a:spcAft>
                  <a:defRPr sz="900" b="1" kern="1200">
                    <a:solidFill>
                      <a:schemeClr val="lt1"/>
                    </a:solidFill>
                    <a:latin typeface="+mn-lt"/>
                    <a:ea typeface="+mn-ea"/>
                    <a:cs typeface="+mn-cs"/>
                  </a:defRPr>
                </a:lvl4pPr>
                <a:lvl5pPr marL="1828800" algn="l" rtl="0" eaLnBrk="0" fontAlgn="base" hangingPunct="0">
                  <a:spcBef>
                    <a:spcPct val="0"/>
                  </a:spcBef>
                  <a:spcAft>
                    <a:spcPct val="0"/>
                  </a:spcAft>
                  <a:defRPr sz="900" b="1" kern="1200">
                    <a:solidFill>
                      <a:schemeClr val="lt1"/>
                    </a:solidFill>
                    <a:latin typeface="+mn-lt"/>
                    <a:ea typeface="+mn-ea"/>
                    <a:cs typeface="+mn-cs"/>
                  </a:defRPr>
                </a:lvl5pPr>
                <a:lvl6pPr marL="2286000" algn="l" defTabSz="914400" rtl="0" eaLnBrk="1" latinLnBrk="0" hangingPunct="1">
                  <a:defRPr sz="900" b="1" kern="1200">
                    <a:solidFill>
                      <a:schemeClr val="lt1"/>
                    </a:solidFill>
                    <a:latin typeface="+mn-lt"/>
                    <a:ea typeface="+mn-ea"/>
                    <a:cs typeface="+mn-cs"/>
                  </a:defRPr>
                </a:lvl6pPr>
                <a:lvl7pPr marL="2743200" algn="l" defTabSz="914400" rtl="0" eaLnBrk="1" latinLnBrk="0" hangingPunct="1">
                  <a:defRPr sz="900" b="1" kern="1200">
                    <a:solidFill>
                      <a:schemeClr val="lt1"/>
                    </a:solidFill>
                    <a:latin typeface="+mn-lt"/>
                    <a:ea typeface="+mn-ea"/>
                    <a:cs typeface="+mn-cs"/>
                  </a:defRPr>
                </a:lvl7pPr>
                <a:lvl8pPr marL="3200400" algn="l" defTabSz="914400" rtl="0" eaLnBrk="1" latinLnBrk="0" hangingPunct="1">
                  <a:defRPr sz="900" b="1" kern="1200">
                    <a:solidFill>
                      <a:schemeClr val="lt1"/>
                    </a:solidFill>
                    <a:latin typeface="+mn-lt"/>
                    <a:ea typeface="+mn-ea"/>
                    <a:cs typeface="+mn-cs"/>
                  </a:defRPr>
                </a:lvl8pPr>
                <a:lvl9pPr marL="3657600" algn="l" defTabSz="914400" rtl="0" eaLnBrk="1" latinLnBrk="0" hangingPunct="1">
                  <a:defRPr sz="900" b="1" kern="1200">
                    <a:solidFill>
                      <a:schemeClr val="lt1"/>
                    </a:solidFill>
                    <a:latin typeface="+mn-lt"/>
                    <a:ea typeface="+mn-ea"/>
                    <a:cs typeface="+mn-cs"/>
                  </a:defRPr>
                </a:lvl9pPr>
              </a:lstStyle>
              <a:p>
                <a:pPr algn="ctr">
                  <a:lnSpc>
                    <a:spcPct val="80000"/>
                  </a:lnSpc>
                  <a:spcBef>
                    <a:spcPct val="20000"/>
                  </a:spcBef>
                  <a:defRPr/>
                </a:pPr>
                <a:endParaRPr lang="en-US" sz="675"/>
              </a:p>
            </p:txBody>
          </p:sp>
          <p:pic>
            <p:nvPicPr>
              <p:cNvPr id="23" name="Picture 22" descr="Image result for rock clipart">
                <a:extLst>
                  <a:ext uri="{FF2B5EF4-FFF2-40B4-BE49-F238E27FC236}">
                    <a16:creationId xmlns:a16="http://schemas.microsoft.com/office/drawing/2014/main" id="{A37EDD4F-3727-592B-3EE7-E041559499F8}"/>
                  </a:ext>
                </a:extLst>
              </p:cNvPr>
              <p:cNvPicPr>
                <a:picLocks noChangeAspect="1" noChangeArrowheads="1"/>
              </p:cNvPicPr>
              <p:nvPr/>
            </p:nvPicPr>
            <p:blipFill>
              <a:blip r:embed="rId4">
                <a:duotone>
                  <a:prstClr val="black"/>
                  <a:srgbClr val="FEFEFE">
                    <a:tint val="45000"/>
                    <a:satMod val="400000"/>
                  </a:srgbClr>
                </a:duotone>
                <a:extLst>
                  <a:ext uri="{BEBA8EAE-BF5A-486C-A8C5-ECC9F3942E4B}">
                    <a14:imgProps xmlns:a14="http://schemas.microsoft.com/office/drawing/2010/main">
                      <a14:imgLayer r:embed="rId5">
                        <a14:imgEffect>
                          <a14:backgroundRemoval t="3226" b="93548" l="10000" r="90000">
                            <a14:foregroundMark x1="56667" y1="8065" x2="56667" y2="8065"/>
                            <a14:foregroundMark x1="58148" y1="3226" x2="58148" y2="3226"/>
                            <a14:foregroundMark x1="75926" y1="88172" x2="75926" y2="88172"/>
                            <a14:foregroundMark x1="79259" y1="84409" x2="69259" y2="87634"/>
                            <a14:foregroundMark x1="85926" y1="93548" x2="82593" y2="92473"/>
                          </a14:backgroundRemoval>
                        </a14:imgEffect>
                      </a14:imgLayer>
                    </a14:imgProps>
                  </a:ext>
                </a:extLst>
              </a:blip>
              <a:srcRect/>
              <a:stretch>
                <a:fillRect/>
              </a:stretch>
            </p:blipFill>
            <p:spPr bwMode="auto">
              <a:xfrm>
                <a:off x="3893656" y="4140689"/>
                <a:ext cx="1929315" cy="1329084"/>
              </a:xfrm>
              <a:prstGeom prst="rect">
                <a:avLst/>
              </a:prstGeom>
              <a:solidFill>
                <a:srgbClr val="A4C9F9"/>
              </a:solidFill>
              <a:ln>
                <a:noFill/>
              </a:ln>
              <a:effectLst/>
            </p:spPr>
          </p:pic>
          <p:pic>
            <p:nvPicPr>
              <p:cNvPr id="26" name="Picture 25">
                <a:extLst>
                  <a:ext uri="{FF2B5EF4-FFF2-40B4-BE49-F238E27FC236}">
                    <a16:creationId xmlns:a16="http://schemas.microsoft.com/office/drawing/2014/main" id="{6E6ABE7B-D733-18D9-9E5B-990E41FD8944}"/>
                  </a:ext>
                </a:extLst>
              </p:cNvPr>
              <p:cNvPicPr>
                <a:picLocks noChangeAspect="1"/>
              </p:cNvPicPr>
              <p:nvPr/>
            </p:nvPicPr>
            <p:blipFill>
              <a:blip r:embed="rId6">
                <a:clrChange>
                  <a:clrFrom>
                    <a:srgbClr val="000000">
                      <a:alpha val="0"/>
                    </a:srgbClr>
                  </a:clrFrom>
                  <a:clrTo>
                    <a:srgbClr val="000000">
                      <a:alpha val="0"/>
                    </a:srgbClr>
                  </a:clrTo>
                </a:clrChange>
                <a:duotone>
                  <a:prstClr val="black"/>
                  <a:srgbClr val="FEFEFE">
                    <a:tint val="45000"/>
                    <a:satMod val="400000"/>
                  </a:srgbClr>
                </a:duotone>
                <a:extLst>
                  <a:ext uri="{BEBA8EAE-BF5A-486C-A8C5-ECC9F3942E4B}">
                    <a14:imgProps xmlns:a14="http://schemas.microsoft.com/office/drawing/2010/main">
                      <a14:imgLayer r:embed="rId7">
                        <a14:imgEffect>
                          <a14:backgroundRemoval t="1667" b="97917" l="1429" r="97143">
                            <a14:foregroundMark x1="10476" y1="42083" x2="10952" y2="72500"/>
                            <a14:foregroundMark x1="10952" y1="72500" x2="12381" y2="76250"/>
                            <a14:foregroundMark x1="6667" y1="65000" x2="5238" y2="61250"/>
                            <a14:foregroundMark x1="2381" y1="57917" x2="2381" y2="57917"/>
                            <a14:foregroundMark x1="1429" y1="43750" x2="1429" y2="43750"/>
                            <a14:foregroundMark x1="3333" y1="67083" x2="3333" y2="67083"/>
                            <a14:foregroundMark x1="9048" y1="81250" x2="9048" y2="81250"/>
                            <a14:foregroundMark x1="20000" y1="84583" x2="20000" y2="84583"/>
                            <a14:foregroundMark x1="24762" y1="95000" x2="19048" y2="95417"/>
                            <a14:foregroundMark x1="42381" y1="97917" x2="42381" y2="97917"/>
                            <a14:foregroundMark x1="50952" y1="97500" x2="50952" y2="97500"/>
                            <a14:foregroundMark x1="60000" y1="96250" x2="60000" y2="96250"/>
                            <a14:foregroundMark x1="68095" y1="94583" x2="68095" y2="94583"/>
                            <a14:foregroundMark x1="81429" y1="90417" x2="81429" y2="90417"/>
                            <a14:foregroundMark x1="90000" y1="85833" x2="90000" y2="85833"/>
                            <a14:foregroundMark x1="94762" y1="75417" x2="94762" y2="75417"/>
                            <a14:foregroundMark x1="82381" y1="74583" x2="82381" y2="74583"/>
                            <a14:foregroundMark x1="95714" y1="68750" x2="95714" y2="68750"/>
                            <a14:foregroundMark x1="97143" y1="62917" x2="97143" y2="62917"/>
                            <a14:foregroundMark x1="57143" y1="60833" x2="57143" y2="60833"/>
                            <a14:foregroundMark x1="79524" y1="48750" x2="79524" y2="48750"/>
                            <a14:foregroundMark x1="80476" y1="40000" x2="80476" y2="40000"/>
                            <a14:foregroundMark x1="75714" y1="25417" x2="75714" y2="25417"/>
                            <a14:foregroundMark x1="59048" y1="13333" x2="59048" y2="13333"/>
                            <a14:foregroundMark x1="69524" y1="12917" x2="69524" y2="12917"/>
                            <a14:foregroundMark x1="17143" y1="30833" x2="17143" y2="30833"/>
                            <a14:foregroundMark x1="11905" y1="27500" x2="11905" y2="27500"/>
                            <a14:foregroundMark x1="38571" y1="1667" x2="41905" y2="6667"/>
                            <a14:foregroundMark x1="31905" y1="15000" x2="31905" y2="15000"/>
                            <a14:backgroundMark x1="12381" y1="5000" x2="7143" y2="17917"/>
                            <a14:backgroundMark x1="79524" y1="5833" x2="94286" y2="17500"/>
                            <a14:backgroundMark x1="94286" y1="92500" x2="83810" y2="99167"/>
                            <a14:backgroundMark x1="3333" y1="95000" x2="11429" y2="98750"/>
                          </a14:backgroundRemoval>
                        </a14:imgEffect>
                      </a14:imgLayer>
                    </a14:imgProps>
                  </a:ext>
                </a:extLst>
              </a:blip>
              <a:stretch>
                <a:fillRect/>
              </a:stretch>
            </p:blipFill>
            <p:spPr>
              <a:xfrm>
                <a:off x="3023995" y="4261518"/>
                <a:ext cx="1106856" cy="1264979"/>
              </a:xfrm>
              <a:prstGeom prst="rect">
                <a:avLst/>
              </a:prstGeom>
              <a:solidFill>
                <a:srgbClr val="A4C9F9"/>
              </a:solidFill>
              <a:ln>
                <a:noFill/>
              </a:ln>
              <a:effectLst/>
            </p:spPr>
          </p:pic>
          <p:pic>
            <p:nvPicPr>
              <p:cNvPr id="27" name="Picture 26">
                <a:extLst>
                  <a:ext uri="{FF2B5EF4-FFF2-40B4-BE49-F238E27FC236}">
                    <a16:creationId xmlns:a16="http://schemas.microsoft.com/office/drawing/2014/main" id="{562D0982-B259-10E6-5124-A76C429602DD}"/>
                  </a:ext>
                </a:extLst>
              </p:cNvPr>
              <p:cNvPicPr>
                <a:picLocks noChangeAspect="1"/>
              </p:cNvPicPr>
              <p:nvPr/>
            </p:nvPicPr>
            <p:blipFill>
              <a:blip r:embed="rId8">
                <a:duotone>
                  <a:prstClr val="black"/>
                  <a:srgbClr val="FEFEFE">
                    <a:tint val="45000"/>
                    <a:satMod val="400000"/>
                  </a:srgbClr>
                </a:duotone>
                <a:extLst>
                  <a:ext uri="{BEBA8EAE-BF5A-486C-A8C5-ECC9F3942E4B}">
                    <a14:imgProps xmlns:a14="http://schemas.microsoft.com/office/drawing/2010/main">
                      <a14:imgLayer r:embed="rId9">
                        <a14:imgEffect>
                          <a14:backgroundRemoval t="2917" b="99167" l="2381" r="97143">
                            <a14:foregroundMark x1="36190" y1="6250" x2="60000" y2="34167"/>
                            <a14:foregroundMark x1="60000" y1="34167" x2="67619" y2="87083"/>
                            <a14:foregroundMark x1="67619" y1="87083" x2="40000" y2="92083"/>
                            <a14:foregroundMark x1="40000" y1="92083" x2="12381" y2="85000"/>
                            <a14:foregroundMark x1="12381" y1="85000" x2="2381" y2="62083"/>
                            <a14:foregroundMark x1="2381" y1="62083" x2="14286" y2="25833"/>
                            <a14:foregroundMark x1="14286" y1="25833" x2="32381" y2="8750"/>
                            <a14:foregroundMark x1="32381" y1="8750" x2="58571" y2="4167"/>
                            <a14:foregroundMark x1="58571" y1="4167" x2="94762" y2="62500"/>
                            <a14:foregroundMark x1="94762" y1="62500" x2="91905" y2="81250"/>
                            <a14:foregroundMark x1="91905" y1="81250" x2="65714" y2="93750"/>
                            <a14:foregroundMark x1="65714" y1="93750" x2="20952" y2="95417"/>
                            <a14:foregroundMark x1="16190" y1="18750" x2="2857" y2="53333"/>
                            <a14:foregroundMark x1="2857" y1="53333" x2="9048" y2="85417"/>
                            <a14:foregroundMark x1="79524" y1="49583" x2="75238" y2="42083"/>
                            <a14:foregroundMark x1="57619" y1="65000" x2="56190" y2="52917"/>
                            <a14:foregroundMark x1="14286" y1="56250" x2="14762" y2="46667"/>
                            <a14:foregroundMark x1="19048" y1="14583" x2="36190" y2="3333"/>
                            <a14:foregroundMark x1="36190" y1="3333" x2="59524" y2="8750"/>
                            <a14:foregroundMark x1="59524" y1="8750" x2="57619" y2="12500"/>
                            <a14:foregroundMark x1="50000" y1="2917" x2="41429" y2="2917"/>
                            <a14:foregroundMark x1="31429" y1="15833" x2="28571" y2="20417"/>
                            <a14:foregroundMark x1="60000" y1="15833" x2="59048" y2="18333"/>
                            <a14:foregroundMark x1="13333" y1="60417" x2="13333" y2="61250"/>
                            <a14:foregroundMark x1="20952" y1="79583" x2="20952" y2="79583"/>
                            <a14:foregroundMark x1="6190" y1="87083" x2="9524" y2="89167"/>
                            <a14:foregroundMark x1="34286" y1="99167" x2="34286" y2="99167"/>
                            <a14:foregroundMark x1="82857" y1="76250" x2="82857" y2="76250"/>
                            <a14:foregroundMark x1="91429" y1="63750" x2="91429" y2="63750"/>
                            <a14:foregroundMark x1="97143" y1="62917" x2="97143" y2="62917"/>
                            <a14:foregroundMark x1="75714" y1="24583" x2="75714" y2="24583"/>
                            <a14:foregroundMark x1="70000" y1="14167" x2="70000" y2="14167"/>
                          </a14:backgroundRemoval>
                        </a14:imgEffect>
                      </a14:imgLayer>
                    </a14:imgProps>
                  </a:ext>
                </a:extLst>
              </a:blip>
              <a:stretch>
                <a:fillRect/>
              </a:stretch>
            </p:blipFill>
            <p:spPr>
              <a:xfrm>
                <a:off x="1806175" y="4652806"/>
                <a:ext cx="814690" cy="931075"/>
              </a:xfrm>
              <a:prstGeom prst="rect">
                <a:avLst/>
              </a:prstGeom>
              <a:noFill/>
              <a:ln>
                <a:noFill/>
              </a:ln>
              <a:effectLst/>
            </p:spPr>
          </p:pic>
          <p:pic>
            <p:nvPicPr>
              <p:cNvPr id="28" name="Picture 27">
                <a:extLst>
                  <a:ext uri="{FF2B5EF4-FFF2-40B4-BE49-F238E27FC236}">
                    <a16:creationId xmlns:a16="http://schemas.microsoft.com/office/drawing/2014/main" id="{90D3A3B7-DCA3-B271-9BDF-3AA39A728E6D}"/>
                  </a:ext>
                </a:extLst>
              </p:cNvPr>
              <p:cNvPicPr>
                <a:picLocks noChangeAspect="1"/>
              </p:cNvPicPr>
              <p:nvPr/>
            </p:nvPicPr>
            <p:blipFill>
              <a:blip r:embed="rId10">
                <a:duotone>
                  <a:prstClr val="black"/>
                  <a:srgbClr val="FEFEFE">
                    <a:tint val="45000"/>
                    <a:satMod val="400000"/>
                  </a:srgbClr>
                </a:duotone>
                <a:extLst>
                  <a:ext uri="{BEBA8EAE-BF5A-486C-A8C5-ECC9F3942E4B}">
                    <a14:imgProps xmlns:a14="http://schemas.microsoft.com/office/drawing/2010/main">
                      <a14:imgLayer r:embed="rId11">
                        <a14:imgEffect>
                          <a14:backgroundRemoval t="2660" b="96809" l="1866" r="97015">
                            <a14:foregroundMark x1="18284" y1="23936" x2="39552" y2="55851"/>
                            <a14:foregroundMark x1="39552" y1="55851" x2="42910" y2="74468"/>
                            <a14:foregroundMark x1="42910" y1="74468" x2="50746" y2="82447"/>
                            <a14:foregroundMark x1="50746" y1="82447" x2="72761" y2="86702"/>
                            <a14:foregroundMark x1="7836" y1="65957" x2="18657" y2="92021"/>
                            <a14:foregroundMark x1="18657" y1="92021" x2="19403" y2="93617"/>
                            <a14:foregroundMark x1="4104" y1="61170" x2="3731" y2="69681"/>
                            <a14:foregroundMark x1="72015" y1="19149" x2="83955" y2="37234"/>
                            <a14:foregroundMark x1="71642" y1="3191" x2="71642" y2="3191"/>
                            <a14:foregroundMark x1="89552" y1="51596" x2="89552" y2="51596"/>
                            <a14:foregroundMark x1="93657" y1="44681" x2="94776" y2="50000"/>
                            <a14:foregroundMark x1="97761" y1="45213" x2="97761" y2="45213"/>
                            <a14:foregroundMark x1="28358" y1="88298" x2="26119" y2="89894"/>
                            <a14:foregroundMark x1="23507" y1="97340" x2="23507" y2="97340"/>
                            <a14:foregroundMark x1="1866" y1="70745" x2="1866" y2="70745"/>
                          </a14:backgroundRemoval>
                        </a14:imgEffect>
                      </a14:imgLayer>
                    </a14:imgProps>
                  </a:ext>
                </a:extLst>
              </a:blip>
              <a:stretch>
                <a:fillRect/>
              </a:stretch>
            </p:blipFill>
            <p:spPr>
              <a:xfrm>
                <a:off x="5261651" y="3994637"/>
                <a:ext cx="1915024" cy="1343375"/>
              </a:xfrm>
              <a:prstGeom prst="rect">
                <a:avLst/>
              </a:prstGeom>
              <a:noFill/>
              <a:ln>
                <a:noFill/>
              </a:ln>
              <a:effectLst/>
            </p:spPr>
          </p:pic>
          <p:sp>
            <p:nvSpPr>
              <p:cNvPr id="29" name="Freeform 22">
                <a:extLst>
                  <a:ext uri="{FF2B5EF4-FFF2-40B4-BE49-F238E27FC236}">
                    <a16:creationId xmlns:a16="http://schemas.microsoft.com/office/drawing/2014/main" id="{51DF9193-13FB-777C-D295-2CF63BD8D615}"/>
                  </a:ext>
                </a:extLst>
              </p:cNvPr>
              <p:cNvSpPr>
                <a:spLocks/>
              </p:cNvSpPr>
              <p:nvPr/>
            </p:nvSpPr>
            <p:spPr bwMode="auto">
              <a:xfrm>
                <a:off x="1142550" y="3748002"/>
                <a:ext cx="6590061" cy="247781"/>
              </a:xfrm>
              <a:custGeom>
                <a:avLst/>
                <a:gdLst>
                  <a:gd name="T0" fmla="*/ 1 w 9966"/>
                  <a:gd name="T1" fmla="*/ 1 h 415"/>
                  <a:gd name="T2" fmla="*/ 1 w 9966"/>
                  <a:gd name="T3" fmla="*/ 1 h 415"/>
                  <a:gd name="T4" fmla="*/ 1 w 9966"/>
                  <a:gd name="T5" fmla="*/ 1 h 415"/>
                  <a:gd name="T6" fmla="*/ 1 w 9966"/>
                  <a:gd name="T7" fmla="*/ 1 h 415"/>
                  <a:gd name="T8" fmla="*/ 1 w 9966"/>
                  <a:gd name="T9" fmla="*/ 1 h 415"/>
                  <a:gd name="T10" fmla="*/ 1 w 9966"/>
                  <a:gd name="T11" fmla="*/ 1 h 415"/>
                  <a:gd name="T12" fmla="*/ 1 w 9966"/>
                  <a:gd name="T13" fmla="*/ 1 h 415"/>
                  <a:gd name="T14" fmla="*/ 1 w 9966"/>
                  <a:gd name="T15" fmla="*/ 1 h 415"/>
                  <a:gd name="T16" fmla="*/ 1 w 9966"/>
                  <a:gd name="T17" fmla="*/ 1 h 415"/>
                  <a:gd name="T18" fmla="*/ 1 w 9966"/>
                  <a:gd name="T19" fmla="*/ 1 h 415"/>
                  <a:gd name="T20" fmla="*/ 1 w 9966"/>
                  <a:gd name="T21" fmla="*/ 1 h 415"/>
                  <a:gd name="T22" fmla="*/ 1 w 9966"/>
                  <a:gd name="T23" fmla="*/ 1 h 415"/>
                  <a:gd name="T24" fmla="*/ 1 w 9966"/>
                  <a:gd name="T25" fmla="*/ 1 h 415"/>
                  <a:gd name="T26" fmla="*/ 1 w 9966"/>
                  <a:gd name="T27" fmla="*/ 1 h 415"/>
                  <a:gd name="T28" fmla="*/ 1 w 9966"/>
                  <a:gd name="T29" fmla="*/ 1 h 415"/>
                  <a:gd name="T30" fmla="*/ 1 w 9966"/>
                  <a:gd name="T31" fmla="*/ 1 h 415"/>
                  <a:gd name="T32" fmla="*/ 1 w 9966"/>
                  <a:gd name="T33" fmla="*/ 1 h 415"/>
                  <a:gd name="T34" fmla="*/ 1 w 9966"/>
                  <a:gd name="T35" fmla="*/ 1 h 415"/>
                  <a:gd name="T36" fmla="*/ 1 w 9966"/>
                  <a:gd name="T37" fmla="*/ 1 h 415"/>
                  <a:gd name="T38" fmla="*/ 1 w 9966"/>
                  <a:gd name="T39" fmla="*/ 1 h 415"/>
                  <a:gd name="T40" fmla="*/ 1 w 9966"/>
                  <a:gd name="T41" fmla="*/ 1 h 415"/>
                  <a:gd name="T42" fmla="*/ 1 w 9966"/>
                  <a:gd name="T43" fmla="*/ 1 h 415"/>
                  <a:gd name="T44" fmla="*/ 1 w 9966"/>
                  <a:gd name="T45" fmla="*/ 1 h 415"/>
                  <a:gd name="T46" fmla="*/ 1 w 9966"/>
                  <a:gd name="T47" fmla="*/ 1 h 415"/>
                  <a:gd name="T48" fmla="*/ 1 w 9966"/>
                  <a:gd name="T49" fmla="*/ 1 h 415"/>
                  <a:gd name="T50" fmla="*/ 1 w 9966"/>
                  <a:gd name="T51" fmla="*/ 1 h 415"/>
                  <a:gd name="T52" fmla="*/ 1 w 9966"/>
                  <a:gd name="T53" fmla="*/ 1 h 415"/>
                  <a:gd name="T54" fmla="*/ 1 w 9966"/>
                  <a:gd name="T55" fmla="*/ 1 h 415"/>
                  <a:gd name="T56" fmla="*/ 1 w 9966"/>
                  <a:gd name="T57" fmla="*/ 1 h 415"/>
                  <a:gd name="T58" fmla="*/ 1 w 9966"/>
                  <a:gd name="T59" fmla="*/ 1 h 415"/>
                  <a:gd name="T60" fmla="*/ 1 w 9966"/>
                  <a:gd name="T61" fmla="*/ 1 h 415"/>
                  <a:gd name="T62" fmla="*/ 1 w 9966"/>
                  <a:gd name="T63" fmla="*/ 1 h 415"/>
                  <a:gd name="T64" fmla="*/ 1 w 9966"/>
                  <a:gd name="T65" fmla="*/ 1 h 415"/>
                  <a:gd name="T66" fmla="*/ 1 w 9966"/>
                  <a:gd name="T67" fmla="*/ 1 h 415"/>
                  <a:gd name="T68" fmla="*/ 1 w 9966"/>
                  <a:gd name="T69" fmla="*/ 1 h 415"/>
                  <a:gd name="T70" fmla="*/ 1 w 9966"/>
                  <a:gd name="T71" fmla="*/ 1 h 415"/>
                  <a:gd name="T72" fmla="*/ 1 w 9966"/>
                  <a:gd name="T73" fmla="*/ 1 h 415"/>
                  <a:gd name="T74" fmla="*/ 1 w 9966"/>
                  <a:gd name="T75" fmla="*/ 1 h 415"/>
                  <a:gd name="T76" fmla="*/ 1 w 9966"/>
                  <a:gd name="T77" fmla="*/ 1 h 415"/>
                  <a:gd name="T78" fmla="*/ 1 w 9966"/>
                  <a:gd name="T79" fmla="*/ 1 h 415"/>
                  <a:gd name="T80" fmla="*/ 1 w 9966"/>
                  <a:gd name="T81" fmla="*/ 1 h 415"/>
                  <a:gd name="T82" fmla="*/ 1 w 9966"/>
                  <a:gd name="T83" fmla="*/ 1 h 415"/>
                  <a:gd name="T84" fmla="*/ 1 w 9966"/>
                  <a:gd name="T85" fmla="*/ 1 h 415"/>
                  <a:gd name="T86" fmla="*/ 1 w 9966"/>
                  <a:gd name="T87" fmla="*/ 1 h 415"/>
                  <a:gd name="T88" fmla="*/ 1 w 9966"/>
                  <a:gd name="T89" fmla="*/ 1 h 415"/>
                  <a:gd name="T90" fmla="*/ 1 w 9966"/>
                  <a:gd name="T91" fmla="*/ 1 h 415"/>
                  <a:gd name="T92" fmla="*/ 1 w 9966"/>
                  <a:gd name="T93" fmla="*/ 1 h 41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9966"/>
                  <a:gd name="T142" fmla="*/ 0 h 415"/>
                  <a:gd name="T143" fmla="*/ 9966 w 9966"/>
                  <a:gd name="T144" fmla="*/ 415 h 415"/>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9966" h="415">
                    <a:moveTo>
                      <a:pt x="0" y="415"/>
                    </a:moveTo>
                    <a:lnTo>
                      <a:pt x="352" y="280"/>
                    </a:lnTo>
                    <a:lnTo>
                      <a:pt x="643" y="186"/>
                    </a:lnTo>
                    <a:lnTo>
                      <a:pt x="877" y="138"/>
                    </a:lnTo>
                    <a:lnTo>
                      <a:pt x="897" y="138"/>
                    </a:lnTo>
                    <a:lnTo>
                      <a:pt x="920" y="139"/>
                    </a:lnTo>
                    <a:lnTo>
                      <a:pt x="969" y="145"/>
                    </a:lnTo>
                    <a:lnTo>
                      <a:pt x="1076" y="167"/>
                    </a:lnTo>
                    <a:lnTo>
                      <a:pt x="1316" y="240"/>
                    </a:lnTo>
                    <a:lnTo>
                      <a:pt x="1553" y="313"/>
                    </a:lnTo>
                    <a:lnTo>
                      <a:pt x="1660" y="338"/>
                    </a:lnTo>
                    <a:lnTo>
                      <a:pt x="1709" y="344"/>
                    </a:lnTo>
                    <a:lnTo>
                      <a:pt x="1731" y="346"/>
                    </a:lnTo>
                    <a:lnTo>
                      <a:pt x="1754" y="347"/>
                    </a:lnTo>
                    <a:lnTo>
                      <a:pt x="1858" y="334"/>
                    </a:lnTo>
                    <a:lnTo>
                      <a:pt x="1981" y="302"/>
                    </a:lnTo>
                    <a:lnTo>
                      <a:pt x="2250" y="206"/>
                    </a:lnTo>
                    <a:lnTo>
                      <a:pt x="2519" y="112"/>
                    </a:lnTo>
                    <a:lnTo>
                      <a:pt x="2640" y="81"/>
                    </a:lnTo>
                    <a:lnTo>
                      <a:pt x="2695" y="72"/>
                    </a:lnTo>
                    <a:lnTo>
                      <a:pt x="2720" y="71"/>
                    </a:lnTo>
                    <a:lnTo>
                      <a:pt x="2747" y="70"/>
                    </a:lnTo>
                    <a:lnTo>
                      <a:pt x="2767" y="70"/>
                    </a:lnTo>
                    <a:lnTo>
                      <a:pt x="2790" y="72"/>
                    </a:lnTo>
                    <a:lnTo>
                      <a:pt x="2839" y="81"/>
                    </a:lnTo>
                    <a:lnTo>
                      <a:pt x="2946" y="113"/>
                    </a:lnTo>
                    <a:lnTo>
                      <a:pt x="3184" y="210"/>
                    </a:lnTo>
                    <a:lnTo>
                      <a:pt x="3420" y="305"/>
                    </a:lnTo>
                    <a:lnTo>
                      <a:pt x="3527" y="336"/>
                    </a:lnTo>
                    <a:lnTo>
                      <a:pt x="3576" y="344"/>
                    </a:lnTo>
                    <a:lnTo>
                      <a:pt x="3599" y="346"/>
                    </a:lnTo>
                    <a:lnTo>
                      <a:pt x="3622" y="347"/>
                    </a:lnTo>
                    <a:lnTo>
                      <a:pt x="3701" y="336"/>
                    </a:lnTo>
                    <a:lnTo>
                      <a:pt x="3792" y="303"/>
                    </a:lnTo>
                    <a:lnTo>
                      <a:pt x="3991" y="209"/>
                    </a:lnTo>
                    <a:lnTo>
                      <a:pt x="4190" y="115"/>
                    </a:lnTo>
                    <a:lnTo>
                      <a:pt x="4280" y="83"/>
                    </a:lnTo>
                    <a:lnTo>
                      <a:pt x="4361" y="70"/>
                    </a:lnTo>
                    <a:lnTo>
                      <a:pt x="4381" y="70"/>
                    </a:lnTo>
                    <a:lnTo>
                      <a:pt x="4404" y="71"/>
                    </a:lnTo>
                    <a:lnTo>
                      <a:pt x="4453" y="80"/>
                    </a:lnTo>
                    <a:lnTo>
                      <a:pt x="4562" y="112"/>
                    </a:lnTo>
                    <a:lnTo>
                      <a:pt x="4799" y="211"/>
                    </a:lnTo>
                    <a:lnTo>
                      <a:pt x="5036" y="308"/>
                    </a:lnTo>
                    <a:lnTo>
                      <a:pt x="5142" y="338"/>
                    </a:lnTo>
                    <a:lnTo>
                      <a:pt x="5191" y="344"/>
                    </a:lnTo>
                    <a:lnTo>
                      <a:pt x="5214" y="346"/>
                    </a:lnTo>
                    <a:lnTo>
                      <a:pt x="5238" y="347"/>
                    </a:lnTo>
                    <a:lnTo>
                      <a:pt x="5315" y="329"/>
                    </a:lnTo>
                    <a:lnTo>
                      <a:pt x="5404" y="290"/>
                    </a:lnTo>
                    <a:lnTo>
                      <a:pt x="5594" y="176"/>
                    </a:lnTo>
                    <a:lnTo>
                      <a:pt x="5784" y="62"/>
                    </a:lnTo>
                    <a:lnTo>
                      <a:pt x="5871" y="22"/>
                    </a:lnTo>
                    <a:lnTo>
                      <a:pt x="5952" y="1"/>
                    </a:lnTo>
                    <a:lnTo>
                      <a:pt x="6001" y="0"/>
                    </a:lnTo>
                    <a:lnTo>
                      <a:pt x="6028" y="1"/>
                    </a:lnTo>
                    <a:lnTo>
                      <a:pt x="6057" y="5"/>
                    </a:lnTo>
                    <a:lnTo>
                      <a:pt x="6179" y="34"/>
                    </a:lnTo>
                    <a:lnTo>
                      <a:pt x="6449" y="133"/>
                    </a:lnTo>
                    <a:lnTo>
                      <a:pt x="6717" y="234"/>
                    </a:lnTo>
                    <a:lnTo>
                      <a:pt x="6838" y="266"/>
                    </a:lnTo>
                    <a:lnTo>
                      <a:pt x="6894" y="275"/>
                    </a:lnTo>
                    <a:lnTo>
                      <a:pt x="6918" y="276"/>
                    </a:lnTo>
                    <a:lnTo>
                      <a:pt x="6945" y="277"/>
                    </a:lnTo>
                    <a:lnTo>
                      <a:pt x="7028" y="265"/>
                    </a:lnTo>
                    <a:lnTo>
                      <a:pt x="7125" y="231"/>
                    </a:lnTo>
                    <a:lnTo>
                      <a:pt x="7337" y="135"/>
                    </a:lnTo>
                    <a:lnTo>
                      <a:pt x="7548" y="41"/>
                    </a:lnTo>
                    <a:lnTo>
                      <a:pt x="7643" y="12"/>
                    </a:lnTo>
                    <a:lnTo>
                      <a:pt x="7686" y="3"/>
                    </a:lnTo>
                    <a:lnTo>
                      <a:pt x="7706" y="2"/>
                    </a:lnTo>
                    <a:lnTo>
                      <a:pt x="7729" y="1"/>
                    </a:lnTo>
                    <a:lnTo>
                      <a:pt x="7745" y="1"/>
                    </a:lnTo>
                    <a:lnTo>
                      <a:pt x="7763" y="3"/>
                    </a:lnTo>
                    <a:lnTo>
                      <a:pt x="7801" y="12"/>
                    </a:lnTo>
                    <a:lnTo>
                      <a:pt x="7883" y="44"/>
                    </a:lnTo>
                    <a:lnTo>
                      <a:pt x="8063" y="139"/>
                    </a:lnTo>
                    <a:lnTo>
                      <a:pt x="8241" y="234"/>
                    </a:lnTo>
                    <a:lnTo>
                      <a:pt x="8324" y="266"/>
                    </a:lnTo>
                    <a:lnTo>
                      <a:pt x="8361" y="275"/>
                    </a:lnTo>
                    <a:lnTo>
                      <a:pt x="8378" y="276"/>
                    </a:lnTo>
                    <a:lnTo>
                      <a:pt x="8398" y="277"/>
                    </a:lnTo>
                    <a:lnTo>
                      <a:pt x="8466" y="267"/>
                    </a:lnTo>
                    <a:lnTo>
                      <a:pt x="8542" y="235"/>
                    </a:lnTo>
                    <a:lnTo>
                      <a:pt x="8709" y="141"/>
                    </a:lnTo>
                    <a:lnTo>
                      <a:pt x="8875" y="46"/>
                    </a:lnTo>
                    <a:lnTo>
                      <a:pt x="8952" y="14"/>
                    </a:lnTo>
                    <a:lnTo>
                      <a:pt x="9021" y="1"/>
                    </a:lnTo>
                    <a:lnTo>
                      <a:pt x="9044" y="1"/>
                    </a:lnTo>
                    <a:lnTo>
                      <a:pt x="9072" y="2"/>
                    </a:lnTo>
                    <a:lnTo>
                      <a:pt x="9132" y="12"/>
                    </a:lnTo>
                    <a:lnTo>
                      <a:pt x="9273" y="51"/>
                    </a:lnTo>
                    <a:lnTo>
                      <a:pt x="9587" y="170"/>
                    </a:lnTo>
                    <a:lnTo>
                      <a:pt x="9966" y="347"/>
                    </a:lnTo>
                  </a:path>
                </a:pathLst>
              </a:custGeom>
              <a:solidFill>
                <a:srgbClr val="A4C9F9"/>
              </a:solidFill>
              <a:ln>
                <a:noFill/>
              </a:ln>
            </p:spPr>
            <p:style>
              <a:lnRef idx="2">
                <a:schemeClr val="accent1">
                  <a:shade val="50000"/>
                </a:schemeClr>
              </a:lnRef>
              <a:fillRef idx="1">
                <a:schemeClr val="accent1"/>
              </a:fillRef>
              <a:effectRef idx="0">
                <a:schemeClr val="accent1"/>
              </a:effectRef>
              <a:fontRef idx="minor">
                <a:schemeClr val="lt1"/>
              </a:fontRef>
            </p:style>
            <p:txBody>
              <a:bodyPr lIns="68598" tIns="34299" rIns="68598" bIns="34299" anchor="ctr"/>
              <a:lstStyle>
                <a:defPPr>
                  <a:defRPr lang="en-US"/>
                </a:defPPr>
                <a:lvl1pPr algn="l" rtl="0" eaLnBrk="0" fontAlgn="base" hangingPunct="0">
                  <a:spcBef>
                    <a:spcPct val="0"/>
                  </a:spcBef>
                  <a:spcAft>
                    <a:spcPct val="0"/>
                  </a:spcAft>
                  <a:defRPr sz="900" b="1" kern="1200">
                    <a:solidFill>
                      <a:schemeClr val="lt1"/>
                    </a:solidFill>
                    <a:latin typeface="+mn-lt"/>
                    <a:ea typeface="+mn-ea"/>
                    <a:cs typeface="+mn-cs"/>
                  </a:defRPr>
                </a:lvl1pPr>
                <a:lvl2pPr marL="457200" algn="l" rtl="0" eaLnBrk="0" fontAlgn="base" hangingPunct="0">
                  <a:spcBef>
                    <a:spcPct val="0"/>
                  </a:spcBef>
                  <a:spcAft>
                    <a:spcPct val="0"/>
                  </a:spcAft>
                  <a:defRPr sz="900" b="1" kern="1200">
                    <a:solidFill>
                      <a:schemeClr val="lt1"/>
                    </a:solidFill>
                    <a:latin typeface="+mn-lt"/>
                    <a:ea typeface="+mn-ea"/>
                    <a:cs typeface="+mn-cs"/>
                  </a:defRPr>
                </a:lvl2pPr>
                <a:lvl3pPr marL="914400" algn="l" rtl="0" eaLnBrk="0" fontAlgn="base" hangingPunct="0">
                  <a:spcBef>
                    <a:spcPct val="0"/>
                  </a:spcBef>
                  <a:spcAft>
                    <a:spcPct val="0"/>
                  </a:spcAft>
                  <a:defRPr sz="900" b="1" kern="1200">
                    <a:solidFill>
                      <a:schemeClr val="lt1"/>
                    </a:solidFill>
                    <a:latin typeface="+mn-lt"/>
                    <a:ea typeface="+mn-ea"/>
                    <a:cs typeface="+mn-cs"/>
                  </a:defRPr>
                </a:lvl3pPr>
                <a:lvl4pPr marL="1371600" algn="l" rtl="0" eaLnBrk="0" fontAlgn="base" hangingPunct="0">
                  <a:spcBef>
                    <a:spcPct val="0"/>
                  </a:spcBef>
                  <a:spcAft>
                    <a:spcPct val="0"/>
                  </a:spcAft>
                  <a:defRPr sz="900" b="1" kern="1200">
                    <a:solidFill>
                      <a:schemeClr val="lt1"/>
                    </a:solidFill>
                    <a:latin typeface="+mn-lt"/>
                    <a:ea typeface="+mn-ea"/>
                    <a:cs typeface="+mn-cs"/>
                  </a:defRPr>
                </a:lvl4pPr>
                <a:lvl5pPr marL="1828800" algn="l" rtl="0" eaLnBrk="0" fontAlgn="base" hangingPunct="0">
                  <a:spcBef>
                    <a:spcPct val="0"/>
                  </a:spcBef>
                  <a:spcAft>
                    <a:spcPct val="0"/>
                  </a:spcAft>
                  <a:defRPr sz="900" b="1" kern="1200">
                    <a:solidFill>
                      <a:schemeClr val="lt1"/>
                    </a:solidFill>
                    <a:latin typeface="+mn-lt"/>
                    <a:ea typeface="+mn-ea"/>
                    <a:cs typeface="+mn-cs"/>
                  </a:defRPr>
                </a:lvl5pPr>
                <a:lvl6pPr marL="2286000" algn="l" defTabSz="914400" rtl="0" eaLnBrk="1" latinLnBrk="0" hangingPunct="1">
                  <a:defRPr sz="900" b="1" kern="1200">
                    <a:solidFill>
                      <a:schemeClr val="lt1"/>
                    </a:solidFill>
                    <a:latin typeface="+mn-lt"/>
                    <a:ea typeface="+mn-ea"/>
                    <a:cs typeface="+mn-cs"/>
                  </a:defRPr>
                </a:lvl6pPr>
                <a:lvl7pPr marL="2743200" algn="l" defTabSz="914400" rtl="0" eaLnBrk="1" latinLnBrk="0" hangingPunct="1">
                  <a:defRPr sz="900" b="1" kern="1200">
                    <a:solidFill>
                      <a:schemeClr val="lt1"/>
                    </a:solidFill>
                    <a:latin typeface="+mn-lt"/>
                    <a:ea typeface="+mn-ea"/>
                    <a:cs typeface="+mn-cs"/>
                  </a:defRPr>
                </a:lvl7pPr>
                <a:lvl8pPr marL="3200400" algn="l" defTabSz="914400" rtl="0" eaLnBrk="1" latinLnBrk="0" hangingPunct="1">
                  <a:defRPr sz="900" b="1" kern="1200">
                    <a:solidFill>
                      <a:schemeClr val="lt1"/>
                    </a:solidFill>
                    <a:latin typeface="+mn-lt"/>
                    <a:ea typeface="+mn-ea"/>
                    <a:cs typeface="+mn-cs"/>
                  </a:defRPr>
                </a:lvl8pPr>
                <a:lvl9pPr marL="3657600" algn="l" defTabSz="914400" rtl="0" eaLnBrk="1" latinLnBrk="0" hangingPunct="1">
                  <a:defRPr sz="900" b="1" kern="1200">
                    <a:solidFill>
                      <a:schemeClr val="lt1"/>
                    </a:solidFill>
                    <a:latin typeface="+mn-lt"/>
                    <a:ea typeface="+mn-ea"/>
                    <a:cs typeface="+mn-cs"/>
                  </a:defRPr>
                </a:lvl9pPr>
              </a:lstStyle>
              <a:p>
                <a:pPr algn="ctr">
                  <a:lnSpc>
                    <a:spcPct val="80000"/>
                  </a:lnSpc>
                  <a:spcBef>
                    <a:spcPct val="20000"/>
                  </a:spcBef>
                  <a:defRPr/>
                </a:pPr>
                <a:endParaRPr lang="en-US" sz="675"/>
              </a:p>
            </p:txBody>
          </p:sp>
          <p:sp>
            <p:nvSpPr>
              <p:cNvPr id="30" name="Rectangle 29">
                <a:extLst>
                  <a:ext uri="{FF2B5EF4-FFF2-40B4-BE49-F238E27FC236}">
                    <a16:creationId xmlns:a16="http://schemas.microsoft.com/office/drawing/2014/main" id="{6B62B85D-7326-6D64-5A9E-763F71F95713}"/>
                  </a:ext>
                </a:extLst>
              </p:cNvPr>
              <p:cNvSpPr>
                <a:spLocks noChangeArrowheads="1"/>
              </p:cNvSpPr>
              <p:nvPr/>
            </p:nvSpPr>
            <p:spPr bwMode="auto">
              <a:xfrm>
                <a:off x="6308432" y="4108646"/>
                <a:ext cx="536931" cy="201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Long</a:t>
                </a:r>
              </a:p>
            </p:txBody>
          </p:sp>
          <p:sp>
            <p:nvSpPr>
              <p:cNvPr id="31" name="Rectangle 30">
                <a:extLst>
                  <a:ext uri="{FF2B5EF4-FFF2-40B4-BE49-F238E27FC236}">
                    <a16:creationId xmlns:a16="http://schemas.microsoft.com/office/drawing/2014/main" id="{00BB6F00-39EA-F098-9AD6-5F2A3C7CA359}"/>
                  </a:ext>
                </a:extLst>
              </p:cNvPr>
              <p:cNvSpPr>
                <a:spLocks noChangeArrowheads="1"/>
              </p:cNvSpPr>
              <p:nvPr/>
            </p:nvSpPr>
            <p:spPr bwMode="auto">
              <a:xfrm>
                <a:off x="6402379" y="4288276"/>
                <a:ext cx="383156"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Set-Up</a:t>
                </a:r>
              </a:p>
            </p:txBody>
          </p:sp>
          <p:sp>
            <p:nvSpPr>
              <p:cNvPr id="32" name="Rectangle 31">
                <a:extLst>
                  <a:ext uri="{FF2B5EF4-FFF2-40B4-BE49-F238E27FC236}">
                    <a16:creationId xmlns:a16="http://schemas.microsoft.com/office/drawing/2014/main" id="{302CB1E0-A923-18FB-118B-96F51D9FD385}"/>
                  </a:ext>
                </a:extLst>
              </p:cNvPr>
              <p:cNvSpPr>
                <a:spLocks noChangeArrowheads="1"/>
              </p:cNvSpPr>
              <p:nvPr/>
            </p:nvSpPr>
            <p:spPr bwMode="auto">
              <a:xfrm>
                <a:off x="6387511" y="4439142"/>
                <a:ext cx="343431"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  Time</a:t>
                </a:r>
              </a:p>
            </p:txBody>
          </p:sp>
          <p:sp>
            <p:nvSpPr>
              <p:cNvPr id="33" name="Rectangle 32">
                <a:extLst>
                  <a:ext uri="{FF2B5EF4-FFF2-40B4-BE49-F238E27FC236}">
                    <a16:creationId xmlns:a16="http://schemas.microsoft.com/office/drawing/2014/main" id="{696349D5-97C9-6F8C-0270-A3C1340C56B4}"/>
                  </a:ext>
                </a:extLst>
              </p:cNvPr>
              <p:cNvSpPr>
                <a:spLocks noChangeArrowheads="1"/>
              </p:cNvSpPr>
              <p:nvPr/>
            </p:nvSpPr>
            <p:spPr bwMode="auto">
              <a:xfrm>
                <a:off x="4698056" y="4596118"/>
                <a:ext cx="354964"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a:solidFill>
                      <a:schemeClr val="bg1"/>
                    </a:solidFill>
                    <a:latin typeface="+mn-lt"/>
                  </a:rPr>
                  <a:t>  Poor </a:t>
                </a:r>
              </a:p>
            </p:txBody>
          </p:sp>
          <p:sp>
            <p:nvSpPr>
              <p:cNvPr id="34" name="Rectangle 33">
                <a:extLst>
                  <a:ext uri="{FF2B5EF4-FFF2-40B4-BE49-F238E27FC236}">
                    <a16:creationId xmlns:a16="http://schemas.microsoft.com/office/drawing/2014/main" id="{79E1C566-CB63-9480-BE7C-3EBC8E207CBA}"/>
                  </a:ext>
                </a:extLst>
              </p:cNvPr>
              <p:cNvSpPr>
                <a:spLocks noChangeArrowheads="1"/>
              </p:cNvSpPr>
              <p:nvPr/>
            </p:nvSpPr>
            <p:spPr bwMode="auto">
              <a:xfrm>
                <a:off x="4692899" y="4809294"/>
                <a:ext cx="388922"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a:solidFill>
                      <a:schemeClr val="bg1"/>
                    </a:solidFill>
                    <a:latin typeface="+mn-lt"/>
                  </a:rPr>
                  <a:t>Quality</a:t>
                </a:r>
              </a:p>
            </p:txBody>
          </p:sp>
          <p:sp>
            <p:nvSpPr>
              <p:cNvPr id="35" name="Rectangle 34">
                <a:extLst>
                  <a:ext uri="{FF2B5EF4-FFF2-40B4-BE49-F238E27FC236}">
                    <a16:creationId xmlns:a16="http://schemas.microsoft.com/office/drawing/2014/main" id="{6C40B950-2393-57A4-959C-9E0AE2E42F8D}"/>
                  </a:ext>
                </a:extLst>
              </p:cNvPr>
              <p:cNvSpPr>
                <a:spLocks noChangeArrowheads="1"/>
              </p:cNvSpPr>
              <p:nvPr/>
            </p:nvSpPr>
            <p:spPr bwMode="auto">
              <a:xfrm>
                <a:off x="1958364" y="5017944"/>
                <a:ext cx="406863"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Lack of</a:t>
                </a:r>
              </a:p>
            </p:txBody>
          </p:sp>
          <p:sp>
            <p:nvSpPr>
              <p:cNvPr id="36" name="Rectangle 35">
                <a:extLst>
                  <a:ext uri="{FF2B5EF4-FFF2-40B4-BE49-F238E27FC236}">
                    <a16:creationId xmlns:a16="http://schemas.microsoft.com/office/drawing/2014/main" id="{47BC91C5-2A78-286B-397D-4E84DD976B93}"/>
                  </a:ext>
                </a:extLst>
              </p:cNvPr>
              <p:cNvSpPr>
                <a:spLocks noChangeArrowheads="1"/>
              </p:cNvSpPr>
              <p:nvPr/>
            </p:nvSpPr>
            <p:spPr bwMode="auto">
              <a:xfrm>
                <a:off x="1931134" y="5160936"/>
                <a:ext cx="461325"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Training</a:t>
                </a:r>
              </a:p>
            </p:txBody>
          </p:sp>
          <p:sp>
            <p:nvSpPr>
              <p:cNvPr id="37" name="Rectangle 36">
                <a:extLst>
                  <a:ext uri="{FF2B5EF4-FFF2-40B4-BE49-F238E27FC236}">
                    <a16:creationId xmlns:a16="http://schemas.microsoft.com/office/drawing/2014/main" id="{2B38A61B-5543-4F1F-8AD9-8D531BA4A693}"/>
                  </a:ext>
                </a:extLst>
              </p:cNvPr>
              <p:cNvSpPr>
                <a:spLocks noChangeArrowheads="1"/>
              </p:cNvSpPr>
              <p:nvPr/>
            </p:nvSpPr>
            <p:spPr bwMode="auto">
              <a:xfrm>
                <a:off x="6345026" y="4704364"/>
                <a:ext cx="536931"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  Machine</a:t>
                </a:r>
              </a:p>
            </p:txBody>
          </p:sp>
          <p:sp>
            <p:nvSpPr>
              <p:cNvPr id="38" name="Rectangle 37">
                <a:extLst>
                  <a:ext uri="{FF2B5EF4-FFF2-40B4-BE49-F238E27FC236}">
                    <a16:creationId xmlns:a16="http://schemas.microsoft.com/office/drawing/2014/main" id="{CD3DD200-B290-18FC-0133-777BB3B38E39}"/>
                  </a:ext>
                </a:extLst>
              </p:cNvPr>
              <p:cNvSpPr>
                <a:spLocks noChangeArrowheads="1"/>
              </p:cNvSpPr>
              <p:nvPr/>
            </p:nvSpPr>
            <p:spPr bwMode="auto">
              <a:xfrm>
                <a:off x="6411218" y="4894008"/>
                <a:ext cx="639447"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Down-Time</a:t>
                </a:r>
              </a:p>
            </p:txBody>
          </p:sp>
          <p:sp>
            <p:nvSpPr>
              <p:cNvPr id="39" name="Rectangle 38">
                <a:extLst>
                  <a:ext uri="{FF2B5EF4-FFF2-40B4-BE49-F238E27FC236}">
                    <a16:creationId xmlns:a16="http://schemas.microsoft.com/office/drawing/2014/main" id="{16E4B1C4-EB4D-4081-3A65-A64BDB97C063}"/>
                  </a:ext>
                </a:extLst>
              </p:cNvPr>
              <p:cNvSpPr>
                <a:spLocks noChangeArrowheads="1"/>
              </p:cNvSpPr>
              <p:nvPr/>
            </p:nvSpPr>
            <p:spPr bwMode="auto">
              <a:xfrm>
                <a:off x="3151704" y="4842641"/>
                <a:ext cx="416474"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a:solidFill>
                      <a:schemeClr val="bg1"/>
                    </a:solidFill>
                    <a:latin typeface="+mn-lt"/>
                  </a:rPr>
                  <a:t>     Poor</a:t>
                </a:r>
              </a:p>
            </p:txBody>
          </p:sp>
          <p:sp>
            <p:nvSpPr>
              <p:cNvPr id="40" name="Rectangle 39">
                <a:extLst>
                  <a:ext uri="{FF2B5EF4-FFF2-40B4-BE49-F238E27FC236}">
                    <a16:creationId xmlns:a16="http://schemas.microsoft.com/office/drawing/2014/main" id="{459D807B-6FC3-FC6A-06D8-00D70A9063E2}"/>
                  </a:ext>
                </a:extLst>
              </p:cNvPr>
              <p:cNvSpPr>
                <a:spLocks noChangeArrowheads="1"/>
              </p:cNvSpPr>
              <p:nvPr/>
            </p:nvSpPr>
            <p:spPr bwMode="auto">
              <a:xfrm>
                <a:off x="3175536" y="5058201"/>
                <a:ext cx="618944" cy="928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a:solidFill>
                      <a:schemeClr val="bg1"/>
                    </a:solidFill>
                    <a:latin typeface="+mn-lt"/>
                  </a:rPr>
                  <a:t>Scheduling</a:t>
                </a:r>
              </a:p>
            </p:txBody>
          </p:sp>
        </p:grpSp>
        <p:sp>
          <p:nvSpPr>
            <p:cNvPr id="4" name="Text Box 40">
              <a:extLst>
                <a:ext uri="{FF2B5EF4-FFF2-40B4-BE49-F238E27FC236}">
                  <a16:creationId xmlns:a16="http://schemas.microsoft.com/office/drawing/2014/main" id="{C9BAE10A-3F9E-AAF0-B627-F3093B14E46C}"/>
                </a:ext>
              </a:extLst>
            </p:cNvPr>
            <p:cNvSpPr txBox="1">
              <a:spLocks noChangeArrowheads="1"/>
            </p:cNvSpPr>
            <p:nvPr/>
          </p:nvSpPr>
          <p:spPr bwMode="auto">
            <a:xfrm>
              <a:off x="10443640" y="6532288"/>
              <a:ext cx="3258592" cy="218037"/>
            </a:xfrm>
            <a:prstGeom prst="rect">
              <a:avLst/>
            </a:prstGeom>
            <a:noFill/>
            <a:ln w="9525">
              <a:noFill/>
              <a:miter lim="800000"/>
              <a:headEnd/>
              <a:tailEnd/>
            </a:ln>
          </p:spPr>
          <p:txBody>
            <a:bodyPr wrap="none" anchor="ctr">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defTabSz="685983" fontAlgn="auto">
                <a:spcBef>
                  <a:spcPts val="0"/>
                </a:spcBef>
                <a:spcAft>
                  <a:spcPts val="0"/>
                </a:spcAft>
                <a:defRPr/>
              </a:pPr>
              <a:r>
                <a:rPr lang="en-US" sz="2400" u="sng" dirty="0">
                  <a:solidFill>
                    <a:schemeClr val="tx1"/>
                  </a:solidFill>
                  <a:latin typeface="+mn-lt"/>
                  <a:ea typeface="+mn-ea"/>
                </a:rPr>
                <a:t>Sea of Excess Inventory,  Manpower, Equipment </a:t>
              </a:r>
            </a:p>
          </p:txBody>
        </p:sp>
        <p:sp>
          <p:nvSpPr>
            <p:cNvPr id="6" name="Rectangle 5">
              <a:extLst>
                <a:ext uri="{FF2B5EF4-FFF2-40B4-BE49-F238E27FC236}">
                  <a16:creationId xmlns:a16="http://schemas.microsoft.com/office/drawing/2014/main" id="{7416D4D4-1DF6-BC15-C1E6-C92DE2DF0F08}"/>
                </a:ext>
              </a:extLst>
            </p:cNvPr>
            <p:cNvSpPr>
              <a:spLocks noChangeArrowheads="1"/>
            </p:cNvSpPr>
            <p:nvPr/>
          </p:nvSpPr>
          <p:spPr bwMode="auto">
            <a:xfrm>
              <a:off x="13316490" y="7145698"/>
              <a:ext cx="977481" cy="28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defPPr>
                <a:defRPr lang="en-US"/>
              </a:defPPr>
              <a:lvl1pPr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900" b="1" kern="1200">
                  <a:solidFill>
                    <a:schemeClr val="bg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900" b="1" kern="1200">
                  <a:solidFill>
                    <a:schemeClr val="bg1"/>
                  </a:solidFill>
                  <a:latin typeface="Arial" panose="020B0604020202020204" pitchFamily="34" charset="0"/>
                  <a:ea typeface="ＭＳ Ｐゴシック" panose="020B0600070205080204" pitchFamily="34" charset="-128"/>
                  <a:cs typeface="+mn-cs"/>
                </a:defRPr>
              </a:lvl9pPr>
            </a:lstStyle>
            <a:p>
              <a:pPr algn="ctr">
                <a:lnSpc>
                  <a:spcPct val="80000"/>
                </a:lnSpc>
                <a:spcBef>
                  <a:spcPct val="20000"/>
                </a:spcBef>
                <a:spcAft>
                  <a:spcPct val="0"/>
                </a:spcAft>
                <a:buClrTx/>
                <a:buSzTx/>
                <a:buFontTx/>
                <a:buNone/>
              </a:pPr>
              <a:r>
                <a:rPr lang="en-US" altLang="en-US" sz="2400" dirty="0">
                  <a:solidFill>
                    <a:schemeClr val="bg1"/>
                  </a:solidFill>
                  <a:latin typeface="+mn-lt"/>
                </a:rPr>
                <a:t>  No Standard Work</a:t>
              </a:r>
            </a:p>
          </p:txBody>
        </p:sp>
        <p:pic>
          <p:nvPicPr>
            <p:cNvPr id="7" name="Picture 6" descr="Image result for alligator">
              <a:extLst>
                <a:ext uri="{FF2B5EF4-FFF2-40B4-BE49-F238E27FC236}">
                  <a16:creationId xmlns:a16="http://schemas.microsoft.com/office/drawing/2014/main" id="{ED450F8B-E33B-A174-D331-5E85519D878B}"/>
                </a:ext>
              </a:extLst>
            </p:cNvPr>
            <p:cNvPicPr>
              <a:picLocks noChangeAspect="1" noChangeArrowheads="1"/>
            </p:cNvPicPr>
            <p:nvPr/>
          </p:nvPicPr>
          <p:blipFill>
            <a:blip r:embed="rId12" cstate="print">
              <a:duotone>
                <a:prstClr val="black"/>
                <a:srgbClr val="006699">
                  <a:tint val="45000"/>
                  <a:satMod val="400000"/>
                </a:srgbClr>
              </a:duotone>
              <a:extLst>
                <a:ext uri="{BEBA8EAE-BF5A-486C-A8C5-ECC9F3942E4B}">
                  <a14:imgProps xmlns:a14="http://schemas.microsoft.com/office/drawing/2010/main">
                    <a14:imgLayer r:embed="rId13">
                      <a14:imgEffect>
                        <a14:backgroundRemoval t="7752" b="95349" l="1279" r="98721">
                          <a14:foregroundMark x1="2558" y1="9302" x2="12020" y2="31008"/>
                          <a14:foregroundMark x1="1279" y1="21705" x2="1279" y2="21705"/>
                          <a14:foregroundMark x1="24297" y1="16279" x2="27110" y2="27907"/>
                          <a14:foregroundMark x1="35294" y1="92248" x2="33504" y2="96124"/>
                          <a14:foregroundMark x1="89003" y1="44961" x2="95141" y2="35659"/>
                          <a14:foregroundMark x1="98721" y1="34884" x2="98721" y2="37984"/>
                        </a14:backgroundRemoval>
                      </a14:imgEffect>
                    </a14:imgLayer>
                  </a14:imgProps>
                </a:ext>
              </a:extLst>
            </a:blip>
            <a:srcRect/>
            <a:stretch>
              <a:fillRect/>
            </a:stretch>
          </p:blipFill>
          <p:spPr bwMode="auto">
            <a:xfrm>
              <a:off x="14365674" y="8212295"/>
              <a:ext cx="1704109" cy="698774"/>
            </a:xfrm>
            <a:prstGeom prst="rect">
              <a:avLst/>
            </a:prstGeom>
            <a:noFill/>
            <a:ln>
              <a:noFill/>
            </a:ln>
            <a:effectLst/>
          </p:spPr>
        </p:pic>
      </p:grpSp>
    </p:spTree>
    <p:extLst>
      <p:ext uri="{BB962C8B-B14F-4D97-AF65-F5344CB8AC3E}">
        <p14:creationId xmlns:p14="http://schemas.microsoft.com/office/powerpoint/2010/main" val="2795269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218D22A9-1F02-C4A5-E3B0-42BFA087C9A8}"/>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23</a:t>
            </a:fld>
            <a:endParaRPr lang="en-US"/>
          </a:p>
        </p:txBody>
      </p:sp>
      <p:sp>
        <p:nvSpPr>
          <p:cNvPr id="24" name="TextBox 23">
            <a:extLst>
              <a:ext uri="{FF2B5EF4-FFF2-40B4-BE49-F238E27FC236}">
                <a16:creationId xmlns:a16="http://schemas.microsoft.com/office/drawing/2014/main" id="{CA9660DE-D289-53E3-DA88-9FAFC871E39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8" name="Rectangle 7">
            <a:extLst>
              <a:ext uri="{FF2B5EF4-FFF2-40B4-BE49-F238E27FC236}">
                <a16:creationId xmlns:a16="http://schemas.microsoft.com/office/drawing/2014/main" id="{8F752352-1283-3135-E7CA-A1EB9446DC79}"/>
              </a:ext>
            </a:extLst>
          </p:cNvPr>
          <p:cNvSpPr>
            <a:spLocks/>
          </p:cNvSpPr>
          <p:nvPr/>
        </p:nvSpPr>
        <p:spPr>
          <a:xfrm>
            <a:off x="940249" y="2493265"/>
            <a:ext cx="5722970" cy="45289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System</a:t>
            </a:r>
          </a:p>
        </p:txBody>
      </p:sp>
      <p:sp>
        <p:nvSpPr>
          <p:cNvPr id="9" name="Rectangle 8">
            <a:extLst>
              <a:ext uri="{FF2B5EF4-FFF2-40B4-BE49-F238E27FC236}">
                <a16:creationId xmlns:a16="http://schemas.microsoft.com/office/drawing/2014/main" id="{468F272A-92C5-0EB0-3775-EB057288A8BA}"/>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0" name="Rectangle 9">
            <a:extLst>
              <a:ext uri="{FF2B5EF4-FFF2-40B4-BE49-F238E27FC236}">
                <a16:creationId xmlns:a16="http://schemas.microsoft.com/office/drawing/2014/main" id="{A369B474-B9E9-1032-B4C2-5E583613D56E}"/>
              </a:ext>
            </a:extLst>
          </p:cNvPr>
          <p:cNvSpPr>
            <a:spLocks/>
          </p:cNvSpPr>
          <p:nvPr/>
        </p:nvSpPr>
        <p:spPr>
          <a:xfrm>
            <a:off x="940249" y="3052393"/>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7" name="Rectangle 16">
            <a:extLst>
              <a:ext uri="{FF2B5EF4-FFF2-40B4-BE49-F238E27FC236}">
                <a16:creationId xmlns:a16="http://schemas.microsoft.com/office/drawing/2014/main" id="{907C2F9D-9B34-941E-73D7-0C2AD29C0684}"/>
              </a:ext>
            </a:extLst>
          </p:cNvPr>
          <p:cNvSpPr/>
          <p:nvPr/>
        </p:nvSpPr>
        <p:spPr>
          <a:xfrm>
            <a:off x="940249" y="361276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8" name="Rectangle 17">
            <a:extLst>
              <a:ext uri="{FF2B5EF4-FFF2-40B4-BE49-F238E27FC236}">
                <a16:creationId xmlns:a16="http://schemas.microsoft.com/office/drawing/2014/main" id="{4FA397DD-BDD6-2467-084A-24112715C398}"/>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sp>
        <p:nvSpPr>
          <p:cNvPr id="19" name="Rectangle 18">
            <a:extLst>
              <a:ext uri="{FF2B5EF4-FFF2-40B4-BE49-F238E27FC236}">
                <a16:creationId xmlns:a16="http://schemas.microsoft.com/office/drawing/2014/main" id="{33FF7EA8-51B9-CE0F-7EB6-147C38B4E492}"/>
              </a:ext>
            </a:extLst>
          </p:cNvPr>
          <p:cNvSpPr/>
          <p:nvPr/>
        </p:nvSpPr>
        <p:spPr>
          <a:xfrm>
            <a:off x="940249" y="414616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 </a:t>
            </a:r>
          </a:p>
        </p:txBody>
      </p:sp>
      <p:sp>
        <p:nvSpPr>
          <p:cNvPr id="20" name="Rectangle 19">
            <a:extLst>
              <a:ext uri="{FF2B5EF4-FFF2-40B4-BE49-F238E27FC236}">
                <a16:creationId xmlns:a16="http://schemas.microsoft.com/office/drawing/2014/main" id="{B711E9B1-0F98-A085-5441-E7D3DADDEE68}"/>
              </a:ext>
            </a:extLst>
          </p:cNvPr>
          <p:cNvSpPr/>
          <p:nvPr/>
        </p:nvSpPr>
        <p:spPr>
          <a:xfrm>
            <a:off x="940249" y="467956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grpSp>
        <p:nvGrpSpPr>
          <p:cNvPr id="11" name="Group 10">
            <a:extLst>
              <a:ext uri="{FF2B5EF4-FFF2-40B4-BE49-F238E27FC236}">
                <a16:creationId xmlns:a16="http://schemas.microsoft.com/office/drawing/2014/main" id="{5D46E60F-6445-A8C7-7680-15650B8D98FC}"/>
              </a:ext>
            </a:extLst>
          </p:cNvPr>
          <p:cNvGrpSpPr/>
          <p:nvPr/>
        </p:nvGrpSpPr>
        <p:grpSpPr>
          <a:xfrm>
            <a:off x="940249" y="302538"/>
            <a:ext cx="1060167" cy="290657"/>
            <a:chOff x="940249" y="315206"/>
            <a:chExt cx="1060167" cy="265062"/>
          </a:xfrm>
        </p:grpSpPr>
        <p:sp>
          <p:nvSpPr>
            <p:cNvPr id="12" name="AutoShape 9">
              <a:extLst>
                <a:ext uri="{FF2B5EF4-FFF2-40B4-BE49-F238E27FC236}">
                  <a16:creationId xmlns:a16="http://schemas.microsoft.com/office/drawing/2014/main" id="{3F0B5169-8049-C1CD-1933-91118B6ADC5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35E1AE3D-14C2-94FB-161C-A4528DDE6A37}"/>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9980A490-D942-2BA3-3F56-851253DD5AC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889D002D-DC9C-411E-C9AF-3430EBD3C20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016785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24</a:t>
            </a:fld>
            <a:endParaRPr lang="en-US"/>
          </a:p>
        </p:txBody>
      </p:sp>
      <p:sp>
        <p:nvSpPr>
          <p:cNvPr id="28" name="Title 27">
            <a:extLst>
              <a:ext uri="{FF2B5EF4-FFF2-40B4-BE49-F238E27FC236}">
                <a16:creationId xmlns:a16="http://schemas.microsoft.com/office/drawing/2014/main" id="{056E40AF-12EC-54FA-E29C-0609A49CFD25}"/>
              </a:ext>
            </a:extLst>
          </p:cNvPr>
          <p:cNvSpPr>
            <a:spLocks noGrp="1"/>
          </p:cNvSpPr>
          <p:nvPr>
            <p:ph type="title" idx="4294967295"/>
          </p:nvPr>
        </p:nvSpPr>
        <p:spPr>
          <a:xfrm>
            <a:off x="271397" y="618408"/>
            <a:ext cx="10515600" cy="1009650"/>
          </a:xfrm>
          <a:prstGeom prst="rect">
            <a:avLst/>
          </a:prstGeom>
        </p:spPr>
        <p:txBody>
          <a:bodyPr>
            <a:normAutofit/>
          </a:bodyPr>
          <a:lstStyle/>
          <a:p>
            <a:r>
              <a:rPr lang="en-US" sz="4000" dirty="0">
                <a:latin typeface="Roboto Medium"/>
                <a:ea typeface="Roboto Medium"/>
                <a:cs typeface="Roboto Medium"/>
              </a:rPr>
              <a:t>Define Value Stream</a:t>
            </a:r>
          </a:p>
        </p:txBody>
      </p:sp>
      <p:sp>
        <p:nvSpPr>
          <p:cNvPr id="27" name="TextBox 26">
            <a:extLst>
              <a:ext uri="{FF2B5EF4-FFF2-40B4-BE49-F238E27FC236}">
                <a16:creationId xmlns:a16="http://schemas.microsoft.com/office/drawing/2014/main" id="{D291F02D-4F8D-90B5-51A5-2F2DB40703B6}"/>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2" name="Group 1">
            <a:extLst>
              <a:ext uri="{FF2B5EF4-FFF2-40B4-BE49-F238E27FC236}">
                <a16:creationId xmlns:a16="http://schemas.microsoft.com/office/drawing/2014/main" id="{466B8784-061C-FEE4-6BAD-F7B3D593DE8D}"/>
              </a:ext>
            </a:extLst>
          </p:cNvPr>
          <p:cNvGrpSpPr/>
          <p:nvPr/>
        </p:nvGrpSpPr>
        <p:grpSpPr>
          <a:xfrm>
            <a:off x="266189" y="1653271"/>
            <a:ext cx="11437171" cy="4237618"/>
            <a:chOff x="266102" y="1575947"/>
            <a:chExt cx="11655170" cy="4314942"/>
          </a:xfrm>
        </p:grpSpPr>
        <p:grpSp>
          <p:nvGrpSpPr>
            <p:cNvPr id="84" name="Group 83">
              <a:extLst>
                <a:ext uri="{FF2B5EF4-FFF2-40B4-BE49-F238E27FC236}">
                  <a16:creationId xmlns:a16="http://schemas.microsoft.com/office/drawing/2014/main" id="{DE5B0DCC-7FF8-E92B-207E-BD75EC1256D3}"/>
                </a:ext>
              </a:extLst>
            </p:cNvPr>
            <p:cNvGrpSpPr/>
            <p:nvPr/>
          </p:nvGrpSpPr>
          <p:grpSpPr>
            <a:xfrm>
              <a:off x="270729" y="1575947"/>
              <a:ext cx="11650543" cy="4314942"/>
              <a:chOff x="312857" y="1352144"/>
              <a:chExt cx="16843252" cy="9841126"/>
            </a:xfrm>
            <a:solidFill>
              <a:srgbClr val="EE3228"/>
            </a:solidFill>
          </p:grpSpPr>
          <p:sp>
            <p:nvSpPr>
              <p:cNvPr id="17" name="Rectangle 2">
                <a:extLst>
                  <a:ext uri="{FF2B5EF4-FFF2-40B4-BE49-F238E27FC236}">
                    <a16:creationId xmlns:a16="http://schemas.microsoft.com/office/drawing/2014/main" id="{B16DE5CB-14A3-E6D7-7AB2-4691767A802C}"/>
                  </a:ext>
                </a:extLst>
              </p:cNvPr>
              <p:cNvSpPr>
                <a:spLocks noChangeArrowheads="1"/>
              </p:cNvSpPr>
              <p:nvPr/>
            </p:nvSpPr>
            <p:spPr bwMode="auto">
              <a:xfrm>
                <a:off x="1872988" y="9283313"/>
                <a:ext cx="13661062" cy="1909957"/>
              </a:xfrm>
              <a:prstGeom prst="rect">
                <a:avLst/>
              </a:prstGeom>
              <a:grpFill/>
              <a:ln w="19050">
                <a:solidFill>
                  <a:schemeClr val="tx1"/>
                </a:solidFill>
                <a:prstDash val="sysDot"/>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All of the actions required to bring a product or service through the main flows essential to providing that product or service from inception point to receipt by customer</a:t>
                </a:r>
              </a:p>
            </p:txBody>
          </p:sp>
          <p:sp>
            <p:nvSpPr>
              <p:cNvPr id="18" name="Rectangle 3">
                <a:extLst>
                  <a:ext uri="{FF2B5EF4-FFF2-40B4-BE49-F238E27FC236}">
                    <a16:creationId xmlns:a16="http://schemas.microsoft.com/office/drawing/2014/main" id="{5B442C60-4F90-1ED3-6C74-9CFC5181C8B6}"/>
                  </a:ext>
                </a:extLst>
              </p:cNvPr>
              <p:cNvSpPr>
                <a:spLocks noChangeArrowheads="1"/>
              </p:cNvSpPr>
              <p:nvPr/>
            </p:nvSpPr>
            <p:spPr bwMode="auto">
              <a:xfrm>
                <a:off x="312857" y="1352144"/>
                <a:ext cx="3725743" cy="1325662"/>
              </a:xfrm>
              <a:prstGeom prst="rect">
                <a:avLst/>
              </a:prstGeom>
              <a:grp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Value Added and Non-Value Added Processes</a:t>
                </a:r>
              </a:p>
            </p:txBody>
          </p:sp>
          <p:sp>
            <p:nvSpPr>
              <p:cNvPr id="19" name="Rectangle 4">
                <a:extLst>
                  <a:ext uri="{FF2B5EF4-FFF2-40B4-BE49-F238E27FC236}">
                    <a16:creationId xmlns:a16="http://schemas.microsoft.com/office/drawing/2014/main" id="{0223FDCD-9D7C-1910-6CF3-76A74733E67E}"/>
                  </a:ext>
                </a:extLst>
              </p:cNvPr>
              <p:cNvSpPr>
                <a:spLocks noChangeArrowheads="1"/>
              </p:cNvSpPr>
              <p:nvPr/>
            </p:nvSpPr>
            <p:spPr bwMode="auto">
              <a:xfrm>
                <a:off x="4619996" y="1380418"/>
                <a:ext cx="3725743" cy="1297388"/>
              </a:xfrm>
              <a:prstGeom prst="rect">
                <a:avLst/>
              </a:prstGeom>
              <a:grp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Product and Information Flow</a:t>
                </a:r>
              </a:p>
            </p:txBody>
          </p:sp>
          <p:sp>
            <p:nvSpPr>
              <p:cNvPr id="20" name="Rectangle 5">
                <a:extLst>
                  <a:ext uri="{FF2B5EF4-FFF2-40B4-BE49-F238E27FC236}">
                    <a16:creationId xmlns:a16="http://schemas.microsoft.com/office/drawing/2014/main" id="{0229AB02-56CF-3887-2F25-DD66474C51AF}"/>
                  </a:ext>
                </a:extLst>
              </p:cNvPr>
              <p:cNvSpPr>
                <a:spLocks noChangeArrowheads="1"/>
              </p:cNvSpPr>
              <p:nvPr/>
            </p:nvSpPr>
            <p:spPr bwMode="auto">
              <a:xfrm>
                <a:off x="9054421" y="1380418"/>
                <a:ext cx="3725745" cy="1297388"/>
              </a:xfrm>
              <a:prstGeom prst="rect">
                <a:avLst/>
              </a:prstGeom>
              <a:grp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Cross function and organization boundaries</a:t>
                </a:r>
              </a:p>
            </p:txBody>
          </p:sp>
          <p:sp>
            <p:nvSpPr>
              <p:cNvPr id="21" name="Rectangle 6">
                <a:extLst>
                  <a:ext uri="{FF2B5EF4-FFF2-40B4-BE49-F238E27FC236}">
                    <a16:creationId xmlns:a16="http://schemas.microsoft.com/office/drawing/2014/main" id="{E428E185-78FA-E4F1-BC59-3BAD00625B36}"/>
                  </a:ext>
                </a:extLst>
              </p:cNvPr>
              <p:cNvSpPr>
                <a:spLocks noChangeArrowheads="1"/>
              </p:cNvSpPr>
              <p:nvPr/>
            </p:nvSpPr>
            <p:spPr bwMode="auto">
              <a:xfrm>
                <a:off x="13430364" y="1408690"/>
                <a:ext cx="3725745" cy="1269116"/>
              </a:xfrm>
              <a:prstGeom prst="rect">
                <a:avLst/>
              </a:prstGeom>
              <a:grp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From Initiation to the Customer</a:t>
                </a:r>
              </a:p>
            </p:txBody>
          </p:sp>
          <p:cxnSp>
            <p:nvCxnSpPr>
              <p:cNvPr id="22" name="AutoShape 7">
                <a:extLst>
                  <a:ext uri="{FF2B5EF4-FFF2-40B4-BE49-F238E27FC236}">
                    <a16:creationId xmlns:a16="http://schemas.microsoft.com/office/drawing/2014/main" id="{EF478139-4FEF-C591-8026-F9A38F77E207}"/>
                  </a:ext>
                </a:extLst>
              </p:cNvPr>
              <p:cNvCxnSpPr>
                <a:cxnSpLocks noChangeShapeType="1"/>
                <a:stCxn id="18" idx="3"/>
                <a:endCxn id="19" idx="1"/>
              </p:cNvCxnSpPr>
              <p:nvPr/>
            </p:nvCxnSpPr>
            <p:spPr bwMode="auto">
              <a:xfrm>
                <a:off x="4038600" y="2014975"/>
                <a:ext cx="581396" cy="14138"/>
              </a:xfrm>
              <a:prstGeom prst="straightConnector1">
                <a:avLst/>
              </a:prstGeom>
              <a:grpFill/>
              <a:ln w="12700" cap="sq">
                <a:solidFill>
                  <a:schemeClr val="tx1"/>
                </a:solidFill>
                <a:round/>
                <a:headEnd/>
                <a:tailEnd/>
              </a:ln>
            </p:spPr>
          </p:cxnSp>
          <p:cxnSp>
            <p:nvCxnSpPr>
              <p:cNvPr id="23" name="AutoShape 8">
                <a:extLst>
                  <a:ext uri="{FF2B5EF4-FFF2-40B4-BE49-F238E27FC236}">
                    <a16:creationId xmlns:a16="http://schemas.microsoft.com/office/drawing/2014/main" id="{46DB4865-694D-C4A3-1D2A-E6E971144FC8}"/>
                  </a:ext>
                </a:extLst>
              </p:cNvPr>
              <p:cNvCxnSpPr>
                <a:cxnSpLocks noChangeShapeType="1"/>
                <a:stCxn id="19" idx="3"/>
                <a:endCxn id="20" idx="1"/>
              </p:cNvCxnSpPr>
              <p:nvPr/>
            </p:nvCxnSpPr>
            <p:spPr bwMode="auto">
              <a:xfrm>
                <a:off x="8345739" y="2029113"/>
                <a:ext cx="708682" cy="0"/>
              </a:xfrm>
              <a:prstGeom prst="straightConnector1">
                <a:avLst/>
              </a:prstGeom>
              <a:grpFill/>
              <a:ln w="12700" cap="sq">
                <a:solidFill>
                  <a:schemeClr val="tx1"/>
                </a:solidFill>
                <a:round/>
                <a:headEnd/>
                <a:tailEnd/>
              </a:ln>
            </p:spPr>
          </p:cxnSp>
          <p:cxnSp>
            <p:nvCxnSpPr>
              <p:cNvPr id="24" name="AutoShape 9">
                <a:extLst>
                  <a:ext uri="{FF2B5EF4-FFF2-40B4-BE49-F238E27FC236}">
                    <a16:creationId xmlns:a16="http://schemas.microsoft.com/office/drawing/2014/main" id="{F18B13EE-A010-29BB-969E-0CA863509517}"/>
                  </a:ext>
                </a:extLst>
              </p:cNvPr>
              <p:cNvCxnSpPr>
                <a:cxnSpLocks noChangeShapeType="1"/>
                <a:stCxn id="20" idx="3"/>
                <a:endCxn id="21" idx="1"/>
              </p:cNvCxnSpPr>
              <p:nvPr/>
            </p:nvCxnSpPr>
            <p:spPr bwMode="auto">
              <a:xfrm>
                <a:off x="12780166" y="2029113"/>
                <a:ext cx="650199" cy="14136"/>
              </a:xfrm>
              <a:prstGeom prst="straightConnector1">
                <a:avLst/>
              </a:prstGeom>
              <a:grpFill/>
              <a:ln w="12700" cap="sq">
                <a:solidFill>
                  <a:schemeClr val="tx1"/>
                </a:solidFill>
                <a:round/>
                <a:headEnd/>
                <a:tailEnd/>
              </a:ln>
            </p:spPr>
          </p:cxnSp>
          <p:cxnSp>
            <p:nvCxnSpPr>
              <p:cNvPr id="26" name="AutoShape 11">
                <a:extLst>
                  <a:ext uri="{FF2B5EF4-FFF2-40B4-BE49-F238E27FC236}">
                    <a16:creationId xmlns:a16="http://schemas.microsoft.com/office/drawing/2014/main" id="{2D8BDA2B-DC22-6260-2A32-E0ECD03EF47C}"/>
                  </a:ext>
                </a:extLst>
              </p:cNvPr>
              <p:cNvCxnSpPr>
                <a:cxnSpLocks noChangeShapeType="1"/>
                <a:stCxn id="21" idx="3"/>
                <a:endCxn id="17" idx="3"/>
              </p:cNvCxnSpPr>
              <p:nvPr/>
            </p:nvCxnSpPr>
            <p:spPr bwMode="auto">
              <a:xfrm flipH="1">
                <a:off x="15534051" y="2043249"/>
                <a:ext cx="1622058" cy="8195043"/>
              </a:xfrm>
              <a:prstGeom prst="bentConnector3">
                <a:avLst>
                  <a:gd name="adj1" fmla="val -20375"/>
                </a:avLst>
              </a:prstGeom>
              <a:grpFill/>
              <a:ln w="12700" cap="sq">
                <a:solidFill>
                  <a:schemeClr val="tx1"/>
                </a:solidFill>
                <a:miter lim="800000"/>
                <a:headEnd/>
                <a:tailEnd type="triangle" w="med" len="med"/>
              </a:ln>
            </p:spPr>
          </p:cxnSp>
        </p:grpSp>
        <p:cxnSp>
          <p:nvCxnSpPr>
            <p:cNvPr id="25" name="AutoShape 11">
              <a:extLst>
                <a:ext uri="{FF2B5EF4-FFF2-40B4-BE49-F238E27FC236}">
                  <a16:creationId xmlns:a16="http://schemas.microsoft.com/office/drawing/2014/main" id="{DBF7AC53-9569-854E-6BD1-001D06B52A8D}"/>
                </a:ext>
              </a:extLst>
            </p:cNvPr>
            <p:cNvCxnSpPr>
              <a:cxnSpLocks noChangeShapeType="1"/>
            </p:cNvCxnSpPr>
            <p:nvPr/>
          </p:nvCxnSpPr>
          <p:spPr bwMode="auto">
            <a:xfrm>
              <a:off x="266102" y="1908547"/>
              <a:ext cx="1121984" cy="3593200"/>
            </a:xfrm>
            <a:prstGeom prst="bentConnector3">
              <a:avLst>
                <a:gd name="adj1" fmla="val -20375"/>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31" name="Group 65">
              <a:extLst>
                <a:ext uri="{FF2B5EF4-FFF2-40B4-BE49-F238E27FC236}">
                  <a16:creationId xmlns:a16="http://schemas.microsoft.com/office/drawing/2014/main" id="{64BCBB06-0970-9421-1E43-62CC0544CB87}"/>
                </a:ext>
              </a:extLst>
            </p:cNvPr>
            <p:cNvGrpSpPr>
              <a:grpSpLocks/>
            </p:cNvGrpSpPr>
            <p:nvPr/>
          </p:nvGrpSpPr>
          <p:grpSpPr bwMode="auto">
            <a:xfrm>
              <a:off x="3407154" y="2724862"/>
              <a:ext cx="1035127" cy="431116"/>
              <a:chOff x="933" y="2179"/>
              <a:chExt cx="658" cy="463"/>
            </a:xfrm>
            <a:solidFill>
              <a:srgbClr val="EE3629"/>
            </a:solidFill>
          </p:grpSpPr>
          <p:sp>
            <p:nvSpPr>
              <p:cNvPr id="78" name="Rectangle 66">
                <a:extLst>
                  <a:ext uri="{FF2B5EF4-FFF2-40B4-BE49-F238E27FC236}">
                    <a16:creationId xmlns:a16="http://schemas.microsoft.com/office/drawing/2014/main" id="{C1589666-EA0E-B922-412D-7E322A682FE2}"/>
                  </a:ext>
                </a:extLst>
              </p:cNvPr>
              <p:cNvSpPr>
                <a:spLocks noChangeArrowheads="1"/>
              </p:cNvSpPr>
              <p:nvPr/>
            </p:nvSpPr>
            <p:spPr bwMode="auto">
              <a:xfrm>
                <a:off x="1544" y="2179"/>
                <a:ext cx="42" cy="250"/>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9" name="Rectangle 67">
                <a:extLst>
                  <a:ext uri="{FF2B5EF4-FFF2-40B4-BE49-F238E27FC236}">
                    <a16:creationId xmlns:a16="http://schemas.microsoft.com/office/drawing/2014/main" id="{ED47E887-D5CD-091C-55DB-F3157A8C613F}"/>
                  </a:ext>
                </a:extLst>
              </p:cNvPr>
              <p:cNvSpPr>
                <a:spLocks noChangeArrowheads="1"/>
              </p:cNvSpPr>
              <p:nvPr/>
            </p:nvSpPr>
            <p:spPr bwMode="auto">
              <a:xfrm>
                <a:off x="933" y="2435"/>
                <a:ext cx="658" cy="207"/>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0" name="AutoShape 68">
                <a:extLst>
                  <a:ext uri="{FF2B5EF4-FFF2-40B4-BE49-F238E27FC236}">
                    <a16:creationId xmlns:a16="http://schemas.microsoft.com/office/drawing/2014/main" id="{0BF9F576-80D8-7F01-7A52-CC0536C7C53E}"/>
                  </a:ext>
                </a:extLst>
              </p:cNvPr>
              <p:cNvSpPr>
                <a:spLocks noChangeArrowheads="1"/>
              </p:cNvSpPr>
              <p:nvPr/>
            </p:nvSpPr>
            <p:spPr bwMode="auto">
              <a:xfrm>
                <a:off x="1342" y="2245"/>
                <a:ext cx="202" cy="190"/>
              </a:xfrm>
              <a:prstGeom prst="rtTriangle">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1" name="AutoShape 69">
                <a:extLst>
                  <a:ext uri="{FF2B5EF4-FFF2-40B4-BE49-F238E27FC236}">
                    <a16:creationId xmlns:a16="http://schemas.microsoft.com/office/drawing/2014/main" id="{0F104943-D4D0-3D38-F69B-757FA6B3CB17}"/>
                  </a:ext>
                </a:extLst>
              </p:cNvPr>
              <p:cNvSpPr>
                <a:spLocks noChangeArrowheads="1"/>
              </p:cNvSpPr>
              <p:nvPr/>
            </p:nvSpPr>
            <p:spPr bwMode="auto">
              <a:xfrm>
                <a:off x="1138" y="2245"/>
                <a:ext cx="202" cy="190"/>
              </a:xfrm>
              <a:prstGeom prst="rtTriangle">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2" name="AutoShape 70">
                <a:extLst>
                  <a:ext uri="{FF2B5EF4-FFF2-40B4-BE49-F238E27FC236}">
                    <a16:creationId xmlns:a16="http://schemas.microsoft.com/office/drawing/2014/main" id="{36790D39-03AC-B136-EB71-35471141FE41}"/>
                  </a:ext>
                </a:extLst>
              </p:cNvPr>
              <p:cNvSpPr>
                <a:spLocks noChangeArrowheads="1"/>
              </p:cNvSpPr>
              <p:nvPr/>
            </p:nvSpPr>
            <p:spPr bwMode="auto">
              <a:xfrm>
                <a:off x="934" y="2245"/>
                <a:ext cx="202" cy="190"/>
              </a:xfrm>
              <a:prstGeom prst="rtTriangle">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3" name="Rectangle 71">
                <a:extLst>
                  <a:ext uri="{FF2B5EF4-FFF2-40B4-BE49-F238E27FC236}">
                    <a16:creationId xmlns:a16="http://schemas.microsoft.com/office/drawing/2014/main" id="{3A3CB7E0-C8FB-09E9-E911-53D163555CA7}"/>
                  </a:ext>
                </a:extLst>
              </p:cNvPr>
              <p:cNvSpPr>
                <a:spLocks noChangeArrowheads="1"/>
              </p:cNvSpPr>
              <p:nvPr/>
            </p:nvSpPr>
            <p:spPr bwMode="auto">
              <a:xfrm>
                <a:off x="974" y="2354"/>
                <a:ext cx="27" cy="51"/>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5" name="Rectangle 72">
                <a:extLst>
                  <a:ext uri="{FF2B5EF4-FFF2-40B4-BE49-F238E27FC236}">
                    <a16:creationId xmlns:a16="http://schemas.microsoft.com/office/drawing/2014/main" id="{29FEBA06-DD2F-C774-6820-71A510D7A363}"/>
                  </a:ext>
                </a:extLst>
              </p:cNvPr>
              <p:cNvSpPr>
                <a:spLocks noChangeArrowheads="1"/>
              </p:cNvSpPr>
              <p:nvPr/>
            </p:nvSpPr>
            <p:spPr bwMode="auto">
              <a:xfrm>
                <a:off x="1185" y="2354"/>
                <a:ext cx="27" cy="51"/>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6" name="Rectangle 73">
                <a:extLst>
                  <a:ext uri="{FF2B5EF4-FFF2-40B4-BE49-F238E27FC236}">
                    <a16:creationId xmlns:a16="http://schemas.microsoft.com/office/drawing/2014/main" id="{A4DEBC3D-6999-C398-4EF9-6561A1BFAF63}"/>
                  </a:ext>
                </a:extLst>
              </p:cNvPr>
              <p:cNvSpPr>
                <a:spLocks noChangeArrowheads="1"/>
              </p:cNvSpPr>
              <p:nvPr/>
            </p:nvSpPr>
            <p:spPr bwMode="auto">
              <a:xfrm>
                <a:off x="1396" y="2354"/>
                <a:ext cx="27" cy="51"/>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grpSp>
          <p:nvGrpSpPr>
            <p:cNvPr id="32" name="Group 74">
              <a:extLst>
                <a:ext uri="{FF2B5EF4-FFF2-40B4-BE49-F238E27FC236}">
                  <a16:creationId xmlns:a16="http://schemas.microsoft.com/office/drawing/2014/main" id="{04325342-6686-0376-940D-5FE3AC85471F}"/>
                </a:ext>
              </a:extLst>
            </p:cNvPr>
            <p:cNvGrpSpPr>
              <a:grpSpLocks/>
            </p:cNvGrpSpPr>
            <p:nvPr/>
          </p:nvGrpSpPr>
          <p:grpSpPr bwMode="auto">
            <a:xfrm>
              <a:off x="7771348" y="2724862"/>
              <a:ext cx="1035127" cy="431116"/>
              <a:chOff x="933" y="2179"/>
              <a:chExt cx="658" cy="463"/>
            </a:xfrm>
            <a:solidFill>
              <a:srgbClr val="EE3629"/>
            </a:solidFill>
          </p:grpSpPr>
          <p:sp>
            <p:nvSpPr>
              <p:cNvPr id="70" name="Rectangle 75">
                <a:extLst>
                  <a:ext uri="{FF2B5EF4-FFF2-40B4-BE49-F238E27FC236}">
                    <a16:creationId xmlns:a16="http://schemas.microsoft.com/office/drawing/2014/main" id="{B434053A-35E0-A0D3-DE2C-7C54D5D3F57F}"/>
                  </a:ext>
                </a:extLst>
              </p:cNvPr>
              <p:cNvSpPr>
                <a:spLocks noChangeArrowheads="1"/>
              </p:cNvSpPr>
              <p:nvPr/>
            </p:nvSpPr>
            <p:spPr bwMode="auto">
              <a:xfrm>
                <a:off x="1544" y="2179"/>
                <a:ext cx="42" cy="250"/>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1" name="Rectangle 76">
                <a:extLst>
                  <a:ext uri="{FF2B5EF4-FFF2-40B4-BE49-F238E27FC236}">
                    <a16:creationId xmlns:a16="http://schemas.microsoft.com/office/drawing/2014/main" id="{C8705957-CEEB-DA25-1FD6-9B5B94C6A77B}"/>
                  </a:ext>
                </a:extLst>
              </p:cNvPr>
              <p:cNvSpPr>
                <a:spLocks noChangeArrowheads="1"/>
              </p:cNvSpPr>
              <p:nvPr/>
            </p:nvSpPr>
            <p:spPr bwMode="auto">
              <a:xfrm>
                <a:off x="933" y="2435"/>
                <a:ext cx="658" cy="207"/>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2" name="AutoShape 77">
                <a:extLst>
                  <a:ext uri="{FF2B5EF4-FFF2-40B4-BE49-F238E27FC236}">
                    <a16:creationId xmlns:a16="http://schemas.microsoft.com/office/drawing/2014/main" id="{2E5D5E8B-3ED6-4852-4BB5-D73C94D98FA7}"/>
                  </a:ext>
                </a:extLst>
              </p:cNvPr>
              <p:cNvSpPr>
                <a:spLocks noChangeArrowheads="1"/>
              </p:cNvSpPr>
              <p:nvPr/>
            </p:nvSpPr>
            <p:spPr bwMode="auto">
              <a:xfrm>
                <a:off x="1342" y="2245"/>
                <a:ext cx="202" cy="190"/>
              </a:xfrm>
              <a:prstGeom prst="rtTriangle">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3" name="AutoShape 78">
                <a:extLst>
                  <a:ext uri="{FF2B5EF4-FFF2-40B4-BE49-F238E27FC236}">
                    <a16:creationId xmlns:a16="http://schemas.microsoft.com/office/drawing/2014/main" id="{1EE3C24F-5091-F4B9-A292-999C30D2F7E7}"/>
                  </a:ext>
                </a:extLst>
              </p:cNvPr>
              <p:cNvSpPr>
                <a:spLocks noChangeArrowheads="1"/>
              </p:cNvSpPr>
              <p:nvPr/>
            </p:nvSpPr>
            <p:spPr bwMode="auto">
              <a:xfrm>
                <a:off x="1138" y="2245"/>
                <a:ext cx="202" cy="190"/>
              </a:xfrm>
              <a:prstGeom prst="rtTriangle">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4" name="AutoShape 79">
                <a:extLst>
                  <a:ext uri="{FF2B5EF4-FFF2-40B4-BE49-F238E27FC236}">
                    <a16:creationId xmlns:a16="http://schemas.microsoft.com/office/drawing/2014/main" id="{D5D771A3-29D6-1073-9AEE-98A42D29FE58}"/>
                  </a:ext>
                </a:extLst>
              </p:cNvPr>
              <p:cNvSpPr>
                <a:spLocks noChangeArrowheads="1"/>
              </p:cNvSpPr>
              <p:nvPr/>
            </p:nvSpPr>
            <p:spPr bwMode="auto">
              <a:xfrm>
                <a:off x="934" y="2245"/>
                <a:ext cx="202" cy="190"/>
              </a:xfrm>
              <a:prstGeom prst="rtTriangle">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5" name="Rectangle 80">
                <a:extLst>
                  <a:ext uri="{FF2B5EF4-FFF2-40B4-BE49-F238E27FC236}">
                    <a16:creationId xmlns:a16="http://schemas.microsoft.com/office/drawing/2014/main" id="{96181F46-F5F1-4A61-206C-C0F8A6FCE495}"/>
                  </a:ext>
                </a:extLst>
              </p:cNvPr>
              <p:cNvSpPr>
                <a:spLocks noChangeArrowheads="1"/>
              </p:cNvSpPr>
              <p:nvPr/>
            </p:nvSpPr>
            <p:spPr bwMode="auto">
              <a:xfrm>
                <a:off x="974" y="2354"/>
                <a:ext cx="27" cy="51"/>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6" name="Rectangle 81">
                <a:extLst>
                  <a:ext uri="{FF2B5EF4-FFF2-40B4-BE49-F238E27FC236}">
                    <a16:creationId xmlns:a16="http://schemas.microsoft.com/office/drawing/2014/main" id="{F81B04B8-D9C7-45F1-4907-90BA03BADB6D}"/>
                  </a:ext>
                </a:extLst>
              </p:cNvPr>
              <p:cNvSpPr>
                <a:spLocks noChangeArrowheads="1"/>
              </p:cNvSpPr>
              <p:nvPr/>
            </p:nvSpPr>
            <p:spPr bwMode="auto">
              <a:xfrm>
                <a:off x="1185" y="2354"/>
                <a:ext cx="27" cy="51"/>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7" name="Rectangle 82">
                <a:extLst>
                  <a:ext uri="{FF2B5EF4-FFF2-40B4-BE49-F238E27FC236}">
                    <a16:creationId xmlns:a16="http://schemas.microsoft.com/office/drawing/2014/main" id="{40ACCF7A-CF43-D47C-DC16-16758675ABBF}"/>
                  </a:ext>
                </a:extLst>
              </p:cNvPr>
              <p:cNvSpPr>
                <a:spLocks noChangeArrowheads="1"/>
              </p:cNvSpPr>
              <p:nvPr/>
            </p:nvSpPr>
            <p:spPr bwMode="auto">
              <a:xfrm>
                <a:off x="1396" y="2354"/>
                <a:ext cx="27" cy="51"/>
              </a:xfrm>
              <a:prstGeom prst="rect">
                <a:avLst/>
              </a:prstGeom>
              <a:grpFill/>
              <a:ln w="1905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33" name="Rectangle 83">
              <a:extLst>
                <a:ext uri="{FF2B5EF4-FFF2-40B4-BE49-F238E27FC236}">
                  <a16:creationId xmlns:a16="http://schemas.microsoft.com/office/drawing/2014/main" id="{F90BCD67-32E6-602C-5E6C-53C30FC4F863}"/>
                </a:ext>
              </a:extLst>
            </p:cNvPr>
            <p:cNvSpPr>
              <a:spLocks noChangeArrowheads="1"/>
            </p:cNvSpPr>
            <p:nvPr/>
          </p:nvSpPr>
          <p:spPr bwMode="auto">
            <a:xfrm>
              <a:off x="4437522" y="3676623"/>
              <a:ext cx="480680" cy="428362"/>
            </a:xfrm>
            <a:prstGeom prst="rect">
              <a:avLst/>
            </a:prstGeom>
            <a:solidFill>
              <a:schemeClr val="accent3"/>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4" name="Rectangle 84">
              <a:extLst>
                <a:ext uri="{FF2B5EF4-FFF2-40B4-BE49-F238E27FC236}">
                  <a16:creationId xmlns:a16="http://schemas.microsoft.com/office/drawing/2014/main" id="{740E0F09-7993-89FF-F87F-61AB168469E0}"/>
                </a:ext>
              </a:extLst>
            </p:cNvPr>
            <p:cNvSpPr>
              <a:spLocks noChangeArrowheads="1"/>
            </p:cNvSpPr>
            <p:nvPr/>
          </p:nvSpPr>
          <p:spPr bwMode="auto">
            <a:xfrm>
              <a:off x="5746304" y="3676623"/>
              <a:ext cx="480680" cy="428362"/>
            </a:xfrm>
            <a:prstGeom prst="rect">
              <a:avLst/>
            </a:prstGeom>
            <a:solidFill>
              <a:schemeClr val="accent3"/>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5" name="Rectangle 85">
              <a:extLst>
                <a:ext uri="{FF2B5EF4-FFF2-40B4-BE49-F238E27FC236}">
                  <a16:creationId xmlns:a16="http://schemas.microsoft.com/office/drawing/2014/main" id="{3176B654-A717-1784-FDD5-F3E4D508C96B}"/>
                </a:ext>
              </a:extLst>
            </p:cNvPr>
            <p:cNvSpPr>
              <a:spLocks noChangeArrowheads="1"/>
            </p:cNvSpPr>
            <p:nvPr/>
          </p:nvSpPr>
          <p:spPr bwMode="auto">
            <a:xfrm>
              <a:off x="7024152" y="3676623"/>
              <a:ext cx="478299" cy="428362"/>
            </a:xfrm>
            <a:prstGeom prst="rect">
              <a:avLst/>
            </a:prstGeom>
            <a:solidFill>
              <a:schemeClr val="accent3"/>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6" name="Line 86">
              <a:extLst>
                <a:ext uri="{FF2B5EF4-FFF2-40B4-BE49-F238E27FC236}">
                  <a16:creationId xmlns:a16="http://schemas.microsoft.com/office/drawing/2014/main" id="{8429365D-B51B-6BE6-43EF-7589666EBC55}"/>
                </a:ext>
              </a:extLst>
            </p:cNvPr>
            <p:cNvSpPr>
              <a:spLocks noChangeShapeType="1"/>
            </p:cNvSpPr>
            <p:nvPr/>
          </p:nvSpPr>
          <p:spPr bwMode="auto">
            <a:xfrm>
              <a:off x="4449421" y="3789567"/>
              <a:ext cx="478299"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7" name="Line 87">
              <a:extLst>
                <a:ext uri="{FF2B5EF4-FFF2-40B4-BE49-F238E27FC236}">
                  <a16:creationId xmlns:a16="http://schemas.microsoft.com/office/drawing/2014/main" id="{C4172E02-6A27-52DE-18E2-F6D5A2BE2E4A}"/>
                </a:ext>
              </a:extLst>
            </p:cNvPr>
            <p:cNvSpPr>
              <a:spLocks noChangeShapeType="1"/>
            </p:cNvSpPr>
            <p:nvPr/>
          </p:nvSpPr>
          <p:spPr bwMode="auto">
            <a:xfrm>
              <a:off x="5743925" y="3781303"/>
              <a:ext cx="47592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38" name="Line 88">
              <a:extLst>
                <a:ext uri="{FF2B5EF4-FFF2-40B4-BE49-F238E27FC236}">
                  <a16:creationId xmlns:a16="http://schemas.microsoft.com/office/drawing/2014/main" id="{9ECE6655-D89B-B235-70A8-431977385290}"/>
                </a:ext>
              </a:extLst>
            </p:cNvPr>
            <p:cNvSpPr>
              <a:spLocks noChangeShapeType="1"/>
            </p:cNvSpPr>
            <p:nvPr/>
          </p:nvSpPr>
          <p:spPr bwMode="auto">
            <a:xfrm>
              <a:off x="7026532" y="3774417"/>
              <a:ext cx="478301"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nvGrpSpPr>
            <p:cNvPr id="39" name="Group 89">
              <a:extLst>
                <a:ext uri="{FF2B5EF4-FFF2-40B4-BE49-F238E27FC236}">
                  <a16:creationId xmlns:a16="http://schemas.microsoft.com/office/drawing/2014/main" id="{FEC756C1-9B07-1A2B-E53C-716A9ABE70C9}"/>
                </a:ext>
              </a:extLst>
            </p:cNvPr>
            <p:cNvGrpSpPr>
              <a:grpSpLocks/>
            </p:cNvGrpSpPr>
            <p:nvPr/>
          </p:nvGrpSpPr>
          <p:grpSpPr bwMode="auto">
            <a:xfrm>
              <a:off x="4449421" y="4208287"/>
              <a:ext cx="478299" cy="352606"/>
              <a:chOff x="1702" y="2990"/>
              <a:chExt cx="269" cy="301"/>
            </a:xfrm>
            <a:solidFill>
              <a:schemeClr val="accent3"/>
            </a:solidFill>
          </p:grpSpPr>
          <p:sp>
            <p:nvSpPr>
              <p:cNvPr id="63" name="Rectangle 90">
                <a:extLst>
                  <a:ext uri="{FF2B5EF4-FFF2-40B4-BE49-F238E27FC236}">
                    <a16:creationId xmlns:a16="http://schemas.microsoft.com/office/drawing/2014/main" id="{D7EAA9CE-C4F5-450D-F9F8-B4D0C2B29B4A}"/>
                  </a:ext>
                </a:extLst>
              </p:cNvPr>
              <p:cNvSpPr>
                <a:spLocks noChangeArrowheads="1"/>
              </p:cNvSpPr>
              <p:nvPr/>
            </p:nvSpPr>
            <p:spPr bwMode="auto">
              <a:xfrm>
                <a:off x="1702" y="2990"/>
                <a:ext cx="269" cy="301"/>
              </a:xfrm>
              <a:prstGeom prst="rect">
                <a:avLst/>
              </a:prstGeom>
              <a:grp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4" name="Line 91">
                <a:extLst>
                  <a:ext uri="{FF2B5EF4-FFF2-40B4-BE49-F238E27FC236}">
                    <a16:creationId xmlns:a16="http://schemas.microsoft.com/office/drawing/2014/main" id="{258B68E5-8918-0838-A2AC-579D7AB6956C}"/>
                  </a:ext>
                </a:extLst>
              </p:cNvPr>
              <p:cNvSpPr>
                <a:spLocks noChangeShapeType="1"/>
              </p:cNvSpPr>
              <p:nvPr/>
            </p:nvSpPr>
            <p:spPr bwMode="auto">
              <a:xfrm>
                <a:off x="1741" y="3046"/>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5" name="Line 92">
                <a:extLst>
                  <a:ext uri="{FF2B5EF4-FFF2-40B4-BE49-F238E27FC236}">
                    <a16:creationId xmlns:a16="http://schemas.microsoft.com/office/drawing/2014/main" id="{79E13C48-AC7E-0B5E-586E-696287623362}"/>
                  </a:ext>
                </a:extLst>
              </p:cNvPr>
              <p:cNvSpPr>
                <a:spLocks noChangeShapeType="1"/>
              </p:cNvSpPr>
              <p:nvPr/>
            </p:nvSpPr>
            <p:spPr bwMode="auto">
              <a:xfrm>
                <a:off x="1741" y="3088"/>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6" name="Line 93">
                <a:extLst>
                  <a:ext uri="{FF2B5EF4-FFF2-40B4-BE49-F238E27FC236}">
                    <a16:creationId xmlns:a16="http://schemas.microsoft.com/office/drawing/2014/main" id="{5F28C85D-15A0-F9E0-5956-977348F86081}"/>
                  </a:ext>
                </a:extLst>
              </p:cNvPr>
              <p:cNvSpPr>
                <a:spLocks noChangeShapeType="1"/>
              </p:cNvSpPr>
              <p:nvPr/>
            </p:nvSpPr>
            <p:spPr bwMode="auto">
              <a:xfrm>
                <a:off x="1741" y="3130"/>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7" name="Line 94">
                <a:extLst>
                  <a:ext uri="{FF2B5EF4-FFF2-40B4-BE49-F238E27FC236}">
                    <a16:creationId xmlns:a16="http://schemas.microsoft.com/office/drawing/2014/main" id="{901BBFB8-FCAD-8FC6-DB69-5667DDC7FB82}"/>
                  </a:ext>
                </a:extLst>
              </p:cNvPr>
              <p:cNvSpPr>
                <a:spLocks noChangeShapeType="1"/>
              </p:cNvSpPr>
              <p:nvPr/>
            </p:nvSpPr>
            <p:spPr bwMode="auto">
              <a:xfrm>
                <a:off x="1741" y="3172"/>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8" name="Line 95">
                <a:extLst>
                  <a:ext uri="{FF2B5EF4-FFF2-40B4-BE49-F238E27FC236}">
                    <a16:creationId xmlns:a16="http://schemas.microsoft.com/office/drawing/2014/main" id="{4424C4CB-50D1-F48F-1374-50BB171F7BAC}"/>
                  </a:ext>
                </a:extLst>
              </p:cNvPr>
              <p:cNvSpPr>
                <a:spLocks noChangeShapeType="1"/>
              </p:cNvSpPr>
              <p:nvPr/>
            </p:nvSpPr>
            <p:spPr bwMode="auto">
              <a:xfrm>
                <a:off x="1741" y="3214"/>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9" name="Line 96">
                <a:extLst>
                  <a:ext uri="{FF2B5EF4-FFF2-40B4-BE49-F238E27FC236}">
                    <a16:creationId xmlns:a16="http://schemas.microsoft.com/office/drawing/2014/main" id="{7A969DB0-2CF4-70BB-E7C1-554BEF075C62}"/>
                  </a:ext>
                </a:extLst>
              </p:cNvPr>
              <p:cNvSpPr>
                <a:spLocks noChangeShapeType="1"/>
              </p:cNvSpPr>
              <p:nvPr/>
            </p:nvSpPr>
            <p:spPr bwMode="auto">
              <a:xfrm>
                <a:off x="1741" y="3256"/>
                <a:ext cx="179" cy="0"/>
              </a:xfrm>
              <a:prstGeom prst="line">
                <a:avLst/>
              </a:prstGeom>
              <a:grpFill/>
              <a:ln w="12700" cap="sq">
                <a:solidFill>
                  <a:schemeClr val="tx1"/>
                </a:solidFill>
                <a:round/>
                <a:headEnd type="none" w="sm" len="sm"/>
                <a:tailEnd type="none" w="sm" len="sm"/>
              </a:ln>
            </p:spPr>
            <p:txBody>
              <a:bodyPr wrap="none"/>
              <a:lstStyle/>
              <a:p>
                <a:endParaRPr lang="en-US"/>
              </a:p>
            </p:txBody>
          </p:sp>
        </p:grpSp>
        <p:grpSp>
          <p:nvGrpSpPr>
            <p:cNvPr id="40" name="Group 97">
              <a:extLst>
                <a:ext uri="{FF2B5EF4-FFF2-40B4-BE49-F238E27FC236}">
                  <a16:creationId xmlns:a16="http://schemas.microsoft.com/office/drawing/2014/main" id="{FB4E476C-91F1-D373-C37D-0FE3B7DA1B2B}"/>
                </a:ext>
              </a:extLst>
            </p:cNvPr>
            <p:cNvGrpSpPr>
              <a:grpSpLocks/>
            </p:cNvGrpSpPr>
            <p:nvPr/>
          </p:nvGrpSpPr>
          <p:grpSpPr bwMode="auto">
            <a:xfrm>
              <a:off x="5746304" y="4231703"/>
              <a:ext cx="480680" cy="352606"/>
              <a:chOff x="1702" y="2990"/>
              <a:chExt cx="269" cy="301"/>
            </a:xfrm>
            <a:solidFill>
              <a:schemeClr val="accent3"/>
            </a:solidFill>
          </p:grpSpPr>
          <p:sp>
            <p:nvSpPr>
              <p:cNvPr id="56" name="Rectangle 98">
                <a:extLst>
                  <a:ext uri="{FF2B5EF4-FFF2-40B4-BE49-F238E27FC236}">
                    <a16:creationId xmlns:a16="http://schemas.microsoft.com/office/drawing/2014/main" id="{FBBDEECF-3391-7C82-4931-1674AB4232E2}"/>
                  </a:ext>
                </a:extLst>
              </p:cNvPr>
              <p:cNvSpPr>
                <a:spLocks noChangeArrowheads="1"/>
              </p:cNvSpPr>
              <p:nvPr/>
            </p:nvSpPr>
            <p:spPr bwMode="auto">
              <a:xfrm>
                <a:off x="1702" y="2990"/>
                <a:ext cx="269" cy="301"/>
              </a:xfrm>
              <a:prstGeom prst="rect">
                <a:avLst/>
              </a:prstGeom>
              <a:grp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7" name="Line 99">
                <a:extLst>
                  <a:ext uri="{FF2B5EF4-FFF2-40B4-BE49-F238E27FC236}">
                    <a16:creationId xmlns:a16="http://schemas.microsoft.com/office/drawing/2014/main" id="{3BC64D24-BC56-6BD2-7C4B-DBC879400238}"/>
                  </a:ext>
                </a:extLst>
              </p:cNvPr>
              <p:cNvSpPr>
                <a:spLocks noChangeShapeType="1"/>
              </p:cNvSpPr>
              <p:nvPr/>
            </p:nvSpPr>
            <p:spPr bwMode="auto">
              <a:xfrm>
                <a:off x="1741" y="3046"/>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8" name="Line 100">
                <a:extLst>
                  <a:ext uri="{FF2B5EF4-FFF2-40B4-BE49-F238E27FC236}">
                    <a16:creationId xmlns:a16="http://schemas.microsoft.com/office/drawing/2014/main" id="{497DA9B5-01EB-F79A-1090-6735C3D1BC39}"/>
                  </a:ext>
                </a:extLst>
              </p:cNvPr>
              <p:cNvSpPr>
                <a:spLocks noChangeShapeType="1"/>
              </p:cNvSpPr>
              <p:nvPr/>
            </p:nvSpPr>
            <p:spPr bwMode="auto">
              <a:xfrm>
                <a:off x="1741" y="3088"/>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9" name="Line 101">
                <a:extLst>
                  <a:ext uri="{FF2B5EF4-FFF2-40B4-BE49-F238E27FC236}">
                    <a16:creationId xmlns:a16="http://schemas.microsoft.com/office/drawing/2014/main" id="{E65163BD-4CD7-1FF1-AF4E-66FFC5D7981B}"/>
                  </a:ext>
                </a:extLst>
              </p:cNvPr>
              <p:cNvSpPr>
                <a:spLocks noChangeShapeType="1"/>
              </p:cNvSpPr>
              <p:nvPr/>
            </p:nvSpPr>
            <p:spPr bwMode="auto">
              <a:xfrm>
                <a:off x="1741" y="3130"/>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0" name="Line 102">
                <a:extLst>
                  <a:ext uri="{FF2B5EF4-FFF2-40B4-BE49-F238E27FC236}">
                    <a16:creationId xmlns:a16="http://schemas.microsoft.com/office/drawing/2014/main" id="{EF94BB80-21CB-948A-A01B-04D9C1FBA77D}"/>
                  </a:ext>
                </a:extLst>
              </p:cNvPr>
              <p:cNvSpPr>
                <a:spLocks noChangeShapeType="1"/>
              </p:cNvSpPr>
              <p:nvPr/>
            </p:nvSpPr>
            <p:spPr bwMode="auto">
              <a:xfrm>
                <a:off x="1741" y="3172"/>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1" name="Line 103">
                <a:extLst>
                  <a:ext uri="{FF2B5EF4-FFF2-40B4-BE49-F238E27FC236}">
                    <a16:creationId xmlns:a16="http://schemas.microsoft.com/office/drawing/2014/main" id="{CACD8902-5722-42E8-7E37-CAA0A89835EA}"/>
                  </a:ext>
                </a:extLst>
              </p:cNvPr>
              <p:cNvSpPr>
                <a:spLocks noChangeShapeType="1"/>
              </p:cNvSpPr>
              <p:nvPr/>
            </p:nvSpPr>
            <p:spPr bwMode="auto">
              <a:xfrm>
                <a:off x="1741" y="3214"/>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62" name="Line 104">
                <a:extLst>
                  <a:ext uri="{FF2B5EF4-FFF2-40B4-BE49-F238E27FC236}">
                    <a16:creationId xmlns:a16="http://schemas.microsoft.com/office/drawing/2014/main" id="{EE168619-275D-2587-EEE8-F2067B8355A1}"/>
                  </a:ext>
                </a:extLst>
              </p:cNvPr>
              <p:cNvSpPr>
                <a:spLocks noChangeShapeType="1"/>
              </p:cNvSpPr>
              <p:nvPr/>
            </p:nvSpPr>
            <p:spPr bwMode="auto">
              <a:xfrm>
                <a:off x="1741" y="3256"/>
                <a:ext cx="179" cy="0"/>
              </a:xfrm>
              <a:prstGeom prst="line">
                <a:avLst/>
              </a:prstGeom>
              <a:grpFill/>
              <a:ln w="12700" cap="sq">
                <a:solidFill>
                  <a:schemeClr val="tx1"/>
                </a:solidFill>
                <a:round/>
                <a:headEnd type="none" w="sm" len="sm"/>
                <a:tailEnd type="none" w="sm" len="sm"/>
              </a:ln>
            </p:spPr>
            <p:txBody>
              <a:bodyPr wrap="none"/>
              <a:lstStyle/>
              <a:p>
                <a:endParaRPr lang="en-US"/>
              </a:p>
            </p:txBody>
          </p:sp>
        </p:grpSp>
        <p:grpSp>
          <p:nvGrpSpPr>
            <p:cNvPr id="41" name="Group 105">
              <a:extLst>
                <a:ext uri="{FF2B5EF4-FFF2-40B4-BE49-F238E27FC236}">
                  <a16:creationId xmlns:a16="http://schemas.microsoft.com/office/drawing/2014/main" id="{2799330B-90FB-B348-F514-55B827A5CDD5}"/>
                </a:ext>
              </a:extLst>
            </p:cNvPr>
            <p:cNvGrpSpPr>
              <a:grpSpLocks/>
            </p:cNvGrpSpPr>
            <p:nvPr/>
          </p:nvGrpSpPr>
          <p:grpSpPr bwMode="auto">
            <a:xfrm>
              <a:off x="7024152" y="4217929"/>
              <a:ext cx="480680" cy="353983"/>
              <a:chOff x="1702" y="2990"/>
              <a:chExt cx="269" cy="301"/>
            </a:xfrm>
            <a:solidFill>
              <a:schemeClr val="accent3"/>
            </a:solidFill>
          </p:grpSpPr>
          <p:sp>
            <p:nvSpPr>
              <p:cNvPr id="49" name="Rectangle 106">
                <a:extLst>
                  <a:ext uri="{FF2B5EF4-FFF2-40B4-BE49-F238E27FC236}">
                    <a16:creationId xmlns:a16="http://schemas.microsoft.com/office/drawing/2014/main" id="{DE1FA4FC-AE00-B840-EB74-D8C510D75FED}"/>
                  </a:ext>
                </a:extLst>
              </p:cNvPr>
              <p:cNvSpPr>
                <a:spLocks noChangeArrowheads="1"/>
              </p:cNvSpPr>
              <p:nvPr/>
            </p:nvSpPr>
            <p:spPr bwMode="auto">
              <a:xfrm>
                <a:off x="1702" y="2990"/>
                <a:ext cx="269" cy="301"/>
              </a:xfrm>
              <a:prstGeom prst="rect">
                <a:avLst/>
              </a:prstGeom>
              <a:grp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0" name="Line 107">
                <a:extLst>
                  <a:ext uri="{FF2B5EF4-FFF2-40B4-BE49-F238E27FC236}">
                    <a16:creationId xmlns:a16="http://schemas.microsoft.com/office/drawing/2014/main" id="{C60378D9-1DA8-29DD-A4E8-ED284BFA414D}"/>
                  </a:ext>
                </a:extLst>
              </p:cNvPr>
              <p:cNvSpPr>
                <a:spLocks noChangeShapeType="1"/>
              </p:cNvSpPr>
              <p:nvPr/>
            </p:nvSpPr>
            <p:spPr bwMode="auto">
              <a:xfrm>
                <a:off x="1741" y="3046"/>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1" name="Line 108">
                <a:extLst>
                  <a:ext uri="{FF2B5EF4-FFF2-40B4-BE49-F238E27FC236}">
                    <a16:creationId xmlns:a16="http://schemas.microsoft.com/office/drawing/2014/main" id="{77756A40-F68D-C305-53F3-67E9DFA6170C}"/>
                  </a:ext>
                </a:extLst>
              </p:cNvPr>
              <p:cNvSpPr>
                <a:spLocks noChangeShapeType="1"/>
              </p:cNvSpPr>
              <p:nvPr/>
            </p:nvSpPr>
            <p:spPr bwMode="auto">
              <a:xfrm>
                <a:off x="1741" y="3088"/>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2" name="Line 109">
                <a:extLst>
                  <a:ext uri="{FF2B5EF4-FFF2-40B4-BE49-F238E27FC236}">
                    <a16:creationId xmlns:a16="http://schemas.microsoft.com/office/drawing/2014/main" id="{15342EB7-B2AE-1B0C-1194-1FD68D8ECBC9}"/>
                  </a:ext>
                </a:extLst>
              </p:cNvPr>
              <p:cNvSpPr>
                <a:spLocks noChangeShapeType="1"/>
              </p:cNvSpPr>
              <p:nvPr/>
            </p:nvSpPr>
            <p:spPr bwMode="auto">
              <a:xfrm>
                <a:off x="1741" y="3130"/>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3" name="Line 110">
                <a:extLst>
                  <a:ext uri="{FF2B5EF4-FFF2-40B4-BE49-F238E27FC236}">
                    <a16:creationId xmlns:a16="http://schemas.microsoft.com/office/drawing/2014/main" id="{53CE69C3-0E6D-C370-90FD-46BE87B063AE}"/>
                  </a:ext>
                </a:extLst>
              </p:cNvPr>
              <p:cNvSpPr>
                <a:spLocks noChangeShapeType="1"/>
              </p:cNvSpPr>
              <p:nvPr/>
            </p:nvSpPr>
            <p:spPr bwMode="auto">
              <a:xfrm>
                <a:off x="1741" y="3172"/>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4" name="Line 111">
                <a:extLst>
                  <a:ext uri="{FF2B5EF4-FFF2-40B4-BE49-F238E27FC236}">
                    <a16:creationId xmlns:a16="http://schemas.microsoft.com/office/drawing/2014/main" id="{C73D675B-4259-B01B-C597-DF56BEE17E87}"/>
                  </a:ext>
                </a:extLst>
              </p:cNvPr>
              <p:cNvSpPr>
                <a:spLocks noChangeShapeType="1"/>
              </p:cNvSpPr>
              <p:nvPr/>
            </p:nvSpPr>
            <p:spPr bwMode="auto">
              <a:xfrm>
                <a:off x="1741" y="3214"/>
                <a:ext cx="179" cy="0"/>
              </a:xfrm>
              <a:prstGeom prst="line">
                <a:avLst/>
              </a:prstGeom>
              <a:grpFill/>
              <a:ln w="12700" cap="sq">
                <a:solidFill>
                  <a:schemeClr val="tx1"/>
                </a:solidFill>
                <a:round/>
                <a:headEnd type="none" w="sm" len="sm"/>
                <a:tailEnd type="none" w="sm" len="sm"/>
              </a:ln>
            </p:spPr>
            <p:txBody>
              <a:bodyPr wrap="none"/>
              <a:lstStyle/>
              <a:p>
                <a:endParaRPr lang="en-US"/>
              </a:p>
            </p:txBody>
          </p:sp>
          <p:sp>
            <p:nvSpPr>
              <p:cNvPr id="55" name="Line 112">
                <a:extLst>
                  <a:ext uri="{FF2B5EF4-FFF2-40B4-BE49-F238E27FC236}">
                    <a16:creationId xmlns:a16="http://schemas.microsoft.com/office/drawing/2014/main" id="{6B2013D5-A9CC-A797-C312-4E631D41D13F}"/>
                  </a:ext>
                </a:extLst>
              </p:cNvPr>
              <p:cNvSpPr>
                <a:spLocks noChangeShapeType="1"/>
              </p:cNvSpPr>
              <p:nvPr/>
            </p:nvSpPr>
            <p:spPr bwMode="auto">
              <a:xfrm>
                <a:off x="1741" y="3256"/>
                <a:ext cx="179" cy="0"/>
              </a:xfrm>
              <a:prstGeom prst="line">
                <a:avLst/>
              </a:prstGeom>
              <a:grpFill/>
              <a:ln w="12700" cap="sq">
                <a:solidFill>
                  <a:schemeClr val="tx1"/>
                </a:solidFill>
                <a:round/>
                <a:headEnd type="none" w="sm" len="sm"/>
                <a:tailEnd type="none" w="sm" len="sm"/>
              </a:ln>
            </p:spPr>
            <p:txBody>
              <a:bodyPr wrap="none"/>
              <a:lstStyle/>
              <a:p>
                <a:endParaRPr lang="en-US"/>
              </a:p>
            </p:txBody>
          </p:sp>
        </p:grpSp>
        <p:sp>
          <p:nvSpPr>
            <p:cNvPr id="42" name="Line 113">
              <a:extLst>
                <a:ext uri="{FF2B5EF4-FFF2-40B4-BE49-F238E27FC236}">
                  <a16:creationId xmlns:a16="http://schemas.microsoft.com/office/drawing/2014/main" id="{8B57D82D-1824-E2EB-3F7C-E9F1D7401316}"/>
                </a:ext>
              </a:extLst>
            </p:cNvPr>
            <p:cNvSpPr>
              <a:spLocks noChangeShapeType="1"/>
            </p:cNvSpPr>
            <p:nvPr/>
          </p:nvSpPr>
          <p:spPr bwMode="auto">
            <a:xfrm flipV="1">
              <a:off x="4927720" y="3891493"/>
              <a:ext cx="820964" cy="15151"/>
            </a:xfrm>
            <a:prstGeom prst="line">
              <a:avLst/>
            </a:prstGeom>
            <a:noFill/>
            <a:ln w="57150">
              <a:solidFill>
                <a:srgbClr val="222222"/>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43" name="AutoShape 114">
              <a:extLst>
                <a:ext uri="{FF2B5EF4-FFF2-40B4-BE49-F238E27FC236}">
                  <a16:creationId xmlns:a16="http://schemas.microsoft.com/office/drawing/2014/main" id="{5AC2FB3E-5C35-97C5-5D2B-47E8E27BEF24}"/>
                </a:ext>
              </a:extLst>
            </p:cNvPr>
            <p:cNvSpPr>
              <a:spLocks noChangeArrowheads="1"/>
            </p:cNvSpPr>
            <p:nvPr/>
          </p:nvSpPr>
          <p:spPr bwMode="auto">
            <a:xfrm>
              <a:off x="5191857" y="3795076"/>
              <a:ext cx="261757" cy="187322"/>
            </a:xfrm>
            <a:prstGeom prst="triangle">
              <a:avLst>
                <a:gd name="adj" fmla="val 50000"/>
              </a:avLst>
            </a:prstGeom>
            <a:solidFill>
              <a:srgbClr val="EE3629"/>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latin typeface="Times New Roman" panose="02020603050405020304" pitchFamily="18" charset="0"/>
                </a:rPr>
                <a:t>I</a:t>
              </a:r>
            </a:p>
          </p:txBody>
        </p:sp>
        <p:sp>
          <p:nvSpPr>
            <p:cNvPr id="44" name="Line 115">
              <a:extLst>
                <a:ext uri="{FF2B5EF4-FFF2-40B4-BE49-F238E27FC236}">
                  <a16:creationId xmlns:a16="http://schemas.microsoft.com/office/drawing/2014/main" id="{820ED641-CF5C-130E-8A82-59E2750CA7E8}"/>
                </a:ext>
              </a:extLst>
            </p:cNvPr>
            <p:cNvSpPr>
              <a:spLocks noChangeShapeType="1"/>
            </p:cNvSpPr>
            <p:nvPr/>
          </p:nvSpPr>
          <p:spPr bwMode="auto">
            <a:xfrm flipV="1">
              <a:off x="6262679" y="3891493"/>
              <a:ext cx="818584" cy="15151"/>
            </a:xfrm>
            <a:prstGeom prst="line">
              <a:avLst/>
            </a:prstGeom>
            <a:noFill/>
            <a:ln w="57150">
              <a:solidFill>
                <a:srgbClr val="222222"/>
              </a:solidFill>
              <a:prstDash val="sysDot"/>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45" name="AutoShape 116">
              <a:extLst>
                <a:ext uri="{FF2B5EF4-FFF2-40B4-BE49-F238E27FC236}">
                  <a16:creationId xmlns:a16="http://schemas.microsoft.com/office/drawing/2014/main" id="{4E95707B-DEC6-94CC-5569-8DF769834152}"/>
                </a:ext>
              </a:extLst>
            </p:cNvPr>
            <p:cNvSpPr>
              <a:spLocks noChangeArrowheads="1"/>
            </p:cNvSpPr>
            <p:nvPr/>
          </p:nvSpPr>
          <p:spPr bwMode="auto">
            <a:xfrm>
              <a:off x="6491121" y="3795076"/>
              <a:ext cx="261757" cy="187322"/>
            </a:xfrm>
            <a:prstGeom prst="triangle">
              <a:avLst>
                <a:gd name="adj" fmla="val 50000"/>
              </a:avLst>
            </a:prstGeom>
            <a:solidFill>
              <a:srgbClr val="EE3629"/>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a:latin typeface="Times New Roman" panose="02020603050405020304" pitchFamily="18" charset="0"/>
                </a:rPr>
                <a:t>I</a:t>
              </a:r>
            </a:p>
          </p:txBody>
        </p:sp>
        <p:sp>
          <p:nvSpPr>
            <p:cNvPr id="46" name="AutoShape 117">
              <a:extLst>
                <a:ext uri="{FF2B5EF4-FFF2-40B4-BE49-F238E27FC236}">
                  <a16:creationId xmlns:a16="http://schemas.microsoft.com/office/drawing/2014/main" id="{0F2B6585-313F-455C-7A04-3021A7462CE9}"/>
                </a:ext>
              </a:extLst>
            </p:cNvPr>
            <p:cNvSpPr>
              <a:spLocks noChangeArrowheads="1"/>
            </p:cNvSpPr>
            <p:nvPr/>
          </p:nvSpPr>
          <p:spPr bwMode="auto">
            <a:xfrm rot="18900000">
              <a:off x="7433445" y="3344677"/>
              <a:ext cx="1111274" cy="225889"/>
            </a:xfrm>
            <a:prstGeom prst="rightArrow">
              <a:avLst>
                <a:gd name="adj1" fmla="val 50000"/>
                <a:gd name="adj2" fmla="val 71189"/>
              </a:avLst>
            </a:prstGeom>
            <a:solidFill>
              <a:srgbClr val="FFB627"/>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7" name="AutoShape 118">
              <a:extLst>
                <a:ext uri="{FF2B5EF4-FFF2-40B4-BE49-F238E27FC236}">
                  <a16:creationId xmlns:a16="http://schemas.microsoft.com/office/drawing/2014/main" id="{3AC319BF-6F92-F72E-0C3C-7ED4FD2FD4E6}"/>
                </a:ext>
              </a:extLst>
            </p:cNvPr>
            <p:cNvSpPr>
              <a:spLocks noChangeArrowheads="1"/>
            </p:cNvSpPr>
            <p:nvPr/>
          </p:nvSpPr>
          <p:spPr bwMode="auto">
            <a:xfrm rot="2772363">
              <a:off x="3645194" y="3315213"/>
              <a:ext cx="732760" cy="342663"/>
            </a:xfrm>
            <a:prstGeom prst="rightArrow">
              <a:avLst>
                <a:gd name="adj1" fmla="val 50000"/>
                <a:gd name="adj2" fmla="val 92361"/>
              </a:avLst>
            </a:prstGeom>
            <a:solidFill>
              <a:srgbClr val="FFB627"/>
            </a:solidFill>
            <a:ln w="12700" cap="sq">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8" name="Text Box 122">
              <a:extLst>
                <a:ext uri="{FF2B5EF4-FFF2-40B4-BE49-F238E27FC236}">
                  <a16:creationId xmlns:a16="http://schemas.microsoft.com/office/drawing/2014/main" id="{76FE4F5F-2665-5CF7-C329-889ECCDB1BD6}"/>
                </a:ext>
              </a:extLst>
            </p:cNvPr>
            <p:cNvSpPr txBox="1">
              <a:spLocks noChangeArrowheads="1"/>
            </p:cNvSpPr>
            <p:nvPr/>
          </p:nvSpPr>
          <p:spPr bwMode="auto">
            <a:xfrm>
              <a:off x="4887401" y="2769646"/>
              <a:ext cx="2430089" cy="445635"/>
            </a:xfrm>
            <a:prstGeom prst="rect">
              <a:avLst/>
            </a:prstGeom>
            <a:noFill/>
            <a:ln>
              <a:noFill/>
            </a:ln>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2800" dirty="0">
                  <a:latin typeface="+mn-lt"/>
                </a:rPr>
                <a:t>VALUE STREAM</a:t>
              </a:r>
            </a:p>
          </p:txBody>
        </p:sp>
      </p:grpSp>
      <p:grpSp>
        <p:nvGrpSpPr>
          <p:cNvPr id="8" name="Group 7">
            <a:extLst>
              <a:ext uri="{FF2B5EF4-FFF2-40B4-BE49-F238E27FC236}">
                <a16:creationId xmlns:a16="http://schemas.microsoft.com/office/drawing/2014/main" id="{23D6786B-91A4-1EA5-C589-0F590243E1D0}"/>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516C00CF-FD81-60F9-AF51-824A0A03555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C203BAEC-3AF2-5BF4-4F68-E80E04D5D94B}"/>
                </a:ext>
              </a:extLst>
            </p:cNvPr>
            <p:cNvGrpSpPr/>
            <p:nvPr/>
          </p:nvGrpSpPr>
          <p:grpSpPr>
            <a:xfrm>
              <a:off x="940249" y="315206"/>
              <a:ext cx="746492" cy="265062"/>
              <a:chOff x="940249" y="315206"/>
              <a:chExt cx="746492" cy="265062"/>
            </a:xfrm>
          </p:grpSpPr>
          <p:sp>
            <p:nvSpPr>
              <p:cNvPr id="11" name="AutoShape 11">
                <a:extLst>
                  <a:ext uri="{FF2B5EF4-FFF2-40B4-BE49-F238E27FC236}">
                    <a16:creationId xmlns:a16="http://schemas.microsoft.com/office/drawing/2014/main" id="{7D193910-5D3A-F1DF-A916-187C2CDAE379}"/>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6034C084-E091-FF6E-596A-2143073E0B2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817680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25</a:t>
            </a:fld>
            <a:endParaRPr lang="en-US"/>
          </a:p>
        </p:txBody>
      </p:sp>
      <p:sp>
        <p:nvSpPr>
          <p:cNvPr id="31" name="Title 30">
            <a:extLst>
              <a:ext uri="{FF2B5EF4-FFF2-40B4-BE49-F238E27FC236}">
                <a16:creationId xmlns:a16="http://schemas.microsoft.com/office/drawing/2014/main" id="{F352E467-5A03-8897-FF57-55F0DEFD213B}"/>
              </a:ext>
            </a:extLst>
          </p:cNvPr>
          <p:cNvSpPr>
            <a:spLocks noGrp="1"/>
          </p:cNvSpPr>
          <p:nvPr>
            <p:ph type="title" idx="4294967295"/>
          </p:nvPr>
        </p:nvSpPr>
        <p:spPr>
          <a:xfrm>
            <a:off x="177452" y="607970"/>
            <a:ext cx="10515600" cy="1009650"/>
          </a:xfrm>
          <a:prstGeom prst="rect">
            <a:avLst/>
          </a:prstGeom>
        </p:spPr>
        <p:txBody>
          <a:bodyPr>
            <a:normAutofit fontScale="90000"/>
          </a:bodyPr>
          <a:lstStyle/>
          <a:p>
            <a:r>
              <a:rPr lang="en-US" dirty="0"/>
              <a:t>Multiple Passes through the Value Stream</a:t>
            </a:r>
          </a:p>
        </p:txBody>
      </p:sp>
      <p:sp>
        <p:nvSpPr>
          <p:cNvPr id="12" name="Rectangle 71">
            <a:extLst>
              <a:ext uri="{FF2B5EF4-FFF2-40B4-BE49-F238E27FC236}">
                <a16:creationId xmlns:a16="http://schemas.microsoft.com/office/drawing/2014/main" id="{DD3FC86F-0D9A-81DD-31DC-009D03438062}"/>
              </a:ext>
            </a:extLst>
          </p:cNvPr>
          <p:cNvSpPr>
            <a:spLocks noChangeArrowheads="1"/>
          </p:cNvSpPr>
          <p:nvPr/>
        </p:nvSpPr>
        <p:spPr bwMode="auto">
          <a:xfrm>
            <a:off x="479812" y="2323654"/>
            <a:ext cx="1534799" cy="649505"/>
          </a:xfrm>
          <a:prstGeom prst="rect">
            <a:avLst/>
          </a:prstGeom>
          <a:solidFill>
            <a:schemeClr val="accent3"/>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VSM</a:t>
            </a:r>
          </a:p>
          <a:p>
            <a:pPr algn="ctr">
              <a:lnSpc>
                <a:spcPct val="100000"/>
              </a:lnSpc>
              <a:spcBef>
                <a:spcPct val="30000"/>
              </a:spcBef>
              <a:spcAft>
                <a:spcPct val="0"/>
              </a:spcAft>
              <a:buClrTx/>
              <a:buSzTx/>
              <a:buFontTx/>
              <a:buNone/>
            </a:pPr>
            <a:r>
              <a:rPr lang="ja-JP" altLang="en-US" dirty="0">
                <a:solidFill>
                  <a:schemeClr val="bg1"/>
                </a:solidFill>
                <a:latin typeface="Roboto" panose="02000000000000000000" pitchFamily="2" charset="0"/>
                <a:cs typeface="Roboto" panose="02000000000000000000" pitchFamily="2" charset="0"/>
              </a:rPr>
              <a:t>“</a:t>
            </a:r>
            <a:r>
              <a:rPr lang="en-US" altLang="ja-JP" dirty="0">
                <a:solidFill>
                  <a:schemeClr val="bg1"/>
                </a:solidFill>
                <a:latin typeface="Roboto" panose="02000000000000000000" pitchFamily="2" charset="0"/>
                <a:ea typeface="Roboto" panose="02000000000000000000" pitchFamily="2" charset="0"/>
                <a:cs typeface="Roboto" panose="02000000000000000000" pitchFamily="2" charset="0"/>
              </a:rPr>
              <a:t>Event</a:t>
            </a:r>
            <a:r>
              <a:rPr lang="ja-JP" altLang="en-US" dirty="0">
                <a:solidFill>
                  <a:schemeClr val="bg1"/>
                </a:solidFill>
                <a:latin typeface="Roboto" panose="02000000000000000000" pitchFamily="2" charset="0"/>
                <a:cs typeface="Roboto" panose="02000000000000000000" pitchFamily="2" charset="0"/>
              </a:rPr>
              <a:t>”</a:t>
            </a:r>
            <a:endPar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3" name="AutoShape 72">
            <a:extLst>
              <a:ext uri="{FF2B5EF4-FFF2-40B4-BE49-F238E27FC236}">
                <a16:creationId xmlns:a16="http://schemas.microsoft.com/office/drawing/2014/main" id="{4285C922-780F-172A-E148-08F808C23BC9}"/>
              </a:ext>
            </a:extLst>
          </p:cNvPr>
          <p:cNvSpPr>
            <a:spLocks noChangeArrowheads="1"/>
          </p:cNvSpPr>
          <p:nvPr/>
        </p:nvSpPr>
        <p:spPr bwMode="auto">
          <a:xfrm>
            <a:off x="371146" y="3753518"/>
            <a:ext cx="1315542" cy="577338"/>
          </a:xfrm>
          <a:prstGeom prst="flowChartDocument">
            <a:avLst/>
          </a:prstGeom>
          <a:solidFill>
            <a:schemeClr val="accent3"/>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Future-State</a:t>
            </a:r>
          </a:p>
          <a:p>
            <a:pPr algn="ctr">
              <a:lnSpc>
                <a:spcPct val="100000"/>
              </a:lnSpc>
              <a:spcBef>
                <a:spcPct val="3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VSM</a:t>
            </a:r>
          </a:p>
        </p:txBody>
      </p:sp>
      <p:sp>
        <p:nvSpPr>
          <p:cNvPr id="14" name="AutoShape 73">
            <a:extLst>
              <a:ext uri="{FF2B5EF4-FFF2-40B4-BE49-F238E27FC236}">
                <a16:creationId xmlns:a16="http://schemas.microsoft.com/office/drawing/2014/main" id="{A17A1773-637B-C901-022D-FA662EF112B8}"/>
              </a:ext>
            </a:extLst>
          </p:cNvPr>
          <p:cNvSpPr>
            <a:spLocks noChangeArrowheads="1"/>
          </p:cNvSpPr>
          <p:nvPr/>
        </p:nvSpPr>
        <p:spPr bwMode="auto">
          <a:xfrm>
            <a:off x="1904982" y="3225743"/>
            <a:ext cx="1315542" cy="746423"/>
          </a:xfrm>
          <a:prstGeom prst="flowChartDocument">
            <a:avLst/>
          </a:prstGeom>
          <a:solidFill>
            <a:schemeClr val="accent3"/>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Value Stream</a:t>
            </a:r>
          </a:p>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Plan</a:t>
            </a:r>
          </a:p>
        </p:txBody>
      </p:sp>
      <p:sp>
        <p:nvSpPr>
          <p:cNvPr id="15" name="Line 74">
            <a:extLst>
              <a:ext uri="{FF2B5EF4-FFF2-40B4-BE49-F238E27FC236}">
                <a16:creationId xmlns:a16="http://schemas.microsoft.com/office/drawing/2014/main" id="{7922B74B-BF9A-4B39-8E26-8BB2C1DEE200}"/>
              </a:ext>
            </a:extLst>
          </p:cNvPr>
          <p:cNvSpPr>
            <a:spLocks noChangeShapeType="1"/>
          </p:cNvSpPr>
          <p:nvPr/>
        </p:nvSpPr>
        <p:spPr bwMode="auto">
          <a:xfrm>
            <a:off x="1685725" y="2973159"/>
            <a:ext cx="328886" cy="288669"/>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6" name="Line 75">
            <a:extLst>
              <a:ext uri="{FF2B5EF4-FFF2-40B4-BE49-F238E27FC236}">
                <a16:creationId xmlns:a16="http://schemas.microsoft.com/office/drawing/2014/main" id="{5B0D3A64-4926-6D16-BC22-D950B924A45A}"/>
              </a:ext>
            </a:extLst>
          </p:cNvPr>
          <p:cNvSpPr>
            <a:spLocks noChangeShapeType="1"/>
          </p:cNvSpPr>
          <p:nvPr/>
        </p:nvSpPr>
        <p:spPr bwMode="auto">
          <a:xfrm>
            <a:off x="1027954" y="2973159"/>
            <a:ext cx="1" cy="770501"/>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25" name="Rectangle 76">
            <a:extLst>
              <a:ext uri="{FF2B5EF4-FFF2-40B4-BE49-F238E27FC236}">
                <a16:creationId xmlns:a16="http://schemas.microsoft.com/office/drawing/2014/main" id="{0E3DF1B1-B93D-801B-B304-9FFA05F3A390}"/>
              </a:ext>
            </a:extLst>
          </p:cNvPr>
          <p:cNvSpPr>
            <a:spLocks noChangeArrowheads="1"/>
          </p:cNvSpPr>
          <p:nvPr/>
        </p:nvSpPr>
        <p:spPr bwMode="auto">
          <a:xfrm>
            <a:off x="3439781" y="2179320"/>
            <a:ext cx="1754056" cy="938174"/>
          </a:xfrm>
          <a:prstGeom prst="rect">
            <a:avLst/>
          </a:prstGeom>
          <a:solidFill>
            <a:schemeClr val="accent3"/>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VS Plan</a:t>
            </a:r>
          </a:p>
          <a:p>
            <a:pPr algn="ctr">
              <a:lnSpc>
                <a:spcPct val="100000"/>
              </a:lnSpc>
              <a:spcBef>
                <a:spcPct val="3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Implementation</a:t>
            </a:r>
          </a:p>
        </p:txBody>
      </p:sp>
      <p:sp>
        <p:nvSpPr>
          <p:cNvPr id="85" name="Rectangle 77">
            <a:extLst>
              <a:ext uri="{FF2B5EF4-FFF2-40B4-BE49-F238E27FC236}">
                <a16:creationId xmlns:a16="http://schemas.microsoft.com/office/drawing/2014/main" id="{45FB0E91-60B9-EA7A-EACF-1A220584AC18}"/>
              </a:ext>
            </a:extLst>
          </p:cNvPr>
          <p:cNvSpPr>
            <a:spLocks noChangeArrowheads="1"/>
          </p:cNvSpPr>
          <p:nvPr/>
        </p:nvSpPr>
        <p:spPr bwMode="auto">
          <a:xfrm>
            <a:off x="6509380" y="2323654"/>
            <a:ext cx="1534799" cy="649505"/>
          </a:xfrm>
          <a:prstGeom prst="rect">
            <a:avLst/>
          </a:prstGeom>
          <a:solidFill>
            <a:schemeClr val="accent3"/>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rPr>
              <a:t>New VSM </a:t>
            </a:r>
            <a:r>
              <a:rPr lang="ja-JP" altLang="en-US" dirty="0">
                <a:solidFill>
                  <a:schemeClr val="bg1"/>
                </a:solidFill>
                <a:latin typeface="Roboto" panose="02000000000000000000" pitchFamily="2" charset="0"/>
                <a:cs typeface="Roboto" panose="02000000000000000000" pitchFamily="2" charset="0"/>
              </a:rPr>
              <a:t>“</a:t>
            </a:r>
            <a:r>
              <a:rPr lang="en-US" altLang="ja-JP" dirty="0">
                <a:solidFill>
                  <a:schemeClr val="bg1"/>
                </a:solidFill>
                <a:latin typeface="Roboto" panose="02000000000000000000" pitchFamily="2" charset="0"/>
                <a:ea typeface="Roboto" panose="02000000000000000000" pitchFamily="2" charset="0"/>
                <a:cs typeface="Roboto" panose="02000000000000000000" pitchFamily="2" charset="0"/>
              </a:rPr>
              <a:t>Event</a:t>
            </a:r>
            <a:r>
              <a:rPr lang="ja-JP" altLang="en-US" dirty="0">
                <a:solidFill>
                  <a:schemeClr val="bg1"/>
                </a:solidFill>
                <a:latin typeface="Roboto" panose="02000000000000000000" pitchFamily="2" charset="0"/>
                <a:cs typeface="Roboto" panose="02000000000000000000" pitchFamily="2" charset="0"/>
              </a:rPr>
              <a:t>”</a:t>
            </a:r>
            <a:endParaRPr lang="en-US" altLang="en-US"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6" name="AutoShape 78">
            <a:extLst>
              <a:ext uri="{FF2B5EF4-FFF2-40B4-BE49-F238E27FC236}">
                <a16:creationId xmlns:a16="http://schemas.microsoft.com/office/drawing/2014/main" id="{5357DA67-AA0C-722C-2679-B342CA5F1B62}"/>
              </a:ext>
            </a:extLst>
          </p:cNvPr>
          <p:cNvSpPr>
            <a:spLocks noChangeArrowheads="1"/>
          </p:cNvSpPr>
          <p:nvPr/>
        </p:nvSpPr>
        <p:spPr bwMode="auto">
          <a:xfrm>
            <a:off x="6728637" y="4199959"/>
            <a:ext cx="1315542" cy="649505"/>
          </a:xfrm>
          <a:prstGeom prst="flowChartDocument">
            <a:avLst/>
          </a:prstGeom>
          <a:solidFill>
            <a:schemeClr val="accent3"/>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New Future-State VSM</a:t>
            </a:r>
          </a:p>
        </p:txBody>
      </p:sp>
      <p:sp>
        <p:nvSpPr>
          <p:cNvPr id="87" name="AutoShape 79">
            <a:extLst>
              <a:ext uri="{FF2B5EF4-FFF2-40B4-BE49-F238E27FC236}">
                <a16:creationId xmlns:a16="http://schemas.microsoft.com/office/drawing/2014/main" id="{2C31AC6B-50E8-6727-3B71-DD30FF384FC2}"/>
              </a:ext>
            </a:extLst>
          </p:cNvPr>
          <p:cNvSpPr>
            <a:spLocks noChangeArrowheads="1"/>
          </p:cNvSpPr>
          <p:nvPr/>
        </p:nvSpPr>
        <p:spPr bwMode="auto">
          <a:xfrm>
            <a:off x="7167151" y="3117494"/>
            <a:ext cx="1315542" cy="721672"/>
          </a:xfrm>
          <a:prstGeom prst="flowChartDocument">
            <a:avLst/>
          </a:prstGeom>
          <a:solidFill>
            <a:schemeClr val="accent3"/>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New Value Stream Plan</a:t>
            </a:r>
          </a:p>
        </p:txBody>
      </p:sp>
      <p:sp>
        <p:nvSpPr>
          <p:cNvPr id="88" name="Line 80">
            <a:extLst>
              <a:ext uri="{FF2B5EF4-FFF2-40B4-BE49-F238E27FC236}">
                <a16:creationId xmlns:a16="http://schemas.microsoft.com/office/drawing/2014/main" id="{721DA978-5665-D703-EBDD-59CC6DAD36B3}"/>
              </a:ext>
            </a:extLst>
          </p:cNvPr>
          <p:cNvSpPr>
            <a:spLocks noChangeShapeType="1"/>
          </p:cNvSpPr>
          <p:nvPr/>
        </p:nvSpPr>
        <p:spPr bwMode="auto">
          <a:xfrm>
            <a:off x="7496036" y="2973159"/>
            <a:ext cx="219257" cy="144334"/>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89" name="Line 81">
            <a:extLst>
              <a:ext uri="{FF2B5EF4-FFF2-40B4-BE49-F238E27FC236}">
                <a16:creationId xmlns:a16="http://schemas.microsoft.com/office/drawing/2014/main" id="{68CAD7AE-CD88-40D4-2B36-BC2179D0504F}"/>
              </a:ext>
            </a:extLst>
          </p:cNvPr>
          <p:cNvSpPr>
            <a:spLocks noChangeShapeType="1"/>
          </p:cNvSpPr>
          <p:nvPr/>
        </p:nvSpPr>
        <p:spPr bwMode="auto">
          <a:xfrm>
            <a:off x="6728637" y="2973159"/>
            <a:ext cx="438513" cy="12268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cxnSp>
        <p:nvCxnSpPr>
          <p:cNvPr id="90" name="AutoShape 82">
            <a:extLst>
              <a:ext uri="{FF2B5EF4-FFF2-40B4-BE49-F238E27FC236}">
                <a16:creationId xmlns:a16="http://schemas.microsoft.com/office/drawing/2014/main" id="{9FC6E89B-808C-38D4-5559-9BBD144E9925}"/>
              </a:ext>
            </a:extLst>
          </p:cNvPr>
          <p:cNvCxnSpPr>
            <a:cxnSpLocks noChangeShapeType="1"/>
            <a:stCxn id="12" idx="3"/>
            <a:endCxn id="25" idx="1"/>
          </p:cNvCxnSpPr>
          <p:nvPr/>
        </p:nvCxnSpPr>
        <p:spPr bwMode="auto">
          <a:xfrm>
            <a:off x="2014611" y="2648407"/>
            <a:ext cx="1425171" cy="0"/>
          </a:xfrm>
          <a:prstGeom prst="straightConnector1">
            <a:avLst/>
          </a:prstGeom>
          <a:noFill/>
          <a:ln w="12700" cap="sq">
            <a:solidFill>
              <a:schemeClr val="bg2">
                <a:lumMod val="10000"/>
              </a:schemeClr>
            </a:solidFill>
            <a:round/>
            <a:headEnd type="none" w="sm" len="sm"/>
            <a:tailEnd type="triangle" w="sm" len="sm"/>
          </a:ln>
          <a:extLst>
            <a:ext uri="{909E8E84-426E-40DD-AFC4-6F175D3DCCD1}">
              <a14:hiddenFill xmlns:a14="http://schemas.microsoft.com/office/drawing/2010/main">
                <a:noFill/>
              </a14:hiddenFill>
            </a:ext>
          </a:extLst>
        </p:spPr>
      </p:cxnSp>
      <p:cxnSp>
        <p:nvCxnSpPr>
          <p:cNvPr id="91" name="AutoShape 83">
            <a:extLst>
              <a:ext uri="{FF2B5EF4-FFF2-40B4-BE49-F238E27FC236}">
                <a16:creationId xmlns:a16="http://schemas.microsoft.com/office/drawing/2014/main" id="{59CBB7FA-D4F7-5BEE-2BB2-AE408A33FA54}"/>
              </a:ext>
            </a:extLst>
          </p:cNvPr>
          <p:cNvCxnSpPr>
            <a:cxnSpLocks noChangeShapeType="1"/>
            <a:stCxn id="25" idx="3"/>
            <a:endCxn id="85" idx="1"/>
          </p:cNvCxnSpPr>
          <p:nvPr/>
        </p:nvCxnSpPr>
        <p:spPr bwMode="auto">
          <a:xfrm>
            <a:off x="5193838" y="2648407"/>
            <a:ext cx="1315542" cy="0"/>
          </a:xfrm>
          <a:prstGeom prst="straightConnector1">
            <a:avLst/>
          </a:prstGeom>
          <a:noFill/>
          <a:ln w="12700" cap="sq">
            <a:solidFill>
              <a:schemeClr val="bg2">
                <a:lumMod val="10000"/>
              </a:schemeClr>
            </a:solidFill>
            <a:round/>
            <a:headEnd type="none" w="sm" len="sm"/>
            <a:tailEnd type="triangle" w="sm" len="sm"/>
          </a:ln>
          <a:extLst>
            <a:ext uri="{909E8E84-426E-40DD-AFC4-6F175D3DCCD1}">
              <a14:hiddenFill xmlns:a14="http://schemas.microsoft.com/office/drawing/2010/main">
                <a:noFill/>
              </a14:hiddenFill>
            </a:ext>
          </a:extLst>
        </p:spPr>
      </p:cxnSp>
      <p:cxnSp>
        <p:nvCxnSpPr>
          <p:cNvPr id="92" name="AutoShape 84">
            <a:extLst>
              <a:ext uri="{FF2B5EF4-FFF2-40B4-BE49-F238E27FC236}">
                <a16:creationId xmlns:a16="http://schemas.microsoft.com/office/drawing/2014/main" id="{DA522FF4-3890-0538-704F-CF53D18F56B9}"/>
              </a:ext>
            </a:extLst>
          </p:cNvPr>
          <p:cNvCxnSpPr>
            <a:cxnSpLocks noChangeShapeType="1"/>
            <a:stCxn id="85" idx="3"/>
            <a:endCxn id="97" idx="1"/>
          </p:cNvCxnSpPr>
          <p:nvPr/>
        </p:nvCxnSpPr>
        <p:spPr bwMode="auto">
          <a:xfrm>
            <a:off x="8044179" y="2648407"/>
            <a:ext cx="1427763" cy="6623"/>
          </a:xfrm>
          <a:prstGeom prst="straightConnector1">
            <a:avLst/>
          </a:prstGeom>
          <a:noFill/>
          <a:ln w="12700" cap="sq">
            <a:solidFill>
              <a:schemeClr val="bg2">
                <a:lumMod val="10000"/>
              </a:schemeClr>
            </a:solidFill>
            <a:round/>
            <a:headEnd type="none" w="sm" len="sm"/>
            <a:tailEnd type="triangle" w="sm" len="sm"/>
          </a:ln>
          <a:extLst>
            <a:ext uri="{909E8E84-426E-40DD-AFC4-6F175D3DCCD1}">
              <a14:hiddenFill xmlns:a14="http://schemas.microsoft.com/office/drawing/2010/main">
                <a:noFill/>
              </a14:hiddenFill>
            </a:ext>
          </a:extLst>
        </p:spPr>
      </p:cxnSp>
      <p:sp>
        <p:nvSpPr>
          <p:cNvPr id="93" name="Text Box 87">
            <a:extLst>
              <a:ext uri="{FF2B5EF4-FFF2-40B4-BE49-F238E27FC236}">
                <a16:creationId xmlns:a16="http://schemas.microsoft.com/office/drawing/2014/main" id="{67A32EA8-B658-F324-CB26-D65F316E046E}"/>
              </a:ext>
            </a:extLst>
          </p:cNvPr>
          <p:cNvSpPr txBox="1">
            <a:spLocks noChangeArrowheads="1"/>
          </p:cNvSpPr>
          <p:nvPr/>
        </p:nvSpPr>
        <p:spPr bwMode="auto">
          <a:xfrm>
            <a:off x="3556336" y="3101532"/>
            <a:ext cx="197331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30000"/>
              </a:spcBef>
              <a:spcAft>
                <a:spcPct val="0"/>
              </a:spcAft>
              <a:buClrTx/>
              <a:buSzTx/>
              <a:buFontTx/>
              <a:buNone/>
            </a:pPr>
            <a:r>
              <a:rPr lang="en-US" altLang="en-US" sz="1000" b="0" dirty="0">
                <a:latin typeface="Roboto" panose="02000000000000000000" pitchFamily="2" charset="0"/>
                <a:ea typeface="Roboto" panose="02000000000000000000" pitchFamily="2" charset="0"/>
                <a:cs typeface="Roboto" panose="02000000000000000000" pitchFamily="2" charset="0"/>
              </a:rPr>
              <a:t>Kaizen events, other  improvement and transformational activities</a:t>
            </a:r>
          </a:p>
        </p:txBody>
      </p:sp>
      <p:sp>
        <p:nvSpPr>
          <p:cNvPr id="94" name="Rectangle 88">
            <a:extLst>
              <a:ext uri="{FF2B5EF4-FFF2-40B4-BE49-F238E27FC236}">
                <a16:creationId xmlns:a16="http://schemas.microsoft.com/office/drawing/2014/main" id="{156D4D82-3118-CF42-B5EE-627FD891547D}"/>
              </a:ext>
            </a:extLst>
          </p:cNvPr>
          <p:cNvSpPr>
            <a:spLocks noChangeArrowheads="1"/>
          </p:cNvSpPr>
          <p:nvPr/>
        </p:nvSpPr>
        <p:spPr bwMode="auto">
          <a:xfrm>
            <a:off x="2891639" y="4633005"/>
            <a:ext cx="3617741" cy="1262984"/>
          </a:xfrm>
          <a:prstGeom prst="rect">
            <a:avLst/>
          </a:prstGeom>
          <a:solidFill>
            <a:schemeClr val="accent4"/>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Begin implementation of</a:t>
            </a:r>
          </a:p>
          <a:p>
            <a:pPr algn="ctr">
              <a:lnSpc>
                <a:spcPct val="100000"/>
              </a:lnSpc>
              <a:spcBef>
                <a:spcPct val="30000"/>
              </a:spcBef>
              <a:spcAft>
                <a:spcPct val="0"/>
              </a:spcAft>
              <a:buClrTx/>
              <a:buSzTx/>
              <a:buFontTx/>
              <a:buNone/>
            </a:pPr>
            <a:r>
              <a:rPr lang="en-US" altLang="en-US" sz="1600" u="sng" dirty="0">
                <a:solidFill>
                  <a:schemeClr val="bg1"/>
                </a:solidFill>
                <a:latin typeface="Roboto" panose="02000000000000000000" pitchFamily="2" charset="0"/>
                <a:ea typeface="Roboto" panose="02000000000000000000" pitchFamily="2" charset="0"/>
                <a:cs typeface="Roboto" panose="02000000000000000000" pitchFamily="2" charset="0"/>
              </a:rPr>
              <a:t>pacing</a:t>
            </a: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 transformation activities</a:t>
            </a:r>
          </a:p>
          <a:p>
            <a:pPr algn="ctr">
              <a:lnSpc>
                <a:spcPct val="100000"/>
              </a:lnSpc>
              <a:spcBef>
                <a:spcPct val="3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(&gt;6 months) required to achieve </a:t>
            </a:r>
          </a:p>
          <a:p>
            <a:pPr algn="ctr">
              <a:lnSpc>
                <a:spcPct val="100000"/>
              </a:lnSpc>
              <a:spcBef>
                <a:spcPct val="3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long-term </a:t>
            </a:r>
            <a:r>
              <a:rPr lang="ja-JP" altLang="en-US" sz="1600" dirty="0">
                <a:solidFill>
                  <a:schemeClr val="bg1"/>
                </a:solidFill>
                <a:latin typeface="Roboto" panose="02000000000000000000" pitchFamily="2" charset="0"/>
                <a:cs typeface="Roboto" panose="02000000000000000000" pitchFamily="2" charset="0"/>
              </a:rPr>
              <a:t>“</a:t>
            </a:r>
            <a:r>
              <a:rPr lang="en-US" altLang="ja-JP" sz="1600" dirty="0">
                <a:solidFill>
                  <a:schemeClr val="bg1"/>
                </a:solidFill>
                <a:latin typeface="Roboto" panose="02000000000000000000" pitchFamily="2" charset="0"/>
                <a:ea typeface="Roboto" panose="02000000000000000000" pitchFamily="2" charset="0"/>
                <a:cs typeface="Roboto" panose="02000000000000000000" pitchFamily="2" charset="0"/>
              </a:rPr>
              <a:t>vision</a:t>
            </a:r>
            <a:r>
              <a:rPr lang="ja-JP" altLang="en-US" sz="1600" dirty="0">
                <a:solidFill>
                  <a:schemeClr val="bg1"/>
                </a:solidFill>
                <a:latin typeface="Roboto" panose="02000000000000000000" pitchFamily="2" charset="0"/>
                <a:cs typeface="Roboto" panose="02000000000000000000" pitchFamily="2" charset="0"/>
              </a:rPr>
              <a:t>”</a:t>
            </a:r>
            <a:r>
              <a:rPr lang="en-US" altLang="ja-JP" sz="1600" dirty="0">
                <a:solidFill>
                  <a:schemeClr val="bg1"/>
                </a:solidFill>
                <a:latin typeface="Roboto" panose="02000000000000000000" pitchFamily="2" charset="0"/>
                <a:ea typeface="Roboto" panose="02000000000000000000" pitchFamily="2" charset="0"/>
                <a:cs typeface="Roboto" panose="02000000000000000000" pitchFamily="2" charset="0"/>
              </a:rPr>
              <a:t> </a:t>
            </a:r>
            <a:endPar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5" name="AutoShape 89">
            <a:extLst>
              <a:ext uri="{FF2B5EF4-FFF2-40B4-BE49-F238E27FC236}">
                <a16:creationId xmlns:a16="http://schemas.microsoft.com/office/drawing/2014/main" id="{CA67C3E5-E9CC-9A18-70DE-5092214F82E2}"/>
              </a:ext>
            </a:extLst>
          </p:cNvPr>
          <p:cNvSpPr>
            <a:spLocks noChangeArrowheads="1"/>
          </p:cNvSpPr>
          <p:nvPr/>
        </p:nvSpPr>
        <p:spPr bwMode="auto">
          <a:xfrm>
            <a:off x="370402" y="4985687"/>
            <a:ext cx="1315542" cy="577338"/>
          </a:xfrm>
          <a:prstGeom prst="flowChartDocument">
            <a:avLst/>
          </a:prstGeom>
          <a:solidFill>
            <a:schemeClr val="accent4"/>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Long-term</a:t>
            </a:r>
          </a:p>
          <a:p>
            <a:pPr algn="ctr">
              <a:lnSpc>
                <a:spcPct val="100000"/>
              </a:lnSpc>
              <a:spcBef>
                <a:spcPct val="3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Vision</a:t>
            </a:r>
          </a:p>
        </p:txBody>
      </p:sp>
      <p:cxnSp>
        <p:nvCxnSpPr>
          <p:cNvPr id="96" name="AutoShape 90">
            <a:extLst>
              <a:ext uri="{FF2B5EF4-FFF2-40B4-BE49-F238E27FC236}">
                <a16:creationId xmlns:a16="http://schemas.microsoft.com/office/drawing/2014/main" id="{0A4D2904-9646-BD34-6EE0-D17030BF52F2}"/>
              </a:ext>
            </a:extLst>
          </p:cNvPr>
          <p:cNvCxnSpPr>
            <a:cxnSpLocks noChangeShapeType="1"/>
            <a:stCxn id="95" idx="3"/>
            <a:endCxn id="94" idx="1"/>
          </p:cNvCxnSpPr>
          <p:nvPr/>
        </p:nvCxnSpPr>
        <p:spPr bwMode="auto">
          <a:xfrm flipV="1">
            <a:off x="1685944" y="5264497"/>
            <a:ext cx="1205695" cy="9859"/>
          </a:xfrm>
          <a:prstGeom prst="straightConnector1">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cxnSp>
      <p:sp>
        <p:nvSpPr>
          <p:cNvPr id="97" name="AutoShape 91">
            <a:extLst>
              <a:ext uri="{FF2B5EF4-FFF2-40B4-BE49-F238E27FC236}">
                <a16:creationId xmlns:a16="http://schemas.microsoft.com/office/drawing/2014/main" id="{A1283D5F-BE88-BB0D-BE9B-31292BA9B001}"/>
              </a:ext>
            </a:extLst>
          </p:cNvPr>
          <p:cNvSpPr>
            <a:spLocks noChangeArrowheads="1"/>
          </p:cNvSpPr>
          <p:nvPr/>
        </p:nvSpPr>
        <p:spPr bwMode="auto">
          <a:xfrm>
            <a:off x="9471942" y="2084315"/>
            <a:ext cx="2192570" cy="1141429"/>
          </a:xfrm>
          <a:prstGeom prst="flowChartAlternateProcess">
            <a:avLst/>
          </a:prstGeom>
          <a:solidFill>
            <a:schemeClr val="accent4"/>
          </a:solidFill>
          <a:ln w="12700" cap="sq">
            <a:solidFill>
              <a:schemeClr val="tx1"/>
            </a:solidFill>
            <a:miter lim="800000"/>
            <a:headEnd type="none" w="sm" len="sm"/>
            <a:tailEnd type="none" w="sm" len="sm"/>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Convergence</a:t>
            </a:r>
          </a:p>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of future VSM and </a:t>
            </a:r>
          </a:p>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long-term </a:t>
            </a:r>
            <a:r>
              <a:rPr lang="ja-JP" altLang="en-US" sz="1400" dirty="0">
                <a:solidFill>
                  <a:schemeClr val="bg1"/>
                </a:solidFill>
                <a:latin typeface="Roboto" panose="02000000000000000000" pitchFamily="2" charset="0"/>
                <a:cs typeface="Roboto" panose="02000000000000000000" pitchFamily="2" charset="0"/>
              </a:rPr>
              <a:t>“</a:t>
            </a:r>
            <a:r>
              <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rPr>
              <a:t>Vision</a:t>
            </a:r>
            <a:r>
              <a:rPr lang="ja-JP" altLang="en-US" sz="1400" dirty="0">
                <a:solidFill>
                  <a:schemeClr val="bg1"/>
                </a:solidFill>
                <a:latin typeface="Roboto" panose="02000000000000000000" pitchFamily="2" charset="0"/>
                <a:cs typeface="Roboto" panose="02000000000000000000" pitchFamily="2" charset="0"/>
              </a:rPr>
              <a:t>”</a:t>
            </a:r>
            <a:endParaRPr lang="en-US" altLang="ja-JP" sz="1400" dirty="0">
              <a:solidFill>
                <a:schemeClr val="bg1"/>
              </a:solidFill>
              <a:latin typeface="Roboto" panose="02000000000000000000" pitchFamily="2" charset="0"/>
              <a:ea typeface="Roboto" panose="02000000000000000000" pitchFamily="2" charset="0"/>
              <a:cs typeface="Roboto" panose="02000000000000000000" pitchFamily="2" charset="0"/>
            </a:endParaRPr>
          </a:p>
          <a:p>
            <a:pPr algn="ctr">
              <a:lnSpc>
                <a:spcPct val="100000"/>
              </a:lnSpc>
              <a:spcBef>
                <a:spcPct val="3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transformation</a:t>
            </a:r>
          </a:p>
        </p:txBody>
      </p:sp>
      <p:cxnSp>
        <p:nvCxnSpPr>
          <p:cNvPr id="98" name="AutoShape 92">
            <a:extLst>
              <a:ext uri="{FF2B5EF4-FFF2-40B4-BE49-F238E27FC236}">
                <a16:creationId xmlns:a16="http://schemas.microsoft.com/office/drawing/2014/main" id="{0C35D3D5-83E6-4765-FB3B-8F82E8466166}"/>
              </a:ext>
            </a:extLst>
          </p:cNvPr>
          <p:cNvCxnSpPr>
            <a:cxnSpLocks noChangeShapeType="1"/>
            <a:stCxn id="94" idx="3"/>
            <a:endCxn id="97" idx="2"/>
          </p:cNvCxnSpPr>
          <p:nvPr/>
        </p:nvCxnSpPr>
        <p:spPr bwMode="auto">
          <a:xfrm flipV="1">
            <a:off x="6509380" y="3225744"/>
            <a:ext cx="4058847" cy="2038753"/>
          </a:xfrm>
          <a:prstGeom prst="bentConnector2">
            <a:avLst/>
          </a:prstGeom>
          <a:noFill/>
          <a:ln w="12700" cap="sq">
            <a:solidFill>
              <a:schemeClr val="bg2">
                <a:lumMod val="10000"/>
              </a:schemeClr>
            </a:solidFill>
            <a:miter lim="800000"/>
            <a:headEnd type="none" w="sm" len="sm"/>
            <a:tailEnd type="triangle" w="sm" len="sm"/>
          </a:ln>
          <a:extLst>
            <a:ext uri="{909E8E84-426E-40DD-AFC4-6F175D3DCCD1}">
              <a14:hiddenFill xmlns:a14="http://schemas.microsoft.com/office/drawing/2010/main">
                <a:noFill/>
              </a14:hiddenFill>
            </a:ext>
          </a:extLst>
        </p:spPr>
      </p:cxnSp>
      <p:cxnSp>
        <p:nvCxnSpPr>
          <p:cNvPr id="99" name="AutoShape 93">
            <a:extLst>
              <a:ext uri="{FF2B5EF4-FFF2-40B4-BE49-F238E27FC236}">
                <a16:creationId xmlns:a16="http://schemas.microsoft.com/office/drawing/2014/main" id="{C504B3DF-F920-965B-DE6A-07A940BC0C92}"/>
              </a:ext>
            </a:extLst>
          </p:cNvPr>
          <p:cNvCxnSpPr>
            <a:cxnSpLocks noChangeShapeType="1"/>
            <a:stCxn id="13" idx="2"/>
            <a:endCxn id="95" idx="0"/>
          </p:cNvCxnSpPr>
          <p:nvPr/>
        </p:nvCxnSpPr>
        <p:spPr bwMode="auto">
          <a:xfrm flipH="1">
            <a:off x="1028173" y="4292688"/>
            <a:ext cx="744" cy="692999"/>
          </a:xfrm>
          <a:prstGeom prst="straightConnector1">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cxnSp>
      <p:grpSp>
        <p:nvGrpSpPr>
          <p:cNvPr id="100" name="Group 94">
            <a:extLst>
              <a:ext uri="{FF2B5EF4-FFF2-40B4-BE49-F238E27FC236}">
                <a16:creationId xmlns:a16="http://schemas.microsoft.com/office/drawing/2014/main" id="{AA62DA55-DFA2-21BC-64C6-24BFA09F96D3}"/>
              </a:ext>
            </a:extLst>
          </p:cNvPr>
          <p:cNvGrpSpPr>
            <a:grpSpLocks/>
          </p:cNvGrpSpPr>
          <p:nvPr/>
        </p:nvGrpSpPr>
        <p:grpSpPr bwMode="auto">
          <a:xfrm>
            <a:off x="8647136" y="2540156"/>
            <a:ext cx="219257" cy="216502"/>
            <a:chOff x="4056" y="1968"/>
            <a:chExt cx="96" cy="144"/>
          </a:xfrm>
        </p:grpSpPr>
        <p:sp>
          <p:nvSpPr>
            <p:cNvPr id="105" name="Rectangle 95">
              <a:extLst>
                <a:ext uri="{FF2B5EF4-FFF2-40B4-BE49-F238E27FC236}">
                  <a16:creationId xmlns:a16="http://schemas.microsoft.com/office/drawing/2014/main" id="{6714DBE1-5030-65B8-3B99-92F3F019C393}"/>
                </a:ext>
              </a:extLst>
            </p:cNvPr>
            <p:cNvSpPr>
              <a:spLocks noChangeArrowheads="1"/>
            </p:cNvSpPr>
            <p:nvPr/>
          </p:nvSpPr>
          <p:spPr bwMode="auto">
            <a:xfrm>
              <a:off x="4080" y="1968"/>
              <a:ext cx="48" cy="144"/>
            </a:xfrm>
            <a:prstGeom prst="rect">
              <a:avLst/>
            </a:prstGeom>
            <a:solidFill>
              <a:schemeClr val="bg1"/>
            </a:solidFill>
            <a:ln w="12700" cap="sq">
              <a:solidFill>
                <a:schemeClr val="bg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6" name="Line 96">
              <a:extLst>
                <a:ext uri="{FF2B5EF4-FFF2-40B4-BE49-F238E27FC236}">
                  <a16:creationId xmlns:a16="http://schemas.microsoft.com/office/drawing/2014/main" id="{60318210-1235-8BCB-7387-103D2AF58A31}"/>
                </a:ext>
              </a:extLst>
            </p:cNvPr>
            <p:cNvSpPr>
              <a:spLocks noChangeShapeType="1"/>
            </p:cNvSpPr>
            <p:nvPr/>
          </p:nvSpPr>
          <p:spPr bwMode="auto">
            <a:xfrm flipH="1">
              <a:off x="4056" y="1968"/>
              <a:ext cx="48"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7" name="Line 97">
              <a:extLst>
                <a:ext uri="{FF2B5EF4-FFF2-40B4-BE49-F238E27FC236}">
                  <a16:creationId xmlns:a16="http://schemas.microsoft.com/office/drawing/2014/main" id="{0FD965E2-C4E4-C3E7-F70F-FF57C5F4F56F}"/>
                </a:ext>
              </a:extLst>
            </p:cNvPr>
            <p:cNvSpPr>
              <a:spLocks noChangeShapeType="1"/>
            </p:cNvSpPr>
            <p:nvPr/>
          </p:nvSpPr>
          <p:spPr bwMode="auto">
            <a:xfrm flipH="1">
              <a:off x="4104" y="1968"/>
              <a:ext cx="48" cy="14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dirty="0">
                <a:latin typeface="Roboto" panose="02000000000000000000" pitchFamily="2" charset="0"/>
                <a:ea typeface="Roboto" panose="02000000000000000000" pitchFamily="2" charset="0"/>
                <a:cs typeface="Roboto" panose="02000000000000000000" pitchFamily="2" charset="0"/>
              </a:endParaRPr>
            </a:p>
          </p:txBody>
        </p:sp>
      </p:grpSp>
      <p:sp>
        <p:nvSpPr>
          <p:cNvPr id="101" name="Line 27">
            <a:extLst>
              <a:ext uri="{FF2B5EF4-FFF2-40B4-BE49-F238E27FC236}">
                <a16:creationId xmlns:a16="http://schemas.microsoft.com/office/drawing/2014/main" id="{143B30A5-3759-B2E1-A6EA-FC3DB568A7A7}"/>
              </a:ext>
            </a:extLst>
          </p:cNvPr>
          <p:cNvSpPr>
            <a:spLocks noChangeShapeType="1"/>
          </p:cNvSpPr>
          <p:nvPr/>
        </p:nvSpPr>
        <p:spPr bwMode="auto">
          <a:xfrm flipV="1">
            <a:off x="1980351" y="1880127"/>
            <a:ext cx="4385140" cy="0"/>
          </a:xfrm>
          <a:prstGeom prst="line">
            <a:avLst/>
          </a:prstGeom>
          <a:noFill/>
          <a:ln w="28575" cap="sq">
            <a:solidFill>
              <a:schemeClr val="tx1"/>
            </a:solidFill>
            <a:round/>
            <a:headEnd type="triangle" w="med" len="med"/>
            <a:tailEnd type="triangle" w="med" len="med"/>
          </a:ln>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2" name="Text Box 28">
            <a:extLst>
              <a:ext uri="{FF2B5EF4-FFF2-40B4-BE49-F238E27FC236}">
                <a16:creationId xmlns:a16="http://schemas.microsoft.com/office/drawing/2014/main" id="{3CDE5265-2E19-39C2-BFE7-001481E1E7FD}"/>
              </a:ext>
            </a:extLst>
          </p:cNvPr>
          <p:cNvSpPr txBox="1">
            <a:spLocks noChangeArrowheads="1"/>
          </p:cNvSpPr>
          <p:nvPr/>
        </p:nvSpPr>
        <p:spPr bwMode="auto">
          <a:xfrm>
            <a:off x="2907565" y="1592950"/>
            <a:ext cx="2533801" cy="523220"/>
          </a:xfrm>
          <a:prstGeom prst="rect">
            <a:avLst/>
          </a:prstGeom>
          <a:solidFill>
            <a:schemeClr val="accent4"/>
          </a:solidFill>
          <a:ln w="12700" cap="sq">
            <a:solidFill>
              <a:schemeClr val="tx1"/>
            </a:solidFill>
            <a:miter lim="800000"/>
            <a:headEnd type="none" w="sm" len="sm"/>
            <a:tailEnd type="none" w="sm" len="sm"/>
          </a:ln>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cs typeface="Roboto" panose="02000000000000000000" pitchFamily="2" charset="0"/>
              </a:rPr>
              <a:t>Approx. ½ of time span from now to Future State</a:t>
            </a:r>
          </a:p>
        </p:txBody>
      </p:sp>
      <p:sp>
        <p:nvSpPr>
          <p:cNvPr id="103" name="Line 40">
            <a:extLst>
              <a:ext uri="{FF2B5EF4-FFF2-40B4-BE49-F238E27FC236}">
                <a16:creationId xmlns:a16="http://schemas.microsoft.com/office/drawing/2014/main" id="{B79306EE-78EE-8282-5E15-803336032E07}"/>
              </a:ext>
            </a:extLst>
          </p:cNvPr>
          <p:cNvSpPr>
            <a:spLocks noChangeShapeType="1"/>
          </p:cNvSpPr>
          <p:nvPr/>
        </p:nvSpPr>
        <p:spPr bwMode="auto">
          <a:xfrm>
            <a:off x="1980351" y="1690688"/>
            <a:ext cx="0" cy="3608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04" name="Line 41">
            <a:extLst>
              <a:ext uri="{FF2B5EF4-FFF2-40B4-BE49-F238E27FC236}">
                <a16:creationId xmlns:a16="http://schemas.microsoft.com/office/drawing/2014/main" id="{6E571F02-AC05-4A84-89F6-E388C315E5B6}"/>
              </a:ext>
            </a:extLst>
          </p:cNvPr>
          <p:cNvSpPr>
            <a:spLocks noChangeShapeType="1"/>
          </p:cNvSpPr>
          <p:nvPr/>
        </p:nvSpPr>
        <p:spPr bwMode="auto">
          <a:xfrm>
            <a:off x="6365492" y="1690688"/>
            <a:ext cx="0" cy="3608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latin typeface="Roboto" panose="02000000000000000000" pitchFamily="2" charset="0"/>
              <a:ea typeface="Roboto" panose="02000000000000000000" pitchFamily="2" charset="0"/>
              <a:cs typeface="Roboto" panose="02000000000000000000" pitchFamily="2" charset="0"/>
            </a:endParaRPr>
          </a:p>
        </p:txBody>
      </p:sp>
      <p:sp>
        <p:nvSpPr>
          <p:cNvPr id="17" name="Title 1">
            <a:extLst>
              <a:ext uri="{FF2B5EF4-FFF2-40B4-BE49-F238E27FC236}">
                <a16:creationId xmlns:a16="http://schemas.microsoft.com/office/drawing/2014/main" id="{B4A3F4F9-1B8C-AB06-2F79-99DB085E35DB}"/>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p>
        </p:txBody>
      </p:sp>
      <p:sp>
        <p:nvSpPr>
          <p:cNvPr id="29" name="TextBox 28">
            <a:extLst>
              <a:ext uri="{FF2B5EF4-FFF2-40B4-BE49-F238E27FC236}">
                <a16:creationId xmlns:a16="http://schemas.microsoft.com/office/drawing/2014/main" id="{0868535D-DC26-D319-55DC-7142700B2EF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8" name="Group 7">
            <a:extLst>
              <a:ext uri="{FF2B5EF4-FFF2-40B4-BE49-F238E27FC236}">
                <a16:creationId xmlns:a16="http://schemas.microsoft.com/office/drawing/2014/main" id="{2BDF2EA7-CF92-983E-DC8D-E3A84E71F8B0}"/>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7893A793-762E-1AC0-E568-839D9AE7EA3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28DD1A9F-2A6C-6BED-88E7-6E59F334290C}"/>
                </a:ext>
              </a:extLst>
            </p:cNvPr>
            <p:cNvGrpSpPr/>
            <p:nvPr/>
          </p:nvGrpSpPr>
          <p:grpSpPr>
            <a:xfrm>
              <a:off x="940249" y="315206"/>
              <a:ext cx="746492" cy="265062"/>
              <a:chOff x="940249" y="315206"/>
              <a:chExt cx="746492" cy="265062"/>
            </a:xfrm>
          </p:grpSpPr>
          <p:sp>
            <p:nvSpPr>
              <p:cNvPr id="11" name="AutoShape 11">
                <a:extLst>
                  <a:ext uri="{FF2B5EF4-FFF2-40B4-BE49-F238E27FC236}">
                    <a16:creationId xmlns:a16="http://schemas.microsoft.com/office/drawing/2014/main" id="{4298220A-666E-635D-9E0B-4C1E6EB85DE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10">
                <a:extLst>
                  <a:ext uri="{FF2B5EF4-FFF2-40B4-BE49-F238E27FC236}">
                    <a16:creationId xmlns:a16="http://schemas.microsoft.com/office/drawing/2014/main" id="{AD8A8976-D8CD-099D-1072-25E2DFCABB4D}"/>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269093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3FF83368-1E6F-DD48-B3B7-84492632A931}"/>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26</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1403AF1A-2106-34FB-7DBA-C4ABCE7D963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8" name="Rectangle 7">
            <a:extLst>
              <a:ext uri="{FF2B5EF4-FFF2-40B4-BE49-F238E27FC236}">
                <a16:creationId xmlns:a16="http://schemas.microsoft.com/office/drawing/2014/main" id="{633B632E-FB6D-1243-4281-CAE6CE32C68F}"/>
              </a:ext>
            </a:extLst>
          </p:cNvPr>
          <p:cNvSpPr>
            <a:spLocks/>
          </p:cNvSpPr>
          <p:nvPr/>
        </p:nvSpPr>
        <p:spPr>
          <a:xfrm>
            <a:off x="940249" y="2493265"/>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System</a:t>
            </a:r>
          </a:p>
        </p:txBody>
      </p:sp>
      <p:sp>
        <p:nvSpPr>
          <p:cNvPr id="9" name="Rectangle 8">
            <a:extLst>
              <a:ext uri="{FF2B5EF4-FFF2-40B4-BE49-F238E27FC236}">
                <a16:creationId xmlns:a16="http://schemas.microsoft.com/office/drawing/2014/main" id="{90AF738E-B059-66C7-9DA3-49367F5693BD}"/>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0" name="Rectangle 9">
            <a:extLst>
              <a:ext uri="{FF2B5EF4-FFF2-40B4-BE49-F238E27FC236}">
                <a16:creationId xmlns:a16="http://schemas.microsoft.com/office/drawing/2014/main" id="{04BC3EF8-E258-805C-BAA5-9C37A574F4DF}"/>
              </a:ext>
            </a:extLst>
          </p:cNvPr>
          <p:cNvSpPr>
            <a:spLocks/>
          </p:cNvSpPr>
          <p:nvPr/>
        </p:nvSpPr>
        <p:spPr>
          <a:xfrm>
            <a:off x="940249" y="3052393"/>
            <a:ext cx="5722970" cy="452898"/>
          </a:xfrm>
          <a:prstGeom prst="rect">
            <a:avLst/>
          </a:prstGeom>
          <a:solidFill>
            <a:srgbClr val="EE362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7" name="Rectangle 16">
            <a:extLst>
              <a:ext uri="{FF2B5EF4-FFF2-40B4-BE49-F238E27FC236}">
                <a16:creationId xmlns:a16="http://schemas.microsoft.com/office/drawing/2014/main" id="{0612C3FB-5BF5-8EC7-F407-F169D6E6C269}"/>
              </a:ext>
            </a:extLst>
          </p:cNvPr>
          <p:cNvSpPr/>
          <p:nvPr/>
        </p:nvSpPr>
        <p:spPr>
          <a:xfrm>
            <a:off x="940249" y="361276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8" name="Rectangle 17">
            <a:extLst>
              <a:ext uri="{FF2B5EF4-FFF2-40B4-BE49-F238E27FC236}">
                <a16:creationId xmlns:a16="http://schemas.microsoft.com/office/drawing/2014/main" id="{09240400-4DCB-4D25-C4A9-BC50345E7EA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sp>
        <p:nvSpPr>
          <p:cNvPr id="19" name="Rectangle 18">
            <a:extLst>
              <a:ext uri="{FF2B5EF4-FFF2-40B4-BE49-F238E27FC236}">
                <a16:creationId xmlns:a16="http://schemas.microsoft.com/office/drawing/2014/main" id="{2BFA4291-1D25-E40B-3B11-1A8580261B46}"/>
              </a:ext>
            </a:extLst>
          </p:cNvPr>
          <p:cNvSpPr/>
          <p:nvPr/>
        </p:nvSpPr>
        <p:spPr>
          <a:xfrm>
            <a:off x="940249" y="414616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 </a:t>
            </a:r>
          </a:p>
        </p:txBody>
      </p:sp>
      <p:sp>
        <p:nvSpPr>
          <p:cNvPr id="21" name="Rectangle 20">
            <a:extLst>
              <a:ext uri="{FF2B5EF4-FFF2-40B4-BE49-F238E27FC236}">
                <a16:creationId xmlns:a16="http://schemas.microsoft.com/office/drawing/2014/main" id="{3AB3690F-221B-0B0C-741F-BEB3E5AB017D}"/>
              </a:ext>
            </a:extLst>
          </p:cNvPr>
          <p:cNvSpPr/>
          <p:nvPr/>
        </p:nvSpPr>
        <p:spPr>
          <a:xfrm>
            <a:off x="940249" y="467956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grpSp>
        <p:nvGrpSpPr>
          <p:cNvPr id="11" name="Group 10">
            <a:extLst>
              <a:ext uri="{FF2B5EF4-FFF2-40B4-BE49-F238E27FC236}">
                <a16:creationId xmlns:a16="http://schemas.microsoft.com/office/drawing/2014/main" id="{827DDE20-B98A-9426-3A3F-FBCE94B38296}"/>
              </a:ext>
            </a:extLst>
          </p:cNvPr>
          <p:cNvGrpSpPr/>
          <p:nvPr/>
        </p:nvGrpSpPr>
        <p:grpSpPr>
          <a:xfrm>
            <a:off x="940249" y="302538"/>
            <a:ext cx="1060167" cy="290657"/>
            <a:chOff x="940249" y="315206"/>
            <a:chExt cx="1060167" cy="265062"/>
          </a:xfrm>
        </p:grpSpPr>
        <p:sp>
          <p:nvSpPr>
            <p:cNvPr id="12" name="AutoShape 9">
              <a:extLst>
                <a:ext uri="{FF2B5EF4-FFF2-40B4-BE49-F238E27FC236}">
                  <a16:creationId xmlns:a16="http://schemas.microsoft.com/office/drawing/2014/main" id="{C943D68E-6851-4DD2-137E-10C71BDF494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26971B8D-F07F-F4F6-B0D7-D903F1DC6781}"/>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7F32FB2A-0FAB-5209-20DF-62B1DDBE83C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6E4650EB-2367-C382-D071-4AB0D8E3895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0527108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rmAutofit/>
          </a:bodyPr>
          <a:lstStyle/>
          <a:p>
            <a:r>
              <a:rPr lang="en-US" sz="4000" dirty="0">
                <a:latin typeface="Roboto Medium"/>
                <a:ea typeface="Roboto Medium"/>
                <a:cs typeface="Roboto Medium"/>
              </a:rPr>
              <a:t>Flow</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838200" y="1825625"/>
            <a:ext cx="10293632" cy="4351338"/>
          </a:xfrm>
        </p:spPr>
        <p:txBody>
          <a:bodyPr/>
          <a:lstStyle/>
          <a:p>
            <a:r>
              <a:rPr lang="en-US" sz="2400" dirty="0"/>
              <a:t>Movement of information, services and knowledge through the value stream</a:t>
            </a:r>
          </a:p>
          <a:p>
            <a:r>
              <a:rPr lang="en-US" sz="2400" dirty="0"/>
              <a:t>A perfect process has continuous flow as information, service and knowledge are transformed continuously without delay from step to step</a:t>
            </a:r>
          </a:p>
          <a:p>
            <a:r>
              <a:rPr lang="en-US" sz="2400" dirty="0"/>
              <a:t>Flow is created by eliminating queues and stops, facilitating improved process flexibility &amp; reliability</a:t>
            </a:r>
          </a:p>
          <a:p>
            <a:pPr marL="0" indent="0">
              <a:buNone/>
            </a:pPr>
            <a:endParaRPr lang="en-US" dirty="0"/>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27</a:t>
            </a:fld>
            <a:endParaRPr lang="en-US"/>
          </a:p>
        </p:txBody>
      </p:sp>
      <p:sp>
        <p:nvSpPr>
          <p:cNvPr id="19" name="TextBox 18">
            <a:extLst>
              <a:ext uri="{FF2B5EF4-FFF2-40B4-BE49-F238E27FC236}">
                <a16:creationId xmlns:a16="http://schemas.microsoft.com/office/drawing/2014/main" id="{4FF78C74-C75F-53CD-4175-5AF949F0064E}"/>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0" name="Group 9">
            <a:extLst>
              <a:ext uri="{FF2B5EF4-FFF2-40B4-BE49-F238E27FC236}">
                <a16:creationId xmlns:a16="http://schemas.microsoft.com/office/drawing/2014/main" id="{118A24A6-6902-5922-0288-67C8F39DA8E8}"/>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F1F37392-A740-AF35-56AC-0B6C317C7B8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61DE7BB9-984C-7548-C32F-2D2A6BD5A9A8}"/>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48957A95-9D6F-5EA6-2D1A-7E3A8E18F4C9}"/>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7707DE8D-4648-070F-A1C7-7BAB4E8B771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4213149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36305-E156-6111-5A80-545645BEDA67}"/>
              </a:ext>
            </a:extLst>
          </p:cNvPr>
          <p:cNvSpPr>
            <a:spLocks noGrp="1"/>
          </p:cNvSpPr>
          <p:nvPr>
            <p:ph type="title"/>
          </p:nvPr>
        </p:nvSpPr>
        <p:spPr/>
        <p:txBody>
          <a:bodyPr>
            <a:normAutofit/>
          </a:bodyPr>
          <a:lstStyle/>
          <a:p>
            <a:r>
              <a:rPr lang="en-US" sz="4000" dirty="0">
                <a:latin typeface="Roboto Medium"/>
                <a:ea typeface="Roboto Medium"/>
                <a:cs typeface="Roboto Medium"/>
              </a:rPr>
              <a:t>Batch Processes</a:t>
            </a:r>
          </a:p>
        </p:txBody>
      </p:sp>
      <p:sp>
        <p:nvSpPr>
          <p:cNvPr id="5" name="Slide Number Placeholder 4">
            <a:extLst>
              <a:ext uri="{FF2B5EF4-FFF2-40B4-BE49-F238E27FC236}">
                <a16:creationId xmlns:a16="http://schemas.microsoft.com/office/drawing/2014/main" id="{DB0F1BCE-FF38-1BB0-9D28-67C39AFE49FF}"/>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28</a:t>
            </a:fld>
            <a:endParaRPr lang="en-US"/>
          </a:p>
        </p:txBody>
      </p:sp>
      <p:sp>
        <p:nvSpPr>
          <p:cNvPr id="119" name="Text Placeholder 3">
            <a:extLst>
              <a:ext uri="{FF2B5EF4-FFF2-40B4-BE49-F238E27FC236}">
                <a16:creationId xmlns:a16="http://schemas.microsoft.com/office/drawing/2014/main" id="{5ADF625A-D530-FEE8-378C-BE6223C49F53}"/>
              </a:ext>
            </a:extLst>
          </p:cNvPr>
          <p:cNvSpPr txBox="1">
            <a:spLocks/>
          </p:cNvSpPr>
          <p:nvPr/>
        </p:nvSpPr>
        <p:spPr>
          <a:xfrm>
            <a:off x="5776686" y="1724941"/>
            <a:ext cx="4049485" cy="49348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dirty="0">
                <a:solidFill>
                  <a:schemeClr val="tx1"/>
                </a:solidFill>
              </a:rPr>
              <a:t>Lead Time = 20 Minutes</a:t>
            </a:r>
          </a:p>
        </p:txBody>
      </p:sp>
      <p:graphicFrame>
        <p:nvGraphicFramePr>
          <p:cNvPr id="12" name="Table 12">
            <a:extLst>
              <a:ext uri="{FF2B5EF4-FFF2-40B4-BE49-F238E27FC236}">
                <a16:creationId xmlns:a16="http://schemas.microsoft.com/office/drawing/2014/main" id="{C526C9C9-5E7A-5211-EAA5-430E640DCF1A}"/>
              </a:ext>
            </a:extLst>
          </p:cNvPr>
          <p:cNvGraphicFramePr>
            <a:graphicFrameLocks noGrp="1"/>
          </p:cNvGraphicFramePr>
          <p:nvPr>
            <p:extLst>
              <p:ext uri="{D42A27DB-BD31-4B8C-83A1-F6EECF244321}">
                <p14:modId xmlns:p14="http://schemas.microsoft.com/office/powerpoint/2010/main" val="2077139076"/>
              </p:ext>
            </p:extLst>
          </p:nvPr>
        </p:nvGraphicFramePr>
        <p:xfrm>
          <a:off x="118157" y="2189213"/>
          <a:ext cx="11955686" cy="2225040"/>
        </p:xfrm>
        <a:graphic>
          <a:graphicData uri="http://schemas.openxmlformats.org/drawingml/2006/table">
            <a:tbl>
              <a:tblPr firstRow="1" bandRow="1">
                <a:tableStyleId>{5C22544A-7EE6-4342-B048-85BDC9FD1C3A}</a:tableStyleId>
              </a:tblPr>
              <a:tblGrid>
                <a:gridCol w="2168906">
                  <a:extLst>
                    <a:ext uri="{9D8B030D-6E8A-4147-A177-3AD203B41FA5}">
                      <a16:colId xmlns:a16="http://schemas.microsoft.com/office/drawing/2014/main" val="3305747784"/>
                    </a:ext>
                  </a:extLst>
                </a:gridCol>
                <a:gridCol w="489339">
                  <a:extLst>
                    <a:ext uri="{9D8B030D-6E8A-4147-A177-3AD203B41FA5}">
                      <a16:colId xmlns:a16="http://schemas.microsoft.com/office/drawing/2014/main" val="3787802989"/>
                    </a:ext>
                  </a:extLst>
                </a:gridCol>
                <a:gridCol w="489339">
                  <a:extLst>
                    <a:ext uri="{9D8B030D-6E8A-4147-A177-3AD203B41FA5}">
                      <a16:colId xmlns:a16="http://schemas.microsoft.com/office/drawing/2014/main" val="3217539517"/>
                    </a:ext>
                  </a:extLst>
                </a:gridCol>
                <a:gridCol w="489339">
                  <a:extLst>
                    <a:ext uri="{9D8B030D-6E8A-4147-A177-3AD203B41FA5}">
                      <a16:colId xmlns:a16="http://schemas.microsoft.com/office/drawing/2014/main" val="3290890097"/>
                    </a:ext>
                  </a:extLst>
                </a:gridCol>
                <a:gridCol w="489339">
                  <a:extLst>
                    <a:ext uri="{9D8B030D-6E8A-4147-A177-3AD203B41FA5}">
                      <a16:colId xmlns:a16="http://schemas.microsoft.com/office/drawing/2014/main" val="2604833729"/>
                    </a:ext>
                  </a:extLst>
                </a:gridCol>
                <a:gridCol w="489339">
                  <a:extLst>
                    <a:ext uri="{9D8B030D-6E8A-4147-A177-3AD203B41FA5}">
                      <a16:colId xmlns:a16="http://schemas.microsoft.com/office/drawing/2014/main" val="1658724359"/>
                    </a:ext>
                  </a:extLst>
                </a:gridCol>
                <a:gridCol w="489339">
                  <a:extLst>
                    <a:ext uri="{9D8B030D-6E8A-4147-A177-3AD203B41FA5}">
                      <a16:colId xmlns:a16="http://schemas.microsoft.com/office/drawing/2014/main" val="3124544396"/>
                    </a:ext>
                  </a:extLst>
                </a:gridCol>
                <a:gridCol w="489339">
                  <a:extLst>
                    <a:ext uri="{9D8B030D-6E8A-4147-A177-3AD203B41FA5}">
                      <a16:colId xmlns:a16="http://schemas.microsoft.com/office/drawing/2014/main" val="3795357198"/>
                    </a:ext>
                  </a:extLst>
                </a:gridCol>
                <a:gridCol w="489339">
                  <a:extLst>
                    <a:ext uri="{9D8B030D-6E8A-4147-A177-3AD203B41FA5}">
                      <a16:colId xmlns:a16="http://schemas.microsoft.com/office/drawing/2014/main" val="3371787500"/>
                    </a:ext>
                  </a:extLst>
                </a:gridCol>
                <a:gridCol w="489339">
                  <a:extLst>
                    <a:ext uri="{9D8B030D-6E8A-4147-A177-3AD203B41FA5}">
                      <a16:colId xmlns:a16="http://schemas.microsoft.com/office/drawing/2014/main" val="353464211"/>
                    </a:ext>
                  </a:extLst>
                </a:gridCol>
                <a:gridCol w="489339">
                  <a:extLst>
                    <a:ext uri="{9D8B030D-6E8A-4147-A177-3AD203B41FA5}">
                      <a16:colId xmlns:a16="http://schemas.microsoft.com/office/drawing/2014/main" val="3567026330"/>
                    </a:ext>
                  </a:extLst>
                </a:gridCol>
                <a:gridCol w="489339">
                  <a:extLst>
                    <a:ext uri="{9D8B030D-6E8A-4147-A177-3AD203B41FA5}">
                      <a16:colId xmlns:a16="http://schemas.microsoft.com/office/drawing/2014/main" val="2266691436"/>
                    </a:ext>
                  </a:extLst>
                </a:gridCol>
                <a:gridCol w="489339">
                  <a:extLst>
                    <a:ext uri="{9D8B030D-6E8A-4147-A177-3AD203B41FA5}">
                      <a16:colId xmlns:a16="http://schemas.microsoft.com/office/drawing/2014/main" val="3244669962"/>
                    </a:ext>
                  </a:extLst>
                </a:gridCol>
                <a:gridCol w="489339">
                  <a:extLst>
                    <a:ext uri="{9D8B030D-6E8A-4147-A177-3AD203B41FA5}">
                      <a16:colId xmlns:a16="http://schemas.microsoft.com/office/drawing/2014/main" val="2165493625"/>
                    </a:ext>
                  </a:extLst>
                </a:gridCol>
                <a:gridCol w="489339">
                  <a:extLst>
                    <a:ext uri="{9D8B030D-6E8A-4147-A177-3AD203B41FA5}">
                      <a16:colId xmlns:a16="http://schemas.microsoft.com/office/drawing/2014/main" val="3980417428"/>
                    </a:ext>
                  </a:extLst>
                </a:gridCol>
                <a:gridCol w="489339">
                  <a:extLst>
                    <a:ext uri="{9D8B030D-6E8A-4147-A177-3AD203B41FA5}">
                      <a16:colId xmlns:a16="http://schemas.microsoft.com/office/drawing/2014/main" val="740794364"/>
                    </a:ext>
                  </a:extLst>
                </a:gridCol>
                <a:gridCol w="489339">
                  <a:extLst>
                    <a:ext uri="{9D8B030D-6E8A-4147-A177-3AD203B41FA5}">
                      <a16:colId xmlns:a16="http://schemas.microsoft.com/office/drawing/2014/main" val="2621391218"/>
                    </a:ext>
                  </a:extLst>
                </a:gridCol>
                <a:gridCol w="489339">
                  <a:extLst>
                    <a:ext uri="{9D8B030D-6E8A-4147-A177-3AD203B41FA5}">
                      <a16:colId xmlns:a16="http://schemas.microsoft.com/office/drawing/2014/main" val="758593109"/>
                    </a:ext>
                  </a:extLst>
                </a:gridCol>
                <a:gridCol w="489339">
                  <a:extLst>
                    <a:ext uri="{9D8B030D-6E8A-4147-A177-3AD203B41FA5}">
                      <a16:colId xmlns:a16="http://schemas.microsoft.com/office/drawing/2014/main" val="1266673124"/>
                    </a:ext>
                  </a:extLst>
                </a:gridCol>
                <a:gridCol w="489339">
                  <a:extLst>
                    <a:ext uri="{9D8B030D-6E8A-4147-A177-3AD203B41FA5}">
                      <a16:colId xmlns:a16="http://schemas.microsoft.com/office/drawing/2014/main" val="59913489"/>
                    </a:ext>
                  </a:extLst>
                </a:gridCol>
                <a:gridCol w="489339">
                  <a:extLst>
                    <a:ext uri="{9D8B030D-6E8A-4147-A177-3AD203B41FA5}">
                      <a16:colId xmlns:a16="http://schemas.microsoft.com/office/drawing/2014/main" val="1291663199"/>
                    </a:ext>
                  </a:extLst>
                </a:gridCol>
              </a:tblGrid>
              <a:tr h="370840">
                <a:tc>
                  <a:txBody>
                    <a:bodyPr/>
                    <a:lstStyle/>
                    <a:p>
                      <a:r>
                        <a:rPr lang="en-US" dirty="0"/>
                        <a:t>Elapsed Time</a:t>
                      </a:r>
                    </a:p>
                  </a:txBody>
                  <a:tcPr>
                    <a:solidFill>
                      <a:srgbClr val="EE3228"/>
                    </a:solidFill>
                  </a:tcPr>
                </a:tc>
                <a:tc>
                  <a:txBody>
                    <a:bodyPr/>
                    <a:lstStyle/>
                    <a:p>
                      <a:pPr algn="ctr"/>
                      <a:r>
                        <a:rPr lang="en-US" dirty="0"/>
                        <a:t>1</a:t>
                      </a:r>
                    </a:p>
                  </a:txBody>
                  <a:tcPr>
                    <a:solidFill>
                      <a:srgbClr val="EE3228"/>
                    </a:solidFill>
                  </a:tcPr>
                </a:tc>
                <a:tc>
                  <a:txBody>
                    <a:bodyPr/>
                    <a:lstStyle/>
                    <a:p>
                      <a:pPr algn="ctr"/>
                      <a:r>
                        <a:rPr lang="en-US" dirty="0"/>
                        <a:t>2</a:t>
                      </a:r>
                    </a:p>
                  </a:txBody>
                  <a:tcPr>
                    <a:solidFill>
                      <a:srgbClr val="EE3228"/>
                    </a:solidFill>
                  </a:tcPr>
                </a:tc>
                <a:tc>
                  <a:txBody>
                    <a:bodyPr/>
                    <a:lstStyle/>
                    <a:p>
                      <a:pPr algn="ctr"/>
                      <a:r>
                        <a:rPr lang="en-US" dirty="0"/>
                        <a:t>3</a:t>
                      </a:r>
                    </a:p>
                  </a:txBody>
                  <a:tcPr>
                    <a:solidFill>
                      <a:srgbClr val="EE3228"/>
                    </a:solidFill>
                  </a:tcPr>
                </a:tc>
                <a:tc>
                  <a:txBody>
                    <a:bodyPr/>
                    <a:lstStyle/>
                    <a:p>
                      <a:pPr algn="ctr"/>
                      <a:r>
                        <a:rPr lang="en-US" dirty="0"/>
                        <a:t>4</a:t>
                      </a:r>
                    </a:p>
                  </a:txBody>
                  <a:tcPr>
                    <a:solidFill>
                      <a:srgbClr val="EE3228"/>
                    </a:solidFill>
                  </a:tcPr>
                </a:tc>
                <a:tc>
                  <a:txBody>
                    <a:bodyPr/>
                    <a:lstStyle/>
                    <a:p>
                      <a:pPr algn="ctr"/>
                      <a:r>
                        <a:rPr lang="en-US" dirty="0"/>
                        <a:t>5</a:t>
                      </a:r>
                    </a:p>
                  </a:txBody>
                  <a:tcPr>
                    <a:solidFill>
                      <a:srgbClr val="EE3228"/>
                    </a:solidFill>
                  </a:tcPr>
                </a:tc>
                <a:tc>
                  <a:txBody>
                    <a:bodyPr/>
                    <a:lstStyle/>
                    <a:p>
                      <a:pPr algn="ctr"/>
                      <a:r>
                        <a:rPr lang="en-US" dirty="0"/>
                        <a:t>6</a:t>
                      </a:r>
                    </a:p>
                  </a:txBody>
                  <a:tcPr>
                    <a:solidFill>
                      <a:srgbClr val="EE3228"/>
                    </a:solidFill>
                  </a:tcPr>
                </a:tc>
                <a:tc>
                  <a:txBody>
                    <a:bodyPr/>
                    <a:lstStyle/>
                    <a:p>
                      <a:pPr algn="ctr"/>
                      <a:r>
                        <a:rPr lang="en-US" dirty="0"/>
                        <a:t>7</a:t>
                      </a:r>
                    </a:p>
                  </a:txBody>
                  <a:tcPr>
                    <a:solidFill>
                      <a:srgbClr val="EE3228"/>
                    </a:solidFill>
                  </a:tcPr>
                </a:tc>
                <a:tc>
                  <a:txBody>
                    <a:bodyPr/>
                    <a:lstStyle/>
                    <a:p>
                      <a:pPr algn="ctr"/>
                      <a:r>
                        <a:rPr lang="en-US" dirty="0"/>
                        <a:t>8</a:t>
                      </a:r>
                    </a:p>
                  </a:txBody>
                  <a:tcPr>
                    <a:solidFill>
                      <a:srgbClr val="EE3228"/>
                    </a:solidFill>
                  </a:tcPr>
                </a:tc>
                <a:tc>
                  <a:txBody>
                    <a:bodyPr/>
                    <a:lstStyle/>
                    <a:p>
                      <a:pPr algn="ctr"/>
                      <a:r>
                        <a:rPr lang="en-US" dirty="0"/>
                        <a:t>9</a:t>
                      </a:r>
                    </a:p>
                  </a:txBody>
                  <a:tcPr>
                    <a:solidFill>
                      <a:srgbClr val="EE3228"/>
                    </a:solidFill>
                  </a:tcPr>
                </a:tc>
                <a:tc>
                  <a:txBody>
                    <a:bodyPr/>
                    <a:lstStyle/>
                    <a:p>
                      <a:pPr algn="ctr"/>
                      <a:r>
                        <a:rPr lang="en-US" dirty="0"/>
                        <a:t>10</a:t>
                      </a:r>
                    </a:p>
                  </a:txBody>
                  <a:tcPr>
                    <a:solidFill>
                      <a:srgbClr val="EE3228"/>
                    </a:solidFill>
                  </a:tcPr>
                </a:tc>
                <a:tc>
                  <a:txBody>
                    <a:bodyPr/>
                    <a:lstStyle/>
                    <a:p>
                      <a:pPr algn="ctr"/>
                      <a:r>
                        <a:rPr lang="en-US" dirty="0"/>
                        <a:t>11</a:t>
                      </a:r>
                    </a:p>
                  </a:txBody>
                  <a:tcPr>
                    <a:solidFill>
                      <a:srgbClr val="EE3228"/>
                    </a:solidFill>
                  </a:tcPr>
                </a:tc>
                <a:tc>
                  <a:txBody>
                    <a:bodyPr/>
                    <a:lstStyle/>
                    <a:p>
                      <a:pPr algn="ctr"/>
                      <a:r>
                        <a:rPr lang="en-US" dirty="0"/>
                        <a:t>12</a:t>
                      </a:r>
                    </a:p>
                  </a:txBody>
                  <a:tcPr>
                    <a:solidFill>
                      <a:srgbClr val="EE3228"/>
                    </a:solidFill>
                  </a:tcPr>
                </a:tc>
                <a:tc>
                  <a:txBody>
                    <a:bodyPr/>
                    <a:lstStyle/>
                    <a:p>
                      <a:pPr algn="ctr"/>
                      <a:r>
                        <a:rPr lang="en-US" dirty="0"/>
                        <a:t>13</a:t>
                      </a:r>
                    </a:p>
                  </a:txBody>
                  <a:tcPr>
                    <a:solidFill>
                      <a:srgbClr val="EE3228"/>
                    </a:solidFill>
                  </a:tcPr>
                </a:tc>
                <a:tc>
                  <a:txBody>
                    <a:bodyPr/>
                    <a:lstStyle/>
                    <a:p>
                      <a:pPr algn="ctr"/>
                      <a:r>
                        <a:rPr lang="en-US" dirty="0"/>
                        <a:t>14</a:t>
                      </a:r>
                    </a:p>
                  </a:txBody>
                  <a:tcPr>
                    <a:solidFill>
                      <a:srgbClr val="EE3228"/>
                    </a:solidFill>
                  </a:tcPr>
                </a:tc>
                <a:tc>
                  <a:txBody>
                    <a:bodyPr/>
                    <a:lstStyle/>
                    <a:p>
                      <a:pPr algn="ctr"/>
                      <a:r>
                        <a:rPr lang="en-US" dirty="0"/>
                        <a:t>15</a:t>
                      </a:r>
                    </a:p>
                  </a:txBody>
                  <a:tcPr>
                    <a:solidFill>
                      <a:srgbClr val="EE3228"/>
                    </a:solidFill>
                  </a:tcPr>
                </a:tc>
                <a:tc>
                  <a:txBody>
                    <a:bodyPr/>
                    <a:lstStyle/>
                    <a:p>
                      <a:pPr algn="ctr"/>
                      <a:r>
                        <a:rPr lang="en-US" dirty="0"/>
                        <a:t>16</a:t>
                      </a:r>
                    </a:p>
                  </a:txBody>
                  <a:tcPr>
                    <a:solidFill>
                      <a:srgbClr val="EE3228"/>
                    </a:solidFill>
                  </a:tcPr>
                </a:tc>
                <a:tc>
                  <a:txBody>
                    <a:bodyPr/>
                    <a:lstStyle/>
                    <a:p>
                      <a:pPr algn="ctr"/>
                      <a:r>
                        <a:rPr lang="en-US" dirty="0"/>
                        <a:t>17</a:t>
                      </a:r>
                    </a:p>
                  </a:txBody>
                  <a:tcPr>
                    <a:solidFill>
                      <a:srgbClr val="EE3228"/>
                    </a:solidFill>
                  </a:tcPr>
                </a:tc>
                <a:tc>
                  <a:txBody>
                    <a:bodyPr/>
                    <a:lstStyle/>
                    <a:p>
                      <a:pPr algn="ctr"/>
                      <a:r>
                        <a:rPr lang="en-US" dirty="0"/>
                        <a:t>18</a:t>
                      </a:r>
                    </a:p>
                  </a:txBody>
                  <a:tcPr>
                    <a:solidFill>
                      <a:srgbClr val="EE3228"/>
                    </a:solidFill>
                  </a:tcPr>
                </a:tc>
                <a:tc>
                  <a:txBody>
                    <a:bodyPr/>
                    <a:lstStyle/>
                    <a:p>
                      <a:pPr algn="ctr"/>
                      <a:r>
                        <a:rPr lang="en-US" dirty="0"/>
                        <a:t>19</a:t>
                      </a:r>
                    </a:p>
                  </a:txBody>
                  <a:tcPr>
                    <a:solidFill>
                      <a:srgbClr val="EE3228"/>
                    </a:solidFill>
                  </a:tcPr>
                </a:tc>
                <a:tc>
                  <a:txBody>
                    <a:bodyPr/>
                    <a:lstStyle/>
                    <a:p>
                      <a:pPr algn="ctr"/>
                      <a:r>
                        <a:rPr lang="en-US" dirty="0"/>
                        <a:t>20</a:t>
                      </a:r>
                    </a:p>
                  </a:txBody>
                  <a:tcPr>
                    <a:solidFill>
                      <a:srgbClr val="EE3228"/>
                    </a:solidFill>
                  </a:tcPr>
                </a:tc>
                <a:extLst>
                  <a:ext uri="{0D108BD9-81ED-4DB2-BD59-A6C34878D82A}">
                    <a16:rowId xmlns:a16="http://schemas.microsoft.com/office/drawing/2014/main" val="2524657938"/>
                  </a:ext>
                </a:extLst>
              </a:tr>
              <a:tr h="370840">
                <a:tc>
                  <a:txBody>
                    <a:bodyPr/>
                    <a:lstStyle/>
                    <a:p>
                      <a:r>
                        <a:rPr lang="en-US" dirty="0">
                          <a:solidFill>
                            <a:schemeClr val="bg1"/>
                          </a:solidFill>
                        </a:rPr>
                        <a:t>Receive Application</a:t>
                      </a:r>
                    </a:p>
                  </a:txBody>
                  <a:tcPr>
                    <a:solidFill>
                      <a:schemeClr val="tx1"/>
                    </a:solidFill>
                  </a:tcPr>
                </a:tc>
                <a:tc>
                  <a:txBody>
                    <a:bodyPr/>
                    <a:lstStyle/>
                    <a:p>
                      <a:pPr algn="ct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extLst>
                  <a:ext uri="{0D108BD9-81ED-4DB2-BD59-A6C34878D82A}">
                    <a16:rowId xmlns:a16="http://schemas.microsoft.com/office/drawing/2014/main" val="3125387565"/>
                  </a:ext>
                </a:extLst>
              </a:tr>
              <a:tr h="370840">
                <a:tc>
                  <a:txBody>
                    <a:bodyPr/>
                    <a:lstStyle/>
                    <a:p>
                      <a:r>
                        <a:rPr lang="en-US" dirty="0">
                          <a:solidFill>
                            <a:schemeClr val="bg1"/>
                          </a:solidFill>
                        </a:rPr>
                        <a:t>Enter Customer Data</a:t>
                      </a:r>
                    </a:p>
                  </a:txBody>
                  <a:tcPr>
                    <a:solidFill>
                      <a:srgbClr val="EE3228"/>
                    </a:solidFill>
                  </a:tcPr>
                </a:tc>
                <a:tc>
                  <a:txBody>
                    <a:bodyPr/>
                    <a:lstStyle/>
                    <a:p>
                      <a:pPr algn="ctr"/>
                      <a:endParaRPr lang="en-US">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extLst>
                  <a:ext uri="{0D108BD9-81ED-4DB2-BD59-A6C34878D82A}">
                    <a16:rowId xmlns:a16="http://schemas.microsoft.com/office/drawing/2014/main" val="3175600215"/>
                  </a:ext>
                </a:extLst>
              </a:tr>
              <a:tr h="370840">
                <a:tc>
                  <a:txBody>
                    <a:bodyPr/>
                    <a:lstStyle/>
                    <a:p>
                      <a:r>
                        <a:rPr lang="en-US" dirty="0">
                          <a:solidFill>
                            <a:schemeClr val="bg1"/>
                          </a:solidFill>
                        </a:rPr>
                        <a:t>Customer Lookup</a:t>
                      </a: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extLst>
                  <a:ext uri="{0D108BD9-81ED-4DB2-BD59-A6C34878D82A}">
                    <a16:rowId xmlns:a16="http://schemas.microsoft.com/office/drawing/2014/main" val="3549855035"/>
                  </a:ext>
                </a:extLst>
              </a:tr>
              <a:tr h="370840">
                <a:tc>
                  <a:txBody>
                    <a:bodyPr/>
                    <a:lstStyle/>
                    <a:p>
                      <a:r>
                        <a:rPr lang="en-US" dirty="0">
                          <a:solidFill>
                            <a:schemeClr val="bg1"/>
                          </a:solidFill>
                        </a:rPr>
                        <a:t>Risk Review</a:t>
                      </a: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r>
                        <a:rPr lang="en-US" dirty="0">
                          <a:solidFill>
                            <a:schemeClr val="bg1"/>
                          </a:solidFill>
                          <a:latin typeface="Wingdings" panose="05000000000000000000" pitchFamily="2" charset="2"/>
                        </a:rPr>
                        <a:t>l</a:t>
                      </a: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tc>
                  <a:txBody>
                    <a:bodyPr/>
                    <a:lstStyle/>
                    <a:p>
                      <a:pPr algn="ctr"/>
                      <a:endParaRPr lang="en-US" dirty="0">
                        <a:solidFill>
                          <a:schemeClr val="bg1"/>
                        </a:solidFill>
                        <a:latin typeface="Wingdings" panose="05000000000000000000" pitchFamily="2" charset="2"/>
                      </a:endParaRPr>
                    </a:p>
                  </a:txBody>
                  <a:tcPr>
                    <a:solidFill>
                      <a:srgbClr val="EE3228"/>
                    </a:solidFill>
                  </a:tcPr>
                </a:tc>
                <a:extLst>
                  <a:ext uri="{0D108BD9-81ED-4DB2-BD59-A6C34878D82A}">
                    <a16:rowId xmlns:a16="http://schemas.microsoft.com/office/drawing/2014/main" val="1709168830"/>
                  </a:ext>
                </a:extLst>
              </a:tr>
              <a:tr h="370840">
                <a:tc>
                  <a:txBody>
                    <a:bodyPr/>
                    <a:lstStyle/>
                    <a:p>
                      <a:r>
                        <a:rPr lang="en-US" dirty="0">
                          <a:solidFill>
                            <a:schemeClr val="bg1"/>
                          </a:solidFill>
                        </a:rPr>
                        <a:t>Produce Card</a:t>
                      </a: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extLst>
                  <a:ext uri="{0D108BD9-81ED-4DB2-BD59-A6C34878D82A}">
                    <a16:rowId xmlns:a16="http://schemas.microsoft.com/office/drawing/2014/main" val="3419261072"/>
                  </a:ext>
                </a:extLst>
              </a:tr>
            </a:tbl>
          </a:graphicData>
        </a:graphic>
      </p:graphicFrame>
      <p:sp>
        <p:nvSpPr>
          <p:cNvPr id="11" name="Rectangle 10">
            <a:extLst>
              <a:ext uri="{FF2B5EF4-FFF2-40B4-BE49-F238E27FC236}">
                <a16:creationId xmlns:a16="http://schemas.microsoft.com/office/drawing/2014/main" id="{18EA57A6-85F1-DCFD-0CCF-4039750D9B58}"/>
              </a:ext>
            </a:extLst>
          </p:cNvPr>
          <p:cNvSpPr/>
          <p:nvPr/>
        </p:nvSpPr>
        <p:spPr>
          <a:xfrm>
            <a:off x="1476381" y="4695249"/>
            <a:ext cx="9665889" cy="718145"/>
          </a:xfrm>
          <a:prstGeom prst="rect">
            <a:avLst/>
          </a:prstGeom>
          <a:solidFill>
            <a:srgbClr val="FFB62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Lead times are long because each process step is batched and must wait for the others to be completed before the next process can be started. </a:t>
            </a:r>
          </a:p>
        </p:txBody>
      </p:sp>
      <p:sp>
        <p:nvSpPr>
          <p:cNvPr id="20" name="TextBox 19">
            <a:extLst>
              <a:ext uri="{FF2B5EF4-FFF2-40B4-BE49-F238E27FC236}">
                <a16:creationId xmlns:a16="http://schemas.microsoft.com/office/drawing/2014/main" id="{28A3F54E-9700-71A6-2A8D-DC39C49447D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9" name="Group 8">
            <a:extLst>
              <a:ext uri="{FF2B5EF4-FFF2-40B4-BE49-F238E27FC236}">
                <a16:creationId xmlns:a16="http://schemas.microsoft.com/office/drawing/2014/main" id="{4D8D6850-368E-090F-E936-E574BC83A9F2}"/>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E72089DF-4128-5842-9DB2-61CF974AAB0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6C4FF4C2-0E87-BA63-234A-2F4C325F76A1}"/>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0E3AC239-8225-73D4-460F-3BBF295A1D08}"/>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C1B3FB31-3E7D-B65B-9768-EE588D8D344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785556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36305-E156-6111-5A80-545645BEDA67}"/>
              </a:ext>
            </a:extLst>
          </p:cNvPr>
          <p:cNvSpPr>
            <a:spLocks noGrp="1"/>
          </p:cNvSpPr>
          <p:nvPr>
            <p:ph type="title"/>
          </p:nvPr>
        </p:nvSpPr>
        <p:spPr/>
        <p:txBody>
          <a:bodyPr/>
          <a:lstStyle/>
          <a:p>
            <a:r>
              <a:rPr lang="en-US" dirty="0"/>
              <a:t>Flow Processes</a:t>
            </a:r>
          </a:p>
        </p:txBody>
      </p:sp>
      <p:sp>
        <p:nvSpPr>
          <p:cNvPr id="5" name="Slide Number Placeholder 4">
            <a:extLst>
              <a:ext uri="{FF2B5EF4-FFF2-40B4-BE49-F238E27FC236}">
                <a16:creationId xmlns:a16="http://schemas.microsoft.com/office/drawing/2014/main" id="{DB0F1BCE-FF38-1BB0-9D28-67C39AFE49FF}"/>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29</a:t>
            </a:fld>
            <a:endParaRPr lang="en-US"/>
          </a:p>
        </p:txBody>
      </p:sp>
      <p:sp>
        <p:nvSpPr>
          <p:cNvPr id="119" name="Text Placeholder 3">
            <a:extLst>
              <a:ext uri="{FF2B5EF4-FFF2-40B4-BE49-F238E27FC236}">
                <a16:creationId xmlns:a16="http://schemas.microsoft.com/office/drawing/2014/main" id="{5ADF625A-D530-FEE8-378C-BE6223C49F53}"/>
              </a:ext>
            </a:extLst>
          </p:cNvPr>
          <p:cNvSpPr txBox="1">
            <a:spLocks/>
          </p:cNvSpPr>
          <p:nvPr/>
        </p:nvSpPr>
        <p:spPr>
          <a:xfrm>
            <a:off x="4862286" y="1984796"/>
            <a:ext cx="4049485" cy="49348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dirty="0">
                <a:solidFill>
                  <a:schemeClr val="tx1"/>
                </a:solidFill>
              </a:rPr>
              <a:t>Lead Time = 8 Minutes</a:t>
            </a:r>
          </a:p>
        </p:txBody>
      </p:sp>
      <p:graphicFrame>
        <p:nvGraphicFramePr>
          <p:cNvPr id="12" name="Table 12">
            <a:extLst>
              <a:ext uri="{FF2B5EF4-FFF2-40B4-BE49-F238E27FC236}">
                <a16:creationId xmlns:a16="http://schemas.microsoft.com/office/drawing/2014/main" id="{C526C9C9-5E7A-5211-EAA5-430E640DCF1A}"/>
              </a:ext>
            </a:extLst>
          </p:cNvPr>
          <p:cNvGraphicFramePr>
            <a:graphicFrameLocks noGrp="1"/>
          </p:cNvGraphicFramePr>
          <p:nvPr>
            <p:extLst>
              <p:ext uri="{D42A27DB-BD31-4B8C-83A1-F6EECF244321}">
                <p14:modId xmlns:p14="http://schemas.microsoft.com/office/powerpoint/2010/main" val="452389101"/>
              </p:ext>
            </p:extLst>
          </p:nvPr>
        </p:nvGraphicFramePr>
        <p:xfrm>
          <a:off x="125259" y="2400821"/>
          <a:ext cx="11955686" cy="2271734"/>
        </p:xfrm>
        <a:graphic>
          <a:graphicData uri="http://schemas.openxmlformats.org/drawingml/2006/table">
            <a:tbl>
              <a:tblPr firstRow="1" bandRow="1">
                <a:tableStyleId>{5C22544A-7EE6-4342-B048-85BDC9FD1C3A}</a:tableStyleId>
              </a:tblPr>
              <a:tblGrid>
                <a:gridCol w="2168906">
                  <a:extLst>
                    <a:ext uri="{9D8B030D-6E8A-4147-A177-3AD203B41FA5}">
                      <a16:colId xmlns:a16="http://schemas.microsoft.com/office/drawing/2014/main" val="3305747784"/>
                    </a:ext>
                  </a:extLst>
                </a:gridCol>
                <a:gridCol w="489339">
                  <a:extLst>
                    <a:ext uri="{9D8B030D-6E8A-4147-A177-3AD203B41FA5}">
                      <a16:colId xmlns:a16="http://schemas.microsoft.com/office/drawing/2014/main" val="3787802989"/>
                    </a:ext>
                  </a:extLst>
                </a:gridCol>
                <a:gridCol w="489339">
                  <a:extLst>
                    <a:ext uri="{9D8B030D-6E8A-4147-A177-3AD203B41FA5}">
                      <a16:colId xmlns:a16="http://schemas.microsoft.com/office/drawing/2014/main" val="3217539517"/>
                    </a:ext>
                  </a:extLst>
                </a:gridCol>
                <a:gridCol w="489339">
                  <a:extLst>
                    <a:ext uri="{9D8B030D-6E8A-4147-A177-3AD203B41FA5}">
                      <a16:colId xmlns:a16="http://schemas.microsoft.com/office/drawing/2014/main" val="3290890097"/>
                    </a:ext>
                  </a:extLst>
                </a:gridCol>
                <a:gridCol w="489339">
                  <a:extLst>
                    <a:ext uri="{9D8B030D-6E8A-4147-A177-3AD203B41FA5}">
                      <a16:colId xmlns:a16="http://schemas.microsoft.com/office/drawing/2014/main" val="2604833729"/>
                    </a:ext>
                  </a:extLst>
                </a:gridCol>
                <a:gridCol w="489339">
                  <a:extLst>
                    <a:ext uri="{9D8B030D-6E8A-4147-A177-3AD203B41FA5}">
                      <a16:colId xmlns:a16="http://schemas.microsoft.com/office/drawing/2014/main" val="1658724359"/>
                    </a:ext>
                  </a:extLst>
                </a:gridCol>
                <a:gridCol w="489339">
                  <a:extLst>
                    <a:ext uri="{9D8B030D-6E8A-4147-A177-3AD203B41FA5}">
                      <a16:colId xmlns:a16="http://schemas.microsoft.com/office/drawing/2014/main" val="3124544396"/>
                    </a:ext>
                  </a:extLst>
                </a:gridCol>
                <a:gridCol w="489339">
                  <a:extLst>
                    <a:ext uri="{9D8B030D-6E8A-4147-A177-3AD203B41FA5}">
                      <a16:colId xmlns:a16="http://schemas.microsoft.com/office/drawing/2014/main" val="3795357198"/>
                    </a:ext>
                  </a:extLst>
                </a:gridCol>
                <a:gridCol w="489339">
                  <a:extLst>
                    <a:ext uri="{9D8B030D-6E8A-4147-A177-3AD203B41FA5}">
                      <a16:colId xmlns:a16="http://schemas.microsoft.com/office/drawing/2014/main" val="3371787500"/>
                    </a:ext>
                  </a:extLst>
                </a:gridCol>
                <a:gridCol w="489339">
                  <a:extLst>
                    <a:ext uri="{9D8B030D-6E8A-4147-A177-3AD203B41FA5}">
                      <a16:colId xmlns:a16="http://schemas.microsoft.com/office/drawing/2014/main" val="353464211"/>
                    </a:ext>
                  </a:extLst>
                </a:gridCol>
                <a:gridCol w="489339">
                  <a:extLst>
                    <a:ext uri="{9D8B030D-6E8A-4147-A177-3AD203B41FA5}">
                      <a16:colId xmlns:a16="http://schemas.microsoft.com/office/drawing/2014/main" val="3567026330"/>
                    </a:ext>
                  </a:extLst>
                </a:gridCol>
                <a:gridCol w="489339">
                  <a:extLst>
                    <a:ext uri="{9D8B030D-6E8A-4147-A177-3AD203B41FA5}">
                      <a16:colId xmlns:a16="http://schemas.microsoft.com/office/drawing/2014/main" val="2266691436"/>
                    </a:ext>
                  </a:extLst>
                </a:gridCol>
                <a:gridCol w="489339">
                  <a:extLst>
                    <a:ext uri="{9D8B030D-6E8A-4147-A177-3AD203B41FA5}">
                      <a16:colId xmlns:a16="http://schemas.microsoft.com/office/drawing/2014/main" val="3244669962"/>
                    </a:ext>
                  </a:extLst>
                </a:gridCol>
                <a:gridCol w="489339">
                  <a:extLst>
                    <a:ext uri="{9D8B030D-6E8A-4147-A177-3AD203B41FA5}">
                      <a16:colId xmlns:a16="http://schemas.microsoft.com/office/drawing/2014/main" val="2165493625"/>
                    </a:ext>
                  </a:extLst>
                </a:gridCol>
                <a:gridCol w="489339">
                  <a:extLst>
                    <a:ext uri="{9D8B030D-6E8A-4147-A177-3AD203B41FA5}">
                      <a16:colId xmlns:a16="http://schemas.microsoft.com/office/drawing/2014/main" val="3980417428"/>
                    </a:ext>
                  </a:extLst>
                </a:gridCol>
                <a:gridCol w="489339">
                  <a:extLst>
                    <a:ext uri="{9D8B030D-6E8A-4147-A177-3AD203B41FA5}">
                      <a16:colId xmlns:a16="http://schemas.microsoft.com/office/drawing/2014/main" val="740794364"/>
                    </a:ext>
                  </a:extLst>
                </a:gridCol>
                <a:gridCol w="489339">
                  <a:extLst>
                    <a:ext uri="{9D8B030D-6E8A-4147-A177-3AD203B41FA5}">
                      <a16:colId xmlns:a16="http://schemas.microsoft.com/office/drawing/2014/main" val="2621391218"/>
                    </a:ext>
                  </a:extLst>
                </a:gridCol>
                <a:gridCol w="489339">
                  <a:extLst>
                    <a:ext uri="{9D8B030D-6E8A-4147-A177-3AD203B41FA5}">
                      <a16:colId xmlns:a16="http://schemas.microsoft.com/office/drawing/2014/main" val="758593109"/>
                    </a:ext>
                  </a:extLst>
                </a:gridCol>
                <a:gridCol w="489339">
                  <a:extLst>
                    <a:ext uri="{9D8B030D-6E8A-4147-A177-3AD203B41FA5}">
                      <a16:colId xmlns:a16="http://schemas.microsoft.com/office/drawing/2014/main" val="1266673124"/>
                    </a:ext>
                  </a:extLst>
                </a:gridCol>
                <a:gridCol w="489339">
                  <a:extLst>
                    <a:ext uri="{9D8B030D-6E8A-4147-A177-3AD203B41FA5}">
                      <a16:colId xmlns:a16="http://schemas.microsoft.com/office/drawing/2014/main" val="59913489"/>
                    </a:ext>
                  </a:extLst>
                </a:gridCol>
                <a:gridCol w="489339">
                  <a:extLst>
                    <a:ext uri="{9D8B030D-6E8A-4147-A177-3AD203B41FA5}">
                      <a16:colId xmlns:a16="http://schemas.microsoft.com/office/drawing/2014/main" val="1291663199"/>
                    </a:ext>
                  </a:extLst>
                </a:gridCol>
              </a:tblGrid>
              <a:tr h="417534">
                <a:tc>
                  <a:txBody>
                    <a:bodyPr/>
                    <a:lstStyle/>
                    <a:p>
                      <a:r>
                        <a:rPr lang="en-US" dirty="0"/>
                        <a:t>Elapsed Time</a:t>
                      </a:r>
                    </a:p>
                  </a:txBody>
                  <a:tcPr>
                    <a:solidFill>
                      <a:schemeClr val="bg1">
                        <a:lumMod val="50000"/>
                      </a:schemeClr>
                    </a:solidFill>
                  </a:tcPr>
                </a:tc>
                <a:tc>
                  <a:txBody>
                    <a:bodyPr/>
                    <a:lstStyle/>
                    <a:p>
                      <a:pPr algn="ctr"/>
                      <a:r>
                        <a:rPr lang="en-US" dirty="0"/>
                        <a:t>1</a:t>
                      </a:r>
                    </a:p>
                  </a:txBody>
                  <a:tcPr>
                    <a:solidFill>
                      <a:schemeClr val="bg1">
                        <a:lumMod val="50000"/>
                      </a:schemeClr>
                    </a:solidFill>
                  </a:tcPr>
                </a:tc>
                <a:tc>
                  <a:txBody>
                    <a:bodyPr/>
                    <a:lstStyle/>
                    <a:p>
                      <a:pPr algn="ctr"/>
                      <a:r>
                        <a:rPr lang="en-US" dirty="0"/>
                        <a:t>2</a:t>
                      </a:r>
                    </a:p>
                  </a:txBody>
                  <a:tcPr>
                    <a:solidFill>
                      <a:schemeClr val="bg1">
                        <a:lumMod val="50000"/>
                      </a:schemeClr>
                    </a:solidFill>
                  </a:tcPr>
                </a:tc>
                <a:tc>
                  <a:txBody>
                    <a:bodyPr/>
                    <a:lstStyle/>
                    <a:p>
                      <a:pPr algn="ctr"/>
                      <a:r>
                        <a:rPr lang="en-US" dirty="0"/>
                        <a:t>3</a:t>
                      </a:r>
                    </a:p>
                  </a:txBody>
                  <a:tcPr>
                    <a:solidFill>
                      <a:schemeClr val="bg1">
                        <a:lumMod val="50000"/>
                      </a:schemeClr>
                    </a:solidFill>
                  </a:tcPr>
                </a:tc>
                <a:tc>
                  <a:txBody>
                    <a:bodyPr/>
                    <a:lstStyle/>
                    <a:p>
                      <a:pPr algn="ctr"/>
                      <a:r>
                        <a:rPr lang="en-US" dirty="0"/>
                        <a:t>4</a:t>
                      </a:r>
                    </a:p>
                  </a:txBody>
                  <a:tcPr>
                    <a:solidFill>
                      <a:schemeClr val="bg1">
                        <a:lumMod val="50000"/>
                      </a:schemeClr>
                    </a:solidFill>
                  </a:tcPr>
                </a:tc>
                <a:tc>
                  <a:txBody>
                    <a:bodyPr/>
                    <a:lstStyle/>
                    <a:p>
                      <a:pPr algn="ctr"/>
                      <a:r>
                        <a:rPr lang="en-US" dirty="0"/>
                        <a:t>5</a:t>
                      </a:r>
                    </a:p>
                  </a:txBody>
                  <a:tcPr>
                    <a:solidFill>
                      <a:schemeClr val="bg1">
                        <a:lumMod val="50000"/>
                      </a:schemeClr>
                    </a:solidFill>
                  </a:tcPr>
                </a:tc>
                <a:tc>
                  <a:txBody>
                    <a:bodyPr/>
                    <a:lstStyle/>
                    <a:p>
                      <a:pPr algn="ctr"/>
                      <a:r>
                        <a:rPr lang="en-US" dirty="0"/>
                        <a:t>6</a:t>
                      </a:r>
                    </a:p>
                  </a:txBody>
                  <a:tcPr>
                    <a:solidFill>
                      <a:schemeClr val="bg1">
                        <a:lumMod val="50000"/>
                      </a:schemeClr>
                    </a:solidFill>
                  </a:tcPr>
                </a:tc>
                <a:tc>
                  <a:txBody>
                    <a:bodyPr/>
                    <a:lstStyle/>
                    <a:p>
                      <a:pPr algn="ctr"/>
                      <a:r>
                        <a:rPr lang="en-US" dirty="0"/>
                        <a:t>7</a:t>
                      </a:r>
                    </a:p>
                  </a:txBody>
                  <a:tcPr>
                    <a:solidFill>
                      <a:schemeClr val="bg1">
                        <a:lumMod val="50000"/>
                      </a:schemeClr>
                    </a:solidFill>
                  </a:tcPr>
                </a:tc>
                <a:tc>
                  <a:txBody>
                    <a:bodyPr/>
                    <a:lstStyle/>
                    <a:p>
                      <a:pPr algn="ctr"/>
                      <a:r>
                        <a:rPr lang="en-US" dirty="0"/>
                        <a:t>8</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9</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10</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11</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12</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13</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14</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15</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16</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17</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18</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19</a:t>
                      </a:r>
                    </a:p>
                  </a:txBody>
                  <a:tcPr>
                    <a:lnB w="381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US" dirty="0"/>
                        <a:t>20</a:t>
                      </a:r>
                    </a:p>
                  </a:txBody>
                  <a:tcPr>
                    <a:lnB w="38100" cap="flat" cmpd="sng" algn="ctr">
                      <a:solidFill>
                        <a:schemeClr val="bg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24657938"/>
                  </a:ext>
                </a:extLst>
              </a:tr>
              <a:tr h="370840">
                <a:tc>
                  <a:txBody>
                    <a:bodyPr/>
                    <a:lstStyle/>
                    <a:p>
                      <a:r>
                        <a:rPr lang="en-US" dirty="0">
                          <a:solidFill>
                            <a:schemeClr val="bg1"/>
                          </a:solidFill>
                        </a:rPr>
                        <a:t>Receive Application</a:t>
                      </a:r>
                    </a:p>
                  </a:txBody>
                  <a:tcPr>
                    <a:solidFill>
                      <a:schemeClr val="tx1"/>
                    </a:solidFill>
                  </a:tcPr>
                </a:tc>
                <a:tc>
                  <a:txBody>
                    <a:bodyPr/>
                    <a:lstStyle/>
                    <a:p>
                      <a:pPr algn="ctr"/>
                      <a:r>
                        <a:rPr lang="en-US" dirty="0">
                          <a:solidFill>
                            <a:schemeClr val="accent1"/>
                          </a:solidFill>
                          <a:latin typeface="Wingdings" panose="05000000000000000000" pitchFamily="2" charset="2"/>
                        </a:rPr>
                        <a:t>l</a:t>
                      </a: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solidFill>
                      <a:schemeClr val="tx1"/>
                    </a:solidFill>
                  </a:tcPr>
                </a:tc>
                <a:tc>
                  <a:txBody>
                    <a:bodyPr/>
                    <a:lstStyle/>
                    <a:p>
                      <a:pPr algn="ctr"/>
                      <a:r>
                        <a:rPr lang="en-US" dirty="0">
                          <a:solidFill>
                            <a:schemeClr val="accent2"/>
                          </a:solidFill>
                          <a:latin typeface="Wingdings" panose="05000000000000000000" pitchFamily="2" charset="2"/>
                        </a:rPr>
                        <a:t>l</a:t>
                      </a: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solidFill>
                      <a:schemeClr val="tx1"/>
                    </a:solidFill>
                  </a:tcPr>
                </a:tc>
                <a:tc>
                  <a:txBody>
                    <a:bodyPr/>
                    <a:lstStyle/>
                    <a:p>
                      <a:pPr algn="ctr"/>
                      <a:endParaRPr lang="en-US" dirty="0">
                        <a:latin typeface="Wingdings" panose="05000000000000000000" pitchFamily="2" charset="2"/>
                      </a:endParaRPr>
                    </a:p>
                  </a:txBody>
                  <a:tcPr>
                    <a:lnR w="12700" cap="flat" cmpd="sng" algn="ctr">
                      <a:solidFill>
                        <a:schemeClr val="bg1"/>
                      </a:solidFill>
                      <a:prstDash val="solid"/>
                      <a:round/>
                      <a:headEnd type="none" w="med" len="med"/>
                      <a:tailEnd type="none" w="med" len="med"/>
                    </a:ln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125387565"/>
                  </a:ext>
                </a:extLst>
              </a:tr>
              <a:tr h="370840">
                <a:tc>
                  <a:txBody>
                    <a:bodyPr/>
                    <a:lstStyle/>
                    <a:p>
                      <a:r>
                        <a:rPr lang="en-US" dirty="0">
                          <a:solidFill>
                            <a:schemeClr val="bg1"/>
                          </a:solidFill>
                        </a:rPr>
                        <a:t>Enter Customer Data</a:t>
                      </a:r>
                    </a:p>
                  </a:txBody>
                  <a:tcPr>
                    <a:solidFill>
                      <a:schemeClr val="bg1">
                        <a:lumMod val="50000"/>
                      </a:schemeClr>
                    </a:solidFill>
                  </a:tcPr>
                </a:tc>
                <a:tc>
                  <a:txBody>
                    <a:bodyPr/>
                    <a:lstStyle/>
                    <a:p>
                      <a:pPr algn="ctr"/>
                      <a:endParaRPr lang="en-US">
                        <a:solidFill>
                          <a:schemeClr val="bg1"/>
                        </a:solidFill>
                        <a:latin typeface="Wingdings" panose="05000000000000000000" pitchFamily="2" charset="2"/>
                      </a:endParaRPr>
                    </a:p>
                  </a:txBody>
                  <a:tcPr>
                    <a:solidFill>
                      <a:schemeClr val="bg1">
                        <a:lumMod val="50000"/>
                      </a:schemeClr>
                    </a:solidFill>
                  </a:tcPr>
                </a:tc>
                <a:tc>
                  <a:txBody>
                    <a:bodyPr/>
                    <a:lstStyle/>
                    <a:p>
                      <a:pPr algn="ctr"/>
                      <a:r>
                        <a:rPr lang="en-US" dirty="0">
                          <a:solidFill>
                            <a:schemeClr val="accent1"/>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Wingdings" panose="05000000000000000000" pitchFamily="2" charset="2"/>
                        </a:rPr>
                        <a:t>l</a:t>
                      </a:r>
                      <a:endParaRPr lang="en-US" dirty="0">
                        <a:latin typeface="Wingdings" panose="05000000000000000000" pitchFamily="2" charset="2"/>
                      </a:endParaRPr>
                    </a:p>
                  </a:txBody>
                  <a:tcP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solidFill>
                      <a:schemeClr val="bg1">
                        <a:lumMod val="50000"/>
                      </a:schemeClr>
                    </a:solidFill>
                  </a:tcPr>
                </a:tc>
                <a:tc>
                  <a:txBody>
                    <a:bodyPr/>
                    <a:lstStyle/>
                    <a:p>
                      <a:pPr algn="ctr"/>
                      <a:r>
                        <a:rPr lang="en-US" dirty="0">
                          <a:solidFill>
                            <a:schemeClr val="accent2"/>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R w="12700" cap="flat" cmpd="sng" algn="ctr">
                      <a:solidFill>
                        <a:schemeClr val="bg1"/>
                      </a:solidFill>
                      <a:prstDash val="solid"/>
                      <a:round/>
                      <a:headEnd type="none" w="med" len="med"/>
                      <a:tailEnd type="none" w="med" len="med"/>
                    </a:lnR>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175600215"/>
                  </a:ext>
                </a:extLst>
              </a:tr>
              <a:tr h="370840">
                <a:tc>
                  <a:txBody>
                    <a:bodyPr/>
                    <a:lstStyle/>
                    <a:p>
                      <a:r>
                        <a:rPr lang="en-US" dirty="0">
                          <a:solidFill>
                            <a:schemeClr val="bg1"/>
                          </a:solidFill>
                        </a:rPr>
                        <a:t>Customer Lookup</a:t>
                      </a: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accent1"/>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solidFill>
                      <a:schemeClr val="tx1"/>
                    </a:solidFill>
                  </a:tcPr>
                </a:tc>
                <a:tc>
                  <a:txBody>
                    <a:bodyPr/>
                    <a:lstStyle/>
                    <a:p>
                      <a:pPr algn="ctr"/>
                      <a:r>
                        <a:rPr lang="en-US" dirty="0">
                          <a:solidFill>
                            <a:schemeClr val="accent2"/>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lnR w="12700" cap="flat" cmpd="sng" algn="ctr">
                      <a:solidFill>
                        <a:schemeClr val="bg1"/>
                      </a:solidFill>
                      <a:prstDash val="solid"/>
                      <a:round/>
                      <a:headEnd type="none" w="med" len="med"/>
                      <a:tailEnd type="none" w="med" len="med"/>
                    </a:ln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sz="1800" kern="1200" dirty="0">
                        <a:solidFill>
                          <a:schemeClr val="bg1"/>
                        </a:solidFill>
                        <a:latin typeface="Wingdings" panose="05000000000000000000" pitchFamily="2" charset="2"/>
                        <a:ea typeface="+mn-ea"/>
                        <a:cs typeface="+mn-cs"/>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549855035"/>
                  </a:ext>
                </a:extLst>
              </a:tr>
              <a:tr h="370840">
                <a:tc>
                  <a:txBody>
                    <a:bodyPr/>
                    <a:lstStyle/>
                    <a:p>
                      <a:r>
                        <a:rPr lang="en-US" dirty="0">
                          <a:solidFill>
                            <a:schemeClr val="bg1"/>
                          </a:solidFill>
                        </a:rPr>
                        <a:t>Risk Review</a:t>
                      </a:r>
                    </a:p>
                  </a:txBody>
                  <a:tcPr>
                    <a:solidFill>
                      <a:schemeClr val="bg1">
                        <a:lumMod val="50000"/>
                      </a:schemeClr>
                    </a:solidFill>
                  </a:tcPr>
                </a:tc>
                <a:tc>
                  <a:txBody>
                    <a:bodyPr/>
                    <a:lstStyle/>
                    <a:p>
                      <a:pPr algn="ctr"/>
                      <a:endParaRPr lang="en-US">
                        <a:solidFill>
                          <a:schemeClr val="bg1"/>
                        </a:solidFill>
                        <a:latin typeface="Wingdings" panose="05000000000000000000" pitchFamily="2" charset="2"/>
                      </a:endParaRPr>
                    </a:p>
                  </a:txBody>
                  <a:tcPr>
                    <a:solidFill>
                      <a:schemeClr val="bg1">
                        <a:lumMod val="50000"/>
                      </a:schemeClr>
                    </a:solidFill>
                  </a:tcPr>
                </a:tc>
                <a:tc>
                  <a:txBody>
                    <a:bodyPr/>
                    <a:lstStyle/>
                    <a:p>
                      <a:pPr algn="ctr"/>
                      <a:endParaRPr lang="en-US">
                        <a:solidFill>
                          <a:schemeClr val="bg1"/>
                        </a:solidFill>
                        <a:latin typeface="Wingdings" panose="05000000000000000000" pitchFamily="2" charset="2"/>
                      </a:endParaRPr>
                    </a:p>
                  </a:txBody>
                  <a:tcPr>
                    <a:solidFill>
                      <a:schemeClr val="bg1">
                        <a:lumMod val="50000"/>
                      </a:schemeClr>
                    </a:solidFill>
                  </a:tcPr>
                </a:tc>
                <a:tc>
                  <a:txBody>
                    <a:bodyPr/>
                    <a:lstStyle/>
                    <a:p>
                      <a:pPr algn="ctr"/>
                      <a:endParaRPr lang="en-US">
                        <a:solidFill>
                          <a:schemeClr val="bg1"/>
                        </a:solidFill>
                        <a:latin typeface="Wingdings" panose="05000000000000000000" pitchFamily="2" charset="2"/>
                      </a:endParaRPr>
                    </a:p>
                  </a:txBody>
                  <a:tcPr>
                    <a:solidFill>
                      <a:schemeClr val="bg1">
                        <a:lumMod val="50000"/>
                      </a:schemeClr>
                    </a:solidFill>
                  </a:tcPr>
                </a:tc>
                <a:tc>
                  <a:txBody>
                    <a:bodyPr/>
                    <a:lstStyle/>
                    <a:p>
                      <a:pPr algn="ctr"/>
                      <a:r>
                        <a:rPr lang="en-US" dirty="0">
                          <a:solidFill>
                            <a:schemeClr val="accent1"/>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bg1">
                        <a:lumMod val="50000"/>
                      </a:schemeClr>
                    </a:solidFill>
                  </a:tcPr>
                </a:tc>
                <a:tc>
                  <a:txBody>
                    <a:bodyPr/>
                    <a:lstStyle/>
                    <a:p>
                      <a:pPr algn="ctr"/>
                      <a:r>
                        <a:rPr lang="en-US" dirty="0">
                          <a:solidFill>
                            <a:schemeClr val="bg1"/>
                          </a:solidFill>
                          <a:latin typeface="Wingdings" panose="05000000000000000000" pitchFamily="2" charset="2"/>
                        </a:rPr>
                        <a:t>l</a:t>
                      </a:r>
                    </a:p>
                  </a:txBody>
                  <a:tcPr>
                    <a:solidFill>
                      <a:schemeClr val="bg1">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solidFill>
                      <a:schemeClr val="bg1">
                        <a:lumMod val="50000"/>
                      </a:schemeClr>
                    </a:solidFill>
                  </a:tcPr>
                </a:tc>
                <a:tc>
                  <a:txBody>
                    <a:bodyPr/>
                    <a:lstStyle/>
                    <a:p>
                      <a:pPr algn="ctr"/>
                      <a:r>
                        <a:rPr lang="en-US" dirty="0">
                          <a:solidFill>
                            <a:schemeClr val="accent2"/>
                          </a:solidFill>
                          <a:latin typeface="Wingdings" panose="05000000000000000000" pitchFamily="2" charset="2"/>
                        </a:rPr>
                        <a:t>l</a:t>
                      </a:r>
                      <a:endParaRPr lang="en-US" dirty="0">
                        <a:solidFill>
                          <a:schemeClr val="bg1"/>
                        </a:solidFill>
                        <a:latin typeface="Wingdings" panose="05000000000000000000" pitchFamily="2" charset="2"/>
                      </a:endParaRPr>
                    </a:p>
                  </a:txBody>
                  <a:tcPr>
                    <a:lnR w="12700" cap="flat" cmpd="sng" algn="ctr">
                      <a:solidFill>
                        <a:schemeClr val="bg1"/>
                      </a:solidFill>
                      <a:prstDash val="solid"/>
                      <a:round/>
                      <a:headEnd type="none" w="med" len="med"/>
                      <a:tailEnd type="none" w="med" len="med"/>
                    </a:lnR>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709168830"/>
                  </a:ext>
                </a:extLst>
              </a:tr>
              <a:tr h="370840">
                <a:tc>
                  <a:txBody>
                    <a:bodyPr/>
                    <a:lstStyle/>
                    <a:p>
                      <a:r>
                        <a:rPr lang="en-US" dirty="0">
                          <a:solidFill>
                            <a:schemeClr val="bg1"/>
                          </a:solidFill>
                        </a:rPr>
                        <a:t>Produce Card</a:t>
                      </a: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a:solidFill>
                          <a:schemeClr val="bg1"/>
                        </a:solidFill>
                        <a:latin typeface="Wingdings" panose="05000000000000000000" pitchFamily="2" charset="2"/>
                      </a:endParaRPr>
                    </a:p>
                  </a:txBody>
                  <a:tcPr>
                    <a:solidFill>
                      <a:schemeClr val="tx1"/>
                    </a:solidFill>
                  </a:tcPr>
                </a:tc>
                <a:tc>
                  <a:txBody>
                    <a:bodyPr/>
                    <a:lstStyle/>
                    <a:p>
                      <a:pPr algn="ct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accent1"/>
                          </a:solidFill>
                          <a:latin typeface="Wingdings" panose="05000000000000000000" pitchFamily="2" charset="2"/>
                        </a:rPr>
                        <a:t>l</a:t>
                      </a:r>
                      <a:endParaRPr lang="en-US" dirty="0">
                        <a:solidFill>
                          <a:schemeClr val="bg1"/>
                        </a:solidFill>
                        <a:latin typeface="Wingdings" panose="05000000000000000000" pitchFamily="2" charset="2"/>
                      </a:endParaRPr>
                    </a:p>
                  </a:txBody>
                  <a:tcPr>
                    <a:solidFill>
                      <a:schemeClr val="tx1"/>
                    </a:solidFill>
                  </a:tcPr>
                </a:tc>
                <a:tc>
                  <a:txBody>
                    <a:bodyPr/>
                    <a:lstStyle/>
                    <a:p>
                      <a:pPr algn="ctr"/>
                      <a:r>
                        <a:rPr lang="en-US" dirty="0">
                          <a:solidFill>
                            <a:schemeClr val="bg1"/>
                          </a:solidFill>
                          <a:latin typeface="Wingdings" panose="05000000000000000000" pitchFamily="2" charset="2"/>
                        </a:rPr>
                        <a:t>l</a:t>
                      </a:r>
                    </a:p>
                  </a:txBody>
                  <a:tcP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latin typeface="Wingdings" panose="05000000000000000000" pitchFamily="2" charset="2"/>
                        </a:rPr>
                        <a:t>l</a:t>
                      </a:r>
                    </a:p>
                  </a:txBody>
                  <a:tcPr>
                    <a:lnR w="12700" cap="flat" cmpd="sng" algn="ctr">
                      <a:solidFill>
                        <a:schemeClr val="bg1"/>
                      </a:solidFill>
                      <a:prstDash val="solid"/>
                      <a:round/>
                      <a:headEnd type="none" w="med" len="med"/>
                      <a:tailEnd type="none" w="med" len="med"/>
                    </a:lnR>
                    <a:solidFill>
                      <a:schemeClr val="tx1"/>
                    </a:solidFill>
                  </a:tcPr>
                </a:tc>
                <a:tc>
                  <a:txBody>
                    <a:bodyPr/>
                    <a:lstStyle/>
                    <a:p>
                      <a:pPr algn="ctr"/>
                      <a:r>
                        <a:rPr lang="en-US" dirty="0">
                          <a:solidFill>
                            <a:schemeClr val="accent2"/>
                          </a:solidFill>
                          <a:latin typeface="Wingdings" panose="05000000000000000000" pitchFamily="2" charset="2"/>
                        </a:rPr>
                        <a:t>l</a:t>
                      </a: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en-US" dirty="0">
                        <a:solidFill>
                          <a:schemeClr val="bg1"/>
                        </a:solidFill>
                        <a:latin typeface="Wingdings" panose="05000000000000000000" pitchFamily="2" charset="2"/>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419261072"/>
                  </a:ext>
                </a:extLst>
              </a:tr>
            </a:tbl>
          </a:graphicData>
        </a:graphic>
      </p:graphicFrame>
      <p:sp>
        <p:nvSpPr>
          <p:cNvPr id="11" name="Rectangle 10">
            <a:extLst>
              <a:ext uri="{FF2B5EF4-FFF2-40B4-BE49-F238E27FC236}">
                <a16:creationId xmlns:a16="http://schemas.microsoft.com/office/drawing/2014/main" id="{18EA57A6-85F1-DCFD-0CCF-4039750D9B58}"/>
              </a:ext>
            </a:extLst>
          </p:cNvPr>
          <p:cNvSpPr/>
          <p:nvPr/>
        </p:nvSpPr>
        <p:spPr>
          <a:xfrm>
            <a:off x="1476381" y="4883139"/>
            <a:ext cx="9665889" cy="718145"/>
          </a:xfrm>
          <a:prstGeom prst="rect">
            <a:avLst/>
          </a:prstGeom>
          <a:solidFill>
            <a:srgbClr val="FFB62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Lead times are long because each process step is batched and must wait for the others to be completed before the next process can be started. </a:t>
            </a:r>
          </a:p>
        </p:txBody>
      </p:sp>
      <p:sp>
        <p:nvSpPr>
          <p:cNvPr id="13" name="TextBox 12">
            <a:extLst>
              <a:ext uri="{FF2B5EF4-FFF2-40B4-BE49-F238E27FC236}">
                <a16:creationId xmlns:a16="http://schemas.microsoft.com/office/drawing/2014/main" id="{75369114-24B7-5404-3C32-6BB73052F47F}"/>
              </a:ext>
            </a:extLst>
          </p:cNvPr>
          <p:cNvSpPr txBox="1"/>
          <p:nvPr/>
        </p:nvSpPr>
        <p:spPr>
          <a:xfrm>
            <a:off x="6223064" y="2846412"/>
            <a:ext cx="5876243" cy="1828800"/>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44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60% Reduction in </a:t>
            </a:r>
          </a:p>
          <a:p>
            <a:pPr marL="0" marR="0" indent="0" algn="ctr" defTabSz="825500" rtl="0" fontAlgn="auto" latinLnBrk="0" hangingPunct="0">
              <a:lnSpc>
                <a:spcPct val="100000"/>
              </a:lnSpc>
              <a:spcBef>
                <a:spcPts val="0"/>
              </a:spcBef>
              <a:spcAft>
                <a:spcPts val="0"/>
              </a:spcAft>
              <a:buClrTx/>
              <a:buSzTx/>
              <a:buFontTx/>
              <a:buNone/>
              <a:tabLst/>
            </a:pPr>
            <a:r>
              <a:rPr kumimoji="0" lang="en-US" sz="44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Lead Time</a:t>
            </a:r>
          </a:p>
        </p:txBody>
      </p:sp>
      <p:sp>
        <p:nvSpPr>
          <p:cNvPr id="21" name="TextBox 20">
            <a:extLst>
              <a:ext uri="{FF2B5EF4-FFF2-40B4-BE49-F238E27FC236}">
                <a16:creationId xmlns:a16="http://schemas.microsoft.com/office/drawing/2014/main" id="{338D7D9C-C040-0E6A-B097-5BE6B1FB5E3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9" name="Group 8">
            <a:extLst>
              <a:ext uri="{FF2B5EF4-FFF2-40B4-BE49-F238E27FC236}">
                <a16:creationId xmlns:a16="http://schemas.microsoft.com/office/drawing/2014/main" id="{43601602-D875-78D4-DB53-35A2A9DDC837}"/>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BC320D39-3F1E-565E-0F23-BF31B18D496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4" name="Group 13">
              <a:extLst>
                <a:ext uri="{FF2B5EF4-FFF2-40B4-BE49-F238E27FC236}">
                  <a16:creationId xmlns:a16="http://schemas.microsoft.com/office/drawing/2014/main" id="{71811847-11E8-2BF8-3FAA-FE8605C52775}"/>
                </a:ext>
              </a:extLst>
            </p:cNvPr>
            <p:cNvGrpSpPr/>
            <p:nvPr/>
          </p:nvGrpSpPr>
          <p:grpSpPr>
            <a:xfrm>
              <a:off x="940249" y="315206"/>
              <a:ext cx="746492" cy="265062"/>
              <a:chOff x="940249" y="315206"/>
              <a:chExt cx="746492" cy="265062"/>
            </a:xfrm>
          </p:grpSpPr>
          <p:sp>
            <p:nvSpPr>
              <p:cNvPr id="15" name="AutoShape 11">
                <a:extLst>
                  <a:ext uri="{FF2B5EF4-FFF2-40B4-BE49-F238E27FC236}">
                    <a16:creationId xmlns:a16="http://schemas.microsoft.com/office/drawing/2014/main" id="{8AB0F509-1225-CED1-8AC7-2213A7821643}"/>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1FB17326-9258-BDA1-CED9-1252ADC3B02C}"/>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102857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30</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493265"/>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System</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052393"/>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3612760"/>
            <a:ext cx="5722970" cy="452898"/>
          </a:xfrm>
          <a:prstGeom prst="rect">
            <a:avLst/>
          </a:prstGeom>
          <a:solidFill>
            <a:srgbClr val="EE362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sp>
        <p:nvSpPr>
          <p:cNvPr id="22" name="Rectangle 21">
            <a:extLst>
              <a:ext uri="{FF2B5EF4-FFF2-40B4-BE49-F238E27FC236}">
                <a16:creationId xmlns:a16="http://schemas.microsoft.com/office/drawing/2014/main" id="{FED7FF1B-648D-65C9-3C8A-B12E22D333B7}"/>
              </a:ext>
            </a:extLst>
          </p:cNvPr>
          <p:cNvSpPr/>
          <p:nvPr/>
        </p:nvSpPr>
        <p:spPr>
          <a:xfrm>
            <a:off x="940249" y="414616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 </a:t>
            </a:r>
          </a:p>
        </p:txBody>
      </p:sp>
      <p:sp>
        <p:nvSpPr>
          <p:cNvPr id="23" name="Rectangle 22">
            <a:extLst>
              <a:ext uri="{FF2B5EF4-FFF2-40B4-BE49-F238E27FC236}">
                <a16:creationId xmlns:a16="http://schemas.microsoft.com/office/drawing/2014/main" id="{02FA5FEE-5A32-F095-588B-7DDC417B4802}"/>
              </a:ext>
            </a:extLst>
          </p:cNvPr>
          <p:cNvSpPr/>
          <p:nvPr/>
        </p:nvSpPr>
        <p:spPr>
          <a:xfrm>
            <a:off x="940249" y="467956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grpSp>
        <p:nvGrpSpPr>
          <p:cNvPr id="3" name="Group 2">
            <a:extLst>
              <a:ext uri="{FF2B5EF4-FFF2-40B4-BE49-F238E27FC236}">
                <a16:creationId xmlns:a16="http://schemas.microsoft.com/office/drawing/2014/main" id="{4EB99BFE-0177-54F1-59A7-EB4A6F76D2EA}"/>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D2EB0DC4-1A12-C1C9-F48C-A5062B7663A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52C30D6E-5517-BC54-1DAB-D2B14D02758E}"/>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F20FAC5F-49C9-D58D-A84D-AA2169363FA5}"/>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B16FD08B-3620-33EC-590F-650E739FA40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5704247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rmAutofit/>
          </a:bodyPr>
          <a:lstStyle/>
          <a:p>
            <a:r>
              <a:rPr lang="en-US" sz="4000" dirty="0">
                <a:latin typeface="Roboto Medium"/>
                <a:ea typeface="Roboto Medium"/>
                <a:cs typeface="Roboto Medium"/>
              </a:rPr>
              <a:t>Pull</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838200" y="1825625"/>
            <a:ext cx="10293632" cy="4351338"/>
          </a:xfrm>
        </p:spPr>
        <p:txBody>
          <a:bodyPr/>
          <a:lstStyle/>
          <a:p>
            <a:r>
              <a:rPr lang="en-US" dirty="0"/>
              <a:t>Couple processes with “pull” when flow is not possible</a:t>
            </a:r>
          </a:p>
          <a:p>
            <a:r>
              <a:rPr lang="en-US" dirty="0"/>
              <a:t>End Customer initiates pull process</a:t>
            </a:r>
          </a:p>
          <a:p>
            <a:r>
              <a:rPr lang="en-US" dirty="0"/>
              <a:t>Each step in the process takes the information or knowledge it needs, when needed from the preceding process</a:t>
            </a:r>
          </a:p>
          <a:p>
            <a:r>
              <a:rPr lang="en-US" dirty="0"/>
              <a:t>Only the amount required is taken</a:t>
            </a:r>
          </a:p>
          <a:p>
            <a:r>
              <a:rPr lang="en-US" dirty="0"/>
              <a:t>No action is taken until the downstream process initiates it </a:t>
            </a:r>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31</a:t>
            </a:fld>
            <a:endParaRPr lang="en-US"/>
          </a:p>
        </p:txBody>
      </p:sp>
      <p:sp>
        <p:nvSpPr>
          <p:cNvPr id="19" name="TextBox 18">
            <a:extLst>
              <a:ext uri="{FF2B5EF4-FFF2-40B4-BE49-F238E27FC236}">
                <a16:creationId xmlns:a16="http://schemas.microsoft.com/office/drawing/2014/main" id="{C19D8E70-1642-78C5-F739-229859FCEE3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0" name="Group 9">
            <a:extLst>
              <a:ext uri="{FF2B5EF4-FFF2-40B4-BE49-F238E27FC236}">
                <a16:creationId xmlns:a16="http://schemas.microsoft.com/office/drawing/2014/main" id="{57D1D9EC-FC61-D69C-91BC-13471D908FFF}"/>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BEAA468F-945C-F5A7-3EAC-14F84F0C644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5E746096-C3A9-E0C0-968E-7612123A8268}"/>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6AD7AE87-8562-5BD5-653B-924A391ADDB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ACE035D1-E706-2809-EF45-5754F9651CC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60428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748"/>
            <a:ext cx="972234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Simulate a batch process operation.</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Your instructor will assign various roles to the group.</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endPar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member is to write his/her name on each of 5 post-it notes When complete, pass the 5 post-its as a group to the next person in the sequence.</a:t>
            </a:r>
          </a:p>
          <a:p>
            <a:pPr marL="0" marR="0" indent="0" algn="l" defTabSz="584200" rtl="0" fontAlgn="auto" latinLnBrk="0" hangingPunct="0">
              <a:lnSpc>
                <a:spcPct val="100000"/>
              </a:lnSpc>
              <a:spcBef>
                <a:spcPts val="0"/>
              </a:spcBef>
              <a:spcAft>
                <a:spcPts val="0"/>
              </a:spcAft>
              <a:buClrTx/>
              <a:buSzTx/>
              <a:buFontTx/>
              <a:buNone/>
              <a:tabLst/>
            </a:pP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Time it takes for the 1</a:t>
            </a:r>
            <a:r>
              <a:rPr kumimoji="0" lang="en-US" sz="1200" b="0" i="0" u="none" strike="noStrike" cap="none" spc="0" normalizeH="0" baseline="3000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t>
            </a: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post-it of the pack of 5 to be signed by all of the team members</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Time it takes for the last post-it of the pack of 5 to be signed by all of the team members</a:t>
            </a:r>
          </a:p>
          <a:p>
            <a:pPr marL="0" marR="0" indent="0" algn="l" defTabSz="5842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02991"/>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Chart and discuss results</a:t>
            </a:r>
          </a:p>
        </p:txBody>
      </p:sp>
      <p:sp>
        <p:nvSpPr>
          <p:cNvPr id="26" name="TextBox 25">
            <a:extLst>
              <a:ext uri="{FF2B5EF4-FFF2-40B4-BE49-F238E27FC236}">
                <a16:creationId xmlns:a16="http://schemas.microsoft.com/office/drawing/2014/main" id="{430F5E6F-F74C-7D64-BAEA-9F25C7F3B3A6}"/>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9" name="Group 8">
            <a:extLst>
              <a:ext uri="{FF2B5EF4-FFF2-40B4-BE49-F238E27FC236}">
                <a16:creationId xmlns:a16="http://schemas.microsoft.com/office/drawing/2014/main" id="{B80DC49F-9C2B-C58D-168E-D9E20BEF47BD}"/>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71F52932-426C-9EAC-66C9-D4B4C1006C6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CC6AB55C-DA11-A302-DC06-DF73DF33724D}"/>
                </a:ext>
              </a:extLst>
            </p:cNvPr>
            <p:cNvGrpSpPr/>
            <p:nvPr/>
          </p:nvGrpSpPr>
          <p:grpSpPr>
            <a:xfrm>
              <a:off x="940249" y="315206"/>
              <a:ext cx="746492" cy="265062"/>
              <a:chOff x="940249" y="315206"/>
              <a:chExt cx="746492" cy="265062"/>
            </a:xfrm>
          </p:grpSpPr>
          <p:sp>
            <p:nvSpPr>
              <p:cNvPr id="20" name="AutoShape 11">
                <a:extLst>
                  <a:ext uri="{FF2B5EF4-FFF2-40B4-BE49-F238E27FC236}">
                    <a16:creationId xmlns:a16="http://schemas.microsoft.com/office/drawing/2014/main" id="{1970018B-300D-F8F6-E325-30C59926B1CD}"/>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154157BC-CE0A-DC6F-C70A-CDB75478C9B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795757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33</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Simulate a flow process operation.</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this trial, each team member is to write his/her name on </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one of each of the 5 post-it notes. When complete, pass the post-it as a single piece to the next person in the sequence. Repeat this for the remaining post-its passing them as soon as they are signed and the next person is prepared to accept it. Do not pass the post-it until the next person is ready to accept it. </a:t>
            </a:r>
          </a:p>
          <a:p>
            <a:pPr marL="0" marR="0" indent="0" algn="l" defTabSz="584200"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(1) Time it takes for the 1st post-it to be signed by all of the </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members</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Time it takes for the last post-it to be signed by all of the </a:t>
            </a:r>
            <a:b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members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13429"/>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Chart and discuss results</a:t>
            </a:r>
          </a:p>
        </p:txBody>
      </p:sp>
      <p:sp>
        <p:nvSpPr>
          <p:cNvPr id="26" name="TextBox 25">
            <a:extLst>
              <a:ext uri="{FF2B5EF4-FFF2-40B4-BE49-F238E27FC236}">
                <a16:creationId xmlns:a16="http://schemas.microsoft.com/office/drawing/2014/main" id="{0C526469-C39D-3666-AA70-616C23C05F1A}"/>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9" name="Group 8">
            <a:extLst>
              <a:ext uri="{FF2B5EF4-FFF2-40B4-BE49-F238E27FC236}">
                <a16:creationId xmlns:a16="http://schemas.microsoft.com/office/drawing/2014/main" id="{2D924727-74D0-73D5-B5A8-402E4359AEB5}"/>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3B4D1379-1DB6-D733-980A-AEF6719D0DD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87ABA807-9DCD-1AB7-1920-0B3FF457B06A}"/>
                </a:ext>
              </a:extLst>
            </p:cNvPr>
            <p:cNvGrpSpPr/>
            <p:nvPr/>
          </p:nvGrpSpPr>
          <p:grpSpPr>
            <a:xfrm>
              <a:off x="940249" y="315206"/>
              <a:ext cx="746492" cy="265062"/>
              <a:chOff x="940249" y="315206"/>
              <a:chExt cx="746492" cy="265062"/>
            </a:xfrm>
          </p:grpSpPr>
          <p:sp>
            <p:nvSpPr>
              <p:cNvPr id="20" name="AutoShape 11">
                <a:extLst>
                  <a:ext uri="{FF2B5EF4-FFF2-40B4-BE49-F238E27FC236}">
                    <a16:creationId xmlns:a16="http://schemas.microsoft.com/office/drawing/2014/main" id="{87ACFC87-42C2-388B-A871-73C473E7F2D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E83BAC87-3CC1-7B0D-8583-2F8C522E9609}"/>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2837543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38A2C986-907F-14BC-3C51-41706AF3F4D8}"/>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34</a:t>
            </a:fld>
            <a:endParaRPr lang="en-US"/>
          </a:p>
        </p:txBody>
      </p:sp>
      <p:sp>
        <p:nvSpPr>
          <p:cNvPr id="24" name="TextBox 23">
            <a:extLst>
              <a:ext uri="{FF2B5EF4-FFF2-40B4-BE49-F238E27FC236}">
                <a16:creationId xmlns:a16="http://schemas.microsoft.com/office/drawing/2014/main" id="{958A6088-CBDF-A04E-F59A-CFB1A7142E2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8" name="Rectangle 7">
            <a:extLst>
              <a:ext uri="{FF2B5EF4-FFF2-40B4-BE49-F238E27FC236}">
                <a16:creationId xmlns:a16="http://schemas.microsoft.com/office/drawing/2014/main" id="{CE90370B-5065-474A-6ACD-0F2F796CB53E}"/>
              </a:ext>
            </a:extLst>
          </p:cNvPr>
          <p:cNvSpPr>
            <a:spLocks/>
          </p:cNvSpPr>
          <p:nvPr/>
        </p:nvSpPr>
        <p:spPr>
          <a:xfrm>
            <a:off x="940249" y="2493265"/>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System</a:t>
            </a:r>
          </a:p>
        </p:txBody>
      </p:sp>
      <p:sp>
        <p:nvSpPr>
          <p:cNvPr id="9" name="Rectangle 8">
            <a:extLst>
              <a:ext uri="{FF2B5EF4-FFF2-40B4-BE49-F238E27FC236}">
                <a16:creationId xmlns:a16="http://schemas.microsoft.com/office/drawing/2014/main" id="{0D012090-2953-BC42-8121-9261D4252D58}"/>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0" name="Rectangle 9">
            <a:extLst>
              <a:ext uri="{FF2B5EF4-FFF2-40B4-BE49-F238E27FC236}">
                <a16:creationId xmlns:a16="http://schemas.microsoft.com/office/drawing/2014/main" id="{F05C1204-2FCB-1D05-AEA9-E965A558DCF8}"/>
              </a:ext>
            </a:extLst>
          </p:cNvPr>
          <p:cNvSpPr>
            <a:spLocks/>
          </p:cNvSpPr>
          <p:nvPr/>
        </p:nvSpPr>
        <p:spPr>
          <a:xfrm>
            <a:off x="940249" y="3052393"/>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7" name="Rectangle 16">
            <a:extLst>
              <a:ext uri="{FF2B5EF4-FFF2-40B4-BE49-F238E27FC236}">
                <a16:creationId xmlns:a16="http://schemas.microsoft.com/office/drawing/2014/main" id="{A6BB7CA1-1016-EF82-EAD5-1ECF473146EA}"/>
              </a:ext>
            </a:extLst>
          </p:cNvPr>
          <p:cNvSpPr/>
          <p:nvPr/>
        </p:nvSpPr>
        <p:spPr>
          <a:xfrm>
            <a:off x="940249" y="361276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8" name="Rectangle 17">
            <a:extLst>
              <a:ext uri="{FF2B5EF4-FFF2-40B4-BE49-F238E27FC236}">
                <a16:creationId xmlns:a16="http://schemas.microsoft.com/office/drawing/2014/main" id="{0B4789F9-E7DE-9004-3CFB-764EC95989E0}"/>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sp>
        <p:nvSpPr>
          <p:cNvPr id="19" name="Rectangle 18">
            <a:extLst>
              <a:ext uri="{FF2B5EF4-FFF2-40B4-BE49-F238E27FC236}">
                <a16:creationId xmlns:a16="http://schemas.microsoft.com/office/drawing/2014/main" id="{A25DE365-E844-BD24-8162-029893D27A5C}"/>
              </a:ext>
            </a:extLst>
          </p:cNvPr>
          <p:cNvSpPr/>
          <p:nvPr/>
        </p:nvSpPr>
        <p:spPr>
          <a:xfrm>
            <a:off x="940249" y="4146160"/>
            <a:ext cx="5722970" cy="452898"/>
          </a:xfrm>
          <a:prstGeom prst="rect">
            <a:avLst/>
          </a:prstGeom>
          <a:solidFill>
            <a:srgbClr val="EE362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 </a:t>
            </a:r>
          </a:p>
        </p:txBody>
      </p:sp>
      <p:sp>
        <p:nvSpPr>
          <p:cNvPr id="20" name="Rectangle 19">
            <a:extLst>
              <a:ext uri="{FF2B5EF4-FFF2-40B4-BE49-F238E27FC236}">
                <a16:creationId xmlns:a16="http://schemas.microsoft.com/office/drawing/2014/main" id="{268EA314-2CC3-7AF7-C61D-20FBF1B51977}"/>
              </a:ext>
            </a:extLst>
          </p:cNvPr>
          <p:cNvSpPr/>
          <p:nvPr/>
        </p:nvSpPr>
        <p:spPr>
          <a:xfrm>
            <a:off x="940249" y="467956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grpSp>
        <p:nvGrpSpPr>
          <p:cNvPr id="11" name="Group 10">
            <a:extLst>
              <a:ext uri="{FF2B5EF4-FFF2-40B4-BE49-F238E27FC236}">
                <a16:creationId xmlns:a16="http://schemas.microsoft.com/office/drawing/2014/main" id="{B6599745-8EAA-C8D6-3725-604C5ED01DE7}"/>
              </a:ext>
            </a:extLst>
          </p:cNvPr>
          <p:cNvGrpSpPr/>
          <p:nvPr/>
        </p:nvGrpSpPr>
        <p:grpSpPr>
          <a:xfrm>
            <a:off x="940249" y="302538"/>
            <a:ext cx="1060167" cy="290657"/>
            <a:chOff x="940249" y="315206"/>
            <a:chExt cx="1060167" cy="265062"/>
          </a:xfrm>
        </p:grpSpPr>
        <p:sp>
          <p:nvSpPr>
            <p:cNvPr id="12" name="AutoShape 9">
              <a:extLst>
                <a:ext uri="{FF2B5EF4-FFF2-40B4-BE49-F238E27FC236}">
                  <a16:creationId xmlns:a16="http://schemas.microsoft.com/office/drawing/2014/main" id="{D19C133F-958C-DE1D-266F-BB26A4B3F70E}"/>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324565B7-1715-B7D5-160E-62D9063E7042}"/>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816AE7BD-4B3D-2DC2-15C3-4D026DBFEFC8}"/>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07B38983-D192-78D8-7D0E-06176A79ADFE}"/>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8274755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73159-B234-817B-0C35-51EE28E9971B}"/>
              </a:ext>
            </a:extLst>
          </p:cNvPr>
          <p:cNvSpPr>
            <a:spLocks noGrp="1"/>
          </p:cNvSpPr>
          <p:nvPr>
            <p:ph type="title"/>
          </p:nvPr>
        </p:nvSpPr>
        <p:spPr/>
        <p:txBody>
          <a:bodyPr>
            <a:normAutofit/>
          </a:bodyPr>
          <a:lstStyle/>
          <a:p>
            <a:r>
              <a:rPr lang="en-US" sz="4000" dirty="0"/>
              <a:t>Standardized Work For Admin Processes</a:t>
            </a:r>
          </a:p>
        </p:txBody>
      </p:sp>
      <p:sp>
        <p:nvSpPr>
          <p:cNvPr id="3" name="Content Placeholder 2">
            <a:extLst>
              <a:ext uri="{FF2B5EF4-FFF2-40B4-BE49-F238E27FC236}">
                <a16:creationId xmlns:a16="http://schemas.microsoft.com/office/drawing/2014/main" id="{3B4F78D7-ED70-8111-F3E0-EE0AE48484ED}"/>
              </a:ext>
            </a:extLst>
          </p:cNvPr>
          <p:cNvSpPr>
            <a:spLocks noGrp="1"/>
          </p:cNvSpPr>
          <p:nvPr>
            <p:ph idx="1"/>
          </p:nvPr>
        </p:nvSpPr>
        <p:spPr/>
        <p:txBody>
          <a:bodyPr>
            <a:normAutofit fontScale="92500" lnSpcReduction="20000"/>
          </a:bodyPr>
          <a:lstStyle/>
          <a:p>
            <a:r>
              <a:rPr lang="en-US" sz="2400" dirty="0"/>
              <a:t>What it is:</a:t>
            </a:r>
          </a:p>
          <a:p>
            <a:pPr lvl="1"/>
            <a:r>
              <a:rPr lang="en-US" sz="2100" dirty="0"/>
              <a:t>Highly specified work in terms of content, sequence, timing and outcome*</a:t>
            </a:r>
          </a:p>
          <a:p>
            <a:pPr lvl="1"/>
            <a:r>
              <a:rPr lang="en-US" sz="2100" dirty="0"/>
              <a:t>A document that defines in detail the execution of a continuous process sequence performed by a single person/role</a:t>
            </a:r>
          </a:p>
          <a:p>
            <a:pPr lvl="1"/>
            <a:r>
              <a:rPr lang="en-US" sz="2100" dirty="0"/>
              <a:t>Designed to meet customer demand (Takt time)</a:t>
            </a:r>
          </a:p>
          <a:p>
            <a:r>
              <a:rPr lang="en-US" sz="2400" dirty="0"/>
              <a:t>What it is not:</a:t>
            </a:r>
          </a:p>
          <a:p>
            <a:pPr lvl="1"/>
            <a:r>
              <a:rPr lang="en-US" sz="2100" dirty="0"/>
              <a:t>A divisional or departmental policy or procedure</a:t>
            </a:r>
          </a:p>
          <a:p>
            <a:pPr lvl="1"/>
            <a:r>
              <a:rPr lang="en-US" sz="2100" dirty="0"/>
              <a:t>A work standard</a:t>
            </a:r>
          </a:p>
          <a:p>
            <a:pPr lvl="1"/>
            <a:r>
              <a:rPr lang="en-US" sz="2100" dirty="0"/>
              <a:t>A handbook</a:t>
            </a:r>
          </a:p>
          <a:p>
            <a:r>
              <a:rPr lang="en-US" sz="2400" dirty="0"/>
              <a:t>Format:</a:t>
            </a:r>
          </a:p>
          <a:p>
            <a:pPr lvl="1"/>
            <a:r>
              <a:rPr lang="en-US" sz="2100" dirty="0"/>
              <a:t>Usually Microsoft Word or PowerPoint (text and graphics)</a:t>
            </a:r>
          </a:p>
          <a:p>
            <a:pPr lvl="1"/>
            <a:r>
              <a:rPr lang="en-US" sz="2100" dirty="0"/>
              <a:t>May be more than one standard format, based on types of processes</a:t>
            </a:r>
          </a:p>
          <a:p>
            <a:pPr lvl="1"/>
            <a:r>
              <a:rPr lang="en-US" sz="2100" dirty="0"/>
              <a:t>Best practice is to develop one set of company templates to use for all Standardized Work documents</a:t>
            </a:r>
          </a:p>
          <a:p>
            <a:pPr lvl="1"/>
            <a:r>
              <a:rPr lang="en-US" sz="2100" dirty="0"/>
              <a:t>Key point is to maintain consistency</a:t>
            </a:r>
          </a:p>
        </p:txBody>
      </p:sp>
      <p:sp>
        <p:nvSpPr>
          <p:cNvPr id="6" name="Slide Number Placeholder 5">
            <a:extLst>
              <a:ext uri="{FF2B5EF4-FFF2-40B4-BE49-F238E27FC236}">
                <a16:creationId xmlns:a16="http://schemas.microsoft.com/office/drawing/2014/main" id="{6171D257-E143-0A87-6410-70B421EA84B0}"/>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35</a:t>
            </a:fld>
            <a:endParaRPr lang="en-US"/>
          </a:p>
        </p:txBody>
      </p:sp>
      <p:grpSp>
        <p:nvGrpSpPr>
          <p:cNvPr id="4" name="Group 3">
            <a:extLst>
              <a:ext uri="{FF2B5EF4-FFF2-40B4-BE49-F238E27FC236}">
                <a16:creationId xmlns:a16="http://schemas.microsoft.com/office/drawing/2014/main" id="{E6A529B3-802F-4922-2AE7-CF9D5702A0E9}"/>
              </a:ext>
            </a:extLst>
          </p:cNvPr>
          <p:cNvGrpSpPr/>
          <p:nvPr/>
        </p:nvGrpSpPr>
        <p:grpSpPr>
          <a:xfrm>
            <a:off x="940249" y="302538"/>
            <a:ext cx="3507765" cy="311932"/>
            <a:chOff x="940249" y="302538"/>
            <a:chExt cx="3507765" cy="311932"/>
          </a:xfrm>
        </p:grpSpPr>
        <p:sp>
          <p:nvSpPr>
            <p:cNvPr id="5" name="TextBox 4">
              <a:extLst>
                <a:ext uri="{FF2B5EF4-FFF2-40B4-BE49-F238E27FC236}">
                  <a16:creationId xmlns:a16="http://schemas.microsoft.com/office/drawing/2014/main" id="{F57CDDEF-310E-9A21-61F8-ACD489F5F9B5}"/>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7" name="Group 6">
              <a:extLst>
                <a:ext uri="{FF2B5EF4-FFF2-40B4-BE49-F238E27FC236}">
                  <a16:creationId xmlns:a16="http://schemas.microsoft.com/office/drawing/2014/main" id="{70E19A3A-EDFB-4F16-3438-8DE7E09740AC}"/>
                </a:ext>
              </a:extLst>
            </p:cNvPr>
            <p:cNvGrpSpPr/>
            <p:nvPr/>
          </p:nvGrpSpPr>
          <p:grpSpPr>
            <a:xfrm>
              <a:off x="940249" y="302538"/>
              <a:ext cx="1060167" cy="290657"/>
              <a:chOff x="940249" y="315206"/>
              <a:chExt cx="1060167" cy="265062"/>
            </a:xfrm>
          </p:grpSpPr>
          <p:sp>
            <p:nvSpPr>
              <p:cNvPr id="8" name="AutoShape 9">
                <a:extLst>
                  <a:ext uri="{FF2B5EF4-FFF2-40B4-BE49-F238E27FC236}">
                    <a16:creationId xmlns:a16="http://schemas.microsoft.com/office/drawing/2014/main" id="{208855A4-6C6E-7808-9D49-66289F5FD9D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1B776F7D-7D54-C6F1-0203-76BCC007AE6D}"/>
                  </a:ext>
                </a:extLst>
              </p:cNvPr>
              <p:cNvGrpSpPr/>
              <p:nvPr/>
            </p:nvGrpSpPr>
            <p:grpSpPr>
              <a:xfrm>
                <a:off x="940249" y="315206"/>
                <a:ext cx="746492" cy="265062"/>
                <a:chOff x="940249" y="315206"/>
                <a:chExt cx="746492" cy="265062"/>
              </a:xfrm>
            </p:grpSpPr>
            <p:sp>
              <p:nvSpPr>
                <p:cNvPr id="10" name="AutoShape 11">
                  <a:extLst>
                    <a:ext uri="{FF2B5EF4-FFF2-40B4-BE49-F238E27FC236}">
                      <a16:creationId xmlns:a16="http://schemas.microsoft.com/office/drawing/2014/main" id="{3397F62A-BCF0-437B-7EBF-AD6AA268E3C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5644A0EF-BC7E-7F98-F7B2-037AECA8619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grpSp>
      <p:sp>
        <p:nvSpPr>
          <p:cNvPr id="12" name="TextBox 11">
            <a:extLst>
              <a:ext uri="{FF2B5EF4-FFF2-40B4-BE49-F238E27FC236}">
                <a16:creationId xmlns:a16="http://schemas.microsoft.com/office/drawing/2014/main" id="{A04FB9D6-FA1F-9CAB-2C14-7B93D1048416}"/>
              </a:ext>
            </a:extLst>
          </p:cNvPr>
          <p:cNvSpPr txBox="1"/>
          <p:nvPr/>
        </p:nvSpPr>
        <p:spPr>
          <a:xfrm>
            <a:off x="7518765" y="6013964"/>
            <a:ext cx="4673235"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9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 Reference: </a:t>
            </a:r>
            <a:r>
              <a:rPr kumimoji="0" lang="en-US" sz="900" b="0" i="1"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Decoding the DNA of the Toyota Production System</a:t>
            </a:r>
            <a:r>
              <a:rPr kumimoji="0" lang="en-US" sz="9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 Harvard Business Review</a:t>
            </a:r>
          </a:p>
        </p:txBody>
      </p:sp>
    </p:spTree>
    <p:extLst>
      <p:ext uri="{BB962C8B-B14F-4D97-AF65-F5344CB8AC3E}">
        <p14:creationId xmlns:p14="http://schemas.microsoft.com/office/powerpoint/2010/main" val="33022646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0FEDF-A19C-8374-C727-6BBBE714F290}"/>
              </a:ext>
            </a:extLst>
          </p:cNvPr>
          <p:cNvSpPr>
            <a:spLocks noGrp="1"/>
          </p:cNvSpPr>
          <p:nvPr>
            <p:ph type="title"/>
          </p:nvPr>
        </p:nvSpPr>
        <p:spPr/>
        <p:txBody>
          <a:bodyPr>
            <a:normAutofit/>
          </a:bodyPr>
          <a:lstStyle/>
          <a:p>
            <a:r>
              <a:rPr lang="en-US" sz="2800" dirty="0"/>
              <a:t>Standardized Work is Designed to Meet TAKT Time</a:t>
            </a:r>
          </a:p>
        </p:txBody>
      </p:sp>
      <p:sp>
        <p:nvSpPr>
          <p:cNvPr id="4" name="Text Placeholder 3">
            <a:extLst>
              <a:ext uri="{FF2B5EF4-FFF2-40B4-BE49-F238E27FC236}">
                <a16:creationId xmlns:a16="http://schemas.microsoft.com/office/drawing/2014/main" id="{36BDF9F4-067B-AC92-8065-46C0D63EA97B}"/>
              </a:ext>
            </a:extLst>
          </p:cNvPr>
          <p:cNvSpPr>
            <a:spLocks noGrp="1"/>
          </p:cNvSpPr>
          <p:nvPr>
            <p:ph type="body" sz="half" idx="2"/>
          </p:nvPr>
        </p:nvSpPr>
        <p:spPr>
          <a:xfrm>
            <a:off x="839788" y="3005666"/>
            <a:ext cx="3932237" cy="2863321"/>
          </a:xfrm>
        </p:spPr>
        <p:txBody>
          <a:bodyPr>
            <a:normAutofit lnSpcReduction="10000"/>
          </a:bodyPr>
          <a:lstStyle/>
          <a:p>
            <a:r>
              <a:rPr lang="en-US" dirty="0"/>
              <a:t>Term first introduced in German industry as it embraced mass production in the 1930’s</a:t>
            </a:r>
          </a:p>
          <a:p>
            <a:r>
              <a:rPr lang="en-US" dirty="0"/>
              <a:t>Meaning a “precision interval of time”, as in musical meter</a:t>
            </a:r>
          </a:p>
          <a:p>
            <a:r>
              <a:rPr lang="en-US" dirty="0"/>
              <a:t>German aircraft firms moved fuselages ahead to workstations at intervals determined by TAKT time*</a:t>
            </a:r>
          </a:p>
          <a:p>
            <a:r>
              <a:rPr lang="en-US" dirty="0"/>
              <a:t>Has emerged in the English language in the last decade as lean thinking has spread</a:t>
            </a:r>
          </a:p>
          <a:p>
            <a:endParaRPr lang="en-US" dirty="0"/>
          </a:p>
        </p:txBody>
      </p:sp>
      <p:sp>
        <p:nvSpPr>
          <p:cNvPr id="7" name="Slide Number Placeholder 6">
            <a:extLst>
              <a:ext uri="{FF2B5EF4-FFF2-40B4-BE49-F238E27FC236}">
                <a16:creationId xmlns:a16="http://schemas.microsoft.com/office/drawing/2014/main" id="{B3CA2692-9E50-307A-436E-5BE9CBBB9038}"/>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36</a:t>
            </a:fld>
            <a:endParaRPr lang="en-US"/>
          </a:p>
        </p:txBody>
      </p:sp>
      <p:sp>
        <p:nvSpPr>
          <p:cNvPr id="12" name="Rectangle 11">
            <a:extLst>
              <a:ext uri="{FF2B5EF4-FFF2-40B4-BE49-F238E27FC236}">
                <a16:creationId xmlns:a16="http://schemas.microsoft.com/office/drawing/2014/main" id="{16AB25BF-D952-FE91-95AB-F34A5AD2ADEE}"/>
              </a:ext>
            </a:extLst>
          </p:cNvPr>
          <p:cNvSpPr/>
          <p:nvPr/>
        </p:nvSpPr>
        <p:spPr>
          <a:xfrm>
            <a:off x="838200" y="1922229"/>
            <a:ext cx="3855720" cy="964367"/>
          </a:xfrm>
          <a:prstGeom prst="rect">
            <a:avLst/>
          </a:prstGeom>
          <a:solidFill>
            <a:srgbClr val="FFB627"/>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400" b="1"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TAKT Time Definition:</a:t>
            </a:r>
          </a:p>
          <a:p>
            <a:pPr marL="0" marR="0" indent="0" algn="l" defTabSz="5842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How often one product should be produced, based on the rate of sales to meet customer requirements.</a:t>
            </a:r>
          </a:p>
        </p:txBody>
      </p:sp>
      <p:pic>
        <p:nvPicPr>
          <p:cNvPr id="13" name="Content Placeholder 13" descr="A person holding a violin">
            <a:extLst>
              <a:ext uri="{FF2B5EF4-FFF2-40B4-BE49-F238E27FC236}">
                <a16:creationId xmlns:a16="http://schemas.microsoft.com/office/drawing/2014/main" id="{54D4DD63-2733-67A1-26E8-BD37257B1630}"/>
              </a:ext>
            </a:extLst>
          </p:cNvPr>
          <p:cNvPicPr>
            <a:picLocks noGrp="1" noChangeAspect="1"/>
          </p:cNvPicPr>
          <p:nvPr>
            <p:ph idx="1"/>
          </p:nvPr>
        </p:nvPicPr>
        <p:blipFill>
          <a:blip r:embed="rId3"/>
          <a:stretch>
            <a:fillRect/>
          </a:stretch>
        </p:blipFill>
        <p:spPr>
          <a:xfrm>
            <a:off x="5217312" y="1380067"/>
            <a:ext cx="5612190" cy="4480983"/>
          </a:xfrm>
        </p:spPr>
      </p:pic>
      <p:sp>
        <p:nvSpPr>
          <p:cNvPr id="14" name="TextBox 13">
            <a:extLst>
              <a:ext uri="{FF2B5EF4-FFF2-40B4-BE49-F238E27FC236}">
                <a16:creationId xmlns:a16="http://schemas.microsoft.com/office/drawing/2014/main" id="{0B86B1D1-1800-810B-6CE7-3ED4BE99E05B}"/>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3" name="Group 2">
            <a:extLst>
              <a:ext uri="{FF2B5EF4-FFF2-40B4-BE49-F238E27FC236}">
                <a16:creationId xmlns:a16="http://schemas.microsoft.com/office/drawing/2014/main" id="{95381B11-47CF-DEEA-0EF0-06F8F9B6A018}"/>
              </a:ext>
            </a:extLst>
          </p:cNvPr>
          <p:cNvGrpSpPr/>
          <p:nvPr/>
        </p:nvGrpSpPr>
        <p:grpSpPr>
          <a:xfrm>
            <a:off x="940249" y="302538"/>
            <a:ext cx="1060167" cy="290657"/>
            <a:chOff x="940249" y="315206"/>
            <a:chExt cx="1060167" cy="265062"/>
          </a:xfrm>
        </p:grpSpPr>
        <p:sp>
          <p:nvSpPr>
            <p:cNvPr id="8" name="AutoShape 9">
              <a:extLst>
                <a:ext uri="{FF2B5EF4-FFF2-40B4-BE49-F238E27FC236}">
                  <a16:creationId xmlns:a16="http://schemas.microsoft.com/office/drawing/2014/main" id="{79983A83-62C8-24B8-7546-81F2E5A1292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551FD041-0F26-E7C7-3754-409C7EB81611}"/>
                </a:ext>
              </a:extLst>
            </p:cNvPr>
            <p:cNvGrpSpPr/>
            <p:nvPr/>
          </p:nvGrpSpPr>
          <p:grpSpPr>
            <a:xfrm>
              <a:off x="940249" y="315206"/>
              <a:ext cx="746492" cy="265062"/>
              <a:chOff x="940249" y="315206"/>
              <a:chExt cx="746492" cy="265062"/>
            </a:xfrm>
          </p:grpSpPr>
          <p:sp>
            <p:nvSpPr>
              <p:cNvPr id="10" name="AutoShape 11">
                <a:extLst>
                  <a:ext uri="{FF2B5EF4-FFF2-40B4-BE49-F238E27FC236}">
                    <a16:creationId xmlns:a16="http://schemas.microsoft.com/office/drawing/2014/main" id="{462E5C16-E472-0CB7-DDED-DF3776B67335}"/>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D32BE911-5124-2A45-6B8F-891548EF7539}"/>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1822895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DCC47-2978-DB39-265F-AE2C75E968A3}"/>
              </a:ext>
            </a:extLst>
          </p:cNvPr>
          <p:cNvSpPr>
            <a:spLocks noGrp="1"/>
          </p:cNvSpPr>
          <p:nvPr>
            <p:ph type="title"/>
          </p:nvPr>
        </p:nvSpPr>
        <p:spPr/>
        <p:txBody>
          <a:bodyPr/>
          <a:lstStyle/>
          <a:p>
            <a:r>
              <a:rPr lang="en-US" dirty="0"/>
              <a:t>TAKT Time Example</a:t>
            </a:r>
          </a:p>
        </p:txBody>
      </p:sp>
      <p:sp>
        <p:nvSpPr>
          <p:cNvPr id="5" name="Slide Number Placeholder 4">
            <a:extLst>
              <a:ext uri="{FF2B5EF4-FFF2-40B4-BE49-F238E27FC236}">
                <a16:creationId xmlns:a16="http://schemas.microsoft.com/office/drawing/2014/main" id="{C5D1D8BD-A01B-6997-10EA-CD07CBB75AAD}"/>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37</a:t>
            </a:fld>
            <a:endParaRPr lang="en-US"/>
          </a:p>
        </p:txBody>
      </p:sp>
      <p:sp>
        <p:nvSpPr>
          <p:cNvPr id="6" name="Text Placeholder 2">
            <a:extLst>
              <a:ext uri="{FF2B5EF4-FFF2-40B4-BE49-F238E27FC236}">
                <a16:creationId xmlns:a16="http://schemas.microsoft.com/office/drawing/2014/main" id="{135CD553-10D4-DC56-4AFC-28AAC34AD57F}"/>
              </a:ext>
            </a:extLst>
          </p:cNvPr>
          <p:cNvSpPr txBox="1">
            <a:spLocks/>
          </p:cNvSpPr>
          <p:nvPr/>
        </p:nvSpPr>
        <p:spPr>
          <a:xfrm>
            <a:off x="514350" y="2379847"/>
            <a:ext cx="4972050" cy="2284228"/>
          </a:xfrm>
          <a:prstGeom prst="rect">
            <a:avLst/>
          </a:prstGeom>
          <a:ln w="38100">
            <a:solidFill>
              <a:srgbClr val="EE3629"/>
            </a:solidFill>
          </a:ln>
        </p:spPr>
        <p:txBody>
          <a:bodyPr vert="horz" lIns="91440" tIns="45720" rIns="91440" bIns="45720" rtlCol="0" anchor="ct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Gross available time</a:t>
            </a:r>
          </a:p>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(8 hours x 3600 seconds)		=	28,800 seconds</a:t>
            </a:r>
          </a:p>
          <a:p>
            <a:endParaRPr lang="en-US" sz="1200" dirty="0">
              <a:solidFill>
                <a:schemeClr val="tx1"/>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Less breaks</a:t>
            </a:r>
          </a:p>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(30 minutes x 60 seconds)		=	1,800 seconds</a:t>
            </a:r>
          </a:p>
          <a:p>
            <a:endParaRPr lang="en-US" sz="1200" dirty="0">
              <a:solidFill>
                <a:schemeClr val="tx1"/>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Available time		=	27,000 seconds</a:t>
            </a:r>
          </a:p>
          <a:p>
            <a:endParaRPr lang="en-US" sz="1200" dirty="0">
              <a:solidFill>
                <a:schemeClr val="tx1"/>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chemeClr val="tx1"/>
                </a:solidFill>
                <a:latin typeface="Roboto" panose="02000000000000000000" pitchFamily="2" charset="0"/>
                <a:ea typeface="Roboto" panose="02000000000000000000" pitchFamily="2" charset="0"/>
                <a:cs typeface="Roboto" panose="02000000000000000000" pitchFamily="2" charset="0"/>
              </a:rPr>
              <a:t>Customer demand		=	350 units</a:t>
            </a:r>
          </a:p>
          <a:p>
            <a:endParaRPr lang="en-US" sz="1200" dirty="0">
              <a:solidFill>
                <a:schemeClr val="tx1"/>
              </a:solidFill>
              <a:latin typeface="Roboto" panose="02000000000000000000" pitchFamily="2" charset="0"/>
              <a:ea typeface="Roboto" panose="02000000000000000000" pitchFamily="2" charset="0"/>
              <a:cs typeface="Roboto" panose="02000000000000000000" pitchFamily="2" charset="0"/>
            </a:endParaRPr>
          </a:p>
          <a:p>
            <a:r>
              <a:rPr lang="en-US" sz="1200" dirty="0">
                <a:solidFill>
                  <a:srgbClr val="EE3629"/>
                </a:solidFill>
                <a:latin typeface="Roboto" panose="02000000000000000000" pitchFamily="2" charset="0"/>
                <a:ea typeface="Roboto" panose="02000000000000000000" pitchFamily="2" charset="0"/>
                <a:cs typeface="Roboto" panose="02000000000000000000" pitchFamily="2" charset="0"/>
              </a:rPr>
              <a:t>TAKT Time			=	77 seconds</a:t>
            </a:r>
          </a:p>
        </p:txBody>
      </p:sp>
      <p:cxnSp>
        <p:nvCxnSpPr>
          <p:cNvPr id="7" name="Straight Connector 6">
            <a:extLst>
              <a:ext uri="{FF2B5EF4-FFF2-40B4-BE49-F238E27FC236}">
                <a16:creationId xmlns:a16="http://schemas.microsoft.com/office/drawing/2014/main" id="{8487CEFE-BEDD-DD11-7E7E-FBD28EB80EF1}"/>
              </a:ext>
            </a:extLst>
          </p:cNvPr>
          <p:cNvCxnSpPr>
            <a:cxnSpLocks/>
            <a:stCxn id="6" idx="3"/>
          </p:cNvCxnSpPr>
          <p:nvPr/>
        </p:nvCxnSpPr>
        <p:spPr>
          <a:xfrm flipV="1">
            <a:off x="5486400" y="3520194"/>
            <a:ext cx="681153" cy="1767"/>
          </a:xfrm>
          <a:prstGeom prst="line">
            <a:avLst/>
          </a:prstGeom>
          <a:noFill/>
          <a:ln w="63500" cap="flat">
            <a:solidFill>
              <a:srgbClr val="7F7F7F"/>
            </a:solidFill>
            <a:prstDash val="solid"/>
            <a:miter lim="400000"/>
          </a:ln>
          <a:effectLst/>
          <a:sp3d/>
        </p:spPr>
        <p:style>
          <a:lnRef idx="0">
            <a:scrgbClr r="0" g="0" b="0"/>
          </a:lnRef>
          <a:fillRef idx="0">
            <a:scrgbClr r="0" g="0" b="0"/>
          </a:fillRef>
          <a:effectRef idx="0">
            <a:scrgbClr r="0" g="0" b="0"/>
          </a:effectRef>
          <a:fontRef idx="none"/>
        </p:style>
      </p:cxnSp>
      <p:cxnSp>
        <p:nvCxnSpPr>
          <p:cNvPr id="8" name="Straight Connector 7">
            <a:extLst>
              <a:ext uri="{FF2B5EF4-FFF2-40B4-BE49-F238E27FC236}">
                <a16:creationId xmlns:a16="http://schemas.microsoft.com/office/drawing/2014/main" id="{0C9CF68B-F360-CA43-F487-58AE15DE6E00}"/>
              </a:ext>
            </a:extLst>
          </p:cNvPr>
          <p:cNvCxnSpPr>
            <a:cxnSpLocks/>
          </p:cNvCxnSpPr>
          <p:nvPr/>
        </p:nvCxnSpPr>
        <p:spPr>
          <a:xfrm flipV="1">
            <a:off x="6167553" y="2762250"/>
            <a:ext cx="0" cy="1485900"/>
          </a:xfrm>
          <a:prstGeom prst="line">
            <a:avLst/>
          </a:prstGeom>
          <a:noFill/>
          <a:ln w="63500" cap="flat">
            <a:solidFill>
              <a:srgbClr val="7F7F7F"/>
            </a:solidFill>
            <a:prstDash val="solid"/>
            <a:miter lim="400000"/>
          </a:ln>
          <a:effectLst/>
          <a:sp3d/>
        </p:spPr>
        <p:style>
          <a:lnRef idx="0">
            <a:scrgbClr r="0" g="0" b="0"/>
          </a:lnRef>
          <a:fillRef idx="0">
            <a:scrgbClr r="0" g="0" b="0"/>
          </a:fillRef>
          <a:effectRef idx="0">
            <a:scrgbClr r="0" g="0" b="0"/>
          </a:effectRef>
          <a:fontRef idx="none"/>
        </p:style>
      </p:cxnSp>
      <p:sp>
        <p:nvSpPr>
          <p:cNvPr id="9" name="Rectangle 8">
            <a:extLst>
              <a:ext uri="{FF2B5EF4-FFF2-40B4-BE49-F238E27FC236}">
                <a16:creationId xmlns:a16="http://schemas.microsoft.com/office/drawing/2014/main" id="{A3CFB10F-74CD-2ADD-53F8-C3E6C9F257EF}"/>
              </a:ext>
            </a:extLst>
          </p:cNvPr>
          <p:cNvSpPr/>
          <p:nvPr/>
        </p:nvSpPr>
        <p:spPr>
          <a:xfrm>
            <a:off x="7051039" y="1837069"/>
            <a:ext cx="3253165" cy="471924"/>
          </a:xfrm>
          <a:prstGeom prst="rect">
            <a:avLst/>
          </a:prstGeom>
          <a:solidFill>
            <a:srgbClr val="EE362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Calculation</a:t>
            </a:r>
          </a:p>
        </p:txBody>
      </p:sp>
      <p:sp>
        <p:nvSpPr>
          <p:cNvPr id="10" name="Rectangle 9">
            <a:extLst>
              <a:ext uri="{FF2B5EF4-FFF2-40B4-BE49-F238E27FC236}">
                <a16:creationId xmlns:a16="http://schemas.microsoft.com/office/drawing/2014/main" id="{7855D262-69E3-4991-C811-E223224F6D22}"/>
              </a:ext>
            </a:extLst>
          </p:cNvPr>
          <p:cNvSpPr/>
          <p:nvPr/>
        </p:nvSpPr>
        <p:spPr>
          <a:xfrm>
            <a:off x="7124833" y="3284232"/>
            <a:ext cx="3253165" cy="471924"/>
          </a:xfrm>
          <a:prstGeom prst="rect">
            <a:avLst/>
          </a:prstGeom>
          <a:solidFill>
            <a:srgbClr val="EE362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Example</a:t>
            </a:r>
          </a:p>
        </p:txBody>
      </p:sp>
      <p:sp>
        <p:nvSpPr>
          <p:cNvPr id="11" name="TextBox 10">
            <a:extLst>
              <a:ext uri="{FF2B5EF4-FFF2-40B4-BE49-F238E27FC236}">
                <a16:creationId xmlns:a16="http://schemas.microsoft.com/office/drawing/2014/main" id="{8E566EBE-CF6A-7A21-B0B1-FA6F2DDF63B9}"/>
              </a:ext>
            </a:extLst>
          </p:cNvPr>
          <p:cNvSpPr txBox="1"/>
          <p:nvPr/>
        </p:nvSpPr>
        <p:spPr>
          <a:xfrm>
            <a:off x="7051039" y="2427126"/>
            <a:ext cx="1976503" cy="7489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Available Working Time</a:t>
            </a:r>
          </a:p>
          <a:p>
            <a:pPr marL="0" marR="0" indent="0" algn="l" defTabSz="825500" rtl="0" fontAlgn="auto" latinLnBrk="0" hangingPunct="0">
              <a:lnSpc>
                <a:spcPct val="100000"/>
              </a:lnSpc>
              <a:spcBef>
                <a:spcPts val="0"/>
              </a:spcBef>
              <a:spcAft>
                <a:spcPts val="0"/>
              </a:spcAft>
              <a:buClrTx/>
              <a:buSzTx/>
              <a:buFontTx/>
              <a:buNone/>
              <a:tabLst/>
            </a:pPr>
            <a:endParaRPr kumimoji="0" lang="en-US" sz="14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825500" rtl="0" fontAlgn="auto" latinLnBrk="0" hangingPunct="0">
              <a:lnSpc>
                <a:spcPct val="100000"/>
              </a:lnSpc>
              <a:spcBef>
                <a:spcPts val="0"/>
              </a:spcBef>
              <a:spcAft>
                <a:spcPts val="0"/>
              </a:spcAft>
              <a:buClrTx/>
              <a:buSzTx/>
              <a:buFontTx/>
              <a:buNone/>
              <a:tabLst/>
            </a:pPr>
            <a:r>
              <a:rPr lang="en-US" sz="1400" dirty="0">
                <a:latin typeface="Roboto" panose="02000000000000000000" pitchFamily="2" charset="0"/>
                <a:ea typeface="Roboto" panose="02000000000000000000" pitchFamily="2" charset="0"/>
                <a:cs typeface="Roboto" panose="02000000000000000000" pitchFamily="2" charset="0"/>
              </a:rPr>
              <a:t>Customer Demand</a:t>
            </a:r>
            <a:endParaRPr kumimoji="0" lang="en-US" sz="14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2" name="TextBox 11">
            <a:extLst>
              <a:ext uri="{FF2B5EF4-FFF2-40B4-BE49-F238E27FC236}">
                <a16:creationId xmlns:a16="http://schemas.microsoft.com/office/drawing/2014/main" id="{61C3EE40-FAB7-D122-24BC-78BCD6E25948}"/>
              </a:ext>
            </a:extLst>
          </p:cNvPr>
          <p:cNvSpPr txBox="1"/>
          <p:nvPr/>
        </p:nvSpPr>
        <p:spPr>
          <a:xfrm>
            <a:off x="7126393" y="3878099"/>
            <a:ext cx="5136728" cy="18261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Customer demand per shift:	350 units</a:t>
            </a:r>
          </a:p>
          <a:p>
            <a:pPr marL="0" marR="0" indent="0" algn="l" defTabSz="825500" rtl="0" fontAlgn="auto" latinLnBrk="0" hangingPunct="0">
              <a:lnSpc>
                <a:spcPct val="100000"/>
              </a:lnSpc>
              <a:spcBef>
                <a:spcPts val="0"/>
              </a:spcBef>
              <a:spcAft>
                <a:spcPts val="0"/>
              </a:spcAft>
              <a:buClrTx/>
              <a:buSzTx/>
              <a:buFontTx/>
              <a:buNone/>
              <a:tabLst/>
            </a:pPr>
            <a:r>
              <a:rPr lang="en-US" sz="1400" dirty="0">
                <a:latin typeface="Roboto" panose="02000000000000000000" pitchFamily="2" charset="0"/>
                <a:ea typeface="Roboto" panose="02000000000000000000" pitchFamily="2" charset="0"/>
                <a:cs typeface="Roboto" panose="02000000000000000000" pitchFamily="2" charset="0"/>
              </a:rPr>
              <a:t>Hours per shift:		8 hours</a:t>
            </a:r>
          </a:p>
          <a:p>
            <a:pPr marL="0" marR="0" indent="0" algn="l"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Lunch:			Unpaid</a:t>
            </a:r>
          </a:p>
          <a:p>
            <a:pPr marL="0" marR="0" indent="0" algn="l" defTabSz="825500" rtl="0" fontAlgn="auto" latinLnBrk="0" hangingPunct="0">
              <a:lnSpc>
                <a:spcPct val="100000"/>
              </a:lnSpc>
              <a:spcBef>
                <a:spcPts val="0"/>
              </a:spcBef>
              <a:spcAft>
                <a:spcPts val="0"/>
              </a:spcAft>
              <a:buClrTx/>
              <a:buSzTx/>
              <a:buFontTx/>
              <a:buNone/>
              <a:tabLst/>
            </a:pPr>
            <a:r>
              <a:rPr lang="en-US" sz="1400" dirty="0">
                <a:latin typeface="Roboto" panose="02000000000000000000" pitchFamily="2" charset="0"/>
                <a:ea typeface="Roboto" panose="02000000000000000000" pitchFamily="2" charset="0"/>
                <a:cs typeface="Roboto" panose="02000000000000000000" pitchFamily="2" charset="0"/>
              </a:rPr>
              <a:t>Breaks (2x15 minutes): 	30 minutes</a:t>
            </a:r>
          </a:p>
          <a:p>
            <a:pPr marL="0" marR="0" indent="0" algn="l" defTabSz="825500" rtl="0" fontAlgn="auto" latinLnBrk="0" hangingPunct="0">
              <a:lnSpc>
                <a:spcPct val="100000"/>
              </a:lnSpc>
              <a:spcBef>
                <a:spcPts val="0"/>
              </a:spcBef>
              <a:spcAft>
                <a:spcPts val="0"/>
              </a:spcAft>
              <a:buClrTx/>
              <a:buSzTx/>
              <a:buFontTx/>
              <a:buNone/>
              <a:tabLst/>
            </a:pPr>
            <a:endParaRPr kumimoji="0" lang="en-US" sz="14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825500" rtl="0" fontAlgn="auto" latinLnBrk="0" hangingPunct="0">
              <a:lnSpc>
                <a:spcPct val="100000"/>
              </a:lnSpc>
              <a:spcBef>
                <a:spcPts val="0"/>
              </a:spcBef>
              <a:spcAft>
                <a:spcPts val="0"/>
              </a:spcAft>
              <a:buClrTx/>
              <a:buSzTx/>
              <a:buFontTx/>
              <a:buNone/>
              <a:tabLst/>
            </a:pPr>
            <a:r>
              <a:rPr lang="en-US" sz="1400" dirty="0">
                <a:solidFill>
                  <a:srgbClr val="EE3629"/>
                </a:solidFill>
                <a:latin typeface="Roboto" panose="02000000000000000000" pitchFamily="2" charset="0"/>
                <a:ea typeface="Roboto" panose="02000000000000000000" pitchFamily="2" charset="0"/>
                <a:cs typeface="Roboto" panose="02000000000000000000" pitchFamily="2" charset="0"/>
              </a:rPr>
              <a:t>27,000 seconds</a:t>
            </a:r>
          </a:p>
          <a:p>
            <a:pPr marL="0" marR="0" indent="0" algn="l" defTabSz="8255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EE3629"/>
                </a:solidFill>
                <a:effectLst/>
                <a:uFillTx/>
                <a:latin typeface="Roboto" panose="02000000000000000000" pitchFamily="2" charset="0"/>
                <a:ea typeface="Roboto" panose="02000000000000000000" pitchFamily="2" charset="0"/>
                <a:cs typeface="Roboto" panose="02000000000000000000" pitchFamily="2" charset="0"/>
                <a:sym typeface="Roboto"/>
              </a:rPr>
              <a:t>		= 	77 seconds</a:t>
            </a:r>
          </a:p>
          <a:p>
            <a:pPr marL="0" marR="0" indent="0" algn="l" defTabSz="825500" rtl="0" fontAlgn="auto" latinLnBrk="0" hangingPunct="0">
              <a:lnSpc>
                <a:spcPct val="100000"/>
              </a:lnSpc>
              <a:spcBef>
                <a:spcPts val="0"/>
              </a:spcBef>
              <a:spcAft>
                <a:spcPts val="0"/>
              </a:spcAft>
              <a:buClrTx/>
              <a:buSzTx/>
              <a:buFontTx/>
              <a:buNone/>
              <a:tabLst/>
            </a:pPr>
            <a:r>
              <a:rPr lang="en-US" sz="1400" dirty="0">
                <a:solidFill>
                  <a:srgbClr val="EE3629"/>
                </a:solidFill>
                <a:latin typeface="Roboto" panose="02000000000000000000" pitchFamily="2" charset="0"/>
                <a:ea typeface="Roboto" panose="02000000000000000000" pitchFamily="2" charset="0"/>
                <a:cs typeface="Roboto" panose="02000000000000000000" pitchFamily="2" charset="0"/>
              </a:rPr>
              <a:t>350 units</a:t>
            </a:r>
            <a:endParaRPr kumimoji="0" lang="en-US" sz="1400" b="0" i="0" u="none" strike="noStrike" cap="none" spc="0" normalizeH="0" baseline="0" dirty="0">
              <a:ln>
                <a:noFill/>
              </a:ln>
              <a:solidFill>
                <a:srgbClr val="EE3629"/>
              </a:solidFill>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3" name="Line">
            <a:extLst>
              <a:ext uri="{FF2B5EF4-FFF2-40B4-BE49-F238E27FC236}">
                <a16:creationId xmlns:a16="http://schemas.microsoft.com/office/drawing/2014/main" id="{1447A045-DFFA-C394-2C39-E9B8D2452E7C}"/>
              </a:ext>
            </a:extLst>
          </p:cNvPr>
          <p:cNvSpPr/>
          <p:nvPr/>
        </p:nvSpPr>
        <p:spPr>
          <a:xfrm flipH="1">
            <a:off x="6157393" y="2795111"/>
            <a:ext cx="680485" cy="0"/>
          </a:xfrm>
          <a:prstGeom prst="line">
            <a:avLst/>
          </a:prstGeom>
          <a:ln w="63500">
            <a:solidFill>
              <a:srgbClr val="7F7F7F"/>
            </a:solidFill>
            <a:miter lim="400000"/>
            <a:headEnd type="arrow"/>
          </a:ln>
        </p:spPr>
        <p:txBody>
          <a:bodyPr lIns="50800" tIns="50800" rIns="50800" bIns="50800" anchor="ctr"/>
          <a:lstStyle/>
          <a:p>
            <a:pPr algn="l" defTabSz="457200">
              <a:defRPr sz="1200"/>
            </a:pPr>
            <a:endParaRPr/>
          </a:p>
        </p:txBody>
      </p:sp>
      <p:sp>
        <p:nvSpPr>
          <p:cNvPr id="14" name="Line">
            <a:extLst>
              <a:ext uri="{FF2B5EF4-FFF2-40B4-BE49-F238E27FC236}">
                <a16:creationId xmlns:a16="http://schemas.microsoft.com/office/drawing/2014/main" id="{C6C22420-AC0B-E2A2-585C-FEF185DC9752}"/>
              </a:ext>
            </a:extLst>
          </p:cNvPr>
          <p:cNvSpPr/>
          <p:nvPr/>
        </p:nvSpPr>
        <p:spPr>
          <a:xfrm flipH="1">
            <a:off x="6167553" y="4214336"/>
            <a:ext cx="680485" cy="0"/>
          </a:xfrm>
          <a:prstGeom prst="line">
            <a:avLst/>
          </a:prstGeom>
          <a:ln w="63500">
            <a:solidFill>
              <a:srgbClr val="7F7F7F"/>
            </a:solidFill>
            <a:miter lim="400000"/>
            <a:headEnd type="arrow"/>
          </a:ln>
        </p:spPr>
        <p:txBody>
          <a:bodyPr lIns="50800" tIns="50800" rIns="50800" bIns="50800" anchor="ctr"/>
          <a:lstStyle/>
          <a:p>
            <a:pPr algn="l" defTabSz="457200">
              <a:defRPr sz="1200"/>
            </a:pPr>
            <a:endParaRPr/>
          </a:p>
        </p:txBody>
      </p:sp>
      <p:sp>
        <p:nvSpPr>
          <p:cNvPr id="18" name="Rectangle 17">
            <a:extLst>
              <a:ext uri="{FF2B5EF4-FFF2-40B4-BE49-F238E27FC236}">
                <a16:creationId xmlns:a16="http://schemas.microsoft.com/office/drawing/2014/main" id="{0493EFF4-ACDF-44C8-D235-562B200423C7}"/>
              </a:ext>
            </a:extLst>
          </p:cNvPr>
          <p:cNvSpPr/>
          <p:nvPr/>
        </p:nvSpPr>
        <p:spPr>
          <a:xfrm>
            <a:off x="7126392" y="5289210"/>
            <a:ext cx="1371600"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0B0CAC34-B46C-CBCD-61B4-F2636E763750}"/>
              </a:ext>
            </a:extLst>
          </p:cNvPr>
          <p:cNvSpPr/>
          <p:nvPr/>
        </p:nvSpPr>
        <p:spPr>
          <a:xfrm>
            <a:off x="7124833" y="2780312"/>
            <a:ext cx="1797475"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6A522BE5-F488-561E-BDBE-6190713CB74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5" name="Group 14">
            <a:extLst>
              <a:ext uri="{FF2B5EF4-FFF2-40B4-BE49-F238E27FC236}">
                <a16:creationId xmlns:a16="http://schemas.microsoft.com/office/drawing/2014/main" id="{E567B142-3D12-FE20-5BB7-6A51626D550B}"/>
              </a:ext>
            </a:extLst>
          </p:cNvPr>
          <p:cNvGrpSpPr/>
          <p:nvPr/>
        </p:nvGrpSpPr>
        <p:grpSpPr>
          <a:xfrm>
            <a:off x="940249" y="302538"/>
            <a:ext cx="1060167" cy="290657"/>
            <a:chOff x="940249" y="315206"/>
            <a:chExt cx="1060167" cy="265062"/>
          </a:xfrm>
        </p:grpSpPr>
        <p:sp>
          <p:nvSpPr>
            <p:cNvPr id="16" name="AutoShape 9">
              <a:extLst>
                <a:ext uri="{FF2B5EF4-FFF2-40B4-BE49-F238E27FC236}">
                  <a16:creationId xmlns:a16="http://schemas.microsoft.com/office/drawing/2014/main" id="{9E636729-F6D4-7B75-95C3-6F65F0F5CD6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F0AB44C7-3E1E-C2A4-60D3-0E59938C72B0}"/>
                </a:ext>
              </a:extLst>
            </p:cNvPr>
            <p:cNvGrpSpPr/>
            <p:nvPr/>
          </p:nvGrpSpPr>
          <p:grpSpPr>
            <a:xfrm>
              <a:off x="940249" y="315206"/>
              <a:ext cx="746492" cy="265062"/>
              <a:chOff x="940249" y="315206"/>
              <a:chExt cx="746492" cy="265062"/>
            </a:xfrm>
          </p:grpSpPr>
          <p:sp>
            <p:nvSpPr>
              <p:cNvPr id="19" name="AutoShape 11">
                <a:extLst>
                  <a:ext uri="{FF2B5EF4-FFF2-40B4-BE49-F238E27FC236}">
                    <a16:creationId xmlns:a16="http://schemas.microsoft.com/office/drawing/2014/main" id="{AA66E35A-2F37-3AE0-57E2-912B8850A29F}"/>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0">
                <a:extLst>
                  <a:ext uri="{FF2B5EF4-FFF2-40B4-BE49-F238E27FC236}">
                    <a16:creationId xmlns:a16="http://schemas.microsoft.com/office/drawing/2014/main" id="{B6183E17-3E14-93EE-A025-59C7C8DA8EE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413545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218D22A9-1F02-C4A5-E3B0-42BFA087C9A8}"/>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38</a:t>
            </a:fld>
            <a:endParaRPr lang="en-US"/>
          </a:p>
        </p:txBody>
      </p:sp>
      <p:sp>
        <p:nvSpPr>
          <p:cNvPr id="24" name="TextBox 23">
            <a:extLst>
              <a:ext uri="{FF2B5EF4-FFF2-40B4-BE49-F238E27FC236}">
                <a16:creationId xmlns:a16="http://schemas.microsoft.com/office/drawing/2014/main" id="{CA9660DE-D289-53E3-DA88-9FAFC871E39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8" name="Rectangle 7">
            <a:extLst>
              <a:ext uri="{FF2B5EF4-FFF2-40B4-BE49-F238E27FC236}">
                <a16:creationId xmlns:a16="http://schemas.microsoft.com/office/drawing/2014/main" id="{8F752352-1283-3135-E7CA-A1EB9446DC79}"/>
              </a:ext>
            </a:extLst>
          </p:cNvPr>
          <p:cNvSpPr>
            <a:spLocks/>
          </p:cNvSpPr>
          <p:nvPr/>
        </p:nvSpPr>
        <p:spPr>
          <a:xfrm>
            <a:off x="940249" y="2493265"/>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System</a:t>
            </a:r>
          </a:p>
        </p:txBody>
      </p:sp>
      <p:sp>
        <p:nvSpPr>
          <p:cNvPr id="9" name="Rectangle 8">
            <a:extLst>
              <a:ext uri="{FF2B5EF4-FFF2-40B4-BE49-F238E27FC236}">
                <a16:creationId xmlns:a16="http://schemas.microsoft.com/office/drawing/2014/main" id="{468F272A-92C5-0EB0-3775-EB057288A8BA}"/>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0" name="Rectangle 9">
            <a:extLst>
              <a:ext uri="{FF2B5EF4-FFF2-40B4-BE49-F238E27FC236}">
                <a16:creationId xmlns:a16="http://schemas.microsoft.com/office/drawing/2014/main" id="{A369B474-B9E9-1032-B4C2-5E583613D56E}"/>
              </a:ext>
            </a:extLst>
          </p:cNvPr>
          <p:cNvSpPr>
            <a:spLocks/>
          </p:cNvSpPr>
          <p:nvPr/>
        </p:nvSpPr>
        <p:spPr>
          <a:xfrm>
            <a:off x="940249" y="3052393"/>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7" name="Rectangle 16">
            <a:extLst>
              <a:ext uri="{FF2B5EF4-FFF2-40B4-BE49-F238E27FC236}">
                <a16:creationId xmlns:a16="http://schemas.microsoft.com/office/drawing/2014/main" id="{907C2F9D-9B34-941E-73D7-0C2AD29C0684}"/>
              </a:ext>
            </a:extLst>
          </p:cNvPr>
          <p:cNvSpPr/>
          <p:nvPr/>
        </p:nvSpPr>
        <p:spPr>
          <a:xfrm>
            <a:off x="940249" y="361276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18" name="Rectangle 17">
            <a:extLst>
              <a:ext uri="{FF2B5EF4-FFF2-40B4-BE49-F238E27FC236}">
                <a16:creationId xmlns:a16="http://schemas.microsoft.com/office/drawing/2014/main" id="{4FA397DD-BDD6-2467-084A-24112715C398}"/>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sp>
        <p:nvSpPr>
          <p:cNvPr id="19" name="Rectangle 18">
            <a:extLst>
              <a:ext uri="{FF2B5EF4-FFF2-40B4-BE49-F238E27FC236}">
                <a16:creationId xmlns:a16="http://schemas.microsoft.com/office/drawing/2014/main" id="{33FF7EA8-51B9-CE0F-7EB6-147C38B4E492}"/>
              </a:ext>
            </a:extLst>
          </p:cNvPr>
          <p:cNvSpPr/>
          <p:nvPr/>
        </p:nvSpPr>
        <p:spPr>
          <a:xfrm>
            <a:off x="940249" y="414616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 </a:t>
            </a:r>
          </a:p>
        </p:txBody>
      </p:sp>
      <p:sp>
        <p:nvSpPr>
          <p:cNvPr id="20" name="Rectangle 19">
            <a:extLst>
              <a:ext uri="{FF2B5EF4-FFF2-40B4-BE49-F238E27FC236}">
                <a16:creationId xmlns:a16="http://schemas.microsoft.com/office/drawing/2014/main" id="{B711E9B1-0F98-A085-5441-E7D3DADDEE68}"/>
              </a:ext>
            </a:extLst>
          </p:cNvPr>
          <p:cNvSpPr/>
          <p:nvPr/>
        </p:nvSpPr>
        <p:spPr>
          <a:xfrm>
            <a:off x="940249" y="4679560"/>
            <a:ext cx="5722970" cy="452898"/>
          </a:xfrm>
          <a:prstGeom prst="rect">
            <a:avLst/>
          </a:prstGeom>
          <a:solidFill>
            <a:srgbClr val="EE362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grpSp>
        <p:nvGrpSpPr>
          <p:cNvPr id="11" name="Group 10">
            <a:extLst>
              <a:ext uri="{FF2B5EF4-FFF2-40B4-BE49-F238E27FC236}">
                <a16:creationId xmlns:a16="http://schemas.microsoft.com/office/drawing/2014/main" id="{AA64647E-1576-696A-AF08-C1C362719C28}"/>
              </a:ext>
            </a:extLst>
          </p:cNvPr>
          <p:cNvGrpSpPr/>
          <p:nvPr/>
        </p:nvGrpSpPr>
        <p:grpSpPr>
          <a:xfrm>
            <a:off x="940249" y="302538"/>
            <a:ext cx="1060167" cy="290657"/>
            <a:chOff x="940249" y="315206"/>
            <a:chExt cx="1060167" cy="265062"/>
          </a:xfrm>
        </p:grpSpPr>
        <p:sp>
          <p:nvSpPr>
            <p:cNvPr id="12" name="AutoShape 9">
              <a:extLst>
                <a:ext uri="{FF2B5EF4-FFF2-40B4-BE49-F238E27FC236}">
                  <a16:creationId xmlns:a16="http://schemas.microsoft.com/office/drawing/2014/main" id="{F8A8EC91-6ABA-60F3-80DA-76541C9C818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0BF576E9-82A1-459A-E2DE-2C9D76EE0D13}"/>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ACEA377A-E309-235C-C9F2-24E212FB727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BE138D05-B5D8-A460-A57E-B47B3B6ED36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8368858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44">
            <a:extLst>
              <a:ext uri="{FF2B5EF4-FFF2-40B4-BE49-F238E27FC236}">
                <a16:creationId xmlns:a16="http://schemas.microsoft.com/office/drawing/2014/main" id="{1EF5D055-3160-4D32-B338-7A0CA8A606C9}"/>
              </a:ext>
            </a:extLst>
          </p:cNvPr>
          <p:cNvSpPr>
            <a:spLocks noChangeArrowheads="1"/>
          </p:cNvSpPr>
          <p:nvPr/>
        </p:nvSpPr>
        <p:spPr bwMode="auto">
          <a:xfrm>
            <a:off x="906382" y="2003956"/>
            <a:ext cx="3583844" cy="4247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3" rIns="71438" bIns="36513">
            <a:spAutoFit/>
          </a:bodyPr>
          <a:lstStyle>
            <a:lvl1pPr marL="231775" indent="-231775" defTabSz="708025">
              <a:defRPr sz="900" b="1">
                <a:solidFill>
                  <a:schemeClr val="bg1"/>
                </a:solidFill>
                <a:latin typeface="Arial" panose="020B0604020202020204" pitchFamily="34" charset="0"/>
                <a:ea typeface="MS PGothic" panose="020B0600070205080204" pitchFamily="34" charset="-128"/>
              </a:defRPr>
            </a:lvl1pPr>
            <a:lvl2pPr marL="742950" indent="-285750" defTabSz="708025">
              <a:defRPr sz="900" b="1">
                <a:solidFill>
                  <a:schemeClr val="bg1"/>
                </a:solidFill>
                <a:latin typeface="Arial" panose="020B0604020202020204" pitchFamily="34" charset="0"/>
                <a:ea typeface="MS PGothic" panose="020B0600070205080204" pitchFamily="34" charset="-128"/>
              </a:defRPr>
            </a:lvl2pPr>
            <a:lvl3pPr marL="1143000" indent="-228600" defTabSz="708025">
              <a:defRPr sz="900" b="1">
                <a:solidFill>
                  <a:schemeClr val="bg1"/>
                </a:solidFill>
                <a:latin typeface="Arial" panose="020B0604020202020204" pitchFamily="34" charset="0"/>
                <a:ea typeface="MS PGothic" panose="020B0600070205080204" pitchFamily="34" charset="-128"/>
              </a:defRPr>
            </a:lvl3pPr>
            <a:lvl4pPr marL="1600200" indent="-228600" defTabSz="708025">
              <a:defRPr sz="900" b="1">
                <a:solidFill>
                  <a:schemeClr val="bg1"/>
                </a:solidFill>
                <a:latin typeface="Arial" panose="020B0604020202020204" pitchFamily="34" charset="0"/>
                <a:ea typeface="MS PGothic" panose="020B0600070205080204" pitchFamily="34" charset="-128"/>
              </a:defRPr>
            </a:lvl4pPr>
            <a:lvl5pPr marL="2057400" indent="-228600" defTabSz="708025">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Visual Management Objectives:</a:t>
            </a:r>
          </a:p>
          <a:p>
            <a:pPr marL="285750" indent="-285750">
              <a:buFont typeface="Arial" panose="020B0604020202020204" pitchFamily="34" charset="0"/>
              <a:buChar char="•"/>
            </a:pPr>
            <a:r>
              <a:rPr lang="en-US" sz="1800" b="0" dirty="0">
                <a:solidFill>
                  <a:schemeClr val="tx1"/>
                </a:solidFill>
                <a:latin typeface="Roboto" panose="02000000000000000000" pitchFamily="2" charset="0"/>
                <a:ea typeface="Roboto" panose="02000000000000000000" pitchFamily="2" charset="0"/>
                <a:cs typeface="Roboto" panose="02000000000000000000" pitchFamily="2" charset="0"/>
              </a:rPr>
              <a:t>Provide data for all associates to positively impact their areas in meeting their stated objectives and/or customer expectations</a:t>
            </a:r>
          </a:p>
          <a:p>
            <a:pPr marL="285750" indent="-285750">
              <a:buFont typeface="Arial" panose="020B0604020202020204" pitchFamily="34" charset="0"/>
              <a:buChar char="•"/>
            </a:pPr>
            <a:r>
              <a:rPr lang="en-US" sz="1800" b="0" dirty="0">
                <a:solidFill>
                  <a:schemeClr val="tx1"/>
                </a:solidFill>
                <a:latin typeface="Roboto" panose="02000000000000000000" pitchFamily="2" charset="0"/>
                <a:ea typeface="Roboto" panose="02000000000000000000" pitchFamily="2" charset="0"/>
                <a:cs typeface="Roboto" panose="02000000000000000000" pitchFamily="2" charset="0"/>
              </a:rPr>
              <a:t>Provide data for customers and other facility visitors on the health of our Management Operating System</a:t>
            </a:r>
          </a:p>
          <a:p>
            <a:pPr marL="285750" indent="-285750">
              <a:buFont typeface="Arial" panose="020B0604020202020204" pitchFamily="34" charset="0"/>
              <a:buChar char="•"/>
            </a:pPr>
            <a:r>
              <a:rPr lang="en-US" sz="1800" b="0" dirty="0">
                <a:solidFill>
                  <a:schemeClr val="tx1"/>
                </a:solidFill>
                <a:latin typeface="Roboto" panose="02000000000000000000" pitchFamily="2" charset="0"/>
                <a:ea typeface="Roboto" panose="02000000000000000000" pitchFamily="2" charset="0"/>
                <a:cs typeface="Roboto" panose="02000000000000000000" pitchFamily="2" charset="0"/>
              </a:rPr>
              <a:t>Provide a visual link to process controls to drive corrective actions and continuous improvement </a:t>
            </a:r>
          </a:p>
          <a:p>
            <a:pPr algn="l">
              <a:lnSpc>
                <a:spcPct val="115000"/>
              </a:lnSpc>
              <a:spcAft>
                <a:spcPct val="20000"/>
              </a:spcAft>
              <a:buClr>
                <a:schemeClr val="accent1"/>
              </a:buClr>
              <a:buSzPct val="40000"/>
              <a:buFont typeface="Wingdings 2" panose="05020102010507070707" pitchFamily="18" charset="2"/>
              <a:buChar char="¢"/>
            </a:pPr>
            <a:endParaRPr lang="en-US" altLang="en-US" sz="1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97283" name="Rectangle 2">
            <a:extLst>
              <a:ext uri="{FF2B5EF4-FFF2-40B4-BE49-F238E27FC236}">
                <a16:creationId xmlns:a16="http://schemas.microsoft.com/office/drawing/2014/main" id="{95C0A974-E304-4418-B336-34C1055AABA1}"/>
              </a:ext>
            </a:extLst>
          </p:cNvPr>
          <p:cNvSpPr>
            <a:spLocks noGrp="1" noChangeArrowheads="1"/>
          </p:cNvSpPr>
          <p:nvPr>
            <p:ph type="title"/>
          </p:nvPr>
        </p:nvSpPr>
        <p:spPr/>
        <p:txBody>
          <a:bodyPr>
            <a:normAutofit/>
          </a:bodyPr>
          <a:lstStyle/>
          <a:p>
            <a:r>
              <a:rPr lang="en-US" altLang="en-US" sz="4000" dirty="0">
                <a:latin typeface="Roboto Medium"/>
                <a:ea typeface="Roboto Medium"/>
                <a:cs typeface="Roboto Medium"/>
              </a:rPr>
              <a:t>Visual Management</a:t>
            </a:r>
          </a:p>
        </p:txBody>
      </p:sp>
      <p:sp>
        <p:nvSpPr>
          <p:cNvPr id="9" name="TextBox 8">
            <a:extLst>
              <a:ext uri="{FF2B5EF4-FFF2-40B4-BE49-F238E27FC236}">
                <a16:creationId xmlns:a16="http://schemas.microsoft.com/office/drawing/2014/main" id="{D0FAA627-91A6-7273-03BB-C26FD0F337B5}"/>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5" name="Slide Number Placeholder 4">
            <a:extLst>
              <a:ext uri="{FF2B5EF4-FFF2-40B4-BE49-F238E27FC236}">
                <a16:creationId xmlns:a16="http://schemas.microsoft.com/office/drawing/2014/main" id="{63E10559-D05A-F4E9-F60E-5FA0C66C2289}"/>
              </a:ext>
            </a:extLst>
          </p:cNvPr>
          <p:cNvSpPr>
            <a:spLocks noGrp="1"/>
          </p:cNvSpPr>
          <p:nvPr>
            <p:ph type="sldNum" sz="quarter" idx="4294967295"/>
          </p:nvPr>
        </p:nvSpPr>
        <p:spPr>
          <a:xfrm>
            <a:off x="8595078" y="6240788"/>
            <a:ext cx="2743200" cy="365125"/>
          </a:xfrm>
          <a:prstGeom prst="rect">
            <a:avLst/>
          </a:prstGeom>
        </p:spPr>
        <p:txBody>
          <a:bodyPr/>
          <a:lstStyle/>
          <a:p>
            <a:fld id="{CC6D4273-7FC1-0947-B9FE-19CB3C0D1FB6}" type="slidenum">
              <a:rPr lang="en-US" smtClean="0"/>
              <a:t>39</a:t>
            </a:fld>
            <a:endParaRPr lang="en-US" dirty="0"/>
          </a:p>
        </p:txBody>
      </p:sp>
      <p:pic>
        <p:nvPicPr>
          <p:cNvPr id="7" name="Picture Placeholder 11">
            <a:extLst>
              <a:ext uri="{FF2B5EF4-FFF2-40B4-BE49-F238E27FC236}">
                <a16:creationId xmlns:a16="http://schemas.microsoft.com/office/drawing/2014/main" id="{92FC89B4-00A5-C66B-9650-9627406E99BC}"/>
              </a:ext>
            </a:extLst>
          </p:cNvPr>
          <p:cNvPicPr>
            <a:picLocks noChangeAspect="1"/>
          </p:cNvPicPr>
          <p:nvPr/>
        </p:nvPicPr>
        <p:blipFill>
          <a:blip r:embed="rId3"/>
          <a:srcRect t="9752" b="9752"/>
          <a:stretch>
            <a:fillRect/>
          </a:stretch>
        </p:blipFill>
        <p:spPr>
          <a:xfrm>
            <a:off x="6434666" y="2003956"/>
            <a:ext cx="3183833" cy="3957432"/>
          </a:xfrm>
          <a:prstGeom prst="rect">
            <a:avLst/>
          </a:prstGeom>
        </p:spPr>
      </p:pic>
      <p:grpSp>
        <p:nvGrpSpPr>
          <p:cNvPr id="8" name="Group 7">
            <a:extLst>
              <a:ext uri="{FF2B5EF4-FFF2-40B4-BE49-F238E27FC236}">
                <a16:creationId xmlns:a16="http://schemas.microsoft.com/office/drawing/2014/main" id="{9B0C0C04-0CBA-B72E-6E90-3A77ED778DDB}"/>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7B612ECD-26AF-9EEF-AB7D-746D5A9FFB0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69E4BE42-C82D-CD95-A8AA-82511D870A08}"/>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CAF9913A-A210-9831-B2AA-2B12A06A3DE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217BB3F4-6938-B762-E747-0F2FF8307203}"/>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38943-EEC7-6D9D-98A2-D4AF4DFC50AC}"/>
              </a:ext>
            </a:extLst>
          </p:cNvPr>
          <p:cNvSpPr>
            <a:spLocks noGrp="1"/>
          </p:cNvSpPr>
          <p:nvPr>
            <p:ph type="title"/>
          </p:nvPr>
        </p:nvSpPr>
        <p:spPr/>
        <p:txBody>
          <a:bodyPr>
            <a:normAutofit fontScale="90000"/>
          </a:bodyPr>
          <a:lstStyle/>
          <a:p>
            <a:r>
              <a:rPr lang="en-US" sz="4400" dirty="0"/>
              <a:t>Visual Management: </a:t>
            </a:r>
            <a:br>
              <a:rPr lang="en-US" sz="4400" dirty="0"/>
            </a:br>
            <a:r>
              <a:rPr lang="en-US" sz="4400" dirty="0"/>
              <a:t>An Integral Part of the Improvement Cycle</a:t>
            </a:r>
            <a:endParaRPr lang="en-US" dirty="0"/>
          </a:p>
        </p:txBody>
      </p:sp>
      <p:sp>
        <p:nvSpPr>
          <p:cNvPr id="7" name="Slide Number Placeholder 6">
            <a:extLst>
              <a:ext uri="{FF2B5EF4-FFF2-40B4-BE49-F238E27FC236}">
                <a16:creationId xmlns:a16="http://schemas.microsoft.com/office/drawing/2014/main" id="{3659BEE5-88F7-AABE-363F-6DDFA85E6D1F}"/>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40</a:t>
            </a:fld>
            <a:endParaRPr lang="en-US"/>
          </a:p>
        </p:txBody>
      </p:sp>
      <p:grpSp>
        <p:nvGrpSpPr>
          <p:cNvPr id="8" name="Group 7">
            <a:extLst>
              <a:ext uri="{FF2B5EF4-FFF2-40B4-BE49-F238E27FC236}">
                <a16:creationId xmlns:a16="http://schemas.microsoft.com/office/drawing/2014/main" id="{6B63219B-89C5-0831-E005-09DAC2D5FEC9}"/>
              </a:ext>
            </a:extLst>
          </p:cNvPr>
          <p:cNvGrpSpPr/>
          <p:nvPr/>
        </p:nvGrpSpPr>
        <p:grpSpPr>
          <a:xfrm>
            <a:off x="838200" y="2194221"/>
            <a:ext cx="4893437" cy="3635394"/>
            <a:chOff x="154813" y="2156584"/>
            <a:chExt cx="4893437" cy="3635394"/>
          </a:xfrm>
        </p:grpSpPr>
        <p:graphicFrame>
          <p:nvGraphicFramePr>
            <p:cNvPr id="9" name="Diagram 8">
              <a:extLst>
                <a:ext uri="{FF2B5EF4-FFF2-40B4-BE49-F238E27FC236}">
                  <a16:creationId xmlns:a16="http://schemas.microsoft.com/office/drawing/2014/main" id="{27681D0D-606E-BAFF-9C35-FBD44D99FD8D}"/>
                </a:ext>
              </a:extLst>
            </p:cNvPr>
            <p:cNvGraphicFramePr/>
            <p:nvPr>
              <p:extLst>
                <p:ext uri="{D42A27DB-BD31-4B8C-83A1-F6EECF244321}">
                  <p14:modId xmlns:p14="http://schemas.microsoft.com/office/powerpoint/2010/main" val="3873834779"/>
                </p:ext>
              </p:extLst>
            </p:nvPr>
          </p:nvGraphicFramePr>
          <p:xfrm>
            <a:off x="154813" y="2156584"/>
            <a:ext cx="4893437" cy="36353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Oval 9">
              <a:extLst>
                <a:ext uri="{FF2B5EF4-FFF2-40B4-BE49-F238E27FC236}">
                  <a16:creationId xmlns:a16="http://schemas.microsoft.com/office/drawing/2014/main" id="{2116D9C8-3C11-860C-E73A-0A020C059C03}"/>
                </a:ext>
              </a:extLst>
            </p:cNvPr>
            <p:cNvSpPr/>
            <p:nvPr/>
          </p:nvSpPr>
          <p:spPr>
            <a:xfrm>
              <a:off x="1879304" y="3569954"/>
              <a:ext cx="1502071" cy="663615"/>
            </a:xfrm>
            <a:prstGeom prst="ellipse">
              <a:avLst/>
            </a:prstGeom>
            <a:solidFill>
              <a:srgbClr val="FFB627"/>
            </a:solidFill>
            <a:ln w="12700" cap="flat">
              <a:solidFill>
                <a:schemeClr val="bg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Kaizen</a:t>
              </a:r>
            </a:p>
          </p:txBody>
        </p:sp>
        <p:grpSp>
          <p:nvGrpSpPr>
            <p:cNvPr id="11" name="Group 7">
              <a:extLst>
                <a:ext uri="{FF2B5EF4-FFF2-40B4-BE49-F238E27FC236}">
                  <a16:creationId xmlns:a16="http://schemas.microsoft.com/office/drawing/2014/main" id="{23D8D053-2AFE-8592-3B55-8B03865F0C21}"/>
                </a:ext>
              </a:extLst>
            </p:cNvPr>
            <p:cNvGrpSpPr>
              <a:grpSpLocks/>
            </p:cNvGrpSpPr>
            <p:nvPr/>
          </p:nvGrpSpPr>
          <p:grpSpPr bwMode="auto">
            <a:xfrm>
              <a:off x="4505095" y="2333591"/>
              <a:ext cx="472511" cy="1236363"/>
              <a:chOff x="3821" y="1320"/>
              <a:chExt cx="386" cy="1010"/>
            </a:xfrm>
          </p:grpSpPr>
          <p:grpSp>
            <p:nvGrpSpPr>
              <p:cNvPr id="12" name="Group 8">
                <a:extLst>
                  <a:ext uri="{FF2B5EF4-FFF2-40B4-BE49-F238E27FC236}">
                    <a16:creationId xmlns:a16="http://schemas.microsoft.com/office/drawing/2014/main" id="{F64F1379-EF78-0817-16B8-0EE54CD4D05C}"/>
                  </a:ext>
                </a:extLst>
              </p:cNvPr>
              <p:cNvGrpSpPr>
                <a:grpSpLocks/>
              </p:cNvGrpSpPr>
              <p:nvPr/>
            </p:nvGrpSpPr>
            <p:grpSpPr bwMode="auto">
              <a:xfrm>
                <a:off x="3821" y="1351"/>
                <a:ext cx="214" cy="979"/>
                <a:chOff x="511" y="1104"/>
                <a:chExt cx="593" cy="2736"/>
              </a:xfrm>
            </p:grpSpPr>
            <p:grpSp>
              <p:nvGrpSpPr>
                <p:cNvPr id="16" name="Group 9">
                  <a:extLst>
                    <a:ext uri="{FF2B5EF4-FFF2-40B4-BE49-F238E27FC236}">
                      <a16:creationId xmlns:a16="http://schemas.microsoft.com/office/drawing/2014/main" id="{7035097A-29BE-E0AC-442F-8B81A4D08217}"/>
                    </a:ext>
                  </a:extLst>
                </p:cNvPr>
                <p:cNvGrpSpPr>
                  <a:grpSpLocks/>
                </p:cNvGrpSpPr>
                <p:nvPr/>
              </p:nvGrpSpPr>
              <p:grpSpPr bwMode="auto">
                <a:xfrm rot="5400000">
                  <a:off x="514" y="1282"/>
                  <a:ext cx="180" cy="133"/>
                  <a:chOff x="1980" y="3263"/>
                  <a:chExt cx="358" cy="337"/>
                </a:xfrm>
              </p:grpSpPr>
              <p:grpSp>
                <p:nvGrpSpPr>
                  <p:cNvPr id="105" name="Group 10">
                    <a:extLst>
                      <a:ext uri="{FF2B5EF4-FFF2-40B4-BE49-F238E27FC236}">
                        <a16:creationId xmlns:a16="http://schemas.microsoft.com/office/drawing/2014/main" id="{D93BF5A2-859E-82EB-A7F8-3337F7B246E0}"/>
                      </a:ext>
                    </a:extLst>
                  </p:cNvPr>
                  <p:cNvGrpSpPr>
                    <a:grpSpLocks/>
                  </p:cNvGrpSpPr>
                  <p:nvPr/>
                </p:nvGrpSpPr>
                <p:grpSpPr bwMode="auto">
                  <a:xfrm>
                    <a:off x="2070" y="3523"/>
                    <a:ext cx="195" cy="77"/>
                    <a:chOff x="2070" y="3523"/>
                    <a:chExt cx="195" cy="77"/>
                  </a:xfrm>
                </p:grpSpPr>
                <p:sp>
                  <p:nvSpPr>
                    <p:cNvPr id="114" name="Freeform 11">
                      <a:extLst>
                        <a:ext uri="{FF2B5EF4-FFF2-40B4-BE49-F238E27FC236}">
                          <a16:creationId xmlns:a16="http://schemas.microsoft.com/office/drawing/2014/main" id="{773400A2-CB8B-F254-E7E1-59B20D499AAF}"/>
                        </a:ext>
                      </a:extLst>
                    </p:cNvPr>
                    <p:cNvSpPr>
                      <a:spLocks/>
                    </p:cNvSpPr>
                    <p:nvPr/>
                  </p:nvSpPr>
                  <p:spPr bwMode="auto">
                    <a:xfrm>
                      <a:off x="2070" y="3523"/>
                      <a:ext cx="195" cy="77"/>
                    </a:xfrm>
                    <a:custGeom>
                      <a:avLst/>
                      <a:gdLst>
                        <a:gd name="T0" fmla="*/ 0 w 391"/>
                        <a:gd name="T1" fmla="*/ 0 h 155"/>
                        <a:gd name="T2" fmla="*/ 2 w 391"/>
                        <a:gd name="T3" fmla="*/ 3 h 155"/>
                        <a:gd name="T4" fmla="*/ 2 w 391"/>
                        <a:gd name="T5" fmla="*/ 4 h 155"/>
                        <a:gd name="T6" fmla="*/ 2 w 391"/>
                        <a:gd name="T7" fmla="*/ 4 h 155"/>
                        <a:gd name="T8" fmla="*/ 3 w 391"/>
                        <a:gd name="T9" fmla="*/ 4 h 155"/>
                        <a:gd name="T10" fmla="*/ 3 w 391"/>
                        <a:gd name="T11" fmla="*/ 4 h 155"/>
                        <a:gd name="T12" fmla="*/ 4 w 391"/>
                        <a:gd name="T13" fmla="*/ 4 h 155"/>
                        <a:gd name="T14" fmla="*/ 4 w 391"/>
                        <a:gd name="T15" fmla="*/ 4 h 155"/>
                        <a:gd name="T16" fmla="*/ 5 w 391"/>
                        <a:gd name="T17" fmla="*/ 4 h 155"/>
                        <a:gd name="T18" fmla="*/ 5 w 391"/>
                        <a:gd name="T19" fmla="*/ 4 h 155"/>
                        <a:gd name="T20" fmla="*/ 5 w 391"/>
                        <a:gd name="T21" fmla="*/ 4 h 155"/>
                        <a:gd name="T22" fmla="*/ 6 w 391"/>
                        <a:gd name="T23" fmla="*/ 4 h 155"/>
                        <a:gd name="T24" fmla="*/ 6 w 391"/>
                        <a:gd name="T25" fmla="*/ 4 h 155"/>
                        <a:gd name="T26" fmla="*/ 7 w 391"/>
                        <a:gd name="T27" fmla="*/ 4 h 155"/>
                        <a:gd name="T28" fmla="*/ 7 w 391"/>
                        <a:gd name="T29" fmla="*/ 4 h 155"/>
                        <a:gd name="T30" fmla="*/ 8 w 391"/>
                        <a:gd name="T31" fmla="*/ 4 h 155"/>
                        <a:gd name="T32" fmla="*/ 8 w 391"/>
                        <a:gd name="T33" fmla="*/ 4 h 155"/>
                        <a:gd name="T34" fmla="*/ 8 w 391"/>
                        <a:gd name="T35" fmla="*/ 4 h 155"/>
                        <a:gd name="T36" fmla="*/ 9 w 391"/>
                        <a:gd name="T37" fmla="*/ 4 h 155"/>
                        <a:gd name="T38" fmla="*/ 9 w 391"/>
                        <a:gd name="T39" fmla="*/ 4 h 155"/>
                        <a:gd name="T40" fmla="*/ 9 w 391"/>
                        <a:gd name="T41" fmla="*/ 3 h 155"/>
                        <a:gd name="T42" fmla="*/ 9 w 391"/>
                        <a:gd name="T43" fmla="*/ 3 h 155"/>
                        <a:gd name="T44" fmla="*/ 12 w 391"/>
                        <a:gd name="T45" fmla="*/ 0 h 155"/>
                        <a:gd name="T46" fmla="*/ 0 w 391"/>
                        <a:gd name="T47" fmla="*/ 0 h 15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91" h="155">
                          <a:moveTo>
                            <a:pt x="0" y="0"/>
                          </a:moveTo>
                          <a:lnTo>
                            <a:pt x="79" y="123"/>
                          </a:lnTo>
                          <a:lnTo>
                            <a:pt x="86" y="130"/>
                          </a:lnTo>
                          <a:lnTo>
                            <a:pt x="95" y="136"/>
                          </a:lnTo>
                          <a:lnTo>
                            <a:pt x="107" y="140"/>
                          </a:lnTo>
                          <a:lnTo>
                            <a:pt x="120" y="146"/>
                          </a:lnTo>
                          <a:lnTo>
                            <a:pt x="136" y="149"/>
                          </a:lnTo>
                          <a:lnTo>
                            <a:pt x="148" y="150"/>
                          </a:lnTo>
                          <a:lnTo>
                            <a:pt x="161" y="152"/>
                          </a:lnTo>
                          <a:lnTo>
                            <a:pt x="174" y="153"/>
                          </a:lnTo>
                          <a:lnTo>
                            <a:pt x="191" y="155"/>
                          </a:lnTo>
                          <a:lnTo>
                            <a:pt x="202" y="155"/>
                          </a:lnTo>
                          <a:lnTo>
                            <a:pt x="218" y="153"/>
                          </a:lnTo>
                          <a:lnTo>
                            <a:pt x="232" y="152"/>
                          </a:lnTo>
                          <a:lnTo>
                            <a:pt x="247" y="150"/>
                          </a:lnTo>
                          <a:lnTo>
                            <a:pt x="260" y="149"/>
                          </a:lnTo>
                          <a:lnTo>
                            <a:pt x="274" y="145"/>
                          </a:lnTo>
                          <a:lnTo>
                            <a:pt x="287" y="142"/>
                          </a:lnTo>
                          <a:lnTo>
                            <a:pt x="298" y="136"/>
                          </a:lnTo>
                          <a:lnTo>
                            <a:pt x="308" y="129"/>
                          </a:lnTo>
                          <a:lnTo>
                            <a:pt x="312" y="125"/>
                          </a:lnTo>
                          <a:lnTo>
                            <a:pt x="318" y="119"/>
                          </a:lnTo>
                          <a:lnTo>
                            <a:pt x="39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5" name="Freeform 12">
                      <a:extLst>
                        <a:ext uri="{FF2B5EF4-FFF2-40B4-BE49-F238E27FC236}">
                          <a16:creationId xmlns:a16="http://schemas.microsoft.com/office/drawing/2014/main" id="{AD216F26-B79B-D7E9-AEB5-03703FDF49E3}"/>
                        </a:ext>
                      </a:extLst>
                    </p:cNvPr>
                    <p:cNvSpPr>
                      <a:spLocks/>
                    </p:cNvSpPr>
                    <p:nvPr/>
                  </p:nvSpPr>
                  <p:spPr bwMode="auto">
                    <a:xfrm>
                      <a:off x="2100" y="3523"/>
                      <a:ext cx="87" cy="77"/>
                    </a:xfrm>
                    <a:custGeom>
                      <a:avLst/>
                      <a:gdLst>
                        <a:gd name="T0" fmla="*/ 0 w 174"/>
                        <a:gd name="T1" fmla="*/ 0 h 155"/>
                        <a:gd name="T2" fmla="*/ 2 w 174"/>
                        <a:gd name="T3" fmla="*/ 4 h 155"/>
                        <a:gd name="T4" fmla="*/ 2 w 174"/>
                        <a:gd name="T5" fmla="*/ 4 h 155"/>
                        <a:gd name="T6" fmla="*/ 3 w 174"/>
                        <a:gd name="T7" fmla="*/ 4 h 155"/>
                        <a:gd name="T8" fmla="*/ 3 w 174"/>
                        <a:gd name="T9" fmla="*/ 4 h 155"/>
                        <a:gd name="T10" fmla="*/ 4 w 174"/>
                        <a:gd name="T11" fmla="*/ 4 h 155"/>
                        <a:gd name="T12" fmla="*/ 4 w 174"/>
                        <a:gd name="T13" fmla="*/ 4 h 155"/>
                        <a:gd name="T14" fmla="*/ 5 w 174"/>
                        <a:gd name="T15" fmla="*/ 4 h 155"/>
                        <a:gd name="T16" fmla="*/ 5 w 174"/>
                        <a:gd name="T17" fmla="*/ 4 h 155"/>
                        <a:gd name="T18" fmla="*/ 5 w 174"/>
                        <a:gd name="T19" fmla="*/ 4 h 155"/>
                        <a:gd name="T20" fmla="*/ 6 w 174"/>
                        <a:gd name="T21" fmla="*/ 0 h 155"/>
                        <a:gd name="T22" fmla="*/ 0 w 174"/>
                        <a:gd name="T23" fmla="*/ 0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4" h="155">
                          <a:moveTo>
                            <a:pt x="0" y="0"/>
                          </a:moveTo>
                          <a:lnTo>
                            <a:pt x="48" y="140"/>
                          </a:lnTo>
                          <a:lnTo>
                            <a:pt x="58" y="146"/>
                          </a:lnTo>
                          <a:lnTo>
                            <a:pt x="74" y="149"/>
                          </a:lnTo>
                          <a:lnTo>
                            <a:pt x="86" y="150"/>
                          </a:lnTo>
                          <a:lnTo>
                            <a:pt x="99" y="152"/>
                          </a:lnTo>
                          <a:lnTo>
                            <a:pt x="112" y="153"/>
                          </a:lnTo>
                          <a:lnTo>
                            <a:pt x="129" y="155"/>
                          </a:lnTo>
                          <a:lnTo>
                            <a:pt x="140" y="155"/>
                          </a:lnTo>
                          <a:lnTo>
                            <a:pt x="156" y="153"/>
                          </a:lnTo>
                          <a:lnTo>
                            <a:pt x="174" y="0"/>
                          </a:lnTo>
                          <a:lnTo>
                            <a:pt x="0" y="0"/>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6" name="Group 13">
                    <a:extLst>
                      <a:ext uri="{FF2B5EF4-FFF2-40B4-BE49-F238E27FC236}">
                        <a16:creationId xmlns:a16="http://schemas.microsoft.com/office/drawing/2014/main" id="{26EC6042-F70E-5AB8-DD1C-420BB5578129}"/>
                      </a:ext>
                    </a:extLst>
                  </p:cNvPr>
                  <p:cNvGrpSpPr>
                    <a:grpSpLocks/>
                  </p:cNvGrpSpPr>
                  <p:nvPr/>
                </p:nvGrpSpPr>
                <p:grpSpPr bwMode="auto">
                  <a:xfrm>
                    <a:off x="1980" y="3263"/>
                    <a:ext cx="358" cy="281"/>
                    <a:chOff x="1980" y="3263"/>
                    <a:chExt cx="358" cy="281"/>
                  </a:xfrm>
                </p:grpSpPr>
                <p:sp>
                  <p:nvSpPr>
                    <p:cNvPr id="107" name="Freeform 14">
                      <a:extLst>
                        <a:ext uri="{FF2B5EF4-FFF2-40B4-BE49-F238E27FC236}">
                          <a16:creationId xmlns:a16="http://schemas.microsoft.com/office/drawing/2014/main" id="{1F479528-2950-9D77-20F1-4F720EE072E0}"/>
                        </a:ext>
                      </a:extLst>
                    </p:cNvPr>
                    <p:cNvSpPr>
                      <a:spLocks/>
                    </p:cNvSpPr>
                    <p:nvPr/>
                  </p:nvSpPr>
                  <p:spPr bwMode="auto">
                    <a:xfrm>
                      <a:off x="1980" y="3263"/>
                      <a:ext cx="358" cy="281"/>
                    </a:xfrm>
                    <a:custGeom>
                      <a:avLst/>
                      <a:gdLst>
                        <a:gd name="T0" fmla="*/ 1 w 716"/>
                        <a:gd name="T1" fmla="*/ 1 h 561"/>
                        <a:gd name="T2" fmla="*/ 1 w 716"/>
                        <a:gd name="T3" fmla="*/ 1 h 561"/>
                        <a:gd name="T4" fmla="*/ 1 w 716"/>
                        <a:gd name="T5" fmla="*/ 2 h 561"/>
                        <a:gd name="T6" fmla="*/ 1 w 716"/>
                        <a:gd name="T7" fmla="*/ 3 h 561"/>
                        <a:gd name="T8" fmla="*/ 1 w 716"/>
                        <a:gd name="T9" fmla="*/ 4 h 561"/>
                        <a:gd name="T10" fmla="*/ 1 w 716"/>
                        <a:gd name="T11" fmla="*/ 4 h 561"/>
                        <a:gd name="T12" fmla="*/ 1 w 716"/>
                        <a:gd name="T13" fmla="*/ 5 h 561"/>
                        <a:gd name="T14" fmla="*/ 1 w 716"/>
                        <a:gd name="T15" fmla="*/ 5 h 561"/>
                        <a:gd name="T16" fmla="*/ 1 w 716"/>
                        <a:gd name="T17" fmla="*/ 6 h 561"/>
                        <a:gd name="T18" fmla="*/ 1 w 716"/>
                        <a:gd name="T19" fmla="*/ 6 h 561"/>
                        <a:gd name="T20" fmla="*/ 1 w 716"/>
                        <a:gd name="T21" fmla="*/ 7 h 561"/>
                        <a:gd name="T22" fmla="*/ 1 w 716"/>
                        <a:gd name="T23" fmla="*/ 7 h 561"/>
                        <a:gd name="T24" fmla="*/ 1 w 716"/>
                        <a:gd name="T25" fmla="*/ 8 h 561"/>
                        <a:gd name="T26" fmla="*/ 1 w 716"/>
                        <a:gd name="T27" fmla="*/ 8 h 561"/>
                        <a:gd name="T28" fmla="*/ 0 w 716"/>
                        <a:gd name="T29" fmla="*/ 9 h 561"/>
                        <a:gd name="T30" fmla="*/ 1 w 716"/>
                        <a:gd name="T31" fmla="*/ 10 h 561"/>
                        <a:gd name="T32" fmla="*/ 1 w 716"/>
                        <a:gd name="T33" fmla="*/ 10 h 561"/>
                        <a:gd name="T34" fmla="*/ 1 w 716"/>
                        <a:gd name="T35" fmla="*/ 11 h 561"/>
                        <a:gd name="T36" fmla="*/ 1 w 716"/>
                        <a:gd name="T37" fmla="*/ 12 h 561"/>
                        <a:gd name="T38" fmla="*/ 1 w 716"/>
                        <a:gd name="T39" fmla="*/ 12 h 561"/>
                        <a:gd name="T40" fmla="*/ 2 w 716"/>
                        <a:gd name="T41" fmla="*/ 13 h 561"/>
                        <a:gd name="T42" fmla="*/ 3 w 716"/>
                        <a:gd name="T43" fmla="*/ 14 h 561"/>
                        <a:gd name="T44" fmla="*/ 5 w 716"/>
                        <a:gd name="T45" fmla="*/ 16 h 561"/>
                        <a:gd name="T46" fmla="*/ 6 w 716"/>
                        <a:gd name="T47" fmla="*/ 17 h 561"/>
                        <a:gd name="T48" fmla="*/ 8 w 716"/>
                        <a:gd name="T49" fmla="*/ 18 h 561"/>
                        <a:gd name="T50" fmla="*/ 10 w 716"/>
                        <a:gd name="T51" fmla="*/ 18 h 561"/>
                        <a:gd name="T52" fmla="*/ 13 w 716"/>
                        <a:gd name="T53" fmla="*/ 18 h 561"/>
                        <a:gd name="T54" fmla="*/ 16 w 716"/>
                        <a:gd name="T55" fmla="*/ 18 h 561"/>
                        <a:gd name="T56" fmla="*/ 18 w 716"/>
                        <a:gd name="T57" fmla="*/ 17 h 561"/>
                        <a:gd name="T58" fmla="*/ 19 w 716"/>
                        <a:gd name="T59" fmla="*/ 17 h 561"/>
                        <a:gd name="T60" fmla="*/ 20 w 716"/>
                        <a:gd name="T61" fmla="*/ 16 h 561"/>
                        <a:gd name="T62" fmla="*/ 22 w 716"/>
                        <a:gd name="T63" fmla="*/ 13 h 561"/>
                        <a:gd name="T64" fmla="*/ 22 w 716"/>
                        <a:gd name="T65" fmla="*/ 11 h 561"/>
                        <a:gd name="T66" fmla="*/ 22 w 716"/>
                        <a:gd name="T67" fmla="*/ 11 h 561"/>
                        <a:gd name="T68" fmla="*/ 22 w 716"/>
                        <a:gd name="T69" fmla="*/ 10 h 561"/>
                        <a:gd name="T70" fmla="*/ 22 w 716"/>
                        <a:gd name="T71" fmla="*/ 10 h 561"/>
                        <a:gd name="T72" fmla="*/ 22 w 716"/>
                        <a:gd name="T73" fmla="*/ 9 h 561"/>
                        <a:gd name="T74" fmla="*/ 23 w 716"/>
                        <a:gd name="T75" fmla="*/ 9 h 561"/>
                        <a:gd name="T76" fmla="*/ 23 w 716"/>
                        <a:gd name="T77" fmla="*/ 8 h 561"/>
                        <a:gd name="T78" fmla="*/ 23 w 716"/>
                        <a:gd name="T79" fmla="*/ 8 h 561"/>
                        <a:gd name="T80" fmla="*/ 22 w 716"/>
                        <a:gd name="T81" fmla="*/ 7 h 561"/>
                        <a:gd name="T82" fmla="*/ 22 w 716"/>
                        <a:gd name="T83" fmla="*/ 7 h 561"/>
                        <a:gd name="T84" fmla="*/ 23 w 716"/>
                        <a:gd name="T85" fmla="*/ 6 h 561"/>
                        <a:gd name="T86" fmla="*/ 23 w 716"/>
                        <a:gd name="T87" fmla="*/ 5 h 561"/>
                        <a:gd name="T88" fmla="*/ 22 w 716"/>
                        <a:gd name="T89" fmla="*/ 5 h 561"/>
                        <a:gd name="T90" fmla="*/ 22 w 716"/>
                        <a:gd name="T91" fmla="*/ 4 h 561"/>
                        <a:gd name="T92" fmla="*/ 22 w 716"/>
                        <a:gd name="T93" fmla="*/ 4 h 561"/>
                        <a:gd name="T94" fmla="*/ 23 w 716"/>
                        <a:gd name="T95" fmla="*/ 3 h 561"/>
                        <a:gd name="T96" fmla="*/ 23 w 716"/>
                        <a:gd name="T97" fmla="*/ 3 h 561"/>
                        <a:gd name="T98" fmla="*/ 23 w 716"/>
                        <a:gd name="T99" fmla="*/ 2 h 561"/>
                        <a:gd name="T100" fmla="*/ 22 w 716"/>
                        <a:gd name="T101" fmla="*/ 1 h 561"/>
                        <a:gd name="T102" fmla="*/ 22 w 716"/>
                        <a:gd name="T103" fmla="*/ 1 h 561"/>
                        <a:gd name="T104" fmla="*/ 1 w 716"/>
                        <a:gd name="T105" fmla="*/ 0 h 56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16" h="561">
                          <a:moveTo>
                            <a:pt x="20" y="0"/>
                          </a:moveTo>
                          <a:lnTo>
                            <a:pt x="16" y="15"/>
                          </a:lnTo>
                          <a:lnTo>
                            <a:pt x="17" y="22"/>
                          </a:lnTo>
                          <a:lnTo>
                            <a:pt x="19" y="29"/>
                          </a:lnTo>
                          <a:lnTo>
                            <a:pt x="20" y="46"/>
                          </a:lnTo>
                          <a:lnTo>
                            <a:pt x="17" y="57"/>
                          </a:lnTo>
                          <a:lnTo>
                            <a:pt x="13" y="67"/>
                          </a:lnTo>
                          <a:lnTo>
                            <a:pt x="9" y="74"/>
                          </a:lnTo>
                          <a:lnTo>
                            <a:pt x="4" y="88"/>
                          </a:lnTo>
                          <a:lnTo>
                            <a:pt x="4" y="98"/>
                          </a:lnTo>
                          <a:lnTo>
                            <a:pt x="9" y="107"/>
                          </a:lnTo>
                          <a:lnTo>
                            <a:pt x="13" y="116"/>
                          </a:lnTo>
                          <a:lnTo>
                            <a:pt x="22" y="127"/>
                          </a:lnTo>
                          <a:lnTo>
                            <a:pt x="26" y="137"/>
                          </a:lnTo>
                          <a:lnTo>
                            <a:pt x="26" y="144"/>
                          </a:lnTo>
                          <a:lnTo>
                            <a:pt x="23" y="152"/>
                          </a:lnTo>
                          <a:lnTo>
                            <a:pt x="16" y="160"/>
                          </a:lnTo>
                          <a:lnTo>
                            <a:pt x="10" y="169"/>
                          </a:lnTo>
                          <a:lnTo>
                            <a:pt x="6" y="176"/>
                          </a:lnTo>
                          <a:lnTo>
                            <a:pt x="4" y="184"/>
                          </a:lnTo>
                          <a:lnTo>
                            <a:pt x="9" y="193"/>
                          </a:lnTo>
                          <a:lnTo>
                            <a:pt x="14" y="203"/>
                          </a:lnTo>
                          <a:lnTo>
                            <a:pt x="20" y="210"/>
                          </a:lnTo>
                          <a:lnTo>
                            <a:pt x="23" y="217"/>
                          </a:lnTo>
                          <a:lnTo>
                            <a:pt x="26" y="225"/>
                          </a:lnTo>
                          <a:lnTo>
                            <a:pt x="23" y="235"/>
                          </a:lnTo>
                          <a:lnTo>
                            <a:pt x="16" y="245"/>
                          </a:lnTo>
                          <a:lnTo>
                            <a:pt x="9" y="252"/>
                          </a:lnTo>
                          <a:lnTo>
                            <a:pt x="1" y="263"/>
                          </a:lnTo>
                          <a:lnTo>
                            <a:pt x="0" y="272"/>
                          </a:lnTo>
                          <a:lnTo>
                            <a:pt x="3" y="283"/>
                          </a:lnTo>
                          <a:lnTo>
                            <a:pt x="10" y="291"/>
                          </a:lnTo>
                          <a:lnTo>
                            <a:pt x="17" y="299"/>
                          </a:lnTo>
                          <a:lnTo>
                            <a:pt x="25" y="309"/>
                          </a:lnTo>
                          <a:lnTo>
                            <a:pt x="29" y="324"/>
                          </a:lnTo>
                          <a:lnTo>
                            <a:pt x="25" y="337"/>
                          </a:lnTo>
                          <a:lnTo>
                            <a:pt x="17" y="347"/>
                          </a:lnTo>
                          <a:lnTo>
                            <a:pt x="14" y="355"/>
                          </a:lnTo>
                          <a:lnTo>
                            <a:pt x="14" y="365"/>
                          </a:lnTo>
                          <a:lnTo>
                            <a:pt x="16" y="370"/>
                          </a:lnTo>
                          <a:lnTo>
                            <a:pt x="22" y="378"/>
                          </a:lnTo>
                          <a:lnTo>
                            <a:pt x="33" y="390"/>
                          </a:lnTo>
                          <a:lnTo>
                            <a:pt x="50" y="413"/>
                          </a:lnTo>
                          <a:lnTo>
                            <a:pt x="84" y="448"/>
                          </a:lnTo>
                          <a:lnTo>
                            <a:pt x="112" y="476"/>
                          </a:lnTo>
                          <a:lnTo>
                            <a:pt x="130" y="492"/>
                          </a:lnTo>
                          <a:lnTo>
                            <a:pt x="148" y="503"/>
                          </a:lnTo>
                          <a:lnTo>
                            <a:pt x="170" y="516"/>
                          </a:lnTo>
                          <a:lnTo>
                            <a:pt x="200" y="533"/>
                          </a:lnTo>
                          <a:lnTo>
                            <a:pt x="245" y="548"/>
                          </a:lnTo>
                          <a:lnTo>
                            <a:pt x="279" y="555"/>
                          </a:lnTo>
                          <a:lnTo>
                            <a:pt x="314" y="559"/>
                          </a:lnTo>
                          <a:lnTo>
                            <a:pt x="361" y="561"/>
                          </a:lnTo>
                          <a:lnTo>
                            <a:pt x="410" y="559"/>
                          </a:lnTo>
                          <a:lnTo>
                            <a:pt x="453" y="558"/>
                          </a:lnTo>
                          <a:lnTo>
                            <a:pt x="490" y="552"/>
                          </a:lnTo>
                          <a:lnTo>
                            <a:pt x="522" y="545"/>
                          </a:lnTo>
                          <a:lnTo>
                            <a:pt x="546" y="536"/>
                          </a:lnTo>
                          <a:lnTo>
                            <a:pt x="567" y="525"/>
                          </a:lnTo>
                          <a:lnTo>
                            <a:pt x="583" y="515"/>
                          </a:lnTo>
                          <a:lnTo>
                            <a:pt x="596" y="506"/>
                          </a:lnTo>
                          <a:lnTo>
                            <a:pt x="610" y="492"/>
                          </a:lnTo>
                          <a:lnTo>
                            <a:pt x="653" y="434"/>
                          </a:lnTo>
                          <a:lnTo>
                            <a:pt x="685" y="385"/>
                          </a:lnTo>
                          <a:lnTo>
                            <a:pt x="698" y="360"/>
                          </a:lnTo>
                          <a:lnTo>
                            <a:pt x="701" y="350"/>
                          </a:lnTo>
                          <a:lnTo>
                            <a:pt x="702" y="342"/>
                          </a:lnTo>
                          <a:lnTo>
                            <a:pt x="702" y="334"/>
                          </a:lnTo>
                          <a:lnTo>
                            <a:pt x="696" y="324"/>
                          </a:lnTo>
                          <a:lnTo>
                            <a:pt x="692" y="317"/>
                          </a:lnTo>
                          <a:lnTo>
                            <a:pt x="690" y="308"/>
                          </a:lnTo>
                          <a:lnTo>
                            <a:pt x="692" y="298"/>
                          </a:lnTo>
                          <a:lnTo>
                            <a:pt x="696" y="291"/>
                          </a:lnTo>
                          <a:lnTo>
                            <a:pt x="701" y="283"/>
                          </a:lnTo>
                          <a:lnTo>
                            <a:pt x="706" y="275"/>
                          </a:lnTo>
                          <a:lnTo>
                            <a:pt x="712" y="266"/>
                          </a:lnTo>
                          <a:lnTo>
                            <a:pt x="716" y="258"/>
                          </a:lnTo>
                          <a:lnTo>
                            <a:pt x="715" y="247"/>
                          </a:lnTo>
                          <a:lnTo>
                            <a:pt x="711" y="238"/>
                          </a:lnTo>
                          <a:lnTo>
                            <a:pt x="706" y="230"/>
                          </a:lnTo>
                          <a:lnTo>
                            <a:pt x="701" y="223"/>
                          </a:lnTo>
                          <a:lnTo>
                            <a:pt x="695" y="215"/>
                          </a:lnTo>
                          <a:lnTo>
                            <a:pt x="693" y="206"/>
                          </a:lnTo>
                          <a:lnTo>
                            <a:pt x="695" y="198"/>
                          </a:lnTo>
                          <a:lnTo>
                            <a:pt x="702" y="187"/>
                          </a:lnTo>
                          <a:lnTo>
                            <a:pt x="709" y="179"/>
                          </a:lnTo>
                          <a:lnTo>
                            <a:pt x="712" y="170"/>
                          </a:lnTo>
                          <a:lnTo>
                            <a:pt x="712" y="157"/>
                          </a:lnTo>
                          <a:lnTo>
                            <a:pt x="708" y="146"/>
                          </a:lnTo>
                          <a:lnTo>
                            <a:pt x="701" y="137"/>
                          </a:lnTo>
                          <a:lnTo>
                            <a:pt x="698" y="131"/>
                          </a:lnTo>
                          <a:lnTo>
                            <a:pt x="695" y="121"/>
                          </a:lnTo>
                          <a:lnTo>
                            <a:pt x="696" y="110"/>
                          </a:lnTo>
                          <a:lnTo>
                            <a:pt x="702" y="101"/>
                          </a:lnTo>
                          <a:lnTo>
                            <a:pt x="706" y="95"/>
                          </a:lnTo>
                          <a:lnTo>
                            <a:pt x="712" y="88"/>
                          </a:lnTo>
                          <a:lnTo>
                            <a:pt x="715" y="79"/>
                          </a:lnTo>
                          <a:lnTo>
                            <a:pt x="716" y="68"/>
                          </a:lnTo>
                          <a:lnTo>
                            <a:pt x="714" y="62"/>
                          </a:lnTo>
                          <a:lnTo>
                            <a:pt x="708" y="52"/>
                          </a:lnTo>
                          <a:lnTo>
                            <a:pt x="702" y="44"/>
                          </a:lnTo>
                          <a:lnTo>
                            <a:pt x="698" y="32"/>
                          </a:lnTo>
                          <a:lnTo>
                            <a:pt x="698" y="22"/>
                          </a:lnTo>
                          <a:lnTo>
                            <a:pt x="701" y="14"/>
                          </a:lnTo>
                          <a:lnTo>
                            <a:pt x="699" y="0"/>
                          </a:lnTo>
                          <a:lnTo>
                            <a:pt x="20"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8" name="Freeform 15">
                      <a:extLst>
                        <a:ext uri="{FF2B5EF4-FFF2-40B4-BE49-F238E27FC236}">
                          <a16:creationId xmlns:a16="http://schemas.microsoft.com/office/drawing/2014/main" id="{6C6FCCD1-CCDB-C219-90FB-FA8730C8EF4E}"/>
                        </a:ext>
                      </a:extLst>
                    </p:cNvPr>
                    <p:cNvSpPr>
                      <a:spLocks/>
                    </p:cNvSpPr>
                    <p:nvPr/>
                  </p:nvSpPr>
                  <p:spPr bwMode="auto">
                    <a:xfrm>
                      <a:off x="1982" y="3301"/>
                      <a:ext cx="44" cy="39"/>
                    </a:xfrm>
                    <a:custGeom>
                      <a:avLst/>
                      <a:gdLst>
                        <a:gd name="T0" fmla="*/ 0 w 89"/>
                        <a:gd name="T1" fmla="*/ 0 h 78"/>
                        <a:gd name="T2" fmla="*/ 0 w 89"/>
                        <a:gd name="T3" fmla="*/ 1 h 78"/>
                        <a:gd name="T4" fmla="*/ 0 w 89"/>
                        <a:gd name="T5" fmla="*/ 1 h 78"/>
                        <a:gd name="T6" fmla="*/ 1 w 89"/>
                        <a:gd name="T7" fmla="*/ 2 h 78"/>
                        <a:gd name="T8" fmla="*/ 1 w 89"/>
                        <a:gd name="T9" fmla="*/ 2 h 78"/>
                        <a:gd name="T10" fmla="*/ 2 w 89"/>
                        <a:gd name="T11" fmla="*/ 2 h 78"/>
                        <a:gd name="T12" fmla="*/ 2 w 89"/>
                        <a:gd name="T13" fmla="*/ 2 h 78"/>
                        <a:gd name="T14" fmla="*/ 2 w 89"/>
                        <a:gd name="T15" fmla="*/ 3 h 78"/>
                        <a:gd name="T16" fmla="*/ 1 w 89"/>
                        <a:gd name="T17" fmla="*/ 3 h 78"/>
                        <a:gd name="T18" fmla="*/ 1 w 89"/>
                        <a:gd name="T19" fmla="*/ 3 h 78"/>
                        <a:gd name="T20" fmla="*/ 0 w 89"/>
                        <a:gd name="T21" fmla="*/ 3 h 78"/>
                        <a:gd name="T22" fmla="*/ 0 w 89"/>
                        <a:gd name="T23" fmla="*/ 3 h 78"/>
                        <a:gd name="T24" fmla="*/ 0 w 89"/>
                        <a:gd name="T25" fmla="*/ 2 h 78"/>
                        <a:gd name="T26" fmla="*/ 0 w 89"/>
                        <a:gd name="T27" fmla="*/ 2 h 78"/>
                        <a:gd name="T28" fmla="*/ 0 w 89"/>
                        <a:gd name="T29" fmla="*/ 2 h 78"/>
                        <a:gd name="T30" fmla="*/ 0 w 89"/>
                        <a:gd name="T31" fmla="*/ 1 h 78"/>
                        <a:gd name="T32" fmla="*/ 0 w 89"/>
                        <a:gd name="T33" fmla="*/ 1 h 78"/>
                        <a:gd name="T34" fmla="*/ 0 w 89"/>
                        <a:gd name="T35" fmla="*/ 0 h 7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9" h="78">
                          <a:moveTo>
                            <a:pt x="5" y="0"/>
                          </a:moveTo>
                          <a:lnTo>
                            <a:pt x="10" y="11"/>
                          </a:lnTo>
                          <a:lnTo>
                            <a:pt x="19" y="21"/>
                          </a:lnTo>
                          <a:lnTo>
                            <a:pt x="35" y="34"/>
                          </a:lnTo>
                          <a:lnTo>
                            <a:pt x="53" y="46"/>
                          </a:lnTo>
                          <a:lnTo>
                            <a:pt x="72" y="53"/>
                          </a:lnTo>
                          <a:lnTo>
                            <a:pt x="89" y="57"/>
                          </a:lnTo>
                          <a:lnTo>
                            <a:pt x="82" y="70"/>
                          </a:lnTo>
                          <a:lnTo>
                            <a:pt x="59" y="67"/>
                          </a:lnTo>
                          <a:lnTo>
                            <a:pt x="35" y="69"/>
                          </a:lnTo>
                          <a:lnTo>
                            <a:pt x="19" y="78"/>
                          </a:lnTo>
                          <a:lnTo>
                            <a:pt x="22" y="70"/>
                          </a:lnTo>
                          <a:lnTo>
                            <a:pt x="21" y="62"/>
                          </a:lnTo>
                          <a:lnTo>
                            <a:pt x="16" y="50"/>
                          </a:lnTo>
                          <a:lnTo>
                            <a:pt x="9" y="39"/>
                          </a:lnTo>
                          <a:lnTo>
                            <a:pt x="2" y="27"/>
                          </a:lnTo>
                          <a:lnTo>
                            <a:pt x="0" y="14"/>
                          </a:lnTo>
                          <a:lnTo>
                            <a:pt x="5" y="0"/>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9" name="Freeform 16">
                      <a:extLst>
                        <a:ext uri="{FF2B5EF4-FFF2-40B4-BE49-F238E27FC236}">
                          <a16:creationId xmlns:a16="http://schemas.microsoft.com/office/drawing/2014/main" id="{5EA6731B-CCB3-FB4A-081A-BEF6A5538300}"/>
                        </a:ext>
                      </a:extLst>
                    </p:cNvPr>
                    <p:cNvSpPr>
                      <a:spLocks/>
                    </p:cNvSpPr>
                    <p:nvPr/>
                  </p:nvSpPr>
                  <p:spPr bwMode="auto">
                    <a:xfrm>
                      <a:off x="1983" y="3349"/>
                      <a:ext cx="58" cy="33"/>
                    </a:xfrm>
                    <a:custGeom>
                      <a:avLst/>
                      <a:gdLst>
                        <a:gd name="T0" fmla="*/ 0 w 117"/>
                        <a:gd name="T1" fmla="*/ 1 h 65"/>
                        <a:gd name="T2" fmla="*/ 0 w 117"/>
                        <a:gd name="T3" fmla="*/ 0 h 65"/>
                        <a:gd name="T4" fmla="*/ 0 w 117"/>
                        <a:gd name="T5" fmla="*/ 1 h 65"/>
                        <a:gd name="T6" fmla="*/ 0 w 117"/>
                        <a:gd name="T7" fmla="*/ 1 h 65"/>
                        <a:gd name="T8" fmla="*/ 1 w 117"/>
                        <a:gd name="T9" fmla="*/ 1 h 65"/>
                        <a:gd name="T10" fmla="*/ 1 w 117"/>
                        <a:gd name="T11" fmla="*/ 1 h 65"/>
                        <a:gd name="T12" fmla="*/ 2 w 117"/>
                        <a:gd name="T13" fmla="*/ 1 h 65"/>
                        <a:gd name="T14" fmla="*/ 3 w 117"/>
                        <a:gd name="T15" fmla="*/ 2 h 65"/>
                        <a:gd name="T16" fmla="*/ 3 w 117"/>
                        <a:gd name="T17" fmla="*/ 2 h 65"/>
                        <a:gd name="T18" fmla="*/ 2 w 117"/>
                        <a:gd name="T19" fmla="*/ 2 h 65"/>
                        <a:gd name="T20" fmla="*/ 1 w 117"/>
                        <a:gd name="T21" fmla="*/ 2 h 65"/>
                        <a:gd name="T22" fmla="*/ 1 w 117"/>
                        <a:gd name="T23" fmla="*/ 2 h 65"/>
                        <a:gd name="T24" fmla="*/ 0 w 117"/>
                        <a:gd name="T25" fmla="*/ 3 h 65"/>
                        <a:gd name="T26" fmla="*/ 0 w 117"/>
                        <a:gd name="T27" fmla="*/ 2 h 65"/>
                        <a:gd name="T28" fmla="*/ 0 w 117"/>
                        <a:gd name="T29" fmla="*/ 2 h 65"/>
                        <a:gd name="T30" fmla="*/ 0 w 117"/>
                        <a:gd name="T31" fmla="*/ 2 h 65"/>
                        <a:gd name="T32" fmla="*/ 0 w 117"/>
                        <a:gd name="T33" fmla="*/ 1 h 65"/>
                        <a:gd name="T34" fmla="*/ 0 w 117"/>
                        <a:gd name="T35" fmla="*/ 1 h 65"/>
                        <a:gd name="T36" fmla="*/ 0 w 117"/>
                        <a:gd name="T37" fmla="*/ 1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7" h="65">
                          <a:moveTo>
                            <a:pt x="0" y="8"/>
                          </a:moveTo>
                          <a:lnTo>
                            <a:pt x="3" y="0"/>
                          </a:lnTo>
                          <a:lnTo>
                            <a:pt x="7" y="8"/>
                          </a:lnTo>
                          <a:lnTo>
                            <a:pt x="16" y="12"/>
                          </a:lnTo>
                          <a:lnTo>
                            <a:pt x="33" y="19"/>
                          </a:lnTo>
                          <a:lnTo>
                            <a:pt x="50" y="24"/>
                          </a:lnTo>
                          <a:lnTo>
                            <a:pt x="77" y="30"/>
                          </a:lnTo>
                          <a:lnTo>
                            <a:pt x="107" y="35"/>
                          </a:lnTo>
                          <a:lnTo>
                            <a:pt x="117" y="62"/>
                          </a:lnTo>
                          <a:lnTo>
                            <a:pt x="83" y="54"/>
                          </a:lnTo>
                          <a:lnTo>
                            <a:pt x="56" y="51"/>
                          </a:lnTo>
                          <a:lnTo>
                            <a:pt x="35" y="55"/>
                          </a:lnTo>
                          <a:lnTo>
                            <a:pt x="19" y="65"/>
                          </a:lnTo>
                          <a:lnTo>
                            <a:pt x="19" y="57"/>
                          </a:lnTo>
                          <a:lnTo>
                            <a:pt x="19" y="49"/>
                          </a:lnTo>
                          <a:lnTo>
                            <a:pt x="16" y="41"/>
                          </a:lnTo>
                          <a:lnTo>
                            <a:pt x="7" y="28"/>
                          </a:lnTo>
                          <a:lnTo>
                            <a:pt x="0" y="18"/>
                          </a:lnTo>
                          <a:lnTo>
                            <a:pt x="0" y="8"/>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 name="Freeform 17">
                      <a:extLst>
                        <a:ext uri="{FF2B5EF4-FFF2-40B4-BE49-F238E27FC236}">
                          <a16:creationId xmlns:a16="http://schemas.microsoft.com/office/drawing/2014/main" id="{ECF7F184-10F5-3274-BBF0-59AD107F6EE1}"/>
                        </a:ext>
                      </a:extLst>
                    </p:cNvPr>
                    <p:cNvSpPr>
                      <a:spLocks/>
                    </p:cNvSpPr>
                    <p:nvPr/>
                  </p:nvSpPr>
                  <p:spPr bwMode="auto">
                    <a:xfrm>
                      <a:off x="1980" y="3390"/>
                      <a:ext cx="69" cy="41"/>
                    </a:xfrm>
                    <a:custGeom>
                      <a:avLst/>
                      <a:gdLst>
                        <a:gd name="T0" fmla="*/ 1 w 137"/>
                        <a:gd name="T1" fmla="*/ 1 h 82"/>
                        <a:gd name="T2" fmla="*/ 1 w 137"/>
                        <a:gd name="T3" fmla="*/ 0 h 82"/>
                        <a:gd name="T4" fmla="*/ 1 w 137"/>
                        <a:gd name="T5" fmla="*/ 1 h 82"/>
                        <a:gd name="T6" fmla="*/ 1 w 137"/>
                        <a:gd name="T7" fmla="*/ 1 h 82"/>
                        <a:gd name="T8" fmla="*/ 2 w 137"/>
                        <a:gd name="T9" fmla="*/ 1 h 82"/>
                        <a:gd name="T10" fmla="*/ 2 w 137"/>
                        <a:gd name="T11" fmla="*/ 2 h 82"/>
                        <a:gd name="T12" fmla="*/ 3 w 137"/>
                        <a:gd name="T13" fmla="*/ 2 h 82"/>
                        <a:gd name="T14" fmla="*/ 4 w 137"/>
                        <a:gd name="T15" fmla="*/ 2 h 82"/>
                        <a:gd name="T16" fmla="*/ 5 w 137"/>
                        <a:gd name="T17" fmla="*/ 2 h 82"/>
                        <a:gd name="T18" fmla="*/ 5 w 137"/>
                        <a:gd name="T19" fmla="*/ 3 h 82"/>
                        <a:gd name="T20" fmla="*/ 4 w 137"/>
                        <a:gd name="T21" fmla="*/ 3 h 82"/>
                        <a:gd name="T22" fmla="*/ 3 w 137"/>
                        <a:gd name="T23" fmla="*/ 2 h 82"/>
                        <a:gd name="T24" fmla="*/ 2 w 137"/>
                        <a:gd name="T25" fmla="*/ 2 h 82"/>
                        <a:gd name="T26" fmla="*/ 2 w 137"/>
                        <a:gd name="T27" fmla="*/ 2 h 82"/>
                        <a:gd name="T28" fmla="*/ 2 w 137"/>
                        <a:gd name="T29" fmla="*/ 2 h 82"/>
                        <a:gd name="T30" fmla="*/ 1 w 137"/>
                        <a:gd name="T31" fmla="*/ 3 h 82"/>
                        <a:gd name="T32" fmla="*/ 1 w 137"/>
                        <a:gd name="T33" fmla="*/ 2 h 82"/>
                        <a:gd name="T34" fmla="*/ 1 w 137"/>
                        <a:gd name="T35" fmla="*/ 2 h 82"/>
                        <a:gd name="T36" fmla="*/ 1 w 137"/>
                        <a:gd name="T37" fmla="*/ 2 h 82"/>
                        <a:gd name="T38" fmla="*/ 0 w 137"/>
                        <a:gd name="T39" fmla="*/ 1 h 82"/>
                        <a:gd name="T40" fmla="*/ 1 w 137"/>
                        <a:gd name="T41" fmla="*/ 1 h 8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37" h="82">
                          <a:moveTo>
                            <a:pt x="2" y="10"/>
                          </a:moveTo>
                          <a:lnTo>
                            <a:pt x="8" y="0"/>
                          </a:lnTo>
                          <a:lnTo>
                            <a:pt x="16" y="13"/>
                          </a:lnTo>
                          <a:lnTo>
                            <a:pt x="25" y="19"/>
                          </a:lnTo>
                          <a:lnTo>
                            <a:pt x="36" y="26"/>
                          </a:lnTo>
                          <a:lnTo>
                            <a:pt x="54" y="33"/>
                          </a:lnTo>
                          <a:lnTo>
                            <a:pt x="76" y="39"/>
                          </a:lnTo>
                          <a:lnTo>
                            <a:pt x="99" y="46"/>
                          </a:lnTo>
                          <a:lnTo>
                            <a:pt x="131" y="56"/>
                          </a:lnTo>
                          <a:lnTo>
                            <a:pt x="137" y="82"/>
                          </a:lnTo>
                          <a:lnTo>
                            <a:pt x="104" y="68"/>
                          </a:lnTo>
                          <a:lnTo>
                            <a:pt x="81" y="59"/>
                          </a:lnTo>
                          <a:lnTo>
                            <a:pt x="61" y="56"/>
                          </a:lnTo>
                          <a:lnTo>
                            <a:pt x="46" y="56"/>
                          </a:lnTo>
                          <a:lnTo>
                            <a:pt x="38" y="62"/>
                          </a:lnTo>
                          <a:lnTo>
                            <a:pt x="28" y="72"/>
                          </a:lnTo>
                          <a:lnTo>
                            <a:pt x="26" y="61"/>
                          </a:lnTo>
                          <a:lnTo>
                            <a:pt x="16" y="46"/>
                          </a:lnTo>
                          <a:lnTo>
                            <a:pt x="8" y="36"/>
                          </a:lnTo>
                          <a:lnTo>
                            <a:pt x="0" y="24"/>
                          </a:lnTo>
                          <a:lnTo>
                            <a:pt x="2" y="10"/>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1" name="Freeform 18">
                      <a:extLst>
                        <a:ext uri="{FF2B5EF4-FFF2-40B4-BE49-F238E27FC236}">
                          <a16:creationId xmlns:a16="http://schemas.microsoft.com/office/drawing/2014/main" id="{0204610A-219A-3D2F-4DB2-8B253B74C3E5}"/>
                        </a:ext>
                      </a:extLst>
                    </p:cNvPr>
                    <p:cNvSpPr>
                      <a:spLocks/>
                    </p:cNvSpPr>
                    <p:nvPr/>
                  </p:nvSpPr>
                  <p:spPr bwMode="auto">
                    <a:xfrm>
                      <a:off x="1988" y="3434"/>
                      <a:ext cx="82" cy="91"/>
                    </a:xfrm>
                    <a:custGeom>
                      <a:avLst/>
                      <a:gdLst>
                        <a:gd name="T0" fmla="*/ 1 w 163"/>
                        <a:gd name="T1" fmla="*/ 1 h 180"/>
                        <a:gd name="T2" fmla="*/ 0 w 163"/>
                        <a:gd name="T3" fmla="*/ 1 h 180"/>
                        <a:gd name="T4" fmla="*/ 0 w 163"/>
                        <a:gd name="T5" fmla="*/ 1 h 180"/>
                        <a:gd name="T6" fmla="*/ 1 w 163"/>
                        <a:gd name="T7" fmla="*/ 0 h 180"/>
                        <a:gd name="T8" fmla="*/ 1 w 163"/>
                        <a:gd name="T9" fmla="*/ 1 h 180"/>
                        <a:gd name="T10" fmla="*/ 2 w 163"/>
                        <a:gd name="T11" fmla="*/ 1 h 180"/>
                        <a:gd name="T12" fmla="*/ 2 w 163"/>
                        <a:gd name="T13" fmla="*/ 2 h 180"/>
                        <a:gd name="T14" fmla="*/ 3 w 163"/>
                        <a:gd name="T15" fmla="*/ 2 h 180"/>
                        <a:gd name="T16" fmla="*/ 4 w 163"/>
                        <a:gd name="T17" fmla="*/ 2 h 180"/>
                        <a:gd name="T18" fmla="*/ 5 w 163"/>
                        <a:gd name="T19" fmla="*/ 3 h 180"/>
                        <a:gd name="T20" fmla="*/ 4 w 163"/>
                        <a:gd name="T21" fmla="*/ 3 h 180"/>
                        <a:gd name="T22" fmla="*/ 3 w 163"/>
                        <a:gd name="T23" fmla="*/ 2 h 180"/>
                        <a:gd name="T24" fmla="*/ 3 w 163"/>
                        <a:gd name="T25" fmla="*/ 3 h 180"/>
                        <a:gd name="T26" fmla="*/ 3 w 163"/>
                        <a:gd name="T27" fmla="*/ 3 h 180"/>
                        <a:gd name="T28" fmla="*/ 3 w 163"/>
                        <a:gd name="T29" fmla="*/ 3 h 180"/>
                        <a:gd name="T30" fmla="*/ 3 w 163"/>
                        <a:gd name="T31" fmla="*/ 4 h 180"/>
                        <a:gd name="T32" fmla="*/ 4 w 163"/>
                        <a:gd name="T33" fmla="*/ 4 h 180"/>
                        <a:gd name="T34" fmla="*/ 5 w 163"/>
                        <a:gd name="T35" fmla="*/ 5 h 180"/>
                        <a:gd name="T36" fmla="*/ 6 w 163"/>
                        <a:gd name="T37" fmla="*/ 6 h 180"/>
                        <a:gd name="T38" fmla="*/ 6 w 163"/>
                        <a:gd name="T39" fmla="*/ 6 h 180"/>
                        <a:gd name="T40" fmla="*/ 5 w 163"/>
                        <a:gd name="T41" fmla="*/ 6 h 180"/>
                        <a:gd name="T42" fmla="*/ 5 w 163"/>
                        <a:gd name="T43" fmla="*/ 6 h 180"/>
                        <a:gd name="T44" fmla="*/ 4 w 163"/>
                        <a:gd name="T45" fmla="*/ 5 h 180"/>
                        <a:gd name="T46" fmla="*/ 3 w 163"/>
                        <a:gd name="T47" fmla="*/ 4 h 180"/>
                        <a:gd name="T48" fmla="*/ 2 w 163"/>
                        <a:gd name="T49" fmla="*/ 4 h 180"/>
                        <a:gd name="T50" fmla="*/ 2 w 163"/>
                        <a:gd name="T51" fmla="*/ 3 h 180"/>
                        <a:gd name="T52" fmla="*/ 1 w 163"/>
                        <a:gd name="T53" fmla="*/ 2 h 180"/>
                        <a:gd name="T54" fmla="*/ 1 w 163"/>
                        <a:gd name="T55" fmla="*/ 2 h 180"/>
                        <a:gd name="T56" fmla="*/ 1 w 163"/>
                        <a:gd name="T57" fmla="*/ 1 h 18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3" h="180">
                          <a:moveTo>
                            <a:pt x="1" y="28"/>
                          </a:moveTo>
                          <a:lnTo>
                            <a:pt x="0" y="16"/>
                          </a:lnTo>
                          <a:lnTo>
                            <a:pt x="0" y="9"/>
                          </a:lnTo>
                          <a:lnTo>
                            <a:pt x="6" y="0"/>
                          </a:lnTo>
                          <a:lnTo>
                            <a:pt x="18" y="13"/>
                          </a:lnTo>
                          <a:lnTo>
                            <a:pt x="37" y="26"/>
                          </a:lnTo>
                          <a:lnTo>
                            <a:pt x="56" y="35"/>
                          </a:lnTo>
                          <a:lnTo>
                            <a:pt x="83" y="43"/>
                          </a:lnTo>
                          <a:lnTo>
                            <a:pt x="122" y="51"/>
                          </a:lnTo>
                          <a:lnTo>
                            <a:pt x="130" y="72"/>
                          </a:lnTo>
                          <a:lnTo>
                            <a:pt x="110" y="66"/>
                          </a:lnTo>
                          <a:lnTo>
                            <a:pt x="89" y="62"/>
                          </a:lnTo>
                          <a:lnTo>
                            <a:pt x="79" y="65"/>
                          </a:lnTo>
                          <a:lnTo>
                            <a:pt x="76" y="75"/>
                          </a:lnTo>
                          <a:lnTo>
                            <a:pt x="82" y="88"/>
                          </a:lnTo>
                          <a:lnTo>
                            <a:pt x="90" y="100"/>
                          </a:lnTo>
                          <a:lnTo>
                            <a:pt x="107" y="120"/>
                          </a:lnTo>
                          <a:lnTo>
                            <a:pt x="130" y="140"/>
                          </a:lnTo>
                          <a:lnTo>
                            <a:pt x="163" y="164"/>
                          </a:lnTo>
                          <a:lnTo>
                            <a:pt x="163" y="180"/>
                          </a:lnTo>
                          <a:lnTo>
                            <a:pt x="149" y="171"/>
                          </a:lnTo>
                          <a:lnTo>
                            <a:pt x="130" y="161"/>
                          </a:lnTo>
                          <a:lnTo>
                            <a:pt x="104" y="140"/>
                          </a:lnTo>
                          <a:lnTo>
                            <a:pt x="82" y="118"/>
                          </a:lnTo>
                          <a:lnTo>
                            <a:pt x="63" y="100"/>
                          </a:lnTo>
                          <a:lnTo>
                            <a:pt x="44" y="79"/>
                          </a:lnTo>
                          <a:lnTo>
                            <a:pt x="28" y="61"/>
                          </a:lnTo>
                          <a:lnTo>
                            <a:pt x="11" y="45"/>
                          </a:lnTo>
                          <a:lnTo>
                            <a:pt x="1" y="28"/>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 name="Freeform 19">
                      <a:extLst>
                        <a:ext uri="{FF2B5EF4-FFF2-40B4-BE49-F238E27FC236}">
                          <a16:creationId xmlns:a16="http://schemas.microsoft.com/office/drawing/2014/main" id="{CC7BF9E9-2AC0-DFE0-55FD-CB8DD11F578F}"/>
                        </a:ext>
                      </a:extLst>
                    </p:cNvPr>
                    <p:cNvSpPr>
                      <a:spLocks/>
                    </p:cNvSpPr>
                    <p:nvPr/>
                  </p:nvSpPr>
                  <p:spPr bwMode="auto">
                    <a:xfrm>
                      <a:off x="1990" y="3273"/>
                      <a:ext cx="33" cy="27"/>
                    </a:xfrm>
                    <a:custGeom>
                      <a:avLst/>
                      <a:gdLst>
                        <a:gd name="T0" fmla="*/ 0 w 68"/>
                        <a:gd name="T1" fmla="*/ 0 h 54"/>
                        <a:gd name="T2" fmla="*/ 0 w 68"/>
                        <a:gd name="T3" fmla="*/ 1 h 54"/>
                        <a:gd name="T4" fmla="*/ 0 w 68"/>
                        <a:gd name="T5" fmla="*/ 1 h 54"/>
                        <a:gd name="T6" fmla="*/ 1 w 68"/>
                        <a:gd name="T7" fmla="*/ 1 h 54"/>
                        <a:gd name="T8" fmla="*/ 1 w 68"/>
                        <a:gd name="T9" fmla="*/ 2 h 54"/>
                        <a:gd name="T10" fmla="*/ 1 w 68"/>
                        <a:gd name="T11" fmla="*/ 2 h 54"/>
                        <a:gd name="T12" fmla="*/ 2 w 68"/>
                        <a:gd name="T13" fmla="*/ 2 h 54"/>
                        <a:gd name="T14" fmla="*/ 1 w 68"/>
                        <a:gd name="T15" fmla="*/ 2 h 54"/>
                        <a:gd name="T16" fmla="*/ 1 w 68"/>
                        <a:gd name="T17" fmla="*/ 2 h 54"/>
                        <a:gd name="T18" fmla="*/ 0 w 68"/>
                        <a:gd name="T19" fmla="*/ 2 h 54"/>
                        <a:gd name="T20" fmla="*/ 0 w 68"/>
                        <a:gd name="T21" fmla="*/ 2 h 54"/>
                        <a:gd name="T22" fmla="*/ 0 w 68"/>
                        <a:gd name="T23" fmla="*/ 1 h 54"/>
                        <a:gd name="T24" fmla="*/ 0 w 68"/>
                        <a:gd name="T25" fmla="*/ 1 h 54"/>
                        <a:gd name="T26" fmla="*/ 0 w 68"/>
                        <a:gd name="T27" fmla="*/ 0 h 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8" h="54">
                          <a:moveTo>
                            <a:pt x="0" y="0"/>
                          </a:moveTo>
                          <a:lnTo>
                            <a:pt x="8" y="8"/>
                          </a:lnTo>
                          <a:lnTo>
                            <a:pt x="20" y="17"/>
                          </a:lnTo>
                          <a:lnTo>
                            <a:pt x="33" y="26"/>
                          </a:lnTo>
                          <a:lnTo>
                            <a:pt x="47" y="35"/>
                          </a:lnTo>
                          <a:lnTo>
                            <a:pt x="61" y="42"/>
                          </a:lnTo>
                          <a:lnTo>
                            <a:pt x="68" y="48"/>
                          </a:lnTo>
                          <a:lnTo>
                            <a:pt x="51" y="54"/>
                          </a:lnTo>
                          <a:lnTo>
                            <a:pt x="33" y="48"/>
                          </a:lnTo>
                          <a:lnTo>
                            <a:pt x="15" y="41"/>
                          </a:lnTo>
                          <a:lnTo>
                            <a:pt x="0" y="33"/>
                          </a:lnTo>
                          <a:lnTo>
                            <a:pt x="1" y="26"/>
                          </a:lnTo>
                          <a:lnTo>
                            <a:pt x="3" y="13"/>
                          </a:lnTo>
                          <a:lnTo>
                            <a:pt x="0" y="0"/>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3" name="Freeform 20">
                      <a:extLst>
                        <a:ext uri="{FF2B5EF4-FFF2-40B4-BE49-F238E27FC236}">
                          <a16:creationId xmlns:a16="http://schemas.microsoft.com/office/drawing/2014/main" id="{20270CC2-6024-B3D7-47DC-8B1F6CFD41F3}"/>
                        </a:ext>
                      </a:extLst>
                    </p:cNvPr>
                    <p:cNvSpPr>
                      <a:spLocks/>
                    </p:cNvSpPr>
                    <p:nvPr/>
                  </p:nvSpPr>
                  <p:spPr bwMode="auto">
                    <a:xfrm>
                      <a:off x="2051" y="3266"/>
                      <a:ext cx="287" cy="270"/>
                    </a:xfrm>
                    <a:custGeom>
                      <a:avLst/>
                      <a:gdLst>
                        <a:gd name="T0" fmla="*/ 8 w 575"/>
                        <a:gd name="T1" fmla="*/ 4 h 539"/>
                        <a:gd name="T2" fmla="*/ 7 w 575"/>
                        <a:gd name="T3" fmla="*/ 5 h 539"/>
                        <a:gd name="T4" fmla="*/ 4 w 575"/>
                        <a:gd name="T5" fmla="*/ 5 h 539"/>
                        <a:gd name="T6" fmla="*/ 0 w 575"/>
                        <a:gd name="T7" fmla="*/ 6 h 539"/>
                        <a:gd name="T8" fmla="*/ 5 w 575"/>
                        <a:gd name="T9" fmla="*/ 6 h 539"/>
                        <a:gd name="T10" fmla="*/ 10 w 575"/>
                        <a:gd name="T11" fmla="*/ 6 h 539"/>
                        <a:gd name="T12" fmla="*/ 14 w 575"/>
                        <a:gd name="T13" fmla="*/ 5 h 539"/>
                        <a:gd name="T14" fmla="*/ 15 w 575"/>
                        <a:gd name="T15" fmla="*/ 5 h 539"/>
                        <a:gd name="T16" fmla="*/ 15 w 575"/>
                        <a:gd name="T17" fmla="*/ 6 h 539"/>
                        <a:gd name="T18" fmla="*/ 12 w 575"/>
                        <a:gd name="T19" fmla="*/ 7 h 539"/>
                        <a:gd name="T20" fmla="*/ 7 w 575"/>
                        <a:gd name="T21" fmla="*/ 8 h 539"/>
                        <a:gd name="T22" fmla="*/ 4 w 575"/>
                        <a:gd name="T23" fmla="*/ 9 h 539"/>
                        <a:gd name="T24" fmla="*/ 10 w 575"/>
                        <a:gd name="T25" fmla="*/ 9 h 539"/>
                        <a:gd name="T26" fmla="*/ 13 w 575"/>
                        <a:gd name="T27" fmla="*/ 8 h 539"/>
                        <a:gd name="T28" fmla="*/ 16 w 575"/>
                        <a:gd name="T29" fmla="*/ 7 h 539"/>
                        <a:gd name="T30" fmla="*/ 16 w 575"/>
                        <a:gd name="T31" fmla="*/ 8 h 539"/>
                        <a:gd name="T32" fmla="*/ 14 w 575"/>
                        <a:gd name="T33" fmla="*/ 9 h 539"/>
                        <a:gd name="T34" fmla="*/ 10 w 575"/>
                        <a:gd name="T35" fmla="*/ 10 h 539"/>
                        <a:gd name="T36" fmla="*/ 5 w 575"/>
                        <a:gd name="T37" fmla="*/ 11 h 539"/>
                        <a:gd name="T38" fmla="*/ 7 w 575"/>
                        <a:gd name="T39" fmla="*/ 12 h 539"/>
                        <a:gd name="T40" fmla="*/ 11 w 575"/>
                        <a:gd name="T41" fmla="*/ 12 h 539"/>
                        <a:gd name="T42" fmla="*/ 15 w 575"/>
                        <a:gd name="T43" fmla="*/ 11 h 539"/>
                        <a:gd name="T44" fmla="*/ 15 w 575"/>
                        <a:gd name="T45" fmla="*/ 11 h 539"/>
                        <a:gd name="T46" fmla="*/ 14 w 575"/>
                        <a:gd name="T47" fmla="*/ 12 h 539"/>
                        <a:gd name="T48" fmla="*/ 12 w 575"/>
                        <a:gd name="T49" fmla="*/ 13 h 539"/>
                        <a:gd name="T50" fmla="*/ 8 w 575"/>
                        <a:gd name="T51" fmla="*/ 14 h 539"/>
                        <a:gd name="T52" fmla="*/ 4 w 575"/>
                        <a:gd name="T53" fmla="*/ 14 h 539"/>
                        <a:gd name="T54" fmla="*/ 7 w 575"/>
                        <a:gd name="T55" fmla="*/ 15 h 539"/>
                        <a:gd name="T56" fmla="*/ 10 w 575"/>
                        <a:gd name="T57" fmla="*/ 15 h 539"/>
                        <a:gd name="T58" fmla="*/ 13 w 575"/>
                        <a:gd name="T59" fmla="*/ 14 h 539"/>
                        <a:gd name="T60" fmla="*/ 14 w 575"/>
                        <a:gd name="T61" fmla="*/ 14 h 539"/>
                        <a:gd name="T62" fmla="*/ 13 w 575"/>
                        <a:gd name="T63" fmla="*/ 15 h 539"/>
                        <a:gd name="T64" fmla="*/ 12 w 575"/>
                        <a:gd name="T65" fmla="*/ 16 h 539"/>
                        <a:gd name="T66" fmla="*/ 6 w 575"/>
                        <a:gd name="T67" fmla="*/ 16 h 539"/>
                        <a:gd name="T68" fmla="*/ 11 w 575"/>
                        <a:gd name="T69" fmla="*/ 17 h 539"/>
                        <a:gd name="T70" fmla="*/ 11 w 575"/>
                        <a:gd name="T71" fmla="*/ 17 h 539"/>
                        <a:gd name="T72" fmla="*/ 13 w 575"/>
                        <a:gd name="T73" fmla="*/ 17 h 539"/>
                        <a:gd name="T74" fmla="*/ 14 w 575"/>
                        <a:gd name="T75" fmla="*/ 16 h 539"/>
                        <a:gd name="T76" fmla="*/ 17 w 575"/>
                        <a:gd name="T77" fmla="*/ 12 h 539"/>
                        <a:gd name="T78" fmla="*/ 17 w 575"/>
                        <a:gd name="T79" fmla="*/ 11 h 539"/>
                        <a:gd name="T80" fmla="*/ 17 w 575"/>
                        <a:gd name="T81" fmla="*/ 10 h 539"/>
                        <a:gd name="T82" fmla="*/ 17 w 575"/>
                        <a:gd name="T83" fmla="*/ 9 h 539"/>
                        <a:gd name="T84" fmla="*/ 17 w 575"/>
                        <a:gd name="T85" fmla="*/ 8 h 539"/>
                        <a:gd name="T86" fmla="*/ 17 w 575"/>
                        <a:gd name="T87" fmla="*/ 7 h 539"/>
                        <a:gd name="T88" fmla="*/ 17 w 575"/>
                        <a:gd name="T89" fmla="*/ 7 h 539"/>
                        <a:gd name="T90" fmla="*/ 17 w 575"/>
                        <a:gd name="T91" fmla="*/ 6 h 539"/>
                        <a:gd name="T92" fmla="*/ 17 w 575"/>
                        <a:gd name="T93" fmla="*/ 5 h 539"/>
                        <a:gd name="T94" fmla="*/ 17 w 575"/>
                        <a:gd name="T95" fmla="*/ 4 h 539"/>
                        <a:gd name="T96" fmla="*/ 17 w 575"/>
                        <a:gd name="T97" fmla="*/ 3 h 539"/>
                        <a:gd name="T98" fmla="*/ 17 w 575"/>
                        <a:gd name="T99" fmla="*/ 2 h 539"/>
                        <a:gd name="T100" fmla="*/ 17 w 575"/>
                        <a:gd name="T101" fmla="*/ 2 h 539"/>
                        <a:gd name="T102" fmla="*/ 15 w 575"/>
                        <a:gd name="T103" fmla="*/ 2 h 539"/>
                        <a:gd name="T104" fmla="*/ 11 w 575"/>
                        <a:gd name="T105" fmla="*/ 3 h 539"/>
                        <a:gd name="T106" fmla="*/ 7 w 575"/>
                        <a:gd name="T107" fmla="*/ 4 h 53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75" h="539">
                          <a:moveTo>
                            <a:pt x="231" y="105"/>
                          </a:moveTo>
                          <a:lnTo>
                            <a:pt x="147" y="111"/>
                          </a:lnTo>
                          <a:lnTo>
                            <a:pt x="274" y="124"/>
                          </a:lnTo>
                          <a:lnTo>
                            <a:pt x="266" y="130"/>
                          </a:lnTo>
                          <a:lnTo>
                            <a:pt x="250" y="135"/>
                          </a:lnTo>
                          <a:lnTo>
                            <a:pt x="230" y="141"/>
                          </a:lnTo>
                          <a:lnTo>
                            <a:pt x="203" y="148"/>
                          </a:lnTo>
                          <a:lnTo>
                            <a:pt x="174" y="154"/>
                          </a:lnTo>
                          <a:lnTo>
                            <a:pt x="138" y="157"/>
                          </a:lnTo>
                          <a:lnTo>
                            <a:pt x="94" y="161"/>
                          </a:lnTo>
                          <a:lnTo>
                            <a:pt x="48" y="164"/>
                          </a:lnTo>
                          <a:lnTo>
                            <a:pt x="0" y="164"/>
                          </a:lnTo>
                          <a:lnTo>
                            <a:pt x="75" y="181"/>
                          </a:lnTo>
                          <a:lnTo>
                            <a:pt x="121" y="190"/>
                          </a:lnTo>
                          <a:lnTo>
                            <a:pt x="161" y="190"/>
                          </a:lnTo>
                          <a:lnTo>
                            <a:pt x="210" y="190"/>
                          </a:lnTo>
                          <a:lnTo>
                            <a:pt x="282" y="184"/>
                          </a:lnTo>
                          <a:lnTo>
                            <a:pt x="341" y="176"/>
                          </a:lnTo>
                          <a:lnTo>
                            <a:pt x="392" y="164"/>
                          </a:lnTo>
                          <a:lnTo>
                            <a:pt x="445" y="147"/>
                          </a:lnTo>
                          <a:lnTo>
                            <a:pt x="469" y="138"/>
                          </a:lnTo>
                          <a:lnTo>
                            <a:pt x="491" y="131"/>
                          </a:lnTo>
                          <a:lnTo>
                            <a:pt x="502" y="128"/>
                          </a:lnTo>
                          <a:lnTo>
                            <a:pt x="509" y="132"/>
                          </a:lnTo>
                          <a:lnTo>
                            <a:pt x="509" y="141"/>
                          </a:lnTo>
                          <a:lnTo>
                            <a:pt x="504" y="151"/>
                          </a:lnTo>
                          <a:lnTo>
                            <a:pt x="491" y="163"/>
                          </a:lnTo>
                          <a:lnTo>
                            <a:pt x="469" y="177"/>
                          </a:lnTo>
                          <a:lnTo>
                            <a:pt x="438" y="190"/>
                          </a:lnTo>
                          <a:lnTo>
                            <a:pt x="401" y="206"/>
                          </a:lnTo>
                          <a:lnTo>
                            <a:pt x="352" y="220"/>
                          </a:lnTo>
                          <a:lnTo>
                            <a:pt x="295" y="232"/>
                          </a:lnTo>
                          <a:lnTo>
                            <a:pt x="239" y="241"/>
                          </a:lnTo>
                          <a:lnTo>
                            <a:pt x="180" y="250"/>
                          </a:lnTo>
                          <a:lnTo>
                            <a:pt x="75" y="260"/>
                          </a:lnTo>
                          <a:lnTo>
                            <a:pt x="140" y="275"/>
                          </a:lnTo>
                          <a:lnTo>
                            <a:pt x="191" y="282"/>
                          </a:lnTo>
                          <a:lnTo>
                            <a:pt x="256" y="280"/>
                          </a:lnTo>
                          <a:lnTo>
                            <a:pt x="323" y="271"/>
                          </a:lnTo>
                          <a:lnTo>
                            <a:pt x="372" y="260"/>
                          </a:lnTo>
                          <a:lnTo>
                            <a:pt x="412" y="250"/>
                          </a:lnTo>
                          <a:lnTo>
                            <a:pt x="445" y="241"/>
                          </a:lnTo>
                          <a:lnTo>
                            <a:pt x="479" y="229"/>
                          </a:lnTo>
                          <a:lnTo>
                            <a:pt x="505" y="219"/>
                          </a:lnTo>
                          <a:lnTo>
                            <a:pt x="518" y="216"/>
                          </a:lnTo>
                          <a:lnTo>
                            <a:pt x="525" y="216"/>
                          </a:lnTo>
                          <a:lnTo>
                            <a:pt x="524" y="224"/>
                          </a:lnTo>
                          <a:lnTo>
                            <a:pt x="519" y="233"/>
                          </a:lnTo>
                          <a:lnTo>
                            <a:pt x="509" y="246"/>
                          </a:lnTo>
                          <a:lnTo>
                            <a:pt x="485" y="262"/>
                          </a:lnTo>
                          <a:lnTo>
                            <a:pt x="458" y="277"/>
                          </a:lnTo>
                          <a:lnTo>
                            <a:pt x="429" y="290"/>
                          </a:lnTo>
                          <a:lnTo>
                            <a:pt x="390" y="305"/>
                          </a:lnTo>
                          <a:lnTo>
                            <a:pt x="345" y="319"/>
                          </a:lnTo>
                          <a:lnTo>
                            <a:pt x="277" y="333"/>
                          </a:lnTo>
                          <a:lnTo>
                            <a:pt x="231" y="342"/>
                          </a:lnTo>
                          <a:lnTo>
                            <a:pt x="187" y="347"/>
                          </a:lnTo>
                          <a:lnTo>
                            <a:pt x="121" y="351"/>
                          </a:lnTo>
                          <a:lnTo>
                            <a:pt x="188" y="361"/>
                          </a:lnTo>
                          <a:lnTo>
                            <a:pt x="240" y="365"/>
                          </a:lnTo>
                          <a:lnTo>
                            <a:pt x="283" y="366"/>
                          </a:lnTo>
                          <a:lnTo>
                            <a:pt x="332" y="365"/>
                          </a:lnTo>
                          <a:lnTo>
                            <a:pt x="378" y="359"/>
                          </a:lnTo>
                          <a:lnTo>
                            <a:pt x="416" y="349"/>
                          </a:lnTo>
                          <a:lnTo>
                            <a:pt x="446" y="339"/>
                          </a:lnTo>
                          <a:lnTo>
                            <a:pt x="494" y="323"/>
                          </a:lnTo>
                          <a:lnTo>
                            <a:pt x="500" y="323"/>
                          </a:lnTo>
                          <a:lnTo>
                            <a:pt x="505" y="326"/>
                          </a:lnTo>
                          <a:lnTo>
                            <a:pt x="504" y="336"/>
                          </a:lnTo>
                          <a:lnTo>
                            <a:pt x="498" y="347"/>
                          </a:lnTo>
                          <a:lnTo>
                            <a:pt x="487" y="359"/>
                          </a:lnTo>
                          <a:lnTo>
                            <a:pt x="471" y="371"/>
                          </a:lnTo>
                          <a:lnTo>
                            <a:pt x="442" y="385"/>
                          </a:lnTo>
                          <a:lnTo>
                            <a:pt x="412" y="398"/>
                          </a:lnTo>
                          <a:lnTo>
                            <a:pt x="385" y="408"/>
                          </a:lnTo>
                          <a:lnTo>
                            <a:pt x="352" y="415"/>
                          </a:lnTo>
                          <a:lnTo>
                            <a:pt x="322" y="420"/>
                          </a:lnTo>
                          <a:lnTo>
                            <a:pt x="283" y="424"/>
                          </a:lnTo>
                          <a:lnTo>
                            <a:pt x="240" y="426"/>
                          </a:lnTo>
                          <a:lnTo>
                            <a:pt x="197" y="427"/>
                          </a:lnTo>
                          <a:lnTo>
                            <a:pt x="130" y="427"/>
                          </a:lnTo>
                          <a:lnTo>
                            <a:pt x="166" y="439"/>
                          </a:lnTo>
                          <a:lnTo>
                            <a:pt x="199" y="448"/>
                          </a:lnTo>
                          <a:lnTo>
                            <a:pt x="237" y="453"/>
                          </a:lnTo>
                          <a:lnTo>
                            <a:pt x="269" y="454"/>
                          </a:lnTo>
                          <a:lnTo>
                            <a:pt x="302" y="456"/>
                          </a:lnTo>
                          <a:lnTo>
                            <a:pt x="335" y="454"/>
                          </a:lnTo>
                          <a:lnTo>
                            <a:pt x="363" y="453"/>
                          </a:lnTo>
                          <a:lnTo>
                            <a:pt x="389" y="448"/>
                          </a:lnTo>
                          <a:lnTo>
                            <a:pt x="425" y="439"/>
                          </a:lnTo>
                          <a:lnTo>
                            <a:pt x="451" y="433"/>
                          </a:lnTo>
                          <a:lnTo>
                            <a:pt x="461" y="434"/>
                          </a:lnTo>
                          <a:lnTo>
                            <a:pt x="462" y="442"/>
                          </a:lnTo>
                          <a:lnTo>
                            <a:pt x="459" y="450"/>
                          </a:lnTo>
                          <a:lnTo>
                            <a:pt x="452" y="458"/>
                          </a:lnTo>
                          <a:lnTo>
                            <a:pt x="441" y="467"/>
                          </a:lnTo>
                          <a:lnTo>
                            <a:pt x="428" y="473"/>
                          </a:lnTo>
                          <a:lnTo>
                            <a:pt x="412" y="480"/>
                          </a:lnTo>
                          <a:lnTo>
                            <a:pt x="389" y="487"/>
                          </a:lnTo>
                          <a:lnTo>
                            <a:pt x="339" y="494"/>
                          </a:lnTo>
                          <a:lnTo>
                            <a:pt x="292" y="500"/>
                          </a:lnTo>
                          <a:lnTo>
                            <a:pt x="199" y="507"/>
                          </a:lnTo>
                          <a:lnTo>
                            <a:pt x="320" y="513"/>
                          </a:lnTo>
                          <a:lnTo>
                            <a:pt x="345" y="513"/>
                          </a:lnTo>
                          <a:lnTo>
                            <a:pt x="356" y="518"/>
                          </a:lnTo>
                          <a:lnTo>
                            <a:pt x="362" y="524"/>
                          </a:lnTo>
                          <a:lnTo>
                            <a:pt x="360" y="533"/>
                          </a:lnTo>
                          <a:lnTo>
                            <a:pt x="366" y="537"/>
                          </a:lnTo>
                          <a:lnTo>
                            <a:pt x="381" y="539"/>
                          </a:lnTo>
                          <a:lnTo>
                            <a:pt x="405" y="530"/>
                          </a:lnTo>
                          <a:lnTo>
                            <a:pt x="426" y="519"/>
                          </a:lnTo>
                          <a:lnTo>
                            <a:pt x="442" y="509"/>
                          </a:lnTo>
                          <a:lnTo>
                            <a:pt x="455" y="500"/>
                          </a:lnTo>
                          <a:lnTo>
                            <a:pt x="469" y="486"/>
                          </a:lnTo>
                          <a:lnTo>
                            <a:pt x="512" y="428"/>
                          </a:lnTo>
                          <a:lnTo>
                            <a:pt x="544" y="379"/>
                          </a:lnTo>
                          <a:lnTo>
                            <a:pt x="557" y="354"/>
                          </a:lnTo>
                          <a:lnTo>
                            <a:pt x="560" y="344"/>
                          </a:lnTo>
                          <a:lnTo>
                            <a:pt x="561" y="336"/>
                          </a:lnTo>
                          <a:lnTo>
                            <a:pt x="561" y="328"/>
                          </a:lnTo>
                          <a:lnTo>
                            <a:pt x="555" y="318"/>
                          </a:lnTo>
                          <a:lnTo>
                            <a:pt x="551" y="311"/>
                          </a:lnTo>
                          <a:lnTo>
                            <a:pt x="549" y="302"/>
                          </a:lnTo>
                          <a:lnTo>
                            <a:pt x="551" y="292"/>
                          </a:lnTo>
                          <a:lnTo>
                            <a:pt x="555" y="285"/>
                          </a:lnTo>
                          <a:lnTo>
                            <a:pt x="560" y="277"/>
                          </a:lnTo>
                          <a:lnTo>
                            <a:pt x="565" y="269"/>
                          </a:lnTo>
                          <a:lnTo>
                            <a:pt x="571" y="260"/>
                          </a:lnTo>
                          <a:lnTo>
                            <a:pt x="575" y="252"/>
                          </a:lnTo>
                          <a:lnTo>
                            <a:pt x="574" y="241"/>
                          </a:lnTo>
                          <a:lnTo>
                            <a:pt x="570" y="232"/>
                          </a:lnTo>
                          <a:lnTo>
                            <a:pt x="565" y="224"/>
                          </a:lnTo>
                          <a:lnTo>
                            <a:pt x="560" y="217"/>
                          </a:lnTo>
                          <a:lnTo>
                            <a:pt x="554" y="209"/>
                          </a:lnTo>
                          <a:lnTo>
                            <a:pt x="552" y="200"/>
                          </a:lnTo>
                          <a:lnTo>
                            <a:pt x="554" y="192"/>
                          </a:lnTo>
                          <a:lnTo>
                            <a:pt x="561" y="181"/>
                          </a:lnTo>
                          <a:lnTo>
                            <a:pt x="568" y="173"/>
                          </a:lnTo>
                          <a:lnTo>
                            <a:pt x="571" y="164"/>
                          </a:lnTo>
                          <a:lnTo>
                            <a:pt x="571" y="151"/>
                          </a:lnTo>
                          <a:lnTo>
                            <a:pt x="567" y="140"/>
                          </a:lnTo>
                          <a:lnTo>
                            <a:pt x="560" y="131"/>
                          </a:lnTo>
                          <a:lnTo>
                            <a:pt x="557" y="125"/>
                          </a:lnTo>
                          <a:lnTo>
                            <a:pt x="554" y="115"/>
                          </a:lnTo>
                          <a:lnTo>
                            <a:pt x="555" y="104"/>
                          </a:lnTo>
                          <a:lnTo>
                            <a:pt x="561" y="95"/>
                          </a:lnTo>
                          <a:lnTo>
                            <a:pt x="565" y="89"/>
                          </a:lnTo>
                          <a:lnTo>
                            <a:pt x="571" y="82"/>
                          </a:lnTo>
                          <a:lnTo>
                            <a:pt x="574" y="73"/>
                          </a:lnTo>
                          <a:lnTo>
                            <a:pt x="575" y="62"/>
                          </a:lnTo>
                          <a:lnTo>
                            <a:pt x="573" y="56"/>
                          </a:lnTo>
                          <a:lnTo>
                            <a:pt x="567" y="46"/>
                          </a:lnTo>
                          <a:lnTo>
                            <a:pt x="561" y="38"/>
                          </a:lnTo>
                          <a:lnTo>
                            <a:pt x="557" y="26"/>
                          </a:lnTo>
                          <a:lnTo>
                            <a:pt x="557" y="0"/>
                          </a:lnTo>
                          <a:lnTo>
                            <a:pt x="498" y="39"/>
                          </a:lnTo>
                          <a:lnTo>
                            <a:pt x="462" y="54"/>
                          </a:lnTo>
                          <a:lnTo>
                            <a:pt x="421" y="67"/>
                          </a:lnTo>
                          <a:lnTo>
                            <a:pt x="373" y="82"/>
                          </a:lnTo>
                          <a:lnTo>
                            <a:pt x="330" y="91"/>
                          </a:lnTo>
                          <a:lnTo>
                            <a:pt x="287" y="98"/>
                          </a:lnTo>
                          <a:lnTo>
                            <a:pt x="231" y="105"/>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7" name="Group 21">
                  <a:extLst>
                    <a:ext uri="{FF2B5EF4-FFF2-40B4-BE49-F238E27FC236}">
                      <a16:creationId xmlns:a16="http://schemas.microsoft.com/office/drawing/2014/main" id="{54EC3992-8869-843E-7345-B0C1B0DF360A}"/>
                    </a:ext>
                  </a:extLst>
                </p:cNvPr>
                <p:cNvGrpSpPr>
                  <a:grpSpLocks/>
                </p:cNvGrpSpPr>
                <p:nvPr/>
              </p:nvGrpSpPr>
              <p:grpSpPr bwMode="auto">
                <a:xfrm rot="5400000">
                  <a:off x="597" y="1367"/>
                  <a:ext cx="43" cy="68"/>
                  <a:chOff x="2219" y="3309"/>
                  <a:chExt cx="85" cy="171"/>
                </a:xfrm>
              </p:grpSpPr>
              <p:sp>
                <p:nvSpPr>
                  <p:cNvPr id="101" name="Freeform 22">
                    <a:extLst>
                      <a:ext uri="{FF2B5EF4-FFF2-40B4-BE49-F238E27FC236}">
                        <a16:creationId xmlns:a16="http://schemas.microsoft.com/office/drawing/2014/main" id="{55135A97-9C2F-7BAF-E392-AEF9C1FC4E27}"/>
                      </a:ext>
                    </a:extLst>
                  </p:cNvPr>
                  <p:cNvSpPr>
                    <a:spLocks/>
                  </p:cNvSpPr>
                  <p:nvPr/>
                </p:nvSpPr>
                <p:spPr bwMode="auto">
                  <a:xfrm>
                    <a:off x="2235" y="3355"/>
                    <a:ext cx="66" cy="27"/>
                  </a:xfrm>
                  <a:custGeom>
                    <a:avLst/>
                    <a:gdLst>
                      <a:gd name="T0" fmla="*/ 5 w 131"/>
                      <a:gd name="T1" fmla="*/ 1 h 54"/>
                      <a:gd name="T2" fmla="*/ 4 w 131"/>
                      <a:gd name="T3" fmla="*/ 0 h 54"/>
                      <a:gd name="T4" fmla="*/ 3 w 131"/>
                      <a:gd name="T5" fmla="*/ 1 h 54"/>
                      <a:gd name="T6" fmla="*/ 2 w 131"/>
                      <a:gd name="T7" fmla="*/ 2 h 54"/>
                      <a:gd name="T8" fmla="*/ 0 w 131"/>
                      <a:gd name="T9" fmla="*/ 2 h 54"/>
                      <a:gd name="T10" fmla="*/ 1 w 131"/>
                      <a:gd name="T11" fmla="*/ 2 h 54"/>
                      <a:gd name="T12" fmla="*/ 2 w 131"/>
                      <a:gd name="T13" fmla="*/ 2 h 54"/>
                      <a:gd name="T14" fmla="*/ 3 w 131"/>
                      <a:gd name="T15" fmla="*/ 2 h 54"/>
                      <a:gd name="T16" fmla="*/ 4 w 131"/>
                      <a:gd name="T17" fmla="*/ 1 h 54"/>
                      <a:gd name="T18" fmla="*/ 5 w 131"/>
                      <a:gd name="T19" fmla="*/ 1 h 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1" h="54">
                        <a:moveTo>
                          <a:pt x="131" y="10"/>
                        </a:moveTo>
                        <a:lnTo>
                          <a:pt x="119" y="0"/>
                        </a:lnTo>
                        <a:lnTo>
                          <a:pt x="79" y="21"/>
                        </a:lnTo>
                        <a:lnTo>
                          <a:pt x="39" y="35"/>
                        </a:lnTo>
                        <a:lnTo>
                          <a:pt x="0" y="46"/>
                        </a:lnTo>
                        <a:lnTo>
                          <a:pt x="7" y="54"/>
                        </a:lnTo>
                        <a:lnTo>
                          <a:pt x="34" y="54"/>
                        </a:lnTo>
                        <a:lnTo>
                          <a:pt x="70" y="47"/>
                        </a:lnTo>
                        <a:lnTo>
                          <a:pt x="103" y="31"/>
                        </a:lnTo>
                        <a:lnTo>
                          <a:pt x="131" y="10"/>
                        </a:lnTo>
                        <a:close/>
                      </a:path>
                    </a:pathLst>
                  </a:custGeom>
                  <a:solidFill>
                    <a:srgbClr val="FFE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 name="Freeform 23">
                    <a:extLst>
                      <a:ext uri="{FF2B5EF4-FFF2-40B4-BE49-F238E27FC236}">
                        <a16:creationId xmlns:a16="http://schemas.microsoft.com/office/drawing/2014/main" id="{8045DE5E-CE3B-7F02-0E66-34AAAC04FFED}"/>
                      </a:ext>
                    </a:extLst>
                  </p:cNvPr>
                  <p:cNvSpPr>
                    <a:spLocks/>
                  </p:cNvSpPr>
                  <p:nvPr/>
                </p:nvSpPr>
                <p:spPr bwMode="auto">
                  <a:xfrm>
                    <a:off x="2247" y="3398"/>
                    <a:ext cx="57" cy="31"/>
                  </a:xfrm>
                  <a:custGeom>
                    <a:avLst/>
                    <a:gdLst>
                      <a:gd name="T0" fmla="*/ 3 w 115"/>
                      <a:gd name="T1" fmla="*/ 1 h 62"/>
                      <a:gd name="T2" fmla="*/ 3 w 115"/>
                      <a:gd name="T3" fmla="*/ 0 h 62"/>
                      <a:gd name="T4" fmla="*/ 2 w 115"/>
                      <a:gd name="T5" fmla="*/ 1 h 62"/>
                      <a:gd name="T6" fmla="*/ 1 w 115"/>
                      <a:gd name="T7" fmla="*/ 2 h 62"/>
                      <a:gd name="T8" fmla="*/ 0 w 115"/>
                      <a:gd name="T9" fmla="*/ 2 h 62"/>
                      <a:gd name="T10" fmla="*/ 0 w 115"/>
                      <a:gd name="T11" fmla="*/ 2 h 62"/>
                      <a:gd name="T12" fmla="*/ 1 w 115"/>
                      <a:gd name="T13" fmla="*/ 2 h 62"/>
                      <a:gd name="T14" fmla="*/ 1 w 115"/>
                      <a:gd name="T15" fmla="*/ 2 h 62"/>
                      <a:gd name="T16" fmla="*/ 2 w 115"/>
                      <a:gd name="T17" fmla="*/ 2 h 62"/>
                      <a:gd name="T18" fmla="*/ 3 w 115"/>
                      <a:gd name="T19" fmla="*/ 1 h 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62">
                        <a:moveTo>
                          <a:pt x="115" y="12"/>
                        </a:moveTo>
                        <a:lnTo>
                          <a:pt x="108" y="0"/>
                        </a:lnTo>
                        <a:lnTo>
                          <a:pt x="69" y="27"/>
                        </a:lnTo>
                        <a:lnTo>
                          <a:pt x="39" y="40"/>
                        </a:lnTo>
                        <a:lnTo>
                          <a:pt x="0" y="52"/>
                        </a:lnTo>
                        <a:lnTo>
                          <a:pt x="8" y="62"/>
                        </a:lnTo>
                        <a:lnTo>
                          <a:pt x="33" y="62"/>
                        </a:lnTo>
                        <a:lnTo>
                          <a:pt x="58" y="55"/>
                        </a:lnTo>
                        <a:lnTo>
                          <a:pt x="88" y="36"/>
                        </a:lnTo>
                        <a:lnTo>
                          <a:pt x="115" y="12"/>
                        </a:lnTo>
                        <a:close/>
                      </a:path>
                    </a:pathLst>
                  </a:custGeom>
                  <a:solidFill>
                    <a:srgbClr val="FFE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 name="Freeform 24">
                    <a:extLst>
                      <a:ext uri="{FF2B5EF4-FFF2-40B4-BE49-F238E27FC236}">
                        <a16:creationId xmlns:a16="http://schemas.microsoft.com/office/drawing/2014/main" id="{8E2B1DA9-B670-8FE1-F0B5-F9D5F4C2AE93}"/>
                      </a:ext>
                    </a:extLst>
                  </p:cNvPr>
                  <p:cNvSpPr>
                    <a:spLocks/>
                  </p:cNvSpPr>
                  <p:nvPr/>
                </p:nvSpPr>
                <p:spPr bwMode="auto">
                  <a:xfrm>
                    <a:off x="2243" y="3449"/>
                    <a:ext cx="59" cy="31"/>
                  </a:xfrm>
                  <a:custGeom>
                    <a:avLst/>
                    <a:gdLst>
                      <a:gd name="T0" fmla="*/ 4 w 116"/>
                      <a:gd name="T1" fmla="*/ 1 h 60"/>
                      <a:gd name="T2" fmla="*/ 4 w 116"/>
                      <a:gd name="T3" fmla="*/ 0 h 60"/>
                      <a:gd name="T4" fmla="*/ 3 w 116"/>
                      <a:gd name="T5" fmla="*/ 1 h 60"/>
                      <a:gd name="T6" fmla="*/ 2 w 116"/>
                      <a:gd name="T7" fmla="*/ 2 h 60"/>
                      <a:gd name="T8" fmla="*/ 0 w 116"/>
                      <a:gd name="T9" fmla="*/ 2 h 60"/>
                      <a:gd name="T10" fmla="*/ 1 w 116"/>
                      <a:gd name="T11" fmla="*/ 2 h 60"/>
                      <a:gd name="T12" fmla="*/ 1 w 116"/>
                      <a:gd name="T13" fmla="*/ 2 h 60"/>
                      <a:gd name="T14" fmla="*/ 2 w 116"/>
                      <a:gd name="T15" fmla="*/ 2 h 60"/>
                      <a:gd name="T16" fmla="*/ 3 w 116"/>
                      <a:gd name="T17" fmla="*/ 1 h 60"/>
                      <a:gd name="T18" fmla="*/ 4 w 116"/>
                      <a:gd name="T19" fmla="*/ 1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6" h="60">
                        <a:moveTo>
                          <a:pt x="116" y="9"/>
                        </a:moveTo>
                        <a:lnTo>
                          <a:pt x="108" y="0"/>
                        </a:lnTo>
                        <a:lnTo>
                          <a:pt x="72" y="24"/>
                        </a:lnTo>
                        <a:lnTo>
                          <a:pt x="39" y="39"/>
                        </a:lnTo>
                        <a:lnTo>
                          <a:pt x="0" y="49"/>
                        </a:lnTo>
                        <a:lnTo>
                          <a:pt x="7" y="60"/>
                        </a:lnTo>
                        <a:lnTo>
                          <a:pt x="32" y="58"/>
                        </a:lnTo>
                        <a:lnTo>
                          <a:pt x="63" y="51"/>
                        </a:lnTo>
                        <a:lnTo>
                          <a:pt x="95" y="31"/>
                        </a:lnTo>
                        <a:lnTo>
                          <a:pt x="116" y="9"/>
                        </a:lnTo>
                        <a:close/>
                      </a:path>
                    </a:pathLst>
                  </a:custGeom>
                  <a:solidFill>
                    <a:srgbClr val="FFE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 name="Freeform 25">
                    <a:extLst>
                      <a:ext uri="{FF2B5EF4-FFF2-40B4-BE49-F238E27FC236}">
                        <a16:creationId xmlns:a16="http://schemas.microsoft.com/office/drawing/2014/main" id="{7DD71781-DFB4-647A-F815-9CCB2651F0C8}"/>
                      </a:ext>
                    </a:extLst>
                  </p:cNvPr>
                  <p:cNvSpPr>
                    <a:spLocks/>
                  </p:cNvSpPr>
                  <p:nvPr/>
                </p:nvSpPr>
                <p:spPr bwMode="auto">
                  <a:xfrm>
                    <a:off x="2219" y="3309"/>
                    <a:ext cx="67" cy="27"/>
                  </a:xfrm>
                  <a:custGeom>
                    <a:avLst/>
                    <a:gdLst>
                      <a:gd name="T0" fmla="*/ 4 w 135"/>
                      <a:gd name="T1" fmla="*/ 1 h 53"/>
                      <a:gd name="T2" fmla="*/ 3 w 135"/>
                      <a:gd name="T3" fmla="*/ 0 h 53"/>
                      <a:gd name="T4" fmla="*/ 2 w 135"/>
                      <a:gd name="T5" fmla="*/ 1 h 53"/>
                      <a:gd name="T6" fmla="*/ 1 w 135"/>
                      <a:gd name="T7" fmla="*/ 2 h 53"/>
                      <a:gd name="T8" fmla="*/ 0 w 135"/>
                      <a:gd name="T9" fmla="*/ 2 h 53"/>
                      <a:gd name="T10" fmla="*/ 0 w 135"/>
                      <a:gd name="T11" fmla="*/ 2 h 53"/>
                      <a:gd name="T12" fmla="*/ 1 w 135"/>
                      <a:gd name="T13" fmla="*/ 2 h 53"/>
                      <a:gd name="T14" fmla="*/ 2 w 135"/>
                      <a:gd name="T15" fmla="*/ 2 h 53"/>
                      <a:gd name="T16" fmla="*/ 3 w 135"/>
                      <a:gd name="T17" fmla="*/ 1 h 53"/>
                      <a:gd name="T18" fmla="*/ 4 w 135"/>
                      <a:gd name="T19" fmla="*/ 1 h 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5" h="53">
                        <a:moveTo>
                          <a:pt x="135" y="10"/>
                        </a:moveTo>
                        <a:lnTo>
                          <a:pt x="121" y="0"/>
                        </a:lnTo>
                        <a:lnTo>
                          <a:pt x="76" y="20"/>
                        </a:lnTo>
                        <a:lnTo>
                          <a:pt x="39" y="33"/>
                        </a:lnTo>
                        <a:lnTo>
                          <a:pt x="0" y="43"/>
                        </a:lnTo>
                        <a:lnTo>
                          <a:pt x="9" y="53"/>
                        </a:lnTo>
                        <a:lnTo>
                          <a:pt x="33" y="52"/>
                        </a:lnTo>
                        <a:lnTo>
                          <a:pt x="65" y="45"/>
                        </a:lnTo>
                        <a:lnTo>
                          <a:pt x="100" y="32"/>
                        </a:lnTo>
                        <a:lnTo>
                          <a:pt x="135" y="10"/>
                        </a:lnTo>
                        <a:close/>
                      </a:path>
                    </a:pathLst>
                  </a:custGeom>
                  <a:solidFill>
                    <a:srgbClr val="FFE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8" name="Freeform 26">
                  <a:extLst>
                    <a:ext uri="{FF2B5EF4-FFF2-40B4-BE49-F238E27FC236}">
                      <a16:creationId xmlns:a16="http://schemas.microsoft.com/office/drawing/2014/main" id="{A5E9CA1C-FE81-9C7C-7A2D-FE5060A33C3B}"/>
                    </a:ext>
                  </a:extLst>
                </p:cNvPr>
                <p:cNvSpPr>
                  <a:spLocks/>
                </p:cNvSpPr>
                <p:nvPr/>
              </p:nvSpPr>
              <p:spPr bwMode="auto">
                <a:xfrm rot="5400000">
                  <a:off x="681" y="1126"/>
                  <a:ext cx="397" cy="448"/>
                </a:xfrm>
                <a:custGeom>
                  <a:avLst/>
                  <a:gdLst>
                    <a:gd name="T0" fmla="*/ 1 w 1584"/>
                    <a:gd name="T1" fmla="*/ 1 h 2273"/>
                    <a:gd name="T2" fmla="*/ 1 w 1584"/>
                    <a:gd name="T3" fmla="*/ 1 h 2273"/>
                    <a:gd name="T4" fmla="*/ 1 w 1584"/>
                    <a:gd name="T5" fmla="*/ 1 h 2273"/>
                    <a:gd name="T6" fmla="*/ 1 w 1584"/>
                    <a:gd name="T7" fmla="*/ 1 h 2273"/>
                    <a:gd name="T8" fmla="*/ 1 w 1584"/>
                    <a:gd name="T9" fmla="*/ 1 h 2273"/>
                    <a:gd name="T10" fmla="*/ 1 w 1584"/>
                    <a:gd name="T11" fmla="*/ 0 h 2273"/>
                    <a:gd name="T12" fmla="*/ 1 w 1584"/>
                    <a:gd name="T13" fmla="*/ 0 h 2273"/>
                    <a:gd name="T14" fmla="*/ 2 w 1584"/>
                    <a:gd name="T15" fmla="*/ 0 h 2273"/>
                    <a:gd name="T16" fmla="*/ 2 w 1584"/>
                    <a:gd name="T17" fmla="*/ 0 h 2273"/>
                    <a:gd name="T18" fmla="*/ 2 w 1584"/>
                    <a:gd name="T19" fmla="*/ 0 h 2273"/>
                    <a:gd name="T20" fmla="*/ 2 w 1584"/>
                    <a:gd name="T21" fmla="*/ 0 h 2273"/>
                    <a:gd name="T22" fmla="*/ 2 w 1584"/>
                    <a:gd name="T23" fmla="*/ 0 h 2273"/>
                    <a:gd name="T24" fmla="*/ 2 w 1584"/>
                    <a:gd name="T25" fmla="*/ 0 h 2273"/>
                    <a:gd name="T26" fmla="*/ 2 w 1584"/>
                    <a:gd name="T27" fmla="*/ 0 h 2273"/>
                    <a:gd name="T28" fmla="*/ 2 w 1584"/>
                    <a:gd name="T29" fmla="*/ 0 h 2273"/>
                    <a:gd name="T30" fmla="*/ 2 w 1584"/>
                    <a:gd name="T31" fmla="*/ 0 h 2273"/>
                    <a:gd name="T32" fmla="*/ 1 w 1584"/>
                    <a:gd name="T33" fmla="*/ 0 h 2273"/>
                    <a:gd name="T34" fmla="*/ 1 w 1584"/>
                    <a:gd name="T35" fmla="*/ 0 h 2273"/>
                    <a:gd name="T36" fmla="*/ 1 w 1584"/>
                    <a:gd name="T37" fmla="*/ 0 h 2273"/>
                    <a:gd name="T38" fmla="*/ 1 w 1584"/>
                    <a:gd name="T39" fmla="*/ 0 h 2273"/>
                    <a:gd name="T40" fmla="*/ 1 w 1584"/>
                    <a:gd name="T41" fmla="*/ 0 h 2273"/>
                    <a:gd name="T42" fmla="*/ 1 w 1584"/>
                    <a:gd name="T43" fmla="*/ 0 h 2273"/>
                    <a:gd name="T44" fmla="*/ 1 w 1584"/>
                    <a:gd name="T45" fmla="*/ 0 h 2273"/>
                    <a:gd name="T46" fmla="*/ 1 w 1584"/>
                    <a:gd name="T47" fmla="*/ 0 h 2273"/>
                    <a:gd name="T48" fmla="*/ 0 w 1584"/>
                    <a:gd name="T49" fmla="*/ 0 h 2273"/>
                    <a:gd name="T50" fmla="*/ 0 w 1584"/>
                    <a:gd name="T51" fmla="*/ 0 h 2273"/>
                    <a:gd name="T52" fmla="*/ 0 w 1584"/>
                    <a:gd name="T53" fmla="*/ 0 h 2273"/>
                    <a:gd name="T54" fmla="*/ 0 w 1584"/>
                    <a:gd name="T55" fmla="*/ 0 h 2273"/>
                    <a:gd name="T56" fmla="*/ 0 w 1584"/>
                    <a:gd name="T57" fmla="*/ 0 h 2273"/>
                    <a:gd name="T58" fmla="*/ 0 w 1584"/>
                    <a:gd name="T59" fmla="*/ 0 h 2273"/>
                    <a:gd name="T60" fmla="*/ 0 w 1584"/>
                    <a:gd name="T61" fmla="*/ 0 h 2273"/>
                    <a:gd name="T62" fmla="*/ 0 w 1584"/>
                    <a:gd name="T63" fmla="*/ 0 h 2273"/>
                    <a:gd name="T64" fmla="*/ 0 w 1584"/>
                    <a:gd name="T65" fmla="*/ 0 h 2273"/>
                    <a:gd name="T66" fmla="*/ 0 w 1584"/>
                    <a:gd name="T67" fmla="*/ 0 h 2273"/>
                    <a:gd name="T68" fmla="*/ 0 w 1584"/>
                    <a:gd name="T69" fmla="*/ 0 h 2273"/>
                    <a:gd name="T70" fmla="*/ 0 w 1584"/>
                    <a:gd name="T71" fmla="*/ 1 h 2273"/>
                    <a:gd name="T72" fmla="*/ 1 w 1584"/>
                    <a:gd name="T73" fmla="*/ 1 h 2273"/>
                    <a:gd name="T74" fmla="*/ 1 w 1584"/>
                    <a:gd name="T75" fmla="*/ 1 h 2273"/>
                    <a:gd name="T76" fmla="*/ 1 w 1584"/>
                    <a:gd name="T77" fmla="*/ 1 h 2273"/>
                    <a:gd name="T78" fmla="*/ 1 w 1584"/>
                    <a:gd name="T79" fmla="*/ 1 h 2273"/>
                    <a:gd name="T80" fmla="*/ 1 w 1584"/>
                    <a:gd name="T81" fmla="*/ 1 h 2273"/>
                    <a:gd name="T82" fmla="*/ 1 w 1584"/>
                    <a:gd name="T83" fmla="*/ 1 h 2273"/>
                    <a:gd name="T84" fmla="*/ 1 w 1584"/>
                    <a:gd name="T85" fmla="*/ 1 h 2273"/>
                    <a:gd name="T86" fmla="*/ 1 w 1584"/>
                    <a:gd name="T87" fmla="*/ 1 h 2273"/>
                    <a:gd name="T88" fmla="*/ 1 w 1584"/>
                    <a:gd name="T89" fmla="*/ 1 h 2273"/>
                    <a:gd name="T90" fmla="*/ 1 w 1584"/>
                    <a:gd name="T91" fmla="*/ 1 h 2273"/>
                    <a:gd name="T92" fmla="*/ 1 w 1584"/>
                    <a:gd name="T93" fmla="*/ 1 h 2273"/>
                    <a:gd name="T94" fmla="*/ 1 w 1584"/>
                    <a:gd name="T95" fmla="*/ 1 h 2273"/>
                    <a:gd name="T96" fmla="*/ 1 w 1584"/>
                    <a:gd name="T97" fmla="*/ 1 h 2273"/>
                    <a:gd name="T98" fmla="*/ 1 w 1584"/>
                    <a:gd name="T99" fmla="*/ 1 h 2273"/>
                    <a:gd name="T100" fmla="*/ 1 w 1584"/>
                    <a:gd name="T101" fmla="*/ 1 h 2273"/>
                    <a:gd name="T102" fmla="*/ 1 w 1584"/>
                    <a:gd name="T103" fmla="*/ 1 h 2273"/>
                    <a:gd name="T104" fmla="*/ 1 w 1584"/>
                    <a:gd name="T105" fmla="*/ 1 h 227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584" h="2273">
                      <a:moveTo>
                        <a:pt x="1110" y="2213"/>
                      </a:moveTo>
                      <a:lnTo>
                        <a:pt x="1124" y="2204"/>
                      </a:lnTo>
                      <a:lnTo>
                        <a:pt x="1134" y="2195"/>
                      </a:lnTo>
                      <a:lnTo>
                        <a:pt x="1140" y="2188"/>
                      </a:lnTo>
                      <a:lnTo>
                        <a:pt x="1144" y="2181"/>
                      </a:lnTo>
                      <a:lnTo>
                        <a:pt x="1148" y="2177"/>
                      </a:lnTo>
                      <a:lnTo>
                        <a:pt x="1150" y="2172"/>
                      </a:lnTo>
                      <a:lnTo>
                        <a:pt x="1153" y="2168"/>
                      </a:lnTo>
                      <a:lnTo>
                        <a:pt x="1154" y="2162"/>
                      </a:lnTo>
                      <a:lnTo>
                        <a:pt x="1156" y="2155"/>
                      </a:lnTo>
                      <a:lnTo>
                        <a:pt x="1157" y="2145"/>
                      </a:lnTo>
                      <a:lnTo>
                        <a:pt x="1165" y="2109"/>
                      </a:lnTo>
                      <a:lnTo>
                        <a:pt x="1211" y="1815"/>
                      </a:lnTo>
                      <a:lnTo>
                        <a:pt x="1219" y="1773"/>
                      </a:lnTo>
                      <a:lnTo>
                        <a:pt x="1226" y="1743"/>
                      </a:lnTo>
                      <a:lnTo>
                        <a:pt x="1237" y="1701"/>
                      </a:lnTo>
                      <a:lnTo>
                        <a:pt x="1254" y="1653"/>
                      </a:lnTo>
                      <a:lnTo>
                        <a:pt x="1270" y="1612"/>
                      </a:lnTo>
                      <a:lnTo>
                        <a:pt x="1286" y="1578"/>
                      </a:lnTo>
                      <a:lnTo>
                        <a:pt x="1299" y="1548"/>
                      </a:lnTo>
                      <a:lnTo>
                        <a:pt x="1312" y="1519"/>
                      </a:lnTo>
                      <a:lnTo>
                        <a:pt x="1339" y="1470"/>
                      </a:lnTo>
                      <a:lnTo>
                        <a:pt x="1365" y="1424"/>
                      </a:lnTo>
                      <a:lnTo>
                        <a:pt x="1391" y="1381"/>
                      </a:lnTo>
                      <a:lnTo>
                        <a:pt x="1412" y="1348"/>
                      </a:lnTo>
                      <a:lnTo>
                        <a:pt x="1449" y="1286"/>
                      </a:lnTo>
                      <a:lnTo>
                        <a:pt x="1474" y="1243"/>
                      </a:lnTo>
                      <a:lnTo>
                        <a:pt x="1495" y="1208"/>
                      </a:lnTo>
                      <a:lnTo>
                        <a:pt x="1512" y="1167"/>
                      </a:lnTo>
                      <a:lnTo>
                        <a:pt x="1532" y="1117"/>
                      </a:lnTo>
                      <a:lnTo>
                        <a:pt x="1545" y="1074"/>
                      </a:lnTo>
                      <a:lnTo>
                        <a:pt x="1557" y="1029"/>
                      </a:lnTo>
                      <a:lnTo>
                        <a:pt x="1565" y="990"/>
                      </a:lnTo>
                      <a:lnTo>
                        <a:pt x="1575" y="947"/>
                      </a:lnTo>
                      <a:lnTo>
                        <a:pt x="1581" y="893"/>
                      </a:lnTo>
                      <a:lnTo>
                        <a:pt x="1584" y="830"/>
                      </a:lnTo>
                      <a:lnTo>
                        <a:pt x="1584" y="772"/>
                      </a:lnTo>
                      <a:lnTo>
                        <a:pt x="1579" y="726"/>
                      </a:lnTo>
                      <a:lnTo>
                        <a:pt x="1572" y="683"/>
                      </a:lnTo>
                      <a:lnTo>
                        <a:pt x="1564" y="644"/>
                      </a:lnTo>
                      <a:lnTo>
                        <a:pt x="1552" y="594"/>
                      </a:lnTo>
                      <a:lnTo>
                        <a:pt x="1538" y="542"/>
                      </a:lnTo>
                      <a:lnTo>
                        <a:pt x="1522" y="495"/>
                      </a:lnTo>
                      <a:lnTo>
                        <a:pt x="1504" y="452"/>
                      </a:lnTo>
                      <a:lnTo>
                        <a:pt x="1481" y="413"/>
                      </a:lnTo>
                      <a:lnTo>
                        <a:pt x="1452" y="364"/>
                      </a:lnTo>
                      <a:lnTo>
                        <a:pt x="1418" y="315"/>
                      </a:lnTo>
                      <a:lnTo>
                        <a:pt x="1385" y="277"/>
                      </a:lnTo>
                      <a:lnTo>
                        <a:pt x="1355" y="244"/>
                      </a:lnTo>
                      <a:lnTo>
                        <a:pt x="1320" y="212"/>
                      </a:lnTo>
                      <a:lnTo>
                        <a:pt x="1283" y="182"/>
                      </a:lnTo>
                      <a:lnTo>
                        <a:pt x="1248" y="153"/>
                      </a:lnTo>
                      <a:lnTo>
                        <a:pt x="1205" y="124"/>
                      </a:lnTo>
                      <a:lnTo>
                        <a:pt x="1154" y="93"/>
                      </a:lnTo>
                      <a:lnTo>
                        <a:pt x="1107" y="70"/>
                      </a:lnTo>
                      <a:lnTo>
                        <a:pt x="1052" y="47"/>
                      </a:lnTo>
                      <a:lnTo>
                        <a:pt x="1002" y="31"/>
                      </a:lnTo>
                      <a:lnTo>
                        <a:pt x="961" y="21"/>
                      </a:lnTo>
                      <a:lnTo>
                        <a:pt x="916" y="10"/>
                      </a:lnTo>
                      <a:lnTo>
                        <a:pt x="875" y="4"/>
                      </a:lnTo>
                      <a:lnTo>
                        <a:pt x="826" y="0"/>
                      </a:lnTo>
                      <a:lnTo>
                        <a:pt x="782" y="0"/>
                      </a:lnTo>
                      <a:lnTo>
                        <a:pt x="734" y="0"/>
                      </a:lnTo>
                      <a:lnTo>
                        <a:pt x="694" y="4"/>
                      </a:lnTo>
                      <a:lnTo>
                        <a:pt x="648" y="15"/>
                      </a:lnTo>
                      <a:lnTo>
                        <a:pt x="613" y="22"/>
                      </a:lnTo>
                      <a:lnTo>
                        <a:pt x="570" y="34"/>
                      </a:lnTo>
                      <a:lnTo>
                        <a:pt x="530" y="46"/>
                      </a:lnTo>
                      <a:lnTo>
                        <a:pt x="494" y="61"/>
                      </a:lnTo>
                      <a:lnTo>
                        <a:pt x="459" y="76"/>
                      </a:lnTo>
                      <a:lnTo>
                        <a:pt x="425" y="94"/>
                      </a:lnTo>
                      <a:lnTo>
                        <a:pt x="393" y="113"/>
                      </a:lnTo>
                      <a:lnTo>
                        <a:pt x="358" y="137"/>
                      </a:lnTo>
                      <a:lnTo>
                        <a:pt x="320" y="163"/>
                      </a:lnTo>
                      <a:lnTo>
                        <a:pt x="286" y="189"/>
                      </a:lnTo>
                      <a:lnTo>
                        <a:pt x="255" y="216"/>
                      </a:lnTo>
                      <a:lnTo>
                        <a:pt x="223" y="247"/>
                      </a:lnTo>
                      <a:lnTo>
                        <a:pt x="190" y="281"/>
                      </a:lnTo>
                      <a:lnTo>
                        <a:pt x="161" y="314"/>
                      </a:lnTo>
                      <a:lnTo>
                        <a:pt x="138" y="345"/>
                      </a:lnTo>
                      <a:lnTo>
                        <a:pt x="110" y="387"/>
                      </a:lnTo>
                      <a:lnTo>
                        <a:pt x="83" y="433"/>
                      </a:lnTo>
                      <a:lnTo>
                        <a:pt x="59" y="485"/>
                      </a:lnTo>
                      <a:lnTo>
                        <a:pt x="41" y="535"/>
                      </a:lnTo>
                      <a:lnTo>
                        <a:pt x="27" y="587"/>
                      </a:lnTo>
                      <a:lnTo>
                        <a:pt x="14" y="640"/>
                      </a:lnTo>
                      <a:lnTo>
                        <a:pt x="5" y="687"/>
                      </a:lnTo>
                      <a:lnTo>
                        <a:pt x="0" y="735"/>
                      </a:lnTo>
                      <a:lnTo>
                        <a:pt x="0" y="781"/>
                      </a:lnTo>
                      <a:lnTo>
                        <a:pt x="0" y="822"/>
                      </a:lnTo>
                      <a:lnTo>
                        <a:pt x="0" y="871"/>
                      </a:lnTo>
                      <a:lnTo>
                        <a:pt x="2" y="914"/>
                      </a:lnTo>
                      <a:lnTo>
                        <a:pt x="10" y="969"/>
                      </a:lnTo>
                      <a:lnTo>
                        <a:pt x="19" y="1016"/>
                      </a:lnTo>
                      <a:lnTo>
                        <a:pt x="31" y="1062"/>
                      </a:lnTo>
                      <a:lnTo>
                        <a:pt x="48" y="1115"/>
                      </a:lnTo>
                      <a:lnTo>
                        <a:pt x="68" y="1163"/>
                      </a:lnTo>
                      <a:lnTo>
                        <a:pt x="88" y="1205"/>
                      </a:lnTo>
                      <a:lnTo>
                        <a:pt x="113" y="1253"/>
                      </a:lnTo>
                      <a:lnTo>
                        <a:pt x="140" y="1298"/>
                      </a:lnTo>
                      <a:lnTo>
                        <a:pt x="163" y="1341"/>
                      </a:lnTo>
                      <a:lnTo>
                        <a:pt x="188" y="1384"/>
                      </a:lnTo>
                      <a:lnTo>
                        <a:pt x="213" y="1431"/>
                      </a:lnTo>
                      <a:lnTo>
                        <a:pt x="253" y="1499"/>
                      </a:lnTo>
                      <a:lnTo>
                        <a:pt x="290" y="1569"/>
                      </a:lnTo>
                      <a:lnTo>
                        <a:pt x="312" y="1605"/>
                      </a:lnTo>
                      <a:lnTo>
                        <a:pt x="323" y="1635"/>
                      </a:lnTo>
                      <a:lnTo>
                        <a:pt x="336" y="1672"/>
                      </a:lnTo>
                      <a:lnTo>
                        <a:pt x="349" y="1714"/>
                      </a:lnTo>
                      <a:lnTo>
                        <a:pt x="359" y="1751"/>
                      </a:lnTo>
                      <a:lnTo>
                        <a:pt x="368" y="1792"/>
                      </a:lnTo>
                      <a:lnTo>
                        <a:pt x="375" y="1849"/>
                      </a:lnTo>
                      <a:lnTo>
                        <a:pt x="386" y="1911"/>
                      </a:lnTo>
                      <a:lnTo>
                        <a:pt x="393" y="1960"/>
                      </a:lnTo>
                      <a:lnTo>
                        <a:pt x="401" y="2022"/>
                      </a:lnTo>
                      <a:lnTo>
                        <a:pt x="406" y="2066"/>
                      </a:lnTo>
                      <a:lnTo>
                        <a:pt x="412" y="2105"/>
                      </a:lnTo>
                      <a:lnTo>
                        <a:pt x="421" y="2144"/>
                      </a:lnTo>
                      <a:lnTo>
                        <a:pt x="425" y="2155"/>
                      </a:lnTo>
                      <a:lnTo>
                        <a:pt x="426" y="2164"/>
                      </a:lnTo>
                      <a:lnTo>
                        <a:pt x="428" y="2168"/>
                      </a:lnTo>
                      <a:lnTo>
                        <a:pt x="429" y="2172"/>
                      </a:lnTo>
                      <a:lnTo>
                        <a:pt x="433" y="2177"/>
                      </a:lnTo>
                      <a:lnTo>
                        <a:pt x="438" y="2184"/>
                      </a:lnTo>
                      <a:lnTo>
                        <a:pt x="445" y="2191"/>
                      </a:lnTo>
                      <a:lnTo>
                        <a:pt x="452" y="2199"/>
                      </a:lnTo>
                      <a:lnTo>
                        <a:pt x="465" y="2208"/>
                      </a:lnTo>
                      <a:lnTo>
                        <a:pt x="479" y="2215"/>
                      </a:lnTo>
                      <a:lnTo>
                        <a:pt x="498" y="2226"/>
                      </a:lnTo>
                      <a:lnTo>
                        <a:pt x="516" y="2233"/>
                      </a:lnTo>
                      <a:lnTo>
                        <a:pt x="534" y="2240"/>
                      </a:lnTo>
                      <a:lnTo>
                        <a:pt x="552" y="2244"/>
                      </a:lnTo>
                      <a:lnTo>
                        <a:pt x="567" y="2248"/>
                      </a:lnTo>
                      <a:lnTo>
                        <a:pt x="591" y="2254"/>
                      </a:lnTo>
                      <a:lnTo>
                        <a:pt x="610" y="2259"/>
                      </a:lnTo>
                      <a:lnTo>
                        <a:pt x="630" y="2261"/>
                      </a:lnTo>
                      <a:lnTo>
                        <a:pt x="650" y="2264"/>
                      </a:lnTo>
                      <a:lnTo>
                        <a:pt x="673" y="2267"/>
                      </a:lnTo>
                      <a:lnTo>
                        <a:pt x="693" y="2269"/>
                      </a:lnTo>
                      <a:lnTo>
                        <a:pt x="711" y="2270"/>
                      </a:lnTo>
                      <a:lnTo>
                        <a:pt x="733" y="2272"/>
                      </a:lnTo>
                      <a:lnTo>
                        <a:pt x="753" y="2273"/>
                      </a:lnTo>
                      <a:lnTo>
                        <a:pt x="772" y="2273"/>
                      </a:lnTo>
                      <a:lnTo>
                        <a:pt x="789" y="2273"/>
                      </a:lnTo>
                      <a:lnTo>
                        <a:pt x="809" y="2273"/>
                      </a:lnTo>
                      <a:lnTo>
                        <a:pt x="832" y="2273"/>
                      </a:lnTo>
                      <a:lnTo>
                        <a:pt x="852" y="2272"/>
                      </a:lnTo>
                      <a:lnTo>
                        <a:pt x="869" y="2272"/>
                      </a:lnTo>
                      <a:lnTo>
                        <a:pt x="890" y="2269"/>
                      </a:lnTo>
                      <a:lnTo>
                        <a:pt x="914" y="2267"/>
                      </a:lnTo>
                      <a:lnTo>
                        <a:pt x="932" y="2264"/>
                      </a:lnTo>
                      <a:lnTo>
                        <a:pt x="954" y="2261"/>
                      </a:lnTo>
                      <a:lnTo>
                        <a:pt x="974" y="2257"/>
                      </a:lnTo>
                      <a:lnTo>
                        <a:pt x="992" y="2254"/>
                      </a:lnTo>
                      <a:lnTo>
                        <a:pt x="1011" y="2250"/>
                      </a:lnTo>
                      <a:lnTo>
                        <a:pt x="1027" y="2245"/>
                      </a:lnTo>
                      <a:lnTo>
                        <a:pt x="1047" y="2240"/>
                      </a:lnTo>
                      <a:lnTo>
                        <a:pt x="1062" y="2233"/>
                      </a:lnTo>
                      <a:lnTo>
                        <a:pt x="1078" y="2227"/>
                      </a:lnTo>
                      <a:lnTo>
                        <a:pt x="1095" y="2220"/>
                      </a:lnTo>
                      <a:lnTo>
                        <a:pt x="1110" y="2213"/>
                      </a:lnTo>
                      <a:close/>
                    </a:path>
                  </a:pathLst>
                </a:custGeom>
                <a:solidFill>
                  <a:srgbClr val="FF0000"/>
                </a:solidFill>
                <a:ln w="6350">
                  <a:solidFill>
                    <a:srgbClr val="FFFFFF"/>
                  </a:solidFill>
                  <a:prstDash val="solid"/>
                  <a:round/>
                  <a:headEnd/>
                  <a:tailEnd/>
                </a:ln>
              </p:spPr>
              <p:txBody>
                <a:bodyPr/>
                <a:lstStyle/>
                <a:p>
                  <a:endParaRPr lang="en-US"/>
                </a:p>
              </p:txBody>
            </p:sp>
            <p:grpSp>
              <p:nvGrpSpPr>
                <p:cNvPr id="19" name="Group 27">
                  <a:extLst>
                    <a:ext uri="{FF2B5EF4-FFF2-40B4-BE49-F238E27FC236}">
                      <a16:creationId xmlns:a16="http://schemas.microsoft.com/office/drawing/2014/main" id="{2D8A9B33-D991-2EDB-A7ED-E072CBCF90A4}"/>
                    </a:ext>
                  </a:extLst>
                </p:cNvPr>
                <p:cNvGrpSpPr>
                  <a:grpSpLocks/>
                </p:cNvGrpSpPr>
                <p:nvPr/>
              </p:nvGrpSpPr>
              <p:grpSpPr bwMode="auto">
                <a:xfrm rot="5400000">
                  <a:off x="735" y="1188"/>
                  <a:ext cx="248" cy="398"/>
                  <a:chOff x="1987" y="2278"/>
                  <a:chExt cx="495" cy="1010"/>
                </a:xfrm>
              </p:grpSpPr>
              <p:sp>
                <p:nvSpPr>
                  <p:cNvPr id="87" name="Oval 28">
                    <a:extLst>
                      <a:ext uri="{FF2B5EF4-FFF2-40B4-BE49-F238E27FC236}">
                        <a16:creationId xmlns:a16="http://schemas.microsoft.com/office/drawing/2014/main" id="{2ADDEB95-9C9F-0923-8C57-36AEFDDD53AE}"/>
                      </a:ext>
                    </a:extLst>
                  </p:cNvPr>
                  <p:cNvSpPr>
                    <a:spLocks noChangeArrowheads="1"/>
                  </p:cNvSpPr>
                  <p:nvPr/>
                </p:nvSpPr>
                <p:spPr bwMode="auto">
                  <a:xfrm>
                    <a:off x="1987" y="3172"/>
                    <a:ext cx="347" cy="116"/>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8" name="Freeform 29">
                    <a:extLst>
                      <a:ext uri="{FF2B5EF4-FFF2-40B4-BE49-F238E27FC236}">
                        <a16:creationId xmlns:a16="http://schemas.microsoft.com/office/drawing/2014/main" id="{C0DFDB62-22C3-C7AC-5186-72226233DD1F}"/>
                      </a:ext>
                    </a:extLst>
                  </p:cNvPr>
                  <p:cNvSpPr>
                    <a:spLocks/>
                  </p:cNvSpPr>
                  <p:nvPr/>
                </p:nvSpPr>
                <p:spPr bwMode="auto">
                  <a:xfrm>
                    <a:off x="2349" y="2278"/>
                    <a:ext cx="133" cy="169"/>
                  </a:xfrm>
                  <a:custGeom>
                    <a:avLst/>
                    <a:gdLst>
                      <a:gd name="T0" fmla="*/ 0 w 265"/>
                      <a:gd name="T1" fmla="*/ 0 h 338"/>
                      <a:gd name="T2" fmla="*/ 3 w 265"/>
                      <a:gd name="T3" fmla="*/ 2 h 338"/>
                      <a:gd name="T4" fmla="*/ 5 w 265"/>
                      <a:gd name="T5" fmla="*/ 3 h 338"/>
                      <a:gd name="T6" fmla="*/ 6 w 265"/>
                      <a:gd name="T7" fmla="*/ 4 h 338"/>
                      <a:gd name="T8" fmla="*/ 7 w 265"/>
                      <a:gd name="T9" fmla="*/ 5 h 338"/>
                      <a:gd name="T10" fmla="*/ 8 w 265"/>
                      <a:gd name="T11" fmla="*/ 7 h 338"/>
                      <a:gd name="T12" fmla="*/ 8 w 265"/>
                      <a:gd name="T13" fmla="*/ 8 h 338"/>
                      <a:gd name="T14" fmla="*/ 9 w 265"/>
                      <a:gd name="T15" fmla="*/ 9 h 338"/>
                      <a:gd name="T16" fmla="*/ 6 w 265"/>
                      <a:gd name="T17" fmla="*/ 11 h 338"/>
                      <a:gd name="T18" fmla="*/ 6 w 265"/>
                      <a:gd name="T19" fmla="*/ 9 h 338"/>
                      <a:gd name="T20" fmla="*/ 5 w 265"/>
                      <a:gd name="T21" fmla="*/ 7 h 338"/>
                      <a:gd name="T22" fmla="*/ 4 w 265"/>
                      <a:gd name="T23" fmla="*/ 6 h 338"/>
                      <a:gd name="T24" fmla="*/ 4 w 265"/>
                      <a:gd name="T25" fmla="*/ 4 h 338"/>
                      <a:gd name="T26" fmla="*/ 2 w 265"/>
                      <a:gd name="T27" fmla="*/ 2 h 338"/>
                      <a:gd name="T28" fmla="*/ 0 w 265"/>
                      <a:gd name="T29" fmla="*/ 0 h 3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65" h="338">
                        <a:moveTo>
                          <a:pt x="0" y="0"/>
                        </a:moveTo>
                        <a:lnTo>
                          <a:pt x="70" y="36"/>
                        </a:lnTo>
                        <a:lnTo>
                          <a:pt x="135" y="76"/>
                        </a:lnTo>
                        <a:lnTo>
                          <a:pt x="183" y="116"/>
                        </a:lnTo>
                        <a:lnTo>
                          <a:pt x="216" y="159"/>
                        </a:lnTo>
                        <a:lnTo>
                          <a:pt x="239" y="203"/>
                        </a:lnTo>
                        <a:lnTo>
                          <a:pt x="255" y="241"/>
                        </a:lnTo>
                        <a:lnTo>
                          <a:pt x="265" y="280"/>
                        </a:lnTo>
                        <a:lnTo>
                          <a:pt x="172" y="338"/>
                        </a:lnTo>
                        <a:lnTo>
                          <a:pt x="163" y="283"/>
                        </a:lnTo>
                        <a:lnTo>
                          <a:pt x="148" y="224"/>
                        </a:lnTo>
                        <a:lnTo>
                          <a:pt x="126" y="164"/>
                        </a:lnTo>
                        <a:lnTo>
                          <a:pt x="97" y="112"/>
                        </a:lnTo>
                        <a:lnTo>
                          <a:pt x="57" y="61"/>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89" name="Group 30">
                    <a:extLst>
                      <a:ext uri="{FF2B5EF4-FFF2-40B4-BE49-F238E27FC236}">
                        <a16:creationId xmlns:a16="http://schemas.microsoft.com/office/drawing/2014/main" id="{85B2D0B4-321C-06C5-97E8-FC7FAED1DFB4}"/>
                      </a:ext>
                    </a:extLst>
                  </p:cNvPr>
                  <p:cNvGrpSpPr>
                    <a:grpSpLocks/>
                  </p:cNvGrpSpPr>
                  <p:nvPr/>
                </p:nvGrpSpPr>
                <p:grpSpPr bwMode="auto">
                  <a:xfrm>
                    <a:off x="2050" y="2506"/>
                    <a:ext cx="220" cy="706"/>
                    <a:chOff x="2050" y="2506"/>
                    <a:chExt cx="220" cy="706"/>
                  </a:xfrm>
                </p:grpSpPr>
                <p:sp>
                  <p:nvSpPr>
                    <p:cNvPr id="91" name="Freeform 31">
                      <a:extLst>
                        <a:ext uri="{FF2B5EF4-FFF2-40B4-BE49-F238E27FC236}">
                          <a16:creationId xmlns:a16="http://schemas.microsoft.com/office/drawing/2014/main" id="{37AC93CE-D1E3-BC55-7DF5-7F90318F2837}"/>
                        </a:ext>
                      </a:extLst>
                    </p:cNvPr>
                    <p:cNvSpPr>
                      <a:spLocks/>
                    </p:cNvSpPr>
                    <p:nvPr/>
                  </p:nvSpPr>
                  <p:spPr bwMode="auto">
                    <a:xfrm>
                      <a:off x="2091" y="2801"/>
                      <a:ext cx="135" cy="411"/>
                    </a:xfrm>
                    <a:custGeom>
                      <a:avLst/>
                      <a:gdLst>
                        <a:gd name="T0" fmla="*/ 0 w 271"/>
                        <a:gd name="T1" fmla="*/ 1 h 823"/>
                        <a:gd name="T2" fmla="*/ 0 w 271"/>
                        <a:gd name="T3" fmla="*/ 6 h 823"/>
                        <a:gd name="T4" fmla="*/ 0 w 271"/>
                        <a:gd name="T5" fmla="*/ 6 h 823"/>
                        <a:gd name="T6" fmla="*/ 0 w 271"/>
                        <a:gd name="T7" fmla="*/ 23 h 823"/>
                        <a:gd name="T8" fmla="*/ 1 w 271"/>
                        <a:gd name="T9" fmla="*/ 25 h 823"/>
                        <a:gd name="T10" fmla="*/ 2 w 271"/>
                        <a:gd name="T11" fmla="*/ 25 h 823"/>
                        <a:gd name="T12" fmla="*/ 3 w 271"/>
                        <a:gd name="T13" fmla="*/ 24 h 823"/>
                        <a:gd name="T14" fmla="*/ 4 w 271"/>
                        <a:gd name="T15" fmla="*/ 24 h 823"/>
                        <a:gd name="T16" fmla="*/ 6 w 271"/>
                        <a:gd name="T17" fmla="*/ 25 h 823"/>
                        <a:gd name="T18" fmla="*/ 7 w 271"/>
                        <a:gd name="T19" fmla="*/ 25 h 823"/>
                        <a:gd name="T20" fmla="*/ 8 w 271"/>
                        <a:gd name="T21" fmla="*/ 23 h 823"/>
                        <a:gd name="T22" fmla="*/ 7 w 271"/>
                        <a:gd name="T23" fmla="*/ 6 h 823"/>
                        <a:gd name="T24" fmla="*/ 8 w 271"/>
                        <a:gd name="T25" fmla="*/ 6 h 823"/>
                        <a:gd name="T26" fmla="*/ 8 w 271"/>
                        <a:gd name="T27" fmla="*/ 1 h 823"/>
                        <a:gd name="T28" fmla="*/ 6 w 271"/>
                        <a:gd name="T29" fmla="*/ 0 h 823"/>
                        <a:gd name="T30" fmla="*/ 5 w 271"/>
                        <a:gd name="T31" fmla="*/ 0 h 823"/>
                        <a:gd name="T32" fmla="*/ 5 w 271"/>
                        <a:gd name="T33" fmla="*/ 0 h 823"/>
                        <a:gd name="T34" fmla="*/ 3 w 271"/>
                        <a:gd name="T35" fmla="*/ 0 h 823"/>
                        <a:gd name="T36" fmla="*/ 2 w 271"/>
                        <a:gd name="T37" fmla="*/ 0 h 823"/>
                        <a:gd name="T38" fmla="*/ 1 w 271"/>
                        <a:gd name="T39" fmla="*/ 0 h 823"/>
                        <a:gd name="T40" fmla="*/ 0 w 271"/>
                        <a:gd name="T41" fmla="*/ 1 h 8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1" h="823">
                          <a:moveTo>
                            <a:pt x="0" y="63"/>
                          </a:moveTo>
                          <a:lnTo>
                            <a:pt x="5" y="197"/>
                          </a:lnTo>
                          <a:lnTo>
                            <a:pt x="19" y="214"/>
                          </a:lnTo>
                          <a:lnTo>
                            <a:pt x="13" y="763"/>
                          </a:lnTo>
                          <a:lnTo>
                            <a:pt x="32" y="823"/>
                          </a:lnTo>
                          <a:lnTo>
                            <a:pt x="77" y="823"/>
                          </a:lnTo>
                          <a:lnTo>
                            <a:pt x="115" y="793"/>
                          </a:lnTo>
                          <a:lnTo>
                            <a:pt x="158" y="793"/>
                          </a:lnTo>
                          <a:lnTo>
                            <a:pt x="193" y="823"/>
                          </a:lnTo>
                          <a:lnTo>
                            <a:pt x="241" y="823"/>
                          </a:lnTo>
                          <a:lnTo>
                            <a:pt x="257" y="763"/>
                          </a:lnTo>
                          <a:lnTo>
                            <a:pt x="249" y="214"/>
                          </a:lnTo>
                          <a:lnTo>
                            <a:pt x="262" y="197"/>
                          </a:lnTo>
                          <a:lnTo>
                            <a:pt x="271" y="63"/>
                          </a:lnTo>
                          <a:lnTo>
                            <a:pt x="211" y="13"/>
                          </a:lnTo>
                          <a:lnTo>
                            <a:pt x="182" y="13"/>
                          </a:lnTo>
                          <a:lnTo>
                            <a:pt x="165" y="0"/>
                          </a:lnTo>
                          <a:lnTo>
                            <a:pt x="96" y="0"/>
                          </a:lnTo>
                          <a:lnTo>
                            <a:pt x="82" y="13"/>
                          </a:lnTo>
                          <a:lnTo>
                            <a:pt x="57" y="13"/>
                          </a:lnTo>
                          <a:lnTo>
                            <a:pt x="0" y="6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 name="Oval 32">
                      <a:extLst>
                        <a:ext uri="{FF2B5EF4-FFF2-40B4-BE49-F238E27FC236}">
                          <a16:creationId xmlns:a16="http://schemas.microsoft.com/office/drawing/2014/main" id="{2CD6EBB8-D8AB-E534-1ACD-3AD56188CAEB}"/>
                        </a:ext>
                      </a:extLst>
                    </p:cNvPr>
                    <p:cNvSpPr>
                      <a:spLocks noChangeArrowheads="1"/>
                    </p:cNvSpPr>
                    <p:nvPr/>
                  </p:nvSpPr>
                  <p:spPr bwMode="auto">
                    <a:xfrm>
                      <a:off x="2161" y="2813"/>
                      <a:ext cx="17" cy="29"/>
                    </a:xfrm>
                    <a:prstGeom prst="ellipse">
                      <a:avLst/>
                    </a:pr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93" name="Group 33">
                      <a:extLst>
                        <a:ext uri="{FF2B5EF4-FFF2-40B4-BE49-F238E27FC236}">
                          <a16:creationId xmlns:a16="http://schemas.microsoft.com/office/drawing/2014/main" id="{F0329202-2527-4A87-B530-AB760FFB4E85}"/>
                        </a:ext>
                      </a:extLst>
                    </p:cNvPr>
                    <p:cNvGrpSpPr>
                      <a:grpSpLocks/>
                    </p:cNvGrpSpPr>
                    <p:nvPr/>
                  </p:nvGrpSpPr>
                  <p:grpSpPr bwMode="auto">
                    <a:xfrm>
                      <a:off x="2050" y="2506"/>
                      <a:ext cx="220" cy="324"/>
                      <a:chOff x="2050" y="2506"/>
                      <a:chExt cx="220" cy="324"/>
                    </a:xfrm>
                  </p:grpSpPr>
                  <p:sp>
                    <p:nvSpPr>
                      <p:cNvPr id="99" name="Oval 34">
                        <a:extLst>
                          <a:ext uri="{FF2B5EF4-FFF2-40B4-BE49-F238E27FC236}">
                            <a16:creationId xmlns:a16="http://schemas.microsoft.com/office/drawing/2014/main" id="{8568F9C0-090E-490E-F336-AECD90C94D51}"/>
                          </a:ext>
                        </a:extLst>
                      </p:cNvPr>
                      <p:cNvSpPr>
                        <a:spLocks noChangeArrowheads="1"/>
                      </p:cNvSpPr>
                      <p:nvPr/>
                    </p:nvSpPr>
                    <p:spPr bwMode="auto">
                      <a:xfrm>
                        <a:off x="2062" y="2506"/>
                        <a:ext cx="202" cy="11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00" name="Freeform 35">
                        <a:extLst>
                          <a:ext uri="{FF2B5EF4-FFF2-40B4-BE49-F238E27FC236}">
                            <a16:creationId xmlns:a16="http://schemas.microsoft.com/office/drawing/2014/main" id="{5C29D741-5C8A-8ED4-179B-9D5EFC777116}"/>
                          </a:ext>
                          <a:ext uri="{C183D7F6-B498-43B3-948B-1728B52AA6E4}">
                            <adec:decorative xmlns:adec="http://schemas.microsoft.com/office/drawing/2017/decorative" val="1"/>
                          </a:ext>
                        </a:extLst>
                      </p:cNvPr>
                      <p:cNvSpPr>
                        <a:spLocks/>
                      </p:cNvSpPr>
                      <p:nvPr/>
                    </p:nvSpPr>
                    <p:spPr bwMode="auto">
                      <a:xfrm>
                        <a:off x="2050" y="2557"/>
                        <a:ext cx="220" cy="273"/>
                      </a:xfrm>
                      <a:custGeom>
                        <a:avLst/>
                        <a:gdLst>
                          <a:gd name="T0" fmla="*/ 8 w 441"/>
                          <a:gd name="T1" fmla="*/ 17 h 547"/>
                          <a:gd name="T2" fmla="*/ 13 w 441"/>
                          <a:gd name="T3" fmla="*/ 1 h 547"/>
                          <a:gd name="T4" fmla="*/ 12 w 441"/>
                          <a:gd name="T5" fmla="*/ 1 h 547"/>
                          <a:gd name="T6" fmla="*/ 11 w 441"/>
                          <a:gd name="T7" fmla="*/ 0 h 547"/>
                          <a:gd name="T8" fmla="*/ 10 w 441"/>
                          <a:gd name="T9" fmla="*/ 0 h 547"/>
                          <a:gd name="T10" fmla="*/ 9 w 441"/>
                          <a:gd name="T11" fmla="*/ 0 h 547"/>
                          <a:gd name="T12" fmla="*/ 8 w 441"/>
                          <a:gd name="T13" fmla="*/ 0 h 547"/>
                          <a:gd name="T14" fmla="*/ 7 w 441"/>
                          <a:gd name="T15" fmla="*/ 0 h 547"/>
                          <a:gd name="T16" fmla="*/ 6 w 441"/>
                          <a:gd name="T17" fmla="*/ 0 h 547"/>
                          <a:gd name="T18" fmla="*/ 4 w 441"/>
                          <a:gd name="T19" fmla="*/ 0 h 547"/>
                          <a:gd name="T20" fmla="*/ 3 w 441"/>
                          <a:gd name="T21" fmla="*/ 0 h 547"/>
                          <a:gd name="T22" fmla="*/ 1 w 441"/>
                          <a:gd name="T23" fmla="*/ 0 h 547"/>
                          <a:gd name="T24" fmla="*/ 0 w 441"/>
                          <a:gd name="T25" fmla="*/ 1 h 547"/>
                          <a:gd name="T26" fmla="*/ 0 w 441"/>
                          <a:gd name="T27" fmla="*/ 1 h 547"/>
                          <a:gd name="T28" fmla="*/ 4 w 441"/>
                          <a:gd name="T29" fmla="*/ 17 h 5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1" h="547">
                            <a:moveTo>
                              <a:pt x="281" y="547"/>
                            </a:moveTo>
                            <a:lnTo>
                              <a:pt x="441" y="54"/>
                            </a:lnTo>
                            <a:lnTo>
                              <a:pt x="413" y="43"/>
                            </a:lnTo>
                            <a:lnTo>
                              <a:pt x="380" y="30"/>
                            </a:lnTo>
                            <a:lnTo>
                              <a:pt x="338" y="19"/>
                            </a:lnTo>
                            <a:lnTo>
                              <a:pt x="301" y="10"/>
                            </a:lnTo>
                            <a:lnTo>
                              <a:pt x="269" y="3"/>
                            </a:lnTo>
                            <a:lnTo>
                              <a:pt x="233" y="0"/>
                            </a:lnTo>
                            <a:lnTo>
                              <a:pt x="195" y="2"/>
                            </a:lnTo>
                            <a:lnTo>
                              <a:pt x="146" y="7"/>
                            </a:lnTo>
                            <a:lnTo>
                              <a:pt x="104" y="19"/>
                            </a:lnTo>
                            <a:lnTo>
                              <a:pt x="63" y="30"/>
                            </a:lnTo>
                            <a:lnTo>
                              <a:pt x="27" y="45"/>
                            </a:lnTo>
                            <a:lnTo>
                              <a:pt x="0" y="60"/>
                            </a:lnTo>
                            <a:lnTo>
                              <a:pt x="155" y="547"/>
                            </a:lnTo>
                          </a:path>
                        </a:pathLst>
                      </a:custGeom>
                      <a:noFill/>
                      <a:ln w="6350">
                        <a:solidFill>
                          <a:srgbClr val="A0A0A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4" name="Group 36">
                      <a:extLst>
                        <a:ext uri="{FF2B5EF4-FFF2-40B4-BE49-F238E27FC236}">
                          <a16:creationId xmlns:a16="http://schemas.microsoft.com/office/drawing/2014/main" id="{D2DA52F5-6B9C-92F5-7952-7C0B4E520DB8}"/>
                        </a:ext>
                      </a:extLst>
                    </p:cNvPr>
                    <p:cNvGrpSpPr>
                      <a:grpSpLocks/>
                    </p:cNvGrpSpPr>
                    <p:nvPr/>
                  </p:nvGrpSpPr>
                  <p:grpSpPr bwMode="auto">
                    <a:xfrm>
                      <a:off x="2119" y="2860"/>
                      <a:ext cx="76" cy="314"/>
                      <a:chOff x="2119" y="2860"/>
                      <a:chExt cx="76" cy="314"/>
                    </a:xfrm>
                  </p:grpSpPr>
                  <p:sp>
                    <p:nvSpPr>
                      <p:cNvPr id="95" name="Line 37">
                        <a:extLst>
                          <a:ext uri="{FF2B5EF4-FFF2-40B4-BE49-F238E27FC236}">
                            <a16:creationId xmlns:a16="http://schemas.microsoft.com/office/drawing/2014/main" id="{70E67AA7-3716-5F18-CC17-A17A372B85BF}"/>
                          </a:ext>
                        </a:extLst>
                      </p:cNvPr>
                      <p:cNvSpPr>
                        <a:spLocks noChangeShapeType="1"/>
                      </p:cNvSpPr>
                      <p:nvPr/>
                    </p:nvSpPr>
                    <p:spPr bwMode="auto">
                      <a:xfrm>
                        <a:off x="2132" y="2868"/>
                        <a:ext cx="1" cy="306"/>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 name="Line 38">
                        <a:extLst>
                          <a:ext uri="{FF2B5EF4-FFF2-40B4-BE49-F238E27FC236}">
                            <a16:creationId xmlns:a16="http://schemas.microsoft.com/office/drawing/2014/main" id="{D6FC7385-1707-273E-DB54-F175C20E60A2}"/>
                          </a:ext>
                        </a:extLst>
                      </p:cNvPr>
                      <p:cNvSpPr>
                        <a:spLocks noChangeShapeType="1"/>
                      </p:cNvSpPr>
                      <p:nvPr/>
                    </p:nvSpPr>
                    <p:spPr bwMode="auto">
                      <a:xfrm flipV="1">
                        <a:off x="2182" y="2868"/>
                        <a:ext cx="2" cy="30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39">
                        <a:extLst>
                          <a:ext uri="{FF2B5EF4-FFF2-40B4-BE49-F238E27FC236}">
                            <a16:creationId xmlns:a16="http://schemas.microsoft.com/office/drawing/2014/main" id="{D8C8F62A-CCD0-DB3E-8BD0-32A3186BD789}"/>
                          </a:ext>
                        </a:extLst>
                      </p:cNvPr>
                      <p:cNvSpPr>
                        <a:spLocks noChangeShapeType="1"/>
                      </p:cNvSpPr>
                      <p:nvPr/>
                    </p:nvSpPr>
                    <p:spPr bwMode="auto">
                      <a:xfrm flipV="1">
                        <a:off x="2194" y="2860"/>
                        <a:ext cx="1" cy="304"/>
                      </a:xfrm>
                      <a:prstGeom prst="line">
                        <a:avLst/>
                      </a:prstGeom>
                      <a:noFill/>
                      <a:ln w="6350">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 name="Line 40">
                        <a:extLst>
                          <a:ext uri="{FF2B5EF4-FFF2-40B4-BE49-F238E27FC236}">
                            <a16:creationId xmlns:a16="http://schemas.microsoft.com/office/drawing/2014/main" id="{D60693EA-C7C2-27DA-1E8C-AFBBEDA9D5CF}"/>
                          </a:ext>
                        </a:extLst>
                      </p:cNvPr>
                      <p:cNvSpPr>
                        <a:spLocks noChangeShapeType="1"/>
                      </p:cNvSpPr>
                      <p:nvPr/>
                    </p:nvSpPr>
                    <p:spPr bwMode="auto">
                      <a:xfrm flipH="1" flipV="1">
                        <a:off x="2119" y="2860"/>
                        <a:ext cx="1" cy="304"/>
                      </a:xfrm>
                      <a:prstGeom prst="line">
                        <a:avLst/>
                      </a:prstGeom>
                      <a:noFill/>
                      <a:ln w="6350">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90" name="Freeform 41">
                    <a:extLst>
                      <a:ext uri="{FF2B5EF4-FFF2-40B4-BE49-F238E27FC236}">
                        <a16:creationId xmlns:a16="http://schemas.microsoft.com/office/drawing/2014/main" id="{D78DDD74-D07C-0729-2F33-7AB9983762CC}"/>
                      </a:ext>
                    </a:extLst>
                  </p:cNvPr>
                  <p:cNvSpPr>
                    <a:spLocks/>
                  </p:cNvSpPr>
                  <p:nvPr/>
                </p:nvSpPr>
                <p:spPr bwMode="auto">
                  <a:xfrm>
                    <a:off x="2144" y="3009"/>
                    <a:ext cx="215" cy="266"/>
                  </a:xfrm>
                  <a:custGeom>
                    <a:avLst/>
                    <a:gdLst>
                      <a:gd name="T0" fmla="*/ 14 w 428"/>
                      <a:gd name="T1" fmla="*/ 0 h 532"/>
                      <a:gd name="T2" fmla="*/ 13 w 428"/>
                      <a:gd name="T3" fmla="*/ 1 h 532"/>
                      <a:gd name="T4" fmla="*/ 11 w 428"/>
                      <a:gd name="T5" fmla="*/ 11 h 532"/>
                      <a:gd name="T6" fmla="*/ 11 w 428"/>
                      <a:gd name="T7" fmla="*/ 12 h 532"/>
                      <a:gd name="T8" fmla="*/ 10 w 428"/>
                      <a:gd name="T9" fmla="*/ 13 h 532"/>
                      <a:gd name="T10" fmla="*/ 9 w 428"/>
                      <a:gd name="T11" fmla="*/ 14 h 532"/>
                      <a:gd name="T12" fmla="*/ 8 w 428"/>
                      <a:gd name="T13" fmla="*/ 15 h 532"/>
                      <a:gd name="T14" fmla="*/ 7 w 428"/>
                      <a:gd name="T15" fmla="*/ 15 h 532"/>
                      <a:gd name="T16" fmla="*/ 6 w 428"/>
                      <a:gd name="T17" fmla="*/ 16 h 532"/>
                      <a:gd name="T18" fmla="*/ 4 w 428"/>
                      <a:gd name="T19" fmla="*/ 16 h 532"/>
                      <a:gd name="T20" fmla="*/ 3 w 428"/>
                      <a:gd name="T21" fmla="*/ 16 h 532"/>
                      <a:gd name="T22" fmla="*/ 2 w 428"/>
                      <a:gd name="T23" fmla="*/ 17 h 532"/>
                      <a:gd name="T24" fmla="*/ 0 w 428"/>
                      <a:gd name="T25" fmla="*/ 16 h 532"/>
                      <a:gd name="T26" fmla="*/ 1 w 428"/>
                      <a:gd name="T27" fmla="*/ 17 h 532"/>
                      <a:gd name="T28" fmla="*/ 2 w 428"/>
                      <a:gd name="T29" fmla="*/ 17 h 532"/>
                      <a:gd name="T30" fmla="*/ 3 w 428"/>
                      <a:gd name="T31" fmla="*/ 17 h 532"/>
                      <a:gd name="T32" fmla="*/ 4 w 428"/>
                      <a:gd name="T33" fmla="*/ 17 h 532"/>
                      <a:gd name="T34" fmla="*/ 5 w 428"/>
                      <a:gd name="T35" fmla="*/ 17 h 532"/>
                      <a:gd name="T36" fmla="*/ 6 w 428"/>
                      <a:gd name="T37" fmla="*/ 17 h 532"/>
                      <a:gd name="T38" fmla="*/ 7 w 428"/>
                      <a:gd name="T39" fmla="*/ 17 h 532"/>
                      <a:gd name="T40" fmla="*/ 8 w 428"/>
                      <a:gd name="T41" fmla="*/ 16 h 532"/>
                      <a:gd name="T42" fmla="*/ 9 w 428"/>
                      <a:gd name="T43" fmla="*/ 16 h 532"/>
                      <a:gd name="T44" fmla="*/ 10 w 428"/>
                      <a:gd name="T45" fmla="*/ 16 h 532"/>
                      <a:gd name="T46" fmla="*/ 11 w 428"/>
                      <a:gd name="T47" fmla="*/ 15 h 532"/>
                      <a:gd name="T48" fmla="*/ 11 w 428"/>
                      <a:gd name="T49" fmla="*/ 15 h 532"/>
                      <a:gd name="T50" fmla="*/ 12 w 428"/>
                      <a:gd name="T51" fmla="*/ 14 h 532"/>
                      <a:gd name="T52" fmla="*/ 12 w 428"/>
                      <a:gd name="T53" fmla="*/ 13 h 532"/>
                      <a:gd name="T54" fmla="*/ 12 w 428"/>
                      <a:gd name="T55" fmla="*/ 12 h 532"/>
                      <a:gd name="T56" fmla="*/ 14 w 428"/>
                      <a:gd name="T57" fmla="*/ 0 h 5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28" h="532">
                        <a:moveTo>
                          <a:pt x="428" y="0"/>
                        </a:moveTo>
                        <a:lnTo>
                          <a:pt x="411" y="16"/>
                        </a:lnTo>
                        <a:lnTo>
                          <a:pt x="339" y="345"/>
                        </a:lnTo>
                        <a:lnTo>
                          <a:pt x="326" y="377"/>
                        </a:lnTo>
                        <a:lnTo>
                          <a:pt x="304" y="405"/>
                        </a:lnTo>
                        <a:lnTo>
                          <a:pt x="272" y="430"/>
                        </a:lnTo>
                        <a:lnTo>
                          <a:pt x="241" y="449"/>
                        </a:lnTo>
                        <a:lnTo>
                          <a:pt x="206" y="468"/>
                        </a:lnTo>
                        <a:lnTo>
                          <a:pt x="169" y="483"/>
                        </a:lnTo>
                        <a:lnTo>
                          <a:pt x="128" y="498"/>
                        </a:lnTo>
                        <a:lnTo>
                          <a:pt x="93" y="506"/>
                        </a:lnTo>
                        <a:lnTo>
                          <a:pt x="51" y="513"/>
                        </a:lnTo>
                        <a:lnTo>
                          <a:pt x="0" y="510"/>
                        </a:lnTo>
                        <a:lnTo>
                          <a:pt x="8" y="529"/>
                        </a:lnTo>
                        <a:lnTo>
                          <a:pt x="43" y="532"/>
                        </a:lnTo>
                        <a:lnTo>
                          <a:pt x="67" y="532"/>
                        </a:lnTo>
                        <a:lnTo>
                          <a:pt x="105" y="529"/>
                        </a:lnTo>
                        <a:lnTo>
                          <a:pt x="136" y="527"/>
                        </a:lnTo>
                        <a:lnTo>
                          <a:pt x="178" y="520"/>
                        </a:lnTo>
                        <a:lnTo>
                          <a:pt x="211" y="514"/>
                        </a:lnTo>
                        <a:lnTo>
                          <a:pt x="248" y="502"/>
                        </a:lnTo>
                        <a:lnTo>
                          <a:pt x="269" y="496"/>
                        </a:lnTo>
                        <a:lnTo>
                          <a:pt x="301" y="483"/>
                        </a:lnTo>
                        <a:lnTo>
                          <a:pt x="335" y="461"/>
                        </a:lnTo>
                        <a:lnTo>
                          <a:pt x="345" y="449"/>
                        </a:lnTo>
                        <a:lnTo>
                          <a:pt x="354" y="433"/>
                        </a:lnTo>
                        <a:lnTo>
                          <a:pt x="363" y="400"/>
                        </a:lnTo>
                        <a:lnTo>
                          <a:pt x="370" y="367"/>
                        </a:lnTo>
                        <a:lnTo>
                          <a:pt x="4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0" name="Group 42">
                  <a:extLst>
                    <a:ext uri="{FF2B5EF4-FFF2-40B4-BE49-F238E27FC236}">
                      <a16:creationId xmlns:a16="http://schemas.microsoft.com/office/drawing/2014/main" id="{1922B6B5-BE6C-8E2F-C035-6C3224C2C229}"/>
                    </a:ext>
                  </a:extLst>
                </p:cNvPr>
                <p:cNvGrpSpPr>
                  <a:grpSpLocks/>
                </p:cNvGrpSpPr>
                <p:nvPr/>
              </p:nvGrpSpPr>
              <p:grpSpPr bwMode="auto">
                <a:xfrm rot="5400000">
                  <a:off x="514" y="1714"/>
                  <a:ext cx="180" cy="133"/>
                  <a:chOff x="1980" y="3263"/>
                  <a:chExt cx="358" cy="337"/>
                </a:xfrm>
              </p:grpSpPr>
              <p:grpSp>
                <p:nvGrpSpPr>
                  <p:cNvPr id="76" name="Group 43">
                    <a:extLst>
                      <a:ext uri="{FF2B5EF4-FFF2-40B4-BE49-F238E27FC236}">
                        <a16:creationId xmlns:a16="http://schemas.microsoft.com/office/drawing/2014/main" id="{6997F7C3-6585-F1C0-4DB2-117EE038787F}"/>
                      </a:ext>
                    </a:extLst>
                  </p:cNvPr>
                  <p:cNvGrpSpPr>
                    <a:grpSpLocks/>
                  </p:cNvGrpSpPr>
                  <p:nvPr/>
                </p:nvGrpSpPr>
                <p:grpSpPr bwMode="auto">
                  <a:xfrm>
                    <a:off x="2070" y="3523"/>
                    <a:ext cx="195" cy="77"/>
                    <a:chOff x="2070" y="3523"/>
                    <a:chExt cx="195" cy="77"/>
                  </a:xfrm>
                </p:grpSpPr>
                <p:sp>
                  <p:nvSpPr>
                    <p:cNvPr id="85" name="Freeform 44">
                      <a:extLst>
                        <a:ext uri="{FF2B5EF4-FFF2-40B4-BE49-F238E27FC236}">
                          <a16:creationId xmlns:a16="http://schemas.microsoft.com/office/drawing/2014/main" id="{FEF424E5-F51A-7BCE-1FB8-DD7C3FB783BB}"/>
                        </a:ext>
                      </a:extLst>
                    </p:cNvPr>
                    <p:cNvSpPr>
                      <a:spLocks/>
                    </p:cNvSpPr>
                    <p:nvPr/>
                  </p:nvSpPr>
                  <p:spPr bwMode="auto">
                    <a:xfrm>
                      <a:off x="2070" y="3523"/>
                      <a:ext cx="195" cy="77"/>
                    </a:xfrm>
                    <a:custGeom>
                      <a:avLst/>
                      <a:gdLst>
                        <a:gd name="T0" fmla="*/ 0 w 391"/>
                        <a:gd name="T1" fmla="*/ 0 h 155"/>
                        <a:gd name="T2" fmla="*/ 2 w 391"/>
                        <a:gd name="T3" fmla="*/ 3 h 155"/>
                        <a:gd name="T4" fmla="*/ 2 w 391"/>
                        <a:gd name="T5" fmla="*/ 4 h 155"/>
                        <a:gd name="T6" fmla="*/ 2 w 391"/>
                        <a:gd name="T7" fmla="*/ 4 h 155"/>
                        <a:gd name="T8" fmla="*/ 3 w 391"/>
                        <a:gd name="T9" fmla="*/ 4 h 155"/>
                        <a:gd name="T10" fmla="*/ 3 w 391"/>
                        <a:gd name="T11" fmla="*/ 4 h 155"/>
                        <a:gd name="T12" fmla="*/ 4 w 391"/>
                        <a:gd name="T13" fmla="*/ 4 h 155"/>
                        <a:gd name="T14" fmla="*/ 4 w 391"/>
                        <a:gd name="T15" fmla="*/ 4 h 155"/>
                        <a:gd name="T16" fmla="*/ 5 w 391"/>
                        <a:gd name="T17" fmla="*/ 4 h 155"/>
                        <a:gd name="T18" fmla="*/ 5 w 391"/>
                        <a:gd name="T19" fmla="*/ 4 h 155"/>
                        <a:gd name="T20" fmla="*/ 5 w 391"/>
                        <a:gd name="T21" fmla="*/ 4 h 155"/>
                        <a:gd name="T22" fmla="*/ 6 w 391"/>
                        <a:gd name="T23" fmla="*/ 4 h 155"/>
                        <a:gd name="T24" fmla="*/ 6 w 391"/>
                        <a:gd name="T25" fmla="*/ 4 h 155"/>
                        <a:gd name="T26" fmla="*/ 7 w 391"/>
                        <a:gd name="T27" fmla="*/ 4 h 155"/>
                        <a:gd name="T28" fmla="*/ 7 w 391"/>
                        <a:gd name="T29" fmla="*/ 4 h 155"/>
                        <a:gd name="T30" fmla="*/ 8 w 391"/>
                        <a:gd name="T31" fmla="*/ 4 h 155"/>
                        <a:gd name="T32" fmla="*/ 8 w 391"/>
                        <a:gd name="T33" fmla="*/ 4 h 155"/>
                        <a:gd name="T34" fmla="*/ 8 w 391"/>
                        <a:gd name="T35" fmla="*/ 4 h 155"/>
                        <a:gd name="T36" fmla="*/ 9 w 391"/>
                        <a:gd name="T37" fmla="*/ 4 h 155"/>
                        <a:gd name="T38" fmla="*/ 9 w 391"/>
                        <a:gd name="T39" fmla="*/ 4 h 155"/>
                        <a:gd name="T40" fmla="*/ 9 w 391"/>
                        <a:gd name="T41" fmla="*/ 3 h 155"/>
                        <a:gd name="T42" fmla="*/ 9 w 391"/>
                        <a:gd name="T43" fmla="*/ 3 h 155"/>
                        <a:gd name="T44" fmla="*/ 12 w 391"/>
                        <a:gd name="T45" fmla="*/ 0 h 155"/>
                        <a:gd name="T46" fmla="*/ 0 w 391"/>
                        <a:gd name="T47" fmla="*/ 0 h 15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91" h="155">
                          <a:moveTo>
                            <a:pt x="0" y="0"/>
                          </a:moveTo>
                          <a:lnTo>
                            <a:pt x="79" y="123"/>
                          </a:lnTo>
                          <a:lnTo>
                            <a:pt x="86" y="130"/>
                          </a:lnTo>
                          <a:lnTo>
                            <a:pt x="95" y="136"/>
                          </a:lnTo>
                          <a:lnTo>
                            <a:pt x="107" y="140"/>
                          </a:lnTo>
                          <a:lnTo>
                            <a:pt x="120" y="146"/>
                          </a:lnTo>
                          <a:lnTo>
                            <a:pt x="136" y="149"/>
                          </a:lnTo>
                          <a:lnTo>
                            <a:pt x="148" y="150"/>
                          </a:lnTo>
                          <a:lnTo>
                            <a:pt x="161" y="152"/>
                          </a:lnTo>
                          <a:lnTo>
                            <a:pt x="174" y="153"/>
                          </a:lnTo>
                          <a:lnTo>
                            <a:pt x="191" y="155"/>
                          </a:lnTo>
                          <a:lnTo>
                            <a:pt x="202" y="155"/>
                          </a:lnTo>
                          <a:lnTo>
                            <a:pt x="218" y="153"/>
                          </a:lnTo>
                          <a:lnTo>
                            <a:pt x="232" y="152"/>
                          </a:lnTo>
                          <a:lnTo>
                            <a:pt x="247" y="150"/>
                          </a:lnTo>
                          <a:lnTo>
                            <a:pt x="260" y="149"/>
                          </a:lnTo>
                          <a:lnTo>
                            <a:pt x="274" y="145"/>
                          </a:lnTo>
                          <a:lnTo>
                            <a:pt x="287" y="142"/>
                          </a:lnTo>
                          <a:lnTo>
                            <a:pt x="298" y="136"/>
                          </a:lnTo>
                          <a:lnTo>
                            <a:pt x="308" y="129"/>
                          </a:lnTo>
                          <a:lnTo>
                            <a:pt x="312" y="125"/>
                          </a:lnTo>
                          <a:lnTo>
                            <a:pt x="318" y="119"/>
                          </a:lnTo>
                          <a:lnTo>
                            <a:pt x="39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6" name="Freeform 45">
                      <a:extLst>
                        <a:ext uri="{FF2B5EF4-FFF2-40B4-BE49-F238E27FC236}">
                          <a16:creationId xmlns:a16="http://schemas.microsoft.com/office/drawing/2014/main" id="{A7815A96-49F2-8B10-9630-34A2FE01811E}"/>
                        </a:ext>
                      </a:extLst>
                    </p:cNvPr>
                    <p:cNvSpPr>
                      <a:spLocks/>
                    </p:cNvSpPr>
                    <p:nvPr/>
                  </p:nvSpPr>
                  <p:spPr bwMode="auto">
                    <a:xfrm>
                      <a:off x="2100" y="3523"/>
                      <a:ext cx="87" cy="77"/>
                    </a:xfrm>
                    <a:custGeom>
                      <a:avLst/>
                      <a:gdLst>
                        <a:gd name="T0" fmla="*/ 0 w 174"/>
                        <a:gd name="T1" fmla="*/ 0 h 155"/>
                        <a:gd name="T2" fmla="*/ 2 w 174"/>
                        <a:gd name="T3" fmla="*/ 4 h 155"/>
                        <a:gd name="T4" fmla="*/ 2 w 174"/>
                        <a:gd name="T5" fmla="*/ 4 h 155"/>
                        <a:gd name="T6" fmla="*/ 3 w 174"/>
                        <a:gd name="T7" fmla="*/ 4 h 155"/>
                        <a:gd name="T8" fmla="*/ 3 w 174"/>
                        <a:gd name="T9" fmla="*/ 4 h 155"/>
                        <a:gd name="T10" fmla="*/ 4 w 174"/>
                        <a:gd name="T11" fmla="*/ 4 h 155"/>
                        <a:gd name="T12" fmla="*/ 4 w 174"/>
                        <a:gd name="T13" fmla="*/ 4 h 155"/>
                        <a:gd name="T14" fmla="*/ 5 w 174"/>
                        <a:gd name="T15" fmla="*/ 4 h 155"/>
                        <a:gd name="T16" fmla="*/ 5 w 174"/>
                        <a:gd name="T17" fmla="*/ 4 h 155"/>
                        <a:gd name="T18" fmla="*/ 5 w 174"/>
                        <a:gd name="T19" fmla="*/ 4 h 155"/>
                        <a:gd name="T20" fmla="*/ 6 w 174"/>
                        <a:gd name="T21" fmla="*/ 0 h 155"/>
                        <a:gd name="T22" fmla="*/ 0 w 174"/>
                        <a:gd name="T23" fmla="*/ 0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4" h="155">
                          <a:moveTo>
                            <a:pt x="0" y="0"/>
                          </a:moveTo>
                          <a:lnTo>
                            <a:pt x="48" y="140"/>
                          </a:lnTo>
                          <a:lnTo>
                            <a:pt x="58" y="146"/>
                          </a:lnTo>
                          <a:lnTo>
                            <a:pt x="74" y="149"/>
                          </a:lnTo>
                          <a:lnTo>
                            <a:pt x="86" y="150"/>
                          </a:lnTo>
                          <a:lnTo>
                            <a:pt x="99" y="152"/>
                          </a:lnTo>
                          <a:lnTo>
                            <a:pt x="112" y="153"/>
                          </a:lnTo>
                          <a:lnTo>
                            <a:pt x="129" y="155"/>
                          </a:lnTo>
                          <a:lnTo>
                            <a:pt x="140" y="155"/>
                          </a:lnTo>
                          <a:lnTo>
                            <a:pt x="156" y="153"/>
                          </a:lnTo>
                          <a:lnTo>
                            <a:pt x="174" y="0"/>
                          </a:lnTo>
                          <a:lnTo>
                            <a:pt x="0" y="0"/>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77" name="Group 46">
                    <a:extLst>
                      <a:ext uri="{FF2B5EF4-FFF2-40B4-BE49-F238E27FC236}">
                        <a16:creationId xmlns:a16="http://schemas.microsoft.com/office/drawing/2014/main" id="{269F0156-5CC9-705D-2A4A-0E2E262A16EB}"/>
                      </a:ext>
                    </a:extLst>
                  </p:cNvPr>
                  <p:cNvGrpSpPr>
                    <a:grpSpLocks/>
                  </p:cNvGrpSpPr>
                  <p:nvPr/>
                </p:nvGrpSpPr>
                <p:grpSpPr bwMode="auto">
                  <a:xfrm>
                    <a:off x="1980" y="3263"/>
                    <a:ext cx="358" cy="281"/>
                    <a:chOff x="1980" y="3263"/>
                    <a:chExt cx="358" cy="281"/>
                  </a:xfrm>
                </p:grpSpPr>
                <p:sp>
                  <p:nvSpPr>
                    <p:cNvPr id="78" name="Freeform 47">
                      <a:extLst>
                        <a:ext uri="{FF2B5EF4-FFF2-40B4-BE49-F238E27FC236}">
                          <a16:creationId xmlns:a16="http://schemas.microsoft.com/office/drawing/2014/main" id="{761B1129-2138-543E-22D7-813CA8627C21}"/>
                        </a:ext>
                      </a:extLst>
                    </p:cNvPr>
                    <p:cNvSpPr>
                      <a:spLocks/>
                    </p:cNvSpPr>
                    <p:nvPr/>
                  </p:nvSpPr>
                  <p:spPr bwMode="auto">
                    <a:xfrm>
                      <a:off x="1980" y="3263"/>
                      <a:ext cx="358" cy="281"/>
                    </a:xfrm>
                    <a:custGeom>
                      <a:avLst/>
                      <a:gdLst>
                        <a:gd name="T0" fmla="*/ 1 w 716"/>
                        <a:gd name="T1" fmla="*/ 1 h 561"/>
                        <a:gd name="T2" fmla="*/ 1 w 716"/>
                        <a:gd name="T3" fmla="*/ 1 h 561"/>
                        <a:gd name="T4" fmla="*/ 1 w 716"/>
                        <a:gd name="T5" fmla="*/ 2 h 561"/>
                        <a:gd name="T6" fmla="*/ 1 w 716"/>
                        <a:gd name="T7" fmla="*/ 3 h 561"/>
                        <a:gd name="T8" fmla="*/ 1 w 716"/>
                        <a:gd name="T9" fmla="*/ 4 h 561"/>
                        <a:gd name="T10" fmla="*/ 1 w 716"/>
                        <a:gd name="T11" fmla="*/ 4 h 561"/>
                        <a:gd name="T12" fmla="*/ 1 w 716"/>
                        <a:gd name="T13" fmla="*/ 5 h 561"/>
                        <a:gd name="T14" fmla="*/ 1 w 716"/>
                        <a:gd name="T15" fmla="*/ 5 h 561"/>
                        <a:gd name="T16" fmla="*/ 1 w 716"/>
                        <a:gd name="T17" fmla="*/ 6 h 561"/>
                        <a:gd name="T18" fmla="*/ 1 w 716"/>
                        <a:gd name="T19" fmla="*/ 6 h 561"/>
                        <a:gd name="T20" fmla="*/ 1 w 716"/>
                        <a:gd name="T21" fmla="*/ 7 h 561"/>
                        <a:gd name="T22" fmla="*/ 1 w 716"/>
                        <a:gd name="T23" fmla="*/ 7 h 561"/>
                        <a:gd name="T24" fmla="*/ 1 w 716"/>
                        <a:gd name="T25" fmla="*/ 8 h 561"/>
                        <a:gd name="T26" fmla="*/ 1 w 716"/>
                        <a:gd name="T27" fmla="*/ 8 h 561"/>
                        <a:gd name="T28" fmla="*/ 0 w 716"/>
                        <a:gd name="T29" fmla="*/ 9 h 561"/>
                        <a:gd name="T30" fmla="*/ 1 w 716"/>
                        <a:gd name="T31" fmla="*/ 10 h 561"/>
                        <a:gd name="T32" fmla="*/ 1 w 716"/>
                        <a:gd name="T33" fmla="*/ 10 h 561"/>
                        <a:gd name="T34" fmla="*/ 1 w 716"/>
                        <a:gd name="T35" fmla="*/ 11 h 561"/>
                        <a:gd name="T36" fmla="*/ 1 w 716"/>
                        <a:gd name="T37" fmla="*/ 12 h 561"/>
                        <a:gd name="T38" fmla="*/ 1 w 716"/>
                        <a:gd name="T39" fmla="*/ 12 h 561"/>
                        <a:gd name="T40" fmla="*/ 2 w 716"/>
                        <a:gd name="T41" fmla="*/ 13 h 561"/>
                        <a:gd name="T42" fmla="*/ 3 w 716"/>
                        <a:gd name="T43" fmla="*/ 14 h 561"/>
                        <a:gd name="T44" fmla="*/ 5 w 716"/>
                        <a:gd name="T45" fmla="*/ 16 h 561"/>
                        <a:gd name="T46" fmla="*/ 6 w 716"/>
                        <a:gd name="T47" fmla="*/ 17 h 561"/>
                        <a:gd name="T48" fmla="*/ 8 w 716"/>
                        <a:gd name="T49" fmla="*/ 18 h 561"/>
                        <a:gd name="T50" fmla="*/ 10 w 716"/>
                        <a:gd name="T51" fmla="*/ 18 h 561"/>
                        <a:gd name="T52" fmla="*/ 13 w 716"/>
                        <a:gd name="T53" fmla="*/ 18 h 561"/>
                        <a:gd name="T54" fmla="*/ 16 w 716"/>
                        <a:gd name="T55" fmla="*/ 18 h 561"/>
                        <a:gd name="T56" fmla="*/ 18 w 716"/>
                        <a:gd name="T57" fmla="*/ 17 h 561"/>
                        <a:gd name="T58" fmla="*/ 19 w 716"/>
                        <a:gd name="T59" fmla="*/ 17 h 561"/>
                        <a:gd name="T60" fmla="*/ 20 w 716"/>
                        <a:gd name="T61" fmla="*/ 16 h 561"/>
                        <a:gd name="T62" fmla="*/ 22 w 716"/>
                        <a:gd name="T63" fmla="*/ 13 h 561"/>
                        <a:gd name="T64" fmla="*/ 22 w 716"/>
                        <a:gd name="T65" fmla="*/ 11 h 561"/>
                        <a:gd name="T66" fmla="*/ 22 w 716"/>
                        <a:gd name="T67" fmla="*/ 11 h 561"/>
                        <a:gd name="T68" fmla="*/ 22 w 716"/>
                        <a:gd name="T69" fmla="*/ 10 h 561"/>
                        <a:gd name="T70" fmla="*/ 22 w 716"/>
                        <a:gd name="T71" fmla="*/ 10 h 561"/>
                        <a:gd name="T72" fmla="*/ 22 w 716"/>
                        <a:gd name="T73" fmla="*/ 9 h 561"/>
                        <a:gd name="T74" fmla="*/ 23 w 716"/>
                        <a:gd name="T75" fmla="*/ 9 h 561"/>
                        <a:gd name="T76" fmla="*/ 23 w 716"/>
                        <a:gd name="T77" fmla="*/ 8 h 561"/>
                        <a:gd name="T78" fmla="*/ 23 w 716"/>
                        <a:gd name="T79" fmla="*/ 8 h 561"/>
                        <a:gd name="T80" fmla="*/ 22 w 716"/>
                        <a:gd name="T81" fmla="*/ 7 h 561"/>
                        <a:gd name="T82" fmla="*/ 22 w 716"/>
                        <a:gd name="T83" fmla="*/ 7 h 561"/>
                        <a:gd name="T84" fmla="*/ 23 w 716"/>
                        <a:gd name="T85" fmla="*/ 6 h 561"/>
                        <a:gd name="T86" fmla="*/ 23 w 716"/>
                        <a:gd name="T87" fmla="*/ 5 h 561"/>
                        <a:gd name="T88" fmla="*/ 22 w 716"/>
                        <a:gd name="T89" fmla="*/ 5 h 561"/>
                        <a:gd name="T90" fmla="*/ 22 w 716"/>
                        <a:gd name="T91" fmla="*/ 4 h 561"/>
                        <a:gd name="T92" fmla="*/ 22 w 716"/>
                        <a:gd name="T93" fmla="*/ 4 h 561"/>
                        <a:gd name="T94" fmla="*/ 23 w 716"/>
                        <a:gd name="T95" fmla="*/ 3 h 561"/>
                        <a:gd name="T96" fmla="*/ 23 w 716"/>
                        <a:gd name="T97" fmla="*/ 3 h 561"/>
                        <a:gd name="T98" fmla="*/ 23 w 716"/>
                        <a:gd name="T99" fmla="*/ 2 h 561"/>
                        <a:gd name="T100" fmla="*/ 22 w 716"/>
                        <a:gd name="T101" fmla="*/ 1 h 561"/>
                        <a:gd name="T102" fmla="*/ 22 w 716"/>
                        <a:gd name="T103" fmla="*/ 1 h 561"/>
                        <a:gd name="T104" fmla="*/ 1 w 716"/>
                        <a:gd name="T105" fmla="*/ 0 h 56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16" h="561">
                          <a:moveTo>
                            <a:pt x="20" y="0"/>
                          </a:moveTo>
                          <a:lnTo>
                            <a:pt x="16" y="15"/>
                          </a:lnTo>
                          <a:lnTo>
                            <a:pt x="17" y="22"/>
                          </a:lnTo>
                          <a:lnTo>
                            <a:pt x="19" y="29"/>
                          </a:lnTo>
                          <a:lnTo>
                            <a:pt x="20" y="46"/>
                          </a:lnTo>
                          <a:lnTo>
                            <a:pt x="17" y="57"/>
                          </a:lnTo>
                          <a:lnTo>
                            <a:pt x="13" y="67"/>
                          </a:lnTo>
                          <a:lnTo>
                            <a:pt x="9" y="74"/>
                          </a:lnTo>
                          <a:lnTo>
                            <a:pt x="4" y="88"/>
                          </a:lnTo>
                          <a:lnTo>
                            <a:pt x="4" y="98"/>
                          </a:lnTo>
                          <a:lnTo>
                            <a:pt x="9" y="107"/>
                          </a:lnTo>
                          <a:lnTo>
                            <a:pt x="13" y="116"/>
                          </a:lnTo>
                          <a:lnTo>
                            <a:pt x="22" y="127"/>
                          </a:lnTo>
                          <a:lnTo>
                            <a:pt x="26" y="137"/>
                          </a:lnTo>
                          <a:lnTo>
                            <a:pt x="26" y="144"/>
                          </a:lnTo>
                          <a:lnTo>
                            <a:pt x="23" y="152"/>
                          </a:lnTo>
                          <a:lnTo>
                            <a:pt x="16" y="160"/>
                          </a:lnTo>
                          <a:lnTo>
                            <a:pt x="10" y="169"/>
                          </a:lnTo>
                          <a:lnTo>
                            <a:pt x="6" y="176"/>
                          </a:lnTo>
                          <a:lnTo>
                            <a:pt x="4" y="184"/>
                          </a:lnTo>
                          <a:lnTo>
                            <a:pt x="9" y="193"/>
                          </a:lnTo>
                          <a:lnTo>
                            <a:pt x="14" y="203"/>
                          </a:lnTo>
                          <a:lnTo>
                            <a:pt x="20" y="210"/>
                          </a:lnTo>
                          <a:lnTo>
                            <a:pt x="23" y="217"/>
                          </a:lnTo>
                          <a:lnTo>
                            <a:pt x="26" y="225"/>
                          </a:lnTo>
                          <a:lnTo>
                            <a:pt x="23" y="235"/>
                          </a:lnTo>
                          <a:lnTo>
                            <a:pt x="16" y="245"/>
                          </a:lnTo>
                          <a:lnTo>
                            <a:pt x="9" y="252"/>
                          </a:lnTo>
                          <a:lnTo>
                            <a:pt x="1" y="263"/>
                          </a:lnTo>
                          <a:lnTo>
                            <a:pt x="0" y="272"/>
                          </a:lnTo>
                          <a:lnTo>
                            <a:pt x="3" y="283"/>
                          </a:lnTo>
                          <a:lnTo>
                            <a:pt x="10" y="291"/>
                          </a:lnTo>
                          <a:lnTo>
                            <a:pt x="17" y="299"/>
                          </a:lnTo>
                          <a:lnTo>
                            <a:pt x="25" y="309"/>
                          </a:lnTo>
                          <a:lnTo>
                            <a:pt x="29" y="324"/>
                          </a:lnTo>
                          <a:lnTo>
                            <a:pt x="25" y="337"/>
                          </a:lnTo>
                          <a:lnTo>
                            <a:pt x="17" y="347"/>
                          </a:lnTo>
                          <a:lnTo>
                            <a:pt x="14" y="355"/>
                          </a:lnTo>
                          <a:lnTo>
                            <a:pt x="14" y="365"/>
                          </a:lnTo>
                          <a:lnTo>
                            <a:pt x="16" y="370"/>
                          </a:lnTo>
                          <a:lnTo>
                            <a:pt x="22" y="378"/>
                          </a:lnTo>
                          <a:lnTo>
                            <a:pt x="33" y="390"/>
                          </a:lnTo>
                          <a:lnTo>
                            <a:pt x="50" y="413"/>
                          </a:lnTo>
                          <a:lnTo>
                            <a:pt x="84" y="448"/>
                          </a:lnTo>
                          <a:lnTo>
                            <a:pt x="112" y="476"/>
                          </a:lnTo>
                          <a:lnTo>
                            <a:pt x="130" y="492"/>
                          </a:lnTo>
                          <a:lnTo>
                            <a:pt x="148" y="503"/>
                          </a:lnTo>
                          <a:lnTo>
                            <a:pt x="170" y="516"/>
                          </a:lnTo>
                          <a:lnTo>
                            <a:pt x="200" y="533"/>
                          </a:lnTo>
                          <a:lnTo>
                            <a:pt x="245" y="548"/>
                          </a:lnTo>
                          <a:lnTo>
                            <a:pt x="279" y="555"/>
                          </a:lnTo>
                          <a:lnTo>
                            <a:pt x="314" y="559"/>
                          </a:lnTo>
                          <a:lnTo>
                            <a:pt x="361" y="561"/>
                          </a:lnTo>
                          <a:lnTo>
                            <a:pt x="410" y="559"/>
                          </a:lnTo>
                          <a:lnTo>
                            <a:pt x="453" y="558"/>
                          </a:lnTo>
                          <a:lnTo>
                            <a:pt x="490" y="552"/>
                          </a:lnTo>
                          <a:lnTo>
                            <a:pt x="522" y="545"/>
                          </a:lnTo>
                          <a:lnTo>
                            <a:pt x="546" y="536"/>
                          </a:lnTo>
                          <a:lnTo>
                            <a:pt x="567" y="525"/>
                          </a:lnTo>
                          <a:lnTo>
                            <a:pt x="583" y="515"/>
                          </a:lnTo>
                          <a:lnTo>
                            <a:pt x="596" y="506"/>
                          </a:lnTo>
                          <a:lnTo>
                            <a:pt x="610" y="492"/>
                          </a:lnTo>
                          <a:lnTo>
                            <a:pt x="653" y="434"/>
                          </a:lnTo>
                          <a:lnTo>
                            <a:pt x="685" y="385"/>
                          </a:lnTo>
                          <a:lnTo>
                            <a:pt x="698" y="360"/>
                          </a:lnTo>
                          <a:lnTo>
                            <a:pt x="701" y="350"/>
                          </a:lnTo>
                          <a:lnTo>
                            <a:pt x="702" y="342"/>
                          </a:lnTo>
                          <a:lnTo>
                            <a:pt x="702" y="334"/>
                          </a:lnTo>
                          <a:lnTo>
                            <a:pt x="696" y="324"/>
                          </a:lnTo>
                          <a:lnTo>
                            <a:pt x="692" y="317"/>
                          </a:lnTo>
                          <a:lnTo>
                            <a:pt x="690" y="308"/>
                          </a:lnTo>
                          <a:lnTo>
                            <a:pt x="692" y="298"/>
                          </a:lnTo>
                          <a:lnTo>
                            <a:pt x="696" y="291"/>
                          </a:lnTo>
                          <a:lnTo>
                            <a:pt x="701" y="283"/>
                          </a:lnTo>
                          <a:lnTo>
                            <a:pt x="706" y="275"/>
                          </a:lnTo>
                          <a:lnTo>
                            <a:pt x="712" y="266"/>
                          </a:lnTo>
                          <a:lnTo>
                            <a:pt x="716" y="258"/>
                          </a:lnTo>
                          <a:lnTo>
                            <a:pt x="715" y="247"/>
                          </a:lnTo>
                          <a:lnTo>
                            <a:pt x="711" y="238"/>
                          </a:lnTo>
                          <a:lnTo>
                            <a:pt x="706" y="230"/>
                          </a:lnTo>
                          <a:lnTo>
                            <a:pt x="701" y="223"/>
                          </a:lnTo>
                          <a:lnTo>
                            <a:pt x="695" y="215"/>
                          </a:lnTo>
                          <a:lnTo>
                            <a:pt x="693" y="206"/>
                          </a:lnTo>
                          <a:lnTo>
                            <a:pt x="695" y="198"/>
                          </a:lnTo>
                          <a:lnTo>
                            <a:pt x="702" y="187"/>
                          </a:lnTo>
                          <a:lnTo>
                            <a:pt x="709" y="179"/>
                          </a:lnTo>
                          <a:lnTo>
                            <a:pt x="712" y="170"/>
                          </a:lnTo>
                          <a:lnTo>
                            <a:pt x="712" y="157"/>
                          </a:lnTo>
                          <a:lnTo>
                            <a:pt x="708" y="146"/>
                          </a:lnTo>
                          <a:lnTo>
                            <a:pt x="701" y="137"/>
                          </a:lnTo>
                          <a:lnTo>
                            <a:pt x="698" y="131"/>
                          </a:lnTo>
                          <a:lnTo>
                            <a:pt x="695" y="121"/>
                          </a:lnTo>
                          <a:lnTo>
                            <a:pt x="696" y="110"/>
                          </a:lnTo>
                          <a:lnTo>
                            <a:pt x="702" y="101"/>
                          </a:lnTo>
                          <a:lnTo>
                            <a:pt x="706" y="95"/>
                          </a:lnTo>
                          <a:lnTo>
                            <a:pt x="712" y="88"/>
                          </a:lnTo>
                          <a:lnTo>
                            <a:pt x="715" y="79"/>
                          </a:lnTo>
                          <a:lnTo>
                            <a:pt x="716" y="68"/>
                          </a:lnTo>
                          <a:lnTo>
                            <a:pt x="714" y="62"/>
                          </a:lnTo>
                          <a:lnTo>
                            <a:pt x="708" y="52"/>
                          </a:lnTo>
                          <a:lnTo>
                            <a:pt x="702" y="44"/>
                          </a:lnTo>
                          <a:lnTo>
                            <a:pt x="698" y="32"/>
                          </a:lnTo>
                          <a:lnTo>
                            <a:pt x="698" y="22"/>
                          </a:lnTo>
                          <a:lnTo>
                            <a:pt x="701" y="14"/>
                          </a:lnTo>
                          <a:lnTo>
                            <a:pt x="699" y="0"/>
                          </a:lnTo>
                          <a:lnTo>
                            <a:pt x="20"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9" name="Freeform 48">
                      <a:extLst>
                        <a:ext uri="{FF2B5EF4-FFF2-40B4-BE49-F238E27FC236}">
                          <a16:creationId xmlns:a16="http://schemas.microsoft.com/office/drawing/2014/main" id="{0F233026-C782-6FE1-E9F5-77CCE997EBE1}"/>
                        </a:ext>
                      </a:extLst>
                    </p:cNvPr>
                    <p:cNvSpPr>
                      <a:spLocks/>
                    </p:cNvSpPr>
                    <p:nvPr/>
                  </p:nvSpPr>
                  <p:spPr bwMode="auto">
                    <a:xfrm>
                      <a:off x="1982" y="3301"/>
                      <a:ext cx="44" cy="39"/>
                    </a:xfrm>
                    <a:custGeom>
                      <a:avLst/>
                      <a:gdLst>
                        <a:gd name="T0" fmla="*/ 0 w 89"/>
                        <a:gd name="T1" fmla="*/ 0 h 78"/>
                        <a:gd name="T2" fmla="*/ 0 w 89"/>
                        <a:gd name="T3" fmla="*/ 1 h 78"/>
                        <a:gd name="T4" fmla="*/ 0 w 89"/>
                        <a:gd name="T5" fmla="*/ 1 h 78"/>
                        <a:gd name="T6" fmla="*/ 1 w 89"/>
                        <a:gd name="T7" fmla="*/ 2 h 78"/>
                        <a:gd name="T8" fmla="*/ 1 w 89"/>
                        <a:gd name="T9" fmla="*/ 2 h 78"/>
                        <a:gd name="T10" fmla="*/ 2 w 89"/>
                        <a:gd name="T11" fmla="*/ 2 h 78"/>
                        <a:gd name="T12" fmla="*/ 2 w 89"/>
                        <a:gd name="T13" fmla="*/ 2 h 78"/>
                        <a:gd name="T14" fmla="*/ 2 w 89"/>
                        <a:gd name="T15" fmla="*/ 3 h 78"/>
                        <a:gd name="T16" fmla="*/ 1 w 89"/>
                        <a:gd name="T17" fmla="*/ 3 h 78"/>
                        <a:gd name="T18" fmla="*/ 1 w 89"/>
                        <a:gd name="T19" fmla="*/ 3 h 78"/>
                        <a:gd name="T20" fmla="*/ 0 w 89"/>
                        <a:gd name="T21" fmla="*/ 3 h 78"/>
                        <a:gd name="T22" fmla="*/ 0 w 89"/>
                        <a:gd name="T23" fmla="*/ 3 h 78"/>
                        <a:gd name="T24" fmla="*/ 0 w 89"/>
                        <a:gd name="T25" fmla="*/ 2 h 78"/>
                        <a:gd name="T26" fmla="*/ 0 w 89"/>
                        <a:gd name="T27" fmla="*/ 2 h 78"/>
                        <a:gd name="T28" fmla="*/ 0 w 89"/>
                        <a:gd name="T29" fmla="*/ 2 h 78"/>
                        <a:gd name="T30" fmla="*/ 0 w 89"/>
                        <a:gd name="T31" fmla="*/ 1 h 78"/>
                        <a:gd name="T32" fmla="*/ 0 w 89"/>
                        <a:gd name="T33" fmla="*/ 1 h 78"/>
                        <a:gd name="T34" fmla="*/ 0 w 89"/>
                        <a:gd name="T35" fmla="*/ 0 h 7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9" h="78">
                          <a:moveTo>
                            <a:pt x="5" y="0"/>
                          </a:moveTo>
                          <a:lnTo>
                            <a:pt x="10" y="11"/>
                          </a:lnTo>
                          <a:lnTo>
                            <a:pt x="19" y="21"/>
                          </a:lnTo>
                          <a:lnTo>
                            <a:pt x="35" y="34"/>
                          </a:lnTo>
                          <a:lnTo>
                            <a:pt x="53" y="46"/>
                          </a:lnTo>
                          <a:lnTo>
                            <a:pt x="72" y="53"/>
                          </a:lnTo>
                          <a:lnTo>
                            <a:pt x="89" y="57"/>
                          </a:lnTo>
                          <a:lnTo>
                            <a:pt x="82" y="70"/>
                          </a:lnTo>
                          <a:lnTo>
                            <a:pt x="59" y="67"/>
                          </a:lnTo>
                          <a:lnTo>
                            <a:pt x="35" y="69"/>
                          </a:lnTo>
                          <a:lnTo>
                            <a:pt x="19" y="78"/>
                          </a:lnTo>
                          <a:lnTo>
                            <a:pt x="22" y="70"/>
                          </a:lnTo>
                          <a:lnTo>
                            <a:pt x="21" y="62"/>
                          </a:lnTo>
                          <a:lnTo>
                            <a:pt x="16" y="50"/>
                          </a:lnTo>
                          <a:lnTo>
                            <a:pt x="9" y="39"/>
                          </a:lnTo>
                          <a:lnTo>
                            <a:pt x="2" y="27"/>
                          </a:lnTo>
                          <a:lnTo>
                            <a:pt x="0" y="14"/>
                          </a:lnTo>
                          <a:lnTo>
                            <a:pt x="5" y="0"/>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0" name="Freeform 49">
                      <a:extLst>
                        <a:ext uri="{FF2B5EF4-FFF2-40B4-BE49-F238E27FC236}">
                          <a16:creationId xmlns:a16="http://schemas.microsoft.com/office/drawing/2014/main" id="{8FF4B69B-7A85-68A2-6BE8-36898878B2B8}"/>
                        </a:ext>
                      </a:extLst>
                    </p:cNvPr>
                    <p:cNvSpPr>
                      <a:spLocks/>
                    </p:cNvSpPr>
                    <p:nvPr/>
                  </p:nvSpPr>
                  <p:spPr bwMode="auto">
                    <a:xfrm>
                      <a:off x="1983" y="3349"/>
                      <a:ext cx="58" cy="33"/>
                    </a:xfrm>
                    <a:custGeom>
                      <a:avLst/>
                      <a:gdLst>
                        <a:gd name="T0" fmla="*/ 0 w 117"/>
                        <a:gd name="T1" fmla="*/ 1 h 65"/>
                        <a:gd name="T2" fmla="*/ 0 w 117"/>
                        <a:gd name="T3" fmla="*/ 0 h 65"/>
                        <a:gd name="T4" fmla="*/ 0 w 117"/>
                        <a:gd name="T5" fmla="*/ 1 h 65"/>
                        <a:gd name="T6" fmla="*/ 0 w 117"/>
                        <a:gd name="T7" fmla="*/ 1 h 65"/>
                        <a:gd name="T8" fmla="*/ 1 w 117"/>
                        <a:gd name="T9" fmla="*/ 1 h 65"/>
                        <a:gd name="T10" fmla="*/ 1 w 117"/>
                        <a:gd name="T11" fmla="*/ 1 h 65"/>
                        <a:gd name="T12" fmla="*/ 2 w 117"/>
                        <a:gd name="T13" fmla="*/ 1 h 65"/>
                        <a:gd name="T14" fmla="*/ 3 w 117"/>
                        <a:gd name="T15" fmla="*/ 2 h 65"/>
                        <a:gd name="T16" fmla="*/ 3 w 117"/>
                        <a:gd name="T17" fmla="*/ 2 h 65"/>
                        <a:gd name="T18" fmla="*/ 2 w 117"/>
                        <a:gd name="T19" fmla="*/ 2 h 65"/>
                        <a:gd name="T20" fmla="*/ 1 w 117"/>
                        <a:gd name="T21" fmla="*/ 2 h 65"/>
                        <a:gd name="T22" fmla="*/ 1 w 117"/>
                        <a:gd name="T23" fmla="*/ 2 h 65"/>
                        <a:gd name="T24" fmla="*/ 0 w 117"/>
                        <a:gd name="T25" fmla="*/ 3 h 65"/>
                        <a:gd name="T26" fmla="*/ 0 w 117"/>
                        <a:gd name="T27" fmla="*/ 2 h 65"/>
                        <a:gd name="T28" fmla="*/ 0 w 117"/>
                        <a:gd name="T29" fmla="*/ 2 h 65"/>
                        <a:gd name="T30" fmla="*/ 0 w 117"/>
                        <a:gd name="T31" fmla="*/ 2 h 65"/>
                        <a:gd name="T32" fmla="*/ 0 w 117"/>
                        <a:gd name="T33" fmla="*/ 1 h 65"/>
                        <a:gd name="T34" fmla="*/ 0 w 117"/>
                        <a:gd name="T35" fmla="*/ 1 h 65"/>
                        <a:gd name="T36" fmla="*/ 0 w 117"/>
                        <a:gd name="T37" fmla="*/ 1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7" h="65">
                          <a:moveTo>
                            <a:pt x="0" y="8"/>
                          </a:moveTo>
                          <a:lnTo>
                            <a:pt x="3" y="0"/>
                          </a:lnTo>
                          <a:lnTo>
                            <a:pt x="7" y="8"/>
                          </a:lnTo>
                          <a:lnTo>
                            <a:pt x="16" y="12"/>
                          </a:lnTo>
                          <a:lnTo>
                            <a:pt x="33" y="19"/>
                          </a:lnTo>
                          <a:lnTo>
                            <a:pt x="50" y="24"/>
                          </a:lnTo>
                          <a:lnTo>
                            <a:pt x="77" y="30"/>
                          </a:lnTo>
                          <a:lnTo>
                            <a:pt x="107" y="35"/>
                          </a:lnTo>
                          <a:lnTo>
                            <a:pt x="117" y="62"/>
                          </a:lnTo>
                          <a:lnTo>
                            <a:pt x="83" y="54"/>
                          </a:lnTo>
                          <a:lnTo>
                            <a:pt x="56" y="51"/>
                          </a:lnTo>
                          <a:lnTo>
                            <a:pt x="35" y="55"/>
                          </a:lnTo>
                          <a:lnTo>
                            <a:pt x="19" y="65"/>
                          </a:lnTo>
                          <a:lnTo>
                            <a:pt x="19" y="57"/>
                          </a:lnTo>
                          <a:lnTo>
                            <a:pt x="19" y="49"/>
                          </a:lnTo>
                          <a:lnTo>
                            <a:pt x="16" y="41"/>
                          </a:lnTo>
                          <a:lnTo>
                            <a:pt x="7" y="28"/>
                          </a:lnTo>
                          <a:lnTo>
                            <a:pt x="0" y="18"/>
                          </a:lnTo>
                          <a:lnTo>
                            <a:pt x="0" y="8"/>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 name="Freeform 50">
                      <a:extLst>
                        <a:ext uri="{FF2B5EF4-FFF2-40B4-BE49-F238E27FC236}">
                          <a16:creationId xmlns:a16="http://schemas.microsoft.com/office/drawing/2014/main" id="{C210FE21-2ACB-7E87-BDE8-7522C45E6514}"/>
                        </a:ext>
                      </a:extLst>
                    </p:cNvPr>
                    <p:cNvSpPr>
                      <a:spLocks/>
                    </p:cNvSpPr>
                    <p:nvPr/>
                  </p:nvSpPr>
                  <p:spPr bwMode="auto">
                    <a:xfrm>
                      <a:off x="1980" y="3390"/>
                      <a:ext cx="69" cy="41"/>
                    </a:xfrm>
                    <a:custGeom>
                      <a:avLst/>
                      <a:gdLst>
                        <a:gd name="T0" fmla="*/ 1 w 137"/>
                        <a:gd name="T1" fmla="*/ 1 h 82"/>
                        <a:gd name="T2" fmla="*/ 1 w 137"/>
                        <a:gd name="T3" fmla="*/ 0 h 82"/>
                        <a:gd name="T4" fmla="*/ 1 w 137"/>
                        <a:gd name="T5" fmla="*/ 1 h 82"/>
                        <a:gd name="T6" fmla="*/ 1 w 137"/>
                        <a:gd name="T7" fmla="*/ 1 h 82"/>
                        <a:gd name="T8" fmla="*/ 2 w 137"/>
                        <a:gd name="T9" fmla="*/ 1 h 82"/>
                        <a:gd name="T10" fmla="*/ 2 w 137"/>
                        <a:gd name="T11" fmla="*/ 2 h 82"/>
                        <a:gd name="T12" fmla="*/ 3 w 137"/>
                        <a:gd name="T13" fmla="*/ 2 h 82"/>
                        <a:gd name="T14" fmla="*/ 4 w 137"/>
                        <a:gd name="T15" fmla="*/ 2 h 82"/>
                        <a:gd name="T16" fmla="*/ 5 w 137"/>
                        <a:gd name="T17" fmla="*/ 2 h 82"/>
                        <a:gd name="T18" fmla="*/ 5 w 137"/>
                        <a:gd name="T19" fmla="*/ 3 h 82"/>
                        <a:gd name="T20" fmla="*/ 4 w 137"/>
                        <a:gd name="T21" fmla="*/ 3 h 82"/>
                        <a:gd name="T22" fmla="*/ 3 w 137"/>
                        <a:gd name="T23" fmla="*/ 2 h 82"/>
                        <a:gd name="T24" fmla="*/ 2 w 137"/>
                        <a:gd name="T25" fmla="*/ 2 h 82"/>
                        <a:gd name="T26" fmla="*/ 2 w 137"/>
                        <a:gd name="T27" fmla="*/ 2 h 82"/>
                        <a:gd name="T28" fmla="*/ 2 w 137"/>
                        <a:gd name="T29" fmla="*/ 2 h 82"/>
                        <a:gd name="T30" fmla="*/ 1 w 137"/>
                        <a:gd name="T31" fmla="*/ 3 h 82"/>
                        <a:gd name="T32" fmla="*/ 1 w 137"/>
                        <a:gd name="T33" fmla="*/ 2 h 82"/>
                        <a:gd name="T34" fmla="*/ 1 w 137"/>
                        <a:gd name="T35" fmla="*/ 2 h 82"/>
                        <a:gd name="T36" fmla="*/ 1 w 137"/>
                        <a:gd name="T37" fmla="*/ 2 h 82"/>
                        <a:gd name="T38" fmla="*/ 0 w 137"/>
                        <a:gd name="T39" fmla="*/ 1 h 82"/>
                        <a:gd name="T40" fmla="*/ 1 w 137"/>
                        <a:gd name="T41" fmla="*/ 1 h 8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37" h="82">
                          <a:moveTo>
                            <a:pt x="2" y="10"/>
                          </a:moveTo>
                          <a:lnTo>
                            <a:pt x="8" y="0"/>
                          </a:lnTo>
                          <a:lnTo>
                            <a:pt x="16" y="13"/>
                          </a:lnTo>
                          <a:lnTo>
                            <a:pt x="25" y="19"/>
                          </a:lnTo>
                          <a:lnTo>
                            <a:pt x="36" y="26"/>
                          </a:lnTo>
                          <a:lnTo>
                            <a:pt x="54" y="33"/>
                          </a:lnTo>
                          <a:lnTo>
                            <a:pt x="76" y="39"/>
                          </a:lnTo>
                          <a:lnTo>
                            <a:pt x="99" y="46"/>
                          </a:lnTo>
                          <a:lnTo>
                            <a:pt x="131" y="56"/>
                          </a:lnTo>
                          <a:lnTo>
                            <a:pt x="137" y="82"/>
                          </a:lnTo>
                          <a:lnTo>
                            <a:pt x="104" y="68"/>
                          </a:lnTo>
                          <a:lnTo>
                            <a:pt x="81" y="59"/>
                          </a:lnTo>
                          <a:lnTo>
                            <a:pt x="61" y="56"/>
                          </a:lnTo>
                          <a:lnTo>
                            <a:pt x="46" y="56"/>
                          </a:lnTo>
                          <a:lnTo>
                            <a:pt x="38" y="62"/>
                          </a:lnTo>
                          <a:lnTo>
                            <a:pt x="28" y="72"/>
                          </a:lnTo>
                          <a:lnTo>
                            <a:pt x="26" y="61"/>
                          </a:lnTo>
                          <a:lnTo>
                            <a:pt x="16" y="46"/>
                          </a:lnTo>
                          <a:lnTo>
                            <a:pt x="8" y="36"/>
                          </a:lnTo>
                          <a:lnTo>
                            <a:pt x="0" y="24"/>
                          </a:lnTo>
                          <a:lnTo>
                            <a:pt x="2" y="10"/>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 name="Freeform 51">
                      <a:extLst>
                        <a:ext uri="{FF2B5EF4-FFF2-40B4-BE49-F238E27FC236}">
                          <a16:creationId xmlns:a16="http://schemas.microsoft.com/office/drawing/2014/main" id="{E41A8891-B8D3-F280-2117-13F5747D1635}"/>
                        </a:ext>
                      </a:extLst>
                    </p:cNvPr>
                    <p:cNvSpPr>
                      <a:spLocks/>
                    </p:cNvSpPr>
                    <p:nvPr/>
                  </p:nvSpPr>
                  <p:spPr bwMode="auto">
                    <a:xfrm>
                      <a:off x="1988" y="3434"/>
                      <a:ext cx="82" cy="91"/>
                    </a:xfrm>
                    <a:custGeom>
                      <a:avLst/>
                      <a:gdLst>
                        <a:gd name="T0" fmla="*/ 1 w 163"/>
                        <a:gd name="T1" fmla="*/ 1 h 180"/>
                        <a:gd name="T2" fmla="*/ 0 w 163"/>
                        <a:gd name="T3" fmla="*/ 1 h 180"/>
                        <a:gd name="T4" fmla="*/ 0 w 163"/>
                        <a:gd name="T5" fmla="*/ 1 h 180"/>
                        <a:gd name="T6" fmla="*/ 1 w 163"/>
                        <a:gd name="T7" fmla="*/ 0 h 180"/>
                        <a:gd name="T8" fmla="*/ 1 w 163"/>
                        <a:gd name="T9" fmla="*/ 1 h 180"/>
                        <a:gd name="T10" fmla="*/ 2 w 163"/>
                        <a:gd name="T11" fmla="*/ 1 h 180"/>
                        <a:gd name="T12" fmla="*/ 2 w 163"/>
                        <a:gd name="T13" fmla="*/ 2 h 180"/>
                        <a:gd name="T14" fmla="*/ 3 w 163"/>
                        <a:gd name="T15" fmla="*/ 2 h 180"/>
                        <a:gd name="T16" fmla="*/ 4 w 163"/>
                        <a:gd name="T17" fmla="*/ 2 h 180"/>
                        <a:gd name="T18" fmla="*/ 5 w 163"/>
                        <a:gd name="T19" fmla="*/ 3 h 180"/>
                        <a:gd name="T20" fmla="*/ 4 w 163"/>
                        <a:gd name="T21" fmla="*/ 3 h 180"/>
                        <a:gd name="T22" fmla="*/ 3 w 163"/>
                        <a:gd name="T23" fmla="*/ 2 h 180"/>
                        <a:gd name="T24" fmla="*/ 3 w 163"/>
                        <a:gd name="T25" fmla="*/ 3 h 180"/>
                        <a:gd name="T26" fmla="*/ 3 w 163"/>
                        <a:gd name="T27" fmla="*/ 3 h 180"/>
                        <a:gd name="T28" fmla="*/ 3 w 163"/>
                        <a:gd name="T29" fmla="*/ 3 h 180"/>
                        <a:gd name="T30" fmla="*/ 3 w 163"/>
                        <a:gd name="T31" fmla="*/ 4 h 180"/>
                        <a:gd name="T32" fmla="*/ 4 w 163"/>
                        <a:gd name="T33" fmla="*/ 4 h 180"/>
                        <a:gd name="T34" fmla="*/ 5 w 163"/>
                        <a:gd name="T35" fmla="*/ 5 h 180"/>
                        <a:gd name="T36" fmla="*/ 6 w 163"/>
                        <a:gd name="T37" fmla="*/ 6 h 180"/>
                        <a:gd name="T38" fmla="*/ 6 w 163"/>
                        <a:gd name="T39" fmla="*/ 6 h 180"/>
                        <a:gd name="T40" fmla="*/ 5 w 163"/>
                        <a:gd name="T41" fmla="*/ 6 h 180"/>
                        <a:gd name="T42" fmla="*/ 5 w 163"/>
                        <a:gd name="T43" fmla="*/ 6 h 180"/>
                        <a:gd name="T44" fmla="*/ 4 w 163"/>
                        <a:gd name="T45" fmla="*/ 5 h 180"/>
                        <a:gd name="T46" fmla="*/ 3 w 163"/>
                        <a:gd name="T47" fmla="*/ 4 h 180"/>
                        <a:gd name="T48" fmla="*/ 2 w 163"/>
                        <a:gd name="T49" fmla="*/ 4 h 180"/>
                        <a:gd name="T50" fmla="*/ 2 w 163"/>
                        <a:gd name="T51" fmla="*/ 3 h 180"/>
                        <a:gd name="T52" fmla="*/ 1 w 163"/>
                        <a:gd name="T53" fmla="*/ 2 h 180"/>
                        <a:gd name="T54" fmla="*/ 1 w 163"/>
                        <a:gd name="T55" fmla="*/ 2 h 180"/>
                        <a:gd name="T56" fmla="*/ 1 w 163"/>
                        <a:gd name="T57" fmla="*/ 1 h 18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3" h="180">
                          <a:moveTo>
                            <a:pt x="1" y="28"/>
                          </a:moveTo>
                          <a:lnTo>
                            <a:pt x="0" y="16"/>
                          </a:lnTo>
                          <a:lnTo>
                            <a:pt x="0" y="9"/>
                          </a:lnTo>
                          <a:lnTo>
                            <a:pt x="6" y="0"/>
                          </a:lnTo>
                          <a:lnTo>
                            <a:pt x="18" y="13"/>
                          </a:lnTo>
                          <a:lnTo>
                            <a:pt x="37" y="26"/>
                          </a:lnTo>
                          <a:lnTo>
                            <a:pt x="56" y="35"/>
                          </a:lnTo>
                          <a:lnTo>
                            <a:pt x="83" y="43"/>
                          </a:lnTo>
                          <a:lnTo>
                            <a:pt x="122" y="51"/>
                          </a:lnTo>
                          <a:lnTo>
                            <a:pt x="130" y="72"/>
                          </a:lnTo>
                          <a:lnTo>
                            <a:pt x="110" y="66"/>
                          </a:lnTo>
                          <a:lnTo>
                            <a:pt x="89" y="62"/>
                          </a:lnTo>
                          <a:lnTo>
                            <a:pt x="79" y="65"/>
                          </a:lnTo>
                          <a:lnTo>
                            <a:pt x="76" y="75"/>
                          </a:lnTo>
                          <a:lnTo>
                            <a:pt x="82" y="88"/>
                          </a:lnTo>
                          <a:lnTo>
                            <a:pt x="90" y="100"/>
                          </a:lnTo>
                          <a:lnTo>
                            <a:pt x="107" y="120"/>
                          </a:lnTo>
                          <a:lnTo>
                            <a:pt x="130" y="140"/>
                          </a:lnTo>
                          <a:lnTo>
                            <a:pt x="163" y="164"/>
                          </a:lnTo>
                          <a:lnTo>
                            <a:pt x="163" y="180"/>
                          </a:lnTo>
                          <a:lnTo>
                            <a:pt x="149" y="171"/>
                          </a:lnTo>
                          <a:lnTo>
                            <a:pt x="130" y="161"/>
                          </a:lnTo>
                          <a:lnTo>
                            <a:pt x="104" y="140"/>
                          </a:lnTo>
                          <a:lnTo>
                            <a:pt x="82" y="118"/>
                          </a:lnTo>
                          <a:lnTo>
                            <a:pt x="63" y="100"/>
                          </a:lnTo>
                          <a:lnTo>
                            <a:pt x="44" y="79"/>
                          </a:lnTo>
                          <a:lnTo>
                            <a:pt x="28" y="61"/>
                          </a:lnTo>
                          <a:lnTo>
                            <a:pt x="11" y="45"/>
                          </a:lnTo>
                          <a:lnTo>
                            <a:pt x="1" y="28"/>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3" name="Freeform 52">
                      <a:extLst>
                        <a:ext uri="{FF2B5EF4-FFF2-40B4-BE49-F238E27FC236}">
                          <a16:creationId xmlns:a16="http://schemas.microsoft.com/office/drawing/2014/main" id="{8D268E2D-82ED-BE9B-CC73-1E8FC3308A69}"/>
                        </a:ext>
                      </a:extLst>
                    </p:cNvPr>
                    <p:cNvSpPr>
                      <a:spLocks/>
                    </p:cNvSpPr>
                    <p:nvPr/>
                  </p:nvSpPr>
                  <p:spPr bwMode="auto">
                    <a:xfrm>
                      <a:off x="1990" y="3273"/>
                      <a:ext cx="33" cy="27"/>
                    </a:xfrm>
                    <a:custGeom>
                      <a:avLst/>
                      <a:gdLst>
                        <a:gd name="T0" fmla="*/ 0 w 68"/>
                        <a:gd name="T1" fmla="*/ 0 h 54"/>
                        <a:gd name="T2" fmla="*/ 0 w 68"/>
                        <a:gd name="T3" fmla="*/ 1 h 54"/>
                        <a:gd name="T4" fmla="*/ 0 w 68"/>
                        <a:gd name="T5" fmla="*/ 1 h 54"/>
                        <a:gd name="T6" fmla="*/ 1 w 68"/>
                        <a:gd name="T7" fmla="*/ 1 h 54"/>
                        <a:gd name="T8" fmla="*/ 1 w 68"/>
                        <a:gd name="T9" fmla="*/ 2 h 54"/>
                        <a:gd name="T10" fmla="*/ 1 w 68"/>
                        <a:gd name="T11" fmla="*/ 2 h 54"/>
                        <a:gd name="T12" fmla="*/ 2 w 68"/>
                        <a:gd name="T13" fmla="*/ 2 h 54"/>
                        <a:gd name="T14" fmla="*/ 1 w 68"/>
                        <a:gd name="T15" fmla="*/ 2 h 54"/>
                        <a:gd name="T16" fmla="*/ 1 w 68"/>
                        <a:gd name="T17" fmla="*/ 2 h 54"/>
                        <a:gd name="T18" fmla="*/ 0 w 68"/>
                        <a:gd name="T19" fmla="*/ 2 h 54"/>
                        <a:gd name="T20" fmla="*/ 0 w 68"/>
                        <a:gd name="T21" fmla="*/ 2 h 54"/>
                        <a:gd name="T22" fmla="*/ 0 w 68"/>
                        <a:gd name="T23" fmla="*/ 1 h 54"/>
                        <a:gd name="T24" fmla="*/ 0 w 68"/>
                        <a:gd name="T25" fmla="*/ 1 h 54"/>
                        <a:gd name="T26" fmla="*/ 0 w 68"/>
                        <a:gd name="T27" fmla="*/ 0 h 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8" h="54">
                          <a:moveTo>
                            <a:pt x="0" y="0"/>
                          </a:moveTo>
                          <a:lnTo>
                            <a:pt x="8" y="8"/>
                          </a:lnTo>
                          <a:lnTo>
                            <a:pt x="20" y="17"/>
                          </a:lnTo>
                          <a:lnTo>
                            <a:pt x="33" y="26"/>
                          </a:lnTo>
                          <a:lnTo>
                            <a:pt x="47" y="35"/>
                          </a:lnTo>
                          <a:lnTo>
                            <a:pt x="61" y="42"/>
                          </a:lnTo>
                          <a:lnTo>
                            <a:pt x="68" y="48"/>
                          </a:lnTo>
                          <a:lnTo>
                            <a:pt x="51" y="54"/>
                          </a:lnTo>
                          <a:lnTo>
                            <a:pt x="33" y="48"/>
                          </a:lnTo>
                          <a:lnTo>
                            <a:pt x="15" y="41"/>
                          </a:lnTo>
                          <a:lnTo>
                            <a:pt x="0" y="33"/>
                          </a:lnTo>
                          <a:lnTo>
                            <a:pt x="1" y="26"/>
                          </a:lnTo>
                          <a:lnTo>
                            <a:pt x="3" y="13"/>
                          </a:lnTo>
                          <a:lnTo>
                            <a:pt x="0" y="0"/>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4" name="Freeform 53">
                      <a:extLst>
                        <a:ext uri="{FF2B5EF4-FFF2-40B4-BE49-F238E27FC236}">
                          <a16:creationId xmlns:a16="http://schemas.microsoft.com/office/drawing/2014/main" id="{D435FEFB-6AF0-606E-996C-B28D827679D0}"/>
                        </a:ext>
                      </a:extLst>
                    </p:cNvPr>
                    <p:cNvSpPr>
                      <a:spLocks/>
                    </p:cNvSpPr>
                    <p:nvPr/>
                  </p:nvSpPr>
                  <p:spPr bwMode="auto">
                    <a:xfrm>
                      <a:off x="2051" y="3266"/>
                      <a:ext cx="287" cy="270"/>
                    </a:xfrm>
                    <a:custGeom>
                      <a:avLst/>
                      <a:gdLst>
                        <a:gd name="T0" fmla="*/ 8 w 575"/>
                        <a:gd name="T1" fmla="*/ 4 h 539"/>
                        <a:gd name="T2" fmla="*/ 7 w 575"/>
                        <a:gd name="T3" fmla="*/ 5 h 539"/>
                        <a:gd name="T4" fmla="*/ 4 w 575"/>
                        <a:gd name="T5" fmla="*/ 5 h 539"/>
                        <a:gd name="T6" fmla="*/ 0 w 575"/>
                        <a:gd name="T7" fmla="*/ 6 h 539"/>
                        <a:gd name="T8" fmla="*/ 5 w 575"/>
                        <a:gd name="T9" fmla="*/ 6 h 539"/>
                        <a:gd name="T10" fmla="*/ 10 w 575"/>
                        <a:gd name="T11" fmla="*/ 6 h 539"/>
                        <a:gd name="T12" fmla="*/ 14 w 575"/>
                        <a:gd name="T13" fmla="*/ 5 h 539"/>
                        <a:gd name="T14" fmla="*/ 15 w 575"/>
                        <a:gd name="T15" fmla="*/ 5 h 539"/>
                        <a:gd name="T16" fmla="*/ 15 w 575"/>
                        <a:gd name="T17" fmla="*/ 6 h 539"/>
                        <a:gd name="T18" fmla="*/ 12 w 575"/>
                        <a:gd name="T19" fmla="*/ 7 h 539"/>
                        <a:gd name="T20" fmla="*/ 7 w 575"/>
                        <a:gd name="T21" fmla="*/ 8 h 539"/>
                        <a:gd name="T22" fmla="*/ 4 w 575"/>
                        <a:gd name="T23" fmla="*/ 9 h 539"/>
                        <a:gd name="T24" fmla="*/ 10 w 575"/>
                        <a:gd name="T25" fmla="*/ 9 h 539"/>
                        <a:gd name="T26" fmla="*/ 13 w 575"/>
                        <a:gd name="T27" fmla="*/ 8 h 539"/>
                        <a:gd name="T28" fmla="*/ 16 w 575"/>
                        <a:gd name="T29" fmla="*/ 7 h 539"/>
                        <a:gd name="T30" fmla="*/ 16 w 575"/>
                        <a:gd name="T31" fmla="*/ 8 h 539"/>
                        <a:gd name="T32" fmla="*/ 14 w 575"/>
                        <a:gd name="T33" fmla="*/ 9 h 539"/>
                        <a:gd name="T34" fmla="*/ 10 w 575"/>
                        <a:gd name="T35" fmla="*/ 10 h 539"/>
                        <a:gd name="T36" fmla="*/ 5 w 575"/>
                        <a:gd name="T37" fmla="*/ 11 h 539"/>
                        <a:gd name="T38" fmla="*/ 7 w 575"/>
                        <a:gd name="T39" fmla="*/ 12 h 539"/>
                        <a:gd name="T40" fmla="*/ 11 w 575"/>
                        <a:gd name="T41" fmla="*/ 12 h 539"/>
                        <a:gd name="T42" fmla="*/ 15 w 575"/>
                        <a:gd name="T43" fmla="*/ 11 h 539"/>
                        <a:gd name="T44" fmla="*/ 15 w 575"/>
                        <a:gd name="T45" fmla="*/ 11 h 539"/>
                        <a:gd name="T46" fmla="*/ 14 w 575"/>
                        <a:gd name="T47" fmla="*/ 12 h 539"/>
                        <a:gd name="T48" fmla="*/ 12 w 575"/>
                        <a:gd name="T49" fmla="*/ 13 h 539"/>
                        <a:gd name="T50" fmla="*/ 8 w 575"/>
                        <a:gd name="T51" fmla="*/ 14 h 539"/>
                        <a:gd name="T52" fmla="*/ 4 w 575"/>
                        <a:gd name="T53" fmla="*/ 14 h 539"/>
                        <a:gd name="T54" fmla="*/ 7 w 575"/>
                        <a:gd name="T55" fmla="*/ 15 h 539"/>
                        <a:gd name="T56" fmla="*/ 10 w 575"/>
                        <a:gd name="T57" fmla="*/ 15 h 539"/>
                        <a:gd name="T58" fmla="*/ 13 w 575"/>
                        <a:gd name="T59" fmla="*/ 14 h 539"/>
                        <a:gd name="T60" fmla="*/ 14 w 575"/>
                        <a:gd name="T61" fmla="*/ 14 h 539"/>
                        <a:gd name="T62" fmla="*/ 13 w 575"/>
                        <a:gd name="T63" fmla="*/ 15 h 539"/>
                        <a:gd name="T64" fmla="*/ 12 w 575"/>
                        <a:gd name="T65" fmla="*/ 16 h 539"/>
                        <a:gd name="T66" fmla="*/ 6 w 575"/>
                        <a:gd name="T67" fmla="*/ 16 h 539"/>
                        <a:gd name="T68" fmla="*/ 11 w 575"/>
                        <a:gd name="T69" fmla="*/ 17 h 539"/>
                        <a:gd name="T70" fmla="*/ 11 w 575"/>
                        <a:gd name="T71" fmla="*/ 17 h 539"/>
                        <a:gd name="T72" fmla="*/ 13 w 575"/>
                        <a:gd name="T73" fmla="*/ 17 h 539"/>
                        <a:gd name="T74" fmla="*/ 14 w 575"/>
                        <a:gd name="T75" fmla="*/ 16 h 539"/>
                        <a:gd name="T76" fmla="*/ 17 w 575"/>
                        <a:gd name="T77" fmla="*/ 12 h 539"/>
                        <a:gd name="T78" fmla="*/ 17 w 575"/>
                        <a:gd name="T79" fmla="*/ 11 h 539"/>
                        <a:gd name="T80" fmla="*/ 17 w 575"/>
                        <a:gd name="T81" fmla="*/ 10 h 539"/>
                        <a:gd name="T82" fmla="*/ 17 w 575"/>
                        <a:gd name="T83" fmla="*/ 9 h 539"/>
                        <a:gd name="T84" fmla="*/ 17 w 575"/>
                        <a:gd name="T85" fmla="*/ 8 h 539"/>
                        <a:gd name="T86" fmla="*/ 17 w 575"/>
                        <a:gd name="T87" fmla="*/ 7 h 539"/>
                        <a:gd name="T88" fmla="*/ 17 w 575"/>
                        <a:gd name="T89" fmla="*/ 7 h 539"/>
                        <a:gd name="T90" fmla="*/ 17 w 575"/>
                        <a:gd name="T91" fmla="*/ 6 h 539"/>
                        <a:gd name="T92" fmla="*/ 17 w 575"/>
                        <a:gd name="T93" fmla="*/ 5 h 539"/>
                        <a:gd name="T94" fmla="*/ 17 w 575"/>
                        <a:gd name="T95" fmla="*/ 4 h 539"/>
                        <a:gd name="T96" fmla="*/ 17 w 575"/>
                        <a:gd name="T97" fmla="*/ 3 h 539"/>
                        <a:gd name="T98" fmla="*/ 17 w 575"/>
                        <a:gd name="T99" fmla="*/ 2 h 539"/>
                        <a:gd name="T100" fmla="*/ 17 w 575"/>
                        <a:gd name="T101" fmla="*/ 2 h 539"/>
                        <a:gd name="T102" fmla="*/ 15 w 575"/>
                        <a:gd name="T103" fmla="*/ 2 h 539"/>
                        <a:gd name="T104" fmla="*/ 11 w 575"/>
                        <a:gd name="T105" fmla="*/ 3 h 539"/>
                        <a:gd name="T106" fmla="*/ 7 w 575"/>
                        <a:gd name="T107" fmla="*/ 4 h 53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75" h="539">
                          <a:moveTo>
                            <a:pt x="231" y="105"/>
                          </a:moveTo>
                          <a:lnTo>
                            <a:pt x="147" y="111"/>
                          </a:lnTo>
                          <a:lnTo>
                            <a:pt x="274" y="124"/>
                          </a:lnTo>
                          <a:lnTo>
                            <a:pt x="266" y="130"/>
                          </a:lnTo>
                          <a:lnTo>
                            <a:pt x="250" y="135"/>
                          </a:lnTo>
                          <a:lnTo>
                            <a:pt x="230" y="141"/>
                          </a:lnTo>
                          <a:lnTo>
                            <a:pt x="203" y="148"/>
                          </a:lnTo>
                          <a:lnTo>
                            <a:pt x="174" y="154"/>
                          </a:lnTo>
                          <a:lnTo>
                            <a:pt x="138" y="157"/>
                          </a:lnTo>
                          <a:lnTo>
                            <a:pt x="94" y="161"/>
                          </a:lnTo>
                          <a:lnTo>
                            <a:pt x="48" y="164"/>
                          </a:lnTo>
                          <a:lnTo>
                            <a:pt x="0" y="164"/>
                          </a:lnTo>
                          <a:lnTo>
                            <a:pt x="75" y="181"/>
                          </a:lnTo>
                          <a:lnTo>
                            <a:pt x="121" y="190"/>
                          </a:lnTo>
                          <a:lnTo>
                            <a:pt x="161" y="190"/>
                          </a:lnTo>
                          <a:lnTo>
                            <a:pt x="210" y="190"/>
                          </a:lnTo>
                          <a:lnTo>
                            <a:pt x="282" y="184"/>
                          </a:lnTo>
                          <a:lnTo>
                            <a:pt x="341" y="176"/>
                          </a:lnTo>
                          <a:lnTo>
                            <a:pt x="392" y="164"/>
                          </a:lnTo>
                          <a:lnTo>
                            <a:pt x="445" y="147"/>
                          </a:lnTo>
                          <a:lnTo>
                            <a:pt x="469" y="138"/>
                          </a:lnTo>
                          <a:lnTo>
                            <a:pt x="491" y="131"/>
                          </a:lnTo>
                          <a:lnTo>
                            <a:pt x="502" y="128"/>
                          </a:lnTo>
                          <a:lnTo>
                            <a:pt x="509" y="132"/>
                          </a:lnTo>
                          <a:lnTo>
                            <a:pt x="509" y="141"/>
                          </a:lnTo>
                          <a:lnTo>
                            <a:pt x="504" y="151"/>
                          </a:lnTo>
                          <a:lnTo>
                            <a:pt x="491" y="163"/>
                          </a:lnTo>
                          <a:lnTo>
                            <a:pt x="469" y="177"/>
                          </a:lnTo>
                          <a:lnTo>
                            <a:pt x="438" y="190"/>
                          </a:lnTo>
                          <a:lnTo>
                            <a:pt x="401" y="206"/>
                          </a:lnTo>
                          <a:lnTo>
                            <a:pt x="352" y="220"/>
                          </a:lnTo>
                          <a:lnTo>
                            <a:pt x="295" y="232"/>
                          </a:lnTo>
                          <a:lnTo>
                            <a:pt x="239" y="241"/>
                          </a:lnTo>
                          <a:lnTo>
                            <a:pt x="180" y="250"/>
                          </a:lnTo>
                          <a:lnTo>
                            <a:pt x="75" y="260"/>
                          </a:lnTo>
                          <a:lnTo>
                            <a:pt x="140" y="275"/>
                          </a:lnTo>
                          <a:lnTo>
                            <a:pt x="191" y="282"/>
                          </a:lnTo>
                          <a:lnTo>
                            <a:pt x="256" y="280"/>
                          </a:lnTo>
                          <a:lnTo>
                            <a:pt x="323" y="271"/>
                          </a:lnTo>
                          <a:lnTo>
                            <a:pt x="372" y="260"/>
                          </a:lnTo>
                          <a:lnTo>
                            <a:pt x="412" y="250"/>
                          </a:lnTo>
                          <a:lnTo>
                            <a:pt x="445" y="241"/>
                          </a:lnTo>
                          <a:lnTo>
                            <a:pt x="479" y="229"/>
                          </a:lnTo>
                          <a:lnTo>
                            <a:pt x="505" y="219"/>
                          </a:lnTo>
                          <a:lnTo>
                            <a:pt x="518" y="216"/>
                          </a:lnTo>
                          <a:lnTo>
                            <a:pt x="525" y="216"/>
                          </a:lnTo>
                          <a:lnTo>
                            <a:pt x="524" y="224"/>
                          </a:lnTo>
                          <a:lnTo>
                            <a:pt x="519" y="233"/>
                          </a:lnTo>
                          <a:lnTo>
                            <a:pt x="509" y="246"/>
                          </a:lnTo>
                          <a:lnTo>
                            <a:pt x="485" y="262"/>
                          </a:lnTo>
                          <a:lnTo>
                            <a:pt x="458" y="277"/>
                          </a:lnTo>
                          <a:lnTo>
                            <a:pt x="429" y="290"/>
                          </a:lnTo>
                          <a:lnTo>
                            <a:pt x="390" y="305"/>
                          </a:lnTo>
                          <a:lnTo>
                            <a:pt x="345" y="319"/>
                          </a:lnTo>
                          <a:lnTo>
                            <a:pt x="277" y="333"/>
                          </a:lnTo>
                          <a:lnTo>
                            <a:pt x="231" y="342"/>
                          </a:lnTo>
                          <a:lnTo>
                            <a:pt x="187" y="347"/>
                          </a:lnTo>
                          <a:lnTo>
                            <a:pt x="121" y="351"/>
                          </a:lnTo>
                          <a:lnTo>
                            <a:pt x="188" y="361"/>
                          </a:lnTo>
                          <a:lnTo>
                            <a:pt x="240" y="365"/>
                          </a:lnTo>
                          <a:lnTo>
                            <a:pt x="283" y="366"/>
                          </a:lnTo>
                          <a:lnTo>
                            <a:pt x="332" y="365"/>
                          </a:lnTo>
                          <a:lnTo>
                            <a:pt x="378" y="359"/>
                          </a:lnTo>
                          <a:lnTo>
                            <a:pt x="416" y="349"/>
                          </a:lnTo>
                          <a:lnTo>
                            <a:pt x="446" y="339"/>
                          </a:lnTo>
                          <a:lnTo>
                            <a:pt x="494" y="323"/>
                          </a:lnTo>
                          <a:lnTo>
                            <a:pt x="500" y="323"/>
                          </a:lnTo>
                          <a:lnTo>
                            <a:pt x="505" y="326"/>
                          </a:lnTo>
                          <a:lnTo>
                            <a:pt x="504" y="336"/>
                          </a:lnTo>
                          <a:lnTo>
                            <a:pt x="498" y="347"/>
                          </a:lnTo>
                          <a:lnTo>
                            <a:pt x="487" y="359"/>
                          </a:lnTo>
                          <a:lnTo>
                            <a:pt x="471" y="371"/>
                          </a:lnTo>
                          <a:lnTo>
                            <a:pt x="442" y="385"/>
                          </a:lnTo>
                          <a:lnTo>
                            <a:pt x="412" y="398"/>
                          </a:lnTo>
                          <a:lnTo>
                            <a:pt x="385" y="408"/>
                          </a:lnTo>
                          <a:lnTo>
                            <a:pt x="352" y="415"/>
                          </a:lnTo>
                          <a:lnTo>
                            <a:pt x="322" y="420"/>
                          </a:lnTo>
                          <a:lnTo>
                            <a:pt x="283" y="424"/>
                          </a:lnTo>
                          <a:lnTo>
                            <a:pt x="240" y="426"/>
                          </a:lnTo>
                          <a:lnTo>
                            <a:pt x="197" y="427"/>
                          </a:lnTo>
                          <a:lnTo>
                            <a:pt x="130" y="427"/>
                          </a:lnTo>
                          <a:lnTo>
                            <a:pt x="166" y="439"/>
                          </a:lnTo>
                          <a:lnTo>
                            <a:pt x="199" y="448"/>
                          </a:lnTo>
                          <a:lnTo>
                            <a:pt x="237" y="453"/>
                          </a:lnTo>
                          <a:lnTo>
                            <a:pt x="269" y="454"/>
                          </a:lnTo>
                          <a:lnTo>
                            <a:pt x="302" y="456"/>
                          </a:lnTo>
                          <a:lnTo>
                            <a:pt x="335" y="454"/>
                          </a:lnTo>
                          <a:lnTo>
                            <a:pt x="363" y="453"/>
                          </a:lnTo>
                          <a:lnTo>
                            <a:pt x="389" y="448"/>
                          </a:lnTo>
                          <a:lnTo>
                            <a:pt x="425" y="439"/>
                          </a:lnTo>
                          <a:lnTo>
                            <a:pt x="451" y="433"/>
                          </a:lnTo>
                          <a:lnTo>
                            <a:pt x="461" y="434"/>
                          </a:lnTo>
                          <a:lnTo>
                            <a:pt x="462" y="442"/>
                          </a:lnTo>
                          <a:lnTo>
                            <a:pt x="459" y="450"/>
                          </a:lnTo>
                          <a:lnTo>
                            <a:pt x="452" y="458"/>
                          </a:lnTo>
                          <a:lnTo>
                            <a:pt x="441" y="467"/>
                          </a:lnTo>
                          <a:lnTo>
                            <a:pt x="428" y="473"/>
                          </a:lnTo>
                          <a:lnTo>
                            <a:pt x="412" y="480"/>
                          </a:lnTo>
                          <a:lnTo>
                            <a:pt x="389" y="487"/>
                          </a:lnTo>
                          <a:lnTo>
                            <a:pt x="339" y="494"/>
                          </a:lnTo>
                          <a:lnTo>
                            <a:pt x="292" y="500"/>
                          </a:lnTo>
                          <a:lnTo>
                            <a:pt x="199" y="507"/>
                          </a:lnTo>
                          <a:lnTo>
                            <a:pt x="320" y="513"/>
                          </a:lnTo>
                          <a:lnTo>
                            <a:pt x="345" y="513"/>
                          </a:lnTo>
                          <a:lnTo>
                            <a:pt x="356" y="518"/>
                          </a:lnTo>
                          <a:lnTo>
                            <a:pt x="362" y="524"/>
                          </a:lnTo>
                          <a:lnTo>
                            <a:pt x="360" y="533"/>
                          </a:lnTo>
                          <a:lnTo>
                            <a:pt x="366" y="537"/>
                          </a:lnTo>
                          <a:lnTo>
                            <a:pt x="381" y="539"/>
                          </a:lnTo>
                          <a:lnTo>
                            <a:pt x="405" y="530"/>
                          </a:lnTo>
                          <a:lnTo>
                            <a:pt x="426" y="519"/>
                          </a:lnTo>
                          <a:lnTo>
                            <a:pt x="442" y="509"/>
                          </a:lnTo>
                          <a:lnTo>
                            <a:pt x="455" y="500"/>
                          </a:lnTo>
                          <a:lnTo>
                            <a:pt x="469" y="486"/>
                          </a:lnTo>
                          <a:lnTo>
                            <a:pt x="512" y="428"/>
                          </a:lnTo>
                          <a:lnTo>
                            <a:pt x="544" y="379"/>
                          </a:lnTo>
                          <a:lnTo>
                            <a:pt x="557" y="354"/>
                          </a:lnTo>
                          <a:lnTo>
                            <a:pt x="560" y="344"/>
                          </a:lnTo>
                          <a:lnTo>
                            <a:pt x="561" y="336"/>
                          </a:lnTo>
                          <a:lnTo>
                            <a:pt x="561" y="328"/>
                          </a:lnTo>
                          <a:lnTo>
                            <a:pt x="555" y="318"/>
                          </a:lnTo>
                          <a:lnTo>
                            <a:pt x="551" y="311"/>
                          </a:lnTo>
                          <a:lnTo>
                            <a:pt x="549" y="302"/>
                          </a:lnTo>
                          <a:lnTo>
                            <a:pt x="551" y="292"/>
                          </a:lnTo>
                          <a:lnTo>
                            <a:pt x="555" y="285"/>
                          </a:lnTo>
                          <a:lnTo>
                            <a:pt x="560" y="277"/>
                          </a:lnTo>
                          <a:lnTo>
                            <a:pt x="565" y="269"/>
                          </a:lnTo>
                          <a:lnTo>
                            <a:pt x="571" y="260"/>
                          </a:lnTo>
                          <a:lnTo>
                            <a:pt x="575" y="252"/>
                          </a:lnTo>
                          <a:lnTo>
                            <a:pt x="574" y="241"/>
                          </a:lnTo>
                          <a:lnTo>
                            <a:pt x="570" y="232"/>
                          </a:lnTo>
                          <a:lnTo>
                            <a:pt x="565" y="224"/>
                          </a:lnTo>
                          <a:lnTo>
                            <a:pt x="560" y="217"/>
                          </a:lnTo>
                          <a:lnTo>
                            <a:pt x="554" y="209"/>
                          </a:lnTo>
                          <a:lnTo>
                            <a:pt x="552" y="200"/>
                          </a:lnTo>
                          <a:lnTo>
                            <a:pt x="554" y="192"/>
                          </a:lnTo>
                          <a:lnTo>
                            <a:pt x="561" y="181"/>
                          </a:lnTo>
                          <a:lnTo>
                            <a:pt x="568" y="173"/>
                          </a:lnTo>
                          <a:lnTo>
                            <a:pt x="571" y="164"/>
                          </a:lnTo>
                          <a:lnTo>
                            <a:pt x="571" y="151"/>
                          </a:lnTo>
                          <a:lnTo>
                            <a:pt x="567" y="140"/>
                          </a:lnTo>
                          <a:lnTo>
                            <a:pt x="560" y="131"/>
                          </a:lnTo>
                          <a:lnTo>
                            <a:pt x="557" y="125"/>
                          </a:lnTo>
                          <a:lnTo>
                            <a:pt x="554" y="115"/>
                          </a:lnTo>
                          <a:lnTo>
                            <a:pt x="555" y="104"/>
                          </a:lnTo>
                          <a:lnTo>
                            <a:pt x="561" y="95"/>
                          </a:lnTo>
                          <a:lnTo>
                            <a:pt x="565" y="89"/>
                          </a:lnTo>
                          <a:lnTo>
                            <a:pt x="571" y="82"/>
                          </a:lnTo>
                          <a:lnTo>
                            <a:pt x="574" y="73"/>
                          </a:lnTo>
                          <a:lnTo>
                            <a:pt x="575" y="62"/>
                          </a:lnTo>
                          <a:lnTo>
                            <a:pt x="573" y="56"/>
                          </a:lnTo>
                          <a:lnTo>
                            <a:pt x="567" y="46"/>
                          </a:lnTo>
                          <a:lnTo>
                            <a:pt x="561" y="38"/>
                          </a:lnTo>
                          <a:lnTo>
                            <a:pt x="557" y="26"/>
                          </a:lnTo>
                          <a:lnTo>
                            <a:pt x="557" y="0"/>
                          </a:lnTo>
                          <a:lnTo>
                            <a:pt x="498" y="39"/>
                          </a:lnTo>
                          <a:lnTo>
                            <a:pt x="462" y="54"/>
                          </a:lnTo>
                          <a:lnTo>
                            <a:pt x="421" y="67"/>
                          </a:lnTo>
                          <a:lnTo>
                            <a:pt x="373" y="82"/>
                          </a:lnTo>
                          <a:lnTo>
                            <a:pt x="330" y="91"/>
                          </a:lnTo>
                          <a:lnTo>
                            <a:pt x="287" y="98"/>
                          </a:lnTo>
                          <a:lnTo>
                            <a:pt x="231" y="105"/>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21" name="Group 54">
                  <a:extLst>
                    <a:ext uri="{FF2B5EF4-FFF2-40B4-BE49-F238E27FC236}">
                      <a16:creationId xmlns:a16="http://schemas.microsoft.com/office/drawing/2014/main" id="{021CD210-12FE-A32D-27D4-5500FBCD1586}"/>
                    </a:ext>
                  </a:extLst>
                </p:cNvPr>
                <p:cNvGrpSpPr>
                  <a:grpSpLocks/>
                </p:cNvGrpSpPr>
                <p:nvPr/>
              </p:nvGrpSpPr>
              <p:grpSpPr bwMode="auto">
                <a:xfrm rot="5400000">
                  <a:off x="597" y="1799"/>
                  <a:ext cx="43" cy="68"/>
                  <a:chOff x="2219" y="3309"/>
                  <a:chExt cx="85" cy="171"/>
                </a:xfrm>
              </p:grpSpPr>
              <p:sp>
                <p:nvSpPr>
                  <p:cNvPr id="72" name="Freeform 55">
                    <a:extLst>
                      <a:ext uri="{FF2B5EF4-FFF2-40B4-BE49-F238E27FC236}">
                        <a16:creationId xmlns:a16="http://schemas.microsoft.com/office/drawing/2014/main" id="{13687C76-537D-1C6A-C8CC-5F20A85D6C1A}"/>
                      </a:ext>
                    </a:extLst>
                  </p:cNvPr>
                  <p:cNvSpPr>
                    <a:spLocks/>
                  </p:cNvSpPr>
                  <p:nvPr/>
                </p:nvSpPr>
                <p:spPr bwMode="auto">
                  <a:xfrm>
                    <a:off x="2235" y="3355"/>
                    <a:ext cx="66" cy="27"/>
                  </a:xfrm>
                  <a:custGeom>
                    <a:avLst/>
                    <a:gdLst>
                      <a:gd name="T0" fmla="*/ 5 w 131"/>
                      <a:gd name="T1" fmla="*/ 1 h 54"/>
                      <a:gd name="T2" fmla="*/ 4 w 131"/>
                      <a:gd name="T3" fmla="*/ 0 h 54"/>
                      <a:gd name="T4" fmla="*/ 3 w 131"/>
                      <a:gd name="T5" fmla="*/ 1 h 54"/>
                      <a:gd name="T6" fmla="*/ 2 w 131"/>
                      <a:gd name="T7" fmla="*/ 2 h 54"/>
                      <a:gd name="T8" fmla="*/ 0 w 131"/>
                      <a:gd name="T9" fmla="*/ 2 h 54"/>
                      <a:gd name="T10" fmla="*/ 1 w 131"/>
                      <a:gd name="T11" fmla="*/ 2 h 54"/>
                      <a:gd name="T12" fmla="*/ 2 w 131"/>
                      <a:gd name="T13" fmla="*/ 2 h 54"/>
                      <a:gd name="T14" fmla="*/ 3 w 131"/>
                      <a:gd name="T15" fmla="*/ 2 h 54"/>
                      <a:gd name="T16" fmla="*/ 4 w 131"/>
                      <a:gd name="T17" fmla="*/ 1 h 54"/>
                      <a:gd name="T18" fmla="*/ 5 w 131"/>
                      <a:gd name="T19" fmla="*/ 1 h 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1" h="54">
                        <a:moveTo>
                          <a:pt x="131" y="10"/>
                        </a:moveTo>
                        <a:lnTo>
                          <a:pt x="119" y="0"/>
                        </a:lnTo>
                        <a:lnTo>
                          <a:pt x="79" y="21"/>
                        </a:lnTo>
                        <a:lnTo>
                          <a:pt x="39" y="35"/>
                        </a:lnTo>
                        <a:lnTo>
                          <a:pt x="0" y="46"/>
                        </a:lnTo>
                        <a:lnTo>
                          <a:pt x="7" y="54"/>
                        </a:lnTo>
                        <a:lnTo>
                          <a:pt x="34" y="54"/>
                        </a:lnTo>
                        <a:lnTo>
                          <a:pt x="70" y="47"/>
                        </a:lnTo>
                        <a:lnTo>
                          <a:pt x="103" y="31"/>
                        </a:lnTo>
                        <a:lnTo>
                          <a:pt x="131" y="10"/>
                        </a:lnTo>
                        <a:close/>
                      </a:path>
                    </a:pathLst>
                  </a:custGeom>
                  <a:solidFill>
                    <a:srgbClr val="FFE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3" name="Freeform 56">
                    <a:extLst>
                      <a:ext uri="{FF2B5EF4-FFF2-40B4-BE49-F238E27FC236}">
                        <a16:creationId xmlns:a16="http://schemas.microsoft.com/office/drawing/2014/main" id="{5266C4E2-2440-1ED0-F40B-D49E8D857E45}"/>
                      </a:ext>
                    </a:extLst>
                  </p:cNvPr>
                  <p:cNvSpPr>
                    <a:spLocks/>
                  </p:cNvSpPr>
                  <p:nvPr/>
                </p:nvSpPr>
                <p:spPr bwMode="auto">
                  <a:xfrm>
                    <a:off x="2247" y="3398"/>
                    <a:ext cx="57" cy="31"/>
                  </a:xfrm>
                  <a:custGeom>
                    <a:avLst/>
                    <a:gdLst>
                      <a:gd name="T0" fmla="*/ 3 w 115"/>
                      <a:gd name="T1" fmla="*/ 1 h 62"/>
                      <a:gd name="T2" fmla="*/ 3 w 115"/>
                      <a:gd name="T3" fmla="*/ 0 h 62"/>
                      <a:gd name="T4" fmla="*/ 2 w 115"/>
                      <a:gd name="T5" fmla="*/ 1 h 62"/>
                      <a:gd name="T6" fmla="*/ 1 w 115"/>
                      <a:gd name="T7" fmla="*/ 2 h 62"/>
                      <a:gd name="T8" fmla="*/ 0 w 115"/>
                      <a:gd name="T9" fmla="*/ 2 h 62"/>
                      <a:gd name="T10" fmla="*/ 0 w 115"/>
                      <a:gd name="T11" fmla="*/ 2 h 62"/>
                      <a:gd name="T12" fmla="*/ 1 w 115"/>
                      <a:gd name="T13" fmla="*/ 2 h 62"/>
                      <a:gd name="T14" fmla="*/ 1 w 115"/>
                      <a:gd name="T15" fmla="*/ 2 h 62"/>
                      <a:gd name="T16" fmla="*/ 2 w 115"/>
                      <a:gd name="T17" fmla="*/ 2 h 62"/>
                      <a:gd name="T18" fmla="*/ 3 w 115"/>
                      <a:gd name="T19" fmla="*/ 1 h 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62">
                        <a:moveTo>
                          <a:pt x="115" y="12"/>
                        </a:moveTo>
                        <a:lnTo>
                          <a:pt x="108" y="0"/>
                        </a:lnTo>
                        <a:lnTo>
                          <a:pt x="69" y="27"/>
                        </a:lnTo>
                        <a:lnTo>
                          <a:pt x="39" y="40"/>
                        </a:lnTo>
                        <a:lnTo>
                          <a:pt x="0" y="52"/>
                        </a:lnTo>
                        <a:lnTo>
                          <a:pt x="8" y="62"/>
                        </a:lnTo>
                        <a:lnTo>
                          <a:pt x="33" y="62"/>
                        </a:lnTo>
                        <a:lnTo>
                          <a:pt x="58" y="55"/>
                        </a:lnTo>
                        <a:lnTo>
                          <a:pt x="88" y="36"/>
                        </a:lnTo>
                        <a:lnTo>
                          <a:pt x="115" y="12"/>
                        </a:lnTo>
                        <a:close/>
                      </a:path>
                    </a:pathLst>
                  </a:custGeom>
                  <a:solidFill>
                    <a:srgbClr val="FFE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 name="Freeform 57">
                    <a:extLst>
                      <a:ext uri="{FF2B5EF4-FFF2-40B4-BE49-F238E27FC236}">
                        <a16:creationId xmlns:a16="http://schemas.microsoft.com/office/drawing/2014/main" id="{72566A69-E990-A5C4-38C8-FCC667D2EBAE}"/>
                      </a:ext>
                    </a:extLst>
                  </p:cNvPr>
                  <p:cNvSpPr>
                    <a:spLocks/>
                  </p:cNvSpPr>
                  <p:nvPr/>
                </p:nvSpPr>
                <p:spPr bwMode="auto">
                  <a:xfrm>
                    <a:off x="2243" y="3449"/>
                    <a:ext cx="59" cy="31"/>
                  </a:xfrm>
                  <a:custGeom>
                    <a:avLst/>
                    <a:gdLst>
                      <a:gd name="T0" fmla="*/ 4 w 116"/>
                      <a:gd name="T1" fmla="*/ 1 h 60"/>
                      <a:gd name="T2" fmla="*/ 4 w 116"/>
                      <a:gd name="T3" fmla="*/ 0 h 60"/>
                      <a:gd name="T4" fmla="*/ 3 w 116"/>
                      <a:gd name="T5" fmla="*/ 1 h 60"/>
                      <a:gd name="T6" fmla="*/ 2 w 116"/>
                      <a:gd name="T7" fmla="*/ 2 h 60"/>
                      <a:gd name="T8" fmla="*/ 0 w 116"/>
                      <a:gd name="T9" fmla="*/ 2 h 60"/>
                      <a:gd name="T10" fmla="*/ 1 w 116"/>
                      <a:gd name="T11" fmla="*/ 2 h 60"/>
                      <a:gd name="T12" fmla="*/ 1 w 116"/>
                      <a:gd name="T13" fmla="*/ 2 h 60"/>
                      <a:gd name="T14" fmla="*/ 2 w 116"/>
                      <a:gd name="T15" fmla="*/ 2 h 60"/>
                      <a:gd name="T16" fmla="*/ 3 w 116"/>
                      <a:gd name="T17" fmla="*/ 1 h 60"/>
                      <a:gd name="T18" fmla="*/ 4 w 116"/>
                      <a:gd name="T19" fmla="*/ 1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6" h="60">
                        <a:moveTo>
                          <a:pt x="116" y="9"/>
                        </a:moveTo>
                        <a:lnTo>
                          <a:pt x="108" y="0"/>
                        </a:lnTo>
                        <a:lnTo>
                          <a:pt x="72" y="24"/>
                        </a:lnTo>
                        <a:lnTo>
                          <a:pt x="39" y="39"/>
                        </a:lnTo>
                        <a:lnTo>
                          <a:pt x="0" y="49"/>
                        </a:lnTo>
                        <a:lnTo>
                          <a:pt x="7" y="60"/>
                        </a:lnTo>
                        <a:lnTo>
                          <a:pt x="32" y="58"/>
                        </a:lnTo>
                        <a:lnTo>
                          <a:pt x="63" y="51"/>
                        </a:lnTo>
                        <a:lnTo>
                          <a:pt x="95" y="31"/>
                        </a:lnTo>
                        <a:lnTo>
                          <a:pt x="116" y="9"/>
                        </a:lnTo>
                        <a:close/>
                      </a:path>
                    </a:pathLst>
                  </a:custGeom>
                  <a:solidFill>
                    <a:srgbClr val="FFE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5" name="Freeform 58">
                    <a:extLst>
                      <a:ext uri="{FF2B5EF4-FFF2-40B4-BE49-F238E27FC236}">
                        <a16:creationId xmlns:a16="http://schemas.microsoft.com/office/drawing/2014/main" id="{89C81E84-3E2D-38E5-5AE9-076CD07E9E84}"/>
                      </a:ext>
                    </a:extLst>
                  </p:cNvPr>
                  <p:cNvSpPr>
                    <a:spLocks/>
                  </p:cNvSpPr>
                  <p:nvPr/>
                </p:nvSpPr>
                <p:spPr bwMode="auto">
                  <a:xfrm>
                    <a:off x="2219" y="3309"/>
                    <a:ext cx="67" cy="27"/>
                  </a:xfrm>
                  <a:custGeom>
                    <a:avLst/>
                    <a:gdLst>
                      <a:gd name="T0" fmla="*/ 4 w 135"/>
                      <a:gd name="T1" fmla="*/ 1 h 53"/>
                      <a:gd name="T2" fmla="*/ 3 w 135"/>
                      <a:gd name="T3" fmla="*/ 0 h 53"/>
                      <a:gd name="T4" fmla="*/ 2 w 135"/>
                      <a:gd name="T5" fmla="*/ 1 h 53"/>
                      <a:gd name="T6" fmla="*/ 1 w 135"/>
                      <a:gd name="T7" fmla="*/ 2 h 53"/>
                      <a:gd name="T8" fmla="*/ 0 w 135"/>
                      <a:gd name="T9" fmla="*/ 2 h 53"/>
                      <a:gd name="T10" fmla="*/ 0 w 135"/>
                      <a:gd name="T11" fmla="*/ 2 h 53"/>
                      <a:gd name="T12" fmla="*/ 1 w 135"/>
                      <a:gd name="T13" fmla="*/ 2 h 53"/>
                      <a:gd name="T14" fmla="*/ 2 w 135"/>
                      <a:gd name="T15" fmla="*/ 2 h 53"/>
                      <a:gd name="T16" fmla="*/ 3 w 135"/>
                      <a:gd name="T17" fmla="*/ 1 h 53"/>
                      <a:gd name="T18" fmla="*/ 4 w 135"/>
                      <a:gd name="T19" fmla="*/ 1 h 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5" h="53">
                        <a:moveTo>
                          <a:pt x="135" y="10"/>
                        </a:moveTo>
                        <a:lnTo>
                          <a:pt x="121" y="0"/>
                        </a:lnTo>
                        <a:lnTo>
                          <a:pt x="76" y="20"/>
                        </a:lnTo>
                        <a:lnTo>
                          <a:pt x="39" y="33"/>
                        </a:lnTo>
                        <a:lnTo>
                          <a:pt x="0" y="43"/>
                        </a:lnTo>
                        <a:lnTo>
                          <a:pt x="9" y="53"/>
                        </a:lnTo>
                        <a:lnTo>
                          <a:pt x="33" y="52"/>
                        </a:lnTo>
                        <a:lnTo>
                          <a:pt x="65" y="45"/>
                        </a:lnTo>
                        <a:lnTo>
                          <a:pt x="100" y="32"/>
                        </a:lnTo>
                        <a:lnTo>
                          <a:pt x="135" y="10"/>
                        </a:lnTo>
                        <a:close/>
                      </a:path>
                    </a:pathLst>
                  </a:custGeom>
                  <a:solidFill>
                    <a:srgbClr val="FFE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2" name="Freeform 59">
                  <a:extLst>
                    <a:ext uri="{FF2B5EF4-FFF2-40B4-BE49-F238E27FC236}">
                      <a16:creationId xmlns:a16="http://schemas.microsoft.com/office/drawing/2014/main" id="{C87D6373-0B1B-F7C3-D9F7-2AB84C4DFC73}"/>
                    </a:ext>
                  </a:extLst>
                </p:cNvPr>
                <p:cNvSpPr>
                  <a:spLocks/>
                </p:cNvSpPr>
                <p:nvPr/>
              </p:nvSpPr>
              <p:spPr bwMode="auto">
                <a:xfrm rot="5400000">
                  <a:off x="681" y="1558"/>
                  <a:ext cx="397" cy="448"/>
                </a:xfrm>
                <a:custGeom>
                  <a:avLst/>
                  <a:gdLst>
                    <a:gd name="T0" fmla="*/ 1 w 1584"/>
                    <a:gd name="T1" fmla="*/ 1 h 2273"/>
                    <a:gd name="T2" fmla="*/ 1 w 1584"/>
                    <a:gd name="T3" fmla="*/ 1 h 2273"/>
                    <a:gd name="T4" fmla="*/ 1 w 1584"/>
                    <a:gd name="T5" fmla="*/ 1 h 2273"/>
                    <a:gd name="T6" fmla="*/ 1 w 1584"/>
                    <a:gd name="T7" fmla="*/ 1 h 2273"/>
                    <a:gd name="T8" fmla="*/ 1 w 1584"/>
                    <a:gd name="T9" fmla="*/ 1 h 2273"/>
                    <a:gd name="T10" fmla="*/ 1 w 1584"/>
                    <a:gd name="T11" fmla="*/ 0 h 2273"/>
                    <a:gd name="T12" fmla="*/ 1 w 1584"/>
                    <a:gd name="T13" fmla="*/ 0 h 2273"/>
                    <a:gd name="T14" fmla="*/ 2 w 1584"/>
                    <a:gd name="T15" fmla="*/ 0 h 2273"/>
                    <a:gd name="T16" fmla="*/ 2 w 1584"/>
                    <a:gd name="T17" fmla="*/ 0 h 2273"/>
                    <a:gd name="T18" fmla="*/ 2 w 1584"/>
                    <a:gd name="T19" fmla="*/ 0 h 2273"/>
                    <a:gd name="T20" fmla="*/ 2 w 1584"/>
                    <a:gd name="T21" fmla="*/ 0 h 2273"/>
                    <a:gd name="T22" fmla="*/ 2 w 1584"/>
                    <a:gd name="T23" fmla="*/ 0 h 2273"/>
                    <a:gd name="T24" fmla="*/ 2 w 1584"/>
                    <a:gd name="T25" fmla="*/ 0 h 2273"/>
                    <a:gd name="T26" fmla="*/ 2 w 1584"/>
                    <a:gd name="T27" fmla="*/ 0 h 2273"/>
                    <a:gd name="T28" fmla="*/ 2 w 1584"/>
                    <a:gd name="T29" fmla="*/ 0 h 2273"/>
                    <a:gd name="T30" fmla="*/ 2 w 1584"/>
                    <a:gd name="T31" fmla="*/ 0 h 2273"/>
                    <a:gd name="T32" fmla="*/ 1 w 1584"/>
                    <a:gd name="T33" fmla="*/ 0 h 2273"/>
                    <a:gd name="T34" fmla="*/ 1 w 1584"/>
                    <a:gd name="T35" fmla="*/ 0 h 2273"/>
                    <a:gd name="T36" fmla="*/ 1 w 1584"/>
                    <a:gd name="T37" fmla="*/ 0 h 2273"/>
                    <a:gd name="T38" fmla="*/ 1 w 1584"/>
                    <a:gd name="T39" fmla="*/ 0 h 2273"/>
                    <a:gd name="T40" fmla="*/ 1 w 1584"/>
                    <a:gd name="T41" fmla="*/ 0 h 2273"/>
                    <a:gd name="T42" fmla="*/ 1 w 1584"/>
                    <a:gd name="T43" fmla="*/ 0 h 2273"/>
                    <a:gd name="T44" fmla="*/ 1 w 1584"/>
                    <a:gd name="T45" fmla="*/ 0 h 2273"/>
                    <a:gd name="T46" fmla="*/ 1 w 1584"/>
                    <a:gd name="T47" fmla="*/ 0 h 2273"/>
                    <a:gd name="T48" fmla="*/ 0 w 1584"/>
                    <a:gd name="T49" fmla="*/ 0 h 2273"/>
                    <a:gd name="T50" fmla="*/ 0 w 1584"/>
                    <a:gd name="T51" fmla="*/ 0 h 2273"/>
                    <a:gd name="T52" fmla="*/ 0 w 1584"/>
                    <a:gd name="T53" fmla="*/ 0 h 2273"/>
                    <a:gd name="T54" fmla="*/ 0 w 1584"/>
                    <a:gd name="T55" fmla="*/ 0 h 2273"/>
                    <a:gd name="T56" fmla="*/ 0 w 1584"/>
                    <a:gd name="T57" fmla="*/ 0 h 2273"/>
                    <a:gd name="T58" fmla="*/ 0 w 1584"/>
                    <a:gd name="T59" fmla="*/ 0 h 2273"/>
                    <a:gd name="T60" fmla="*/ 0 w 1584"/>
                    <a:gd name="T61" fmla="*/ 0 h 2273"/>
                    <a:gd name="T62" fmla="*/ 0 w 1584"/>
                    <a:gd name="T63" fmla="*/ 0 h 2273"/>
                    <a:gd name="T64" fmla="*/ 0 w 1584"/>
                    <a:gd name="T65" fmla="*/ 0 h 2273"/>
                    <a:gd name="T66" fmla="*/ 0 w 1584"/>
                    <a:gd name="T67" fmla="*/ 0 h 2273"/>
                    <a:gd name="T68" fmla="*/ 0 w 1584"/>
                    <a:gd name="T69" fmla="*/ 0 h 2273"/>
                    <a:gd name="T70" fmla="*/ 0 w 1584"/>
                    <a:gd name="T71" fmla="*/ 1 h 2273"/>
                    <a:gd name="T72" fmla="*/ 1 w 1584"/>
                    <a:gd name="T73" fmla="*/ 1 h 2273"/>
                    <a:gd name="T74" fmla="*/ 1 w 1584"/>
                    <a:gd name="T75" fmla="*/ 1 h 2273"/>
                    <a:gd name="T76" fmla="*/ 1 w 1584"/>
                    <a:gd name="T77" fmla="*/ 1 h 2273"/>
                    <a:gd name="T78" fmla="*/ 1 w 1584"/>
                    <a:gd name="T79" fmla="*/ 1 h 2273"/>
                    <a:gd name="T80" fmla="*/ 1 w 1584"/>
                    <a:gd name="T81" fmla="*/ 1 h 2273"/>
                    <a:gd name="T82" fmla="*/ 1 w 1584"/>
                    <a:gd name="T83" fmla="*/ 1 h 2273"/>
                    <a:gd name="T84" fmla="*/ 1 w 1584"/>
                    <a:gd name="T85" fmla="*/ 1 h 2273"/>
                    <a:gd name="T86" fmla="*/ 1 w 1584"/>
                    <a:gd name="T87" fmla="*/ 1 h 2273"/>
                    <a:gd name="T88" fmla="*/ 1 w 1584"/>
                    <a:gd name="T89" fmla="*/ 1 h 2273"/>
                    <a:gd name="T90" fmla="*/ 1 w 1584"/>
                    <a:gd name="T91" fmla="*/ 1 h 2273"/>
                    <a:gd name="T92" fmla="*/ 1 w 1584"/>
                    <a:gd name="T93" fmla="*/ 1 h 2273"/>
                    <a:gd name="T94" fmla="*/ 1 w 1584"/>
                    <a:gd name="T95" fmla="*/ 1 h 2273"/>
                    <a:gd name="T96" fmla="*/ 1 w 1584"/>
                    <a:gd name="T97" fmla="*/ 1 h 2273"/>
                    <a:gd name="T98" fmla="*/ 1 w 1584"/>
                    <a:gd name="T99" fmla="*/ 1 h 2273"/>
                    <a:gd name="T100" fmla="*/ 1 w 1584"/>
                    <a:gd name="T101" fmla="*/ 1 h 2273"/>
                    <a:gd name="T102" fmla="*/ 1 w 1584"/>
                    <a:gd name="T103" fmla="*/ 1 h 2273"/>
                    <a:gd name="T104" fmla="*/ 1 w 1584"/>
                    <a:gd name="T105" fmla="*/ 1 h 227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584" h="2273">
                      <a:moveTo>
                        <a:pt x="1110" y="2213"/>
                      </a:moveTo>
                      <a:lnTo>
                        <a:pt x="1124" y="2204"/>
                      </a:lnTo>
                      <a:lnTo>
                        <a:pt x="1134" y="2195"/>
                      </a:lnTo>
                      <a:lnTo>
                        <a:pt x="1140" y="2188"/>
                      </a:lnTo>
                      <a:lnTo>
                        <a:pt x="1144" y="2181"/>
                      </a:lnTo>
                      <a:lnTo>
                        <a:pt x="1148" y="2177"/>
                      </a:lnTo>
                      <a:lnTo>
                        <a:pt x="1150" y="2172"/>
                      </a:lnTo>
                      <a:lnTo>
                        <a:pt x="1153" y="2168"/>
                      </a:lnTo>
                      <a:lnTo>
                        <a:pt x="1154" y="2162"/>
                      </a:lnTo>
                      <a:lnTo>
                        <a:pt x="1156" y="2155"/>
                      </a:lnTo>
                      <a:lnTo>
                        <a:pt x="1157" y="2145"/>
                      </a:lnTo>
                      <a:lnTo>
                        <a:pt x="1165" y="2109"/>
                      </a:lnTo>
                      <a:lnTo>
                        <a:pt x="1211" y="1815"/>
                      </a:lnTo>
                      <a:lnTo>
                        <a:pt x="1219" y="1773"/>
                      </a:lnTo>
                      <a:lnTo>
                        <a:pt x="1226" y="1743"/>
                      </a:lnTo>
                      <a:lnTo>
                        <a:pt x="1237" y="1701"/>
                      </a:lnTo>
                      <a:lnTo>
                        <a:pt x="1254" y="1653"/>
                      </a:lnTo>
                      <a:lnTo>
                        <a:pt x="1270" y="1612"/>
                      </a:lnTo>
                      <a:lnTo>
                        <a:pt x="1286" y="1578"/>
                      </a:lnTo>
                      <a:lnTo>
                        <a:pt x="1299" y="1548"/>
                      </a:lnTo>
                      <a:lnTo>
                        <a:pt x="1312" y="1519"/>
                      </a:lnTo>
                      <a:lnTo>
                        <a:pt x="1339" y="1470"/>
                      </a:lnTo>
                      <a:lnTo>
                        <a:pt x="1365" y="1424"/>
                      </a:lnTo>
                      <a:lnTo>
                        <a:pt x="1391" y="1381"/>
                      </a:lnTo>
                      <a:lnTo>
                        <a:pt x="1412" y="1348"/>
                      </a:lnTo>
                      <a:lnTo>
                        <a:pt x="1449" y="1286"/>
                      </a:lnTo>
                      <a:lnTo>
                        <a:pt x="1474" y="1243"/>
                      </a:lnTo>
                      <a:lnTo>
                        <a:pt x="1495" y="1208"/>
                      </a:lnTo>
                      <a:lnTo>
                        <a:pt x="1512" y="1167"/>
                      </a:lnTo>
                      <a:lnTo>
                        <a:pt x="1532" y="1117"/>
                      </a:lnTo>
                      <a:lnTo>
                        <a:pt x="1545" y="1074"/>
                      </a:lnTo>
                      <a:lnTo>
                        <a:pt x="1557" y="1029"/>
                      </a:lnTo>
                      <a:lnTo>
                        <a:pt x="1565" y="990"/>
                      </a:lnTo>
                      <a:lnTo>
                        <a:pt x="1575" y="947"/>
                      </a:lnTo>
                      <a:lnTo>
                        <a:pt x="1581" y="893"/>
                      </a:lnTo>
                      <a:lnTo>
                        <a:pt x="1584" y="830"/>
                      </a:lnTo>
                      <a:lnTo>
                        <a:pt x="1584" y="772"/>
                      </a:lnTo>
                      <a:lnTo>
                        <a:pt x="1579" y="726"/>
                      </a:lnTo>
                      <a:lnTo>
                        <a:pt x="1572" y="683"/>
                      </a:lnTo>
                      <a:lnTo>
                        <a:pt x="1564" y="644"/>
                      </a:lnTo>
                      <a:lnTo>
                        <a:pt x="1552" y="594"/>
                      </a:lnTo>
                      <a:lnTo>
                        <a:pt x="1538" y="542"/>
                      </a:lnTo>
                      <a:lnTo>
                        <a:pt x="1522" y="495"/>
                      </a:lnTo>
                      <a:lnTo>
                        <a:pt x="1504" y="452"/>
                      </a:lnTo>
                      <a:lnTo>
                        <a:pt x="1481" y="413"/>
                      </a:lnTo>
                      <a:lnTo>
                        <a:pt x="1452" y="364"/>
                      </a:lnTo>
                      <a:lnTo>
                        <a:pt x="1418" y="315"/>
                      </a:lnTo>
                      <a:lnTo>
                        <a:pt x="1385" y="277"/>
                      </a:lnTo>
                      <a:lnTo>
                        <a:pt x="1355" y="244"/>
                      </a:lnTo>
                      <a:lnTo>
                        <a:pt x="1320" y="212"/>
                      </a:lnTo>
                      <a:lnTo>
                        <a:pt x="1283" y="182"/>
                      </a:lnTo>
                      <a:lnTo>
                        <a:pt x="1248" y="153"/>
                      </a:lnTo>
                      <a:lnTo>
                        <a:pt x="1205" y="124"/>
                      </a:lnTo>
                      <a:lnTo>
                        <a:pt x="1154" y="93"/>
                      </a:lnTo>
                      <a:lnTo>
                        <a:pt x="1107" y="70"/>
                      </a:lnTo>
                      <a:lnTo>
                        <a:pt x="1052" y="47"/>
                      </a:lnTo>
                      <a:lnTo>
                        <a:pt x="1002" y="31"/>
                      </a:lnTo>
                      <a:lnTo>
                        <a:pt x="961" y="21"/>
                      </a:lnTo>
                      <a:lnTo>
                        <a:pt x="916" y="10"/>
                      </a:lnTo>
                      <a:lnTo>
                        <a:pt x="875" y="4"/>
                      </a:lnTo>
                      <a:lnTo>
                        <a:pt x="826" y="0"/>
                      </a:lnTo>
                      <a:lnTo>
                        <a:pt x="782" y="0"/>
                      </a:lnTo>
                      <a:lnTo>
                        <a:pt x="734" y="0"/>
                      </a:lnTo>
                      <a:lnTo>
                        <a:pt x="694" y="4"/>
                      </a:lnTo>
                      <a:lnTo>
                        <a:pt x="648" y="15"/>
                      </a:lnTo>
                      <a:lnTo>
                        <a:pt x="613" y="22"/>
                      </a:lnTo>
                      <a:lnTo>
                        <a:pt x="570" y="34"/>
                      </a:lnTo>
                      <a:lnTo>
                        <a:pt x="530" y="46"/>
                      </a:lnTo>
                      <a:lnTo>
                        <a:pt x="494" y="61"/>
                      </a:lnTo>
                      <a:lnTo>
                        <a:pt x="459" y="76"/>
                      </a:lnTo>
                      <a:lnTo>
                        <a:pt x="425" y="94"/>
                      </a:lnTo>
                      <a:lnTo>
                        <a:pt x="393" y="113"/>
                      </a:lnTo>
                      <a:lnTo>
                        <a:pt x="358" y="137"/>
                      </a:lnTo>
                      <a:lnTo>
                        <a:pt x="320" y="163"/>
                      </a:lnTo>
                      <a:lnTo>
                        <a:pt x="286" y="189"/>
                      </a:lnTo>
                      <a:lnTo>
                        <a:pt x="255" y="216"/>
                      </a:lnTo>
                      <a:lnTo>
                        <a:pt x="223" y="247"/>
                      </a:lnTo>
                      <a:lnTo>
                        <a:pt x="190" y="281"/>
                      </a:lnTo>
                      <a:lnTo>
                        <a:pt x="161" y="314"/>
                      </a:lnTo>
                      <a:lnTo>
                        <a:pt x="138" y="345"/>
                      </a:lnTo>
                      <a:lnTo>
                        <a:pt x="110" y="387"/>
                      </a:lnTo>
                      <a:lnTo>
                        <a:pt x="83" y="433"/>
                      </a:lnTo>
                      <a:lnTo>
                        <a:pt x="59" y="485"/>
                      </a:lnTo>
                      <a:lnTo>
                        <a:pt x="41" y="535"/>
                      </a:lnTo>
                      <a:lnTo>
                        <a:pt x="27" y="587"/>
                      </a:lnTo>
                      <a:lnTo>
                        <a:pt x="14" y="640"/>
                      </a:lnTo>
                      <a:lnTo>
                        <a:pt x="5" y="687"/>
                      </a:lnTo>
                      <a:lnTo>
                        <a:pt x="0" y="735"/>
                      </a:lnTo>
                      <a:lnTo>
                        <a:pt x="0" y="781"/>
                      </a:lnTo>
                      <a:lnTo>
                        <a:pt x="0" y="822"/>
                      </a:lnTo>
                      <a:lnTo>
                        <a:pt x="0" y="871"/>
                      </a:lnTo>
                      <a:lnTo>
                        <a:pt x="2" y="914"/>
                      </a:lnTo>
                      <a:lnTo>
                        <a:pt x="10" y="969"/>
                      </a:lnTo>
                      <a:lnTo>
                        <a:pt x="19" y="1016"/>
                      </a:lnTo>
                      <a:lnTo>
                        <a:pt x="31" y="1062"/>
                      </a:lnTo>
                      <a:lnTo>
                        <a:pt x="48" y="1115"/>
                      </a:lnTo>
                      <a:lnTo>
                        <a:pt x="68" y="1163"/>
                      </a:lnTo>
                      <a:lnTo>
                        <a:pt x="88" y="1205"/>
                      </a:lnTo>
                      <a:lnTo>
                        <a:pt x="113" y="1253"/>
                      </a:lnTo>
                      <a:lnTo>
                        <a:pt x="140" y="1298"/>
                      </a:lnTo>
                      <a:lnTo>
                        <a:pt x="163" y="1341"/>
                      </a:lnTo>
                      <a:lnTo>
                        <a:pt x="188" y="1384"/>
                      </a:lnTo>
                      <a:lnTo>
                        <a:pt x="213" y="1431"/>
                      </a:lnTo>
                      <a:lnTo>
                        <a:pt x="253" y="1499"/>
                      </a:lnTo>
                      <a:lnTo>
                        <a:pt x="290" y="1569"/>
                      </a:lnTo>
                      <a:lnTo>
                        <a:pt x="312" y="1605"/>
                      </a:lnTo>
                      <a:lnTo>
                        <a:pt x="323" y="1635"/>
                      </a:lnTo>
                      <a:lnTo>
                        <a:pt x="336" y="1672"/>
                      </a:lnTo>
                      <a:lnTo>
                        <a:pt x="349" y="1714"/>
                      </a:lnTo>
                      <a:lnTo>
                        <a:pt x="359" y="1751"/>
                      </a:lnTo>
                      <a:lnTo>
                        <a:pt x="368" y="1792"/>
                      </a:lnTo>
                      <a:lnTo>
                        <a:pt x="375" y="1849"/>
                      </a:lnTo>
                      <a:lnTo>
                        <a:pt x="386" y="1911"/>
                      </a:lnTo>
                      <a:lnTo>
                        <a:pt x="393" y="1960"/>
                      </a:lnTo>
                      <a:lnTo>
                        <a:pt x="401" y="2022"/>
                      </a:lnTo>
                      <a:lnTo>
                        <a:pt x="406" y="2066"/>
                      </a:lnTo>
                      <a:lnTo>
                        <a:pt x="412" y="2105"/>
                      </a:lnTo>
                      <a:lnTo>
                        <a:pt x="421" y="2144"/>
                      </a:lnTo>
                      <a:lnTo>
                        <a:pt x="425" y="2155"/>
                      </a:lnTo>
                      <a:lnTo>
                        <a:pt x="426" y="2164"/>
                      </a:lnTo>
                      <a:lnTo>
                        <a:pt x="428" y="2168"/>
                      </a:lnTo>
                      <a:lnTo>
                        <a:pt x="429" y="2172"/>
                      </a:lnTo>
                      <a:lnTo>
                        <a:pt x="433" y="2177"/>
                      </a:lnTo>
                      <a:lnTo>
                        <a:pt x="438" y="2184"/>
                      </a:lnTo>
                      <a:lnTo>
                        <a:pt x="445" y="2191"/>
                      </a:lnTo>
                      <a:lnTo>
                        <a:pt x="452" y="2199"/>
                      </a:lnTo>
                      <a:lnTo>
                        <a:pt x="465" y="2208"/>
                      </a:lnTo>
                      <a:lnTo>
                        <a:pt x="479" y="2215"/>
                      </a:lnTo>
                      <a:lnTo>
                        <a:pt x="498" y="2226"/>
                      </a:lnTo>
                      <a:lnTo>
                        <a:pt x="516" y="2233"/>
                      </a:lnTo>
                      <a:lnTo>
                        <a:pt x="534" y="2240"/>
                      </a:lnTo>
                      <a:lnTo>
                        <a:pt x="552" y="2244"/>
                      </a:lnTo>
                      <a:lnTo>
                        <a:pt x="567" y="2248"/>
                      </a:lnTo>
                      <a:lnTo>
                        <a:pt x="591" y="2254"/>
                      </a:lnTo>
                      <a:lnTo>
                        <a:pt x="610" y="2259"/>
                      </a:lnTo>
                      <a:lnTo>
                        <a:pt x="630" y="2261"/>
                      </a:lnTo>
                      <a:lnTo>
                        <a:pt x="650" y="2264"/>
                      </a:lnTo>
                      <a:lnTo>
                        <a:pt x="673" y="2267"/>
                      </a:lnTo>
                      <a:lnTo>
                        <a:pt x="693" y="2269"/>
                      </a:lnTo>
                      <a:lnTo>
                        <a:pt x="711" y="2270"/>
                      </a:lnTo>
                      <a:lnTo>
                        <a:pt x="733" y="2272"/>
                      </a:lnTo>
                      <a:lnTo>
                        <a:pt x="753" y="2273"/>
                      </a:lnTo>
                      <a:lnTo>
                        <a:pt x="772" y="2273"/>
                      </a:lnTo>
                      <a:lnTo>
                        <a:pt x="789" y="2273"/>
                      </a:lnTo>
                      <a:lnTo>
                        <a:pt x="809" y="2273"/>
                      </a:lnTo>
                      <a:lnTo>
                        <a:pt x="832" y="2273"/>
                      </a:lnTo>
                      <a:lnTo>
                        <a:pt x="852" y="2272"/>
                      </a:lnTo>
                      <a:lnTo>
                        <a:pt x="869" y="2272"/>
                      </a:lnTo>
                      <a:lnTo>
                        <a:pt x="890" y="2269"/>
                      </a:lnTo>
                      <a:lnTo>
                        <a:pt x="914" y="2267"/>
                      </a:lnTo>
                      <a:lnTo>
                        <a:pt x="932" y="2264"/>
                      </a:lnTo>
                      <a:lnTo>
                        <a:pt x="954" y="2261"/>
                      </a:lnTo>
                      <a:lnTo>
                        <a:pt x="974" y="2257"/>
                      </a:lnTo>
                      <a:lnTo>
                        <a:pt x="992" y="2254"/>
                      </a:lnTo>
                      <a:lnTo>
                        <a:pt x="1011" y="2250"/>
                      </a:lnTo>
                      <a:lnTo>
                        <a:pt x="1027" y="2245"/>
                      </a:lnTo>
                      <a:lnTo>
                        <a:pt x="1047" y="2240"/>
                      </a:lnTo>
                      <a:lnTo>
                        <a:pt x="1062" y="2233"/>
                      </a:lnTo>
                      <a:lnTo>
                        <a:pt x="1078" y="2227"/>
                      </a:lnTo>
                      <a:lnTo>
                        <a:pt x="1095" y="2220"/>
                      </a:lnTo>
                      <a:lnTo>
                        <a:pt x="1110" y="2213"/>
                      </a:lnTo>
                      <a:close/>
                    </a:path>
                  </a:pathLst>
                </a:custGeom>
                <a:solidFill>
                  <a:srgbClr val="FFFF00"/>
                </a:solidFill>
                <a:ln w="6350">
                  <a:solidFill>
                    <a:srgbClr val="FFFFFF"/>
                  </a:solidFill>
                  <a:prstDash val="solid"/>
                  <a:round/>
                  <a:headEnd/>
                  <a:tailEnd/>
                </a:ln>
              </p:spPr>
              <p:txBody>
                <a:bodyPr/>
                <a:lstStyle/>
                <a:p>
                  <a:endParaRPr lang="en-US"/>
                </a:p>
              </p:txBody>
            </p:sp>
            <p:grpSp>
              <p:nvGrpSpPr>
                <p:cNvPr id="23" name="Group 60">
                  <a:extLst>
                    <a:ext uri="{FF2B5EF4-FFF2-40B4-BE49-F238E27FC236}">
                      <a16:creationId xmlns:a16="http://schemas.microsoft.com/office/drawing/2014/main" id="{08876996-D4C2-C5BE-338B-26A29411E585}"/>
                    </a:ext>
                  </a:extLst>
                </p:cNvPr>
                <p:cNvGrpSpPr>
                  <a:grpSpLocks/>
                </p:cNvGrpSpPr>
                <p:nvPr/>
              </p:nvGrpSpPr>
              <p:grpSpPr bwMode="auto">
                <a:xfrm rot="5400000">
                  <a:off x="735" y="1620"/>
                  <a:ext cx="248" cy="398"/>
                  <a:chOff x="1987" y="2278"/>
                  <a:chExt cx="495" cy="1010"/>
                </a:xfrm>
              </p:grpSpPr>
              <p:sp>
                <p:nvSpPr>
                  <p:cNvPr id="58" name="Oval 61">
                    <a:extLst>
                      <a:ext uri="{FF2B5EF4-FFF2-40B4-BE49-F238E27FC236}">
                        <a16:creationId xmlns:a16="http://schemas.microsoft.com/office/drawing/2014/main" id="{74353795-D84C-BD1E-7F50-CFF1D2EE2F61}"/>
                      </a:ext>
                    </a:extLst>
                  </p:cNvPr>
                  <p:cNvSpPr>
                    <a:spLocks noChangeArrowheads="1"/>
                  </p:cNvSpPr>
                  <p:nvPr/>
                </p:nvSpPr>
                <p:spPr bwMode="auto">
                  <a:xfrm>
                    <a:off x="1987" y="3172"/>
                    <a:ext cx="347" cy="116"/>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9" name="Freeform 62">
                    <a:extLst>
                      <a:ext uri="{FF2B5EF4-FFF2-40B4-BE49-F238E27FC236}">
                        <a16:creationId xmlns:a16="http://schemas.microsoft.com/office/drawing/2014/main" id="{576F65A0-59D7-6F90-042D-0A9CA2264BBE}"/>
                      </a:ext>
                    </a:extLst>
                  </p:cNvPr>
                  <p:cNvSpPr>
                    <a:spLocks/>
                  </p:cNvSpPr>
                  <p:nvPr/>
                </p:nvSpPr>
                <p:spPr bwMode="auto">
                  <a:xfrm>
                    <a:off x="2349" y="2278"/>
                    <a:ext cx="133" cy="169"/>
                  </a:xfrm>
                  <a:custGeom>
                    <a:avLst/>
                    <a:gdLst>
                      <a:gd name="T0" fmla="*/ 0 w 265"/>
                      <a:gd name="T1" fmla="*/ 0 h 338"/>
                      <a:gd name="T2" fmla="*/ 3 w 265"/>
                      <a:gd name="T3" fmla="*/ 2 h 338"/>
                      <a:gd name="T4" fmla="*/ 5 w 265"/>
                      <a:gd name="T5" fmla="*/ 3 h 338"/>
                      <a:gd name="T6" fmla="*/ 6 w 265"/>
                      <a:gd name="T7" fmla="*/ 4 h 338"/>
                      <a:gd name="T8" fmla="*/ 7 w 265"/>
                      <a:gd name="T9" fmla="*/ 5 h 338"/>
                      <a:gd name="T10" fmla="*/ 8 w 265"/>
                      <a:gd name="T11" fmla="*/ 7 h 338"/>
                      <a:gd name="T12" fmla="*/ 8 w 265"/>
                      <a:gd name="T13" fmla="*/ 8 h 338"/>
                      <a:gd name="T14" fmla="*/ 9 w 265"/>
                      <a:gd name="T15" fmla="*/ 9 h 338"/>
                      <a:gd name="T16" fmla="*/ 6 w 265"/>
                      <a:gd name="T17" fmla="*/ 11 h 338"/>
                      <a:gd name="T18" fmla="*/ 6 w 265"/>
                      <a:gd name="T19" fmla="*/ 9 h 338"/>
                      <a:gd name="T20" fmla="*/ 5 w 265"/>
                      <a:gd name="T21" fmla="*/ 7 h 338"/>
                      <a:gd name="T22" fmla="*/ 4 w 265"/>
                      <a:gd name="T23" fmla="*/ 6 h 338"/>
                      <a:gd name="T24" fmla="*/ 4 w 265"/>
                      <a:gd name="T25" fmla="*/ 4 h 338"/>
                      <a:gd name="T26" fmla="*/ 2 w 265"/>
                      <a:gd name="T27" fmla="*/ 2 h 338"/>
                      <a:gd name="T28" fmla="*/ 0 w 265"/>
                      <a:gd name="T29" fmla="*/ 0 h 3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65" h="338">
                        <a:moveTo>
                          <a:pt x="0" y="0"/>
                        </a:moveTo>
                        <a:lnTo>
                          <a:pt x="70" y="36"/>
                        </a:lnTo>
                        <a:lnTo>
                          <a:pt x="135" y="76"/>
                        </a:lnTo>
                        <a:lnTo>
                          <a:pt x="183" y="116"/>
                        </a:lnTo>
                        <a:lnTo>
                          <a:pt x="216" y="159"/>
                        </a:lnTo>
                        <a:lnTo>
                          <a:pt x="239" y="203"/>
                        </a:lnTo>
                        <a:lnTo>
                          <a:pt x="255" y="241"/>
                        </a:lnTo>
                        <a:lnTo>
                          <a:pt x="265" y="280"/>
                        </a:lnTo>
                        <a:lnTo>
                          <a:pt x="172" y="338"/>
                        </a:lnTo>
                        <a:lnTo>
                          <a:pt x="163" y="283"/>
                        </a:lnTo>
                        <a:lnTo>
                          <a:pt x="148" y="224"/>
                        </a:lnTo>
                        <a:lnTo>
                          <a:pt x="126" y="164"/>
                        </a:lnTo>
                        <a:lnTo>
                          <a:pt x="97" y="112"/>
                        </a:lnTo>
                        <a:lnTo>
                          <a:pt x="57" y="61"/>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60" name="Group 63">
                    <a:extLst>
                      <a:ext uri="{FF2B5EF4-FFF2-40B4-BE49-F238E27FC236}">
                        <a16:creationId xmlns:a16="http://schemas.microsoft.com/office/drawing/2014/main" id="{FD0EB2A6-50DA-A089-0C6A-B960F7F829DF}"/>
                      </a:ext>
                    </a:extLst>
                  </p:cNvPr>
                  <p:cNvGrpSpPr>
                    <a:grpSpLocks/>
                  </p:cNvGrpSpPr>
                  <p:nvPr/>
                </p:nvGrpSpPr>
                <p:grpSpPr bwMode="auto">
                  <a:xfrm>
                    <a:off x="2050" y="2506"/>
                    <a:ext cx="220" cy="706"/>
                    <a:chOff x="2050" y="2506"/>
                    <a:chExt cx="220" cy="706"/>
                  </a:xfrm>
                </p:grpSpPr>
                <p:sp>
                  <p:nvSpPr>
                    <p:cNvPr id="62" name="Freeform 64">
                      <a:extLst>
                        <a:ext uri="{FF2B5EF4-FFF2-40B4-BE49-F238E27FC236}">
                          <a16:creationId xmlns:a16="http://schemas.microsoft.com/office/drawing/2014/main" id="{12D9068D-972A-393B-4869-304FE95F9E56}"/>
                        </a:ext>
                      </a:extLst>
                    </p:cNvPr>
                    <p:cNvSpPr>
                      <a:spLocks/>
                    </p:cNvSpPr>
                    <p:nvPr/>
                  </p:nvSpPr>
                  <p:spPr bwMode="auto">
                    <a:xfrm>
                      <a:off x="2091" y="2801"/>
                      <a:ext cx="135" cy="411"/>
                    </a:xfrm>
                    <a:custGeom>
                      <a:avLst/>
                      <a:gdLst>
                        <a:gd name="T0" fmla="*/ 0 w 271"/>
                        <a:gd name="T1" fmla="*/ 1 h 823"/>
                        <a:gd name="T2" fmla="*/ 0 w 271"/>
                        <a:gd name="T3" fmla="*/ 6 h 823"/>
                        <a:gd name="T4" fmla="*/ 0 w 271"/>
                        <a:gd name="T5" fmla="*/ 6 h 823"/>
                        <a:gd name="T6" fmla="*/ 0 w 271"/>
                        <a:gd name="T7" fmla="*/ 23 h 823"/>
                        <a:gd name="T8" fmla="*/ 1 w 271"/>
                        <a:gd name="T9" fmla="*/ 25 h 823"/>
                        <a:gd name="T10" fmla="*/ 2 w 271"/>
                        <a:gd name="T11" fmla="*/ 25 h 823"/>
                        <a:gd name="T12" fmla="*/ 3 w 271"/>
                        <a:gd name="T13" fmla="*/ 24 h 823"/>
                        <a:gd name="T14" fmla="*/ 4 w 271"/>
                        <a:gd name="T15" fmla="*/ 24 h 823"/>
                        <a:gd name="T16" fmla="*/ 6 w 271"/>
                        <a:gd name="T17" fmla="*/ 25 h 823"/>
                        <a:gd name="T18" fmla="*/ 7 w 271"/>
                        <a:gd name="T19" fmla="*/ 25 h 823"/>
                        <a:gd name="T20" fmla="*/ 8 w 271"/>
                        <a:gd name="T21" fmla="*/ 23 h 823"/>
                        <a:gd name="T22" fmla="*/ 7 w 271"/>
                        <a:gd name="T23" fmla="*/ 6 h 823"/>
                        <a:gd name="T24" fmla="*/ 8 w 271"/>
                        <a:gd name="T25" fmla="*/ 6 h 823"/>
                        <a:gd name="T26" fmla="*/ 8 w 271"/>
                        <a:gd name="T27" fmla="*/ 1 h 823"/>
                        <a:gd name="T28" fmla="*/ 6 w 271"/>
                        <a:gd name="T29" fmla="*/ 0 h 823"/>
                        <a:gd name="T30" fmla="*/ 5 w 271"/>
                        <a:gd name="T31" fmla="*/ 0 h 823"/>
                        <a:gd name="T32" fmla="*/ 5 w 271"/>
                        <a:gd name="T33" fmla="*/ 0 h 823"/>
                        <a:gd name="T34" fmla="*/ 3 w 271"/>
                        <a:gd name="T35" fmla="*/ 0 h 823"/>
                        <a:gd name="T36" fmla="*/ 2 w 271"/>
                        <a:gd name="T37" fmla="*/ 0 h 823"/>
                        <a:gd name="T38" fmla="*/ 1 w 271"/>
                        <a:gd name="T39" fmla="*/ 0 h 823"/>
                        <a:gd name="T40" fmla="*/ 0 w 271"/>
                        <a:gd name="T41" fmla="*/ 1 h 8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1" h="823">
                          <a:moveTo>
                            <a:pt x="0" y="63"/>
                          </a:moveTo>
                          <a:lnTo>
                            <a:pt x="5" y="197"/>
                          </a:lnTo>
                          <a:lnTo>
                            <a:pt x="19" y="214"/>
                          </a:lnTo>
                          <a:lnTo>
                            <a:pt x="13" y="763"/>
                          </a:lnTo>
                          <a:lnTo>
                            <a:pt x="32" y="823"/>
                          </a:lnTo>
                          <a:lnTo>
                            <a:pt x="77" y="823"/>
                          </a:lnTo>
                          <a:lnTo>
                            <a:pt x="115" y="793"/>
                          </a:lnTo>
                          <a:lnTo>
                            <a:pt x="158" y="793"/>
                          </a:lnTo>
                          <a:lnTo>
                            <a:pt x="193" y="823"/>
                          </a:lnTo>
                          <a:lnTo>
                            <a:pt x="241" y="823"/>
                          </a:lnTo>
                          <a:lnTo>
                            <a:pt x="257" y="763"/>
                          </a:lnTo>
                          <a:lnTo>
                            <a:pt x="249" y="214"/>
                          </a:lnTo>
                          <a:lnTo>
                            <a:pt x="262" y="197"/>
                          </a:lnTo>
                          <a:lnTo>
                            <a:pt x="271" y="63"/>
                          </a:lnTo>
                          <a:lnTo>
                            <a:pt x="211" y="13"/>
                          </a:lnTo>
                          <a:lnTo>
                            <a:pt x="182" y="13"/>
                          </a:lnTo>
                          <a:lnTo>
                            <a:pt x="165" y="0"/>
                          </a:lnTo>
                          <a:lnTo>
                            <a:pt x="96" y="0"/>
                          </a:lnTo>
                          <a:lnTo>
                            <a:pt x="82" y="13"/>
                          </a:lnTo>
                          <a:lnTo>
                            <a:pt x="57" y="13"/>
                          </a:lnTo>
                          <a:lnTo>
                            <a:pt x="0" y="6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3" name="Oval 65">
                      <a:extLst>
                        <a:ext uri="{FF2B5EF4-FFF2-40B4-BE49-F238E27FC236}">
                          <a16:creationId xmlns:a16="http://schemas.microsoft.com/office/drawing/2014/main" id="{9EACB47B-6C2D-5B71-E23E-8389DE1345BE}"/>
                        </a:ext>
                      </a:extLst>
                    </p:cNvPr>
                    <p:cNvSpPr>
                      <a:spLocks noChangeArrowheads="1"/>
                    </p:cNvSpPr>
                    <p:nvPr/>
                  </p:nvSpPr>
                  <p:spPr bwMode="auto">
                    <a:xfrm>
                      <a:off x="2161" y="2813"/>
                      <a:ext cx="17" cy="29"/>
                    </a:xfrm>
                    <a:prstGeom prst="ellipse">
                      <a:avLst/>
                    </a:pr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64" name="Group 66">
                      <a:extLst>
                        <a:ext uri="{FF2B5EF4-FFF2-40B4-BE49-F238E27FC236}">
                          <a16:creationId xmlns:a16="http://schemas.microsoft.com/office/drawing/2014/main" id="{16FCCECC-CE4E-7201-9C6E-0B1F85BC4797}"/>
                        </a:ext>
                      </a:extLst>
                    </p:cNvPr>
                    <p:cNvGrpSpPr>
                      <a:grpSpLocks/>
                    </p:cNvGrpSpPr>
                    <p:nvPr/>
                  </p:nvGrpSpPr>
                  <p:grpSpPr bwMode="auto">
                    <a:xfrm>
                      <a:off x="2050" y="2506"/>
                      <a:ext cx="220" cy="324"/>
                      <a:chOff x="2050" y="2506"/>
                      <a:chExt cx="220" cy="324"/>
                    </a:xfrm>
                  </p:grpSpPr>
                  <p:sp>
                    <p:nvSpPr>
                      <p:cNvPr id="70" name="Oval 67">
                        <a:extLst>
                          <a:ext uri="{FF2B5EF4-FFF2-40B4-BE49-F238E27FC236}">
                            <a16:creationId xmlns:a16="http://schemas.microsoft.com/office/drawing/2014/main" id="{AA7457D4-09F8-DACE-F223-D96DEFD5FB95}"/>
                          </a:ext>
                        </a:extLst>
                      </p:cNvPr>
                      <p:cNvSpPr>
                        <a:spLocks noChangeArrowheads="1"/>
                      </p:cNvSpPr>
                      <p:nvPr/>
                    </p:nvSpPr>
                    <p:spPr bwMode="auto">
                      <a:xfrm>
                        <a:off x="2062" y="2506"/>
                        <a:ext cx="202" cy="11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1" name="Freeform 68">
                        <a:extLst>
                          <a:ext uri="{FF2B5EF4-FFF2-40B4-BE49-F238E27FC236}">
                            <a16:creationId xmlns:a16="http://schemas.microsoft.com/office/drawing/2014/main" id="{5CA5F37D-D82B-E70D-CEFC-2D980775C6BE}"/>
                          </a:ext>
                        </a:extLst>
                      </p:cNvPr>
                      <p:cNvSpPr>
                        <a:spLocks/>
                      </p:cNvSpPr>
                      <p:nvPr/>
                    </p:nvSpPr>
                    <p:spPr bwMode="auto">
                      <a:xfrm>
                        <a:off x="2050" y="2557"/>
                        <a:ext cx="220" cy="273"/>
                      </a:xfrm>
                      <a:custGeom>
                        <a:avLst/>
                        <a:gdLst>
                          <a:gd name="T0" fmla="*/ 8 w 441"/>
                          <a:gd name="T1" fmla="*/ 17 h 547"/>
                          <a:gd name="T2" fmla="*/ 13 w 441"/>
                          <a:gd name="T3" fmla="*/ 1 h 547"/>
                          <a:gd name="T4" fmla="*/ 12 w 441"/>
                          <a:gd name="T5" fmla="*/ 1 h 547"/>
                          <a:gd name="T6" fmla="*/ 11 w 441"/>
                          <a:gd name="T7" fmla="*/ 0 h 547"/>
                          <a:gd name="T8" fmla="*/ 10 w 441"/>
                          <a:gd name="T9" fmla="*/ 0 h 547"/>
                          <a:gd name="T10" fmla="*/ 9 w 441"/>
                          <a:gd name="T11" fmla="*/ 0 h 547"/>
                          <a:gd name="T12" fmla="*/ 8 w 441"/>
                          <a:gd name="T13" fmla="*/ 0 h 547"/>
                          <a:gd name="T14" fmla="*/ 7 w 441"/>
                          <a:gd name="T15" fmla="*/ 0 h 547"/>
                          <a:gd name="T16" fmla="*/ 6 w 441"/>
                          <a:gd name="T17" fmla="*/ 0 h 547"/>
                          <a:gd name="T18" fmla="*/ 4 w 441"/>
                          <a:gd name="T19" fmla="*/ 0 h 547"/>
                          <a:gd name="T20" fmla="*/ 3 w 441"/>
                          <a:gd name="T21" fmla="*/ 0 h 547"/>
                          <a:gd name="T22" fmla="*/ 1 w 441"/>
                          <a:gd name="T23" fmla="*/ 0 h 547"/>
                          <a:gd name="T24" fmla="*/ 0 w 441"/>
                          <a:gd name="T25" fmla="*/ 1 h 547"/>
                          <a:gd name="T26" fmla="*/ 0 w 441"/>
                          <a:gd name="T27" fmla="*/ 1 h 547"/>
                          <a:gd name="T28" fmla="*/ 4 w 441"/>
                          <a:gd name="T29" fmla="*/ 17 h 5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1" h="547">
                            <a:moveTo>
                              <a:pt x="281" y="547"/>
                            </a:moveTo>
                            <a:lnTo>
                              <a:pt x="441" y="54"/>
                            </a:lnTo>
                            <a:lnTo>
                              <a:pt x="413" y="43"/>
                            </a:lnTo>
                            <a:lnTo>
                              <a:pt x="380" y="30"/>
                            </a:lnTo>
                            <a:lnTo>
                              <a:pt x="338" y="19"/>
                            </a:lnTo>
                            <a:lnTo>
                              <a:pt x="301" y="10"/>
                            </a:lnTo>
                            <a:lnTo>
                              <a:pt x="269" y="3"/>
                            </a:lnTo>
                            <a:lnTo>
                              <a:pt x="233" y="0"/>
                            </a:lnTo>
                            <a:lnTo>
                              <a:pt x="195" y="2"/>
                            </a:lnTo>
                            <a:lnTo>
                              <a:pt x="146" y="7"/>
                            </a:lnTo>
                            <a:lnTo>
                              <a:pt x="104" y="19"/>
                            </a:lnTo>
                            <a:lnTo>
                              <a:pt x="63" y="30"/>
                            </a:lnTo>
                            <a:lnTo>
                              <a:pt x="27" y="45"/>
                            </a:lnTo>
                            <a:lnTo>
                              <a:pt x="0" y="60"/>
                            </a:lnTo>
                            <a:lnTo>
                              <a:pt x="155" y="547"/>
                            </a:lnTo>
                          </a:path>
                        </a:pathLst>
                      </a:custGeom>
                      <a:noFill/>
                      <a:ln w="6350">
                        <a:solidFill>
                          <a:srgbClr val="A0A0A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5" name="Group 69">
                      <a:extLst>
                        <a:ext uri="{FF2B5EF4-FFF2-40B4-BE49-F238E27FC236}">
                          <a16:creationId xmlns:a16="http://schemas.microsoft.com/office/drawing/2014/main" id="{B6679548-2F0E-D3B4-1444-E0B696021EED}"/>
                        </a:ext>
                      </a:extLst>
                    </p:cNvPr>
                    <p:cNvGrpSpPr>
                      <a:grpSpLocks/>
                    </p:cNvGrpSpPr>
                    <p:nvPr/>
                  </p:nvGrpSpPr>
                  <p:grpSpPr bwMode="auto">
                    <a:xfrm>
                      <a:off x="2119" y="2860"/>
                      <a:ext cx="76" cy="314"/>
                      <a:chOff x="2119" y="2860"/>
                      <a:chExt cx="76" cy="314"/>
                    </a:xfrm>
                  </p:grpSpPr>
                  <p:sp>
                    <p:nvSpPr>
                      <p:cNvPr id="66" name="Line 70">
                        <a:extLst>
                          <a:ext uri="{FF2B5EF4-FFF2-40B4-BE49-F238E27FC236}">
                            <a16:creationId xmlns:a16="http://schemas.microsoft.com/office/drawing/2014/main" id="{0AB33751-D72D-F0AB-3CAD-CAEFFD88B293}"/>
                          </a:ext>
                        </a:extLst>
                      </p:cNvPr>
                      <p:cNvSpPr>
                        <a:spLocks noChangeShapeType="1"/>
                      </p:cNvSpPr>
                      <p:nvPr/>
                    </p:nvSpPr>
                    <p:spPr bwMode="auto">
                      <a:xfrm>
                        <a:off x="2132" y="2868"/>
                        <a:ext cx="1" cy="306"/>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 name="Line 71">
                        <a:extLst>
                          <a:ext uri="{FF2B5EF4-FFF2-40B4-BE49-F238E27FC236}">
                            <a16:creationId xmlns:a16="http://schemas.microsoft.com/office/drawing/2014/main" id="{33A75271-68BD-68DC-1BB1-B96B0B5107F9}"/>
                          </a:ext>
                        </a:extLst>
                      </p:cNvPr>
                      <p:cNvSpPr>
                        <a:spLocks noChangeShapeType="1"/>
                      </p:cNvSpPr>
                      <p:nvPr/>
                    </p:nvSpPr>
                    <p:spPr bwMode="auto">
                      <a:xfrm flipV="1">
                        <a:off x="2182" y="2868"/>
                        <a:ext cx="2" cy="30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72">
                        <a:extLst>
                          <a:ext uri="{FF2B5EF4-FFF2-40B4-BE49-F238E27FC236}">
                            <a16:creationId xmlns:a16="http://schemas.microsoft.com/office/drawing/2014/main" id="{3EDBF685-5102-CE77-E578-9B8D9777972C}"/>
                          </a:ext>
                        </a:extLst>
                      </p:cNvPr>
                      <p:cNvSpPr>
                        <a:spLocks noChangeShapeType="1"/>
                      </p:cNvSpPr>
                      <p:nvPr/>
                    </p:nvSpPr>
                    <p:spPr bwMode="auto">
                      <a:xfrm flipV="1">
                        <a:off x="2194" y="2860"/>
                        <a:ext cx="1" cy="304"/>
                      </a:xfrm>
                      <a:prstGeom prst="line">
                        <a:avLst/>
                      </a:prstGeom>
                      <a:noFill/>
                      <a:ln w="6350">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Line 73">
                        <a:extLst>
                          <a:ext uri="{FF2B5EF4-FFF2-40B4-BE49-F238E27FC236}">
                            <a16:creationId xmlns:a16="http://schemas.microsoft.com/office/drawing/2014/main" id="{8A4F389E-0CF1-6CB3-5E07-C06310BFFD90}"/>
                          </a:ext>
                        </a:extLst>
                      </p:cNvPr>
                      <p:cNvSpPr>
                        <a:spLocks noChangeShapeType="1"/>
                      </p:cNvSpPr>
                      <p:nvPr/>
                    </p:nvSpPr>
                    <p:spPr bwMode="auto">
                      <a:xfrm flipH="1" flipV="1">
                        <a:off x="2119" y="2860"/>
                        <a:ext cx="1" cy="304"/>
                      </a:xfrm>
                      <a:prstGeom prst="line">
                        <a:avLst/>
                      </a:prstGeom>
                      <a:noFill/>
                      <a:ln w="6350">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61" name="Freeform 74">
                    <a:extLst>
                      <a:ext uri="{FF2B5EF4-FFF2-40B4-BE49-F238E27FC236}">
                        <a16:creationId xmlns:a16="http://schemas.microsoft.com/office/drawing/2014/main" id="{AA400026-531C-D1DB-819A-5C2D9CC7F409}"/>
                      </a:ext>
                    </a:extLst>
                  </p:cNvPr>
                  <p:cNvSpPr>
                    <a:spLocks/>
                  </p:cNvSpPr>
                  <p:nvPr/>
                </p:nvSpPr>
                <p:spPr bwMode="auto">
                  <a:xfrm>
                    <a:off x="2144" y="3009"/>
                    <a:ext cx="215" cy="266"/>
                  </a:xfrm>
                  <a:custGeom>
                    <a:avLst/>
                    <a:gdLst>
                      <a:gd name="T0" fmla="*/ 14 w 428"/>
                      <a:gd name="T1" fmla="*/ 0 h 532"/>
                      <a:gd name="T2" fmla="*/ 13 w 428"/>
                      <a:gd name="T3" fmla="*/ 1 h 532"/>
                      <a:gd name="T4" fmla="*/ 11 w 428"/>
                      <a:gd name="T5" fmla="*/ 11 h 532"/>
                      <a:gd name="T6" fmla="*/ 11 w 428"/>
                      <a:gd name="T7" fmla="*/ 12 h 532"/>
                      <a:gd name="T8" fmla="*/ 10 w 428"/>
                      <a:gd name="T9" fmla="*/ 13 h 532"/>
                      <a:gd name="T10" fmla="*/ 9 w 428"/>
                      <a:gd name="T11" fmla="*/ 14 h 532"/>
                      <a:gd name="T12" fmla="*/ 8 w 428"/>
                      <a:gd name="T13" fmla="*/ 15 h 532"/>
                      <a:gd name="T14" fmla="*/ 7 w 428"/>
                      <a:gd name="T15" fmla="*/ 15 h 532"/>
                      <a:gd name="T16" fmla="*/ 6 w 428"/>
                      <a:gd name="T17" fmla="*/ 16 h 532"/>
                      <a:gd name="T18" fmla="*/ 4 w 428"/>
                      <a:gd name="T19" fmla="*/ 16 h 532"/>
                      <a:gd name="T20" fmla="*/ 3 w 428"/>
                      <a:gd name="T21" fmla="*/ 16 h 532"/>
                      <a:gd name="T22" fmla="*/ 2 w 428"/>
                      <a:gd name="T23" fmla="*/ 17 h 532"/>
                      <a:gd name="T24" fmla="*/ 0 w 428"/>
                      <a:gd name="T25" fmla="*/ 16 h 532"/>
                      <a:gd name="T26" fmla="*/ 1 w 428"/>
                      <a:gd name="T27" fmla="*/ 17 h 532"/>
                      <a:gd name="T28" fmla="*/ 2 w 428"/>
                      <a:gd name="T29" fmla="*/ 17 h 532"/>
                      <a:gd name="T30" fmla="*/ 3 w 428"/>
                      <a:gd name="T31" fmla="*/ 17 h 532"/>
                      <a:gd name="T32" fmla="*/ 4 w 428"/>
                      <a:gd name="T33" fmla="*/ 17 h 532"/>
                      <a:gd name="T34" fmla="*/ 5 w 428"/>
                      <a:gd name="T35" fmla="*/ 17 h 532"/>
                      <a:gd name="T36" fmla="*/ 6 w 428"/>
                      <a:gd name="T37" fmla="*/ 17 h 532"/>
                      <a:gd name="T38" fmla="*/ 7 w 428"/>
                      <a:gd name="T39" fmla="*/ 17 h 532"/>
                      <a:gd name="T40" fmla="*/ 8 w 428"/>
                      <a:gd name="T41" fmla="*/ 16 h 532"/>
                      <a:gd name="T42" fmla="*/ 9 w 428"/>
                      <a:gd name="T43" fmla="*/ 16 h 532"/>
                      <a:gd name="T44" fmla="*/ 10 w 428"/>
                      <a:gd name="T45" fmla="*/ 16 h 532"/>
                      <a:gd name="T46" fmla="*/ 11 w 428"/>
                      <a:gd name="T47" fmla="*/ 15 h 532"/>
                      <a:gd name="T48" fmla="*/ 11 w 428"/>
                      <a:gd name="T49" fmla="*/ 15 h 532"/>
                      <a:gd name="T50" fmla="*/ 12 w 428"/>
                      <a:gd name="T51" fmla="*/ 14 h 532"/>
                      <a:gd name="T52" fmla="*/ 12 w 428"/>
                      <a:gd name="T53" fmla="*/ 13 h 532"/>
                      <a:gd name="T54" fmla="*/ 12 w 428"/>
                      <a:gd name="T55" fmla="*/ 12 h 532"/>
                      <a:gd name="T56" fmla="*/ 14 w 428"/>
                      <a:gd name="T57" fmla="*/ 0 h 5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28" h="532">
                        <a:moveTo>
                          <a:pt x="428" y="0"/>
                        </a:moveTo>
                        <a:lnTo>
                          <a:pt x="411" y="16"/>
                        </a:lnTo>
                        <a:lnTo>
                          <a:pt x="339" y="345"/>
                        </a:lnTo>
                        <a:lnTo>
                          <a:pt x="326" y="377"/>
                        </a:lnTo>
                        <a:lnTo>
                          <a:pt x="304" y="405"/>
                        </a:lnTo>
                        <a:lnTo>
                          <a:pt x="272" y="430"/>
                        </a:lnTo>
                        <a:lnTo>
                          <a:pt x="241" y="449"/>
                        </a:lnTo>
                        <a:lnTo>
                          <a:pt x="206" y="468"/>
                        </a:lnTo>
                        <a:lnTo>
                          <a:pt x="169" y="483"/>
                        </a:lnTo>
                        <a:lnTo>
                          <a:pt x="128" y="498"/>
                        </a:lnTo>
                        <a:lnTo>
                          <a:pt x="93" y="506"/>
                        </a:lnTo>
                        <a:lnTo>
                          <a:pt x="51" y="513"/>
                        </a:lnTo>
                        <a:lnTo>
                          <a:pt x="0" y="510"/>
                        </a:lnTo>
                        <a:lnTo>
                          <a:pt x="8" y="529"/>
                        </a:lnTo>
                        <a:lnTo>
                          <a:pt x="43" y="532"/>
                        </a:lnTo>
                        <a:lnTo>
                          <a:pt x="67" y="532"/>
                        </a:lnTo>
                        <a:lnTo>
                          <a:pt x="105" y="529"/>
                        </a:lnTo>
                        <a:lnTo>
                          <a:pt x="136" y="527"/>
                        </a:lnTo>
                        <a:lnTo>
                          <a:pt x="178" y="520"/>
                        </a:lnTo>
                        <a:lnTo>
                          <a:pt x="211" y="514"/>
                        </a:lnTo>
                        <a:lnTo>
                          <a:pt x="248" y="502"/>
                        </a:lnTo>
                        <a:lnTo>
                          <a:pt x="269" y="496"/>
                        </a:lnTo>
                        <a:lnTo>
                          <a:pt x="301" y="483"/>
                        </a:lnTo>
                        <a:lnTo>
                          <a:pt x="335" y="461"/>
                        </a:lnTo>
                        <a:lnTo>
                          <a:pt x="345" y="449"/>
                        </a:lnTo>
                        <a:lnTo>
                          <a:pt x="354" y="433"/>
                        </a:lnTo>
                        <a:lnTo>
                          <a:pt x="363" y="400"/>
                        </a:lnTo>
                        <a:lnTo>
                          <a:pt x="370" y="367"/>
                        </a:lnTo>
                        <a:lnTo>
                          <a:pt x="4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4" name="Group 75">
                  <a:extLst>
                    <a:ext uri="{FF2B5EF4-FFF2-40B4-BE49-F238E27FC236}">
                      <a16:creationId xmlns:a16="http://schemas.microsoft.com/office/drawing/2014/main" id="{C469A673-3C6B-C651-D7BA-C4A20617387A}"/>
                    </a:ext>
                  </a:extLst>
                </p:cNvPr>
                <p:cNvGrpSpPr>
                  <a:grpSpLocks/>
                </p:cNvGrpSpPr>
                <p:nvPr/>
              </p:nvGrpSpPr>
              <p:grpSpPr bwMode="auto">
                <a:xfrm rot="5400000">
                  <a:off x="514" y="2194"/>
                  <a:ext cx="180" cy="133"/>
                  <a:chOff x="1980" y="3263"/>
                  <a:chExt cx="358" cy="337"/>
                </a:xfrm>
              </p:grpSpPr>
              <p:grpSp>
                <p:nvGrpSpPr>
                  <p:cNvPr id="47" name="Group 76">
                    <a:extLst>
                      <a:ext uri="{FF2B5EF4-FFF2-40B4-BE49-F238E27FC236}">
                        <a16:creationId xmlns:a16="http://schemas.microsoft.com/office/drawing/2014/main" id="{DECA4CD1-C301-7F33-6605-EFABE6AFA688}"/>
                      </a:ext>
                    </a:extLst>
                  </p:cNvPr>
                  <p:cNvGrpSpPr>
                    <a:grpSpLocks/>
                  </p:cNvGrpSpPr>
                  <p:nvPr/>
                </p:nvGrpSpPr>
                <p:grpSpPr bwMode="auto">
                  <a:xfrm>
                    <a:off x="2070" y="3523"/>
                    <a:ext cx="195" cy="77"/>
                    <a:chOff x="2070" y="3523"/>
                    <a:chExt cx="195" cy="77"/>
                  </a:xfrm>
                </p:grpSpPr>
                <p:sp>
                  <p:nvSpPr>
                    <p:cNvPr id="56" name="Freeform 77">
                      <a:extLst>
                        <a:ext uri="{FF2B5EF4-FFF2-40B4-BE49-F238E27FC236}">
                          <a16:creationId xmlns:a16="http://schemas.microsoft.com/office/drawing/2014/main" id="{DFD03BF2-6C4B-F6E0-8C02-BF0D9793112E}"/>
                        </a:ext>
                      </a:extLst>
                    </p:cNvPr>
                    <p:cNvSpPr>
                      <a:spLocks/>
                    </p:cNvSpPr>
                    <p:nvPr/>
                  </p:nvSpPr>
                  <p:spPr bwMode="auto">
                    <a:xfrm>
                      <a:off x="2070" y="3523"/>
                      <a:ext cx="195" cy="77"/>
                    </a:xfrm>
                    <a:custGeom>
                      <a:avLst/>
                      <a:gdLst>
                        <a:gd name="T0" fmla="*/ 0 w 391"/>
                        <a:gd name="T1" fmla="*/ 0 h 155"/>
                        <a:gd name="T2" fmla="*/ 2 w 391"/>
                        <a:gd name="T3" fmla="*/ 3 h 155"/>
                        <a:gd name="T4" fmla="*/ 2 w 391"/>
                        <a:gd name="T5" fmla="*/ 4 h 155"/>
                        <a:gd name="T6" fmla="*/ 2 w 391"/>
                        <a:gd name="T7" fmla="*/ 4 h 155"/>
                        <a:gd name="T8" fmla="*/ 3 w 391"/>
                        <a:gd name="T9" fmla="*/ 4 h 155"/>
                        <a:gd name="T10" fmla="*/ 3 w 391"/>
                        <a:gd name="T11" fmla="*/ 4 h 155"/>
                        <a:gd name="T12" fmla="*/ 4 w 391"/>
                        <a:gd name="T13" fmla="*/ 4 h 155"/>
                        <a:gd name="T14" fmla="*/ 4 w 391"/>
                        <a:gd name="T15" fmla="*/ 4 h 155"/>
                        <a:gd name="T16" fmla="*/ 5 w 391"/>
                        <a:gd name="T17" fmla="*/ 4 h 155"/>
                        <a:gd name="T18" fmla="*/ 5 w 391"/>
                        <a:gd name="T19" fmla="*/ 4 h 155"/>
                        <a:gd name="T20" fmla="*/ 5 w 391"/>
                        <a:gd name="T21" fmla="*/ 4 h 155"/>
                        <a:gd name="T22" fmla="*/ 6 w 391"/>
                        <a:gd name="T23" fmla="*/ 4 h 155"/>
                        <a:gd name="T24" fmla="*/ 6 w 391"/>
                        <a:gd name="T25" fmla="*/ 4 h 155"/>
                        <a:gd name="T26" fmla="*/ 7 w 391"/>
                        <a:gd name="T27" fmla="*/ 4 h 155"/>
                        <a:gd name="T28" fmla="*/ 7 w 391"/>
                        <a:gd name="T29" fmla="*/ 4 h 155"/>
                        <a:gd name="T30" fmla="*/ 8 w 391"/>
                        <a:gd name="T31" fmla="*/ 4 h 155"/>
                        <a:gd name="T32" fmla="*/ 8 w 391"/>
                        <a:gd name="T33" fmla="*/ 4 h 155"/>
                        <a:gd name="T34" fmla="*/ 8 w 391"/>
                        <a:gd name="T35" fmla="*/ 4 h 155"/>
                        <a:gd name="T36" fmla="*/ 9 w 391"/>
                        <a:gd name="T37" fmla="*/ 4 h 155"/>
                        <a:gd name="T38" fmla="*/ 9 w 391"/>
                        <a:gd name="T39" fmla="*/ 4 h 155"/>
                        <a:gd name="T40" fmla="*/ 9 w 391"/>
                        <a:gd name="T41" fmla="*/ 3 h 155"/>
                        <a:gd name="T42" fmla="*/ 9 w 391"/>
                        <a:gd name="T43" fmla="*/ 3 h 155"/>
                        <a:gd name="T44" fmla="*/ 12 w 391"/>
                        <a:gd name="T45" fmla="*/ 0 h 155"/>
                        <a:gd name="T46" fmla="*/ 0 w 391"/>
                        <a:gd name="T47" fmla="*/ 0 h 15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91" h="155">
                          <a:moveTo>
                            <a:pt x="0" y="0"/>
                          </a:moveTo>
                          <a:lnTo>
                            <a:pt x="79" y="123"/>
                          </a:lnTo>
                          <a:lnTo>
                            <a:pt x="86" y="130"/>
                          </a:lnTo>
                          <a:lnTo>
                            <a:pt x="95" y="136"/>
                          </a:lnTo>
                          <a:lnTo>
                            <a:pt x="107" y="140"/>
                          </a:lnTo>
                          <a:lnTo>
                            <a:pt x="120" y="146"/>
                          </a:lnTo>
                          <a:lnTo>
                            <a:pt x="136" y="149"/>
                          </a:lnTo>
                          <a:lnTo>
                            <a:pt x="148" y="150"/>
                          </a:lnTo>
                          <a:lnTo>
                            <a:pt x="161" y="152"/>
                          </a:lnTo>
                          <a:lnTo>
                            <a:pt x="174" y="153"/>
                          </a:lnTo>
                          <a:lnTo>
                            <a:pt x="191" y="155"/>
                          </a:lnTo>
                          <a:lnTo>
                            <a:pt x="202" y="155"/>
                          </a:lnTo>
                          <a:lnTo>
                            <a:pt x="218" y="153"/>
                          </a:lnTo>
                          <a:lnTo>
                            <a:pt x="232" y="152"/>
                          </a:lnTo>
                          <a:lnTo>
                            <a:pt x="247" y="150"/>
                          </a:lnTo>
                          <a:lnTo>
                            <a:pt x="260" y="149"/>
                          </a:lnTo>
                          <a:lnTo>
                            <a:pt x="274" y="145"/>
                          </a:lnTo>
                          <a:lnTo>
                            <a:pt x="287" y="142"/>
                          </a:lnTo>
                          <a:lnTo>
                            <a:pt x="298" y="136"/>
                          </a:lnTo>
                          <a:lnTo>
                            <a:pt x="308" y="129"/>
                          </a:lnTo>
                          <a:lnTo>
                            <a:pt x="312" y="125"/>
                          </a:lnTo>
                          <a:lnTo>
                            <a:pt x="318" y="119"/>
                          </a:lnTo>
                          <a:lnTo>
                            <a:pt x="39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 name="Freeform 78">
                      <a:extLst>
                        <a:ext uri="{FF2B5EF4-FFF2-40B4-BE49-F238E27FC236}">
                          <a16:creationId xmlns:a16="http://schemas.microsoft.com/office/drawing/2014/main" id="{9402B63D-BFF2-4164-A75D-7B69BDDDA18A}"/>
                        </a:ext>
                      </a:extLst>
                    </p:cNvPr>
                    <p:cNvSpPr>
                      <a:spLocks/>
                    </p:cNvSpPr>
                    <p:nvPr/>
                  </p:nvSpPr>
                  <p:spPr bwMode="auto">
                    <a:xfrm>
                      <a:off x="2100" y="3523"/>
                      <a:ext cx="87" cy="77"/>
                    </a:xfrm>
                    <a:custGeom>
                      <a:avLst/>
                      <a:gdLst>
                        <a:gd name="T0" fmla="*/ 0 w 174"/>
                        <a:gd name="T1" fmla="*/ 0 h 155"/>
                        <a:gd name="T2" fmla="*/ 2 w 174"/>
                        <a:gd name="T3" fmla="*/ 4 h 155"/>
                        <a:gd name="T4" fmla="*/ 2 w 174"/>
                        <a:gd name="T5" fmla="*/ 4 h 155"/>
                        <a:gd name="T6" fmla="*/ 3 w 174"/>
                        <a:gd name="T7" fmla="*/ 4 h 155"/>
                        <a:gd name="T8" fmla="*/ 3 w 174"/>
                        <a:gd name="T9" fmla="*/ 4 h 155"/>
                        <a:gd name="T10" fmla="*/ 4 w 174"/>
                        <a:gd name="T11" fmla="*/ 4 h 155"/>
                        <a:gd name="T12" fmla="*/ 4 w 174"/>
                        <a:gd name="T13" fmla="*/ 4 h 155"/>
                        <a:gd name="T14" fmla="*/ 5 w 174"/>
                        <a:gd name="T15" fmla="*/ 4 h 155"/>
                        <a:gd name="T16" fmla="*/ 5 w 174"/>
                        <a:gd name="T17" fmla="*/ 4 h 155"/>
                        <a:gd name="T18" fmla="*/ 5 w 174"/>
                        <a:gd name="T19" fmla="*/ 4 h 155"/>
                        <a:gd name="T20" fmla="*/ 6 w 174"/>
                        <a:gd name="T21" fmla="*/ 0 h 155"/>
                        <a:gd name="T22" fmla="*/ 0 w 174"/>
                        <a:gd name="T23" fmla="*/ 0 h 1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4" h="155">
                          <a:moveTo>
                            <a:pt x="0" y="0"/>
                          </a:moveTo>
                          <a:lnTo>
                            <a:pt x="48" y="140"/>
                          </a:lnTo>
                          <a:lnTo>
                            <a:pt x="58" y="146"/>
                          </a:lnTo>
                          <a:lnTo>
                            <a:pt x="74" y="149"/>
                          </a:lnTo>
                          <a:lnTo>
                            <a:pt x="86" y="150"/>
                          </a:lnTo>
                          <a:lnTo>
                            <a:pt x="99" y="152"/>
                          </a:lnTo>
                          <a:lnTo>
                            <a:pt x="112" y="153"/>
                          </a:lnTo>
                          <a:lnTo>
                            <a:pt x="129" y="155"/>
                          </a:lnTo>
                          <a:lnTo>
                            <a:pt x="140" y="155"/>
                          </a:lnTo>
                          <a:lnTo>
                            <a:pt x="156" y="153"/>
                          </a:lnTo>
                          <a:lnTo>
                            <a:pt x="174" y="0"/>
                          </a:lnTo>
                          <a:lnTo>
                            <a:pt x="0" y="0"/>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48" name="Group 79">
                    <a:extLst>
                      <a:ext uri="{FF2B5EF4-FFF2-40B4-BE49-F238E27FC236}">
                        <a16:creationId xmlns:a16="http://schemas.microsoft.com/office/drawing/2014/main" id="{B51EE226-C166-F09D-228E-48045980A169}"/>
                      </a:ext>
                    </a:extLst>
                  </p:cNvPr>
                  <p:cNvGrpSpPr>
                    <a:grpSpLocks/>
                  </p:cNvGrpSpPr>
                  <p:nvPr/>
                </p:nvGrpSpPr>
                <p:grpSpPr bwMode="auto">
                  <a:xfrm>
                    <a:off x="1980" y="3263"/>
                    <a:ext cx="358" cy="281"/>
                    <a:chOff x="1980" y="3263"/>
                    <a:chExt cx="358" cy="281"/>
                  </a:xfrm>
                </p:grpSpPr>
                <p:sp>
                  <p:nvSpPr>
                    <p:cNvPr id="49" name="Freeform 80">
                      <a:extLst>
                        <a:ext uri="{FF2B5EF4-FFF2-40B4-BE49-F238E27FC236}">
                          <a16:creationId xmlns:a16="http://schemas.microsoft.com/office/drawing/2014/main" id="{F1578809-A0D0-FB48-5EBA-3B27C497A45D}"/>
                        </a:ext>
                      </a:extLst>
                    </p:cNvPr>
                    <p:cNvSpPr>
                      <a:spLocks/>
                    </p:cNvSpPr>
                    <p:nvPr/>
                  </p:nvSpPr>
                  <p:spPr bwMode="auto">
                    <a:xfrm>
                      <a:off x="1980" y="3263"/>
                      <a:ext cx="358" cy="281"/>
                    </a:xfrm>
                    <a:custGeom>
                      <a:avLst/>
                      <a:gdLst>
                        <a:gd name="T0" fmla="*/ 1 w 716"/>
                        <a:gd name="T1" fmla="*/ 1 h 561"/>
                        <a:gd name="T2" fmla="*/ 1 w 716"/>
                        <a:gd name="T3" fmla="*/ 1 h 561"/>
                        <a:gd name="T4" fmla="*/ 1 w 716"/>
                        <a:gd name="T5" fmla="*/ 2 h 561"/>
                        <a:gd name="T6" fmla="*/ 1 w 716"/>
                        <a:gd name="T7" fmla="*/ 3 h 561"/>
                        <a:gd name="T8" fmla="*/ 1 w 716"/>
                        <a:gd name="T9" fmla="*/ 4 h 561"/>
                        <a:gd name="T10" fmla="*/ 1 w 716"/>
                        <a:gd name="T11" fmla="*/ 4 h 561"/>
                        <a:gd name="T12" fmla="*/ 1 w 716"/>
                        <a:gd name="T13" fmla="*/ 5 h 561"/>
                        <a:gd name="T14" fmla="*/ 1 w 716"/>
                        <a:gd name="T15" fmla="*/ 5 h 561"/>
                        <a:gd name="T16" fmla="*/ 1 w 716"/>
                        <a:gd name="T17" fmla="*/ 6 h 561"/>
                        <a:gd name="T18" fmla="*/ 1 w 716"/>
                        <a:gd name="T19" fmla="*/ 6 h 561"/>
                        <a:gd name="T20" fmla="*/ 1 w 716"/>
                        <a:gd name="T21" fmla="*/ 7 h 561"/>
                        <a:gd name="T22" fmla="*/ 1 w 716"/>
                        <a:gd name="T23" fmla="*/ 7 h 561"/>
                        <a:gd name="T24" fmla="*/ 1 w 716"/>
                        <a:gd name="T25" fmla="*/ 8 h 561"/>
                        <a:gd name="T26" fmla="*/ 1 w 716"/>
                        <a:gd name="T27" fmla="*/ 8 h 561"/>
                        <a:gd name="T28" fmla="*/ 0 w 716"/>
                        <a:gd name="T29" fmla="*/ 9 h 561"/>
                        <a:gd name="T30" fmla="*/ 1 w 716"/>
                        <a:gd name="T31" fmla="*/ 10 h 561"/>
                        <a:gd name="T32" fmla="*/ 1 w 716"/>
                        <a:gd name="T33" fmla="*/ 10 h 561"/>
                        <a:gd name="T34" fmla="*/ 1 w 716"/>
                        <a:gd name="T35" fmla="*/ 11 h 561"/>
                        <a:gd name="T36" fmla="*/ 1 w 716"/>
                        <a:gd name="T37" fmla="*/ 12 h 561"/>
                        <a:gd name="T38" fmla="*/ 1 w 716"/>
                        <a:gd name="T39" fmla="*/ 12 h 561"/>
                        <a:gd name="T40" fmla="*/ 2 w 716"/>
                        <a:gd name="T41" fmla="*/ 13 h 561"/>
                        <a:gd name="T42" fmla="*/ 3 w 716"/>
                        <a:gd name="T43" fmla="*/ 14 h 561"/>
                        <a:gd name="T44" fmla="*/ 5 w 716"/>
                        <a:gd name="T45" fmla="*/ 16 h 561"/>
                        <a:gd name="T46" fmla="*/ 6 w 716"/>
                        <a:gd name="T47" fmla="*/ 17 h 561"/>
                        <a:gd name="T48" fmla="*/ 8 w 716"/>
                        <a:gd name="T49" fmla="*/ 18 h 561"/>
                        <a:gd name="T50" fmla="*/ 10 w 716"/>
                        <a:gd name="T51" fmla="*/ 18 h 561"/>
                        <a:gd name="T52" fmla="*/ 13 w 716"/>
                        <a:gd name="T53" fmla="*/ 18 h 561"/>
                        <a:gd name="T54" fmla="*/ 16 w 716"/>
                        <a:gd name="T55" fmla="*/ 18 h 561"/>
                        <a:gd name="T56" fmla="*/ 18 w 716"/>
                        <a:gd name="T57" fmla="*/ 17 h 561"/>
                        <a:gd name="T58" fmla="*/ 19 w 716"/>
                        <a:gd name="T59" fmla="*/ 17 h 561"/>
                        <a:gd name="T60" fmla="*/ 20 w 716"/>
                        <a:gd name="T61" fmla="*/ 16 h 561"/>
                        <a:gd name="T62" fmla="*/ 22 w 716"/>
                        <a:gd name="T63" fmla="*/ 13 h 561"/>
                        <a:gd name="T64" fmla="*/ 22 w 716"/>
                        <a:gd name="T65" fmla="*/ 11 h 561"/>
                        <a:gd name="T66" fmla="*/ 22 w 716"/>
                        <a:gd name="T67" fmla="*/ 11 h 561"/>
                        <a:gd name="T68" fmla="*/ 22 w 716"/>
                        <a:gd name="T69" fmla="*/ 10 h 561"/>
                        <a:gd name="T70" fmla="*/ 22 w 716"/>
                        <a:gd name="T71" fmla="*/ 10 h 561"/>
                        <a:gd name="T72" fmla="*/ 22 w 716"/>
                        <a:gd name="T73" fmla="*/ 9 h 561"/>
                        <a:gd name="T74" fmla="*/ 23 w 716"/>
                        <a:gd name="T75" fmla="*/ 9 h 561"/>
                        <a:gd name="T76" fmla="*/ 23 w 716"/>
                        <a:gd name="T77" fmla="*/ 8 h 561"/>
                        <a:gd name="T78" fmla="*/ 23 w 716"/>
                        <a:gd name="T79" fmla="*/ 8 h 561"/>
                        <a:gd name="T80" fmla="*/ 22 w 716"/>
                        <a:gd name="T81" fmla="*/ 7 h 561"/>
                        <a:gd name="T82" fmla="*/ 22 w 716"/>
                        <a:gd name="T83" fmla="*/ 7 h 561"/>
                        <a:gd name="T84" fmla="*/ 23 w 716"/>
                        <a:gd name="T85" fmla="*/ 6 h 561"/>
                        <a:gd name="T86" fmla="*/ 23 w 716"/>
                        <a:gd name="T87" fmla="*/ 5 h 561"/>
                        <a:gd name="T88" fmla="*/ 22 w 716"/>
                        <a:gd name="T89" fmla="*/ 5 h 561"/>
                        <a:gd name="T90" fmla="*/ 22 w 716"/>
                        <a:gd name="T91" fmla="*/ 4 h 561"/>
                        <a:gd name="T92" fmla="*/ 22 w 716"/>
                        <a:gd name="T93" fmla="*/ 4 h 561"/>
                        <a:gd name="T94" fmla="*/ 23 w 716"/>
                        <a:gd name="T95" fmla="*/ 3 h 561"/>
                        <a:gd name="T96" fmla="*/ 23 w 716"/>
                        <a:gd name="T97" fmla="*/ 3 h 561"/>
                        <a:gd name="T98" fmla="*/ 23 w 716"/>
                        <a:gd name="T99" fmla="*/ 2 h 561"/>
                        <a:gd name="T100" fmla="*/ 22 w 716"/>
                        <a:gd name="T101" fmla="*/ 1 h 561"/>
                        <a:gd name="T102" fmla="*/ 22 w 716"/>
                        <a:gd name="T103" fmla="*/ 1 h 561"/>
                        <a:gd name="T104" fmla="*/ 1 w 716"/>
                        <a:gd name="T105" fmla="*/ 0 h 561"/>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716" h="561">
                          <a:moveTo>
                            <a:pt x="20" y="0"/>
                          </a:moveTo>
                          <a:lnTo>
                            <a:pt x="16" y="15"/>
                          </a:lnTo>
                          <a:lnTo>
                            <a:pt x="17" y="22"/>
                          </a:lnTo>
                          <a:lnTo>
                            <a:pt x="19" y="29"/>
                          </a:lnTo>
                          <a:lnTo>
                            <a:pt x="20" y="46"/>
                          </a:lnTo>
                          <a:lnTo>
                            <a:pt x="17" y="57"/>
                          </a:lnTo>
                          <a:lnTo>
                            <a:pt x="13" y="67"/>
                          </a:lnTo>
                          <a:lnTo>
                            <a:pt x="9" y="74"/>
                          </a:lnTo>
                          <a:lnTo>
                            <a:pt x="4" y="88"/>
                          </a:lnTo>
                          <a:lnTo>
                            <a:pt x="4" y="98"/>
                          </a:lnTo>
                          <a:lnTo>
                            <a:pt x="9" y="107"/>
                          </a:lnTo>
                          <a:lnTo>
                            <a:pt x="13" y="116"/>
                          </a:lnTo>
                          <a:lnTo>
                            <a:pt x="22" y="127"/>
                          </a:lnTo>
                          <a:lnTo>
                            <a:pt x="26" y="137"/>
                          </a:lnTo>
                          <a:lnTo>
                            <a:pt x="26" y="144"/>
                          </a:lnTo>
                          <a:lnTo>
                            <a:pt x="23" y="152"/>
                          </a:lnTo>
                          <a:lnTo>
                            <a:pt x="16" y="160"/>
                          </a:lnTo>
                          <a:lnTo>
                            <a:pt x="10" y="169"/>
                          </a:lnTo>
                          <a:lnTo>
                            <a:pt x="6" y="176"/>
                          </a:lnTo>
                          <a:lnTo>
                            <a:pt x="4" y="184"/>
                          </a:lnTo>
                          <a:lnTo>
                            <a:pt x="9" y="193"/>
                          </a:lnTo>
                          <a:lnTo>
                            <a:pt x="14" y="203"/>
                          </a:lnTo>
                          <a:lnTo>
                            <a:pt x="20" y="210"/>
                          </a:lnTo>
                          <a:lnTo>
                            <a:pt x="23" y="217"/>
                          </a:lnTo>
                          <a:lnTo>
                            <a:pt x="26" y="225"/>
                          </a:lnTo>
                          <a:lnTo>
                            <a:pt x="23" y="235"/>
                          </a:lnTo>
                          <a:lnTo>
                            <a:pt x="16" y="245"/>
                          </a:lnTo>
                          <a:lnTo>
                            <a:pt x="9" y="252"/>
                          </a:lnTo>
                          <a:lnTo>
                            <a:pt x="1" y="263"/>
                          </a:lnTo>
                          <a:lnTo>
                            <a:pt x="0" y="272"/>
                          </a:lnTo>
                          <a:lnTo>
                            <a:pt x="3" y="283"/>
                          </a:lnTo>
                          <a:lnTo>
                            <a:pt x="10" y="291"/>
                          </a:lnTo>
                          <a:lnTo>
                            <a:pt x="17" y="299"/>
                          </a:lnTo>
                          <a:lnTo>
                            <a:pt x="25" y="309"/>
                          </a:lnTo>
                          <a:lnTo>
                            <a:pt x="29" y="324"/>
                          </a:lnTo>
                          <a:lnTo>
                            <a:pt x="25" y="337"/>
                          </a:lnTo>
                          <a:lnTo>
                            <a:pt x="17" y="347"/>
                          </a:lnTo>
                          <a:lnTo>
                            <a:pt x="14" y="355"/>
                          </a:lnTo>
                          <a:lnTo>
                            <a:pt x="14" y="365"/>
                          </a:lnTo>
                          <a:lnTo>
                            <a:pt x="16" y="370"/>
                          </a:lnTo>
                          <a:lnTo>
                            <a:pt x="22" y="378"/>
                          </a:lnTo>
                          <a:lnTo>
                            <a:pt x="33" y="390"/>
                          </a:lnTo>
                          <a:lnTo>
                            <a:pt x="50" y="413"/>
                          </a:lnTo>
                          <a:lnTo>
                            <a:pt x="84" y="448"/>
                          </a:lnTo>
                          <a:lnTo>
                            <a:pt x="112" y="476"/>
                          </a:lnTo>
                          <a:lnTo>
                            <a:pt x="130" y="492"/>
                          </a:lnTo>
                          <a:lnTo>
                            <a:pt x="148" y="503"/>
                          </a:lnTo>
                          <a:lnTo>
                            <a:pt x="170" y="516"/>
                          </a:lnTo>
                          <a:lnTo>
                            <a:pt x="200" y="533"/>
                          </a:lnTo>
                          <a:lnTo>
                            <a:pt x="245" y="548"/>
                          </a:lnTo>
                          <a:lnTo>
                            <a:pt x="279" y="555"/>
                          </a:lnTo>
                          <a:lnTo>
                            <a:pt x="314" y="559"/>
                          </a:lnTo>
                          <a:lnTo>
                            <a:pt x="361" y="561"/>
                          </a:lnTo>
                          <a:lnTo>
                            <a:pt x="410" y="559"/>
                          </a:lnTo>
                          <a:lnTo>
                            <a:pt x="453" y="558"/>
                          </a:lnTo>
                          <a:lnTo>
                            <a:pt x="490" y="552"/>
                          </a:lnTo>
                          <a:lnTo>
                            <a:pt x="522" y="545"/>
                          </a:lnTo>
                          <a:lnTo>
                            <a:pt x="546" y="536"/>
                          </a:lnTo>
                          <a:lnTo>
                            <a:pt x="567" y="525"/>
                          </a:lnTo>
                          <a:lnTo>
                            <a:pt x="583" y="515"/>
                          </a:lnTo>
                          <a:lnTo>
                            <a:pt x="596" y="506"/>
                          </a:lnTo>
                          <a:lnTo>
                            <a:pt x="610" y="492"/>
                          </a:lnTo>
                          <a:lnTo>
                            <a:pt x="653" y="434"/>
                          </a:lnTo>
                          <a:lnTo>
                            <a:pt x="685" y="385"/>
                          </a:lnTo>
                          <a:lnTo>
                            <a:pt x="698" y="360"/>
                          </a:lnTo>
                          <a:lnTo>
                            <a:pt x="701" y="350"/>
                          </a:lnTo>
                          <a:lnTo>
                            <a:pt x="702" y="342"/>
                          </a:lnTo>
                          <a:lnTo>
                            <a:pt x="702" y="334"/>
                          </a:lnTo>
                          <a:lnTo>
                            <a:pt x="696" y="324"/>
                          </a:lnTo>
                          <a:lnTo>
                            <a:pt x="692" y="317"/>
                          </a:lnTo>
                          <a:lnTo>
                            <a:pt x="690" y="308"/>
                          </a:lnTo>
                          <a:lnTo>
                            <a:pt x="692" y="298"/>
                          </a:lnTo>
                          <a:lnTo>
                            <a:pt x="696" y="291"/>
                          </a:lnTo>
                          <a:lnTo>
                            <a:pt x="701" y="283"/>
                          </a:lnTo>
                          <a:lnTo>
                            <a:pt x="706" y="275"/>
                          </a:lnTo>
                          <a:lnTo>
                            <a:pt x="712" y="266"/>
                          </a:lnTo>
                          <a:lnTo>
                            <a:pt x="716" y="258"/>
                          </a:lnTo>
                          <a:lnTo>
                            <a:pt x="715" y="247"/>
                          </a:lnTo>
                          <a:lnTo>
                            <a:pt x="711" y="238"/>
                          </a:lnTo>
                          <a:lnTo>
                            <a:pt x="706" y="230"/>
                          </a:lnTo>
                          <a:lnTo>
                            <a:pt x="701" y="223"/>
                          </a:lnTo>
                          <a:lnTo>
                            <a:pt x="695" y="215"/>
                          </a:lnTo>
                          <a:lnTo>
                            <a:pt x="693" y="206"/>
                          </a:lnTo>
                          <a:lnTo>
                            <a:pt x="695" y="198"/>
                          </a:lnTo>
                          <a:lnTo>
                            <a:pt x="702" y="187"/>
                          </a:lnTo>
                          <a:lnTo>
                            <a:pt x="709" y="179"/>
                          </a:lnTo>
                          <a:lnTo>
                            <a:pt x="712" y="170"/>
                          </a:lnTo>
                          <a:lnTo>
                            <a:pt x="712" y="157"/>
                          </a:lnTo>
                          <a:lnTo>
                            <a:pt x="708" y="146"/>
                          </a:lnTo>
                          <a:lnTo>
                            <a:pt x="701" y="137"/>
                          </a:lnTo>
                          <a:lnTo>
                            <a:pt x="698" y="131"/>
                          </a:lnTo>
                          <a:lnTo>
                            <a:pt x="695" y="121"/>
                          </a:lnTo>
                          <a:lnTo>
                            <a:pt x="696" y="110"/>
                          </a:lnTo>
                          <a:lnTo>
                            <a:pt x="702" y="101"/>
                          </a:lnTo>
                          <a:lnTo>
                            <a:pt x="706" y="95"/>
                          </a:lnTo>
                          <a:lnTo>
                            <a:pt x="712" y="88"/>
                          </a:lnTo>
                          <a:lnTo>
                            <a:pt x="715" y="79"/>
                          </a:lnTo>
                          <a:lnTo>
                            <a:pt x="716" y="68"/>
                          </a:lnTo>
                          <a:lnTo>
                            <a:pt x="714" y="62"/>
                          </a:lnTo>
                          <a:lnTo>
                            <a:pt x="708" y="52"/>
                          </a:lnTo>
                          <a:lnTo>
                            <a:pt x="702" y="44"/>
                          </a:lnTo>
                          <a:lnTo>
                            <a:pt x="698" y="32"/>
                          </a:lnTo>
                          <a:lnTo>
                            <a:pt x="698" y="22"/>
                          </a:lnTo>
                          <a:lnTo>
                            <a:pt x="701" y="14"/>
                          </a:lnTo>
                          <a:lnTo>
                            <a:pt x="699" y="0"/>
                          </a:lnTo>
                          <a:lnTo>
                            <a:pt x="20"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Freeform 81">
                      <a:extLst>
                        <a:ext uri="{FF2B5EF4-FFF2-40B4-BE49-F238E27FC236}">
                          <a16:creationId xmlns:a16="http://schemas.microsoft.com/office/drawing/2014/main" id="{A28C0532-7369-60FD-CBAD-31F5895F037C}"/>
                        </a:ext>
                      </a:extLst>
                    </p:cNvPr>
                    <p:cNvSpPr>
                      <a:spLocks/>
                    </p:cNvSpPr>
                    <p:nvPr/>
                  </p:nvSpPr>
                  <p:spPr bwMode="auto">
                    <a:xfrm>
                      <a:off x="1982" y="3301"/>
                      <a:ext cx="44" cy="39"/>
                    </a:xfrm>
                    <a:custGeom>
                      <a:avLst/>
                      <a:gdLst>
                        <a:gd name="T0" fmla="*/ 0 w 89"/>
                        <a:gd name="T1" fmla="*/ 0 h 78"/>
                        <a:gd name="T2" fmla="*/ 0 w 89"/>
                        <a:gd name="T3" fmla="*/ 1 h 78"/>
                        <a:gd name="T4" fmla="*/ 0 w 89"/>
                        <a:gd name="T5" fmla="*/ 1 h 78"/>
                        <a:gd name="T6" fmla="*/ 1 w 89"/>
                        <a:gd name="T7" fmla="*/ 2 h 78"/>
                        <a:gd name="T8" fmla="*/ 1 w 89"/>
                        <a:gd name="T9" fmla="*/ 2 h 78"/>
                        <a:gd name="T10" fmla="*/ 2 w 89"/>
                        <a:gd name="T11" fmla="*/ 2 h 78"/>
                        <a:gd name="T12" fmla="*/ 2 w 89"/>
                        <a:gd name="T13" fmla="*/ 2 h 78"/>
                        <a:gd name="T14" fmla="*/ 2 w 89"/>
                        <a:gd name="T15" fmla="*/ 3 h 78"/>
                        <a:gd name="T16" fmla="*/ 1 w 89"/>
                        <a:gd name="T17" fmla="*/ 3 h 78"/>
                        <a:gd name="T18" fmla="*/ 1 w 89"/>
                        <a:gd name="T19" fmla="*/ 3 h 78"/>
                        <a:gd name="T20" fmla="*/ 0 w 89"/>
                        <a:gd name="T21" fmla="*/ 3 h 78"/>
                        <a:gd name="T22" fmla="*/ 0 w 89"/>
                        <a:gd name="T23" fmla="*/ 3 h 78"/>
                        <a:gd name="T24" fmla="*/ 0 w 89"/>
                        <a:gd name="T25" fmla="*/ 2 h 78"/>
                        <a:gd name="T26" fmla="*/ 0 w 89"/>
                        <a:gd name="T27" fmla="*/ 2 h 78"/>
                        <a:gd name="T28" fmla="*/ 0 w 89"/>
                        <a:gd name="T29" fmla="*/ 2 h 78"/>
                        <a:gd name="T30" fmla="*/ 0 w 89"/>
                        <a:gd name="T31" fmla="*/ 1 h 78"/>
                        <a:gd name="T32" fmla="*/ 0 w 89"/>
                        <a:gd name="T33" fmla="*/ 1 h 78"/>
                        <a:gd name="T34" fmla="*/ 0 w 89"/>
                        <a:gd name="T35" fmla="*/ 0 h 7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9" h="78">
                          <a:moveTo>
                            <a:pt x="5" y="0"/>
                          </a:moveTo>
                          <a:lnTo>
                            <a:pt x="10" y="11"/>
                          </a:lnTo>
                          <a:lnTo>
                            <a:pt x="19" y="21"/>
                          </a:lnTo>
                          <a:lnTo>
                            <a:pt x="35" y="34"/>
                          </a:lnTo>
                          <a:lnTo>
                            <a:pt x="53" y="46"/>
                          </a:lnTo>
                          <a:lnTo>
                            <a:pt x="72" y="53"/>
                          </a:lnTo>
                          <a:lnTo>
                            <a:pt x="89" y="57"/>
                          </a:lnTo>
                          <a:lnTo>
                            <a:pt x="82" y="70"/>
                          </a:lnTo>
                          <a:lnTo>
                            <a:pt x="59" y="67"/>
                          </a:lnTo>
                          <a:lnTo>
                            <a:pt x="35" y="69"/>
                          </a:lnTo>
                          <a:lnTo>
                            <a:pt x="19" y="78"/>
                          </a:lnTo>
                          <a:lnTo>
                            <a:pt x="22" y="70"/>
                          </a:lnTo>
                          <a:lnTo>
                            <a:pt x="21" y="62"/>
                          </a:lnTo>
                          <a:lnTo>
                            <a:pt x="16" y="50"/>
                          </a:lnTo>
                          <a:lnTo>
                            <a:pt x="9" y="39"/>
                          </a:lnTo>
                          <a:lnTo>
                            <a:pt x="2" y="27"/>
                          </a:lnTo>
                          <a:lnTo>
                            <a:pt x="0" y="14"/>
                          </a:lnTo>
                          <a:lnTo>
                            <a:pt x="5" y="0"/>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 name="Freeform 82">
                      <a:extLst>
                        <a:ext uri="{FF2B5EF4-FFF2-40B4-BE49-F238E27FC236}">
                          <a16:creationId xmlns:a16="http://schemas.microsoft.com/office/drawing/2014/main" id="{DBBA421D-35EB-0070-15B1-405F94D3260A}"/>
                        </a:ext>
                      </a:extLst>
                    </p:cNvPr>
                    <p:cNvSpPr>
                      <a:spLocks/>
                    </p:cNvSpPr>
                    <p:nvPr/>
                  </p:nvSpPr>
                  <p:spPr bwMode="auto">
                    <a:xfrm>
                      <a:off x="1983" y="3349"/>
                      <a:ext cx="58" cy="33"/>
                    </a:xfrm>
                    <a:custGeom>
                      <a:avLst/>
                      <a:gdLst>
                        <a:gd name="T0" fmla="*/ 0 w 117"/>
                        <a:gd name="T1" fmla="*/ 1 h 65"/>
                        <a:gd name="T2" fmla="*/ 0 w 117"/>
                        <a:gd name="T3" fmla="*/ 0 h 65"/>
                        <a:gd name="T4" fmla="*/ 0 w 117"/>
                        <a:gd name="T5" fmla="*/ 1 h 65"/>
                        <a:gd name="T6" fmla="*/ 0 w 117"/>
                        <a:gd name="T7" fmla="*/ 1 h 65"/>
                        <a:gd name="T8" fmla="*/ 1 w 117"/>
                        <a:gd name="T9" fmla="*/ 1 h 65"/>
                        <a:gd name="T10" fmla="*/ 1 w 117"/>
                        <a:gd name="T11" fmla="*/ 1 h 65"/>
                        <a:gd name="T12" fmla="*/ 2 w 117"/>
                        <a:gd name="T13" fmla="*/ 1 h 65"/>
                        <a:gd name="T14" fmla="*/ 3 w 117"/>
                        <a:gd name="T15" fmla="*/ 2 h 65"/>
                        <a:gd name="T16" fmla="*/ 3 w 117"/>
                        <a:gd name="T17" fmla="*/ 2 h 65"/>
                        <a:gd name="T18" fmla="*/ 2 w 117"/>
                        <a:gd name="T19" fmla="*/ 2 h 65"/>
                        <a:gd name="T20" fmla="*/ 1 w 117"/>
                        <a:gd name="T21" fmla="*/ 2 h 65"/>
                        <a:gd name="T22" fmla="*/ 1 w 117"/>
                        <a:gd name="T23" fmla="*/ 2 h 65"/>
                        <a:gd name="T24" fmla="*/ 0 w 117"/>
                        <a:gd name="T25" fmla="*/ 3 h 65"/>
                        <a:gd name="T26" fmla="*/ 0 w 117"/>
                        <a:gd name="T27" fmla="*/ 2 h 65"/>
                        <a:gd name="T28" fmla="*/ 0 w 117"/>
                        <a:gd name="T29" fmla="*/ 2 h 65"/>
                        <a:gd name="T30" fmla="*/ 0 w 117"/>
                        <a:gd name="T31" fmla="*/ 2 h 65"/>
                        <a:gd name="T32" fmla="*/ 0 w 117"/>
                        <a:gd name="T33" fmla="*/ 1 h 65"/>
                        <a:gd name="T34" fmla="*/ 0 w 117"/>
                        <a:gd name="T35" fmla="*/ 1 h 65"/>
                        <a:gd name="T36" fmla="*/ 0 w 117"/>
                        <a:gd name="T37" fmla="*/ 1 h 6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7" h="65">
                          <a:moveTo>
                            <a:pt x="0" y="8"/>
                          </a:moveTo>
                          <a:lnTo>
                            <a:pt x="3" y="0"/>
                          </a:lnTo>
                          <a:lnTo>
                            <a:pt x="7" y="8"/>
                          </a:lnTo>
                          <a:lnTo>
                            <a:pt x="16" y="12"/>
                          </a:lnTo>
                          <a:lnTo>
                            <a:pt x="33" y="19"/>
                          </a:lnTo>
                          <a:lnTo>
                            <a:pt x="50" y="24"/>
                          </a:lnTo>
                          <a:lnTo>
                            <a:pt x="77" y="30"/>
                          </a:lnTo>
                          <a:lnTo>
                            <a:pt x="107" y="35"/>
                          </a:lnTo>
                          <a:lnTo>
                            <a:pt x="117" y="62"/>
                          </a:lnTo>
                          <a:lnTo>
                            <a:pt x="83" y="54"/>
                          </a:lnTo>
                          <a:lnTo>
                            <a:pt x="56" y="51"/>
                          </a:lnTo>
                          <a:lnTo>
                            <a:pt x="35" y="55"/>
                          </a:lnTo>
                          <a:lnTo>
                            <a:pt x="19" y="65"/>
                          </a:lnTo>
                          <a:lnTo>
                            <a:pt x="19" y="57"/>
                          </a:lnTo>
                          <a:lnTo>
                            <a:pt x="19" y="49"/>
                          </a:lnTo>
                          <a:lnTo>
                            <a:pt x="16" y="41"/>
                          </a:lnTo>
                          <a:lnTo>
                            <a:pt x="7" y="28"/>
                          </a:lnTo>
                          <a:lnTo>
                            <a:pt x="0" y="18"/>
                          </a:lnTo>
                          <a:lnTo>
                            <a:pt x="0" y="8"/>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83">
                      <a:extLst>
                        <a:ext uri="{FF2B5EF4-FFF2-40B4-BE49-F238E27FC236}">
                          <a16:creationId xmlns:a16="http://schemas.microsoft.com/office/drawing/2014/main" id="{351360D3-31E7-C108-75BD-FDF667FFEE54}"/>
                        </a:ext>
                      </a:extLst>
                    </p:cNvPr>
                    <p:cNvSpPr>
                      <a:spLocks/>
                    </p:cNvSpPr>
                    <p:nvPr/>
                  </p:nvSpPr>
                  <p:spPr bwMode="auto">
                    <a:xfrm>
                      <a:off x="1980" y="3390"/>
                      <a:ext cx="69" cy="41"/>
                    </a:xfrm>
                    <a:custGeom>
                      <a:avLst/>
                      <a:gdLst>
                        <a:gd name="T0" fmla="*/ 1 w 137"/>
                        <a:gd name="T1" fmla="*/ 1 h 82"/>
                        <a:gd name="T2" fmla="*/ 1 w 137"/>
                        <a:gd name="T3" fmla="*/ 0 h 82"/>
                        <a:gd name="T4" fmla="*/ 1 w 137"/>
                        <a:gd name="T5" fmla="*/ 1 h 82"/>
                        <a:gd name="T6" fmla="*/ 1 w 137"/>
                        <a:gd name="T7" fmla="*/ 1 h 82"/>
                        <a:gd name="T8" fmla="*/ 2 w 137"/>
                        <a:gd name="T9" fmla="*/ 1 h 82"/>
                        <a:gd name="T10" fmla="*/ 2 w 137"/>
                        <a:gd name="T11" fmla="*/ 2 h 82"/>
                        <a:gd name="T12" fmla="*/ 3 w 137"/>
                        <a:gd name="T13" fmla="*/ 2 h 82"/>
                        <a:gd name="T14" fmla="*/ 4 w 137"/>
                        <a:gd name="T15" fmla="*/ 2 h 82"/>
                        <a:gd name="T16" fmla="*/ 5 w 137"/>
                        <a:gd name="T17" fmla="*/ 2 h 82"/>
                        <a:gd name="T18" fmla="*/ 5 w 137"/>
                        <a:gd name="T19" fmla="*/ 3 h 82"/>
                        <a:gd name="T20" fmla="*/ 4 w 137"/>
                        <a:gd name="T21" fmla="*/ 3 h 82"/>
                        <a:gd name="T22" fmla="*/ 3 w 137"/>
                        <a:gd name="T23" fmla="*/ 2 h 82"/>
                        <a:gd name="T24" fmla="*/ 2 w 137"/>
                        <a:gd name="T25" fmla="*/ 2 h 82"/>
                        <a:gd name="T26" fmla="*/ 2 w 137"/>
                        <a:gd name="T27" fmla="*/ 2 h 82"/>
                        <a:gd name="T28" fmla="*/ 2 w 137"/>
                        <a:gd name="T29" fmla="*/ 2 h 82"/>
                        <a:gd name="T30" fmla="*/ 1 w 137"/>
                        <a:gd name="T31" fmla="*/ 3 h 82"/>
                        <a:gd name="T32" fmla="*/ 1 w 137"/>
                        <a:gd name="T33" fmla="*/ 2 h 82"/>
                        <a:gd name="T34" fmla="*/ 1 w 137"/>
                        <a:gd name="T35" fmla="*/ 2 h 82"/>
                        <a:gd name="T36" fmla="*/ 1 w 137"/>
                        <a:gd name="T37" fmla="*/ 2 h 82"/>
                        <a:gd name="T38" fmla="*/ 0 w 137"/>
                        <a:gd name="T39" fmla="*/ 1 h 82"/>
                        <a:gd name="T40" fmla="*/ 1 w 137"/>
                        <a:gd name="T41" fmla="*/ 1 h 8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37" h="82">
                          <a:moveTo>
                            <a:pt x="2" y="10"/>
                          </a:moveTo>
                          <a:lnTo>
                            <a:pt x="8" y="0"/>
                          </a:lnTo>
                          <a:lnTo>
                            <a:pt x="16" y="13"/>
                          </a:lnTo>
                          <a:lnTo>
                            <a:pt x="25" y="19"/>
                          </a:lnTo>
                          <a:lnTo>
                            <a:pt x="36" y="26"/>
                          </a:lnTo>
                          <a:lnTo>
                            <a:pt x="54" y="33"/>
                          </a:lnTo>
                          <a:lnTo>
                            <a:pt x="76" y="39"/>
                          </a:lnTo>
                          <a:lnTo>
                            <a:pt x="99" y="46"/>
                          </a:lnTo>
                          <a:lnTo>
                            <a:pt x="131" y="56"/>
                          </a:lnTo>
                          <a:lnTo>
                            <a:pt x="137" y="82"/>
                          </a:lnTo>
                          <a:lnTo>
                            <a:pt x="104" y="68"/>
                          </a:lnTo>
                          <a:lnTo>
                            <a:pt x="81" y="59"/>
                          </a:lnTo>
                          <a:lnTo>
                            <a:pt x="61" y="56"/>
                          </a:lnTo>
                          <a:lnTo>
                            <a:pt x="46" y="56"/>
                          </a:lnTo>
                          <a:lnTo>
                            <a:pt x="38" y="62"/>
                          </a:lnTo>
                          <a:lnTo>
                            <a:pt x="28" y="72"/>
                          </a:lnTo>
                          <a:lnTo>
                            <a:pt x="26" y="61"/>
                          </a:lnTo>
                          <a:lnTo>
                            <a:pt x="16" y="46"/>
                          </a:lnTo>
                          <a:lnTo>
                            <a:pt x="8" y="36"/>
                          </a:lnTo>
                          <a:lnTo>
                            <a:pt x="0" y="24"/>
                          </a:lnTo>
                          <a:lnTo>
                            <a:pt x="2" y="10"/>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 name="Freeform 84">
                      <a:extLst>
                        <a:ext uri="{FF2B5EF4-FFF2-40B4-BE49-F238E27FC236}">
                          <a16:creationId xmlns:a16="http://schemas.microsoft.com/office/drawing/2014/main" id="{7663181A-64F2-0777-5D58-B500BE23FE9A}"/>
                        </a:ext>
                      </a:extLst>
                    </p:cNvPr>
                    <p:cNvSpPr>
                      <a:spLocks/>
                    </p:cNvSpPr>
                    <p:nvPr/>
                  </p:nvSpPr>
                  <p:spPr bwMode="auto">
                    <a:xfrm>
                      <a:off x="1988" y="3434"/>
                      <a:ext cx="82" cy="91"/>
                    </a:xfrm>
                    <a:custGeom>
                      <a:avLst/>
                      <a:gdLst>
                        <a:gd name="T0" fmla="*/ 1 w 163"/>
                        <a:gd name="T1" fmla="*/ 1 h 180"/>
                        <a:gd name="T2" fmla="*/ 0 w 163"/>
                        <a:gd name="T3" fmla="*/ 1 h 180"/>
                        <a:gd name="T4" fmla="*/ 0 w 163"/>
                        <a:gd name="T5" fmla="*/ 1 h 180"/>
                        <a:gd name="T6" fmla="*/ 1 w 163"/>
                        <a:gd name="T7" fmla="*/ 0 h 180"/>
                        <a:gd name="T8" fmla="*/ 1 w 163"/>
                        <a:gd name="T9" fmla="*/ 1 h 180"/>
                        <a:gd name="T10" fmla="*/ 2 w 163"/>
                        <a:gd name="T11" fmla="*/ 1 h 180"/>
                        <a:gd name="T12" fmla="*/ 2 w 163"/>
                        <a:gd name="T13" fmla="*/ 2 h 180"/>
                        <a:gd name="T14" fmla="*/ 3 w 163"/>
                        <a:gd name="T15" fmla="*/ 2 h 180"/>
                        <a:gd name="T16" fmla="*/ 4 w 163"/>
                        <a:gd name="T17" fmla="*/ 2 h 180"/>
                        <a:gd name="T18" fmla="*/ 5 w 163"/>
                        <a:gd name="T19" fmla="*/ 3 h 180"/>
                        <a:gd name="T20" fmla="*/ 4 w 163"/>
                        <a:gd name="T21" fmla="*/ 3 h 180"/>
                        <a:gd name="T22" fmla="*/ 3 w 163"/>
                        <a:gd name="T23" fmla="*/ 2 h 180"/>
                        <a:gd name="T24" fmla="*/ 3 w 163"/>
                        <a:gd name="T25" fmla="*/ 3 h 180"/>
                        <a:gd name="T26" fmla="*/ 3 w 163"/>
                        <a:gd name="T27" fmla="*/ 3 h 180"/>
                        <a:gd name="T28" fmla="*/ 3 w 163"/>
                        <a:gd name="T29" fmla="*/ 3 h 180"/>
                        <a:gd name="T30" fmla="*/ 3 w 163"/>
                        <a:gd name="T31" fmla="*/ 4 h 180"/>
                        <a:gd name="T32" fmla="*/ 4 w 163"/>
                        <a:gd name="T33" fmla="*/ 4 h 180"/>
                        <a:gd name="T34" fmla="*/ 5 w 163"/>
                        <a:gd name="T35" fmla="*/ 5 h 180"/>
                        <a:gd name="T36" fmla="*/ 6 w 163"/>
                        <a:gd name="T37" fmla="*/ 6 h 180"/>
                        <a:gd name="T38" fmla="*/ 6 w 163"/>
                        <a:gd name="T39" fmla="*/ 6 h 180"/>
                        <a:gd name="T40" fmla="*/ 5 w 163"/>
                        <a:gd name="T41" fmla="*/ 6 h 180"/>
                        <a:gd name="T42" fmla="*/ 5 w 163"/>
                        <a:gd name="T43" fmla="*/ 6 h 180"/>
                        <a:gd name="T44" fmla="*/ 4 w 163"/>
                        <a:gd name="T45" fmla="*/ 5 h 180"/>
                        <a:gd name="T46" fmla="*/ 3 w 163"/>
                        <a:gd name="T47" fmla="*/ 4 h 180"/>
                        <a:gd name="T48" fmla="*/ 2 w 163"/>
                        <a:gd name="T49" fmla="*/ 4 h 180"/>
                        <a:gd name="T50" fmla="*/ 2 w 163"/>
                        <a:gd name="T51" fmla="*/ 3 h 180"/>
                        <a:gd name="T52" fmla="*/ 1 w 163"/>
                        <a:gd name="T53" fmla="*/ 2 h 180"/>
                        <a:gd name="T54" fmla="*/ 1 w 163"/>
                        <a:gd name="T55" fmla="*/ 2 h 180"/>
                        <a:gd name="T56" fmla="*/ 1 w 163"/>
                        <a:gd name="T57" fmla="*/ 1 h 18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163" h="180">
                          <a:moveTo>
                            <a:pt x="1" y="28"/>
                          </a:moveTo>
                          <a:lnTo>
                            <a:pt x="0" y="16"/>
                          </a:lnTo>
                          <a:lnTo>
                            <a:pt x="0" y="9"/>
                          </a:lnTo>
                          <a:lnTo>
                            <a:pt x="6" y="0"/>
                          </a:lnTo>
                          <a:lnTo>
                            <a:pt x="18" y="13"/>
                          </a:lnTo>
                          <a:lnTo>
                            <a:pt x="37" y="26"/>
                          </a:lnTo>
                          <a:lnTo>
                            <a:pt x="56" y="35"/>
                          </a:lnTo>
                          <a:lnTo>
                            <a:pt x="83" y="43"/>
                          </a:lnTo>
                          <a:lnTo>
                            <a:pt x="122" y="51"/>
                          </a:lnTo>
                          <a:lnTo>
                            <a:pt x="130" y="72"/>
                          </a:lnTo>
                          <a:lnTo>
                            <a:pt x="110" y="66"/>
                          </a:lnTo>
                          <a:lnTo>
                            <a:pt x="89" y="62"/>
                          </a:lnTo>
                          <a:lnTo>
                            <a:pt x="79" y="65"/>
                          </a:lnTo>
                          <a:lnTo>
                            <a:pt x="76" y="75"/>
                          </a:lnTo>
                          <a:lnTo>
                            <a:pt x="82" y="88"/>
                          </a:lnTo>
                          <a:lnTo>
                            <a:pt x="90" y="100"/>
                          </a:lnTo>
                          <a:lnTo>
                            <a:pt x="107" y="120"/>
                          </a:lnTo>
                          <a:lnTo>
                            <a:pt x="130" y="140"/>
                          </a:lnTo>
                          <a:lnTo>
                            <a:pt x="163" y="164"/>
                          </a:lnTo>
                          <a:lnTo>
                            <a:pt x="163" y="180"/>
                          </a:lnTo>
                          <a:lnTo>
                            <a:pt x="149" y="171"/>
                          </a:lnTo>
                          <a:lnTo>
                            <a:pt x="130" y="161"/>
                          </a:lnTo>
                          <a:lnTo>
                            <a:pt x="104" y="140"/>
                          </a:lnTo>
                          <a:lnTo>
                            <a:pt x="82" y="118"/>
                          </a:lnTo>
                          <a:lnTo>
                            <a:pt x="63" y="100"/>
                          </a:lnTo>
                          <a:lnTo>
                            <a:pt x="44" y="79"/>
                          </a:lnTo>
                          <a:lnTo>
                            <a:pt x="28" y="61"/>
                          </a:lnTo>
                          <a:lnTo>
                            <a:pt x="11" y="45"/>
                          </a:lnTo>
                          <a:lnTo>
                            <a:pt x="1" y="28"/>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85">
                      <a:extLst>
                        <a:ext uri="{FF2B5EF4-FFF2-40B4-BE49-F238E27FC236}">
                          <a16:creationId xmlns:a16="http://schemas.microsoft.com/office/drawing/2014/main" id="{D2091F80-9FD1-F760-5A7A-1244E83FB693}"/>
                        </a:ext>
                      </a:extLst>
                    </p:cNvPr>
                    <p:cNvSpPr>
                      <a:spLocks/>
                    </p:cNvSpPr>
                    <p:nvPr/>
                  </p:nvSpPr>
                  <p:spPr bwMode="auto">
                    <a:xfrm>
                      <a:off x="1990" y="3273"/>
                      <a:ext cx="33" cy="27"/>
                    </a:xfrm>
                    <a:custGeom>
                      <a:avLst/>
                      <a:gdLst>
                        <a:gd name="T0" fmla="*/ 0 w 68"/>
                        <a:gd name="T1" fmla="*/ 0 h 54"/>
                        <a:gd name="T2" fmla="*/ 0 w 68"/>
                        <a:gd name="T3" fmla="*/ 1 h 54"/>
                        <a:gd name="T4" fmla="*/ 0 w 68"/>
                        <a:gd name="T5" fmla="*/ 1 h 54"/>
                        <a:gd name="T6" fmla="*/ 1 w 68"/>
                        <a:gd name="T7" fmla="*/ 1 h 54"/>
                        <a:gd name="T8" fmla="*/ 1 w 68"/>
                        <a:gd name="T9" fmla="*/ 2 h 54"/>
                        <a:gd name="T10" fmla="*/ 1 w 68"/>
                        <a:gd name="T11" fmla="*/ 2 h 54"/>
                        <a:gd name="T12" fmla="*/ 2 w 68"/>
                        <a:gd name="T13" fmla="*/ 2 h 54"/>
                        <a:gd name="T14" fmla="*/ 1 w 68"/>
                        <a:gd name="T15" fmla="*/ 2 h 54"/>
                        <a:gd name="T16" fmla="*/ 1 w 68"/>
                        <a:gd name="T17" fmla="*/ 2 h 54"/>
                        <a:gd name="T18" fmla="*/ 0 w 68"/>
                        <a:gd name="T19" fmla="*/ 2 h 54"/>
                        <a:gd name="T20" fmla="*/ 0 w 68"/>
                        <a:gd name="T21" fmla="*/ 2 h 54"/>
                        <a:gd name="T22" fmla="*/ 0 w 68"/>
                        <a:gd name="T23" fmla="*/ 1 h 54"/>
                        <a:gd name="T24" fmla="*/ 0 w 68"/>
                        <a:gd name="T25" fmla="*/ 1 h 54"/>
                        <a:gd name="T26" fmla="*/ 0 w 68"/>
                        <a:gd name="T27" fmla="*/ 0 h 5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68" h="54">
                          <a:moveTo>
                            <a:pt x="0" y="0"/>
                          </a:moveTo>
                          <a:lnTo>
                            <a:pt x="8" y="8"/>
                          </a:lnTo>
                          <a:lnTo>
                            <a:pt x="20" y="17"/>
                          </a:lnTo>
                          <a:lnTo>
                            <a:pt x="33" y="26"/>
                          </a:lnTo>
                          <a:lnTo>
                            <a:pt x="47" y="35"/>
                          </a:lnTo>
                          <a:lnTo>
                            <a:pt x="61" y="42"/>
                          </a:lnTo>
                          <a:lnTo>
                            <a:pt x="68" y="48"/>
                          </a:lnTo>
                          <a:lnTo>
                            <a:pt x="51" y="54"/>
                          </a:lnTo>
                          <a:lnTo>
                            <a:pt x="33" y="48"/>
                          </a:lnTo>
                          <a:lnTo>
                            <a:pt x="15" y="41"/>
                          </a:lnTo>
                          <a:lnTo>
                            <a:pt x="0" y="33"/>
                          </a:lnTo>
                          <a:lnTo>
                            <a:pt x="1" y="26"/>
                          </a:lnTo>
                          <a:lnTo>
                            <a:pt x="3" y="13"/>
                          </a:lnTo>
                          <a:lnTo>
                            <a:pt x="0" y="0"/>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 name="Freeform 86">
                      <a:extLst>
                        <a:ext uri="{FF2B5EF4-FFF2-40B4-BE49-F238E27FC236}">
                          <a16:creationId xmlns:a16="http://schemas.microsoft.com/office/drawing/2014/main" id="{B7617A44-5F75-500F-EEF3-56D7C1ECCEBB}"/>
                        </a:ext>
                      </a:extLst>
                    </p:cNvPr>
                    <p:cNvSpPr>
                      <a:spLocks/>
                    </p:cNvSpPr>
                    <p:nvPr/>
                  </p:nvSpPr>
                  <p:spPr bwMode="auto">
                    <a:xfrm>
                      <a:off x="2051" y="3266"/>
                      <a:ext cx="287" cy="270"/>
                    </a:xfrm>
                    <a:custGeom>
                      <a:avLst/>
                      <a:gdLst>
                        <a:gd name="T0" fmla="*/ 8 w 575"/>
                        <a:gd name="T1" fmla="*/ 4 h 539"/>
                        <a:gd name="T2" fmla="*/ 7 w 575"/>
                        <a:gd name="T3" fmla="*/ 5 h 539"/>
                        <a:gd name="T4" fmla="*/ 4 w 575"/>
                        <a:gd name="T5" fmla="*/ 5 h 539"/>
                        <a:gd name="T6" fmla="*/ 0 w 575"/>
                        <a:gd name="T7" fmla="*/ 6 h 539"/>
                        <a:gd name="T8" fmla="*/ 5 w 575"/>
                        <a:gd name="T9" fmla="*/ 6 h 539"/>
                        <a:gd name="T10" fmla="*/ 10 w 575"/>
                        <a:gd name="T11" fmla="*/ 6 h 539"/>
                        <a:gd name="T12" fmla="*/ 14 w 575"/>
                        <a:gd name="T13" fmla="*/ 5 h 539"/>
                        <a:gd name="T14" fmla="*/ 15 w 575"/>
                        <a:gd name="T15" fmla="*/ 5 h 539"/>
                        <a:gd name="T16" fmla="*/ 15 w 575"/>
                        <a:gd name="T17" fmla="*/ 6 h 539"/>
                        <a:gd name="T18" fmla="*/ 12 w 575"/>
                        <a:gd name="T19" fmla="*/ 7 h 539"/>
                        <a:gd name="T20" fmla="*/ 7 w 575"/>
                        <a:gd name="T21" fmla="*/ 8 h 539"/>
                        <a:gd name="T22" fmla="*/ 4 w 575"/>
                        <a:gd name="T23" fmla="*/ 9 h 539"/>
                        <a:gd name="T24" fmla="*/ 10 w 575"/>
                        <a:gd name="T25" fmla="*/ 9 h 539"/>
                        <a:gd name="T26" fmla="*/ 13 w 575"/>
                        <a:gd name="T27" fmla="*/ 8 h 539"/>
                        <a:gd name="T28" fmla="*/ 16 w 575"/>
                        <a:gd name="T29" fmla="*/ 7 h 539"/>
                        <a:gd name="T30" fmla="*/ 16 w 575"/>
                        <a:gd name="T31" fmla="*/ 8 h 539"/>
                        <a:gd name="T32" fmla="*/ 14 w 575"/>
                        <a:gd name="T33" fmla="*/ 9 h 539"/>
                        <a:gd name="T34" fmla="*/ 10 w 575"/>
                        <a:gd name="T35" fmla="*/ 10 h 539"/>
                        <a:gd name="T36" fmla="*/ 5 w 575"/>
                        <a:gd name="T37" fmla="*/ 11 h 539"/>
                        <a:gd name="T38" fmla="*/ 7 w 575"/>
                        <a:gd name="T39" fmla="*/ 12 h 539"/>
                        <a:gd name="T40" fmla="*/ 11 w 575"/>
                        <a:gd name="T41" fmla="*/ 12 h 539"/>
                        <a:gd name="T42" fmla="*/ 15 w 575"/>
                        <a:gd name="T43" fmla="*/ 11 h 539"/>
                        <a:gd name="T44" fmla="*/ 15 w 575"/>
                        <a:gd name="T45" fmla="*/ 11 h 539"/>
                        <a:gd name="T46" fmla="*/ 14 w 575"/>
                        <a:gd name="T47" fmla="*/ 12 h 539"/>
                        <a:gd name="T48" fmla="*/ 12 w 575"/>
                        <a:gd name="T49" fmla="*/ 13 h 539"/>
                        <a:gd name="T50" fmla="*/ 8 w 575"/>
                        <a:gd name="T51" fmla="*/ 14 h 539"/>
                        <a:gd name="T52" fmla="*/ 4 w 575"/>
                        <a:gd name="T53" fmla="*/ 14 h 539"/>
                        <a:gd name="T54" fmla="*/ 7 w 575"/>
                        <a:gd name="T55" fmla="*/ 15 h 539"/>
                        <a:gd name="T56" fmla="*/ 10 w 575"/>
                        <a:gd name="T57" fmla="*/ 15 h 539"/>
                        <a:gd name="T58" fmla="*/ 13 w 575"/>
                        <a:gd name="T59" fmla="*/ 14 h 539"/>
                        <a:gd name="T60" fmla="*/ 14 w 575"/>
                        <a:gd name="T61" fmla="*/ 14 h 539"/>
                        <a:gd name="T62" fmla="*/ 13 w 575"/>
                        <a:gd name="T63" fmla="*/ 15 h 539"/>
                        <a:gd name="T64" fmla="*/ 12 w 575"/>
                        <a:gd name="T65" fmla="*/ 16 h 539"/>
                        <a:gd name="T66" fmla="*/ 6 w 575"/>
                        <a:gd name="T67" fmla="*/ 16 h 539"/>
                        <a:gd name="T68" fmla="*/ 11 w 575"/>
                        <a:gd name="T69" fmla="*/ 17 h 539"/>
                        <a:gd name="T70" fmla="*/ 11 w 575"/>
                        <a:gd name="T71" fmla="*/ 17 h 539"/>
                        <a:gd name="T72" fmla="*/ 13 w 575"/>
                        <a:gd name="T73" fmla="*/ 17 h 539"/>
                        <a:gd name="T74" fmla="*/ 14 w 575"/>
                        <a:gd name="T75" fmla="*/ 16 h 539"/>
                        <a:gd name="T76" fmla="*/ 17 w 575"/>
                        <a:gd name="T77" fmla="*/ 12 h 539"/>
                        <a:gd name="T78" fmla="*/ 17 w 575"/>
                        <a:gd name="T79" fmla="*/ 11 h 539"/>
                        <a:gd name="T80" fmla="*/ 17 w 575"/>
                        <a:gd name="T81" fmla="*/ 10 h 539"/>
                        <a:gd name="T82" fmla="*/ 17 w 575"/>
                        <a:gd name="T83" fmla="*/ 9 h 539"/>
                        <a:gd name="T84" fmla="*/ 17 w 575"/>
                        <a:gd name="T85" fmla="*/ 8 h 539"/>
                        <a:gd name="T86" fmla="*/ 17 w 575"/>
                        <a:gd name="T87" fmla="*/ 7 h 539"/>
                        <a:gd name="T88" fmla="*/ 17 w 575"/>
                        <a:gd name="T89" fmla="*/ 7 h 539"/>
                        <a:gd name="T90" fmla="*/ 17 w 575"/>
                        <a:gd name="T91" fmla="*/ 6 h 539"/>
                        <a:gd name="T92" fmla="*/ 17 w 575"/>
                        <a:gd name="T93" fmla="*/ 5 h 539"/>
                        <a:gd name="T94" fmla="*/ 17 w 575"/>
                        <a:gd name="T95" fmla="*/ 4 h 539"/>
                        <a:gd name="T96" fmla="*/ 17 w 575"/>
                        <a:gd name="T97" fmla="*/ 3 h 539"/>
                        <a:gd name="T98" fmla="*/ 17 w 575"/>
                        <a:gd name="T99" fmla="*/ 2 h 539"/>
                        <a:gd name="T100" fmla="*/ 17 w 575"/>
                        <a:gd name="T101" fmla="*/ 2 h 539"/>
                        <a:gd name="T102" fmla="*/ 15 w 575"/>
                        <a:gd name="T103" fmla="*/ 2 h 539"/>
                        <a:gd name="T104" fmla="*/ 11 w 575"/>
                        <a:gd name="T105" fmla="*/ 3 h 539"/>
                        <a:gd name="T106" fmla="*/ 7 w 575"/>
                        <a:gd name="T107" fmla="*/ 4 h 539"/>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75" h="539">
                          <a:moveTo>
                            <a:pt x="231" y="105"/>
                          </a:moveTo>
                          <a:lnTo>
                            <a:pt x="147" y="111"/>
                          </a:lnTo>
                          <a:lnTo>
                            <a:pt x="274" y="124"/>
                          </a:lnTo>
                          <a:lnTo>
                            <a:pt x="266" y="130"/>
                          </a:lnTo>
                          <a:lnTo>
                            <a:pt x="250" y="135"/>
                          </a:lnTo>
                          <a:lnTo>
                            <a:pt x="230" y="141"/>
                          </a:lnTo>
                          <a:lnTo>
                            <a:pt x="203" y="148"/>
                          </a:lnTo>
                          <a:lnTo>
                            <a:pt x="174" y="154"/>
                          </a:lnTo>
                          <a:lnTo>
                            <a:pt x="138" y="157"/>
                          </a:lnTo>
                          <a:lnTo>
                            <a:pt x="94" y="161"/>
                          </a:lnTo>
                          <a:lnTo>
                            <a:pt x="48" y="164"/>
                          </a:lnTo>
                          <a:lnTo>
                            <a:pt x="0" y="164"/>
                          </a:lnTo>
                          <a:lnTo>
                            <a:pt x="75" y="181"/>
                          </a:lnTo>
                          <a:lnTo>
                            <a:pt x="121" y="190"/>
                          </a:lnTo>
                          <a:lnTo>
                            <a:pt x="161" y="190"/>
                          </a:lnTo>
                          <a:lnTo>
                            <a:pt x="210" y="190"/>
                          </a:lnTo>
                          <a:lnTo>
                            <a:pt x="282" y="184"/>
                          </a:lnTo>
                          <a:lnTo>
                            <a:pt x="341" y="176"/>
                          </a:lnTo>
                          <a:lnTo>
                            <a:pt x="392" y="164"/>
                          </a:lnTo>
                          <a:lnTo>
                            <a:pt x="445" y="147"/>
                          </a:lnTo>
                          <a:lnTo>
                            <a:pt x="469" y="138"/>
                          </a:lnTo>
                          <a:lnTo>
                            <a:pt x="491" y="131"/>
                          </a:lnTo>
                          <a:lnTo>
                            <a:pt x="502" y="128"/>
                          </a:lnTo>
                          <a:lnTo>
                            <a:pt x="509" y="132"/>
                          </a:lnTo>
                          <a:lnTo>
                            <a:pt x="509" y="141"/>
                          </a:lnTo>
                          <a:lnTo>
                            <a:pt x="504" y="151"/>
                          </a:lnTo>
                          <a:lnTo>
                            <a:pt x="491" y="163"/>
                          </a:lnTo>
                          <a:lnTo>
                            <a:pt x="469" y="177"/>
                          </a:lnTo>
                          <a:lnTo>
                            <a:pt x="438" y="190"/>
                          </a:lnTo>
                          <a:lnTo>
                            <a:pt x="401" y="206"/>
                          </a:lnTo>
                          <a:lnTo>
                            <a:pt x="352" y="220"/>
                          </a:lnTo>
                          <a:lnTo>
                            <a:pt x="295" y="232"/>
                          </a:lnTo>
                          <a:lnTo>
                            <a:pt x="239" y="241"/>
                          </a:lnTo>
                          <a:lnTo>
                            <a:pt x="180" y="250"/>
                          </a:lnTo>
                          <a:lnTo>
                            <a:pt x="75" y="260"/>
                          </a:lnTo>
                          <a:lnTo>
                            <a:pt x="140" y="275"/>
                          </a:lnTo>
                          <a:lnTo>
                            <a:pt x="191" y="282"/>
                          </a:lnTo>
                          <a:lnTo>
                            <a:pt x="256" y="280"/>
                          </a:lnTo>
                          <a:lnTo>
                            <a:pt x="323" y="271"/>
                          </a:lnTo>
                          <a:lnTo>
                            <a:pt x="372" y="260"/>
                          </a:lnTo>
                          <a:lnTo>
                            <a:pt x="412" y="250"/>
                          </a:lnTo>
                          <a:lnTo>
                            <a:pt x="445" y="241"/>
                          </a:lnTo>
                          <a:lnTo>
                            <a:pt x="479" y="229"/>
                          </a:lnTo>
                          <a:lnTo>
                            <a:pt x="505" y="219"/>
                          </a:lnTo>
                          <a:lnTo>
                            <a:pt x="518" y="216"/>
                          </a:lnTo>
                          <a:lnTo>
                            <a:pt x="525" y="216"/>
                          </a:lnTo>
                          <a:lnTo>
                            <a:pt x="524" y="224"/>
                          </a:lnTo>
                          <a:lnTo>
                            <a:pt x="519" y="233"/>
                          </a:lnTo>
                          <a:lnTo>
                            <a:pt x="509" y="246"/>
                          </a:lnTo>
                          <a:lnTo>
                            <a:pt x="485" y="262"/>
                          </a:lnTo>
                          <a:lnTo>
                            <a:pt x="458" y="277"/>
                          </a:lnTo>
                          <a:lnTo>
                            <a:pt x="429" y="290"/>
                          </a:lnTo>
                          <a:lnTo>
                            <a:pt x="390" y="305"/>
                          </a:lnTo>
                          <a:lnTo>
                            <a:pt x="345" y="319"/>
                          </a:lnTo>
                          <a:lnTo>
                            <a:pt x="277" y="333"/>
                          </a:lnTo>
                          <a:lnTo>
                            <a:pt x="231" y="342"/>
                          </a:lnTo>
                          <a:lnTo>
                            <a:pt x="187" y="347"/>
                          </a:lnTo>
                          <a:lnTo>
                            <a:pt x="121" y="351"/>
                          </a:lnTo>
                          <a:lnTo>
                            <a:pt x="188" y="361"/>
                          </a:lnTo>
                          <a:lnTo>
                            <a:pt x="240" y="365"/>
                          </a:lnTo>
                          <a:lnTo>
                            <a:pt x="283" y="366"/>
                          </a:lnTo>
                          <a:lnTo>
                            <a:pt x="332" y="365"/>
                          </a:lnTo>
                          <a:lnTo>
                            <a:pt x="378" y="359"/>
                          </a:lnTo>
                          <a:lnTo>
                            <a:pt x="416" y="349"/>
                          </a:lnTo>
                          <a:lnTo>
                            <a:pt x="446" y="339"/>
                          </a:lnTo>
                          <a:lnTo>
                            <a:pt x="494" y="323"/>
                          </a:lnTo>
                          <a:lnTo>
                            <a:pt x="500" y="323"/>
                          </a:lnTo>
                          <a:lnTo>
                            <a:pt x="505" y="326"/>
                          </a:lnTo>
                          <a:lnTo>
                            <a:pt x="504" y="336"/>
                          </a:lnTo>
                          <a:lnTo>
                            <a:pt x="498" y="347"/>
                          </a:lnTo>
                          <a:lnTo>
                            <a:pt x="487" y="359"/>
                          </a:lnTo>
                          <a:lnTo>
                            <a:pt x="471" y="371"/>
                          </a:lnTo>
                          <a:lnTo>
                            <a:pt x="442" y="385"/>
                          </a:lnTo>
                          <a:lnTo>
                            <a:pt x="412" y="398"/>
                          </a:lnTo>
                          <a:lnTo>
                            <a:pt x="385" y="408"/>
                          </a:lnTo>
                          <a:lnTo>
                            <a:pt x="352" y="415"/>
                          </a:lnTo>
                          <a:lnTo>
                            <a:pt x="322" y="420"/>
                          </a:lnTo>
                          <a:lnTo>
                            <a:pt x="283" y="424"/>
                          </a:lnTo>
                          <a:lnTo>
                            <a:pt x="240" y="426"/>
                          </a:lnTo>
                          <a:lnTo>
                            <a:pt x="197" y="427"/>
                          </a:lnTo>
                          <a:lnTo>
                            <a:pt x="130" y="427"/>
                          </a:lnTo>
                          <a:lnTo>
                            <a:pt x="166" y="439"/>
                          </a:lnTo>
                          <a:lnTo>
                            <a:pt x="199" y="448"/>
                          </a:lnTo>
                          <a:lnTo>
                            <a:pt x="237" y="453"/>
                          </a:lnTo>
                          <a:lnTo>
                            <a:pt x="269" y="454"/>
                          </a:lnTo>
                          <a:lnTo>
                            <a:pt x="302" y="456"/>
                          </a:lnTo>
                          <a:lnTo>
                            <a:pt x="335" y="454"/>
                          </a:lnTo>
                          <a:lnTo>
                            <a:pt x="363" y="453"/>
                          </a:lnTo>
                          <a:lnTo>
                            <a:pt x="389" y="448"/>
                          </a:lnTo>
                          <a:lnTo>
                            <a:pt x="425" y="439"/>
                          </a:lnTo>
                          <a:lnTo>
                            <a:pt x="451" y="433"/>
                          </a:lnTo>
                          <a:lnTo>
                            <a:pt x="461" y="434"/>
                          </a:lnTo>
                          <a:lnTo>
                            <a:pt x="462" y="442"/>
                          </a:lnTo>
                          <a:lnTo>
                            <a:pt x="459" y="450"/>
                          </a:lnTo>
                          <a:lnTo>
                            <a:pt x="452" y="458"/>
                          </a:lnTo>
                          <a:lnTo>
                            <a:pt x="441" y="467"/>
                          </a:lnTo>
                          <a:lnTo>
                            <a:pt x="428" y="473"/>
                          </a:lnTo>
                          <a:lnTo>
                            <a:pt x="412" y="480"/>
                          </a:lnTo>
                          <a:lnTo>
                            <a:pt x="389" y="487"/>
                          </a:lnTo>
                          <a:lnTo>
                            <a:pt x="339" y="494"/>
                          </a:lnTo>
                          <a:lnTo>
                            <a:pt x="292" y="500"/>
                          </a:lnTo>
                          <a:lnTo>
                            <a:pt x="199" y="507"/>
                          </a:lnTo>
                          <a:lnTo>
                            <a:pt x="320" y="513"/>
                          </a:lnTo>
                          <a:lnTo>
                            <a:pt x="345" y="513"/>
                          </a:lnTo>
                          <a:lnTo>
                            <a:pt x="356" y="518"/>
                          </a:lnTo>
                          <a:lnTo>
                            <a:pt x="362" y="524"/>
                          </a:lnTo>
                          <a:lnTo>
                            <a:pt x="360" y="533"/>
                          </a:lnTo>
                          <a:lnTo>
                            <a:pt x="366" y="537"/>
                          </a:lnTo>
                          <a:lnTo>
                            <a:pt x="381" y="539"/>
                          </a:lnTo>
                          <a:lnTo>
                            <a:pt x="405" y="530"/>
                          </a:lnTo>
                          <a:lnTo>
                            <a:pt x="426" y="519"/>
                          </a:lnTo>
                          <a:lnTo>
                            <a:pt x="442" y="509"/>
                          </a:lnTo>
                          <a:lnTo>
                            <a:pt x="455" y="500"/>
                          </a:lnTo>
                          <a:lnTo>
                            <a:pt x="469" y="486"/>
                          </a:lnTo>
                          <a:lnTo>
                            <a:pt x="512" y="428"/>
                          </a:lnTo>
                          <a:lnTo>
                            <a:pt x="544" y="379"/>
                          </a:lnTo>
                          <a:lnTo>
                            <a:pt x="557" y="354"/>
                          </a:lnTo>
                          <a:lnTo>
                            <a:pt x="560" y="344"/>
                          </a:lnTo>
                          <a:lnTo>
                            <a:pt x="561" y="336"/>
                          </a:lnTo>
                          <a:lnTo>
                            <a:pt x="561" y="328"/>
                          </a:lnTo>
                          <a:lnTo>
                            <a:pt x="555" y="318"/>
                          </a:lnTo>
                          <a:lnTo>
                            <a:pt x="551" y="311"/>
                          </a:lnTo>
                          <a:lnTo>
                            <a:pt x="549" y="302"/>
                          </a:lnTo>
                          <a:lnTo>
                            <a:pt x="551" y="292"/>
                          </a:lnTo>
                          <a:lnTo>
                            <a:pt x="555" y="285"/>
                          </a:lnTo>
                          <a:lnTo>
                            <a:pt x="560" y="277"/>
                          </a:lnTo>
                          <a:lnTo>
                            <a:pt x="565" y="269"/>
                          </a:lnTo>
                          <a:lnTo>
                            <a:pt x="571" y="260"/>
                          </a:lnTo>
                          <a:lnTo>
                            <a:pt x="575" y="252"/>
                          </a:lnTo>
                          <a:lnTo>
                            <a:pt x="574" y="241"/>
                          </a:lnTo>
                          <a:lnTo>
                            <a:pt x="570" y="232"/>
                          </a:lnTo>
                          <a:lnTo>
                            <a:pt x="565" y="224"/>
                          </a:lnTo>
                          <a:lnTo>
                            <a:pt x="560" y="217"/>
                          </a:lnTo>
                          <a:lnTo>
                            <a:pt x="554" y="209"/>
                          </a:lnTo>
                          <a:lnTo>
                            <a:pt x="552" y="200"/>
                          </a:lnTo>
                          <a:lnTo>
                            <a:pt x="554" y="192"/>
                          </a:lnTo>
                          <a:lnTo>
                            <a:pt x="561" y="181"/>
                          </a:lnTo>
                          <a:lnTo>
                            <a:pt x="568" y="173"/>
                          </a:lnTo>
                          <a:lnTo>
                            <a:pt x="571" y="164"/>
                          </a:lnTo>
                          <a:lnTo>
                            <a:pt x="571" y="151"/>
                          </a:lnTo>
                          <a:lnTo>
                            <a:pt x="567" y="140"/>
                          </a:lnTo>
                          <a:lnTo>
                            <a:pt x="560" y="131"/>
                          </a:lnTo>
                          <a:lnTo>
                            <a:pt x="557" y="125"/>
                          </a:lnTo>
                          <a:lnTo>
                            <a:pt x="554" y="115"/>
                          </a:lnTo>
                          <a:lnTo>
                            <a:pt x="555" y="104"/>
                          </a:lnTo>
                          <a:lnTo>
                            <a:pt x="561" y="95"/>
                          </a:lnTo>
                          <a:lnTo>
                            <a:pt x="565" y="89"/>
                          </a:lnTo>
                          <a:lnTo>
                            <a:pt x="571" y="82"/>
                          </a:lnTo>
                          <a:lnTo>
                            <a:pt x="574" y="73"/>
                          </a:lnTo>
                          <a:lnTo>
                            <a:pt x="575" y="62"/>
                          </a:lnTo>
                          <a:lnTo>
                            <a:pt x="573" y="56"/>
                          </a:lnTo>
                          <a:lnTo>
                            <a:pt x="567" y="46"/>
                          </a:lnTo>
                          <a:lnTo>
                            <a:pt x="561" y="38"/>
                          </a:lnTo>
                          <a:lnTo>
                            <a:pt x="557" y="26"/>
                          </a:lnTo>
                          <a:lnTo>
                            <a:pt x="557" y="0"/>
                          </a:lnTo>
                          <a:lnTo>
                            <a:pt x="498" y="39"/>
                          </a:lnTo>
                          <a:lnTo>
                            <a:pt x="462" y="54"/>
                          </a:lnTo>
                          <a:lnTo>
                            <a:pt x="421" y="67"/>
                          </a:lnTo>
                          <a:lnTo>
                            <a:pt x="373" y="82"/>
                          </a:lnTo>
                          <a:lnTo>
                            <a:pt x="330" y="91"/>
                          </a:lnTo>
                          <a:lnTo>
                            <a:pt x="287" y="98"/>
                          </a:lnTo>
                          <a:lnTo>
                            <a:pt x="231" y="105"/>
                          </a:lnTo>
                          <a:close/>
                        </a:path>
                      </a:pathLst>
                    </a:custGeom>
                    <a:solidFill>
                      <a:srgbClr val="FFA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25" name="Group 87">
                  <a:extLst>
                    <a:ext uri="{FF2B5EF4-FFF2-40B4-BE49-F238E27FC236}">
                      <a16:creationId xmlns:a16="http://schemas.microsoft.com/office/drawing/2014/main" id="{65D114A4-1245-E189-A2D5-455497A37757}"/>
                    </a:ext>
                  </a:extLst>
                </p:cNvPr>
                <p:cNvGrpSpPr>
                  <a:grpSpLocks/>
                </p:cNvGrpSpPr>
                <p:nvPr/>
              </p:nvGrpSpPr>
              <p:grpSpPr bwMode="auto">
                <a:xfrm rot="5400000">
                  <a:off x="597" y="2279"/>
                  <a:ext cx="43" cy="68"/>
                  <a:chOff x="2219" y="3309"/>
                  <a:chExt cx="85" cy="171"/>
                </a:xfrm>
              </p:grpSpPr>
              <p:sp>
                <p:nvSpPr>
                  <p:cNvPr id="43" name="Freeform 88">
                    <a:extLst>
                      <a:ext uri="{FF2B5EF4-FFF2-40B4-BE49-F238E27FC236}">
                        <a16:creationId xmlns:a16="http://schemas.microsoft.com/office/drawing/2014/main" id="{1C19E994-C46E-3122-B7A8-C822C89770F2}"/>
                      </a:ext>
                    </a:extLst>
                  </p:cNvPr>
                  <p:cNvSpPr>
                    <a:spLocks/>
                  </p:cNvSpPr>
                  <p:nvPr/>
                </p:nvSpPr>
                <p:spPr bwMode="auto">
                  <a:xfrm>
                    <a:off x="2235" y="3355"/>
                    <a:ext cx="66" cy="27"/>
                  </a:xfrm>
                  <a:custGeom>
                    <a:avLst/>
                    <a:gdLst>
                      <a:gd name="T0" fmla="*/ 5 w 131"/>
                      <a:gd name="T1" fmla="*/ 1 h 54"/>
                      <a:gd name="T2" fmla="*/ 4 w 131"/>
                      <a:gd name="T3" fmla="*/ 0 h 54"/>
                      <a:gd name="T4" fmla="*/ 3 w 131"/>
                      <a:gd name="T5" fmla="*/ 1 h 54"/>
                      <a:gd name="T6" fmla="*/ 2 w 131"/>
                      <a:gd name="T7" fmla="*/ 2 h 54"/>
                      <a:gd name="T8" fmla="*/ 0 w 131"/>
                      <a:gd name="T9" fmla="*/ 2 h 54"/>
                      <a:gd name="T10" fmla="*/ 1 w 131"/>
                      <a:gd name="T11" fmla="*/ 2 h 54"/>
                      <a:gd name="T12" fmla="*/ 2 w 131"/>
                      <a:gd name="T13" fmla="*/ 2 h 54"/>
                      <a:gd name="T14" fmla="*/ 3 w 131"/>
                      <a:gd name="T15" fmla="*/ 2 h 54"/>
                      <a:gd name="T16" fmla="*/ 4 w 131"/>
                      <a:gd name="T17" fmla="*/ 1 h 54"/>
                      <a:gd name="T18" fmla="*/ 5 w 131"/>
                      <a:gd name="T19" fmla="*/ 1 h 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1" h="54">
                        <a:moveTo>
                          <a:pt x="131" y="10"/>
                        </a:moveTo>
                        <a:lnTo>
                          <a:pt x="119" y="0"/>
                        </a:lnTo>
                        <a:lnTo>
                          <a:pt x="79" y="21"/>
                        </a:lnTo>
                        <a:lnTo>
                          <a:pt x="39" y="35"/>
                        </a:lnTo>
                        <a:lnTo>
                          <a:pt x="0" y="46"/>
                        </a:lnTo>
                        <a:lnTo>
                          <a:pt x="7" y="54"/>
                        </a:lnTo>
                        <a:lnTo>
                          <a:pt x="34" y="54"/>
                        </a:lnTo>
                        <a:lnTo>
                          <a:pt x="70" y="47"/>
                        </a:lnTo>
                        <a:lnTo>
                          <a:pt x="103" y="31"/>
                        </a:lnTo>
                        <a:lnTo>
                          <a:pt x="131" y="10"/>
                        </a:lnTo>
                        <a:close/>
                      </a:path>
                    </a:pathLst>
                  </a:custGeom>
                  <a:solidFill>
                    <a:srgbClr val="FFE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4" name="Freeform 89">
                    <a:extLst>
                      <a:ext uri="{FF2B5EF4-FFF2-40B4-BE49-F238E27FC236}">
                        <a16:creationId xmlns:a16="http://schemas.microsoft.com/office/drawing/2014/main" id="{87010730-B61E-BE96-7414-9D7D70CF1C92}"/>
                      </a:ext>
                    </a:extLst>
                  </p:cNvPr>
                  <p:cNvSpPr>
                    <a:spLocks/>
                  </p:cNvSpPr>
                  <p:nvPr/>
                </p:nvSpPr>
                <p:spPr bwMode="auto">
                  <a:xfrm>
                    <a:off x="2247" y="3398"/>
                    <a:ext cx="57" cy="31"/>
                  </a:xfrm>
                  <a:custGeom>
                    <a:avLst/>
                    <a:gdLst>
                      <a:gd name="T0" fmla="*/ 3 w 115"/>
                      <a:gd name="T1" fmla="*/ 1 h 62"/>
                      <a:gd name="T2" fmla="*/ 3 w 115"/>
                      <a:gd name="T3" fmla="*/ 0 h 62"/>
                      <a:gd name="T4" fmla="*/ 2 w 115"/>
                      <a:gd name="T5" fmla="*/ 1 h 62"/>
                      <a:gd name="T6" fmla="*/ 1 w 115"/>
                      <a:gd name="T7" fmla="*/ 2 h 62"/>
                      <a:gd name="T8" fmla="*/ 0 w 115"/>
                      <a:gd name="T9" fmla="*/ 2 h 62"/>
                      <a:gd name="T10" fmla="*/ 0 w 115"/>
                      <a:gd name="T11" fmla="*/ 2 h 62"/>
                      <a:gd name="T12" fmla="*/ 1 w 115"/>
                      <a:gd name="T13" fmla="*/ 2 h 62"/>
                      <a:gd name="T14" fmla="*/ 1 w 115"/>
                      <a:gd name="T15" fmla="*/ 2 h 62"/>
                      <a:gd name="T16" fmla="*/ 2 w 115"/>
                      <a:gd name="T17" fmla="*/ 2 h 62"/>
                      <a:gd name="T18" fmla="*/ 3 w 115"/>
                      <a:gd name="T19" fmla="*/ 1 h 6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5" h="62">
                        <a:moveTo>
                          <a:pt x="115" y="12"/>
                        </a:moveTo>
                        <a:lnTo>
                          <a:pt x="108" y="0"/>
                        </a:lnTo>
                        <a:lnTo>
                          <a:pt x="69" y="27"/>
                        </a:lnTo>
                        <a:lnTo>
                          <a:pt x="39" y="40"/>
                        </a:lnTo>
                        <a:lnTo>
                          <a:pt x="0" y="52"/>
                        </a:lnTo>
                        <a:lnTo>
                          <a:pt x="8" y="62"/>
                        </a:lnTo>
                        <a:lnTo>
                          <a:pt x="33" y="62"/>
                        </a:lnTo>
                        <a:lnTo>
                          <a:pt x="58" y="55"/>
                        </a:lnTo>
                        <a:lnTo>
                          <a:pt x="88" y="36"/>
                        </a:lnTo>
                        <a:lnTo>
                          <a:pt x="115" y="12"/>
                        </a:lnTo>
                        <a:close/>
                      </a:path>
                    </a:pathLst>
                  </a:custGeom>
                  <a:solidFill>
                    <a:srgbClr val="FFE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5" name="Freeform 90">
                    <a:extLst>
                      <a:ext uri="{FF2B5EF4-FFF2-40B4-BE49-F238E27FC236}">
                        <a16:creationId xmlns:a16="http://schemas.microsoft.com/office/drawing/2014/main" id="{3BFC305E-EEBD-178B-B30D-1C1BE5E67339}"/>
                      </a:ext>
                    </a:extLst>
                  </p:cNvPr>
                  <p:cNvSpPr>
                    <a:spLocks/>
                  </p:cNvSpPr>
                  <p:nvPr/>
                </p:nvSpPr>
                <p:spPr bwMode="auto">
                  <a:xfrm>
                    <a:off x="2243" y="3449"/>
                    <a:ext cx="59" cy="31"/>
                  </a:xfrm>
                  <a:custGeom>
                    <a:avLst/>
                    <a:gdLst>
                      <a:gd name="T0" fmla="*/ 4 w 116"/>
                      <a:gd name="T1" fmla="*/ 1 h 60"/>
                      <a:gd name="T2" fmla="*/ 4 w 116"/>
                      <a:gd name="T3" fmla="*/ 0 h 60"/>
                      <a:gd name="T4" fmla="*/ 3 w 116"/>
                      <a:gd name="T5" fmla="*/ 1 h 60"/>
                      <a:gd name="T6" fmla="*/ 2 w 116"/>
                      <a:gd name="T7" fmla="*/ 2 h 60"/>
                      <a:gd name="T8" fmla="*/ 0 w 116"/>
                      <a:gd name="T9" fmla="*/ 2 h 60"/>
                      <a:gd name="T10" fmla="*/ 1 w 116"/>
                      <a:gd name="T11" fmla="*/ 2 h 60"/>
                      <a:gd name="T12" fmla="*/ 1 w 116"/>
                      <a:gd name="T13" fmla="*/ 2 h 60"/>
                      <a:gd name="T14" fmla="*/ 2 w 116"/>
                      <a:gd name="T15" fmla="*/ 2 h 60"/>
                      <a:gd name="T16" fmla="*/ 3 w 116"/>
                      <a:gd name="T17" fmla="*/ 1 h 60"/>
                      <a:gd name="T18" fmla="*/ 4 w 116"/>
                      <a:gd name="T19" fmla="*/ 1 h 6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6" h="60">
                        <a:moveTo>
                          <a:pt x="116" y="9"/>
                        </a:moveTo>
                        <a:lnTo>
                          <a:pt x="108" y="0"/>
                        </a:lnTo>
                        <a:lnTo>
                          <a:pt x="72" y="24"/>
                        </a:lnTo>
                        <a:lnTo>
                          <a:pt x="39" y="39"/>
                        </a:lnTo>
                        <a:lnTo>
                          <a:pt x="0" y="49"/>
                        </a:lnTo>
                        <a:lnTo>
                          <a:pt x="7" y="60"/>
                        </a:lnTo>
                        <a:lnTo>
                          <a:pt x="32" y="58"/>
                        </a:lnTo>
                        <a:lnTo>
                          <a:pt x="63" y="51"/>
                        </a:lnTo>
                        <a:lnTo>
                          <a:pt x="95" y="31"/>
                        </a:lnTo>
                        <a:lnTo>
                          <a:pt x="116" y="9"/>
                        </a:lnTo>
                        <a:close/>
                      </a:path>
                    </a:pathLst>
                  </a:custGeom>
                  <a:solidFill>
                    <a:srgbClr val="FFE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 name="Freeform 91">
                    <a:extLst>
                      <a:ext uri="{FF2B5EF4-FFF2-40B4-BE49-F238E27FC236}">
                        <a16:creationId xmlns:a16="http://schemas.microsoft.com/office/drawing/2014/main" id="{CD34A4E6-8267-4A50-44D7-D17CF1F73BFF}"/>
                      </a:ext>
                    </a:extLst>
                  </p:cNvPr>
                  <p:cNvSpPr>
                    <a:spLocks/>
                  </p:cNvSpPr>
                  <p:nvPr/>
                </p:nvSpPr>
                <p:spPr bwMode="auto">
                  <a:xfrm>
                    <a:off x="2219" y="3309"/>
                    <a:ext cx="67" cy="27"/>
                  </a:xfrm>
                  <a:custGeom>
                    <a:avLst/>
                    <a:gdLst>
                      <a:gd name="T0" fmla="*/ 4 w 135"/>
                      <a:gd name="T1" fmla="*/ 1 h 53"/>
                      <a:gd name="T2" fmla="*/ 3 w 135"/>
                      <a:gd name="T3" fmla="*/ 0 h 53"/>
                      <a:gd name="T4" fmla="*/ 2 w 135"/>
                      <a:gd name="T5" fmla="*/ 1 h 53"/>
                      <a:gd name="T6" fmla="*/ 1 w 135"/>
                      <a:gd name="T7" fmla="*/ 2 h 53"/>
                      <a:gd name="T8" fmla="*/ 0 w 135"/>
                      <a:gd name="T9" fmla="*/ 2 h 53"/>
                      <a:gd name="T10" fmla="*/ 0 w 135"/>
                      <a:gd name="T11" fmla="*/ 2 h 53"/>
                      <a:gd name="T12" fmla="*/ 1 w 135"/>
                      <a:gd name="T13" fmla="*/ 2 h 53"/>
                      <a:gd name="T14" fmla="*/ 2 w 135"/>
                      <a:gd name="T15" fmla="*/ 2 h 53"/>
                      <a:gd name="T16" fmla="*/ 3 w 135"/>
                      <a:gd name="T17" fmla="*/ 1 h 53"/>
                      <a:gd name="T18" fmla="*/ 4 w 135"/>
                      <a:gd name="T19" fmla="*/ 1 h 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5" h="53">
                        <a:moveTo>
                          <a:pt x="135" y="10"/>
                        </a:moveTo>
                        <a:lnTo>
                          <a:pt x="121" y="0"/>
                        </a:lnTo>
                        <a:lnTo>
                          <a:pt x="76" y="20"/>
                        </a:lnTo>
                        <a:lnTo>
                          <a:pt x="39" y="33"/>
                        </a:lnTo>
                        <a:lnTo>
                          <a:pt x="0" y="43"/>
                        </a:lnTo>
                        <a:lnTo>
                          <a:pt x="9" y="53"/>
                        </a:lnTo>
                        <a:lnTo>
                          <a:pt x="33" y="52"/>
                        </a:lnTo>
                        <a:lnTo>
                          <a:pt x="65" y="45"/>
                        </a:lnTo>
                        <a:lnTo>
                          <a:pt x="100" y="32"/>
                        </a:lnTo>
                        <a:lnTo>
                          <a:pt x="135" y="10"/>
                        </a:lnTo>
                        <a:close/>
                      </a:path>
                    </a:pathLst>
                  </a:custGeom>
                  <a:solidFill>
                    <a:srgbClr val="FFE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6" name="Freeform 92">
                  <a:extLst>
                    <a:ext uri="{FF2B5EF4-FFF2-40B4-BE49-F238E27FC236}">
                      <a16:creationId xmlns:a16="http://schemas.microsoft.com/office/drawing/2014/main" id="{2BDC5976-84BE-4372-7320-D6D135BBA61D}"/>
                    </a:ext>
                  </a:extLst>
                </p:cNvPr>
                <p:cNvSpPr>
                  <a:spLocks/>
                </p:cNvSpPr>
                <p:nvPr/>
              </p:nvSpPr>
              <p:spPr bwMode="auto">
                <a:xfrm rot="5400000">
                  <a:off x="681" y="2038"/>
                  <a:ext cx="397" cy="448"/>
                </a:xfrm>
                <a:custGeom>
                  <a:avLst/>
                  <a:gdLst>
                    <a:gd name="T0" fmla="*/ 1 w 1584"/>
                    <a:gd name="T1" fmla="*/ 1 h 2273"/>
                    <a:gd name="T2" fmla="*/ 1 w 1584"/>
                    <a:gd name="T3" fmla="*/ 1 h 2273"/>
                    <a:gd name="T4" fmla="*/ 1 w 1584"/>
                    <a:gd name="T5" fmla="*/ 1 h 2273"/>
                    <a:gd name="T6" fmla="*/ 1 w 1584"/>
                    <a:gd name="T7" fmla="*/ 1 h 2273"/>
                    <a:gd name="T8" fmla="*/ 1 w 1584"/>
                    <a:gd name="T9" fmla="*/ 1 h 2273"/>
                    <a:gd name="T10" fmla="*/ 1 w 1584"/>
                    <a:gd name="T11" fmla="*/ 0 h 2273"/>
                    <a:gd name="T12" fmla="*/ 1 w 1584"/>
                    <a:gd name="T13" fmla="*/ 0 h 2273"/>
                    <a:gd name="T14" fmla="*/ 2 w 1584"/>
                    <a:gd name="T15" fmla="*/ 0 h 2273"/>
                    <a:gd name="T16" fmla="*/ 2 w 1584"/>
                    <a:gd name="T17" fmla="*/ 0 h 2273"/>
                    <a:gd name="T18" fmla="*/ 2 w 1584"/>
                    <a:gd name="T19" fmla="*/ 0 h 2273"/>
                    <a:gd name="T20" fmla="*/ 2 w 1584"/>
                    <a:gd name="T21" fmla="*/ 0 h 2273"/>
                    <a:gd name="T22" fmla="*/ 2 w 1584"/>
                    <a:gd name="T23" fmla="*/ 0 h 2273"/>
                    <a:gd name="T24" fmla="*/ 2 w 1584"/>
                    <a:gd name="T25" fmla="*/ 0 h 2273"/>
                    <a:gd name="T26" fmla="*/ 2 w 1584"/>
                    <a:gd name="T27" fmla="*/ 0 h 2273"/>
                    <a:gd name="T28" fmla="*/ 2 w 1584"/>
                    <a:gd name="T29" fmla="*/ 0 h 2273"/>
                    <a:gd name="T30" fmla="*/ 2 w 1584"/>
                    <a:gd name="T31" fmla="*/ 0 h 2273"/>
                    <a:gd name="T32" fmla="*/ 1 w 1584"/>
                    <a:gd name="T33" fmla="*/ 0 h 2273"/>
                    <a:gd name="T34" fmla="*/ 1 w 1584"/>
                    <a:gd name="T35" fmla="*/ 0 h 2273"/>
                    <a:gd name="T36" fmla="*/ 1 w 1584"/>
                    <a:gd name="T37" fmla="*/ 0 h 2273"/>
                    <a:gd name="T38" fmla="*/ 1 w 1584"/>
                    <a:gd name="T39" fmla="*/ 0 h 2273"/>
                    <a:gd name="T40" fmla="*/ 1 w 1584"/>
                    <a:gd name="T41" fmla="*/ 0 h 2273"/>
                    <a:gd name="T42" fmla="*/ 1 w 1584"/>
                    <a:gd name="T43" fmla="*/ 0 h 2273"/>
                    <a:gd name="T44" fmla="*/ 1 w 1584"/>
                    <a:gd name="T45" fmla="*/ 0 h 2273"/>
                    <a:gd name="T46" fmla="*/ 1 w 1584"/>
                    <a:gd name="T47" fmla="*/ 0 h 2273"/>
                    <a:gd name="T48" fmla="*/ 0 w 1584"/>
                    <a:gd name="T49" fmla="*/ 0 h 2273"/>
                    <a:gd name="T50" fmla="*/ 0 w 1584"/>
                    <a:gd name="T51" fmla="*/ 0 h 2273"/>
                    <a:gd name="T52" fmla="*/ 0 w 1584"/>
                    <a:gd name="T53" fmla="*/ 0 h 2273"/>
                    <a:gd name="T54" fmla="*/ 0 w 1584"/>
                    <a:gd name="T55" fmla="*/ 0 h 2273"/>
                    <a:gd name="T56" fmla="*/ 0 w 1584"/>
                    <a:gd name="T57" fmla="*/ 0 h 2273"/>
                    <a:gd name="T58" fmla="*/ 0 w 1584"/>
                    <a:gd name="T59" fmla="*/ 0 h 2273"/>
                    <a:gd name="T60" fmla="*/ 0 w 1584"/>
                    <a:gd name="T61" fmla="*/ 0 h 2273"/>
                    <a:gd name="T62" fmla="*/ 0 w 1584"/>
                    <a:gd name="T63" fmla="*/ 0 h 2273"/>
                    <a:gd name="T64" fmla="*/ 0 w 1584"/>
                    <a:gd name="T65" fmla="*/ 0 h 2273"/>
                    <a:gd name="T66" fmla="*/ 0 w 1584"/>
                    <a:gd name="T67" fmla="*/ 0 h 2273"/>
                    <a:gd name="T68" fmla="*/ 0 w 1584"/>
                    <a:gd name="T69" fmla="*/ 0 h 2273"/>
                    <a:gd name="T70" fmla="*/ 0 w 1584"/>
                    <a:gd name="T71" fmla="*/ 1 h 2273"/>
                    <a:gd name="T72" fmla="*/ 1 w 1584"/>
                    <a:gd name="T73" fmla="*/ 1 h 2273"/>
                    <a:gd name="T74" fmla="*/ 1 w 1584"/>
                    <a:gd name="T75" fmla="*/ 1 h 2273"/>
                    <a:gd name="T76" fmla="*/ 1 w 1584"/>
                    <a:gd name="T77" fmla="*/ 1 h 2273"/>
                    <a:gd name="T78" fmla="*/ 1 w 1584"/>
                    <a:gd name="T79" fmla="*/ 1 h 2273"/>
                    <a:gd name="T80" fmla="*/ 1 w 1584"/>
                    <a:gd name="T81" fmla="*/ 1 h 2273"/>
                    <a:gd name="T82" fmla="*/ 1 w 1584"/>
                    <a:gd name="T83" fmla="*/ 1 h 2273"/>
                    <a:gd name="T84" fmla="*/ 1 w 1584"/>
                    <a:gd name="T85" fmla="*/ 1 h 2273"/>
                    <a:gd name="T86" fmla="*/ 1 w 1584"/>
                    <a:gd name="T87" fmla="*/ 1 h 2273"/>
                    <a:gd name="T88" fmla="*/ 1 w 1584"/>
                    <a:gd name="T89" fmla="*/ 1 h 2273"/>
                    <a:gd name="T90" fmla="*/ 1 w 1584"/>
                    <a:gd name="T91" fmla="*/ 1 h 2273"/>
                    <a:gd name="T92" fmla="*/ 1 w 1584"/>
                    <a:gd name="T93" fmla="*/ 1 h 2273"/>
                    <a:gd name="T94" fmla="*/ 1 w 1584"/>
                    <a:gd name="T95" fmla="*/ 1 h 2273"/>
                    <a:gd name="T96" fmla="*/ 1 w 1584"/>
                    <a:gd name="T97" fmla="*/ 1 h 2273"/>
                    <a:gd name="T98" fmla="*/ 1 w 1584"/>
                    <a:gd name="T99" fmla="*/ 1 h 2273"/>
                    <a:gd name="T100" fmla="*/ 1 w 1584"/>
                    <a:gd name="T101" fmla="*/ 1 h 2273"/>
                    <a:gd name="T102" fmla="*/ 1 w 1584"/>
                    <a:gd name="T103" fmla="*/ 1 h 2273"/>
                    <a:gd name="T104" fmla="*/ 1 w 1584"/>
                    <a:gd name="T105" fmla="*/ 1 h 227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1584" h="2273">
                      <a:moveTo>
                        <a:pt x="1110" y="2213"/>
                      </a:moveTo>
                      <a:lnTo>
                        <a:pt x="1124" y="2204"/>
                      </a:lnTo>
                      <a:lnTo>
                        <a:pt x="1134" y="2195"/>
                      </a:lnTo>
                      <a:lnTo>
                        <a:pt x="1140" y="2188"/>
                      </a:lnTo>
                      <a:lnTo>
                        <a:pt x="1144" y="2181"/>
                      </a:lnTo>
                      <a:lnTo>
                        <a:pt x="1148" y="2177"/>
                      </a:lnTo>
                      <a:lnTo>
                        <a:pt x="1150" y="2172"/>
                      </a:lnTo>
                      <a:lnTo>
                        <a:pt x="1153" y="2168"/>
                      </a:lnTo>
                      <a:lnTo>
                        <a:pt x="1154" y="2162"/>
                      </a:lnTo>
                      <a:lnTo>
                        <a:pt x="1156" y="2155"/>
                      </a:lnTo>
                      <a:lnTo>
                        <a:pt x="1157" y="2145"/>
                      </a:lnTo>
                      <a:lnTo>
                        <a:pt x="1165" y="2109"/>
                      </a:lnTo>
                      <a:lnTo>
                        <a:pt x="1211" y="1815"/>
                      </a:lnTo>
                      <a:lnTo>
                        <a:pt x="1219" y="1773"/>
                      </a:lnTo>
                      <a:lnTo>
                        <a:pt x="1226" y="1743"/>
                      </a:lnTo>
                      <a:lnTo>
                        <a:pt x="1237" y="1701"/>
                      </a:lnTo>
                      <a:lnTo>
                        <a:pt x="1254" y="1653"/>
                      </a:lnTo>
                      <a:lnTo>
                        <a:pt x="1270" y="1612"/>
                      </a:lnTo>
                      <a:lnTo>
                        <a:pt x="1286" y="1578"/>
                      </a:lnTo>
                      <a:lnTo>
                        <a:pt x="1299" y="1548"/>
                      </a:lnTo>
                      <a:lnTo>
                        <a:pt x="1312" y="1519"/>
                      </a:lnTo>
                      <a:lnTo>
                        <a:pt x="1339" y="1470"/>
                      </a:lnTo>
                      <a:lnTo>
                        <a:pt x="1365" y="1424"/>
                      </a:lnTo>
                      <a:lnTo>
                        <a:pt x="1391" y="1381"/>
                      </a:lnTo>
                      <a:lnTo>
                        <a:pt x="1412" y="1348"/>
                      </a:lnTo>
                      <a:lnTo>
                        <a:pt x="1449" y="1286"/>
                      </a:lnTo>
                      <a:lnTo>
                        <a:pt x="1474" y="1243"/>
                      </a:lnTo>
                      <a:lnTo>
                        <a:pt x="1495" y="1208"/>
                      </a:lnTo>
                      <a:lnTo>
                        <a:pt x="1512" y="1167"/>
                      </a:lnTo>
                      <a:lnTo>
                        <a:pt x="1532" y="1117"/>
                      </a:lnTo>
                      <a:lnTo>
                        <a:pt x="1545" y="1074"/>
                      </a:lnTo>
                      <a:lnTo>
                        <a:pt x="1557" y="1029"/>
                      </a:lnTo>
                      <a:lnTo>
                        <a:pt x="1565" y="990"/>
                      </a:lnTo>
                      <a:lnTo>
                        <a:pt x="1575" y="947"/>
                      </a:lnTo>
                      <a:lnTo>
                        <a:pt x="1581" y="893"/>
                      </a:lnTo>
                      <a:lnTo>
                        <a:pt x="1584" y="830"/>
                      </a:lnTo>
                      <a:lnTo>
                        <a:pt x="1584" y="772"/>
                      </a:lnTo>
                      <a:lnTo>
                        <a:pt x="1579" y="726"/>
                      </a:lnTo>
                      <a:lnTo>
                        <a:pt x="1572" y="683"/>
                      </a:lnTo>
                      <a:lnTo>
                        <a:pt x="1564" y="644"/>
                      </a:lnTo>
                      <a:lnTo>
                        <a:pt x="1552" y="594"/>
                      </a:lnTo>
                      <a:lnTo>
                        <a:pt x="1538" y="542"/>
                      </a:lnTo>
                      <a:lnTo>
                        <a:pt x="1522" y="495"/>
                      </a:lnTo>
                      <a:lnTo>
                        <a:pt x="1504" y="452"/>
                      </a:lnTo>
                      <a:lnTo>
                        <a:pt x="1481" y="413"/>
                      </a:lnTo>
                      <a:lnTo>
                        <a:pt x="1452" y="364"/>
                      </a:lnTo>
                      <a:lnTo>
                        <a:pt x="1418" y="315"/>
                      </a:lnTo>
                      <a:lnTo>
                        <a:pt x="1385" y="277"/>
                      </a:lnTo>
                      <a:lnTo>
                        <a:pt x="1355" y="244"/>
                      </a:lnTo>
                      <a:lnTo>
                        <a:pt x="1320" y="212"/>
                      </a:lnTo>
                      <a:lnTo>
                        <a:pt x="1283" y="182"/>
                      </a:lnTo>
                      <a:lnTo>
                        <a:pt x="1248" y="153"/>
                      </a:lnTo>
                      <a:lnTo>
                        <a:pt x="1205" y="124"/>
                      </a:lnTo>
                      <a:lnTo>
                        <a:pt x="1154" y="93"/>
                      </a:lnTo>
                      <a:lnTo>
                        <a:pt x="1107" y="70"/>
                      </a:lnTo>
                      <a:lnTo>
                        <a:pt x="1052" y="47"/>
                      </a:lnTo>
                      <a:lnTo>
                        <a:pt x="1002" y="31"/>
                      </a:lnTo>
                      <a:lnTo>
                        <a:pt x="961" y="21"/>
                      </a:lnTo>
                      <a:lnTo>
                        <a:pt x="916" y="10"/>
                      </a:lnTo>
                      <a:lnTo>
                        <a:pt x="875" y="4"/>
                      </a:lnTo>
                      <a:lnTo>
                        <a:pt x="826" y="0"/>
                      </a:lnTo>
                      <a:lnTo>
                        <a:pt x="782" y="0"/>
                      </a:lnTo>
                      <a:lnTo>
                        <a:pt x="734" y="0"/>
                      </a:lnTo>
                      <a:lnTo>
                        <a:pt x="694" y="4"/>
                      </a:lnTo>
                      <a:lnTo>
                        <a:pt x="648" y="15"/>
                      </a:lnTo>
                      <a:lnTo>
                        <a:pt x="613" y="22"/>
                      </a:lnTo>
                      <a:lnTo>
                        <a:pt x="570" y="34"/>
                      </a:lnTo>
                      <a:lnTo>
                        <a:pt x="530" y="46"/>
                      </a:lnTo>
                      <a:lnTo>
                        <a:pt x="494" y="61"/>
                      </a:lnTo>
                      <a:lnTo>
                        <a:pt x="459" y="76"/>
                      </a:lnTo>
                      <a:lnTo>
                        <a:pt x="425" y="94"/>
                      </a:lnTo>
                      <a:lnTo>
                        <a:pt x="393" y="113"/>
                      </a:lnTo>
                      <a:lnTo>
                        <a:pt x="358" y="137"/>
                      </a:lnTo>
                      <a:lnTo>
                        <a:pt x="320" y="163"/>
                      </a:lnTo>
                      <a:lnTo>
                        <a:pt x="286" y="189"/>
                      </a:lnTo>
                      <a:lnTo>
                        <a:pt x="255" y="216"/>
                      </a:lnTo>
                      <a:lnTo>
                        <a:pt x="223" y="247"/>
                      </a:lnTo>
                      <a:lnTo>
                        <a:pt x="190" y="281"/>
                      </a:lnTo>
                      <a:lnTo>
                        <a:pt x="161" y="314"/>
                      </a:lnTo>
                      <a:lnTo>
                        <a:pt x="138" y="345"/>
                      </a:lnTo>
                      <a:lnTo>
                        <a:pt x="110" y="387"/>
                      </a:lnTo>
                      <a:lnTo>
                        <a:pt x="83" y="433"/>
                      </a:lnTo>
                      <a:lnTo>
                        <a:pt x="59" y="485"/>
                      </a:lnTo>
                      <a:lnTo>
                        <a:pt x="41" y="535"/>
                      </a:lnTo>
                      <a:lnTo>
                        <a:pt x="27" y="587"/>
                      </a:lnTo>
                      <a:lnTo>
                        <a:pt x="14" y="640"/>
                      </a:lnTo>
                      <a:lnTo>
                        <a:pt x="5" y="687"/>
                      </a:lnTo>
                      <a:lnTo>
                        <a:pt x="0" y="735"/>
                      </a:lnTo>
                      <a:lnTo>
                        <a:pt x="0" y="781"/>
                      </a:lnTo>
                      <a:lnTo>
                        <a:pt x="0" y="822"/>
                      </a:lnTo>
                      <a:lnTo>
                        <a:pt x="0" y="871"/>
                      </a:lnTo>
                      <a:lnTo>
                        <a:pt x="2" y="914"/>
                      </a:lnTo>
                      <a:lnTo>
                        <a:pt x="10" y="969"/>
                      </a:lnTo>
                      <a:lnTo>
                        <a:pt x="19" y="1016"/>
                      </a:lnTo>
                      <a:lnTo>
                        <a:pt x="31" y="1062"/>
                      </a:lnTo>
                      <a:lnTo>
                        <a:pt x="48" y="1115"/>
                      </a:lnTo>
                      <a:lnTo>
                        <a:pt x="68" y="1163"/>
                      </a:lnTo>
                      <a:lnTo>
                        <a:pt x="88" y="1205"/>
                      </a:lnTo>
                      <a:lnTo>
                        <a:pt x="113" y="1253"/>
                      </a:lnTo>
                      <a:lnTo>
                        <a:pt x="140" y="1298"/>
                      </a:lnTo>
                      <a:lnTo>
                        <a:pt x="163" y="1341"/>
                      </a:lnTo>
                      <a:lnTo>
                        <a:pt x="188" y="1384"/>
                      </a:lnTo>
                      <a:lnTo>
                        <a:pt x="213" y="1431"/>
                      </a:lnTo>
                      <a:lnTo>
                        <a:pt x="253" y="1499"/>
                      </a:lnTo>
                      <a:lnTo>
                        <a:pt x="290" y="1569"/>
                      </a:lnTo>
                      <a:lnTo>
                        <a:pt x="312" y="1605"/>
                      </a:lnTo>
                      <a:lnTo>
                        <a:pt x="323" y="1635"/>
                      </a:lnTo>
                      <a:lnTo>
                        <a:pt x="336" y="1672"/>
                      </a:lnTo>
                      <a:lnTo>
                        <a:pt x="349" y="1714"/>
                      </a:lnTo>
                      <a:lnTo>
                        <a:pt x="359" y="1751"/>
                      </a:lnTo>
                      <a:lnTo>
                        <a:pt x="368" y="1792"/>
                      </a:lnTo>
                      <a:lnTo>
                        <a:pt x="375" y="1849"/>
                      </a:lnTo>
                      <a:lnTo>
                        <a:pt x="386" y="1911"/>
                      </a:lnTo>
                      <a:lnTo>
                        <a:pt x="393" y="1960"/>
                      </a:lnTo>
                      <a:lnTo>
                        <a:pt x="401" y="2022"/>
                      </a:lnTo>
                      <a:lnTo>
                        <a:pt x="406" y="2066"/>
                      </a:lnTo>
                      <a:lnTo>
                        <a:pt x="412" y="2105"/>
                      </a:lnTo>
                      <a:lnTo>
                        <a:pt x="421" y="2144"/>
                      </a:lnTo>
                      <a:lnTo>
                        <a:pt x="425" y="2155"/>
                      </a:lnTo>
                      <a:lnTo>
                        <a:pt x="426" y="2164"/>
                      </a:lnTo>
                      <a:lnTo>
                        <a:pt x="428" y="2168"/>
                      </a:lnTo>
                      <a:lnTo>
                        <a:pt x="429" y="2172"/>
                      </a:lnTo>
                      <a:lnTo>
                        <a:pt x="433" y="2177"/>
                      </a:lnTo>
                      <a:lnTo>
                        <a:pt x="438" y="2184"/>
                      </a:lnTo>
                      <a:lnTo>
                        <a:pt x="445" y="2191"/>
                      </a:lnTo>
                      <a:lnTo>
                        <a:pt x="452" y="2199"/>
                      </a:lnTo>
                      <a:lnTo>
                        <a:pt x="465" y="2208"/>
                      </a:lnTo>
                      <a:lnTo>
                        <a:pt x="479" y="2215"/>
                      </a:lnTo>
                      <a:lnTo>
                        <a:pt x="498" y="2226"/>
                      </a:lnTo>
                      <a:lnTo>
                        <a:pt x="516" y="2233"/>
                      </a:lnTo>
                      <a:lnTo>
                        <a:pt x="534" y="2240"/>
                      </a:lnTo>
                      <a:lnTo>
                        <a:pt x="552" y="2244"/>
                      </a:lnTo>
                      <a:lnTo>
                        <a:pt x="567" y="2248"/>
                      </a:lnTo>
                      <a:lnTo>
                        <a:pt x="591" y="2254"/>
                      </a:lnTo>
                      <a:lnTo>
                        <a:pt x="610" y="2259"/>
                      </a:lnTo>
                      <a:lnTo>
                        <a:pt x="630" y="2261"/>
                      </a:lnTo>
                      <a:lnTo>
                        <a:pt x="650" y="2264"/>
                      </a:lnTo>
                      <a:lnTo>
                        <a:pt x="673" y="2267"/>
                      </a:lnTo>
                      <a:lnTo>
                        <a:pt x="693" y="2269"/>
                      </a:lnTo>
                      <a:lnTo>
                        <a:pt x="711" y="2270"/>
                      </a:lnTo>
                      <a:lnTo>
                        <a:pt x="733" y="2272"/>
                      </a:lnTo>
                      <a:lnTo>
                        <a:pt x="753" y="2273"/>
                      </a:lnTo>
                      <a:lnTo>
                        <a:pt x="772" y="2273"/>
                      </a:lnTo>
                      <a:lnTo>
                        <a:pt x="789" y="2273"/>
                      </a:lnTo>
                      <a:lnTo>
                        <a:pt x="809" y="2273"/>
                      </a:lnTo>
                      <a:lnTo>
                        <a:pt x="832" y="2273"/>
                      </a:lnTo>
                      <a:lnTo>
                        <a:pt x="852" y="2272"/>
                      </a:lnTo>
                      <a:lnTo>
                        <a:pt x="869" y="2272"/>
                      </a:lnTo>
                      <a:lnTo>
                        <a:pt x="890" y="2269"/>
                      </a:lnTo>
                      <a:lnTo>
                        <a:pt x="914" y="2267"/>
                      </a:lnTo>
                      <a:lnTo>
                        <a:pt x="932" y="2264"/>
                      </a:lnTo>
                      <a:lnTo>
                        <a:pt x="954" y="2261"/>
                      </a:lnTo>
                      <a:lnTo>
                        <a:pt x="974" y="2257"/>
                      </a:lnTo>
                      <a:lnTo>
                        <a:pt x="992" y="2254"/>
                      </a:lnTo>
                      <a:lnTo>
                        <a:pt x="1011" y="2250"/>
                      </a:lnTo>
                      <a:lnTo>
                        <a:pt x="1027" y="2245"/>
                      </a:lnTo>
                      <a:lnTo>
                        <a:pt x="1047" y="2240"/>
                      </a:lnTo>
                      <a:lnTo>
                        <a:pt x="1062" y="2233"/>
                      </a:lnTo>
                      <a:lnTo>
                        <a:pt x="1078" y="2227"/>
                      </a:lnTo>
                      <a:lnTo>
                        <a:pt x="1095" y="2220"/>
                      </a:lnTo>
                      <a:lnTo>
                        <a:pt x="1110" y="2213"/>
                      </a:lnTo>
                      <a:close/>
                    </a:path>
                  </a:pathLst>
                </a:custGeom>
                <a:solidFill>
                  <a:srgbClr val="009900"/>
                </a:solidFill>
                <a:ln w="6350">
                  <a:solidFill>
                    <a:srgbClr val="FFFFFF"/>
                  </a:solidFill>
                  <a:prstDash val="solid"/>
                  <a:round/>
                  <a:headEnd/>
                  <a:tailEnd/>
                </a:ln>
              </p:spPr>
              <p:txBody>
                <a:bodyPr/>
                <a:lstStyle/>
                <a:p>
                  <a:endParaRPr lang="en-US"/>
                </a:p>
              </p:txBody>
            </p:sp>
            <p:grpSp>
              <p:nvGrpSpPr>
                <p:cNvPr id="27" name="Group 93">
                  <a:extLst>
                    <a:ext uri="{FF2B5EF4-FFF2-40B4-BE49-F238E27FC236}">
                      <a16:creationId xmlns:a16="http://schemas.microsoft.com/office/drawing/2014/main" id="{A35F939D-EB06-2FFC-F4C2-269261269581}"/>
                    </a:ext>
                  </a:extLst>
                </p:cNvPr>
                <p:cNvGrpSpPr>
                  <a:grpSpLocks/>
                </p:cNvGrpSpPr>
                <p:nvPr/>
              </p:nvGrpSpPr>
              <p:grpSpPr bwMode="auto">
                <a:xfrm rot="5400000">
                  <a:off x="735" y="2100"/>
                  <a:ext cx="248" cy="398"/>
                  <a:chOff x="1987" y="2278"/>
                  <a:chExt cx="495" cy="1010"/>
                </a:xfrm>
              </p:grpSpPr>
              <p:sp>
                <p:nvSpPr>
                  <p:cNvPr id="29" name="Oval 94">
                    <a:extLst>
                      <a:ext uri="{FF2B5EF4-FFF2-40B4-BE49-F238E27FC236}">
                        <a16:creationId xmlns:a16="http://schemas.microsoft.com/office/drawing/2014/main" id="{B6AD97DE-CC31-BA7B-B673-6AC0BEDCD78E}"/>
                      </a:ext>
                    </a:extLst>
                  </p:cNvPr>
                  <p:cNvSpPr>
                    <a:spLocks noChangeArrowheads="1"/>
                  </p:cNvSpPr>
                  <p:nvPr/>
                </p:nvSpPr>
                <p:spPr bwMode="auto">
                  <a:xfrm>
                    <a:off x="1987" y="3172"/>
                    <a:ext cx="347" cy="116"/>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0" name="Freeform 95">
                    <a:extLst>
                      <a:ext uri="{FF2B5EF4-FFF2-40B4-BE49-F238E27FC236}">
                        <a16:creationId xmlns:a16="http://schemas.microsoft.com/office/drawing/2014/main" id="{F7D8A421-DC02-6DCD-49EC-F97547617932}"/>
                      </a:ext>
                    </a:extLst>
                  </p:cNvPr>
                  <p:cNvSpPr>
                    <a:spLocks/>
                  </p:cNvSpPr>
                  <p:nvPr/>
                </p:nvSpPr>
                <p:spPr bwMode="auto">
                  <a:xfrm>
                    <a:off x="2349" y="2278"/>
                    <a:ext cx="133" cy="169"/>
                  </a:xfrm>
                  <a:custGeom>
                    <a:avLst/>
                    <a:gdLst>
                      <a:gd name="T0" fmla="*/ 0 w 265"/>
                      <a:gd name="T1" fmla="*/ 0 h 338"/>
                      <a:gd name="T2" fmla="*/ 3 w 265"/>
                      <a:gd name="T3" fmla="*/ 2 h 338"/>
                      <a:gd name="T4" fmla="*/ 5 w 265"/>
                      <a:gd name="T5" fmla="*/ 3 h 338"/>
                      <a:gd name="T6" fmla="*/ 6 w 265"/>
                      <a:gd name="T7" fmla="*/ 4 h 338"/>
                      <a:gd name="T8" fmla="*/ 7 w 265"/>
                      <a:gd name="T9" fmla="*/ 5 h 338"/>
                      <a:gd name="T10" fmla="*/ 8 w 265"/>
                      <a:gd name="T11" fmla="*/ 7 h 338"/>
                      <a:gd name="T12" fmla="*/ 8 w 265"/>
                      <a:gd name="T13" fmla="*/ 8 h 338"/>
                      <a:gd name="T14" fmla="*/ 9 w 265"/>
                      <a:gd name="T15" fmla="*/ 9 h 338"/>
                      <a:gd name="T16" fmla="*/ 6 w 265"/>
                      <a:gd name="T17" fmla="*/ 11 h 338"/>
                      <a:gd name="T18" fmla="*/ 6 w 265"/>
                      <a:gd name="T19" fmla="*/ 9 h 338"/>
                      <a:gd name="T20" fmla="*/ 5 w 265"/>
                      <a:gd name="T21" fmla="*/ 7 h 338"/>
                      <a:gd name="T22" fmla="*/ 4 w 265"/>
                      <a:gd name="T23" fmla="*/ 6 h 338"/>
                      <a:gd name="T24" fmla="*/ 4 w 265"/>
                      <a:gd name="T25" fmla="*/ 4 h 338"/>
                      <a:gd name="T26" fmla="*/ 2 w 265"/>
                      <a:gd name="T27" fmla="*/ 2 h 338"/>
                      <a:gd name="T28" fmla="*/ 0 w 265"/>
                      <a:gd name="T29" fmla="*/ 0 h 3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65" h="338">
                        <a:moveTo>
                          <a:pt x="0" y="0"/>
                        </a:moveTo>
                        <a:lnTo>
                          <a:pt x="70" y="36"/>
                        </a:lnTo>
                        <a:lnTo>
                          <a:pt x="135" y="76"/>
                        </a:lnTo>
                        <a:lnTo>
                          <a:pt x="183" y="116"/>
                        </a:lnTo>
                        <a:lnTo>
                          <a:pt x="216" y="159"/>
                        </a:lnTo>
                        <a:lnTo>
                          <a:pt x="239" y="203"/>
                        </a:lnTo>
                        <a:lnTo>
                          <a:pt x="255" y="241"/>
                        </a:lnTo>
                        <a:lnTo>
                          <a:pt x="265" y="280"/>
                        </a:lnTo>
                        <a:lnTo>
                          <a:pt x="172" y="338"/>
                        </a:lnTo>
                        <a:lnTo>
                          <a:pt x="163" y="283"/>
                        </a:lnTo>
                        <a:lnTo>
                          <a:pt x="148" y="224"/>
                        </a:lnTo>
                        <a:lnTo>
                          <a:pt x="126" y="164"/>
                        </a:lnTo>
                        <a:lnTo>
                          <a:pt x="97" y="112"/>
                        </a:lnTo>
                        <a:lnTo>
                          <a:pt x="57" y="61"/>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31" name="Group 96">
                    <a:extLst>
                      <a:ext uri="{FF2B5EF4-FFF2-40B4-BE49-F238E27FC236}">
                        <a16:creationId xmlns:a16="http://schemas.microsoft.com/office/drawing/2014/main" id="{0840299E-55C1-4EA6-BCF7-45EED3F60801}"/>
                      </a:ext>
                    </a:extLst>
                  </p:cNvPr>
                  <p:cNvGrpSpPr>
                    <a:grpSpLocks/>
                  </p:cNvGrpSpPr>
                  <p:nvPr/>
                </p:nvGrpSpPr>
                <p:grpSpPr bwMode="auto">
                  <a:xfrm>
                    <a:off x="2050" y="2506"/>
                    <a:ext cx="220" cy="706"/>
                    <a:chOff x="2050" y="2506"/>
                    <a:chExt cx="220" cy="706"/>
                  </a:xfrm>
                </p:grpSpPr>
                <p:sp>
                  <p:nvSpPr>
                    <p:cNvPr id="33" name="Freeform 97">
                      <a:extLst>
                        <a:ext uri="{FF2B5EF4-FFF2-40B4-BE49-F238E27FC236}">
                          <a16:creationId xmlns:a16="http://schemas.microsoft.com/office/drawing/2014/main" id="{29A66F35-3B1F-2696-68EC-8426B95C409D}"/>
                        </a:ext>
                      </a:extLst>
                    </p:cNvPr>
                    <p:cNvSpPr>
                      <a:spLocks/>
                    </p:cNvSpPr>
                    <p:nvPr/>
                  </p:nvSpPr>
                  <p:spPr bwMode="auto">
                    <a:xfrm>
                      <a:off x="2091" y="2801"/>
                      <a:ext cx="135" cy="411"/>
                    </a:xfrm>
                    <a:custGeom>
                      <a:avLst/>
                      <a:gdLst>
                        <a:gd name="T0" fmla="*/ 0 w 271"/>
                        <a:gd name="T1" fmla="*/ 1 h 823"/>
                        <a:gd name="T2" fmla="*/ 0 w 271"/>
                        <a:gd name="T3" fmla="*/ 6 h 823"/>
                        <a:gd name="T4" fmla="*/ 0 w 271"/>
                        <a:gd name="T5" fmla="*/ 6 h 823"/>
                        <a:gd name="T6" fmla="*/ 0 w 271"/>
                        <a:gd name="T7" fmla="*/ 23 h 823"/>
                        <a:gd name="T8" fmla="*/ 1 w 271"/>
                        <a:gd name="T9" fmla="*/ 25 h 823"/>
                        <a:gd name="T10" fmla="*/ 2 w 271"/>
                        <a:gd name="T11" fmla="*/ 25 h 823"/>
                        <a:gd name="T12" fmla="*/ 3 w 271"/>
                        <a:gd name="T13" fmla="*/ 24 h 823"/>
                        <a:gd name="T14" fmla="*/ 4 w 271"/>
                        <a:gd name="T15" fmla="*/ 24 h 823"/>
                        <a:gd name="T16" fmla="*/ 6 w 271"/>
                        <a:gd name="T17" fmla="*/ 25 h 823"/>
                        <a:gd name="T18" fmla="*/ 7 w 271"/>
                        <a:gd name="T19" fmla="*/ 25 h 823"/>
                        <a:gd name="T20" fmla="*/ 8 w 271"/>
                        <a:gd name="T21" fmla="*/ 23 h 823"/>
                        <a:gd name="T22" fmla="*/ 7 w 271"/>
                        <a:gd name="T23" fmla="*/ 6 h 823"/>
                        <a:gd name="T24" fmla="*/ 8 w 271"/>
                        <a:gd name="T25" fmla="*/ 6 h 823"/>
                        <a:gd name="T26" fmla="*/ 8 w 271"/>
                        <a:gd name="T27" fmla="*/ 1 h 823"/>
                        <a:gd name="T28" fmla="*/ 6 w 271"/>
                        <a:gd name="T29" fmla="*/ 0 h 823"/>
                        <a:gd name="T30" fmla="*/ 5 w 271"/>
                        <a:gd name="T31" fmla="*/ 0 h 823"/>
                        <a:gd name="T32" fmla="*/ 5 w 271"/>
                        <a:gd name="T33" fmla="*/ 0 h 823"/>
                        <a:gd name="T34" fmla="*/ 3 w 271"/>
                        <a:gd name="T35" fmla="*/ 0 h 823"/>
                        <a:gd name="T36" fmla="*/ 2 w 271"/>
                        <a:gd name="T37" fmla="*/ 0 h 823"/>
                        <a:gd name="T38" fmla="*/ 1 w 271"/>
                        <a:gd name="T39" fmla="*/ 0 h 823"/>
                        <a:gd name="T40" fmla="*/ 0 w 271"/>
                        <a:gd name="T41" fmla="*/ 1 h 82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1" h="823">
                          <a:moveTo>
                            <a:pt x="0" y="63"/>
                          </a:moveTo>
                          <a:lnTo>
                            <a:pt x="5" y="197"/>
                          </a:lnTo>
                          <a:lnTo>
                            <a:pt x="19" y="214"/>
                          </a:lnTo>
                          <a:lnTo>
                            <a:pt x="13" y="763"/>
                          </a:lnTo>
                          <a:lnTo>
                            <a:pt x="32" y="823"/>
                          </a:lnTo>
                          <a:lnTo>
                            <a:pt x="77" y="823"/>
                          </a:lnTo>
                          <a:lnTo>
                            <a:pt x="115" y="793"/>
                          </a:lnTo>
                          <a:lnTo>
                            <a:pt x="158" y="793"/>
                          </a:lnTo>
                          <a:lnTo>
                            <a:pt x="193" y="823"/>
                          </a:lnTo>
                          <a:lnTo>
                            <a:pt x="241" y="823"/>
                          </a:lnTo>
                          <a:lnTo>
                            <a:pt x="257" y="763"/>
                          </a:lnTo>
                          <a:lnTo>
                            <a:pt x="249" y="214"/>
                          </a:lnTo>
                          <a:lnTo>
                            <a:pt x="262" y="197"/>
                          </a:lnTo>
                          <a:lnTo>
                            <a:pt x="271" y="63"/>
                          </a:lnTo>
                          <a:lnTo>
                            <a:pt x="211" y="13"/>
                          </a:lnTo>
                          <a:lnTo>
                            <a:pt x="182" y="13"/>
                          </a:lnTo>
                          <a:lnTo>
                            <a:pt x="165" y="0"/>
                          </a:lnTo>
                          <a:lnTo>
                            <a:pt x="96" y="0"/>
                          </a:lnTo>
                          <a:lnTo>
                            <a:pt x="82" y="13"/>
                          </a:lnTo>
                          <a:lnTo>
                            <a:pt x="57" y="13"/>
                          </a:lnTo>
                          <a:lnTo>
                            <a:pt x="0" y="63"/>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Oval 98">
                      <a:extLst>
                        <a:ext uri="{FF2B5EF4-FFF2-40B4-BE49-F238E27FC236}">
                          <a16:creationId xmlns:a16="http://schemas.microsoft.com/office/drawing/2014/main" id="{88F986B1-4857-7F7B-09BF-276B3D2F2E17}"/>
                        </a:ext>
                      </a:extLst>
                    </p:cNvPr>
                    <p:cNvSpPr>
                      <a:spLocks noChangeArrowheads="1"/>
                    </p:cNvSpPr>
                    <p:nvPr/>
                  </p:nvSpPr>
                  <p:spPr bwMode="auto">
                    <a:xfrm>
                      <a:off x="2161" y="2813"/>
                      <a:ext cx="17" cy="29"/>
                    </a:xfrm>
                    <a:prstGeom prst="ellipse">
                      <a:avLst/>
                    </a:pr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35" name="Group 99">
                      <a:extLst>
                        <a:ext uri="{FF2B5EF4-FFF2-40B4-BE49-F238E27FC236}">
                          <a16:creationId xmlns:a16="http://schemas.microsoft.com/office/drawing/2014/main" id="{322C5255-5DF3-3DC9-EDC0-6BA692A6BA35}"/>
                        </a:ext>
                      </a:extLst>
                    </p:cNvPr>
                    <p:cNvGrpSpPr>
                      <a:grpSpLocks/>
                    </p:cNvGrpSpPr>
                    <p:nvPr/>
                  </p:nvGrpSpPr>
                  <p:grpSpPr bwMode="auto">
                    <a:xfrm>
                      <a:off x="2050" y="2506"/>
                      <a:ext cx="220" cy="324"/>
                      <a:chOff x="2050" y="2506"/>
                      <a:chExt cx="220" cy="324"/>
                    </a:xfrm>
                  </p:grpSpPr>
                  <p:sp>
                    <p:nvSpPr>
                      <p:cNvPr id="41" name="Oval 100">
                        <a:extLst>
                          <a:ext uri="{FF2B5EF4-FFF2-40B4-BE49-F238E27FC236}">
                            <a16:creationId xmlns:a16="http://schemas.microsoft.com/office/drawing/2014/main" id="{3795D66F-472B-6C24-2303-A1EC3506FF45}"/>
                          </a:ext>
                        </a:extLst>
                      </p:cNvPr>
                      <p:cNvSpPr>
                        <a:spLocks noChangeArrowheads="1"/>
                      </p:cNvSpPr>
                      <p:nvPr/>
                    </p:nvSpPr>
                    <p:spPr bwMode="auto">
                      <a:xfrm>
                        <a:off x="2062" y="2506"/>
                        <a:ext cx="202" cy="11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42" name="Freeform 101">
                        <a:extLst>
                          <a:ext uri="{FF2B5EF4-FFF2-40B4-BE49-F238E27FC236}">
                            <a16:creationId xmlns:a16="http://schemas.microsoft.com/office/drawing/2014/main" id="{7AE8F3CC-5E73-95A8-3DCB-AF6C262D7E91}"/>
                          </a:ext>
                        </a:extLst>
                      </p:cNvPr>
                      <p:cNvSpPr>
                        <a:spLocks/>
                      </p:cNvSpPr>
                      <p:nvPr/>
                    </p:nvSpPr>
                    <p:spPr bwMode="auto">
                      <a:xfrm>
                        <a:off x="2050" y="2557"/>
                        <a:ext cx="220" cy="273"/>
                      </a:xfrm>
                      <a:custGeom>
                        <a:avLst/>
                        <a:gdLst>
                          <a:gd name="T0" fmla="*/ 8 w 441"/>
                          <a:gd name="T1" fmla="*/ 17 h 547"/>
                          <a:gd name="T2" fmla="*/ 13 w 441"/>
                          <a:gd name="T3" fmla="*/ 1 h 547"/>
                          <a:gd name="T4" fmla="*/ 12 w 441"/>
                          <a:gd name="T5" fmla="*/ 1 h 547"/>
                          <a:gd name="T6" fmla="*/ 11 w 441"/>
                          <a:gd name="T7" fmla="*/ 0 h 547"/>
                          <a:gd name="T8" fmla="*/ 10 w 441"/>
                          <a:gd name="T9" fmla="*/ 0 h 547"/>
                          <a:gd name="T10" fmla="*/ 9 w 441"/>
                          <a:gd name="T11" fmla="*/ 0 h 547"/>
                          <a:gd name="T12" fmla="*/ 8 w 441"/>
                          <a:gd name="T13" fmla="*/ 0 h 547"/>
                          <a:gd name="T14" fmla="*/ 7 w 441"/>
                          <a:gd name="T15" fmla="*/ 0 h 547"/>
                          <a:gd name="T16" fmla="*/ 6 w 441"/>
                          <a:gd name="T17" fmla="*/ 0 h 547"/>
                          <a:gd name="T18" fmla="*/ 4 w 441"/>
                          <a:gd name="T19" fmla="*/ 0 h 547"/>
                          <a:gd name="T20" fmla="*/ 3 w 441"/>
                          <a:gd name="T21" fmla="*/ 0 h 547"/>
                          <a:gd name="T22" fmla="*/ 1 w 441"/>
                          <a:gd name="T23" fmla="*/ 0 h 547"/>
                          <a:gd name="T24" fmla="*/ 0 w 441"/>
                          <a:gd name="T25" fmla="*/ 1 h 547"/>
                          <a:gd name="T26" fmla="*/ 0 w 441"/>
                          <a:gd name="T27" fmla="*/ 1 h 547"/>
                          <a:gd name="T28" fmla="*/ 4 w 441"/>
                          <a:gd name="T29" fmla="*/ 17 h 5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441" h="547">
                            <a:moveTo>
                              <a:pt x="281" y="547"/>
                            </a:moveTo>
                            <a:lnTo>
                              <a:pt x="441" y="54"/>
                            </a:lnTo>
                            <a:lnTo>
                              <a:pt x="413" y="43"/>
                            </a:lnTo>
                            <a:lnTo>
                              <a:pt x="380" y="30"/>
                            </a:lnTo>
                            <a:lnTo>
                              <a:pt x="338" y="19"/>
                            </a:lnTo>
                            <a:lnTo>
                              <a:pt x="301" y="10"/>
                            </a:lnTo>
                            <a:lnTo>
                              <a:pt x="269" y="3"/>
                            </a:lnTo>
                            <a:lnTo>
                              <a:pt x="233" y="0"/>
                            </a:lnTo>
                            <a:lnTo>
                              <a:pt x="195" y="2"/>
                            </a:lnTo>
                            <a:lnTo>
                              <a:pt x="146" y="7"/>
                            </a:lnTo>
                            <a:lnTo>
                              <a:pt x="104" y="19"/>
                            </a:lnTo>
                            <a:lnTo>
                              <a:pt x="63" y="30"/>
                            </a:lnTo>
                            <a:lnTo>
                              <a:pt x="27" y="45"/>
                            </a:lnTo>
                            <a:lnTo>
                              <a:pt x="0" y="60"/>
                            </a:lnTo>
                            <a:lnTo>
                              <a:pt x="155" y="547"/>
                            </a:lnTo>
                          </a:path>
                        </a:pathLst>
                      </a:custGeom>
                      <a:noFill/>
                      <a:ln w="6350">
                        <a:solidFill>
                          <a:srgbClr val="A0A0A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36" name="Group 102">
                      <a:extLst>
                        <a:ext uri="{FF2B5EF4-FFF2-40B4-BE49-F238E27FC236}">
                          <a16:creationId xmlns:a16="http://schemas.microsoft.com/office/drawing/2014/main" id="{5EB39086-496F-DCC6-4BA8-EA3DB1279C6C}"/>
                        </a:ext>
                      </a:extLst>
                    </p:cNvPr>
                    <p:cNvGrpSpPr>
                      <a:grpSpLocks/>
                    </p:cNvGrpSpPr>
                    <p:nvPr/>
                  </p:nvGrpSpPr>
                  <p:grpSpPr bwMode="auto">
                    <a:xfrm>
                      <a:off x="2119" y="2860"/>
                      <a:ext cx="76" cy="314"/>
                      <a:chOff x="2119" y="2860"/>
                      <a:chExt cx="76" cy="314"/>
                    </a:xfrm>
                  </p:grpSpPr>
                  <p:sp>
                    <p:nvSpPr>
                      <p:cNvPr id="37" name="Line 103">
                        <a:extLst>
                          <a:ext uri="{FF2B5EF4-FFF2-40B4-BE49-F238E27FC236}">
                            <a16:creationId xmlns:a16="http://schemas.microsoft.com/office/drawing/2014/main" id="{74BBB2F7-19F0-5AD5-FD23-72FD3E2F89B2}"/>
                          </a:ext>
                        </a:extLst>
                      </p:cNvPr>
                      <p:cNvSpPr>
                        <a:spLocks noChangeShapeType="1"/>
                      </p:cNvSpPr>
                      <p:nvPr/>
                    </p:nvSpPr>
                    <p:spPr bwMode="auto">
                      <a:xfrm>
                        <a:off x="2132" y="2868"/>
                        <a:ext cx="1" cy="306"/>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104">
                        <a:extLst>
                          <a:ext uri="{FF2B5EF4-FFF2-40B4-BE49-F238E27FC236}">
                            <a16:creationId xmlns:a16="http://schemas.microsoft.com/office/drawing/2014/main" id="{2807F312-5E97-87E3-6272-447D14F212EC}"/>
                          </a:ext>
                        </a:extLst>
                      </p:cNvPr>
                      <p:cNvSpPr>
                        <a:spLocks noChangeShapeType="1"/>
                      </p:cNvSpPr>
                      <p:nvPr/>
                    </p:nvSpPr>
                    <p:spPr bwMode="auto">
                      <a:xfrm flipV="1">
                        <a:off x="2182" y="2868"/>
                        <a:ext cx="2" cy="304"/>
                      </a:xfrm>
                      <a:prstGeom prst="line">
                        <a:avLst/>
                      </a:prstGeom>
                      <a:noFill/>
                      <a:ln w="6350">
                        <a:solidFill>
                          <a:srgbClr val="808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105">
                        <a:extLst>
                          <a:ext uri="{FF2B5EF4-FFF2-40B4-BE49-F238E27FC236}">
                            <a16:creationId xmlns:a16="http://schemas.microsoft.com/office/drawing/2014/main" id="{F12C7B51-F1B0-0AA1-99E8-CFA7C0ED7080}"/>
                          </a:ext>
                        </a:extLst>
                      </p:cNvPr>
                      <p:cNvSpPr>
                        <a:spLocks noChangeShapeType="1"/>
                      </p:cNvSpPr>
                      <p:nvPr/>
                    </p:nvSpPr>
                    <p:spPr bwMode="auto">
                      <a:xfrm flipV="1">
                        <a:off x="2194" y="2860"/>
                        <a:ext cx="1" cy="304"/>
                      </a:xfrm>
                      <a:prstGeom prst="line">
                        <a:avLst/>
                      </a:prstGeom>
                      <a:noFill/>
                      <a:ln w="6350">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Line 106">
                        <a:extLst>
                          <a:ext uri="{FF2B5EF4-FFF2-40B4-BE49-F238E27FC236}">
                            <a16:creationId xmlns:a16="http://schemas.microsoft.com/office/drawing/2014/main" id="{88CACAEC-A6D9-81BD-7AB3-FE50809EFFC1}"/>
                          </a:ext>
                        </a:extLst>
                      </p:cNvPr>
                      <p:cNvSpPr>
                        <a:spLocks noChangeShapeType="1"/>
                      </p:cNvSpPr>
                      <p:nvPr/>
                    </p:nvSpPr>
                    <p:spPr bwMode="auto">
                      <a:xfrm flipH="1" flipV="1">
                        <a:off x="2119" y="2860"/>
                        <a:ext cx="1" cy="304"/>
                      </a:xfrm>
                      <a:prstGeom prst="line">
                        <a:avLst/>
                      </a:prstGeom>
                      <a:noFill/>
                      <a:ln w="6350">
                        <a:solidFill>
                          <a:srgbClr val="FFFFFF"/>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32" name="Freeform 107">
                    <a:extLst>
                      <a:ext uri="{FF2B5EF4-FFF2-40B4-BE49-F238E27FC236}">
                        <a16:creationId xmlns:a16="http://schemas.microsoft.com/office/drawing/2014/main" id="{C3FAD612-72DB-BDC3-6CCD-C254D112775F}"/>
                      </a:ext>
                    </a:extLst>
                  </p:cNvPr>
                  <p:cNvSpPr>
                    <a:spLocks/>
                  </p:cNvSpPr>
                  <p:nvPr/>
                </p:nvSpPr>
                <p:spPr bwMode="auto">
                  <a:xfrm>
                    <a:off x="2144" y="3009"/>
                    <a:ext cx="215" cy="266"/>
                  </a:xfrm>
                  <a:custGeom>
                    <a:avLst/>
                    <a:gdLst>
                      <a:gd name="T0" fmla="*/ 14 w 428"/>
                      <a:gd name="T1" fmla="*/ 0 h 532"/>
                      <a:gd name="T2" fmla="*/ 13 w 428"/>
                      <a:gd name="T3" fmla="*/ 1 h 532"/>
                      <a:gd name="T4" fmla="*/ 11 w 428"/>
                      <a:gd name="T5" fmla="*/ 11 h 532"/>
                      <a:gd name="T6" fmla="*/ 11 w 428"/>
                      <a:gd name="T7" fmla="*/ 12 h 532"/>
                      <a:gd name="T8" fmla="*/ 10 w 428"/>
                      <a:gd name="T9" fmla="*/ 13 h 532"/>
                      <a:gd name="T10" fmla="*/ 9 w 428"/>
                      <a:gd name="T11" fmla="*/ 14 h 532"/>
                      <a:gd name="T12" fmla="*/ 8 w 428"/>
                      <a:gd name="T13" fmla="*/ 15 h 532"/>
                      <a:gd name="T14" fmla="*/ 7 w 428"/>
                      <a:gd name="T15" fmla="*/ 15 h 532"/>
                      <a:gd name="T16" fmla="*/ 6 w 428"/>
                      <a:gd name="T17" fmla="*/ 16 h 532"/>
                      <a:gd name="T18" fmla="*/ 4 w 428"/>
                      <a:gd name="T19" fmla="*/ 16 h 532"/>
                      <a:gd name="T20" fmla="*/ 3 w 428"/>
                      <a:gd name="T21" fmla="*/ 16 h 532"/>
                      <a:gd name="T22" fmla="*/ 2 w 428"/>
                      <a:gd name="T23" fmla="*/ 17 h 532"/>
                      <a:gd name="T24" fmla="*/ 0 w 428"/>
                      <a:gd name="T25" fmla="*/ 16 h 532"/>
                      <a:gd name="T26" fmla="*/ 1 w 428"/>
                      <a:gd name="T27" fmla="*/ 17 h 532"/>
                      <a:gd name="T28" fmla="*/ 2 w 428"/>
                      <a:gd name="T29" fmla="*/ 17 h 532"/>
                      <a:gd name="T30" fmla="*/ 3 w 428"/>
                      <a:gd name="T31" fmla="*/ 17 h 532"/>
                      <a:gd name="T32" fmla="*/ 4 w 428"/>
                      <a:gd name="T33" fmla="*/ 17 h 532"/>
                      <a:gd name="T34" fmla="*/ 5 w 428"/>
                      <a:gd name="T35" fmla="*/ 17 h 532"/>
                      <a:gd name="T36" fmla="*/ 6 w 428"/>
                      <a:gd name="T37" fmla="*/ 17 h 532"/>
                      <a:gd name="T38" fmla="*/ 7 w 428"/>
                      <a:gd name="T39" fmla="*/ 17 h 532"/>
                      <a:gd name="T40" fmla="*/ 8 w 428"/>
                      <a:gd name="T41" fmla="*/ 16 h 532"/>
                      <a:gd name="T42" fmla="*/ 9 w 428"/>
                      <a:gd name="T43" fmla="*/ 16 h 532"/>
                      <a:gd name="T44" fmla="*/ 10 w 428"/>
                      <a:gd name="T45" fmla="*/ 16 h 532"/>
                      <a:gd name="T46" fmla="*/ 11 w 428"/>
                      <a:gd name="T47" fmla="*/ 15 h 532"/>
                      <a:gd name="T48" fmla="*/ 11 w 428"/>
                      <a:gd name="T49" fmla="*/ 15 h 532"/>
                      <a:gd name="T50" fmla="*/ 12 w 428"/>
                      <a:gd name="T51" fmla="*/ 14 h 532"/>
                      <a:gd name="T52" fmla="*/ 12 w 428"/>
                      <a:gd name="T53" fmla="*/ 13 h 532"/>
                      <a:gd name="T54" fmla="*/ 12 w 428"/>
                      <a:gd name="T55" fmla="*/ 12 h 532"/>
                      <a:gd name="T56" fmla="*/ 14 w 428"/>
                      <a:gd name="T57" fmla="*/ 0 h 53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28" h="532">
                        <a:moveTo>
                          <a:pt x="428" y="0"/>
                        </a:moveTo>
                        <a:lnTo>
                          <a:pt x="411" y="16"/>
                        </a:lnTo>
                        <a:lnTo>
                          <a:pt x="339" y="345"/>
                        </a:lnTo>
                        <a:lnTo>
                          <a:pt x="326" y="377"/>
                        </a:lnTo>
                        <a:lnTo>
                          <a:pt x="304" y="405"/>
                        </a:lnTo>
                        <a:lnTo>
                          <a:pt x="272" y="430"/>
                        </a:lnTo>
                        <a:lnTo>
                          <a:pt x="241" y="449"/>
                        </a:lnTo>
                        <a:lnTo>
                          <a:pt x="206" y="468"/>
                        </a:lnTo>
                        <a:lnTo>
                          <a:pt x="169" y="483"/>
                        </a:lnTo>
                        <a:lnTo>
                          <a:pt x="128" y="498"/>
                        </a:lnTo>
                        <a:lnTo>
                          <a:pt x="93" y="506"/>
                        </a:lnTo>
                        <a:lnTo>
                          <a:pt x="51" y="513"/>
                        </a:lnTo>
                        <a:lnTo>
                          <a:pt x="0" y="510"/>
                        </a:lnTo>
                        <a:lnTo>
                          <a:pt x="8" y="529"/>
                        </a:lnTo>
                        <a:lnTo>
                          <a:pt x="43" y="532"/>
                        </a:lnTo>
                        <a:lnTo>
                          <a:pt x="67" y="532"/>
                        </a:lnTo>
                        <a:lnTo>
                          <a:pt x="105" y="529"/>
                        </a:lnTo>
                        <a:lnTo>
                          <a:pt x="136" y="527"/>
                        </a:lnTo>
                        <a:lnTo>
                          <a:pt x="178" y="520"/>
                        </a:lnTo>
                        <a:lnTo>
                          <a:pt x="211" y="514"/>
                        </a:lnTo>
                        <a:lnTo>
                          <a:pt x="248" y="502"/>
                        </a:lnTo>
                        <a:lnTo>
                          <a:pt x="269" y="496"/>
                        </a:lnTo>
                        <a:lnTo>
                          <a:pt x="301" y="483"/>
                        </a:lnTo>
                        <a:lnTo>
                          <a:pt x="335" y="461"/>
                        </a:lnTo>
                        <a:lnTo>
                          <a:pt x="345" y="449"/>
                        </a:lnTo>
                        <a:lnTo>
                          <a:pt x="354" y="433"/>
                        </a:lnTo>
                        <a:lnTo>
                          <a:pt x="363" y="400"/>
                        </a:lnTo>
                        <a:lnTo>
                          <a:pt x="370" y="367"/>
                        </a:lnTo>
                        <a:lnTo>
                          <a:pt x="42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8" name="AutoShape 108">
                  <a:extLst>
                    <a:ext uri="{FF2B5EF4-FFF2-40B4-BE49-F238E27FC236}">
                      <a16:creationId xmlns:a16="http://schemas.microsoft.com/office/drawing/2014/main" id="{A4637EA3-0D8C-F724-D21C-75A405B9811B}"/>
                    </a:ext>
                    <a:ext uri="{C183D7F6-B498-43B3-948B-1728B52AA6E4}">
                      <adec:decorative xmlns:adec="http://schemas.microsoft.com/office/drawing/2017/decorative" val="1"/>
                    </a:ext>
                  </a:extLst>
                </p:cNvPr>
                <p:cNvSpPr>
                  <a:spLocks noChangeArrowheads="1"/>
                </p:cNvSpPr>
                <p:nvPr/>
              </p:nvSpPr>
              <p:spPr bwMode="auto">
                <a:xfrm>
                  <a:off x="511" y="1104"/>
                  <a:ext cx="161" cy="2736"/>
                </a:xfrm>
                <a:prstGeom prst="can">
                  <a:avLst>
                    <a:gd name="adj" fmla="val 42170"/>
                  </a:avLst>
                </a:prstGeom>
                <a:solidFill>
                  <a:schemeClr val="folHlink"/>
                </a:solidFill>
                <a:ln w="9525">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13" name="Line 109">
                <a:extLst>
                  <a:ext uri="{FF2B5EF4-FFF2-40B4-BE49-F238E27FC236}">
                    <a16:creationId xmlns:a16="http://schemas.microsoft.com/office/drawing/2014/main" id="{A51DE560-4131-F27D-F152-2DC9FDD3E0FB}"/>
                  </a:ext>
                </a:extLst>
              </p:cNvPr>
              <p:cNvSpPr>
                <a:spLocks noChangeShapeType="1"/>
              </p:cNvSpPr>
              <p:nvPr/>
            </p:nvSpPr>
            <p:spPr bwMode="auto">
              <a:xfrm flipV="1">
                <a:off x="4054" y="1320"/>
                <a:ext cx="109" cy="65"/>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10">
                <a:extLst>
                  <a:ext uri="{FF2B5EF4-FFF2-40B4-BE49-F238E27FC236}">
                    <a16:creationId xmlns:a16="http://schemas.microsoft.com/office/drawing/2014/main" id="{7753004E-BEA1-5649-9E01-A6814C3BBEF7}"/>
                  </a:ext>
                </a:extLst>
              </p:cNvPr>
              <p:cNvSpPr>
                <a:spLocks noChangeShapeType="1"/>
              </p:cNvSpPr>
              <p:nvPr/>
            </p:nvSpPr>
            <p:spPr bwMode="auto">
              <a:xfrm flipV="1">
                <a:off x="4054" y="1436"/>
                <a:ext cx="153" cy="15"/>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11">
                <a:extLst>
                  <a:ext uri="{FF2B5EF4-FFF2-40B4-BE49-F238E27FC236}">
                    <a16:creationId xmlns:a16="http://schemas.microsoft.com/office/drawing/2014/main" id="{3C6CA640-3D18-817F-217D-C93F6A51CCD6}"/>
                  </a:ext>
                </a:extLst>
              </p:cNvPr>
              <p:cNvSpPr>
                <a:spLocks noChangeShapeType="1"/>
              </p:cNvSpPr>
              <p:nvPr/>
            </p:nvSpPr>
            <p:spPr bwMode="auto">
              <a:xfrm>
                <a:off x="4054" y="1509"/>
                <a:ext cx="124" cy="51"/>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16" name="Content Placeholder 8" descr="A close-up of a machine with andon light system.">
            <a:extLst>
              <a:ext uri="{FF2B5EF4-FFF2-40B4-BE49-F238E27FC236}">
                <a16:creationId xmlns:a16="http://schemas.microsoft.com/office/drawing/2014/main" id="{C8FF5A86-81C9-A1FC-CC9A-82E385514A21}"/>
              </a:ext>
            </a:extLst>
          </p:cNvPr>
          <p:cNvPicPr>
            <a:picLocks noGrp="1" noChangeAspect="1"/>
          </p:cNvPicPr>
          <p:nvPr>
            <p:ph sz="half" idx="2"/>
          </p:nvPr>
        </p:nvPicPr>
        <p:blipFill>
          <a:blip r:embed="rId7"/>
          <a:stretch>
            <a:fillRect/>
          </a:stretch>
        </p:blipFill>
        <p:spPr>
          <a:xfrm>
            <a:off x="6172200" y="2272745"/>
            <a:ext cx="5181600" cy="3457098"/>
          </a:xfrm>
        </p:spPr>
      </p:pic>
      <p:grpSp>
        <p:nvGrpSpPr>
          <p:cNvPr id="3" name="Group 2">
            <a:extLst>
              <a:ext uri="{FF2B5EF4-FFF2-40B4-BE49-F238E27FC236}">
                <a16:creationId xmlns:a16="http://schemas.microsoft.com/office/drawing/2014/main" id="{9E08D3FE-2712-1781-50B1-0504B35E66D8}"/>
              </a:ext>
            </a:extLst>
          </p:cNvPr>
          <p:cNvGrpSpPr/>
          <p:nvPr/>
        </p:nvGrpSpPr>
        <p:grpSpPr>
          <a:xfrm>
            <a:off x="940249" y="302538"/>
            <a:ext cx="3507765" cy="311932"/>
            <a:chOff x="940249" y="302538"/>
            <a:chExt cx="3507765" cy="311932"/>
          </a:xfrm>
        </p:grpSpPr>
        <p:sp>
          <p:nvSpPr>
            <p:cNvPr id="4" name="TextBox 3">
              <a:extLst>
                <a:ext uri="{FF2B5EF4-FFF2-40B4-BE49-F238E27FC236}">
                  <a16:creationId xmlns:a16="http://schemas.microsoft.com/office/drawing/2014/main" id="{237B6DF9-B0AE-F6D6-0EF4-7DFBC58C974E}"/>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5" name="Group 4">
              <a:extLst>
                <a:ext uri="{FF2B5EF4-FFF2-40B4-BE49-F238E27FC236}">
                  <a16:creationId xmlns:a16="http://schemas.microsoft.com/office/drawing/2014/main" id="{A50E022B-C3B2-1E80-5697-D800B79ED4B1}"/>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D3885EA6-995A-371C-DBA3-8E893BD6E1B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7" name="Group 116">
                <a:extLst>
                  <a:ext uri="{FF2B5EF4-FFF2-40B4-BE49-F238E27FC236}">
                    <a16:creationId xmlns:a16="http://schemas.microsoft.com/office/drawing/2014/main" id="{1C15B95E-3EAD-0BA5-B845-5444610959C7}"/>
                  </a:ext>
                </a:extLst>
              </p:cNvPr>
              <p:cNvGrpSpPr/>
              <p:nvPr/>
            </p:nvGrpSpPr>
            <p:grpSpPr>
              <a:xfrm>
                <a:off x="940249" y="315206"/>
                <a:ext cx="746492" cy="265062"/>
                <a:chOff x="940249" y="315206"/>
                <a:chExt cx="746492" cy="265062"/>
              </a:xfrm>
            </p:grpSpPr>
            <p:sp>
              <p:nvSpPr>
                <p:cNvPr id="118" name="AutoShape 11">
                  <a:extLst>
                    <a:ext uri="{FF2B5EF4-FFF2-40B4-BE49-F238E27FC236}">
                      <a16:creationId xmlns:a16="http://schemas.microsoft.com/office/drawing/2014/main" id="{13401EA5-AAC5-27D8-3083-236C514089C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9" name="AutoShape 10">
                  <a:extLst>
                    <a:ext uri="{FF2B5EF4-FFF2-40B4-BE49-F238E27FC236}">
                      <a16:creationId xmlns:a16="http://schemas.microsoft.com/office/drawing/2014/main" id="{907B1F5E-9D24-4E8D-35DD-9244443BF4E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grpSp>
    </p:spTree>
    <p:extLst>
      <p:ext uri="{BB962C8B-B14F-4D97-AF65-F5344CB8AC3E}">
        <p14:creationId xmlns:p14="http://schemas.microsoft.com/office/powerpoint/2010/main" val="3957116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44">
            <a:extLst>
              <a:ext uri="{FF2B5EF4-FFF2-40B4-BE49-F238E27FC236}">
                <a16:creationId xmlns:a16="http://schemas.microsoft.com/office/drawing/2014/main" id="{1EF5D055-3160-4D32-B338-7A0CA8A606C9}"/>
              </a:ext>
            </a:extLst>
          </p:cNvPr>
          <p:cNvSpPr>
            <a:spLocks noChangeArrowheads="1"/>
          </p:cNvSpPr>
          <p:nvPr/>
        </p:nvSpPr>
        <p:spPr bwMode="auto">
          <a:xfrm>
            <a:off x="906381" y="2146852"/>
            <a:ext cx="4241351" cy="3028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3" rIns="71438" bIns="36513">
            <a:spAutoFit/>
          </a:bodyPr>
          <a:lstStyle>
            <a:lvl1pPr marL="231775" indent="-231775" defTabSz="708025">
              <a:defRPr sz="900" b="1">
                <a:solidFill>
                  <a:schemeClr val="bg1"/>
                </a:solidFill>
                <a:latin typeface="Arial" panose="020B0604020202020204" pitchFamily="34" charset="0"/>
                <a:ea typeface="MS PGothic" panose="020B0600070205080204" pitchFamily="34" charset="-128"/>
              </a:defRPr>
            </a:lvl1pPr>
            <a:lvl2pPr marL="742950" indent="-285750" defTabSz="708025">
              <a:defRPr sz="900" b="1">
                <a:solidFill>
                  <a:schemeClr val="bg1"/>
                </a:solidFill>
                <a:latin typeface="Arial" panose="020B0604020202020204" pitchFamily="34" charset="0"/>
                <a:ea typeface="MS PGothic" panose="020B0600070205080204" pitchFamily="34" charset="-128"/>
              </a:defRPr>
            </a:lvl2pPr>
            <a:lvl3pPr marL="1143000" indent="-228600" defTabSz="708025">
              <a:defRPr sz="900" b="1">
                <a:solidFill>
                  <a:schemeClr val="bg1"/>
                </a:solidFill>
                <a:latin typeface="Arial" panose="020B0604020202020204" pitchFamily="34" charset="0"/>
                <a:ea typeface="MS PGothic" panose="020B0600070205080204" pitchFamily="34" charset="-128"/>
              </a:defRPr>
            </a:lvl3pPr>
            <a:lvl4pPr marL="1600200" indent="-228600" defTabSz="708025">
              <a:defRPr sz="900" b="1">
                <a:solidFill>
                  <a:schemeClr val="bg1"/>
                </a:solidFill>
                <a:latin typeface="Arial" panose="020B0604020202020204" pitchFamily="34" charset="0"/>
                <a:ea typeface="MS PGothic" panose="020B0600070205080204" pitchFamily="34" charset="-128"/>
              </a:defRPr>
            </a:lvl4pPr>
            <a:lvl5pPr marL="2057400" indent="-228600" defTabSz="708025">
              <a:defRPr sz="900" b="1">
                <a:solidFill>
                  <a:schemeClr val="bg1"/>
                </a:solidFill>
                <a:latin typeface="Arial" panose="020B0604020202020204" pitchFamily="34" charset="0"/>
                <a:ea typeface="MS PGothic" panose="020B0600070205080204" pitchFamily="34" charset="-128"/>
              </a:defRPr>
            </a:lvl5pPr>
            <a:lvl6pPr marL="25146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defTabSz="708025"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marL="285750" indent="-285750">
              <a:buFont typeface="Arial" panose="020B0604020202020204" pitchFamily="34" charset="0"/>
              <a:buChar char="•"/>
            </a:pPr>
            <a:r>
              <a:rPr lang="en-US" sz="2400" b="0" dirty="0">
                <a:solidFill>
                  <a:schemeClr val="tx1"/>
                </a:solidFill>
                <a:latin typeface="Roboto" panose="02000000000000000000" pitchFamily="2" charset="0"/>
                <a:ea typeface="Roboto" panose="02000000000000000000" pitchFamily="2" charset="0"/>
                <a:cs typeface="Roboto" panose="02000000000000000000" pitchFamily="2" charset="0"/>
              </a:rPr>
              <a:t>Plan vs. actual</a:t>
            </a:r>
          </a:p>
          <a:p>
            <a:pPr marL="285750" indent="-285750">
              <a:buFont typeface="Arial" panose="020B0604020202020204" pitchFamily="34" charset="0"/>
              <a:buChar char="•"/>
            </a:pPr>
            <a:r>
              <a:rPr lang="en-US" sz="2400" b="0" dirty="0">
                <a:solidFill>
                  <a:schemeClr val="tx1"/>
                </a:solidFill>
                <a:latin typeface="Roboto" panose="02000000000000000000" pitchFamily="2" charset="0"/>
                <a:ea typeface="Roboto" panose="02000000000000000000" pitchFamily="2" charset="0"/>
                <a:cs typeface="Roboto" panose="02000000000000000000" pitchFamily="2" charset="0"/>
              </a:rPr>
              <a:t>Customer-focused</a:t>
            </a:r>
          </a:p>
          <a:p>
            <a:pPr marL="285750" indent="-285750">
              <a:buFont typeface="Arial" panose="020B0604020202020204" pitchFamily="34" charset="0"/>
              <a:buChar char="•"/>
            </a:pPr>
            <a:r>
              <a:rPr lang="en-US" sz="2400" b="0" dirty="0">
                <a:solidFill>
                  <a:schemeClr val="tx1"/>
                </a:solidFill>
                <a:latin typeface="Roboto" panose="02000000000000000000" pitchFamily="2" charset="0"/>
                <a:ea typeface="Roboto" panose="02000000000000000000" pitchFamily="2" charset="0"/>
                <a:cs typeface="Roboto" panose="02000000000000000000" pitchFamily="2" charset="0"/>
              </a:rPr>
              <a:t>Each metric has an owner</a:t>
            </a:r>
          </a:p>
          <a:p>
            <a:pPr marL="285750" indent="-285750">
              <a:buFont typeface="Arial" panose="020B0604020202020204" pitchFamily="34" charset="0"/>
              <a:buChar char="•"/>
            </a:pPr>
            <a:r>
              <a:rPr lang="en-US" sz="2400" b="0" dirty="0">
                <a:solidFill>
                  <a:schemeClr val="tx1"/>
                </a:solidFill>
                <a:latin typeface="Roboto" panose="02000000000000000000" pitchFamily="2" charset="0"/>
                <a:ea typeface="Roboto" panose="02000000000000000000" pitchFamily="2" charset="0"/>
                <a:cs typeface="Roboto" panose="02000000000000000000" pitchFamily="2" charset="0"/>
              </a:rPr>
              <a:t>Reviewed regularly</a:t>
            </a:r>
          </a:p>
          <a:p>
            <a:pPr marL="285750" indent="-285750">
              <a:buFont typeface="Arial" panose="020B0604020202020204" pitchFamily="34" charset="0"/>
              <a:buChar char="•"/>
            </a:pPr>
            <a:r>
              <a:rPr lang="en-US" sz="2400" b="0" dirty="0">
                <a:solidFill>
                  <a:schemeClr val="tx1"/>
                </a:solidFill>
                <a:latin typeface="Roboto" panose="02000000000000000000" pitchFamily="2" charset="0"/>
                <a:ea typeface="Roboto" panose="02000000000000000000" pitchFamily="2" charset="0"/>
                <a:cs typeface="Roboto" panose="02000000000000000000" pitchFamily="2" charset="0"/>
              </a:rPr>
              <a:t>Readily visible</a:t>
            </a:r>
          </a:p>
          <a:p>
            <a:pPr marL="285750" indent="-285750">
              <a:buFont typeface="Arial" panose="020B0604020202020204" pitchFamily="34" charset="0"/>
              <a:buChar char="•"/>
            </a:pPr>
            <a:r>
              <a:rPr lang="en-US" sz="2400" b="0" dirty="0">
                <a:solidFill>
                  <a:schemeClr val="tx1"/>
                </a:solidFill>
                <a:latin typeface="Roboto" panose="02000000000000000000" pitchFamily="2" charset="0"/>
                <a:ea typeface="Roboto" panose="02000000000000000000" pitchFamily="2" charset="0"/>
                <a:cs typeface="Roboto" panose="02000000000000000000" pitchFamily="2" charset="0"/>
              </a:rPr>
              <a:t>Simple – easy to collect/record/ understand</a:t>
            </a:r>
          </a:p>
          <a:p>
            <a:pPr marL="285750" indent="-285750">
              <a:buFont typeface="Arial" panose="020B0604020202020204" pitchFamily="34" charset="0"/>
              <a:buChar char="•"/>
            </a:pPr>
            <a:r>
              <a:rPr lang="en-US" sz="2400" b="0" dirty="0">
                <a:solidFill>
                  <a:schemeClr val="tx1"/>
                </a:solidFill>
                <a:latin typeface="Roboto" panose="02000000000000000000" pitchFamily="2" charset="0"/>
                <a:ea typeface="Roboto" panose="02000000000000000000" pitchFamily="2" charset="0"/>
                <a:cs typeface="Roboto" panose="02000000000000000000" pitchFamily="2" charset="0"/>
              </a:rPr>
              <a:t>Lead to action</a:t>
            </a:r>
          </a:p>
        </p:txBody>
      </p:sp>
      <p:sp>
        <p:nvSpPr>
          <p:cNvPr id="97283" name="Rectangle 2">
            <a:extLst>
              <a:ext uri="{FF2B5EF4-FFF2-40B4-BE49-F238E27FC236}">
                <a16:creationId xmlns:a16="http://schemas.microsoft.com/office/drawing/2014/main" id="{95C0A974-E304-4418-B336-34C1055AABA1}"/>
              </a:ext>
            </a:extLst>
          </p:cNvPr>
          <p:cNvSpPr>
            <a:spLocks noGrp="1" noChangeArrowheads="1"/>
          </p:cNvSpPr>
          <p:nvPr>
            <p:ph type="title"/>
          </p:nvPr>
        </p:nvSpPr>
        <p:spPr/>
        <p:txBody>
          <a:bodyPr>
            <a:normAutofit/>
          </a:bodyPr>
          <a:lstStyle/>
          <a:p>
            <a:r>
              <a:rPr lang="en-US" sz="4000" dirty="0">
                <a:ea typeface="+mj-ea"/>
              </a:rPr>
              <a:t>Metrics/Key Performance Indicators</a:t>
            </a:r>
            <a:endParaRPr lang="en-US" altLang="en-US" sz="4000" dirty="0">
              <a:latin typeface="Roboto Medium"/>
              <a:ea typeface="Roboto Medium"/>
              <a:cs typeface="Roboto Medium"/>
            </a:endParaRPr>
          </a:p>
        </p:txBody>
      </p:sp>
      <p:sp>
        <p:nvSpPr>
          <p:cNvPr id="5" name="Slide Number Placeholder 4">
            <a:extLst>
              <a:ext uri="{FF2B5EF4-FFF2-40B4-BE49-F238E27FC236}">
                <a16:creationId xmlns:a16="http://schemas.microsoft.com/office/drawing/2014/main" id="{63E10559-D05A-F4E9-F60E-5FA0C66C2289}"/>
              </a:ext>
            </a:extLst>
          </p:cNvPr>
          <p:cNvSpPr>
            <a:spLocks noGrp="1"/>
          </p:cNvSpPr>
          <p:nvPr>
            <p:ph type="sldNum" sz="quarter" idx="4294967295"/>
          </p:nvPr>
        </p:nvSpPr>
        <p:spPr>
          <a:xfrm>
            <a:off x="8595078" y="6240788"/>
            <a:ext cx="2743200" cy="365125"/>
          </a:xfrm>
          <a:prstGeom prst="rect">
            <a:avLst/>
          </a:prstGeom>
        </p:spPr>
        <p:txBody>
          <a:bodyPr/>
          <a:lstStyle/>
          <a:p>
            <a:fld id="{CC6D4273-7FC1-0947-B9FE-19CB3C0D1FB6}" type="slidenum">
              <a:rPr lang="en-US" smtClean="0"/>
              <a:t>41</a:t>
            </a:fld>
            <a:endParaRPr lang="en-US" dirty="0"/>
          </a:p>
        </p:txBody>
      </p:sp>
      <p:sp>
        <p:nvSpPr>
          <p:cNvPr id="8" name="Arrow">
            <a:extLst>
              <a:ext uri="{FF2B5EF4-FFF2-40B4-BE49-F238E27FC236}">
                <a16:creationId xmlns:a16="http://schemas.microsoft.com/office/drawing/2014/main" id="{45211952-0890-9EE3-CDE1-369482A393C5}"/>
              </a:ext>
            </a:extLst>
          </p:cNvPr>
          <p:cNvSpPr/>
          <p:nvPr/>
        </p:nvSpPr>
        <p:spPr>
          <a:xfrm>
            <a:off x="5485733" y="3244553"/>
            <a:ext cx="913607" cy="913607"/>
          </a:xfrm>
          <a:prstGeom prst="rightArrow">
            <a:avLst>
              <a:gd name="adj1" fmla="val 54641"/>
              <a:gd name="adj2" fmla="val 68352"/>
            </a:avLst>
          </a:prstGeom>
          <a:solidFill>
            <a:srgbClr val="EE3629"/>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pic>
        <p:nvPicPr>
          <p:cNvPr id="11" name="Picture 6" descr="KPI board example.">
            <a:extLst>
              <a:ext uri="{FF2B5EF4-FFF2-40B4-BE49-F238E27FC236}">
                <a16:creationId xmlns:a16="http://schemas.microsoft.com/office/drawing/2014/main" id="{798F7B2E-EB15-5FF6-017A-2D99BD85C9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7342" y="2146852"/>
            <a:ext cx="4915819" cy="3109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a:extLst>
              <a:ext uri="{FF2B5EF4-FFF2-40B4-BE49-F238E27FC236}">
                <a16:creationId xmlns:a16="http://schemas.microsoft.com/office/drawing/2014/main" id="{11AC7B5A-B7C0-D8BC-5D73-4E5ECB63CC0E}"/>
              </a:ext>
            </a:extLst>
          </p:cNvPr>
          <p:cNvGrpSpPr/>
          <p:nvPr/>
        </p:nvGrpSpPr>
        <p:grpSpPr>
          <a:xfrm>
            <a:off x="940249" y="302538"/>
            <a:ext cx="3507765" cy="311932"/>
            <a:chOff x="940249" y="302538"/>
            <a:chExt cx="3507765" cy="311932"/>
          </a:xfrm>
        </p:grpSpPr>
        <p:sp>
          <p:nvSpPr>
            <p:cNvPr id="9" name="TextBox 8">
              <a:extLst>
                <a:ext uri="{FF2B5EF4-FFF2-40B4-BE49-F238E27FC236}">
                  <a16:creationId xmlns:a16="http://schemas.microsoft.com/office/drawing/2014/main" id="{D0FAA627-91A6-7273-03BB-C26FD0F337B5}"/>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7" name="Group 6">
              <a:extLst>
                <a:ext uri="{FF2B5EF4-FFF2-40B4-BE49-F238E27FC236}">
                  <a16:creationId xmlns:a16="http://schemas.microsoft.com/office/drawing/2014/main" id="{4FB745C7-263A-06A8-D3A7-818CFD8E4C8A}"/>
                </a:ext>
              </a:extLst>
            </p:cNvPr>
            <p:cNvGrpSpPr/>
            <p:nvPr/>
          </p:nvGrpSpPr>
          <p:grpSpPr>
            <a:xfrm>
              <a:off x="940249" y="302538"/>
              <a:ext cx="1060167" cy="290657"/>
              <a:chOff x="940249" y="315206"/>
              <a:chExt cx="1060167" cy="265062"/>
            </a:xfrm>
          </p:grpSpPr>
          <p:sp>
            <p:nvSpPr>
              <p:cNvPr id="12" name="AutoShape 9">
                <a:extLst>
                  <a:ext uri="{FF2B5EF4-FFF2-40B4-BE49-F238E27FC236}">
                    <a16:creationId xmlns:a16="http://schemas.microsoft.com/office/drawing/2014/main" id="{8C8C7564-B053-729D-CB16-73E8CBDA5CD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FFC86211-F0C1-C962-EAA5-E8F350FF5032}"/>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F1671D46-C8B0-5C13-E6BD-04532DCE3CC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4CE92041-4632-661E-0244-ED83CE054D00}"/>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grpSp>
    </p:spTree>
    <p:extLst>
      <p:ext uri="{BB962C8B-B14F-4D97-AF65-F5344CB8AC3E}">
        <p14:creationId xmlns:p14="http://schemas.microsoft.com/office/powerpoint/2010/main" val="29773696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1B404-F411-0241-D4D7-4929EC006EA5}"/>
              </a:ext>
            </a:extLst>
          </p:cNvPr>
          <p:cNvSpPr>
            <a:spLocks noGrp="1"/>
          </p:cNvSpPr>
          <p:nvPr>
            <p:ph type="title"/>
          </p:nvPr>
        </p:nvSpPr>
        <p:spPr/>
        <p:txBody>
          <a:bodyPr/>
          <a:lstStyle/>
          <a:p>
            <a:r>
              <a:rPr lang="en-US" dirty="0"/>
              <a:t>Guidelines for Good Visuals</a:t>
            </a:r>
          </a:p>
        </p:txBody>
      </p:sp>
      <p:sp>
        <p:nvSpPr>
          <p:cNvPr id="3" name="Content Placeholder 2">
            <a:extLst>
              <a:ext uri="{FF2B5EF4-FFF2-40B4-BE49-F238E27FC236}">
                <a16:creationId xmlns:a16="http://schemas.microsoft.com/office/drawing/2014/main" id="{13A47476-4D16-D0AB-F501-E01F53E6BF67}"/>
              </a:ext>
            </a:extLst>
          </p:cNvPr>
          <p:cNvSpPr>
            <a:spLocks noGrp="1"/>
          </p:cNvSpPr>
          <p:nvPr>
            <p:ph idx="1"/>
          </p:nvPr>
        </p:nvSpPr>
        <p:spPr/>
        <p:txBody>
          <a:bodyPr>
            <a:normAutofit fontScale="92500" lnSpcReduction="20000"/>
          </a:bodyPr>
          <a:lstStyle/>
          <a:p>
            <a:r>
              <a:rPr lang="en-US" dirty="0"/>
              <a:t>Should be understandable</a:t>
            </a:r>
          </a:p>
          <a:p>
            <a:pPr lvl="1"/>
            <a:r>
              <a:rPr lang="en-US" dirty="0"/>
              <a:t>Consider the audience</a:t>
            </a:r>
          </a:p>
          <a:p>
            <a:pPr lvl="1"/>
            <a:r>
              <a:rPr lang="en-US" dirty="0"/>
              <a:t>What action is expected from this visual?</a:t>
            </a:r>
          </a:p>
          <a:p>
            <a:r>
              <a:rPr lang="en-US" dirty="0"/>
              <a:t>Should be “At-a-glance”</a:t>
            </a:r>
          </a:p>
          <a:p>
            <a:pPr lvl="1"/>
            <a:r>
              <a:rPr lang="en-US" dirty="0"/>
              <a:t>Use pictures, graphs, markings, examples where possible </a:t>
            </a:r>
          </a:p>
          <a:p>
            <a:r>
              <a:rPr lang="en-US" dirty="0"/>
              <a:t>Must indicate a goal</a:t>
            </a:r>
          </a:p>
          <a:p>
            <a:pPr lvl="1"/>
            <a:r>
              <a:rPr lang="en-US" dirty="0"/>
              <a:t>Abnormalities should be easily identified and quantified</a:t>
            </a:r>
          </a:p>
          <a:p>
            <a:pPr lvl="1"/>
            <a:r>
              <a:rPr lang="en-US" dirty="0"/>
              <a:t>Measure actual to goal</a:t>
            </a:r>
          </a:p>
          <a:p>
            <a:pPr lvl="1"/>
            <a:r>
              <a:rPr lang="en-US" dirty="0"/>
              <a:t>Separate real-time from historical</a:t>
            </a:r>
          </a:p>
          <a:p>
            <a:r>
              <a:rPr lang="en-US" dirty="0"/>
              <a:t>Should be standardized (over time)</a:t>
            </a:r>
          </a:p>
          <a:p>
            <a:pPr lvl="1"/>
            <a:r>
              <a:rPr lang="en-US" dirty="0"/>
              <a:t>Everyone should know what they are looking at</a:t>
            </a:r>
          </a:p>
          <a:p>
            <a:pPr lvl="1"/>
            <a:r>
              <a:rPr lang="en-US" dirty="0"/>
              <a:t>Strive for a company-wide approach</a:t>
            </a:r>
          </a:p>
          <a:p>
            <a:endParaRPr lang="en-US" dirty="0"/>
          </a:p>
          <a:p>
            <a:endParaRPr lang="en-US" dirty="0"/>
          </a:p>
        </p:txBody>
      </p:sp>
      <p:sp>
        <p:nvSpPr>
          <p:cNvPr id="6" name="Slide Number Placeholder 5">
            <a:extLst>
              <a:ext uri="{FF2B5EF4-FFF2-40B4-BE49-F238E27FC236}">
                <a16:creationId xmlns:a16="http://schemas.microsoft.com/office/drawing/2014/main" id="{3D476F91-BCD0-FBB2-8B56-71492AEB016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42</a:t>
            </a:fld>
            <a:endParaRPr lang="en-US"/>
          </a:p>
        </p:txBody>
      </p:sp>
      <p:grpSp>
        <p:nvGrpSpPr>
          <p:cNvPr id="4" name="Group 3">
            <a:extLst>
              <a:ext uri="{FF2B5EF4-FFF2-40B4-BE49-F238E27FC236}">
                <a16:creationId xmlns:a16="http://schemas.microsoft.com/office/drawing/2014/main" id="{58E07E54-C76F-6D59-0E4F-43C42F377B36}"/>
              </a:ext>
            </a:extLst>
          </p:cNvPr>
          <p:cNvGrpSpPr/>
          <p:nvPr/>
        </p:nvGrpSpPr>
        <p:grpSpPr>
          <a:xfrm>
            <a:off x="940249" y="302538"/>
            <a:ext cx="3507765" cy="311932"/>
            <a:chOff x="940249" y="302538"/>
            <a:chExt cx="3507765" cy="311932"/>
          </a:xfrm>
        </p:grpSpPr>
        <p:sp>
          <p:nvSpPr>
            <p:cNvPr id="5" name="TextBox 4">
              <a:extLst>
                <a:ext uri="{FF2B5EF4-FFF2-40B4-BE49-F238E27FC236}">
                  <a16:creationId xmlns:a16="http://schemas.microsoft.com/office/drawing/2014/main" id="{CF546BF2-099E-8C13-A6DA-6674D17F3193}"/>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7" name="Group 6">
              <a:extLst>
                <a:ext uri="{FF2B5EF4-FFF2-40B4-BE49-F238E27FC236}">
                  <a16:creationId xmlns:a16="http://schemas.microsoft.com/office/drawing/2014/main" id="{2643D246-BBA9-6862-5277-BC1ECB845673}"/>
                </a:ext>
              </a:extLst>
            </p:cNvPr>
            <p:cNvGrpSpPr/>
            <p:nvPr/>
          </p:nvGrpSpPr>
          <p:grpSpPr>
            <a:xfrm>
              <a:off x="940249" y="302538"/>
              <a:ext cx="1060167" cy="290657"/>
              <a:chOff x="940249" y="315206"/>
              <a:chExt cx="1060167" cy="265062"/>
            </a:xfrm>
          </p:grpSpPr>
          <p:sp>
            <p:nvSpPr>
              <p:cNvPr id="8" name="AutoShape 9">
                <a:extLst>
                  <a:ext uri="{FF2B5EF4-FFF2-40B4-BE49-F238E27FC236}">
                    <a16:creationId xmlns:a16="http://schemas.microsoft.com/office/drawing/2014/main" id="{DA68A57A-8F1E-2B2D-2222-BED288D2E1A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C7D58FE2-8C62-E188-FD96-8C2410B2B7F4}"/>
                  </a:ext>
                </a:extLst>
              </p:cNvPr>
              <p:cNvGrpSpPr/>
              <p:nvPr/>
            </p:nvGrpSpPr>
            <p:grpSpPr>
              <a:xfrm>
                <a:off x="940249" y="315206"/>
                <a:ext cx="746492" cy="265062"/>
                <a:chOff x="940249" y="315206"/>
                <a:chExt cx="746492" cy="265062"/>
              </a:xfrm>
            </p:grpSpPr>
            <p:sp>
              <p:nvSpPr>
                <p:cNvPr id="10" name="AutoShape 11">
                  <a:extLst>
                    <a:ext uri="{FF2B5EF4-FFF2-40B4-BE49-F238E27FC236}">
                      <a16:creationId xmlns:a16="http://schemas.microsoft.com/office/drawing/2014/main" id="{EF44FC40-BF6F-DB2B-C718-92A909D463B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02F99861-F5E3-29E9-AD5B-6BBD78DFB84A}"/>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grpSp>
    </p:spTree>
    <p:extLst>
      <p:ext uri="{BB962C8B-B14F-4D97-AF65-F5344CB8AC3E}">
        <p14:creationId xmlns:p14="http://schemas.microsoft.com/office/powerpoint/2010/main" val="40817197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14ADB-BD3D-7FE8-0B55-01F4CEFB1DC9}"/>
              </a:ext>
            </a:extLst>
          </p:cNvPr>
          <p:cNvSpPr>
            <a:spLocks noGrp="1"/>
          </p:cNvSpPr>
          <p:nvPr>
            <p:ph type="title"/>
          </p:nvPr>
        </p:nvSpPr>
        <p:spPr/>
        <p:txBody>
          <a:bodyPr/>
          <a:lstStyle/>
          <a:p>
            <a:r>
              <a:rPr lang="en-US" dirty="0">
                <a:ea typeface="+mj-ea"/>
              </a:rPr>
              <a:t>Common Visual Management Pitfalls</a:t>
            </a:r>
            <a:endParaRPr lang="en-US" dirty="0"/>
          </a:p>
        </p:txBody>
      </p:sp>
      <p:sp>
        <p:nvSpPr>
          <p:cNvPr id="3" name="Content Placeholder 2">
            <a:extLst>
              <a:ext uri="{FF2B5EF4-FFF2-40B4-BE49-F238E27FC236}">
                <a16:creationId xmlns:a16="http://schemas.microsoft.com/office/drawing/2014/main" id="{55EF3B08-E994-BADC-397A-363F6A982FE6}"/>
              </a:ext>
            </a:extLst>
          </p:cNvPr>
          <p:cNvSpPr>
            <a:spLocks noGrp="1"/>
          </p:cNvSpPr>
          <p:nvPr>
            <p:ph idx="1"/>
          </p:nvPr>
        </p:nvSpPr>
        <p:spPr/>
        <p:txBody>
          <a:bodyPr/>
          <a:lstStyle/>
          <a:p>
            <a:r>
              <a:rPr lang="en-US" sz="2400" dirty="0"/>
              <a:t>No </a:t>
            </a:r>
            <a:r>
              <a:rPr lang="en-US" sz="2400" u="sng" dirty="0"/>
              <a:t>process</a:t>
            </a:r>
            <a:r>
              <a:rPr lang="en-US" sz="2400" dirty="0"/>
              <a:t> in place to accompany the Visual Management tools</a:t>
            </a:r>
          </a:p>
          <a:p>
            <a:pPr lvl="1"/>
            <a:r>
              <a:rPr lang="en-US" sz="2000" dirty="0"/>
              <a:t>Management action and countermeasures are not defined when Visual Management systems detect abnormalities</a:t>
            </a:r>
          </a:p>
          <a:p>
            <a:r>
              <a:rPr lang="en-US" sz="2400" dirty="0"/>
              <a:t>Visual controls do not clearly highlight abnormalities</a:t>
            </a:r>
          </a:p>
          <a:p>
            <a:r>
              <a:rPr lang="en-US" sz="2400" dirty="0"/>
              <a:t>Visual Management charts are not kept up to date</a:t>
            </a:r>
          </a:p>
          <a:p>
            <a:r>
              <a:rPr lang="en-US" sz="2400" dirty="0"/>
              <a:t>Visual controls are in place but not used by Management (process owners)</a:t>
            </a:r>
          </a:p>
          <a:p>
            <a:r>
              <a:rPr lang="en-US" sz="2400" dirty="0"/>
              <a:t>Visual Management signals are ignored</a:t>
            </a:r>
          </a:p>
          <a:p>
            <a:r>
              <a:rPr lang="en-US" sz="2400" dirty="0"/>
              <a:t>There are no standards in place for Visual Management tools</a:t>
            </a:r>
          </a:p>
        </p:txBody>
      </p:sp>
      <p:sp>
        <p:nvSpPr>
          <p:cNvPr id="6" name="Slide Number Placeholder 5">
            <a:extLst>
              <a:ext uri="{FF2B5EF4-FFF2-40B4-BE49-F238E27FC236}">
                <a16:creationId xmlns:a16="http://schemas.microsoft.com/office/drawing/2014/main" id="{60C552F8-7D5E-4BED-1E27-3AC3CA2FC30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43</a:t>
            </a:fld>
            <a:endParaRPr lang="en-US"/>
          </a:p>
        </p:txBody>
      </p:sp>
      <p:grpSp>
        <p:nvGrpSpPr>
          <p:cNvPr id="4" name="Group 3">
            <a:extLst>
              <a:ext uri="{FF2B5EF4-FFF2-40B4-BE49-F238E27FC236}">
                <a16:creationId xmlns:a16="http://schemas.microsoft.com/office/drawing/2014/main" id="{8FB9EDE4-2A02-A2D0-B839-E48B41E34574}"/>
              </a:ext>
            </a:extLst>
          </p:cNvPr>
          <p:cNvGrpSpPr/>
          <p:nvPr/>
        </p:nvGrpSpPr>
        <p:grpSpPr>
          <a:xfrm>
            <a:off x="940249" y="302538"/>
            <a:ext cx="3507765" cy="311932"/>
            <a:chOff x="940249" y="302538"/>
            <a:chExt cx="3507765" cy="311932"/>
          </a:xfrm>
        </p:grpSpPr>
        <p:sp>
          <p:nvSpPr>
            <p:cNvPr id="5" name="TextBox 4">
              <a:extLst>
                <a:ext uri="{FF2B5EF4-FFF2-40B4-BE49-F238E27FC236}">
                  <a16:creationId xmlns:a16="http://schemas.microsoft.com/office/drawing/2014/main" id="{5852B96B-FC85-D06B-2197-CEEA81B37F17}"/>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7" name="Group 6">
              <a:extLst>
                <a:ext uri="{FF2B5EF4-FFF2-40B4-BE49-F238E27FC236}">
                  <a16:creationId xmlns:a16="http://schemas.microsoft.com/office/drawing/2014/main" id="{BA7EBDA5-10AC-C329-7CD0-DB6ECE336137}"/>
                </a:ext>
              </a:extLst>
            </p:cNvPr>
            <p:cNvGrpSpPr/>
            <p:nvPr/>
          </p:nvGrpSpPr>
          <p:grpSpPr>
            <a:xfrm>
              <a:off x="940249" y="302538"/>
              <a:ext cx="1060167" cy="290657"/>
              <a:chOff x="940249" y="315206"/>
              <a:chExt cx="1060167" cy="265062"/>
            </a:xfrm>
          </p:grpSpPr>
          <p:sp>
            <p:nvSpPr>
              <p:cNvPr id="8" name="AutoShape 9">
                <a:extLst>
                  <a:ext uri="{FF2B5EF4-FFF2-40B4-BE49-F238E27FC236}">
                    <a16:creationId xmlns:a16="http://schemas.microsoft.com/office/drawing/2014/main" id="{33286B62-A00F-4B31-C353-7E85F30F2F7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F0AC2DB2-EDAD-1128-7845-FB76B0C54429}"/>
                  </a:ext>
                </a:extLst>
              </p:cNvPr>
              <p:cNvGrpSpPr/>
              <p:nvPr/>
            </p:nvGrpSpPr>
            <p:grpSpPr>
              <a:xfrm>
                <a:off x="940249" y="315206"/>
                <a:ext cx="746492" cy="265062"/>
                <a:chOff x="940249" y="315206"/>
                <a:chExt cx="746492" cy="265062"/>
              </a:xfrm>
            </p:grpSpPr>
            <p:sp>
              <p:nvSpPr>
                <p:cNvPr id="10" name="AutoShape 11">
                  <a:extLst>
                    <a:ext uri="{FF2B5EF4-FFF2-40B4-BE49-F238E27FC236}">
                      <a16:creationId xmlns:a16="http://schemas.microsoft.com/office/drawing/2014/main" id="{B343C919-8F01-E967-08FB-68A6712E55C1}"/>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C6EC71D6-6A5B-9D11-8B40-A0A25A8D3AB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grpSp>
    </p:spTree>
    <p:extLst>
      <p:ext uri="{BB962C8B-B14F-4D97-AF65-F5344CB8AC3E}">
        <p14:creationId xmlns:p14="http://schemas.microsoft.com/office/powerpoint/2010/main" val="35133633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Core Lean Concepts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44</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493265"/>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Value System</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Specify Value</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052393"/>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Flow</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361276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Pull</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rgbClr val="EE362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Perfection</a:t>
            </a:r>
          </a:p>
        </p:txBody>
      </p:sp>
      <p:sp>
        <p:nvSpPr>
          <p:cNvPr id="22" name="Rectangle 21">
            <a:extLst>
              <a:ext uri="{FF2B5EF4-FFF2-40B4-BE49-F238E27FC236}">
                <a16:creationId xmlns:a16="http://schemas.microsoft.com/office/drawing/2014/main" id="{FED7FF1B-648D-65C9-3C8A-B12E22D333B7}"/>
              </a:ext>
            </a:extLst>
          </p:cNvPr>
          <p:cNvSpPr/>
          <p:nvPr/>
        </p:nvSpPr>
        <p:spPr>
          <a:xfrm>
            <a:off x="940249" y="414616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 </a:t>
            </a:r>
          </a:p>
        </p:txBody>
      </p:sp>
      <p:sp>
        <p:nvSpPr>
          <p:cNvPr id="23" name="Rectangle 22">
            <a:extLst>
              <a:ext uri="{FF2B5EF4-FFF2-40B4-BE49-F238E27FC236}">
                <a16:creationId xmlns:a16="http://schemas.microsoft.com/office/drawing/2014/main" id="{02FA5FEE-5A32-F095-588B-7DDC417B4802}"/>
              </a:ext>
            </a:extLst>
          </p:cNvPr>
          <p:cNvSpPr/>
          <p:nvPr/>
        </p:nvSpPr>
        <p:spPr>
          <a:xfrm>
            <a:off x="940249" y="467956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6415520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rmAutofit/>
          </a:bodyPr>
          <a:lstStyle/>
          <a:p>
            <a:r>
              <a:rPr lang="en-US" sz="4000" dirty="0">
                <a:latin typeface="Roboto Medium"/>
                <a:ea typeface="Roboto Medium"/>
                <a:cs typeface="Roboto Medium"/>
              </a:rPr>
              <a:t>Perfection</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838200" y="1825625"/>
            <a:ext cx="10293632" cy="4351338"/>
          </a:xfrm>
        </p:spPr>
        <p:txBody>
          <a:bodyPr/>
          <a:lstStyle/>
          <a:p>
            <a:r>
              <a:rPr lang="en-US" dirty="0"/>
              <a:t>Continuous improvement never ends!</a:t>
            </a:r>
          </a:p>
          <a:p>
            <a:r>
              <a:rPr lang="en-US" dirty="0"/>
              <a:t>As we reduce inventory/overprocessing in the process, bottlenecks and other problems will be exposed </a:t>
            </a:r>
          </a:p>
          <a:p>
            <a:pPr lvl="1"/>
            <a:r>
              <a:rPr lang="en-US" dirty="0"/>
              <a:t>Attack these and persevere! Do not go back to the old way!</a:t>
            </a:r>
          </a:p>
          <a:p>
            <a:r>
              <a:rPr lang="en-US" dirty="0"/>
              <a:t>Determine metrics to measure the processes – remember that what gets measured gets improved</a:t>
            </a:r>
          </a:p>
          <a:p>
            <a:r>
              <a:rPr lang="en-US" dirty="0"/>
              <a:t>Continue to find ways to improve the process</a:t>
            </a:r>
          </a:p>
          <a:p>
            <a:r>
              <a:rPr lang="en-US" dirty="0"/>
              <a:t>Always keep the customer in focus…are we adding value?</a:t>
            </a:r>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45</a:t>
            </a:fld>
            <a:endParaRPr lang="en-US"/>
          </a:p>
        </p:txBody>
      </p:sp>
      <p:sp>
        <p:nvSpPr>
          <p:cNvPr id="19" name="TextBox 18">
            <a:extLst>
              <a:ext uri="{FF2B5EF4-FFF2-40B4-BE49-F238E27FC236}">
                <a16:creationId xmlns:a16="http://schemas.microsoft.com/office/drawing/2014/main" id="{1E7EE7BC-BAE6-D08D-F0B6-9DDB864EFC6D}"/>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0" name="Group 9">
            <a:extLst>
              <a:ext uri="{FF2B5EF4-FFF2-40B4-BE49-F238E27FC236}">
                <a16:creationId xmlns:a16="http://schemas.microsoft.com/office/drawing/2014/main" id="{D6A1DF11-3653-0E27-7A09-5248063E44F8}"/>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8F546AEF-1A57-BED4-F38D-60D214F12A6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EBD99F58-47AD-A427-5CC3-D6415AAEDB3E}"/>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6C632C57-0780-FE9B-F8D9-75302A23E548}"/>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5438CDB3-CA9A-5319-4935-198FB6EAAF77}"/>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6073878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Autofit/>
          </a:bodyPr>
          <a:lstStyle/>
          <a:p>
            <a:r>
              <a:rPr lang="en-US" sz="3200" dirty="0"/>
              <a:t>Kaizen…. The philosophy of continuous improvement</a:t>
            </a:r>
          </a:p>
        </p:txBody>
      </p:sp>
      <p:sp>
        <p:nvSpPr>
          <p:cNvPr id="3" name="Content Placeholder 2">
            <a:extLst>
              <a:ext uri="{FF2B5EF4-FFF2-40B4-BE49-F238E27FC236}">
                <a16:creationId xmlns:a16="http://schemas.microsoft.com/office/drawing/2014/main" id="{21980AE6-8978-92D6-F572-3E11FBDE9D1B}"/>
              </a:ext>
            </a:extLst>
          </p:cNvPr>
          <p:cNvSpPr>
            <a:spLocks noGrp="1"/>
          </p:cNvSpPr>
          <p:nvPr>
            <p:ph idx="1"/>
          </p:nvPr>
        </p:nvSpPr>
        <p:spPr>
          <a:xfrm>
            <a:off x="7172525" y="2473325"/>
            <a:ext cx="4267200" cy="2771775"/>
          </a:xfrm>
        </p:spPr>
        <p:txBody>
          <a:bodyPr/>
          <a:lstStyle/>
          <a:p>
            <a:r>
              <a:rPr lang="en-US" dirty="0"/>
              <a:t>Kaizen \Ki-</a:t>
            </a:r>
            <a:r>
              <a:rPr lang="en-US" dirty="0" err="1"/>
              <a:t>zen</a:t>
            </a:r>
            <a:r>
              <a:rPr lang="en-US" dirty="0"/>
              <a:t>\</a:t>
            </a:r>
            <a:br>
              <a:rPr lang="en-US" dirty="0"/>
            </a:br>
            <a:r>
              <a:rPr lang="en-US" dirty="0"/>
              <a:t>A continuous improvement mindset</a:t>
            </a:r>
          </a:p>
          <a:p>
            <a:r>
              <a:rPr lang="en-US" dirty="0"/>
              <a:t>Everything that we do today can be improved</a:t>
            </a:r>
          </a:p>
          <a:p>
            <a:r>
              <a:rPr lang="en-US" dirty="0"/>
              <a:t>Kaizen has no end</a:t>
            </a:r>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46</a:t>
            </a:fld>
            <a:endParaRPr lang="en-US"/>
          </a:p>
        </p:txBody>
      </p:sp>
      <p:grpSp>
        <p:nvGrpSpPr>
          <p:cNvPr id="12" name="Group 36">
            <a:extLst>
              <a:ext uri="{FF2B5EF4-FFF2-40B4-BE49-F238E27FC236}">
                <a16:creationId xmlns:a16="http://schemas.microsoft.com/office/drawing/2014/main" id="{7F3F71F1-E487-4E5D-004C-BB4D67ADBBF5}"/>
              </a:ext>
            </a:extLst>
          </p:cNvPr>
          <p:cNvGrpSpPr>
            <a:grpSpLocks/>
          </p:cNvGrpSpPr>
          <p:nvPr/>
        </p:nvGrpSpPr>
        <p:grpSpPr bwMode="auto">
          <a:xfrm>
            <a:off x="939396" y="1989056"/>
            <a:ext cx="4039691" cy="3882871"/>
            <a:chOff x="2089" y="1410"/>
            <a:chExt cx="2104" cy="1948"/>
          </a:xfrm>
        </p:grpSpPr>
        <p:sp>
          <p:nvSpPr>
            <p:cNvPr id="13" name="Freeform 37">
              <a:extLst>
                <a:ext uri="{FF2B5EF4-FFF2-40B4-BE49-F238E27FC236}">
                  <a16:creationId xmlns:a16="http://schemas.microsoft.com/office/drawing/2014/main" id="{7AADF9B7-3977-07AE-85DD-D740DAB1CA99}"/>
                </a:ext>
              </a:extLst>
            </p:cNvPr>
            <p:cNvSpPr>
              <a:spLocks/>
            </p:cNvSpPr>
            <p:nvPr/>
          </p:nvSpPr>
          <p:spPr bwMode="auto">
            <a:xfrm>
              <a:off x="2089" y="1731"/>
              <a:ext cx="650" cy="1359"/>
            </a:xfrm>
            <a:custGeom>
              <a:avLst/>
              <a:gdLst>
                <a:gd name="T0" fmla="*/ 2176 w 432"/>
                <a:gd name="T1" fmla="*/ 1300 h 951"/>
                <a:gd name="T2" fmla="*/ 1849 w 432"/>
                <a:gd name="T3" fmla="*/ 266 h 951"/>
                <a:gd name="T4" fmla="*/ 542 w 432"/>
                <a:gd name="T5" fmla="*/ 0 h 951"/>
                <a:gd name="T6" fmla="*/ 743 w 432"/>
                <a:gd name="T7" fmla="*/ 157 h 951"/>
                <a:gd name="T8" fmla="*/ 579 w 432"/>
                <a:gd name="T9" fmla="*/ 347 h 951"/>
                <a:gd name="T10" fmla="*/ 430 w 432"/>
                <a:gd name="T11" fmla="*/ 543 h 951"/>
                <a:gd name="T12" fmla="*/ 304 w 432"/>
                <a:gd name="T13" fmla="*/ 749 h 951"/>
                <a:gd name="T14" fmla="*/ 194 w 432"/>
                <a:gd name="T15" fmla="*/ 972 h 951"/>
                <a:gd name="T16" fmla="*/ 113 w 432"/>
                <a:gd name="T17" fmla="*/ 1193 h 951"/>
                <a:gd name="T18" fmla="*/ 53 w 432"/>
                <a:gd name="T19" fmla="*/ 1428 h 951"/>
                <a:gd name="T20" fmla="*/ 12 w 432"/>
                <a:gd name="T21" fmla="*/ 1665 h 951"/>
                <a:gd name="T22" fmla="*/ 0 w 432"/>
                <a:gd name="T23" fmla="*/ 1909 h 951"/>
                <a:gd name="T24" fmla="*/ 8 w 432"/>
                <a:gd name="T25" fmla="*/ 2056 h 951"/>
                <a:gd name="T26" fmla="*/ 21 w 432"/>
                <a:gd name="T27" fmla="*/ 2205 h 951"/>
                <a:gd name="T28" fmla="*/ 48 w 432"/>
                <a:gd name="T29" fmla="*/ 2352 h 951"/>
                <a:gd name="T30" fmla="*/ 72 w 432"/>
                <a:gd name="T31" fmla="*/ 2495 h 951"/>
                <a:gd name="T32" fmla="*/ 120 w 432"/>
                <a:gd name="T33" fmla="*/ 2634 h 951"/>
                <a:gd name="T34" fmla="*/ 170 w 432"/>
                <a:gd name="T35" fmla="*/ 2774 h 951"/>
                <a:gd name="T36" fmla="*/ 224 w 432"/>
                <a:gd name="T37" fmla="*/ 2909 h 951"/>
                <a:gd name="T38" fmla="*/ 292 w 432"/>
                <a:gd name="T39" fmla="*/ 3041 h 951"/>
                <a:gd name="T40" fmla="*/ 439 w 432"/>
                <a:gd name="T41" fmla="*/ 3294 h 951"/>
                <a:gd name="T42" fmla="*/ 629 w 432"/>
                <a:gd name="T43" fmla="*/ 3531 h 951"/>
                <a:gd name="T44" fmla="*/ 843 w 432"/>
                <a:gd name="T45" fmla="*/ 3754 h 951"/>
                <a:gd name="T46" fmla="*/ 1076 w 432"/>
                <a:gd name="T47" fmla="*/ 3964 h 951"/>
                <a:gd name="T48" fmla="*/ 1338 w 432"/>
                <a:gd name="T49" fmla="*/ 3108 h 951"/>
                <a:gd name="T50" fmla="*/ 2207 w 432"/>
                <a:gd name="T51" fmla="*/ 2927 h 951"/>
                <a:gd name="T52" fmla="*/ 2094 w 432"/>
                <a:gd name="T53" fmla="*/ 2818 h 951"/>
                <a:gd name="T54" fmla="*/ 1992 w 432"/>
                <a:gd name="T55" fmla="*/ 2712 h 951"/>
                <a:gd name="T56" fmla="*/ 1911 w 432"/>
                <a:gd name="T57" fmla="*/ 2594 h 951"/>
                <a:gd name="T58" fmla="*/ 1836 w 432"/>
                <a:gd name="T59" fmla="*/ 2466 h 951"/>
                <a:gd name="T60" fmla="*/ 1777 w 432"/>
                <a:gd name="T61" fmla="*/ 2332 h 951"/>
                <a:gd name="T62" fmla="*/ 1736 w 432"/>
                <a:gd name="T63" fmla="*/ 2198 h 951"/>
                <a:gd name="T64" fmla="*/ 1714 w 432"/>
                <a:gd name="T65" fmla="*/ 2056 h 951"/>
                <a:gd name="T66" fmla="*/ 1702 w 432"/>
                <a:gd name="T67" fmla="*/ 1909 h 951"/>
                <a:gd name="T68" fmla="*/ 1723 w 432"/>
                <a:gd name="T69" fmla="*/ 1699 h 951"/>
                <a:gd name="T70" fmla="*/ 1775 w 432"/>
                <a:gd name="T71" fmla="*/ 1500 h 951"/>
                <a:gd name="T72" fmla="*/ 1861 w 432"/>
                <a:gd name="T73" fmla="*/ 1310 h 951"/>
                <a:gd name="T74" fmla="*/ 1911 w 432"/>
                <a:gd name="T75" fmla="*/ 1218 h 951"/>
                <a:gd name="T76" fmla="*/ 1973 w 432"/>
                <a:gd name="T77" fmla="*/ 1136 h 951"/>
                <a:gd name="T78" fmla="*/ 2176 w 432"/>
                <a:gd name="T79" fmla="*/ 1300 h 95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432" h="951">
                  <a:moveTo>
                    <a:pt x="425" y="312"/>
                  </a:moveTo>
                  <a:lnTo>
                    <a:pt x="361" y="64"/>
                  </a:lnTo>
                  <a:lnTo>
                    <a:pt x="106" y="0"/>
                  </a:lnTo>
                  <a:lnTo>
                    <a:pt x="145" y="38"/>
                  </a:lnTo>
                  <a:lnTo>
                    <a:pt x="113" y="83"/>
                  </a:lnTo>
                  <a:lnTo>
                    <a:pt x="84" y="130"/>
                  </a:lnTo>
                  <a:lnTo>
                    <a:pt x="59" y="180"/>
                  </a:lnTo>
                  <a:lnTo>
                    <a:pt x="38" y="233"/>
                  </a:lnTo>
                  <a:lnTo>
                    <a:pt x="22" y="286"/>
                  </a:lnTo>
                  <a:lnTo>
                    <a:pt x="10" y="342"/>
                  </a:lnTo>
                  <a:lnTo>
                    <a:pt x="2" y="399"/>
                  </a:lnTo>
                  <a:lnTo>
                    <a:pt x="0" y="458"/>
                  </a:lnTo>
                  <a:lnTo>
                    <a:pt x="1" y="493"/>
                  </a:lnTo>
                  <a:lnTo>
                    <a:pt x="4" y="529"/>
                  </a:lnTo>
                  <a:lnTo>
                    <a:pt x="9" y="564"/>
                  </a:lnTo>
                  <a:lnTo>
                    <a:pt x="14" y="598"/>
                  </a:lnTo>
                  <a:lnTo>
                    <a:pt x="23" y="632"/>
                  </a:lnTo>
                  <a:lnTo>
                    <a:pt x="33" y="665"/>
                  </a:lnTo>
                  <a:lnTo>
                    <a:pt x="44" y="698"/>
                  </a:lnTo>
                  <a:lnTo>
                    <a:pt x="57" y="729"/>
                  </a:lnTo>
                  <a:lnTo>
                    <a:pt x="86" y="790"/>
                  </a:lnTo>
                  <a:lnTo>
                    <a:pt x="123" y="847"/>
                  </a:lnTo>
                  <a:lnTo>
                    <a:pt x="164" y="900"/>
                  </a:lnTo>
                  <a:lnTo>
                    <a:pt x="210" y="950"/>
                  </a:lnTo>
                  <a:lnTo>
                    <a:pt x="261" y="745"/>
                  </a:lnTo>
                  <a:lnTo>
                    <a:pt x="431" y="702"/>
                  </a:lnTo>
                  <a:lnTo>
                    <a:pt x="409" y="676"/>
                  </a:lnTo>
                  <a:lnTo>
                    <a:pt x="389" y="650"/>
                  </a:lnTo>
                  <a:lnTo>
                    <a:pt x="373" y="622"/>
                  </a:lnTo>
                  <a:lnTo>
                    <a:pt x="358" y="591"/>
                  </a:lnTo>
                  <a:lnTo>
                    <a:pt x="347" y="559"/>
                  </a:lnTo>
                  <a:lnTo>
                    <a:pt x="339" y="527"/>
                  </a:lnTo>
                  <a:lnTo>
                    <a:pt x="334" y="493"/>
                  </a:lnTo>
                  <a:lnTo>
                    <a:pt x="332" y="458"/>
                  </a:lnTo>
                  <a:lnTo>
                    <a:pt x="336" y="407"/>
                  </a:lnTo>
                  <a:lnTo>
                    <a:pt x="346" y="360"/>
                  </a:lnTo>
                  <a:lnTo>
                    <a:pt x="363" y="314"/>
                  </a:lnTo>
                  <a:lnTo>
                    <a:pt x="373" y="292"/>
                  </a:lnTo>
                  <a:lnTo>
                    <a:pt x="385" y="272"/>
                  </a:lnTo>
                  <a:lnTo>
                    <a:pt x="425" y="312"/>
                  </a:lnTo>
                </a:path>
              </a:pathLst>
            </a:custGeom>
            <a:solidFill>
              <a:srgbClr val="FFB627"/>
            </a:solidFill>
            <a:ln w="6350" cap="rnd" cmpd="sng">
              <a:solidFill>
                <a:schemeClr val="tx1"/>
              </a:solidFill>
              <a:prstDash val="solid"/>
              <a:round/>
              <a:headEnd/>
              <a:tailEnd/>
            </a:ln>
          </p:spPr>
          <p:txBody>
            <a:bodyPr lIns="45720" rIns="45720" anchor="ctr" anchorCtr="1"/>
            <a:lstStyle/>
            <a:p>
              <a:endParaRPr lang="en-US" dirty="0"/>
            </a:p>
          </p:txBody>
        </p:sp>
        <p:sp>
          <p:nvSpPr>
            <p:cNvPr id="14" name="Freeform 38">
              <a:extLst>
                <a:ext uri="{FF2B5EF4-FFF2-40B4-BE49-F238E27FC236}">
                  <a16:creationId xmlns:a16="http://schemas.microsoft.com/office/drawing/2014/main" id="{8F53B213-9768-98D1-3F94-06F295D04340}"/>
                </a:ext>
              </a:extLst>
            </p:cNvPr>
            <p:cNvSpPr>
              <a:spLocks/>
            </p:cNvSpPr>
            <p:nvPr/>
          </p:nvSpPr>
          <p:spPr bwMode="auto">
            <a:xfrm>
              <a:off x="2431" y="2746"/>
              <a:ext cx="1424" cy="612"/>
            </a:xfrm>
            <a:custGeom>
              <a:avLst/>
              <a:gdLst>
                <a:gd name="T0" fmla="*/ 1582 w 948"/>
                <a:gd name="T1" fmla="*/ 33 h 428"/>
                <a:gd name="T2" fmla="*/ 324 w 948"/>
                <a:gd name="T3" fmla="*/ 305 h 428"/>
                <a:gd name="T4" fmla="*/ 0 w 948"/>
                <a:gd name="T5" fmla="*/ 1371 h 428"/>
                <a:gd name="T6" fmla="*/ 203 w 948"/>
                <a:gd name="T7" fmla="*/ 1198 h 428"/>
                <a:gd name="T8" fmla="*/ 433 w 948"/>
                <a:gd name="T9" fmla="*/ 1331 h 428"/>
                <a:gd name="T10" fmla="*/ 670 w 948"/>
                <a:gd name="T11" fmla="*/ 1447 h 428"/>
                <a:gd name="T12" fmla="*/ 925 w 948"/>
                <a:gd name="T13" fmla="*/ 1550 h 428"/>
                <a:gd name="T14" fmla="*/ 1190 w 948"/>
                <a:gd name="T15" fmla="*/ 1640 h 428"/>
                <a:gd name="T16" fmla="*/ 1460 w 948"/>
                <a:gd name="T17" fmla="*/ 1706 h 428"/>
                <a:gd name="T18" fmla="*/ 1742 w 948"/>
                <a:gd name="T19" fmla="*/ 1756 h 428"/>
                <a:gd name="T20" fmla="*/ 2037 w 948"/>
                <a:gd name="T21" fmla="*/ 1787 h 428"/>
                <a:gd name="T22" fmla="*/ 2331 w 948"/>
                <a:gd name="T23" fmla="*/ 1787 h 428"/>
                <a:gd name="T24" fmla="*/ 2695 w 948"/>
                <a:gd name="T25" fmla="*/ 1777 h 428"/>
                <a:gd name="T26" fmla="*/ 3039 w 948"/>
                <a:gd name="T27" fmla="*/ 1734 h 428"/>
                <a:gd name="T28" fmla="*/ 3380 w 948"/>
                <a:gd name="T29" fmla="*/ 1660 h 428"/>
                <a:gd name="T30" fmla="*/ 3707 w 948"/>
                <a:gd name="T31" fmla="*/ 1564 h 428"/>
                <a:gd name="T32" fmla="*/ 4012 w 948"/>
                <a:gd name="T33" fmla="*/ 1440 h 428"/>
                <a:gd name="T34" fmla="*/ 4158 w 948"/>
                <a:gd name="T35" fmla="*/ 1368 h 428"/>
                <a:gd name="T36" fmla="*/ 4301 w 948"/>
                <a:gd name="T37" fmla="*/ 1293 h 428"/>
                <a:gd name="T38" fmla="*/ 4571 w 948"/>
                <a:gd name="T39" fmla="*/ 1121 h 428"/>
                <a:gd name="T40" fmla="*/ 4820 w 948"/>
                <a:gd name="T41" fmla="*/ 932 h 428"/>
                <a:gd name="T42" fmla="*/ 3800 w 948"/>
                <a:gd name="T43" fmla="*/ 722 h 428"/>
                <a:gd name="T44" fmla="*/ 3569 w 948"/>
                <a:gd name="T45" fmla="*/ 0 h 428"/>
                <a:gd name="T46" fmla="*/ 3447 w 948"/>
                <a:gd name="T47" fmla="*/ 90 h 428"/>
                <a:gd name="T48" fmla="*/ 3308 w 948"/>
                <a:gd name="T49" fmla="*/ 172 h 428"/>
                <a:gd name="T50" fmla="*/ 3160 w 948"/>
                <a:gd name="T51" fmla="*/ 239 h 428"/>
                <a:gd name="T52" fmla="*/ 3010 w 948"/>
                <a:gd name="T53" fmla="*/ 300 h 428"/>
                <a:gd name="T54" fmla="*/ 2850 w 948"/>
                <a:gd name="T55" fmla="*/ 347 h 428"/>
                <a:gd name="T56" fmla="*/ 2678 w 948"/>
                <a:gd name="T57" fmla="*/ 380 h 428"/>
                <a:gd name="T58" fmla="*/ 2512 w 948"/>
                <a:gd name="T59" fmla="*/ 400 h 428"/>
                <a:gd name="T60" fmla="*/ 2331 w 948"/>
                <a:gd name="T61" fmla="*/ 409 h 428"/>
                <a:gd name="T62" fmla="*/ 2202 w 948"/>
                <a:gd name="T63" fmla="*/ 408 h 428"/>
                <a:gd name="T64" fmla="*/ 2077 w 948"/>
                <a:gd name="T65" fmla="*/ 393 h 428"/>
                <a:gd name="T66" fmla="*/ 1956 w 948"/>
                <a:gd name="T67" fmla="*/ 376 h 428"/>
                <a:gd name="T68" fmla="*/ 1837 w 948"/>
                <a:gd name="T69" fmla="*/ 356 h 428"/>
                <a:gd name="T70" fmla="*/ 1721 w 948"/>
                <a:gd name="T71" fmla="*/ 320 h 428"/>
                <a:gd name="T72" fmla="*/ 1612 w 948"/>
                <a:gd name="T73" fmla="*/ 290 h 428"/>
                <a:gd name="T74" fmla="*/ 1501 w 948"/>
                <a:gd name="T75" fmla="*/ 243 h 428"/>
                <a:gd name="T76" fmla="*/ 1397 w 948"/>
                <a:gd name="T77" fmla="*/ 192 h 428"/>
                <a:gd name="T78" fmla="*/ 1582 w 948"/>
                <a:gd name="T79" fmla="*/ 33 h 42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48" h="428">
                  <a:moveTo>
                    <a:pt x="311" y="8"/>
                  </a:moveTo>
                  <a:lnTo>
                    <a:pt x="64" y="73"/>
                  </a:lnTo>
                  <a:lnTo>
                    <a:pt x="0" y="328"/>
                  </a:lnTo>
                  <a:lnTo>
                    <a:pt x="40" y="287"/>
                  </a:lnTo>
                  <a:lnTo>
                    <a:pt x="85" y="318"/>
                  </a:lnTo>
                  <a:lnTo>
                    <a:pt x="132" y="346"/>
                  </a:lnTo>
                  <a:lnTo>
                    <a:pt x="182" y="371"/>
                  </a:lnTo>
                  <a:lnTo>
                    <a:pt x="234" y="392"/>
                  </a:lnTo>
                  <a:lnTo>
                    <a:pt x="287" y="408"/>
                  </a:lnTo>
                  <a:lnTo>
                    <a:pt x="342" y="420"/>
                  </a:lnTo>
                  <a:lnTo>
                    <a:pt x="400" y="427"/>
                  </a:lnTo>
                  <a:lnTo>
                    <a:pt x="458" y="427"/>
                  </a:lnTo>
                  <a:lnTo>
                    <a:pt x="529" y="425"/>
                  </a:lnTo>
                  <a:lnTo>
                    <a:pt x="597" y="415"/>
                  </a:lnTo>
                  <a:lnTo>
                    <a:pt x="664" y="397"/>
                  </a:lnTo>
                  <a:lnTo>
                    <a:pt x="728" y="374"/>
                  </a:lnTo>
                  <a:lnTo>
                    <a:pt x="788" y="344"/>
                  </a:lnTo>
                  <a:lnTo>
                    <a:pt x="817" y="327"/>
                  </a:lnTo>
                  <a:lnTo>
                    <a:pt x="845" y="309"/>
                  </a:lnTo>
                  <a:lnTo>
                    <a:pt x="898" y="268"/>
                  </a:lnTo>
                  <a:lnTo>
                    <a:pt x="947" y="223"/>
                  </a:lnTo>
                  <a:lnTo>
                    <a:pt x="746" y="173"/>
                  </a:lnTo>
                  <a:lnTo>
                    <a:pt x="701" y="0"/>
                  </a:lnTo>
                  <a:lnTo>
                    <a:pt x="677" y="22"/>
                  </a:lnTo>
                  <a:lnTo>
                    <a:pt x="650" y="41"/>
                  </a:lnTo>
                  <a:lnTo>
                    <a:pt x="621" y="57"/>
                  </a:lnTo>
                  <a:lnTo>
                    <a:pt x="591" y="72"/>
                  </a:lnTo>
                  <a:lnTo>
                    <a:pt x="560" y="83"/>
                  </a:lnTo>
                  <a:lnTo>
                    <a:pt x="526" y="91"/>
                  </a:lnTo>
                  <a:lnTo>
                    <a:pt x="493" y="96"/>
                  </a:lnTo>
                  <a:lnTo>
                    <a:pt x="458" y="98"/>
                  </a:lnTo>
                  <a:lnTo>
                    <a:pt x="433" y="97"/>
                  </a:lnTo>
                  <a:lnTo>
                    <a:pt x="408" y="94"/>
                  </a:lnTo>
                  <a:lnTo>
                    <a:pt x="384" y="90"/>
                  </a:lnTo>
                  <a:lnTo>
                    <a:pt x="361" y="85"/>
                  </a:lnTo>
                  <a:lnTo>
                    <a:pt x="338" y="77"/>
                  </a:lnTo>
                  <a:lnTo>
                    <a:pt x="316" y="69"/>
                  </a:lnTo>
                  <a:lnTo>
                    <a:pt x="295" y="58"/>
                  </a:lnTo>
                  <a:lnTo>
                    <a:pt x="274" y="46"/>
                  </a:lnTo>
                  <a:lnTo>
                    <a:pt x="311" y="8"/>
                  </a:lnTo>
                </a:path>
              </a:pathLst>
            </a:custGeom>
            <a:solidFill>
              <a:schemeClr val="tx1">
                <a:lumMod val="95000"/>
                <a:lumOff val="5000"/>
              </a:schemeClr>
            </a:solidFill>
            <a:ln w="6350" cap="rnd" cmpd="sng">
              <a:solidFill>
                <a:schemeClr val="tx1"/>
              </a:solidFill>
              <a:prstDash val="solid"/>
              <a:round/>
              <a:headEnd/>
              <a:tailEnd/>
            </a:ln>
          </p:spPr>
          <p:txBody>
            <a:bodyPr lIns="45720" rIns="45720" anchor="ctr" anchorCtr="1"/>
            <a:lstStyle/>
            <a:p>
              <a:endParaRPr lang="en-US"/>
            </a:p>
          </p:txBody>
        </p:sp>
        <p:sp>
          <p:nvSpPr>
            <p:cNvPr id="15" name="Freeform 39">
              <a:extLst>
                <a:ext uri="{FF2B5EF4-FFF2-40B4-BE49-F238E27FC236}">
                  <a16:creationId xmlns:a16="http://schemas.microsoft.com/office/drawing/2014/main" id="{317F7042-F659-24E8-EA54-30B046A0DFE8}"/>
                </a:ext>
              </a:extLst>
            </p:cNvPr>
            <p:cNvSpPr>
              <a:spLocks/>
            </p:cNvSpPr>
            <p:nvPr/>
          </p:nvSpPr>
          <p:spPr bwMode="auto">
            <a:xfrm>
              <a:off x="3504" y="1690"/>
              <a:ext cx="639" cy="1356"/>
            </a:xfrm>
            <a:custGeom>
              <a:avLst/>
              <a:gdLst>
                <a:gd name="T0" fmla="*/ 27 w 425"/>
                <a:gd name="T1" fmla="*/ 2666 h 948"/>
                <a:gd name="T2" fmla="*/ 353 w 425"/>
                <a:gd name="T3" fmla="*/ 3698 h 948"/>
                <a:gd name="T4" fmla="*/ 1661 w 425"/>
                <a:gd name="T5" fmla="*/ 3965 h 948"/>
                <a:gd name="T6" fmla="*/ 1433 w 425"/>
                <a:gd name="T7" fmla="*/ 3788 h 948"/>
                <a:gd name="T8" fmla="*/ 1606 w 425"/>
                <a:gd name="T9" fmla="*/ 3599 h 948"/>
                <a:gd name="T10" fmla="*/ 1747 w 425"/>
                <a:gd name="T11" fmla="*/ 3404 h 948"/>
                <a:gd name="T12" fmla="*/ 1876 w 425"/>
                <a:gd name="T13" fmla="*/ 3194 h 948"/>
                <a:gd name="T14" fmla="*/ 1983 w 425"/>
                <a:gd name="T15" fmla="*/ 2977 h 948"/>
                <a:gd name="T16" fmla="*/ 2064 w 425"/>
                <a:gd name="T17" fmla="*/ 2752 h 948"/>
                <a:gd name="T18" fmla="*/ 2132 w 425"/>
                <a:gd name="T19" fmla="*/ 2520 h 948"/>
                <a:gd name="T20" fmla="*/ 2165 w 425"/>
                <a:gd name="T21" fmla="*/ 2283 h 948"/>
                <a:gd name="T22" fmla="*/ 2165 w 425"/>
                <a:gd name="T23" fmla="*/ 2040 h 948"/>
                <a:gd name="T24" fmla="*/ 2161 w 425"/>
                <a:gd name="T25" fmla="*/ 1741 h 948"/>
                <a:gd name="T26" fmla="*/ 2105 w 425"/>
                <a:gd name="T27" fmla="*/ 1450 h 948"/>
                <a:gd name="T28" fmla="*/ 2012 w 425"/>
                <a:gd name="T29" fmla="*/ 1176 h 948"/>
                <a:gd name="T30" fmla="*/ 1896 w 425"/>
                <a:gd name="T31" fmla="*/ 917 h 948"/>
                <a:gd name="T32" fmla="*/ 1747 w 425"/>
                <a:gd name="T33" fmla="*/ 661 h 948"/>
                <a:gd name="T34" fmla="*/ 1564 w 425"/>
                <a:gd name="T35" fmla="*/ 422 h 948"/>
                <a:gd name="T36" fmla="*/ 1359 w 425"/>
                <a:gd name="T37" fmla="*/ 203 h 948"/>
                <a:gd name="T38" fmla="*/ 1126 w 425"/>
                <a:gd name="T39" fmla="*/ 0 h 948"/>
                <a:gd name="T40" fmla="*/ 863 w 425"/>
                <a:gd name="T41" fmla="*/ 850 h 948"/>
                <a:gd name="T42" fmla="*/ 0 w 425"/>
                <a:gd name="T43" fmla="*/ 1033 h 948"/>
                <a:gd name="T44" fmla="*/ 113 w 425"/>
                <a:gd name="T45" fmla="*/ 1137 h 948"/>
                <a:gd name="T46" fmla="*/ 203 w 425"/>
                <a:gd name="T47" fmla="*/ 1246 h 948"/>
                <a:gd name="T48" fmla="*/ 284 w 425"/>
                <a:gd name="T49" fmla="*/ 1365 h 948"/>
                <a:gd name="T50" fmla="*/ 353 w 425"/>
                <a:gd name="T51" fmla="*/ 1489 h 948"/>
                <a:gd name="T52" fmla="*/ 413 w 425"/>
                <a:gd name="T53" fmla="*/ 1621 h 948"/>
                <a:gd name="T54" fmla="*/ 454 w 425"/>
                <a:gd name="T55" fmla="*/ 1754 h 948"/>
                <a:gd name="T56" fmla="*/ 475 w 425"/>
                <a:gd name="T57" fmla="*/ 1892 h 948"/>
                <a:gd name="T58" fmla="*/ 486 w 425"/>
                <a:gd name="T59" fmla="*/ 2040 h 948"/>
                <a:gd name="T60" fmla="*/ 466 w 425"/>
                <a:gd name="T61" fmla="*/ 2244 h 948"/>
                <a:gd name="T62" fmla="*/ 413 w 425"/>
                <a:gd name="T63" fmla="*/ 2449 h 948"/>
                <a:gd name="T64" fmla="*/ 326 w 425"/>
                <a:gd name="T65" fmla="*/ 2633 h 948"/>
                <a:gd name="T66" fmla="*/ 215 w 425"/>
                <a:gd name="T67" fmla="*/ 2809 h 948"/>
                <a:gd name="T68" fmla="*/ 27 w 425"/>
                <a:gd name="T69" fmla="*/ 2666 h 94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425" h="948">
                  <a:moveTo>
                    <a:pt x="5" y="637"/>
                  </a:moveTo>
                  <a:lnTo>
                    <a:pt x="69" y="883"/>
                  </a:lnTo>
                  <a:lnTo>
                    <a:pt x="325" y="947"/>
                  </a:lnTo>
                  <a:lnTo>
                    <a:pt x="281" y="905"/>
                  </a:lnTo>
                  <a:lnTo>
                    <a:pt x="314" y="860"/>
                  </a:lnTo>
                  <a:lnTo>
                    <a:pt x="342" y="813"/>
                  </a:lnTo>
                  <a:lnTo>
                    <a:pt x="367" y="763"/>
                  </a:lnTo>
                  <a:lnTo>
                    <a:pt x="388" y="711"/>
                  </a:lnTo>
                  <a:lnTo>
                    <a:pt x="404" y="657"/>
                  </a:lnTo>
                  <a:lnTo>
                    <a:pt x="417" y="602"/>
                  </a:lnTo>
                  <a:lnTo>
                    <a:pt x="424" y="545"/>
                  </a:lnTo>
                  <a:lnTo>
                    <a:pt x="424" y="487"/>
                  </a:lnTo>
                  <a:lnTo>
                    <a:pt x="423" y="416"/>
                  </a:lnTo>
                  <a:lnTo>
                    <a:pt x="412" y="347"/>
                  </a:lnTo>
                  <a:lnTo>
                    <a:pt x="394" y="281"/>
                  </a:lnTo>
                  <a:lnTo>
                    <a:pt x="371" y="219"/>
                  </a:lnTo>
                  <a:lnTo>
                    <a:pt x="342" y="158"/>
                  </a:lnTo>
                  <a:lnTo>
                    <a:pt x="306" y="101"/>
                  </a:lnTo>
                  <a:lnTo>
                    <a:pt x="266" y="48"/>
                  </a:lnTo>
                  <a:lnTo>
                    <a:pt x="220" y="0"/>
                  </a:lnTo>
                  <a:lnTo>
                    <a:pt x="169" y="203"/>
                  </a:lnTo>
                  <a:lnTo>
                    <a:pt x="0" y="247"/>
                  </a:lnTo>
                  <a:lnTo>
                    <a:pt x="22" y="272"/>
                  </a:lnTo>
                  <a:lnTo>
                    <a:pt x="40" y="298"/>
                  </a:lnTo>
                  <a:lnTo>
                    <a:pt x="56" y="326"/>
                  </a:lnTo>
                  <a:lnTo>
                    <a:pt x="69" y="356"/>
                  </a:lnTo>
                  <a:lnTo>
                    <a:pt x="81" y="387"/>
                  </a:lnTo>
                  <a:lnTo>
                    <a:pt x="89" y="419"/>
                  </a:lnTo>
                  <a:lnTo>
                    <a:pt x="93" y="452"/>
                  </a:lnTo>
                  <a:lnTo>
                    <a:pt x="95" y="487"/>
                  </a:lnTo>
                  <a:lnTo>
                    <a:pt x="91" y="536"/>
                  </a:lnTo>
                  <a:lnTo>
                    <a:pt x="81" y="585"/>
                  </a:lnTo>
                  <a:lnTo>
                    <a:pt x="64" y="629"/>
                  </a:lnTo>
                  <a:lnTo>
                    <a:pt x="42" y="671"/>
                  </a:lnTo>
                  <a:lnTo>
                    <a:pt x="5" y="637"/>
                  </a:lnTo>
                </a:path>
              </a:pathLst>
            </a:custGeom>
            <a:solidFill>
              <a:srgbClr val="EE3228"/>
            </a:solidFill>
            <a:ln w="6350" cap="rnd" cmpd="sng">
              <a:solidFill>
                <a:schemeClr val="tx1"/>
              </a:solidFill>
              <a:prstDash val="solid"/>
              <a:round/>
              <a:headEnd/>
              <a:tailEnd/>
            </a:ln>
          </p:spPr>
          <p:txBody>
            <a:bodyPr lIns="45720" rIns="45720" anchor="ctr" anchorCtr="1"/>
            <a:lstStyle/>
            <a:p>
              <a:endParaRPr lang="en-US"/>
            </a:p>
          </p:txBody>
        </p:sp>
        <p:sp>
          <p:nvSpPr>
            <p:cNvPr id="16" name="Freeform 40">
              <a:extLst>
                <a:ext uri="{FF2B5EF4-FFF2-40B4-BE49-F238E27FC236}">
                  <a16:creationId xmlns:a16="http://schemas.microsoft.com/office/drawing/2014/main" id="{B4600B98-75F4-BBFB-090E-20C53CC55983}"/>
                </a:ext>
              </a:extLst>
            </p:cNvPr>
            <p:cNvSpPr>
              <a:spLocks/>
            </p:cNvSpPr>
            <p:nvPr/>
          </p:nvSpPr>
          <p:spPr bwMode="auto">
            <a:xfrm>
              <a:off x="2378" y="1410"/>
              <a:ext cx="1433" cy="612"/>
            </a:xfrm>
            <a:custGeom>
              <a:avLst/>
              <a:gdLst>
                <a:gd name="T0" fmla="*/ 3275 w 954"/>
                <a:gd name="T1" fmla="*/ 1777 h 428"/>
                <a:gd name="T2" fmla="*/ 4530 w 954"/>
                <a:gd name="T3" fmla="*/ 1516 h 428"/>
                <a:gd name="T4" fmla="*/ 4852 w 954"/>
                <a:gd name="T5" fmla="*/ 438 h 428"/>
                <a:gd name="T6" fmla="*/ 4652 w 954"/>
                <a:gd name="T7" fmla="*/ 613 h 428"/>
                <a:gd name="T8" fmla="*/ 4422 w 954"/>
                <a:gd name="T9" fmla="*/ 476 h 428"/>
                <a:gd name="T10" fmla="*/ 4179 w 954"/>
                <a:gd name="T11" fmla="*/ 356 h 428"/>
                <a:gd name="T12" fmla="*/ 3923 w 954"/>
                <a:gd name="T13" fmla="*/ 252 h 428"/>
                <a:gd name="T14" fmla="*/ 3659 w 954"/>
                <a:gd name="T15" fmla="*/ 163 h 428"/>
                <a:gd name="T16" fmla="*/ 3380 w 954"/>
                <a:gd name="T17" fmla="*/ 90 h 428"/>
                <a:gd name="T18" fmla="*/ 3093 w 954"/>
                <a:gd name="T19" fmla="*/ 41 h 428"/>
                <a:gd name="T20" fmla="*/ 2807 w 954"/>
                <a:gd name="T21" fmla="*/ 9 h 428"/>
                <a:gd name="T22" fmla="*/ 2502 w 954"/>
                <a:gd name="T23" fmla="*/ 0 h 428"/>
                <a:gd name="T24" fmla="*/ 2139 w 954"/>
                <a:gd name="T25" fmla="*/ 13 h 428"/>
                <a:gd name="T26" fmla="*/ 1787 w 954"/>
                <a:gd name="T27" fmla="*/ 59 h 428"/>
                <a:gd name="T28" fmla="*/ 1447 w 954"/>
                <a:gd name="T29" fmla="*/ 134 h 428"/>
                <a:gd name="T30" fmla="*/ 1119 w 954"/>
                <a:gd name="T31" fmla="*/ 239 h 428"/>
                <a:gd name="T32" fmla="*/ 814 w 954"/>
                <a:gd name="T33" fmla="*/ 360 h 428"/>
                <a:gd name="T34" fmla="*/ 518 w 954"/>
                <a:gd name="T35" fmla="*/ 509 h 428"/>
                <a:gd name="T36" fmla="*/ 251 w 954"/>
                <a:gd name="T37" fmla="*/ 681 h 428"/>
                <a:gd name="T38" fmla="*/ 0 w 954"/>
                <a:gd name="T39" fmla="*/ 875 h 428"/>
                <a:gd name="T40" fmla="*/ 1053 w 954"/>
                <a:gd name="T41" fmla="*/ 1090 h 428"/>
                <a:gd name="T42" fmla="*/ 1277 w 954"/>
                <a:gd name="T43" fmla="*/ 1787 h 428"/>
                <a:gd name="T44" fmla="*/ 1406 w 954"/>
                <a:gd name="T45" fmla="*/ 1693 h 428"/>
                <a:gd name="T46" fmla="*/ 1538 w 954"/>
                <a:gd name="T47" fmla="*/ 1617 h 428"/>
                <a:gd name="T48" fmla="*/ 1681 w 954"/>
                <a:gd name="T49" fmla="*/ 1546 h 428"/>
                <a:gd name="T50" fmla="*/ 1834 w 954"/>
                <a:gd name="T51" fmla="*/ 1490 h 428"/>
                <a:gd name="T52" fmla="*/ 1990 w 954"/>
                <a:gd name="T53" fmla="*/ 1447 h 428"/>
                <a:gd name="T54" fmla="*/ 2160 w 954"/>
                <a:gd name="T55" fmla="*/ 1413 h 428"/>
                <a:gd name="T56" fmla="*/ 2331 w 954"/>
                <a:gd name="T57" fmla="*/ 1393 h 428"/>
                <a:gd name="T58" fmla="*/ 2502 w 954"/>
                <a:gd name="T59" fmla="*/ 1383 h 428"/>
                <a:gd name="T60" fmla="*/ 2767 w 954"/>
                <a:gd name="T61" fmla="*/ 1400 h 428"/>
                <a:gd name="T62" fmla="*/ 3010 w 954"/>
                <a:gd name="T63" fmla="*/ 1447 h 428"/>
                <a:gd name="T64" fmla="*/ 3248 w 954"/>
                <a:gd name="T65" fmla="*/ 1517 h 428"/>
                <a:gd name="T66" fmla="*/ 3461 w 954"/>
                <a:gd name="T67" fmla="*/ 1613 h 428"/>
                <a:gd name="T68" fmla="*/ 3275 w 954"/>
                <a:gd name="T69" fmla="*/ 1777 h 42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954" h="428">
                  <a:moveTo>
                    <a:pt x="643" y="425"/>
                  </a:moveTo>
                  <a:lnTo>
                    <a:pt x="890" y="362"/>
                  </a:lnTo>
                  <a:lnTo>
                    <a:pt x="953" y="105"/>
                  </a:lnTo>
                  <a:lnTo>
                    <a:pt x="914" y="147"/>
                  </a:lnTo>
                  <a:lnTo>
                    <a:pt x="869" y="114"/>
                  </a:lnTo>
                  <a:lnTo>
                    <a:pt x="821" y="85"/>
                  </a:lnTo>
                  <a:lnTo>
                    <a:pt x="771" y="60"/>
                  </a:lnTo>
                  <a:lnTo>
                    <a:pt x="719" y="39"/>
                  </a:lnTo>
                  <a:lnTo>
                    <a:pt x="664" y="22"/>
                  </a:lnTo>
                  <a:lnTo>
                    <a:pt x="608" y="10"/>
                  </a:lnTo>
                  <a:lnTo>
                    <a:pt x="551" y="2"/>
                  </a:lnTo>
                  <a:lnTo>
                    <a:pt x="491" y="0"/>
                  </a:lnTo>
                  <a:lnTo>
                    <a:pt x="420" y="3"/>
                  </a:lnTo>
                  <a:lnTo>
                    <a:pt x="351" y="14"/>
                  </a:lnTo>
                  <a:lnTo>
                    <a:pt x="284" y="32"/>
                  </a:lnTo>
                  <a:lnTo>
                    <a:pt x="220" y="57"/>
                  </a:lnTo>
                  <a:lnTo>
                    <a:pt x="160" y="86"/>
                  </a:lnTo>
                  <a:lnTo>
                    <a:pt x="102" y="122"/>
                  </a:lnTo>
                  <a:lnTo>
                    <a:pt x="49" y="163"/>
                  </a:lnTo>
                  <a:lnTo>
                    <a:pt x="0" y="209"/>
                  </a:lnTo>
                  <a:lnTo>
                    <a:pt x="207" y="261"/>
                  </a:lnTo>
                  <a:lnTo>
                    <a:pt x="251" y="427"/>
                  </a:lnTo>
                  <a:lnTo>
                    <a:pt x="276" y="405"/>
                  </a:lnTo>
                  <a:lnTo>
                    <a:pt x="302" y="387"/>
                  </a:lnTo>
                  <a:lnTo>
                    <a:pt x="330" y="370"/>
                  </a:lnTo>
                  <a:lnTo>
                    <a:pt x="360" y="357"/>
                  </a:lnTo>
                  <a:lnTo>
                    <a:pt x="391" y="346"/>
                  </a:lnTo>
                  <a:lnTo>
                    <a:pt x="424" y="338"/>
                  </a:lnTo>
                  <a:lnTo>
                    <a:pt x="458" y="333"/>
                  </a:lnTo>
                  <a:lnTo>
                    <a:pt x="491" y="331"/>
                  </a:lnTo>
                  <a:lnTo>
                    <a:pt x="543" y="335"/>
                  </a:lnTo>
                  <a:lnTo>
                    <a:pt x="591" y="346"/>
                  </a:lnTo>
                  <a:lnTo>
                    <a:pt x="638" y="363"/>
                  </a:lnTo>
                  <a:lnTo>
                    <a:pt x="680" y="386"/>
                  </a:lnTo>
                  <a:lnTo>
                    <a:pt x="643" y="425"/>
                  </a:lnTo>
                </a:path>
              </a:pathLst>
            </a:custGeom>
            <a:solidFill>
              <a:schemeClr val="bg1">
                <a:lumMod val="50000"/>
              </a:schemeClr>
            </a:solidFill>
            <a:ln w="6350" cap="rnd" cmpd="sng">
              <a:solidFill>
                <a:schemeClr val="tx1"/>
              </a:solidFill>
              <a:prstDash val="solid"/>
              <a:round/>
              <a:headEnd/>
              <a:tailEnd/>
            </a:ln>
          </p:spPr>
          <p:txBody>
            <a:bodyPr lIns="45720" rIns="45720" anchor="ctr" anchorCtr="1"/>
            <a:lstStyle/>
            <a:p>
              <a:endParaRPr lang="en-US"/>
            </a:p>
          </p:txBody>
        </p:sp>
        <p:sp>
          <p:nvSpPr>
            <p:cNvPr id="17" name="Text Box 41">
              <a:extLst>
                <a:ext uri="{FF2B5EF4-FFF2-40B4-BE49-F238E27FC236}">
                  <a16:creationId xmlns:a16="http://schemas.microsoft.com/office/drawing/2014/main" id="{89BB9312-B8CD-C353-0325-3550F49EF32D}"/>
                </a:ext>
              </a:extLst>
            </p:cNvPr>
            <p:cNvSpPr txBox="1">
              <a:spLocks noChangeArrowheads="1"/>
            </p:cNvSpPr>
            <p:nvPr/>
          </p:nvSpPr>
          <p:spPr bwMode="auto">
            <a:xfrm>
              <a:off x="2719" y="1462"/>
              <a:ext cx="809"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b="0" dirty="0">
                  <a:solidFill>
                    <a:schemeClr val="bg1"/>
                  </a:solidFill>
                  <a:latin typeface="Roboto" panose="02000000000000000000" pitchFamily="2" charset="0"/>
                  <a:ea typeface="Roboto" panose="02000000000000000000" pitchFamily="2" charset="0"/>
                  <a:cs typeface="Roboto" panose="02000000000000000000" pitchFamily="2" charset="0"/>
                </a:rPr>
                <a:t>Standardize/</a:t>
              </a:r>
              <a:br>
                <a:rPr lang="en-US" altLang="en-US" sz="1600"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600" b="0" dirty="0">
                  <a:solidFill>
                    <a:schemeClr val="bg1"/>
                  </a:solidFill>
                  <a:latin typeface="Roboto" panose="02000000000000000000" pitchFamily="2" charset="0"/>
                  <a:ea typeface="Roboto" panose="02000000000000000000" pitchFamily="2" charset="0"/>
                  <a:cs typeface="Roboto" panose="02000000000000000000" pitchFamily="2" charset="0"/>
                </a:rPr>
                <a:t>Adherence</a:t>
              </a:r>
            </a:p>
          </p:txBody>
        </p:sp>
        <p:sp>
          <p:nvSpPr>
            <p:cNvPr id="18" name="Text Box 42">
              <a:extLst>
                <a:ext uri="{FF2B5EF4-FFF2-40B4-BE49-F238E27FC236}">
                  <a16:creationId xmlns:a16="http://schemas.microsoft.com/office/drawing/2014/main" id="{964A7832-3267-50BC-F078-8A2B6104F7B7}"/>
                </a:ext>
              </a:extLst>
            </p:cNvPr>
            <p:cNvSpPr txBox="1">
              <a:spLocks noChangeArrowheads="1"/>
            </p:cNvSpPr>
            <p:nvPr/>
          </p:nvSpPr>
          <p:spPr bwMode="auto">
            <a:xfrm>
              <a:off x="2858" y="2984"/>
              <a:ext cx="56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b="0" dirty="0">
                  <a:solidFill>
                    <a:schemeClr val="bg1"/>
                  </a:solidFill>
                  <a:latin typeface="Roboto" panose="02000000000000000000" pitchFamily="2" charset="0"/>
                  <a:ea typeface="Roboto" panose="02000000000000000000" pitchFamily="2" charset="0"/>
                  <a:cs typeface="Roboto" panose="02000000000000000000" pitchFamily="2" charset="0"/>
                </a:rPr>
                <a:t>Root Cause</a:t>
              </a:r>
            </a:p>
          </p:txBody>
        </p:sp>
        <p:sp>
          <p:nvSpPr>
            <p:cNvPr id="19" name="Text Box 43">
              <a:extLst>
                <a:ext uri="{FF2B5EF4-FFF2-40B4-BE49-F238E27FC236}">
                  <a16:creationId xmlns:a16="http://schemas.microsoft.com/office/drawing/2014/main" id="{0F511DDA-B43C-A3BD-473D-416C5D7AC2D2}"/>
                </a:ext>
              </a:extLst>
            </p:cNvPr>
            <p:cNvSpPr txBox="1">
              <a:spLocks noChangeArrowheads="1"/>
            </p:cNvSpPr>
            <p:nvPr/>
          </p:nvSpPr>
          <p:spPr bwMode="auto">
            <a:xfrm>
              <a:off x="2110" y="2239"/>
              <a:ext cx="471"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GB" altLang="en-US" sz="1400" b="0" dirty="0">
                  <a:solidFill>
                    <a:srgbClr val="222222"/>
                  </a:solidFill>
                  <a:latin typeface="Roboto" panose="02000000000000000000" pitchFamily="2" charset="0"/>
                  <a:ea typeface="Roboto" panose="02000000000000000000" pitchFamily="2" charset="0"/>
                  <a:cs typeface="Roboto" panose="02000000000000000000" pitchFamily="2" charset="0"/>
                </a:rPr>
                <a:t>Implement</a:t>
              </a:r>
              <a:br>
                <a:rPr lang="en-GB" altLang="en-US" b="0" dirty="0">
                  <a:solidFill>
                    <a:srgbClr val="222222"/>
                  </a:solidFill>
                  <a:latin typeface="Roboto" panose="02000000000000000000" pitchFamily="2" charset="0"/>
                  <a:ea typeface="Roboto" panose="02000000000000000000" pitchFamily="2" charset="0"/>
                  <a:cs typeface="Roboto" panose="02000000000000000000" pitchFamily="2" charset="0"/>
                </a:rPr>
              </a:br>
              <a:r>
                <a:rPr lang="en-GB" altLang="en-US" sz="1600" b="0" dirty="0">
                  <a:solidFill>
                    <a:srgbClr val="222222"/>
                  </a:solidFill>
                  <a:latin typeface="Roboto" panose="02000000000000000000" pitchFamily="2" charset="0"/>
                  <a:ea typeface="Roboto" panose="02000000000000000000" pitchFamily="2" charset="0"/>
                  <a:cs typeface="Roboto" panose="02000000000000000000" pitchFamily="2" charset="0"/>
                </a:rPr>
                <a:t>Solutions</a:t>
              </a:r>
              <a:endParaRPr lang="en-GB" altLang="en-US" b="0" dirty="0">
                <a:solidFill>
                  <a:srgbClr val="222222"/>
                </a:solidFill>
                <a:latin typeface="Roboto" panose="02000000000000000000" pitchFamily="2" charset="0"/>
                <a:ea typeface="Roboto" panose="02000000000000000000" pitchFamily="2" charset="0"/>
                <a:cs typeface="Roboto" panose="02000000000000000000" pitchFamily="2" charset="0"/>
              </a:endParaRPr>
            </a:p>
          </p:txBody>
        </p:sp>
        <p:sp>
          <p:nvSpPr>
            <p:cNvPr id="20" name="Text Box 44">
              <a:extLst>
                <a:ext uri="{FF2B5EF4-FFF2-40B4-BE49-F238E27FC236}">
                  <a16:creationId xmlns:a16="http://schemas.microsoft.com/office/drawing/2014/main" id="{96DCEFF8-E19A-A517-6953-DC1BB650EF3E}"/>
                </a:ext>
              </a:extLst>
            </p:cNvPr>
            <p:cNvSpPr txBox="1">
              <a:spLocks noChangeArrowheads="1"/>
            </p:cNvSpPr>
            <p:nvPr/>
          </p:nvSpPr>
          <p:spPr bwMode="auto">
            <a:xfrm>
              <a:off x="3579" y="2090"/>
              <a:ext cx="614" cy="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Aft>
                  <a:spcPct val="0"/>
                </a:spcAft>
                <a:buClrTx/>
                <a:buSzTx/>
                <a:buFontTx/>
                <a:buNone/>
              </a:pPr>
              <a: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t>Expose</a:t>
              </a:r>
              <a:b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t>and</a:t>
              </a:r>
              <a:b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t>Quantify</a:t>
              </a:r>
              <a:b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br>
              <a:r>
                <a:rPr lang="en-GB" altLang="en-US" b="0" dirty="0">
                  <a:solidFill>
                    <a:schemeClr val="bg1"/>
                  </a:solidFill>
                  <a:latin typeface="Roboto" panose="02000000000000000000" pitchFamily="2" charset="0"/>
                  <a:ea typeface="Roboto" panose="02000000000000000000" pitchFamily="2" charset="0"/>
                  <a:cs typeface="Roboto" panose="02000000000000000000" pitchFamily="2" charset="0"/>
                </a:rPr>
                <a:t>Problems</a:t>
              </a:r>
            </a:p>
          </p:txBody>
        </p:sp>
      </p:grpSp>
      <p:sp>
        <p:nvSpPr>
          <p:cNvPr id="21" name="TextBox 20">
            <a:extLst>
              <a:ext uri="{FF2B5EF4-FFF2-40B4-BE49-F238E27FC236}">
                <a16:creationId xmlns:a16="http://schemas.microsoft.com/office/drawing/2014/main" id="{10B5FDB0-69A3-53E9-075B-3AFED0C7EC5A}"/>
              </a:ext>
            </a:extLst>
          </p:cNvPr>
          <p:cNvSpPr txBox="1"/>
          <p:nvPr/>
        </p:nvSpPr>
        <p:spPr>
          <a:xfrm>
            <a:off x="2685883" y="3359235"/>
            <a:ext cx="133711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400" b="1"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Kaizen </a:t>
            </a:r>
          </a:p>
          <a:p>
            <a:pPr marL="0" marR="0" indent="0" algn="ctr" defTabSz="825500" rtl="0" fontAlgn="auto" latinLnBrk="0" hangingPunct="0">
              <a:lnSpc>
                <a:spcPct val="100000"/>
              </a:lnSpc>
              <a:spcBef>
                <a:spcPts val="0"/>
              </a:spcBef>
              <a:spcAft>
                <a:spcPts val="0"/>
              </a:spcAft>
              <a:buClrTx/>
              <a:buSzTx/>
              <a:buFontTx/>
              <a:buNone/>
              <a:tabLst/>
            </a:pPr>
            <a:r>
              <a:rPr kumimoji="0" lang="en-US" sz="2400" b="1"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Process</a:t>
            </a:r>
          </a:p>
        </p:txBody>
      </p:sp>
      <p:sp>
        <p:nvSpPr>
          <p:cNvPr id="22" name="Arrow">
            <a:extLst>
              <a:ext uri="{FF2B5EF4-FFF2-40B4-BE49-F238E27FC236}">
                <a16:creationId xmlns:a16="http://schemas.microsoft.com/office/drawing/2014/main" id="{14B28C0A-1D82-BE46-A43E-7EBB6DC0B85E}"/>
              </a:ext>
            </a:extLst>
          </p:cNvPr>
          <p:cNvSpPr/>
          <p:nvPr/>
        </p:nvSpPr>
        <p:spPr>
          <a:xfrm>
            <a:off x="5639196" y="3323059"/>
            <a:ext cx="1226883" cy="913607"/>
          </a:xfrm>
          <a:prstGeom prst="rightArrow">
            <a:avLst>
              <a:gd name="adj1" fmla="val 54641"/>
              <a:gd name="adj2" fmla="val 68352"/>
            </a:avLst>
          </a:prstGeom>
          <a:solidFill>
            <a:srgbClr val="EE3228"/>
          </a:solidFill>
          <a:ln w="12700">
            <a:miter lim="400000"/>
          </a:ln>
        </p:spPr>
        <p:txBody>
          <a:bodyPr lIns="50800" tIns="50800" rIns="50800" bIns="50800" anchor="ctr"/>
          <a:lstStyle/>
          <a:p>
            <a:pPr defTabSz="584200">
              <a:defRPr sz="4000">
                <a:solidFill>
                  <a:srgbClr val="A9AFC3"/>
                </a:solidFill>
                <a:effectLst>
                  <a:outerShdw blurRad="38100" dist="12700" dir="5400000" rotWithShape="0">
                    <a:srgbClr val="000000">
                      <a:alpha val="50000"/>
                    </a:srgbClr>
                  </a:outerShdw>
                </a:effectLst>
              </a:defRPr>
            </a:pPr>
            <a:endParaRPr/>
          </a:p>
        </p:txBody>
      </p:sp>
      <p:sp>
        <p:nvSpPr>
          <p:cNvPr id="26" name="TextBox 25">
            <a:extLst>
              <a:ext uri="{FF2B5EF4-FFF2-40B4-BE49-F238E27FC236}">
                <a16:creationId xmlns:a16="http://schemas.microsoft.com/office/drawing/2014/main" id="{0AAAA218-850B-C21C-4DD7-1318185E602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27" name="Group 26">
            <a:extLst>
              <a:ext uri="{FF2B5EF4-FFF2-40B4-BE49-F238E27FC236}">
                <a16:creationId xmlns:a16="http://schemas.microsoft.com/office/drawing/2014/main" id="{F94F04BC-4651-464F-32B6-9A3115B2EF50}"/>
              </a:ext>
            </a:extLst>
          </p:cNvPr>
          <p:cNvGrpSpPr/>
          <p:nvPr/>
        </p:nvGrpSpPr>
        <p:grpSpPr>
          <a:xfrm>
            <a:off x="940249" y="302538"/>
            <a:ext cx="1060167" cy="290657"/>
            <a:chOff x="940249" y="315206"/>
            <a:chExt cx="1060167" cy="265062"/>
          </a:xfrm>
        </p:grpSpPr>
        <p:sp>
          <p:nvSpPr>
            <p:cNvPr id="28" name="AutoShape 9">
              <a:extLst>
                <a:ext uri="{FF2B5EF4-FFF2-40B4-BE49-F238E27FC236}">
                  <a16:creationId xmlns:a16="http://schemas.microsoft.com/office/drawing/2014/main" id="{D0352C9E-CFF5-B595-F28E-DBCBB91CAE78}"/>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9" name="Group 28">
              <a:extLst>
                <a:ext uri="{FF2B5EF4-FFF2-40B4-BE49-F238E27FC236}">
                  <a16:creationId xmlns:a16="http://schemas.microsoft.com/office/drawing/2014/main" id="{A01C6F0B-B049-A026-1602-36A165B01BF5}"/>
                </a:ext>
              </a:extLst>
            </p:cNvPr>
            <p:cNvGrpSpPr/>
            <p:nvPr/>
          </p:nvGrpSpPr>
          <p:grpSpPr>
            <a:xfrm>
              <a:off x="940249" y="315206"/>
              <a:ext cx="746492" cy="265062"/>
              <a:chOff x="940249" y="315206"/>
              <a:chExt cx="746492" cy="265062"/>
            </a:xfrm>
          </p:grpSpPr>
          <p:sp>
            <p:nvSpPr>
              <p:cNvPr id="30" name="AutoShape 11">
                <a:extLst>
                  <a:ext uri="{FF2B5EF4-FFF2-40B4-BE49-F238E27FC236}">
                    <a16:creationId xmlns:a16="http://schemas.microsoft.com/office/drawing/2014/main" id="{E610A9E4-DEFA-8A4C-914E-E50417AEC8DC}"/>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1" name="AutoShape 10">
                <a:extLst>
                  <a:ext uri="{FF2B5EF4-FFF2-40B4-BE49-F238E27FC236}">
                    <a16:creationId xmlns:a16="http://schemas.microsoft.com/office/drawing/2014/main" id="{3625BB24-6F1D-DC99-82D0-B3153113D8F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5950435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33D00-F243-B3D2-0146-A7F8D16D252B}"/>
              </a:ext>
            </a:extLst>
          </p:cNvPr>
          <p:cNvSpPr>
            <a:spLocks noGrp="1"/>
          </p:cNvSpPr>
          <p:nvPr>
            <p:ph type="title"/>
          </p:nvPr>
        </p:nvSpPr>
        <p:spPr/>
        <p:txBody>
          <a:bodyPr>
            <a:noAutofit/>
          </a:bodyPr>
          <a:lstStyle/>
          <a:p>
            <a:r>
              <a:rPr lang="en-US" sz="4000" dirty="0"/>
              <a:t>Standardization and Kaizen</a:t>
            </a:r>
            <a:endParaRPr lang="en-US" sz="4000"/>
          </a:p>
        </p:txBody>
      </p:sp>
      <p:sp>
        <p:nvSpPr>
          <p:cNvPr id="6" name="Slide Number Placeholder 5">
            <a:extLst>
              <a:ext uri="{FF2B5EF4-FFF2-40B4-BE49-F238E27FC236}">
                <a16:creationId xmlns:a16="http://schemas.microsoft.com/office/drawing/2014/main" id="{B9358E55-563D-C67E-6F1C-2D85668924D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47</a:t>
            </a:fld>
            <a:endParaRPr lang="en-US"/>
          </a:p>
        </p:txBody>
      </p:sp>
      <p:grpSp>
        <p:nvGrpSpPr>
          <p:cNvPr id="36" name="Group 35">
            <a:extLst>
              <a:ext uri="{FF2B5EF4-FFF2-40B4-BE49-F238E27FC236}">
                <a16:creationId xmlns:a16="http://schemas.microsoft.com/office/drawing/2014/main" id="{F2F4EBD5-629F-7E0B-0C16-5C94A6A81940}"/>
              </a:ext>
            </a:extLst>
          </p:cNvPr>
          <p:cNvGrpSpPr/>
          <p:nvPr/>
        </p:nvGrpSpPr>
        <p:grpSpPr>
          <a:xfrm>
            <a:off x="942583" y="1809150"/>
            <a:ext cx="9079286" cy="4263429"/>
            <a:chOff x="3751122" y="2385392"/>
            <a:chExt cx="15741721" cy="10263727"/>
          </a:xfrm>
        </p:grpSpPr>
        <p:graphicFrame>
          <p:nvGraphicFramePr>
            <p:cNvPr id="37" name="Chart 36">
              <a:extLst>
                <a:ext uri="{FF2B5EF4-FFF2-40B4-BE49-F238E27FC236}">
                  <a16:creationId xmlns:a16="http://schemas.microsoft.com/office/drawing/2014/main" id="{C19B8E77-CD0B-A007-A4CF-9B1803CF575B}"/>
                </a:ext>
              </a:extLst>
            </p:cNvPr>
            <p:cNvGraphicFramePr/>
            <p:nvPr>
              <p:extLst>
                <p:ext uri="{D42A27DB-BD31-4B8C-83A1-F6EECF244321}">
                  <p14:modId xmlns:p14="http://schemas.microsoft.com/office/powerpoint/2010/main" val="609759398"/>
                </p:ext>
              </p:extLst>
            </p:nvPr>
          </p:nvGraphicFramePr>
          <p:xfrm>
            <a:off x="4891156" y="2385392"/>
            <a:ext cx="14601687" cy="8945217"/>
          </p:xfrm>
          <a:graphic>
            <a:graphicData uri="http://schemas.openxmlformats.org/drawingml/2006/chart">
              <c:chart xmlns:c="http://schemas.openxmlformats.org/drawingml/2006/chart" xmlns:r="http://schemas.openxmlformats.org/officeDocument/2006/relationships" r:id="rId3"/>
            </a:graphicData>
          </a:graphic>
        </p:graphicFrame>
        <p:sp>
          <p:nvSpPr>
            <p:cNvPr id="38" name="TextBox 37">
              <a:extLst>
                <a:ext uri="{FF2B5EF4-FFF2-40B4-BE49-F238E27FC236}">
                  <a16:creationId xmlns:a16="http://schemas.microsoft.com/office/drawing/2014/main" id="{567DCCE6-8FBB-8840-AE88-283764F5BDE1}"/>
                </a:ext>
              </a:extLst>
            </p:cNvPr>
            <p:cNvSpPr txBox="1"/>
            <p:nvPr/>
          </p:nvSpPr>
          <p:spPr>
            <a:xfrm rot="16200000">
              <a:off x="1529627" y="6395523"/>
              <a:ext cx="5367940" cy="9249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Improvement</a:t>
              </a:r>
            </a:p>
          </p:txBody>
        </p:sp>
        <p:sp>
          <p:nvSpPr>
            <p:cNvPr id="39" name="TextBox 38">
              <a:extLst>
                <a:ext uri="{FF2B5EF4-FFF2-40B4-BE49-F238E27FC236}">
                  <a16:creationId xmlns:a16="http://schemas.microsoft.com/office/drawing/2014/main" id="{6B8409BA-49DA-DE6F-D500-274990A7ED6C}"/>
                </a:ext>
              </a:extLst>
            </p:cNvPr>
            <p:cNvSpPr txBox="1"/>
            <p:nvPr/>
          </p:nvSpPr>
          <p:spPr>
            <a:xfrm>
              <a:off x="11259282" y="11364828"/>
              <a:ext cx="1575862"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uFillTx/>
                  <a:latin typeface="Roboto" panose="02000000000000000000" pitchFamily="2" charset="0"/>
                  <a:ea typeface="Roboto" panose="02000000000000000000" pitchFamily="2" charset="0"/>
                  <a:cs typeface="Roboto" panose="02000000000000000000" pitchFamily="2" charset="0"/>
                  <a:sym typeface="Roboto"/>
                </a:rPr>
                <a:t>Time</a:t>
              </a:r>
            </a:p>
          </p:txBody>
        </p:sp>
        <p:sp>
          <p:nvSpPr>
            <p:cNvPr id="40" name="TextBox 39">
              <a:extLst>
                <a:ext uri="{FF2B5EF4-FFF2-40B4-BE49-F238E27FC236}">
                  <a16:creationId xmlns:a16="http://schemas.microsoft.com/office/drawing/2014/main" id="{AAB08206-3A12-74BC-104D-1840AB638BD7}"/>
                </a:ext>
              </a:extLst>
            </p:cNvPr>
            <p:cNvSpPr txBox="1"/>
            <p:nvPr/>
          </p:nvSpPr>
          <p:spPr>
            <a:xfrm>
              <a:off x="5932813" y="9289931"/>
              <a:ext cx="569756"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1" name="TextBox 40">
              <a:extLst>
                <a:ext uri="{FF2B5EF4-FFF2-40B4-BE49-F238E27FC236}">
                  <a16:creationId xmlns:a16="http://schemas.microsoft.com/office/drawing/2014/main" id="{00374944-59B8-1B83-C5D9-BD0FB63300E9}"/>
                </a:ext>
              </a:extLst>
            </p:cNvPr>
            <p:cNvSpPr txBox="1"/>
            <p:nvPr/>
          </p:nvSpPr>
          <p:spPr>
            <a:xfrm>
              <a:off x="8872866" y="7891063"/>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2" name="TextBox 41">
              <a:extLst>
                <a:ext uri="{FF2B5EF4-FFF2-40B4-BE49-F238E27FC236}">
                  <a16:creationId xmlns:a16="http://schemas.microsoft.com/office/drawing/2014/main" id="{60EC1D8C-352F-0A3D-6D9E-7EB41A243144}"/>
                </a:ext>
              </a:extLst>
            </p:cNvPr>
            <p:cNvSpPr txBox="1"/>
            <p:nvPr/>
          </p:nvSpPr>
          <p:spPr>
            <a:xfrm>
              <a:off x="11657596" y="6518589"/>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3" name="TextBox 42">
              <a:extLst>
                <a:ext uri="{FF2B5EF4-FFF2-40B4-BE49-F238E27FC236}">
                  <a16:creationId xmlns:a16="http://schemas.microsoft.com/office/drawing/2014/main" id="{57888E94-1238-7E93-2C5F-D6D95B519AEE}"/>
                </a:ext>
              </a:extLst>
            </p:cNvPr>
            <p:cNvSpPr txBox="1"/>
            <p:nvPr/>
          </p:nvSpPr>
          <p:spPr>
            <a:xfrm>
              <a:off x="14490934" y="5002600"/>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4" name="TextBox 43">
              <a:extLst>
                <a:ext uri="{FF2B5EF4-FFF2-40B4-BE49-F238E27FC236}">
                  <a16:creationId xmlns:a16="http://schemas.microsoft.com/office/drawing/2014/main" id="{77EE9748-F5E5-BD25-0108-09AFA683EE27}"/>
                </a:ext>
              </a:extLst>
            </p:cNvPr>
            <p:cNvSpPr txBox="1"/>
            <p:nvPr/>
          </p:nvSpPr>
          <p:spPr>
            <a:xfrm>
              <a:off x="17456158" y="3607860"/>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5" name="TextBox 44">
              <a:extLst>
                <a:ext uri="{FF2B5EF4-FFF2-40B4-BE49-F238E27FC236}">
                  <a16:creationId xmlns:a16="http://schemas.microsoft.com/office/drawing/2014/main" id="{DE8BBB2C-6406-179C-EE2C-4E0362297A4B}"/>
                </a:ext>
              </a:extLst>
            </p:cNvPr>
            <p:cNvSpPr txBox="1"/>
            <p:nvPr/>
          </p:nvSpPr>
          <p:spPr>
            <a:xfrm>
              <a:off x="10095102" y="8899821"/>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6" name="TextBox 45">
              <a:extLst>
                <a:ext uri="{FF2B5EF4-FFF2-40B4-BE49-F238E27FC236}">
                  <a16:creationId xmlns:a16="http://schemas.microsoft.com/office/drawing/2014/main" id="{6924ABCE-53C4-08AB-106E-74646D1763A7}"/>
                </a:ext>
              </a:extLst>
            </p:cNvPr>
            <p:cNvSpPr txBox="1"/>
            <p:nvPr/>
          </p:nvSpPr>
          <p:spPr>
            <a:xfrm>
              <a:off x="13212059" y="8899819"/>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sp>
          <p:nvSpPr>
            <p:cNvPr id="47" name="TextBox 46">
              <a:extLst>
                <a:ext uri="{FF2B5EF4-FFF2-40B4-BE49-F238E27FC236}">
                  <a16:creationId xmlns:a16="http://schemas.microsoft.com/office/drawing/2014/main" id="{34F69AF5-61C6-F560-7E04-96F82593134E}"/>
                </a:ext>
              </a:extLst>
            </p:cNvPr>
            <p:cNvSpPr txBox="1"/>
            <p:nvPr/>
          </p:nvSpPr>
          <p:spPr>
            <a:xfrm>
              <a:off x="17400867" y="8616038"/>
              <a:ext cx="569755" cy="12842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uFillTx/>
                  <a:latin typeface="Roboto" panose="02000000000000000000" pitchFamily="2" charset="0"/>
                  <a:ea typeface="Roboto" panose="02000000000000000000" pitchFamily="2" charset="0"/>
                  <a:cs typeface="Roboto" panose="02000000000000000000" pitchFamily="2" charset="0"/>
                  <a:sym typeface="Roboto"/>
                </a:rPr>
                <a:t>K</a:t>
              </a:r>
            </a:p>
          </p:txBody>
        </p:sp>
      </p:grpSp>
      <p:sp>
        <p:nvSpPr>
          <p:cNvPr id="18" name="TextBox 17">
            <a:extLst>
              <a:ext uri="{FF2B5EF4-FFF2-40B4-BE49-F238E27FC236}">
                <a16:creationId xmlns:a16="http://schemas.microsoft.com/office/drawing/2014/main" id="{531AF0A2-1C22-377F-1738-1585CFFAC4D1}"/>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4" name="Group 13">
            <a:extLst>
              <a:ext uri="{FF2B5EF4-FFF2-40B4-BE49-F238E27FC236}">
                <a16:creationId xmlns:a16="http://schemas.microsoft.com/office/drawing/2014/main" id="{B965AAFC-9898-A75D-9D34-7AA8CF7C7364}"/>
              </a:ext>
            </a:extLst>
          </p:cNvPr>
          <p:cNvGrpSpPr/>
          <p:nvPr/>
        </p:nvGrpSpPr>
        <p:grpSpPr>
          <a:xfrm>
            <a:off x="940249" y="302538"/>
            <a:ext cx="1060167" cy="290657"/>
            <a:chOff x="940249" y="315206"/>
            <a:chExt cx="1060167" cy="265062"/>
          </a:xfrm>
        </p:grpSpPr>
        <p:sp>
          <p:nvSpPr>
            <p:cNvPr id="15" name="AutoShape 9">
              <a:extLst>
                <a:ext uri="{FF2B5EF4-FFF2-40B4-BE49-F238E27FC236}">
                  <a16:creationId xmlns:a16="http://schemas.microsoft.com/office/drawing/2014/main" id="{5F62ACB8-7A27-4C40-BFBD-E6CB9F7E6FF0}"/>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6" name="Group 15">
              <a:extLst>
                <a:ext uri="{FF2B5EF4-FFF2-40B4-BE49-F238E27FC236}">
                  <a16:creationId xmlns:a16="http://schemas.microsoft.com/office/drawing/2014/main" id="{D076408F-4A89-05AB-3A7E-C38389494DE5}"/>
                </a:ext>
              </a:extLst>
            </p:cNvPr>
            <p:cNvGrpSpPr/>
            <p:nvPr/>
          </p:nvGrpSpPr>
          <p:grpSpPr>
            <a:xfrm>
              <a:off x="940249" y="315206"/>
              <a:ext cx="746492" cy="265062"/>
              <a:chOff x="940249" y="315206"/>
              <a:chExt cx="746492" cy="265062"/>
            </a:xfrm>
          </p:grpSpPr>
          <p:sp>
            <p:nvSpPr>
              <p:cNvPr id="17" name="AutoShape 11">
                <a:extLst>
                  <a:ext uri="{FF2B5EF4-FFF2-40B4-BE49-F238E27FC236}">
                    <a16:creationId xmlns:a16="http://schemas.microsoft.com/office/drawing/2014/main" id="{D95A664D-EC5C-347A-49EE-8E578EB1215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0">
                <a:extLst>
                  <a:ext uri="{FF2B5EF4-FFF2-40B4-BE49-F238E27FC236}">
                    <a16:creationId xmlns:a16="http://schemas.microsoft.com/office/drawing/2014/main" id="{A0F29B17-E58C-DB8B-D158-19DC8ADA78B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2926087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59612-57A7-4226-15D4-E621CF0130AB}"/>
              </a:ext>
            </a:extLst>
          </p:cNvPr>
          <p:cNvSpPr>
            <a:spLocks noGrp="1"/>
          </p:cNvSpPr>
          <p:nvPr>
            <p:ph type="title"/>
          </p:nvPr>
        </p:nvSpPr>
        <p:spPr/>
        <p:txBody>
          <a:bodyPr/>
          <a:lstStyle/>
          <a:p>
            <a:r>
              <a:rPr lang="en-US" dirty="0"/>
              <a:t>Waste Elimination Tools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48</a:t>
            </a:fld>
            <a:endParaRPr lang="en-US"/>
          </a:p>
        </p:txBody>
      </p:sp>
      <p:sp>
        <p:nvSpPr>
          <p:cNvPr id="18" name="Rectangle 17">
            <a:extLst>
              <a:ext uri="{FF2B5EF4-FFF2-40B4-BE49-F238E27FC236}">
                <a16:creationId xmlns:a16="http://schemas.microsoft.com/office/drawing/2014/main" id="{D20F1A36-69B1-BB79-6BF6-C93AC874BD1C}"/>
              </a:ext>
            </a:extLst>
          </p:cNvPr>
          <p:cNvSpPr/>
          <p:nvPr/>
        </p:nvSpPr>
        <p:spPr>
          <a:xfrm>
            <a:off x="841972" y="2042523"/>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58738" lvl="2" algn="l" defTabSz="584200"/>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Visual Management</a:t>
            </a:r>
          </a:p>
        </p:txBody>
      </p:sp>
      <p:sp>
        <p:nvSpPr>
          <p:cNvPr id="19" name="Rectangle 18">
            <a:extLst>
              <a:ext uri="{FF2B5EF4-FFF2-40B4-BE49-F238E27FC236}">
                <a16:creationId xmlns:a16="http://schemas.microsoft.com/office/drawing/2014/main" id="{4B354A32-F11A-EC6B-FA55-F0AD6D424609}"/>
              </a:ext>
            </a:extLst>
          </p:cNvPr>
          <p:cNvSpPr/>
          <p:nvPr/>
        </p:nvSpPr>
        <p:spPr>
          <a:xfrm>
            <a:off x="841972" y="2608338"/>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a:t>
            </a:r>
          </a:p>
        </p:txBody>
      </p:sp>
      <p:sp>
        <p:nvSpPr>
          <p:cNvPr id="20" name="Rectangle 19">
            <a:extLst>
              <a:ext uri="{FF2B5EF4-FFF2-40B4-BE49-F238E27FC236}">
                <a16:creationId xmlns:a16="http://schemas.microsoft.com/office/drawing/2014/main" id="{A1F828CC-F6DF-0463-F1BA-C6709B8ED0C5}"/>
              </a:ext>
            </a:extLst>
          </p:cNvPr>
          <p:cNvSpPr/>
          <p:nvPr/>
        </p:nvSpPr>
        <p:spPr>
          <a:xfrm>
            <a:off x="841972" y="3174152"/>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 Work</a:t>
            </a:r>
          </a:p>
        </p:txBody>
      </p:sp>
      <p:sp>
        <p:nvSpPr>
          <p:cNvPr id="21" name="Rectangle 20">
            <a:extLst>
              <a:ext uri="{FF2B5EF4-FFF2-40B4-BE49-F238E27FC236}">
                <a16:creationId xmlns:a16="http://schemas.microsoft.com/office/drawing/2014/main" id="{45E07FDE-E0CF-F967-4F1D-9E5D72243C02}"/>
              </a:ext>
            </a:extLst>
          </p:cNvPr>
          <p:cNvSpPr/>
          <p:nvPr/>
        </p:nvSpPr>
        <p:spPr>
          <a:xfrm>
            <a:off x="841972" y="3739967"/>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Kanban</a:t>
            </a:r>
          </a:p>
        </p:txBody>
      </p:sp>
      <p:sp>
        <p:nvSpPr>
          <p:cNvPr id="22" name="Rectangle 21">
            <a:extLst>
              <a:ext uri="{FF2B5EF4-FFF2-40B4-BE49-F238E27FC236}">
                <a16:creationId xmlns:a16="http://schemas.microsoft.com/office/drawing/2014/main" id="{F7A1A823-24E0-01DD-762F-8013148C49AD}"/>
              </a:ext>
            </a:extLst>
          </p:cNvPr>
          <p:cNvSpPr/>
          <p:nvPr/>
        </p:nvSpPr>
        <p:spPr>
          <a:xfrm>
            <a:off x="6168017" y="2042523"/>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CEDAC</a:t>
            </a:r>
          </a:p>
        </p:txBody>
      </p:sp>
      <p:sp>
        <p:nvSpPr>
          <p:cNvPr id="23" name="Rectangle 22">
            <a:extLst>
              <a:ext uri="{FF2B5EF4-FFF2-40B4-BE49-F238E27FC236}">
                <a16:creationId xmlns:a16="http://schemas.microsoft.com/office/drawing/2014/main" id="{42BBCC70-7D0F-2DD5-8FF6-A56F11CC85CC}"/>
              </a:ext>
            </a:extLst>
          </p:cNvPr>
          <p:cNvSpPr/>
          <p:nvPr/>
        </p:nvSpPr>
        <p:spPr>
          <a:xfrm>
            <a:off x="6168017" y="2608338"/>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Jidoka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and </a:t>
            </a:r>
            <a:r>
              <a:rPr kumimoji="0" lang="en-US" sz="2000"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Poka</a:t>
            </a: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Yoke</a:t>
            </a:r>
          </a:p>
        </p:txBody>
      </p:sp>
      <p:sp>
        <p:nvSpPr>
          <p:cNvPr id="24" name="Rectangle 23">
            <a:extLst>
              <a:ext uri="{FF2B5EF4-FFF2-40B4-BE49-F238E27FC236}">
                <a16:creationId xmlns:a16="http://schemas.microsoft.com/office/drawing/2014/main" id="{29F4381C-70CE-AA91-5383-92AEBE147D2D}"/>
              </a:ext>
            </a:extLst>
          </p:cNvPr>
          <p:cNvSpPr/>
          <p:nvPr/>
        </p:nvSpPr>
        <p:spPr>
          <a:xfrm>
            <a:off x="6168017" y="3174152"/>
            <a:ext cx="5117764" cy="376811"/>
          </a:xfrm>
          <a:prstGeom prst="rect">
            <a:avLst/>
          </a:prstGeom>
          <a:solidFill>
            <a:srgbClr val="7F7F7F"/>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SMED</a:t>
            </a:r>
          </a:p>
        </p:txBody>
      </p:sp>
      <p:sp>
        <p:nvSpPr>
          <p:cNvPr id="25" name="Rectangle 24">
            <a:extLst>
              <a:ext uri="{FF2B5EF4-FFF2-40B4-BE49-F238E27FC236}">
                <a16:creationId xmlns:a16="http://schemas.microsoft.com/office/drawing/2014/main" id="{4DC4F5FC-D80C-F5BE-2885-A1E758F653A2}"/>
              </a:ext>
            </a:extLst>
          </p:cNvPr>
          <p:cNvSpPr/>
          <p:nvPr/>
        </p:nvSpPr>
        <p:spPr>
          <a:xfrm>
            <a:off x="6168017" y="3739967"/>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Total Productive Maintenance</a:t>
            </a:r>
          </a:p>
        </p:txBody>
      </p:sp>
      <p:sp>
        <p:nvSpPr>
          <p:cNvPr id="26" name="Rectangle 25">
            <a:extLst>
              <a:ext uri="{FF2B5EF4-FFF2-40B4-BE49-F238E27FC236}">
                <a16:creationId xmlns:a16="http://schemas.microsoft.com/office/drawing/2014/main" id="{DCB08230-4BF6-0340-2AD2-5774E173F8D8}"/>
              </a:ext>
            </a:extLst>
          </p:cNvPr>
          <p:cNvSpPr/>
          <p:nvPr/>
        </p:nvSpPr>
        <p:spPr>
          <a:xfrm>
            <a:off x="841972" y="4305781"/>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Problem Solving</a:t>
            </a:r>
          </a:p>
        </p:txBody>
      </p:sp>
      <p:sp>
        <p:nvSpPr>
          <p:cNvPr id="27" name="Rectangle 26">
            <a:extLst>
              <a:ext uri="{FF2B5EF4-FFF2-40B4-BE49-F238E27FC236}">
                <a16:creationId xmlns:a16="http://schemas.microsoft.com/office/drawing/2014/main" id="{C71E133C-C2BA-B594-2F6B-16BADE5887AB}"/>
              </a:ext>
            </a:extLst>
          </p:cNvPr>
          <p:cNvSpPr/>
          <p:nvPr/>
        </p:nvSpPr>
        <p:spPr>
          <a:xfrm>
            <a:off x="841972" y="4871596"/>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Production Preparation Process (3P)</a:t>
            </a:r>
          </a:p>
        </p:txBody>
      </p:sp>
      <p:sp>
        <p:nvSpPr>
          <p:cNvPr id="28" name="Rectangle 27">
            <a:extLst>
              <a:ext uri="{FF2B5EF4-FFF2-40B4-BE49-F238E27FC236}">
                <a16:creationId xmlns:a16="http://schemas.microsoft.com/office/drawing/2014/main" id="{15D883AF-2D1C-40E5-E845-E5837FD30DA6}"/>
              </a:ext>
            </a:extLst>
          </p:cNvPr>
          <p:cNvSpPr/>
          <p:nvPr/>
        </p:nvSpPr>
        <p:spPr>
          <a:xfrm>
            <a:off x="6168017" y="4305781"/>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Cell Design</a:t>
            </a:r>
          </a:p>
        </p:txBody>
      </p:sp>
      <p:sp>
        <p:nvSpPr>
          <p:cNvPr id="29" name="Rectangle 28">
            <a:extLst>
              <a:ext uri="{FF2B5EF4-FFF2-40B4-BE49-F238E27FC236}">
                <a16:creationId xmlns:a16="http://schemas.microsoft.com/office/drawing/2014/main" id="{4CF48DFE-0394-C9E2-90F5-0FC76FF180F8}"/>
              </a:ext>
            </a:extLst>
          </p:cNvPr>
          <p:cNvSpPr/>
          <p:nvPr/>
        </p:nvSpPr>
        <p:spPr>
          <a:xfrm>
            <a:off x="6168017" y="4871596"/>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Value Stream Mapping (VSM)</a:t>
            </a:r>
          </a:p>
        </p:txBody>
      </p:sp>
      <p:sp>
        <p:nvSpPr>
          <p:cNvPr id="30" name="Rectangle 29">
            <a:extLst>
              <a:ext uri="{FF2B5EF4-FFF2-40B4-BE49-F238E27FC236}">
                <a16:creationId xmlns:a16="http://schemas.microsoft.com/office/drawing/2014/main" id="{56D8CAF3-483E-91B2-CF0D-AD5B718A4685}"/>
              </a:ext>
            </a:extLst>
          </p:cNvPr>
          <p:cNvSpPr/>
          <p:nvPr/>
        </p:nvSpPr>
        <p:spPr>
          <a:xfrm>
            <a:off x="841972" y="5437411"/>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Transaction Process Improvement</a:t>
            </a:r>
          </a:p>
        </p:txBody>
      </p:sp>
      <p:sp>
        <p:nvSpPr>
          <p:cNvPr id="11" name="Rectangle 10">
            <a:extLst>
              <a:ext uri="{FF2B5EF4-FFF2-40B4-BE49-F238E27FC236}">
                <a16:creationId xmlns:a16="http://schemas.microsoft.com/office/drawing/2014/main" id="{A796E2EB-3ED3-2BFC-ABF7-076DC189B1BA}"/>
              </a:ext>
            </a:extLst>
          </p:cNvPr>
          <p:cNvSpPr/>
          <p:nvPr/>
        </p:nvSpPr>
        <p:spPr>
          <a:xfrm>
            <a:off x="6168017" y="5444515"/>
            <a:ext cx="5117764" cy="376811"/>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a:t>
            </a:r>
          </a:p>
        </p:txBody>
      </p:sp>
      <p:sp>
        <p:nvSpPr>
          <p:cNvPr id="33" name="TextBox 32">
            <a:extLst>
              <a:ext uri="{FF2B5EF4-FFF2-40B4-BE49-F238E27FC236}">
                <a16:creationId xmlns:a16="http://schemas.microsoft.com/office/drawing/2014/main" id="{0E5F1479-3416-95FD-E891-56BF7D8A6596}"/>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Fundamentals</a:t>
            </a:r>
          </a:p>
        </p:txBody>
      </p:sp>
      <p:grpSp>
        <p:nvGrpSpPr>
          <p:cNvPr id="15" name="Group 14">
            <a:extLst>
              <a:ext uri="{FF2B5EF4-FFF2-40B4-BE49-F238E27FC236}">
                <a16:creationId xmlns:a16="http://schemas.microsoft.com/office/drawing/2014/main" id="{D58D3498-9FD8-D453-7D43-1C866F5FD49C}"/>
              </a:ext>
            </a:extLst>
          </p:cNvPr>
          <p:cNvGrpSpPr/>
          <p:nvPr/>
        </p:nvGrpSpPr>
        <p:grpSpPr>
          <a:xfrm>
            <a:off x="940249" y="302538"/>
            <a:ext cx="1060167" cy="290657"/>
            <a:chOff x="940249" y="315206"/>
            <a:chExt cx="1060167" cy="265062"/>
          </a:xfrm>
        </p:grpSpPr>
        <p:sp>
          <p:nvSpPr>
            <p:cNvPr id="16" name="AutoShape 9">
              <a:extLst>
                <a:ext uri="{FF2B5EF4-FFF2-40B4-BE49-F238E27FC236}">
                  <a16:creationId xmlns:a16="http://schemas.microsoft.com/office/drawing/2014/main" id="{575800DF-9DE0-8F88-9E43-12441209CC8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A10C4549-DDA6-7565-3B13-B313C6E9887D}"/>
                </a:ext>
              </a:extLst>
            </p:cNvPr>
            <p:cNvGrpSpPr/>
            <p:nvPr/>
          </p:nvGrpSpPr>
          <p:grpSpPr>
            <a:xfrm>
              <a:off x="940249" y="315206"/>
              <a:ext cx="746492" cy="265062"/>
              <a:chOff x="940249" y="315206"/>
              <a:chExt cx="746492" cy="265062"/>
            </a:xfrm>
          </p:grpSpPr>
          <p:sp>
            <p:nvSpPr>
              <p:cNvPr id="31" name="AutoShape 11">
                <a:extLst>
                  <a:ext uri="{FF2B5EF4-FFF2-40B4-BE49-F238E27FC236}">
                    <a16:creationId xmlns:a16="http://schemas.microsoft.com/office/drawing/2014/main" id="{094D8C8B-699E-EAC8-AFEF-03981C4C4A58}"/>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2" name="AutoShape 10">
                <a:extLst>
                  <a:ext uri="{FF2B5EF4-FFF2-40B4-BE49-F238E27FC236}">
                    <a16:creationId xmlns:a16="http://schemas.microsoft.com/office/drawing/2014/main" id="{6B401374-13E6-7FD8-2F57-A5252A08961F}"/>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9700884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Lean Transformation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Discuss what is a Lean Transformation</a:t>
            </a:r>
          </a:p>
          <a:p>
            <a:r>
              <a:rPr lang="en-US" sz="2400" dirty="0"/>
              <a:t>Summary</a:t>
            </a:r>
          </a:p>
          <a:p>
            <a:r>
              <a:rPr lang="en-US" sz="2400" dirty="0"/>
              <a:t>Review</a:t>
            </a:r>
            <a:endParaRPr lang="en-US" dirty="0"/>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2C0F1CBD-8220-319D-77A4-E07BE80DEE2B}"/>
              </a:ext>
            </a:extLst>
          </p:cNvPr>
          <p:cNvGrpSpPr/>
          <p:nvPr/>
        </p:nvGrpSpPr>
        <p:grpSpPr>
          <a:xfrm>
            <a:off x="699911" y="837133"/>
            <a:ext cx="4425950" cy="659879"/>
            <a:chOff x="5627530" y="641179"/>
            <a:chExt cx="6564470" cy="804977"/>
          </a:xfrm>
        </p:grpSpPr>
        <p:sp>
          <p:nvSpPr>
            <p:cNvPr id="13" name="AutoShape 9">
              <a:extLst>
                <a:ext uri="{FF2B5EF4-FFF2-40B4-BE49-F238E27FC236}">
                  <a16:creationId xmlns:a16="http://schemas.microsoft.com/office/drawing/2014/main" id="{BAB05A7B-48E9-F0ED-0C79-CF67A14F0CD6}"/>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Lean Transformation</a:t>
              </a:r>
            </a:p>
          </p:txBody>
        </p:sp>
        <p:sp>
          <p:nvSpPr>
            <p:cNvPr id="14" name="AutoShape 10">
              <a:extLst>
                <a:ext uri="{FF2B5EF4-FFF2-40B4-BE49-F238E27FC236}">
                  <a16:creationId xmlns:a16="http://schemas.microsoft.com/office/drawing/2014/main" id="{ADCB4EFA-9BF5-023F-0234-1759D33DF072}"/>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Lean Fundamentals</a:t>
              </a:r>
            </a:p>
          </p:txBody>
        </p:sp>
        <p:sp>
          <p:nvSpPr>
            <p:cNvPr id="15" name="AutoShape 11">
              <a:extLst>
                <a:ext uri="{FF2B5EF4-FFF2-40B4-BE49-F238E27FC236}">
                  <a16:creationId xmlns:a16="http://schemas.microsoft.com/office/drawing/2014/main" id="{791EE183-39FC-28F2-2251-8891563E08CD}"/>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Introduction</a:t>
              </a:r>
            </a:p>
          </p:txBody>
        </p:sp>
      </p:grpSp>
    </p:spTree>
    <p:extLst>
      <p:ext uri="{BB962C8B-B14F-4D97-AF65-F5344CB8AC3E}">
        <p14:creationId xmlns:p14="http://schemas.microsoft.com/office/powerpoint/2010/main" val="29628662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9543AAFC-8647-0FD0-31A8-24CA11ED73EC}"/>
              </a:ext>
            </a:extLst>
          </p:cNvPr>
          <p:cNvSpPr>
            <a:spLocks noGrp="1"/>
          </p:cNvSpPr>
          <p:nvPr>
            <p:ph type="title"/>
          </p:nvPr>
        </p:nvSpPr>
        <p:spPr/>
        <p:txBody>
          <a:bodyPr>
            <a:normAutofit/>
          </a:bodyPr>
          <a:lstStyle/>
          <a:p>
            <a:r>
              <a:rPr lang="en-US" sz="4000" dirty="0">
                <a:solidFill>
                  <a:schemeClr val="tx1">
                    <a:lumMod val="95000"/>
                    <a:lumOff val="5000"/>
                  </a:schemeClr>
                </a:solidFill>
                <a:latin typeface="Roboto Medium"/>
                <a:ea typeface="Roboto Medium"/>
                <a:cs typeface="Roboto Medium"/>
              </a:rPr>
              <a:t>Review: What is a Lean Transformation?</a:t>
            </a:r>
            <a:endParaRPr lang="en-US" sz="4000">
              <a:solidFill>
                <a:schemeClr val="tx1">
                  <a:lumMod val="95000"/>
                  <a:lumOff val="5000"/>
                </a:schemeClr>
              </a:solidFill>
              <a:latin typeface="Roboto Medium"/>
              <a:ea typeface="Roboto Medium"/>
              <a:cs typeface="Roboto Medium"/>
            </a:endParaRPr>
          </a:p>
        </p:txBody>
      </p:sp>
      <p:sp>
        <p:nvSpPr>
          <p:cNvPr id="4" name="Slide Number Placeholder 3">
            <a:extLst>
              <a:ext uri="{FF2B5EF4-FFF2-40B4-BE49-F238E27FC236}">
                <a16:creationId xmlns:a16="http://schemas.microsoft.com/office/drawing/2014/main" id="{94CED26B-079A-A22C-F98C-9FB8FF83009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50</a:t>
            </a:fld>
            <a:endParaRPr lang="en-US" dirty="0"/>
          </a:p>
        </p:txBody>
      </p:sp>
      <p:sp>
        <p:nvSpPr>
          <p:cNvPr id="10" name="Title 1">
            <a:extLst>
              <a:ext uri="{FF2B5EF4-FFF2-40B4-BE49-F238E27FC236}">
                <a16:creationId xmlns:a16="http://schemas.microsoft.com/office/drawing/2014/main" id="{2B53BC97-FB5E-8832-130E-EFB4174BED2A}"/>
              </a:ext>
            </a:extLst>
          </p:cNvPr>
          <p:cNvSpPr txBox="1">
            <a:spLocks/>
          </p:cNvSpPr>
          <p:nvPr/>
        </p:nvSpPr>
        <p:spPr>
          <a:xfrm>
            <a:off x="616232" y="706595"/>
            <a:ext cx="10515600"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lumMod val="95000"/>
                  <a:lumOff val="5000"/>
                </a:schemeClr>
              </a:solidFill>
            </a:endParaRPr>
          </a:p>
        </p:txBody>
      </p:sp>
      <p:sp>
        <p:nvSpPr>
          <p:cNvPr id="24" name="Rectangle 23">
            <a:extLst>
              <a:ext uri="{FF2B5EF4-FFF2-40B4-BE49-F238E27FC236}">
                <a16:creationId xmlns:a16="http://schemas.microsoft.com/office/drawing/2014/main" id="{D6A5BFD7-84FD-808A-D193-5F80D41DE6AB}"/>
              </a:ext>
            </a:extLst>
          </p:cNvPr>
          <p:cNvSpPr/>
          <p:nvPr/>
        </p:nvSpPr>
        <p:spPr>
          <a:xfrm>
            <a:off x="993590" y="1941922"/>
            <a:ext cx="2660299" cy="973140"/>
          </a:xfrm>
          <a:prstGeom prst="rect">
            <a:avLst/>
          </a:prstGeom>
          <a:solidFill>
            <a:srgbClr val="EE3228"/>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latin typeface="Roboto"/>
                <a:ea typeface="Roboto"/>
                <a:cs typeface="Roboto"/>
              </a:rPr>
              <a:t>Integration of Lean to achieve business imperatives</a:t>
            </a:r>
          </a:p>
        </p:txBody>
      </p:sp>
      <p:sp>
        <p:nvSpPr>
          <p:cNvPr id="25" name="Rectangle 24">
            <a:extLst>
              <a:ext uri="{FF2B5EF4-FFF2-40B4-BE49-F238E27FC236}">
                <a16:creationId xmlns:a16="http://schemas.microsoft.com/office/drawing/2014/main" id="{5E0D209D-047C-6CD7-8B00-61CDE077E138}"/>
              </a:ext>
            </a:extLst>
          </p:cNvPr>
          <p:cNvSpPr/>
          <p:nvPr/>
        </p:nvSpPr>
        <p:spPr>
          <a:xfrm>
            <a:off x="4477876" y="1941922"/>
            <a:ext cx="2660299" cy="973140"/>
          </a:xfrm>
          <a:prstGeom prst="rect">
            <a:avLst/>
          </a:prstGeom>
          <a:solidFill>
            <a:srgbClr val="EE3228"/>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latin typeface="Roboto"/>
                <a:ea typeface="Roboto"/>
                <a:cs typeface="Roboto"/>
              </a:rPr>
              <a:t>Demonstrated Executive and Leadership Commitment</a:t>
            </a:r>
          </a:p>
        </p:txBody>
      </p:sp>
      <p:sp>
        <p:nvSpPr>
          <p:cNvPr id="26" name="Rectangle 25">
            <a:extLst>
              <a:ext uri="{FF2B5EF4-FFF2-40B4-BE49-F238E27FC236}">
                <a16:creationId xmlns:a16="http://schemas.microsoft.com/office/drawing/2014/main" id="{1F0CFB64-778E-946F-CA1A-96CD294F59AF}"/>
              </a:ext>
            </a:extLst>
          </p:cNvPr>
          <p:cNvSpPr/>
          <p:nvPr/>
        </p:nvSpPr>
        <p:spPr>
          <a:xfrm>
            <a:off x="7962161" y="1941922"/>
            <a:ext cx="2660299" cy="973140"/>
          </a:xfrm>
          <a:prstGeom prst="rect">
            <a:avLst/>
          </a:prstGeom>
          <a:solidFill>
            <a:srgbClr val="EE3228"/>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latin typeface="Roboto"/>
                <a:ea typeface="Roboto"/>
                <a:cs typeface="Roboto"/>
              </a:rPr>
              <a:t>Culture Development</a:t>
            </a:r>
          </a:p>
        </p:txBody>
      </p:sp>
      <p:sp>
        <p:nvSpPr>
          <p:cNvPr id="27" name="TextBox 26">
            <a:extLst>
              <a:ext uri="{FF2B5EF4-FFF2-40B4-BE49-F238E27FC236}">
                <a16:creationId xmlns:a16="http://schemas.microsoft.com/office/drawing/2014/main" id="{356C6883-00A9-030F-F7C1-8C3DC979ED30}"/>
              </a:ext>
            </a:extLst>
          </p:cNvPr>
          <p:cNvSpPr txBox="1"/>
          <p:nvPr/>
        </p:nvSpPr>
        <p:spPr>
          <a:xfrm>
            <a:off x="802425" y="3137599"/>
            <a:ext cx="3039804" cy="181588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Significant movement in key financial and performance metrics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Leveraging the operational capability</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Assess optimization at all levels</a:t>
            </a:r>
          </a:p>
        </p:txBody>
      </p:sp>
      <p:sp>
        <p:nvSpPr>
          <p:cNvPr id="28" name="TextBox 27">
            <a:extLst>
              <a:ext uri="{FF2B5EF4-FFF2-40B4-BE49-F238E27FC236}">
                <a16:creationId xmlns:a16="http://schemas.microsoft.com/office/drawing/2014/main" id="{949CA32F-4AF8-D666-5471-CEA04D77D679}"/>
              </a:ext>
            </a:extLst>
          </p:cNvPr>
          <p:cNvSpPr txBox="1"/>
          <p:nvPr/>
        </p:nvSpPr>
        <p:spPr>
          <a:xfrm>
            <a:off x="4288123" y="3122832"/>
            <a:ext cx="3039804" cy="132343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Enterprise-wide strategy</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Learning to lead a Lean organization</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Infrastructure to support continuous improvement</a:t>
            </a:r>
          </a:p>
        </p:txBody>
      </p:sp>
      <p:sp>
        <p:nvSpPr>
          <p:cNvPr id="29" name="TextBox 28">
            <a:extLst>
              <a:ext uri="{FF2B5EF4-FFF2-40B4-BE49-F238E27FC236}">
                <a16:creationId xmlns:a16="http://schemas.microsoft.com/office/drawing/2014/main" id="{0909F21E-7BCE-11D5-5065-7D6B68C5C6BD}"/>
              </a:ext>
            </a:extLst>
          </p:cNvPr>
          <p:cNvSpPr txBox="1"/>
          <p:nvPr/>
        </p:nvSpPr>
        <p:spPr>
          <a:xfrm>
            <a:off x="7772078" y="3122832"/>
            <a:ext cx="3040466" cy="206210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Problem solving at the lowest level in the organization</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Creating a “learning organization”</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Process execution/awareness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Employee development</a:t>
            </a:r>
          </a:p>
        </p:txBody>
      </p:sp>
      <p:sp>
        <p:nvSpPr>
          <p:cNvPr id="30" name="Rectangle 4">
            <a:extLst>
              <a:ext uri="{FF2B5EF4-FFF2-40B4-BE49-F238E27FC236}">
                <a16:creationId xmlns:a16="http://schemas.microsoft.com/office/drawing/2014/main" id="{70B8D161-B097-4937-20C9-0B5BFD6161C3}"/>
              </a:ext>
            </a:extLst>
          </p:cNvPr>
          <p:cNvSpPr>
            <a:spLocks noChangeArrowheads="1"/>
          </p:cNvSpPr>
          <p:nvPr/>
        </p:nvSpPr>
        <p:spPr bwMode="auto">
          <a:xfrm>
            <a:off x="993590" y="5347684"/>
            <a:ext cx="9628871" cy="604662"/>
          </a:xfrm>
          <a:prstGeom prst="rect">
            <a:avLst/>
          </a:prstGeom>
          <a:solidFill>
            <a:srgbClr val="EE3228"/>
          </a:solidFill>
          <a:ln w="19050">
            <a:solidFill>
              <a:schemeClr val="tx1"/>
            </a:solidFill>
            <a:prstDash val="sysDot"/>
            <a:miter lim="800000"/>
            <a:headEnd/>
            <a:tailEnd/>
          </a:ln>
        </p:spPr>
        <p:txBody>
          <a:bodyPr lIns="91440" tIns="45720" rIns="91440" bIns="45720"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3600" dirty="0">
                <a:solidFill>
                  <a:schemeClr val="bg1"/>
                </a:solidFill>
                <a:latin typeface="Roboto"/>
                <a:ea typeface="Roboto"/>
                <a:cs typeface="Roboto"/>
              </a:rPr>
              <a:t>Lean Transformation</a:t>
            </a:r>
          </a:p>
        </p:txBody>
      </p:sp>
      <p:cxnSp>
        <p:nvCxnSpPr>
          <p:cNvPr id="31" name="Connector: Elbow 30">
            <a:extLst>
              <a:ext uri="{FF2B5EF4-FFF2-40B4-BE49-F238E27FC236}">
                <a16:creationId xmlns:a16="http://schemas.microsoft.com/office/drawing/2014/main" id="{F23DE530-99C4-FB1E-0668-A5D3F616BDEE}"/>
              </a:ext>
            </a:extLst>
          </p:cNvPr>
          <p:cNvCxnSpPr>
            <a:cxnSpLocks/>
            <a:stCxn id="24" idx="1"/>
            <a:endCxn id="30" idx="1"/>
          </p:cNvCxnSpPr>
          <p:nvPr/>
        </p:nvCxnSpPr>
        <p:spPr>
          <a:xfrm rot="10800000" flipV="1">
            <a:off x="993590" y="2428491"/>
            <a:ext cx="15695" cy="3221523"/>
          </a:xfrm>
          <a:prstGeom prst="bentConnector3">
            <a:avLst>
              <a:gd name="adj1" fmla="val 1800000"/>
            </a:avLst>
          </a:prstGeom>
          <a:noFill/>
          <a:ln w="63500" cap="flat">
            <a:solidFill>
              <a:srgbClr val="7F7F7F">
                <a:alpha val="75000"/>
              </a:srgbClr>
            </a:solidFill>
            <a:prstDash val="solid"/>
            <a:miter lim="400000"/>
            <a:tailEnd type="triangle"/>
          </a:ln>
          <a:effectLst/>
          <a:sp3d/>
        </p:spPr>
        <p:style>
          <a:lnRef idx="0">
            <a:scrgbClr r="0" g="0" b="0"/>
          </a:lnRef>
          <a:fillRef idx="0">
            <a:scrgbClr r="0" g="0" b="0"/>
          </a:fillRef>
          <a:effectRef idx="0">
            <a:scrgbClr r="0" g="0" b="0"/>
          </a:effectRef>
          <a:fontRef idx="none"/>
        </p:style>
      </p:cxnSp>
      <p:cxnSp>
        <p:nvCxnSpPr>
          <p:cNvPr id="35" name="Connector: Elbow 34">
            <a:extLst>
              <a:ext uri="{FF2B5EF4-FFF2-40B4-BE49-F238E27FC236}">
                <a16:creationId xmlns:a16="http://schemas.microsoft.com/office/drawing/2014/main" id="{7351F404-FEF2-DD4F-8AA6-BA2EF6DDD062}"/>
              </a:ext>
            </a:extLst>
          </p:cNvPr>
          <p:cNvCxnSpPr>
            <a:cxnSpLocks/>
            <a:stCxn id="26" idx="3"/>
            <a:endCxn id="30" idx="3"/>
          </p:cNvCxnSpPr>
          <p:nvPr/>
        </p:nvCxnSpPr>
        <p:spPr>
          <a:xfrm>
            <a:off x="10622460" y="2428492"/>
            <a:ext cx="15695" cy="3221523"/>
          </a:xfrm>
          <a:prstGeom prst="bentConnector3">
            <a:avLst>
              <a:gd name="adj1" fmla="val 1800000"/>
            </a:avLst>
          </a:prstGeom>
          <a:noFill/>
          <a:ln w="63500" cap="flat">
            <a:solidFill>
              <a:srgbClr val="7F7F7F">
                <a:alpha val="75000"/>
              </a:srgbClr>
            </a:solidFill>
            <a:prstDash val="solid"/>
            <a:miter lim="400000"/>
            <a:tailEnd type="triangle"/>
          </a:ln>
          <a:effectLst/>
          <a:sp3d/>
        </p:spPr>
        <p:style>
          <a:lnRef idx="0">
            <a:scrgbClr r="0" g="0" b="0"/>
          </a:lnRef>
          <a:fillRef idx="0">
            <a:scrgbClr r="0" g="0" b="0"/>
          </a:fillRef>
          <a:effectRef idx="0">
            <a:scrgbClr r="0" g="0" b="0"/>
          </a:effectRef>
          <a:fontRef idx="none"/>
        </p:style>
      </p:cxnSp>
      <p:sp>
        <p:nvSpPr>
          <p:cNvPr id="14" name="TextBox 13">
            <a:extLst>
              <a:ext uri="{FF2B5EF4-FFF2-40B4-BE49-F238E27FC236}">
                <a16:creationId xmlns:a16="http://schemas.microsoft.com/office/drawing/2014/main" id="{6102DBD6-7B95-9E6B-817F-9B7E37056A87}"/>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grpSp>
        <p:nvGrpSpPr>
          <p:cNvPr id="16" name="Group 15">
            <a:extLst>
              <a:ext uri="{FF2B5EF4-FFF2-40B4-BE49-F238E27FC236}">
                <a16:creationId xmlns:a16="http://schemas.microsoft.com/office/drawing/2014/main" id="{1C27D098-8A87-822C-6A68-0A794C58E49B}"/>
              </a:ext>
            </a:extLst>
          </p:cNvPr>
          <p:cNvGrpSpPr/>
          <p:nvPr/>
        </p:nvGrpSpPr>
        <p:grpSpPr>
          <a:xfrm>
            <a:off x="940249" y="302538"/>
            <a:ext cx="1060167" cy="290657"/>
            <a:chOff x="940249" y="315206"/>
            <a:chExt cx="1060167" cy="265062"/>
          </a:xfrm>
        </p:grpSpPr>
        <p:sp>
          <p:nvSpPr>
            <p:cNvPr id="17" name="AutoShape 9">
              <a:extLst>
                <a:ext uri="{FF2B5EF4-FFF2-40B4-BE49-F238E27FC236}">
                  <a16:creationId xmlns:a16="http://schemas.microsoft.com/office/drawing/2014/main" id="{A45DA82C-DCB7-573D-DB44-C6D510AFD66E}"/>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8" name="Group 17">
              <a:extLst>
                <a:ext uri="{FF2B5EF4-FFF2-40B4-BE49-F238E27FC236}">
                  <a16:creationId xmlns:a16="http://schemas.microsoft.com/office/drawing/2014/main" id="{C2FA32BB-159C-5548-1431-AF622674703E}"/>
                </a:ext>
              </a:extLst>
            </p:cNvPr>
            <p:cNvGrpSpPr/>
            <p:nvPr/>
          </p:nvGrpSpPr>
          <p:grpSpPr>
            <a:xfrm>
              <a:off x="940249" y="315206"/>
              <a:ext cx="746492" cy="265062"/>
              <a:chOff x="940249" y="315206"/>
              <a:chExt cx="746492" cy="265062"/>
            </a:xfrm>
          </p:grpSpPr>
          <p:sp>
            <p:nvSpPr>
              <p:cNvPr id="19" name="AutoShape 11">
                <a:extLst>
                  <a:ext uri="{FF2B5EF4-FFF2-40B4-BE49-F238E27FC236}">
                    <a16:creationId xmlns:a16="http://schemas.microsoft.com/office/drawing/2014/main" id="{C60F684C-948D-E324-C15D-ED001D1C195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0">
                <a:extLst>
                  <a:ext uri="{FF2B5EF4-FFF2-40B4-BE49-F238E27FC236}">
                    <a16:creationId xmlns:a16="http://schemas.microsoft.com/office/drawing/2014/main" id="{56BE4C0B-B13F-F452-450B-2111B23465E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8190594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07259D3B-046F-8215-5C72-736635951DFB}"/>
              </a:ext>
            </a:extLst>
          </p:cNvPr>
          <p:cNvSpPr>
            <a:spLocks noGrp="1"/>
          </p:cNvSpPr>
          <p:nvPr>
            <p:ph type="title"/>
          </p:nvPr>
        </p:nvSpPr>
        <p:spPr/>
        <p:txBody>
          <a:bodyPr>
            <a:normAutofit/>
          </a:bodyPr>
          <a:lstStyle/>
          <a:p>
            <a:r>
              <a:rPr lang="en-US" sz="3800" dirty="0">
                <a:solidFill>
                  <a:schemeClr val="tx1">
                    <a:lumMod val="95000"/>
                    <a:lumOff val="5000"/>
                  </a:schemeClr>
                </a:solidFill>
              </a:rPr>
              <a:t>Steps to Transform into a Lean Organization</a:t>
            </a:r>
            <a:endParaRPr lang="en-US" sz="3800" dirty="0"/>
          </a:p>
        </p:txBody>
      </p:sp>
      <p:sp>
        <p:nvSpPr>
          <p:cNvPr id="4" name="Slide Number Placeholder 3">
            <a:extLst>
              <a:ext uri="{FF2B5EF4-FFF2-40B4-BE49-F238E27FC236}">
                <a16:creationId xmlns:a16="http://schemas.microsoft.com/office/drawing/2014/main" id="{94CED26B-079A-A22C-F98C-9FB8FF83009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51</a:t>
            </a:fld>
            <a:endParaRPr lang="en-US" dirty="0"/>
          </a:p>
        </p:txBody>
      </p:sp>
      <p:sp>
        <p:nvSpPr>
          <p:cNvPr id="10" name="Title 1">
            <a:extLst>
              <a:ext uri="{FF2B5EF4-FFF2-40B4-BE49-F238E27FC236}">
                <a16:creationId xmlns:a16="http://schemas.microsoft.com/office/drawing/2014/main" id="{2B53BC97-FB5E-8832-130E-EFB4174BED2A}"/>
              </a:ext>
            </a:extLst>
          </p:cNvPr>
          <p:cNvSpPr txBox="1">
            <a:spLocks/>
          </p:cNvSpPr>
          <p:nvPr/>
        </p:nvSpPr>
        <p:spPr>
          <a:xfrm>
            <a:off x="616232" y="706595"/>
            <a:ext cx="10515600"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4000" dirty="0">
              <a:solidFill>
                <a:schemeClr val="tx1">
                  <a:lumMod val="95000"/>
                  <a:lumOff val="5000"/>
                </a:schemeClr>
              </a:solidFill>
            </a:endParaRPr>
          </a:p>
        </p:txBody>
      </p:sp>
      <p:grpSp>
        <p:nvGrpSpPr>
          <p:cNvPr id="11" name="Group 7">
            <a:extLst>
              <a:ext uri="{FF2B5EF4-FFF2-40B4-BE49-F238E27FC236}">
                <a16:creationId xmlns:a16="http://schemas.microsoft.com/office/drawing/2014/main" id="{DDEAF7B6-902D-C30B-B3B1-686E4FC34427}"/>
              </a:ext>
            </a:extLst>
          </p:cNvPr>
          <p:cNvGrpSpPr>
            <a:grpSpLocks/>
          </p:cNvGrpSpPr>
          <p:nvPr/>
        </p:nvGrpSpPr>
        <p:grpSpPr bwMode="auto">
          <a:xfrm>
            <a:off x="838200" y="1921015"/>
            <a:ext cx="10877112" cy="488339"/>
            <a:chOff x="482" y="1272"/>
            <a:chExt cx="4030" cy="394"/>
          </a:xfrm>
          <a:solidFill>
            <a:schemeClr val="accent3"/>
          </a:solidFill>
        </p:grpSpPr>
        <p:sp>
          <p:nvSpPr>
            <p:cNvPr id="12" name="AutoShape 8">
              <a:extLst>
                <a:ext uri="{FF2B5EF4-FFF2-40B4-BE49-F238E27FC236}">
                  <a16:creationId xmlns:a16="http://schemas.microsoft.com/office/drawing/2014/main" id="{74FF376E-8914-A420-87B8-ADD0B5E6FB50}"/>
                </a:ext>
              </a:extLst>
            </p:cNvPr>
            <p:cNvSpPr>
              <a:spLocks noChangeArrowheads="1"/>
            </p:cNvSpPr>
            <p:nvPr/>
          </p:nvSpPr>
          <p:spPr bwMode="auto">
            <a:xfrm>
              <a:off x="3360" y="1272"/>
              <a:ext cx="1152" cy="394"/>
            </a:xfrm>
            <a:prstGeom prst="homePlate">
              <a:avLst>
                <a:gd name="adj" fmla="val 43695"/>
              </a:avLst>
            </a:prstGeom>
            <a:solidFill>
              <a:schemeClr val="bg1">
                <a:lumMod val="50000"/>
              </a:schemeClr>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FontTx/>
                <a:buNone/>
              </a:pPr>
              <a:r>
                <a:rPr lang="en-US" altLang="en-US" sz="3200" b="1" dirty="0">
                  <a:solidFill>
                    <a:schemeClr val="bg1"/>
                  </a:solidFill>
                  <a:latin typeface="Roboto"/>
                  <a:ea typeface="Roboto"/>
                  <a:cs typeface="Roboto"/>
                </a:rPr>
                <a:t>   Transform</a:t>
              </a:r>
            </a:p>
          </p:txBody>
        </p:sp>
        <p:sp>
          <p:nvSpPr>
            <p:cNvPr id="13" name="AutoShape 9">
              <a:extLst>
                <a:ext uri="{FF2B5EF4-FFF2-40B4-BE49-F238E27FC236}">
                  <a16:creationId xmlns:a16="http://schemas.microsoft.com/office/drawing/2014/main" id="{F2A01333-0DF9-B377-4C84-E89B3C62FE13}"/>
                </a:ext>
              </a:extLst>
            </p:cNvPr>
            <p:cNvSpPr>
              <a:spLocks noChangeArrowheads="1"/>
            </p:cNvSpPr>
            <p:nvPr/>
          </p:nvSpPr>
          <p:spPr bwMode="auto">
            <a:xfrm>
              <a:off x="2351" y="1272"/>
              <a:ext cx="1196" cy="394"/>
            </a:xfrm>
            <a:prstGeom prst="homePlate">
              <a:avLst>
                <a:gd name="adj" fmla="val 45322"/>
              </a:avLst>
            </a:prstGeom>
            <a:solidFill>
              <a:schemeClr val="bg1">
                <a:lumMod val="50000"/>
              </a:schemeClr>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None/>
              </a:pPr>
              <a:r>
                <a:rPr lang="en-US" altLang="en-US" sz="3200" b="1" dirty="0">
                  <a:solidFill>
                    <a:schemeClr val="bg1"/>
                  </a:solidFill>
                  <a:latin typeface="Roboto"/>
                  <a:ea typeface="Roboto"/>
                  <a:cs typeface="Roboto"/>
                </a:rPr>
                <a:t>     Accelerate</a:t>
              </a:r>
            </a:p>
          </p:txBody>
        </p:sp>
        <p:sp>
          <p:nvSpPr>
            <p:cNvPr id="14" name="AutoShape 10">
              <a:extLst>
                <a:ext uri="{FF2B5EF4-FFF2-40B4-BE49-F238E27FC236}">
                  <a16:creationId xmlns:a16="http://schemas.microsoft.com/office/drawing/2014/main" id="{394FF5C5-E0DE-0D2D-76CB-6643DA65CA16}"/>
                </a:ext>
              </a:extLst>
            </p:cNvPr>
            <p:cNvSpPr>
              <a:spLocks noChangeArrowheads="1"/>
            </p:cNvSpPr>
            <p:nvPr/>
          </p:nvSpPr>
          <p:spPr bwMode="auto">
            <a:xfrm>
              <a:off x="1453" y="1272"/>
              <a:ext cx="1154" cy="394"/>
            </a:xfrm>
            <a:prstGeom prst="homePlate">
              <a:avLst>
                <a:gd name="adj" fmla="val 38090"/>
              </a:avLst>
            </a:prstGeom>
            <a:solidFill>
              <a:schemeClr val="bg1">
                <a:lumMod val="50000"/>
              </a:schemeClr>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FontTx/>
                <a:buNone/>
              </a:pPr>
              <a:r>
                <a:rPr lang="en-US" altLang="en-US" sz="3200" b="1" dirty="0">
                  <a:solidFill>
                    <a:schemeClr val="bg1"/>
                  </a:solidFill>
                  <a:latin typeface="Roboto"/>
                  <a:ea typeface="Roboto"/>
                  <a:cs typeface="Roboto"/>
                </a:rPr>
                <a:t>Stabilize</a:t>
              </a:r>
            </a:p>
          </p:txBody>
        </p:sp>
        <p:sp>
          <p:nvSpPr>
            <p:cNvPr id="15" name="AutoShape 11">
              <a:extLst>
                <a:ext uri="{FF2B5EF4-FFF2-40B4-BE49-F238E27FC236}">
                  <a16:creationId xmlns:a16="http://schemas.microsoft.com/office/drawing/2014/main" id="{40A4A2B5-4825-CA3D-4B39-6183185CFA03}"/>
                </a:ext>
              </a:extLst>
            </p:cNvPr>
            <p:cNvSpPr>
              <a:spLocks noChangeArrowheads="1"/>
            </p:cNvSpPr>
            <p:nvPr/>
          </p:nvSpPr>
          <p:spPr bwMode="auto">
            <a:xfrm>
              <a:off x="482" y="1272"/>
              <a:ext cx="1152" cy="394"/>
            </a:xfrm>
            <a:prstGeom prst="homePlate">
              <a:avLst>
                <a:gd name="adj" fmla="val 42504"/>
              </a:avLst>
            </a:prstGeom>
            <a:solidFill>
              <a:schemeClr val="bg1">
                <a:lumMod val="50000"/>
              </a:schemeClr>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95000"/>
                </a:lnSpc>
                <a:spcBef>
                  <a:spcPct val="0"/>
                </a:spcBef>
                <a:spcAft>
                  <a:spcPct val="0"/>
                </a:spcAft>
                <a:buClrTx/>
                <a:buSzTx/>
                <a:buFontTx/>
                <a:buNone/>
              </a:pPr>
              <a:r>
                <a:rPr lang="en-US" altLang="en-US" sz="3200" b="1" dirty="0">
                  <a:solidFill>
                    <a:schemeClr val="bg1"/>
                  </a:solidFill>
                  <a:latin typeface="Roboto"/>
                  <a:ea typeface="Roboto"/>
                  <a:cs typeface="Roboto"/>
                </a:rPr>
                <a:t>Introduce</a:t>
              </a:r>
            </a:p>
          </p:txBody>
        </p:sp>
      </p:grpSp>
      <p:sp>
        <p:nvSpPr>
          <p:cNvPr id="16" name="TextBox 15">
            <a:extLst>
              <a:ext uri="{FF2B5EF4-FFF2-40B4-BE49-F238E27FC236}">
                <a16:creationId xmlns:a16="http://schemas.microsoft.com/office/drawing/2014/main" id="{B55191E7-2C2E-6320-3152-74D712616921}"/>
              </a:ext>
            </a:extLst>
          </p:cNvPr>
          <p:cNvSpPr txBox="1"/>
          <p:nvPr/>
        </p:nvSpPr>
        <p:spPr>
          <a:xfrm>
            <a:off x="1025532" y="2767280"/>
            <a:ext cx="2292068" cy="132343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Leadership commitment</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Creating a crisis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Engagement at all levels</a:t>
            </a:r>
          </a:p>
        </p:txBody>
      </p:sp>
      <p:sp>
        <p:nvSpPr>
          <p:cNvPr id="17" name="TextBox 16">
            <a:extLst>
              <a:ext uri="{FF2B5EF4-FFF2-40B4-BE49-F238E27FC236}">
                <a16:creationId xmlns:a16="http://schemas.microsoft.com/office/drawing/2014/main" id="{DE57CFA9-A913-D868-0E47-71972DAF40A4}"/>
              </a:ext>
            </a:extLst>
          </p:cNvPr>
          <p:cNvSpPr txBox="1"/>
          <p:nvPr/>
        </p:nvSpPr>
        <p:spPr>
          <a:xfrm>
            <a:off x="3946019" y="2767280"/>
            <a:ext cx="2292068" cy="132343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Systems approach to Lean Transformation</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Monitoring progress</a:t>
            </a:r>
          </a:p>
        </p:txBody>
      </p:sp>
      <p:sp>
        <p:nvSpPr>
          <p:cNvPr id="18" name="TextBox 17">
            <a:extLst>
              <a:ext uri="{FF2B5EF4-FFF2-40B4-BE49-F238E27FC236}">
                <a16:creationId xmlns:a16="http://schemas.microsoft.com/office/drawing/2014/main" id="{B229CE97-0D30-C7FB-951E-2C7F9213C8F4}"/>
              </a:ext>
            </a:extLst>
          </p:cNvPr>
          <p:cNvSpPr txBox="1"/>
          <p:nvPr/>
        </p:nvSpPr>
        <p:spPr>
          <a:xfrm>
            <a:off x="6582334" y="2767279"/>
            <a:ext cx="2292068" cy="1815882"/>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Replicating new best practices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Celebrating and rewarding success</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Widely communicate lessons learned</a:t>
            </a:r>
          </a:p>
        </p:txBody>
      </p:sp>
      <p:sp>
        <p:nvSpPr>
          <p:cNvPr id="19" name="TextBox 18">
            <a:extLst>
              <a:ext uri="{FF2B5EF4-FFF2-40B4-BE49-F238E27FC236}">
                <a16:creationId xmlns:a16="http://schemas.microsoft.com/office/drawing/2014/main" id="{48753F07-1D84-084D-5C4D-64BC2390AD50}"/>
              </a:ext>
            </a:extLst>
          </p:cNvPr>
          <p:cNvSpPr txBox="1"/>
          <p:nvPr/>
        </p:nvSpPr>
        <p:spPr>
          <a:xfrm>
            <a:off x="9218649" y="2767278"/>
            <a:ext cx="2292068" cy="230832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Lean is the “go to” way to drive improvement</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Lean becomes a true competitive advantage</a:t>
            </a:r>
          </a:p>
          <a:p>
            <a:pPr marL="285750" indent="-285750">
              <a:buFont typeface="Arial" panose="020B0604020202020204" pitchFamily="34" charset="0"/>
              <a:buChar char="•"/>
            </a:pPr>
            <a:r>
              <a:rPr lang="en-US" sz="1600" b="1" dirty="0">
                <a:solidFill>
                  <a:schemeClr val="tx1">
                    <a:lumMod val="95000"/>
                    <a:lumOff val="5000"/>
                  </a:schemeClr>
                </a:solidFill>
                <a:latin typeface="Roboto"/>
                <a:ea typeface="Roboto"/>
                <a:cs typeface="Roboto"/>
              </a:rPr>
              <a:t>Talent hired and promoted based on ability to drive Lean</a:t>
            </a:r>
          </a:p>
        </p:txBody>
      </p:sp>
      <p:sp>
        <p:nvSpPr>
          <p:cNvPr id="20" name="AutoShape 13">
            <a:extLst>
              <a:ext uri="{FF2B5EF4-FFF2-40B4-BE49-F238E27FC236}">
                <a16:creationId xmlns:a16="http://schemas.microsoft.com/office/drawing/2014/main" id="{6D61332C-A913-1D4E-FAA9-4B858B93B44E}"/>
              </a:ext>
            </a:extLst>
          </p:cNvPr>
          <p:cNvSpPr>
            <a:spLocks noChangeArrowheads="1"/>
          </p:cNvSpPr>
          <p:nvPr/>
        </p:nvSpPr>
        <p:spPr bwMode="auto">
          <a:xfrm>
            <a:off x="476688" y="5184554"/>
            <a:ext cx="11238624" cy="650580"/>
          </a:xfrm>
          <a:prstGeom prst="homePlate">
            <a:avLst>
              <a:gd name="adj" fmla="val 32169"/>
            </a:avLst>
          </a:prstGeom>
          <a:solidFill>
            <a:srgbClr val="EE3228"/>
          </a:solidFill>
          <a:ln>
            <a:noFill/>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3200" dirty="0">
                <a:solidFill>
                  <a:schemeClr val="bg1"/>
                </a:solidFill>
                <a:latin typeface="Roboto" panose="02000000000000000000" pitchFamily="2" charset="0"/>
                <a:ea typeface="Roboto" panose="02000000000000000000" pitchFamily="2" charset="0"/>
                <a:cs typeface="Roboto" panose="02000000000000000000" pitchFamily="2" charset="0"/>
              </a:rPr>
              <a:t>Everyone is at a different place in their journey</a:t>
            </a:r>
          </a:p>
        </p:txBody>
      </p:sp>
      <p:sp>
        <p:nvSpPr>
          <p:cNvPr id="24" name="TextBox 23">
            <a:extLst>
              <a:ext uri="{FF2B5EF4-FFF2-40B4-BE49-F238E27FC236}">
                <a16:creationId xmlns:a16="http://schemas.microsoft.com/office/drawing/2014/main" id="{4F6B0FF2-FD02-8216-52BF-18ACAA08D0F5}"/>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grpSp>
        <p:nvGrpSpPr>
          <p:cNvPr id="26" name="Group 25">
            <a:extLst>
              <a:ext uri="{FF2B5EF4-FFF2-40B4-BE49-F238E27FC236}">
                <a16:creationId xmlns:a16="http://schemas.microsoft.com/office/drawing/2014/main" id="{3DDECD2C-A5CA-C4B3-DD78-69716E19473F}"/>
              </a:ext>
            </a:extLst>
          </p:cNvPr>
          <p:cNvGrpSpPr/>
          <p:nvPr/>
        </p:nvGrpSpPr>
        <p:grpSpPr>
          <a:xfrm>
            <a:off x="940249" y="302538"/>
            <a:ext cx="1060167" cy="290657"/>
            <a:chOff x="940249" y="315206"/>
            <a:chExt cx="1060167" cy="265062"/>
          </a:xfrm>
        </p:grpSpPr>
        <p:sp>
          <p:nvSpPr>
            <p:cNvPr id="27" name="AutoShape 9">
              <a:extLst>
                <a:ext uri="{FF2B5EF4-FFF2-40B4-BE49-F238E27FC236}">
                  <a16:creationId xmlns:a16="http://schemas.microsoft.com/office/drawing/2014/main" id="{0A699322-ABCC-CC18-B1B5-07AF62DB63AB}"/>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8" name="Group 27">
              <a:extLst>
                <a:ext uri="{FF2B5EF4-FFF2-40B4-BE49-F238E27FC236}">
                  <a16:creationId xmlns:a16="http://schemas.microsoft.com/office/drawing/2014/main" id="{C3B0E960-C345-24A2-C7E8-35C2E28B5710}"/>
                </a:ext>
              </a:extLst>
            </p:cNvPr>
            <p:cNvGrpSpPr/>
            <p:nvPr/>
          </p:nvGrpSpPr>
          <p:grpSpPr>
            <a:xfrm>
              <a:off x="940249" y="315206"/>
              <a:ext cx="746492" cy="265062"/>
              <a:chOff x="940249" y="315206"/>
              <a:chExt cx="746492" cy="265062"/>
            </a:xfrm>
          </p:grpSpPr>
          <p:sp>
            <p:nvSpPr>
              <p:cNvPr id="29" name="AutoShape 11">
                <a:extLst>
                  <a:ext uri="{FF2B5EF4-FFF2-40B4-BE49-F238E27FC236}">
                    <a16:creationId xmlns:a16="http://schemas.microsoft.com/office/drawing/2014/main" id="{5B4946DF-777B-8C6B-0A36-93ECE34161D8}"/>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0" name="AutoShape 10">
                <a:extLst>
                  <a:ext uri="{FF2B5EF4-FFF2-40B4-BE49-F238E27FC236}">
                    <a16:creationId xmlns:a16="http://schemas.microsoft.com/office/drawing/2014/main" id="{C6E85026-99AC-AB19-F670-25EBE86BF4E3}"/>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5579652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4CED26B-079A-A22C-F98C-9FB8FF83009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u="sng" smtClean="0"/>
              <a:pPr/>
              <a:t>52</a:t>
            </a:fld>
            <a:endParaRPr lang="en-US" u="sng" dirty="0"/>
          </a:p>
        </p:txBody>
      </p:sp>
      <p:sp>
        <p:nvSpPr>
          <p:cNvPr id="16" name="Title 15">
            <a:extLst>
              <a:ext uri="{FF2B5EF4-FFF2-40B4-BE49-F238E27FC236}">
                <a16:creationId xmlns:a16="http://schemas.microsoft.com/office/drawing/2014/main" id="{3CBF16EC-6E42-AC4F-7C61-E81D8CB9EC8C}"/>
              </a:ext>
            </a:extLst>
          </p:cNvPr>
          <p:cNvSpPr>
            <a:spLocks noGrp="1"/>
          </p:cNvSpPr>
          <p:nvPr>
            <p:ph type="title" idx="4294967295"/>
          </p:nvPr>
        </p:nvSpPr>
        <p:spPr>
          <a:xfrm>
            <a:off x="822678" y="1370528"/>
            <a:ext cx="10515600" cy="1009650"/>
          </a:xfrm>
          <a:prstGeom prst="rect">
            <a:avLst/>
          </a:prstGeom>
        </p:spPr>
        <p:txBody>
          <a:bodyPr>
            <a:normAutofit fontScale="90000"/>
          </a:bodyPr>
          <a:lstStyle/>
          <a:p>
            <a:r>
              <a:rPr lang="en-US" sz="4400" dirty="0">
                <a:latin typeface="Roboto Medium"/>
                <a:ea typeface="Roboto Medium"/>
                <a:cs typeface="Roboto Medium"/>
              </a:rPr>
              <a:t>Enterprise </a:t>
            </a:r>
            <a:br>
              <a:rPr lang="en-US" sz="4400" dirty="0"/>
            </a:br>
            <a:r>
              <a:rPr lang="en-US" sz="4400" dirty="0">
                <a:latin typeface="Roboto Medium"/>
                <a:ea typeface="Roboto Medium"/>
                <a:cs typeface="Roboto Medium"/>
              </a:rPr>
              <a:t>Lean </a:t>
            </a:r>
            <a:br>
              <a:rPr lang="en-US" sz="4400" dirty="0"/>
            </a:br>
            <a:r>
              <a:rPr lang="en-US" sz="4400" dirty="0">
                <a:latin typeface="Roboto Medium"/>
                <a:ea typeface="Roboto Medium"/>
                <a:cs typeface="Roboto Medium"/>
              </a:rPr>
              <a:t>Excellence</a:t>
            </a:r>
            <a:endParaRPr lang="en-US" dirty="0">
              <a:latin typeface="Roboto Medium"/>
              <a:ea typeface="Roboto Medium"/>
              <a:cs typeface="Roboto Medium"/>
            </a:endParaRPr>
          </a:p>
        </p:txBody>
      </p:sp>
      <p:grpSp>
        <p:nvGrpSpPr>
          <p:cNvPr id="21" name="Group 20">
            <a:extLst>
              <a:ext uri="{FF2B5EF4-FFF2-40B4-BE49-F238E27FC236}">
                <a16:creationId xmlns:a16="http://schemas.microsoft.com/office/drawing/2014/main" id="{6451A0FA-45CE-7948-BC1E-EE2C0D86CCC3}"/>
              </a:ext>
            </a:extLst>
          </p:cNvPr>
          <p:cNvGrpSpPr/>
          <p:nvPr/>
        </p:nvGrpSpPr>
        <p:grpSpPr>
          <a:xfrm>
            <a:off x="4038600" y="796802"/>
            <a:ext cx="6729592" cy="5264395"/>
            <a:chOff x="1758950" y="1528763"/>
            <a:chExt cx="5556250" cy="3987800"/>
          </a:xfrm>
        </p:grpSpPr>
        <p:sp>
          <p:nvSpPr>
            <p:cNvPr id="22" name="Freeform 3">
              <a:extLst>
                <a:ext uri="{FF2B5EF4-FFF2-40B4-BE49-F238E27FC236}">
                  <a16:creationId xmlns:a16="http://schemas.microsoft.com/office/drawing/2014/main" id="{887F4A99-C984-7B96-8A10-BE0903F863D6}"/>
                </a:ext>
              </a:extLst>
            </p:cNvPr>
            <p:cNvSpPr>
              <a:spLocks/>
            </p:cNvSpPr>
            <p:nvPr/>
          </p:nvSpPr>
          <p:spPr bwMode="auto">
            <a:xfrm flipH="1">
              <a:off x="5126038" y="1579563"/>
              <a:ext cx="2189162" cy="1871662"/>
            </a:xfrm>
            <a:custGeom>
              <a:avLst/>
              <a:gdLst>
                <a:gd name="T0" fmla="*/ 2147483646 w 1141"/>
                <a:gd name="T1" fmla="*/ 0 h 831"/>
                <a:gd name="T2" fmla="*/ 0 w 1141"/>
                <a:gd name="T3" fmla="*/ 2147483646 h 831"/>
                <a:gd name="T4" fmla="*/ 2147483646 w 1141"/>
                <a:gd name="T5" fmla="*/ 2147483646 h 831"/>
                <a:gd name="T6" fmla="*/ 2147483646 w 1141"/>
                <a:gd name="T7" fmla="*/ 2147483646 h 831"/>
                <a:gd name="T8" fmla="*/ 2147483646 w 1141"/>
                <a:gd name="T9" fmla="*/ 0 h 831"/>
                <a:gd name="T10" fmla="*/ 0 60000 65536"/>
                <a:gd name="T11" fmla="*/ 0 60000 65536"/>
                <a:gd name="T12" fmla="*/ 0 60000 65536"/>
                <a:gd name="T13" fmla="*/ 0 60000 65536"/>
                <a:gd name="T14" fmla="*/ 0 60000 65536"/>
                <a:gd name="T15" fmla="*/ 0 w 1141"/>
                <a:gd name="T16" fmla="*/ 0 h 831"/>
                <a:gd name="T17" fmla="*/ 1141 w 1141"/>
                <a:gd name="T18" fmla="*/ 831 h 831"/>
              </a:gdLst>
              <a:ahLst/>
              <a:cxnLst>
                <a:cxn ang="T10">
                  <a:pos x="T0" y="T1"/>
                </a:cxn>
                <a:cxn ang="T11">
                  <a:pos x="T2" y="T3"/>
                </a:cxn>
                <a:cxn ang="T12">
                  <a:pos x="T4" y="T5"/>
                </a:cxn>
                <a:cxn ang="T13">
                  <a:pos x="T6" y="T7"/>
                </a:cxn>
                <a:cxn ang="T14">
                  <a:pos x="T8" y="T9"/>
                </a:cxn>
              </a:cxnLst>
              <a:rect l="T15" t="T16" r="T17" b="T18"/>
              <a:pathLst>
                <a:path w="1141" h="831">
                  <a:moveTo>
                    <a:pt x="694" y="0"/>
                  </a:moveTo>
                  <a:lnTo>
                    <a:pt x="0" y="830"/>
                  </a:lnTo>
                  <a:lnTo>
                    <a:pt x="897" y="830"/>
                  </a:lnTo>
                  <a:lnTo>
                    <a:pt x="1140" y="531"/>
                  </a:lnTo>
                  <a:lnTo>
                    <a:pt x="694" y="0"/>
                  </a:lnTo>
                </a:path>
              </a:pathLst>
            </a:custGeom>
            <a:solidFill>
              <a:schemeClr val="tx1">
                <a:lumMod val="95000"/>
                <a:lumOff val="5000"/>
              </a:schemeClr>
            </a:solidFill>
            <a:ln w="6350" cap="rnd">
              <a:solidFill>
                <a:schemeClr val="tx1"/>
              </a:solidFill>
              <a:round/>
              <a:headEnd/>
              <a:tailEnd/>
            </a:ln>
          </p:spPr>
          <p:txBody>
            <a:bodyPr lIns="45720" rIns="45720"/>
            <a:lstStyle/>
            <a:p>
              <a:endParaRPr lang="en-US" u="sng">
                <a:latin typeface="Roboto" panose="02000000000000000000" pitchFamily="2" charset="0"/>
                <a:ea typeface="Roboto" panose="02000000000000000000" pitchFamily="2" charset="0"/>
                <a:cs typeface="Roboto" panose="02000000000000000000" pitchFamily="2" charset="0"/>
              </a:endParaRPr>
            </a:p>
          </p:txBody>
        </p:sp>
        <p:sp>
          <p:nvSpPr>
            <p:cNvPr id="23" name="Freeform 4">
              <a:extLst>
                <a:ext uri="{FF2B5EF4-FFF2-40B4-BE49-F238E27FC236}">
                  <a16:creationId xmlns:a16="http://schemas.microsoft.com/office/drawing/2014/main" id="{4C586594-E753-DD8A-F51E-E666F88FFEB0}"/>
                </a:ext>
              </a:extLst>
            </p:cNvPr>
            <p:cNvSpPr>
              <a:spLocks/>
            </p:cNvSpPr>
            <p:nvPr/>
          </p:nvSpPr>
          <p:spPr bwMode="auto">
            <a:xfrm flipH="1" flipV="1">
              <a:off x="5126038" y="3592513"/>
              <a:ext cx="2189162" cy="1870075"/>
            </a:xfrm>
            <a:custGeom>
              <a:avLst/>
              <a:gdLst>
                <a:gd name="T0" fmla="*/ 2147483646 w 1141"/>
                <a:gd name="T1" fmla="*/ 0 h 831"/>
                <a:gd name="T2" fmla="*/ 0 w 1141"/>
                <a:gd name="T3" fmla="*/ 2147483646 h 831"/>
                <a:gd name="T4" fmla="*/ 2147483646 w 1141"/>
                <a:gd name="T5" fmla="*/ 2147483646 h 831"/>
                <a:gd name="T6" fmla="*/ 2147483646 w 1141"/>
                <a:gd name="T7" fmla="*/ 2147483646 h 831"/>
                <a:gd name="T8" fmla="*/ 2147483646 w 1141"/>
                <a:gd name="T9" fmla="*/ 0 h 831"/>
                <a:gd name="T10" fmla="*/ 0 60000 65536"/>
                <a:gd name="T11" fmla="*/ 0 60000 65536"/>
                <a:gd name="T12" fmla="*/ 0 60000 65536"/>
                <a:gd name="T13" fmla="*/ 0 60000 65536"/>
                <a:gd name="T14" fmla="*/ 0 60000 65536"/>
                <a:gd name="T15" fmla="*/ 0 w 1141"/>
                <a:gd name="T16" fmla="*/ 0 h 831"/>
                <a:gd name="T17" fmla="*/ 1141 w 1141"/>
                <a:gd name="T18" fmla="*/ 831 h 831"/>
              </a:gdLst>
              <a:ahLst/>
              <a:cxnLst>
                <a:cxn ang="T10">
                  <a:pos x="T0" y="T1"/>
                </a:cxn>
                <a:cxn ang="T11">
                  <a:pos x="T2" y="T3"/>
                </a:cxn>
                <a:cxn ang="T12">
                  <a:pos x="T4" y="T5"/>
                </a:cxn>
                <a:cxn ang="T13">
                  <a:pos x="T6" y="T7"/>
                </a:cxn>
                <a:cxn ang="T14">
                  <a:pos x="T8" y="T9"/>
                </a:cxn>
              </a:cxnLst>
              <a:rect l="T15" t="T16" r="T17" b="T18"/>
              <a:pathLst>
                <a:path w="1141" h="831">
                  <a:moveTo>
                    <a:pt x="694" y="0"/>
                  </a:moveTo>
                  <a:lnTo>
                    <a:pt x="0" y="830"/>
                  </a:lnTo>
                  <a:lnTo>
                    <a:pt x="897" y="830"/>
                  </a:lnTo>
                  <a:lnTo>
                    <a:pt x="1140" y="531"/>
                  </a:lnTo>
                  <a:lnTo>
                    <a:pt x="694" y="0"/>
                  </a:lnTo>
                </a:path>
              </a:pathLst>
            </a:custGeom>
            <a:solidFill>
              <a:srgbClr val="FFB627"/>
            </a:solidFill>
            <a:ln w="6350" cap="rnd">
              <a:solidFill>
                <a:schemeClr val="tx1"/>
              </a:solidFill>
              <a:round/>
              <a:headEnd/>
              <a:tailEnd/>
            </a:ln>
          </p:spPr>
          <p:txBody>
            <a:bodyPr rot="10800000" lIns="45720" rIns="45720"/>
            <a:lstStyle/>
            <a:p>
              <a:endParaRPr lang="en-US" u="sng" dirty="0">
                <a:latin typeface="Roboto" panose="02000000000000000000" pitchFamily="2" charset="0"/>
                <a:ea typeface="Roboto" panose="02000000000000000000" pitchFamily="2" charset="0"/>
                <a:cs typeface="Roboto" panose="02000000000000000000" pitchFamily="2" charset="0"/>
              </a:endParaRPr>
            </a:p>
          </p:txBody>
        </p:sp>
        <p:sp>
          <p:nvSpPr>
            <p:cNvPr id="24" name="Freeform 5">
              <a:extLst>
                <a:ext uri="{FF2B5EF4-FFF2-40B4-BE49-F238E27FC236}">
                  <a16:creationId xmlns:a16="http://schemas.microsoft.com/office/drawing/2014/main" id="{ABA595FA-016D-274F-1929-DC433C10B4CD}"/>
                </a:ext>
              </a:extLst>
            </p:cNvPr>
            <p:cNvSpPr>
              <a:spLocks/>
            </p:cNvSpPr>
            <p:nvPr/>
          </p:nvSpPr>
          <p:spPr bwMode="auto">
            <a:xfrm flipV="1">
              <a:off x="1758950" y="3592513"/>
              <a:ext cx="2189163" cy="1870075"/>
            </a:xfrm>
            <a:custGeom>
              <a:avLst/>
              <a:gdLst>
                <a:gd name="T0" fmla="*/ 2147483646 w 1141"/>
                <a:gd name="T1" fmla="*/ 0 h 831"/>
                <a:gd name="T2" fmla="*/ 0 w 1141"/>
                <a:gd name="T3" fmla="*/ 2147483646 h 831"/>
                <a:gd name="T4" fmla="*/ 2147483646 w 1141"/>
                <a:gd name="T5" fmla="*/ 2147483646 h 831"/>
                <a:gd name="T6" fmla="*/ 2147483646 w 1141"/>
                <a:gd name="T7" fmla="*/ 2147483646 h 831"/>
                <a:gd name="T8" fmla="*/ 2147483646 w 1141"/>
                <a:gd name="T9" fmla="*/ 0 h 831"/>
                <a:gd name="T10" fmla="*/ 0 60000 65536"/>
                <a:gd name="T11" fmla="*/ 0 60000 65536"/>
                <a:gd name="T12" fmla="*/ 0 60000 65536"/>
                <a:gd name="T13" fmla="*/ 0 60000 65536"/>
                <a:gd name="T14" fmla="*/ 0 60000 65536"/>
                <a:gd name="T15" fmla="*/ 0 w 1141"/>
                <a:gd name="T16" fmla="*/ 0 h 831"/>
                <a:gd name="T17" fmla="*/ 1141 w 1141"/>
                <a:gd name="T18" fmla="*/ 831 h 831"/>
              </a:gdLst>
              <a:ahLst/>
              <a:cxnLst>
                <a:cxn ang="T10">
                  <a:pos x="T0" y="T1"/>
                </a:cxn>
                <a:cxn ang="T11">
                  <a:pos x="T2" y="T3"/>
                </a:cxn>
                <a:cxn ang="T12">
                  <a:pos x="T4" y="T5"/>
                </a:cxn>
                <a:cxn ang="T13">
                  <a:pos x="T6" y="T7"/>
                </a:cxn>
                <a:cxn ang="T14">
                  <a:pos x="T8" y="T9"/>
                </a:cxn>
              </a:cxnLst>
              <a:rect l="T15" t="T16" r="T17" b="T18"/>
              <a:pathLst>
                <a:path w="1141" h="831">
                  <a:moveTo>
                    <a:pt x="694" y="0"/>
                  </a:moveTo>
                  <a:lnTo>
                    <a:pt x="0" y="830"/>
                  </a:lnTo>
                  <a:lnTo>
                    <a:pt x="897" y="830"/>
                  </a:lnTo>
                  <a:lnTo>
                    <a:pt x="1140" y="531"/>
                  </a:lnTo>
                  <a:lnTo>
                    <a:pt x="694" y="0"/>
                  </a:lnTo>
                </a:path>
              </a:pathLst>
            </a:custGeom>
            <a:solidFill>
              <a:schemeClr val="tx1">
                <a:lumMod val="95000"/>
                <a:lumOff val="5000"/>
              </a:schemeClr>
            </a:solidFill>
            <a:ln w="6350" cap="rnd">
              <a:solidFill>
                <a:schemeClr val="tx1"/>
              </a:solidFill>
              <a:round/>
              <a:headEnd/>
              <a:tailEnd/>
            </a:ln>
          </p:spPr>
          <p:txBody>
            <a:bodyPr rot="10800000" lIns="45720" rIns="45720"/>
            <a:lstStyle/>
            <a:p>
              <a:endParaRPr lang="en-US" u="sng" dirty="0">
                <a:latin typeface="Roboto" panose="02000000000000000000" pitchFamily="2" charset="0"/>
                <a:ea typeface="Roboto" panose="02000000000000000000" pitchFamily="2" charset="0"/>
                <a:cs typeface="Roboto" panose="02000000000000000000" pitchFamily="2" charset="0"/>
              </a:endParaRPr>
            </a:p>
          </p:txBody>
        </p:sp>
        <p:sp>
          <p:nvSpPr>
            <p:cNvPr id="25" name="AutoShape 6">
              <a:extLst>
                <a:ext uri="{FF2B5EF4-FFF2-40B4-BE49-F238E27FC236}">
                  <a16:creationId xmlns:a16="http://schemas.microsoft.com/office/drawing/2014/main" id="{7D41B387-5368-88AC-3856-8E0C5E7C641B}"/>
                </a:ext>
              </a:extLst>
            </p:cNvPr>
            <p:cNvSpPr>
              <a:spLocks noChangeArrowheads="1"/>
            </p:cNvSpPr>
            <p:nvPr/>
          </p:nvSpPr>
          <p:spPr bwMode="auto">
            <a:xfrm>
              <a:off x="3575050" y="2784611"/>
              <a:ext cx="1916113" cy="1360488"/>
            </a:xfrm>
            <a:prstGeom prst="hexagon">
              <a:avLst>
                <a:gd name="adj" fmla="val 33776"/>
                <a:gd name="vf" fmla="val 115470"/>
              </a:avLst>
            </a:prstGeom>
            <a:solidFill>
              <a:srgbClr val="EE3228"/>
            </a:solidFill>
            <a:ln w="6350">
              <a:solidFill>
                <a:schemeClr val="tx1"/>
              </a:solidFill>
              <a:miter lim="800000"/>
              <a:headEnd/>
              <a:tailEnd/>
            </a:ln>
          </p:spPr>
          <p:txBody>
            <a:bodyPr wrap="none" lIns="36000" tIns="36000" rIns="36000" bIns="36000"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b="1" u="sng" dirty="0">
                  <a:solidFill>
                    <a:schemeClr val="bg1"/>
                  </a:solidFill>
                  <a:latin typeface="Roboto"/>
                  <a:ea typeface="Roboto"/>
                  <a:cs typeface="Roboto"/>
                </a:rPr>
                <a:t>Lean</a:t>
              </a:r>
              <a:br>
                <a:rPr lang="en-US" altLang="en-US" sz="2000" b="1" u="sng"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2000" b="1" u="sng" dirty="0">
                  <a:solidFill>
                    <a:schemeClr val="bg1"/>
                  </a:solidFill>
                  <a:latin typeface="Roboto"/>
                  <a:ea typeface="Roboto"/>
                  <a:cs typeface="Roboto"/>
                </a:rPr>
                <a:t>Transformation</a:t>
              </a:r>
            </a:p>
            <a:p>
              <a:pPr algn="ctr">
                <a:lnSpc>
                  <a:spcPct val="100000"/>
                </a:lnSpc>
                <a:spcBef>
                  <a:spcPct val="0"/>
                </a:spcBef>
                <a:spcAft>
                  <a:spcPct val="0"/>
                </a:spcAft>
                <a:buClrTx/>
                <a:buSzTx/>
                <a:buFontTx/>
                <a:buNone/>
              </a:pPr>
              <a:endParaRPr lang="en-US" altLang="en-US" sz="2000" b="1" u="sng" dirty="0">
                <a:latin typeface="Roboto" panose="02000000000000000000" pitchFamily="2" charset="0"/>
                <a:ea typeface="Roboto" panose="02000000000000000000" pitchFamily="2" charset="0"/>
                <a:cs typeface="Roboto" panose="02000000000000000000" pitchFamily="2" charset="0"/>
              </a:endParaRPr>
            </a:p>
          </p:txBody>
        </p:sp>
        <p:sp>
          <p:nvSpPr>
            <p:cNvPr id="26" name="Freeform 7">
              <a:extLst>
                <a:ext uri="{FF2B5EF4-FFF2-40B4-BE49-F238E27FC236}">
                  <a16:creationId xmlns:a16="http://schemas.microsoft.com/office/drawing/2014/main" id="{BD9533F5-D5AE-C0C5-FECB-9892F298D856}"/>
                </a:ext>
              </a:extLst>
            </p:cNvPr>
            <p:cNvSpPr>
              <a:spLocks/>
            </p:cNvSpPr>
            <p:nvPr/>
          </p:nvSpPr>
          <p:spPr bwMode="auto">
            <a:xfrm>
              <a:off x="3171825" y="1528763"/>
              <a:ext cx="2698750" cy="1196975"/>
            </a:xfrm>
            <a:custGeom>
              <a:avLst/>
              <a:gdLst>
                <a:gd name="T0" fmla="*/ 0 w 1406"/>
                <a:gd name="T1" fmla="*/ 0 h 532"/>
                <a:gd name="T2" fmla="*/ 2147483646 w 1406"/>
                <a:gd name="T3" fmla="*/ 2147483646 h 532"/>
                <a:gd name="T4" fmla="*/ 2147483646 w 1406"/>
                <a:gd name="T5" fmla="*/ 2147483646 h 532"/>
                <a:gd name="T6" fmla="*/ 2147483646 w 1406"/>
                <a:gd name="T7" fmla="*/ 0 h 532"/>
                <a:gd name="T8" fmla="*/ 0 w 1406"/>
                <a:gd name="T9" fmla="*/ 0 h 532"/>
                <a:gd name="T10" fmla="*/ 0 60000 65536"/>
                <a:gd name="T11" fmla="*/ 0 60000 65536"/>
                <a:gd name="T12" fmla="*/ 0 60000 65536"/>
                <a:gd name="T13" fmla="*/ 0 60000 65536"/>
                <a:gd name="T14" fmla="*/ 0 60000 65536"/>
                <a:gd name="T15" fmla="*/ 0 w 1406"/>
                <a:gd name="T16" fmla="*/ 0 h 532"/>
                <a:gd name="T17" fmla="*/ 1406 w 1406"/>
                <a:gd name="T18" fmla="*/ 532 h 532"/>
              </a:gdLst>
              <a:ahLst/>
              <a:cxnLst>
                <a:cxn ang="T10">
                  <a:pos x="T0" y="T1"/>
                </a:cxn>
                <a:cxn ang="T11">
                  <a:pos x="T2" y="T3"/>
                </a:cxn>
                <a:cxn ang="T12">
                  <a:pos x="T4" y="T5"/>
                </a:cxn>
                <a:cxn ang="T13">
                  <a:pos x="T6" y="T7"/>
                </a:cxn>
                <a:cxn ang="T14">
                  <a:pos x="T8" y="T9"/>
                </a:cxn>
              </a:cxnLst>
              <a:rect l="T15" t="T16" r="T17" b="T18"/>
              <a:pathLst>
                <a:path w="1406" h="532">
                  <a:moveTo>
                    <a:pt x="0" y="0"/>
                  </a:moveTo>
                  <a:lnTo>
                    <a:pt x="441" y="531"/>
                  </a:lnTo>
                  <a:lnTo>
                    <a:pt x="958" y="531"/>
                  </a:lnTo>
                  <a:lnTo>
                    <a:pt x="1405" y="0"/>
                  </a:lnTo>
                  <a:lnTo>
                    <a:pt x="0" y="0"/>
                  </a:lnTo>
                </a:path>
              </a:pathLst>
            </a:custGeom>
            <a:solidFill>
              <a:schemeClr val="bg1">
                <a:lumMod val="50000"/>
              </a:schemeClr>
            </a:solidFill>
            <a:ln w="6350" cap="rnd">
              <a:solidFill>
                <a:schemeClr val="tx1"/>
              </a:solidFill>
              <a:round/>
              <a:headEnd/>
              <a:tailEnd/>
            </a:ln>
          </p:spPr>
          <p:txBody>
            <a:bodyPr lIns="45720" rIns="45720"/>
            <a:lstStyle/>
            <a:p>
              <a:endParaRPr lang="en-US" u="sng">
                <a:latin typeface="Roboto" panose="02000000000000000000" pitchFamily="2" charset="0"/>
                <a:ea typeface="Roboto" panose="02000000000000000000" pitchFamily="2" charset="0"/>
                <a:cs typeface="Roboto" panose="02000000000000000000" pitchFamily="2" charset="0"/>
              </a:endParaRPr>
            </a:p>
          </p:txBody>
        </p:sp>
        <p:sp>
          <p:nvSpPr>
            <p:cNvPr id="27" name="Freeform 8">
              <a:extLst>
                <a:ext uri="{FF2B5EF4-FFF2-40B4-BE49-F238E27FC236}">
                  <a16:creationId xmlns:a16="http://schemas.microsoft.com/office/drawing/2014/main" id="{50A6D172-D05F-ED8F-584C-CC816F642CE2}"/>
                </a:ext>
              </a:extLst>
            </p:cNvPr>
            <p:cNvSpPr>
              <a:spLocks/>
            </p:cNvSpPr>
            <p:nvPr/>
          </p:nvSpPr>
          <p:spPr bwMode="auto">
            <a:xfrm>
              <a:off x="3171825" y="4319588"/>
              <a:ext cx="2698750" cy="1196975"/>
            </a:xfrm>
            <a:custGeom>
              <a:avLst/>
              <a:gdLst>
                <a:gd name="T0" fmla="*/ 0 w 1406"/>
                <a:gd name="T1" fmla="*/ 2147483646 h 532"/>
                <a:gd name="T2" fmla="*/ 2147483646 w 1406"/>
                <a:gd name="T3" fmla="*/ 0 h 532"/>
                <a:gd name="T4" fmla="*/ 2147483646 w 1406"/>
                <a:gd name="T5" fmla="*/ 0 h 532"/>
                <a:gd name="T6" fmla="*/ 2147483646 w 1406"/>
                <a:gd name="T7" fmla="*/ 2147483646 h 532"/>
                <a:gd name="T8" fmla="*/ 0 w 1406"/>
                <a:gd name="T9" fmla="*/ 2147483646 h 532"/>
                <a:gd name="T10" fmla="*/ 0 60000 65536"/>
                <a:gd name="T11" fmla="*/ 0 60000 65536"/>
                <a:gd name="T12" fmla="*/ 0 60000 65536"/>
                <a:gd name="T13" fmla="*/ 0 60000 65536"/>
                <a:gd name="T14" fmla="*/ 0 60000 65536"/>
                <a:gd name="T15" fmla="*/ 0 w 1406"/>
                <a:gd name="T16" fmla="*/ 0 h 532"/>
                <a:gd name="T17" fmla="*/ 1406 w 1406"/>
                <a:gd name="T18" fmla="*/ 532 h 532"/>
              </a:gdLst>
              <a:ahLst/>
              <a:cxnLst>
                <a:cxn ang="T10">
                  <a:pos x="T0" y="T1"/>
                </a:cxn>
                <a:cxn ang="T11">
                  <a:pos x="T2" y="T3"/>
                </a:cxn>
                <a:cxn ang="T12">
                  <a:pos x="T4" y="T5"/>
                </a:cxn>
                <a:cxn ang="T13">
                  <a:pos x="T6" y="T7"/>
                </a:cxn>
                <a:cxn ang="T14">
                  <a:pos x="T8" y="T9"/>
                </a:cxn>
              </a:cxnLst>
              <a:rect l="T15" t="T16" r="T17" b="T18"/>
              <a:pathLst>
                <a:path w="1406" h="532">
                  <a:moveTo>
                    <a:pt x="0" y="531"/>
                  </a:moveTo>
                  <a:lnTo>
                    <a:pt x="441" y="0"/>
                  </a:lnTo>
                  <a:lnTo>
                    <a:pt x="958" y="0"/>
                  </a:lnTo>
                  <a:lnTo>
                    <a:pt x="1405" y="531"/>
                  </a:lnTo>
                  <a:lnTo>
                    <a:pt x="0" y="531"/>
                  </a:lnTo>
                </a:path>
              </a:pathLst>
            </a:custGeom>
            <a:solidFill>
              <a:schemeClr val="bg1">
                <a:lumMod val="50000"/>
              </a:schemeClr>
            </a:solidFill>
            <a:ln w="6350" cap="rnd">
              <a:solidFill>
                <a:schemeClr val="tx1"/>
              </a:solidFill>
              <a:round/>
              <a:headEnd/>
              <a:tailEnd/>
            </a:ln>
          </p:spPr>
          <p:txBody>
            <a:bodyPr lIns="45720" rIns="45720"/>
            <a:lstStyle/>
            <a:p>
              <a:endParaRPr lang="en-US" u="sng">
                <a:latin typeface="Roboto" panose="02000000000000000000" pitchFamily="2" charset="0"/>
                <a:ea typeface="Roboto" panose="02000000000000000000" pitchFamily="2" charset="0"/>
                <a:cs typeface="Roboto" panose="02000000000000000000" pitchFamily="2" charset="0"/>
              </a:endParaRPr>
            </a:p>
          </p:txBody>
        </p:sp>
        <p:sp>
          <p:nvSpPr>
            <p:cNvPr id="28" name="Freeform 9">
              <a:extLst>
                <a:ext uri="{FF2B5EF4-FFF2-40B4-BE49-F238E27FC236}">
                  <a16:creationId xmlns:a16="http://schemas.microsoft.com/office/drawing/2014/main" id="{FFF19852-571D-21D2-5133-57A9F66E9552}"/>
                </a:ext>
              </a:extLst>
            </p:cNvPr>
            <p:cNvSpPr>
              <a:spLocks/>
            </p:cNvSpPr>
            <p:nvPr/>
          </p:nvSpPr>
          <p:spPr bwMode="auto">
            <a:xfrm>
              <a:off x="1758950" y="1579563"/>
              <a:ext cx="2189163" cy="1871662"/>
            </a:xfrm>
            <a:custGeom>
              <a:avLst/>
              <a:gdLst>
                <a:gd name="T0" fmla="*/ 2147483646 w 1141"/>
                <a:gd name="T1" fmla="*/ 0 h 831"/>
                <a:gd name="T2" fmla="*/ 0 w 1141"/>
                <a:gd name="T3" fmla="*/ 2147483646 h 831"/>
                <a:gd name="T4" fmla="*/ 2147483646 w 1141"/>
                <a:gd name="T5" fmla="*/ 2147483646 h 831"/>
                <a:gd name="T6" fmla="*/ 2147483646 w 1141"/>
                <a:gd name="T7" fmla="*/ 2147483646 h 831"/>
                <a:gd name="T8" fmla="*/ 2147483646 w 1141"/>
                <a:gd name="T9" fmla="*/ 0 h 831"/>
                <a:gd name="T10" fmla="*/ 0 60000 65536"/>
                <a:gd name="T11" fmla="*/ 0 60000 65536"/>
                <a:gd name="T12" fmla="*/ 0 60000 65536"/>
                <a:gd name="T13" fmla="*/ 0 60000 65536"/>
                <a:gd name="T14" fmla="*/ 0 60000 65536"/>
                <a:gd name="T15" fmla="*/ 0 w 1141"/>
                <a:gd name="T16" fmla="*/ 0 h 831"/>
                <a:gd name="T17" fmla="*/ 1141 w 1141"/>
                <a:gd name="T18" fmla="*/ 831 h 831"/>
              </a:gdLst>
              <a:ahLst/>
              <a:cxnLst>
                <a:cxn ang="T10">
                  <a:pos x="T0" y="T1"/>
                </a:cxn>
                <a:cxn ang="T11">
                  <a:pos x="T2" y="T3"/>
                </a:cxn>
                <a:cxn ang="T12">
                  <a:pos x="T4" y="T5"/>
                </a:cxn>
                <a:cxn ang="T13">
                  <a:pos x="T6" y="T7"/>
                </a:cxn>
                <a:cxn ang="T14">
                  <a:pos x="T8" y="T9"/>
                </a:cxn>
              </a:cxnLst>
              <a:rect l="T15" t="T16" r="T17" b="T18"/>
              <a:pathLst>
                <a:path w="1141" h="831">
                  <a:moveTo>
                    <a:pt x="694" y="0"/>
                  </a:moveTo>
                  <a:lnTo>
                    <a:pt x="0" y="830"/>
                  </a:lnTo>
                  <a:lnTo>
                    <a:pt x="897" y="830"/>
                  </a:lnTo>
                  <a:lnTo>
                    <a:pt x="1140" y="531"/>
                  </a:lnTo>
                  <a:lnTo>
                    <a:pt x="694" y="0"/>
                  </a:lnTo>
                </a:path>
              </a:pathLst>
            </a:custGeom>
            <a:solidFill>
              <a:srgbClr val="FFB627"/>
            </a:solidFill>
            <a:ln w="6350" cap="rnd">
              <a:solidFill>
                <a:schemeClr val="tx1"/>
              </a:solidFill>
              <a:round/>
              <a:headEnd/>
              <a:tailEnd/>
            </a:ln>
          </p:spPr>
          <p:txBody>
            <a:bodyPr lIns="45720" rIns="45720"/>
            <a:lstStyle/>
            <a:p>
              <a:endParaRPr lang="en-US" u="sng" dirty="0">
                <a:latin typeface="Roboto" panose="02000000000000000000" pitchFamily="2" charset="0"/>
                <a:ea typeface="Roboto" panose="02000000000000000000" pitchFamily="2" charset="0"/>
                <a:cs typeface="Roboto" panose="02000000000000000000" pitchFamily="2" charset="0"/>
              </a:endParaRPr>
            </a:p>
          </p:txBody>
        </p:sp>
        <p:sp>
          <p:nvSpPr>
            <p:cNvPr id="29" name="Rectangle 10">
              <a:extLst>
                <a:ext uri="{FF2B5EF4-FFF2-40B4-BE49-F238E27FC236}">
                  <a16:creationId xmlns:a16="http://schemas.microsoft.com/office/drawing/2014/main" id="{CE80E1B0-9AAC-3DC1-DCE2-19231216528D}"/>
                </a:ext>
              </a:extLst>
            </p:cNvPr>
            <p:cNvSpPr>
              <a:spLocks noChangeArrowheads="1"/>
            </p:cNvSpPr>
            <p:nvPr/>
          </p:nvSpPr>
          <p:spPr bwMode="auto">
            <a:xfrm>
              <a:off x="4239419" y="1924050"/>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rIns="45720"/>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solidFill>
                    <a:schemeClr val="bg1"/>
                  </a:solidFill>
                  <a:latin typeface="Roboto" panose="02000000000000000000" pitchFamily="2" charset="0"/>
                  <a:ea typeface="Roboto" panose="02000000000000000000" pitchFamily="2" charset="0"/>
                  <a:cs typeface="Roboto" panose="02000000000000000000" pitchFamily="2" charset="0"/>
                </a:rPr>
                <a:t>Administration</a:t>
              </a:r>
              <a:endParaRPr lang="en-GB" altLang="en-US" sz="20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Rectangle 11">
              <a:extLst>
                <a:ext uri="{FF2B5EF4-FFF2-40B4-BE49-F238E27FC236}">
                  <a16:creationId xmlns:a16="http://schemas.microsoft.com/office/drawing/2014/main" id="{688D5A30-29C3-901A-2B34-11D58C0DFDF9}"/>
                </a:ext>
              </a:extLst>
            </p:cNvPr>
            <p:cNvSpPr>
              <a:spLocks noChangeArrowheads="1"/>
            </p:cNvSpPr>
            <p:nvPr/>
          </p:nvSpPr>
          <p:spPr bwMode="auto">
            <a:xfrm>
              <a:off x="5705475" y="2381250"/>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solidFill>
                    <a:schemeClr val="bg1"/>
                  </a:solidFill>
                  <a:latin typeface="Roboto"/>
                  <a:ea typeface="Roboto"/>
                  <a:cs typeface="Roboto"/>
                </a:rPr>
                <a:t>Strategic</a:t>
              </a:r>
              <a:br>
                <a:rPr lang="en-GB" altLang="en-US" sz="2000" dirty="0">
                  <a:latin typeface="Roboto" panose="02000000000000000000" pitchFamily="2" charset="0"/>
                  <a:ea typeface="Roboto" panose="02000000000000000000" pitchFamily="2" charset="0"/>
                  <a:cs typeface="Roboto" panose="02000000000000000000" pitchFamily="2" charset="0"/>
                </a:rPr>
              </a:br>
              <a:r>
                <a:rPr lang="en-GB" altLang="en-US" sz="2000" dirty="0">
                  <a:solidFill>
                    <a:schemeClr val="bg1"/>
                  </a:solidFill>
                  <a:latin typeface="Roboto"/>
                  <a:ea typeface="Roboto"/>
                  <a:cs typeface="Roboto"/>
                </a:rPr>
                <a:t>Development &amp;</a:t>
              </a:r>
            </a:p>
            <a:p>
              <a:pPr algn="ctr">
                <a:lnSpc>
                  <a:spcPct val="100000"/>
                </a:lnSpc>
                <a:spcBef>
                  <a:spcPct val="0"/>
                </a:spcBef>
                <a:spcAft>
                  <a:spcPct val="0"/>
                </a:spcAft>
                <a:buClrTx/>
                <a:buSzTx/>
                <a:buNone/>
              </a:pPr>
              <a:r>
                <a:rPr lang="en-GB" altLang="en-US" sz="2000" dirty="0">
                  <a:solidFill>
                    <a:schemeClr val="bg1"/>
                  </a:solidFill>
                  <a:latin typeface="Roboto"/>
                  <a:ea typeface="Roboto"/>
                  <a:cs typeface="Roboto"/>
                </a:rPr>
                <a:t> Deployment</a:t>
              </a:r>
            </a:p>
          </p:txBody>
        </p:sp>
        <p:sp>
          <p:nvSpPr>
            <p:cNvPr id="31" name="Rectangle 12">
              <a:extLst>
                <a:ext uri="{FF2B5EF4-FFF2-40B4-BE49-F238E27FC236}">
                  <a16:creationId xmlns:a16="http://schemas.microsoft.com/office/drawing/2014/main" id="{AF569352-EF8F-C798-1ED5-37B1257F989F}"/>
                </a:ext>
              </a:extLst>
            </p:cNvPr>
            <p:cNvSpPr>
              <a:spLocks noChangeArrowheads="1"/>
            </p:cNvSpPr>
            <p:nvPr/>
          </p:nvSpPr>
          <p:spPr bwMode="auto">
            <a:xfrm>
              <a:off x="5520514" y="4005548"/>
              <a:ext cx="1079500"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latin typeface="Roboto"/>
                  <a:ea typeface="Roboto"/>
                  <a:cs typeface="Roboto"/>
                </a:rPr>
                <a:t>Logistics</a:t>
              </a:r>
              <a:endParaRPr lang="en-GB" altLang="en-US" sz="2000" b="0" dirty="0">
                <a:latin typeface="Roboto"/>
                <a:ea typeface="Roboto"/>
                <a:cs typeface="Roboto"/>
              </a:endParaRPr>
            </a:p>
          </p:txBody>
        </p:sp>
        <p:sp>
          <p:nvSpPr>
            <p:cNvPr id="32" name="Rectangle 13">
              <a:extLst>
                <a:ext uri="{FF2B5EF4-FFF2-40B4-BE49-F238E27FC236}">
                  <a16:creationId xmlns:a16="http://schemas.microsoft.com/office/drawing/2014/main" id="{8061A62D-FF29-A3E4-1AC5-24C695C0AD2D}"/>
                </a:ext>
              </a:extLst>
            </p:cNvPr>
            <p:cNvSpPr>
              <a:spLocks noChangeArrowheads="1"/>
            </p:cNvSpPr>
            <p:nvPr/>
          </p:nvSpPr>
          <p:spPr bwMode="auto">
            <a:xfrm>
              <a:off x="4226702" y="4845572"/>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solidFill>
                    <a:schemeClr val="bg1"/>
                  </a:solidFill>
                  <a:latin typeface="Roboto"/>
                  <a:ea typeface="Roboto"/>
                  <a:cs typeface="Roboto"/>
                </a:rPr>
                <a:t>Manufacturing</a:t>
              </a:r>
              <a:endParaRPr lang="en-GB" altLang="en-US" sz="2000" b="0" dirty="0">
                <a:solidFill>
                  <a:schemeClr val="bg1"/>
                </a:solidFill>
                <a:latin typeface="Roboto"/>
                <a:ea typeface="Roboto"/>
                <a:cs typeface="Roboto"/>
              </a:endParaRPr>
            </a:p>
          </p:txBody>
        </p:sp>
        <p:sp>
          <p:nvSpPr>
            <p:cNvPr id="33" name="Rectangle 14">
              <a:extLst>
                <a:ext uri="{FF2B5EF4-FFF2-40B4-BE49-F238E27FC236}">
                  <a16:creationId xmlns:a16="http://schemas.microsoft.com/office/drawing/2014/main" id="{45365DE7-7C8B-EA43-FD07-9AA04E68E814}"/>
                </a:ext>
              </a:extLst>
            </p:cNvPr>
            <p:cNvSpPr>
              <a:spLocks noChangeArrowheads="1"/>
            </p:cNvSpPr>
            <p:nvPr/>
          </p:nvSpPr>
          <p:spPr bwMode="auto">
            <a:xfrm>
              <a:off x="2171788" y="2736109"/>
              <a:ext cx="119369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None/>
              </a:pPr>
              <a:r>
                <a:rPr lang="en-GB" altLang="en-US" sz="1400" dirty="0">
                  <a:latin typeface="Roboto"/>
                  <a:ea typeface="Roboto"/>
                  <a:cs typeface="Roboto"/>
                </a:rPr>
                <a:t>Employee Development, </a:t>
              </a:r>
              <a:endParaRPr lang="en-GB" altLang="en-US" sz="1400" dirty="0">
                <a:latin typeface="Roboto" panose="02000000000000000000" pitchFamily="2" charset="0"/>
                <a:ea typeface="Roboto" panose="02000000000000000000" pitchFamily="2" charset="0"/>
                <a:cs typeface="Roboto" panose="02000000000000000000" pitchFamily="2" charset="0"/>
              </a:endParaRPr>
            </a:p>
            <a:p>
              <a:pPr algn="l">
                <a:lnSpc>
                  <a:spcPct val="100000"/>
                </a:lnSpc>
                <a:spcBef>
                  <a:spcPct val="0"/>
                </a:spcBef>
                <a:spcAft>
                  <a:spcPct val="0"/>
                </a:spcAft>
                <a:buClrTx/>
                <a:buSzTx/>
                <a:buFontTx/>
                <a:buNone/>
              </a:pPr>
              <a:r>
                <a:rPr lang="en-GB" altLang="en-US" sz="1400" dirty="0">
                  <a:latin typeface="Roboto"/>
                  <a:ea typeface="Roboto"/>
                  <a:cs typeface="Roboto"/>
                </a:rPr>
                <a:t>Employee Involvement</a:t>
              </a:r>
            </a:p>
          </p:txBody>
        </p:sp>
        <p:sp>
          <p:nvSpPr>
            <p:cNvPr id="34" name="Rectangle 15">
              <a:extLst>
                <a:ext uri="{FF2B5EF4-FFF2-40B4-BE49-F238E27FC236}">
                  <a16:creationId xmlns:a16="http://schemas.microsoft.com/office/drawing/2014/main" id="{D8DCF742-3305-6B6E-3034-2948C198D78C}"/>
                </a:ext>
              </a:extLst>
            </p:cNvPr>
            <p:cNvSpPr>
              <a:spLocks noChangeArrowheads="1"/>
            </p:cNvSpPr>
            <p:nvPr/>
          </p:nvSpPr>
          <p:spPr bwMode="auto">
            <a:xfrm>
              <a:off x="2797986" y="4005548"/>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None/>
              </a:pPr>
              <a:r>
                <a:rPr lang="en-GB" altLang="en-US" sz="2000" dirty="0">
                  <a:solidFill>
                    <a:schemeClr val="bg1"/>
                  </a:solidFill>
                  <a:latin typeface="Roboto"/>
                  <a:ea typeface="Roboto"/>
                  <a:cs typeface="Roboto"/>
                </a:rPr>
                <a:t>Product </a:t>
              </a:r>
              <a:endParaRPr lang="en-GB" altLang="en-US" sz="2000">
                <a:solidFill>
                  <a:schemeClr val="bg1"/>
                </a:solidFill>
                <a:latin typeface="Roboto" panose="02000000000000000000" pitchFamily="2" charset="0"/>
                <a:ea typeface="Roboto" panose="02000000000000000000" pitchFamily="2" charset="0"/>
                <a:cs typeface="Roboto" panose="02000000000000000000" pitchFamily="2" charset="0"/>
              </a:endParaRPr>
            </a:p>
            <a:p>
              <a:pPr algn="ctr">
                <a:lnSpc>
                  <a:spcPct val="100000"/>
                </a:lnSpc>
                <a:spcBef>
                  <a:spcPct val="0"/>
                </a:spcBef>
                <a:spcAft>
                  <a:spcPct val="0"/>
                </a:spcAft>
                <a:buClrTx/>
                <a:buSzTx/>
                <a:buFontTx/>
                <a:buNone/>
              </a:pPr>
              <a:r>
                <a:rPr lang="en-GB" altLang="en-US" sz="2000" dirty="0">
                  <a:solidFill>
                    <a:schemeClr val="bg1"/>
                  </a:solidFill>
                  <a:latin typeface="Roboto"/>
                  <a:ea typeface="Roboto"/>
                  <a:cs typeface="Roboto"/>
                </a:rPr>
                <a:t>Development</a:t>
              </a:r>
              <a:endParaRPr lang="en-GB" altLang="en-US" sz="2000" b="0" dirty="0">
                <a:solidFill>
                  <a:schemeClr val="bg1"/>
                </a:solidFill>
                <a:latin typeface="Roboto"/>
                <a:ea typeface="Roboto"/>
                <a:cs typeface="Roboto"/>
              </a:endParaRPr>
            </a:p>
          </p:txBody>
        </p:sp>
        <p:sp>
          <p:nvSpPr>
            <p:cNvPr id="35" name="Rectangle 17">
              <a:extLst>
                <a:ext uri="{FF2B5EF4-FFF2-40B4-BE49-F238E27FC236}">
                  <a16:creationId xmlns:a16="http://schemas.microsoft.com/office/drawing/2014/main" id="{0BC5F681-7600-7071-C3BF-A978043BAF77}"/>
                </a:ext>
              </a:extLst>
            </p:cNvPr>
            <p:cNvSpPr>
              <a:spLocks noChangeArrowheads="1"/>
            </p:cNvSpPr>
            <p:nvPr/>
          </p:nvSpPr>
          <p:spPr bwMode="auto">
            <a:xfrm>
              <a:off x="2797986" y="2360242"/>
              <a:ext cx="5873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wrap="none" lIns="45720" tIns="45720" rIns="45720" bIns="45720" anchor="t"/>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l">
                <a:lnSpc>
                  <a:spcPct val="100000"/>
                </a:lnSpc>
                <a:spcBef>
                  <a:spcPct val="0"/>
                </a:spcBef>
                <a:spcAft>
                  <a:spcPct val="0"/>
                </a:spcAft>
                <a:buClrTx/>
                <a:buSzTx/>
                <a:buFontTx/>
                <a:buNone/>
              </a:pPr>
              <a:r>
                <a:rPr lang="en-GB" altLang="en-US" sz="2000" dirty="0">
                  <a:latin typeface="Roboto"/>
                  <a:ea typeface="Roboto"/>
                  <a:cs typeface="Roboto"/>
                </a:rPr>
                <a:t>Culture:</a:t>
              </a:r>
            </a:p>
          </p:txBody>
        </p:sp>
      </p:grpSp>
      <p:sp>
        <p:nvSpPr>
          <p:cNvPr id="14" name="TextBox 13">
            <a:extLst>
              <a:ext uri="{FF2B5EF4-FFF2-40B4-BE49-F238E27FC236}">
                <a16:creationId xmlns:a16="http://schemas.microsoft.com/office/drawing/2014/main" id="{FD8A3A1F-ADC2-723D-DE77-C57FE8B0496D}"/>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u="sng"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grpSp>
        <p:nvGrpSpPr>
          <p:cNvPr id="8" name="Group 7">
            <a:extLst>
              <a:ext uri="{FF2B5EF4-FFF2-40B4-BE49-F238E27FC236}">
                <a16:creationId xmlns:a16="http://schemas.microsoft.com/office/drawing/2014/main" id="{130FBBD2-3781-2081-669E-67E7B632FD95}"/>
              </a:ext>
            </a:extLst>
          </p:cNvPr>
          <p:cNvGrpSpPr/>
          <p:nvPr/>
        </p:nvGrpSpPr>
        <p:grpSpPr>
          <a:xfrm>
            <a:off x="940249" y="302538"/>
            <a:ext cx="1060167" cy="290657"/>
            <a:chOff x="940249" y="315206"/>
            <a:chExt cx="1060167" cy="265062"/>
          </a:xfrm>
        </p:grpSpPr>
        <p:sp>
          <p:nvSpPr>
            <p:cNvPr id="9" name="AutoShape 9">
              <a:extLst>
                <a:ext uri="{FF2B5EF4-FFF2-40B4-BE49-F238E27FC236}">
                  <a16:creationId xmlns:a16="http://schemas.microsoft.com/office/drawing/2014/main" id="{DAB03028-9183-AA80-1445-6AA5D2312846}"/>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3F691B9C-D8FF-106F-9996-0685530440CC}"/>
                </a:ext>
              </a:extLst>
            </p:cNvPr>
            <p:cNvGrpSpPr/>
            <p:nvPr/>
          </p:nvGrpSpPr>
          <p:grpSpPr>
            <a:xfrm>
              <a:off x="940249" y="315206"/>
              <a:ext cx="746492" cy="265062"/>
              <a:chOff x="940249" y="315206"/>
              <a:chExt cx="746492" cy="265062"/>
            </a:xfrm>
          </p:grpSpPr>
          <p:sp>
            <p:nvSpPr>
              <p:cNvPr id="11" name="AutoShape 11">
                <a:extLst>
                  <a:ext uri="{FF2B5EF4-FFF2-40B4-BE49-F238E27FC236}">
                    <a16:creationId xmlns:a16="http://schemas.microsoft.com/office/drawing/2014/main" id="{41647054-62C1-8910-3CBB-E9C39435A3E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F65F688A-D9E8-3E7D-9932-F9A739FBB6A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5912015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5B887A6-4828-48C7-9AB6-12DCEFFFAAEB}"/>
              </a:ext>
            </a:extLst>
          </p:cNvPr>
          <p:cNvSpPr>
            <a:spLocks noGrp="1"/>
          </p:cNvSpPr>
          <p:nvPr>
            <p:ph type="title"/>
          </p:nvPr>
        </p:nvSpPr>
        <p:spPr/>
        <p:txBody>
          <a:bodyPr>
            <a:normAutofit/>
          </a:bodyPr>
          <a:lstStyle/>
          <a:p>
            <a:r>
              <a:rPr lang="en-US" sz="4400" dirty="0"/>
              <a:t>In a Lean Journey, there is no end…</a:t>
            </a:r>
            <a:endParaRPr lang="en-US" dirty="0"/>
          </a:p>
        </p:txBody>
      </p:sp>
      <p:sp>
        <p:nvSpPr>
          <p:cNvPr id="8" name="Content Placeholder 7">
            <a:extLst>
              <a:ext uri="{FF2B5EF4-FFF2-40B4-BE49-F238E27FC236}">
                <a16:creationId xmlns:a16="http://schemas.microsoft.com/office/drawing/2014/main" id="{BB1B0668-932B-0010-97B2-05D7414CD51C}"/>
              </a:ext>
            </a:extLst>
          </p:cNvPr>
          <p:cNvSpPr>
            <a:spLocks noGrp="1"/>
          </p:cNvSpPr>
          <p:nvPr>
            <p:ph idx="1"/>
          </p:nvPr>
        </p:nvSpPr>
        <p:spPr/>
        <p:txBody>
          <a:bodyPr/>
          <a:lstStyle/>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Lean in its most basic form simply helps us “Identify Waste.”  </a:t>
            </a:r>
          </a:p>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Waste exists in multiple levels in all aspects of our business </a:t>
            </a:r>
          </a:p>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Realities and changes in the competitive landscape influence the “Business Imperatives” at any given time</a:t>
            </a:r>
          </a:p>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What may begin as a Capacity opportunity may quickly shift to New Product Introduction (velocity) or Cash flow for the business</a:t>
            </a:r>
          </a:p>
          <a:p>
            <a:pPr marL="285750" indent="-285750">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Different product families and different distribution channels will present varying ‘opportunities’ </a:t>
            </a:r>
          </a:p>
        </p:txBody>
      </p:sp>
      <p:sp>
        <p:nvSpPr>
          <p:cNvPr id="4" name="Slide Number Placeholder 3">
            <a:extLst>
              <a:ext uri="{FF2B5EF4-FFF2-40B4-BE49-F238E27FC236}">
                <a16:creationId xmlns:a16="http://schemas.microsoft.com/office/drawing/2014/main" id="{5EFB12A2-0529-C4BD-D579-D17FDA7ED218}"/>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53</a:t>
            </a:fld>
            <a:endParaRPr lang="en-US"/>
          </a:p>
        </p:txBody>
      </p:sp>
      <p:sp>
        <p:nvSpPr>
          <p:cNvPr id="10" name="Title 1">
            <a:extLst>
              <a:ext uri="{FF2B5EF4-FFF2-40B4-BE49-F238E27FC236}">
                <a16:creationId xmlns:a16="http://schemas.microsoft.com/office/drawing/2014/main" id="{DEE220F3-A06F-8826-4592-E5176513F841}"/>
              </a:ext>
            </a:extLst>
          </p:cNvPr>
          <p:cNvSpPr txBox="1">
            <a:spLocks/>
          </p:cNvSpPr>
          <p:nvPr/>
        </p:nvSpPr>
        <p:spPr>
          <a:xfrm>
            <a:off x="616232" y="706595"/>
            <a:ext cx="10515600"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sz="4000" dirty="0">
              <a:solidFill>
                <a:srgbClr val="C00000"/>
              </a:solidFill>
            </a:endParaRPr>
          </a:p>
        </p:txBody>
      </p:sp>
      <p:sp>
        <p:nvSpPr>
          <p:cNvPr id="15" name="TextBox 14">
            <a:extLst>
              <a:ext uri="{FF2B5EF4-FFF2-40B4-BE49-F238E27FC236}">
                <a16:creationId xmlns:a16="http://schemas.microsoft.com/office/drawing/2014/main" id="{E3722E5E-C074-3143-BDDF-32F933A3AABF}"/>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Lean Transformation</a:t>
            </a:r>
          </a:p>
        </p:txBody>
      </p:sp>
      <p:grpSp>
        <p:nvGrpSpPr>
          <p:cNvPr id="11" name="Group 10">
            <a:extLst>
              <a:ext uri="{FF2B5EF4-FFF2-40B4-BE49-F238E27FC236}">
                <a16:creationId xmlns:a16="http://schemas.microsoft.com/office/drawing/2014/main" id="{01484CC2-D1E7-5E5C-4B57-FA127F97D99A}"/>
              </a:ext>
            </a:extLst>
          </p:cNvPr>
          <p:cNvGrpSpPr/>
          <p:nvPr/>
        </p:nvGrpSpPr>
        <p:grpSpPr>
          <a:xfrm>
            <a:off x="940249" y="302538"/>
            <a:ext cx="1060167" cy="290657"/>
            <a:chOff x="940249" y="315206"/>
            <a:chExt cx="1060167" cy="265062"/>
          </a:xfrm>
        </p:grpSpPr>
        <p:sp>
          <p:nvSpPr>
            <p:cNvPr id="12" name="AutoShape 9">
              <a:extLst>
                <a:ext uri="{FF2B5EF4-FFF2-40B4-BE49-F238E27FC236}">
                  <a16:creationId xmlns:a16="http://schemas.microsoft.com/office/drawing/2014/main" id="{1C218208-35C2-86FE-CC41-DA587BD21C39}"/>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3" name="Group 12">
              <a:extLst>
                <a:ext uri="{FF2B5EF4-FFF2-40B4-BE49-F238E27FC236}">
                  <a16:creationId xmlns:a16="http://schemas.microsoft.com/office/drawing/2014/main" id="{46B70478-7A0C-8A7B-022F-D0B8D0034863}"/>
                </a:ext>
              </a:extLst>
            </p:cNvPr>
            <p:cNvGrpSpPr/>
            <p:nvPr/>
          </p:nvGrpSpPr>
          <p:grpSpPr>
            <a:xfrm>
              <a:off x="940249" y="315206"/>
              <a:ext cx="746492" cy="265062"/>
              <a:chOff x="940249" y="315206"/>
              <a:chExt cx="746492" cy="265062"/>
            </a:xfrm>
          </p:grpSpPr>
          <p:sp>
            <p:nvSpPr>
              <p:cNvPr id="14" name="AutoShape 11">
                <a:extLst>
                  <a:ext uri="{FF2B5EF4-FFF2-40B4-BE49-F238E27FC236}">
                    <a16:creationId xmlns:a16="http://schemas.microsoft.com/office/drawing/2014/main" id="{1CA185C6-1955-A711-6438-49BE85B920F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0">
                <a:extLst>
                  <a:ext uri="{FF2B5EF4-FFF2-40B4-BE49-F238E27FC236}">
                    <a16:creationId xmlns:a16="http://schemas.microsoft.com/office/drawing/2014/main" id="{8F7D1EC5-0C83-EAC7-52B0-FB96D6B9003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4490460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5B86E-3AA8-91AB-AD7A-E1937F344E62}"/>
              </a:ext>
            </a:extLst>
          </p:cNvPr>
          <p:cNvSpPr>
            <a:spLocks noGrp="1"/>
          </p:cNvSpPr>
          <p:nvPr>
            <p:ph type="title"/>
          </p:nvPr>
        </p:nvSpPr>
        <p:spPr/>
        <p:txBody>
          <a:bodyPr>
            <a:normAutofit/>
          </a:bodyPr>
          <a:lstStyle/>
          <a:p>
            <a:r>
              <a:rPr lang="en-US" sz="4000" dirty="0">
                <a:latin typeface="Roboto Medium"/>
                <a:ea typeface="Roboto Medium"/>
                <a:cs typeface="Roboto Medium"/>
              </a:rPr>
              <a:t>End of Day – 2-Minute Review</a:t>
            </a:r>
          </a:p>
        </p:txBody>
      </p:sp>
      <p:pic>
        <p:nvPicPr>
          <p:cNvPr id="9" name="Content Placeholder 8" descr="A clock on a wall">
            <a:extLst>
              <a:ext uri="{FF2B5EF4-FFF2-40B4-BE49-F238E27FC236}">
                <a16:creationId xmlns:a16="http://schemas.microsoft.com/office/drawing/2014/main" id="{2DA9C104-A714-084B-CA8C-99DEDBB9771D}"/>
              </a:ext>
            </a:extLst>
          </p:cNvPr>
          <p:cNvPicPr>
            <a:picLocks noGrp="1" noChangeAspect="1"/>
          </p:cNvPicPr>
          <p:nvPr>
            <p:ph sz="half" idx="1"/>
          </p:nvPr>
        </p:nvPicPr>
        <p:blipFill>
          <a:blip r:embed="rId3"/>
          <a:stretch>
            <a:fillRect/>
          </a:stretch>
        </p:blipFill>
        <p:spPr>
          <a:xfrm>
            <a:off x="947940" y="1982962"/>
            <a:ext cx="2568046" cy="3852069"/>
          </a:xfrm>
        </p:spPr>
      </p:pic>
      <p:sp>
        <p:nvSpPr>
          <p:cNvPr id="4" name="Content Placeholder 3">
            <a:extLst>
              <a:ext uri="{FF2B5EF4-FFF2-40B4-BE49-F238E27FC236}">
                <a16:creationId xmlns:a16="http://schemas.microsoft.com/office/drawing/2014/main" id="{9A5C3C62-26C5-FC04-89D5-57228367FD1F}"/>
              </a:ext>
            </a:extLst>
          </p:cNvPr>
          <p:cNvSpPr>
            <a:spLocks noGrp="1"/>
          </p:cNvSpPr>
          <p:nvPr>
            <p:ph sz="half" idx="2"/>
          </p:nvPr>
        </p:nvSpPr>
        <p:spPr>
          <a:xfrm>
            <a:off x="3798518" y="1978523"/>
            <a:ext cx="5181600" cy="3626864"/>
          </a:xfrm>
        </p:spPr>
        <p:txBody>
          <a:bodyPr/>
          <a:lstStyle/>
          <a:p>
            <a:r>
              <a:rPr lang="en-US" dirty="0"/>
              <a:t>Turn to the person next to you and spend 2 minutes sharing your top learnings from today’s session.</a:t>
            </a:r>
          </a:p>
          <a:p>
            <a:r>
              <a:rPr lang="en-US" dirty="0"/>
              <a:t>When the time is complete, each pair must share one item that was discussed with the rest of the class</a:t>
            </a:r>
          </a:p>
        </p:txBody>
      </p:sp>
      <p:sp>
        <p:nvSpPr>
          <p:cNvPr id="7" name="Slide Number Placeholder 6">
            <a:extLst>
              <a:ext uri="{FF2B5EF4-FFF2-40B4-BE49-F238E27FC236}">
                <a16:creationId xmlns:a16="http://schemas.microsoft.com/office/drawing/2014/main" id="{FCFF9CB3-95A8-7E48-C302-CFB9C38E96E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54</a:t>
            </a:fld>
            <a:endParaRPr lang="en-US"/>
          </a:p>
        </p:txBody>
      </p:sp>
    </p:spTree>
    <p:extLst>
      <p:ext uri="{BB962C8B-B14F-4D97-AF65-F5344CB8AC3E}">
        <p14:creationId xmlns:p14="http://schemas.microsoft.com/office/powerpoint/2010/main" val="9353803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5B86E-3AA8-91AB-AD7A-E1937F344E62}"/>
              </a:ext>
            </a:extLst>
          </p:cNvPr>
          <p:cNvSpPr>
            <a:spLocks noGrp="1"/>
          </p:cNvSpPr>
          <p:nvPr>
            <p:ph type="title"/>
          </p:nvPr>
        </p:nvSpPr>
        <p:spPr/>
        <p:txBody>
          <a:bodyPr>
            <a:normAutofit/>
          </a:bodyPr>
          <a:lstStyle/>
          <a:p>
            <a:r>
              <a:rPr lang="en-US" sz="4000" dirty="0">
                <a:latin typeface="Roboto Medium"/>
                <a:ea typeface="Roboto Medium"/>
                <a:cs typeface="Roboto Medium"/>
              </a:rPr>
              <a:t>Other Modules In This Series</a:t>
            </a:r>
            <a:endParaRPr lang="en-US" dirty="0"/>
          </a:p>
        </p:txBody>
      </p:sp>
      <p:sp>
        <p:nvSpPr>
          <p:cNvPr id="7" name="Slide Number Placeholder 6">
            <a:extLst>
              <a:ext uri="{FF2B5EF4-FFF2-40B4-BE49-F238E27FC236}">
                <a16:creationId xmlns:a16="http://schemas.microsoft.com/office/drawing/2014/main" id="{FCFF9CB3-95A8-7E48-C302-CFB9C38E96E5}"/>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55</a:t>
            </a:fld>
            <a:endParaRPr lang="en-US"/>
          </a:p>
        </p:txBody>
      </p:sp>
      <p:sp>
        <p:nvSpPr>
          <p:cNvPr id="12" name="Steve Jones">
            <a:extLst>
              <a:ext uri="{FF2B5EF4-FFF2-40B4-BE49-F238E27FC236}">
                <a16:creationId xmlns:a16="http://schemas.microsoft.com/office/drawing/2014/main" id="{6F4E840C-4FBD-16A3-0D56-EB591AEFB251}"/>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none" lIns="0" tIns="0" rIns="0" bIns="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3" name="Head of Management Dept.">
            <a:extLst>
              <a:ext uri="{FF2B5EF4-FFF2-40B4-BE49-F238E27FC236}">
                <a16:creationId xmlns:a16="http://schemas.microsoft.com/office/drawing/2014/main" id="{64EC6439-FAEE-E9C5-0135-B65CF585A16F}"/>
              </a:ext>
            </a:extLst>
          </p:cNvPr>
          <p:cNvSpPr/>
          <p:nvPr/>
        </p:nvSpPr>
        <p:spPr>
          <a:xfrm>
            <a:off x="1064663"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91440" tIns="45720" rIns="91440" bIns="4572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ts val="1000"/>
              </a:spcBef>
            </a:pPr>
            <a:r>
              <a:rPr lang="en-US" sz="1400" b="1" dirty="0">
                <a:latin typeface="Roboto"/>
                <a:ea typeface="Roboto"/>
                <a:cs typeface="Roboto"/>
              </a:rPr>
              <a:t>Mark DeLuzio, President and CEO</a:t>
            </a:r>
            <a:endParaRPr lang="en-US" b="1">
              <a:latin typeface="Roboto"/>
              <a:ea typeface="Roboto"/>
              <a:cs typeface="Roboto"/>
            </a:endParaRPr>
          </a:p>
          <a:p>
            <a:pP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14" name="Picture 13">
            <a:extLst>
              <a:ext uri="{FF2B5EF4-FFF2-40B4-BE49-F238E27FC236}">
                <a16:creationId xmlns:a16="http://schemas.microsoft.com/office/drawing/2014/main" id="{FF0F3A63-E4B2-8FF0-4BE3-A0C38BCA5D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8" name="Content Placeholder 3">
            <a:extLst>
              <a:ext uri="{FF2B5EF4-FFF2-40B4-BE49-F238E27FC236}">
                <a16:creationId xmlns:a16="http://schemas.microsoft.com/office/drawing/2014/main" id="{E7462C88-3E27-7B74-D4C0-DFD1D9CF4CD0}"/>
              </a:ext>
            </a:extLst>
          </p:cNvPr>
          <p:cNvSpPr txBox="1">
            <a:spLocks/>
          </p:cNvSpPr>
          <p:nvPr/>
        </p:nvSpPr>
        <p:spPr>
          <a:xfrm>
            <a:off x="5724436"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a:solidFill>
                  <a:schemeClr val="tx1"/>
                </a:solidFill>
              </a:rPr>
              <a:t>Poka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sp>
        <p:nvSpPr>
          <p:cNvPr id="4" name="TextBox 3">
            <a:extLst>
              <a:ext uri="{FF2B5EF4-FFF2-40B4-BE49-F238E27FC236}">
                <a16:creationId xmlns:a16="http://schemas.microsoft.com/office/drawing/2014/main" id="{8C1931DE-60FA-C65D-C774-13BB0FDA83E8}"/>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019734186"/>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11334</TotalTime>
  <Words>5600</Words>
  <Application>Microsoft Office PowerPoint</Application>
  <PresentationFormat>Widescreen</PresentationFormat>
  <Paragraphs>938</Paragraphs>
  <Slides>55</Slides>
  <Notes>42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55</vt:i4>
      </vt:variant>
    </vt:vector>
  </HeadingPairs>
  <TitlesOfParts>
    <vt:vector size="63" baseType="lpstr">
      <vt:lpstr>Arial</vt:lpstr>
      <vt:lpstr>Calibri</vt:lpstr>
      <vt:lpstr>Roboto</vt:lpstr>
      <vt:lpstr>Roboto Medium</vt:lpstr>
      <vt:lpstr>Times New Roman</vt:lpstr>
      <vt:lpstr>Wingdings</vt:lpstr>
      <vt:lpstr>Wingdings 2</vt:lpstr>
      <vt:lpstr>Office Theme</vt:lpstr>
      <vt:lpstr>PowerPoint Presentation</vt:lpstr>
      <vt:lpstr>PowerPoint Presentation</vt:lpstr>
      <vt:lpstr>PowerPoint Presentation</vt:lpstr>
      <vt:lpstr>Ground Rules for Event</vt:lpstr>
      <vt:lpstr>Introduction to Lean</vt:lpstr>
      <vt:lpstr>Introduction</vt:lpstr>
      <vt:lpstr>What is “Lean?”</vt:lpstr>
      <vt:lpstr>PowerPoint Presentation</vt:lpstr>
      <vt:lpstr>PowerPoint Presentation</vt:lpstr>
      <vt:lpstr>History of Lean</vt:lpstr>
      <vt:lpstr>PowerPoint Presentation</vt:lpstr>
      <vt:lpstr>Taiichi Ohno and the Toyota Production System</vt:lpstr>
      <vt:lpstr>Lean Fundamentals</vt:lpstr>
      <vt:lpstr>Core Lean Concepts</vt:lpstr>
      <vt:lpstr>Value Added vs. Non-Value Added</vt:lpstr>
      <vt:lpstr>Tasks can only be defined as  “Value-adding” by the customer</vt:lpstr>
      <vt:lpstr>Distinguish VA from NVA Activities</vt:lpstr>
      <vt:lpstr>What is “Waste”?</vt:lpstr>
      <vt:lpstr>PowerPoint Presentation</vt:lpstr>
      <vt:lpstr>Eight Wastes Examples</vt:lpstr>
      <vt:lpstr>Eight Wastes Examples (Con’t)</vt:lpstr>
      <vt:lpstr>Sample Drivers of Waste</vt:lpstr>
      <vt:lpstr>Core Lean Concepts</vt:lpstr>
      <vt:lpstr>Define Value Stream</vt:lpstr>
      <vt:lpstr>Multiple Passes through the Value Stream</vt:lpstr>
      <vt:lpstr>Core Lean Concepts</vt:lpstr>
      <vt:lpstr>Flow</vt:lpstr>
      <vt:lpstr>Batch Processes</vt:lpstr>
      <vt:lpstr>Flow Processes</vt:lpstr>
      <vt:lpstr>Core Lean Concepts</vt:lpstr>
      <vt:lpstr>Pull</vt:lpstr>
      <vt:lpstr>Exercise</vt:lpstr>
      <vt:lpstr>Exercise</vt:lpstr>
      <vt:lpstr>Core Lean Concepts</vt:lpstr>
      <vt:lpstr>Standardized Work For Admin Processes</vt:lpstr>
      <vt:lpstr>Standardized Work is Designed to Meet TAKT Time</vt:lpstr>
      <vt:lpstr>TAKT Time Example</vt:lpstr>
      <vt:lpstr>Core Lean Concepts</vt:lpstr>
      <vt:lpstr>Visual Management</vt:lpstr>
      <vt:lpstr>Visual Management:  An Integral Part of the Improvement Cycle</vt:lpstr>
      <vt:lpstr>Metrics/Key Performance Indicators</vt:lpstr>
      <vt:lpstr>Guidelines for Good Visuals</vt:lpstr>
      <vt:lpstr>Common Visual Management Pitfalls</vt:lpstr>
      <vt:lpstr>Core Lean Concepts</vt:lpstr>
      <vt:lpstr>Perfection</vt:lpstr>
      <vt:lpstr>Kaizen…. The philosophy of continuous improvement</vt:lpstr>
      <vt:lpstr>Standardization and Kaizen</vt:lpstr>
      <vt:lpstr>Waste Elimination Tools</vt:lpstr>
      <vt:lpstr>Lean Transformation</vt:lpstr>
      <vt:lpstr>Review: What is a Lean Transformation?</vt:lpstr>
      <vt:lpstr>Steps to Transform into a Lean Organization</vt:lpstr>
      <vt:lpstr>Enterprise  Lean  Excellence</vt:lpstr>
      <vt:lpstr>In a Lean Journey, there is no end…</vt:lpstr>
      <vt:lpstr>End of Day – 2-Minute Review</vt:lpstr>
      <vt:lpstr>Other Modules In This Series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385</cp:revision>
  <dcterms:created xsi:type="dcterms:W3CDTF">2023-02-08T22:10:20Z</dcterms:created>
  <dcterms:modified xsi:type="dcterms:W3CDTF">2024-09-30T18:39:47Z</dcterms:modified>
</cp:coreProperties>
</file>