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1"/>
  </p:notesMasterIdLst>
  <p:sldIdLst>
    <p:sldId id="314" r:id="rId2"/>
    <p:sldId id="283" r:id="rId3"/>
    <p:sldId id="284" r:id="rId4"/>
    <p:sldId id="285" r:id="rId5"/>
    <p:sldId id="315" r:id="rId6"/>
    <p:sldId id="1471" r:id="rId7"/>
    <p:sldId id="317" r:id="rId8"/>
    <p:sldId id="318" r:id="rId9"/>
    <p:sldId id="319" r:id="rId10"/>
    <p:sldId id="320" r:id="rId11"/>
    <p:sldId id="321" r:id="rId12"/>
    <p:sldId id="1440" r:id="rId13"/>
    <p:sldId id="1441" r:id="rId14"/>
    <p:sldId id="1444" r:id="rId15"/>
    <p:sldId id="1443" r:id="rId16"/>
    <p:sldId id="1445" r:id="rId17"/>
    <p:sldId id="329" r:id="rId18"/>
    <p:sldId id="328" r:id="rId19"/>
    <p:sldId id="330" r:id="rId20"/>
    <p:sldId id="1472" r:id="rId21"/>
    <p:sldId id="1401" r:id="rId22"/>
    <p:sldId id="1397" r:id="rId23"/>
    <p:sldId id="1398" r:id="rId24"/>
    <p:sldId id="1399" r:id="rId25"/>
    <p:sldId id="1446" r:id="rId26"/>
    <p:sldId id="1400" r:id="rId27"/>
    <p:sldId id="1447" r:id="rId28"/>
    <p:sldId id="1448" r:id="rId29"/>
    <p:sldId id="1402" r:id="rId30"/>
    <p:sldId id="1403" r:id="rId31"/>
    <p:sldId id="1449" r:id="rId32"/>
    <p:sldId id="1406" r:id="rId33"/>
    <p:sldId id="1450" r:id="rId34"/>
    <p:sldId id="1451" r:id="rId35"/>
    <p:sldId id="1452" r:id="rId36"/>
    <p:sldId id="1453" r:id="rId37"/>
    <p:sldId id="1407" r:id="rId38"/>
    <p:sldId id="1408" r:id="rId39"/>
    <p:sldId id="1409" r:id="rId40"/>
    <p:sldId id="1454" r:id="rId41"/>
    <p:sldId id="1455" r:id="rId42"/>
    <p:sldId id="1456" r:id="rId43"/>
    <p:sldId id="1457" r:id="rId44"/>
    <p:sldId id="1412" r:id="rId45"/>
    <p:sldId id="1459" r:id="rId46"/>
    <p:sldId id="1460" r:id="rId47"/>
    <p:sldId id="1461" r:id="rId48"/>
    <p:sldId id="1462" r:id="rId49"/>
    <p:sldId id="1458" r:id="rId50"/>
    <p:sldId id="1413" r:id="rId51"/>
    <p:sldId id="1414" r:id="rId52"/>
    <p:sldId id="1416" r:id="rId53"/>
    <p:sldId id="1464" r:id="rId54"/>
    <p:sldId id="1465" r:id="rId55"/>
    <p:sldId id="1463" r:id="rId56"/>
    <p:sldId id="1417" r:id="rId57"/>
    <p:sldId id="1418" r:id="rId58"/>
    <p:sldId id="1466" r:id="rId59"/>
    <p:sldId id="1467" r:id="rId60"/>
    <p:sldId id="1468" r:id="rId61"/>
    <p:sldId id="1469" r:id="rId62"/>
    <p:sldId id="1422" r:id="rId63"/>
    <p:sldId id="1423" r:id="rId64"/>
    <p:sldId id="1424" r:id="rId65"/>
    <p:sldId id="1425" r:id="rId66"/>
    <p:sldId id="1426" r:id="rId67"/>
    <p:sldId id="1427" r:id="rId68"/>
    <p:sldId id="1470" r:id="rId69"/>
    <p:sldId id="1473" r:id="rId70"/>
    <p:sldId id="1434" r:id="rId71"/>
    <p:sldId id="1435" r:id="rId72"/>
    <p:sldId id="1430" r:id="rId73"/>
    <p:sldId id="1431" r:id="rId74"/>
    <p:sldId id="1432" r:id="rId75"/>
    <p:sldId id="1433" r:id="rId76"/>
    <p:sldId id="1437" r:id="rId77"/>
    <p:sldId id="1436" r:id="rId78"/>
    <p:sldId id="1438" r:id="rId79"/>
    <p:sldId id="1411" r:id="rId8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FF00"/>
    <a:srgbClr val="006699"/>
    <a:srgbClr val="009900"/>
    <a:srgbClr val="222222"/>
    <a:srgbClr val="FFB627"/>
    <a:srgbClr val="177E89"/>
    <a:srgbClr val="8EDCE6"/>
    <a:srgbClr val="F1BF98"/>
    <a:srgbClr val="2EC4B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p:restoredLeft sz="18548" autoAdjust="0"/>
    <p:restoredTop sz="81849" autoAdjust="0"/>
  </p:normalViewPr>
  <p:slideViewPr>
    <p:cSldViewPr snapToGrid="0">
      <p:cViewPr varScale="1">
        <p:scale>
          <a:sx n="67" d="100"/>
          <a:sy n="67" d="100"/>
        </p:scale>
        <p:origin x="1133" y="62"/>
      </p:cViewPr>
      <p:guideLst/>
    </p:cSldViewPr>
  </p:slideViewPr>
  <p:notesTextViewPr>
    <p:cViewPr>
      <p:scale>
        <a:sx n="3" d="2"/>
        <a:sy n="3" d="2"/>
      </p:scale>
      <p:origin x="0" y="0"/>
    </p:cViewPr>
  </p:notesTextViewPr>
  <p:sorterViewPr>
    <p:cViewPr varScale="1">
      <p:scale>
        <a:sx n="100" d="100"/>
        <a:sy n="100" d="100"/>
      </p:scale>
      <p:origin x="0" y="-12528"/>
    </p:cViewPr>
  </p:sorter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9/29/2023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NOTE: </a:t>
            </a:r>
            <a:r>
              <a:rPr lang="en-US" altLang="en-US" dirty="0">
                <a:latin typeface="Arial" panose="020B0604020202020204" pitchFamily="34" charset="0"/>
              </a:rPr>
              <a:t>The 5S training module is intended for use at kaizen event training. The training is a </a:t>
            </a:r>
            <a:r>
              <a:rPr lang="ja-JP" altLang="en-US" dirty="0">
                <a:latin typeface="Arial" panose="020B0604020202020204" pitchFamily="34" charset="0"/>
              </a:rPr>
              <a:t>“</a:t>
            </a:r>
            <a:r>
              <a:rPr lang="en-US" altLang="ja-JP" dirty="0">
                <a:latin typeface="Arial" panose="020B0604020202020204" pitchFamily="34" charset="0"/>
              </a:rPr>
              <a:t>Learn-Do</a:t>
            </a:r>
            <a:r>
              <a:rPr lang="ja-JP" altLang="en-US" dirty="0">
                <a:latin typeface="Arial" panose="020B0604020202020204" pitchFamily="34" charset="0"/>
              </a:rPr>
              <a:t>”</a:t>
            </a:r>
            <a:r>
              <a:rPr lang="en-US" altLang="ja-JP" dirty="0">
                <a:latin typeface="Arial" panose="020B0604020202020204" pitchFamily="34" charset="0"/>
              </a:rPr>
              <a:t> approach in which there are designated points in the training course for the participants/kaizen teams to stop and apply their learning to their kaizen project/event. The training material is recommended for a 5 day event, but is scalable for events of any length.</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a:t>
            </a:fld>
            <a:endParaRPr lang="en-US"/>
          </a:p>
        </p:txBody>
      </p:sp>
    </p:spTree>
    <p:extLst>
      <p:ext uri="{BB962C8B-B14F-4D97-AF65-F5344CB8AC3E}">
        <p14:creationId xmlns:p14="http://schemas.microsoft.com/office/powerpoint/2010/main" val="2814272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a:t>
            </a:fld>
            <a:endParaRPr lang="en-US"/>
          </a:p>
        </p:txBody>
      </p:sp>
    </p:spTree>
    <p:extLst>
      <p:ext uri="{BB962C8B-B14F-4D97-AF65-F5344CB8AC3E}">
        <p14:creationId xmlns:p14="http://schemas.microsoft.com/office/powerpoint/2010/main" val="33402365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a:t>
            </a:fld>
            <a:endParaRPr lang="en-US"/>
          </a:p>
        </p:txBody>
      </p:sp>
    </p:spTree>
    <p:extLst>
      <p:ext uri="{BB962C8B-B14F-4D97-AF65-F5344CB8AC3E}">
        <p14:creationId xmlns:p14="http://schemas.microsoft.com/office/powerpoint/2010/main" val="2299808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 </a:t>
            </a:r>
            <a:r>
              <a:rPr lang="en-US" altLang="en-US" dirty="0">
                <a:latin typeface="Arial" panose="020B0604020202020204" pitchFamily="34" charset="0"/>
              </a:rPr>
              <a:t>Perform Group Introductions.  Pick an ice-breaker or exercise to warm the team up to the event. (Icebreaker Example: Everyone uses their name tent and writes a </a:t>
            </a:r>
            <a:r>
              <a:rPr lang="ja-JP" altLang="en-US" dirty="0">
                <a:latin typeface="Arial" panose="020B0604020202020204" pitchFamily="34" charset="0"/>
              </a:rPr>
              <a:t>“</a:t>
            </a:r>
            <a:r>
              <a:rPr lang="en-US" altLang="ja-JP" dirty="0">
                <a:latin typeface="Arial" panose="020B0604020202020204" pitchFamily="34" charset="0"/>
              </a:rPr>
              <a:t>Personal License Plate</a:t>
            </a:r>
            <a:r>
              <a:rPr lang="ja-JP" altLang="en-US" dirty="0">
                <a:latin typeface="Arial" panose="020B0604020202020204" pitchFamily="34" charset="0"/>
              </a:rPr>
              <a:t>”</a:t>
            </a:r>
            <a:r>
              <a:rPr lang="en-US" altLang="ja-JP" dirty="0">
                <a:latin typeface="Arial" panose="020B0604020202020204" pitchFamily="34" charset="0"/>
              </a:rPr>
              <a:t> in which they have 2 minutes to creatively use a total of 7 letters or numbers to tell us something about themselves. Examples </a:t>
            </a:r>
            <a:r>
              <a:rPr lang="ja-JP" altLang="en-US" dirty="0">
                <a:latin typeface="Arial" panose="020B0604020202020204" pitchFamily="34" charset="0"/>
              </a:rPr>
              <a:t>“</a:t>
            </a:r>
            <a:r>
              <a:rPr lang="en-US" altLang="ja-JP" dirty="0">
                <a:latin typeface="Arial" panose="020B0604020202020204" pitchFamily="34" charset="0"/>
              </a:rPr>
              <a:t>LV2SAIL</a:t>
            </a:r>
            <a:r>
              <a:rPr lang="ja-JP" altLang="en-US" dirty="0">
                <a:latin typeface="Arial" panose="020B0604020202020204" pitchFamily="34" charset="0"/>
              </a:rPr>
              <a:t>”</a:t>
            </a:r>
            <a:r>
              <a:rPr lang="en-US" altLang="ja-JP" dirty="0">
                <a:latin typeface="Arial" panose="020B0604020202020204" pitchFamily="34" charset="0"/>
              </a:rPr>
              <a:t> OR </a:t>
            </a:r>
            <a:r>
              <a:rPr lang="ja-JP" altLang="en-US" dirty="0">
                <a:latin typeface="Arial" panose="020B0604020202020204" pitchFamily="34" charset="0"/>
              </a:rPr>
              <a:t>“</a:t>
            </a:r>
            <a:r>
              <a:rPr lang="en-US" altLang="ja-JP" dirty="0">
                <a:latin typeface="Arial" panose="020B0604020202020204" pitchFamily="34" charset="0"/>
              </a:rPr>
              <a:t>DADOV5</a:t>
            </a:r>
            <a:r>
              <a:rPr lang="ja-JP" altLang="en-US" dirty="0">
                <a:latin typeface="Arial" panose="020B0604020202020204" pitchFamily="34" charset="0"/>
              </a:rPr>
              <a:t>”</a:t>
            </a:r>
            <a:r>
              <a:rPr lang="en-US" altLang="ja-JP" dirty="0">
                <a:latin typeface="Arial" panose="020B0604020202020204" pitchFamily="34" charset="0"/>
              </a:rPr>
              <a:t> </a:t>
            </a:r>
          </a:p>
          <a:p>
            <a:r>
              <a:rPr lang="en-US" altLang="en-US" b="1" dirty="0">
                <a:latin typeface="Arial" panose="020B0604020202020204" pitchFamily="34" charset="0"/>
              </a:rPr>
              <a:t>DO:</a:t>
            </a:r>
            <a:r>
              <a:rPr lang="en-US" altLang="en-US" dirty="0">
                <a:latin typeface="Arial" panose="020B0604020202020204" pitchFamily="34" charset="0"/>
              </a:rPr>
              <a:t> Review Event Ground Rules. </a:t>
            </a: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Does anyone have any rules they would like to see added?</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Does everyone agree to these?</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a:t>
            </a:fld>
            <a:endParaRPr lang="en-US"/>
          </a:p>
        </p:txBody>
      </p:sp>
    </p:spTree>
    <p:extLst>
      <p:ext uri="{BB962C8B-B14F-4D97-AF65-F5344CB8AC3E}">
        <p14:creationId xmlns:p14="http://schemas.microsoft.com/office/powerpoint/2010/main" val="1305716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ea typeface="ＭＳ Ｐゴシック" charset="0"/>
              </a:rPr>
              <a:t>DO:</a:t>
            </a:r>
            <a:r>
              <a:rPr lang="en-US" dirty="0">
                <a:ea typeface="ＭＳ Ｐゴシック" charset="0"/>
              </a:rPr>
              <a:t> Introduce the notion of 5S and the goal of this event. </a:t>
            </a:r>
          </a:p>
          <a:p>
            <a:pPr>
              <a:defRPr/>
            </a:pPr>
            <a:r>
              <a:rPr lang="en-US" dirty="0">
                <a:ea typeface="ＭＳ Ｐゴシック" charset="0"/>
              </a:rPr>
              <a:t>At this time it is appropriate for the Process Owner or the Kaizen Team Leader to review the kaizen charter and objectives of the event.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a:t>
            </a:fld>
            <a:endParaRPr lang="en-US"/>
          </a:p>
        </p:txBody>
      </p:sp>
    </p:spTree>
    <p:extLst>
      <p:ext uri="{BB962C8B-B14F-4D97-AF65-F5344CB8AC3E}">
        <p14:creationId xmlns:p14="http://schemas.microsoft.com/office/powerpoint/2010/main" val="26367122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a:t>
            </a:fld>
            <a:endParaRPr lang="en-US"/>
          </a:p>
        </p:txBody>
      </p:sp>
    </p:spTree>
    <p:extLst>
      <p:ext uri="{BB962C8B-B14F-4D97-AF65-F5344CB8AC3E}">
        <p14:creationId xmlns:p14="http://schemas.microsoft.com/office/powerpoint/2010/main" val="2876611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ASK</a:t>
            </a:r>
            <a:r>
              <a:rPr lang="en-US" altLang="en-US" dirty="0">
                <a:latin typeface="Arial" panose="020B0604020202020204" pitchFamily="34" charset="0"/>
              </a:rPr>
              <a:t>: Has anyone ever wasted time looking for a phone number?  A pen? An email?  </a:t>
            </a:r>
            <a:r>
              <a:rPr lang="en-US" altLang="en-US" dirty="0" err="1">
                <a:latin typeface="Arial" panose="020B0604020202020204" pitchFamily="34" charset="0"/>
              </a:rPr>
              <a:t>Wouldn</a:t>
            </a:r>
            <a:r>
              <a:rPr lang="ja-JP" altLang="en-US" dirty="0">
                <a:latin typeface="Arial" panose="020B0604020202020204" pitchFamily="34" charset="0"/>
              </a:rPr>
              <a:t>’</a:t>
            </a:r>
            <a:r>
              <a:rPr lang="en-US" altLang="ja-JP" dirty="0">
                <a:latin typeface="Arial" panose="020B0604020202020204" pitchFamily="34" charset="0"/>
              </a:rPr>
              <a:t>t it be great to have everything you need exactly when you need it – ALL THE TIME?</a:t>
            </a:r>
          </a:p>
          <a:p>
            <a:r>
              <a:rPr lang="en-US" altLang="en-US" b="1" dirty="0">
                <a:latin typeface="Arial" panose="020B0604020202020204" pitchFamily="34" charset="0"/>
              </a:rPr>
              <a:t>ASK:</a:t>
            </a:r>
            <a:r>
              <a:rPr lang="en-US" altLang="en-US" dirty="0">
                <a:latin typeface="Arial" panose="020B0604020202020204" pitchFamily="34" charset="0"/>
              </a:rPr>
              <a:t>  Has anyone ever used the wrong information? (may ask them to elaborate)</a:t>
            </a:r>
            <a:br>
              <a:rPr lang="en-US" altLang="en-US" dirty="0">
                <a:latin typeface="Arial" panose="020B0604020202020204" pitchFamily="34" charset="0"/>
              </a:rPr>
            </a:br>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safety hazards have you seen in the office area due to clutter, disorganization or lack of office equipment maintenance?</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NOTE:</a:t>
            </a:r>
            <a:r>
              <a:rPr lang="en-US" altLang="en-US" dirty="0">
                <a:latin typeface="Arial" panose="020B0604020202020204" pitchFamily="34" charset="0"/>
              </a:rPr>
              <a:t>  There have been numerous lost time accidents seen in the workplace due to unsafe chairs, blocked walk-ways, faulty or damaged electrical wiring, over-crowded conditions, etc.  One office accident resulted in permanent disability when an associate simply tripped, but when he reached for the cubicle wall it fell on his head, causing very serious concussion.   It is a bigger issue than is typically considered.  Another huge consideration is workplace ergonomics – carpal tunnel injuries due to workplace design.</a:t>
            </a: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28695952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8</a:t>
            </a:fld>
            <a:endParaRPr lang="en-US"/>
          </a:p>
        </p:txBody>
      </p:sp>
    </p:spTree>
    <p:extLst>
      <p:ext uri="{BB962C8B-B14F-4D97-AF65-F5344CB8AC3E}">
        <p14:creationId xmlns:p14="http://schemas.microsoft.com/office/powerpoint/2010/main" val="31864823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solidFill>
                  <a:srgbClr val="FF3300"/>
                </a:solidFill>
                <a:latin typeface="Arial" panose="020B0604020202020204" pitchFamily="34" charset="0"/>
                <a:ea typeface="ＭＳ Ｐゴシック" panose="020B0600070205080204" pitchFamily="34" charset="-128"/>
              </a:rPr>
              <a:t>Add phonetic spelling for each Japanese word</a:t>
            </a:r>
            <a:br>
              <a:rPr lang="en-US" altLang="en-US" dirty="0">
                <a:solidFill>
                  <a:srgbClr val="FF3300"/>
                </a:solidFill>
                <a:latin typeface="Arial" panose="020B0604020202020204" pitchFamily="34" charset="0"/>
                <a:ea typeface="ＭＳ Ｐゴシック" panose="020B0600070205080204" pitchFamily="34" charset="-128"/>
              </a:rPr>
            </a:br>
            <a:r>
              <a:rPr lang="en-US" altLang="en-US" dirty="0" err="1">
                <a:solidFill>
                  <a:srgbClr val="FF3300"/>
                </a:solidFill>
                <a:latin typeface="Arial" panose="020B0604020202020204" pitchFamily="34" charset="0"/>
                <a:ea typeface="ＭＳ Ｐゴシック" panose="020B0600070205080204" pitchFamily="34" charset="-128"/>
              </a:rPr>
              <a:t>Seiri</a:t>
            </a:r>
            <a:r>
              <a:rPr lang="en-US" altLang="en-US" dirty="0">
                <a:solidFill>
                  <a:srgbClr val="FF3300"/>
                </a:solidFill>
                <a:latin typeface="Arial" panose="020B0604020202020204" pitchFamily="34" charset="0"/>
                <a:ea typeface="ＭＳ Ｐゴシック" panose="020B0600070205080204" pitchFamily="34" charset="-128"/>
              </a:rPr>
              <a:t> = Sear-e</a:t>
            </a:r>
            <a:br>
              <a:rPr lang="en-US" altLang="en-US" dirty="0">
                <a:solidFill>
                  <a:srgbClr val="FF3300"/>
                </a:solidFill>
                <a:latin typeface="Arial" panose="020B0604020202020204" pitchFamily="34" charset="0"/>
                <a:ea typeface="ＭＳ Ｐゴシック" panose="020B0600070205080204" pitchFamily="34" charset="-128"/>
              </a:rPr>
            </a:br>
            <a:r>
              <a:rPr lang="en-US" altLang="en-US" sz="1500" dirty="0" err="1">
                <a:solidFill>
                  <a:srgbClr val="000066"/>
                </a:solidFill>
                <a:latin typeface="Arial" panose="020B0604020202020204" pitchFamily="34" charset="0"/>
                <a:ea typeface="ＭＳ Ｐゴシック" panose="020B0600070205080204" pitchFamily="34" charset="-128"/>
              </a:rPr>
              <a:t>Seiton</a:t>
            </a:r>
            <a:r>
              <a:rPr lang="en-US" altLang="en-US" sz="1500" dirty="0">
                <a:latin typeface="Arial" panose="020B0604020202020204" pitchFamily="34" charset="0"/>
                <a:ea typeface="ＭＳ Ｐゴシック" panose="020B0600070205080204" pitchFamily="34" charset="-128"/>
              </a:rPr>
              <a:t> = Say-ton</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a:t>
            </a:fld>
            <a:endParaRPr lang="en-US"/>
          </a:p>
        </p:txBody>
      </p:sp>
    </p:spTree>
    <p:extLst>
      <p:ext uri="{BB962C8B-B14F-4D97-AF65-F5344CB8AC3E}">
        <p14:creationId xmlns:p14="http://schemas.microsoft.com/office/powerpoint/2010/main" val="17243281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solidFill>
                  <a:srgbClr val="FF3300"/>
                </a:solidFill>
                <a:latin typeface="Arial" panose="020B0604020202020204" pitchFamily="34" charset="0"/>
                <a:ea typeface="ＭＳ Ｐゴシック" panose="020B0600070205080204" pitchFamily="34" charset="-128"/>
              </a:rPr>
              <a:t>Add phonetic spelling for each Japanese word</a:t>
            </a:r>
            <a:br>
              <a:rPr lang="en-US" altLang="en-US" dirty="0">
                <a:solidFill>
                  <a:srgbClr val="FF3300"/>
                </a:solidFill>
                <a:latin typeface="Arial" panose="020B0604020202020204" pitchFamily="34" charset="0"/>
                <a:ea typeface="ＭＳ Ｐゴシック" panose="020B0600070205080204" pitchFamily="34" charset="-128"/>
              </a:rPr>
            </a:br>
            <a:r>
              <a:rPr lang="en-US" altLang="en-US" dirty="0" err="1">
                <a:solidFill>
                  <a:srgbClr val="FF3300"/>
                </a:solidFill>
                <a:latin typeface="Arial" panose="020B0604020202020204" pitchFamily="34" charset="0"/>
                <a:ea typeface="ＭＳ Ｐゴシック" panose="020B0600070205080204" pitchFamily="34" charset="-128"/>
              </a:rPr>
              <a:t>Seiso</a:t>
            </a:r>
            <a:r>
              <a:rPr lang="en-US" altLang="en-US" dirty="0">
                <a:solidFill>
                  <a:srgbClr val="FF3300"/>
                </a:solidFill>
                <a:latin typeface="Arial" panose="020B0604020202020204" pitchFamily="34" charset="0"/>
                <a:ea typeface="ＭＳ Ｐゴシック" panose="020B0600070205080204" pitchFamily="34" charset="-128"/>
              </a:rPr>
              <a:t> = Say-zoo</a:t>
            </a:r>
            <a:br>
              <a:rPr lang="en-US" altLang="en-US" dirty="0">
                <a:solidFill>
                  <a:srgbClr val="FF3300"/>
                </a:solidFill>
                <a:latin typeface="Arial" panose="020B0604020202020204" pitchFamily="34" charset="0"/>
                <a:ea typeface="ＭＳ Ｐゴシック" panose="020B0600070205080204" pitchFamily="34" charset="-128"/>
              </a:rPr>
            </a:br>
            <a:r>
              <a:rPr lang="en-US" altLang="en-US" sz="1500" dirty="0" err="1">
                <a:latin typeface="Arial" panose="020B0604020202020204" pitchFamily="34" charset="0"/>
                <a:ea typeface="ＭＳ Ｐゴシック" panose="020B0600070205080204" pitchFamily="34" charset="-128"/>
              </a:rPr>
              <a:t>Seiketsu</a:t>
            </a:r>
            <a:r>
              <a:rPr lang="en-US" altLang="en-US" sz="1500" dirty="0">
                <a:latin typeface="Arial" panose="020B0604020202020204" pitchFamily="34" charset="0"/>
                <a:ea typeface="ＭＳ Ｐゴシック" panose="020B0600070205080204" pitchFamily="34" charset="-128"/>
              </a:rPr>
              <a:t> = Say-kat-zoo</a:t>
            </a:r>
            <a:br>
              <a:rPr lang="en-US" altLang="en-US" sz="1500" dirty="0">
                <a:latin typeface="Arial" panose="020B0604020202020204" pitchFamily="34" charset="0"/>
                <a:ea typeface="ＭＳ Ｐゴシック" panose="020B0600070205080204" pitchFamily="34" charset="-128"/>
              </a:rPr>
            </a:br>
            <a:r>
              <a:rPr lang="en-US" altLang="en-US" sz="1500" dirty="0" err="1">
                <a:solidFill>
                  <a:srgbClr val="000066"/>
                </a:solidFill>
                <a:latin typeface="Arial" panose="020B0604020202020204" pitchFamily="34" charset="0"/>
                <a:ea typeface="ＭＳ Ｐゴシック" panose="020B0600070205080204" pitchFamily="34" charset="-128"/>
              </a:rPr>
              <a:t>Shitsuke</a:t>
            </a:r>
            <a:r>
              <a:rPr lang="en-US" altLang="en-US" sz="1500" dirty="0">
                <a:solidFill>
                  <a:srgbClr val="000066"/>
                </a:solidFill>
                <a:latin typeface="Arial" panose="020B0604020202020204" pitchFamily="34" charset="0"/>
                <a:ea typeface="ＭＳ Ｐゴシック" panose="020B0600070205080204" pitchFamily="34" charset="-128"/>
              </a:rPr>
              <a:t> = Sheet-Soo-key</a:t>
            </a:r>
          </a:p>
        </p:txBody>
      </p:sp>
      <p:sp>
        <p:nvSpPr>
          <p:cNvPr id="4" name="Slide Number Placeholder 3"/>
          <p:cNvSpPr>
            <a:spLocks noGrp="1"/>
          </p:cNvSpPr>
          <p:nvPr>
            <p:ph type="sldNum" sz="quarter" idx="5"/>
          </p:nvPr>
        </p:nvSpPr>
        <p:spPr/>
        <p:txBody>
          <a:bodyPr/>
          <a:lstStyle/>
          <a:p>
            <a:fld id="{AECD8548-F1A2-4EDF-A416-5F2BB6B8F64C}" type="slidenum">
              <a:rPr lang="en-US" smtClean="0"/>
              <a:t>10</a:t>
            </a:fld>
            <a:endParaRPr lang="en-US"/>
          </a:p>
        </p:txBody>
      </p:sp>
    </p:spTree>
    <p:extLst>
      <p:ext uri="{BB962C8B-B14F-4D97-AF65-F5344CB8AC3E}">
        <p14:creationId xmlns:p14="http://schemas.microsoft.com/office/powerpoint/2010/main" val="39477067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400" b="1" dirty="0">
                <a:latin typeface="Arial" panose="020B0604020202020204" pitchFamily="34" charset="0"/>
              </a:rPr>
              <a:t>SAY:</a:t>
            </a:r>
            <a:r>
              <a:rPr lang="en-US" altLang="en-US" sz="1400" dirty="0">
                <a:latin typeface="Arial" panose="020B0604020202020204" pitchFamily="34" charset="0"/>
              </a:rPr>
              <a:t> You will see variations in the English translations for each </a:t>
            </a:r>
            <a:r>
              <a:rPr lang="ja-JP" altLang="en-US" sz="1400" dirty="0">
                <a:latin typeface="Arial" panose="020B0604020202020204" pitchFamily="34" charset="0"/>
              </a:rPr>
              <a:t>“</a:t>
            </a:r>
            <a:r>
              <a:rPr lang="en-US" altLang="ja-JP" sz="1400" dirty="0">
                <a:latin typeface="Arial" panose="020B0604020202020204" pitchFamily="34" charset="0"/>
              </a:rPr>
              <a:t>S</a:t>
            </a:r>
            <a:r>
              <a:rPr lang="ja-JP" altLang="en-US" sz="1400" dirty="0">
                <a:latin typeface="Arial" panose="020B0604020202020204" pitchFamily="34" charset="0"/>
              </a:rPr>
              <a:t>”</a:t>
            </a:r>
            <a:r>
              <a:rPr lang="en-US" altLang="ja-JP" sz="1400" dirty="0">
                <a:latin typeface="Arial" panose="020B0604020202020204" pitchFamily="34" charset="0"/>
              </a:rPr>
              <a:t>, but the meaning is the same.  </a:t>
            </a:r>
          </a:p>
          <a:p>
            <a:endParaRPr lang="en-US" altLang="en-US" sz="1400" dirty="0">
              <a:latin typeface="Arial" panose="020B0604020202020204" pitchFamily="34" charset="0"/>
            </a:endParaRPr>
          </a:p>
          <a:p>
            <a:r>
              <a:rPr lang="en-US" altLang="en-US" sz="1400" b="1" dirty="0">
                <a:latin typeface="Arial" panose="020B0604020202020204" pitchFamily="34" charset="0"/>
              </a:rPr>
              <a:t>NOTE:</a:t>
            </a:r>
            <a:r>
              <a:rPr lang="en-US" altLang="en-US" sz="1400" dirty="0">
                <a:latin typeface="Arial" panose="020B0604020202020204" pitchFamily="34" charset="0"/>
              </a:rPr>
              <a:t>  per WIKIPEDIA:  Alternative acronyms have been introduced, such as CANDO (Cleanup, Arranging, Neatness, Discipline, and Ongoing improvement), and the 5C</a:t>
            </a:r>
            <a:r>
              <a:rPr lang="ja-JP" altLang="en-US" sz="1400" dirty="0">
                <a:latin typeface="Arial" panose="020B0604020202020204" pitchFamily="34" charset="0"/>
              </a:rPr>
              <a:t>’</a:t>
            </a:r>
            <a:r>
              <a:rPr lang="en-US" altLang="ja-JP" sz="1400" dirty="0">
                <a:latin typeface="Arial" panose="020B0604020202020204" pitchFamily="34" charset="0"/>
              </a:rPr>
              <a:t>s:</a:t>
            </a:r>
            <a:br>
              <a:rPr lang="en-US" altLang="ja-JP" sz="1400" dirty="0">
                <a:latin typeface="Arial" panose="020B0604020202020204" pitchFamily="34" charset="0"/>
              </a:rPr>
            </a:br>
            <a:r>
              <a:rPr lang="en-US" altLang="ja-JP" sz="1400" dirty="0">
                <a:latin typeface="Arial" panose="020B0604020202020204" pitchFamily="34" charset="0"/>
              </a:rPr>
              <a:t>Clear out and Classify. Clearing items no longer required. Tagging items that may be required and storing away from workplace </a:t>
            </a:r>
          </a:p>
          <a:p>
            <a:pPr>
              <a:buFontTx/>
              <a:buChar char="•"/>
            </a:pPr>
            <a:r>
              <a:rPr lang="en-US" altLang="en-US" sz="1400" dirty="0">
                <a:latin typeface="Arial" panose="020B0604020202020204" pitchFamily="34" charset="0"/>
              </a:rPr>
              <a:t>Configure.   A specific place for specific items. </a:t>
            </a:r>
            <a:r>
              <a:rPr lang="ja-JP" altLang="en-US" sz="1400" dirty="0">
                <a:latin typeface="Arial" panose="020B0604020202020204" pitchFamily="34" charset="0"/>
              </a:rPr>
              <a:t>“</a:t>
            </a:r>
            <a:r>
              <a:rPr lang="en-US" altLang="ja-JP" sz="1400" dirty="0">
                <a:latin typeface="Arial" panose="020B0604020202020204" pitchFamily="34" charset="0"/>
              </a:rPr>
              <a:t> A place for everything &amp; everything in its place</a:t>
            </a:r>
            <a:r>
              <a:rPr lang="ja-JP" altLang="en-US" sz="1400" dirty="0">
                <a:latin typeface="Arial" panose="020B0604020202020204" pitchFamily="34" charset="0"/>
              </a:rPr>
              <a:t>”</a:t>
            </a:r>
            <a:r>
              <a:rPr lang="en-US" altLang="ja-JP" sz="1400" dirty="0">
                <a:latin typeface="Arial" panose="020B0604020202020204" pitchFamily="34" charset="0"/>
              </a:rPr>
              <a:t> </a:t>
            </a:r>
          </a:p>
          <a:p>
            <a:pPr>
              <a:buFontTx/>
              <a:buChar char="•"/>
            </a:pPr>
            <a:r>
              <a:rPr lang="en-US" altLang="en-US" sz="1400" dirty="0">
                <a:latin typeface="Arial" panose="020B0604020202020204" pitchFamily="34" charset="0"/>
              </a:rPr>
              <a:t>Clean and check.   Identify cleaning zones, establish cleaning routines </a:t>
            </a:r>
          </a:p>
          <a:p>
            <a:pPr>
              <a:buFontTx/>
              <a:buChar char="•"/>
            </a:pPr>
            <a:r>
              <a:rPr lang="en-US" altLang="en-US" sz="1400" dirty="0">
                <a:latin typeface="Arial" panose="020B0604020202020204" pitchFamily="34" charset="0"/>
              </a:rPr>
              <a:t>Conformity.  Consolidate the previous 3C</a:t>
            </a:r>
            <a:r>
              <a:rPr lang="ja-JP" altLang="en-US" sz="1400" dirty="0">
                <a:latin typeface="Arial" panose="020B0604020202020204" pitchFamily="34" charset="0"/>
              </a:rPr>
              <a:t>’</a:t>
            </a:r>
            <a:r>
              <a:rPr lang="en-US" altLang="ja-JP" sz="1400" dirty="0">
                <a:latin typeface="Arial" panose="020B0604020202020204" pitchFamily="34" charset="0"/>
              </a:rPr>
              <a:t>s by standardizing the new process and use of </a:t>
            </a:r>
            <a:r>
              <a:rPr lang="ja-JP" altLang="en-US" sz="1400" dirty="0">
                <a:latin typeface="Arial" panose="020B0604020202020204" pitchFamily="34" charset="0"/>
              </a:rPr>
              <a:t>‘</a:t>
            </a:r>
            <a:r>
              <a:rPr lang="en-US" altLang="ja-JP" sz="1400" dirty="0">
                <a:latin typeface="Arial" panose="020B0604020202020204" pitchFamily="34" charset="0"/>
              </a:rPr>
              <a:t>Visual Management</a:t>
            </a:r>
            <a:r>
              <a:rPr lang="ja-JP" altLang="en-US" sz="1400" dirty="0">
                <a:latin typeface="Arial" panose="020B0604020202020204" pitchFamily="34" charset="0"/>
              </a:rPr>
              <a:t>’</a:t>
            </a:r>
            <a:r>
              <a:rPr lang="en-US" altLang="ja-JP" sz="1400" dirty="0">
                <a:latin typeface="Arial" panose="020B0604020202020204" pitchFamily="34" charset="0"/>
              </a:rPr>
              <a:t> </a:t>
            </a:r>
          </a:p>
          <a:p>
            <a:pPr>
              <a:buFontTx/>
              <a:buChar char="•"/>
            </a:pPr>
            <a:r>
              <a:rPr lang="en-US" altLang="en-US" sz="1400" dirty="0">
                <a:latin typeface="Arial" panose="020B0604020202020204" pitchFamily="34" charset="0"/>
              </a:rPr>
              <a:t>Custom and practice.  Monitor process adherence. Continually validate process. Make further improvements using the PDCA cycle, otherwise known as the Deming cycle</a:t>
            </a:r>
          </a:p>
          <a:p>
            <a:endParaRPr lang="en-US" altLang="en-US" sz="1400" dirty="0">
              <a:solidFill>
                <a:srgbClr val="000066"/>
              </a:solidFill>
              <a:latin typeface="Arial" panose="020B0604020202020204" pitchFamily="34" charset="0"/>
              <a:ea typeface="ＭＳ Ｐゴシック" panose="020B0600070205080204" pitchFamily="34" charset="-128"/>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11</a:t>
            </a:fld>
            <a:endParaRPr lang="en-US"/>
          </a:p>
        </p:txBody>
      </p:sp>
    </p:spTree>
    <p:extLst>
      <p:ext uri="{BB962C8B-B14F-4D97-AF65-F5344CB8AC3E}">
        <p14:creationId xmlns:p14="http://schemas.microsoft.com/office/powerpoint/2010/main" val="8793183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12</a:t>
            </a:fld>
            <a:endParaRPr lang="en-US"/>
          </a:p>
        </p:txBody>
      </p:sp>
    </p:spTree>
    <p:extLst>
      <p:ext uri="{BB962C8B-B14F-4D97-AF65-F5344CB8AC3E}">
        <p14:creationId xmlns:p14="http://schemas.microsoft.com/office/powerpoint/2010/main" val="17590329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13</a:t>
            </a:fld>
            <a:endParaRPr lang="en-US"/>
          </a:p>
        </p:txBody>
      </p:sp>
    </p:spTree>
    <p:extLst>
      <p:ext uri="{BB962C8B-B14F-4D97-AF65-F5344CB8AC3E}">
        <p14:creationId xmlns:p14="http://schemas.microsoft.com/office/powerpoint/2010/main" val="8202692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14</a:t>
            </a:fld>
            <a:endParaRPr lang="en-US"/>
          </a:p>
        </p:txBody>
      </p:sp>
    </p:spTree>
    <p:extLst>
      <p:ext uri="{BB962C8B-B14F-4D97-AF65-F5344CB8AC3E}">
        <p14:creationId xmlns:p14="http://schemas.microsoft.com/office/powerpoint/2010/main" val="42156372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15</a:t>
            </a:fld>
            <a:endParaRPr lang="en-US"/>
          </a:p>
        </p:txBody>
      </p:sp>
    </p:spTree>
    <p:extLst>
      <p:ext uri="{BB962C8B-B14F-4D97-AF65-F5344CB8AC3E}">
        <p14:creationId xmlns:p14="http://schemas.microsoft.com/office/powerpoint/2010/main" val="29647679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16</a:t>
            </a:fld>
            <a:endParaRPr lang="en-US"/>
          </a:p>
        </p:txBody>
      </p:sp>
    </p:spTree>
    <p:extLst>
      <p:ext uri="{BB962C8B-B14F-4D97-AF65-F5344CB8AC3E}">
        <p14:creationId xmlns:p14="http://schemas.microsoft.com/office/powerpoint/2010/main" val="16691562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b="1" dirty="0">
                <a:latin typeface="Arial" panose="020B0604020202020204" pitchFamily="34" charset="0"/>
              </a:rPr>
              <a:t>NOTE:</a:t>
            </a:r>
            <a:r>
              <a:rPr lang="en-US" altLang="en-US" sz="800" dirty="0">
                <a:latin typeface="Arial" panose="020B0604020202020204" pitchFamily="34" charset="0"/>
              </a:rPr>
              <a:t>  Facilitator needs to ensure that teams capture the "What's in it for me?" Will help internalize the objectives and benefits for each member.  MAY want to revisit these lists at conclusion of event… were expectations met or exceeded? to reinforce value of module. </a:t>
            </a:r>
          </a:p>
          <a:p>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17</a:t>
            </a:fld>
            <a:endParaRPr lang="en-US"/>
          </a:p>
        </p:txBody>
      </p:sp>
    </p:spTree>
    <p:extLst>
      <p:ext uri="{BB962C8B-B14F-4D97-AF65-F5344CB8AC3E}">
        <p14:creationId xmlns:p14="http://schemas.microsoft.com/office/powerpoint/2010/main" val="37121267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The 5S Process is VERY Prescriptive!  It is important to implement them in the order defined.  5S Culture is a mindset and habit developed through DISCIPLINE, perseverance and commitment and includes continuous improvement of the process itself.  5S requires a MINIMUM of six months, even years achieve.</a:t>
            </a:r>
          </a:p>
        </p:txBody>
      </p:sp>
      <p:sp>
        <p:nvSpPr>
          <p:cNvPr id="4" name="Slide Number Placeholder 3"/>
          <p:cNvSpPr>
            <a:spLocks noGrp="1"/>
          </p:cNvSpPr>
          <p:nvPr>
            <p:ph type="sldNum" sz="quarter" idx="5"/>
          </p:nvPr>
        </p:nvSpPr>
        <p:spPr/>
        <p:txBody>
          <a:bodyPr/>
          <a:lstStyle/>
          <a:p>
            <a:fld id="{AECD8548-F1A2-4EDF-A416-5F2BB6B8F64C}" type="slidenum">
              <a:rPr lang="en-US" smtClean="0"/>
              <a:t>18</a:t>
            </a:fld>
            <a:endParaRPr lang="en-US"/>
          </a:p>
        </p:txBody>
      </p:sp>
    </p:spTree>
    <p:extLst>
      <p:ext uri="{BB962C8B-B14F-4D97-AF65-F5344CB8AC3E}">
        <p14:creationId xmlns:p14="http://schemas.microsoft.com/office/powerpoint/2010/main" val="36110981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15000"/>
              </a:lnSpc>
              <a:spcBef>
                <a:spcPct val="20000"/>
              </a:spcBef>
              <a:spcAft>
                <a:spcPct val="20000"/>
              </a:spcAft>
              <a:buClr>
                <a:schemeClr val="accent1"/>
              </a:buClr>
              <a:buSzPct val="40000"/>
              <a:buFont typeface="Wingdings 2" panose="05020102010507070707" pitchFamily="18" charset="2"/>
              <a:buNone/>
              <a:tabLst/>
              <a:defRPr/>
            </a:pPr>
            <a:r>
              <a:rPr lang="en-US" altLang="en-US" sz="800" b="1" dirty="0">
                <a:latin typeface="Arial" panose="020B0604020202020204" pitchFamily="34" charset="0"/>
              </a:rPr>
              <a:t>NOTE:</a:t>
            </a:r>
            <a:r>
              <a:rPr lang="en-US" altLang="en-US" sz="800" dirty="0">
                <a:latin typeface="Arial" panose="020B0604020202020204" pitchFamily="34" charset="0"/>
              </a:rPr>
              <a:t>  Office owner must determine if there are any "Private</a:t>
            </a:r>
            <a:r>
              <a:rPr lang="ja-JP" altLang="en-US" sz="800" dirty="0">
                <a:latin typeface="Arial" panose="020B0604020202020204" pitchFamily="34" charset="0"/>
              </a:rPr>
              <a:t>“</a:t>
            </a:r>
            <a:r>
              <a:rPr lang="en-US" altLang="ja-JP" sz="800" dirty="0">
                <a:latin typeface="Arial" panose="020B0604020202020204" pitchFamily="34" charset="0"/>
              </a:rPr>
              <a:t>/</a:t>
            </a:r>
            <a:r>
              <a:rPr lang="ja-JP" altLang="en-US" sz="800" dirty="0">
                <a:latin typeface="Arial" panose="020B0604020202020204" pitchFamily="34" charset="0"/>
              </a:rPr>
              <a:t>”</a:t>
            </a:r>
            <a:r>
              <a:rPr lang="en-US" altLang="ja-JP" sz="800" dirty="0">
                <a:latin typeface="Arial" panose="020B0604020202020204" pitchFamily="34" charset="0"/>
              </a:rPr>
              <a:t>Sensitive</a:t>
            </a:r>
            <a:r>
              <a:rPr lang="ja-JP" altLang="en-US" sz="800" dirty="0">
                <a:latin typeface="Arial" panose="020B0604020202020204" pitchFamily="34" charset="0"/>
              </a:rPr>
              <a:t>”</a:t>
            </a:r>
            <a:r>
              <a:rPr lang="en-US" altLang="ja-JP" sz="800" dirty="0">
                <a:latin typeface="Arial" panose="020B0604020202020204" pitchFamily="34" charset="0"/>
              </a:rPr>
              <a:t> data items which are off-limits; specify how much computer 5S to include…careful not to do TOO much and become solitary effort (may need to establish standard, and apply to xx% of hard drive, then place remainder on newspaper).  Important for all team members to be engaged at all times. </a:t>
            </a:r>
            <a:endParaRPr lang="en-US" altLang="en-US" sz="800" dirty="0">
              <a:latin typeface="Arial" panose="020B0604020202020204" pitchFamily="34" charset="0"/>
            </a:endParaRPr>
          </a:p>
          <a:p>
            <a:pPr>
              <a:lnSpc>
                <a:spcPct val="115000"/>
              </a:lnSpc>
              <a:spcBef>
                <a:spcPct val="20000"/>
              </a:spcBef>
              <a:spcAft>
                <a:spcPct val="20000"/>
              </a:spcAft>
              <a:buClr>
                <a:schemeClr val="accent1"/>
              </a:buClr>
              <a:buSzPct val="40000"/>
              <a:buFont typeface="Wingdings 2" panose="05020102010507070707" pitchFamily="18" charset="2"/>
              <a:buNone/>
            </a:pPr>
            <a:endParaRPr lang="en-US" altLang="en-US" sz="800" b="1"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19</a:t>
            </a:fld>
            <a:endParaRPr lang="en-US"/>
          </a:p>
        </p:txBody>
      </p:sp>
    </p:spTree>
    <p:extLst>
      <p:ext uri="{BB962C8B-B14F-4D97-AF65-F5344CB8AC3E}">
        <p14:creationId xmlns:p14="http://schemas.microsoft.com/office/powerpoint/2010/main" val="36737864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20</a:t>
            </a:fld>
            <a:endParaRPr lang="en-US"/>
          </a:p>
        </p:txBody>
      </p:sp>
    </p:spTree>
    <p:extLst>
      <p:ext uri="{BB962C8B-B14F-4D97-AF65-F5344CB8AC3E}">
        <p14:creationId xmlns:p14="http://schemas.microsoft.com/office/powerpoint/2010/main" val="38717883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Have participants pull this CHECKLIST out for use during event.  This is a handy reference to make sure you don</a:t>
            </a:r>
            <a:r>
              <a:rPr lang="ja-JP" altLang="en-US" dirty="0">
                <a:latin typeface="Arial" panose="020B0604020202020204" pitchFamily="34" charset="0"/>
              </a:rPr>
              <a:t>’</a:t>
            </a:r>
            <a:r>
              <a:rPr lang="en-US" altLang="ja-JP" dirty="0">
                <a:latin typeface="Arial" panose="020B0604020202020204" pitchFamily="34" charset="0"/>
              </a:rPr>
              <a:t>t miss any </a:t>
            </a:r>
            <a:r>
              <a:rPr lang="ja-JP" altLang="en-US" dirty="0">
                <a:latin typeface="Arial" panose="020B0604020202020204" pitchFamily="34" charset="0"/>
              </a:rPr>
              <a:t>“</a:t>
            </a:r>
            <a:r>
              <a:rPr lang="en-US" altLang="ja-JP" dirty="0">
                <a:latin typeface="Arial" panose="020B0604020202020204" pitchFamily="34" charset="0"/>
              </a:rPr>
              <a:t>hidden</a:t>
            </a:r>
            <a:r>
              <a:rPr lang="ja-JP" altLang="en-US" dirty="0">
                <a:latin typeface="Arial" panose="020B0604020202020204" pitchFamily="34" charset="0"/>
              </a:rPr>
              <a:t>”</a:t>
            </a:r>
            <a:r>
              <a:rPr lang="en-US" altLang="ja-JP" dirty="0">
                <a:latin typeface="Arial" panose="020B0604020202020204" pitchFamily="34" charset="0"/>
              </a:rPr>
              <a:t> items.  </a:t>
            </a:r>
          </a:p>
          <a:p>
            <a:r>
              <a:rPr lang="en-US" altLang="en-US" b="1" dirty="0">
                <a:latin typeface="Arial" panose="020B0604020202020204" pitchFamily="34" charset="0"/>
              </a:rPr>
              <a:t>ASK:</a:t>
            </a:r>
            <a:r>
              <a:rPr lang="en-US" altLang="en-US" dirty="0">
                <a:latin typeface="Arial" panose="020B0604020202020204" pitchFamily="34" charset="0"/>
              </a:rPr>
              <a:t> the participants if they can think of other areas which should be reviewed (write them down). </a:t>
            </a:r>
            <a:br>
              <a:rPr lang="en-US" altLang="en-US" dirty="0">
                <a:latin typeface="Arial" panose="020B0604020202020204" pitchFamily="34" charset="0"/>
              </a:rPr>
            </a:br>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21</a:t>
            </a:fld>
            <a:endParaRPr lang="en-US"/>
          </a:p>
        </p:txBody>
      </p:sp>
    </p:spTree>
    <p:extLst>
      <p:ext uri="{BB962C8B-B14F-4D97-AF65-F5344CB8AC3E}">
        <p14:creationId xmlns:p14="http://schemas.microsoft.com/office/powerpoint/2010/main" val="506086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22</a:t>
            </a:fld>
            <a:endParaRPr lang="en-US"/>
          </a:p>
        </p:txBody>
      </p:sp>
    </p:spTree>
    <p:extLst>
      <p:ext uri="{BB962C8B-B14F-4D97-AF65-F5344CB8AC3E}">
        <p14:creationId xmlns:p14="http://schemas.microsoft.com/office/powerpoint/2010/main" val="11565902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23</a:t>
            </a:fld>
            <a:endParaRPr lang="en-US"/>
          </a:p>
        </p:txBody>
      </p:sp>
    </p:spTree>
    <p:extLst>
      <p:ext uri="{BB962C8B-B14F-4D97-AF65-F5344CB8AC3E}">
        <p14:creationId xmlns:p14="http://schemas.microsoft.com/office/powerpoint/2010/main" val="33198729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24</a:t>
            </a:fld>
            <a:endParaRPr lang="en-US"/>
          </a:p>
        </p:txBody>
      </p:sp>
    </p:spTree>
    <p:extLst>
      <p:ext uri="{BB962C8B-B14F-4D97-AF65-F5344CB8AC3E}">
        <p14:creationId xmlns:p14="http://schemas.microsoft.com/office/powerpoint/2010/main" val="6620646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25</a:t>
            </a:fld>
            <a:endParaRPr lang="en-US"/>
          </a:p>
        </p:txBody>
      </p:sp>
    </p:spTree>
    <p:extLst>
      <p:ext uri="{BB962C8B-B14F-4D97-AF65-F5344CB8AC3E}">
        <p14:creationId xmlns:p14="http://schemas.microsoft.com/office/powerpoint/2010/main" val="28016635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First step is to literally SORT everything included in your scope of this event.  Throw away anything you know you can.  This includes your computer files as well.  Remember that purpose of 1S is to SIMPLIFY and reveal the actual business process.  Hold off on literal </a:t>
            </a:r>
            <a:r>
              <a:rPr lang="ja-JP" altLang="en-US" dirty="0">
                <a:latin typeface="Arial" panose="020B0604020202020204" pitchFamily="34" charset="0"/>
              </a:rPr>
              <a:t>“</a:t>
            </a:r>
            <a:r>
              <a:rPr lang="en-US" altLang="ja-JP" dirty="0">
                <a:latin typeface="Arial" panose="020B0604020202020204" pitchFamily="34" charset="0"/>
              </a:rPr>
              <a:t>storing</a:t>
            </a:r>
            <a:r>
              <a:rPr lang="ja-JP" altLang="en-US" dirty="0">
                <a:latin typeface="Arial" panose="020B0604020202020204" pitchFamily="34" charset="0"/>
              </a:rPr>
              <a:t>”</a:t>
            </a:r>
            <a:r>
              <a:rPr lang="en-US" altLang="ja-JP" dirty="0">
                <a:latin typeface="Arial" panose="020B0604020202020204" pitchFamily="34" charset="0"/>
              </a:rPr>
              <a:t> of items that you keep in your office until implementation of 2S when you decide on organizational techniques.</a:t>
            </a:r>
          </a:p>
          <a:p>
            <a:r>
              <a:rPr lang="en-US" altLang="en-US" b="1" dirty="0">
                <a:latin typeface="Arial" panose="020B0604020202020204" pitchFamily="34" charset="0"/>
              </a:rPr>
              <a:t>NOTE:</a:t>
            </a:r>
            <a:r>
              <a:rPr lang="en-US" altLang="en-US" dirty="0">
                <a:latin typeface="Arial" panose="020B0604020202020204" pitchFamily="34" charset="0"/>
              </a:rPr>
              <a:t>  If needed, common definitions of </a:t>
            </a:r>
            <a:r>
              <a:rPr lang="ja-JP" altLang="en-US" dirty="0">
                <a:latin typeface="Arial" panose="020B0604020202020204" pitchFamily="34" charset="0"/>
              </a:rPr>
              <a:t>“</a:t>
            </a:r>
            <a:r>
              <a:rPr lang="en-US" altLang="ja-JP" dirty="0">
                <a:latin typeface="Arial" panose="020B0604020202020204" pitchFamily="34" charset="0"/>
              </a:rPr>
              <a:t>frequencies</a:t>
            </a:r>
            <a:r>
              <a:rPr lang="ja-JP" altLang="en-US" dirty="0">
                <a:latin typeface="Arial" panose="020B0604020202020204" pitchFamily="34" charset="0"/>
              </a:rPr>
              <a:t>”</a:t>
            </a:r>
            <a:r>
              <a:rPr lang="en-US" altLang="ja-JP" dirty="0">
                <a:latin typeface="Arial" panose="020B0604020202020204" pitchFamily="34" charset="0"/>
              </a:rPr>
              <a:t>:  Rarely Used = once or twice per year; Occasionally used = monthly or weekly; Frequently = Daily or Hourly or </a:t>
            </a:r>
            <a:r>
              <a:rPr lang="ja-JP" altLang="en-US" dirty="0">
                <a:latin typeface="Arial" panose="020B0604020202020204" pitchFamily="34" charset="0"/>
              </a:rPr>
              <a:t>“</a:t>
            </a:r>
            <a:r>
              <a:rPr lang="en-US" altLang="ja-JP" dirty="0">
                <a:latin typeface="Arial" panose="020B0604020202020204" pitchFamily="34" charset="0"/>
              </a:rPr>
              <a:t>Constantly</a:t>
            </a:r>
            <a:r>
              <a:rPr lang="ja-JP" altLang="en-US" dirty="0">
                <a:latin typeface="Arial" panose="020B0604020202020204" pitchFamily="34" charset="0"/>
              </a:rPr>
              <a:t>”</a:t>
            </a:r>
            <a:r>
              <a:rPr lang="en-US" altLang="ja-JP"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26</a:t>
            </a:fld>
            <a:endParaRPr lang="en-US"/>
          </a:p>
        </p:txBody>
      </p:sp>
    </p:spTree>
    <p:extLst>
      <p:ext uri="{BB962C8B-B14F-4D97-AF65-F5344CB8AC3E}">
        <p14:creationId xmlns:p14="http://schemas.microsoft.com/office/powerpoint/2010/main" val="5190641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Avoid personal collections.  If you have more personal items than work-related items, then you have too much!  Remember to keep your work area professional and don</a:t>
            </a:r>
            <a:r>
              <a:rPr lang="ja-JP" altLang="en-US" dirty="0">
                <a:latin typeface="Arial" panose="020B0604020202020204" pitchFamily="34" charset="0"/>
              </a:rPr>
              <a:t>’</a:t>
            </a:r>
            <a:r>
              <a:rPr lang="en-US" altLang="ja-JP" dirty="0">
                <a:latin typeface="Arial" panose="020B0604020202020204" pitchFamily="34" charset="0"/>
              </a:rPr>
              <a:t>t let personal items clutter your space.</a:t>
            </a:r>
          </a:p>
          <a:p>
            <a:r>
              <a:rPr lang="en-US" altLang="en-US" b="1" dirty="0">
                <a:latin typeface="Arial" panose="020B0604020202020204" pitchFamily="34" charset="0"/>
              </a:rPr>
              <a:t>SAY:</a:t>
            </a:r>
            <a:r>
              <a:rPr lang="en-US" altLang="en-US" dirty="0">
                <a:latin typeface="Arial" panose="020B0604020202020204" pitchFamily="34" charset="0"/>
              </a:rPr>
              <a:t>  If you have books or binders that you </a:t>
            </a:r>
            <a:r>
              <a:rPr lang="en-US" altLang="en-US" dirty="0" err="1">
                <a:latin typeface="Arial" panose="020B0604020202020204" pitchFamily="34" charset="0"/>
              </a:rPr>
              <a:t>aren</a:t>
            </a:r>
            <a:r>
              <a:rPr lang="ja-JP" altLang="en-US" dirty="0">
                <a:latin typeface="Arial" panose="020B0604020202020204" pitchFamily="34" charset="0"/>
              </a:rPr>
              <a:t>’</a:t>
            </a:r>
            <a:r>
              <a:rPr lang="en-US" altLang="ja-JP" dirty="0">
                <a:latin typeface="Arial" panose="020B0604020202020204" pitchFamily="34" charset="0"/>
              </a:rPr>
              <a:t>t comfortable discarding today, then take a small piece of tape to close the book with.  Mark today</a:t>
            </a:r>
            <a:r>
              <a:rPr lang="ja-JP" altLang="en-US" dirty="0">
                <a:latin typeface="Arial" panose="020B0604020202020204" pitchFamily="34" charset="0"/>
              </a:rPr>
              <a:t>’</a:t>
            </a:r>
            <a:r>
              <a:rPr lang="en-US" altLang="ja-JP" dirty="0">
                <a:latin typeface="Arial" panose="020B0604020202020204" pitchFamily="34" charset="0"/>
              </a:rPr>
              <a:t>s date on it with </a:t>
            </a:r>
            <a:r>
              <a:rPr lang="ja-JP" altLang="en-US" dirty="0">
                <a:latin typeface="Arial" panose="020B0604020202020204" pitchFamily="34" charset="0"/>
              </a:rPr>
              <a:t>“</a:t>
            </a:r>
            <a:r>
              <a:rPr lang="en-US" altLang="ja-JP" dirty="0">
                <a:latin typeface="Arial" panose="020B0604020202020204" pitchFamily="34" charset="0"/>
              </a:rPr>
              <a:t>date last used.</a:t>
            </a:r>
            <a:r>
              <a:rPr lang="ja-JP" altLang="en-US" dirty="0">
                <a:latin typeface="Arial" panose="020B0604020202020204" pitchFamily="34" charset="0"/>
              </a:rPr>
              <a:t>”</a:t>
            </a:r>
            <a:r>
              <a:rPr lang="en-US" altLang="ja-JP" dirty="0">
                <a:latin typeface="Arial" panose="020B0604020202020204" pitchFamily="34" charset="0"/>
              </a:rPr>
              <a:t>  When you get to the fourth S, you can implement a process to check these items once a month or so, and discard when you realize that you really don</a:t>
            </a:r>
            <a:r>
              <a:rPr lang="ja-JP" altLang="en-US" dirty="0">
                <a:latin typeface="Arial" panose="020B0604020202020204" pitchFamily="34" charset="0"/>
              </a:rPr>
              <a:t>’</a:t>
            </a:r>
            <a:r>
              <a:rPr lang="en-US" altLang="ja-JP" dirty="0">
                <a:latin typeface="Arial" panose="020B0604020202020204" pitchFamily="34" charset="0"/>
              </a:rPr>
              <a:t>t need it.  Also, if you have popular books you want to keep to share with others in the company, consider establishing a central/common </a:t>
            </a:r>
            <a:r>
              <a:rPr lang="ja-JP" altLang="en-US" dirty="0">
                <a:latin typeface="Arial" panose="020B0604020202020204" pitchFamily="34" charset="0"/>
              </a:rPr>
              <a:t>“</a:t>
            </a:r>
            <a:r>
              <a:rPr lang="en-US" altLang="ja-JP" dirty="0">
                <a:latin typeface="Arial" panose="020B0604020202020204" pitchFamily="34" charset="0"/>
              </a:rPr>
              <a:t>library</a:t>
            </a:r>
            <a:r>
              <a:rPr lang="ja-JP" altLang="en-US" dirty="0">
                <a:latin typeface="Arial" panose="020B0604020202020204" pitchFamily="34" charset="0"/>
              </a:rPr>
              <a:t>”</a:t>
            </a:r>
            <a:r>
              <a:rPr lang="en-US" altLang="ja-JP" dirty="0">
                <a:latin typeface="Arial" panose="020B0604020202020204" pitchFamily="34" charset="0"/>
              </a:rPr>
              <a:t> for </a:t>
            </a:r>
            <a:r>
              <a:rPr lang="ja-JP" altLang="en-US" dirty="0">
                <a:latin typeface="Arial" panose="020B0604020202020204" pitchFamily="34" charset="0"/>
              </a:rPr>
              <a:t>“</a:t>
            </a:r>
            <a:r>
              <a:rPr lang="en-US" altLang="ja-JP" dirty="0">
                <a:latin typeface="Arial" panose="020B0604020202020204" pitchFamily="34" charset="0"/>
              </a:rPr>
              <a:t>public</a:t>
            </a:r>
            <a:r>
              <a:rPr lang="ja-JP" altLang="en-US" dirty="0">
                <a:latin typeface="Arial" panose="020B0604020202020204" pitchFamily="34" charset="0"/>
              </a:rPr>
              <a:t>”</a:t>
            </a:r>
            <a:r>
              <a:rPr lang="en-US" altLang="ja-JP" dirty="0">
                <a:latin typeface="Arial" panose="020B0604020202020204" pitchFamily="34" charset="0"/>
              </a:rPr>
              <a:t> use.  HOWEVER, make sure you don</a:t>
            </a:r>
            <a:r>
              <a:rPr lang="ja-JP" altLang="en-US" dirty="0">
                <a:latin typeface="Arial" panose="020B0604020202020204" pitchFamily="34" charset="0"/>
              </a:rPr>
              <a:t>’</a:t>
            </a:r>
            <a:r>
              <a:rPr lang="en-US" altLang="ja-JP" dirty="0">
                <a:latin typeface="Arial" panose="020B0604020202020204" pitchFamily="34" charset="0"/>
              </a:rPr>
              <a:t>t just create another dumping ground.  Should you decide to go this route, make sure everyone is on board and there is a clear owner for the area, as well as a visual process for using the library.</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27</a:t>
            </a:fld>
            <a:endParaRPr lang="en-US"/>
          </a:p>
        </p:txBody>
      </p:sp>
    </p:spTree>
    <p:extLst>
      <p:ext uri="{BB962C8B-B14F-4D97-AF65-F5344CB8AC3E}">
        <p14:creationId xmlns:p14="http://schemas.microsoft.com/office/powerpoint/2010/main" val="4067339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ASK: the group to identify where to place items that may be re-used or needed by someone else (I.e. a “red-tag” area).  Make SURE that this area is cleared out before the event is complete!  These areas tend to get forgotten or just become a way of storing junk somewhere else!</a:t>
            </a:r>
          </a:p>
          <a:p>
            <a:endParaRPr lang="en-US" altLang="en-US" b="1" dirty="0">
              <a:latin typeface="Arial" panose="020B0604020202020204" pitchFamily="34" charset="0"/>
            </a:endParaRPr>
          </a:p>
          <a:p>
            <a:r>
              <a:rPr lang="en-US" altLang="en-US" b="1" dirty="0">
                <a:latin typeface="Arial" panose="020B0604020202020204" pitchFamily="34" charset="0"/>
              </a:rPr>
              <a:t>Have Multiple Teams use ONE area for “review” and encourage them to plan a time for everyone to get together at specific team during event week to decide what to do with what is in this area (</a:t>
            </a:r>
            <a:r>
              <a:rPr lang="en-US" altLang="en-US" b="1" dirty="0" err="1">
                <a:latin typeface="Arial" panose="020B0604020202020204" pitchFamily="34" charset="0"/>
              </a:rPr>
              <a:t>ie</a:t>
            </a:r>
            <a:r>
              <a:rPr lang="en-US" altLang="en-US" b="1" dirty="0">
                <a:latin typeface="Arial" panose="020B0604020202020204" pitchFamily="34" charset="0"/>
              </a:rPr>
              <a:t>, OK to trash, Sell/Auction to employees for personal use, Store in approved area, deliver to Mr. XYZ or MRS. PDQ, Donate to School, Raffle off for charity, Deliver to Recycling Facility, etc.)</a:t>
            </a:r>
          </a:p>
          <a:p>
            <a:endParaRPr lang="en-US" altLang="en-US" b="1"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28</a:t>
            </a:fld>
            <a:endParaRPr lang="en-US"/>
          </a:p>
        </p:txBody>
      </p:sp>
    </p:spTree>
    <p:extLst>
      <p:ext uri="{BB962C8B-B14F-4D97-AF65-F5344CB8AC3E}">
        <p14:creationId xmlns:p14="http://schemas.microsoft.com/office/powerpoint/2010/main" val="27003839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29</a:t>
            </a:fld>
            <a:endParaRPr lang="en-US"/>
          </a:p>
        </p:txBody>
      </p:sp>
    </p:spTree>
    <p:extLst>
      <p:ext uri="{BB962C8B-B14F-4D97-AF65-F5344CB8AC3E}">
        <p14:creationId xmlns:p14="http://schemas.microsoft.com/office/powerpoint/2010/main" val="27537984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30</a:t>
            </a:fld>
            <a:endParaRPr lang="en-US"/>
          </a:p>
        </p:txBody>
      </p:sp>
    </p:spTree>
    <p:extLst>
      <p:ext uri="{BB962C8B-B14F-4D97-AF65-F5344CB8AC3E}">
        <p14:creationId xmlns:p14="http://schemas.microsoft.com/office/powerpoint/2010/main" val="14862942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31</a:t>
            </a:fld>
            <a:endParaRPr lang="en-US"/>
          </a:p>
        </p:txBody>
      </p:sp>
    </p:spTree>
    <p:extLst>
      <p:ext uri="{BB962C8B-B14F-4D97-AF65-F5344CB8AC3E}">
        <p14:creationId xmlns:p14="http://schemas.microsoft.com/office/powerpoint/2010/main" val="31629768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dirty="0">
                <a:latin typeface="Arial" panose="020B0604020202020204" pitchFamily="34" charset="0"/>
                <a:ea typeface="ＭＳ Ｐゴシック" panose="020B0600070205080204" pitchFamily="34" charset="-128"/>
              </a:rPr>
              <a:t>DO:  Hand out color copies of the case study photos, one set per team.  Ask them to save the photos for other exercises in this module.</a:t>
            </a:r>
          </a:p>
          <a:p>
            <a:r>
              <a:rPr lang="en-US" altLang="en-US" sz="800" dirty="0">
                <a:latin typeface="Arial" panose="020B0604020202020204" pitchFamily="34" charset="0"/>
                <a:ea typeface="ＭＳ Ｐゴシック" panose="020B0600070205080204" pitchFamily="34" charset="-128"/>
              </a:rPr>
              <a:t>NOTE:  Potential Answers/Strategy:</a:t>
            </a:r>
          </a:p>
          <a:p>
            <a:r>
              <a:rPr lang="en-US" altLang="en-US" sz="800" dirty="0">
                <a:latin typeface="Arial" panose="020B0604020202020204" pitchFamily="34" charset="0"/>
                <a:ea typeface="ＭＳ Ｐゴシック" panose="020B0600070205080204" pitchFamily="34" charset="-128"/>
              </a:rPr>
              <a:t>Recommend first step to literally remove everything from the area and then sort into the categories of how often the items are used. (Never, rarely, weekly, daily, hourly, etc.).  Throw away anything that is never used and consider “remote storage” for rarely or infrequently used items.  </a:t>
            </a:r>
          </a:p>
          <a:p>
            <a:r>
              <a:rPr lang="en-US" altLang="en-US" sz="800" dirty="0">
                <a:latin typeface="Arial" panose="020B0604020202020204" pitchFamily="34" charset="0"/>
                <a:ea typeface="ＭＳ Ｐゴシック" panose="020B0600070205080204" pitchFamily="34" charset="-128"/>
              </a:rPr>
              <a:t>For consideration:  It looks like more than half the desktop space is used for personal photos (?).  Recommend that these be consolidated into a collage or perhaps only use one or two photos?  Could purchase an inexpensive collage-type photo frame for most of the photos and hang on the wall BEHIND the desk – this would free up ~50% of desktop space which should be used for FREQUENTLY used items!</a:t>
            </a:r>
          </a:p>
          <a:p>
            <a:r>
              <a:rPr lang="en-US" altLang="en-US" sz="800" dirty="0">
                <a:latin typeface="Arial" panose="020B0604020202020204" pitchFamily="34" charset="0"/>
                <a:ea typeface="ＭＳ Ｐゴシック" panose="020B0600070205080204" pitchFamily="34" charset="-128"/>
              </a:rPr>
              <a:t>Also, examine the amount of office supplies in top drawer – looks like large box of pencils – this is a year’s worth or more of inventory?  Recommend a central supply storage for office supplies and only keep minimal amount in “handy” locations where VERY frequently used items should go… or, if there is room, there could be a small shelf or storage area behind the desk area or even may have room in a BOTTOM drawer for the excess supplies.</a:t>
            </a:r>
          </a:p>
          <a:p>
            <a:r>
              <a:rPr lang="en-US" altLang="en-US" sz="800" dirty="0">
                <a:latin typeface="Arial" panose="020B0604020202020204" pitchFamily="34" charset="0"/>
                <a:ea typeface="ＭＳ Ｐゴシック" panose="020B0600070205080204" pitchFamily="34" charset="-128"/>
              </a:rPr>
              <a:t>There are boxes on the floor, boxes in the cabinet and items in the corner of the room?  Need to carefully examine these items to determine where and if they belong.  Obviously, the box on the floor does not…</a:t>
            </a:r>
          </a:p>
          <a:p>
            <a:r>
              <a:rPr lang="en-US" altLang="en-US" sz="800" dirty="0">
                <a:latin typeface="Arial" panose="020B0604020202020204" pitchFamily="34" charset="0"/>
                <a:ea typeface="ＭＳ Ｐゴシック" panose="020B0600070205080204" pitchFamily="34" charset="-128"/>
              </a:rPr>
              <a:t>Use a virus scan software or pc management tool (if available) to quickly scan computer for files and programs not used recently.  Use this data to delete files and remove unused programs.  Don’t forget to record the amount of disc space used before making any changes!</a:t>
            </a:r>
          </a:p>
        </p:txBody>
      </p:sp>
      <p:sp>
        <p:nvSpPr>
          <p:cNvPr id="4" name="Slide Number Placeholder 3"/>
          <p:cNvSpPr>
            <a:spLocks noGrp="1"/>
          </p:cNvSpPr>
          <p:nvPr>
            <p:ph type="sldNum" sz="quarter" idx="5"/>
          </p:nvPr>
        </p:nvSpPr>
        <p:spPr/>
        <p:txBody>
          <a:bodyPr/>
          <a:lstStyle/>
          <a:p>
            <a:fld id="{AECD8548-F1A2-4EDF-A416-5F2BB6B8F64C}" type="slidenum">
              <a:rPr lang="en-US" smtClean="0"/>
              <a:t>32</a:t>
            </a:fld>
            <a:endParaRPr lang="en-US"/>
          </a:p>
        </p:txBody>
      </p:sp>
    </p:spTree>
    <p:extLst>
      <p:ext uri="{BB962C8B-B14F-4D97-AF65-F5344CB8AC3E}">
        <p14:creationId xmlns:p14="http://schemas.microsoft.com/office/powerpoint/2010/main" val="4676306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a typeface="ＭＳ Ｐゴシック" charset="0"/>
              </a:rPr>
              <a:t>NOTE:</a:t>
            </a:r>
            <a:r>
              <a:rPr lang="en-US" dirty="0">
                <a:ea typeface="ＭＳ Ｐゴシック" charset="0"/>
              </a:rPr>
              <a:t>  This is an example of a computer desktop before and after.  Remind participants that 5S covers electronic/virtual media as well as the tangible items in the office.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33</a:t>
            </a:fld>
            <a:endParaRPr lang="en-US"/>
          </a:p>
        </p:txBody>
      </p:sp>
    </p:spTree>
    <p:extLst>
      <p:ext uri="{BB962C8B-B14F-4D97-AF65-F5344CB8AC3E}">
        <p14:creationId xmlns:p14="http://schemas.microsoft.com/office/powerpoint/2010/main" val="98073680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By eliminating unnecessary items, this office owner gained valuable </a:t>
            </a:r>
            <a:r>
              <a:rPr lang="ja-JP" altLang="en-US" dirty="0">
                <a:latin typeface="Arial" panose="020B0604020202020204" pitchFamily="34" charset="0"/>
              </a:rPr>
              <a:t>“</a:t>
            </a:r>
            <a:r>
              <a:rPr lang="en-US" altLang="ja-JP" dirty="0">
                <a:latin typeface="Arial" panose="020B0604020202020204" pitchFamily="34" charset="0"/>
              </a:rPr>
              <a:t>real estate</a:t>
            </a:r>
            <a:r>
              <a:rPr lang="ja-JP" altLang="en-US" dirty="0">
                <a:latin typeface="Arial" panose="020B0604020202020204" pitchFamily="34" charset="0"/>
              </a:rPr>
              <a:t>”</a:t>
            </a:r>
            <a:r>
              <a:rPr lang="en-US" altLang="ja-JP" dirty="0">
                <a:latin typeface="Arial" panose="020B0604020202020204" pitchFamily="34" charset="0"/>
              </a:rPr>
              <a:t> and donated this shelf to a co-worker who was about to order a new one!</a:t>
            </a:r>
          </a:p>
          <a:p>
            <a:r>
              <a:rPr lang="en-US" altLang="en-US" b="1" dirty="0">
                <a:latin typeface="Arial" panose="020B0604020202020204" pitchFamily="34" charset="0"/>
              </a:rPr>
              <a:t>ASK:</a:t>
            </a:r>
            <a:r>
              <a:rPr lang="en-US" altLang="en-US" dirty="0">
                <a:latin typeface="Arial" panose="020B0604020202020204" pitchFamily="34" charset="0"/>
              </a:rPr>
              <a:t>  Which picture do you find more visually appealing?</a:t>
            </a:r>
          </a:p>
        </p:txBody>
      </p:sp>
      <p:sp>
        <p:nvSpPr>
          <p:cNvPr id="4" name="Slide Number Placeholder 3"/>
          <p:cNvSpPr>
            <a:spLocks noGrp="1"/>
          </p:cNvSpPr>
          <p:nvPr>
            <p:ph type="sldNum" sz="quarter" idx="5"/>
          </p:nvPr>
        </p:nvSpPr>
        <p:spPr/>
        <p:txBody>
          <a:bodyPr/>
          <a:lstStyle/>
          <a:p>
            <a:fld id="{AECD8548-F1A2-4EDF-A416-5F2BB6B8F64C}" type="slidenum">
              <a:rPr lang="en-US" smtClean="0"/>
              <a:t>34</a:t>
            </a:fld>
            <a:endParaRPr lang="en-US"/>
          </a:p>
        </p:txBody>
      </p:sp>
    </p:spTree>
    <p:extLst>
      <p:ext uri="{BB962C8B-B14F-4D97-AF65-F5344CB8AC3E}">
        <p14:creationId xmlns:p14="http://schemas.microsoft.com/office/powerpoint/2010/main" val="6688408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ASK:</a:t>
            </a:r>
            <a:r>
              <a:rPr lang="en-US" altLang="en-US" dirty="0">
                <a:latin typeface="Arial" panose="020B0604020202020204" pitchFamily="34" charset="0"/>
              </a:rPr>
              <a:t>  How often do you see this?  Make sure you are using office </a:t>
            </a:r>
            <a:r>
              <a:rPr lang="ja-JP" altLang="en-US" dirty="0">
                <a:latin typeface="Arial" panose="020B0604020202020204" pitchFamily="34" charset="0"/>
              </a:rPr>
              <a:t>“</a:t>
            </a:r>
            <a:r>
              <a:rPr lang="en-US" altLang="ja-JP" dirty="0">
                <a:latin typeface="Arial" panose="020B0604020202020204" pitchFamily="34" charset="0"/>
              </a:rPr>
              <a:t>tools</a:t>
            </a:r>
            <a:r>
              <a:rPr lang="ja-JP" altLang="en-US" dirty="0">
                <a:latin typeface="Arial" panose="020B0604020202020204" pitchFamily="34" charset="0"/>
              </a:rPr>
              <a:t>”</a:t>
            </a:r>
            <a:r>
              <a:rPr lang="en-US" altLang="ja-JP" dirty="0">
                <a:latin typeface="Arial" panose="020B0604020202020204" pitchFamily="34" charset="0"/>
              </a:rPr>
              <a:t> for the purpose intended. </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35</a:t>
            </a:fld>
            <a:endParaRPr lang="en-US"/>
          </a:p>
        </p:txBody>
      </p:sp>
    </p:spTree>
    <p:extLst>
      <p:ext uri="{BB962C8B-B14F-4D97-AF65-F5344CB8AC3E}">
        <p14:creationId xmlns:p14="http://schemas.microsoft.com/office/powerpoint/2010/main" val="9600835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b="1" dirty="0">
                <a:latin typeface="Arial" panose="020B0604020202020204" pitchFamily="34" charset="0"/>
              </a:rPr>
              <a:t>DO:</a:t>
            </a:r>
            <a:r>
              <a:rPr lang="en-US" altLang="en-US" sz="800" dirty="0">
                <a:latin typeface="Arial" panose="020B0604020202020204" pitchFamily="34" charset="0"/>
              </a:rPr>
              <a:t>  Work with teams to agree on time to complete 1S.  Instruct all teams to return to the training room at the specified time, regardless of whether or not they are actually done.  It is important that no one hold up the entire group by causing the waste of WAITING!  You can go back and complete the first </a:t>
            </a:r>
            <a:r>
              <a:rPr lang="ja-JP" altLang="en-US" sz="800" dirty="0">
                <a:latin typeface="Arial" panose="020B0604020202020204" pitchFamily="34" charset="0"/>
              </a:rPr>
              <a:t>“</a:t>
            </a:r>
            <a:r>
              <a:rPr lang="en-US" altLang="ja-JP" sz="800" dirty="0">
                <a:latin typeface="Arial" panose="020B0604020202020204" pitchFamily="34" charset="0"/>
              </a:rPr>
              <a:t>S</a:t>
            </a:r>
            <a:r>
              <a:rPr lang="ja-JP" altLang="en-US" sz="800" dirty="0">
                <a:latin typeface="Arial" panose="020B0604020202020204" pitchFamily="34" charset="0"/>
              </a:rPr>
              <a:t>”</a:t>
            </a:r>
            <a:r>
              <a:rPr lang="en-US" altLang="ja-JP" sz="800" dirty="0">
                <a:latin typeface="Arial" panose="020B0604020202020204" pitchFamily="34" charset="0"/>
              </a:rPr>
              <a:t> before you continue with the second </a:t>
            </a:r>
            <a:r>
              <a:rPr lang="ja-JP" altLang="en-US" sz="800" dirty="0">
                <a:latin typeface="Arial" panose="020B0604020202020204" pitchFamily="34" charset="0"/>
              </a:rPr>
              <a:t>“</a:t>
            </a:r>
            <a:r>
              <a:rPr lang="en-US" altLang="ja-JP" sz="800" dirty="0">
                <a:latin typeface="Arial" panose="020B0604020202020204" pitchFamily="34" charset="0"/>
              </a:rPr>
              <a:t>S</a:t>
            </a:r>
            <a:r>
              <a:rPr lang="ja-JP" altLang="en-US" sz="800" dirty="0">
                <a:latin typeface="Arial" panose="020B0604020202020204" pitchFamily="34" charset="0"/>
              </a:rPr>
              <a:t>”</a:t>
            </a:r>
            <a:r>
              <a:rPr lang="en-US" altLang="ja-JP" sz="800" dirty="0">
                <a:latin typeface="Arial" panose="020B0604020202020204" pitchFamily="34" charset="0"/>
              </a:rPr>
              <a:t>, if necessary.</a:t>
            </a:r>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36</a:t>
            </a:fld>
            <a:endParaRPr lang="en-US"/>
          </a:p>
        </p:txBody>
      </p:sp>
    </p:spTree>
    <p:extLst>
      <p:ext uri="{BB962C8B-B14F-4D97-AF65-F5344CB8AC3E}">
        <p14:creationId xmlns:p14="http://schemas.microsoft.com/office/powerpoint/2010/main" val="31704077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37</a:t>
            </a:fld>
            <a:endParaRPr lang="en-US"/>
          </a:p>
        </p:txBody>
      </p:sp>
    </p:spTree>
    <p:extLst>
      <p:ext uri="{BB962C8B-B14F-4D97-AF65-F5344CB8AC3E}">
        <p14:creationId xmlns:p14="http://schemas.microsoft.com/office/powerpoint/2010/main" val="29006430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38</a:t>
            </a:fld>
            <a:endParaRPr lang="en-US"/>
          </a:p>
        </p:txBody>
      </p:sp>
    </p:spTree>
    <p:extLst>
      <p:ext uri="{BB962C8B-B14F-4D97-AF65-F5344CB8AC3E}">
        <p14:creationId xmlns:p14="http://schemas.microsoft.com/office/powerpoint/2010/main" val="26536995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a typeface="ＭＳ Ｐゴシック" panose="020B0600070205080204" pitchFamily="34" charset="-128"/>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39</a:t>
            </a:fld>
            <a:endParaRPr lang="en-US"/>
          </a:p>
        </p:txBody>
      </p:sp>
    </p:spTree>
    <p:extLst>
      <p:ext uri="{BB962C8B-B14F-4D97-AF65-F5344CB8AC3E}">
        <p14:creationId xmlns:p14="http://schemas.microsoft.com/office/powerpoint/2010/main" val="34429743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a typeface="ＭＳ Ｐゴシック" panose="020B0600070205080204" pitchFamily="34" charset="-128"/>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40</a:t>
            </a:fld>
            <a:endParaRPr lang="en-US"/>
          </a:p>
        </p:txBody>
      </p:sp>
    </p:spTree>
    <p:extLst>
      <p:ext uri="{BB962C8B-B14F-4D97-AF65-F5344CB8AC3E}">
        <p14:creationId xmlns:p14="http://schemas.microsoft.com/office/powerpoint/2010/main" val="426353256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a typeface="ＭＳ Ｐゴシック" panose="020B0600070205080204" pitchFamily="34" charset="-128"/>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41</a:t>
            </a:fld>
            <a:endParaRPr lang="en-US"/>
          </a:p>
        </p:txBody>
      </p:sp>
    </p:spTree>
    <p:extLst>
      <p:ext uri="{BB962C8B-B14F-4D97-AF65-F5344CB8AC3E}">
        <p14:creationId xmlns:p14="http://schemas.microsoft.com/office/powerpoint/2010/main" val="26194545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ea typeface="ＭＳ Ｐゴシック" charset="0"/>
              </a:rPr>
              <a:t>ASK:</a:t>
            </a:r>
            <a:r>
              <a:rPr lang="en-US" dirty="0">
                <a:ea typeface="ＭＳ Ｐゴシック" charset="0"/>
              </a:rPr>
              <a:t>  What would driving be like without signs, traffic signals and road markings?  Visual management gives quick and easy directions to avoid a wreck (like this desk!)!</a:t>
            </a:r>
          </a:p>
          <a:p>
            <a:pPr>
              <a:defRPr/>
            </a:pPr>
            <a:r>
              <a:rPr lang="en-US" b="1" dirty="0">
                <a:ea typeface="ＭＳ Ｐゴシック" charset="0"/>
              </a:rPr>
              <a:t>NOTE:</a:t>
            </a:r>
            <a:r>
              <a:rPr lang="en-US" dirty="0">
                <a:ea typeface="ＭＳ Ｐゴシック" charset="0"/>
              </a:rPr>
              <a:t>  In case anyone really cares, the stapler is on the right, directly below the red, white and blue candle (it is tan colored with brown accents)</a:t>
            </a:r>
            <a:endParaRPr lang="en-US" b="1" dirty="0">
              <a:ea typeface="ＭＳ Ｐゴシック"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42</a:t>
            </a:fld>
            <a:endParaRPr lang="en-US"/>
          </a:p>
        </p:txBody>
      </p:sp>
    </p:spTree>
    <p:extLst>
      <p:ext uri="{BB962C8B-B14F-4D97-AF65-F5344CB8AC3E}">
        <p14:creationId xmlns:p14="http://schemas.microsoft.com/office/powerpoint/2010/main" val="240266460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ea typeface="ＭＳ Ｐゴシック" charset="0"/>
              </a:rPr>
              <a:t>ASK:</a:t>
            </a:r>
            <a:r>
              <a:rPr lang="en-US" dirty="0">
                <a:ea typeface="ＭＳ Ｐゴシック" charset="0"/>
              </a:rPr>
              <a:t>  Have you ever had problems finding a file on your hard drive?  Or on a shared drive (even worse!).  Taking the time to properly name files up-front will save you immeasurable time in the future.</a:t>
            </a:r>
          </a:p>
        </p:txBody>
      </p:sp>
      <p:sp>
        <p:nvSpPr>
          <p:cNvPr id="4" name="Slide Number Placeholder 3"/>
          <p:cNvSpPr>
            <a:spLocks noGrp="1"/>
          </p:cNvSpPr>
          <p:nvPr>
            <p:ph type="sldNum" sz="quarter" idx="5"/>
          </p:nvPr>
        </p:nvSpPr>
        <p:spPr/>
        <p:txBody>
          <a:bodyPr/>
          <a:lstStyle/>
          <a:p>
            <a:fld id="{AECD8548-F1A2-4EDF-A416-5F2BB6B8F64C}" type="slidenum">
              <a:rPr lang="en-US" smtClean="0"/>
              <a:t>43</a:t>
            </a:fld>
            <a:endParaRPr lang="en-US"/>
          </a:p>
        </p:txBody>
      </p:sp>
    </p:spTree>
    <p:extLst>
      <p:ext uri="{BB962C8B-B14F-4D97-AF65-F5344CB8AC3E}">
        <p14:creationId xmlns:p14="http://schemas.microsoft.com/office/powerpoint/2010/main" val="30855366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b="1" dirty="0">
                <a:latin typeface="Arial" panose="020B0604020202020204" pitchFamily="34" charset="0"/>
              </a:rPr>
              <a:t>DO:</a:t>
            </a:r>
            <a:r>
              <a:rPr lang="en-US" altLang="en-US" sz="800" dirty="0">
                <a:latin typeface="Arial" panose="020B0604020202020204" pitchFamily="34" charset="0"/>
              </a:rPr>
              <a:t> Give participants </a:t>
            </a:r>
            <a:r>
              <a:rPr lang="ja-JP" altLang="en-US" sz="800" dirty="0">
                <a:latin typeface="Arial" panose="020B0604020202020204" pitchFamily="34" charset="0"/>
              </a:rPr>
              <a:t>“</a:t>
            </a:r>
            <a:r>
              <a:rPr lang="en-US" altLang="ja-JP" sz="800" dirty="0">
                <a:latin typeface="Arial" panose="020B0604020202020204" pitchFamily="34" charset="0"/>
              </a:rPr>
              <a:t>creative license.</a:t>
            </a:r>
            <a:r>
              <a:rPr lang="ja-JP" altLang="en-US" sz="800" dirty="0">
                <a:latin typeface="Arial" panose="020B0604020202020204" pitchFamily="34" charset="0"/>
              </a:rPr>
              <a:t>”</a:t>
            </a:r>
            <a:r>
              <a:rPr lang="en-US" altLang="ja-JP" sz="800" dirty="0">
                <a:latin typeface="Arial" panose="020B0604020202020204" pitchFamily="34" charset="0"/>
              </a:rPr>
              <a:t>  They can start making assumptions in this exercise, if it helps.  The point is to apply the process within the classroom to ensure that the learners truly understand.</a:t>
            </a:r>
          </a:p>
          <a:p>
            <a:r>
              <a:rPr lang="en-US" altLang="en-US" sz="800" b="1" dirty="0">
                <a:latin typeface="Arial" panose="020B0604020202020204" pitchFamily="34" charset="0"/>
              </a:rPr>
              <a:t>NOTE:</a:t>
            </a:r>
            <a:r>
              <a:rPr lang="en-US" altLang="en-US" sz="800" dirty="0">
                <a:latin typeface="Arial" panose="020B0604020202020204" pitchFamily="34" charset="0"/>
              </a:rPr>
              <a:t>  Potential Answers/Strategy:</a:t>
            </a:r>
          </a:p>
          <a:p>
            <a:r>
              <a:rPr lang="en-US" altLang="en-US" sz="800" dirty="0">
                <a:latin typeface="Arial" panose="020B0604020202020204" pitchFamily="34" charset="0"/>
              </a:rPr>
              <a:t>Recommend creating an outline/template with clear labels, on the desk to identify where all FREQUENTLY used items should belong.  Consider whether the owner is right-handed or left, and how to orient these items for ease of retrieval, use and return.  Do NOT put ANYTHING in a DRAWER that is used throughout the day!  It is wasteful opening and closing a drawer when unnecessary!  Use the clear labels for all items on desk and for drawers/shelves, etc. to identify items at that location. </a:t>
            </a:r>
          </a:p>
          <a:p>
            <a:r>
              <a:rPr lang="en-US" altLang="en-US" sz="800" dirty="0">
                <a:latin typeface="Arial" panose="020B0604020202020204" pitchFamily="34" charset="0"/>
              </a:rPr>
              <a:t>Create a meaningful labeling/naming convention for the paper files and make sure that any computer files are named to correspond appropriately.  </a:t>
            </a:r>
          </a:p>
          <a:p>
            <a:r>
              <a:rPr lang="en-US" altLang="en-US" sz="800" dirty="0">
                <a:latin typeface="Arial" panose="020B0604020202020204" pitchFamily="34" charset="0"/>
              </a:rPr>
              <a:t>Don</a:t>
            </a:r>
            <a:r>
              <a:rPr lang="ja-JP" altLang="en-US" sz="800" dirty="0">
                <a:latin typeface="Arial" panose="020B0604020202020204" pitchFamily="34" charset="0"/>
              </a:rPr>
              <a:t>’</a:t>
            </a:r>
            <a:r>
              <a:rPr lang="en-US" altLang="ja-JP" sz="800" dirty="0">
                <a:latin typeface="Arial" panose="020B0604020202020204" pitchFamily="34" charset="0"/>
              </a:rPr>
              <a:t>t forget to organize all the computer data into folders, as well.</a:t>
            </a:r>
          </a:p>
          <a:p>
            <a:r>
              <a:rPr lang="en-US" altLang="en-US" sz="800" dirty="0">
                <a:latin typeface="Arial" panose="020B0604020202020204" pitchFamily="34" charset="0"/>
              </a:rPr>
              <a:t>Take a close look at the many electrical cords.  These will need to be checked to ensure there is no damage or fraying.  Consider using a simple mounting bracket for the power strip and mount on inside or bottom of desk – this will allow more floor space for feet and eliminate potential hazard.  The cords should be bundled together neatly and ties used to hold them together.</a:t>
            </a:r>
          </a:p>
          <a:p>
            <a:r>
              <a:rPr lang="en-US" altLang="en-US" sz="800" dirty="0">
                <a:latin typeface="Arial" panose="020B0604020202020204" pitchFamily="34" charset="0"/>
              </a:rPr>
              <a:t>Also, might want to mount a simple hook on the wall to place jackets, PC bag (in corner of room), etc.</a:t>
            </a:r>
          </a:p>
          <a:p>
            <a:r>
              <a:rPr lang="en-US" altLang="en-US" sz="800" dirty="0">
                <a:latin typeface="Arial" panose="020B0604020202020204" pitchFamily="34" charset="0"/>
              </a:rPr>
              <a:t>Be sure and create a </a:t>
            </a:r>
            <a:r>
              <a:rPr lang="ja-JP" altLang="en-US" sz="800" dirty="0">
                <a:latin typeface="Arial" panose="020B0604020202020204" pitchFamily="34" charset="0"/>
              </a:rPr>
              <a:t>“</a:t>
            </a:r>
            <a:r>
              <a:rPr lang="en-US" altLang="ja-JP" sz="800" dirty="0">
                <a:latin typeface="Arial" panose="020B0604020202020204" pitchFamily="34" charset="0"/>
              </a:rPr>
              <a:t>WIP</a:t>
            </a:r>
            <a:r>
              <a:rPr lang="ja-JP" altLang="en-US" sz="800" dirty="0">
                <a:latin typeface="Arial" panose="020B0604020202020204" pitchFamily="34" charset="0"/>
              </a:rPr>
              <a:t>”</a:t>
            </a:r>
            <a:r>
              <a:rPr lang="en-US" altLang="ja-JP" sz="800" dirty="0">
                <a:latin typeface="Arial" panose="020B0604020202020204" pitchFamily="34" charset="0"/>
              </a:rPr>
              <a:t> location, either using table top files/folders or an organized drawer.</a:t>
            </a:r>
          </a:p>
          <a:p>
            <a:r>
              <a:rPr lang="en-US" altLang="en-US" sz="800" dirty="0">
                <a:latin typeface="Arial" panose="020B0604020202020204" pitchFamily="34" charset="0"/>
              </a:rPr>
              <a:t>Anything located INSIDE a drawer should also be labeled and organized using appropriate dividers (you can buy a plastic drawer organizer for just a few dollars to help segregate and identify items).</a:t>
            </a:r>
          </a:p>
          <a:p>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44</a:t>
            </a:fld>
            <a:endParaRPr lang="en-US"/>
          </a:p>
        </p:txBody>
      </p:sp>
    </p:spTree>
    <p:extLst>
      <p:ext uri="{BB962C8B-B14F-4D97-AF65-F5344CB8AC3E}">
        <p14:creationId xmlns:p14="http://schemas.microsoft.com/office/powerpoint/2010/main" val="95514608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ea typeface="ＭＳ Ｐゴシック" charset="0"/>
              </a:rPr>
              <a:t>SAY:</a:t>
            </a:r>
            <a:r>
              <a:rPr lang="en-US" dirty="0">
                <a:ea typeface="ＭＳ Ｐゴシック" charset="0"/>
              </a:rPr>
              <a:t>  Here is a simple use of visual management similar to the template or outlining technique.  The clear labels are unobtrusive, yet effective.  You can quickly see what is missing or where to replace an item in use. </a:t>
            </a:r>
          </a:p>
        </p:txBody>
      </p:sp>
      <p:sp>
        <p:nvSpPr>
          <p:cNvPr id="4" name="Slide Number Placeholder 3"/>
          <p:cNvSpPr>
            <a:spLocks noGrp="1"/>
          </p:cNvSpPr>
          <p:nvPr>
            <p:ph type="sldNum" sz="quarter" idx="5"/>
          </p:nvPr>
        </p:nvSpPr>
        <p:spPr/>
        <p:txBody>
          <a:bodyPr/>
          <a:lstStyle/>
          <a:p>
            <a:fld id="{AECD8548-F1A2-4EDF-A416-5F2BB6B8F64C}" type="slidenum">
              <a:rPr lang="en-US" smtClean="0"/>
              <a:t>45</a:t>
            </a:fld>
            <a:endParaRPr lang="en-US"/>
          </a:p>
        </p:txBody>
      </p:sp>
    </p:spTree>
    <p:extLst>
      <p:ext uri="{BB962C8B-B14F-4D97-AF65-F5344CB8AC3E}">
        <p14:creationId xmlns:p14="http://schemas.microsoft.com/office/powerpoint/2010/main" val="36752954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Create a work-in-process drawer or folder (or set of folders, as seen here) to keep items that you are currently using.  This allows quick, easy access and a visual method to neatly store and organize.  The drawer may be used to place items at end of each day and quickly pick back up at beginning of next day.</a:t>
            </a:r>
          </a:p>
          <a:p>
            <a:r>
              <a:rPr lang="en-US" altLang="en-US" b="1" dirty="0">
                <a:latin typeface="Arial" panose="020B0604020202020204" pitchFamily="34" charset="0"/>
              </a:rPr>
              <a:t>NOTE:</a:t>
            </a:r>
            <a:r>
              <a:rPr lang="en-US" altLang="en-US" dirty="0">
                <a:latin typeface="Arial" panose="020B0604020202020204" pitchFamily="34" charset="0"/>
              </a:rPr>
              <a:t>  Participants may want to use </a:t>
            </a:r>
            <a:r>
              <a:rPr lang="ja-JP" altLang="en-US" dirty="0">
                <a:latin typeface="Arial" panose="020B0604020202020204" pitchFamily="34" charset="0"/>
              </a:rPr>
              <a:t>“</a:t>
            </a:r>
            <a:r>
              <a:rPr lang="en-US" altLang="ja-JP" dirty="0">
                <a:latin typeface="Arial" panose="020B0604020202020204" pitchFamily="34" charset="0"/>
              </a:rPr>
              <a:t>color coding</a:t>
            </a:r>
            <a:r>
              <a:rPr lang="ja-JP" altLang="en-US" dirty="0">
                <a:latin typeface="Arial" panose="020B0604020202020204" pitchFamily="34" charset="0"/>
              </a:rPr>
              <a:t>”</a:t>
            </a:r>
            <a:r>
              <a:rPr lang="en-US" altLang="ja-JP" dirty="0">
                <a:latin typeface="Arial" panose="020B0604020202020204" pitchFamily="34" charset="0"/>
              </a:rPr>
              <a:t> for files, labels, etc. to improve visual management.  For example, the folder above marked </a:t>
            </a:r>
            <a:r>
              <a:rPr lang="ja-JP" altLang="en-US" dirty="0">
                <a:latin typeface="Arial" panose="020B0604020202020204" pitchFamily="34" charset="0"/>
              </a:rPr>
              <a:t>“</a:t>
            </a:r>
            <a:r>
              <a:rPr lang="en-US" altLang="ja-JP" dirty="0">
                <a:latin typeface="Arial" panose="020B0604020202020204" pitchFamily="34" charset="0"/>
              </a:rPr>
              <a:t>Urgent</a:t>
            </a:r>
            <a:r>
              <a:rPr lang="ja-JP" altLang="en-US" dirty="0">
                <a:latin typeface="Arial" panose="020B0604020202020204" pitchFamily="34" charset="0"/>
              </a:rPr>
              <a:t>”</a:t>
            </a:r>
            <a:r>
              <a:rPr lang="en-US" altLang="ja-JP" dirty="0">
                <a:latin typeface="Arial" panose="020B0604020202020204" pitchFamily="34" charset="0"/>
              </a:rPr>
              <a:t> could be </a:t>
            </a:r>
            <a:r>
              <a:rPr lang="ja-JP" altLang="en-US" dirty="0">
                <a:latin typeface="Arial" panose="020B0604020202020204" pitchFamily="34" charset="0"/>
              </a:rPr>
              <a:t>“</a:t>
            </a:r>
            <a:r>
              <a:rPr lang="en-US" altLang="ja-JP" dirty="0">
                <a:latin typeface="Arial" panose="020B0604020202020204" pitchFamily="34" charset="0"/>
              </a:rPr>
              <a:t>red.</a:t>
            </a:r>
            <a:r>
              <a:rPr lang="ja-JP" altLang="en-US" dirty="0">
                <a:latin typeface="Arial" panose="020B0604020202020204" pitchFamily="34" charset="0"/>
              </a:rPr>
              <a:t>”</a:t>
            </a:r>
            <a:r>
              <a:rPr lang="en-US" altLang="ja-JP" dirty="0">
                <a:latin typeface="Arial" panose="020B0604020202020204" pitchFamily="34" charset="0"/>
              </a:rPr>
              <a:t>  However, make sure they do not confuse the </a:t>
            </a:r>
            <a:r>
              <a:rPr lang="ja-JP" altLang="en-US" dirty="0">
                <a:latin typeface="Arial" panose="020B0604020202020204" pitchFamily="34" charset="0"/>
              </a:rPr>
              <a:t>“</a:t>
            </a:r>
            <a:r>
              <a:rPr lang="en-US" altLang="ja-JP" dirty="0">
                <a:latin typeface="Arial" panose="020B0604020202020204" pitchFamily="34" charset="0"/>
              </a:rPr>
              <a:t>standard color code</a:t>
            </a:r>
            <a:r>
              <a:rPr lang="ja-JP" altLang="en-US" dirty="0">
                <a:latin typeface="Arial" panose="020B0604020202020204" pitchFamily="34" charset="0"/>
              </a:rPr>
              <a:t>”</a:t>
            </a:r>
            <a:r>
              <a:rPr lang="en-US" altLang="ja-JP" dirty="0">
                <a:latin typeface="Arial" panose="020B0604020202020204" pitchFamily="34" charset="0"/>
              </a:rPr>
              <a:t> in the Appendix, with an informational color code.  The colors in the Appendix are typically used for marking floors or walls in manufacturing areas.  But, of course, depending on the business, the office may want to adopt the manufacturing standard.  The one factor is that, if a color coding system is developed, it will need to be posted (visual) and standardized (use across facility and train others).</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46</a:t>
            </a:fld>
            <a:endParaRPr lang="en-US"/>
          </a:p>
        </p:txBody>
      </p:sp>
    </p:spTree>
    <p:extLst>
      <p:ext uri="{BB962C8B-B14F-4D97-AF65-F5344CB8AC3E}">
        <p14:creationId xmlns:p14="http://schemas.microsoft.com/office/powerpoint/2010/main" val="231451903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47</a:t>
            </a:fld>
            <a:endParaRPr lang="en-US"/>
          </a:p>
        </p:txBody>
      </p:sp>
    </p:spTree>
    <p:extLst>
      <p:ext uri="{BB962C8B-B14F-4D97-AF65-F5344CB8AC3E}">
        <p14:creationId xmlns:p14="http://schemas.microsoft.com/office/powerpoint/2010/main" val="354362223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It is important to implement organizational techniques that keep you from creating </a:t>
            </a:r>
            <a:r>
              <a:rPr lang="ja-JP" altLang="en-US" dirty="0">
                <a:latin typeface="Arial" panose="020B0604020202020204" pitchFamily="34" charset="0"/>
              </a:rPr>
              <a:t>“</a:t>
            </a:r>
            <a:r>
              <a:rPr lang="en-US" altLang="ja-JP" dirty="0">
                <a:latin typeface="Arial" panose="020B0604020202020204" pitchFamily="34" charset="0"/>
              </a:rPr>
              <a:t>new unnecessary</a:t>
            </a:r>
            <a:r>
              <a:rPr lang="ja-JP" altLang="en-US" dirty="0">
                <a:latin typeface="Arial" panose="020B0604020202020204" pitchFamily="34" charset="0"/>
              </a:rPr>
              <a:t>”</a:t>
            </a:r>
            <a:r>
              <a:rPr lang="en-US" altLang="ja-JP" dirty="0">
                <a:latin typeface="Arial" panose="020B0604020202020204" pitchFamily="34" charset="0"/>
              </a:rPr>
              <a:t> items.  This team implemented a process where they had to empty a slot before adding to it.  </a:t>
            </a:r>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48</a:t>
            </a:fld>
            <a:endParaRPr lang="en-US"/>
          </a:p>
        </p:txBody>
      </p:sp>
    </p:spTree>
    <p:extLst>
      <p:ext uri="{BB962C8B-B14F-4D97-AF65-F5344CB8AC3E}">
        <p14:creationId xmlns:p14="http://schemas.microsoft.com/office/powerpoint/2010/main" val="240263825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600" b="1" dirty="0">
                <a:ea typeface="ＭＳ Ｐゴシック" charset="0"/>
              </a:rPr>
              <a:t>DO:</a:t>
            </a:r>
            <a:r>
              <a:rPr lang="en-US" sz="1600" dirty="0">
                <a:ea typeface="ＭＳ Ｐゴシック" charset="0"/>
              </a:rPr>
              <a:t>  Work with teams to agree on time to complete 2S (and first S when needed).  Instruct all teams to return to the training room at the specified time, regardless of whether or not they are actually done.  </a:t>
            </a:r>
          </a:p>
        </p:txBody>
      </p:sp>
      <p:sp>
        <p:nvSpPr>
          <p:cNvPr id="4" name="Slide Number Placeholder 3"/>
          <p:cNvSpPr>
            <a:spLocks noGrp="1"/>
          </p:cNvSpPr>
          <p:nvPr>
            <p:ph type="sldNum" sz="quarter" idx="5"/>
          </p:nvPr>
        </p:nvSpPr>
        <p:spPr/>
        <p:txBody>
          <a:bodyPr/>
          <a:lstStyle/>
          <a:p>
            <a:fld id="{AECD8548-F1A2-4EDF-A416-5F2BB6B8F64C}" type="slidenum">
              <a:rPr lang="en-US" smtClean="0"/>
              <a:t>49</a:t>
            </a:fld>
            <a:endParaRPr lang="en-US"/>
          </a:p>
        </p:txBody>
      </p:sp>
    </p:spTree>
    <p:extLst>
      <p:ext uri="{BB962C8B-B14F-4D97-AF65-F5344CB8AC3E}">
        <p14:creationId xmlns:p14="http://schemas.microsoft.com/office/powerpoint/2010/main" val="178406869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50</a:t>
            </a:fld>
            <a:endParaRPr lang="en-US"/>
          </a:p>
        </p:txBody>
      </p:sp>
    </p:spTree>
    <p:extLst>
      <p:ext uri="{BB962C8B-B14F-4D97-AF65-F5344CB8AC3E}">
        <p14:creationId xmlns:p14="http://schemas.microsoft.com/office/powerpoint/2010/main" val="329747883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a typeface="ＭＳ Ｐゴシック" panose="020B0600070205080204" pitchFamily="34" charset="-128"/>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51</a:t>
            </a:fld>
            <a:endParaRPr lang="en-US"/>
          </a:p>
        </p:txBody>
      </p:sp>
    </p:spTree>
    <p:extLst>
      <p:ext uri="{BB962C8B-B14F-4D97-AF65-F5344CB8AC3E}">
        <p14:creationId xmlns:p14="http://schemas.microsoft.com/office/powerpoint/2010/main" val="253733652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b="1" dirty="0">
                <a:latin typeface="Arial" panose="020B0604020202020204" pitchFamily="34" charset="0"/>
              </a:rPr>
              <a:t>NOTE:</a:t>
            </a:r>
            <a:r>
              <a:rPr lang="en-US" altLang="en-US" sz="800" dirty="0">
                <a:latin typeface="Arial" panose="020B0604020202020204" pitchFamily="34" charset="0"/>
              </a:rPr>
              <a:t>  Potential Answers/Strategy:</a:t>
            </a:r>
          </a:p>
          <a:p>
            <a:r>
              <a:rPr lang="en-US" altLang="en-US" sz="800" dirty="0">
                <a:latin typeface="Arial" panose="020B0604020202020204" pitchFamily="34" charset="0"/>
              </a:rPr>
              <a:t>Should polish all the furniture and use appropriate cleaners for the PC screen and keyboard.  Make sure inside of drawers are cleaned, as well.  Remove plastic flooring and clean well… vacuum carpet underneath before replacing.  Use an antibacterial wipe to clean and sterilize phone.  Consider adding a </a:t>
            </a:r>
            <a:r>
              <a:rPr lang="ja-JP" altLang="en-US" sz="800" dirty="0">
                <a:latin typeface="Arial" panose="020B0604020202020204" pitchFamily="34" charset="0"/>
              </a:rPr>
              <a:t>“</a:t>
            </a:r>
            <a:r>
              <a:rPr lang="en-US" altLang="ja-JP" sz="800" dirty="0">
                <a:latin typeface="Arial" panose="020B0604020202020204" pitchFamily="34" charset="0"/>
              </a:rPr>
              <a:t>wipe</a:t>
            </a:r>
            <a:r>
              <a:rPr lang="ja-JP" altLang="en-US" sz="800" dirty="0">
                <a:latin typeface="Arial" panose="020B0604020202020204" pitchFamily="34" charset="0"/>
              </a:rPr>
              <a:t>”</a:t>
            </a:r>
            <a:r>
              <a:rPr lang="en-US" altLang="ja-JP" sz="800" dirty="0">
                <a:latin typeface="Arial" panose="020B0604020202020204" pitchFamily="34" charset="0"/>
              </a:rPr>
              <a:t> dispenser for items requiring daily </a:t>
            </a:r>
            <a:r>
              <a:rPr lang="ja-JP" altLang="en-US" sz="800" dirty="0">
                <a:latin typeface="Arial" panose="020B0604020202020204" pitchFamily="34" charset="0"/>
              </a:rPr>
              <a:t>“</a:t>
            </a:r>
            <a:r>
              <a:rPr lang="en-US" altLang="ja-JP" sz="800" dirty="0">
                <a:latin typeface="Arial" panose="020B0604020202020204" pitchFamily="34" charset="0"/>
              </a:rPr>
              <a:t>cleaning</a:t>
            </a:r>
            <a:r>
              <a:rPr lang="ja-JP" altLang="en-US" sz="800" dirty="0">
                <a:latin typeface="Arial" panose="020B0604020202020204" pitchFamily="34" charset="0"/>
              </a:rPr>
              <a:t>”</a:t>
            </a:r>
            <a:r>
              <a:rPr lang="en-US" altLang="ja-JP" sz="800" dirty="0">
                <a:latin typeface="Arial" panose="020B0604020202020204" pitchFamily="34" charset="0"/>
              </a:rPr>
              <a:t> to make it quick and easy – the wipes can be used, discarded and you are done!  Also, remember that if you did a good job with 1S, the number of items requiring maintenance and daily cleaning should be minimal!</a:t>
            </a:r>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52</a:t>
            </a:fld>
            <a:endParaRPr lang="en-US"/>
          </a:p>
        </p:txBody>
      </p:sp>
    </p:spTree>
    <p:extLst>
      <p:ext uri="{BB962C8B-B14F-4D97-AF65-F5344CB8AC3E}">
        <p14:creationId xmlns:p14="http://schemas.microsoft.com/office/powerpoint/2010/main" val="214433549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53</a:t>
            </a:fld>
            <a:endParaRPr lang="en-US"/>
          </a:p>
        </p:txBody>
      </p:sp>
    </p:spTree>
    <p:extLst>
      <p:ext uri="{BB962C8B-B14F-4D97-AF65-F5344CB8AC3E}">
        <p14:creationId xmlns:p14="http://schemas.microsoft.com/office/powerpoint/2010/main" val="125008278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54</a:t>
            </a:fld>
            <a:endParaRPr lang="en-US"/>
          </a:p>
        </p:txBody>
      </p:sp>
    </p:spTree>
    <p:extLst>
      <p:ext uri="{BB962C8B-B14F-4D97-AF65-F5344CB8AC3E}">
        <p14:creationId xmlns:p14="http://schemas.microsoft.com/office/powerpoint/2010/main" val="124994390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800" b="1" dirty="0">
                <a:ea typeface="ＭＳ Ｐゴシック" charset="0"/>
              </a:rPr>
              <a:t>DO:</a:t>
            </a:r>
            <a:r>
              <a:rPr lang="en-US" sz="1800" dirty="0">
                <a:ea typeface="ＭＳ Ｐゴシック" charset="0"/>
              </a:rPr>
              <a:t>  Work with teams to agree on time to complete 3S (and second S when needed).  Instruct all teams to return to the training room at the specified time, regardless of whether or not they are actually done.  </a:t>
            </a:r>
          </a:p>
        </p:txBody>
      </p:sp>
      <p:sp>
        <p:nvSpPr>
          <p:cNvPr id="4" name="Slide Number Placeholder 3"/>
          <p:cNvSpPr>
            <a:spLocks noGrp="1"/>
          </p:cNvSpPr>
          <p:nvPr>
            <p:ph type="sldNum" sz="quarter" idx="5"/>
          </p:nvPr>
        </p:nvSpPr>
        <p:spPr/>
        <p:txBody>
          <a:bodyPr/>
          <a:lstStyle/>
          <a:p>
            <a:fld id="{AECD8548-F1A2-4EDF-A416-5F2BB6B8F64C}" type="slidenum">
              <a:rPr lang="en-US" smtClean="0"/>
              <a:t>55</a:t>
            </a:fld>
            <a:endParaRPr lang="en-US"/>
          </a:p>
        </p:txBody>
      </p:sp>
    </p:spTree>
    <p:extLst>
      <p:ext uri="{BB962C8B-B14F-4D97-AF65-F5344CB8AC3E}">
        <p14:creationId xmlns:p14="http://schemas.microsoft.com/office/powerpoint/2010/main" val="168989403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56</a:t>
            </a:fld>
            <a:endParaRPr lang="en-US"/>
          </a:p>
        </p:txBody>
      </p:sp>
    </p:spTree>
    <p:extLst>
      <p:ext uri="{BB962C8B-B14F-4D97-AF65-F5344CB8AC3E}">
        <p14:creationId xmlns:p14="http://schemas.microsoft.com/office/powerpoint/2010/main" val="75050464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Why is it important to stabilize?</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Use 5S patrols or AUDITs to monitor 5S progress. What does not get measured does not get improved.</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57</a:t>
            </a:fld>
            <a:endParaRPr lang="en-US"/>
          </a:p>
        </p:txBody>
      </p:sp>
    </p:spTree>
    <p:extLst>
      <p:ext uri="{BB962C8B-B14F-4D97-AF65-F5344CB8AC3E}">
        <p14:creationId xmlns:p14="http://schemas.microsoft.com/office/powerpoint/2010/main" val="127752371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58</a:t>
            </a:fld>
            <a:endParaRPr lang="en-US"/>
          </a:p>
        </p:txBody>
      </p:sp>
    </p:spTree>
    <p:extLst>
      <p:ext uri="{BB962C8B-B14F-4D97-AF65-F5344CB8AC3E}">
        <p14:creationId xmlns:p14="http://schemas.microsoft.com/office/powerpoint/2010/main" val="171604325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59</a:t>
            </a:fld>
            <a:endParaRPr lang="en-US"/>
          </a:p>
        </p:txBody>
      </p:sp>
    </p:spTree>
    <p:extLst>
      <p:ext uri="{BB962C8B-B14F-4D97-AF65-F5344CB8AC3E}">
        <p14:creationId xmlns:p14="http://schemas.microsoft.com/office/powerpoint/2010/main" val="266782091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ea typeface="ＭＳ Ｐゴシック" charset="0"/>
              </a:rPr>
              <a:t>NOTE:</a:t>
            </a:r>
            <a:r>
              <a:rPr lang="en-US" dirty="0">
                <a:ea typeface="ＭＳ Ｐゴシック" charset="0"/>
              </a:rPr>
              <a:t>  This is a very simple example of a 4S checklist.  Each area must customize or adapt this tool to fit their specific needs.  Encourage owners to schedule these recurring tasks in Outlook or other calendar tool.</a:t>
            </a:r>
          </a:p>
        </p:txBody>
      </p:sp>
      <p:sp>
        <p:nvSpPr>
          <p:cNvPr id="4" name="Slide Number Placeholder 3"/>
          <p:cNvSpPr>
            <a:spLocks noGrp="1"/>
          </p:cNvSpPr>
          <p:nvPr>
            <p:ph type="sldNum" sz="quarter" idx="5"/>
          </p:nvPr>
        </p:nvSpPr>
        <p:spPr/>
        <p:txBody>
          <a:bodyPr/>
          <a:lstStyle/>
          <a:p>
            <a:fld id="{AECD8548-F1A2-4EDF-A416-5F2BB6B8F64C}" type="slidenum">
              <a:rPr lang="en-US" smtClean="0"/>
              <a:t>60</a:t>
            </a:fld>
            <a:endParaRPr lang="en-US"/>
          </a:p>
        </p:txBody>
      </p:sp>
    </p:spTree>
    <p:extLst>
      <p:ext uri="{BB962C8B-B14F-4D97-AF65-F5344CB8AC3E}">
        <p14:creationId xmlns:p14="http://schemas.microsoft.com/office/powerpoint/2010/main" val="77459445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a typeface="ＭＳ Ｐゴシック" charset="0"/>
              </a:rPr>
              <a:t>NOTE:</a:t>
            </a:r>
            <a:r>
              <a:rPr lang="en-US" dirty="0">
                <a:ea typeface="ＭＳ Ｐゴシック" charset="0"/>
              </a:rPr>
              <a:t>  The teams will be using this form to conduct the 5S audits at the end of this event.  Hand out hard copies of this sheet from the Supplies worksheet, per the prep agenda.</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61</a:t>
            </a:fld>
            <a:endParaRPr lang="en-US"/>
          </a:p>
        </p:txBody>
      </p:sp>
    </p:spTree>
    <p:extLst>
      <p:ext uri="{BB962C8B-B14F-4D97-AF65-F5344CB8AC3E}">
        <p14:creationId xmlns:p14="http://schemas.microsoft.com/office/powerpoint/2010/main" val="155591987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ea typeface="ＭＳ Ｐゴシック" charset="0"/>
              </a:rPr>
              <a:t>SAY:</a:t>
            </a:r>
            <a:r>
              <a:rPr lang="en-US" sz="800" dirty="0">
                <a:ea typeface="ＭＳ Ｐゴシック" charset="0"/>
              </a:rPr>
              <a:t>  Use this information sharing to add/jog other ideas to your list.  Important to include key processes for sustainability now, to increase probability of success.</a:t>
            </a:r>
          </a:p>
          <a:p>
            <a:endParaRPr lang="en-US" altLang="en-US" sz="800" dirty="0">
              <a:latin typeface="Arial" panose="020B0604020202020204" pitchFamily="34" charset="0"/>
              <a:ea typeface="ＭＳ Ｐゴシック" panose="020B0600070205080204" pitchFamily="34" charset="-128"/>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62</a:t>
            </a:fld>
            <a:endParaRPr lang="en-US"/>
          </a:p>
        </p:txBody>
      </p:sp>
    </p:spTree>
    <p:extLst>
      <p:ext uri="{BB962C8B-B14F-4D97-AF65-F5344CB8AC3E}">
        <p14:creationId xmlns:p14="http://schemas.microsoft.com/office/powerpoint/2010/main" val="60657880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400" b="1" dirty="0">
                <a:ea typeface="ＭＳ Ｐゴシック" charset="0"/>
              </a:rPr>
              <a:t>DO:</a:t>
            </a:r>
            <a:r>
              <a:rPr lang="en-US" sz="1400" dirty="0">
                <a:ea typeface="ＭＳ Ｐゴシック" charset="0"/>
              </a:rPr>
              <a:t>  Work with teams to agree on time to complete 4S (and third S when needed).  Instruct all teams to return to the training room at the specified time, regardless of whether or not they are actually done.  </a:t>
            </a:r>
          </a:p>
        </p:txBody>
      </p:sp>
      <p:sp>
        <p:nvSpPr>
          <p:cNvPr id="4" name="Slide Number Placeholder 3"/>
          <p:cNvSpPr>
            <a:spLocks noGrp="1"/>
          </p:cNvSpPr>
          <p:nvPr>
            <p:ph type="sldNum" sz="quarter" idx="5"/>
          </p:nvPr>
        </p:nvSpPr>
        <p:spPr/>
        <p:txBody>
          <a:bodyPr/>
          <a:lstStyle/>
          <a:p>
            <a:fld id="{AECD8548-F1A2-4EDF-A416-5F2BB6B8F64C}" type="slidenum">
              <a:rPr lang="en-US" smtClean="0"/>
              <a:t>63</a:t>
            </a:fld>
            <a:endParaRPr lang="en-US"/>
          </a:p>
        </p:txBody>
      </p:sp>
    </p:spTree>
    <p:extLst>
      <p:ext uri="{BB962C8B-B14F-4D97-AF65-F5344CB8AC3E}">
        <p14:creationId xmlns:p14="http://schemas.microsoft.com/office/powerpoint/2010/main" val="270005777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64</a:t>
            </a:fld>
            <a:endParaRPr lang="en-US"/>
          </a:p>
        </p:txBody>
      </p:sp>
    </p:spTree>
    <p:extLst>
      <p:ext uri="{BB962C8B-B14F-4D97-AF65-F5344CB8AC3E}">
        <p14:creationId xmlns:p14="http://schemas.microsoft.com/office/powerpoint/2010/main" val="115489794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 company president is walking through the office on his way to meeting, greets the associates with a friendly greeting as he passes them, and walks right by crumpled trash on the floor. What message does that send?</a:t>
            </a:r>
            <a:r>
              <a:rPr lang="ja-JP" altLang="en-US" dirty="0">
                <a:latin typeface="Arial" panose="020B0604020202020204" pitchFamily="34" charset="0"/>
              </a:rPr>
              <a:t>”</a:t>
            </a:r>
            <a:endParaRPr lang="en-US" altLang="en-US" dirty="0">
              <a:latin typeface="Arial" panose="020B0604020202020204" pitchFamily="34" charset="0"/>
            </a:endParaRPr>
          </a:p>
          <a:p>
            <a:endParaRPr lang="en-US" altLang="en-US" b="1" dirty="0">
              <a:latin typeface="Arial" panose="020B0604020202020204" pitchFamily="34" charset="0"/>
              <a:ea typeface="ＭＳ Ｐゴシック" panose="020B0600070205080204" pitchFamily="34" charset="-128"/>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65</a:t>
            </a:fld>
            <a:endParaRPr lang="en-US"/>
          </a:p>
        </p:txBody>
      </p:sp>
    </p:spTree>
    <p:extLst>
      <p:ext uri="{BB962C8B-B14F-4D97-AF65-F5344CB8AC3E}">
        <p14:creationId xmlns:p14="http://schemas.microsoft.com/office/powerpoint/2010/main" val="298591022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Achieving a 5S culture requires exquisite discipline.  You must be responsible and hold each other accountable to sustain results and continue to improve.</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66</a:t>
            </a:fld>
            <a:endParaRPr lang="en-US"/>
          </a:p>
        </p:txBody>
      </p:sp>
    </p:spTree>
    <p:extLst>
      <p:ext uri="{BB962C8B-B14F-4D97-AF65-F5344CB8AC3E}">
        <p14:creationId xmlns:p14="http://schemas.microsoft.com/office/powerpoint/2010/main" val="119028472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Keep it simple, simple, simple…. Cannot stress this enough! And Make it visual, visual, visual!  Use five-why</a:t>
            </a:r>
            <a:r>
              <a:rPr lang="ja-JP" altLang="en-US" dirty="0">
                <a:latin typeface="Arial" panose="020B0604020202020204" pitchFamily="34" charset="0"/>
              </a:rPr>
              <a:t>’</a:t>
            </a:r>
            <a:r>
              <a:rPr lang="en-US" altLang="ja-JP" dirty="0">
                <a:latin typeface="Arial" panose="020B0604020202020204" pitchFamily="34" charset="0"/>
              </a:rPr>
              <a:t>s and one how to address problems at root cause.</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67</a:t>
            </a:fld>
            <a:endParaRPr lang="en-US"/>
          </a:p>
        </p:txBody>
      </p:sp>
    </p:spTree>
    <p:extLst>
      <p:ext uri="{BB962C8B-B14F-4D97-AF65-F5344CB8AC3E}">
        <p14:creationId xmlns:p14="http://schemas.microsoft.com/office/powerpoint/2010/main" val="303791905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b="1" dirty="0">
                <a:latin typeface="Arial" panose="020B0604020202020204" pitchFamily="34" charset="0"/>
              </a:rPr>
              <a:t>NOTE:</a:t>
            </a:r>
            <a:r>
              <a:rPr lang="en-US" altLang="en-US" sz="800" dirty="0">
                <a:latin typeface="Arial" panose="020B0604020202020204" pitchFamily="34" charset="0"/>
              </a:rPr>
              <a:t>  Make sure everyone has a copy of the </a:t>
            </a:r>
            <a:r>
              <a:rPr lang="ja-JP" altLang="en-US" sz="800" dirty="0">
                <a:latin typeface="Arial" panose="020B0604020202020204" pitchFamily="34" charset="0"/>
              </a:rPr>
              <a:t>“</a:t>
            </a:r>
            <a:r>
              <a:rPr lang="en-US" altLang="ja-JP" sz="800" dirty="0">
                <a:latin typeface="Arial" panose="020B0604020202020204" pitchFamily="34" charset="0"/>
              </a:rPr>
              <a:t>5S Patrol Checklist.</a:t>
            </a:r>
            <a:r>
              <a:rPr lang="ja-JP" altLang="en-US" sz="800" dirty="0">
                <a:latin typeface="Arial" panose="020B0604020202020204" pitchFamily="34" charset="0"/>
              </a:rPr>
              <a:t>”</a:t>
            </a:r>
            <a:r>
              <a:rPr lang="en-US" altLang="ja-JP" sz="800" dirty="0">
                <a:latin typeface="Arial" panose="020B0604020202020204" pitchFamily="34" charset="0"/>
              </a:rPr>
              <a:t>  May need to change time to complete, based upon number of teams and location of each area.</a:t>
            </a:r>
          </a:p>
          <a:p>
            <a:r>
              <a:rPr lang="en-US" altLang="en-US" sz="800" b="1" dirty="0">
                <a:latin typeface="Arial" panose="020B0604020202020204" pitchFamily="34" charset="0"/>
              </a:rPr>
              <a:t>NOTE:</a:t>
            </a:r>
            <a:r>
              <a:rPr lang="en-US" altLang="en-US" sz="800" dirty="0">
                <a:latin typeface="Arial" panose="020B0604020202020204" pitchFamily="34" charset="0"/>
              </a:rPr>
              <a:t> If there is only one team on for this event, have them audit their own results. </a:t>
            </a:r>
          </a:p>
        </p:txBody>
      </p:sp>
      <p:sp>
        <p:nvSpPr>
          <p:cNvPr id="4" name="Slide Number Placeholder 3"/>
          <p:cNvSpPr>
            <a:spLocks noGrp="1"/>
          </p:cNvSpPr>
          <p:nvPr>
            <p:ph type="sldNum" sz="quarter" idx="5"/>
          </p:nvPr>
        </p:nvSpPr>
        <p:spPr/>
        <p:txBody>
          <a:bodyPr/>
          <a:lstStyle/>
          <a:p>
            <a:fld id="{AECD8548-F1A2-4EDF-A416-5F2BB6B8F64C}" type="slidenum">
              <a:rPr lang="en-US" smtClean="0"/>
              <a:t>68</a:t>
            </a:fld>
            <a:endParaRPr lang="en-US"/>
          </a:p>
        </p:txBody>
      </p:sp>
    </p:spTree>
    <p:extLst>
      <p:ext uri="{BB962C8B-B14F-4D97-AF65-F5344CB8AC3E}">
        <p14:creationId xmlns:p14="http://schemas.microsoft.com/office/powerpoint/2010/main" val="173888632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69</a:t>
            </a:fld>
            <a:endParaRPr lang="en-US"/>
          </a:p>
        </p:txBody>
      </p:sp>
    </p:spTree>
    <p:extLst>
      <p:ext uri="{BB962C8B-B14F-4D97-AF65-F5344CB8AC3E}">
        <p14:creationId xmlns:p14="http://schemas.microsoft.com/office/powerpoint/2010/main" val="18095900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rPr>
              <a:t>SAY: </a:t>
            </a:r>
            <a:r>
              <a:rPr lang="ja-JP" altLang="en-US" b="1" dirty="0">
                <a:latin typeface="Arial" panose="020B0604020202020204" pitchFamily="34" charset="0"/>
              </a:rPr>
              <a:t>“</a:t>
            </a:r>
            <a:r>
              <a:rPr lang="en-US" altLang="ja-JP" b="1" dirty="0">
                <a:latin typeface="Arial" panose="020B0604020202020204" pitchFamily="34" charset="0"/>
              </a:rPr>
              <a:t>Here is a form we recommend you use to track the kaizen results. This makes it easier to have a visual of the improvements made to date and the opportunities that still exist.</a:t>
            </a:r>
            <a:r>
              <a:rPr lang="ja-JP" altLang="en-US" b="1" dirty="0">
                <a:latin typeface="Arial" panose="020B0604020202020204" pitchFamily="34" charset="0"/>
              </a:rPr>
              <a:t>”</a:t>
            </a:r>
            <a:endParaRPr lang="en-US" altLang="ja-JP" b="1" dirty="0">
              <a:latin typeface="Arial" panose="020B0604020202020204" pitchFamily="34" charset="0"/>
            </a:endParaRPr>
          </a:p>
          <a:p>
            <a:endParaRPr lang="en-US" altLang="en-US" b="1" dirty="0">
              <a:latin typeface="Arial" panose="020B0604020202020204" pitchFamily="34" charset="0"/>
            </a:endParaRPr>
          </a:p>
          <a:p>
            <a:r>
              <a:rPr lang="en-US" altLang="en-US" dirty="0">
                <a:latin typeface="Arial" panose="020B0604020202020204" pitchFamily="34" charset="0"/>
              </a:rPr>
              <a:t>NOTE: </a:t>
            </a:r>
            <a:r>
              <a:rPr lang="en-US" altLang="en-US" b="1" dirty="0">
                <a:latin typeface="Arial" panose="020B0604020202020204" pitchFamily="34" charset="0"/>
              </a:rPr>
              <a:t>This form is in excel and additional measurements could be added per the event objectives. </a:t>
            </a:r>
          </a:p>
          <a:p>
            <a:endParaRPr lang="en-US" altLang="en-US" b="1"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70</a:t>
            </a:fld>
            <a:endParaRPr lang="en-US"/>
          </a:p>
        </p:txBody>
      </p:sp>
    </p:spTree>
    <p:extLst>
      <p:ext uri="{BB962C8B-B14F-4D97-AF65-F5344CB8AC3E}">
        <p14:creationId xmlns:p14="http://schemas.microsoft.com/office/powerpoint/2010/main" val="412131460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ea typeface="ＭＳ Ｐゴシック" charset="0"/>
              </a:rPr>
              <a:t>DO:</a:t>
            </a:r>
            <a:r>
              <a:rPr lang="en-US" dirty="0">
                <a:ea typeface="ＭＳ Ｐゴシック" charset="0"/>
              </a:rPr>
              <a:t> Cover report-out guidelines.</a:t>
            </a:r>
          </a:p>
        </p:txBody>
      </p:sp>
      <p:sp>
        <p:nvSpPr>
          <p:cNvPr id="4" name="Slide Number Placeholder 3"/>
          <p:cNvSpPr>
            <a:spLocks noGrp="1"/>
          </p:cNvSpPr>
          <p:nvPr>
            <p:ph type="sldNum" sz="quarter" idx="5"/>
          </p:nvPr>
        </p:nvSpPr>
        <p:spPr/>
        <p:txBody>
          <a:bodyPr/>
          <a:lstStyle/>
          <a:p>
            <a:fld id="{AECD8548-F1A2-4EDF-A416-5F2BB6B8F64C}" type="slidenum">
              <a:rPr lang="en-US" smtClean="0"/>
              <a:t>71</a:t>
            </a:fld>
            <a:endParaRPr lang="en-US"/>
          </a:p>
        </p:txBody>
      </p:sp>
    </p:spTree>
    <p:extLst>
      <p:ext uri="{BB962C8B-B14F-4D97-AF65-F5344CB8AC3E}">
        <p14:creationId xmlns:p14="http://schemas.microsoft.com/office/powerpoint/2010/main" val="324446690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Ask participants to reiterate the 5S</a:t>
            </a:r>
            <a:r>
              <a:rPr lang="ja-JP" altLang="en-US" dirty="0">
                <a:latin typeface="Arial" panose="020B0604020202020204" pitchFamily="34" charset="0"/>
              </a:rPr>
              <a:t>’</a:t>
            </a:r>
            <a:r>
              <a:rPr lang="en-US" altLang="ja-JP" dirty="0">
                <a:latin typeface="Arial" panose="020B0604020202020204" pitchFamily="34" charset="0"/>
              </a:rPr>
              <a:t>s.</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72</a:t>
            </a:fld>
            <a:endParaRPr lang="en-US"/>
          </a:p>
        </p:txBody>
      </p:sp>
    </p:spTree>
    <p:extLst>
      <p:ext uri="{BB962C8B-B14F-4D97-AF65-F5344CB8AC3E}">
        <p14:creationId xmlns:p14="http://schemas.microsoft.com/office/powerpoint/2010/main" val="228813158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 Lean Business System represents the methodology and approach used to </a:t>
            </a:r>
            <a:r>
              <a:rPr lang="en-US" altLang="ja-JP" i="1" dirty="0">
                <a:latin typeface="Arial" panose="020B0604020202020204" pitchFamily="34" charset="0"/>
              </a:rPr>
              <a:t>Implement</a:t>
            </a:r>
            <a:r>
              <a:rPr lang="en-US" altLang="ja-JP" dirty="0">
                <a:latin typeface="Arial" panose="020B0604020202020204" pitchFamily="34" charset="0"/>
              </a:rPr>
              <a:t> and </a:t>
            </a:r>
            <a:r>
              <a:rPr lang="en-US" altLang="ja-JP" i="1" dirty="0">
                <a:latin typeface="Arial" panose="020B0604020202020204" pitchFamily="34" charset="0"/>
              </a:rPr>
              <a:t>Deploy</a:t>
            </a:r>
            <a:r>
              <a:rPr lang="en-US" altLang="ja-JP" dirty="0">
                <a:latin typeface="Arial" panose="020B0604020202020204" pitchFamily="34" charset="0"/>
              </a:rPr>
              <a:t> Lean into an Organization.</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LEAN</a:t>
            </a:r>
            <a:r>
              <a:rPr lang="ja-JP" altLang="en-US" dirty="0">
                <a:latin typeface="Arial" panose="020B0604020202020204" pitchFamily="34" charset="0"/>
              </a:rPr>
              <a:t>”</a:t>
            </a:r>
            <a:r>
              <a:rPr lang="en-US" altLang="ja-JP" dirty="0">
                <a:latin typeface="Arial" panose="020B0604020202020204" pitchFamily="34" charset="0"/>
              </a:rPr>
              <a:t> is simply the elimination of waste.  5S is a MUST.  It is related to every improvement process you will embark upon.   As you have seen this week, LACK of 5S CREATES waste, and implementation of 5S </a:t>
            </a:r>
            <a:r>
              <a:rPr lang="ja-JP" altLang="en-US" dirty="0">
                <a:latin typeface="Arial" panose="020B0604020202020204" pitchFamily="34" charset="0"/>
              </a:rPr>
              <a:t>“</a:t>
            </a:r>
            <a:r>
              <a:rPr lang="en-US" altLang="ja-JP" dirty="0">
                <a:latin typeface="Arial" panose="020B0604020202020204" pitchFamily="34" charset="0"/>
              </a:rPr>
              <a:t>reveals</a:t>
            </a:r>
            <a:r>
              <a:rPr lang="ja-JP" altLang="en-US" dirty="0">
                <a:latin typeface="Arial" panose="020B0604020202020204" pitchFamily="34" charset="0"/>
              </a:rPr>
              <a:t>”</a:t>
            </a:r>
            <a:r>
              <a:rPr lang="en-US" altLang="ja-JP" dirty="0">
                <a:latin typeface="Arial" panose="020B0604020202020204" pitchFamily="34" charset="0"/>
              </a:rPr>
              <a:t> the true process, enabling further improvement.  5S is a foundational tool in a lean organization.  It creates the discipline needed to improve and sustain results. </a:t>
            </a:r>
          </a:p>
          <a:p>
            <a:endParaRPr lang="en-US" altLang="en-US" b="1" dirty="0">
              <a:latin typeface="Arial" panose="020B0604020202020204" pitchFamily="34" charset="0"/>
            </a:endParaRPr>
          </a:p>
          <a:p>
            <a:r>
              <a:rPr lang="en-US" altLang="en-US" b="1" dirty="0">
                <a:latin typeface="Arial" panose="020B0604020202020204" pitchFamily="34" charset="0"/>
              </a:rPr>
              <a:t>NOTE:</a:t>
            </a:r>
            <a:r>
              <a:rPr lang="en-US" altLang="en-US" dirty="0">
                <a:latin typeface="Arial" panose="020B0604020202020204" pitchFamily="34" charset="0"/>
              </a:rPr>
              <a:t> The Strategic Business Imperatives guide all lean efforts and activities which is why this is shown at the top. We then work our way up to fulfilling our strategy by deploying lean in this sequence. </a:t>
            </a: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73</a:t>
            </a:fld>
            <a:endParaRPr lang="en-US"/>
          </a:p>
        </p:txBody>
      </p:sp>
    </p:spTree>
    <p:extLst>
      <p:ext uri="{BB962C8B-B14F-4D97-AF65-F5344CB8AC3E}">
        <p14:creationId xmlns:p14="http://schemas.microsoft.com/office/powerpoint/2010/main" val="161116374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ea typeface="ＭＳ Ｐゴシック" charset="0"/>
              </a:rPr>
              <a:t>ASK:</a:t>
            </a:r>
            <a:r>
              <a:rPr lang="en-US" dirty="0">
                <a:ea typeface="ＭＳ Ｐゴシック" charset="0"/>
              </a:rPr>
              <a:t>  What other barriers do you foresee? Or have you seen? (Write them down)</a:t>
            </a:r>
          </a:p>
          <a:p>
            <a:pPr>
              <a:defRPr/>
            </a:pPr>
            <a:r>
              <a:rPr lang="en-US" b="1" dirty="0">
                <a:ea typeface="ＭＳ Ｐゴシック" charset="0"/>
              </a:rPr>
              <a:t>ASK:</a:t>
            </a:r>
            <a:r>
              <a:rPr lang="en-US" dirty="0">
                <a:ea typeface="ＭＳ Ｐゴシック" charset="0"/>
              </a:rPr>
              <a:t>  What are specific barriers you see to sustaining 5S in our electronic/virtual world? (Write them down)</a:t>
            </a:r>
          </a:p>
        </p:txBody>
      </p:sp>
      <p:sp>
        <p:nvSpPr>
          <p:cNvPr id="4" name="Slide Number Placeholder 3"/>
          <p:cNvSpPr>
            <a:spLocks noGrp="1"/>
          </p:cNvSpPr>
          <p:nvPr>
            <p:ph type="sldNum" sz="quarter" idx="5"/>
          </p:nvPr>
        </p:nvSpPr>
        <p:spPr/>
        <p:txBody>
          <a:bodyPr/>
          <a:lstStyle/>
          <a:p>
            <a:fld id="{AECD8548-F1A2-4EDF-A416-5F2BB6B8F64C}" type="slidenum">
              <a:rPr lang="en-US" smtClean="0"/>
              <a:t>74</a:t>
            </a:fld>
            <a:endParaRPr lang="en-US"/>
          </a:p>
        </p:txBody>
      </p:sp>
    </p:spTree>
    <p:extLst>
      <p:ext uri="{BB962C8B-B14F-4D97-AF65-F5344CB8AC3E}">
        <p14:creationId xmlns:p14="http://schemas.microsoft.com/office/powerpoint/2010/main" val="361716402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b="1" dirty="0">
                <a:latin typeface="Arial" panose="020B0604020202020204" pitchFamily="34" charset="0"/>
              </a:rPr>
              <a:t>NOTE:</a:t>
            </a:r>
            <a:r>
              <a:rPr lang="en-US" altLang="en-US" sz="800" dirty="0">
                <a:latin typeface="Arial" panose="020B0604020202020204" pitchFamily="34" charset="0"/>
              </a:rPr>
              <a:t>  Have participants break out into different groups (other than their original 5S </a:t>
            </a:r>
            <a:r>
              <a:rPr lang="ja-JP" altLang="en-US" sz="800" dirty="0">
                <a:latin typeface="Arial" panose="020B0604020202020204" pitchFamily="34" charset="0"/>
              </a:rPr>
              <a:t>“</a:t>
            </a:r>
            <a:r>
              <a:rPr lang="en-US" altLang="ja-JP" sz="800" dirty="0">
                <a:latin typeface="Arial" panose="020B0604020202020204" pitchFamily="34" charset="0"/>
              </a:rPr>
              <a:t>team</a:t>
            </a:r>
            <a:r>
              <a:rPr lang="ja-JP" altLang="en-US" sz="800" dirty="0">
                <a:latin typeface="Arial" panose="020B0604020202020204" pitchFamily="34" charset="0"/>
              </a:rPr>
              <a:t>”</a:t>
            </a:r>
            <a:r>
              <a:rPr lang="en-US" altLang="ja-JP" sz="800" dirty="0">
                <a:latin typeface="Arial" panose="020B0604020202020204" pitchFamily="34" charset="0"/>
              </a:rPr>
              <a:t>)</a:t>
            </a:r>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75</a:t>
            </a:fld>
            <a:endParaRPr lang="en-US"/>
          </a:p>
        </p:txBody>
      </p:sp>
    </p:spTree>
    <p:extLst>
      <p:ext uri="{BB962C8B-B14F-4D97-AF65-F5344CB8AC3E}">
        <p14:creationId xmlns:p14="http://schemas.microsoft.com/office/powerpoint/2010/main" val="244940631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ea typeface="ＭＳ Ｐゴシック" charset="0"/>
              </a:rPr>
              <a:t>DO:</a:t>
            </a:r>
            <a:r>
              <a:rPr lang="en-US" dirty="0">
                <a:ea typeface="ＭＳ Ｐゴシック" charset="0"/>
              </a:rPr>
              <a:t>  Summarize the importance of 5S and ask participants to describe what they can do right now (when they return to their workplace) to begin to implement a 5S program.</a:t>
            </a:r>
          </a:p>
        </p:txBody>
      </p:sp>
      <p:sp>
        <p:nvSpPr>
          <p:cNvPr id="4" name="Slide Number Placeholder 3"/>
          <p:cNvSpPr>
            <a:spLocks noGrp="1"/>
          </p:cNvSpPr>
          <p:nvPr>
            <p:ph type="sldNum" sz="quarter" idx="5"/>
          </p:nvPr>
        </p:nvSpPr>
        <p:spPr/>
        <p:txBody>
          <a:bodyPr/>
          <a:lstStyle/>
          <a:p>
            <a:fld id="{AECD8548-F1A2-4EDF-A416-5F2BB6B8F64C}" type="slidenum">
              <a:rPr lang="en-US" smtClean="0"/>
              <a:t>76</a:t>
            </a:fld>
            <a:endParaRPr lang="en-US"/>
          </a:p>
        </p:txBody>
      </p:sp>
    </p:spTree>
    <p:extLst>
      <p:ext uri="{BB962C8B-B14F-4D97-AF65-F5344CB8AC3E}">
        <p14:creationId xmlns:p14="http://schemas.microsoft.com/office/powerpoint/2010/main" val="163076155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latin typeface="Arial" panose="020B0604020202020204" pitchFamily="34" charset="0"/>
              <a:ea typeface="ＭＳ Ｐゴシック" panose="020B0600070205080204" pitchFamily="34" charset="-128"/>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77</a:t>
            </a:fld>
            <a:endParaRPr lang="en-US"/>
          </a:p>
        </p:txBody>
      </p:sp>
    </p:spTree>
    <p:extLst>
      <p:ext uri="{BB962C8B-B14F-4D97-AF65-F5344CB8AC3E}">
        <p14:creationId xmlns:p14="http://schemas.microsoft.com/office/powerpoint/2010/main" val="255399818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78</a:t>
            </a:fld>
            <a:endParaRPr lang="en-US"/>
          </a:p>
        </p:txBody>
      </p:sp>
    </p:spTree>
    <p:extLst>
      <p:ext uri="{BB962C8B-B14F-4D97-AF65-F5344CB8AC3E}">
        <p14:creationId xmlns:p14="http://schemas.microsoft.com/office/powerpoint/2010/main" val="257738022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Identify critical items, parts, and areas within factories with common colors which provides for a common understanding for any associate or visitor.</a:t>
            </a:r>
            <a:r>
              <a:rPr lang="ja-JP" altLang="en-US">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79</a:t>
            </a:fld>
            <a:endParaRPr lang="en-US"/>
          </a:p>
        </p:txBody>
      </p:sp>
    </p:spTree>
    <p:extLst>
      <p:ext uri="{BB962C8B-B14F-4D97-AF65-F5344CB8AC3E}">
        <p14:creationId xmlns:p14="http://schemas.microsoft.com/office/powerpoint/2010/main" val="177014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2"/>
          <a:stretch>
            <a:fillRect/>
          </a:stretch>
        </p:blipFill>
        <p:spPr>
          <a:xfrm>
            <a:off x="2385391" y="1950112"/>
            <a:ext cx="7772400" cy="2590800"/>
          </a:xfrm>
          <a:prstGeom prst="rect">
            <a:avLst/>
          </a:prstGeom>
        </p:spPr>
      </p:pic>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6C847F-0B94-F947-B172-F99DB133759E}"/>
              </a:ext>
            </a:extLst>
          </p:cNvPr>
          <p:cNvSpPr>
            <a:spLocks noGrp="1"/>
          </p:cNvSpPr>
          <p:nvPr>
            <p:ph type="sldNum" sz="quarter" idx="11"/>
          </p:nvPr>
        </p:nvSpPr>
        <p:spPr/>
        <p:txBody>
          <a:bodyPr/>
          <a:lstStyle/>
          <a:p>
            <a:fld id="{CC6D4273-7FC1-0947-B9FE-19CB3C0D1FB6}" type="slidenum">
              <a:rPr lang="en-US" smtClean="0"/>
              <a:pPr/>
              <a:t>‹#›</a:t>
            </a:fld>
            <a:endParaRPr lang="en-US" dirty="0"/>
          </a:p>
        </p:txBody>
      </p:sp>
      <p:sp>
        <p:nvSpPr>
          <p:cNvPr id="7" name="TextBox 6">
            <a:extLst>
              <a:ext uri="{FF2B5EF4-FFF2-40B4-BE49-F238E27FC236}">
                <a16:creationId xmlns:a16="http://schemas.microsoft.com/office/drawing/2014/main" id="{5C21B1ED-B2E3-19AE-DDFC-B157A0140513}"/>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0655B500-689F-3416-FFFA-6EFE369BF707}"/>
              </a:ext>
            </a:extLst>
          </p:cNvPr>
          <p:cNvSpPr>
            <a:spLocks noGrp="1"/>
          </p:cNvSpPr>
          <p:nvPr>
            <p:ph type="sldNum" sz="quarter" idx="4"/>
          </p:nvPr>
        </p:nvSpPr>
        <p:spPr>
          <a:xfrm>
            <a:off x="8595078" y="6333148"/>
            <a:ext cx="2743200" cy="365125"/>
          </a:xfrm>
          <a:prstGeom prst="rect">
            <a:avLst/>
          </a:prstGeom>
        </p:spPr>
        <p:txBody>
          <a:bodyPr vert="horz" lIns="91440" tIns="45720" rIns="91440" bIns="45720" rtlCol="0" anchor="ctr"/>
          <a:lstStyle>
            <a:lvl1pPr algn="r">
              <a:defRPr sz="1200">
                <a:solidFill>
                  <a:schemeClr val="tx1"/>
                </a:solidFill>
              </a:defRPr>
            </a:lvl1pPr>
          </a:lstStyle>
          <a:p>
            <a:fld id="{CC6D4273-7FC1-0947-B9FE-19CB3C0D1FB6}" type="slidenum">
              <a:rPr lang="en-US" smtClean="0"/>
              <a:pPr/>
              <a:t>‹#›</a:t>
            </a:fld>
            <a:endParaRPr lang="en-US" dirty="0"/>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838200" y="6382347"/>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AF5F83-88DF-460F-82C5-C2709D4DF5D2}"/>
              </a:ext>
            </a:extLst>
          </p:cNvPr>
          <p:cNvSpPr txBox="1"/>
          <p:nvPr userDrawn="1"/>
        </p:nvSpPr>
        <p:spPr>
          <a:xfrm>
            <a:off x="838200" y="6389310"/>
            <a:ext cx="4171934" cy="400110"/>
          </a:xfrm>
          <a:prstGeom prst="rect">
            <a:avLst/>
          </a:prstGeom>
          <a:noFill/>
        </p:spPr>
        <p:txBody>
          <a:bodyPr wrap="square" rtlCol="0">
            <a:spAutoFit/>
          </a:bodyPr>
          <a:lstStyle/>
          <a:p>
            <a:r>
              <a:rPr lang="en-US" sz="1000" dirty="0"/>
              <a:t>5S_OFFICE PRESENTATION ENG REV3.0</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76B0F1ED-1C44-DFD6-E7DA-038409D9167D}"/>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5.gi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7.jpeg"/></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9.jpeg"/></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8.jpeg"/><Relationship Id="rId5" Type="http://schemas.openxmlformats.org/officeDocument/2006/relationships/image" Target="../media/image13.jpeg"/><Relationship Id="rId4" Type="http://schemas.openxmlformats.org/officeDocument/2006/relationships/image" Target="../media/image12.jpeg"/></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16.emf"/></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3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image" Target="../media/image22.jpeg"/><Relationship Id="rId4" Type="http://schemas.openxmlformats.org/officeDocument/2006/relationships/image" Target="../media/image21.jpeg"/></Relationships>
</file>

<file path=ppt/slides/_rels/slide3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24.jpe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27.jpe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29.jpeg"/></Relationships>
</file>

<file path=ppt/slides/_rels/slide4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image" Target="../media/image32.jpeg"/></Relationships>
</file>

<file path=ppt/slides/_rels/slide4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61.xml"/><Relationship Id="rId1" Type="http://schemas.openxmlformats.org/officeDocument/2006/relationships/slideLayout" Target="../slideLayouts/slideLayout7.xml"/><Relationship Id="rId4" Type="http://schemas.openxmlformats.org/officeDocument/2006/relationships/image" Target="../media/image35.emf"/></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70.xml"/><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9.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9.xml"/></Relationships>
</file>

<file path=ppt/slides/_rels/slide7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78.xml"/><Relationship Id="rId1" Type="http://schemas.openxmlformats.org/officeDocument/2006/relationships/slideLayout" Target="../slideLayouts/slideLayout10.xml"/><Relationship Id="rId4" Type="http://schemas.openxmlformats.org/officeDocument/2006/relationships/image" Target="../media/image5.gif"/></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D087CB-B0CE-ACE5-4322-BDE16A56A1BC}"/>
              </a:ext>
            </a:extLst>
          </p:cNvPr>
          <p:cNvPicPr>
            <a:picLocks noChangeAspect="1"/>
          </p:cNvPicPr>
          <p:nvPr/>
        </p:nvPicPr>
        <p:blipFill>
          <a:blip r:embed="rId3"/>
          <a:stretch>
            <a:fillRect/>
          </a:stretch>
        </p:blipFill>
        <p:spPr>
          <a:xfrm>
            <a:off x="4747929" y="4846192"/>
            <a:ext cx="2696138" cy="45719"/>
          </a:xfrm>
          <a:prstGeom prst="rect">
            <a:avLst/>
          </a:prstGeom>
        </p:spPr>
      </p:pic>
      <p:sp>
        <p:nvSpPr>
          <p:cNvPr id="3" name="TextBox 2">
            <a:extLst>
              <a:ext uri="{FF2B5EF4-FFF2-40B4-BE49-F238E27FC236}">
                <a16:creationId xmlns:a16="http://schemas.microsoft.com/office/drawing/2014/main" id="{C0C17828-39BF-1CB3-A804-BE8AA75ACFF8}"/>
              </a:ext>
            </a:extLst>
          </p:cNvPr>
          <p:cNvSpPr txBox="1"/>
          <p:nvPr/>
        </p:nvSpPr>
        <p:spPr>
          <a:xfrm>
            <a:off x="3442234" y="3900266"/>
            <a:ext cx="5674290" cy="920252"/>
          </a:xfrm>
          <a:prstGeom prst="rect">
            <a:avLst/>
          </a:prstGeom>
          <a:noFill/>
        </p:spPr>
        <p:txBody>
          <a:bodyPr wrap="square" rtlCol="0">
            <a:spAutoFit/>
          </a:bodyPr>
          <a:lstStyle/>
          <a:p>
            <a:pPr algn="ctr">
              <a:lnSpc>
                <a:spcPct val="150000"/>
              </a:lnSpc>
              <a:spcBef>
                <a:spcPct val="0"/>
              </a:spcBef>
            </a:pPr>
            <a:r>
              <a:rPr lang="en-GB" altLang="en-US" sz="4000" b="0" dirty="0"/>
              <a:t>5S for the Office</a:t>
            </a:r>
          </a:p>
        </p:txBody>
      </p:sp>
    </p:spTree>
    <p:extLst>
      <p:ext uri="{BB962C8B-B14F-4D97-AF65-F5344CB8AC3E}">
        <p14:creationId xmlns:p14="http://schemas.microsoft.com/office/powerpoint/2010/main" val="2012730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a:t>
            </a:fld>
            <a:endParaRPr lang="en-US" dirty="0"/>
          </a:p>
        </p:txBody>
      </p:sp>
    </p:spTree>
    <p:extLst>
      <p:ext uri="{BB962C8B-B14F-4D97-AF65-F5344CB8AC3E}">
        <p14:creationId xmlns:p14="http://schemas.microsoft.com/office/powerpoint/2010/main" val="811029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3517106" y="2278809"/>
            <a:ext cx="5157787" cy="23003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tx1"/>
                </a:solidFill>
              </a:rPr>
              <a:t>This document contains confidential</a:t>
            </a:r>
            <a:br>
              <a:rPr lang="en-US" sz="2000" dirty="0">
                <a:solidFill>
                  <a:schemeClr val="tx1"/>
                </a:solidFill>
              </a:rPr>
            </a:br>
            <a:r>
              <a:rPr lang="en-US" sz="2000" dirty="0">
                <a:solidFill>
                  <a:schemeClr val="tx1"/>
                </a:solidFill>
              </a:rPr>
              <a:t>and proprietary information owned</a:t>
            </a:r>
            <a:br>
              <a:rPr lang="en-US" sz="2000" dirty="0">
                <a:solidFill>
                  <a:schemeClr val="tx1"/>
                </a:solidFill>
              </a:rPr>
            </a:br>
            <a:r>
              <a:rPr lang="en-US" sz="2000" dirty="0">
                <a:solidFill>
                  <a:schemeClr val="tx1"/>
                </a:solidFill>
              </a:rPr>
              <a:t> by Lean Horizons Consulting, LLC.</a:t>
            </a:r>
            <a:br>
              <a:rPr lang="en-US" sz="2000" dirty="0">
                <a:solidFill>
                  <a:schemeClr val="tx1"/>
                </a:solidFill>
              </a:rPr>
            </a:br>
            <a:br>
              <a:rPr lang="en-US" sz="2000" dirty="0">
                <a:solidFill>
                  <a:schemeClr val="tx1"/>
                </a:solidFill>
              </a:rPr>
            </a:br>
            <a:r>
              <a:rPr lang="en-US" sz="2000" dirty="0">
                <a:solidFill>
                  <a:schemeClr val="tx1"/>
                </a:solidFill>
              </a:rPr>
              <a:t>Any disclosure, use, copying or</a:t>
            </a:r>
            <a:br>
              <a:rPr lang="en-US" sz="2000" dirty="0">
                <a:solidFill>
                  <a:schemeClr val="tx1"/>
                </a:solidFill>
              </a:rPr>
            </a:br>
            <a:r>
              <a:rPr lang="en-US" sz="2000" dirty="0">
                <a:solidFill>
                  <a:schemeClr val="tx1"/>
                </a:solidFill>
              </a:rPr>
              <a:t>distribution of this information without the express written consent of Lean Horizons Consulting is strictly prohibited.</a:t>
            </a:r>
          </a:p>
        </p:txBody>
      </p:sp>
      <p:sp>
        <p:nvSpPr>
          <p:cNvPr id="12" name="Slide Number Placeholder 11">
            <a:extLst>
              <a:ext uri="{FF2B5EF4-FFF2-40B4-BE49-F238E27FC236}">
                <a16:creationId xmlns:a16="http://schemas.microsoft.com/office/drawing/2014/main" id="{C8A6FCFA-DB7B-71C3-70EC-F677EBA239A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a:t>
            </a:fld>
            <a:endParaRPr lang="en-US"/>
          </a:p>
        </p:txBody>
      </p:sp>
    </p:spTree>
    <p:extLst>
      <p:ext uri="{BB962C8B-B14F-4D97-AF65-F5344CB8AC3E}">
        <p14:creationId xmlns:p14="http://schemas.microsoft.com/office/powerpoint/2010/main" val="3785296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61B1F-82BB-20AA-556E-27FE22CCD7A0}"/>
              </a:ext>
            </a:extLst>
          </p:cNvPr>
          <p:cNvSpPr>
            <a:spLocks noGrp="1"/>
          </p:cNvSpPr>
          <p:nvPr>
            <p:ph type="title"/>
          </p:nvPr>
        </p:nvSpPr>
        <p:spPr/>
        <p:txBody>
          <a:bodyPr>
            <a:normAutofit/>
          </a:bodyPr>
          <a:lstStyle/>
          <a:p>
            <a:r>
              <a:rPr lang="en-US" sz="4000" dirty="0">
                <a:latin typeface="Roboto Medium"/>
                <a:ea typeface="Roboto Medium"/>
                <a:cs typeface="Roboto Medium"/>
              </a:rPr>
              <a:t>Ground Rules for Event</a:t>
            </a:r>
          </a:p>
        </p:txBody>
      </p:sp>
      <p:sp>
        <p:nvSpPr>
          <p:cNvPr id="3" name="Content Placeholder 2">
            <a:extLst>
              <a:ext uri="{FF2B5EF4-FFF2-40B4-BE49-F238E27FC236}">
                <a16:creationId xmlns:a16="http://schemas.microsoft.com/office/drawing/2014/main" id="{D1CAA202-895A-70BD-7319-C214C2BDD1B2}"/>
              </a:ext>
            </a:extLst>
          </p:cNvPr>
          <p:cNvSpPr>
            <a:spLocks noGrp="1"/>
          </p:cNvSpPr>
          <p:nvPr>
            <p:ph idx="1"/>
          </p:nvPr>
        </p:nvSpPr>
        <p:spPr/>
        <p:txBody>
          <a:bodyPr/>
          <a:lstStyle/>
          <a:p>
            <a:r>
              <a:rPr lang="en-US" altLang="en-US" sz="2800" dirty="0">
                <a:ea typeface="ＭＳ Ｐゴシック" panose="020B0600070205080204" pitchFamily="34" charset="-128"/>
              </a:rPr>
              <a:t>Safety first (use personal protective equipment)</a:t>
            </a:r>
          </a:p>
          <a:p>
            <a:r>
              <a:rPr lang="en-US" altLang="en-US" sz="2800" dirty="0">
                <a:ea typeface="ＭＳ Ｐゴシック" panose="020B0600070205080204" pitchFamily="34" charset="-128"/>
              </a:rPr>
              <a:t>Active participation by all</a:t>
            </a:r>
          </a:p>
          <a:p>
            <a:r>
              <a:rPr lang="en-US" altLang="en-US" sz="2800" dirty="0">
                <a:ea typeface="ＭＳ Ｐゴシック" panose="020B0600070205080204" pitchFamily="34" charset="-128"/>
              </a:rPr>
              <a:t>Start and end on time</a:t>
            </a:r>
          </a:p>
          <a:p>
            <a:r>
              <a:rPr lang="en-US" altLang="en-US" sz="2800" dirty="0">
                <a:ea typeface="ＭＳ Ｐゴシック" panose="020B0600070205080204" pitchFamily="34" charset="-128"/>
              </a:rPr>
              <a:t>All electronic gadgets (phones, pagers, </a:t>
            </a:r>
            <a:r>
              <a:rPr lang="en-US" altLang="en-US" sz="2800" dirty="0" err="1">
                <a:ea typeface="ＭＳ Ｐゴシック" panose="020B0600070205080204" pitchFamily="34" charset="-128"/>
              </a:rPr>
              <a:t>etc</a:t>
            </a:r>
            <a:r>
              <a:rPr lang="en-US" altLang="en-US" sz="2800" dirty="0">
                <a:ea typeface="ＭＳ Ｐゴシック" panose="020B0600070205080204" pitchFamily="34" charset="-128"/>
              </a:rPr>
              <a:t>) turned to “off” or “silent”</a:t>
            </a:r>
          </a:p>
          <a:p>
            <a:r>
              <a:rPr lang="en-US" altLang="en-US" sz="2800" dirty="0">
                <a:ea typeface="ＭＳ Ｐゴシック" panose="020B0600070205080204" pitchFamily="34" charset="-128"/>
              </a:rPr>
              <a:t>Computers to be used only when instructed</a:t>
            </a:r>
          </a:p>
          <a:p>
            <a:r>
              <a:rPr lang="en-US" altLang="en-US" sz="2800" dirty="0">
                <a:ea typeface="ＭＳ Ｐゴシック" panose="020B0600070205080204" pitchFamily="34" charset="-128"/>
              </a:rPr>
              <a:t>Keep an open mind to change</a:t>
            </a:r>
          </a:p>
          <a:p>
            <a:r>
              <a:rPr lang="en-US" altLang="en-US" sz="2800" dirty="0">
                <a:ea typeface="ＭＳ Ｐゴシック" panose="020B0600070205080204" pitchFamily="34" charset="-128"/>
              </a:rPr>
              <a:t>Don’t let “perfect” get in the way of “better”</a:t>
            </a:r>
          </a:p>
        </p:txBody>
      </p:sp>
      <p:sp>
        <p:nvSpPr>
          <p:cNvPr id="8" name="Slide Number Placeholder 7">
            <a:extLst>
              <a:ext uri="{FF2B5EF4-FFF2-40B4-BE49-F238E27FC236}">
                <a16:creationId xmlns:a16="http://schemas.microsoft.com/office/drawing/2014/main" id="{42705716-A551-625A-37E2-96047D07B49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a:t>
            </a:fld>
            <a:endParaRPr lang="en-US"/>
          </a:p>
        </p:txBody>
      </p:sp>
    </p:spTree>
    <p:extLst>
      <p:ext uri="{BB962C8B-B14F-4D97-AF65-F5344CB8AC3E}">
        <p14:creationId xmlns:p14="http://schemas.microsoft.com/office/powerpoint/2010/main" val="2726188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Goal of 5S Module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pPr marL="0" indent="0">
              <a:buNone/>
            </a:pPr>
            <a:r>
              <a:rPr lang="en-US" dirty="0"/>
              <a:t>Define 5S and apply to your office, information and transactional processes to achieve target goals for your business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a:t>
            </a:fld>
            <a:endParaRPr lang="en-US"/>
          </a:p>
        </p:txBody>
      </p:sp>
      <p:grpSp>
        <p:nvGrpSpPr>
          <p:cNvPr id="4" name="Group 3">
            <a:extLst>
              <a:ext uri="{FF2B5EF4-FFF2-40B4-BE49-F238E27FC236}">
                <a16:creationId xmlns:a16="http://schemas.microsoft.com/office/drawing/2014/main" id="{14F72706-4A90-F53F-7A0E-885B3D8945A3}"/>
              </a:ext>
            </a:extLst>
          </p:cNvPr>
          <p:cNvGrpSpPr/>
          <p:nvPr/>
        </p:nvGrpSpPr>
        <p:grpSpPr>
          <a:xfrm>
            <a:off x="2697308" y="3496469"/>
            <a:ext cx="6797384" cy="1009650"/>
            <a:chOff x="826426" y="4041857"/>
            <a:chExt cx="1060167" cy="290657"/>
          </a:xfrm>
        </p:grpSpPr>
        <p:sp>
          <p:nvSpPr>
            <p:cNvPr id="6" name="AutoShape 9">
              <a:extLst>
                <a:ext uri="{FF2B5EF4-FFF2-40B4-BE49-F238E27FC236}">
                  <a16:creationId xmlns:a16="http://schemas.microsoft.com/office/drawing/2014/main" id="{E9702FE4-F76A-0E7B-F2C0-92B739EDD5EB}"/>
                </a:ext>
              </a:extLst>
            </p:cNvPr>
            <p:cNvSpPr>
              <a:spLocks noChangeArrowheads="1"/>
            </p:cNvSpPr>
            <p:nvPr/>
          </p:nvSpPr>
          <p:spPr bwMode="auto">
            <a:xfrm>
              <a:off x="1453776"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2000" dirty="0">
                  <a:solidFill>
                    <a:schemeClr val="bg1"/>
                  </a:solidFill>
                </a:rPr>
                <a:t>5S</a:t>
              </a:r>
            </a:p>
            <a:p>
              <a:pPr algn="ctr">
                <a:lnSpc>
                  <a:spcPct val="80000"/>
                </a:lnSpc>
                <a:spcBef>
                  <a:spcPct val="20000"/>
                </a:spcBef>
                <a:spcAft>
                  <a:spcPct val="0"/>
                </a:spcAft>
                <a:buClrTx/>
                <a:buSzTx/>
                <a:buNone/>
              </a:pPr>
              <a:r>
                <a:rPr lang="en-US" altLang="en-US" sz="2000" dirty="0">
                  <a:solidFill>
                    <a:schemeClr val="bg1"/>
                  </a:solidFill>
                </a:rPr>
                <a:t>Review</a:t>
              </a:r>
            </a:p>
          </p:txBody>
        </p:sp>
        <p:sp>
          <p:nvSpPr>
            <p:cNvPr id="7" name="AutoShape 11">
              <a:extLst>
                <a:ext uri="{FF2B5EF4-FFF2-40B4-BE49-F238E27FC236}">
                  <a16:creationId xmlns:a16="http://schemas.microsoft.com/office/drawing/2014/main" id="{74520DF7-A54D-4EF2-533A-E389665448E4}"/>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2000" dirty="0">
                  <a:solidFill>
                    <a:schemeClr val="bg1"/>
                  </a:solidFill>
                </a:rPr>
                <a:t>5S</a:t>
              </a:r>
            </a:p>
            <a:p>
              <a:pPr algn="ctr">
                <a:lnSpc>
                  <a:spcPct val="80000"/>
                </a:lnSpc>
                <a:spcBef>
                  <a:spcPct val="20000"/>
                </a:spcBef>
                <a:spcAft>
                  <a:spcPct val="0"/>
                </a:spcAft>
                <a:buClrTx/>
                <a:buSzTx/>
                <a:buNone/>
              </a:pPr>
              <a:r>
                <a:rPr lang="en-US" altLang="en-US" sz="2000" dirty="0">
                  <a:solidFill>
                    <a:schemeClr val="bg1"/>
                  </a:solidFill>
                </a:rPr>
                <a:t>Process</a:t>
              </a:r>
            </a:p>
          </p:txBody>
        </p:sp>
        <p:sp>
          <p:nvSpPr>
            <p:cNvPr id="8" name="AutoShape 10">
              <a:extLst>
                <a:ext uri="{FF2B5EF4-FFF2-40B4-BE49-F238E27FC236}">
                  <a16:creationId xmlns:a16="http://schemas.microsoft.com/office/drawing/2014/main" id="{FA261B01-7C07-4A71-E8ED-4B853C53BAD9}"/>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2000" dirty="0">
                  <a:solidFill>
                    <a:schemeClr val="bg1"/>
                  </a:solidFill>
                </a:rPr>
                <a:t>5S</a:t>
              </a:r>
            </a:p>
            <a:p>
              <a:pPr algn="ctr">
                <a:lnSpc>
                  <a:spcPct val="80000"/>
                </a:lnSpc>
                <a:spcBef>
                  <a:spcPct val="20000"/>
                </a:spcBef>
                <a:spcAft>
                  <a:spcPct val="0"/>
                </a:spcAft>
                <a:buClrTx/>
                <a:buSzTx/>
                <a:buNone/>
              </a:pPr>
              <a:r>
                <a:rPr lang="en-US" altLang="en-US" sz="2000" dirty="0">
                  <a:solidFill>
                    <a:schemeClr val="bg1"/>
                  </a:solidFill>
                </a:rPr>
                <a:t>Definition</a:t>
              </a:r>
            </a:p>
          </p:txBody>
        </p:sp>
      </p:grpSp>
    </p:spTree>
    <p:extLst>
      <p:ext uri="{BB962C8B-B14F-4D97-AF65-F5344CB8AC3E}">
        <p14:creationId xmlns:p14="http://schemas.microsoft.com/office/powerpoint/2010/main" val="439207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5S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Define goal of 5S</a:t>
            </a:r>
          </a:p>
          <a:p>
            <a:r>
              <a:rPr lang="en-US" sz="2400" dirty="0"/>
              <a:t>Define 5S concepts</a:t>
            </a:r>
          </a:p>
          <a:p>
            <a:r>
              <a:rPr lang="en-US" sz="2400" dirty="0"/>
              <a:t>Identify benefits of 5S</a:t>
            </a:r>
          </a:p>
          <a:p>
            <a:r>
              <a:rPr lang="en-US" sz="2400" dirty="0"/>
              <a:t>Define 5S process steps</a:t>
            </a:r>
          </a:p>
          <a:p>
            <a:r>
              <a:rPr lang="en-US" sz="2400" dirty="0"/>
              <a:t>Discuss impact of 5S in your office</a:t>
            </a:r>
          </a:p>
          <a:p>
            <a:r>
              <a:rPr lang="en-US" sz="2400" dirty="0"/>
              <a:t>Define 5S implementation roadmap</a:t>
            </a:r>
          </a:p>
          <a:p>
            <a:r>
              <a:rPr lang="en-US" sz="2400" dirty="0"/>
              <a:t>Review 5S event charter</a:t>
            </a:r>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1157C199-7442-CD49-CE0F-E180C6F3CECC}"/>
              </a:ext>
            </a:extLst>
          </p:cNvPr>
          <p:cNvGrpSpPr/>
          <p:nvPr/>
        </p:nvGrpSpPr>
        <p:grpSpPr>
          <a:xfrm>
            <a:off x="699911" y="837133"/>
            <a:ext cx="4425950" cy="659879"/>
            <a:chOff x="5627530" y="641179"/>
            <a:chExt cx="6564470"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5S Review</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30"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cs typeface="Roboto" panose="02000000000000000000" pitchFamily="2" charset="0"/>
                </a:rPr>
                <a:t>5S Definition</a:t>
              </a:r>
            </a:p>
          </p:txBody>
        </p:sp>
      </p:grpSp>
    </p:spTree>
    <p:extLst>
      <p:ext uri="{BB962C8B-B14F-4D97-AF65-F5344CB8AC3E}">
        <p14:creationId xmlns:p14="http://schemas.microsoft.com/office/powerpoint/2010/main" val="4115764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287BA79-BC0E-9B68-5E47-60ACB12957C8}"/>
              </a:ext>
            </a:extLst>
          </p:cNvPr>
          <p:cNvSpPr>
            <a:spLocks noGrp="1"/>
          </p:cNvSpPr>
          <p:nvPr>
            <p:ph type="body" sz="half" idx="2"/>
          </p:nvPr>
        </p:nvSpPr>
        <p:spPr/>
        <p:txBody>
          <a:bodyPr anchor="ctr">
            <a:normAutofit/>
          </a:bodyPr>
          <a:lstStyle/>
          <a:p>
            <a:r>
              <a:rPr lang="en-US" altLang="ja-JP" sz="2200" dirty="0">
                <a:solidFill>
                  <a:schemeClr val="bg2">
                    <a:lumMod val="10000"/>
                  </a:schemeClr>
                </a:solidFill>
              </a:rPr>
              <a:t>The goal of 5S is to create </a:t>
            </a:r>
            <a:br>
              <a:rPr lang="en-US" altLang="ja-JP" sz="2200" dirty="0">
                <a:solidFill>
                  <a:schemeClr val="bg2">
                    <a:lumMod val="10000"/>
                  </a:schemeClr>
                </a:solidFill>
              </a:rPr>
            </a:br>
            <a:r>
              <a:rPr lang="en-US" altLang="ja-JP" sz="2200" dirty="0">
                <a:solidFill>
                  <a:schemeClr val="bg2">
                    <a:lumMod val="10000"/>
                  </a:schemeClr>
                </a:solidFill>
              </a:rPr>
              <a:t>workplace organization, </a:t>
            </a:r>
            <a:br>
              <a:rPr lang="en-US" altLang="ja-JP" sz="2200" dirty="0">
                <a:solidFill>
                  <a:schemeClr val="bg2">
                    <a:lumMod val="10000"/>
                  </a:schemeClr>
                </a:solidFill>
              </a:rPr>
            </a:br>
            <a:r>
              <a:rPr lang="en-US" altLang="ja-JP" sz="2200" dirty="0">
                <a:solidFill>
                  <a:schemeClr val="bg2">
                    <a:lumMod val="10000"/>
                  </a:schemeClr>
                </a:solidFill>
              </a:rPr>
              <a:t>improve productivity, </a:t>
            </a:r>
            <a:br>
              <a:rPr lang="en-US" altLang="ja-JP" sz="2200" dirty="0">
                <a:solidFill>
                  <a:schemeClr val="bg2">
                    <a:lumMod val="10000"/>
                  </a:schemeClr>
                </a:solidFill>
              </a:rPr>
            </a:br>
            <a:r>
              <a:rPr lang="en-US" altLang="ja-JP" sz="2200" dirty="0">
                <a:solidFill>
                  <a:schemeClr val="bg2">
                    <a:lumMod val="10000"/>
                  </a:schemeClr>
                </a:solidFill>
              </a:rPr>
              <a:t>enable visual management, and lay the foundation for all other lean tools used for continuous improvement. </a:t>
            </a:r>
          </a:p>
        </p:txBody>
      </p:sp>
      <p:sp>
        <p:nvSpPr>
          <p:cNvPr id="7" name="Slide Number Placeholder 6">
            <a:extLst>
              <a:ext uri="{FF2B5EF4-FFF2-40B4-BE49-F238E27FC236}">
                <a16:creationId xmlns:a16="http://schemas.microsoft.com/office/drawing/2014/main" id="{8DDF98C7-E326-67DA-15D8-AD0EFBA4380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7</a:t>
            </a:fld>
            <a:endParaRPr lang="en-US"/>
          </a:p>
        </p:txBody>
      </p:sp>
      <p:sp>
        <p:nvSpPr>
          <p:cNvPr id="2" name="Title 1">
            <a:extLst>
              <a:ext uri="{FF2B5EF4-FFF2-40B4-BE49-F238E27FC236}">
                <a16:creationId xmlns:a16="http://schemas.microsoft.com/office/drawing/2014/main" id="{3BEF1C1C-86A0-4488-68EC-1E6D1847DB51}"/>
              </a:ext>
            </a:extLst>
          </p:cNvPr>
          <p:cNvSpPr>
            <a:spLocks noGrp="1"/>
          </p:cNvSpPr>
          <p:nvPr>
            <p:ph type="title"/>
          </p:nvPr>
        </p:nvSpPr>
        <p:spPr>
          <a:xfrm>
            <a:off x="839788" y="1222913"/>
            <a:ext cx="3932237" cy="531812"/>
          </a:xfrm>
        </p:spPr>
        <p:txBody>
          <a:bodyPr>
            <a:noAutofit/>
          </a:bodyPr>
          <a:lstStyle/>
          <a:p>
            <a:r>
              <a:rPr lang="en-US" sz="4000" dirty="0">
                <a:latin typeface="Roboto Medium"/>
                <a:ea typeface="Roboto Medium"/>
                <a:cs typeface="Roboto Medium"/>
              </a:rPr>
              <a:t>Goal of 5S</a:t>
            </a:r>
          </a:p>
        </p:txBody>
      </p:sp>
      <p:grpSp>
        <p:nvGrpSpPr>
          <p:cNvPr id="5" name="Group 4">
            <a:extLst>
              <a:ext uri="{FF2B5EF4-FFF2-40B4-BE49-F238E27FC236}">
                <a16:creationId xmlns:a16="http://schemas.microsoft.com/office/drawing/2014/main" id="{48C1D6E7-A893-4D82-3D52-586D3F4258E0}"/>
              </a:ext>
            </a:extLst>
          </p:cNvPr>
          <p:cNvGrpSpPr/>
          <p:nvPr/>
        </p:nvGrpSpPr>
        <p:grpSpPr>
          <a:xfrm>
            <a:off x="940249" y="289611"/>
            <a:ext cx="1060167" cy="324859"/>
            <a:chOff x="940249" y="315206"/>
            <a:chExt cx="1060167" cy="265062"/>
          </a:xfrm>
        </p:grpSpPr>
        <p:sp>
          <p:nvSpPr>
            <p:cNvPr id="10" name="AutoShape 9">
              <a:extLst>
                <a:ext uri="{FF2B5EF4-FFF2-40B4-BE49-F238E27FC236}">
                  <a16:creationId xmlns:a16="http://schemas.microsoft.com/office/drawing/2014/main" id="{7A8F5BB9-FAB4-6395-81D0-200F966608E3}"/>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0">
              <a:extLst>
                <a:ext uri="{FF2B5EF4-FFF2-40B4-BE49-F238E27FC236}">
                  <a16:creationId xmlns:a16="http://schemas.microsoft.com/office/drawing/2014/main" id="{FC1625F7-8FC0-B69E-AF21-90E6799907A1}"/>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1C4EF245-2BA4-F3FA-D88C-263F47010761}"/>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3" name="TextBox 12">
            <a:extLst>
              <a:ext uri="{FF2B5EF4-FFF2-40B4-BE49-F238E27FC236}">
                <a16:creationId xmlns:a16="http://schemas.microsoft.com/office/drawing/2014/main" id="{025EF277-5594-1C4C-8F9F-17DAF97192EC}"/>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Definition</a:t>
            </a:r>
          </a:p>
        </p:txBody>
      </p:sp>
      <p:sp>
        <p:nvSpPr>
          <p:cNvPr id="6" name="Content Placeholder 5">
            <a:extLst>
              <a:ext uri="{FF2B5EF4-FFF2-40B4-BE49-F238E27FC236}">
                <a16:creationId xmlns:a16="http://schemas.microsoft.com/office/drawing/2014/main" id="{8922653A-07EA-A2B4-414B-D098491F9059}"/>
              </a:ext>
            </a:extLst>
          </p:cNvPr>
          <p:cNvSpPr>
            <a:spLocks noGrp="1"/>
          </p:cNvSpPr>
          <p:nvPr>
            <p:ph idx="1"/>
          </p:nvPr>
        </p:nvSpPr>
        <p:spPr>
          <a:xfrm>
            <a:off x="5183188" y="2045970"/>
            <a:ext cx="6169024" cy="3815080"/>
          </a:xfrm>
        </p:spPr>
        <p:txBody>
          <a:bodyPr>
            <a:normAutofit fontScale="77500" lnSpcReduction="20000"/>
          </a:bodyPr>
          <a:lstStyle/>
          <a:p>
            <a:r>
              <a:rPr lang="en-US" dirty="0"/>
              <a:t>Productivity</a:t>
            </a:r>
          </a:p>
          <a:p>
            <a:pPr lvl="1"/>
            <a:r>
              <a:rPr lang="en-US" dirty="0"/>
              <a:t>Eliminate wasted time looking for information and office supplies. Reduce processing time and office equipment downtime. Prioritize tasks more easily.</a:t>
            </a:r>
          </a:p>
          <a:p>
            <a:r>
              <a:rPr lang="en-US" dirty="0"/>
              <a:t>Quality</a:t>
            </a:r>
          </a:p>
          <a:p>
            <a:pPr lvl="1"/>
            <a:r>
              <a:rPr lang="en-US" dirty="0"/>
              <a:t>Eliminate the possibility of using obsolete or incorrect information.</a:t>
            </a:r>
          </a:p>
          <a:p>
            <a:r>
              <a:rPr lang="en-US" dirty="0"/>
              <a:t>Safety</a:t>
            </a:r>
          </a:p>
          <a:p>
            <a:pPr lvl="1"/>
            <a:r>
              <a:rPr lang="en-US" dirty="0"/>
              <a:t>Reduce the number of lost time accidents, workman’s compensation claims and </a:t>
            </a:r>
            <a:br>
              <a:rPr lang="en-US" dirty="0"/>
            </a:br>
            <a:r>
              <a:rPr lang="en-US" dirty="0"/>
              <a:t>OSHA recordables.</a:t>
            </a:r>
          </a:p>
          <a:p>
            <a:endParaRPr lang="en-US" dirty="0"/>
          </a:p>
        </p:txBody>
      </p:sp>
      <p:sp>
        <p:nvSpPr>
          <p:cNvPr id="9" name="Rectangle 8">
            <a:extLst>
              <a:ext uri="{FF2B5EF4-FFF2-40B4-BE49-F238E27FC236}">
                <a16:creationId xmlns:a16="http://schemas.microsoft.com/office/drawing/2014/main" id="{3119D526-9C91-C567-E7EF-99C21559D72F}"/>
              </a:ext>
            </a:extLst>
          </p:cNvPr>
          <p:cNvSpPr/>
          <p:nvPr/>
        </p:nvSpPr>
        <p:spPr>
          <a:xfrm>
            <a:off x="5183188" y="1488819"/>
            <a:ext cx="569817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Benefits of 5S Culture</a:t>
            </a:r>
          </a:p>
        </p:txBody>
      </p:sp>
    </p:spTree>
    <p:extLst>
      <p:ext uri="{BB962C8B-B14F-4D97-AF65-F5344CB8AC3E}">
        <p14:creationId xmlns:p14="http://schemas.microsoft.com/office/powerpoint/2010/main" val="2589989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What is 5S?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a:t>
            </a:fld>
            <a:endParaRPr lang="en-US"/>
          </a:p>
        </p:txBody>
      </p:sp>
      <p:graphicFrame>
        <p:nvGraphicFramePr>
          <p:cNvPr id="3" name="Group 3">
            <a:extLst>
              <a:ext uri="{FF2B5EF4-FFF2-40B4-BE49-F238E27FC236}">
                <a16:creationId xmlns:a16="http://schemas.microsoft.com/office/drawing/2014/main" id="{FD540487-2CE5-B5E5-A842-F21DCA5D8894}"/>
              </a:ext>
            </a:extLst>
          </p:cNvPr>
          <p:cNvGraphicFramePr>
            <a:graphicFrameLocks noGrp="1"/>
          </p:cNvGraphicFramePr>
          <p:nvPr>
            <p:extLst>
              <p:ext uri="{D42A27DB-BD31-4B8C-83A1-F6EECF244321}">
                <p14:modId xmlns:p14="http://schemas.microsoft.com/office/powerpoint/2010/main" val="2683868186"/>
              </p:ext>
            </p:extLst>
          </p:nvPr>
        </p:nvGraphicFramePr>
        <p:xfrm>
          <a:off x="838200" y="1888637"/>
          <a:ext cx="10114597" cy="4304927"/>
        </p:xfrm>
        <a:graphic>
          <a:graphicData uri="http://schemas.openxmlformats.org/drawingml/2006/table">
            <a:tbl>
              <a:tblPr/>
              <a:tblGrid>
                <a:gridCol w="3916532">
                  <a:extLst>
                    <a:ext uri="{9D8B030D-6E8A-4147-A177-3AD203B41FA5}">
                      <a16:colId xmlns:a16="http://schemas.microsoft.com/office/drawing/2014/main" val="20000"/>
                    </a:ext>
                  </a:extLst>
                </a:gridCol>
                <a:gridCol w="2263846">
                  <a:extLst>
                    <a:ext uri="{9D8B030D-6E8A-4147-A177-3AD203B41FA5}">
                      <a16:colId xmlns:a16="http://schemas.microsoft.com/office/drawing/2014/main" val="20001"/>
                    </a:ext>
                  </a:extLst>
                </a:gridCol>
                <a:gridCol w="3934219">
                  <a:extLst>
                    <a:ext uri="{9D8B030D-6E8A-4147-A177-3AD203B41FA5}">
                      <a16:colId xmlns:a16="http://schemas.microsoft.com/office/drawing/2014/main" val="20002"/>
                    </a:ext>
                  </a:extLst>
                </a:gridCol>
              </a:tblGrid>
              <a:tr h="853758">
                <a:tc>
                  <a:txBody>
                    <a:bodyPr/>
                    <a:lstStyle>
                      <a:lvl1pPr algn="l">
                        <a:lnSpc>
                          <a:spcPct val="115000"/>
                        </a:lnSpc>
                        <a:spcBef>
                          <a:spcPct val="50000"/>
                        </a:spcBef>
                        <a:spcAft>
                          <a:spcPct val="50000"/>
                        </a:spcAft>
                        <a:buClr>
                          <a:srgbClr val="006699"/>
                        </a:buClr>
                        <a:buSzPct val="90000"/>
                        <a:buFont typeface="Wingdings" pitchFamily="2" charset="2"/>
                        <a:defRPr sz="28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itchFamily="2" charset="2"/>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altLang="en-US" sz="2000" b="0" i="0" u="none" strike="noStrike" cap="none" normalizeH="0" baseline="0" dirty="0">
                          <a:ln>
                            <a:noFill/>
                          </a:ln>
                          <a:solidFill>
                            <a:schemeClr val="tx1"/>
                          </a:solidFill>
                          <a:effectLst/>
                          <a:latin typeface="Roboto" panose="02000000000000000000" pitchFamily="2" charset="0"/>
                          <a:ea typeface="Roboto" panose="02000000000000000000" pitchFamily="2" charset="0"/>
                        </a:rPr>
                        <a:t>Is about sustained workplace organization and discipline</a:t>
                      </a: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itchFamily="2" charset="2"/>
                        <a:defRPr sz="28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itchFamily="2" charset="2"/>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altLang="en-US" sz="2000" b="0"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itchFamily="2" charset="2"/>
                        <a:defRPr sz="28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itchFamily="2" charset="2"/>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altLang="en-US" sz="2000" b="0" i="0" u="none" strike="noStrike" cap="none" normalizeH="0" baseline="0">
                          <a:ln>
                            <a:noFill/>
                          </a:ln>
                          <a:solidFill>
                            <a:schemeClr val="tx1"/>
                          </a:solidFill>
                          <a:effectLst/>
                          <a:latin typeface="Roboto" panose="02000000000000000000" pitchFamily="2" charset="0"/>
                          <a:ea typeface="Roboto" panose="02000000000000000000" pitchFamily="2" charset="0"/>
                        </a:rPr>
                        <a:t>Is not about </a:t>
                      </a:r>
                      <a:r>
                        <a:rPr kumimoji="0" lang="ja-JP" altLang="en-US" sz="2000" b="0" i="0" u="none" strike="noStrike" cap="none" normalizeH="0" baseline="0">
                          <a:ln>
                            <a:noFill/>
                          </a:ln>
                          <a:solidFill>
                            <a:schemeClr val="tx1"/>
                          </a:solidFill>
                          <a:effectLst/>
                          <a:latin typeface="Roboto" panose="02000000000000000000" pitchFamily="2" charset="0"/>
                          <a:ea typeface="ＭＳ Ｐゴシック" panose="020B0600070205080204" pitchFamily="34" charset="-128"/>
                        </a:rPr>
                        <a:t>“</a:t>
                      </a:r>
                      <a:r>
                        <a:rPr kumimoji="0" lang="en-US" altLang="ja-JP" sz="2000" b="0" i="0" u="none" strike="noStrike" cap="none" normalizeH="0" baseline="0">
                          <a:ln>
                            <a:noFill/>
                          </a:ln>
                          <a:solidFill>
                            <a:schemeClr val="tx1"/>
                          </a:solidFill>
                          <a:effectLst/>
                          <a:latin typeface="Roboto" panose="02000000000000000000" pitchFamily="2" charset="0"/>
                          <a:ea typeface="Roboto" panose="02000000000000000000" pitchFamily="2" charset="0"/>
                        </a:rPr>
                        <a:t>spring cleaning</a:t>
                      </a:r>
                      <a:r>
                        <a:rPr kumimoji="0" lang="ja-JP" altLang="en-US" sz="2000" b="0" i="0" u="none" strike="noStrike" cap="none" normalizeH="0" baseline="0">
                          <a:ln>
                            <a:noFill/>
                          </a:ln>
                          <a:solidFill>
                            <a:schemeClr val="tx1"/>
                          </a:solidFill>
                          <a:effectLst/>
                          <a:latin typeface="Roboto" panose="02000000000000000000" pitchFamily="2" charset="0"/>
                          <a:ea typeface="ＭＳ Ｐゴシック" panose="020B0600070205080204" pitchFamily="34" charset="-128"/>
                        </a:rPr>
                        <a:t>”</a:t>
                      </a:r>
                      <a:endParaRPr kumimoji="0" lang="en-US" altLang="en-US" sz="2000" b="0"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30834">
                <a:tc>
                  <a:txBody>
                    <a:bodyPr/>
                    <a:lstStyle>
                      <a:lvl1pPr algn="l">
                        <a:lnSpc>
                          <a:spcPct val="115000"/>
                        </a:lnSpc>
                        <a:spcBef>
                          <a:spcPct val="50000"/>
                        </a:spcBef>
                        <a:spcAft>
                          <a:spcPct val="50000"/>
                        </a:spcAft>
                        <a:buClr>
                          <a:srgbClr val="006699"/>
                        </a:buClr>
                        <a:buSzPct val="90000"/>
                        <a:buFont typeface="Wingdings" pitchFamily="2" charset="2"/>
                        <a:defRPr sz="28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itchFamily="2" charset="2"/>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altLang="en-US" sz="2000" b="0" i="0" u="none" strike="noStrike" cap="none" normalizeH="0" baseline="0">
                          <a:ln>
                            <a:noFill/>
                          </a:ln>
                          <a:solidFill>
                            <a:schemeClr val="tx1"/>
                          </a:solidFill>
                          <a:effectLst/>
                          <a:latin typeface="Roboto" panose="02000000000000000000" pitchFamily="2" charset="0"/>
                          <a:ea typeface="Roboto" panose="02000000000000000000" pitchFamily="2" charset="0"/>
                        </a:rPr>
                        <a:t>Is a tool that benefits the entire organization</a:t>
                      </a: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itchFamily="2" charset="2"/>
                        <a:defRPr sz="28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itchFamily="2" charset="2"/>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altLang="en-US" sz="2000" b="0"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itchFamily="2" charset="2"/>
                        <a:defRPr sz="28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itchFamily="2" charset="2"/>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altLang="en-US" sz="2000" b="0" i="0" u="none" strike="noStrike" cap="none" normalizeH="0" baseline="0">
                          <a:ln>
                            <a:noFill/>
                          </a:ln>
                          <a:solidFill>
                            <a:schemeClr val="tx1"/>
                          </a:solidFill>
                          <a:effectLst/>
                          <a:latin typeface="Roboto" panose="02000000000000000000" pitchFamily="2" charset="0"/>
                          <a:ea typeface="Roboto" panose="02000000000000000000" pitchFamily="2" charset="0"/>
                        </a:rPr>
                        <a:t>Is not a </a:t>
                      </a:r>
                      <a:r>
                        <a:rPr kumimoji="0" lang="ja-JP" altLang="en-US" sz="2000" b="0" i="0" u="none" strike="noStrike" cap="none" normalizeH="0" baseline="0">
                          <a:ln>
                            <a:noFill/>
                          </a:ln>
                          <a:solidFill>
                            <a:schemeClr val="tx1"/>
                          </a:solidFill>
                          <a:effectLst/>
                          <a:latin typeface="Roboto" panose="02000000000000000000" pitchFamily="2" charset="0"/>
                          <a:ea typeface="ＭＳ Ｐゴシック" panose="020B0600070205080204" pitchFamily="34" charset="-128"/>
                        </a:rPr>
                        <a:t>“</a:t>
                      </a:r>
                      <a:r>
                        <a:rPr kumimoji="0" lang="en-US" altLang="ja-JP" sz="2000" b="0" i="0" u="none" strike="noStrike" cap="none" normalizeH="0" baseline="0">
                          <a:ln>
                            <a:noFill/>
                          </a:ln>
                          <a:solidFill>
                            <a:schemeClr val="tx1"/>
                          </a:solidFill>
                          <a:effectLst/>
                          <a:latin typeface="Roboto" panose="02000000000000000000" pitchFamily="2" charset="0"/>
                          <a:ea typeface="Roboto" panose="02000000000000000000" pitchFamily="2" charset="0"/>
                        </a:rPr>
                        <a:t>shop-floor </a:t>
                      </a:r>
                      <a:br>
                        <a:rPr kumimoji="0" lang="en-US" altLang="ja-JP" sz="2000" b="0" i="0" u="none" strike="noStrike" cap="none" normalizeH="0" baseline="0">
                          <a:ln>
                            <a:noFill/>
                          </a:ln>
                          <a:solidFill>
                            <a:schemeClr val="tx1"/>
                          </a:solidFill>
                          <a:effectLst/>
                          <a:latin typeface="Roboto" panose="02000000000000000000" pitchFamily="2" charset="0"/>
                          <a:ea typeface="Roboto" panose="02000000000000000000" pitchFamily="2" charset="0"/>
                        </a:rPr>
                      </a:br>
                      <a:r>
                        <a:rPr kumimoji="0" lang="en-US" altLang="ja-JP" sz="2000" b="0" i="0" u="none" strike="noStrike" cap="none" normalizeH="0" baseline="0">
                          <a:ln>
                            <a:noFill/>
                          </a:ln>
                          <a:solidFill>
                            <a:schemeClr val="tx1"/>
                          </a:solidFill>
                          <a:effectLst/>
                          <a:latin typeface="Roboto" panose="02000000000000000000" pitchFamily="2" charset="0"/>
                          <a:ea typeface="Roboto" panose="02000000000000000000" pitchFamily="2" charset="0"/>
                        </a:rPr>
                        <a:t>only</a:t>
                      </a:r>
                      <a:r>
                        <a:rPr kumimoji="0" lang="ja-JP" altLang="en-US" sz="2000" b="0" i="0" u="none" strike="noStrike" cap="none" normalizeH="0" baseline="0">
                          <a:ln>
                            <a:noFill/>
                          </a:ln>
                          <a:solidFill>
                            <a:schemeClr val="tx1"/>
                          </a:solidFill>
                          <a:effectLst/>
                          <a:latin typeface="Roboto" panose="02000000000000000000" pitchFamily="2" charset="0"/>
                          <a:ea typeface="ＭＳ Ｐゴシック" panose="020B0600070205080204" pitchFamily="34" charset="-128"/>
                        </a:rPr>
                        <a:t>”</a:t>
                      </a:r>
                      <a:r>
                        <a:rPr kumimoji="0" lang="en-US" altLang="ja-JP" sz="2000" b="0" i="0" u="none" strike="noStrike" cap="none" normalizeH="0" baseline="0">
                          <a:ln>
                            <a:noFill/>
                          </a:ln>
                          <a:solidFill>
                            <a:schemeClr val="tx1"/>
                          </a:solidFill>
                          <a:effectLst/>
                          <a:latin typeface="Roboto" panose="02000000000000000000" pitchFamily="2" charset="0"/>
                          <a:ea typeface="Roboto" panose="02000000000000000000" pitchFamily="2" charset="0"/>
                        </a:rPr>
                        <a:t> tool</a:t>
                      </a:r>
                      <a:endParaRPr kumimoji="0" lang="en-US" altLang="en-US" sz="2000" b="0"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26388">
                <a:tc>
                  <a:txBody>
                    <a:bodyPr/>
                    <a:lstStyle>
                      <a:lvl1pPr algn="l">
                        <a:lnSpc>
                          <a:spcPct val="115000"/>
                        </a:lnSpc>
                        <a:spcBef>
                          <a:spcPct val="50000"/>
                        </a:spcBef>
                        <a:spcAft>
                          <a:spcPct val="50000"/>
                        </a:spcAft>
                        <a:buClr>
                          <a:srgbClr val="006699"/>
                        </a:buClr>
                        <a:buSzPct val="90000"/>
                        <a:buFont typeface="Wingdings" pitchFamily="2" charset="2"/>
                        <a:defRPr sz="28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itchFamily="2" charset="2"/>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altLang="en-US" sz="2000" b="0" i="0" u="none" strike="noStrike" cap="none" normalizeH="0" baseline="0">
                          <a:ln>
                            <a:noFill/>
                          </a:ln>
                          <a:solidFill>
                            <a:schemeClr val="tx1"/>
                          </a:solidFill>
                          <a:effectLst/>
                          <a:latin typeface="Roboto" panose="02000000000000000000" pitchFamily="2" charset="0"/>
                          <a:ea typeface="Roboto" panose="02000000000000000000" pitchFamily="2" charset="0"/>
                        </a:rPr>
                        <a:t>Is a continuous process and an on-going management tool</a:t>
                      </a: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itchFamily="2" charset="2"/>
                        <a:defRPr sz="28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itchFamily="2" charset="2"/>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altLang="en-US" sz="2000" b="0"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itchFamily="2" charset="2"/>
                        <a:defRPr sz="28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itchFamily="2" charset="2"/>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altLang="en-US" sz="2000" b="0" i="0" u="none" strike="noStrike" cap="none" normalizeH="0" baseline="0" dirty="0">
                          <a:ln>
                            <a:noFill/>
                          </a:ln>
                          <a:solidFill>
                            <a:schemeClr val="tx1"/>
                          </a:solidFill>
                          <a:effectLst/>
                          <a:latin typeface="Roboto" panose="02000000000000000000" pitchFamily="2" charset="0"/>
                          <a:ea typeface="Roboto" panose="02000000000000000000" pitchFamily="2" charset="0"/>
                        </a:rPr>
                        <a:t>Is not a one-time event</a:t>
                      </a: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25597">
                <a:tc>
                  <a:txBody>
                    <a:bodyPr/>
                    <a:lstStyle>
                      <a:lvl1pPr algn="l">
                        <a:lnSpc>
                          <a:spcPct val="115000"/>
                        </a:lnSpc>
                        <a:spcBef>
                          <a:spcPct val="50000"/>
                        </a:spcBef>
                        <a:spcAft>
                          <a:spcPct val="50000"/>
                        </a:spcAft>
                        <a:buClr>
                          <a:srgbClr val="006699"/>
                        </a:buClr>
                        <a:buSzPct val="90000"/>
                        <a:buFont typeface="Wingdings" pitchFamily="2" charset="2"/>
                        <a:defRPr sz="28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itchFamily="2" charset="2"/>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altLang="en-US" sz="2000" b="0" i="0" u="none" strike="noStrike" cap="none" normalizeH="0" baseline="0">
                          <a:ln>
                            <a:noFill/>
                          </a:ln>
                          <a:solidFill>
                            <a:schemeClr val="tx1"/>
                          </a:solidFill>
                          <a:effectLst/>
                          <a:latin typeface="Roboto" panose="02000000000000000000" pitchFamily="2" charset="0"/>
                          <a:ea typeface="Roboto" panose="02000000000000000000" pitchFamily="2" charset="0"/>
                        </a:rPr>
                        <a:t>Is for everyone</a:t>
                      </a: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itchFamily="2" charset="2"/>
                        <a:defRPr sz="28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itchFamily="2" charset="2"/>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altLang="en-US" sz="2000" b="0"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itchFamily="2" charset="2"/>
                        <a:defRPr sz="28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itchFamily="2" charset="2"/>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altLang="en-US" sz="2000" b="0" i="0" u="none" strike="noStrike" cap="none" normalizeH="0" baseline="0" dirty="0">
                          <a:ln>
                            <a:noFill/>
                          </a:ln>
                          <a:solidFill>
                            <a:schemeClr val="tx1"/>
                          </a:solidFill>
                          <a:effectLst/>
                          <a:latin typeface="Roboto" panose="02000000000000000000" pitchFamily="2" charset="0"/>
                          <a:ea typeface="Roboto" panose="02000000000000000000" pitchFamily="2" charset="0"/>
                        </a:rPr>
                        <a:t>Is not </a:t>
                      </a:r>
                      <a:r>
                        <a:rPr kumimoji="0" lang="ja-JP" altLang="en-US" sz="2000" b="0" i="0" u="none" strike="noStrike" cap="none" normalizeH="0" baseline="0" dirty="0">
                          <a:ln>
                            <a:noFill/>
                          </a:ln>
                          <a:solidFill>
                            <a:schemeClr val="tx1"/>
                          </a:solidFill>
                          <a:effectLst/>
                          <a:latin typeface="Roboto" panose="02000000000000000000" pitchFamily="2" charset="0"/>
                          <a:ea typeface="ＭＳ Ｐゴシック" panose="020B0600070205080204" pitchFamily="34" charset="-128"/>
                        </a:rPr>
                        <a:t>“</a:t>
                      </a:r>
                      <a:r>
                        <a:rPr kumimoji="0" lang="en-US" altLang="ja-JP" sz="2000" b="0" i="0" u="none" strike="noStrike" cap="none" normalizeH="0" baseline="0" dirty="0">
                          <a:ln>
                            <a:noFill/>
                          </a:ln>
                          <a:solidFill>
                            <a:schemeClr val="tx1"/>
                          </a:solidFill>
                          <a:effectLst/>
                          <a:latin typeface="Roboto" panose="02000000000000000000" pitchFamily="2" charset="0"/>
                          <a:ea typeface="Roboto" panose="02000000000000000000" pitchFamily="2" charset="0"/>
                        </a:rPr>
                        <a:t>someone else</a:t>
                      </a:r>
                      <a:r>
                        <a:rPr kumimoji="0" lang="en-US" altLang="ja-JP" sz="2000" b="0" i="0" u="none" strike="noStrike" cap="none" normalizeH="0" baseline="0" dirty="0">
                          <a:ln>
                            <a:noFill/>
                          </a:ln>
                          <a:solidFill>
                            <a:schemeClr val="tx1"/>
                          </a:solidFill>
                          <a:effectLst/>
                          <a:latin typeface="Roboto" panose="02000000000000000000" pitchFamily="2" charset="0"/>
                          <a:ea typeface="ＭＳ Ｐゴシック" panose="020B0600070205080204" pitchFamily="34" charset="-128"/>
                        </a:rPr>
                        <a:t>’</a:t>
                      </a:r>
                      <a:r>
                        <a:rPr kumimoji="0" lang="en-US" altLang="ja-JP" sz="2000" b="0" i="0" u="none" strike="noStrike" cap="none" normalizeH="0" baseline="0" dirty="0">
                          <a:ln>
                            <a:noFill/>
                          </a:ln>
                          <a:solidFill>
                            <a:schemeClr val="tx1"/>
                          </a:solidFill>
                          <a:effectLst/>
                          <a:latin typeface="Roboto" panose="02000000000000000000" pitchFamily="2" charset="0"/>
                          <a:ea typeface="Roboto" panose="02000000000000000000" pitchFamily="2" charset="0"/>
                        </a:rPr>
                        <a:t>s</a:t>
                      </a:r>
                      <a:r>
                        <a:rPr kumimoji="0" lang="ja-JP" altLang="en-US" sz="2000" b="0" i="0" u="none" strike="noStrike" cap="none" normalizeH="0" baseline="0" dirty="0">
                          <a:ln>
                            <a:noFill/>
                          </a:ln>
                          <a:solidFill>
                            <a:schemeClr val="tx1"/>
                          </a:solidFill>
                          <a:effectLst/>
                          <a:latin typeface="Roboto" panose="02000000000000000000" pitchFamily="2" charset="0"/>
                          <a:ea typeface="ＭＳ Ｐゴシック" panose="020B0600070205080204" pitchFamily="34" charset="-128"/>
                        </a:rPr>
                        <a:t>”</a:t>
                      </a:r>
                      <a:r>
                        <a:rPr kumimoji="0" lang="en-US" altLang="ja-JP" sz="2000" b="0" i="0" u="none" strike="noStrike" cap="none" normalizeH="0" baseline="0" dirty="0">
                          <a:ln>
                            <a:noFill/>
                          </a:ln>
                          <a:solidFill>
                            <a:schemeClr val="tx1"/>
                          </a:solidFill>
                          <a:effectLst/>
                          <a:latin typeface="Roboto" panose="02000000000000000000" pitchFamily="2" charset="0"/>
                          <a:ea typeface="Roboto" panose="02000000000000000000" pitchFamily="2" charset="0"/>
                        </a:rPr>
                        <a:t> responsibility</a:t>
                      </a:r>
                      <a:endParaRPr kumimoji="0" lang="en-US" altLang="en-US" sz="2000" b="0" i="0" u="none" strike="noStrike" cap="none" normalizeH="0" baseline="0" dirty="0">
                        <a:ln>
                          <a:noFill/>
                        </a:ln>
                        <a:solidFill>
                          <a:schemeClr val="tx1"/>
                        </a:solidFill>
                        <a:effectLst/>
                        <a:latin typeface="Roboto" panose="02000000000000000000" pitchFamily="2" charset="0"/>
                        <a:ea typeface="Roboto" panose="02000000000000000000" pitchFamily="2"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09984">
                <a:tc>
                  <a:txBody>
                    <a:bodyPr/>
                    <a:lstStyle>
                      <a:lvl1pPr algn="l">
                        <a:lnSpc>
                          <a:spcPct val="115000"/>
                        </a:lnSpc>
                        <a:spcBef>
                          <a:spcPct val="50000"/>
                        </a:spcBef>
                        <a:spcAft>
                          <a:spcPct val="50000"/>
                        </a:spcAft>
                        <a:buClr>
                          <a:srgbClr val="006699"/>
                        </a:buClr>
                        <a:buSzPct val="90000"/>
                        <a:buFont typeface="Wingdings" pitchFamily="2" charset="2"/>
                        <a:defRPr sz="28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itchFamily="2" charset="2"/>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altLang="en-US" sz="2000" b="0" i="0" u="none" strike="noStrike" cap="none" normalizeH="0" baseline="0">
                          <a:ln>
                            <a:noFill/>
                          </a:ln>
                          <a:solidFill>
                            <a:schemeClr val="tx1"/>
                          </a:solidFill>
                          <a:effectLst/>
                          <a:latin typeface="Roboto" panose="02000000000000000000" pitchFamily="2" charset="0"/>
                          <a:ea typeface="Roboto" panose="02000000000000000000" pitchFamily="2" charset="0"/>
                        </a:rPr>
                        <a:t>Is a basic foundation for</a:t>
                      </a:r>
                      <a:br>
                        <a:rPr kumimoji="0" lang="en-US" altLang="en-US" sz="2000" b="0" i="0" u="none" strike="noStrike" cap="none" normalizeH="0" baseline="0">
                          <a:ln>
                            <a:noFill/>
                          </a:ln>
                          <a:solidFill>
                            <a:schemeClr val="tx1"/>
                          </a:solidFill>
                          <a:effectLst/>
                          <a:latin typeface="Roboto" panose="02000000000000000000" pitchFamily="2" charset="0"/>
                          <a:ea typeface="Roboto" panose="02000000000000000000" pitchFamily="2" charset="0"/>
                        </a:rPr>
                      </a:br>
                      <a:r>
                        <a:rPr kumimoji="0" lang="en-US" altLang="en-US" sz="2000" b="0" i="0" u="none" strike="noStrike" cap="none" normalizeH="0" baseline="0">
                          <a:ln>
                            <a:noFill/>
                          </a:ln>
                          <a:solidFill>
                            <a:schemeClr val="tx1"/>
                          </a:solidFill>
                          <a:effectLst/>
                          <a:latin typeface="Roboto" panose="02000000000000000000" pitchFamily="2" charset="0"/>
                          <a:ea typeface="Roboto" panose="02000000000000000000" pitchFamily="2" charset="0"/>
                        </a:rPr>
                        <a:t>all other improvement</a:t>
                      </a: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itchFamily="2" charset="2"/>
                        <a:defRPr sz="28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itchFamily="2" charset="2"/>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altLang="en-US" sz="2000" b="0"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itchFamily="2" charset="2"/>
                        <a:defRPr sz="28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itchFamily="2" charset="2"/>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altLang="en-US" sz="2000" b="0" i="0" u="none" strike="noStrike" cap="none" normalizeH="0" baseline="0" dirty="0">
                          <a:ln>
                            <a:noFill/>
                          </a:ln>
                          <a:solidFill>
                            <a:schemeClr val="tx1"/>
                          </a:solidFill>
                          <a:effectLst/>
                          <a:latin typeface="Roboto" panose="02000000000000000000" pitchFamily="2" charset="0"/>
                          <a:ea typeface="Roboto" panose="02000000000000000000" pitchFamily="2" charset="0"/>
                        </a:rPr>
                        <a:t>Is not optional</a:t>
                      </a: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 name="AutoShape 37">
            <a:extLst>
              <a:ext uri="{FF2B5EF4-FFF2-40B4-BE49-F238E27FC236}">
                <a16:creationId xmlns:a16="http://schemas.microsoft.com/office/drawing/2014/main" id="{C2FDDECF-701C-B6DF-BA97-DFC301E51479}"/>
              </a:ext>
            </a:extLst>
          </p:cNvPr>
          <p:cNvSpPr>
            <a:spLocks noChangeArrowheads="1"/>
          </p:cNvSpPr>
          <p:nvPr/>
        </p:nvSpPr>
        <p:spPr bwMode="auto">
          <a:xfrm>
            <a:off x="5095684" y="2060880"/>
            <a:ext cx="1599627" cy="160338"/>
          </a:xfrm>
          <a:prstGeom prst="leftRightArrow">
            <a:avLst>
              <a:gd name="adj1" fmla="val 50000"/>
              <a:gd name="adj2" fmla="val 161188"/>
            </a:avLst>
          </a:prstGeom>
          <a:solidFill>
            <a:schemeClr val="tx2"/>
          </a:solidFill>
          <a:ln w="12700" cap="sq">
            <a:solidFill>
              <a:schemeClr val="tx2"/>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endParaRPr>
          </a:p>
        </p:txBody>
      </p:sp>
      <p:sp>
        <p:nvSpPr>
          <p:cNvPr id="6" name="AutoShape 38">
            <a:extLst>
              <a:ext uri="{FF2B5EF4-FFF2-40B4-BE49-F238E27FC236}">
                <a16:creationId xmlns:a16="http://schemas.microsoft.com/office/drawing/2014/main" id="{14CFFC3A-672A-049A-C670-7D7DE984CB23}"/>
              </a:ext>
            </a:extLst>
          </p:cNvPr>
          <p:cNvSpPr>
            <a:spLocks noChangeArrowheads="1"/>
          </p:cNvSpPr>
          <p:nvPr/>
        </p:nvSpPr>
        <p:spPr bwMode="auto">
          <a:xfrm>
            <a:off x="5114734" y="3010205"/>
            <a:ext cx="1599627" cy="160338"/>
          </a:xfrm>
          <a:prstGeom prst="leftRightArrow">
            <a:avLst>
              <a:gd name="adj1" fmla="val 50000"/>
              <a:gd name="adj2" fmla="val 161188"/>
            </a:avLst>
          </a:prstGeom>
          <a:solidFill>
            <a:schemeClr val="tx2"/>
          </a:solidFill>
          <a:ln w="12700" cap="sq">
            <a:solidFill>
              <a:schemeClr val="tx2"/>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endParaRPr>
          </a:p>
        </p:txBody>
      </p:sp>
      <p:sp>
        <p:nvSpPr>
          <p:cNvPr id="7" name="AutoShape 39">
            <a:extLst>
              <a:ext uri="{FF2B5EF4-FFF2-40B4-BE49-F238E27FC236}">
                <a16:creationId xmlns:a16="http://schemas.microsoft.com/office/drawing/2014/main" id="{A9F4536A-1F17-6463-4C4B-30F68B95BCA0}"/>
              </a:ext>
            </a:extLst>
          </p:cNvPr>
          <p:cNvSpPr>
            <a:spLocks noChangeArrowheads="1"/>
          </p:cNvSpPr>
          <p:nvPr/>
        </p:nvSpPr>
        <p:spPr bwMode="auto">
          <a:xfrm>
            <a:off x="5133784" y="3984930"/>
            <a:ext cx="1599627" cy="160338"/>
          </a:xfrm>
          <a:prstGeom prst="leftRightArrow">
            <a:avLst>
              <a:gd name="adj1" fmla="val 50000"/>
              <a:gd name="adj2" fmla="val 161188"/>
            </a:avLst>
          </a:prstGeom>
          <a:solidFill>
            <a:schemeClr val="tx2"/>
          </a:solidFill>
          <a:ln w="12700" cap="sq">
            <a:solidFill>
              <a:schemeClr val="tx2"/>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endParaRPr>
          </a:p>
        </p:txBody>
      </p:sp>
      <p:sp>
        <p:nvSpPr>
          <p:cNvPr id="8" name="AutoShape 40">
            <a:extLst>
              <a:ext uri="{FF2B5EF4-FFF2-40B4-BE49-F238E27FC236}">
                <a16:creationId xmlns:a16="http://schemas.microsoft.com/office/drawing/2014/main" id="{BAB9C1A1-0718-F1C9-7F37-16F3BCCAD137}"/>
              </a:ext>
            </a:extLst>
          </p:cNvPr>
          <p:cNvSpPr>
            <a:spLocks noChangeArrowheads="1"/>
          </p:cNvSpPr>
          <p:nvPr/>
        </p:nvSpPr>
        <p:spPr bwMode="auto">
          <a:xfrm>
            <a:off x="5152834" y="4945368"/>
            <a:ext cx="1599627" cy="160337"/>
          </a:xfrm>
          <a:prstGeom prst="leftRightArrow">
            <a:avLst>
              <a:gd name="adj1" fmla="val 50000"/>
              <a:gd name="adj2" fmla="val 161189"/>
            </a:avLst>
          </a:prstGeom>
          <a:solidFill>
            <a:schemeClr val="tx2"/>
          </a:solidFill>
          <a:ln w="12700" cap="sq">
            <a:solidFill>
              <a:schemeClr val="tx2"/>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endParaRPr>
          </a:p>
        </p:txBody>
      </p:sp>
      <p:sp>
        <p:nvSpPr>
          <p:cNvPr id="9" name="AutoShape 46">
            <a:extLst>
              <a:ext uri="{FF2B5EF4-FFF2-40B4-BE49-F238E27FC236}">
                <a16:creationId xmlns:a16="http://schemas.microsoft.com/office/drawing/2014/main" id="{02B1EE83-1E59-7783-F8F9-BB66B89C0C0C}"/>
              </a:ext>
            </a:extLst>
          </p:cNvPr>
          <p:cNvSpPr>
            <a:spLocks noChangeArrowheads="1"/>
          </p:cNvSpPr>
          <p:nvPr/>
        </p:nvSpPr>
        <p:spPr bwMode="auto">
          <a:xfrm>
            <a:off x="5171884" y="5802618"/>
            <a:ext cx="1599627" cy="160337"/>
          </a:xfrm>
          <a:prstGeom prst="leftRightArrow">
            <a:avLst>
              <a:gd name="adj1" fmla="val 50000"/>
              <a:gd name="adj2" fmla="val 161189"/>
            </a:avLst>
          </a:prstGeom>
          <a:solidFill>
            <a:schemeClr val="tx2"/>
          </a:solidFill>
          <a:ln w="12700" cap="sq">
            <a:solidFill>
              <a:schemeClr val="tx2"/>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dirty="0">
              <a:solidFill>
                <a:schemeClr val="bg1"/>
              </a:solidFill>
            </a:endParaRPr>
          </a:p>
        </p:txBody>
      </p:sp>
      <p:grpSp>
        <p:nvGrpSpPr>
          <p:cNvPr id="10" name="Group 9">
            <a:extLst>
              <a:ext uri="{FF2B5EF4-FFF2-40B4-BE49-F238E27FC236}">
                <a16:creationId xmlns:a16="http://schemas.microsoft.com/office/drawing/2014/main" id="{AD9EAE90-9F64-D8C4-89DB-1C39424AA21B}"/>
              </a:ext>
            </a:extLst>
          </p:cNvPr>
          <p:cNvGrpSpPr/>
          <p:nvPr/>
        </p:nvGrpSpPr>
        <p:grpSpPr>
          <a:xfrm>
            <a:off x="940249" y="289611"/>
            <a:ext cx="1060167" cy="324859"/>
            <a:chOff x="940249" y="315206"/>
            <a:chExt cx="1060167" cy="265062"/>
          </a:xfrm>
        </p:grpSpPr>
        <p:sp>
          <p:nvSpPr>
            <p:cNvPr id="11" name="AutoShape 9">
              <a:extLst>
                <a:ext uri="{FF2B5EF4-FFF2-40B4-BE49-F238E27FC236}">
                  <a16:creationId xmlns:a16="http://schemas.microsoft.com/office/drawing/2014/main" id="{482B71FD-D28F-BCDE-18FD-0018729AAEB6}"/>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C779CA3F-AB77-3B84-7489-E30F17EDD7EF}"/>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EC0E0CCA-6885-CCE2-55D1-B3CB2769C1E6}"/>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4" name="TextBox 13">
            <a:extLst>
              <a:ext uri="{FF2B5EF4-FFF2-40B4-BE49-F238E27FC236}">
                <a16:creationId xmlns:a16="http://schemas.microsoft.com/office/drawing/2014/main" id="{51D64E88-BEAC-E62B-CB20-4DF971410152}"/>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Definition</a:t>
            </a:r>
          </a:p>
        </p:txBody>
      </p:sp>
    </p:spTree>
    <p:extLst>
      <p:ext uri="{BB962C8B-B14F-4D97-AF65-F5344CB8AC3E}">
        <p14:creationId xmlns:p14="http://schemas.microsoft.com/office/powerpoint/2010/main" val="3297894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4000" dirty="0"/>
              <a:t>5S – Original Japanese Terminology</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a:t>
            </a:fld>
            <a:endParaRPr lang="en-US"/>
          </a:p>
        </p:txBody>
      </p:sp>
      <p:sp>
        <p:nvSpPr>
          <p:cNvPr id="10" name="Line 3">
            <a:extLst>
              <a:ext uri="{FF2B5EF4-FFF2-40B4-BE49-F238E27FC236}">
                <a16:creationId xmlns:a16="http://schemas.microsoft.com/office/drawing/2014/main" id="{689B7B45-056C-A6E2-45C6-B4D01776D980}"/>
              </a:ext>
            </a:extLst>
          </p:cNvPr>
          <p:cNvSpPr>
            <a:spLocks noChangeShapeType="1"/>
          </p:cNvSpPr>
          <p:nvPr/>
        </p:nvSpPr>
        <p:spPr bwMode="auto">
          <a:xfrm>
            <a:off x="838200" y="4038600"/>
            <a:ext cx="9170780"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1" name="Line 4">
            <a:extLst>
              <a:ext uri="{FF2B5EF4-FFF2-40B4-BE49-F238E27FC236}">
                <a16:creationId xmlns:a16="http://schemas.microsoft.com/office/drawing/2014/main" id="{FB488239-271D-2690-E470-F11BB2A1B8BA}"/>
              </a:ext>
            </a:extLst>
          </p:cNvPr>
          <p:cNvSpPr>
            <a:spLocks noChangeShapeType="1"/>
          </p:cNvSpPr>
          <p:nvPr/>
        </p:nvSpPr>
        <p:spPr bwMode="auto">
          <a:xfrm>
            <a:off x="854075" y="5867400"/>
            <a:ext cx="9121370"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2" name="Line 5">
            <a:extLst>
              <a:ext uri="{FF2B5EF4-FFF2-40B4-BE49-F238E27FC236}">
                <a16:creationId xmlns:a16="http://schemas.microsoft.com/office/drawing/2014/main" id="{266B6F32-DAB8-7C27-1C90-DDC9844D14DB}"/>
              </a:ext>
            </a:extLst>
          </p:cNvPr>
          <p:cNvSpPr>
            <a:spLocks noChangeShapeType="1"/>
          </p:cNvSpPr>
          <p:nvPr/>
        </p:nvSpPr>
        <p:spPr bwMode="auto">
          <a:xfrm>
            <a:off x="828675" y="2297113"/>
            <a:ext cx="9184897" cy="0"/>
          </a:xfrm>
          <a:prstGeom prst="line">
            <a:avLst/>
          </a:prstGeom>
          <a:noFill/>
          <a:ln w="38100">
            <a:solidFill>
              <a:srgbClr val="000066"/>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3" name="Text Box 6">
            <a:extLst>
              <a:ext uri="{FF2B5EF4-FFF2-40B4-BE49-F238E27FC236}">
                <a16:creationId xmlns:a16="http://schemas.microsoft.com/office/drawing/2014/main" id="{8A3F5AA8-0FCA-F4DA-BE93-AFECE9F4CD21}"/>
              </a:ext>
            </a:extLst>
          </p:cNvPr>
          <p:cNvSpPr txBox="1">
            <a:spLocks noChangeArrowheads="1"/>
          </p:cNvSpPr>
          <p:nvPr/>
        </p:nvSpPr>
        <p:spPr bwMode="auto">
          <a:xfrm>
            <a:off x="838199" y="1993900"/>
            <a:ext cx="7756879" cy="316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5S		           	 	 Descriptions</a:t>
            </a:r>
          </a:p>
        </p:txBody>
      </p:sp>
      <p:grpSp>
        <p:nvGrpSpPr>
          <p:cNvPr id="14" name="Group 7">
            <a:extLst>
              <a:ext uri="{FF2B5EF4-FFF2-40B4-BE49-F238E27FC236}">
                <a16:creationId xmlns:a16="http://schemas.microsoft.com/office/drawing/2014/main" id="{E98A1BDD-5912-F8BE-3C8F-A82F1C1A4411}"/>
              </a:ext>
            </a:extLst>
          </p:cNvPr>
          <p:cNvGrpSpPr>
            <a:grpSpLocks/>
          </p:cNvGrpSpPr>
          <p:nvPr/>
        </p:nvGrpSpPr>
        <p:grpSpPr bwMode="auto">
          <a:xfrm>
            <a:off x="871536" y="2497137"/>
            <a:ext cx="8992553" cy="1366090"/>
            <a:chOff x="327" y="1231"/>
            <a:chExt cx="5096" cy="836"/>
          </a:xfrm>
        </p:grpSpPr>
        <p:sp>
          <p:nvSpPr>
            <p:cNvPr id="15" name="Rectangle 8">
              <a:extLst>
                <a:ext uri="{FF2B5EF4-FFF2-40B4-BE49-F238E27FC236}">
                  <a16:creationId xmlns:a16="http://schemas.microsoft.com/office/drawing/2014/main" id="{FD8A923F-6C67-58D4-5D79-73CD41F97419}"/>
                </a:ext>
              </a:extLst>
            </p:cNvPr>
            <p:cNvSpPr>
              <a:spLocks noChangeArrowheads="1"/>
            </p:cNvSpPr>
            <p:nvPr/>
          </p:nvSpPr>
          <p:spPr bwMode="auto">
            <a:xfrm>
              <a:off x="754" y="1242"/>
              <a:ext cx="1202" cy="358"/>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err="1">
                  <a:latin typeface="Roboto" panose="02000000000000000000" pitchFamily="2" charset="0"/>
                  <a:ea typeface="Roboto" panose="02000000000000000000" pitchFamily="2" charset="0"/>
                </a:rPr>
                <a:t>Seiri</a:t>
              </a:r>
              <a:br>
                <a:rPr lang="en-US" altLang="en-US" sz="1400" dirty="0">
                  <a:latin typeface="Roboto" panose="02000000000000000000" pitchFamily="2" charset="0"/>
                  <a:ea typeface="Roboto" panose="02000000000000000000" pitchFamily="2" charset="0"/>
                </a:rPr>
              </a:br>
              <a:r>
                <a:rPr lang="en-US" altLang="en-US" sz="900" dirty="0">
                  <a:latin typeface="Roboto" panose="02000000000000000000" pitchFamily="2" charset="0"/>
                  <a:ea typeface="Roboto" panose="02000000000000000000" pitchFamily="2" charset="0"/>
                </a:rPr>
                <a:t>(</a:t>
              </a:r>
              <a:r>
                <a:rPr lang="ja-JP" altLang="en-US" sz="900" dirty="0">
                  <a:latin typeface="Roboto" panose="02000000000000000000" pitchFamily="2" charset="0"/>
                </a:rPr>
                <a:t>整理</a:t>
              </a:r>
              <a:r>
                <a:rPr lang="en-US" altLang="ja-JP" sz="900" dirty="0">
                  <a:latin typeface="Roboto" panose="02000000000000000000" pitchFamily="2" charset="0"/>
                  <a:ea typeface="Roboto" panose="02000000000000000000" pitchFamily="2" charset="0"/>
                </a:rPr>
                <a:t>) </a:t>
              </a:r>
              <a:endParaRPr lang="en-US" altLang="en-US" sz="900" dirty="0">
                <a:latin typeface="Roboto" panose="02000000000000000000" pitchFamily="2" charset="0"/>
                <a:ea typeface="Roboto" panose="02000000000000000000" pitchFamily="2" charset="0"/>
              </a:endParaRPr>
            </a:p>
          </p:txBody>
        </p:sp>
        <p:sp>
          <p:nvSpPr>
            <p:cNvPr id="16" name="Rectangle 9">
              <a:extLst>
                <a:ext uri="{FF2B5EF4-FFF2-40B4-BE49-F238E27FC236}">
                  <a16:creationId xmlns:a16="http://schemas.microsoft.com/office/drawing/2014/main" id="{F9F99AE4-54D9-48C5-D37E-9CDE1E512C76}"/>
                </a:ext>
              </a:extLst>
            </p:cNvPr>
            <p:cNvSpPr>
              <a:spLocks noChangeArrowheads="1"/>
            </p:cNvSpPr>
            <p:nvPr/>
          </p:nvSpPr>
          <p:spPr bwMode="auto">
            <a:xfrm>
              <a:off x="2292" y="1231"/>
              <a:ext cx="3131" cy="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Tidiness, organization</a:t>
              </a:r>
              <a:br>
                <a:rPr lang="en-US" altLang="en-US" sz="1400" dirty="0">
                  <a:latin typeface="Roboto" panose="02000000000000000000" pitchFamily="2" charset="0"/>
                  <a:ea typeface="Roboto" panose="02000000000000000000" pitchFamily="2" charset="0"/>
                </a:rPr>
              </a:br>
              <a:br>
                <a:rPr lang="en-US" altLang="en-US" sz="1400" dirty="0">
                  <a:latin typeface="Roboto" panose="02000000000000000000" pitchFamily="2" charset="0"/>
                  <a:ea typeface="Roboto" panose="02000000000000000000" pitchFamily="2" charset="0"/>
                </a:rPr>
              </a:br>
              <a:r>
                <a:rPr lang="en-US" altLang="en-US" sz="1400" dirty="0">
                  <a:latin typeface="Roboto" panose="02000000000000000000" pitchFamily="2" charset="0"/>
                  <a:ea typeface="Roboto" panose="02000000000000000000" pitchFamily="2" charset="0"/>
                </a:rPr>
                <a:t>Refers to the practice of sorting through everything in the work area and keeping only essential items. Everything else is stored or discarded. This leads to fewer hazards and less clutter to interfere with productive work. </a:t>
              </a:r>
            </a:p>
          </p:txBody>
        </p:sp>
        <p:sp>
          <p:nvSpPr>
            <p:cNvPr id="17" name="Oval 10">
              <a:extLst>
                <a:ext uri="{FF2B5EF4-FFF2-40B4-BE49-F238E27FC236}">
                  <a16:creationId xmlns:a16="http://schemas.microsoft.com/office/drawing/2014/main" id="{25A6C3D1-9323-208C-1708-CC50099D8370}"/>
                </a:ext>
              </a:extLst>
            </p:cNvPr>
            <p:cNvSpPr>
              <a:spLocks noChangeArrowheads="1"/>
            </p:cNvSpPr>
            <p:nvPr/>
          </p:nvSpPr>
          <p:spPr bwMode="auto">
            <a:xfrm>
              <a:off x="327" y="1310"/>
              <a:ext cx="252" cy="231"/>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1S</a:t>
              </a:r>
            </a:p>
          </p:txBody>
        </p:sp>
      </p:grpSp>
      <p:grpSp>
        <p:nvGrpSpPr>
          <p:cNvPr id="18" name="Group 11">
            <a:extLst>
              <a:ext uri="{FF2B5EF4-FFF2-40B4-BE49-F238E27FC236}">
                <a16:creationId xmlns:a16="http://schemas.microsoft.com/office/drawing/2014/main" id="{F3A0DC22-C113-D046-A8E6-16CC40FFAF28}"/>
              </a:ext>
            </a:extLst>
          </p:cNvPr>
          <p:cNvGrpSpPr>
            <a:grpSpLocks/>
          </p:cNvGrpSpPr>
          <p:nvPr/>
        </p:nvGrpSpPr>
        <p:grpSpPr bwMode="auto">
          <a:xfrm>
            <a:off x="915986" y="4243435"/>
            <a:ext cx="9008435" cy="1369360"/>
            <a:chOff x="327" y="2166"/>
            <a:chExt cx="5105" cy="838"/>
          </a:xfrm>
        </p:grpSpPr>
        <p:sp>
          <p:nvSpPr>
            <p:cNvPr id="19" name="Rectangle 12">
              <a:extLst>
                <a:ext uri="{FF2B5EF4-FFF2-40B4-BE49-F238E27FC236}">
                  <a16:creationId xmlns:a16="http://schemas.microsoft.com/office/drawing/2014/main" id="{C258BA2C-1AA9-F9FA-DBE5-4AFC5B05EE14}"/>
                </a:ext>
              </a:extLst>
            </p:cNvPr>
            <p:cNvSpPr>
              <a:spLocks noChangeArrowheads="1"/>
            </p:cNvSpPr>
            <p:nvPr/>
          </p:nvSpPr>
          <p:spPr bwMode="auto">
            <a:xfrm>
              <a:off x="729" y="2166"/>
              <a:ext cx="1202" cy="358"/>
            </a:xfrm>
            <a:prstGeom prst="rect">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err="1">
                  <a:latin typeface="Roboto" panose="02000000000000000000" pitchFamily="2" charset="0"/>
                  <a:ea typeface="Roboto" panose="02000000000000000000" pitchFamily="2" charset="0"/>
                </a:rPr>
                <a:t>Seiton</a:t>
              </a:r>
              <a:br>
                <a:rPr lang="en-US" altLang="en-US" sz="1400" dirty="0">
                  <a:latin typeface="Roboto" panose="02000000000000000000" pitchFamily="2" charset="0"/>
                  <a:ea typeface="Roboto" panose="02000000000000000000" pitchFamily="2" charset="0"/>
                </a:rPr>
              </a:br>
              <a:r>
                <a:rPr lang="en-US" altLang="en-US" sz="900" dirty="0">
                  <a:latin typeface="Roboto" panose="02000000000000000000" pitchFamily="2" charset="0"/>
                  <a:ea typeface="Roboto" panose="02000000000000000000" pitchFamily="2" charset="0"/>
                </a:rPr>
                <a:t>(</a:t>
              </a:r>
              <a:r>
                <a:rPr lang="ja-JP" altLang="en-US" sz="900" dirty="0">
                  <a:latin typeface="Roboto" panose="02000000000000000000" pitchFamily="2" charset="0"/>
                </a:rPr>
                <a:t>整頓</a:t>
              </a:r>
              <a:r>
                <a:rPr lang="en-US" altLang="ja-JP" sz="900" dirty="0">
                  <a:latin typeface="Roboto" panose="02000000000000000000" pitchFamily="2" charset="0"/>
                  <a:ea typeface="Roboto" panose="02000000000000000000" pitchFamily="2" charset="0"/>
                </a:rPr>
                <a:t>) </a:t>
              </a:r>
              <a:endParaRPr lang="en-US" altLang="en-US" sz="900" dirty="0">
                <a:latin typeface="Roboto" panose="02000000000000000000" pitchFamily="2" charset="0"/>
                <a:ea typeface="Roboto" panose="02000000000000000000" pitchFamily="2" charset="0"/>
              </a:endParaRPr>
            </a:p>
          </p:txBody>
        </p:sp>
        <p:sp>
          <p:nvSpPr>
            <p:cNvPr id="20" name="Rectangle 13">
              <a:extLst>
                <a:ext uri="{FF2B5EF4-FFF2-40B4-BE49-F238E27FC236}">
                  <a16:creationId xmlns:a16="http://schemas.microsoft.com/office/drawing/2014/main" id="{C8F798AE-2BB7-D47A-BE08-3832D02FBB7C}"/>
                </a:ext>
              </a:extLst>
            </p:cNvPr>
            <p:cNvSpPr>
              <a:spLocks noChangeArrowheads="1"/>
            </p:cNvSpPr>
            <p:nvPr/>
          </p:nvSpPr>
          <p:spPr bwMode="auto">
            <a:xfrm>
              <a:off x="2294" y="2168"/>
              <a:ext cx="3138" cy="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Orderliness</a:t>
              </a:r>
              <a:br>
                <a:rPr lang="en-US" altLang="en-US" sz="1400" dirty="0">
                  <a:latin typeface="Roboto" panose="02000000000000000000" pitchFamily="2" charset="0"/>
                  <a:ea typeface="Roboto" panose="02000000000000000000" pitchFamily="2" charset="0"/>
                </a:rPr>
              </a:br>
              <a:br>
                <a:rPr lang="en-US" altLang="en-US" sz="1400" dirty="0">
                  <a:latin typeface="Roboto" panose="02000000000000000000" pitchFamily="2" charset="0"/>
                  <a:ea typeface="Roboto" panose="02000000000000000000" pitchFamily="2" charset="0"/>
                </a:rPr>
              </a:br>
              <a:r>
                <a:rPr lang="en-US" altLang="en-US" sz="1400" dirty="0">
                  <a:latin typeface="Roboto" panose="02000000000000000000" pitchFamily="2" charset="0"/>
                  <a:ea typeface="Roboto" panose="02000000000000000000" pitchFamily="2" charset="0"/>
                </a:rPr>
                <a:t>Focuses on need for an orderly workplace. Information, equipment, and materials must be systematically arranged for the easiest and most efficient access. There must be a place for everything and everything must be in its place. </a:t>
              </a:r>
              <a:endParaRPr lang="en-US" altLang="en-US" sz="1400" b="0" dirty="0">
                <a:latin typeface="Roboto" panose="02000000000000000000" pitchFamily="2" charset="0"/>
                <a:ea typeface="Roboto" panose="02000000000000000000" pitchFamily="2" charset="0"/>
              </a:endParaRPr>
            </a:p>
          </p:txBody>
        </p:sp>
        <p:sp>
          <p:nvSpPr>
            <p:cNvPr id="21" name="Oval 14">
              <a:extLst>
                <a:ext uri="{FF2B5EF4-FFF2-40B4-BE49-F238E27FC236}">
                  <a16:creationId xmlns:a16="http://schemas.microsoft.com/office/drawing/2014/main" id="{323A0E9B-835E-817E-ADF0-C4A804E5F4C8}"/>
                </a:ext>
              </a:extLst>
            </p:cNvPr>
            <p:cNvSpPr>
              <a:spLocks noChangeArrowheads="1"/>
            </p:cNvSpPr>
            <p:nvPr/>
          </p:nvSpPr>
          <p:spPr bwMode="auto">
            <a:xfrm>
              <a:off x="327" y="2235"/>
              <a:ext cx="252" cy="231"/>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2S</a:t>
              </a:r>
            </a:p>
          </p:txBody>
        </p:sp>
      </p:grpSp>
      <p:grpSp>
        <p:nvGrpSpPr>
          <p:cNvPr id="22" name="Group 21">
            <a:extLst>
              <a:ext uri="{FF2B5EF4-FFF2-40B4-BE49-F238E27FC236}">
                <a16:creationId xmlns:a16="http://schemas.microsoft.com/office/drawing/2014/main" id="{24043AB6-C425-D1C8-ACBE-E2504AF9F07E}"/>
              </a:ext>
            </a:extLst>
          </p:cNvPr>
          <p:cNvGrpSpPr/>
          <p:nvPr/>
        </p:nvGrpSpPr>
        <p:grpSpPr>
          <a:xfrm>
            <a:off x="940249" y="289611"/>
            <a:ext cx="1060167" cy="324859"/>
            <a:chOff x="940249" y="315206"/>
            <a:chExt cx="1060167" cy="265062"/>
          </a:xfrm>
        </p:grpSpPr>
        <p:sp>
          <p:nvSpPr>
            <p:cNvPr id="23" name="AutoShape 9">
              <a:extLst>
                <a:ext uri="{FF2B5EF4-FFF2-40B4-BE49-F238E27FC236}">
                  <a16:creationId xmlns:a16="http://schemas.microsoft.com/office/drawing/2014/main" id="{888CF116-9DA9-08D5-F0FF-9335BF8B8127}"/>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4" name="AutoShape 10">
              <a:extLst>
                <a:ext uri="{FF2B5EF4-FFF2-40B4-BE49-F238E27FC236}">
                  <a16:creationId xmlns:a16="http://schemas.microsoft.com/office/drawing/2014/main" id="{7B2A35ED-029E-865C-D03B-6742A9F772D9}"/>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11">
              <a:extLst>
                <a:ext uri="{FF2B5EF4-FFF2-40B4-BE49-F238E27FC236}">
                  <a16:creationId xmlns:a16="http://schemas.microsoft.com/office/drawing/2014/main" id="{0DF65AB2-0EC7-FBB3-A3AD-8E5F6578EE73}"/>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26" name="TextBox 25">
            <a:extLst>
              <a:ext uri="{FF2B5EF4-FFF2-40B4-BE49-F238E27FC236}">
                <a16:creationId xmlns:a16="http://schemas.microsoft.com/office/drawing/2014/main" id="{EF3A7671-7A7A-3448-3D55-BFEF1BA42533}"/>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Definition</a:t>
            </a:r>
          </a:p>
        </p:txBody>
      </p:sp>
    </p:spTree>
    <p:extLst>
      <p:ext uri="{BB962C8B-B14F-4D97-AF65-F5344CB8AC3E}">
        <p14:creationId xmlns:p14="http://schemas.microsoft.com/office/powerpoint/2010/main" val="3514771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sz="4000" dirty="0"/>
              <a:t>5S – Original Japanese Terminology, Continued</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10</a:t>
            </a:fld>
            <a:endParaRPr lang="en-US"/>
          </a:p>
        </p:txBody>
      </p:sp>
      <p:sp>
        <p:nvSpPr>
          <p:cNvPr id="3" name="Line 3">
            <a:extLst>
              <a:ext uri="{FF2B5EF4-FFF2-40B4-BE49-F238E27FC236}">
                <a16:creationId xmlns:a16="http://schemas.microsoft.com/office/drawing/2014/main" id="{3F561ABF-0D95-78B8-F74C-EAAC1A4C398F}"/>
              </a:ext>
            </a:extLst>
          </p:cNvPr>
          <p:cNvSpPr>
            <a:spLocks noChangeShapeType="1"/>
          </p:cNvSpPr>
          <p:nvPr/>
        </p:nvSpPr>
        <p:spPr bwMode="auto">
          <a:xfrm>
            <a:off x="597218" y="3577737"/>
            <a:ext cx="11208730"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 name="Line 4">
            <a:extLst>
              <a:ext uri="{FF2B5EF4-FFF2-40B4-BE49-F238E27FC236}">
                <a16:creationId xmlns:a16="http://schemas.microsoft.com/office/drawing/2014/main" id="{EE0278DB-ECD3-25AF-32AD-FDAFEBDD9E9D}"/>
              </a:ext>
            </a:extLst>
          </p:cNvPr>
          <p:cNvSpPr>
            <a:spLocks noChangeShapeType="1"/>
          </p:cNvSpPr>
          <p:nvPr/>
        </p:nvSpPr>
        <p:spPr bwMode="auto">
          <a:xfrm>
            <a:off x="587693" y="2082312"/>
            <a:ext cx="11208730" cy="3175"/>
          </a:xfrm>
          <a:prstGeom prst="line">
            <a:avLst/>
          </a:prstGeom>
          <a:noFill/>
          <a:ln w="38100">
            <a:solidFill>
              <a:srgbClr val="000066"/>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6" name="Text Box 5">
            <a:extLst>
              <a:ext uri="{FF2B5EF4-FFF2-40B4-BE49-F238E27FC236}">
                <a16:creationId xmlns:a16="http://schemas.microsoft.com/office/drawing/2014/main" id="{DFDCACF3-C523-B58D-5D76-69F0207E22BD}"/>
              </a:ext>
            </a:extLst>
          </p:cNvPr>
          <p:cNvSpPr txBox="1">
            <a:spLocks noChangeArrowheads="1"/>
          </p:cNvSpPr>
          <p:nvPr/>
        </p:nvSpPr>
        <p:spPr bwMode="auto">
          <a:xfrm>
            <a:off x="597218" y="1779098"/>
            <a:ext cx="9118282" cy="322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5S		           		      Descriptions</a:t>
            </a:r>
          </a:p>
        </p:txBody>
      </p:sp>
      <p:grpSp>
        <p:nvGrpSpPr>
          <p:cNvPr id="7" name="Group 6">
            <a:extLst>
              <a:ext uri="{FF2B5EF4-FFF2-40B4-BE49-F238E27FC236}">
                <a16:creationId xmlns:a16="http://schemas.microsoft.com/office/drawing/2014/main" id="{C689CB6F-A6BA-B96B-28EA-55BE0FE797C2}"/>
              </a:ext>
            </a:extLst>
          </p:cNvPr>
          <p:cNvGrpSpPr>
            <a:grpSpLocks/>
          </p:cNvGrpSpPr>
          <p:nvPr/>
        </p:nvGrpSpPr>
        <p:grpSpPr bwMode="auto">
          <a:xfrm>
            <a:off x="644842" y="3722199"/>
            <a:ext cx="10990897" cy="1150938"/>
            <a:chOff x="327" y="1231"/>
            <a:chExt cx="5096" cy="725"/>
          </a:xfrm>
        </p:grpSpPr>
        <p:sp>
          <p:nvSpPr>
            <p:cNvPr id="8" name="Rectangle 7">
              <a:extLst>
                <a:ext uri="{FF2B5EF4-FFF2-40B4-BE49-F238E27FC236}">
                  <a16:creationId xmlns:a16="http://schemas.microsoft.com/office/drawing/2014/main" id="{3B9EB7F7-DD66-05CC-1D0C-84DC06FD99D0}"/>
                </a:ext>
              </a:extLst>
            </p:cNvPr>
            <p:cNvSpPr>
              <a:spLocks noChangeArrowheads="1"/>
            </p:cNvSpPr>
            <p:nvPr/>
          </p:nvSpPr>
          <p:spPr bwMode="auto">
            <a:xfrm>
              <a:off x="754" y="1242"/>
              <a:ext cx="1202" cy="358"/>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err="1">
                  <a:latin typeface="Roboto" panose="02000000000000000000" pitchFamily="2" charset="0"/>
                  <a:ea typeface="Roboto" panose="02000000000000000000" pitchFamily="2" charset="0"/>
                </a:rPr>
                <a:t>Seiketsu</a:t>
              </a:r>
              <a:br>
                <a:rPr lang="en-US" altLang="en-US" sz="1400" dirty="0">
                  <a:latin typeface="Roboto" panose="02000000000000000000" pitchFamily="2" charset="0"/>
                  <a:ea typeface="Roboto" panose="02000000000000000000" pitchFamily="2" charset="0"/>
                </a:rPr>
              </a:br>
              <a:r>
                <a:rPr lang="en-US" altLang="en-US" sz="900" dirty="0">
                  <a:latin typeface="Roboto" panose="02000000000000000000" pitchFamily="2" charset="0"/>
                  <a:ea typeface="Roboto" panose="02000000000000000000" pitchFamily="2" charset="0"/>
                </a:rPr>
                <a:t>(</a:t>
              </a:r>
              <a:r>
                <a:rPr lang="ja-JP" altLang="en-US" sz="900" dirty="0">
                  <a:latin typeface="Roboto" panose="02000000000000000000" pitchFamily="2" charset="0"/>
                </a:rPr>
                <a:t>清潔</a:t>
              </a:r>
              <a:r>
                <a:rPr lang="en-US" altLang="ja-JP" sz="900" dirty="0">
                  <a:latin typeface="Roboto" panose="02000000000000000000" pitchFamily="2" charset="0"/>
                  <a:ea typeface="Roboto" panose="02000000000000000000" pitchFamily="2" charset="0"/>
                </a:rPr>
                <a:t>) </a:t>
              </a:r>
              <a:endParaRPr lang="en-US" altLang="en-US" sz="900" dirty="0">
                <a:latin typeface="Roboto" panose="02000000000000000000" pitchFamily="2" charset="0"/>
                <a:ea typeface="Roboto" panose="02000000000000000000" pitchFamily="2" charset="0"/>
              </a:endParaRPr>
            </a:p>
          </p:txBody>
        </p:sp>
        <p:sp>
          <p:nvSpPr>
            <p:cNvPr id="9" name="Rectangle 8">
              <a:extLst>
                <a:ext uri="{FF2B5EF4-FFF2-40B4-BE49-F238E27FC236}">
                  <a16:creationId xmlns:a16="http://schemas.microsoft.com/office/drawing/2014/main" id="{155CD41E-5A3F-34E5-D54A-9241ED7E75E5}"/>
                </a:ext>
              </a:extLst>
            </p:cNvPr>
            <p:cNvSpPr>
              <a:spLocks noChangeArrowheads="1"/>
            </p:cNvSpPr>
            <p:nvPr/>
          </p:nvSpPr>
          <p:spPr bwMode="auto">
            <a:xfrm>
              <a:off x="2292" y="1231"/>
              <a:ext cx="3131"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Standards</a:t>
              </a:r>
              <a:br>
                <a:rPr lang="en-US" altLang="en-US" sz="1400" dirty="0">
                  <a:latin typeface="Roboto" panose="02000000000000000000" pitchFamily="2" charset="0"/>
                  <a:ea typeface="Roboto" panose="02000000000000000000" pitchFamily="2" charset="0"/>
                </a:rPr>
              </a:br>
              <a:br>
                <a:rPr lang="en-US" altLang="en-US" sz="1400" dirty="0">
                  <a:latin typeface="Roboto" panose="02000000000000000000" pitchFamily="2" charset="0"/>
                  <a:ea typeface="Roboto" panose="02000000000000000000" pitchFamily="2" charset="0"/>
                </a:rPr>
              </a:br>
              <a:r>
                <a:rPr lang="en-US" altLang="en-US" sz="1400" dirty="0">
                  <a:latin typeface="Roboto" panose="02000000000000000000" pitchFamily="2" charset="0"/>
                  <a:ea typeface="Roboto" panose="02000000000000000000" pitchFamily="2" charset="0"/>
                </a:rPr>
                <a:t>Allows for control and consistency. Basic housekeeping standards apply everywhere in the facility. Everyone knows exactly what his or her responsibilities are. Housekeeping duties are part of regular work routines. </a:t>
              </a:r>
            </a:p>
          </p:txBody>
        </p:sp>
        <p:sp>
          <p:nvSpPr>
            <p:cNvPr id="22" name="Oval 9">
              <a:extLst>
                <a:ext uri="{FF2B5EF4-FFF2-40B4-BE49-F238E27FC236}">
                  <a16:creationId xmlns:a16="http://schemas.microsoft.com/office/drawing/2014/main" id="{0389C8C5-2CB6-4492-595A-A308479968BE}"/>
                </a:ext>
              </a:extLst>
            </p:cNvPr>
            <p:cNvSpPr>
              <a:spLocks noChangeArrowheads="1"/>
            </p:cNvSpPr>
            <p:nvPr/>
          </p:nvSpPr>
          <p:spPr bwMode="auto">
            <a:xfrm>
              <a:off x="327" y="1310"/>
              <a:ext cx="252" cy="231"/>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4S</a:t>
              </a:r>
            </a:p>
          </p:txBody>
        </p:sp>
      </p:grpSp>
      <p:grpSp>
        <p:nvGrpSpPr>
          <p:cNvPr id="23" name="Group 10">
            <a:extLst>
              <a:ext uri="{FF2B5EF4-FFF2-40B4-BE49-F238E27FC236}">
                <a16:creationId xmlns:a16="http://schemas.microsoft.com/office/drawing/2014/main" id="{4D053500-AFC7-7626-BFE7-5ACB7E8942CE}"/>
              </a:ext>
            </a:extLst>
          </p:cNvPr>
          <p:cNvGrpSpPr>
            <a:grpSpLocks/>
          </p:cNvGrpSpPr>
          <p:nvPr/>
        </p:nvGrpSpPr>
        <p:grpSpPr bwMode="auto">
          <a:xfrm>
            <a:off x="695008" y="5193812"/>
            <a:ext cx="11031875" cy="939800"/>
            <a:chOff x="317" y="2165"/>
            <a:chExt cx="5115" cy="592"/>
          </a:xfrm>
        </p:grpSpPr>
        <p:sp>
          <p:nvSpPr>
            <p:cNvPr id="24" name="Rectangle 11">
              <a:extLst>
                <a:ext uri="{FF2B5EF4-FFF2-40B4-BE49-F238E27FC236}">
                  <a16:creationId xmlns:a16="http://schemas.microsoft.com/office/drawing/2014/main" id="{6A877E09-1C7B-A743-3F02-5DFDDD98B979}"/>
                </a:ext>
              </a:extLst>
            </p:cNvPr>
            <p:cNvSpPr>
              <a:spLocks noChangeArrowheads="1"/>
            </p:cNvSpPr>
            <p:nvPr/>
          </p:nvSpPr>
          <p:spPr bwMode="auto">
            <a:xfrm>
              <a:off x="721" y="2165"/>
              <a:ext cx="1202" cy="358"/>
            </a:xfrm>
            <a:prstGeom prst="rect">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err="1">
                  <a:latin typeface="Roboto" panose="02000000000000000000" pitchFamily="2" charset="0"/>
                  <a:ea typeface="Roboto" panose="02000000000000000000" pitchFamily="2" charset="0"/>
                </a:rPr>
                <a:t>Shitsuke</a:t>
              </a:r>
              <a:br>
                <a:rPr lang="en-US" altLang="en-US" sz="1400" dirty="0">
                  <a:latin typeface="Roboto" panose="02000000000000000000" pitchFamily="2" charset="0"/>
                  <a:ea typeface="Roboto" panose="02000000000000000000" pitchFamily="2" charset="0"/>
                </a:rPr>
              </a:br>
              <a:r>
                <a:rPr lang="en-US" altLang="en-US" sz="900" dirty="0">
                  <a:latin typeface="Roboto" panose="02000000000000000000" pitchFamily="2" charset="0"/>
                  <a:ea typeface="Roboto" panose="02000000000000000000" pitchFamily="2" charset="0"/>
                </a:rPr>
                <a:t>(</a:t>
              </a:r>
              <a:r>
                <a:rPr lang="ja-JP" altLang="en-US" sz="900" dirty="0">
                  <a:latin typeface="Roboto" panose="02000000000000000000" pitchFamily="2" charset="0"/>
                </a:rPr>
                <a:t>躾</a:t>
              </a:r>
              <a:r>
                <a:rPr lang="en-US" altLang="ja-JP" sz="900" dirty="0">
                  <a:latin typeface="Roboto" panose="02000000000000000000" pitchFamily="2" charset="0"/>
                  <a:ea typeface="Roboto" panose="02000000000000000000" pitchFamily="2" charset="0"/>
                </a:rPr>
                <a:t>)</a:t>
              </a:r>
              <a:endParaRPr lang="en-US" altLang="en-US" sz="900" dirty="0">
                <a:latin typeface="Roboto" panose="02000000000000000000" pitchFamily="2" charset="0"/>
                <a:ea typeface="Roboto" panose="02000000000000000000" pitchFamily="2" charset="0"/>
              </a:endParaRPr>
            </a:p>
          </p:txBody>
        </p:sp>
        <p:sp>
          <p:nvSpPr>
            <p:cNvPr id="25" name="Rectangle 12">
              <a:extLst>
                <a:ext uri="{FF2B5EF4-FFF2-40B4-BE49-F238E27FC236}">
                  <a16:creationId xmlns:a16="http://schemas.microsoft.com/office/drawing/2014/main" id="{329F9120-4FA5-9AD2-2583-6F4D46951259}"/>
                </a:ext>
              </a:extLst>
            </p:cNvPr>
            <p:cNvSpPr>
              <a:spLocks noChangeArrowheads="1"/>
            </p:cNvSpPr>
            <p:nvPr/>
          </p:nvSpPr>
          <p:spPr bwMode="auto">
            <a:xfrm>
              <a:off x="2294" y="2168"/>
              <a:ext cx="3138" cy="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Sustaining discipline</a:t>
              </a:r>
              <a:br>
                <a:rPr lang="en-US" altLang="en-US" sz="1400" dirty="0">
                  <a:latin typeface="Roboto" panose="02000000000000000000" pitchFamily="2" charset="0"/>
                  <a:ea typeface="Roboto" panose="02000000000000000000" pitchFamily="2" charset="0"/>
                </a:rPr>
              </a:br>
              <a:br>
                <a:rPr lang="en-US" altLang="en-US" sz="1400" dirty="0">
                  <a:latin typeface="Roboto" panose="02000000000000000000" pitchFamily="2" charset="0"/>
                  <a:ea typeface="Roboto" panose="02000000000000000000" pitchFamily="2" charset="0"/>
                </a:rPr>
              </a:br>
              <a:r>
                <a:rPr lang="en-US" altLang="en-US" sz="1400" dirty="0">
                  <a:latin typeface="Roboto" panose="02000000000000000000" pitchFamily="2" charset="0"/>
                  <a:ea typeface="Roboto" panose="02000000000000000000" pitchFamily="2" charset="0"/>
                </a:rPr>
                <a:t>Refers to maintaining standards and keeping the facility in safe and efficient order day after day, year after year. </a:t>
              </a:r>
              <a:endParaRPr lang="en-US" altLang="en-US" sz="1400" b="0" dirty="0">
                <a:latin typeface="Roboto" panose="02000000000000000000" pitchFamily="2" charset="0"/>
                <a:ea typeface="Roboto" panose="02000000000000000000" pitchFamily="2" charset="0"/>
              </a:endParaRPr>
            </a:p>
          </p:txBody>
        </p:sp>
        <p:sp>
          <p:nvSpPr>
            <p:cNvPr id="26" name="Oval 13">
              <a:extLst>
                <a:ext uri="{FF2B5EF4-FFF2-40B4-BE49-F238E27FC236}">
                  <a16:creationId xmlns:a16="http://schemas.microsoft.com/office/drawing/2014/main" id="{6CFD8D3A-3DC5-43DA-E7BF-EF522DD46354}"/>
                </a:ext>
              </a:extLst>
            </p:cNvPr>
            <p:cNvSpPr>
              <a:spLocks noChangeArrowheads="1"/>
            </p:cNvSpPr>
            <p:nvPr/>
          </p:nvSpPr>
          <p:spPr bwMode="auto">
            <a:xfrm>
              <a:off x="317" y="2232"/>
              <a:ext cx="252" cy="231"/>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5S</a:t>
              </a:r>
            </a:p>
          </p:txBody>
        </p:sp>
      </p:grpSp>
      <p:sp>
        <p:nvSpPr>
          <p:cNvPr id="27" name="Line 19">
            <a:extLst>
              <a:ext uri="{FF2B5EF4-FFF2-40B4-BE49-F238E27FC236}">
                <a16:creationId xmlns:a16="http://schemas.microsoft.com/office/drawing/2014/main" id="{4B264CBE-D95C-0BA3-EE92-58D2F0368350}"/>
              </a:ext>
            </a:extLst>
          </p:cNvPr>
          <p:cNvSpPr>
            <a:spLocks noChangeShapeType="1"/>
          </p:cNvSpPr>
          <p:nvPr/>
        </p:nvSpPr>
        <p:spPr bwMode="auto">
          <a:xfrm>
            <a:off x="597218" y="5029982"/>
            <a:ext cx="11208731"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nvGrpSpPr>
          <p:cNvPr id="28" name="Group 20">
            <a:extLst>
              <a:ext uri="{FF2B5EF4-FFF2-40B4-BE49-F238E27FC236}">
                <a16:creationId xmlns:a16="http://schemas.microsoft.com/office/drawing/2014/main" id="{839A4993-2139-BEB6-96AF-A842FCD92C6F}"/>
              </a:ext>
            </a:extLst>
          </p:cNvPr>
          <p:cNvGrpSpPr>
            <a:grpSpLocks/>
          </p:cNvGrpSpPr>
          <p:nvPr/>
        </p:nvGrpSpPr>
        <p:grpSpPr bwMode="auto">
          <a:xfrm>
            <a:off x="616268" y="2258524"/>
            <a:ext cx="10995211" cy="1155700"/>
            <a:chOff x="327" y="2989"/>
            <a:chExt cx="5098" cy="728"/>
          </a:xfrm>
        </p:grpSpPr>
        <p:sp>
          <p:nvSpPr>
            <p:cNvPr id="29" name="Rectangle 21">
              <a:extLst>
                <a:ext uri="{FF2B5EF4-FFF2-40B4-BE49-F238E27FC236}">
                  <a16:creationId xmlns:a16="http://schemas.microsoft.com/office/drawing/2014/main" id="{8B470412-F283-F71C-A777-FF8F0F097A0D}"/>
                </a:ext>
              </a:extLst>
            </p:cNvPr>
            <p:cNvSpPr>
              <a:spLocks noChangeArrowheads="1"/>
            </p:cNvSpPr>
            <p:nvPr/>
          </p:nvSpPr>
          <p:spPr bwMode="auto">
            <a:xfrm>
              <a:off x="754" y="2989"/>
              <a:ext cx="1202" cy="358"/>
            </a:xfrm>
            <a:prstGeom prst="rect">
              <a:avLst/>
            </a:prstGeom>
            <a:solidFill>
              <a:schemeClr val="tx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err="1">
                  <a:solidFill>
                    <a:schemeClr val="bg1"/>
                  </a:solidFill>
                  <a:latin typeface="Roboto" panose="02000000000000000000" pitchFamily="2" charset="0"/>
                  <a:ea typeface="Roboto" panose="02000000000000000000" pitchFamily="2" charset="0"/>
                </a:rPr>
                <a:t>Seiso</a:t>
              </a:r>
              <a:br>
                <a:rPr lang="en-US" altLang="en-US" sz="1400" dirty="0">
                  <a:solidFill>
                    <a:schemeClr val="bg1"/>
                  </a:solidFill>
                  <a:latin typeface="Roboto" panose="02000000000000000000" pitchFamily="2" charset="0"/>
                  <a:ea typeface="Roboto" panose="02000000000000000000" pitchFamily="2" charset="0"/>
                </a:rPr>
              </a:br>
              <a:r>
                <a:rPr lang="en-US" altLang="en-US" sz="900" dirty="0">
                  <a:solidFill>
                    <a:schemeClr val="bg1"/>
                  </a:solidFill>
                  <a:latin typeface="Roboto" panose="02000000000000000000" pitchFamily="2" charset="0"/>
                  <a:ea typeface="Roboto" panose="02000000000000000000" pitchFamily="2" charset="0"/>
                </a:rPr>
                <a:t>(</a:t>
              </a:r>
              <a:r>
                <a:rPr lang="ja-JP" altLang="en-US" sz="900" dirty="0">
                  <a:solidFill>
                    <a:schemeClr val="bg1"/>
                  </a:solidFill>
                  <a:latin typeface="Roboto" panose="02000000000000000000" pitchFamily="2" charset="0"/>
                </a:rPr>
                <a:t>清掃</a:t>
              </a:r>
              <a:r>
                <a:rPr lang="en-US" altLang="ja-JP" sz="900" dirty="0">
                  <a:solidFill>
                    <a:schemeClr val="bg1"/>
                  </a:solidFill>
                  <a:latin typeface="Roboto" panose="02000000000000000000" pitchFamily="2" charset="0"/>
                  <a:ea typeface="Roboto" panose="02000000000000000000" pitchFamily="2" charset="0"/>
                </a:rPr>
                <a:t>)</a:t>
              </a:r>
              <a:endParaRPr lang="en-US" altLang="en-US" sz="900" dirty="0">
                <a:solidFill>
                  <a:schemeClr val="bg1"/>
                </a:solidFill>
                <a:latin typeface="Roboto" panose="02000000000000000000" pitchFamily="2" charset="0"/>
                <a:ea typeface="Roboto" panose="02000000000000000000" pitchFamily="2" charset="0"/>
              </a:endParaRPr>
            </a:p>
          </p:txBody>
        </p:sp>
        <p:sp>
          <p:nvSpPr>
            <p:cNvPr id="30" name="Rectangle 22">
              <a:extLst>
                <a:ext uri="{FF2B5EF4-FFF2-40B4-BE49-F238E27FC236}">
                  <a16:creationId xmlns:a16="http://schemas.microsoft.com/office/drawing/2014/main" id="{8F4EDADE-43F5-33FE-552B-9C65789B9303}"/>
                </a:ext>
              </a:extLst>
            </p:cNvPr>
            <p:cNvSpPr>
              <a:spLocks noChangeArrowheads="1"/>
            </p:cNvSpPr>
            <p:nvPr/>
          </p:nvSpPr>
          <p:spPr bwMode="auto">
            <a:xfrm>
              <a:off x="2294" y="2992"/>
              <a:ext cx="3131"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Systemized Cleanliness</a:t>
              </a:r>
              <a:br>
                <a:rPr lang="en-US" altLang="en-US" sz="1400" dirty="0">
                  <a:latin typeface="Roboto" panose="02000000000000000000" pitchFamily="2" charset="0"/>
                  <a:ea typeface="Roboto" panose="02000000000000000000" pitchFamily="2" charset="0"/>
                </a:rPr>
              </a:br>
              <a:br>
                <a:rPr lang="en-US" altLang="en-US" sz="1400" dirty="0">
                  <a:latin typeface="Roboto" panose="02000000000000000000" pitchFamily="2" charset="0"/>
                  <a:ea typeface="Roboto" panose="02000000000000000000" pitchFamily="2" charset="0"/>
                </a:rPr>
              </a:br>
              <a:r>
                <a:rPr lang="en-US" altLang="en-US" sz="1400" dirty="0">
                  <a:latin typeface="Roboto" panose="02000000000000000000" pitchFamily="2" charset="0"/>
                  <a:ea typeface="Roboto" panose="02000000000000000000" pitchFamily="2" charset="0"/>
                </a:rPr>
                <a:t>Indicates the need to keep the workplace clean as well as neat. Cleaning in Japanese companies is a daily activity. At the end of each shift the work area is cleaned up and everything restored to its place. </a:t>
              </a:r>
              <a:endParaRPr lang="en-US" altLang="en-US" sz="1400" b="0" dirty="0">
                <a:latin typeface="Roboto" panose="02000000000000000000" pitchFamily="2" charset="0"/>
                <a:ea typeface="Roboto" panose="02000000000000000000" pitchFamily="2" charset="0"/>
              </a:endParaRPr>
            </a:p>
          </p:txBody>
        </p:sp>
        <p:sp>
          <p:nvSpPr>
            <p:cNvPr id="31" name="Oval 23">
              <a:extLst>
                <a:ext uri="{FF2B5EF4-FFF2-40B4-BE49-F238E27FC236}">
                  <a16:creationId xmlns:a16="http://schemas.microsoft.com/office/drawing/2014/main" id="{AD08A714-AB75-8F00-2AF0-4CCD868EEA72}"/>
                </a:ext>
              </a:extLst>
            </p:cNvPr>
            <p:cNvSpPr>
              <a:spLocks noChangeArrowheads="1"/>
            </p:cNvSpPr>
            <p:nvPr/>
          </p:nvSpPr>
          <p:spPr bwMode="auto">
            <a:xfrm>
              <a:off x="327" y="3057"/>
              <a:ext cx="252" cy="231"/>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3S</a:t>
              </a:r>
            </a:p>
          </p:txBody>
        </p:sp>
      </p:grpSp>
      <p:grpSp>
        <p:nvGrpSpPr>
          <p:cNvPr id="32" name="Group 31">
            <a:extLst>
              <a:ext uri="{FF2B5EF4-FFF2-40B4-BE49-F238E27FC236}">
                <a16:creationId xmlns:a16="http://schemas.microsoft.com/office/drawing/2014/main" id="{2F56FF55-C317-82F9-8430-F729F4B417CA}"/>
              </a:ext>
            </a:extLst>
          </p:cNvPr>
          <p:cNvGrpSpPr/>
          <p:nvPr/>
        </p:nvGrpSpPr>
        <p:grpSpPr>
          <a:xfrm>
            <a:off x="940249" y="289611"/>
            <a:ext cx="1060167" cy="324859"/>
            <a:chOff x="940249" y="315206"/>
            <a:chExt cx="1060167" cy="265062"/>
          </a:xfrm>
        </p:grpSpPr>
        <p:sp>
          <p:nvSpPr>
            <p:cNvPr id="33" name="AutoShape 9">
              <a:extLst>
                <a:ext uri="{FF2B5EF4-FFF2-40B4-BE49-F238E27FC236}">
                  <a16:creationId xmlns:a16="http://schemas.microsoft.com/office/drawing/2014/main" id="{D699E618-F556-C4E6-583E-F329D27A560D}"/>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4" name="AutoShape 10">
              <a:extLst>
                <a:ext uri="{FF2B5EF4-FFF2-40B4-BE49-F238E27FC236}">
                  <a16:creationId xmlns:a16="http://schemas.microsoft.com/office/drawing/2014/main" id="{323C30B1-5359-AF30-C147-F2EB9338C471}"/>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5" name="AutoShape 11">
              <a:extLst>
                <a:ext uri="{FF2B5EF4-FFF2-40B4-BE49-F238E27FC236}">
                  <a16:creationId xmlns:a16="http://schemas.microsoft.com/office/drawing/2014/main" id="{AD7B0C55-46FD-793F-2902-3A5949D9F7A0}"/>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36" name="TextBox 35">
            <a:extLst>
              <a:ext uri="{FF2B5EF4-FFF2-40B4-BE49-F238E27FC236}">
                <a16:creationId xmlns:a16="http://schemas.microsoft.com/office/drawing/2014/main" id="{D0CBC136-1566-9111-202D-99E2DD07A15F}"/>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Definition</a:t>
            </a:r>
          </a:p>
        </p:txBody>
      </p:sp>
    </p:spTree>
    <p:extLst>
      <p:ext uri="{BB962C8B-B14F-4D97-AF65-F5344CB8AC3E}">
        <p14:creationId xmlns:p14="http://schemas.microsoft.com/office/powerpoint/2010/main" val="3088874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4000" dirty="0"/>
              <a:t>5S – English Translations </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11</a:t>
            </a:fld>
            <a:endParaRPr lang="en-US"/>
          </a:p>
        </p:txBody>
      </p:sp>
      <p:graphicFrame>
        <p:nvGraphicFramePr>
          <p:cNvPr id="10" name="Table 10">
            <a:extLst>
              <a:ext uri="{FF2B5EF4-FFF2-40B4-BE49-F238E27FC236}">
                <a16:creationId xmlns:a16="http://schemas.microsoft.com/office/drawing/2014/main" id="{54596867-2544-4F38-EB8B-5E7476165CCF}"/>
              </a:ext>
            </a:extLst>
          </p:cNvPr>
          <p:cNvGraphicFramePr>
            <a:graphicFrameLocks noGrp="1"/>
          </p:cNvGraphicFramePr>
          <p:nvPr>
            <p:extLst>
              <p:ext uri="{D42A27DB-BD31-4B8C-83A1-F6EECF244321}">
                <p14:modId xmlns:p14="http://schemas.microsoft.com/office/powerpoint/2010/main" val="162130679"/>
              </p:ext>
            </p:extLst>
          </p:nvPr>
        </p:nvGraphicFramePr>
        <p:xfrm>
          <a:off x="1185545" y="1908798"/>
          <a:ext cx="9820910" cy="4034800"/>
        </p:xfrm>
        <a:graphic>
          <a:graphicData uri="http://schemas.openxmlformats.org/drawingml/2006/table">
            <a:tbl>
              <a:tblPr firstRow="1" bandRow="1">
                <a:tableStyleId>{5C22544A-7EE6-4342-B048-85BDC9FD1C3A}</a:tableStyleId>
              </a:tblPr>
              <a:tblGrid>
                <a:gridCol w="888241">
                  <a:extLst>
                    <a:ext uri="{9D8B030D-6E8A-4147-A177-3AD203B41FA5}">
                      <a16:colId xmlns:a16="http://schemas.microsoft.com/office/drawing/2014/main" val="557776809"/>
                    </a:ext>
                  </a:extLst>
                </a:gridCol>
                <a:gridCol w="2298496">
                  <a:extLst>
                    <a:ext uri="{9D8B030D-6E8A-4147-A177-3AD203B41FA5}">
                      <a16:colId xmlns:a16="http://schemas.microsoft.com/office/drawing/2014/main" val="3600788409"/>
                    </a:ext>
                  </a:extLst>
                </a:gridCol>
                <a:gridCol w="6634173">
                  <a:extLst>
                    <a:ext uri="{9D8B030D-6E8A-4147-A177-3AD203B41FA5}">
                      <a16:colId xmlns:a16="http://schemas.microsoft.com/office/drawing/2014/main" val="2023013473"/>
                    </a:ext>
                  </a:extLst>
                </a:gridCol>
              </a:tblGrid>
              <a:tr h="409785">
                <a:tc>
                  <a:txBody>
                    <a:bodyPr/>
                    <a:lstStyle/>
                    <a:p>
                      <a:r>
                        <a:rPr lang="en-US" sz="2000" dirty="0">
                          <a:latin typeface="Roboto" panose="02000000000000000000" pitchFamily="2" charset="0"/>
                          <a:ea typeface="Roboto" panose="02000000000000000000" pitchFamily="2" charset="0"/>
                        </a:rPr>
                        <a:t>5S</a:t>
                      </a:r>
                    </a:p>
                  </a:txBody>
                  <a:tcPr/>
                </a:tc>
                <a:tc>
                  <a:txBody>
                    <a:bodyPr/>
                    <a:lstStyle/>
                    <a:p>
                      <a:r>
                        <a:rPr lang="en-US" sz="2000" dirty="0">
                          <a:latin typeface="Roboto" panose="02000000000000000000" pitchFamily="2" charset="0"/>
                          <a:ea typeface="Roboto" panose="02000000000000000000" pitchFamily="2" charset="0"/>
                        </a:rPr>
                        <a:t>English</a:t>
                      </a:r>
                    </a:p>
                  </a:txBody>
                  <a:tcPr/>
                </a:tc>
                <a:tc>
                  <a:txBody>
                    <a:bodyPr/>
                    <a:lstStyle/>
                    <a:p>
                      <a:r>
                        <a:rPr lang="en-US" sz="2000" dirty="0">
                          <a:latin typeface="Roboto" panose="02000000000000000000" pitchFamily="2" charset="0"/>
                          <a:ea typeface="Roboto" panose="02000000000000000000" pitchFamily="2" charset="0"/>
                        </a:rPr>
                        <a:t>Description</a:t>
                      </a:r>
                    </a:p>
                  </a:txBody>
                  <a:tcPr/>
                </a:tc>
                <a:extLst>
                  <a:ext uri="{0D108BD9-81ED-4DB2-BD59-A6C34878D82A}">
                    <a16:rowId xmlns:a16="http://schemas.microsoft.com/office/drawing/2014/main" val="2625717967"/>
                  </a:ext>
                </a:extLst>
              </a:tr>
              <a:tr h="725003">
                <a:tc>
                  <a:txBody>
                    <a:bodyPr/>
                    <a:lstStyle/>
                    <a:p>
                      <a:r>
                        <a:rPr lang="en-US" sz="2000" dirty="0">
                          <a:latin typeface="Roboto" panose="02000000000000000000" pitchFamily="2" charset="0"/>
                          <a:ea typeface="Roboto" panose="02000000000000000000" pitchFamily="2" charset="0"/>
                        </a:rPr>
                        <a:t>1S</a:t>
                      </a:r>
                    </a:p>
                  </a:txBody>
                  <a:tcPr/>
                </a:tc>
                <a:tc>
                  <a:txBody>
                    <a:bodyPr/>
                    <a:lstStyle/>
                    <a:p>
                      <a:r>
                        <a:rPr lang="en-US" sz="2000" dirty="0">
                          <a:latin typeface="Roboto" panose="02000000000000000000" pitchFamily="2" charset="0"/>
                          <a:ea typeface="Roboto" panose="02000000000000000000" pitchFamily="2" charset="0"/>
                        </a:rPr>
                        <a:t>Sort</a:t>
                      </a:r>
                    </a:p>
                  </a:txBody>
                  <a:tcPr/>
                </a:tc>
                <a:tc>
                  <a:txBody>
                    <a:bodyPr/>
                    <a:lstStyle/>
                    <a:p>
                      <a:r>
                        <a:rPr lang="en-US" sz="2000" dirty="0">
                          <a:latin typeface="Roboto" panose="02000000000000000000" pitchFamily="2" charset="0"/>
                          <a:ea typeface="Roboto" panose="02000000000000000000" pitchFamily="2" charset="0"/>
                        </a:rPr>
                        <a:t>Eliminate what is unnecessary and identify frequency of use for necessary</a:t>
                      </a:r>
                    </a:p>
                  </a:txBody>
                  <a:tcPr/>
                </a:tc>
                <a:extLst>
                  <a:ext uri="{0D108BD9-81ED-4DB2-BD59-A6C34878D82A}">
                    <a16:rowId xmlns:a16="http://schemas.microsoft.com/office/drawing/2014/main" val="1852747719"/>
                  </a:ext>
                </a:extLst>
              </a:tr>
              <a:tr h="725003">
                <a:tc>
                  <a:txBody>
                    <a:bodyPr/>
                    <a:lstStyle/>
                    <a:p>
                      <a:r>
                        <a:rPr lang="en-US" sz="2000" dirty="0">
                          <a:latin typeface="Roboto" panose="02000000000000000000" pitchFamily="2" charset="0"/>
                          <a:ea typeface="Roboto" panose="02000000000000000000" pitchFamily="2" charset="0"/>
                        </a:rPr>
                        <a:t>2S</a:t>
                      </a:r>
                    </a:p>
                  </a:txBody>
                  <a:tcPr/>
                </a:tc>
                <a:tc>
                  <a:txBody>
                    <a:bodyPr/>
                    <a:lstStyle/>
                    <a:p>
                      <a:r>
                        <a:rPr lang="en-US" sz="2000" dirty="0">
                          <a:latin typeface="Roboto" panose="02000000000000000000" pitchFamily="2" charset="0"/>
                          <a:ea typeface="Roboto" panose="02000000000000000000" pitchFamily="2" charset="0"/>
                        </a:rPr>
                        <a:t>Straighten</a:t>
                      </a:r>
                    </a:p>
                  </a:txBody>
                  <a:tcPr/>
                </a:tc>
                <a:tc>
                  <a:txBody>
                    <a:bodyPr/>
                    <a:lstStyle/>
                    <a:p>
                      <a:r>
                        <a:rPr lang="en-US" sz="2000" dirty="0">
                          <a:latin typeface="Roboto" panose="02000000000000000000" pitchFamily="2" charset="0"/>
                          <a:ea typeface="Roboto" panose="02000000000000000000" pitchFamily="2" charset="0"/>
                        </a:rPr>
                        <a:t>Create a place for everything and put everything in its place </a:t>
                      </a:r>
                    </a:p>
                  </a:txBody>
                  <a:tcPr/>
                </a:tc>
                <a:extLst>
                  <a:ext uri="{0D108BD9-81ED-4DB2-BD59-A6C34878D82A}">
                    <a16:rowId xmlns:a16="http://schemas.microsoft.com/office/drawing/2014/main" val="4168134052"/>
                  </a:ext>
                </a:extLst>
              </a:tr>
              <a:tr h="725003">
                <a:tc>
                  <a:txBody>
                    <a:bodyPr/>
                    <a:lstStyle/>
                    <a:p>
                      <a:r>
                        <a:rPr lang="en-US" sz="2000" dirty="0">
                          <a:latin typeface="Roboto" panose="02000000000000000000" pitchFamily="2" charset="0"/>
                          <a:ea typeface="Roboto" panose="02000000000000000000" pitchFamily="2" charset="0"/>
                        </a:rPr>
                        <a:t>3S</a:t>
                      </a:r>
                    </a:p>
                  </a:txBody>
                  <a:tcPr/>
                </a:tc>
                <a:tc>
                  <a:txBody>
                    <a:bodyPr/>
                    <a:lstStyle/>
                    <a:p>
                      <a:r>
                        <a:rPr lang="en-US" sz="2000" dirty="0">
                          <a:latin typeface="Roboto" panose="02000000000000000000" pitchFamily="2" charset="0"/>
                          <a:ea typeface="Roboto" panose="02000000000000000000" pitchFamily="2" charset="0"/>
                        </a:rPr>
                        <a:t>Scrub</a:t>
                      </a:r>
                    </a:p>
                  </a:txBody>
                  <a:tcPr/>
                </a:tc>
                <a:tc>
                  <a:txBody>
                    <a:bodyPr/>
                    <a:lstStyle/>
                    <a:p>
                      <a:r>
                        <a:rPr lang="en-US" sz="2000" dirty="0">
                          <a:latin typeface="Roboto" panose="02000000000000000000" pitchFamily="2" charset="0"/>
                          <a:ea typeface="Roboto" panose="02000000000000000000" pitchFamily="2" charset="0"/>
                        </a:rPr>
                        <a:t>Thoroughly clean the area and identify the sources of uncleanliness </a:t>
                      </a:r>
                    </a:p>
                  </a:txBody>
                  <a:tcPr/>
                </a:tc>
                <a:extLst>
                  <a:ext uri="{0D108BD9-81ED-4DB2-BD59-A6C34878D82A}">
                    <a16:rowId xmlns:a16="http://schemas.microsoft.com/office/drawing/2014/main" val="1786301352"/>
                  </a:ext>
                </a:extLst>
              </a:tr>
              <a:tr h="725003">
                <a:tc>
                  <a:txBody>
                    <a:bodyPr/>
                    <a:lstStyle/>
                    <a:p>
                      <a:r>
                        <a:rPr lang="en-US" sz="2000" dirty="0">
                          <a:latin typeface="Roboto" panose="02000000000000000000" pitchFamily="2" charset="0"/>
                          <a:ea typeface="Roboto" panose="02000000000000000000" pitchFamily="2" charset="0"/>
                        </a:rPr>
                        <a:t>4S</a:t>
                      </a:r>
                    </a:p>
                  </a:txBody>
                  <a:tcPr/>
                </a:tc>
                <a:tc>
                  <a:txBody>
                    <a:bodyPr/>
                    <a:lstStyle/>
                    <a:p>
                      <a:r>
                        <a:rPr lang="en-US" sz="2000" dirty="0">
                          <a:latin typeface="Roboto" panose="02000000000000000000" pitchFamily="2" charset="0"/>
                          <a:ea typeface="Roboto" panose="02000000000000000000" pitchFamily="2" charset="0"/>
                        </a:rPr>
                        <a:t>Stabilize</a:t>
                      </a:r>
                    </a:p>
                  </a:txBody>
                  <a:tcPr/>
                </a:tc>
                <a:tc>
                  <a:txBody>
                    <a:bodyPr/>
                    <a:lstStyle/>
                    <a:p>
                      <a:r>
                        <a:rPr lang="en-US" sz="2000" dirty="0">
                          <a:latin typeface="Roboto" panose="02000000000000000000" pitchFamily="2" charset="0"/>
                          <a:ea typeface="Roboto" panose="02000000000000000000" pitchFamily="2" charset="0"/>
                        </a:rPr>
                        <a:t>Execute process to maintain and improve the first three S’s</a:t>
                      </a:r>
                    </a:p>
                  </a:txBody>
                  <a:tcPr/>
                </a:tc>
                <a:extLst>
                  <a:ext uri="{0D108BD9-81ED-4DB2-BD59-A6C34878D82A}">
                    <a16:rowId xmlns:a16="http://schemas.microsoft.com/office/drawing/2014/main" val="2248128915"/>
                  </a:ext>
                </a:extLst>
              </a:tr>
              <a:tr h="725003">
                <a:tc>
                  <a:txBody>
                    <a:bodyPr/>
                    <a:lstStyle/>
                    <a:p>
                      <a:r>
                        <a:rPr lang="en-US" sz="2000" dirty="0">
                          <a:latin typeface="Roboto" panose="02000000000000000000" pitchFamily="2" charset="0"/>
                          <a:ea typeface="Roboto" panose="02000000000000000000" pitchFamily="2" charset="0"/>
                        </a:rPr>
                        <a:t>5S</a:t>
                      </a:r>
                    </a:p>
                  </a:txBody>
                  <a:tcPr/>
                </a:tc>
                <a:tc>
                  <a:txBody>
                    <a:bodyPr/>
                    <a:lstStyle/>
                    <a:p>
                      <a:r>
                        <a:rPr lang="en-US" sz="2000" dirty="0">
                          <a:latin typeface="Roboto" panose="02000000000000000000" pitchFamily="2" charset="0"/>
                          <a:ea typeface="Roboto" panose="02000000000000000000" pitchFamily="2" charset="0"/>
                        </a:rPr>
                        <a:t>Sustain</a:t>
                      </a:r>
                    </a:p>
                  </a:txBody>
                  <a:tcPr/>
                </a:tc>
                <a:tc>
                  <a:txBody>
                    <a:bodyPr/>
                    <a:lstStyle/>
                    <a:p>
                      <a:r>
                        <a:rPr lang="en-US" sz="2000" dirty="0">
                          <a:latin typeface="Roboto" panose="02000000000000000000" pitchFamily="2" charset="0"/>
                          <a:ea typeface="Roboto" panose="02000000000000000000" pitchFamily="2" charset="0"/>
                        </a:rPr>
                        <a:t>Develop a sustained, disciplined 5S culture in the workplace </a:t>
                      </a:r>
                    </a:p>
                  </a:txBody>
                  <a:tcPr/>
                </a:tc>
                <a:extLst>
                  <a:ext uri="{0D108BD9-81ED-4DB2-BD59-A6C34878D82A}">
                    <a16:rowId xmlns:a16="http://schemas.microsoft.com/office/drawing/2014/main" val="3189724792"/>
                  </a:ext>
                </a:extLst>
              </a:tr>
            </a:tbl>
          </a:graphicData>
        </a:graphic>
      </p:graphicFrame>
      <p:grpSp>
        <p:nvGrpSpPr>
          <p:cNvPr id="11" name="Group 10">
            <a:extLst>
              <a:ext uri="{FF2B5EF4-FFF2-40B4-BE49-F238E27FC236}">
                <a16:creationId xmlns:a16="http://schemas.microsoft.com/office/drawing/2014/main" id="{8DA81B3E-25C3-1EC1-6E48-3D1BF0A1CF3C}"/>
              </a:ext>
            </a:extLst>
          </p:cNvPr>
          <p:cNvGrpSpPr/>
          <p:nvPr/>
        </p:nvGrpSpPr>
        <p:grpSpPr>
          <a:xfrm>
            <a:off x="940249" y="289611"/>
            <a:ext cx="1060167" cy="324859"/>
            <a:chOff x="940249" y="315206"/>
            <a:chExt cx="1060167" cy="265062"/>
          </a:xfrm>
        </p:grpSpPr>
        <p:sp>
          <p:nvSpPr>
            <p:cNvPr id="12" name="AutoShape 9">
              <a:extLst>
                <a:ext uri="{FF2B5EF4-FFF2-40B4-BE49-F238E27FC236}">
                  <a16:creationId xmlns:a16="http://schemas.microsoft.com/office/drawing/2014/main" id="{F46423BA-0633-C85D-EEFA-32D78ACD4511}"/>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5E555537-6E7E-FBA3-3276-1AD2EE5D7521}"/>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1">
              <a:extLst>
                <a:ext uri="{FF2B5EF4-FFF2-40B4-BE49-F238E27FC236}">
                  <a16:creationId xmlns:a16="http://schemas.microsoft.com/office/drawing/2014/main" id="{672822BA-7B6C-E2BF-627D-32CF525E3AD3}"/>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5" name="TextBox 14">
            <a:extLst>
              <a:ext uri="{FF2B5EF4-FFF2-40B4-BE49-F238E27FC236}">
                <a16:creationId xmlns:a16="http://schemas.microsoft.com/office/drawing/2014/main" id="{680A7333-8667-82DE-D410-CBB471749218}"/>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Definition</a:t>
            </a:r>
          </a:p>
        </p:txBody>
      </p:sp>
    </p:spTree>
    <p:extLst>
      <p:ext uri="{BB962C8B-B14F-4D97-AF65-F5344CB8AC3E}">
        <p14:creationId xmlns:p14="http://schemas.microsoft.com/office/powerpoint/2010/main" val="1039273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4556B-518F-64E6-25D8-DEAA9129A6E7}"/>
              </a:ext>
            </a:extLst>
          </p:cNvPr>
          <p:cNvSpPr>
            <a:spLocks noGrp="1"/>
          </p:cNvSpPr>
          <p:nvPr>
            <p:ph type="title"/>
          </p:nvPr>
        </p:nvSpPr>
        <p:spPr/>
        <p:txBody>
          <a:bodyPr/>
          <a:lstStyle/>
          <a:p>
            <a:r>
              <a:rPr lang="en-US" dirty="0"/>
              <a:t>Step 1 - Sort</a:t>
            </a:r>
          </a:p>
        </p:txBody>
      </p:sp>
      <p:sp>
        <p:nvSpPr>
          <p:cNvPr id="3" name="Text Placeholder 2">
            <a:extLst>
              <a:ext uri="{FF2B5EF4-FFF2-40B4-BE49-F238E27FC236}">
                <a16:creationId xmlns:a16="http://schemas.microsoft.com/office/drawing/2014/main" id="{21838ADC-9C24-CA69-73F3-F52138ED20BD}"/>
              </a:ext>
            </a:extLst>
          </p:cNvPr>
          <p:cNvSpPr>
            <a:spLocks noGrp="1"/>
          </p:cNvSpPr>
          <p:nvPr>
            <p:ph type="body" idx="1"/>
          </p:nvPr>
        </p:nvSpPr>
        <p:spPr/>
        <p:txBody>
          <a:bodyPr/>
          <a:lstStyle/>
          <a:p>
            <a:r>
              <a:rPr lang="en-US" dirty="0"/>
              <a:t>Before</a:t>
            </a:r>
          </a:p>
        </p:txBody>
      </p:sp>
      <p:sp>
        <p:nvSpPr>
          <p:cNvPr id="5" name="Text Placeholder 4">
            <a:extLst>
              <a:ext uri="{FF2B5EF4-FFF2-40B4-BE49-F238E27FC236}">
                <a16:creationId xmlns:a16="http://schemas.microsoft.com/office/drawing/2014/main" id="{10EC1380-417A-07D5-73CE-83DE19EF1540}"/>
              </a:ext>
            </a:extLst>
          </p:cNvPr>
          <p:cNvSpPr>
            <a:spLocks noGrp="1"/>
          </p:cNvSpPr>
          <p:nvPr>
            <p:ph type="body" sz="quarter" idx="3"/>
          </p:nvPr>
        </p:nvSpPr>
        <p:spPr/>
        <p:txBody>
          <a:bodyPr/>
          <a:lstStyle/>
          <a:p>
            <a:r>
              <a:rPr lang="en-US" dirty="0"/>
              <a:t>After – Put color tags on object in workstation</a:t>
            </a:r>
          </a:p>
        </p:txBody>
      </p:sp>
      <p:pic>
        <p:nvPicPr>
          <p:cNvPr id="7" name="Picture 9" descr="Before">
            <a:extLst>
              <a:ext uri="{FF2B5EF4-FFF2-40B4-BE49-F238E27FC236}">
                <a16:creationId xmlns:a16="http://schemas.microsoft.com/office/drawing/2014/main" id="{DD7C4531-DA50-A1DA-78AC-A9935762B873}"/>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1019334" y="2505075"/>
            <a:ext cx="4627086" cy="3707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0" descr="Sort">
            <a:extLst>
              <a:ext uri="{FF2B5EF4-FFF2-40B4-BE49-F238E27FC236}">
                <a16:creationId xmlns:a16="http://schemas.microsoft.com/office/drawing/2014/main" id="{35DD2265-1604-61A2-DE7A-50012D61552B}"/>
              </a:ext>
            </a:extLst>
          </p:cNvPr>
          <p:cNvPicPr>
            <a:picLocks noGrp="1" noChangeAspect="1" noChangeArrowheads="1"/>
          </p:cNvPicPr>
          <p:nvPr>
            <p:ph sz="quarter" idx="4"/>
          </p:nvPr>
        </p:nvPicPr>
        <p:blipFill>
          <a:blip r:embed="rId4">
            <a:extLst>
              <a:ext uri="{28A0092B-C50C-407E-A947-70E740481C1C}">
                <a14:useLocalDpi xmlns:a14="http://schemas.microsoft.com/office/drawing/2010/main" val="0"/>
              </a:ext>
            </a:extLst>
          </a:blip>
          <a:srcRect/>
          <a:stretch>
            <a:fillRect/>
          </a:stretch>
        </p:blipFill>
        <p:spPr bwMode="auto">
          <a:xfrm>
            <a:off x="6428264" y="2505075"/>
            <a:ext cx="4627086" cy="3695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8">
            <a:extLst>
              <a:ext uri="{FF2B5EF4-FFF2-40B4-BE49-F238E27FC236}">
                <a16:creationId xmlns:a16="http://schemas.microsoft.com/office/drawing/2014/main" id="{1941555A-E93F-B858-B85E-274BAA5BDA3F}"/>
              </a:ext>
            </a:extLst>
          </p:cNvPr>
          <p:cNvGrpSpPr/>
          <p:nvPr/>
        </p:nvGrpSpPr>
        <p:grpSpPr>
          <a:xfrm>
            <a:off x="940249" y="289611"/>
            <a:ext cx="1060167" cy="324859"/>
            <a:chOff x="940249" y="315206"/>
            <a:chExt cx="1060167" cy="265062"/>
          </a:xfrm>
        </p:grpSpPr>
        <p:sp>
          <p:nvSpPr>
            <p:cNvPr id="10" name="AutoShape 9">
              <a:extLst>
                <a:ext uri="{FF2B5EF4-FFF2-40B4-BE49-F238E27FC236}">
                  <a16:creationId xmlns:a16="http://schemas.microsoft.com/office/drawing/2014/main" id="{E6104214-FD52-7DA7-8140-BD1E360404F8}"/>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0">
              <a:extLst>
                <a:ext uri="{FF2B5EF4-FFF2-40B4-BE49-F238E27FC236}">
                  <a16:creationId xmlns:a16="http://schemas.microsoft.com/office/drawing/2014/main" id="{8DBEB1D5-E21B-53F4-12A9-9326A783D9BA}"/>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9C9F79B2-70A3-7363-315B-5DAC3FB5DF19}"/>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3" name="TextBox 12">
            <a:extLst>
              <a:ext uri="{FF2B5EF4-FFF2-40B4-BE49-F238E27FC236}">
                <a16:creationId xmlns:a16="http://schemas.microsoft.com/office/drawing/2014/main" id="{1081484C-19AA-C2F7-F777-F7B7DB311D83}"/>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Definition</a:t>
            </a:r>
          </a:p>
        </p:txBody>
      </p:sp>
    </p:spTree>
    <p:extLst>
      <p:ext uri="{BB962C8B-B14F-4D97-AF65-F5344CB8AC3E}">
        <p14:creationId xmlns:p14="http://schemas.microsoft.com/office/powerpoint/2010/main" val="4284752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4556B-518F-64E6-25D8-DEAA9129A6E7}"/>
              </a:ext>
            </a:extLst>
          </p:cNvPr>
          <p:cNvSpPr>
            <a:spLocks noGrp="1"/>
          </p:cNvSpPr>
          <p:nvPr>
            <p:ph type="title"/>
          </p:nvPr>
        </p:nvSpPr>
        <p:spPr/>
        <p:txBody>
          <a:bodyPr/>
          <a:lstStyle/>
          <a:p>
            <a:r>
              <a:rPr lang="en-US" dirty="0"/>
              <a:t>Step 2 – Set in Order</a:t>
            </a:r>
          </a:p>
        </p:txBody>
      </p:sp>
      <p:sp>
        <p:nvSpPr>
          <p:cNvPr id="3" name="Text Placeholder 2">
            <a:extLst>
              <a:ext uri="{FF2B5EF4-FFF2-40B4-BE49-F238E27FC236}">
                <a16:creationId xmlns:a16="http://schemas.microsoft.com/office/drawing/2014/main" id="{21838ADC-9C24-CA69-73F3-F52138ED20BD}"/>
              </a:ext>
            </a:extLst>
          </p:cNvPr>
          <p:cNvSpPr>
            <a:spLocks noGrp="1"/>
          </p:cNvSpPr>
          <p:nvPr>
            <p:ph type="body" idx="1"/>
          </p:nvPr>
        </p:nvSpPr>
        <p:spPr/>
        <p:txBody>
          <a:bodyPr/>
          <a:lstStyle/>
          <a:p>
            <a:r>
              <a:rPr lang="en-US" dirty="0"/>
              <a:t>Label folders, put in sequence and guided by dotted line</a:t>
            </a:r>
          </a:p>
        </p:txBody>
      </p:sp>
      <p:sp>
        <p:nvSpPr>
          <p:cNvPr id="5" name="Text Placeholder 4">
            <a:extLst>
              <a:ext uri="{FF2B5EF4-FFF2-40B4-BE49-F238E27FC236}">
                <a16:creationId xmlns:a16="http://schemas.microsoft.com/office/drawing/2014/main" id="{10EC1380-417A-07D5-73CE-83DE19EF1540}"/>
              </a:ext>
            </a:extLst>
          </p:cNvPr>
          <p:cNvSpPr>
            <a:spLocks noGrp="1"/>
          </p:cNvSpPr>
          <p:nvPr>
            <p:ph type="body" sz="quarter" idx="3"/>
          </p:nvPr>
        </p:nvSpPr>
        <p:spPr/>
        <p:txBody>
          <a:bodyPr/>
          <a:lstStyle/>
          <a:p>
            <a:r>
              <a:rPr lang="en-US" dirty="0"/>
              <a:t>Install tray and put labels for objects</a:t>
            </a:r>
          </a:p>
        </p:txBody>
      </p:sp>
      <p:grpSp>
        <p:nvGrpSpPr>
          <p:cNvPr id="4" name="Group 3">
            <a:extLst>
              <a:ext uri="{FF2B5EF4-FFF2-40B4-BE49-F238E27FC236}">
                <a16:creationId xmlns:a16="http://schemas.microsoft.com/office/drawing/2014/main" id="{D294A8B4-7449-65B2-6691-0B74CE9C17DB}"/>
              </a:ext>
            </a:extLst>
          </p:cNvPr>
          <p:cNvGrpSpPr/>
          <p:nvPr/>
        </p:nvGrpSpPr>
        <p:grpSpPr>
          <a:xfrm>
            <a:off x="940249" y="289611"/>
            <a:ext cx="1060167" cy="324859"/>
            <a:chOff x="940249" y="315206"/>
            <a:chExt cx="1060167" cy="265062"/>
          </a:xfrm>
        </p:grpSpPr>
        <p:sp>
          <p:nvSpPr>
            <p:cNvPr id="6" name="AutoShape 9">
              <a:extLst>
                <a:ext uri="{FF2B5EF4-FFF2-40B4-BE49-F238E27FC236}">
                  <a16:creationId xmlns:a16="http://schemas.microsoft.com/office/drawing/2014/main" id="{378AE94E-8B64-DCFA-C356-9FBE425D9054}"/>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0">
              <a:extLst>
                <a:ext uri="{FF2B5EF4-FFF2-40B4-BE49-F238E27FC236}">
                  <a16:creationId xmlns:a16="http://schemas.microsoft.com/office/drawing/2014/main" id="{0A12D092-569A-3EA7-22D5-A63EB653B1F5}"/>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57A1F9E6-3ADF-91DC-4125-F307296E6F3A}"/>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1" name="TextBox 10">
            <a:extLst>
              <a:ext uri="{FF2B5EF4-FFF2-40B4-BE49-F238E27FC236}">
                <a16:creationId xmlns:a16="http://schemas.microsoft.com/office/drawing/2014/main" id="{1C7E802E-99DE-AC74-AD38-94CA06E52287}"/>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Definition</a:t>
            </a:r>
          </a:p>
        </p:txBody>
      </p:sp>
      <p:pic>
        <p:nvPicPr>
          <p:cNvPr id="13" name="Picture 11" descr="Set in Order">
            <a:extLst>
              <a:ext uri="{FF2B5EF4-FFF2-40B4-BE49-F238E27FC236}">
                <a16:creationId xmlns:a16="http://schemas.microsoft.com/office/drawing/2014/main" id="{CF874E46-B8F7-2985-E6E4-D156CC3CC7C7}"/>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940249" y="2585885"/>
            <a:ext cx="4655549" cy="3712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2" descr="Set in Order 1">
            <a:extLst>
              <a:ext uri="{FF2B5EF4-FFF2-40B4-BE49-F238E27FC236}">
                <a16:creationId xmlns:a16="http://schemas.microsoft.com/office/drawing/2014/main" id="{9A69E8FD-86BC-3FD1-A4AD-D9C423266188}"/>
              </a:ext>
            </a:extLst>
          </p:cNvPr>
          <p:cNvPicPr>
            <a:picLocks noGrp="1" noChangeAspect="1" noChangeArrowheads="1"/>
          </p:cNvPicPr>
          <p:nvPr>
            <p:ph sz="quarter" idx="4"/>
          </p:nvPr>
        </p:nvPicPr>
        <p:blipFill>
          <a:blip r:embed="rId4">
            <a:extLst>
              <a:ext uri="{28A0092B-C50C-407E-A947-70E740481C1C}">
                <a14:useLocalDpi xmlns:a14="http://schemas.microsoft.com/office/drawing/2010/main" val="0"/>
              </a:ext>
            </a:extLst>
          </a:blip>
          <a:srcRect/>
          <a:stretch>
            <a:fillRect/>
          </a:stretch>
        </p:blipFill>
        <p:spPr bwMode="auto">
          <a:xfrm>
            <a:off x="6345396" y="2585885"/>
            <a:ext cx="4644463" cy="3712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059710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4556B-518F-64E6-25D8-DEAA9129A6E7}"/>
              </a:ext>
            </a:extLst>
          </p:cNvPr>
          <p:cNvSpPr>
            <a:spLocks noGrp="1"/>
          </p:cNvSpPr>
          <p:nvPr>
            <p:ph type="title"/>
          </p:nvPr>
        </p:nvSpPr>
        <p:spPr/>
        <p:txBody>
          <a:bodyPr/>
          <a:lstStyle/>
          <a:p>
            <a:r>
              <a:rPr lang="en-US" dirty="0"/>
              <a:t>Step 3 - Shine</a:t>
            </a:r>
          </a:p>
        </p:txBody>
      </p:sp>
      <p:sp>
        <p:nvSpPr>
          <p:cNvPr id="3" name="Text Placeholder 2">
            <a:extLst>
              <a:ext uri="{FF2B5EF4-FFF2-40B4-BE49-F238E27FC236}">
                <a16:creationId xmlns:a16="http://schemas.microsoft.com/office/drawing/2014/main" id="{21838ADC-9C24-CA69-73F3-F52138ED20BD}"/>
              </a:ext>
            </a:extLst>
          </p:cNvPr>
          <p:cNvSpPr>
            <a:spLocks noGrp="1"/>
          </p:cNvSpPr>
          <p:nvPr>
            <p:ph type="body" idx="1"/>
          </p:nvPr>
        </p:nvSpPr>
        <p:spPr>
          <a:xfrm>
            <a:off x="2241352" y="1681163"/>
            <a:ext cx="7709296" cy="823912"/>
          </a:xfrm>
        </p:spPr>
        <p:txBody>
          <a:bodyPr anchor="ctr"/>
          <a:lstStyle/>
          <a:p>
            <a:pPr algn="ctr"/>
            <a:r>
              <a:rPr lang="en-US" dirty="0"/>
              <a:t>Clean the table &amp; equipment and tie up cables</a:t>
            </a:r>
          </a:p>
        </p:txBody>
      </p:sp>
      <p:grpSp>
        <p:nvGrpSpPr>
          <p:cNvPr id="4" name="Group 3">
            <a:extLst>
              <a:ext uri="{FF2B5EF4-FFF2-40B4-BE49-F238E27FC236}">
                <a16:creationId xmlns:a16="http://schemas.microsoft.com/office/drawing/2014/main" id="{D294A8B4-7449-65B2-6691-0B74CE9C17DB}"/>
              </a:ext>
            </a:extLst>
          </p:cNvPr>
          <p:cNvGrpSpPr/>
          <p:nvPr/>
        </p:nvGrpSpPr>
        <p:grpSpPr>
          <a:xfrm>
            <a:off x="940249" y="289611"/>
            <a:ext cx="1060167" cy="324859"/>
            <a:chOff x="940249" y="315206"/>
            <a:chExt cx="1060167" cy="265062"/>
          </a:xfrm>
        </p:grpSpPr>
        <p:sp>
          <p:nvSpPr>
            <p:cNvPr id="6" name="AutoShape 9">
              <a:extLst>
                <a:ext uri="{FF2B5EF4-FFF2-40B4-BE49-F238E27FC236}">
                  <a16:creationId xmlns:a16="http://schemas.microsoft.com/office/drawing/2014/main" id="{378AE94E-8B64-DCFA-C356-9FBE425D9054}"/>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0">
              <a:extLst>
                <a:ext uri="{FF2B5EF4-FFF2-40B4-BE49-F238E27FC236}">
                  <a16:creationId xmlns:a16="http://schemas.microsoft.com/office/drawing/2014/main" id="{0A12D092-569A-3EA7-22D5-A63EB653B1F5}"/>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57A1F9E6-3ADF-91DC-4125-F307296E6F3A}"/>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1" name="TextBox 10">
            <a:extLst>
              <a:ext uri="{FF2B5EF4-FFF2-40B4-BE49-F238E27FC236}">
                <a16:creationId xmlns:a16="http://schemas.microsoft.com/office/drawing/2014/main" id="{1C7E802E-99DE-AC74-AD38-94CA06E52287}"/>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Definition</a:t>
            </a:r>
          </a:p>
        </p:txBody>
      </p:sp>
      <p:pic>
        <p:nvPicPr>
          <p:cNvPr id="14" name="Picture 6" descr="Shine">
            <a:extLst>
              <a:ext uri="{FF2B5EF4-FFF2-40B4-BE49-F238E27FC236}">
                <a16:creationId xmlns:a16="http://schemas.microsoft.com/office/drawing/2014/main" id="{36B82452-FBA4-B874-105C-730FC9A54242}"/>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3642915" y="2390458"/>
            <a:ext cx="4906169" cy="3924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989821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4556B-518F-64E6-25D8-DEAA9129A6E7}"/>
              </a:ext>
            </a:extLst>
          </p:cNvPr>
          <p:cNvSpPr>
            <a:spLocks noGrp="1"/>
          </p:cNvSpPr>
          <p:nvPr>
            <p:ph type="title"/>
          </p:nvPr>
        </p:nvSpPr>
        <p:spPr/>
        <p:txBody>
          <a:bodyPr/>
          <a:lstStyle/>
          <a:p>
            <a:r>
              <a:rPr lang="en-US" dirty="0"/>
              <a:t>Step 4 - Standardize</a:t>
            </a:r>
          </a:p>
        </p:txBody>
      </p:sp>
      <p:sp>
        <p:nvSpPr>
          <p:cNvPr id="3" name="Text Placeholder 2">
            <a:extLst>
              <a:ext uri="{FF2B5EF4-FFF2-40B4-BE49-F238E27FC236}">
                <a16:creationId xmlns:a16="http://schemas.microsoft.com/office/drawing/2014/main" id="{21838ADC-9C24-CA69-73F3-F52138ED20BD}"/>
              </a:ext>
            </a:extLst>
          </p:cNvPr>
          <p:cNvSpPr>
            <a:spLocks noGrp="1"/>
          </p:cNvSpPr>
          <p:nvPr>
            <p:ph type="body" idx="1"/>
          </p:nvPr>
        </p:nvSpPr>
        <p:spPr/>
        <p:txBody>
          <a:bodyPr>
            <a:normAutofit fontScale="92500" lnSpcReduction="20000"/>
          </a:bodyPr>
          <a:lstStyle/>
          <a:p>
            <a:r>
              <a:rPr lang="en-US" dirty="0"/>
              <a:t>Share Best Practice in Lotus Notes 5S Database to Standardize 5S between Team Members</a:t>
            </a:r>
          </a:p>
        </p:txBody>
      </p:sp>
      <p:sp>
        <p:nvSpPr>
          <p:cNvPr id="5" name="Text Placeholder 4">
            <a:extLst>
              <a:ext uri="{FF2B5EF4-FFF2-40B4-BE49-F238E27FC236}">
                <a16:creationId xmlns:a16="http://schemas.microsoft.com/office/drawing/2014/main" id="{10EC1380-417A-07D5-73CE-83DE19EF1540}"/>
              </a:ext>
            </a:extLst>
          </p:cNvPr>
          <p:cNvSpPr>
            <a:spLocks noGrp="1"/>
          </p:cNvSpPr>
          <p:nvPr>
            <p:ph type="body" sz="quarter" idx="3"/>
          </p:nvPr>
        </p:nvSpPr>
        <p:spPr/>
        <p:txBody>
          <a:bodyPr>
            <a:normAutofit fontScale="92500" lnSpcReduction="20000"/>
          </a:bodyPr>
          <a:lstStyle/>
          <a:p>
            <a:r>
              <a:rPr lang="en-US" dirty="0"/>
              <a:t>Standardize on: Dotted line on box files, Labeling on shelf, Display of certificate</a:t>
            </a:r>
          </a:p>
        </p:txBody>
      </p:sp>
      <p:grpSp>
        <p:nvGrpSpPr>
          <p:cNvPr id="4" name="Group 3">
            <a:extLst>
              <a:ext uri="{FF2B5EF4-FFF2-40B4-BE49-F238E27FC236}">
                <a16:creationId xmlns:a16="http://schemas.microsoft.com/office/drawing/2014/main" id="{D294A8B4-7449-65B2-6691-0B74CE9C17DB}"/>
              </a:ext>
            </a:extLst>
          </p:cNvPr>
          <p:cNvGrpSpPr/>
          <p:nvPr/>
        </p:nvGrpSpPr>
        <p:grpSpPr>
          <a:xfrm>
            <a:off x="940249" y="289611"/>
            <a:ext cx="1060167" cy="324859"/>
            <a:chOff x="940249" y="315206"/>
            <a:chExt cx="1060167" cy="265062"/>
          </a:xfrm>
        </p:grpSpPr>
        <p:sp>
          <p:nvSpPr>
            <p:cNvPr id="6" name="AutoShape 9">
              <a:extLst>
                <a:ext uri="{FF2B5EF4-FFF2-40B4-BE49-F238E27FC236}">
                  <a16:creationId xmlns:a16="http://schemas.microsoft.com/office/drawing/2014/main" id="{378AE94E-8B64-DCFA-C356-9FBE425D9054}"/>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0">
              <a:extLst>
                <a:ext uri="{FF2B5EF4-FFF2-40B4-BE49-F238E27FC236}">
                  <a16:creationId xmlns:a16="http://schemas.microsoft.com/office/drawing/2014/main" id="{0A12D092-569A-3EA7-22D5-A63EB653B1F5}"/>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57A1F9E6-3ADF-91DC-4125-F307296E6F3A}"/>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1" name="TextBox 10">
            <a:extLst>
              <a:ext uri="{FF2B5EF4-FFF2-40B4-BE49-F238E27FC236}">
                <a16:creationId xmlns:a16="http://schemas.microsoft.com/office/drawing/2014/main" id="{1C7E802E-99DE-AC74-AD38-94CA06E52287}"/>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Definition</a:t>
            </a:r>
          </a:p>
        </p:txBody>
      </p:sp>
      <p:pic>
        <p:nvPicPr>
          <p:cNvPr id="12" name="Picture 13" descr="Standardize">
            <a:extLst>
              <a:ext uri="{FF2B5EF4-FFF2-40B4-BE49-F238E27FC236}">
                <a16:creationId xmlns:a16="http://schemas.microsoft.com/office/drawing/2014/main" id="{9B8CFF28-0315-DF42-D89E-1D8518236540}"/>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1003490" y="2580958"/>
            <a:ext cx="4737882" cy="3543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9" descr="Standardize 1">
            <a:extLst>
              <a:ext uri="{FF2B5EF4-FFF2-40B4-BE49-F238E27FC236}">
                <a16:creationId xmlns:a16="http://schemas.microsoft.com/office/drawing/2014/main" id="{F747A3DE-AA87-AF2B-5048-FE2B887E9D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27691" y="3178969"/>
            <a:ext cx="1744663" cy="205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0" descr="Standardize 2">
            <a:extLst>
              <a:ext uri="{FF2B5EF4-FFF2-40B4-BE49-F238E27FC236}">
                <a16:creationId xmlns:a16="http://schemas.microsoft.com/office/drawing/2014/main" id="{08B83133-D8AE-D238-2A97-3C949B3C74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08415" y="2466340"/>
            <a:ext cx="2614613" cy="196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1" descr="Standardize 3">
            <a:extLst>
              <a:ext uri="{FF2B5EF4-FFF2-40B4-BE49-F238E27FC236}">
                <a16:creationId xmlns:a16="http://schemas.microsoft.com/office/drawing/2014/main" id="{614B6292-4EE3-AC56-9530-FFD58718DF9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08415" y="4094163"/>
            <a:ext cx="2619375" cy="209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97327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4556B-518F-64E6-25D8-DEAA9129A6E7}"/>
              </a:ext>
            </a:extLst>
          </p:cNvPr>
          <p:cNvSpPr>
            <a:spLocks noGrp="1"/>
          </p:cNvSpPr>
          <p:nvPr>
            <p:ph type="title"/>
          </p:nvPr>
        </p:nvSpPr>
        <p:spPr/>
        <p:txBody>
          <a:bodyPr/>
          <a:lstStyle/>
          <a:p>
            <a:r>
              <a:rPr lang="en-US" dirty="0"/>
              <a:t>Step 5 - Sustain</a:t>
            </a:r>
          </a:p>
        </p:txBody>
      </p:sp>
      <p:sp>
        <p:nvSpPr>
          <p:cNvPr id="3" name="Text Placeholder 2">
            <a:extLst>
              <a:ext uri="{FF2B5EF4-FFF2-40B4-BE49-F238E27FC236}">
                <a16:creationId xmlns:a16="http://schemas.microsoft.com/office/drawing/2014/main" id="{21838ADC-9C24-CA69-73F3-F52138ED20BD}"/>
              </a:ext>
            </a:extLst>
          </p:cNvPr>
          <p:cNvSpPr>
            <a:spLocks noGrp="1"/>
          </p:cNvSpPr>
          <p:nvPr>
            <p:ph type="body" idx="1"/>
          </p:nvPr>
        </p:nvSpPr>
        <p:spPr/>
        <p:txBody>
          <a:bodyPr/>
          <a:lstStyle/>
          <a:p>
            <a:r>
              <a:rPr lang="en-US" dirty="0"/>
              <a:t>5S Notice Board</a:t>
            </a:r>
          </a:p>
        </p:txBody>
      </p:sp>
      <p:sp>
        <p:nvSpPr>
          <p:cNvPr id="5" name="Text Placeholder 4">
            <a:extLst>
              <a:ext uri="{FF2B5EF4-FFF2-40B4-BE49-F238E27FC236}">
                <a16:creationId xmlns:a16="http://schemas.microsoft.com/office/drawing/2014/main" id="{10EC1380-417A-07D5-73CE-83DE19EF1540}"/>
              </a:ext>
            </a:extLst>
          </p:cNvPr>
          <p:cNvSpPr>
            <a:spLocks noGrp="1"/>
          </p:cNvSpPr>
          <p:nvPr>
            <p:ph type="body" sz="quarter" idx="3"/>
          </p:nvPr>
        </p:nvSpPr>
        <p:spPr/>
        <p:txBody>
          <a:bodyPr/>
          <a:lstStyle/>
          <a:p>
            <a:r>
              <a:rPr lang="en-US" dirty="0"/>
              <a:t>Construct 5S Notice Board to display:</a:t>
            </a:r>
          </a:p>
        </p:txBody>
      </p:sp>
      <p:grpSp>
        <p:nvGrpSpPr>
          <p:cNvPr id="4" name="Group 3">
            <a:extLst>
              <a:ext uri="{FF2B5EF4-FFF2-40B4-BE49-F238E27FC236}">
                <a16:creationId xmlns:a16="http://schemas.microsoft.com/office/drawing/2014/main" id="{D294A8B4-7449-65B2-6691-0B74CE9C17DB}"/>
              </a:ext>
            </a:extLst>
          </p:cNvPr>
          <p:cNvGrpSpPr/>
          <p:nvPr/>
        </p:nvGrpSpPr>
        <p:grpSpPr>
          <a:xfrm>
            <a:off x="940249" y="289611"/>
            <a:ext cx="1060167" cy="324859"/>
            <a:chOff x="940249" y="315206"/>
            <a:chExt cx="1060167" cy="265062"/>
          </a:xfrm>
        </p:grpSpPr>
        <p:sp>
          <p:nvSpPr>
            <p:cNvPr id="6" name="AutoShape 9">
              <a:extLst>
                <a:ext uri="{FF2B5EF4-FFF2-40B4-BE49-F238E27FC236}">
                  <a16:creationId xmlns:a16="http://schemas.microsoft.com/office/drawing/2014/main" id="{378AE94E-8B64-DCFA-C356-9FBE425D9054}"/>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0">
              <a:extLst>
                <a:ext uri="{FF2B5EF4-FFF2-40B4-BE49-F238E27FC236}">
                  <a16:creationId xmlns:a16="http://schemas.microsoft.com/office/drawing/2014/main" id="{0A12D092-569A-3EA7-22D5-A63EB653B1F5}"/>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57A1F9E6-3ADF-91DC-4125-F307296E6F3A}"/>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1" name="TextBox 10">
            <a:extLst>
              <a:ext uri="{FF2B5EF4-FFF2-40B4-BE49-F238E27FC236}">
                <a16:creationId xmlns:a16="http://schemas.microsoft.com/office/drawing/2014/main" id="{1C7E802E-99DE-AC74-AD38-94CA06E52287}"/>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Definition</a:t>
            </a:r>
          </a:p>
        </p:txBody>
      </p:sp>
      <p:pic>
        <p:nvPicPr>
          <p:cNvPr id="8" name="Picture 10" descr="Sustain">
            <a:extLst>
              <a:ext uri="{FF2B5EF4-FFF2-40B4-BE49-F238E27FC236}">
                <a16:creationId xmlns:a16="http://schemas.microsoft.com/office/drawing/2014/main" id="{F3209DB6-1E8D-DE3E-6FC1-D0FAE9CBCF08}"/>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883063" y="2505075"/>
            <a:ext cx="4941994" cy="3712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Content Placeholder 11">
            <a:extLst>
              <a:ext uri="{FF2B5EF4-FFF2-40B4-BE49-F238E27FC236}">
                <a16:creationId xmlns:a16="http://schemas.microsoft.com/office/drawing/2014/main" id="{2C5CD1F8-99C5-1B3D-2B4D-601A366027F7}"/>
              </a:ext>
            </a:extLst>
          </p:cNvPr>
          <p:cNvSpPr>
            <a:spLocks noGrp="1"/>
          </p:cNvSpPr>
          <p:nvPr>
            <p:ph sz="quarter" idx="4"/>
          </p:nvPr>
        </p:nvSpPr>
        <p:spPr/>
        <p:txBody>
          <a:bodyPr>
            <a:normAutofit lnSpcReduction="10000"/>
          </a:bodyPr>
          <a:lstStyle/>
          <a:p>
            <a:r>
              <a:rPr lang="en-US" dirty="0"/>
              <a:t>5S Concept – Reinforce the “Know How” of 5S</a:t>
            </a:r>
          </a:p>
          <a:p>
            <a:r>
              <a:rPr lang="en-US" dirty="0"/>
              <a:t>Success Story - Prove 5S is achievable by example </a:t>
            </a:r>
          </a:p>
          <a:p>
            <a:r>
              <a:rPr lang="en-US" dirty="0"/>
              <a:t>5S Performance- Provide feedback on monthly performance </a:t>
            </a:r>
          </a:p>
          <a:p>
            <a:r>
              <a:rPr lang="en-US" dirty="0"/>
              <a:t>5S Action- Provide direction on continuous improvement </a:t>
            </a:r>
          </a:p>
        </p:txBody>
      </p:sp>
    </p:spTree>
    <p:extLst>
      <p:ext uri="{BB962C8B-B14F-4D97-AF65-F5344CB8AC3E}">
        <p14:creationId xmlns:p14="http://schemas.microsoft.com/office/powerpoint/2010/main" val="2908728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5S Discussion</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17</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Discuss the impact of 5S in your work area.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small groups, discuss the issues you have</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seen in your work environment as a result of a </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lack of 5S</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Answer “what wastes were caused?”</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Discuss personal advantages to working in a 5S culture</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Table answers on a chart paper</a:t>
            </a:r>
          </a:p>
          <a:p>
            <a:pPr marL="0" marR="0" indent="0" algn="l"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1579920"/>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One person from each</a:t>
            </a:r>
            <a:b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group reports results of</a:t>
            </a:r>
            <a:b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discussion to rest</a:t>
            </a:r>
            <a:b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of class</a:t>
            </a:r>
          </a:p>
        </p:txBody>
      </p:sp>
      <p:grpSp>
        <p:nvGrpSpPr>
          <p:cNvPr id="3" name="Group 2">
            <a:extLst>
              <a:ext uri="{FF2B5EF4-FFF2-40B4-BE49-F238E27FC236}">
                <a16:creationId xmlns:a16="http://schemas.microsoft.com/office/drawing/2014/main" id="{4668AA49-5E06-15FB-9A28-3170A331285B}"/>
              </a:ext>
            </a:extLst>
          </p:cNvPr>
          <p:cNvGrpSpPr/>
          <p:nvPr/>
        </p:nvGrpSpPr>
        <p:grpSpPr>
          <a:xfrm>
            <a:off x="940249" y="289611"/>
            <a:ext cx="1060167" cy="324859"/>
            <a:chOff x="940249" y="315206"/>
            <a:chExt cx="1060167" cy="265062"/>
          </a:xfrm>
        </p:grpSpPr>
        <p:sp>
          <p:nvSpPr>
            <p:cNvPr id="4" name="AutoShape 9">
              <a:extLst>
                <a:ext uri="{FF2B5EF4-FFF2-40B4-BE49-F238E27FC236}">
                  <a16:creationId xmlns:a16="http://schemas.microsoft.com/office/drawing/2014/main" id="{8EA98C4F-69C5-9E9D-B53B-25926DB87809}"/>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DF53C942-A832-95F7-E376-017AC6D9D3B6}"/>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1">
              <a:extLst>
                <a:ext uri="{FF2B5EF4-FFF2-40B4-BE49-F238E27FC236}">
                  <a16:creationId xmlns:a16="http://schemas.microsoft.com/office/drawing/2014/main" id="{B3B27A0F-49EF-A51F-7A88-6C392FA1B494}"/>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8" name="TextBox 7">
            <a:extLst>
              <a:ext uri="{FF2B5EF4-FFF2-40B4-BE49-F238E27FC236}">
                <a16:creationId xmlns:a16="http://schemas.microsoft.com/office/drawing/2014/main" id="{BE19475E-795F-5D94-77E2-9BB9D72BA712}"/>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Definition</a:t>
            </a:r>
          </a:p>
        </p:txBody>
      </p:sp>
    </p:spTree>
    <p:extLst>
      <p:ext uri="{BB962C8B-B14F-4D97-AF65-F5344CB8AC3E}">
        <p14:creationId xmlns:p14="http://schemas.microsoft.com/office/powerpoint/2010/main" val="12837543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5S Implementation Roadmap</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18</a:t>
            </a:fld>
            <a:endParaRPr lang="en-US"/>
          </a:p>
        </p:txBody>
      </p:sp>
      <p:grpSp>
        <p:nvGrpSpPr>
          <p:cNvPr id="3" name="Group 2">
            <a:extLst>
              <a:ext uri="{FF2B5EF4-FFF2-40B4-BE49-F238E27FC236}">
                <a16:creationId xmlns:a16="http://schemas.microsoft.com/office/drawing/2014/main" id="{AB108694-B8DC-1A19-1838-759308D2CB20}"/>
              </a:ext>
            </a:extLst>
          </p:cNvPr>
          <p:cNvGrpSpPr/>
          <p:nvPr/>
        </p:nvGrpSpPr>
        <p:grpSpPr>
          <a:xfrm>
            <a:off x="940249" y="289611"/>
            <a:ext cx="1060167" cy="324859"/>
            <a:chOff x="940249" y="315206"/>
            <a:chExt cx="1060167" cy="265062"/>
          </a:xfrm>
        </p:grpSpPr>
        <p:sp>
          <p:nvSpPr>
            <p:cNvPr id="5" name="AutoShape 9">
              <a:extLst>
                <a:ext uri="{FF2B5EF4-FFF2-40B4-BE49-F238E27FC236}">
                  <a16:creationId xmlns:a16="http://schemas.microsoft.com/office/drawing/2014/main" id="{E7C95580-E0C5-BE3B-CCF1-5A0731D7B842}"/>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59695A5C-6D56-591B-4283-3DAC0D825F6B}"/>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1">
              <a:extLst>
                <a:ext uri="{FF2B5EF4-FFF2-40B4-BE49-F238E27FC236}">
                  <a16:creationId xmlns:a16="http://schemas.microsoft.com/office/drawing/2014/main" id="{15FC791E-EDDB-DD01-F1D5-83B87060D621}"/>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8" name="TextBox 7">
            <a:extLst>
              <a:ext uri="{FF2B5EF4-FFF2-40B4-BE49-F238E27FC236}">
                <a16:creationId xmlns:a16="http://schemas.microsoft.com/office/drawing/2014/main" id="{CD7841E5-B03B-BCAE-F898-4CFC71443139}"/>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Definition</a:t>
            </a:r>
          </a:p>
        </p:txBody>
      </p:sp>
      <p:grpSp>
        <p:nvGrpSpPr>
          <p:cNvPr id="9" name="Group 2">
            <a:extLst>
              <a:ext uri="{FF2B5EF4-FFF2-40B4-BE49-F238E27FC236}">
                <a16:creationId xmlns:a16="http://schemas.microsoft.com/office/drawing/2014/main" id="{F0F8A64D-C2D4-48A2-53D5-ABC60007F9B4}"/>
              </a:ext>
            </a:extLst>
          </p:cNvPr>
          <p:cNvGrpSpPr>
            <a:grpSpLocks/>
          </p:cNvGrpSpPr>
          <p:nvPr/>
        </p:nvGrpSpPr>
        <p:grpSpPr bwMode="auto">
          <a:xfrm>
            <a:off x="3313466" y="1755286"/>
            <a:ext cx="5321300" cy="1963738"/>
            <a:chOff x="1389" y="1239"/>
            <a:chExt cx="2276" cy="1533"/>
          </a:xfrm>
          <a:solidFill>
            <a:schemeClr val="bg2"/>
          </a:solidFill>
        </p:grpSpPr>
        <p:sp>
          <p:nvSpPr>
            <p:cNvPr id="10" name="Rectangle 3">
              <a:extLst>
                <a:ext uri="{FF2B5EF4-FFF2-40B4-BE49-F238E27FC236}">
                  <a16:creationId xmlns:a16="http://schemas.microsoft.com/office/drawing/2014/main" id="{BFF6B01D-81FD-E36B-526D-EB42286AFECE}"/>
                </a:ext>
              </a:extLst>
            </p:cNvPr>
            <p:cNvSpPr>
              <a:spLocks noChangeArrowheads="1"/>
            </p:cNvSpPr>
            <p:nvPr/>
          </p:nvSpPr>
          <p:spPr bwMode="auto">
            <a:xfrm>
              <a:off x="1389" y="1239"/>
              <a:ext cx="2276" cy="1533"/>
            </a:xfrm>
            <a:prstGeom prst="rect">
              <a:avLst/>
            </a:prstGeom>
            <a:grpFill/>
            <a:ln w="12700" cap="sq">
              <a:solidFill>
                <a:srgbClr val="0033CC"/>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11" name="Text Box 4">
              <a:extLst>
                <a:ext uri="{FF2B5EF4-FFF2-40B4-BE49-F238E27FC236}">
                  <a16:creationId xmlns:a16="http://schemas.microsoft.com/office/drawing/2014/main" id="{2C093CE2-4B2B-5575-A76C-E27A857C67B3}"/>
                </a:ext>
              </a:extLst>
            </p:cNvPr>
            <p:cNvSpPr txBox="1">
              <a:spLocks noChangeArrowheads="1"/>
            </p:cNvSpPr>
            <p:nvPr/>
          </p:nvSpPr>
          <p:spPr bwMode="auto">
            <a:xfrm>
              <a:off x="1408" y="1291"/>
              <a:ext cx="2244" cy="263"/>
            </a:xfrm>
            <a:prstGeom prst="rect">
              <a:avLst/>
            </a:prstGeom>
            <a:grp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30000"/>
                </a:spcBef>
                <a:spcAft>
                  <a:spcPct val="0"/>
                </a:spcAft>
                <a:buClrTx/>
                <a:buSzTx/>
                <a:buFontTx/>
                <a:buNone/>
              </a:pPr>
              <a:r>
                <a:rPr lang="en-US" altLang="en-US" sz="1600" i="1" dirty="0">
                  <a:latin typeface="Roboto" panose="02000000000000000000" pitchFamily="2" charset="0"/>
                  <a:ea typeface="Roboto" panose="02000000000000000000" pitchFamily="2" charset="0"/>
                </a:rPr>
                <a:t>5S Event</a:t>
              </a:r>
            </a:p>
          </p:txBody>
        </p:sp>
      </p:grpSp>
      <p:cxnSp>
        <p:nvCxnSpPr>
          <p:cNvPr id="12" name="AutoShape 6">
            <a:extLst>
              <a:ext uri="{FF2B5EF4-FFF2-40B4-BE49-F238E27FC236}">
                <a16:creationId xmlns:a16="http://schemas.microsoft.com/office/drawing/2014/main" id="{0B479746-6537-83B8-569A-9B3ED9EF7791}"/>
              </a:ext>
            </a:extLst>
          </p:cNvPr>
          <p:cNvCxnSpPr>
            <a:cxnSpLocks noChangeShapeType="1"/>
          </p:cNvCxnSpPr>
          <p:nvPr/>
        </p:nvCxnSpPr>
        <p:spPr bwMode="auto">
          <a:xfrm>
            <a:off x="4978753" y="3017349"/>
            <a:ext cx="246063"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3" name="AutoShape 7">
            <a:extLst>
              <a:ext uri="{FF2B5EF4-FFF2-40B4-BE49-F238E27FC236}">
                <a16:creationId xmlns:a16="http://schemas.microsoft.com/office/drawing/2014/main" id="{3A936EF3-10C6-FE01-ED23-FC8B665690CD}"/>
              </a:ext>
            </a:extLst>
          </p:cNvPr>
          <p:cNvCxnSpPr>
            <a:cxnSpLocks noChangeShapeType="1"/>
            <a:stCxn id="22" idx="3"/>
            <a:endCxn id="25" idx="1"/>
          </p:cNvCxnSpPr>
          <p:nvPr/>
        </p:nvCxnSpPr>
        <p:spPr bwMode="auto">
          <a:xfrm>
            <a:off x="6728178" y="2993536"/>
            <a:ext cx="250825"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4" name="AutoShape 8">
            <a:extLst>
              <a:ext uri="{FF2B5EF4-FFF2-40B4-BE49-F238E27FC236}">
                <a16:creationId xmlns:a16="http://schemas.microsoft.com/office/drawing/2014/main" id="{692BE232-CA44-47AD-D944-DB478397C1AC}"/>
              </a:ext>
            </a:extLst>
          </p:cNvPr>
          <p:cNvCxnSpPr>
            <a:cxnSpLocks noChangeShapeType="1"/>
            <a:stCxn id="25" idx="3"/>
            <a:endCxn id="34" idx="1"/>
          </p:cNvCxnSpPr>
          <p:nvPr/>
        </p:nvCxnSpPr>
        <p:spPr bwMode="auto">
          <a:xfrm flipV="1">
            <a:off x="8499828" y="2991949"/>
            <a:ext cx="269875" cy="1587"/>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5" name="Rectangle 9">
            <a:extLst>
              <a:ext uri="{FF2B5EF4-FFF2-40B4-BE49-F238E27FC236}">
                <a16:creationId xmlns:a16="http://schemas.microsoft.com/office/drawing/2014/main" id="{C7FA84F2-6F84-8160-2AEF-9C7232E9F3FD}"/>
              </a:ext>
            </a:extLst>
          </p:cNvPr>
          <p:cNvSpPr>
            <a:spLocks noChangeArrowheads="1"/>
          </p:cNvSpPr>
          <p:nvPr/>
        </p:nvSpPr>
        <p:spPr bwMode="auto">
          <a:xfrm>
            <a:off x="1373067" y="3798399"/>
            <a:ext cx="2002312" cy="204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Review data retention requirements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Identify policies for handling confidential or sensitive information</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Complete event charter &amp; preparation</a:t>
            </a:r>
          </a:p>
        </p:txBody>
      </p:sp>
      <p:sp>
        <p:nvSpPr>
          <p:cNvPr id="16" name="Rectangle 10">
            <a:extLst>
              <a:ext uri="{FF2B5EF4-FFF2-40B4-BE49-F238E27FC236}">
                <a16:creationId xmlns:a16="http://schemas.microsoft.com/office/drawing/2014/main" id="{02A6F1F3-0762-61C5-FEE7-8A9372C9E8BF}"/>
              </a:ext>
            </a:extLst>
          </p:cNvPr>
          <p:cNvSpPr>
            <a:spLocks noChangeArrowheads="1"/>
          </p:cNvSpPr>
          <p:nvPr/>
        </p:nvSpPr>
        <p:spPr bwMode="auto">
          <a:xfrm>
            <a:off x="3286478" y="3798399"/>
            <a:ext cx="1828800" cy="185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Review pre-work and event charter with team</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Photograph areas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Measure virtual and physical space </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Identify waste</a:t>
            </a:r>
          </a:p>
        </p:txBody>
      </p:sp>
      <p:sp>
        <p:nvSpPr>
          <p:cNvPr id="17" name="Rectangle 11">
            <a:extLst>
              <a:ext uri="{FF2B5EF4-FFF2-40B4-BE49-F238E27FC236}">
                <a16:creationId xmlns:a16="http://schemas.microsoft.com/office/drawing/2014/main" id="{765EC4C9-9B43-A19C-5AF1-18A2C2D737C6}"/>
              </a:ext>
            </a:extLst>
          </p:cNvPr>
          <p:cNvSpPr>
            <a:spLocks noChangeArrowheads="1"/>
          </p:cNvSpPr>
          <p:nvPr/>
        </p:nvSpPr>
        <p:spPr bwMode="auto">
          <a:xfrm>
            <a:off x="5094641" y="3787286"/>
            <a:ext cx="16764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Implement 1S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Implement 2S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Implement 3S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Develop tools</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to standardize and maintain results</a:t>
            </a:r>
          </a:p>
        </p:txBody>
      </p:sp>
      <p:sp>
        <p:nvSpPr>
          <p:cNvPr id="18" name="Rectangle 12">
            <a:extLst>
              <a:ext uri="{FF2B5EF4-FFF2-40B4-BE49-F238E27FC236}">
                <a16:creationId xmlns:a16="http://schemas.microsoft.com/office/drawing/2014/main" id="{C7416CD2-21DE-53A9-8C7C-1CA93EF6B0D4}"/>
              </a:ext>
            </a:extLst>
          </p:cNvPr>
          <p:cNvSpPr>
            <a:spLocks noChangeArrowheads="1"/>
          </p:cNvSpPr>
          <p:nvPr/>
        </p:nvSpPr>
        <p:spPr bwMode="auto">
          <a:xfrm>
            <a:off x="6794853" y="3772999"/>
            <a:ext cx="1828800"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Photograph areas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Measure virtual</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&amp; physical space</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Quantify waste reduction</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Implement 4S tools</a:t>
            </a:r>
          </a:p>
        </p:txBody>
      </p:sp>
      <p:cxnSp>
        <p:nvCxnSpPr>
          <p:cNvPr id="19" name="AutoShape 13">
            <a:extLst>
              <a:ext uri="{FF2B5EF4-FFF2-40B4-BE49-F238E27FC236}">
                <a16:creationId xmlns:a16="http://schemas.microsoft.com/office/drawing/2014/main" id="{CF65FD51-3C23-AAFB-4DC9-9A9F26D7DCD2}"/>
              </a:ext>
            </a:extLst>
          </p:cNvPr>
          <p:cNvCxnSpPr>
            <a:cxnSpLocks noChangeShapeType="1"/>
          </p:cNvCxnSpPr>
          <p:nvPr/>
        </p:nvCxnSpPr>
        <p:spPr bwMode="auto">
          <a:xfrm>
            <a:off x="3192816" y="2991949"/>
            <a:ext cx="246062"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0" name="Rectangle 14">
            <a:extLst>
              <a:ext uri="{FF2B5EF4-FFF2-40B4-BE49-F238E27FC236}">
                <a16:creationId xmlns:a16="http://schemas.microsoft.com/office/drawing/2014/main" id="{17252DA2-2425-81C1-3A62-E0B91F89C5C0}"/>
              </a:ext>
            </a:extLst>
          </p:cNvPr>
          <p:cNvSpPr>
            <a:spLocks noChangeArrowheads="1"/>
          </p:cNvSpPr>
          <p:nvPr/>
        </p:nvSpPr>
        <p:spPr bwMode="auto">
          <a:xfrm>
            <a:off x="8595078" y="3771411"/>
            <a:ext cx="1828800"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Sustain results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Develop habits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Improve processes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Implement for entire business</a:t>
            </a:r>
          </a:p>
        </p:txBody>
      </p:sp>
      <p:grpSp>
        <p:nvGrpSpPr>
          <p:cNvPr id="21" name="Group 20">
            <a:extLst>
              <a:ext uri="{FF2B5EF4-FFF2-40B4-BE49-F238E27FC236}">
                <a16:creationId xmlns:a16="http://schemas.microsoft.com/office/drawing/2014/main" id="{6DA4F756-E1D6-6EFD-3819-D6FC4D5B6006}"/>
              </a:ext>
            </a:extLst>
          </p:cNvPr>
          <p:cNvGrpSpPr>
            <a:grpSpLocks/>
          </p:cNvGrpSpPr>
          <p:nvPr/>
        </p:nvGrpSpPr>
        <p:grpSpPr bwMode="auto">
          <a:xfrm>
            <a:off x="5207353" y="2191849"/>
            <a:ext cx="1522413" cy="1341437"/>
            <a:chOff x="2597" y="1761"/>
            <a:chExt cx="959" cy="845"/>
          </a:xfrm>
        </p:grpSpPr>
        <p:sp>
          <p:nvSpPr>
            <p:cNvPr id="22" name="Rectangle 21">
              <a:extLst>
                <a:ext uri="{FF2B5EF4-FFF2-40B4-BE49-F238E27FC236}">
                  <a16:creationId xmlns:a16="http://schemas.microsoft.com/office/drawing/2014/main" id="{AA6FE4AE-1D89-A3E3-1111-B88CBECFE740}"/>
                </a:ext>
              </a:extLst>
            </p:cNvPr>
            <p:cNvSpPr>
              <a:spLocks noChangeArrowheads="1"/>
            </p:cNvSpPr>
            <p:nvPr/>
          </p:nvSpPr>
          <p:spPr bwMode="auto">
            <a:xfrm>
              <a:off x="2597" y="1926"/>
              <a:ext cx="958" cy="68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Execute</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5S Process</a:t>
              </a:r>
            </a:p>
          </p:txBody>
        </p:sp>
        <p:sp>
          <p:nvSpPr>
            <p:cNvPr id="23" name="Rectangle 22">
              <a:extLst>
                <a:ext uri="{FF2B5EF4-FFF2-40B4-BE49-F238E27FC236}">
                  <a16:creationId xmlns:a16="http://schemas.microsoft.com/office/drawing/2014/main" id="{3AC9E3A4-7147-F27D-CEAE-06988D27A9B8}"/>
                </a:ext>
              </a:extLst>
            </p:cNvPr>
            <p:cNvSpPr>
              <a:spLocks noChangeArrowheads="1"/>
            </p:cNvSpPr>
            <p:nvPr/>
          </p:nvSpPr>
          <p:spPr bwMode="auto">
            <a:xfrm>
              <a:off x="2597" y="1761"/>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3</a:t>
              </a:r>
            </a:p>
          </p:txBody>
        </p:sp>
      </p:grpSp>
      <p:grpSp>
        <p:nvGrpSpPr>
          <p:cNvPr id="24" name="Group 23">
            <a:extLst>
              <a:ext uri="{FF2B5EF4-FFF2-40B4-BE49-F238E27FC236}">
                <a16:creationId xmlns:a16="http://schemas.microsoft.com/office/drawing/2014/main" id="{0AC8105A-CE55-686A-8E20-D552A9BEC9D3}"/>
              </a:ext>
            </a:extLst>
          </p:cNvPr>
          <p:cNvGrpSpPr>
            <a:grpSpLocks/>
          </p:cNvGrpSpPr>
          <p:nvPr/>
        </p:nvGrpSpPr>
        <p:grpSpPr bwMode="auto">
          <a:xfrm>
            <a:off x="6979003" y="2191849"/>
            <a:ext cx="1522413" cy="1341437"/>
            <a:chOff x="3621" y="1754"/>
            <a:chExt cx="959" cy="845"/>
          </a:xfrm>
        </p:grpSpPr>
        <p:sp>
          <p:nvSpPr>
            <p:cNvPr id="25" name="Rectangle 24">
              <a:extLst>
                <a:ext uri="{FF2B5EF4-FFF2-40B4-BE49-F238E27FC236}">
                  <a16:creationId xmlns:a16="http://schemas.microsoft.com/office/drawing/2014/main" id="{4005908E-2A40-F8BF-1312-3AEF2F723860}"/>
                </a:ext>
              </a:extLst>
            </p:cNvPr>
            <p:cNvSpPr>
              <a:spLocks noChangeArrowheads="1"/>
            </p:cNvSpPr>
            <p:nvPr/>
          </p:nvSpPr>
          <p:spPr bwMode="auto">
            <a:xfrm>
              <a:off x="3621" y="1919"/>
              <a:ext cx="958" cy="680"/>
            </a:xfrm>
            <a:prstGeom prst="rect">
              <a:avLst/>
            </a:prstGeom>
            <a:solidFill>
              <a:srgbClr val="FFFFFF"/>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Document</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Results</a:t>
              </a:r>
            </a:p>
          </p:txBody>
        </p:sp>
        <p:sp>
          <p:nvSpPr>
            <p:cNvPr id="26" name="Rectangle 25">
              <a:extLst>
                <a:ext uri="{FF2B5EF4-FFF2-40B4-BE49-F238E27FC236}">
                  <a16:creationId xmlns:a16="http://schemas.microsoft.com/office/drawing/2014/main" id="{57FC835D-1063-4D15-0440-B3269CE8D9FE}"/>
                </a:ext>
              </a:extLst>
            </p:cNvPr>
            <p:cNvSpPr>
              <a:spLocks noChangeArrowheads="1"/>
            </p:cNvSpPr>
            <p:nvPr/>
          </p:nvSpPr>
          <p:spPr bwMode="auto">
            <a:xfrm>
              <a:off x="3621" y="1754"/>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4</a:t>
              </a:r>
            </a:p>
          </p:txBody>
        </p:sp>
      </p:grpSp>
      <p:grpSp>
        <p:nvGrpSpPr>
          <p:cNvPr id="27" name="Group 26">
            <a:extLst>
              <a:ext uri="{FF2B5EF4-FFF2-40B4-BE49-F238E27FC236}">
                <a16:creationId xmlns:a16="http://schemas.microsoft.com/office/drawing/2014/main" id="{22F238CE-C307-2583-D25A-79A0DB74A925}"/>
              </a:ext>
            </a:extLst>
          </p:cNvPr>
          <p:cNvGrpSpPr>
            <a:grpSpLocks/>
          </p:cNvGrpSpPr>
          <p:nvPr/>
        </p:nvGrpSpPr>
        <p:grpSpPr bwMode="auto">
          <a:xfrm>
            <a:off x="3437291" y="2191849"/>
            <a:ext cx="1522412" cy="1341437"/>
            <a:chOff x="1454" y="1761"/>
            <a:chExt cx="959" cy="845"/>
          </a:xfrm>
        </p:grpSpPr>
        <p:sp>
          <p:nvSpPr>
            <p:cNvPr id="28" name="Rectangle 27">
              <a:extLst>
                <a:ext uri="{FF2B5EF4-FFF2-40B4-BE49-F238E27FC236}">
                  <a16:creationId xmlns:a16="http://schemas.microsoft.com/office/drawing/2014/main" id="{E750B518-F84D-F56C-C0F8-39EB0E04E51C}"/>
                </a:ext>
              </a:extLst>
            </p:cNvPr>
            <p:cNvSpPr>
              <a:spLocks noChangeArrowheads="1"/>
            </p:cNvSpPr>
            <p:nvPr/>
          </p:nvSpPr>
          <p:spPr bwMode="auto">
            <a:xfrm>
              <a:off x="1454" y="1926"/>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Capture </a:t>
              </a:r>
              <a:r>
                <a:rPr lang="ja-JP" altLang="en-US" sz="1400">
                  <a:latin typeface="Roboto" panose="02000000000000000000" pitchFamily="2" charset="0"/>
                </a:rPr>
                <a:t>“</a:t>
              </a:r>
              <a:r>
                <a:rPr lang="en-US" altLang="ja-JP" sz="1400">
                  <a:latin typeface="Roboto" panose="02000000000000000000" pitchFamily="2" charset="0"/>
                  <a:ea typeface="Roboto" panose="02000000000000000000" pitchFamily="2" charset="0"/>
                </a:rPr>
                <a:t>Before Event</a:t>
              </a:r>
              <a:r>
                <a:rPr lang="ja-JP" altLang="en-US" sz="1400">
                  <a:latin typeface="Roboto" panose="02000000000000000000" pitchFamily="2" charset="0"/>
                </a:rPr>
                <a:t>”</a:t>
              </a:r>
              <a:r>
                <a:rPr lang="en-US" altLang="ja-JP" sz="1400">
                  <a:latin typeface="Roboto" panose="02000000000000000000" pitchFamily="2" charset="0"/>
                  <a:ea typeface="Roboto" panose="02000000000000000000" pitchFamily="2" charset="0"/>
                </a:rPr>
                <a:t> Data</a:t>
              </a:r>
              <a:endParaRPr lang="en-US" altLang="en-US" sz="1400">
                <a:latin typeface="Roboto" panose="02000000000000000000" pitchFamily="2" charset="0"/>
                <a:ea typeface="Roboto" panose="02000000000000000000" pitchFamily="2" charset="0"/>
              </a:endParaRPr>
            </a:p>
          </p:txBody>
        </p:sp>
        <p:sp>
          <p:nvSpPr>
            <p:cNvPr id="29" name="Rectangle 28">
              <a:extLst>
                <a:ext uri="{FF2B5EF4-FFF2-40B4-BE49-F238E27FC236}">
                  <a16:creationId xmlns:a16="http://schemas.microsoft.com/office/drawing/2014/main" id="{9DC409C3-55AA-4E04-3BF0-E22CFE5AE44E}"/>
                </a:ext>
              </a:extLst>
            </p:cNvPr>
            <p:cNvSpPr>
              <a:spLocks noChangeArrowheads="1"/>
            </p:cNvSpPr>
            <p:nvPr/>
          </p:nvSpPr>
          <p:spPr bwMode="auto">
            <a:xfrm>
              <a:off x="1454" y="1761"/>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2</a:t>
              </a:r>
            </a:p>
          </p:txBody>
        </p:sp>
      </p:grpSp>
      <p:grpSp>
        <p:nvGrpSpPr>
          <p:cNvPr id="30" name="Group 29">
            <a:extLst>
              <a:ext uri="{FF2B5EF4-FFF2-40B4-BE49-F238E27FC236}">
                <a16:creationId xmlns:a16="http://schemas.microsoft.com/office/drawing/2014/main" id="{8C464437-8B6D-C7AF-4AB3-A7907912E303}"/>
              </a:ext>
            </a:extLst>
          </p:cNvPr>
          <p:cNvGrpSpPr>
            <a:grpSpLocks/>
          </p:cNvGrpSpPr>
          <p:nvPr/>
        </p:nvGrpSpPr>
        <p:grpSpPr bwMode="auto">
          <a:xfrm>
            <a:off x="1649766" y="2198199"/>
            <a:ext cx="1522412" cy="1341437"/>
            <a:chOff x="323" y="1764"/>
            <a:chExt cx="959" cy="845"/>
          </a:xfrm>
        </p:grpSpPr>
        <p:sp>
          <p:nvSpPr>
            <p:cNvPr id="31" name="Rectangle 30">
              <a:extLst>
                <a:ext uri="{FF2B5EF4-FFF2-40B4-BE49-F238E27FC236}">
                  <a16:creationId xmlns:a16="http://schemas.microsoft.com/office/drawing/2014/main" id="{37066353-DBCC-1B34-7665-0AE6A3B380F1}"/>
                </a:ext>
              </a:extLst>
            </p:cNvPr>
            <p:cNvSpPr>
              <a:spLocks noChangeArrowheads="1"/>
            </p:cNvSpPr>
            <p:nvPr/>
          </p:nvSpPr>
          <p:spPr bwMode="auto">
            <a:xfrm>
              <a:off x="323" y="1929"/>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Complete</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5S Event</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Pre-Work</a:t>
              </a:r>
            </a:p>
          </p:txBody>
        </p:sp>
        <p:sp>
          <p:nvSpPr>
            <p:cNvPr id="32" name="Rectangle 31">
              <a:extLst>
                <a:ext uri="{FF2B5EF4-FFF2-40B4-BE49-F238E27FC236}">
                  <a16:creationId xmlns:a16="http://schemas.microsoft.com/office/drawing/2014/main" id="{304E17C9-A0E9-8C6E-8997-ECB0E6A77EEB}"/>
                </a:ext>
              </a:extLst>
            </p:cNvPr>
            <p:cNvSpPr>
              <a:spLocks noChangeArrowheads="1"/>
            </p:cNvSpPr>
            <p:nvPr/>
          </p:nvSpPr>
          <p:spPr bwMode="auto">
            <a:xfrm>
              <a:off x="323" y="1764"/>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rPr>
                <a:t>PROCESS STEP 1</a:t>
              </a:r>
            </a:p>
          </p:txBody>
        </p:sp>
      </p:grpSp>
      <p:grpSp>
        <p:nvGrpSpPr>
          <p:cNvPr id="33" name="Group 32">
            <a:extLst>
              <a:ext uri="{FF2B5EF4-FFF2-40B4-BE49-F238E27FC236}">
                <a16:creationId xmlns:a16="http://schemas.microsoft.com/office/drawing/2014/main" id="{41C55844-5052-ADFD-9C0F-8D603CE3AD24}"/>
              </a:ext>
            </a:extLst>
          </p:cNvPr>
          <p:cNvGrpSpPr>
            <a:grpSpLocks/>
          </p:cNvGrpSpPr>
          <p:nvPr/>
        </p:nvGrpSpPr>
        <p:grpSpPr bwMode="auto">
          <a:xfrm>
            <a:off x="8769703" y="2190261"/>
            <a:ext cx="1522413" cy="1341438"/>
            <a:chOff x="4667" y="1753"/>
            <a:chExt cx="959" cy="845"/>
          </a:xfrm>
        </p:grpSpPr>
        <p:sp>
          <p:nvSpPr>
            <p:cNvPr id="34" name="Rectangle 33">
              <a:extLst>
                <a:ext uri="{FF2B5EF4-FFF2-40B4-BE49-F238E27FC236}">
                  <a16:creationId xmlns:a16="http://schemas.microsoft.com/office/drawing/2014/main" id="{6D1CB011-456A-D245-7B8B-806840F2E706}"/>
                </a:ext>
              </a:extLst>
            </p:cNvPr>
            <p:cNvSpPr>
              <a:spLocks noChangeArrowheads="1"/>
            </p:cNvSpPr>
            <p:nvPr/>
          </p:nvSpPr>
          <p:spPr bwMode="auto">
            <a:xfrm>
              <a:off x="4667" y="1918"/>
              <a:ext cx="958" cy="68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Achieve</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5S Culture</a:t>
              </a:r>
            </a:p>
          </p:txBody>
        </p:sp>
        <p:sp>
          <p:nvSpPr>
            <p:cNvPr id="35" name="Rectangle 34">
              <a:extLst>
                <a:ext uri="{FF2B5EF4-FFF2-40B4-BE49-F238E27FC236}">
                  <a16:creationId xmlns:a16="http://schemas.microsoft.com/office/drawing/2014/main" id="{0A24220A-85CE-C68F-B4B0-B35E1F25579D}"/>
                </a:ext>
              </a:extLst>
            </p:cNvPr>
            <p:cNvSpPr>
              <a:spLocks noChangeArrowheads="1"/>
            </p:cNvSpPr>
            <p:nvPr/>
          </p:nvSpPr>
          <p:spPr bwMode="auto">
            <a:xfrm>
              <a:off x="4667" y="1753"/>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5</a:t>
              </a:r>
            </a:p>
          </p:txBody>
        </p:sp>
      </p:grpSp>
      <p:sp>
        <p:nvSpPr>
          <p:cNvPr id="36" name="AutoShape 35">
            <a:extLst>
              <a:ext uri="{FF2B5EF4-FFF2-40B4-BE49-F238E27FC236}">
                <a16:creationId xmlns:a16="http://schemas.microsoft.com/office/drawing/2014/main" id="{9C9C0D39-6400-2B35-F1A3-ACCB890AD419}"/>
              </a:ext>
            </a:extLst>
          </p:cNvPr>
          <p:cNvSpPr>
            <a:spLocks noChangeArrowheads="1"/>
          </p:cNvSpPr>
          <p:nvPr/>
        </p:nvSpPr>
        <p:spPr bwMode="auto">
          <a:xfrm>
            <a:off x="2724617" y="5781185"/>
            <a:ext cx="6742766" cy="520700"/>
          </a:xfrm>
          <a:prstGeom prst="homePlate">
            <a:avLst>
              <a:gd name="adj" fmla="val 32169"/>
            </a:avLst>
          </a:prstGeom>
          <a:solidFill>
            <a:schemeClr val="tx2"/>
          </a:solidFill>
          <a:ln>
            <a:noFill/>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5S has been quoted as the most important of all lean tools</a:t>
            </a:r>
          </a:p>
        </p:txBody>
      </p:sp>
    </p:spTree>
    <p:extLst>
      <p:ext uri="{BB962C8B-B14F-4D97-AF65-F5344CB8AC3E}">
        <p14:creationId xmlns:p14="http://schemas.microsoft.com/office/powerpoint/2010/main" val="40858763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5S Charter Review</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19</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Review the 5S Charter for the event against charter criteria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each team, review the event charter and answer the following questions: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is the business need for this event?</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Who is the owner?</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are the clear procedural boundaries? </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is the scope for this event?  (Computer files included?  Entire office?  Adjacent areas?)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are the goals for this event?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30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829984"/>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Make any modifications to charter as necessary. </a:t>
            </a:r>
          </a:p>
        </p:txBody>
      </p:sp>
      <p:grpSp>
        <p:nvGrpSpPr>
          <p:cNvPr id="3" name="Group 2">
            <a:extLst>
              <a:ext uri="{FF2B5EF4-FFF2-40B4-BE49-F238E27FC236}">
                <a16:creationId xmlns:a16="http://schemas.microsoft.com/office/drawing/2014/main" id="{4668AA49-5E06-15FB-9A28-3170A331285B}"/>
              </a:ext>
            </a:extLst>
          </p:cNvPr>
          <p:cNvGrpSpPr/>
          <p:nvPr/>
        </p:nvGrpSpPr>
        <p:grpSpPr>
          <a:xfrm>
            <a:off x="940249" y="289611"/>
            <a:ext cx="1060167" cy="324859"/>
            <a:chOff x="940249" y="315206"/>
            <a:chExt cx="1060167" cy="265062"/>
          </a:xfrm>
        </p:grpSpPr>
        <p:sp>
          <p:nvSpPr>
            <p:cNvPr id="4" name="AutoShape 9">
              <a:extLst>
                <a:ext uri="{FF2B5EF4-FFF2-40B4-BE49-F238E27FC236}">
                  <a16:creationId xmlns:a16="http://schemas.microsoft.com/office/drawing/2014/main" id="{8EA98C4F-69C5-9E9D-B53B-25926DB87809}"/>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DF53C942-A832-95F7-E376-017AC6D9D3B6}"/>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1">
              <a:extLst>
                <a:ext uri="{FF2B5EF4-FFF2-40B4-BE49-F238E27FC236}">
                  <a16:creationId xmlns:a16="http://schemas.microsoft.com/office/drawing/2014/main" id="{B3B27A0F-49EF-A51F-7A88-6C392FA1B494}"/>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8" name="TextBox 7">
            <a:extLst>
              <a:ext uri="{FF2B5EF4-FFF2-40B4-BE49-F238E27FC236}">
                <a16:creationId xmlns:a16="http://schemas.microsoft.com/office/drawing/2014/main" id="{BE19475E-795F-5D94-77E2-9BB9D72BA712}"/>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Definition</a:t>
            </a:r>
          </a:p>
        </p:txBody>
      </p:sp>
    </p:spTree>
    <p:extLst>
      <p:ext uri="{BB962C8B-B14F-4D97-AF65-F5344CB8AC3E}">
        <p14:creationId xmlns:p14="http://schemas.microsoft.com/office/powerpoint/2010/main" val="29636008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5S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Identify 5S opportunities in the office</a:t>
            </a:r>
          </a:p>
          <a:p>
            <a:r>
              <a:rPr lang="en-US" sz="2400" dirty="0"/>
              <a:t>Review components of each 5S step</a:t>
            </a:r>
          </a:p>
          <a:p>
            <a:r>
              <a:rPr lang="en-US" sz="2400" dirty="0"/>
              <a:t>Apply each step to your business</a:t>
            </a:r>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1157C199-7442-CD49-CE0F-E180C6F3CECC}"/>
              </a:ext>
            </a:extLst>
          </p:cNvPr>
          <p:cNvGrpSpPr/>
          <p:nvPr/>
        </p:nvGrpSpPr>
        <p:grpSpPr>
          <a:xfrm>
            <a:off x="699911" y="837133"/>
            <a:ext cx="4425950" cy="659879"/>
            <a:chOff x="5627530" y="641179"/>
            <a:chExt cx="6564470"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5S Review</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342768" cy="804976"/>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5S Process</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5S Definition</a:t>
              </a:r>
            </a:p>
          </p:txBody>
        </p:sp>
      </p:grpSp>
    </p:spTree>
    <p:extLst>
      <p:ext uri="{BB962C8B-B14F-4D97-AF65-F5344CB8AC3E}">
        <p14:creationId xmlns:p14="http://schemas.microsoft.com/office/powerpoint/2010/main" val="20354795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5S Opportunities in the Office</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5S for the Office CHECKLIST</a:t>
            </a:r>
          </a:p>
        </p:txBody>
      </p:sp>
      <p:sp>
        <p:nvSpPr>
          <p:cNvPr id="4" name="Content Placeholder 3">
            <a:extLst>
              <a:ext uri="{FF2B5EF4-FFF2-40B4-BE49-F238E27FC236}">
                <a16:creationId xmlns:a16="http://schemas.microsoft.com/office/drawing/2014/main" id="{2E3BC3A4-C860-76B2-2DD3-B03AB882C853}"/>
              </a:ext>
            </a:extLst>
          </p:cNvPr>
          <p:cNvSpPr>
            <a:spLocks noGrp="1"/>
          </p:cNvSpPr>
          <p:nvPr>
            <p:ph sz="half" idx="2"/>
          </p:nvPr>
        </p:nvSpPr>
        <p:spPr/>
        <p:txBody>
          <a:bodyPr>
            <a:noAutofit/>
          </a:bodyPr>
          <a:lstStyle/>
          <a:p>
            <a:pPr algn="l">
              <a:lnSpc>
                <a:spcPct val="100000"/>
              </a:lnSpc>
              <a:spcBef>
                <a:spcPct val="0"/>
              </a:spcBef>
              <a:spcAft>
                <a:spcPct val="0"/>
              </a:spcAft>
              <a:buFont typeface="Wingdings" charset="0"/>
              <a:buChar char="o"/>
              <a:defRPr/>
            </a:pPr>
            <a:r>
              <a:rPr lang="en-US" sz="1600" dirty="0"/>
              <a:t>Books</a:t>
            </a:r>
          </a:p>
          <a:p>
            <a:pPr algn="l">
              <a:lnSpc>
                <a:spcPct val="100000"/>
              </a:lnSpc>
              <a:spcBef>
                <a:spcPct val="0"/>
              </a:spcBef>
              <a:spcAft>
                <a:spcPct val="0"/>
              </a:spcAft>
              <a:buFont typeface="Wingdings" charset="0"/>
              <a:buChar char="o"/>
              <a:defRPr/>
            </a:pPr>
            <a:r>
              <a:rPr lang="en-US" sz="1600" dirty="0"/>
              <a:t>Bulletin Boards</a:t>
            </a:r>
          </a:p>
          <a:p>
            <a:pPr algn="l">
              <a:lnSpc>
                <a:spcPct val="100000"/>
              </a:lnSpc>
              <a:spcBef>
                <a:spcPct val="0"/>
              </a:spcBef>
              <a:spcAft>
                <a:spcPct val="0"/>
              </a:spcAft>
              <a:buFont typeface="Wingdings" charset="0"/>
              <a:buChar char="o"/>
              <a:defRPr/>
            </a:pPr>
            <a:r>
              <a:rPr lang="en-US" sz="1600" dirty="0"/>
              <a:t>Business Forms</a:t>
            </a:r>
          </a:p>
          <a:p>
            <a:pPr algn="l">
              <a:lnSpc>
                <a:spcPct val="100000"/>
              </a:lnSpc>
              <a:spcBef>
                <a:spcPct val="0"/>
              </a:spcBef>
              <a:spcAft>
                <a:spcPct val="0"/>
              </a:spcAft>
              <a:buFont typeface="Wingdings" charset="0"/>
              <a:buChar char="o"/>
              <a:defRPr/>
            </a:pPr>
            <a:r>
              <a:rPr lang="en-US" sz="1600" dirty="0"/>
              <a:t>Business Cards</a:t>
            </a:r>
          </a:p>
          <a:p>
            <a:pPr algn="l">
              <a:lnSpc>
                <a:spcPct val="100000"/>
              </a:lnSpc>
              <a:spcBef>
                <a:spcPct val="0"/>
              </a:spcBef>
              <a:spcAft>
                <a:spcPct val="0"/>
              </a:spcAft>
              <a:buFont typeface="Wingdings" charset="0"/>
              <a:buChar char="o"/>
              <a:defRPr/>
            </a:pPr>
            <a:r>
              <a:rPr lang="en-US" sz="1600" dirty="0"/>
              <a:t>Cabinets</a:t>
            </a:r>
          </a:p>
          <a:p>
            <a:pPr algn="l">
              <a:lnSpc>
                <a:spcPct val="100000"/>
              </a:lnSpc>
              <a:spcBef>
                <a:spcPct val="0"/>
              </a:spcBef>
              <a:spcAft>
                <a:spcPct val="0"/>
              </a:spcAft>
              <a:buFont typeface="Wingdings" charset="0"/>
              <a:buChar char="o"/>
              <a:defRPr/>
            </a:pPr>
            <a:r>
              <a:rPr lang="en-US" sz="1600" dirty="0"/>
              <a:t>Catalogs</a:t>
            </a:r>
          </a:p>
          <a:p>
            <a:pPr algn="l">
              <a:lnSpc>
                <a:spcPct val="100000"/>
              </a:lnSpc>
              <a:spcBef>
                <a:spcPct val="0"/>
              </a:spcBef>
              <a:spcAft>
                <a:spcPct val="0"/>
              </a:spcAft>
              <a:buFont typeface="Wingdings" charset="0"/>
              <a:buChar char="o"/>
              <a:defRPr/>
            </a:pPr>
            <a:r>
              <a:rPr lang="en-US" sz="1600" dirty="0"/>
              <a:t>Computer Equipment</a:t>
            </a:r>
          </a:p>
          <a:p>
            <a:pPr algn="l">
              <a:lnSpc>
                <a:spcPct val="100000"/>
              </a:lnSpc>
              <a:spcBef>
                <a:spcPct val="0"/>
              </a:spcBef>
              <a:spcAft>
                <a:spcPct val="0"/>
              </a:spcAft>
              <a:buFont typeface="Wingdings" charset="0"/>
              <a:buChar char="o"/>
              <a:defRPr/>
            </a:pPr>
            <a:r>
              <a:rPr lang="en-US" sz="1600" dirty="0"/>
              <a:t>Computer Files</a:t>
            </a:r>
          </a:p>
          <a:p>
            <a:pPr algn="l">
              <a:lnSpc>
                <a:spcPct val="100000"/>
              </a:lnSpc>
              <a:spcBef>
                <a:spcPct val="0"/>
              </a:spcBef>
              <a:spcAft>
                <a:spcPct val="0"/>
              </a:spcAft>
              <a:buFont typeface="Wingdings" charset="0"/>
              <a:buChar char="o"/>
              <a:defRPr/>
            </a:pPr>
            <a:r>
              <a:rPr lang="en-US" sz="1600" dirty="0"/>
              <a:t>Conference Rooms</a:t>
            </a:r>
          </a:p>
          <a:p>
            <a:pPr algn="l">
              <a:lnSpc>
                <a:spcPct val="100000"/>
              </a:lnSpc>
              <a:spcBef>
                <a:spcPct val="0"/>
              </a:spcBef>
              <a:spcAft>
                <a:spcPct val="0"/>
              </a:spcAft>
              <a:buFont typeface="Wingdings" charset="0"/>
              <a:buChar char="o"/>
              <a:defRPr/>
            </a:pPr>
            <a:r>
              <a:rPr lang="en-US" sz="1600" dirty="0"/>
              <a:t>Correspondence</a:t>
            </a:r>
          </a:p>
          <a:p>
            <a:pPr algn="l">
              <a:lnSpc>
                <a:spcPct val="100000"/>
              </a:lnSpc>
              <a:spcBef>
                <a:spcPct val="0"/>
              </a:spcBef>
              <a:spcAft>
                <a:spcPct val="0"/>
              </a:spcAft>
              <a:buFont typeface="Wingdings" charset="0"/>
              <a:buChar char="o"/>
              <a:defRPr/>
            </a:pPr>
            <a:r>
              <a:rPr lang="en-US" sz="1600" dirty="0"/>
              <a:t>Credenzas</a:t>
            </a:r>
          </a:p>
          <a:p>
            <a:pPr algn="l">
              <a:lnSpc>
                <a:spcPct val="100000"/>
              </a:lnSpc>
              <a:spcBef>
                <a:spcPct val="0"/>
              </a:spcBef>
              <a:spcAft>
                <a:spcPct val="0"/>
              </a:spcAft>
              <a:buFont typeface="Wingdings" charset="0"/>
              <a:buChar char="o"/>
              <a:defRPr/>
            </a:pPr>
            <a:r>
              <a:rPr lang="en-US" sz="1600" dirty="0"/>
              <a:t>Desks</a:t>
            </a:r>
          </a:p>
          <a:p>
            <a:pPr algn="l">
              <a:lnSpc>
                <a:spcPct val="100000"/>
              </a:lnSpc>
              <a:spcBef>
                <a:spcPct val="0"/>
              </a:spcBef>
              <a:spcAft>
                <a:spcPct val="0"/>
              </a:spcAft>
              <a:buFont typeface="Wingdings" charset="0"/>
              <a:buChar char="o"/>
              <a:defRPr/>
            </a:pPr>
            <a:r>
              <a:rPr lang="en-US" sz="1600" dirty="0"/>
              <a:t>Drawers</a:t>
            </a:r>
          </a:p>
          <a:p>
            <a:pPr algn="l">
              <a:lnSpc>
                <a:spcPct val="100000"/>
              </a:lnSpc>
              <a:spcBef>
                <a:spcPct val="0"/>
              </a:spcBef>
              <a:spcAft>
                <a:spcPct val="0"/>
              </a:spcAft>
              <a:buFont typeface="Wingdings" charset="0"/>
              <a:buChar char="o"/>
              <a:defRPr/>
            </a:pPr>
            <a:r>
              <a:rPr lang="en-US" sz="1600" dirty="0"/>
              <a:t>Electrical Connections</a:t>
            </a:r>
          </a:p>
          <a:p>
            <a:pPr algn="l">
              <a:lnSpc>
                <a:spcPct val="100000"/>
              </a:lnSpc>
              <a:spcBef>
                <a:spcPct val="0"/>
              </a:spcBef>
              <a:spcAft>
                <a:spcPct val="0"/>
              </a:spcAft>
              <a:buFont typeface="Wingdings" charset="0"/>
              <a:buChar char="o"/>
              <a:defRPr/>
            </a:pPr>
            <a:r>
              <a:rPr lang="en-US" sz="1600" dirty="0"/>
              <a:t>Email</a:t>
            </a:r>
            <a:endParaRPr lang="en-US" sz="1600" b="1" dirty="0"/>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noAutofit/>
          </a:bodyPr>
          <a:lstStyle/>
          <a:p>
            <a:pPr algn="l">
              <a:lnSpc>
                <a:spcPct val="100000"/>
              </a:lnSpc>
              <a:spcBef>
                <a:spcPct val="0"/>
              </a:spcBef>
              <a:spcAft>
                <a:spcPct val="0"/>
              </a:spcAft>
              <a:buFont typeface="Wingdings" charset="0"/>
              <a:buChar char="o"/>
              <a:defRPr/>
            </a:pPr>
            <a:r>
              <a:rPr lang="en-US" sz="1600" dirty="0"/>
              <a:t> Files </a:t>
            </a:r>
          </a:p>
          <a:p>
            <a:pPr algn="l">
              <a:lnSpc>
                <a:spcPct val="100000"/>
              </a:lnSpc>
              <a:spcBef>
                <a:spcPct val="0"/>
              </a:spcBef>
              <a:spcAft>
                <a:spcPct val="0"/>
              </a:spcAft>
              <a:buFont typeface="Wingdings" charset="0"/>
              <a:buChar char="o"/>
              <a:defRPr/>
            </a:pPr>
            <a:r>
              <a:rPr lang="en-US" sz="1600" dirty="0"/>
              <a:t> Magazines</a:t>
            </a:r>
          </a:p>
          <a:p>
            <a:pPr algn="l">
              <a:lnSpc>
                <a:spcPct val="100000"/>
              </a:lnSpc>
              <a:spcBef>
                <a:spcPct val="0"/>
              </a:spcBef>
              <a:spcAft>
                <a:spcPct val="0"/>
              </a:spcAft>
              <a:buFont typeface="Wingdings" charset="0"/>
              <a:buChar char="o"/>
              <a:defRPr/>
            </a:pPr>
            <a:r>
              <a:rPr lang="en-US" sz="1600" dirty="0"/>
              <a:t> Mail Rooms</a:t>
            </a:r>
          </a:p>
          <a:p>
            <a:pPr algn="l">
              <a:lnSpc>
                <a:spcPct val="100000"/>
              </a:lnSpc>
              <a:spcBef>
                <a:spcPct val="0"/>
              </a:spcBef>
              <a:spcAft>
                <a:spcPct val="0"/>
              </a:spcAft>
              <a:buFont typeface="Wingdings" charset="0"/>
              <a:buChar char="o"/>
              <a:defRPr/>
            </a:pPr>
            <a:r>
              <a:rPr lang="en-US" sz="1600" dirty="0"/>
              <a:t> Office Equipment</a:t>
            </a:r>
          </a:p>
          <a:p>
            <a:pPr algn="l">
              <a:lnSpc>
                <a:spcPct val="100000"/>
              </a:lnSpc>
              <a:spcBef>
                <a:spcPct val="0"/>
              </a:spcBef>
              <a:spcAft>
                <a:spcPct val="0"/>
              </a:spcAft>
              <a:buFont typeface="Wingdings" charset="0"/>
              <a:buChar char="o"/>
              <a:defRPr/>
            </a:pPr>
            <a:r>
              <a:rPr lang="en-US" sz="1600" dirty="0"/>
              <a:t> Paper</a:t>
            </a:r>
          </a:p>
          <a:p>
            <a:pPr algn="l">
              <a:lnSpc>
                <a:spcPct val="100000"/>
              </a:lnSpc>
              <a:spcBef>
                <a:spcPct val="0"/>
              </a:spcBef>
              <a:spcAft>
                <a:spcPct val="0"/>
              </a:spcAft>
              <a:buFont typeface="Wingdings" charset="0"/>
              <a:buChar char="o"/>
              <a:defRPr/>
            </a:pPr>
            <a:r>
              <a:rPr lang="en-US" sz="1600" dirty="0"/>
              <a:t> Personal Items</a:t>
            </a:r>
          </a:p>
          <a:p>
            <a:pPr algn="l">
              <a:lnSpc>
                <a:spcPct val="100000"/>
              </a:lnSpc>
              <a:spcBef>
                <a:spcPct val="0"/>
              </a:spcBef>
              <a:spcAft>
                <a:spcPct val="0"/>
              </a:spcAft>
              <a:buFont typeface="Wingdings" charset="0"/>
              <a:buChar char="o"/>
              <a:defRPr/>
            </a:pPr>
            <a:r>
              <a:rPr lang="en-US" sz="1600" dirty="0"/>
              <a:t> Printers/Fax Machines</a:t>
            </a:r>
          </a:p>
          <a:p>
            <a:pPr algn="l">
              <a:lnSpc>
                <a:spcPct val="100000"/>
              </a:lnSpc>
              <a:spcBef>
                <a:spcPct val="0"/>
              </a:spcBef>
              <a:spcAft>
                <a:spcPct val="0"/>
              </a:spcAft>
              <a:buFont typeface="Wingdings" charset="0"/>
              <a:buChar char="o"/>
              <a:defRPr/>
            </a:pPr>
            <a:r>
              <a:rPr lang="en-US" sz="1600" dirty="0"/>
              <a:t> Records</a:t>
            </a:r>
          </a:p>
          <a:p>
            <a:pPr algn="l">
              <a:lnSpc>
                <a:spcPct val="100000"/>
              </a:lnSpc>
              <a:spcBef>
                <a:spcPct val="0"/>
              </a:spcBef>
              <a:spcAft>
                <a:spcPct val="0"/>
              </a:spcAft>
              <a:buFont typeface="Wingdings" charset="0"/>
              <a:buChar char="o"/>
              <a:defRPr/>
            </a:pPr>
            <a:r>
              <a:rPr lang="en-US" sz="1600" dirty="0"/>
              <a:t> Samples</a:t>
            </a:r>
          </a:p>
          <a:p>
            <a:pPr algn="l">
              <a:lnSpc>
                <a:spcPct val="100000"/>
              </a:lnSpc>
              <a:spcBef>
                <a:spcPct val="0"/>
              </a:spcBef>
              <a:spcAft>
                <a:spcPct val="0"/>
              </a:spcAft>
              <a:buFont typeface="Wingdings" charset="0"/>
              <a:buChar char="o"/>
              <a:defRPr/>
            </a:pPr>
            <a:r>
              <a:rPr lang="en-US" sz="1600" dirty="0"/>
              <a:t> Shelves</a:t>
            </a:r>
          </a:p>
          <a:p>
            <a:pPr algn="l">
              <a:lnSpc>
                <a:spcPct val="100000"/>
              </a:lnSpc>
              <a:spcBef>
                <a:spcPct val="0"/>
              </a:spcBef>
              <a:spcAft>
                <a:spcPct val="0"/>
              </a:spcAft>
              <a:buFont typeface="Wingdings" charset="0"/>
              <a:buChar char="o"/>
              <a:defRPr/>
            </a:pPr>
            <a:r>
              <a:rPr lang="en-US" sz="1600" dirty="0"/>
              <a:t> Supplies</a:t>
            </a:r>
          </a:p>
          <a:p>
            <a:pPr algn="l">
              <a:lnSpc>
                <a:spcPct val="100000"/>
              </a:lnSpc>
              <a:spcBef>
                <a:spcPct val="0"/>
              </a:spcBef>
              <a:spcAft>
                <a:spcPct val="0"/>
              </a:spcAft>
              <a:buFont typeface="Wingdings" charset="0"/>
              <a:buChar char="o"/>
              <a:defRPr/>
            </a:pPr>
            <a:r>
              <a:rPr lang="en-US" sz="1600" dirty="0"/>
              <a:t> Tables</a:t>
            </a:r>
          </a:p>
          <a:p>
            <a:pPr algn="l">
              <a:lnSpc>
                <a:spcPct val="100000"/>
              </a:lnSpc>
              <a:spcBef>
                <a:spcPct val="0"/>
              </a:spcBef>
              <a:spcAft>
                <a:spcPct val="0"/>
              </a:spcAft>
              <a:buFont typeface="Wingdings" charset="0"/>
              <a:buChar char="o"/>
              <a:defRPr/>
            </a:pPr>
            <a:r>
              <a:rPr lang="en-US" sz="1600" dirty="0"/>
              <a:t> Telephones</a:t>
            </a:r>
          </a:p>
          <a:p>
            <a:pPr algn="l">
              <a:lnSpc>
                <a:spcPct val="100000"/>
              </a:lnSpc>
              <a:spcBef>
                <a:spcPct val="0"/>
              </a:spcBef>
              <a:spcAft>
                <a:spcPct val="0"/>
              </a:spcAft>
              <a:buFont typeface="Wingdings" charset="0"/>
              <a:buChar char="o"/>
              <a:defRPr/>
            </a:pPr>
            <a:r>
              <a:rPr lang="en-US" sz="1600" dirty="0"/>
              <a:t> Voice Mail</a:t>
            </a:r>
          </a:p>
          <a:p>
            <a:pPr algn="l">
              <a:lnSpc>
                <a:spcPct val="100000"/>
              </a:lnSpc>
              <a:spcBef>
                <a:spcPct val="0"/>
              </a:spcBef>
              <a:spcAft>
                <a:spcPct val="0"/>
              </a:spcAft>
              <a:buFont typeface="Wingdings" charset="0"/>
              <a:buChar char="o"/>
              <a:defRPr/>
            </a:pPr>
            <a:r>
              <a:rPr lang="en-US" sz="1600" dirty="0"/>
              <a:t> White Boards</a:t>
            </a:r>
            <a:endParaRPr lang="en-US" sz="1600" b="1" dirty="0"/>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21</a:t>
            </a:fld>
            <a:endParaRPr lang="en-US"/>
          </a:p>
        </p:txBody>
      </p:sp>
      <p:sp>
        <p:nvSpPr>
          <p:cNvPr id="7" name="TextBox 6">
            <a:extLst>
              <a:ext uri="{FF2B5EF4-FFF2-40B4-BE49-F238E27FC236}">
                <a16:creationId xmlns:a16="http://schemas.microsoft.com/office/drawing/2014/main" id="{1E2273FF-3787-19AB-9DB6-843315DDE8C8}"/>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9" name="Group 8">
            <a:extLst>
              <a:ext uri="{FF2B5EF4-FFF2-40B4-BE49-F238E27FC236}">
                <a16:creationId xmlns:a16="http://schemas.microsoft.com/office/drawing/2014/main" id="{ADF9D0E9-F11C-C603-6300-AE18CAC74738}"/>
              </a:ext>
            </a:extLst>
          </p:cNvPr>
          <p:cNvGrpSpPr/>
          <p:nvPr/>
        </p:nvGrpSpPr>
        <p:grpSpPr>
          <a:xfrm>
            <a:off x="940249" y="302538"/>
            <a:ext cx="1060167" cy="290657"/>
            <a:chOff x="940249" y="315206"/>
            <a:chExt cx="1060167" cy="265062"/>
          </a:xfrm>
        </p:grpSpPr>
        <p:sp>
          <p:nvSpPr>
            <p:cNvPr id="10" name="AutoShape 9">
              <a:extLst>
                <a:ext uri="{FF2B5EF4-FFF2-40B4-BE49-F238E27FC236}">
                  <a16:creationId xmlns:a16="http://schemas.microsoft.com/office/drawing/2014/main" id="{177AFC32-6E76-AE17-3F3E-2A92258BCD1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342CBE5F-C46D-80DD-518D-F1C102F20149}"/>
                </a:ext>
              </a:extLst>
            </p:cNvPr>
            <p:cNvGrpSpPr/>
            <p:nvPr/>
          </p:nvGrpSpPr>
          <p:grpSpPr>
            <a:xfrm>
              <a:off x="940249" y="315206"/>
              <a:ext cx="746492" cy="265062"/>
              <a:chOff x="940249" y="315206"/>
              <a:chExt cx="746492" cy="265062"/>
            </a:xfrm>
          </p:grpSpPr>
          <p:sp>
            <p:nvSpPr>
              <p:cNvPr id="12" name="AutoShape 11">
                <a:extLst>
                  <a:ext uri="{FF2B5EF4-FFF2-40B4-BE49-F238E27FC236}">
                    <a16:creationId xmlns:a16="http://schemas.microsoft.com/office/drawing/2014/main" id="{710D32B0-6BFB-E617-E907-DAF3B35E7ACE}"/>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FA88BDB0-2CDE-2A1E-9447-95CC6C85C4D8}"/>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3780675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868D4041-D0F9-25FB-4F54-742F539993D0}"/>
              </a:ext>
            </a:extLst>
          </p:cNvPr>
          <p:cNvSpPr>
            <a:spLocks noGrp="1"/>
          </p:cNvSpPr>
          <p:nvPr>
            <p:ph type="title"/>
          </p:nvPr>
        </p:nvSpPr>
        <p:spPr/>
        <p:txBody>
          <a:bodyPr>
            <a:normAutofit/>
          </a:bodyPr>
          <a:lstStyle/>
          <a:p>
            <a:r>
              <a:rPr lang="en-US" sz="4000" dirty="0">
                <a:latin typeface="Roboto Medium"/>
                <a:ea typeface="Roboto Medium"/>
                <a:cs typeface="Roboto Medium"/>
              </a:rPr>
              <a:t>5S Process Steps</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22</a:t>
            </a:fld>
            <a:endParaRPr lang="en-US"/>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tx1"/>
              </a:solidFill>
            </a:endParaRPr>
          </a:p>
        </p:txBody>
      </p:sp>
      <p:sp>
        <p:nvSpPr>
          <p:cNvPr id="24" name="TextBox 23">
            <a:extLst>
              <a:ext uri="{FF2B5EF4-FFF2-40B4-BE49-F238E27FC236}">
                <a16:creationId xmlns:a16="http://schemas.microsoft.com/office/drawing/2014/main" id="{C5BDF42C-A61F-0C81-8AC6-8365C83CB3A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sp>
        <p:nvSpPr>
          <p:cNvPr id="10" name="Rectangle 9">
            <a:extLst>
              <a:ext uri="{FF2B5EF4-FFF2-40B4-BE49-F238E27FC236}">
                <a16:creationId xmlns:a16="http://schemas.microsoft.com/office/drawing/2014/main" id="{68230320-19C2-752A-1176-1BBB64EE0496}"/>
              </a:ext>
            </a:extLst>
          </p:cNvPr>
          <p:cNvSpPr>
            <a:spLocks/>
          </p:cNvSpPr>
          <p:nvPr/>
        </p:nvSpPr>
        <p:spPr>
          <a:xfrm>
            <a:off x="940249" y="2771056"/>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2S - Straighten</a:t>
            </a:r>
          </a:p>
        </p:txBody>
      </p:sp>
      <p:sp>
        <p:nvSpPr>
          <p:cNvPr id="17" name="Rectangle 16">
            <a:extLst>
              <a:ext uri="{FF2B5EF4-FFF2-40B4-BE49-F238E27FC236}">
                <a16:creationId xmlns:a16="http://schemas.microsoft.com/office/drawing/2014/main" id="{C482F546-04CD-6441-A9E4-982C043DC9B1}"/>
              </a:ext>
            </a:extLst>
          </p:cNvPr>
          <p:cNvSpPr>
            <a:spLocks/>
          </p:cNvSpPr>
          <p:nvPr/>
        </p:nvSpPr>
        <p:spPr>
          <a:xfrm>
            <a:off x="940249" y="1955700"/>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800" dirty="0">
                <a:effectLst>
                  <a:outerShdw blurRad="38100" dist="12700" dir="5400000" rotWithShape="0">
                    <a:srgbClr val="000000">
                      <a:alpha val="50000"/>
                    </a:srgbClr>
                  </a:outerShdw>
                </a:effectLst>
                <a:latin typeface="Roboto" panose="02000000000000000000" pitchFamily="2" charset="0"/>
                <a:ea typeface="Roboto" panose="02000000000000000000" pitchFamily="2" charset="0"/>
                <a:sym typeface="Roboto"/>
              </a:rPr>
              <a:t>1S - Sort</a:t>
            </a:r>
          </a:p>
        </p:txBody>
      </p:sp>
      <p:sp>
        <p:nvSpPr>
          <p:cNvPr id="18" name="Rectangle 17">
            <a:extLst>
              <a:ext uri="{FF2B5EF4-FFF2-40B4-BE49-F238E27FC236}">
                <a16:creationId xmlns:a16="http://schemas.microsoft.com/office/drawing/2014/main" id="{04166E1C-DE2E-5165-515B-6DCF41316AB8}"/>
              </a:ext>
            </a:extLst>
          </p:cNvPr>
          <p:cNvSpPr>
            <a:spLocks/>
          </p:cNvSpPr>
          <p:nvPr/>
        </p:nvSpPr>
        <p:spPr>
          <a:xfrm>
            <a:off x="940249" y="3586412"/>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3S - Scrub</a:t>
            </a:r>
          </a:p>
        </p:txBody>
      </p:sp>
      <p:sp>
        <p:nvSpPr>
          <p:cNvPr id="19" name="Rectangle 18">
            <a:extLst>
              <a:ext uri="{FF2B5EF4-FFF2-40B4-BE49-F238E27FC236}">
                <a16:creationId xmlns:a16="http://schemas.microsoft.com/office/drawing/2014/main" id="{4B602BE5-7414-9257-9501-3665A565B44C}"/>
              </a:ext>
            </a:extLst>
          </p:cNvPr>
          <p:cNvSpPr/>
          <p:nvPr/>
        </p:nvSpPr>
        <p:spPr>
          <a:xfrm>
            <a:off x="940249" y="4401768"/>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4S - Stabilize</a:t>
            </a:r>
          </a:p>
        </p:txBody>
      </p:sp>
      <p:sp>
        <p:nvSpPr>
          <p:cNvPr id="21" name="Rectangle 20">
            <a:extLst>
              <a:ext uri="{FF2B5EF4-FFF2-40B4-BE49-F238E27FC236}">
                <a16:creationId xmlns:a16="http://schemas.microsoft.com/office/drawing/2014/main" id="{0CC760C4-5A3C-A15B-3330-4EAF983076B7}"/>
              </a:ext>
            </a:extLst>
          </p:cNvPr>
          <p:cNvSpPr>
            <a:spLocks/>
          </p:cNvSpPr>
          <p:nvPr/>
        </p:nvSpPr>
        <p:spPr>
          <a:xfrm>
            <a:off x="940249" y="5217125"/>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5S - Sustain</a:t>
            </a:r>
          </a:p>
        </p:txBody>
      </p:sp>
      <p:grpSp>
        <p:nvGrpSpPr>
          <p:cNvPr id="3" name="Group 2">
            <a:extLst>
              <a:ext uri="{FF2B5EF4-FFF2-40B4-BE49-F238E27FC236}">
                <a16:creationId xmlns:a16="http://schemas.microsoft.com/office/drawing/2014/main" id="{34336E33-7DA4-D294-02BE-E48070ABC227}"/>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6C440E8D-7ED5-504D-B968-2837080BC84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138640DA-1229-3E1A-242D-D81D7014ED16}"/>
                </a:ext>
              </a:extLst>
            </p:cNvPr>
            <p:cNvGrpSpPr/>
            <p:nvPr/>
          </p:nvGrpSpPr>
          <p:grpSpPr>
            <a:xfrm>
              <a:off x="940249" y="315206"/>
              <a:ext cx="746492" cy="265062"/>
              <a:chOff x="940249" y="315206"/>
              <a:chExt cx="746492" cy="265062"/>
            </a:xfrm>
          </p:grpSpPr>
          <p:sp>
            <p:nvSpPr>
              <p:cNvPr id="12" name="AutoShape 11">
                <a:extLst>
                  <a:ext uri="{FF2B5EF4-FFF2-40B4-BE49-F238E27FC236}">
                    <a16:creationId xmlns:a16="http://schemas.microsoft.com/office/drawing/2014/main" id="{1591C2C8-E109-3601-9F61-5603F6D989FA}"/>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5E45C12B-E50E-E1C1-11F4-ECB0F83ECE28}"/>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407800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868D4041-D0F9-25FB-4F54-742F539993D0}"/>
              </a:ext>
            </a:extLst>
          </p:cNvPr>
          <p:cNvSpPr>
            <a:spLocks noGrp="1"/>
          </p:cNvSpPr>
          <p:nvPr>
            <p:ph type="title"/>
          </p:nvPr>
        </p:nvSpPr>
        <p:spPr/>
        <p:txBody>
          <a:bodyPr>
            <a:normAutofit/>
          </a:bodyPr>
          <a:lstStyle/>
          <a:p>
            <a:r>
              <a:rPr lang="en-US" sz="4000" dirty="0">
                <a:latin typeface="Roboto Medium"/>
                <a:ea typeface="Roboto Medium"/>
                <a:cs typeface="Roboto Medium"/>
              </a:rPr>
              <a:t>5S Process Steps</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23</a:t>
            </a:fld>
            <a:endParaRPr lang="en-US"/>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tx1"/>
              </a:solidFill>
            </a:endParaRPr>
          </a:p>
        </p:txBody>
      </p:sp>
      <p:sp>
        <p:nvSpPr>
          <p:cNvPr id="24" name="TextBox 23">
            <a:extLst>
              <a:ext uri="{FF2B5EF4-FFF2-40B4-BE49-F238E27FC236}">
                <a16:creationId xmlns:a16="http://schemas.microsoft.com/office/drawing/2014/main" id="{C5BDF42C-A61F-0C81-8AC6-8365C83CB3A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sp>
        <p:nvSpPr>
          <p:cNvPr id="10" name="Rectangle 9">
            <a:extLst>
              <a:ext uri="{FF2B5EF4-FFF2-40B4-BE49-F238E27FC236}">
                <a16:creationId xmlns:a16="http://schemas.microsoft.com/office/drawing/2014/main" id="{68230320-19C2-752A-1176-1BBB64EE0496}"/>
              </a:ext>
            </a:extLst>
          </p:cNvPr>
          <p:cNvSpPr>
            <a:spLocks/>
          </p:cNvSpPr>
          <p:nvPr/>
        </p:nvSpPr>
        <p:spPr>
          <a:xfrm>
            <a:off x="940249" y="2771056"/>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2S - Straighten</a:t>
            </a:r>
          </a:p>
        </p:txBody>
      </p:sp>
      <p:sp>
        <p:nvSpPr>
          <p:cNvPr id="17" name="Rectangle 16">
            <a:extLst>
              <a:ext uri="{FF2B5EF4-FFF2-40B4-BE49-F238E27FC236}">
                <a16:creationId xmlns:a16="http://schemas.microsoft.com/office/drawing/2014/main" id="{C482F546-04CD-6441-A9E4-982C043DC9B1}"/>
              </a:ext>
            </a:extLst>
          </p:cNvPr>
          <p:cNvSpPr>
            <a:spLocks/>
          </p:cNvSpPr>
          <p:nvPr/>
        </p:nvSpPr>
        <p:spPr>
          <a:xfrm>
            <a:off x="940249" y="1955700"/>
            <a:ext cx="5722970" cy="452898"/>
          </a:xfrm>
          <a:prstGeom prst="rect">
            <a:avLst/>
          </a:prstGeom>
          <a:solidFill>
            <a:srgbClr val="EE3629"/>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8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sym typeface="Roboto"/>
              </a:rPr>
              <a:t>1S - Sort</a:t>
            </a:r>
          </a:p>
        </p:txBody>
      </p:sp>
      <p:sp>
        <p:nvSpPr>
          <p:cNvPr id="18" name="Rectangle 17">
            <a:extLst>
              <a:ext uri="{FF2B5EF4-FFF2-40B4-BE49-F238E27FC236}">
                <a16:creationId xmlns:a16="http://schemas.microsoft.com/office/drawing/2014/main" id="{04166E1C-DE2E-5165-515B-6DCF41316AB8}"/>
              </a:ext>
            </a:extLst>
          </p:cNvPr>
          <p:cNvSpPr>
            <a:spLocks/>
          </p:cNvSpPr>
          <p:nvPr/>
        </p:nvSpPr>
        <p:spPr>
          <a:xfrm>
            <a:off x="940249" y="3586412"/>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3S - Scrub</a:t>
            </a:r>
          </a:p>
        </p:txBody>
      </p:sp>
      <p:sp>
        <p:nvSpPr>
          <p:cNvPr id="19" name="Rectangle 18">
            <a:extLst>
              <a:ext uri="{FF2B5EF4-FFF2-40B4-BE49-F238E27FC236}">
                <a16:creationId xmlns:a16="http://schemas.microsoft.com/office/drawing/2014/main" id="{4B602BE5-7414-9257-9501-3665A565B44C}"/>
              </a:ext>
            </a:extLst>
          </p:cNvPr>
          <p:cNvSpPr/>
          <p:nvPr/>
        </p:nvSpPr>
        <p:spPr>
          <a:xfrm>
            <a:off x="940249" y="4401768"/>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4S - Stabilize</a:t>
            </a:r>
          </a:p>
        </p:txBody>
      </p:sp>
      <p:sp>
        <p:nvSpPr>
          <p:cNvPr id="21" name="Rectangle 20">
            <a:extLst>
              <a:ext uri="{FF2B5EF4-FFF2-40B4-BE49-F238E27FC236}">
                <a16:creationId xmlns:a16="http://schemas.microsoft.com/office/drawing/2014/main" id="{0CC760C4-5A3C-A15B-3330-4EAF983076B7}"/>
              </a:ext>
            </a:extLst>
          </p:cNvPr>
          <p:cNvSpPr>
            <a:spLocks/>
          </p:cNvSpPr>
          <p:nvPr/>
        </p:nvSpPr>
        <p:spPr>
          <a:xfrm>
            <a:off x="940249" y="5217125"/>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5S - Sustain</a:t>
            </a:r>
          </a:p>
        </p:txBody>
      </p:sp>
      <p:grpSp>
        <p:nvGrpSpPr>
          <p:cNvPr id="3" name="Group 2">
            <a:extLst>
              <a:ext uri="{FF2B5EF4-FFF2-40B4-BE49-F238E27FC236}">
                <a16:creationId xmlns:a16="http://schemas.microsoft.com/office/drawing/2014/main" id="{34336E33-7DA4-D294-02BE-E48070ABC227}"/>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6C440E8D-7ED5-504D-B968-2837080BC84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138640DA-1229-3E1A-242D-D81D7014ED16}"/>
                </a:ext>
              </a:extLst>
            </p:cNvPr>
            <p:cNvGrpSpPr/>
            <p:nvPr/>
          </p:nvGrpSpPr>
          <p:grpSpPr>
            <a:xfrm>
              <a:off x="940249" y="315206"/>
              <a:ext cx="746492" cy="265062"/>
              <a:chOff x="940249" y="315206"/>
              <a:chExt cx="746492" cy="265062"/>
            </a:xfrm>
          </p:grpSpPr>
          <p:sp>
            <p:nvSpPr>
              <p:cNvPr id="12" name="AutoShape 11">
                <a:extLst>
                  <a:ext uri="{FF2B5EF4-FFF2-40B4-BE49-F238E27FC236}">
                    <a16:creationId xmlns:a16="http://schemas.microsoft.com/office/drawing/2014/main" id="{1591C2C8-E109-3601-9F61-5603F6D989FA}"/>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5E45C12B-E50E-E1C1-11F4-ECB0F83ECE28}"/>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39765816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1S Defined</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24</a:t>
            </a:fld>
            <a:endParaRPr lang="en-US"/>
          </a:p>
        </p:txBody>
      </p:sp>
      <p:sp>
        <p:nvSpPr>
          <p:cNvPr id="3" name="TextBox 2">
            <a:extLst>
              <a:ext uri="{FF2B5EF4-FFF2-40B4-BE49-F238E27FC236}">
                <a16:creationId xmlns:a16="http://schemas.microsoft.com/office/drawing/2014/main" id="{75296461-D27A-3C58-A14D-461C8B6B2E9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5" name="Group 4">
            <a:extLst>
              <a:ext uri="{FF2B5EF4-FFF2-40B4-BE49-F238E27FC236}">
                <a16:creationId xmlns:a16="http://schemas.microsoft.com/office/drawing/2014/main" id="{76D1D5F1-97EE-0F52-5D6D-83F8075EED16}"/>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7FEA9193-ACAB-1BEF-D945-4CFE87A51CC4}"/>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 name="Group 6">
              <a:extLst>
                <a:ext uri="{FF2B5EF4-FFF2-40B4-BE49-F238E27FC236}">
                  <a16:creationId xmlns:a16="http://schemas.microsoft.com/office/drawing/2014/main" id="{C856A577-5930-F4F8-32A3-39ABAB751BFE}"/>
                </a:ext>
              </a:extLst>
            </p:cNvPr>
            <p:cNvGrpSpPr/>
            <p:nvPr/>
          </p:nvGrpSpPr>
          <p:grpSpPr>
            <a:xfrm>
              <a:off x="940249" y="315206"/>
              <a:ext cx="746492" cy="265062"/>
              <a:chOff x="940249" y="315206"/>
              <a:chExt cx="746492" cy="265062"/>
            </a:xfrm>
          </p:grpSpPr>
          <p:sp>
            <p:nvSpPr>
              <p:cNvPr id="8" name="AutoShape 11">
                <a:extLst>
                  <a:ext uri="{FF2B5EF4-FFF2-40B4-BE49-F238E27FC236}">
                    <a16:creationId xmlns:a16="http://schemas.microsoft.com/office/drawing/2014/main" id="{3E656630-0CB9-DC5A-7782-532DE1F01157}"/>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0">
                <a:extLst>
                  <a:ext uri="{FF2B5EF4-FFF2-40B4-BE49-F238E27FC236}">
                    <a16:creationId xmlns:a16="http://schemas.microsoft.com/office/drawing/2014/main" id="{CDBAFF34-1A84-1872-51A9-FC0684245C51}"/>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0" name="Rectangle 3">
            <a:extLst>
              <a:ext uri="{FF2B5EF4-FFF2-40B4-BE49-F238E27FC236}">
                <a16:creationId xmlns:a16="http://schemas.microsoft.com/office/drawing/2014/main" id="{436AA8F3-5270-108F-7E1F-D18ADC75D8E9}"/>
              </a:ext>
            </a:extLst>
          </p:cNvPr>
          <p:cNvSpPr>
            <a:spLocks noChangeArrowheads="1"/>
          </p:cNvSpPr>
          <p:nvPr/>
        </p:nvSpPr>
        <p:spPr bwMode="auto">
          <a:xfrm>
            <a:off x="4700906" y="2808593"/>
            <a:ext cx="3251792"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SEIRI</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Tidiness, organization. Refers to the practice of sorting through all the tools, materials, etc. in the work area and keeping only essential items. Everything else is stored or discarded. This leads to fewer hazards and less clutter to interfere with productive work. </a:t>
            </a:r>
          </a:p>
        </p:txBody>
      </p:sp>
      <p:sp>
        <p:nvSpPr>
          <p:cNvPr id="11" name="Rectangle 4">
            <a:extLst>
              <a:ext uri="{FF2B5EF4-FFF2-40B4-BE49-F238E27FC236}">
                <a16:creationId xmlns:a16="http://schemas.microsoft.com/office/drawing/2014/main" id="{D6A26AF8-AF73-E774-9AA5-80F2C8E80080}"/>
              </a:ext>
            </a:extLst>
          </p:cNvPr>
          <p:cNvSpPr>
            <a:spLocks noChangeArrowheads="1"/>
          </p:cNvSpPr>
          <p:nvPr/>
        </p:nvSpPr>
        <p:spPr bwMode="auto">
          <a:xfrm>
            <a:off x="7924449" y="2808593"/>
            <a:ext cx="3587115"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Reveal the process by eliminating what is unnecessary from the workplace</a:t>
            </a:r>
          </a:p>
        </p:txBody>
      </p:sp>
      <p:sp>
        <p:nvSpPr>
          <p:cNvPr id="12" name="Rectangle 5">
            <a:extLst>
              <a:ext uri="{FF2B5EF4-FFF2-40B4-BE49-F238E27FC236}">
                <a16:creationId xmlns:a16="http://schemas.microsoft.com/office/drawing/2014/main" id="{6C0D4673-0DC6-5CE2-B500-02FD6C00A465}"/>
              </a:ext>
            </a:extLst>
          </p:cNvPr>
          <p:cNvSpPr>
            <a:spLocks noChangeArrowheads="1"/>
          </p:cNvSpPr>
          <p:nvPr/>
        </p:nvSpPr>
        <p:spPr bwMode="auto">
          <a:xfrm>
            <a:off x="900113" y="2808446"/>
            <a:ext cx="3239374" cy="1237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1438" tIns="36512" rIns="71438" bIns="36512">
            <a:spAutoFit/>
          </a:bodyPr>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SORT</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Simplify the area. Clearly distinguish between what is necessary and unnecessary and dispose of the unnecessary</a:t>
            </a:r>
          </a:p>
        </p:txBody>
      </p:sp>
      <p:grpSp>
        <p:nvGrpSpPr>
          <p:cNvPr id="13" name="Group 6">
            <a:extLst>
              <a:ext uri="{FF2B5EF4-FFF2-40B4-BE49-F238E27FC236}">
                <a16:creationId xmlns:a16="http://schemas.microsoft.com/office/drawing/2014/main" id="{105B75E2-DC6A-6393-4D85-32BE8453D729}"/>
              </a:ext>
            </a:extLst>
          </p:cNvPr>
          <p:cNvGrpSpPr>
            <a:grpSpLocks/>
          </p:cNvGrpSpPr>
          <p:nvPr/>
        </p:nvGrpSpPr>
        <p:grpSpPr bwMode="auto">
          <a:xfrm>
            <a:off x="838200" y="1962308"/>
            <a:ext cx="10777901" cy="625475"/>
            <a:chOff x="311" y="1012"/>
            <a:chExt cx="3908" cy="394"/>
          </a:xfrm>
        </p:grpSpPr>
        <p:sp>
          <p:nvSpPr>
            <p:cNvPr id="14" name="AutoShape 7">
              <a:extLst>
                <a:ext uri="{FF2B5EF4-FFF2-40B4-BE49-F238E27FC236}">
                  <a16:creationId xmlns:a16="http://schemas.microsoft.com/office/drawing/2014/main" id="{129DC9E6-6C48-FCC8-3A9B-914A29E7578A}"/>
                </a:ext>
              </a:extLst>
            </p:cNvPr>
            <p:cNvSpPr>
              <a:spLocks noChangeArrowheads="1"/>
            </p:cNvSpPr>
            <p:nvPr/>
          </p:nvSpPr>
          <p:spPr bwMode="auto">
            <a:xfrm>
              <a:off x="2694" y="1012"/>
              <a:ext cx="1525" cy="394"/>
            </a:xfrm>
            <a:prstGeom prst="homePlate">
              <a:avLst>
                <a:gd name="adj" fmla="val 57790"/>
              </a:avLst>
            </a:prstGeom>
            <a:solidFill>
              <a:schemeClr val="accent1"/>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Objective </a:t>
              </a:r>
              <a:br>
                <a:rPr lang="en-US" altLang="en-US" sz="1800" dirty="0">
                  <a:solidFill>
                    <a:schemeClr val="bg1"/>
                  </a:solidFill>
                  <a:latin typeface="Roboto" panose="02000000000000000000" pitchFamily="2" charset="0"/>
                  <a:ea typeface="Roboto" panose="02000000000000000000" pitchFamily="2" charset="0"/>
                </a:rPr>
              </a:br>
              <a:r>
                <a:rPr lang="en-US" altLang="en-US" sz="1800" dirty="0">
                  <a:solidFill>
                    <a:schemeClr val="bg1"/>
                  </a:solidFill>
                  <a:latin typeface="Roboto" panose="02000000000000000000" pitchFamily="2" charset="0"/>
                  <a:ea typeface="Roboto" panose="02000000000000000000" pitchFamily="2" charset="0"/>
                </a:rPr>
                <a:t>of 1S</a:t>
              </a:r>
            </a:p>
          </p:txBody>
        </p:sp>
        <p:sp>
          <p:nvSpPr>
            <p:cNvPr id="15" name="AutoShape 8">
              <a:extLst>
                <a:ext uri="{FF2B5EF4-FFF2-40B4-BE49-F238E27FC236}">
                  <a16:creationId xmlns:a16="http://schemas.microsoft.com/office/drawing/2014/main" id="{277A3B52-36CA-686D-6983-15D004C29E47}"/>
                </a:ext>
              </a:extLst>
            </p:cNvPr>
            <p:cNvSpPr>
              <a:spLocks noChangeArrowheads="1"/>
            </p:cNvSpPr>
            <p:nvPr/>
          </p:nvSpPr>
          <p:spPr bwMode="auto">
            <a:xfrm>
              <a:off x="1549" y="1012"/>
              <a:ext cx="1472" cy="394"/>
            </a:xfrm>
            <a:prstGeom prst="homePlate">
              <a:avLst>
                <a:gd name="adj" fmla="val 48586"/>
              </a:avLst>
            </a:prstGeom>
            <a:solidFill>
              <a:schemeClr val="accent1"/>
            </a:solidFill>
            <a:ln w="19050">
              <a:solidFill>
                <a:schemeClr val="bg1"/>
              </a:solidFill>
              <a:miter lim="800000"/>
              <a:headEnd/>
              <a:tailEnd/>
            </a:ln>
          </p:spPr>
          <p:txBody>
            <a:bodyPr lIns="45720" tIns="46038" rIns="45720" bIns="46038" anchor="ctr"/>
            <a:lstStyle>
              <a:lvl1pPr marL="17145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 Japanese: SEIRI  </a:t>
              </a:r>
            </a:p>
          </p:txBody>
        </p:sp>
        <p:sp>
          <p:nvSpPr>
            <p:cNvPr id="16" name="AutoShape 9">
              <a:extLst>
                <a:ext uri="{FF2B5EF4-FFF2-40B4-BE49-F238E27FC236}">
                  <a16:creationId xmlns:a16="http://schemas.microsoft.com/office/drawing/2014/main" id="{0F61DD03-FD3F-FBCF-67DD-E39974B5C6B0}"/>
                </a:ext>
              </a:extLst>
            </p:cNvPr>
            <p:cNvSpPr>
              <a:spLocks noChangeArrowheads="1"/>
            </p:cNvSpPr>
            <p:nvPr/>
          </p:nvSpPr>
          <p:spPr bwMode="auto">
            <a:xfrm>
              <a:off x="311" y="1012"/>
              <a:ext cx="1469" cy="394"/>
            </a:xfrm>
            <a:prstGeom prst="homePlate">
              <a:avLst>
                <a:gd name="adj" fmla="val 54200"/>
              </a:avLst>
            </a:prstGeom>
            <a:solidFill>
              <a:schemeClr val="accent1"/>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English: SORT</a:t>
              </a:r>
            </a:p>
          </p:txBody>
        </p:sp>
      </p:grpSp>
      <p:sp>
        <p:nvSpPr>
          <p:cNvPr id="17" name="AutoShape 10">
            <a:extLst>
              <a:ext uri="{FF2B5EF4-FFF2-40B4-BE49-F238E27FC236}">
                <a16:creationId xmlns:a16="http://schemas.microsoft.com/office/drawing/2014/main" id="{BD380F9A-F259-E8AA-00B4-6567920E9E99}"/>
              </a:ext>
            </a:extLst>
          </p:cNvPr>
          <p:cNvSpPr>
            <a:spLocks noChangeArrowheads="1"/>
          </p:cNvSpPr>
          <p:nvPr/>
        </p:nvSpPr>
        <p:spPr bwMode="auto">
          <a:xfrm>
            <a:off x="900113" y="5540828"/>
            <a:ext cx="10697177" cy="520700"/>
          </a:xfrm>
          <a:prstGeom prst="homePlate">
            <a:avLst>
              <a:gd name="adj" fmla="val 32169"/>
            </a:avLst>
          </a:prstGeom>
          <a:solidFill>
            <a:schemeClr val="tx2"/>
          </a:solidFill>
          <a:ln>
            <a:noFill/>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1S reveals the true process</a:t>
            </a:r>
          </a:p>
        </p:txBody>
      </p:sp>
    </p:spTree>
    <p:extLst>
      <p:ext uri="{BB962C8B-B14F-4D97-AF65-F5344CB8AC3E}">
        <p14:creationId xmlns:p14="http://schemas.microsoft.com/office/powerpoint/2010/main" val="19858742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B255C-7F02-8E70-D936-C828B6A33D48}"/>
              </a:ext>
            </a:extLst>
          </p:cNvPr>
          <p:cNvSpPr>
            <a:spLocks noGrp="1"/>
          </p:cNvSpPr>
          <p:nvPr>
            <p:ph type="title"/>
          </p:nvPr>
        </p:nvSpPr>
        <p:spPr/>
        <p:txBody>
          <a:bodyPr/>
          <a:lstStyle/>
          <a:p>
            <a:r>
              <a:rPr lang="en-US" dirty="0"/>
              <a:t>1S Sort Strategy</a:t>
            </a:r>
          </a:p>
        </p:txBody>
      </p:sp>
      <p:sp>
        <p:nvSpPr>
          <p:cNvPr id="4" name="Content Placeholder 3">
            <a:extLst>
              <a:ext uri="{FF2B5EF4-FFF2-40B4-BE49-F238E27FC236}">
                <a16:creationId xmlns:a16="http://schemas.microsoft.com/office/drawing/2014/main" id="{FE23BCEC-5E92-F690-0D89-419E66C2FF2B}"/>
              </a:ext>
            </a:extLst>
          </p:cNvPr>
          <p:cNvSpPr>
            <a:spLocks noGrp="1"/>
          </p:cNvSpPr>
          <p:nvPr>
            <p:ph sz="half" idx="2"/>
          </p:nvPr>
        </p:nvSpPr>
        <p:spPr/>
        <p:txBody>
          <a:bodyPr/>
          <a:lstStyle/>
          <a:p>
            <a:r>
              <a:rPr lang="en-US" dirty="0"/>
              <a:t>Throw away anything you know you can</a:t>
            </a:r>
          </a:p>
          <a:p>
            <a:r>
              <a:rPr lang="en-US" dirty="0"/>
              <a:t>Identify truly needed items by asking:</a:t>
            </a:r>
          </a:p>
          <a:p>
            <a:pPr lvl="1"/>
            <a:r>
              <a:rPr lang="en-US" dirty="0"/>
              <a:t>What is it for?</a:t>
            </a:r>
          </a:p>
          <a:p>
            <a:pPr lvl="1"/>
            <a:r>
              <a:rPr lang="en-US" dirty="0"/>
              <a:t>Why do I have it?</a:t>
            </a:r>
          </a:p>
          <a:p>
            <a:pPr lvl="1"/>
            <a:r>
              <a:rPr lang="en-US" dirty="0"/>
              <a:t>How often do I use it?</a:t>
            </a:r>
          </a:p>
          <a:p>
            <a:pPr lvl="1"/>
            <a:r>
              <a:rPr lang="en-US" dirty="0"/>
              <a:t>Does someone else have it?</a:t>
            </a:r>
          </a:p>
          <a:p>
            <a:endParaRPr lang="en-US" dirty="0"/>
          </a:p>
        </p:txBody>
      </p:sp>
      <p:pic>
        <p:nvPicPr>
          <p:cNvPr id="5" name="Picture 18" descr="bigstockphoto_Throw_Away_20089">
            <a:extLst>
              <a:ext uri="{FF2B5EF4-FFF2-40B4-BE49-F238E27FC236}">
                <a16:creationId xmlns:a16="http://schemas.microsoft.com/office/drawing/2014/main" id="{2F31A474-6707-4A58-B0EC-24BBEA72AB40}"/>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326927" y="1825625"/>
            <a:ext cx="4204146"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727032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1S Sort Strategy, continued</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26</a:t>
            </a:fld>
            <a:endParaRPr lang="en-US"/>
          </a:p>
        </p:txBody>
      </p:sp>
      <p:sp>
        <p:nvSpPr>
          <p:cNvPr id="3" name="TextBox 2">
            <a:extLst>
              <a:ext uri="{FF2B5EF4-FFF2-40B4-BE49-F238E27FC236}">
                <a16:creationId xmlns:a16="http://schemas.microsoft.com/office/drawing/2014/main" id="{75296461-D27A-3C58-A14D-461C8B6B2E9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5" name="Group 4">
            <a:extLst>
              <a:ext uri="{FF2B5EF4-FFF2-40B4-BE49-F238E27FC236}">
                <a16:creationId xmlns:a16="http://schemas.microsoft.com/office/drawing/2014/main" id="{76D1D5F1-97EE-0F52-5D6D-83F8075EED16}"/>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7FEA9193-ACAB-1BEF-D945-4CFE87A51CC4}"/>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 name="Group 6">
              <a:extLst>
                <a:ext uri="{FF2B5EF4-FFF2-40B4-BE49-F238E27FC236}">
                  <a16:creationId xmlns:a16="http://schemas.microsoft.com/office/drawing/2014/main" id="{C856A577-5930-F4F8-32A3-39ABAB751BFE}"/>
                </a:ext>
              </a:extLst>
            </p:cNvPr>
            <p:cNvGrpSpPr/>
            <p:nvPr/>
          </p:nvGrpSpPr>
          <p:grpSpPr>
            <a:xfrm>
              <a:off x="940249" y="315206"/>
              <a:ext cx="746492" cy="265062"/>
              <a:chOff x="940249" y="315206"/>
              <a:chExt cx="746492" cy="265062"/>
            </a:xfrm>
          </p:grpSpPr>
          <p:sp>
            <p:nvSpPr>
              <p:cNvPr id="8" name="AutoShape 11">
                <a:extLst>
                  <a:ext uri="{FF2B5EF4-FFF2-40B4-BE49-F238E27FC236}">
                    <a16:creationId xmlns:a16="http://schemas.microsoft.com/office/drawing/2014/main" id="{3E656630-0CB9-DC5A-7782-532DE1F01157}"/>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0">
                <a:extLst>
                  <a:ext uri="{FF2B5EF4-FFF2-40B4-BE49-F238E27FC236}">
                    <a16:creationId xmlns:a16="http://schemas.microsoft.com/office/drawing/2014/main" id="{CDBAFF34-1A84-1872-51A9-FC0684245C51}"/>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8" name="Rectangle 3">
            <a:extLst>
              <a:ext uri="{FF2B5EF4-FFF2-40B4-BE49-F238E27FC236}">
                <a16:creationId xmlns:a16="http://schemas.microsoft.com/office/drawing/2014/main" id="{D4F6C07F-DA2D-B0EE-2296-BE7C1F428B5B}"/>
              </a:ext>
            </a:extLst>
          </p:cNvPr>
          <p:cNvSpPr>
            <a:spLocks noChangeArrowheads="1"/>
          </p:cNvSpPr>
          <p:nvPr/>
        </p:nvSpPr>
        <p:spPr bwMode="auto">
          <a:xfrm>
            <a:off x="1173611" y="2419655"/>
            <a:ext cx="1908175" cy="568325"/>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Unnecessary</a:t>
            </a:r>
            <a:br>
              <a:rPr lang="en-US" altLang="en-US" sz="1400" dirty="0">
                <a:latin typeface="Roboto" panose="02000000000000000000" pitchFamily="2" charset="0"/>
                <a:ea typeface="Roboto" panose="02000000000000000000" pitchFamily="2" charset="0"/>
              </a:rPr>
            </a:br>
            <a:r>
              <a:rPr lang="en-US" altLang="en-US" sz="1400" dirty="0">
                <a:latin typeface="Roboto" panose="02000000000000000000" pitchFamily="2" charset="0"/>
                <a:ea typeface="Roboto" panose="02000000000000000000" pitchFamily="2" charset="0"/>
              </a:rPr>
              <a:t>Cannot be used</a:t>
            </a:r>
          </a:p>
        </p:txBody>
      </p:sp>
      <p:sp>
        <p:nvSpPr>
          <p:cNvPr id="19" name="Rectangle 4">
            <a:extLst>
              <a:ext uri="{FF2B5EF4-FFF2-40B4-BE49-F238E27FC236}">
                <a16:creationId xmlns:a16="http://schemas.microsoft.com/office/drawing/2014/main" id="{41DC0394-CB5B-48D1-7B69-DEB9FD379AA6}"/>
              </a:ext>
            </a:extLst>
          </p:cNvPr>
          <p:cNvSpPr>
            <a:spLocks noChangeArrowheads="1"/>
          </p:cNvSpPr>
          <p:nvPr/>
        </p:nvSpPr>
        <p:spPr bwMode="auto">
          <a:xfrm>
            <a:off x="1173611" y="3227693"/>
            <a:ext cx="1908175" cy="568325"/>
          </a:xfrm>
          <a:prstGeom prst="rect">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Unlikely to be Used</a:t>
            </a:r>
          </a:p>
        </p:txBody>
      </p:sp>
      <p:sp>
        <p:nvSpPr>
          <p:cNvPr id="20" name="Rectangle 5">
            <a:extLst>
              <a:ext uri="{FF2B5EF4-FFF2-40B4-BE49-F238E27FC236}">
                <a16:creationId xmlns:a16="http://schemas.microsoft.com/office/drawing/2014/main" id="{9291E7C0-56CC-CE52-C777-6F4193B73995}"/>
              </a:ext>
            </a:extLst>
          </p:cNvPr>
          <p:cNvSpPr>
            <a:spLocks noChangeArrowheads="1"/>
          </p:cNvSpPr>
          <p:nvPr/>
        </p:nvSpPr>
        <p:spPr bwMode="auto">
          <a:xfrm>
            <a:off x="1173611" y="3992868"/>
            <a:ext cx="1908175" cy="568325"/>
          </a:xfrm>
          <a:prstGeom prst="rect">
            <a:avLst/>
          </a:prstGeom>
          <a:solidFill>
            <a:schemeClr val="accent4"/>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Rarely Used</a:t>
            </a:r>
          </a:p>
        </p:txBody>
      </p:sp>
      <p:sp>
        <p:nvSpPr>
          <p:cNvPr id="21" name="Rectangle 6">
            <a:extLst>
              <a:ext uri="{FF2B5EF4-FFF2-40B4-BE49-F238E27FC236}">
                <a16:creationId xmlns:a16="http://schemas.microsoft.com/office/drawing/2014/main" id="{F17FFA2A-F2C1-FB5D-1485-312DC8BEACE0}"/>
              </a:ext>
            </a:extLst>
          </p:cNvPr>
          <p:cNvSpPr>
            <a:spLocks noChangeArrowheads="1"/>
          </p:cNvSpPr>
          <p:nvPr/>
        </p:nvSpPr>
        <p:spPr bwMode="auto">
          <a:xfrm>
            <a:off x="1173611" y="4726293"/>
            <a:ext cx="1908175" cy="568325"/>
          </a:xfrm>
          <a:prstGeom prst="rect">
            <a:avLst/>
          </a:prstGeom>
          <a:solidFill>
            <a:schemeClr val="accent3"/>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Occasionally Used</a:t>
            </a:r>
          </a:p>
        </p:txBody>
      </p:sp>
      <p:sp>
        <p:nvSpPr>
          <p:cNvPr id="22" name="Line 7">
            <a:extLst>
              <a:ext uri="{FF2B5EF4-FFF2-40B4-BE49-F238E27FC236}">
                <a16:creationId xmlns:a16="http://schemas.microsoft.com/office/drawing/2014/main" id="{2A7594A8-D22E-5894-41B7-0C1DC16BBF94}"/>
              </a:ext>
            </a:extLst>
          </p:cNvPr>
          <p:cNvSpPr>
            <a:spLocks noChangeShapeType="1"/>
          </p:cNvSpPr>
          <p:nvPr/>
        </p:nvSpPr>
        <p:spPr bwMode="auto">
          <a:xfrm>
            <a:off x="1019624" y="3126093"/>
            <a:ext cx="825023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3" name="Line 8">
            <a:extLst>
              <a:ext uri="{FF2B5EF4-FFF2-40B4-BE49-F238E27FC236}">
                <a16:creationId xmlns:a16="http://schemas.microsoft.com/office/drawing/2014/main" id="{0D661B59-8690-F338-A855-BAB6CF3DD3BB}"/>
              </a:ext>
            </a:extLst>
          </p:cNvPr>
          <p:cNvSpPr>
            <a:spLocks noChangeShapeType="1"/>
          </p:cNvSpPr>
          <p:nvPr/>
        </p:nvSpPr>
        <p:spPr bwMode="auto">
          <a:xfrm>
            <a:off x="1035499" y="3903968"/>
            <a:ext cx="820578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4" name="Line 9">
            <a:extLst>
              <a:ext uri="{FF2B5EF4-FFF2-40B4-BE49-F238E27FC236}">
                <a16:creationId xmlns:a16="http://schemas.microsoft.com/office/drawing/2014/main" id="{DE3A186F-511D-824C-A638-6D2214E15A01}"/>
              </a:ext>
            </a:extLst>
          </p:cNvPr>
          <p:cNvSpPr>
            <a:spLocks noChangeShapeType="1"/>
          </p:cNvSpPr>
          <p:nvPr/>
        </p:nvSpPr>
        <p:spPr bwMode="auto">
          <a:xfrm>
            <a:off x="1005336" y="4648505"/>
            <a:ext cx="8235950"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5" name="Line 10">
            <a:extLst>
              <a:ext uri="{FF2B5EF4-FFF2-40B4-BE49-F238E27FC236}">
                <a16:creationId xmlns:a16="http://schemas.microsoft.com/office/drawing/2014/main" id="{93548140-C4C8-E5F5-2E3C-D61E9A75D3EF}"/>
              </a:ext>
            </a:extLst>
          </p:cNvPr>
          <p:cNvSpPr>
            <a:spLocks noChangeShapeType="1"/>
          </p:cNvSpPr>
          <p:nvPr/>
        </p:nvSpPr>
        <p:spPr bwMode="auto">
          <a:xfrm>
            <a:off x="1021211" y="5437493"/>
            <a:ext cx="8220075"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6" name="Rectangle 11">
            <a:extLst>
              <a:ext uri="{FF2B5EF4-FFF2-40B4-BE49-F238E27FC236}">
                <a16:creationId xmlns:a16="http://schemas.microsoft.com/office/drawing/2014/main" id="{7125C278-1E48-B652-0298-C92471BCD241}"/>
              </a:ext>
            </a:extLst>
          </p:cNvPr>
          <p:cNvSpPr>
            <a:spLocks noChangeArrowheads="1"/>
          </p:cNvSpPr>
          <p:nvPr/>
        </p:nvSpPr>
        <p:spPr bwMode="auto">
          <a:xfrm>
            <a:off x="4186686" y="2402193"/>
            <a:ext cx="49704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Discard or delete</a:t>
            </a:r>
          </a:p>
        </p:txBody>
      </p:sp>
      <p:sp>
        <p:nvSpPr>
          <p:cNvPr id="27" name="Rectangle 12">
            <a:extLst>
              <a:ext uri="{FF2B5EF4-FFF2-40B4-BE49-F238E27FC236}">
                <a16:creationId xmlns:a16="http://schemas.microsoft.com/office/drawing/2014/main" id="{D6311D6C-095F-5732-9A63-D36E8AFFC83E}"/>
              </a:ext>
            </a:extLst>
          </p:cNvPr>
          <p:cNvSpPr>
            <a:spLocks noChangeArrowheads="1"/>
          </p:cNvSpPr>
          <p:nvPr/>
        </p:nvSpPr>
        <p:spPr bwMode="auto">
          <a:xfrm>
            <a:off x="4189861" y="3232455"/>
            <a:ext cx="49815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Discard, delete or donate</a:t>
            </a:r>
            <a:endParaRPr lang="en-US" altLang="en-US" sz="1400" b="0">
              <a:latin typeface="Roboto" panose="02000000000000000000" pitchFamily="2" charset="0"/>
              <a:ea typeface="Roboto" panose="02000000000000000000" pitchFamily="2" charset="0"/>
            </a:endParaRPr>
          </a:p>
        </p:txBody>
      </p:sp>
      <p:sp>
        <p:nvSpPr>
          <p:cNvPr id="28" name="Rectangle 13">
            <a:extLst>
              <a:ext uri="{FF2B5EF4-FFF2-40B4-BE49-F238E27FC236}">
                <a16:creationId xmlns:a16="http://schemas.microsoft.com/office/drawing/2014/main" id="{4A70D4BE-9263-225A-2B32-706BA3C73EDC}"/>
              </a:ext>
            </a:extLst>
          </p:cNvPr>
          <p:cNvSpPr>
            <a:spLocks noChangeArrowheads="1"/>
          </p:cNvSpPr>
          <p:nvPr/>
        </p:nvSpPr>
        <p:spPr bwMode="auto">
          <a:xfrm>
            <a:off x="4189861" y="3997630"/>
            <a:ext cx="49704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Store remotely or electronically</a:t>
            </a:r>
            <a:endParaRPr lang="en-US" altLang="en-US" sz="1400" b="0">
              <a:latin typeface="Roboto" panose="02000000000000000000" pitchFamily="2" charset="0"/>
              <a:ea typeface="Roboto" panose="02000000000000000000" pitchFamily="2" charset="0"/>
            </a:endParaRPr>
          </a:p>
        </p:txBody>
      </p:sp>
      <p:sp>
        <p:nvSpPr>
          <p:cNvPr id="29" name="Rectangle 14">
            <a:extLst>
              <a:ext uri="{FF2B5EF4-FFF2-40B4-BE49-F238E27FC236}">
                <a16:creationId xmlns:a16="http://schemas.microsoft.com/office/drawing/2014/main" id="{AB274F70-48D1-FE6F-B526-33F373FF3E70}"/>
              </a:ext>
            </a:extLst>
          </p:cNvPr>
          <p:cNvSpPr>
            <a:spLocks noChangeArrowheads="1"/>
          </p:cNvSpPr>
          <p:nvPr/>
        </p:nvSpPr>
        <p:spPr bwMode="auto">
          <a:xfrm>
            <a:off x="4189861" y="4732643"/>
            <a:ext cx="49704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Store nearby for easy access</a:t>
            </a:r>
            <a:endParaRPr lang="en-US" altLang="en-US" sz="1400" b="0">
              <a:latin typeface="Roboto" panose="02000000000000000000" pitchFamily="2" charset="0"/>
              <a:ea typeface="Roboto" panose="02000000000000000000" pitchFamily="2" charset="0"/>
            </a:endParaRPr>
          </a:p>
        </p:txBody>
      </p:sp>
      <p:sp>
        <p:nvSpPr>
          <p:cNvPr id="30" name="Line 15">
            <a:extLst>
              <a:ext uri="{FF2B5EF4-FFF2-40B4-BE49-F238E27FC236}">
                <a16:creationId xmlns:a16="http://schemas.microsoft.com/office/drawing/2014/main" id="{9349D918-9F81-B696-28B5-F200388B67D0}"/>
              </a:ext>
            </a:extLst>
          </p:cNvPr>
          <p:cNvSpPr>
            <a:spLocks noChangeShapeType="1"/>
          </p:cNvSpPr>
          <p:nvPr/>
        </p:nvSpPr>
        <p:spPr bwMode="auto">
          <a:xfrm>
            <a:off x="1010099" y="2287893"/>
            <a:ext cx="823753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1" name="Text Box 16">
            <a:extLst>
              <a:ext uri="{FF2B5EF4-FFF2-40B4-BE49-F238E27FC236}">
                <a16:creationId xmlns:a16="http://schemas.microsoft.com/office/drawing/2014/main" id="{FE7370A0-CE50-EA36-71F4-012EB2EDE4A4}"/>
              </a:ext>
            </a:extLst>
          </p:cNvPr>
          <p:cNvSpPr txBox="1">
            <a:spLocks noChangeArrowheads="1"/>
          </p:cNvSpPr>
          <p:nvPr/>
        </p:nvSpPr>
        <p:spPr bwMode="auto">
          <a:xfrm>
            <a:off x="940249" y="1941818"/>
            <a:ext cx="4376519" cy="316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Frequency of Use                     Disposition</a:t>
            </a:r>
          </a:p>
        </p:txBody>
      </p:sp>
      <p:sp>
        <p:nvSpPr>
          <p:cNvPr id="32" name="Rectangle 17">
            <a:extLst>
              <a:ext uri="{FF2B5EF4-FFF2-40B4-BE49-F238E27FC236}">
                <a16:creationId xmlns:a16="http://schemas.microsoft.com/office/drawing/2014/main" id="{61CC52AF-7890-4F90-78F6-DCAFC2B868B8}"/>
              </a:ext>
            </a:extLst>
          </p:cNvPr>
          <p:cNvSpPr>
            <a:spLocks noChangeArrowheads="1"/>
          </p:cNvSpPr>
          <p:nvPr/>
        </p:nvSpPr>
        <p:spPr bwMode="auto">
          <a:xfrm>
            <a:off x="1173611" y="5513693"/>
            <a:ext cx="1908175" cy="568325"/>
          </a:xfrm>
          <a:prstGeom prst="rect">
            <a:avLst/>
          </a:prstGeom>
          <a:solidFill>
            <a:schemeClr val="tx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Frequently Used</a:t>
            </a:r>
          </a:p>
        </p:txBody>
      </p:sp>
      <p:sp>
        <p:nvSpPr>
          <p:cNvPr id="33" name="Line 18">
            <a:extLst>
              <a:ext uri="{FF2B5EF4-FFF2-40B4-BE49-F238E27FC236}">
                <a16:creationId xmlns:a16="http://schemas.microsoft.com/office/drawing/2014/main" id="{318A67EE-BBDB-299D-7A04-688340520A02}"/>
              </a:ext>
            </a:extLst>
          </p:cNvPr>
          <p:cNvSpPr>
            <a:spLocks noChangeShapeType="1"/>
          </p:cNvSpPr>
          <p:nvPr/>
        </p:nvSpPr>
        <p:spPr bwMode="auto">
          <a:xfrm>
            <a:off x="1021211" y="6224893"/>
            <a:ext cx="8220075"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4" name="Rectangle 19">
            <a:extLst>
              <a:ext uri="{FF2B5EF4-FFF2-40B4-BE49-F238E27FC236}">
                <a16:creationId xmlns:a16="http://schemas.microsoft.com/office/drawing/2014/main" id="{F478B7B8-8DFD-6ADF-79B9-745915FAC96D}"/>
              </a:ext>
            </a:extLst>
          </p:cNvPr>
          <p:cNvSpPr>
            <a:spLocks noChangeArrowheads="1"/>
          </p:cNvSpPr>
          <p:nvPr/>
        </p:nvSpPr>
        <p:spPr bwMode="auto">
          <a:xfrm>
            <a:off x="4189861" y="5520043"/>
            <a:ext cx="49704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Store close at hand for ready-access</a:t>
            </a:r>
            <a:endParaRPr lang="en-US" altLang="en-US" sz="1400" b="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577942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1S Sort Strategy, continued</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sz="3200" dirty="0"/>
              <a:t>Don’t forget  your computer files and email!</a:t>
            </a:r>
          </a:p>
          <a:p>
            <a:r>
              <a:rPr lang="en-US" sz="3200" dirty="0"/>
              <a:t>Minimize personal items</a:t>
            </a:r>
          </a:p>
          <a:p>
            <a:r>
              <a:rPr lang="en-US" sz="3200" dirty="0"/>
              <a:t>Only leave the bare essentials</a:t>
            </a:r>
          </a:p>
          <a:p>
            <a:r>
              <a:rPr lang="en-US" sz="3200" dirty="0"/>
              <a:t>Tape binders and books closed and mark with “date last used” to identify future items to discard or store remotely</a:t>
            </a:r>
          </a:p>
          <a:p>
            <a:r>
              <a:rPr lang="en-US" sz="3200" dirty="0"/>
              <a:t>Consider using a common library for books or reference materials (establish clear owner and process)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27</a:t>
            </a:fld>
            <a:endParaRPr lang="en-US"/>
          </a:p>
        </p:txBody>
      </p:sp>
      <p:sp>
        <p:nvSpPr>
          <p:cNvPr id="4" name="TextBox 3">
            <a:extLst>
              <a:ext uri="{FF2B5EF4-FFF2-40B4-BE49-F238E27FC236}">
                <a16:creationId xmlns:a16="http://schemas.microsoft.com/office/drawing/2014/main" id="{7221F4DB-E921-659A-F225-3C48DF2DB892}"/>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6" name="Group 5">
            <a:extLst>
              <a:ext uri="{FF2B5EF4-FFF2-40B4-BE49-F238E27FC236}">
                <a16:creationId xmlns:a16="http://schemas.microsoft.com/office/drawing/2014/main" id="{643904D1-09C6-FD4A-BD1F-F3076F8E26DC}"/>
              </a:ext>
            </a:extLst>
          </p:cNvPr>
          <p:cNvGrpSpPr/>
          <p:nvPr/>
        </p:nvGrpSpPr>
        <p:grpSpPr>
          <a:xfrm>
            <a:off x="940249" y="302538"/>
            <a:ext cx="1060167" cy="290657"/>
            <a:chOff x="940249" y="315206"/>
            <a:chExt cx="1060167" cy="265062"/>
          </a:xfrm>
        </p:grpSpPr>
        <p:sp>
          <p:nvSpPr>
            <p:cNvPr id="7" name="AutoShape 9">
              <a:extLst>
                <a:ext uri="{FF2B5EF4-FFF2-40B4-BE49-F238E27FC236}">
                  <a16:creationId xmlns:a16="http://schemas.microsoft.com/office/drawing/2014/main" id="{72F2E50A-D20F-1956-8303-0B2A01A5A0F4}"/>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EEC4ECF6-3911-AF92-42DD-1FDA2A9E9E27}"/>
                </a:ext>
              </a:extLst>
            </p:cNvPr>
            <p:cNvGrpSpPr/>
            <p:nvPr/>
          </p:nvGrpSpPr>
          <p:grpSpPr>
            <a:xfrm>
              <a:off x="940249" y="315206"/>
              <a:ext cx="746492" cy="265062"/>
              <a:chOff x="940249" y="315206"/>
              <a:chExt cx="746492" cy="265062"/>
            </a:xfrm>
          </p:grpSpPr>
          <p:sp>
            <p:nvSpPr>
              <p:cNvPr id="9" name="AutoShape 11">
                <a:extLst>
                  <a:ext uri="{FF2B5EF4-FFF2-40B4-BE49-F238E27FC236}">
                    <a16:creationId xmlns:a16="http://schemas.microsoft.com/office/drawing/2014/main" id="{EE0C02C0-8A10-853E-662D-B849A7667AC4}"/>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0">
                <a:extLst>
                  <a:ext uri="{FF2B5EF4-FFF2-40B4-BE49-F238E27FC236}">
                    <a16:creationId xmlns:a16="http://schemas.microsoft.com/office/drawing/2014/main" id="{C7CC5D6C-6805-19EF-F3B3-D33CC4478DE5}"/>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35864977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1S Sort Strategy, continued</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sz="3200" dirty="0"/>
              <a:t>“When in doubt, throw it out!”</a:t>
            </a:r>
          </a:p>
          <a:p>
            <a:r>
              <a:rPr lang="en-US" sz="3200" dirty="0"/>
              <a:t>Establish temporary staging/review area for “red tag” items</a:t>
            </a:r>
          </a:p>
          <a:p>
            <a:pPr lvl="1"/>
            <a:r>
              <a:rPr lang="en-US" sz="2800" dirty="0"/>
              <a:t>Use for re-usable office equipment or furniture</a:t>
            </a:r>
          </a:p>
          <a:p>
            <a:pPr lvl="1"/>
            <a:r>
              <a:rPr lang="en-US" sz="2800" dirty="0"/>
              <a:t>Use to consolidate items for recycling</a:t>
            </a:r>
          </a:p>
          <a:p>
            <a:pPr lvl="1"/>
            <a:r>
              <a:rPr lang="en-US" sz="2800" dirty="0"/>
              <a:t>Identify who must review and disposition</a:t>
            </a:r>
          </a:p>
          <a:p>
            <a:pPr lvl="1"/>
            <a:r>
              <a:rPr lang="en-US" sz="2800" dirty="0"/>
              <a:t>Ensure all items dispositioned before end of this event</a:t>
            </a:r>
          </a:p>
          <a:p>
            <a:pPr lvl="1"/>
            <a:r>
              <a:rPr lang="en-US" sz="2800" dirty="0"/>
              <a:t>DO NOT MAKE A NEW MESS!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28</a:t>
            </a:fld>
            <a:endParaRPr lang="en-US"/>
          </a:p>
        </p:txBody>
      </p:sp>
      <p:sp>
        <p:nvSpPr>
          <p:cNvPr id="4" name="TextBox 3">
            <a:extLst>
              <a:ext uri="{FF2B5EF4-FFF2-40B4-BE49-F238E27FC236}">
                <a16:creationId xmlns:a16="http://schemas.microsoft.com/office/drawing/2014/main" id="{7221F4DB-E921-659A-F225-3C48DF2DB892}"/>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6" name="Group 5">
            <a:extLst>
              <a:ext uri="{FF2B5EF4-FFF2-40B4-BE49-F238E27FC236}">
                <a16:creationId xmlns:a16="http://schemas.microsoft.com/office/drawing/2014/main" id="{643904D1-09C6-FD4A-BD1F-F3076F8E26DC}"/>
              </a:ext>
            </a:extLst>
          </p:cNvPr>
          <p:cNvGrpSpPr/>
          <p:nvPr/>
        </p:nvGrpSpPr>
        <p:grpSpPr>
          <a:xfrm>
            <a:off x="940249" y="302538"/>
            <a:ext cx="1060167" cy="290657"/>
            <a:chOff x="940249" y="315206"/>
            <a:chExt cx="1060167" cy="265062"/>
          </a:xfrm>
        </p:grpSpPr>
        <p:sp>
          <p:nvSpPr>
            <p:cNvPr id="7" name="AutoShape 9">
              <a:extLst>
                <a:ext uri="{FF2B5EF4-FFF2-40B4-BE49-F238E27FC236}">
                  <a16:creationId xmlns:a16="http://schemas.microsoft.com/office/drawing/2014/main" id="{72F2E50A-D20F-1956-8303-0B2A01A5A0F4}"/>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EEC4ECF6-3911-AF92-42DD-1FDA2A9E9E27}"/>
                </a:ext>
              </a:extLst>
            </p:cNvPr>
            <p:cNvGrpSpPr/>
            <p:nvPr/>
          </p:nvGrpSpPr>
          <p:grpSpPr>
            <a:xfrm>
              <a:off x="940249" y="315206"/>
              <a:ext cx="746492" cy="265062"/>
              <a:chOff x="940249" y="315206"/>
              <a:chExt cx="746492" cy="265062"/>
            </a:xfrm>
          </p:grpSpPr>
          <p:sp>
            <p:nvSpPr>
              <p:cNvPr id="9" name="AutoShape 11">
                <a:extLst>
                  <a:ext uri="{FF2B5EF4-FFF2-40B4-BE49-F238E27FC236}">
                    <a16:creationId xmlns:a16="http://schemas.microsoft.com/office/drawing/2014/main" id="{EE0C02C0-8A10-853E-662D-B849A7667AC4}"/>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0">
                <a:extLst>
                  <a:ext uri="{FF2B5EF4-FFF2-40B4-BE49-F238E27FC236}">
                    <a16:creationId xmlns:a16="http://schemas.microsoft.com/office/drawing/2014/main" id="{C7CC5D6C-6805-19EF-F3B3-D33CC4478DE5}"/>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36367704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Red-Tagging Process</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Red Tag Template</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normAutofit fontScale="62500" lnSpcReduction="20000"/>
          </a:bodyPr>
          <a:lstStyle/>
          <a:p>
            <a:r>
              <a:rPr lang="en-US" dirty="0"/>
              <a:t>Tracking process to provide visual identification and formal disposition</a:t>
            </a:r>
          </a:p>
          <a:p>
            <a:r>
              <a:rPr lang="en-US" dirty="0"/>
              <a:t>Utilize for discarded items that may be needed or stored in another area (such as re-usable office furniture)</a:t>
            </a:r>
          </a:p>
          <a:p>
            <a:r>
              <a:rPr lang="en-US" dirty="0"/>
              <a:t>Should be full size </a:t>
            </a:r>
            <a:br>
              <a:rPr lang="en-US" dirty="0"/>
            </a:br>
            <a:r>
              <a:rPr lang="en-US" dirty="0"/>
              <a:t>(8.5” x 11”)</a:t>
            </a:r>
          </a:p>
          <a:p>
            <a:r>
              <a:rPr lang="en-US" dirty="0"/>
              <a:t>Bright red to promote visibility</a:t>
            </a:r>
          </a:p>
          <a:p>
            <a:r>
              <a:rPr lang="en-US" dirty="0"/>
              <a:t>Should have pre-printed sequential tag numbers</a:t>
            </a:r>
          </a:p>
          <a:p>
            <a:r>
              <a:rPr lang="en-US" dirty="0"/>
              <a:t>Perforated lower section to record location of tag</a:t>
            </a:r>
          </a:p>
          <a:p>
            <a:r>
              <a:rPr lang="en-US" dirty="0"/>
              <a:t>Disposition required with clear ownership defined</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29</a:t>
            </a:fld>
            <a:endParaRPr lang="en-US"/>
          </a:p>
        </p:txBody>
      </p:sp>
      <p:sp>
        <p:nvSpPr>
          <p:cNvPr id="7" name="TextBox 6">
            <a:extLst>
              <a:ext uri="{FF2B5EF4-FFF2-40B4-BE49-F238E27FC236}">
                <a16:creationId xmlns:a16="http://schemas.microsoft.com/office/drawing/2014/main" id="{93808F32-D3AD-B9C7-C8E3-8793B2BBC46B}"/>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9" name="Group 8">
            <a:extLst>
              <a:ext uri="{FF2B5EF4-FFF2-40B4-BE49-F238E27FC236}">
                <a16:creationId xmlns:a16="http://schemas.microsoft.com/office/drawing/2014/main" id="{051F2B21-0A35-B8FE-4B95-2FA708FBE88C}"/>
              </a:ext>
            </a:extLst>
          </p:cNvPr>
          <p:cNvGrpSpPr/>
          <p:nvPr/>
        </p:nvGrpSpPr>
        <p:grpSpPr>
          <a:xfrm>
            <a:off x="940249" y="302538"/>
            <a:ext cx="1060167" cy="290657"/>
            <a:chOff x="940249" y="315206"/>
            <a:chExt cx="1060167" cy="265062"/>
          </a:xfrm>
        </p:grpSpPr>
        <p:sp>
          <p:nvSpPr>
            <p:cNvPr id="10" name="AutoShape 9">
              <a:extLst>
                <a:ext uri="{FF2B5EF4-FFF2-40B4-BE49-F238E27FC236}">
                  <a16:creationId xmlns:a16="http://schemas.microsoft.com/office/drawing/2014/main" id="{2C4CFBBE-AEEE-E0D3-7456-24441F5BB437}"/>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61762456-7B0F-A7E2-A86F-1E899157C74D}"/>
                </a:ext>
              </a:extLst>
            </p:cNvPr>
            <p:cNvGrpSpPr/>
            <p:nvPr/>
          </p:nvGrpSpPr>
          <p:grpSpPr>
            <a:xfrm>
              <a:off x="940249" y="315206"/>
              <a:ext cx="746492" cy="265062"/>
              <a:chOff x="940249" y="315206"/>
              <a:chExt cx="746492" cy="265062"/>
            </a:xfrm>
          </p:grpSpPr>
          <p:sp>
            <p:nvSpPr>
              <p:cNvPr id="12" name="AutoShape 11">
                <a:extLst>
                  <a:ext uri="{FF2B5EF4-FFF2-40B4-BE49-F238E27FC236}">
                    <a16:creationId xmlns:a16="http://schemas.microsoft.com/office/drawing/2014/main" id="{457E8CB2-E04C-93CE-645A-9BB2A76FC0DF}"/>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2437DF7B-C446-CF0D-FD29-FEAD822DCD8B}"/>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5" name="AutoShape 5">
            <a:extLst>
              <a:ext uri="{FF2B5EF4-FFF2-40B4-BE49-F238E27FC236}">
                <a16:creationId xmlns:a16="http://schemas.microsoft.com/office/drawing/2014/main" id="{1E35BD5C-C127-E202-0EAF-4DE6D91F31D5}"/>
              </a:ext>
            </a:extLst>
          </p:cNvPr>
          <p:cNvSpPr>
            <a:spLocks noChangeArrowheads="1"/>
          </p:cNvSpPr>
          <p:nvPr/>
        </p:nvSpPr>
        <p:spPr bwMode="auto">
          <a:xfrm>
            <a:off x="5600857" y="2882900"/>
            <a:ext cx="285750" cy="2493963"/>
          </a:xfrm>
          <a:prstGeom prst="rightArrow">
            <a:avLst>
              <a:gd name="adj1" fmla="val 67278"/>
              <a:gd name="adj2" fmla="val 72222"/>
            </a:avLst>
          </a:prstGeom>
          <a:solidFill>
            <a:schemeClr val="tx2"/>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dirty="0">
              <a:solidFill>
                <a:schemeClr val="bg1"/>
              </a:solidFill>
            </a:endParaRPr>
          </a:p>
        </p:txBody>
      </p:sp>
      <p:graphicFrame>
        <p:nvGraphicFramePr>
          <p:cNvPr id="16" name="Object 27">
            <a:extLst>
              <a:ext uri="{FF2B5EF4-FFF2-40B4-BE49-F238E27FC236}">
                <a16:creationId xmlns:a16="http://schemas.microsoft.com/office/drawing/2014/main" id="{B18DC808-C2FD-9CF8-7897-605F5B77028F}"/>
              </a:ext>
            </a:extLst>
          </p:cNvPr>
          <p:cNvGraphicFramePr>
            <a:graphicFrameLocks noGrp="1" noChangeAspect="1"/>
          </p:cNvGraphicFramePr>
          <p:nvPr>
            <p:ph sz="half" idx="2"/>
            <p:extLst>
              <p:ext uri="{D42A27DB-BD31-4B8C-83A1-F6EECF244321}">
                <p14:modId xmlns:p14="http://schemas.microsoft.com/office/powerpoint/2010/main" val="3312953547"/>
              </p:ext>
            </p:extLst>
          </p:nvPr>
        </p:nvGraphicFramePr>
        <p:xfrm>
          <a:off x="1156657" y="2505075"/>
          <a:ext cx="3633055" cy="3684588"/>
        </p:xfrm>
        <a:graphic>
          <a:graphicData uri="http://schemas.openxmlformats.org/presentationml/2006/ole">
            <mc:AlternateContent xmlns:mc="http://schemas.openxmlformats.org/markup-compatibility/2006">
              <mc:Choice xmlns:v="urn:schemas-microsoft-com:vml" Requires="v">
                <p:oleObj name="Worksheet" r:id="rId3" imgW="6715461" imgH="6810587" progId="Excel.Sheet.8">
                  <p:embed/>
                </p:oleObj>
              </mc:Choice>
              <mc:Fallback>
                <p:oleObj name="Worksheet" r:id="rId3" imgW="6715461" imgH="6810587" progId="Excel.Sheet.8">
                  <p:embed/>
                  <p:pic>
                    <p:nvPicPr>
                      <p:cNvPr id="57349" name="Object 27">
                        <a:extLst>
                          <a:ext uri="{FF2B5EF4-FFF2-40B4-BE49-F238E27FC236}">
                            <a16:creationId xmlns:a16="http://schemas.microsoft.com/office/drawing/2014/main" id="{45EF74F4-096A-4B4D-9D72-1040196A4E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6657" y="2505075"/>
                        <a:ext cx="3633055" cy="3684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5891943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Red-Tagging Procedures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30</a:t>
            </a:fld>
            <a:endParaRPr lang="en-US"/>
          </a:p>
        </p:txBody>
      </p:sp>
      <p:sp>
        <p:nvSpPr>
          <p:cNvPr id="3" name="AutoShape 17">
            <a:extLst>
              <a:ext uri="{FF2B5EF4-FFF2-40B4-BE49-F238E27FC236}">
                <a16:creationId xmlns:a16="http://schemas.microsoft.com/office/drawing/2014/main" id="{8416A5F2-E4A6-62A1-A63D-E633D21C03D2}"/>
              </a:ext>
            </a:extLst>
          </p:cNvPr>
          <p:cNvSpPr>
            <a:spLocks noChangeArrowheads="1"/>
          </p:cNvSpPr>
          <p:nvPr/>
        </p:nvSpPr>
        <p:spPr bwMode="auto">
          <a:xfrm>
            <a:off x="7820060" y="1833245"/>
            <a:ext cx="2098675" cy="625475"/>
          </a:xfrm>
          <a:prstGeom prst="homePlate">
            <a:avLst>
              <a:gd name="adj" fmla="val 50144"/>
            </a:avLst>
          </a:prstGeom>
          <a:solidFill>
            <a:schemeClr val="accent1"/>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   Step 5</a:t>
            </a:r>
          </a:p>
        </p:txBody>
      </p:sp>
      <p:sp>
        <p:nvSpPr>
          <p:cNvPr id="5" name="Rectangle 18">
            <a:extLst>
              <a:ext uri="{FF2B5EF4-FFF2-40B4-BE49-F238E27FC236}">
                <a16:creationId xmlns:a16="http://schemas.microsoft.com/office/drawing/2014/main" id="{582B9046-5C3C-5189-CD32-C1E78CED40D8}"/>
              </a:ext>
            </a:extLst>
          </p:cNvPr>
          <p:cNvSpPr>
            <a:spLocks noChangeArrowheads="1"/>
          </p:cNvSpPr>
          <p:nvPr/>
        </p:nvSpPr>
        <p:spPr bwMode="auto">
          <a:xfrm>
            <a:off x="7748623" y="2682558"/>
            <a:ext cx="2135187"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Evaluate red tag items</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Dispose of truly unnecessary items</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Retain red tagged material if there is proper justification</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Discard any material which has been red tagged after a pre-determined time</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Complete all red tag information.  returned to the red tag coordinator</a:t>
            </a:r>
          </a:p>
        </p:txBody>
      </p:sp>
      <p:sp>
        <p:nvSpPr>
          <p:cNvPr id="6" name="AutoShape 5">
            <a:extLst>
              <a:ext uri="{FF2B5EF4-FFF2-40B4-BE49-F238E27FC236}">
                <a16:creationId xmlns:a16="http://schemas.microsoft.com/office/drawing/2014/main" id="{6BC9815B-D7BD-018B-5A3D-31BCA97A7F7B}"/>
              </a:ext>
            </a:extLst>
          </p:cNvPr>
          <p:cNvSpPr>
            <a:spLocks noChangeArrowheads="1"/>
          </p:cNvSpPr>
          <p:nvPr/>
        </p:nvSpPr>
        <p:spPr bwMode="auto">
          <a:xfrm>
            <a:off x="6073810" y="1823720"/>
            <a:ext cx="2162175" cy="625475"/>
          </a:xfrm>
          <a:prstGeom prst="homePlate">
            <a:avLst>
              <a:gd name="adj" fmla="val 51661"/>
            </a:avLst>
          </a:prstGeom>
          <a:solidFill>
            <a:schemeClr val="accent1"/>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   Step 4</a:t>
            </a:r>
          </a:p>
        </p:txBody>
      </p:sp>
      <p:sp>
        <p:nvSpPr>
          <p:cNvPr id="7" name="Rectangle 6">
            <a:extLst>
              <a:ext uri="{FF2B5EF4-FFF2-40B4-BE49-F238E27FC236}">
                <a16:creationId xmlns:a16="http://schemas.microsoft.com/office/drawing/2014/main" id="{4370BA03-21EE-10AE-15EC-31E7ACC071F9}"/>
              </a:ext>
            </a:extLst>
          </p:cNvPr>
          <p:cNvSpPr>
            <a:spLocks noChangeArrowheads="1"/>
          </p:cNvSpPr>
          <p:nvPr/>
        </p:nvSpPr>
        <p:spPr bwMode="auto">
          <a:xfrm>
            <a:off x="6140485" y="2673033"/>
            <a:ext cx="1701800"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Explain red tag criteria to teams</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Ensure a good cross-section of people tagging items to prevent “I might need that”</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Red tag work area as rapidly as possible</a:t>
            </a:r>
          </a:p>
        </p:txBody>
      </p:sp>
      <p:sp>
        <p:nvSpPr>
          <p:cNvPr id="8" name="Rectangle 8">
            <a:extLst>
              <a:ext uri="{FF2B5EF4-FFF2-40B4-BE49-F238E27FC236}">
                <a16:creationId xmlns:a16="http://schemas.microsoft.com/office/drawing/2014/main" id="{2385F30E-CAD6-CB4A-93AD-B53D4FF4E47E}"/>
              </a:ext>
            </a:extLst>
          </p:cNvPr>
          <p:cNvSpPr>
            <a:spLocks noChangeArrowheads="1"/>
          </p:cNvSpPr>
          <p:nvPr/>
        </p:nvSpPr>
        <p:spPr bwMode="auto">
          <a:xfrm>
            <a:off x="4594260" y="2669858"/>
            <a:ext cx="1628775"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Determine what criteria will used to distinguish a needed item from  an unneeded item</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Example: Save only the items needed to conduct business in the area</a:t>
            </a:r>
          </a:p>
        </p:txBody>
      </p:sp>
      <p:sp>
        <p:nvSpPr>
          <p:cNvPr id="9" name="AutoShape 9">
            <a:extLst>
              <a:ext uri="{FF2B5EF4-FFF2-40B4-BE49-F238E27FC236}">
                <a16:creationId xmlns:a16="http://schemas.microsoft.com/office/drawing/2014/main" id="{EBDCB8EF-7294-3926-FFE4-A4E34156074B}"/>
              </a:ext>
            </a:extLst>
          </p:cNvPr>
          <p:cNvSpPr>
            <a:spLocks noChangeArrowheads="1"/>
          </p:cNvSpPr>
          <p:nvPr/>
        </p:nvSpPr>
        <p:spPr bwMode="auto">
          <a:xfrm>
            <a:off x="4543460" y="1823720"/>
            <a:ext cx="1893888" cy="625475"/>
          </a:xfrm>
          <a:prstGeom prst="homePlate">
            <a:avLst>
              <a:gd name="adj" fmla="val 45209"/>
            </a:avLst>
          </a:prstGeom>
          <a:solidFill>
            <a:schemeClr val="accent1"/>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None/>
            </a:pPr>
            <a:r>
              <a:rPr lang="en-US" altLang="en-US" sz="1800" dirty="0">
                <a:solidFill>
                  <a:schemeClr val="bg1"/>
                </a:solidFill>
                <a:latin typeface="Roboto" panose="02000000000000000000" pitchFamily="2" charset="0"/>
                <a:ea typeface="Roboto" panose="02000000000000000000" pitchFamily="2" charset="0"/>
              </a:rPr>
              <a:t>Step 3</a:t>
            </a:r>
          </a:p>
        </p:txBody>
      </p:sp>
      <p:grpSp>
        <p:nvGrpSpPr>
          <p:cNvPr id="10" name="Group 10">
            <a:extLst>
              <a:ext uri="{FF2B5EF4-FFF2-40B4-BE49-F238E27FC236}">
                <a16:creationId xmlns:a16="http://schemas.microsoft.com/office/drawing/2014/main" id="{62CBCA5B-0343-AEDD-F90E-B04F607C4430}"/>
              </a:ext>
            </a:extLst>
          </p:cNvPr>
          <p:cNvGrpSpPr>
            <a:grpSpLocks/>
          </p:cNvGrpSpPr>
          <p:nvPr/>
        </p:nvGrpSpPr>
        <p:grpSpPr bwMode="auto">
          <a:xfrm>
            <a:off x="3125823" y="1823720"/>
            <a:ext cx="1741487" cy="3357563"/>
            <a:chOff x="1549" y="1012"/>
            <a:chExt cx="1472" cy="2115"/>
          </a:xfrm>
        </p:grpSpPr>
        <p:sp>
          <p:nvSpPr>
            <p:cNvPr id="11" name="Rectangle 11">
              <a:extLst>
                <a:ext uri="{FF2B5EF4-FFF2-40B4-BE49-F238E27FC236}">
                  <a16:creationId xmlns:a16="http://schemas.microsoft.com/office/drawing/2014/main" id="{1C377CFE-FAA8-3394-3D32-700826E7FB09}"/>
                </a:ext>
              </a:extLst>
            </p:cNvPr>
            <p:cNvSpPr>
              <a:spLocks noChangeArrowheads="1"/>
            </p:cNvSpPr>
            <p:nvPr/>
          </p:nvSpPr>
          <p:spPr bwMode="auto">
            <a:xfrm>
              <a:off x="1657" y="1545"/>
              <a:ext cx="1197" cy="1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Identify Red Tag targets</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Determine location for all red tag items during event</a:t>
              </a:r>
            </a:p>
          </p:txBody>
        </p:sp>
        <p:sp>
          <p:nvSpPr>
            <p:cNvPr id="12" name="AutoShape 12">
              <a:extLst>
                <a:ext uri="{FF2B5EF4-FFF2-40B4-BE49-F238E27FC236}">
                  <a16:creationId xmlns:a16="http://schemas.microsoft.com/office/drawing/2014/main" id="{DFB6961F-0CC6-0228-E137-4ECE16A76A81}"/>
                </a:ext>
              </a:extLst>
            </p:cNvPr>
            <p:cNvSpPr>
              <a:spLocks noChangeArrowheads="1"/>
            </p:cNvSpPr>
            <p:nvPr/>
          </p:nvSpPr>
          <p:spPr bwMode="auto">
            <a:xfrm>
              <a:off x="1549" y="1012"/>
              <a:ext cx="1472" cy="394"/>
            </a:xfrm>
            <a:prstGeom prst="homePlate">
              <a:avLst>
                <a:gd name="adj" fmla="val 48586"/>
              </a:avLst>
            </a:prstGeom>
            <a:solidFill>
              <a:schemeClr val="accent1"/>
            </a:solidFill>
            <a:ln w="19050">
              <a:solidFill>
                <a:schemeClr val="bg1"/>
              </a:solidFill>
              <a:miter lim="800000"/>
              <a:headEnd/>
              <a:tailEnd/>
            </a:ln>
          </p:spPr>
          <p:txBody>
            <a:bodyPr lIns="45720" tIns="46038" rIns="45720" bIns="46038" anchor="ctr"/>
            <a:lstStyle>
              <a:lvl1pPr marL="17145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
                  <a:schemeClr val="tx1"/>
                </a:buClr>
                <a:buNone/>
              </a:pPr>
              <a:r>
                <a:rPr lang="en-US" altLang="en-US" sz="1800" dirty="0">
                  <a:solidFill>
                    <a:schemeClr val="bg1"/>
                  </a:solidFill>
                  <a:latin typeface="Roboto" panose="02000000000000000000" pitchFamily="2" charset="0"/>
                  <a:ea typeface="Roboto" panose="02000000000000000000" pitchFamily="2" charset="0"/>
                </a:rPr>
                <a:t>Step 2</a:t>
              </a:r>
            </a:p>
          </p:txBody>
        </p:sp>
      </p:grpSp>
      <p:grpSp>
        <p:nvGrpSpPr>
          <p:cNvPr id="13" name="Group 13">
            <a:extLst>
              <a:ext uri="{FF2B5EF4-FFF2-40B4-BE49-F238E27FC236}">
                <a16:creationId xmlns:a16="http://schemas.microsoft.com/office/drawing/2014/main" id="{C25FE2A9-3B8D-9356-460B-4B7570D4BEC9}"/>
              </a:ext>
            </a:extLst>
          </p:cNvPr>
          <p:cNvGrpSpPr>
            <a:grpSpLocks/>
          </p:cNvGrpSpPr>
          <p:nvPr/>
        </p:nvGrpSpPr>
        <p:grpSpPr bwMode="auto">
          <a:xfrm>
            <a:off x="1633573" y="1823720"/>
            <a:ext cx="1766887" cy="2728913"/>
            <a:chOff x="311" y="1012"/>
            <a:chExt cx="1469" cy="1719"/>
          </a:xfrm>
        </p:grpSpPr>
        <p:sp>
          <p:nvSpPr>
            <p:cNvPr id="14" name="Rectangle 14">
              <a:extLst>
                <a:ext uri="{FF2B5EF4-FFF2-40B4-BE49-F238E27FC236}">
                  <a16:creationId xmlns:a16="http://schemas.microsoft.com/office/drawing/2014/main" id="{737BB0DD-3095-9858-3D97-EDD968C66927}"/>
                </a:ext>
              </a:extLst>
            </p:cNvPr>
            <p:cNvSpPr>
              <a:spLocks noChangeArrowheads="1"/>
            </p:cNvSpPr>
            <p:nvPr/>
          </p:nvSpPr>
          <p:spPr bwMode="auto">
            <a:xfrm>
              <a:off x="352" y="1545"/>
              <a:ext cx="1316" cy="1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spAutoFit/>
            </a:bodyPr>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Select members from various teams</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Select a high level manager to participate as a team member</a:t>
              </a:r>
            </a:p>
          </p:txBody>
        </p:sp>
        <p:sp>
          <p:nvSpPr>
            <p:cNvPr id="15" name="AutoShape 15">
              <a:extLst>
                <a:ext uri="{FF2B5EF4-FFF2-40B4-BE49-F238E27FC236}">
                  <a16:creationId xmlns:a16="http://schemas.microsoft.com/office/drawing/2014/main" id="{370FAEF6-B53B-1453-698D-12931075DB81}"/>
                </a:ext>
              </a:extLst>
            </p:cNvPr>
            <p:cNvSpPr>
              <a:spLocks noChangeArrowheads="1"/>
            </p:cNvSpPr>
            <p:nvPr/>
          </p:nvSpPr>
          <p:spPr bwMode="auto">
            <a:xfrm>
              <a:off x="311" y="1012"/>
              <a:ext cx="1469" cy="394"/>
            </a:xfrm>
            <a:prstGeom prst="homePlate">
              <a:avLst>
                <a:gd name="adj" fmla="val 54200"/>
              </a:avLst>
            </a:prstGeom>
            <a:solidFill>
              <a:schemeClr val="accent1"/>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
                  <a:schemeClr val="tx1"/>
                </a:buClr>
                <a:buNone/>
              </a:pPr>
              <a:r>
                <a:rPr lang="en-US" altLang="en-US" sz="1800" dirty="0">
                  <a:solidFill>
                    <a:schemeClr val="bg1"/>
                  </a:solidFill>
                  <a:latin typeface="Roboto" panose="02000000000000000000" pitchFamily="2" charset="0"/>
                  <a:ea typeface="Roboto" panose="02000000000000000000" pitchFamily="2" charset="0"/>
                </a:rPr>
                <a:t>Step 1</a:t>
              </a:r>
            </a:p>
          </p:txBody>
        </p:sp>
      </p:grpSp>
      <p:sp>
        <p:nvSpPr>
          <p:cNvPr id="16" name="TextBox 15">
            <a:extLst>
              <a:ext uri="{FF2B5EF4-FFF2-40B4-BE49-F238E27FC236}">
                <a16:creationId xmlns:a16="http://schemas.microsoft.com/office/drawing/2014/main" id="{86973CC2-F40B-2ED7-E482-D2AC39503873}"/>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17" name="Group 16">
            <a:extLst>
              <a:ext uri="{FF2B5EF4-FFF2-40B4-BE49-F238E27FC236}">
                <a16:creationId xmlns:a16="http://schemas.microsoft.com/office/drawing/2014/main" id="{C1FC3D5D-02B6-A770-BE3E-211D1F246D46}"/>
              </a:ext>
            </a:extLst>
          </p:cNvPr>
          <p:cNvGrpSpPr/>
          <p:nvPr/>
        </p:nvGrpSpPr>
        <p:grpSpPr>
          <a:xfrm>
            <a:off x="940249" y="302538"/>
            <a:ext cx="1060167" cy="290657"/>
            <a:chOff x="940249" y="315206"/>
            <a:chExt cx="1060167" cy="265062"/>
          </a:xfrm>
        </p:grpSpPr>
        <p:sp>
          <p:nvSpPr>
            <p:cNvPr id="18" name="AutoShape 9">
              <a:extLst>
                <a:ext uri="{FF2B5EF4-FFF2-40B4-BE49-F238E27FC236}">
                  <a16:creationId xmlns:a16="http://schemas.microsoft.com/office/drawing/2014/main" id="{6F498EF4-B2E1-9506-5CA0-5060B4C6904B}"/>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FDF781E2-84AC-3552-82AD-A2BFF1EF5381}"/>
                </a:ext>
              </a:extLst>
            </p:cNvPr>
            <p:cNvGrpSpPr/>
            <p:nvPr/>
          </p:nvGrpSpPr>
          <p:grpSpPr>
            <a:xfrm>
              <a:off x="940249" y="315206"/>
              <a:ext cx="746492" cy="265062"/>
              <a:chOff x="940249" y="315206"/>
              <a:chExt cx="746492" cy="265062"/>
            </a:xfrm>
          </p:grpSpPr>
          <p:sp>
            <p:nvSpPr>
              <p:cNvPr id="20" name="AutoShape 11">
                <a:extLst>
                  <a:ext uri="{FF2B5EF4-FFF2-40B4-BE49-F238E27FC236}">
                    <a16:creationId xmlns:a16="http://schemas.microsoft.com/office/drawing/2014/main" id="{09D0B0C2-B19B-AA42-9B84-6C5050D71194}"/>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0">
                <a:extLst>
                  <a:ext uri="{FF2B5EF4-FFF2-40B4-BE49-F238E27FC236}">
                    <a16:creationId xmlns:a16="http://schemas.microsoft.com/office/drawing/2014/main" id="{F0F37F1B-0E17-0022-7401-000189A35A41}"/>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8597920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A97DE-DEBC-9B03-4ECF-9BF7E737456E}"/>
              </a:ext>
            </a:extLst>
          </p:cNvPr>
          <p:cNvSpPr>
            <a:spLocks noGrp="1"/>
          </p:cNvSpPr>
          <p:nvPr>
            <p:ph type="title"/>
          </p:nvPr>
        </p:nvSpPr>
        <p:spPr/>
        <p:txBody>
          <a:bodyPr/>
          <a:lstStyle/>
          <a:p>
            <a:r>
              <a:rPr lang="en-US" dirty="0"/>
              <a:t>1S NON-Example</a:t>
            </a:r>
          </a:p>
        </p:txBody>
      </p:sp>
      <p:sp>
        <p:nvSpPr>
          <p:cNvPr id="4" name="Content Placeholder 3">
            <a:extLst>
              <a:ext uri="{FF2B5EF4-FFF2-40B4-BE49-F238E27FC236}">
                <a16:creationId xmlns:a16="http://schemas.microsoft.com/office/drawing/2014/main" id="{B4257EAB-763A-82D1-4B89-BEC36DBD12C0}"/>
              </a:ext>
            </a:extLst>
          </p:cNvPr>
          <p:cNvSpPr>
            <a:spLocks noGrp="1"/>
          </p:cNvSpPr>
          <p:nvPr>
            <p:ph sz="half" idx="2"/>
          </p:nvPr>
        </p:nvSpPr>
        <p:spPr>
          <a:xfrm>
            <a:off x="6172200" y="2882899"/>
            <a:ext cx="5181600" cy="2493963"/>
          </a:xfrm>
        </p:spPr>
        <p:txBody>
          <a:bodyPr/>
          <a:lstStyle/>
          <a:p>
            <a:r>
              <a:rPr lang="en-US" dirty="0"/>
              <a:t>Why are there TWO printers?  </a:t>
            </a:r>
          </a:p>
          <a:p>
            <a:r>
              <a:rPr lang="en-US" dirty="0"/>
              <a:t>Why are there multiple used printer cartridges scattered about?</a:t>
            </a:r>
          </a:p>
          <a:p>
            <a:r>
              <a:rPr lang="en-US" dirty="0"/>
              <a:t>What, exactly, is on this shelf?</a:t>
            </a:r>
          </a:p>
        </p:txBody>
      </p:sp>
      <p:pic>
        <p:nvPicPr>
          <p:cNvPr id="5" name="Picture 16" descr="bad examples of 1S 008">
            <a:extLst>
              <a:ext uri="{FF2B5EF4-FFF2-40B4-BE49-F238E27FC236}">
                <a16:creationId xmlns:a16="http://schemas.microsoft.com/office/drawing/2014/main" id="{A7CE8AF2-6193-9AA2-633B-EF37182D498A}"/>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799468" y="1825625"/>
            <a:ext cx="3259063"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AutoShape 5">
            <a:extLst>
              <a:ext uri="{FF2B5EF4-FFF2-40B4-BE49-F238E27FC236}">
                <a16:creationId xmlns:a16="http://schemas.microsoft.com/office/drawing/2014/main" id="{D532706F-CA09-E9A8-DD6F-3719C465E762}"/>
              </a:ext>
            </a:extLst>
          </p:cNvPr>
          <p:cNvSpPr>
            <a:spLocks noChangeArrowheads="1"/>
          </p:cNvSpPr>
          <p:nvPr/>
        </p:nvSpPr>
        <p:spPr bwMode="auto">
          <a:xfrm>
            <a:off x="5600857" y="2882900"/>
            <a:ext cx="285750" cy="2493963"/>
          </a:xfrm>
          <a:prstGeom prst="rightArrow">
            <a:avLst>
              <a:gd name="adj1" fmla="val 67278"/>
              <a:gd name="adj2" fmla="val 72222"/>
            </a:avLst>
          </a:prstGeom>
          <a:solidFill>
            <a:schemeClr val="tx2"/>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dirty="0">
              <a:solidFill>
                <a:schemeClr val="bg1"/>
              </a:solidFill>
            </a:endParaRPr>
          </a:p>
        </p:txBody>
      </p:sp>
    </p:spTree>
    <p:extLst>
      <p:ext uri="{BB962C8B-B14F-4D97-AF65-F5344CB8AC3E}">
        <p14:creationId xmlns:p14="http://schemas.microsoft.com/office/powerpoint/2010/main" val="14256743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3600" dirty="0">
                <a:latin typeface="Roboto Medium"/>
                <a:ea typeface="Roboto Medium"/>
                <a:cs typeface="Roboto Medium"/>
              </a:rPr>
              <a:t>Exercise: 1S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32</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Analyze Case Study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each team, carefully review the photos from the case study</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Answer “how would you implement “1S” in this office, based on what you see (or don’t see)?”</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Include questions you would need to ask the owner</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Record notes on chart paper for review with class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15 minutes</a:t>
            </a:r>
            <a:endPar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endParaRP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1S Strategy – one person to report out to rest of class</a:t>
            </a:r>
          </a:p>
        </p:txBody>
      </p:sp>
      <p:sp>
        <p:nvSpPr>
          <p:cNvPr id="9" name="TextBox 8">
            <a:extLst>
              <a:ext uri="{FF2B5EF4-FFF2-40B4-BE49-F238E27FC236}">
                <a16:creationId xmlns:a16="http://schemas.microsoft.com/office/drawing/2014/main" id="{985AA00D-A29D-6544-7130-516B09E40D2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10" name="Group 9">
            <a:extLst>
              <a:ext uri="{FF2B5EF4-FFF2-40B4-BE49-F238E27FC236}">
                <a16:creationId xmlns:a16="http://schemas.microsoft.com/office/drawing/2014/main" id="{B624FD29-6362-899C-35BD-CD83F08220E5}"/>
              </a:ext>
            </a:extLst>
          </p:cNvPr>
          <p:cNvGrpSpPr/>
          <p:nvPr/>
        </p:nvGrpSpPr>
        <p:grpSpPr>
          <a:xfrm>
            <a:off x="940249" y="302538"/>
            <a:ext cx="1060167" cy="290657"/>
            <a:chOff x="940249" y="315206"/>
            <a:chExt cx="1060167" cy="265062"/>
          </a:xfrm>
        </p:grpSpPr>
        <p:sp>
          <p:nvSpPr>
            <p:cNvPr id="19" name="AutoShape 9">
              <a:extLst>
                <a:ext uri="{FF2B5EF4-FFF2-40B4-BE49-F238E27FC236}">
                  <a16:creationId xmlns:a16="http://schemas.microsoft.com/office/drawing/2014/main" id="{FDF31AEA-B9A3-8ED4-A650-A6E999D87FF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37DB9D66-3761-99F8-976C-54CBE50C471B}"/>
                </a:ext>
              </a:extLst>
            </p:cNvPr>
            <p:cNvGrpSpPr/>
            <p:nvPr/>
          </p:nvGrpSpPr>
          <p:grpSpPr>
            <a:xfrm>
              <a:off x="940249" y="315206"/>
              <a:ext cx="746492" cy="265062"/>
              <a:chOff x="940249" y="315206"/>
              <a:chExt cx="746492" cy="265062"/>
            </a:xfrm>
          </p:grpSpPr>
          <p:sp>
            <p:nvSpPr>
              <p:cNvPr id="21" name="AutoShape 11">
                <a:extLst>
                  <a:ext uri="{FF2B5EF4-FFF2-40B4-BE49-F238E27FC236}">
                    <a16:creationId xmlns:a16="http://schemas.microsoft.com/office/drawing/2014/main" id="{AD50B12C-C902-7D27-4E1C-060FF711BA72}"/>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0">
                <a:extLst>
                  <a:ext uri="{FF2B5EF4-FFF2-40B4-BE49-F238E27FC236}">
                    <a16:creationId xmlns:a16="http://schemas.microsoft.com/office/drawing/2014/main" id="{74EC2DCA-13CD-8D1B-5812-649364398B06}"/>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35687889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A97DE-DEBC-9B03-4ECF-9BF7E737456E}"/>
              </a:ext>
            </a:extLst>
          </p:cNvPr>
          <p:cNvSpPr>
            <a:spLocks noGrp="1"/>
          </p:cNvSpPr>
          <p:nvPr>
            <p:ph type="title"/>
          </p:nvPr>
        </p:nvSpPr>
        <p:spPr/>
        <p:txBody>
          <a:bodyPr/>
          <a:lstStyle/>
          <a:p>
            <a:r>
              <a:rPr lang="en-US" dirty="0"/>
              <a:t>1S Example</a:t>
            </a:r>
          </a:p>
        </p:txBody>
      </p:sp>
      <p:sp>
        <p:nvSpPr>
          <p:cNvPr id="4" name="Content Placeholder 3">
            <a:extLst>
              <a:ext uri="{FF2B5EF4-FFF2-40B4-BE49-F238E27FC236}">
                <a16:creationId xmlns:a16="http://schemas.microsoft.com/office/drawing/2014/main" id="{B4257EAB-763A-82D1-4B89-BEC36DBD12C0}"/>
              </a:ext>
            </a:extLst>
          </p:cNvPr>
          <p:cNvSpPr>
            <a:spLocks noGrp="1"/>
          </p:cNvSpPr>
          <p:nvPr>
            <p:ph sz="half" idx="2"/>
          </p:nvPr>
        </p:nvSpPr>
        <p:spPr>
          <a:xfrm>
            <a:off x="6172200" y="2882899"/>
            <a:ext cx="5181600" cy="2493963"/>
          </a:xfrm>
        </p:spPr>
        <p:txBody>
          <a:bodyPr/>
          <a:lstStyle/>
          <a:p>
            <a:r>
              <a:rPr lang="en-US" dirty="0"/>
              <a:t>Deleted unused icons</a:t>
            </a:r>
          </a:p>
          <a:p>
            <a:r>
              <a:rPr lang="en-US" dirty="0"/>
              <a:t>Removed unused programs</a:t>
            </a:r>
          </a:p>
          <a:p>
            <a:r>
              <a:rPr lang="en-US" dirty="0"/>
              <a:t>Deleted old files or archived onto CD’s</a:t>
            </a:r>
          </a:p>
        </p:txBody>
      </p:sp>
      <p:pic>
        <p:nvPicPr>
          <p:cNvPr id="7" name="Picture 1045">
            <a:extLst>
              <a:ext uri="{FF2B5EF4-FFF2-40B4-BE49-F238E27FC236}">
                <a16:creationId xmlns:a16="http://schemas.microsoft.com/office/drawing/2014/main" id="{CFF19D30-8F3B-4653-5B66-10A045F98A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2700" y="3886200"/>
            <a:ext cx="3073400" cy="230505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107763" dir="2700000" algn="ctr" rotWithShape="0">
                    <a:schemeClr val="bg2">
                      <a:alpha val="74998"/>
                    </a:schemeClr>
                  </a:outerShdw>
                </a:effectLst>
              </a14:hiddenEffects>
            </a:ext>
          </a:extLst>
        </p:spPr>
      </p:pic>
      <p:pic>
        <p:nvPicPr>
          <p:cNvPr id="8" name="Picture 1044">
            <a:extLst>
              <a:ext uri="{FF2B5EF4-FFF2-40B4-BE49-F238E27FC236}">
                <a16:creationId xmlns:a16="http://schemas.microsoft.com/office/drawing/2014/main" id="{39C2F0E7-F183-AFA3-5C1F-F0888D5556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6563" y="1946275"/>
            <a:ext cx="3057525" cy="22923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9" name="TextBox 8">
            <a:extLst>
              <a:ext uri="{FF2B5EF4-FFF2-40B4-BE49-F238E27FC236}">
                <a16:creationId xmlns:a16="http://schemas.microsoft.com/office/drawing/2014/main" id="{80C909C5-4ADB-B1A0-0911-889C37CAE146}"/>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10" name="Group 9">
            <a:extLst>
              <a:ext uri="{FF2B5EF4-FFF2-40B4-BE49-F238E27FC236}">
                <a16:creationId xmlns:a16="http://schemas.microsoft.com/office/drawing/2014/main" id="{DEA763FB-1075-6CB4-5F74-F570EF307258}"/>
              </a:ext>
            </a:extLst>
          </p:cNvPr>
          <p:cNvGrpSpPr/>
          <p:nvPr/>
        </p:nvGrpSpPr>
        <p:grpSpPr>
          <a:xfrm>
            <a:off x="940249" y="302538"/>
            <a:ext cx="1060167" cy="290657"/>
            <a:chOff x="940249" y="315206"/>
            <a:chExt cx="1060167" cy="265062"/>
          </a:xfrm>
        </p:grpSpPr>
        <p:sp>
          <p:nvSpPr>
            <p:cNvPr id="11" name="AutoShape 9">
              <a:extLst>
                <a:ext uri="{FF2B5EF4-FFF2-40B4-BE49-F238E27FC236}">
                  <a16:creationId xmlns:a16="http://schemas.microsoft.com/office/drawing/2014/main" id="{42F57FFC-554D-D498-4786-FAD1AE199B40}"/>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2" name="Group 11">
              <a:extLst>
                <a:ext uri="{FF2B5EF4-FFF2-40B4-BE49-F238E27FC236}">
                  <a16:creationId xmlns:a16="http://schemas.microsoft.com/office/drawing/2014/main" id="{E2CD1432-F8B2-1461-3F5C-54EB25BEF38D}"/>
                </a:ext>
              </a:extLst>
            </p:cNvPr>
            <p:cNvGrpSpPr/>
            <p:nvPr/>
          </p:nvGrpSpPr>
          <p:grpSpPr>
            <a:xfrm>
              <a:off x="940249" y="315206"/>
              <a:ext cx="746492" cy="265062"/>
              <a:chOff x="940249" y="315206"/>
              <a:chExt cx="746492" cy="265062"/>
            </a:xfrm>
          </p:grpSpPr>
          <p:sp>
            <p:nvSpPr>
              <p:cNvPr id="13" name="AutoShape 11">
                <a:extLst>
                  <a:ext uri="{FF2B5EF4-FFF2-40B4-BE49-F238E27FC236}">
                    <a16:creationId xmlns:a16="http://schemas.microsoft.com/office/drawing/2014/main" id="{642F48D3-9B56-0DA1-DBA9-ED4FC22F4C65}"/>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0">
                <a:extLst>
                  <a:ext uri="{FF2B5EF4-FFF2-40B4-BE49-F238E27FC236}">
                    <a16:creationId xmlns:a16="http://schemas.microsoft.com/office/drawing/2014/main" id="{46213934-4054-6CF0-24FF-F9E6D3F70A63}"/>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4271151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A97DE-DEBC-9B03-4ECF-9BF7E737456E}"/>
              </a:ext>
            </a:extLst>
          </p:cNvPr>
          <p:cNvSpPr>
            <a:spLocks noGrp="1"/>
          </p:cNvSpPr>
          <p:nvPr>
            <p:ph type="title"/>
          </p:nvPr>
        </p:nvSpPr>
        <p:spPr/>
        <p:txBody>
          <a:bodyPr/>
          <a:lstStyle/>
          <a:p>
            <a:r>
              <a:rPr lang="en-US" dirty="0"/>
              <a:t>1S Example</a:t>
            </a:r>
          </a:p>
        </p:txBody>
      </p:sp>
      <p:sp>
        <p:nvSpPr>
          <p:cNvPr id="4" name="Content Placeholder 3">
            <a:extLst>
              <a:ext uri="{FF2B5EF4-FFF2-40B4-BE49-F238E27FC236}">
                <a16:creationId xmlns:a16="http://schemas.microsoft.com/office/drawing/2014/main" id="{B4257EAB-763A-82D1-4B89-BEC36DBD12C0}"/>
              </a:ext>
            </a:extLst>
          </p:cNvPr>
          <p:cNvSpPr>
            <a:spLocks noGrp="1"/>
          </p:cNvSpPr>
          <p:nvPr>
            <p:ph sz="half" idx="2"/>
          </p:nvPr>
        </p:nvSpPr>
        <p:spPr>
          <a:xfrm>
            <a:off x="6172200" y="2882899"/>
            <a:ext cx="5181600" cy="2493963"/>
          </a:xfrm>
        </p:spPr>
        <p:txBody>
          <a:bodyPr>
            <a:normAutofit lnSpcReduction="10000"/>
          </a:bodyPr>
          <a:lstStyle/>
          <a:p>
            <a:r>
              <a:rPr lang="en-US" dirty="0"/>
              <a:t>Removed unnecessary items and freed up one entire bookcase (red-tagged for disposition)</a:t>
            </a:r>
          </a:p>
          <a:p>
            <a:r>
              <a:rPr lang="en-US" dirty="0"/>
              <a:t>Moved necessary items to filing system</a:t>
            </a:r>
          </a:p>
        </p:txBody>
      </p:sp>
      <p:pic>
        <p:nvPicPr>
          <p:cNvPr id="3" name="Picture 13" descr="MVC-001S">
            <a:extLst>
              <a:ext uri="{FF2B5EF4-FFF2-40B4-BE49-F238E27FC236}">
                <a16:creationId xmlns:a16="http://schemas.microsoft.com/office/drawing/2014/main" id="{2A818492-A3C9-6DF5-D4AA-C0ECB834C6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1387" y="2235200"/>
            <a:ext cx="2897478" cy="2851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7">
            <a:extLst>
              <a:ext uri="{FF2B5EF4-FFF2-40B4-BE49-F238E27FC236}">
                <a16:creationId xmlns:a16="http://schemas.microsoft.com/office/drawing/2014/main" id="{12E86261-268A-C6FF-F03F-27104D5E59CE}"/>
              </a:ext>
            </a:extLst>
          </p:cNvPr>
          <p:cNvSpPr txBox="1">
            <a:spLocks noChangeArrowheads="1"/>
          </p:cNvSpPr>
          <p:nvPr/>
        </p:nvSpPr>
        <p:spPr bwMode="auto">
          <a:xfrm>
            <a:off x="838200" y="1781174"/>
            <a:ext cx="1144370" cy="36933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107763" dir="2700000" algn="ctr" rotWithShape="0">
                    <a:schemeClr val="bg2">
                      <a:alpha val="74998"/>
                    </a:schemeClr>
                  </a:outerShdw>
                </a:effectLst>
              </a14:hiddenEffects>
            </a:ext>
          </a:extLst>
        </p:spPr>
        <p:txBody>
          <a:bodyPr wrap="square">
            <a:spAutoFit/>
          </a:bodyPr>
          <a:lstStyle/>
          <a:p>
            <a:pPr>
              <a:defRPr/>
            </a:pPr>
            <a:r>
              <a:rPr lang="en-US" sz="1800" b="1" dirty="0">
                <a:latin typeface="Roboto" panose="02000000000000000000" pitchFamily="2" charset="0"/>
                <a:ea typeface="Roboto" panose="02000000000000000000" pitchFamily="2" charset="0"/>
              </a:rPr>
              <a:t>Before</a:t>
            </a:r>
          </a:p>
        </p:txBody>
      </p:sp>
      <p:sp>
        <p:nvSpPr>
          <p:cNvPr id="6" name="Text Box 18">
            <a:extLst>
              <a:ext uri="{FF2B5EF4-FFF2-40B4-BE49-F238E27FC236}">
                <a16:creationId xmlns:a16="http://schemas.microsoft.com/office/drawing/2014/main" id="{2DA78693-0AFD-0FF8-EA6D-59A2F735B50A}"/>
              </a:ext>
            </a:extLst>
          </p:cNvPr>
          <p:cNvSpPr txBox="1">
            <a:spLocks noChangeArrowheads="1"/>
          </p:cNvSpPr>
          <p:nvPr/>
        </p:nvSpPr>
        <p:spPr bwMode="auto">
          <a:xfrm>
            <a:off x="5464053" y="3569256"/>
            <a:ext cx="708147" cy="36933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107763" dir="2700000" algn="ctr" rotWithShape="0">
                    <a:schemeClr val="bg2">
                      <a:alpha val="74998"/>
                    </a:schemeClr>
                  </a:outerShdw>
                </a:effectLst>
              </a14:hiddenEffects>
            </a:ext>
          </a:extLst>
        </p:spPr>
        <p:txBody>
          <a:bodyPr wrap="square">
            <a:spAutoFit/>
          </a:bodyPr>
          <a:lstStyle/>
          <a:p>
            <a:pPr>
              <a:defRPr/>
            </a:pPr>
            <a:r>
              <a:rPr lang="en-US" sz="1800" b="1" dirty="0">
                <a:latin typeface="Roboto" panose="02000000000000000000" pitchFamily="2" charset="0"/>
                <a:ea typeface="Roboto" panose="02000000000000000000" pitchFamily="2" charset="0"/>
              </a:rPr>
              <a:t>After</a:t>
            </a:r>
          </a:p>
        </p:txBody>
      </p:sp>
      <p:grpSp>
        <p:nvGrpSpPr>
          <p:cNvPr id="9" name="Group 20">
            <a:extLst>
              <a:ext uri="{FF2B5EF4-FFF2-40B4-BE49-F238E27FC236}">
                <a16:creationId xmlns:a16="http://schemas.microsoft.com/office/drawing/2014/main" id="{56599550-693D-472C-0BCD-72511A2C916A}"/>
              </a:ext>
            </a:extLst>
          </p:cNvPr>
          <p:cNvGrpSpPr>
            <a:grpSpLocks/>
          </p:cNvGrpSpPr>
          <p:nvPr/>
        </p:nvGrpSpPr>
        <p:grpSpPr bwMode="auto">
          <a:xfrm>
            <a:off x="2811462" y="3938588"/>
            <a:ext cx="3360738" cy="2336482"/>
            <a:chOff x="1480" y="2337"/>
            <a:chExt cx="1596" cy="1260"/>
          </a:xfrm>
        </p:grpSpPr>
        <p:pic>
          <p:nvPicPr>
            <p:cNvPr id="10" name="Picture 14" descr="MVC-008S">
              <a:extLst>
                <a:ext uri="{FF2B5EF4-FFF2-40B4-BE49-F238E27FC236}">
                  <a16:creationId xmlns:a16="http://schemas.microsoft.com/office/drawing/2014/main" id="{8D44663F-C90C-791A-DB45-72E34021B7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0" y="2337"/>
              <a:ext cx="1596" cy="1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9" descr="red tag">
              <a:extLst>
                <a:ext uri="{FF2B5EF4-FFF2-40B4-BE49-F238E27FC236}">
                  <a16:creationId xmlns:a16="http://schemas.microsoft.com/office/drawing/2014/main" id="{872B278F-B1B0-247E-FFE6-00393A52315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6" y="2338"/>
              <a:ext cx="25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 name="TextBox 11">
            <a:extLst>
              <a:ext uri="{FF2B5EF4-FFF2-40B4-BE49-F238E27FC236}">
                <a16:creationId xmlns:a16="http://schemas.microsoft.com/office/drawing/2014/main" id="{6C24A373-D82F-85A1-F7D0-AF07721C755A}"/>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13" name="Group 12">
            <a:extLst>
              <a:ext uri="{FF2B5EF4-FFF2-40B4-BE49-F238E27FC236}">
                <a16:creationId xmlns:a16="http://schemas.microsoft.com/office/drawing/2014/main" id="{4840210A-9D13-8DCE-51FC-F3168F47EF7F}"/>
              </a:ext>
            </a:extLst>
          </p:cNvPr>
          <p:cNvGrpSpPr/>
          <p:nvPr/>
        </p:nvGrpSpPr>
        <p:grpSpPr>
          <a:xfrm>
            <a:off x="940249" y="302538"/>
            <a:ext cx="1060167" cy="290657"/>
            <a:chOff x="940249" y="315206"/>
            <a:chExt cx="1060167" cy="265062"/>
          </a:xfrm>
        </p:grpSpPr>
        <p:sp>
          <p:nvSpPr>
            <p:cNvPr id="14" name="AutoShape 9">
              <a:extLst>
                <a:ext uri="{FF2B5EF4-FFF2-40B4-BE49-F238E27FC236}">
                  <a16:creationId xmlns:a16="http://schemas.microsoft.com/office/drawing/2014/main" id="{3C44F90A-F55E-CE36-1121-EFB2B7EEFC49}"/>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5" name="Group 14">
              <a:extLst>
                <a:ext uri="{FF2B5EF4-FFF2-40B4-BE49-F238E27FC236}">
                  <a16:creationId xmlns:a16="http://schemas.microsoft.com/office/drawing/2014/main" id="{3FCB6E81-5C4C-737A-E71E-A9D587DBEE1B}"/>
                </a:ext>
              </a:extLst>
            </p:cNvPr>
            <p:cNvGrpSpPr/>
            <p:nvPr/>
          </p:nvGrpSpPr>
          <p:grpSpPr>
            <a:xfrm>
              <a:off x="940249" y="315206"/>
              <a:ext cx="746492" cy="265062"/>
              <a:chOff x="940249" y="315206"/>
              <a:chExt cx="746492" cy="265062"/>
            </a:xfrm>
          </p:grpSpPr>
          <p:sp>
            <p:nvSpPr>
              <p:cNvPr id="16" name="AutoShape 11">
                <a:extLst>
                  <a:ext uri="{FF2B5EF4-FFF2-40B4-BE49-F238E27FC236}">
                    <a16:creationId xmlns:a16="http://schemas.microsoft.com/office/drawing/2014/main" id="{71B99716-F637-A1D7-6EA5-D72DDE0BA793}"/>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7" name="AutoShape 10">
                <a:extLst>
                  <a:ext uri="{FF2B5EF4-FFF2-40B4-BE49-F238E27FC236}">
                    <a16:creationId xmlns:a16="http://schemas.microsoft.com/office/drawing/2014/main" id="{C8657337-3F1E-4C2A-F4E4-4910C2349135}"/>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518906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A97DE-DEBC-9B03-4ECF-9BF7E737456E}"/>
              </a:ext>
            </a:extLst>
          </p:cNvPr>
          <p:cNvSpPr>
            <a:spLocks noGrp="1"/>
          </p:cNvSpPr>
          <p:nvPr>
            <p:ph type="title"/>
          </p:nvPr>
        </p:nvSpPr>
        <p:spPr/>
        <p:txBody>
          <a:bodyPr/>
          <a:lstStyle/>
          <a:p>
            <a:r>
              <a:rPr lang="en-US" dirty="0"/>
              <a:t>1S Example</a:t>
            </a:r>
          </a:p>
        </p:txBody>
      </p:sp>
      <p:sp>
        <p:nvSpPr>
          <p:cNvPr id="4" name="Content Placeholder 3">
            <a:extLst>
              <a:ext uri="{FF2B5EF4-FFF2-40B4-BE49-F238E27FC236}">
                <a16:creationId xmlns:a16="http://schemas.microsoft.com/office/drawing/2014/main" id="{B4257EAB-763A-82D1-4B89-BEC36DBD12C0}"/>
              </a:ext>
            </a:extLst>
          </p:cNvPr>
          <p:cNvSpPr>
            <a:spLocks noGrp="1"/>
          </p:cNvSpPr>
          <p:nvPr>
            <p:ph sz="half" idx="2"/>
          </p:nvPr>
        </p:nvSpPr>
        <p:spPr>
          <a:xfrm>
            <a:off x="6172200" y="2882899"/>
            <a:ext cx="5181600" cy="2493963"/>
          </a:xfrm>
        </p:spPr>
        <p:txBody>
          <a:bodyPr>
            <a:normAutofit/>
          </a:bodyPr>
          <a:lstStyle/>
          <a:p>
            <a:r>
              <a:rPr lang="en-US" dirty="0"/>
              <a:t>White board not being used for its purpose</a:t>
            </a:r>
          </a:p>
          <a:p>
            <a:r>
              <a:rPr lang="en-US" dirty="0"/>
              <a:t>Old information not erased </a:t>
            </a:r>
          </a:p>
        </p:txBody>
      </p:sp>
      <p:sp>
        <p:nvSpPr>
          <p:cNvPr id="5" name="Text Box 17">
            <a:extLst>
              <a:ext uri="{FF2B5EF4-FFF2-40B4-BE49-F238E27FC236}">
                <a16:creationId xmlns:a16="http://schemas.microsoft.com/office/drawing/2014/main" id="{12E86261-268A-C6FF-F03F-27104D5E59CE}"/>
              </a:ext>
            </a:extLst>
          </p:cNvPr>
          <p:cNvSpPr txBox="1">
            <a:spLocks noChangeArrowheads="1"/>
          </p:cNvSpPr>
          <p:nvPr/>
        </p:nvSpPr>
        <p:spPr bwMode="auto">
          <a:xfrm>
            <a:off x="838200" y="1781174"/>
            <a:ext cx="1144370" cy="36933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107763" dir="2700000" algn="ctr" rotWithShape="0">
                    <a:schemeClr val="bg2">
                      <a:alpha val="74998"/>
                    </a:schemeClr>
                  </a:outerShdw>
                </a:effectLst>
              </a14:hiddenEffects>
            </a:ext>
          </a:extLst>
        </p:spPr>
        <p:txBody>
          <a:bodyPr wrap="square">
            <a:spAutoFit/>
          </a:bodyPr>
          <a:lstStyle/>
          <a:p>
            <a:pPr>
              <a:defRPr/>
            </a:pPr>
            <a:r>
              <a:rPr lang="en-US" sz="1800" b="1" dirty="0">
                <a:latin typeface="Roboto" panose="02000000000000000000" pitchFamily="2" charset="0"/>
                <a:ea typeface="Roboto" panose="02000000000000000000" pitchFamily="2" charset="0"/>
              </a:rPr>
              <a:t>Before</a:t>
            </a:r>
          </a:p>
        </p:txBody>
      </p:sp>
      <p:sp>
        <p:nvSpPr>
          <p:cNvPr id="6" name="Text Box 18">
            <a:extLst>
              <a:ext uri="{FF2B5EF4-FFF2-40B4-BE49-F238E27FC236}">
                <a16:creationId xmlns:a16="http://schemas.microsoft.com/office/drawing/2014/main" id="{2DA78693-0AFD-0FF8-EA6D-59A2F735B50A}"/>
              </a:ext>
            </a:extLst>
          </p:cNvPr>
          <p:cNvSpPr txBox="1">
            <a:spLocks noChangeArrowheads="1"/>
          </p:cNvSpPr>
          <p:nvPr/>
        </p:nvSpPr>
        <p:spPr bwMode="auto">
          <a:xfrm>
            <a:off x="5387853" y="3836986"/>
            <a:ext cx="708147" cy="36933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107763" dir="2700000" algn="ctr" rotWithShape="0">
                    <a:schemeClr val="bg2">
                      <a:alpha val="74998"/>
                    </a:schemeClr>
                  </a:outerShdw>
                </a:effectLst>
              </a14:hiddenEffects>
            </a:ext>
          </a:extLst>
        </p:spPr>
        <p:txBody>
          <a:bodyPr wrap="square">
            <a:spAutoFit/>
          </a:bodyPr>
          <a:lstStyle/>
          <a:p>
            <a:pPr>
              <a:defRPr/>
            </a:pPr>
            <a:r>
              <a:rPr lang="en-US" sz="1800" b="1" dirty="0">
                <a:latin typeface="Roboto" panose="02000000000000000000" pitchFamily="2" charset="0"/>
                <a:ea typeface="Roboto" panose="02000000000000000000" pitchFamily="2" charset="0"/>
              </a:rPr>
              <a:t>After</a:t>
            </a:r>
          </a:p>
        </p:txBody>
      </p:sp>
      <p:pic>
        <p:nvPicPr>
          <p:cNvPr id="7" name="Picture 1037" descr="MVC-004S">
            <a:extLst>
              <a:ext uri="{FF2B5EF4-FFF2-40B4-BE49-F238E27FC236}">
                <a16:creationId xmlns:a16="http://schemas.microsoft.com/office/drawing/2014/main" id="{8886E5F9-F432-4B51-1F4F-927DDE877BA0}"/>
              </a:ext>
            </a:extLst>
          </p:cNvPr>
          <p:cNvPicPr>
            <a:picLocks noChangeAspect="1" noChangeArrowheads="1"/>
          </p:cNvPicPr>
          <p:nvPr/>
        </p:nvPicPr>
        <p:blipFill>
          <a:blip r:embed="rId3">
            <a:lum bright="10000"/>
            <a:extLst>
              <a:ext uri="{28A0092B-C50C-407E-A947-70E740481C1C}">
                <a14:useLocalDpi xmlns:a14="http://schemas.microsoft.com/office/drawing/2010/main" val="0"/>
              </a:ext>
            </a:extLst>
          </a:blip>
          <a:srcRect/>
          <a:stretch>
            <a:fillRect/>
          </a:stretch>
        </p:blipFill>
        <p:spPr bwMode="auto">
          <a:xfrm>
            <a:off x="838200" y="2150506"/>
            <a:ext cx="3425825" cy="205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038" descr="MVC-021S">
            <a:extLst>
              <a:ext uri="{FF2B5EF4-FFF2-40B4-BE49-F238E27FC236}">
                <a16:creationId xmlns:a16="http://schemas.microsoft.com/office/drawing/2014/main" id="{392942CB-5193-8435-1E2D-E4D4F07EED7A}"/>
              </a:ext>
            </a:extLst>
          </p:cNvPr>
          <p:cNvPicPr>
            <a:picLocks noChangeAspect="1" noChangeArrowheads="1"/>
          </p:cNvPicPr>
          <p:nvPr/>
        </p:nvPicPr>
        <p:blipFill>
          <a:blip r:embed="rId4">
            <a:lum bright="10000"/>
            <a:extLst>
              <a:ext uri="{28A0092B-C50C-407E-A947-70E740481C1C}">
                <a14:useLocalDpi xmlns:a14="http://schemas.microsoft.com/office/drawing/2010/main" val="0"/>
              </a:ext>
            </a:extLst>
          </a:blip>
          <a:srcRect/>
          <a:stretch>
            <a:fillRect/>
          </a:stretch>
        </p:blipFill>
        <p:spPr bwMode="auto">
          <a:xfrm>
            <a:off x="1992312" y="4206318"/>
            <a:ext cx="4103688" cy="167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22C5C87F-9C32-71EC-41AC-3DB713DCAC63}"/>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13" name="Group 12">
            <a:extLst>
              <a:ext uri="{FF2B5EF4-FFF2-40B4-BE49-F238E27FC236}">
                <a16:creationId xmlns:a16="http://schemas.microsoft.com/office/drawing/2014/main" id="{AFC049C2-2E1D-0339-4D7F-A73FBDE6A889}"/>
              </a:ext>
            </a:extLst>
          </p:cNvPr>
          <p:cNvGrpSpPr/>
          <p:nvPr/>
        </p:nvGrpSpPr>
        <p:grpSpPr>
          <a:xfrm>
            <a:off x="940249" y="302538"/>
            <a:ext cx="1060167" cy="290657"/>
            <a:chOff x="940249" y="315206"/>
            <a:chExt cx="1060167" cy="265062"/>
          </a:xfrm>
        </p:grpSpPr>
        <p:sp>
          <p:nvSpPr>
            <p:cNvPr id="14" name="AutoShape 9">
              <a:extLst>
                <a:ext uri="{FF2B5EF4-FFF2-40B4-BE49-F238E27FC236}">
                  <a16:creationId xmlns:a16="http://schemas.microsoft.com/office/drawing/2014/main" id="{5FA3ABD6-B3F3-1520-1504-9E0C1A1687F2}"/>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5" name="Group 14">
              <a:extLst>
                <a:ext uri="{FF2B5EF4-FFF2-40B4-BE49-F238E27FC236}">
                  <a16:creationId xmlns:a16="http://schemas.microsoft.com/office/drawing/2014/main" id="{1FD3DC14-2FBF-670D-8316-E070A486FC00}"/>
                </a:ext>
              </a:extLst>
            </p:cNvPr>
            <p:cNvGrpSpPr/>
            <p:nvPr/>
          </p:nvGrpSpPr>
          <p:grpSpPr>
            <a:xfrm>
              <a:off x="940249" y="315206"/>
              <a:ext cx="746492" cy="265062"/>
              <a:chOff x="940249" y="315206"/>
              <a:chExt cx="746492" cy="265062"/>
            </a:xfrm>
          </p:grpSpPr>
          <p:sp>
            <p:nvSpPr>
              <p:cNvPr id="16" name="AutoShape 11">
                <a:extLst>
                  <a:ext uri="{FF2B5EF4-FFF2-40B4-BE49-F238E27FC236}">
                    <a16:creationId xmlns:a16="http://schemas.microsoft.com/office/drawing/2014/main" id="{4710E32D-FE64-7D59-1622-554DAC1271F7}"/>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7" name="AutoShape 10">
                <a:extLst>
                  <a:ext uri="{FF2B5EF4-FFF2-40B4-BE49-F238E27FC236}">
                    <a16:creationId xmlns:a16="http://schemas.microsoft.com/office/drawing/2014/main" id="{C2E0DA2A-EA97-3A19-AE5C-FF62A5FA73E4}"/>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7052506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3600" dirty="0">
                <a:latin typeface="Roboto Medium"/>
                <a:ea typeface="Roboto Medium"/>
                <a:cs typeface="Roboto Medium"/>
              </a:rPr>
              <a:t>Exercise: 1S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36</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1S for the business event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Capture “before event” data (before pictures, hard drive megabytes in use, number of emails read/unread, etc.)</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how to handle “sensitive” information</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Discuss approach to completing 1S</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Assign individual tasks</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time to accomplish 1S and review</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results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Provided by instructor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79110"/>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Completed 1S</a:t>
            </a:r>
          </a:p>
        </p:txBody>
      </p:sp>
      <p:sp>
        <p:nvSpPr>
          <p:cNvPr id="9" name="TextBox 8">
            <a:extLst>
              <a:ext uri="{FF2B5EF4-FFF2-40B4-BE49-F238E27FC236}">
                <a16:creationId xmlns:a16="http://schemas.microsoft.com/office/drawing/2014/main" id="{985AA00D-A29D-6544-7130-516B09E40D2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10" name="Group 9">
            <a:extLst>
              <a:ext uri="{FF2B5EF4-FFF2-40B4-BE49-F238E27FC236}">
                <a16:creationId xmlns:a16="http://schemas.microsoft.com/office/drawing/2014/main" id="{B624FD29-6362-899C-35BD-CD83F08220E5}"/>
              </a:ext>
            </a:extLst>
          </p:cNvPr>
          <p:cNvGrpSpPr/>
          <p:nvPr/>
        </p:nvGrpSpPr>
        <p:grpSpPr>
          <a:xfrm>
            <a:off x="940249" y="302538"/>
            <a:ext cx="1060167" cy="290657"/>
            <a:chOff x="940249" y="315206"/>
            <a:chExt cx="1060167" cy="265062"/>
          </a:xfrm>
        </p:grpSpPr>
        <p:sp>
          <p:nvSpPr>
            <p:cNvPr id="19" name="AutoShape 9">
              <a:extLst>
                <a:ext uri="{FF2B5EF4-FFF2-40B4-BE49-F238E27FC236}">
                  <a16:creationId xmlns:a16="http://schemas.microsoft.com/office/drawing/2014/main" id="{FDF31AEA-B9A3-8ED4-A650-A6E999D87FF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37DB9D66-3761-99F8-976C-54CBE50C471B}"/>
                </a:ext>
              </a:extLst>
            </p:cNvPr>
            <p:cNvGrpSpPr/>
            <p:nvPr/>
          </p:nvGrpSpPr>
          <p:grpSpPr>
            <a:xfrm>
              <a:off x="940249" y="315206"/>
              <a:ext cx="746492" cy="265062"/>
              <a:chOff x="940249" y="315206"/>
              <a:chExt cx="746492" cy="265062"/>
            </a:xfrm>
          </p:grpSpPr>
          <p:sp>
            <p:nvSpPr>
              <p:cNvPr id="21" name="AutoShape 11">
                <a:extLst>
                  <a:ext uri="{FF2B5EF4-FFF2-40B4-BE49-F238E27FC236}">
                    <a16:creationId xmlns:a16="http://schemas.microsoft.com/office/drawing/2014/main" id="{AD50B12C-C902-7D27-4E1C-060FF711BA72}"/>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0">
                <a:extLst>
                  <a:ext uri="{FF2B5EF4-FFF2-40B4-BE49-F238E27FC236}">
                    <a16:creationId xmlns:a16="http://schemas.microsoft.com/office/drawing/2014/main" id="{74EC2DCA-13CD-8D1B-5812-649364398B06}"/>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7631080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868D4041-D0F9-25FB-4F54-742F539993D0}"/>
              </a:ext>
            </a:extLst>
          </p:cNvPr>
          <p:cNvSpPr>
            <a:spLocks noGrp="1"/>
          </p:cNvSpPr>
          <p:nvPr>
            <p:ph type="title"/>
          </p:nvPr>
        </p:nvSpPr>
        <p:spPr/>
        <p:txBody>
          <a:bodyPr>
            <a:normAutofit/>
          </a:bodyPr>
          <a:lstStyle/>
          <a:p>
            <a:r>
              <a:rPr lang="en-US" sz="4000" dirty="0">
                <a:latin typeface="Roboto Medium"/>
                <a:ea typeface="Roboto Medium"/>
                <a:cs typeface="Roboto Medium"/>
              </a:rPr>
              <a:t>5S Process Steps</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37</a:t>
            </a:fld>
            <a:endParaRPr lang="en-US"/>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tx1"/>
              </a:solidFill>
            </a:endParaRPr>
          </a:p>
        </p:txBody>
      </p:sp>
      <p:sp>
        <p:nvSpPr>
          <p:cNvPr id="24" name="TextBox 23">
            <a:extLst>
              <a:ext uri="{FF2B5EF4-FFF2-40B4-BE49-F238E27FC236}">
                <a16:creationId xmlns:a16="http://schemas.microsoft.com/office/drawing/2014/main" id="{C5BDF42C-A61F-0C81-8AC6-8365C83CB3A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sp>
        <p:nvSpPr>
          <p:cNvPr id="10" name="Rectangle 9">
            <a:extLst>
              <a:ext uri="{FF2B5EF4-FFF2-40B4-BE49-F238E27FC236}">
                <a16:creationId xmlns:a16="http://schemas.microsoft.com/office/drawing/2014/main" id="{68230320-19C2-752A-1176-1BBB64EE0496}"/>
              </a:ext>
            </a:extLst>
          </p:cNvPr>
          <p:cNvSpPr>
            <a:spLocks/>
          </p:cNvSpPr>
          <p:nvPr/>
        </p:nvSpPr>
        <p:spPr>
          <a:xfrm>
            <a:off x="940249" y="2771056"/>
            <a:ext cx="5722970"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2S - Straighten</a:t>
            </a:r>
          </a:p>
        </p:txBody>
      </p:sp>
      <p:sp>
        <p:nvSpPr>
          <p:cNvPr id="17" name="Rectangle 16">
            <a:extLst>
              <a:ext uri="{FF2B5EF4-FFF2-40B4-BE49-F238E27FC236}">
                <a16:creationId xmlns:a16="http://schemas.microsoft.com/office/drawing/2014/main" id="{C482F546-04CD-6441-A9E4-982C043DC9B1}"/>
              </a:ext>
            </a:extLst>
          </p:cNvPr>
          <p:cNvSpPr>
            <a:spLocks/>
          </p:cNvSpPr>
          <p:nvPr/>
        </p:nvSpPr>
        <p:spPr>
          <a:xfrm>
            <a:off x="940249" y="1955700"/>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800" dirty="0">
                <a:solidFill>
                  <a:schemeClr val="bg1"/>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sym typeface="Roboto"/>
              </a:rPr>
              <a:t>1S - Sort</a:t>
            </a:r>
          </a:p>
        </p:txBody>
      </p:sp>
      <p:sp>
        <p:nvSpPr>
          <p:cNvPr id="18" name="Rectangle 17">
            <a:extLst>
              <a:ext uri="{FF2B5EF4-FFF2-40B4-BE49-F238E27FC236}">
                <a16:creationId xmlns:a16="http://schemas.microsoft.com/office/drawing/2014/main" id="{04166E1C-DE2E-5165-515B-6DCF41316AB8}"/>
              </a:ext>
            </a:extLst>
          </p:cNvPr>
          <p:cNvSpPr>
            <a:spLocks/>
          </p:cNvSpPr>
          <p:nvPr/>
        </p:nvSpPr>
        <p:spPr>
          <a:xfrm>
            <a:off x="940249" y="3586412"/>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3S - Scrub</a:t>
            </a:r>
          </a:p>
        </p:txBody>
      </p:sp>
      <p:sp>
        <p:nvSpPr>
          <p:cNvPr id="19" name="Rectangle 18">
            <a:extLst>
              <a:ext uri="{FF2B5EF4-FFF2-40B4-BE49-F238E27FC236}">
                <a16:creationId xmlns:a16="http://schemas.microsoft.com/office/drawing/2014/main" id="{4B602BE5-7414-9257-9501-3665A565B44C}"/>
              </a:ext>
            </a:extLst>
          </p:cNvPr>
          <p:cNvSpPr/>
          <p:nvPr/>
        </p:nvSpPr>
        <p:spPr>
          <a:xfrm>
            <a:off x="940249" y="4401768"/>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4S - Stabilize</a:t>
            </a:r>
          </a:p>
        </p:txBody>
      </p:sp>
      <p:sp>
        <p:nvSpPr>
          <p:cNvPr id="21" name="Rectangle 20">
            <a:extLst>
              <a:ext uri="{FF2B5EF4-FFF2-40B4-BE49-F238E27FC236}">
                <a16:creationId xmlns:a16="http://schemas.microsoft.com/office/drawing/2014/main" id="{0CC760C4-5A3C-A15B-3330-4EAF983076B7}"/>
              </a:ext>
            </a:extLst>
          </p:cNvPr>
          <p:cNvSpPr>
            <a:spLocks/>
          </p:cNvSpPr>
          <p:nvPr/>
        </p:nvSpPr>
        <p:spPr>
          <a:xfrm>
            <a:off x="940249" y="5217125"/>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5S - Sustain</a:t>
            </a:r>
          </a:p>
        </p:txBody>
      </p:sp>
      <p:grpSp>
        <p:nvGrpSpPr>
          <p:cNvPr id="3" name="Group 2">
            <a:extLst>
              <a:ext uri="{FF2B5EF4-FFF2-40B4-BE49-F238E27FC236}">
                <a16:creationId xmlns:a16="http://schemas.microsoft.com/office/drawing/2014/main" id="{34336E33-7DA4-D294-02BE-E48070ABC227}"/>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6C440E8D-7ED5-504D-B968-2837080BC84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138640DA-1229-3E1A-242D-D81D7014ED16}"/>
                </a:ext>
              </a:extLst>
            </p:cNvPr>
            <p:cNvGrpSpPr/>
            <p:nvPr/>
          </p:nvGrpSpPr>
          <p:grpSpPr>
            <a:xfrm>
              <a:off x="940249" y="315206"/>
              <a:ext cx="746492" cy="265062"/>
              <a:chOff x="940249" y="315206"/>
              <a:chExt cx="746492" cy="265062"/>
            </a:xfrm>
          </p:grpSpPr>
          <p:sp>
            <p:nvSpPr>
              <p:cNvPr id="12" name="AutoShape 11">
                <a:extLst>
                  <a:ext uri="{FF2B5EF4-FFF2-40B4-BE49-F238E27FC236}">
                    <a16:creationId xmlns:a16="http://schemas.microsoft.com/office/drawing/2014/main" id="{1591C2C8-E109-3601-9F61-5603F6D989FA}"/>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5E45C12B-E50E-E1C1-11F4-ECB0F83ECE28}"/>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3905669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2S Defined</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38</a:t>
            </a:fld>
            <a:endParaRPr lang="en-US"/>
          </a:p>
        </p:txBody>
      </p:sp>
      <p:sp>
        <p:nvSpPr>
          <p:cNvPr id="3" name="TextBox 2">
            <a:extLst>
              <a:ext uri="{FF2B5EF4-FFF2-40B4-BE49-F238E27FC236}">
                <a16:creationId xmlns:a16="http://schemas.microsoft.com/office/drawing/2014/main" id="{75296461-D27A-3C58-A14D-461C8B6B2E9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5" name="Group 4">
            <a:extLst>
              <a:ext uri="{FF2B5EF4-FFF2-40B4-BE49-F238E27FC236}">
                <a16:creationId xmlns:a16="http://schemas.microsoft.com/office/drawing/2014/main" id="{76D1D5F1-97EE-0F52-5D6D-83F8075EED16}"/>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7FEA9193-ACAB-1BEF-D945-4CFE87A51CC4}"/>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 name="Group 6">
              <a:extLst>
                <a:ext uri="{FF2B5EF4-FFF2-40B4-BE49-F238E27FC236}">
                  <a16:creationId xmlns:a16="http://schemas.microsoft.com/office/drawing/2014/main" id="{C856A577-5930-F4F8-32A3-39ABAB751BFE}"/>
                </a:ext>
              </a:extLst>
            </p:cNvPr>
            <p:cNvGrpSpPr/>
            <p:nvPr/>
          </p:nvGrpSpPr>
          <p:grpSpPr>
            <a:xfrm>
              <a:off x="940249" y="315206"/>
              <a:ext cx="746492" cy="265062"/>
              <a:chOff x="940249" y="315206"/>
              <a:chExt cx="746492" cy="265062"/>
            </a:xfrm>
          </p:grpSpPr>
          <p:sp>
            <p:nvSpPr>
              <p:cNvPr id="8" name="AutoShape 11">
                <a:extLst>
                  <a:ext uri="{FF2B5EF4-FFF2-40B4-BE49-F238E27FC236}">
                    <a16:creationId xmlns:a16="http://schemas.microsoft.com/office/drawing/2014/main" id="{3E656630-0CB9-DC5A-7782-532DE1F01157}"/>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0">
                <a:extLst>
                  <a:ext uri="{FF2B5EF4-FFF2-40B4-BE49-F238E27FC236}">
                    <a16:creationId xmlns:a16="http://schemas.microsoft.com/office/drawing/2014/main" id="{CDBAFF34-1A84-1872-51A9-FC0684245C51}"/>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0" name="Rectangle 3">
            <a:extLst>
              <a:ext uri="{FF2B5EF4-FFF2-40B4-BE49-F238E27FC236}">
                <a16:creationId xmlns:a16="http://schemas.microsoft.com/office/drawing/2014/main" id="{436AA8F3-5270-108F-7E1F-D18ADC75D8E9}"/>
              </a:ext>
            </a:extLst>
          </p:cNvPr>
          <p:cNvSpPr>
            <a:spLocks noChangeArrowheads="1"/>
          </p:cNvSpPr>
          <p:nvPr/>
        </p:nvSpPr>
        <p:spPr bwMode="auto">
          <a:xfrm>
            <a:off x="4700906" y="2808593"/>
            <a:ext cx="3251792"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SEITON</a:t>
            </a:r>
          </a:p>
          <a:p>
            <a:pPr>
              <a:lnSpc>
                <a:spcPct val="100000"/>
              </a:lnSpc>
              <a:spcBef>
                <a:spcPct val="4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Orderliness. Focuses on the need for an orderly workplace. Tools, equipment, and materials must be systematically arranged for the easiest and most efficient access. There must be a place for everything and everything must be in its place. </a:t>
            </a:r>
            <a:endParaRPr lang="en-US" altLang="en-US" sz="1600" dirty="0">
              <a:solidFill>
                <a:schemeClr val="bg1"/>
              </a:solidFill>
              <a:latin typeface="Roboto" panose="02000000000000000000" pitchFamily="2" charset="0"/>
              <a:ea typeface="Roboto" panose="02000000000000000000" pitchFamily="2" charset="0"/>
            </a:endParaRPr>
          </a:p>
        </p:txBody>
      </p:sp>
      <p:sp>
        <p:nvSpPr>
          <p:cNvPr id="11" name="Rectangle 4">
            <a:extLst>
              <a:ext uri="{FF2B5EF4-FFF2-40B4-BE49-F238E27FC236}">
                <a16:creationId xmlns:a16="http://schemas.microsoft.com/office/drawing/2014/main" id="{D6A26AF8-AF73-E774-9AA5-80F2C8E80080}"/>
              </a:ext>
            </a:extLst>
          </p:cNvPr>
          <p:cNvSpPr>
            <a:spLocks noChangeArrowheads="1"/>
          </p:cNvSpPr>
          <p:nvPr/>
        </p:nvSpPr>
        <p:spPr bwMode="auto">
          <a:xfrm>
            <a:off x="7924449" y="2808593"/>
            <a:ext cx="3587115"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Place all items and information in the best location and visually organize</a:t>
            </a:r>
          </a:p>
        </p:txBody>
      </p:sp>
      <p:sp>
        <p:nvSpPr>
          <p:cNvPr id="12" name="Rectangle 5">
            <a:extLst>
              <a:ext uri="{FF2B5EF4-FFF2-40B4-BE49-F238E27FC236}">
                <a16:creationId xmlns:a16="http://schemas.microsoft.com/office/drawing/2014/main" id="{6C0D4673-0DC6-5CE2-B500-02FD6C00A465}"/>
              </a:ext>
            </a:extLst>
          </p:cNvPr>
          <p:cNvSpPr>
            <a:spLocks noChangeArrowheads="1"/>
          </p:cNvSpPr>
          <p:nvPr/>
        </p:nvSpPr>
        <p:spPr bwMode="auto">
          <a:xfrm>
            <a:off x="900113" y="2808446"/>
            <a:ext cx="3239374" cy="1157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1438" tIns="36512" rIns="71438" bIns="36512">
            <a:spAutoFit/>
          </a:bodyPr>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STRAIGHTEN</a:t>
            </a:r>
          </a:p>
          <a:p>
            <a:pPr>
              <a:lnSpc>
                <a:spcPct val="100000"/>
              </a:lnSpc>
              <a:spcBef>
                <a:spcPct val="4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Organize the necessary items so that they can be used and returned easily</a:t>
            </a:r>
          </a:p>
        </p:txBody>
      </p:sp>
      <p:grpSp>
        <p:nvGrpSpPr>
          <p:cNvPr id="13" name="Group 6">
            <a:extLst>
              <a:ext uri="{FF2B5EF4-FFF2-40B4-BE49-F238E27FC236}">
                <a16:creationId xmlns:a16="http://schemas.microsoft.com/office/drawing/2014/main" id="{105B75E2-DC6A-6393-4D85-32BE8453D729}"/>
              </a:ext>
            </a:extLst>
          </p:cNvPr>
          <p:cNvGrpSpPr>
            <a:grpSpLocks/>
          </p:cNvGrpSpPr>
          <p:nvPr/>
        </p:nvGrpSpPr>
        <p:grpSpPr bwMode="auto">
          <a:xfrm>
            <a:off x="838200" y="1962308"/>
            <a:ext cx="10777901" cy="625475"/>
            <a:chOff x="311" y="1012"/>
            <a:chExt cx="3908" cy="394"/>
          </a:xfrm>
        </p:grpSpPr>
        <p:sp>
          <p:nvSpPr>
            <p:cNvPr id="14" name="AutoShape 7">
              <a:extLst>
                <a:ext uri="{FF2B5EF4-FFF2-40B4-BE49-F238E27FC236}">
                  <a16:creationId xmlns:a16="http://schemas.microsoft.com/office/drawing/2014/main" id="{129DC9E6-6C48-FCC8-3A9B-914A29E7578A}"/>
                </a:ext>
              </a:extLst>
            </p:cNvPr>
            <p:cNvSpPr>
              <a:spLocks noChangeArrowheads="1"/>
            </p:cNvSpPr>
            <p:nvPr/>
          </p:nvSpPr>
          <p:spPr bwMode="auto">
            <a:xfrm>
              <a:off x="2694" y="1012"/>
              <a:ext cx="1525" cy="394"/>
            </a:xfrm>
            <a:prstGeom prst="homePlate">
              <a:avLst>
                <a:gd name="adj" fmla="val 57790"/>
              </a:avLst>
            </a:prstGeom>
            <a:solidFill>
              <a:schemeClr val="accent1"/>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Objective </a:t>
              </a:r>
              <a:br>
                <a:rPr lang="en-US" altLang="en-US" sz="1800" dirty="0">
                  <a:solidFill>
                    <a:schemeClr val="bg1"/>
                  </a:solidFill>
                  <a:latin typeface="Roboto" panose="02000000000000000000" pitchFamily="2" charset="0"/>
                  <a:ea typeface="Roboto" panose="02000000000000000000" pitchFamily="2" charset="0"/>
                </a:rPr>
              </a:br>
              <a:r>
                <a:rPr lang="en-US" altLang="en-US" sz="1800" dirty="0">
                  <a:solidFill>
                    <a:schemeClr val="bg1"/>
                  </a:solidFill>
                  <a:latin typeface="Roboto" panose="02000000000000000000" pitchFamily="2" charset="0"/>
                  <a:ea typeface="Roboto" panose="02000000000000000000" pitchFamily="2" charset="0"/>
                </a:rPr>
                <a:t>of 2S</a:t>
              </a:r>
            </a:p>
          </p:txBody>
        </p:sp>
        <p:sp>
          <p:nvSpPr>
            <p:cNvPr id="15" name="AutoShape 8">
              <a:extLst>
                <a:ext uri="{FF2B5EF4-FFF2-40B4-BE49-F238E27FC236}">
                  <a16:creationId xmlns:a16="http://schemas.microsoft.com/office/drawing/2014/main" id="{277A3B52-36CA-686D-6983-15D004C29E47}"/>
                </a:ext>
              </a:extLst>
            </p:cNvPr>
            <p:cNvSpPr>
              <a:spLocks noChangeArrowheads="1"/>
            </p:cNvSpPr>
            <p:nvPr/>
          </p:nvSpPr>
          <p:spPr bwMode="auto">
            <a:xfrm>
              <a:off x="1549" y="1012"/>
              <a:ext cx="1472" cy="394"/>
            </a:xfrm>
            <a:prstGeom prst="homePlate">
              <a:avLst>
                <a:gd name="adj" fmla="val 48586"/>
              </a:avLst>
            </a:prstGeom>
            <a:solidFill>
              <a:schemeClr val="accent1"/>
            </a:solidFill>
            <a:ln w="19050">
              <a:solidFill>
                <a:schemeClr val="bg1"/>
              </a:solidFill>
              <a:miter lim="800000"/>
              <a:headEnd/>
              <a:tailEnd/>
            </a:ln>
          </p:spPr>
          <p:txBody>
            <a:bodyPr lIns="45720" tIns="46038" rIns="45720" bIns="46038" anchor="ctr"/>
            <a:lstStyle>
              <a:lvl1pPr marL="17145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 Japanese: STRAIGHTEN  </a:t>
              </a:r>
            </a:p>
          </p:txBody>
        </p:sp>
        <p:sp>
          <p:nvSpPr>
            <p:cNvPr id="16" name="AutoShape 9">
              <a:extLst>
                <a:ext uri="{FF2B5EF4-FFF2-40B4-BE49-F238E27FC236}">
                  <a16:creationId xmlns:a16="http://schemas.microsoft.com/office/drawing/2014/main" id="{0F61DD03-FD3F-FBCF-67DD-E39974B5C6B0}"/>
                </a:ext>
              </a:extLst>
            </p:cNvPr>
            <p:cNvSpPr>
              <a:spLocks noChangeArrowheads="1"/>
            </p:cNvSpPr>
            <p:nvPr/>
          </p:nvSpPr>
          <p:spPr bwMode="auto">
            <a:xfrm>
              <a:off x="311" y="1012"/>
              <a:ext cx="1469" cy="394"/>
            </a:xfrm>
            <a:prstGeom prst="homePlate">
              <a:avLst>
                <a:gd name="adj" fmla="val 54200"/>
              </a:avLst>
            </a:prstGeom>
            <a:solidFill>
              <a:schemeClr val="accent1"/>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English: STRAIGHTEN</a:t>
              </a:r>
            </a:p>
          </p:txBody>
        </p:sp>
      </p:grpSp>
      <p:sp>
        <p:nvSpPr>
          <p:cNvPr id="17" name="AutoShape 10">
            <a:extLst>
              <a:ext uri="{FF2B5EF4-FFF2-40B4-BE49-F238E27FC236}">
                <a16:creationId xmlns:a16="http://schemas.microsoft.com/office/drawing/2014/main" id="{BD380F9A-F259-E8AA-00B4-6567920E9E99}"/>
              </a:ext>
            </a:extLst>
          </p:cNvPr>
          <p:cNvSpPr>
            <a:spLocks noChangeArrowheads="1"/>
          </p:cNvSpPr>
          <p:nvPr/>
        </p:nvSpPr>
        <p:spPr bwMode="auto">
          <a:xfrm>
            <a:off x="900113" y="5540828"/>
            <a:ext cx="10697177" cy="520700"/>
          </a:xfrm>
          <a:prstGeom prst="homePlate">
            <a:avLst>
              <a:gd name="adj" fmla="val 32169"/>
            </a:avLst>
          </a:prstGeom>
          <a:solidFill>
            <a:schemeClr val="tx2"/>
          </a:solidFill>
          <a:ln>
            <a:noFill/>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2S promotes visual management</a:t>
            </a:r>
          </a:p>
        </p:txBody>
      </p:sp>
    </p:spTree>
    <p:extLst>
      <p:ext uri="{BB962C8B-B14F-4D97-AF65-F5344CB8AC3E}">
        <p14:creationId xmlns:p14="http://schemas.microsoft.com/office/powerpoint/2010/main" val="21716971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2S Strategy</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r>
              <a:rPr lang="en-US" sz="3200" dirty="0"/>
              <a:t>Determine best layout and work space design so that everything is easy to use and understand</a:t>
            </a:r>
          </a:p>
          <a:p>
            <a:r>
              <a:rPr lang="en-US" sz="3200" dirty="0"/>
              <a:t>Organize using storage methods that promote visual management (use frequency identified during 1S process)</a:t>
            </a:r>
          </a:p>
          <a:p>
            <a:pPr lvl="1"/>
            <a:r>
              <a:rPr lang="en-US" sz="2800" dirty="0"/>
              <a:t>Folder method (preferred paper method)</a:t>
            </a:r>
          </a:p>
          <a:p>
            <a:pPr lvl="2"/>
            <a:r>
              <a:rPr lang="en-US" sz="2400" dirty="0"/>
              <a:t>Folder capacity of &lt;70 sheets is best (100 sheets max)</a:t>
            </a:r>
          </a:p>
          <a:p>
            <a:pPr lvl="2"/>
            <a:r>
              <a:rPr lang="en-US" sz="2400" dirty="0"/>
              <a:t>Assign each folder its own storage period</a:t>
            </a:r>
          </a:p>
          <a:p>
            <a:pPr lvl="1"/>
            <a:r>
              <a:rPr lang="en-US" sz="2800" dirty="0"/>
              <a:t>Binder method</a:t>
            </a:r>
          </a:p>
          <a:p>
            <a:pPr lvl="1"/>
            <a:r>
              <a:rPr lang="en-US" sz="2800" dirty="0"/>
              <a:t>Electronic (with appropriate back-up)</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39</a:t>
            </a:fld>
            <a:endParaRPr lang="en-US"/>
          </a:p>
        </p:txBody>
      </p:sp>
      <p:sp>
        <p:nvSpPr>
          <p:cNvPr id="4" name="TextBox 3">
            <a:extLst>
              <a:ext uri="{FF2B5EF4-FFF2-40B4-BE49-F238E27FC236}">
                <a16:creationId xmlns:a16="http://schemas.microsoft.com/office/drawing/2014/main" id="{7221F4DB-E921-659A-F225-3C48DF2DB892}"/>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6" name="Group 5">
            <a:extLst>
              <a:ext uri="{FF2B5EF4-FFF2-40B4-BE49-F238E27FC236}">
                <a16:creationId xmlns:a16="http://schemas.microsoft.com/office/drawing/2014/main" id="{643904D1-09C6-FD4A-BD1F-F3076F8E26DC}"/>
              </a:ext>
            </a:extLst>
          </p:cNvPr>
          <p:cNvGrpSpPr/>
          <p:nvPr/>
        </p:nvGrpSpPr>
        <p:grpSpPr>
          <a:xfrm>
            <a:off x="940249" y="302538"/>
            <a:ext cx="1060167" cy="290657"/>
            <a:chOff x="940249" y="315206"/>
            <a:chExt cx="1060167" cy="265062"/>
          </a:xfrm>
        </p:grpSpPr>
        <p:sp>
          <p:nvSpPr>
            <p:cNvPr id="7" name="AutoShape 9">
              <a:extLst>
                <a:ext uri="{FF2B5EF4-FFF2-40B4-BE49-F238E27FC236}">
                  <a16:creationId xmlns:a16="http://schemas.microsoft.com/office/drawing/2014/main" id="{72F2E50A-D20F-1956-8303-0B2A01A5A0F4}"/>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EEC4ECF6-3911-AF92-42DD-1FDA2A9E9E27}"/>
                </a:ext>
              </a:extLst>
            </p:cNvPr>
            <p:cNvGrpSpPr/>
            <p:nvPr/>
          </p:nvGrpSpPr>
          <p:grpSpPr>
            <a:xfrm>
              <a:off x="940249" y="315206"/>
              <a:ext cx="746492" cy="265062"/>
              <a:chOff x="940249" y="315206"/>
              <a:chExt cx="746492" cy="265062"/>
            </a:xfrm>
          </p:grpSpPr>
          <p:sp>
            <p:nvSpPr>
              <p:cNvPr id="9" name="AutoShape 11">
                <a:extLst>
                  <a:ext uri="{FF2B5EF4-FFF2-40B4-BE49-F238E27FC236}">
                    <a16:creationId xmlns:a16="http://schemas.microsoft.com/office/drawing/2014/main" id="{EE0C02C0-8A10-853E-662D-B849A7667AC4}"/>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0">
                <a:extLst>
                  <a:ext uri="{FF2B5EF4-FFF2-40B4-BE49-F238E27FC236}">
                    <a16:creationId xmlns:a16="http://schemas.microsoft.com/office/drawing/2014/main" id="{C7CC5D6C-6805-19EF-F3B3-D33CC4478DE5}"/>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2231504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2S Strategy, continued</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sz="3200" dirty="0"/>
              <a:t>Standardize your naming conventions</a:t>
            </a:r>
          </a:p>
          <a:p>
            <a:pPr lvl="1"/>
            <a:r>
              <a:rPr lang="en-US" sz="2800" dirty="0"/>
              <a:t>File/Folder/Binder name is its “address”</a:t>
            </a:r>
          </a:p>
          <a:p>
            <a:pPr lvl="1"/>
            <a:r>
              <a:rPr lang="en-US" sz="2800" dirty="0"/>
              <a:t>Select best nomenclature for each type (region, subject, code, date, etc.)</a:t>
            </a:r>
          </a:p>
          <a:p>
            <a:pPr lvl="1"/>
            <a:r>
              <a:rPr lang="en-US" sz="2800" dirty="0"/>
              <a:t>Clearly label everything</a:t>
            </a:r>
          </a:p>
          <a:p>
            <a:r>
              <a:rPr lang="en-US" sz="3200" dirty="0"/>
              <a:t>Implement “Work in Process” drawer and/or folder to segregate data and projects in use</a:t>
            </a:r>
          </a:p>
          <a:p>
            <a:r>
              <a:rPr lang="en-US" sz="3200" dirty="0"/>
              <a:t>Place frequently used items in immediate work area, NOT in a drawer or cabinet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40</a:t>
            </a:fld>
            <a:endParaRPr lang="en-US"/>
          </a:p>
        </p:txBody>
      </p:sp>
      <p:sp>
        <p:nvSpPr>
          <p:cNvPr id="4" name="TextBox 3">
            <a:extLst>
              <a:ext uri="{FF2B5EF4-FFF2-40B4-BE49-F238E27FC236}">
                <a16:creationId xmlns:a16="http://schemas.microsoft.com/office/drawing/2014/main" id="{7221F4DB-E921-659A-F225-3C48DF2DB892}"/>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6" name="Group 5">
            <a:extLst>
              <a:ext uri="{FF2B5EF4-FFF2-40B4-BE49-F238E27FC236}">
                <a16:creationId xmlns:a16="http://schemas.microsoft.com/office/drawing/2014/main" id="{643904D1-09C6-FD4A-BD1F-F3076F8E26DC}"/>
              </a:ext>
            </a:extLst>
          </p:cNvPr>
          <p:cNvGrpSpPr/>
          <p:nvPr/>
        </p:nvGrpSpPr>
        <p:grpSpPr>
          <a:xfrm>
            <a:off x="940249" y="302538"/>
            <a:ext cx="1060167" cy="290657"/>
            <a:chOff x="940249" y="315206"/>
            <a:chExt cx="1060167" cy="265062"/>
          </a:xfrm>
        </p:grpSpPr>
        <p:sp>
          <p:nvSpPr>
            <p:cNvPr id="7" name="AutoShape 9">
              <a:extLst>
                <a:ext uri="{FF2B5EF4-FFF2-40B4-BE49-F238E27FC236}">
                  <a16:creationId xmlns:a16="http://schemas.microsoft.com/office/drawing/2014/main" id="{72F2E50A-D20F-1956-8303-0B2A01A5A0F4}"/>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EEC4ECF6-3911-AF92-42DD-1FDA2A9E9E27}"/>
                </a:ext>
              </a:extLst>
            </p:cNvPr>
            <p:cNvGrpSpPr/>
            <p:nvPr/>
          </p:nvGrpSpPr>
          <p:grpSpPr>
            <a:xfrm>
              <a:off x="940249" y="315206"/>
              <a:ext cx="746492" cy="265062"/>
              <a:chOff x="940249" y="315206"/>
              <a:chExt cx="746492" cy="265062"/>
            </a:xfrm>
          </p:grpSpPr>
          <p:sp>
            <p:nvSpPr>
              <p:cNvPr id="9" name="AutoShape 11">
                <a:extLst>
                  <a:ext uri="{FF2B5EF4-FFF2-40B4-BE49-F238E27FC236}">
                    <a16:creationId xmlns:a16="http://schemas.microsoft.com/office/drawing/2014/main" id="{EE0C02C0-8A10-853E-662D-B849A7667AC4}"/>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0">
                <a:extLst>
                  <a:ext uri="{FF2B5EF4-FFF2-40B4-BE49-F238E27FC236}">
                    <a16:creationId xmlns:a16="http://schemas.microsoft.com/office/drawing/2014/main" id="{C7CC5D6C-6805-19EF-F3B3-D33CC4478DE5}"/>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0332551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2S Strategy, continued</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sz="3200" dirty="0"/>
              <a:t>Design your standard desktop</a:t>
            </a:r>
          </a:p>
          <a:p>
            <a:pPr lvl="1"/>
            <a:r>
              <a:rPr lang="en-US" sz="2800" dirty="0"/>
              <a:t>Use unobtrusive labeling, such as small clear labels</a:t>
            </a:r>
          </a:p>
          <a:p>
            <a:pPr lvl="1"/>
            <a:r>
              <a:rPr lang="en-US" sz="2800" dirty="0"/>
              <a:t>Create a template or outline for office supplies</a:t>
            </a:r>
          </a:p>
          <a:p>
            <a:pPr lvl="1"/>
            <a:r>
              <a:rPr lang="en-US" sz="2800" dirty="0"/>
              <a:t>Avoid use of cups or boxes for storage</a:t>
            </a:r>
          </a:p>
          <a:p>
            <a:pPr lvl="1"/>
            <a:r>
              <a:rPr lang="en-US" sz="2800" dirty="0"/>
              <a:t>Eliminate unnecessary flat surfaces</a:t>
            </a:r>
          </a:p>
          <a:p>
            <a:r>
              <a:rPr lang="en-US" sz="3200" dirty="0"/>
              <a:t>Visually indicate locations so items can be returned and missing items are easily identified</a:t>
            </a:r>
          </a:p>
          <a:p>
            <a:r>
              <a:rPr lang="en-US" sz="3200" dirty="0"/>
              <a:t>Post photos or signs to clearly explain information, equipment, and other items so anyone can understand</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41</a:t>
            </a:fld>
            <a:endParaRPr lang="en-US"/>
          </a:p>
        </p:txBody>
      </p:sp>
      <p:sp>
        <p:nvSpPr>
          <p:cNvPr id="4" name="TextBox 3">
            <a:extLst>
              <a:ext uri="{FF2B5EF4-FFF2-40B4-BE49-F238E27FC236}">
                <a16:creationId xmlns:a16="http://schemas.microsoft.com/office/drawing/2014/main" id="{7221F4DB-E921-659A-F225-3C48DF2DB892}"/>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6" name="Group 5">
            <a:extLst>
              <a:ext uri="{FF2B5EF4-FFF2-40B4-BE49-F238E27FC236}">
                <a16:creationId xmlns:a16="http://schemas.microsoft.com/office/drawing/2014/main" id="{643904D1-09C6-FD4A-BD1F-F3076F8E26DC}"/>
              </a:ext>
            </a:extLst>
          </p:cNvPr>
          <p:cNvGrpSpPr/>
          <p:nvPr/>
        </p:nvGrpSpPr>
        <p:grpSpPr>
          <a:xfrm>
            <a:off x="940249" y="302538"/>
            <a:ext cx="1060167" cy="290657"/>
            <a:chOff x="940249" y="315206"/>
            <a:chExt cx="1060167" cy="265062"/>
          </a:xfrm>
        </p:grpSpPr>
        <p:sp>
          <p:nvSpPr>
            <p:cNvPr id="7" name="AutoShape 9">
              <a:extLst>
                <a:ext uri="{FF2B5EF4-FFF2-40B4-BE49-F238E27FC236}">
                  <a16:creationId xmlns:a16="http://schemas.microsoft.com/office/drawing/2014/main" id="{72F2E50A-D20F-1956-8303-0B2A01A5A0F4}"/>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EEC4ECF6-3911-AF92-42DD-1FDA2A9E9E27}"/>
                </a:ext>
              </a:extLst>
            </p:cNvPr>
            <p:cNvGrpSpPr/>
            <p:nvPr/>
          </p:nvGrpSpPr>
          <p:grpSpPr>
            <a:xfrm>
              <a:off x="940249" y="315206"/>
              <a:ext cx="746492" cy="265062"/>
              <a:chOff x="940249" y="315206"/>
              <a:chExt cx="746492" cy="265062"/>
            </a:xfrm>
          </p:grpSpPr>
          <p:sp>
            <p:nvSpPr>
              <p:cNvPr id="9" name="AutoShape 11">
                <a:extLst>
                  <a:ext uri="{FF2B5EF4-FFF2-40B4-BE49-F238E27FC236}">
                    <a16:creationId xmlns:a16="http://schemas.microsoft.com/office/drawing/2014/main" id="{EE0C02C0-8A10-853E-662D-B849A7667AC4}"/>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0">
                <a:extLst>
                  <a:ext uri="{FF2B5EF4-FFF2-40B4-BE49-F238E27FC236}">
                    <a16:creationId xmlns:a16="http://schemas.microsoft.com/office/drawing/2014/main" id="{C7CC5D6C-6805-19EF-F3B3-D33CC4478DE5}"/>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5287172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72A25-36F6-D3E3-149D-2FDBFA088709}"/>
              </a:ext>
            </a:extLst>
          </p:cNvPr>
          <p:cNvSpPr>
            <a:spLocks noGrp="1"/>
          </p:cNvSpPr>
          <p:nvPr>
            <p:ph type="title"/>
          </p:nvPr>
        </p:nvSpPr>
        <p:spPr/>
        <p:txBody>
          <a:bodyPr/>
          <a:lstStyle/>
          <a:p>
            <a:r>
              <a:rPr lang="en-US" dirty="0"/>
              <a:t>2S NON-Example</a:t>
            </a:r>
          </a:p>
        </p:txBody>
      </p:sp>
      <p:sp>
        <p:nvSpPr>
          <p:cNvPr id="4" name="Content Placeholder 3">
            <a:extLst>
              <a:ext uri="{FF2B5EF4-FFF2-40B4-BE49-F238E27FC236}">
                <a16:creationId xmlns:a16="http://schemas.microsoft.com/office/drawing/2014/main" id="{C3D772EF-0B6E-5CC9-0DB0-C9FDD3182397}"/>
              </a:ext>
            </a:extLst>
          </p:cNvPr>
          <p:cNvSpPr>
            <a:spLocks noGrp="1"/>
          </p:cNvSpPr>
          <p:nvPr>
            <p:ph sz="half" idx="2"/>
          </p:nvPr>
        </p:nvSpPr>
        <p:spPr>
          <a:xfrm>
            <a:off x="6291265" y="3199605"/>
            <a:ext cx="5181600" cy="1603375"/>
          </a:xfrm>
        </p:spPr>
        <p:txBody>
          <a:bodyPr/>
          <a:lstStyle/>
          <a:p>
            <a:r>
              <a:rPr lang="en-US" dirty="0"/>
              <a:t>Where is the stapler?</a:t>
            </a:r>
          </a:p>
          <a:p>
            <a:r>
              <a:rPr lang="en-US" dirty="0"/>
              <a:t>Is it here or is it missing?</a:t>
            </a:r>
          </a:p>
          <a:p>
            <a:r>
              <a:rPr lang="en-US" dirty="0"/>
              <a:t>How would I know?</a:t>
            </a:r>
          </a:p>
          <a:p>
            <a:endParaRPr lang="en-US" dirty="0"/>
          </a:p>
        </p:txBody>
      </p:sp>
      <p:sp>
        <p:nvSpPr>
          <p:cNvPr id="5" name="TextBox 4">
            <a:extLst>
              <a:ext uri="{FF2B5EF4-FFF2-40B4-BE49-F238E27FC236}">
                <a16:creationId xmlns:a16="http://schemas.microsoft.com/office/drawing/2014/main" id="{2473E229-430F-7FAA-F16D-6B8F2E5BA4C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6" name="Group 5">
            <a:extLst>
              <a:ext uri="{FF2B5EF4-FFF2-40B4-BE49-F238E27FC236}">
                <a16:creationId xmlns:a16="http://schemas.microsoft.com/office/drawing/2014/main" id="{FAA421BA-FE63-156D-8F83-3ED72C357FA7}"/>
              </a:ext>
            </a:extLst>
          </p:cNvPr>
          <p:cNvGrpSpPr/>
          <p:nvPr/>
        </p:nvGrpSpPr>
        <p:grpSpPr>
          <a:xfrm>
            <a:off x="940249" y="302538"/>
            <a:ext cx="1060167" cy="290657"/>
            <a:chOff x="940249" y="315206"/>
            <a:chExt cx="1060167" cy="265062"/>
          </a:xfrm>
        </p:grpSpPr>
        <p:sp>
          <p:nvSpPr>
            <p:cNvPr id="7" name="AutoShape 9">
              <a:extLst>
                <a:ext uri="{FF2B5EF4-FFF2-40B4-BE49-F238E27FC236}">
                  <a16:creationId xmlns:a16="http://schemas.microsoft.com/office/drawing/2014/main" id="{42D72CC5-E401-A16A-E199-47033EFE335E}"/>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777978DC-54F6-D6AC-BB63-A7A0B75D5C7E}"/>
                </a:ext>
              </a:extLst>
            </p:cNvPr>
            <p:cNvGrpSpPr/>
            <p:nvPr/>
          </p:nvGrpSpPr>
          <p:grpSpPr>
            <a:xfrm>
              <a:off x="940249" y="315206"/>
              <a:ext cx="746492" cy="265062"/>
              <a:chOff x="940249" y="315206"/>
              <a:chExt cx="746492" cy="265062"/>
            </a:xfrm>
          </p:grpSpPr>
          <p:sp>
            <p:nvSpPr>
              <p:cNvPr id="9" name="AutoShape 11">
                <a:extLst>
                  <a:ext uri="{FF2B5EF4-FFF2-40B4-BE49-F238E27FC236}">
                    <a16:creationId xmlns:a16="http://schemas.microsoft.com/office/drawing/2014/main" id="{0DDB6FBC-4D77-7923-3789-1ABB20FA802B}"/>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0">
                <a:extLst>
                  <a:ext uri="{FF2B5EF4-FFF2-40B4-BE49-F238E27FC236}">
                    <a16:creationId xmlns:a16="http://schemas.microsoft.com/office/drawing/2014/main" id="{987E80DF-D264-C8EE-60A6-CA4C3373CB5F}"/>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pic>
        <p:nvPicPr>
          <p:cNvPr id="11" name="Picture 1">
            <a:extLst>
              <a:ext uri="{FF2B5EF4-FFF2-40B4-BE49-F238E27FC236}">
                <a16:creationId xmlns:a16="http://schemas.microsoft.com/office/drawing/2014/main" id="{C56EE510-E09C-1116-4196-2D42D1692FDF}"/>
              </a:ext>
            </a:extLst>
          </p:cNvPr>
          <p:cNvPicPr>
            <a:picLocks noGrp="1" noChangeAspect="1" noChangeArrowheads="1"/>
          </p:cNvPicPr>
          <p:nvPr>
            <p:ph sz="half" idx="1"/>
          </p:nvPr>
        </p:nvPicPr>
        <p:blipFill>
          <a:blip r:embed="rId3">
            <a:lum contrast="-20000"/>
            <a:extLst>
              <a:ext uri="{28A0092B-C50C-407E-A947-70E740481C1C}">
                <a14:useLocalDpi xmlns:a14="http://schemas.microsoft.com/office/drawing/2010/main" val="0"/>
              </a:ext>
            </a:extLst>
          </a:blip>
          <a:srcRect/>
          <a:stretch>
            <a:fillRect/>
          </a:stretch>
        </p:blipFill>
        <p:spPr bwMode="auto">
          <a:xfrm>
            <a:off x="957262" y="2148681"/>
            <a:ext cx="4943475" cy="37052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spTree>
    <p:extLst>
      <p:ext uri="{BB962C8B-B14F-4D97-AF65-F5344CB8AC3E}">
        <p14:creationId xmlns:p14="http://schemas.microsoft.com/office/powerpoint/2010/main" val="29656000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72A25-36F6-D3E3-149D-2FDBFA088709}"/>
              </a:ext>
            </a:extLst>
          </p:cNvPr>
          <p:cNvSpPr>
            <a:spLocks noGrp="1"/>
          </p:cNvSpPr>
          <p:nvPr>
            <p:ph type="title"/>
          </p:nvPr>
        </p:nvSpPr>
        <p:spPr/>
        <p:txBody>
          <a:bodyPr/>
          <a:lstStyle/>
          <a:p>
            <a:r>
              <a:rPr lang="en-US" dirty="0"/>
              <a:t>2S NON-Example</a:t>
            </a:r>
          </a:p>
        </p:txBody>
      </p:sp>
      <p:sp>
        <p:nvSpPr>
          <p:cNvPr id="4" name="Content Placeholder 3">
            <a:extLst>
              <a:ext uri="{FF2B5EF4-FFF2-40B4-BE49-F238E27FC236}">
                <a16:creationId xmlns:a16="http://schemas.microsoft.com/office/drawing/2014/main" id="{C3D772EF-0B6E-5CC9-0DB0-C9FDD3182397}"/>
              </a:ext>
            </a:extLst>
          </p:cNvPr>
          <p:cNvSpPr>
            <a:spLocks noGrp="1"/>
          </p:cNvSpPr>
          <p:nvPr>
            <p:ph sz="half" idx="2"/>
          </p:nvPr>
        </p:nvSpPr>
        <p:spPr>
          <a:xfrm>
            <a:off x="6291265" y="3199605"/>
            <a:ext cx="5181600" cy="1603375"/>
          </a:xfrm>
        </p:spPr>
        <p:txBody>
          <a:bodyPr/>
          <a:lstStyle/>
          <a:p>
            <a:r>
              <a:rPr lang="en-US" dirty="0"/>
              <a:t>Where is the picture I need?</a:t>
            </a:r>
          </a:p>
          <a:p>
            <a:r>
              <a:rPr lang="en-US" dirty="0"/>
              <a:t>Folders and contents do not have meaningful names</a:t>
            </a:r>
          </a:p>
        </p:txBody>
      </p:sp>
      <p:sp>
        <p:nvSpPr>
          <p:cNvPr id="5" name="TextBox 4">
            <a:extLst>
              <a:ext uri="{FF2B5EF4-FFF2-40B4-BE49-F238E27FC236}">
                <a16:creationId xmlns:a16="http://schemas.microsoft.com/office/drawing/2014/main" id="{2473E229-430F-7FAA-F16D-6B8F2E5BA4C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6" name="Group 5">
            <a:extLst>
              <a:ext uri="{FF2B5EF4-FFF2-40B4-BE49-F238E27FC236}">
                <a16:creationId xmlns:a16="http://schemas.microsoft.com/office/drawing/2014/main" id="{FAA421BA-FE63-156D-8F83-3ED72C357FA7}"/>
              </a:ext>
            </a:extLst>
          </p:cNvPr>
          <p:cNvGrpSpPr/>
          <p:nvPr/>
        </p:nvGrpSpPr>
        <p:grpSpPr>
          <a:xfrm>
            <a:off x="940249" y="302538"/>
            <a:ext cx="1060167" cy="290657"/>
            <a:chOff x="940249" y="315206"/>
            <a:chExt cx="1060167" cy="265062"/>
          </a:xfrm>
        </p:grpSpPr>
        <p:sp>
          <p:nvSpPr>
            <p:cNvPr id="7" name="AutoShape 9">
              <a:extLst>
                <a:ext uri="{FF2B5EF4-FFF2-40B4-BE49-F238E27FC236}">
                  <a16:creationId xmlns:a16="http://schemas.microsoft.com/office/drawing/2014/main" id="{42D72CC5-E401-A16A-E199-47033EFE335E}"/>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777978DC-54F6-D6AC-BB63-A7A0B75D5C7E}"/>
                </a:ext>
              </a:extLst>
            </p:cNvPr>
            <p:cNvGrpSpPr/>
            <p:nvPr/>
          </p:nvGrpSpPr>
          <p:grpSpPr>
            <a:xfrm>
              <a:off x="940249" y="315206"/>
              <a:ext cx="746492" cy="265062"/>
              <a:chOff x="940249" y="315206"/>
              <a:chExt cx="746492" cy="265062"/>
            </a:xfrm>
          </p:grpSpPr>
          <p:sp>
            <p:nvSpPr>
              <p:cNvPr id="9" name="AutoShape 11">
                <a:extLst>
                  <a:ext uri="{FF2B5EF4-FFF2-40B4-BE49-F238E27FC236}">
                    <a16:creationId xmlns:a16="http://schemas.microsoft.com/office/drawing/2014/main" id="{0DDB6FBC-4D77-7923-3789-1ABB20FA802B}"/>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0">
                <a:extLst>
                  <a:ext uri="{FF2B5EF4-FFF2-40B4-BE49-F238E27FC236}">
                    <a16:creationId xmlns:a16="http://schemas.microsoft.com/office/drawing/2014/main" id="{987E80DF-D264-C8EE-60A6-CA4C3373CB5F}"/>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pic>
        <p:nvPicPr>
          <p:cNvPr id="12" name="Picture 1039">
            <a:extLst>
              <a:ext uri="{FF2B5EF4-FFF2-40B4-BE49-F238E27FC236}">
                <a16:creationId xmlns:a16="http://schemas.microsoft.com/office/drawing/2014/main" id="{58571584-E4DB-D49A-47C1-F6D24ADB90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75" b="-75"/>
          <a:stretch>
            <a:fillRect/>
          </a:stretch>
        </p:blipFill>
        <p:spPr bwMode="auto">
          <a:xfrm>
            <a:off x="1244183" y="1778530"/>
            <a:ext cx="4175125" cy="44783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pic>
        <p:nvPicPr>
          <p:cNvPr id="13" name="Picture 1040">
            <a:extLst>
              <a:ext uri="{FF2B5EF4-FFF2-40B4-BE49-F238E27FC236}">
                <a16:creationId xmlns:a16="http://schemas.microsoft.com/office/drawing/2014/main" id="{347DF8BF-9348-23AE-20D7-14C2F0499F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90" b="-66"/>
          <a:stretch>
            <a:fillRect/>
          </a:stretch>
        </p:blipFill>
        <p:spPr bwMode="auto">
          <a:xfrm>
            <a:off x="2766595" y="1900768"/>
            <a:ext cx="2570163" cy="42465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14" name="Line 1041">
            <a:extLst>
              <a:ext uri="{FF2B5EF4-FFF2-40B4-BE49-F238E27FC236}">
                <a16:creationId xmlns:a16="http://schemas.microsoft.com/office/drawing/2014/main" id="{243D7F88-5D1D-5FFA-E091-5AD8BE63A287}"/>
              </a:ext>
            </a:extLst>
          </p:cNvPr>
          <p:cNvSpPr>
            <a:spLocks noChangeShapeType="1"/>
          </p:cNvSpPr>
          <p:nvPr/>
        </p:nvSpPr>
        <p:spPr bwMode="auto">
          <a:xfrm flipV="1">
            <a:off x="2156994" y="2433320"/>
            <a:ext cx="723365" cy="48387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107763"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15" name="AutoShape 5">
            <a:extLst>
              <a:ext uri="{FF2B5EF4-FFF2-40B4-BE49-F238E27FC236}">
                <a16:creationId xmlns:a16="http://schemas.microsoft.com/office/drawing/2014/main" id="{CD0F2B2F-2E9F-7CE5-72B7-337068B97F94}"/>
              </a:ext>
            </a:extLst>
          </p:cNvPr>
          <p:cNvSpPr>
            <a:spLocks noChangeArrowheads="1"/>
          </p:cNvSpPr>
          <p:nvPr/>
        </p:nvSpPr>
        <p:spPr bwMode="auto">
          <a:xfrm>
            <a:off x="5600857" y="2882900"/>
            <a:ext cx="285750" cy="2493963"/>
          </a:xfrm>
          <a:prstGeom prst="rightArrow">
            <a:avLst>
              <a:gd name="adj1" fmla="val 67278"/>
              <a:gd name="adj2" fmla="val 72222"/>
            </a:avLst>
          </a:prstGeom>
          <a:solidFill>
            <a:schemeClr val="tx2"/>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dirty="0">
              <a:solidFill>
                <a:schemeClr val="bg1"/>
              </a:solidFill>
            </a:endParaRPr>
          </a:p>
        </p:txBody>
      </p:sp>
    </p:spTree>
    <p:extLst>
      <p:ext uri="{BB962C8B-B14F-4D97-AF65-F5344CB8AC3E}">
        <p14:creationId xmlns:p14="http://schemas.microsoft.com/office/powerpoint/2010/main" val="24800799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3600" dirty="0">
                <a:latin typeface="Roboto Medium"/>
                <a:ea typeface="Roboto Medium"/>
                <a:cs typeface="Roboto Medium"/>
              </a:rPr>
              <a:t>Exercise: 2S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44</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Analyze Case Study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each team, carefully review the photos from the case study</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Answer “how would you implement “2S” in this office?”</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Include questions you would need to ask the owner</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Record notes on chart paper for review with class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15 minutes</a:t>
            </a:r>
            <a:endPar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endParaRP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56688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2S Strategy – one person to report out to rest of class</a:t>
            </a:r>
          </a:p>
        </p:txBody>
      </p:sp>
      <p:sp>
        <p:nvSpPr>
          <p:cNvPr id="9" name="TextBox 8">
            <a:extLst>
              <a:ext uri="{FF2B5EF4-FFF2-40B4-BE49-F238E27FC236}">
                <a16:creationId xmlns:a16="http://schemas.microsoft.com/office/drawing/2014/main" id="{985AA00D-A29D-6544-7130-516B09E40D2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10" name="Group 9">
            <a:extLst>
              <a:ext uri="{FF2B5EF4-FFF2-40B4-BE49-F238E27FC236}">
                <a16:creationId xmlns:a16="http://schemas.microsoft.com/office/drawing/2014/main" id="{B624FD29-6362-899C-35BD-CD83F08220E5}"/>
              </a:ext>
            </a:extLst>
          </p:cNvPr>
          <p:cNvGrpSpPr/>
          <p:nvPr/>
        </p:nvGrpSpPr>
        <p:grpSpPr>
          <a:xfrm>
            <a:off x="940249" y="302538"/>
            <a:ext cx="1060167" cy="290657"/>
            <a:chOff x="940249" y="315206"/>
            <a:chExt cx="1060167" cy="265062"/>
          </a:xfrm>
        </p:grpSpPr>
        <p:sp>
          <p:nvSpPr>
            <p:cNvPr id="19" name="AutoShape 9">
              <a:extLst>
                <a:ext uri="{FF2B5EF4-FFF2-40B4-BE49-F238E27FC236}">
                  <a16:creationId xmlns:a16="http://schemas.microsoft.com/office/drawing/2014/main" id="{FDF31AEA-B9A3-8ED4-A650-A6E999D87FF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37DB9D66-3761-99F8-976C-54CBE50C471B}"/>
                </a:ext>
              </a:extLst>
            </p:cNvPr>
            <p:cNvGrpSpPr/>
            <p:nvPr/>
          </p:nvGrpSpPr>
          <p:grpSpPr>
            <a:xfrm>
              <a:off x="940249" y="315206"/>
              <a:ext cx="746492" cy="265062"/>
              <a:chOff x="940249" y="315206"/>
              <a:chExt cx="746492" cy="265062"/>
            </a:xfrm>
          </p:grpSpPr>
          <p:sp>
            <p:nvSpPr>
              <p:cNvPr id="21" name="AutoShape 11">
                <a:extLst>
                  <a:ext uri="{FF2B5EF4-FFF2-40B4-BE49-F238E27FC236}">
                    <a16:creationId xmlns:a16="http://schemas.microsoft.com/office/drawing/2014/main" id="{AD50B12C-C902-7D27-4E1C-060FF711BA72}"/>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0">
                <a:extLst>
                  <a:ext uri="{FF2B5EF4-FFF2-40B4-BE49-F238E27FC236}">
                    <a16:creationId xmlns:a16="http://schemas.microsoft.com/office/drawing/2014/main" id="{74EC2DCA-13CD-8D1B-5812-649364398B06}"/>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9784606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72A25-36F6-D3E3-149D-2FDBFA088709}"/>
              </a:ext>
            </a:extLst>
          </p:cNvPr>
          <p:cNvSpPr>
            <a:spLocks noGrp="1"/>
          </p:cNvSpPr>
          <p:nvPr>
            <p:ph type="title"/>
          </p:nvPr>
        </p:nvSpPr>
        <p:spPr/>
        <p:txBody>
          <a:bodyPr/>
          <a:lstStyle/>
          <a:p>
            <a:r>
              <a:rPr lang="en-US" dirty="0"/>
              <a:t>2S Example</a:t>
            </a:r>
          </a:p>
        </p:txBody>
      </p:sp>
      <p:sp>
        <p:nvSpPr>
          <p:cNvPr id="4" name="Content Placeholder 3">
            <a:extLst>
              <a:ext uri="{FF2B5EF4-FFF2-40B4-BE49-F238E27FC236}">
                <a16:creationId xmlns:a16="http://schemas.microsoft.com/office/drawing/2014/main" id="{C3D772EF-0B6E-5CC9-0DB0-C9FDD3182397}"/>
              </a:ext>
            </a:extLst>
          </p:cNvPr>
          <p:cNvSpPr>
            <a:spLocks noGrp="1"/>
          </p:cNvSpPr>
          <p:nvPr>
            <p:ph sz="half" idx="2"/>
          </p:nvPr>
        </p:nvSpPr>
        <p:spPr>
          <a:xfrm>
            <a:off x="6291265" y="3199605"/>
            <a:ext cx="5181600" cy="1603375"/>
          </a:xfrm>
        </p:spPr>
        <p:txBody>
          <a:bodyPr>
            <a:normAutofit fontScale="85000" lnSpcReduction="20000"/>
          </a:bodyPr>
          <a:lstStyle/>
          <a:p>
            <a:r>
              <a:rPr lang="en-US" dirty="0"/>
              <a:t>Labeled desk top creates visual management for office supplies</a:t>
            </a:r>
          </a:p>
          <a:p>
            <a:r>
              <a:rPr lang="en-US" dirty="0"/>
              <a:t>Anyone can quickly see when something is missing and where it belongs</a:t>
            </a:r>
          </a:p>
        </p:txBody>
      </p:sp>
      <p:sp>
        <p:nvSpPr>
          <p:cNvPr id="5" name="TextBox 4">
            <a:extLst>
              <a:ext uri="{FF2B5EF4-FFF2-40B4-BE49-F238E27FC236}">
                <a16:creationId xmlns:a16="http://schemas.microsoft.com/office/drawing/2014/main" id="{2473E229-430F-7FAA-F16D-6B8F2E5BA4C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6" name="Group 5">
            <a:extLst>
              <a:ext uri="{FF2B5EF4-FFF2-40B4-BE49-F238E27FC236}">
                <a16:creationId xmlns:a16="http://schemas.microsoft.com/office/drawing/2014/main" id="{FAA421BA-FE63-156D-8F83-3ED72C357FA7}"/>
              </a:ext>
            </a:extLst>
          </p:cNvPr>
          <p:cNvGrpSpPr/>
          <p:nvPr/>
        </p:nvGrpSpPr>
        <p:grpSpPr>
          <a:xfrm>
            <a:off x="940249" y="302538"/>
            <a:ext cx="1060167" cy="290657"/>
            <a:chOff x="940249" y="315206"/>
            <a:chExt cx="1060167" cy="265062"/>
          </a:xfrm>
        </p:grpSpPr>
        <p:sp>
          <p:nvSpPr>
            <p:cNvPr id="7" name="AutoShape 9">
              <a:extLst>
                <a:ext uri="{FF2B5EF4-FFF2-40B4-BE49-F238E27FC236}">
                  <a16:creationId xmlns:a16="http://schemas.microsoft.com/office/drawing/2014/main" id="{42D72CC5-E401-A16A-E199-47033EFE335E}"/>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777978DC-54F6-D6AC-BB63-A7A0B75D5C7E}"/>
                </a:ext>
              </a:extLst>
            </p:cNvPr>
            <p:cNvGrpSpPr/>
            <p:nvPr/>
          </p:nvGrpSpPr>
          <p:grpSpPr>
            <a:xfrm>
              <a:off x="940249" y="315206"/>
              <a:ext cx="746492" cy="265062"/>
              <a:chOff x="940249" y="315206"/>
              <a:chExt cx="746492" cy="265062"/>
            </a:xfrm>
          </p:grpSpPr>
          <p:sp>
            <p:nvSpPr>
              <p:cNvPr id="9" name="AutoShape 11">
                <a:extLst>
                  <a:ext uri="{FF2B5EF4-FFF2-40B4-BE49-F238E27FC236}">
                    <a16:creationId xmlns:a16="http://schemas.microsoft.com/office/drawing/2014/main" id="{0DDB6FBC-4D77-7923-3789-1ABB20FA802B}"/>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0">
                <a:extLst>
                  <a:ext uri="{FF2B5EF4-FFF2-40B4-BE49-F238E27FC236}">
                    <a16:creationId xmlns:a16="http://schemas.microsoft.com/office/drawing/2014/main" id="{987E80DF-D264-C8EE-60A6-CA4C3373CB5F}"/>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pic>
        <p:nvPicPr>
          <p:cNvPr id="12" name="Picture 1033" descr="P1010004">
            <a:extLst>
              <a:ext uri="{FF2B5EF4-FFF2-40B4-BE49-F238E27FC236}">
                <a16:creationId xmlns:a16="http://schemas.microsoft.com/office/drawing/2014/main" id="{7E000052-4437-E6BF-2B71-1E1ED57695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249" y="1778530"/>
            <a:ext cx="4206875"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034" descr="P1010005">
            <a:extLst>
              <a:ext uri="{FF2B5EF4-FFF2-40B4-BE49-F238E27FC236}">
                <a16:creationId xmlns:a16="http://schemas.microsoft.com/office/drawing/2014/main" id="{08F4D348-FCB6-5976-20B4-FADDAD6DAA14}"/>
              </a:ext>
            </a:extLst>
          </p:cNvPr>
          <p:cNvPicPr>
            <a:picLocks noChangeAspect="1" noChangeArrowheads="1"/>
          </p:cNvPicPr>
          <p:nvPr/>
        </p:nvPicPr>
        <p:blipFill>
          <a:blip r:embed="rId4">
            <a:lum bright="4000"/>
            <a:extLst>
              <a:ext uri="{28A0092B-C50C-407E-A947-70E740481C1C}">
                <a14:useLocalDpi xmlns:a14="http://schemas.microsoft.com/office/drawing/2010/main" val="0"/>
              </a:ext>
            </a:extLst>
          </a:blip>
          <a:srcRect/>
          <a:stretch>
            <a:fillRect/>
          </a:stretch>
        </p:blipFill>
        <p:spPr bwMode="auto">
          <a:xfrm>
            <a:off x="2689064" y="3538538"/>
            <a:ext cx="3517900" cy="263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389546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72A25-36F6-D3E3-149D-2FDBFA088709}"/>
              </a:ext>
            </a:extLst>
          </p:cNvPr>
          <p:cNvSpPr>
            <a:spLocks noGrp="1"/>
          </p:cNvSpPr>
          <p:nvPr>
            <p:ph type="title"/>
          </p:nvPr>
        </p:nvSpPr>
        <p:spPr/>
        <p:txBody>
          <a:bodyPr/>
          <a:lstStyle/>
          <a:p>
            <a:r>
              <a:rPr lang="en-US" dirty="0"/>
              <a:t>2S Example</a:t>
            </a:r>
          </a:p>
        </p:txBody>
      </p:sp>
      <p:sp>
        <p:nvSpPr>
          <p:cNvPr id="4" name="Content Placeholder 3">
            <a:extLst>
              <a:ext uri="{FF2B5EF4-FFF2-40B4-BE49-F238E27FC236}">
                <a16:creationId xmlns:a16="http://schemas.microsoft.com/office/drawing/2014/main" id="{C3D772EF-0B6E-5CC9-0DB0-C9FDD3182397}"/>
              </a:ext>
            </a:extLst>
          </p:cNvPr>
          <p:cNvSpPr>
            <a:spLocks noGrp="1"/>
          </p:cNvSpPr>
          <p:nvPr>
            <p:ph sz="half" idx="2"/>
          </p:nvPr>
        </p:nvSpPr>
        <p:spPr>
          <a:xfrm>
            <a:off x="6305395" y="2478246"/>
            <a:ext cx="5181600" cy="3303270"/>
          </a:xfrm>
        </p:spPr>
        <p:txBody>
          <a:bodyPr>
            <a:normAutofit fontScale="92500" lnSpcReduction="10000"/>
          </a:bodyPr>
          <a:lstStyle/>
          <a:p>
            <a:r>
              <a:rPr lang="en-US" dirty="0"/>
              <a:t>WIP (work in process) folders keep frequently used information readily available</a:t>
            </a:r>
          </a:p>
          <a:p>
            <a:r>
              <a:rPr lang="en-US" dirty="0"/>
              <a:t>A WIP drawer may be used to stow away larger items in use, such as books, binders, CD’s</a:t>
            </a:r>
          </a:p>
          <a:p>
            <a:r>
              <a:rPr lang="en-US" dirty="0"/>
              <a:t>Standard color code system would improve visual management</a:t>
            </a:r>
          </a:p>
        </p:txBody>
      </p:sp>
      <p:sp>
        <p:nvSpPr>
          <p:cNvPr id="5" name="TextBox 4">
            <a:extLst>
              <a:ext uri="{FF2B5EF4-FFF2-40B4-BE49-F238E27FC236}">
                <a16:creationId xmlns:a16="http://schemas.microsoft.com/office/drawing/2014/main" id="{2473E229-430F-7FAA-F16D-6B8F2E5BA4C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6" name="Group 5">
            <a:extLst>
              <a:ext uri="{FF2B5EF4-FFF2-40B4-BE49-F238E27FC236}">
                <a16:creationId xmlns:a16="http://schemas.microsoft.com/office/drawing/2014/main" id="{FAA421BA-FE63-156D-8F83-3ED72C357FA7}"/>
              </a:ext>
            </a:extLst>
          </p:cNvPr>
          <p:cNvGrpSpPr/>
          <p:nvPr/>
        </p:nvGrpSpPr>
        <p:grpSpPr>
          <a:xfrm>
            <a:off x="940249" y="302538"/>
            <a:ext cx="1060167" cy="290657"/>
            <a:chOff x="940249" y="315206"/>
            <a:chExt cx="1060167" cy="265062"/>
          </a:xfrm>
        </p:grpSpPr>
        <p:sp>
          <p:nvSpPr>
            <p:cNvPr id="7" name="AutoShape 9">
              <a:extLst>
                <a:ext uri="{FF2B5EF4-FFF2-40B4-BE49-F238E27FC236}">
                  <a16:creationId xmlns:a16="http://schemas.microsoft.com/office/drawing/2014/main" id="{42D72CC5-E401-A16A-E199-47033EFE335E}"/>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777978DC-54F6-D6AC-BB63-A7A0B75D5C7E}"/>
                </a:ext>
              </a:extLst>
            </p:cNvPr>
            <p:cNvGrpSpPr/>
            <p:nvPr/>
          </p:nvGrpSpPr>
          <p:grpSpPr>
            <a:xfrm>
              <a:off x="940249" y="315206"/>
              <a:ext cx="746492" cy="265062"/>
              <a:chOff x="940249" y="315206"/>
              <a:chExt cx="746492" cy="265062"/>
            </a:xfrm>
          </p:grpSpPr>
          <p:sp>
            <p:nvSpPr>
              <p:cNvPr id="9" name="AutoShape 11">
                <a:extLst>
                  <a:ext uri="{FF2B5EF4-FFF2-40B4-BE49-F238E27FC236}">
                    <a16:creationId xmlns:a16="http://schemas.microsoft.com/office/drawing/2014/main" id="{0DDB6FBC-4D77-7923-3789-1ABB20FA802B}"/>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0">
                <a:extLst>
                  <a:ext uri="{FF2B5EF4-FFF2-40B4-BE49-F238E27FC236}">
                    <a16:creationId xmlns:a16="http://schemas.microsoft.com/office/drawing/2014/main" id="{987E80DF-D264-C8EE-60A6-CA4C3373CB5F}"/>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5" name="AutoShape 5">
            <a:extLst>
              <a:ext uri="{FF2B5EF4-FFF2-40B4-BE49-F238E27FC236}">
                <a16:creationId xmlns:a16="http://schemas.microsoft.com/office/drawing/2014/main" id="{CD0F2B2F-2E9F-7CE5-72B7-337068B97F94}"/>
              </a:ext>
            </a:extLst>
          </p:cNvPr>
          <p:cNvSpPr>
            <a:spLocks noChangeArrowheads="1"/>
          </p:cNvSpPr>
          <p:nvPr/>
        </p:nvSpPr>
        <p:spPr bwMode="auto">
          <a:xfrm>
            <a:off x="5600857" y="2882900"/>
            <a:ext cx="285750" cy="2493963"/>
          </a:xfrm>
          <a:prstGeom prst="rightArrow">
            <a:avLst>
              <a:gd name="adj1" fmla="val 67278"/>
              <a:gd name="adj2" fmla="val 72222"/>
            </a:avLst>
          </a:prstGeom>
          <a:solidFill>
            <a:schemeClr val="tx2"/>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dirty="0">
              <a:solidFill>
                <a:schemeClr val="bg1"/>
              </a:solidFill>
            </a:endParaRPr>
          </a:p>
        </p:txBody>
      </p:sp>
      <p:pic>
        <p:nvPicPr>
          <p:cNvPr id="3" name="Picture 34" descr="P1010002">
            <a:extLst>
              <a:ext uri="{FF2B5EF4-FFF2-40B4-BE49-F238E27FC236}">
                <a16:creationId xmlns:a16="http://schemas.microsoft.com/office/drawing/2014/main" id="{230B2A1F-C84E-A706-A376-CA9A6B9044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0332" y="1786729"/>
            <a:ext cx="3279775" cy="442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962137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A97DE-DEBC-9B03-4ECF-9BF7E737456E}"/>
              </a:ext>
            </a:extLst>
          </p:cNvPr>
          <p:cNvSpPr>
            <a:spLocks noGrp="1"/>
          </p:cNvSpPr>
          <p:nvPr>
            <p:ph type="title"/>
          </p:nvPr>
        </p:nvSpPr>
        <p:spPr/>
        <p:txBody>
          <a:bodyPr/>
          <a:lstStyle/>
          <a:p>
            <a:r>
              <a:rPr lang="en-US" dirty="0"/>
              <a:t>2S Example</a:t>
            </a:r>
          </a:p>
        </p:txBody>
      </p:sp>
      <p:sp>
        <p:nvSpPr>
          <p:cNvPr id="4" name="Content Placeholder 3">
            <a:extLst>
              <a:ext uri="{FF2B5EF4-FFF2-40B4-BE49-F238E27FC236}">
                <a16:creationId xmlns:a16="http://schemas.microsoft.com/office/drawing/2014/main" id="{B4257EAB-763A-82D1-4B89-BEC36DBD12C0}"/>
              </a:ext>
            </a:extLst>
          </p:cNvPr>
          <p:cNvSpPr>
            <a:spLocks noGrp="1"/>
          </p:cNvSpPr>
          <p:nvPr>
            <p:ph sz="half" idx="2"/>
          </p:nvPr>
        </p:nvSpPr>
        <p:spPr>
          <a:xfrm>
            <a:off x="6172200" y="2882899"/>
            <a:ext cx="5181600" cy="2493963"/>
          </a:xfrm>
        </p:spPr>
        <p:txBody>
          <a:bodyPr>
            <a:normAutofit lnSpcReduction="10000"/>
          </a:bodyPr>
          <a:lstStyle/>
          <a:p>
            <a:r>
              <a:rPr lang="en-US" dirty="0"/>
              <a:t>Simple visual management system clearly shows what belongs and if something is missing</a:t>
            </a:r>
          </a:p>
          <a:p>
            <a:r>
              <a:rPr lang="en-US" dirty="0"/>
              <a:t>Visual management allows you to “manage by exception”</a:t>
            </a:r>
          </a:p>
        </p:txBody>
      </p:sp>
      <p:sp>
        <p:nvSpPr>
          <p:cNvPr id="5" name="Text Box 17">
            <a:extLst>
              <a:ext uri="{FF2B5EF4-FFF2-40B4-BE49-F238E27FC236}">
                <a16:creationId xmlns:a16="http://schemas.microsoft.com/office/drawing/2014/main" id="{12E86261-268A-C6FF-F03F-27104D5E59CE}"/>
              </a:ext>
            </a:extLst>
          </p:cNvPr>
          <p:cNvSpPr txBox="1">
            <a:spLocks noChangeArrowheads="1"/>
          </p:cNvSpPr>
          <p:nvPr/>
        </p:nvSpPr>
        <p:spPr bwMode="auto">
          <a:xfrm>
            <a:off x="838200" y="1781174"/>
            <a:ext cx="1144370" cy="36933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107763" dir="2700000" algn="ctr" rotWithShape="0">
                    <a:schemeClr val="bg2">
                      <a:alpha val="74998"/>
                    </a:schemeClr>
                  </a:outerShdw>
                </a:effectLst>
              </a14:hiddenEffects>
            </a:ext>
          </a:extLst>
        </p:spPr>
        <p:txBody>
          <a:bodyPr wrap="square">
            <a:spAutoFit/>
          </a:bodyPr>
          <a:lstStyle/>
          <a:p>
            <a:pPr>
              <a:defRPr/>
            </a:pPr>
            <a:r>
              <a:rPr lang="en-US" sz="1800" b="1" dirty="0">
                <a:latin typeface="Roboto" panose="02000000000000000000" pitchFamily="2" charset="0"/>
                <a:ea typeface="Roboto" panose="02000000000000000000" pitchFamily="2" charset="0"/>
              </a:rPr>
              <a:t>Before</a:t>
            </a:r>
          </a:p>
        </p:txBody>
      </p:sp>
      <p:sp>
        <p:nvSpPr>
          <p:cNvPr id="6" name="Text Box 18">
            <a:extLst>
              <a:ext uri="{FF2B5EF4-FFF2-40B4-BE49-F238E27FC236}">
                <a16:creationId xmlns:a16="http://schemas.microsoft.com/office/drawing/2014/main" id="{2DA78693-0AFD-0FF8-EA6D-59A2F735B50A}"/>
              </a:ext>
            </a:extLst>
          </p:cNvPr>
          <p:cNvSpPr txBox="1">
            <a:spLocks noChangeArrowheads="1"/>
          </p:cNvSpPr>
          <p:nvPr/>
        </p:nvSpPr>
        <p:spPr bwMode="auto">
          <a:xfrm>
            <a:off x="5464053" y="3569256"/>
            <a:ext cx="708147" cy="36933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107763" dir="2700000" algn="ctr" rotWithShape="0">
                    <a:schemeClr val="bg2">
                      <a:alpha val="74998"/>
                    </a:schemeClr>
                  </a:outerShdw>
                </a:effectLst>
              </a14:hiddenEffects>
            </a:ext>
          </a:extLst>
        </p:spPr>
        <p:txBody>
          <a:bodyPr wrap="square">
            <a:spAutoFit/>
          </a:bodyPr>
          <a:lstStyle/>
          <a:p>
            <a:pPr>
              <a:defRPr/>
            </a:pPr>
            <a:r>
              <a:rPr lang="en-US" sz="1800" b="1" dirty="0">
                <a:latin typeface="Roboto" panose="02000000000000000000" pitchFamily="2" charset="0"/>
                <a:ea typeface="Roboto" panose="02000000000000000000" pitchFamily="2" charset="0"/>
              </a:rPr>
              <a:t>After</a:t>
            </a:r>
          </a:p>
        </p:txBody>
      </p:sp>
      <p:sp>
        <p:nvSpPr>
          <p:cNvPr id="12" name="TextBox 11">
            <a:extLst>
              <a:ext uri="{FF2B5EF4-FFF2-40B4-BE49-F238E27FC236}">
                <a16:creationId xmlns:a16="http://schemas.microsoft.com/office/drawing/2014/main" id="{6C24A373-D82F-85A1-F7D0-AF07721C755A}"/>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13" name="Group 12">
            <a:extLst>
              <a:ext uri="{FF2B5EF4-FFF2-40B4-BE49-F238E27FC236}">
                <a16:creationId xmlns:a16="http://schemas.microsoft.com/office/drawing/2014/main" id="{4840210A-9D13-8DCE-51FC-F3168F47EF7F}"/>
              </a:ext>
            </a:extLst>
          </p:cNvPr>
          <p:cNvGrpSpPr/>
          <p:nvPr/>
        </p:nvGrpSpPr>
        <p:grpSpPr>
          <a:xfrm>
            <a:off x="940249" y="302538"/>
            <a:ext cx="1060167" cy="290657"/>
            <a:chOff x="940249" y="315206"/>
            <a:chExt cx="1060167" cy="265062"/>
          </a:xfrm>
        </p:grpSpPr>
        <p:sp>
          <p:nvSpPr>
            <p:cNvPr id="14" name="AutoShape 9">
              <a:extLst>
                <a:ext uri="{FF2B5EF4-FFF2-40B4-BE49-F238E27FC236}">
                  <a16:creationId xmlns:a16="http://schemas.microsoft.com/office/drawing/2014/main" id="{3C44F90A-F55E-CE36-1121-EFB2B7EEFC49}"/>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5" name="Group 14">
              <a:extLst>
                <a:ext uri="{FF2B5EF4-FFF2-40B4-BE49-F238E27FC236}">
                  <a16:creationId xmlns:a16="http://schemas.microsoft.com/office/drawing/2014/main" id="{3FCB6E81-5C4C-737A-E71E-A9D587DBEE1B}"/>
                </a:ext>
              </a:extLst>
            </p:cNvPr>
            <p:cNvGrpSpPr/>
            <p:nvPr/>
          </p:nvGrpSpPr>
          <p:grpSpPr>
            <a:xfrm>
              <a:off x="940249" y="315206"/>
              <a:ext cx="746492" cy="265062"/>
              <a:chOff x="940249" y="315206"/>
              <a:chExt cx="746492" cy="265062"/>
            </a:xfrm>
          </p:grpSpPr>
          <p:sp>
            <p:nvSpPr>
              <p:cNvPr id="16" name="AutoShape 11">
                <a:extLst>
                  <a:ext uri="{FF2B5EF4-FFF2-40B4-BE49-F238E27FC236}">
                    <a16:creationId xmlns:a16="http://schemas.microsoft.com/office/drawing/2014/main" id="{71B99716-F637-A1D7-6EA5-D72DDE0BA793}"/>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7" name="AutoShape 10">
                <a:extLst>
                  <a:ext uri="{FF2B5EF4-FFF2-40B4-BE49-F238E27FC236}">
                    <a16:creationId xmlns:a16="http://schemas.microsoft.com/office/drawing/2014/main" id="{C8657337-3F1E-4C2A-F4E4-4910C2349135}"/>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pic>
        <p:nvPicPr>
          <p:cNvPr id="7" name="Picture 10">
            <a:extLst>
              <a:ext uri="{FF2B5EF4-FFF2-40B4-BE49-F238E27FC236}">
                <a16:creationId xmlns:a16="http://schemas.microsoft.com/office/drawing/2014/main" id="{54AB473C-BAB7-9D82-B578-F882E4E969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7291" y="2137293"/>
            <a:ext cx="3560723" cy="286392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pic>
        <p:nvPicPr>
          <p:cNvPr id="8" name="Picture 11">
            <a:extLst>
              <a:ext uri="{FF2B5EF4-FFF2-40B4-BE49-F238E27FC236}">
                <a16:creationId xmlns:a16="http://schemas.microsoft.com/office/drawing/2014/main" id="{245477F9-B2DC-1454-D5C9-67C23BB964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8996" y="3938588"/>
            <a:ext cx="2650805" cy="238607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18" name="Text Box 16">
            <a:extLst>
              <a:ext uri="{FF2B5EF4-FFF2-40B4-BE49-F238E27FC236}">
                <a16:creationId xmlns:a16="http://schemas.microsoft.com/office/drawing/2014/main" id="{E99F1274-1FA1-74A0-A316-A55F2FAC77DB}"/>
              </a:ext>
            </a:extLst>
          </p:cNvPr>
          <p:cNvSpPr txBox="1">
            <a:spLocks noChangeArrowheads="1"/>
          </p:cNvSpPr>
          <p:nvPr/>
        </p:nvSpPr>
        <p:spPr bwMode="auto">
          <a:xfrm>
            <a:off x="622617" y="6069241"/>
            <a:ext cx="2593980" cy="215444"/>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107763" dir="2700000" algn="ctr" rotWithShape="0">
                    <a:schemeClr val="bg2">
                      <a:alpha val="74998"/>
                    </a:schemeClr>
                  </a:outerShdw>
                </a:effectLst>
              </a14:hiddenEffects>
            </a:ext>
          </a:extLst>
        </p:spPr>
        <p:txBody>
          <a:bodyPr wrap="none">
            <a:spAutoFit/>
          </a:bodyPr>
          <a:lstStyle/>
          <a:p>
            <a:pPr algn="l">
              <a:defRPr/>
            </a:pPr>
            <a:r>
              <a:rPr lang="en-US" sz="800" dirty="0">
                <a:latin typeface="Roboto" panose="02000000000000000000" pitchFamily="2" charset="0"/>
                <a:ea typeface="Roboto" panose="02000000000000000000" pitchFamily="2" charset="0"/>
              </a:rPr>
              <a:t>Picture reproduced with permission from</a:t>
            </a:r>
            <a:r>
              <a:rPr lang="en-US" sz="800" i="1" dirty="0">
                <a:latin typeface="Roboto" panose="02000000000000000000" pitchFamily="2" charset="0"/>
                <a:ea typeface="Roboto" panose="02000000000000000000" pitchFamily="2" charset="0"/>
              </a:rPr>
              <a:t> GE Money</a:t>
            </a:r>
          </a:p>
        </p:txBody>
      </p:sp>
    </p:spTree>
    <p:extLst>
      <p:ext uri="{BB962C8B-B14F-4D97-AF65-F5344CB8AC3E}">
        <p14:creationId xmlns:p14="http://schemas.microsoft.com/office/powerpoint/2010/main" val="42609559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A97DE-DEBC-9B03-4ECF-9BF7E737456E}"/>
              </a:ext>
            </a:extLst>
          </p:cNvPr>
          <p:cNvSpPr>
            <a:spLocks noGrp="1"/>
          </p:cNvSpPr>
          <p:nvPr>
            <p:ph type="title"/>
          </p:nvPr>
        </p:nvSpPr>
        <p:spPr/>
        <p:txBody>
          <a:bodyPr/>
          <a:lstStyle/>
          <a:p>
            <a:r>
              <a:rPr lang="en-US" dirty="0"/>
              <a:t>2S Example</a:t>
            </a:r>
          </a:p>
        </p:txBody>
      </p:sp>
      <p:sp>
        <p:nvSpPr>
          <p:cNvPr id="4" name="Content Placeholder 3">
            <a:extLst>
              <a:ext uri="{FF2B5EF4-FFF2-40B4-BE49-F238E27FC236}">
                <a16:creationId xmlns:a16="http://schemas.microsoft.com/office/drawing/2014/main" id="{B4257EAB-763A-82D1-4B89-BEC36DBD12C0}"/>
              </a:ext>
            </a:extLst>
          </p:cNvPr>
          <p:cNvSpPr>
            <a:spLocks noGrp="1"/>
          </p:cNvSpPr>
          <p:nvPr>
            <p:ph sz="half" idx="2"/>
          </p:nvPr>
        </p:nvSpPr>
        <p:spPr>
          <a:xfrm>
            <a:off x="6412230" y="2171701"/>
            <a:ext cx="4941570" cy="3851910"/>
          </a:xfrm>
        </p:spPr>
        <p:txBody>
          <a:bodyPr>
            <a:normAutofit lnSpcReduction="10000"/>
          </a:bodyPr>
          <a:lstStyle/>
          <a:p>
            <a:r>
              <a:rPr lang="en-US" dirty="0"/>
              <a:t>Moved these files to remote storage for mandatory retention period</a:t>
            </a:r>
          </a:p>
          <a:p>
            <a:r>
              <a:rPr lang="en-US" dirty="0"/>
              <a:t>Files were very rarely accessed (if ever)</a:t>
            </a:r>
          </a:p>
          <a:p>
            <a:r>
              <a:rPr lang="en-US" dirty="0"/>
              <a:t>Grouped by expiration date so that as new documents are moved into remote storage, expired data is discarded</a:t>
            </a:r>
          </a:p>
        </p:txBody>
      </p:sp>
      <p:sp>
        <p:nvSpPr>
          <p:cNvPr id="12" name="TextBox 11">
            <a:extLst>
              <a:ext uri="{FF2B5EF4-FFF2-40B4-BE49-F238E27FC236}">
                <a16:creationId xmlns:a16="http://schemas.microsoft.com/office/drawing/2014/main" id="{6C24A373-D82F-85A1-F7D0-AF07721C755A}"/>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13" name="Group 12">
            <a:extLst>
              <a:ext uri="{FF2B5EF4-FFF2-40B4-BE49-F238E27FC236}">
                <a16:creationId xmlns:a16="http://schemas.microsoft.com/office/drawing/2014/main" id="{4840210A-9D13-8DCE-51FC-F3168F47EF7F}"/>
              </a:ext>
            </a:extLst>
          </p:cNvPr>
          <p:cNvGrpSpPr/>
          <p:nvPr/>
        </p:nvGrpSpPr>
        <p:grpSpPr>
          <a:xfrm>
            <a:off x="940249" y="302538"/>
            <a:ext cx="1060167" cy="290657"/>
            <a:chOff x="940249" y="315206"/>
            <a:chExt cx="1060167" cy="265062"/>
          </a:xfrm>
        </p:grpSpPr>
        <p:sp>
          <p:nvSpPr>
            <p:cNvPr id="14" name="AutoShape 9">
              <a:extLst>
                <a:ext uri="{FF2B5EF4-FFF2-40B4-BE49-F238E27FC236}">
                  <a16:creationId xmlns:a16="http://schemas.microsoft.com/office/drawing/2014/main" id="{3C44F90A-F55E-CE36-1121-EFB2B7EEFC49}"/>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5" name="Group 14">
              <a:extLst>
                <a:ext uri="{FF2B5EF4-FFF2-40B4-BE49-F238E27FC236}">
                  <a16:creationId xmlns:a16="http://schemas.microsoft.com/office/drawing/2014/main" id="{3FCB6E81-5C4C-737A-E71E-A9D587DBEE1B}"/>
                </a:ext>
              </a:extLst>
            </p:cNvPr>
            <p:cNvGrpSpPr/>
            <p:nvPr/>
          </p:nvGrpSpPr>
          <p:grpSpPr>
            <a:xfrm>
              <a:off x="940249" y="315206"/>
              <a:ext cx="746492" cy="265062"/>
              <a:chOff x="940249" y="315206"/>
              <a:chExt cx="746492" cy="265062"/>
            </a:xfrm>
          </p:grpSpPr>
          <p:sp>
            <p:nvSpPr>
              <p:cNvPr id="16" name="AutoShape 11">
                <a:extLst>
                  <a:ext uri="{FF2B5EF4-FFF2-40B4-BE49-F238E27FC236}">
                    <a16:creationId xmlns:a16="http://schemas.microsoft.com/office/drawing/2014/main" id="{71B99716-F637-A1D7-6EA5-D72DDE0BA793}"/>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7" name="AutoShape 10">
                <a:extLst>
                  <a:ext uri="{FF2B5EF4-FFF2-40B4-BE49-F238E27FC236}">
                    <a16:creationId xmlns:a16="http://schemas.microsoft.com/office/drawing/2014/main" id="{C8657337-3F1E-4C2A-F4E4-4910C2349135}"/>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pic>
        <p:nvPicPr>
          <p:cNvPr id="3" name="Picture 1039" descr="orange shelf before and Otis">
            <a:extLst>
              <a:ext uri="{FF2B5EF4-FFF2-40B4-BE49-F238E27FC236}">
                <a16:creationId xmlns:a16="http://schemas.microsoft.com/office/drawing/2014/main" id="{6A0472FF-F6B4-AD23-0FFF-77E462C39C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249" y="2823211"/>
            <a:ext cx="5300530" cy="2548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86260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3600" dirty="0">
                <a:latin typeface="Roboto Medium"/>
                <a:ea typeface="Roboto Medium"/>
                <a:cs typeface="Roboto Medium"/>
              </a:rPr>
              <a:t>Exercise: 2S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49</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2S for the business event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discuss approach to completing 2S.</a:t>
            </a:r>
          </a:p>
          <a:p>
            <a:pPr marL="0" marR="0" indent="0" algn="l"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Assign individual tasks.</a:t>
            </a:r>
          </a:p>
          <a:p>
            <a:pPr marL="0" marR="0" indent="0" algn="l"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time to accomplish 2S and review</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results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Provided by instructor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751555"/>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Completed 2S</a:t>
            </a:r>
          </a:p>
        </p:txBody>
      </p:sp>
      <p:sp>
        <p:nvSpPr>
          <p:cNvPr id="9" name="TextBox 8">
            <a:extLst>
              <a:ext uri="{FF2B5EF4-FFF2-40B4-BE49-F238E27FC236}">
                <a16:creationId xmlns:a16="http://schemas.microsoft.com/office/drawing/2014/main" id="{985AA00D-A29D-6544-7130-516B09E40D2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10" name="Group 9">
            <a:extLst>
              <a:ext uri="{FF2B5EF4-FFF2-40B4-BE49-F238E27FC236}">
                <a16:creationId xmlns:a16="http://schemas.microsoft.com/office/drawing/2014/main" id="{B624FD29-6362-899C-35BD-CD83F08220E5}"/>
              </a:ext>
            </a:extLst>
          </p:cNvPr>
          <p:cNvGrpSpPr/>
          <p:nvPr/>
        </p:nvGrpSpPr>
        <p:grpSpPr>
          <a:xfrm>
            <a:off x="940249" y="302538"/>
            <a:ext cx="1060167" cy="290657"/>
            <a:chOff x="940249" y="315206"/>
            <a:chExt cx="1060167" cy="265062"/>
          </a:xfrm>
        </p:grpSpPr>
        <p:sp>
          <p:nvSpPr>
            <p:cNvPr id="19" name="AutoShape 9">
              <a:extLst>
                <a:ext uri="{FF2B5EF4-FFF2-40B4-BE49-F238E27FC236}">
                  <a16:creationId xmlns:a16="http://schemas.microsoft.com/office/drawing/2014/main" id="{FDF31AEA-B9A3-8ED4-A650-A6E999D87FF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37DB9D66-3761-99F8-976C-54CBE50C471B}"/>
                </a:ext>
              </a:extLst>
            </p:cNvPr>
            <p:cNvGrpSpPr/>
            <p:nvPr/>
          </p:nvGrpSpPr>
          <p:grpSpPr>
            <a:xfrm>
              <a:off x="940249" y="315206"/>
              <a:ext cx="746492" cy="265062"/>
              <a:chOff x="940249" y="315206"/>
              <a:chExt cx="746492" cy="265062"/>
            </a:xfrm>
          </p:grpSpPr>
          <p:sp>
            <p:nvSpPr>
              <p:cNvPr id="21" name="AutoShape 11">
                <a:extLst>
                  <a:ext uri="{FF2B5EF4-FFF2-40B4-BE49-F238E27FC236}">
                    <a16:creationId xmlns:a16="http://schemas.microsoft.com/office/drawing/2014/main" id="{AD50B12C-C902-7D27-4E1C-060FF711BA72}"/>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0">
                <a:extLst>
                  <a:ext uri="{FF2B5EF4-FFF2-40B4-BE49-F238E27FC236}">
                    <a16:creationId xmlns:a16="http://schemas.microsoft.com/office/drawing/2014/main" id="{74EC2DCA-13CD-8D1B-5812-649364398B06}"/>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31850817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868D4041-D0F9-25FB-4F54-742F539993D0}"/>
              </a:ext>
            </a:extLst>
          </p:cNvPr>
          <p:cNvSpPr>
            <a:spLocks noGrp="1"/>
          </p:cNvSpPr>
          <p:nvPr>
            <p:ph type="title"/>
          </p:nvPr>
        </p:nvSpPr>
        <p:spPr/>
        <p:txBody>
          <a:bodyPr>
            <a:normAutofit/>
          </a:bodyPr>
          <a:lstStyle/>
          <a:p>
            <a:r>
              <a:rPr lang="en-US" sz="4000" dirty="0">
                <a:latin typeface="Roboto Medium"/>
                <a:ea typeface="Roboto Medium"/>
                <a:cs typeface="Roboto Medium"/>
              </a:rPr>
              <a:t>5S Process Steps</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50</a:t>
            </a:fld>
            <a:endParaRPr lang="en-US"/>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tx1"/>
              </a:solidFill>
            </a:endParaRPr>
          </a:p>
        </p:txBody>
      </p:sp>
      <p:sp>
        <p:nvSpPr>
          <p:cNvPr id="24" name="TextBox 23">
            <a:extLst>
              <a:ext uri="{FF2B5EF4-FFF2-40B4-BE49-F238E27FC236}">
                <a16:creationId xmlns:a16="http://schemas.microsoft.com/office/drawing/2014/main" id="{C5BDF42C-A61F-0C81-8AC6-8365C83CB3A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sp>
        <p:nvSpPr>
          <p:cNvPr id="10" name="Rectangle 9">
            <a:extLst>
              <a:ext uri="{FF2B5EF4-FFF2-40B4-BE49-F238E27FC236}">
                <a16:creationId xmlns:a16="http://schemas.microsoft.com/office/drawing/2014/main" id="{68230320-19C2-752A-1176-1BBB64EE0496}"/>
              </a:ext>
            </a:extLst>
          </p:cNvPr>
          <p:cNvSpPr>
            <a:spLocks/>
          </p:cNvSpPr>
          <p:nvPr/>
        </p:nvSpPr>
        <p:spPr>
          <a:xfrm>
            <a:off x="940249" y="2771056"/>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2S - Straighten</a:t>
            </a:r>
          </a:p>
        </p:txBody>
      </p:sp>
      <p:sp>
        <p:nvSpPr>
          <p:cNvPr id="17" name="Rectangle 16">
            <a:extLst>
              <a:ext uri="{FF2B5EF4-FFF2-40B4-BE49-F238E27FC236}">
                <a16:creationId xmlns:a16="http://schemas.microsoft.com/office/drawing/2014/main" id="{C482F546-04CD-6441-A9E4-982C043DC9B1}"/>
              </a:ext>
            </a:extLst>
          </p:cNvPr>
          <p:cNvSpPr>
            <a:spLocks/>
          </p:cNvSpPr>
          <p:nvPr/>
        </p:nvSpPr>
        <p:spPr>
          <a:xfrm>
            <a:off x="940249" y="1955700"/>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8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sym typeface="Roboto"/>
              </a:rPr>
              <a:t>1S - Sort</a:t>
            </a:r>
          </a:p>
        </p:txBody>
      </p:sp>
      <p:sp>
        <p:nvSpPr>
          <p:cNvPr id="18" name="Rectangle 17">
            <a:extLst>
              <a:ext uri="{FF2B5EF4-FFF2-40B4-BE49-F238E27FC236}">
                <a16:creationId xmlns:a16="http://schemas.microsoft.com/office/drawing/2014/main" id="{04166E1C-DE2E-5165-515B-6DCF41316AB8}"/>
              </a:ext>
            </a:extLst>
          </p:cNvPr>
          <p:cNvSpPr>
            <a:spLocks/>
          </p:cNvSpPr>
          <p:nvPr/>
        </p:nvSpPr>
        <p:spPr>
          <a:xfrm>
            <a:off x="940249" y="3586412"/>
            <a:ext cx="5722970"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3S - Scrub</a:t>
            </a:r>
          </a:p>
        </p:txBody>
      </p:sp>
      <p:sp>
        <p:nvSpPr>
          <p:cNvPr id="19" name="Rectangle 18">
            <a:extLst>
              <a:ext uri="{FF2B5EF4-FFF2-40B4-BE49-F238E27FC236}">
                <a16:creationId xmlns:a16="http://schemas.microsoft.com/office/drawing/2014/main" id="{4B602BE5-7414-9257-9501-3665A565B44C}"/>
              </a:ext>
            </a:extLst>
          </p:cNvPr>
          <p:cNvSpPr/>
          <p:nvPr/>
        </p:nvSpPr>
        <p:spPr>
          <a:xfrm>
            <a:off x="940249" y="4401768"/>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4S - Stabilize</a:t>
            </a:r>
          </a:p>
        </p:txBody>
      </p:sp>
      <p:sp>
        <p:nvSpPr>
          <p:cNvPr id="21" name="Rectangle 20">
            <a:extLst>
              <a:ext uri="{FF2B5EF4-FFF2-40B4-BE49-F238E27FC236}">
                <a16:creationId xmlns:a16="http://schemas.microsoft.com/office/drawing/2014/main" id="{0CC760C4-5A3C-A15B-3330-4EAF983076B7}"/>
              </a:ext>
            </a:extLst>
          </p:cNvPr>
          <p:cNvSpPr>
            <a:spLocks/>
          </p:cNvSpPr>
          <p:nvPr/>
        </p:nvSpPr>
        <p:spPr>
          <a:xfrm>
            <a:off x="940249" y="5217125"/>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5S - Sustain</a:t>
            </a:r>
          </a:p>
        </p:txBody>
      </p:sp>
      <p:grpSp>
        <p:nvGrpSpPr>
          <p:cNvPr id="3" name="Group 2">
            <a:extLst>
              <a:ext uri="{FF2B5EF4-FFF2-40B4-BE49-F238E27FC236}">
                <a16:creationId xmlns:a16="http://schemas.microsoft.com/office/drawing/2014/main" id="{34336E33-7DA4-D294-02BE-E48070ABC227}"/>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6C440E8D-7ED5-504D-B968-2837080BC84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138640DA-1229-3E1A-242D-D81D7014ED16}"/>
                </a:ext>
              </a:extLst>
            </p:cNvPr>
            <p:cNvGrpSpPr/>
            <p:nvPr/>
          </p:nvGrpSpPr>
          <p:grpSpPr>
            <a:xfrm>
              <a:off x="940249" y="315206"/>
              <a:ext cx="746492" cy="265062"/>
              <a:chOff x="940249" y="315206"/>
              <a:chExt cx="746492" cy="265062"/>
            </a:xfrm>
          </p:grpSpPr>
          <p:sp>
            <p:nvSpPr>
              <p:cNvPr id="12" name="AutoShape 11">
                <a:extLst>
                  <a:ext uri="{FF2B5EF4-FFF2-40B4-BE49-F238E27FC236}">
                    <a16:creationId xmlns:a16="http://schemas.microsoft.com/office/drawing/2014/main" id="{1591C2C8-E109-3601-9F61-5603F6D989FA}"/>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5E45C12B-E50E-E1C1-11F4-ECB0F83ECE28}"/>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0560079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3S Defined</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51</a:t>
            </a:fld>
            <a:endParaRPr lang="en-US"/>
          </a:p>
        </p:txBody>
      </p:sp>
      <p:sp>
        <p:nvSpPr>
          <p:cNvPr id="3" name="TextBox 2">
            <a:extLst>
              <a:ext uri="{FF2B5EF4-FFF2-40B4-BE49-F238E27FC236}">
                <a16:creationId xmlns:a16="http://schemas.microsoft.com/office/drawing/2014/main" id="{75296461-D27A-3C58-A14D-461C8B6B2E9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5" name="Group 4">
            <a:extLst>
              <a:ext uri="{FF2B5EF4-FFF2-40B4-BE49-F238E27FC236}">
                <a16:creationId xmlns:a16="http://schemas.microsoft.com/office/drawing/2014/main" id="{76D1D5F1-97EE-0F52-5D6D-83F8075EED16}"/>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7FEA9193-ACAB-1BEF-D945-4CFE87A51CC4}"/>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 name="Group 6">
              <a:extLst>
                <a:ext uri="{FF2B5EF4-FFF2-40B4-BE49-F238E27FC236}">
                  <a16:creationId xmlns:a16="http://schemas.microsoft.com/office/drawing/2014/main" id="{C856A577-5930-F4F8-32A3-39ABAB751BFE}"/>
                </a:ext>
              </a:extLst>
            </p:cNvPr>
            <p:cNvGrpSpPr/>
            <p:nvPr/>
          </p:nvGrpSpPr>
          <p:grpSpPr>
            <a:xfrm>
              <a:off x="940249" y="315206"/>
              <a:ext cx="746492" cy="265062"/>
              <a:chOff x="940249" y="315206"/>
              <a:chExt cx="746492" cy="265062"/>
            </a:xfrm>
          </p:grpSpPr>
          <p:sp>
            <p:nvSpPr>
              <p:cNvPr id="8" name="AutoShape 11">
                <a:extLst>
                  <a:ext uri="{FF2B5EF4-FFF2-40B4-BE49-F238E27FC236}">
                    <a16:creationId xmlns:a16="http://schemas.microsoft.com/office/drawing/2014/main" id="{3E656630-0CB9-DC5A-7782-532DE1F01157}"/>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0">
                <a:extLst>
                  <a:ext uri="{FF2B5EF4-FFF2-40B4-BE49-F238E27FC236}">
                    <a16:creationId xmlns:a16="http://schemas.microsoft.com/office/drawing/2014/main" id="{CDBAFF34-1A84-1872-51A9-FC0684245C51}"/>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0" name="Rectangle 3">
            <a:extLst>
              <a:ext uri="{FF2B5EF4-FFF2-40B4-BE49-F238E27FC236}">
                <a16:creationId xmlns:a16="http://schemas.microsoft.com/office/drawing/2014/main" id="{436AA8F3-5270-108F-7E1F-D18ADC75D8E9}"/>
              </a:ext>
            </a:extLst>
          </p:cNvPr>
          <p:cNvSpPr>
            <a:spLocks noChangeArrowheads="1"/>
          </p:cNvSpPr>
          <p:nvPr/>
        </p:nvSpPr>
        <p:spPr bwMode="auto">
          <a:xfrm>
            <a:off x="4700906" y="2808593"/>
            <a:ext cx="3251792"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SEISO</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Cleanliness. Indicates the need to keep the workplace clean as well as neat. Cleaning in Japanese companies is a daily activity. At the end of each shift the work area is cleaned up and everything restored to its place. </a:t>
            </a:r>
            <a:endParaRPr lang="en-US" altLang="en-US" sz="1400" dirty="0">
              <a:solidFill>
                <a:schemeClr val="bg1"/>
              </a:solidFill>
              <a:latin typeface="Roboto" panose="02000000000000000000" pitchFamily="2" charset="0"/>
              <a:ea typeface="Roboto" panose="02000000000000000000" pitchFamily="2" charset="0"/>
            </a:endParaRPr>
          </a:p>
        </p:txBody>
      </p:sp>
      <p:sp>
        <p:nvSpPr>
          <p:cNvPr id="11" name="Rectangle 4">
            <a:extLst>
              <a:ext uri="{FF2B5EF4-FFF2-40B4-BE49-F238E27FC236}">
                <a16:creationId xmlns:a16="http://schemas.microsoft.com/office/drawing/2014/main" id="{D6A26AF8-AF73-E774-9AA5-80F2C8E80080}"/>
              </a:ext>
            </a:extLst>
          </p:cNvPr>
          <p:cNvSpPr>
            <a:spLocks noChangeArrowheads="1"/>
          </p:cNvSpPr>
          <p:nvPr/>
        </p:nvSpPr>
        <p:spPr bwMode="auto">
          <a:xfrm>
            <a:off x="7924449" y="2808593"/>
            <a:ext cx="3587115"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Establish a clean workplace</a:t>
            </a:r>
          </a:p>
          <a:p>
            <a:pPr>
              <a:lnSpc>
                <a:spcPct val="100000"/>
              </a:lnSpc>
              <a:spcBef>
                <a:spcPct val="40000"/>
              </a:spcBef>
              <a:spcAft>
                <a:spcPct val="0"/>
              </a:spcAft>
              <a:buClr>
                <a:schemeClr val="tx1"/>
              </a:buClr>
              <a:buFont typeface="Arial" panose="020B0604020202020204" pitchFamily="34" charset="0"/>
              <a:buChar char="•"/>
            </a:pPr>
            <a:endParaRPr lang="en-US" altLang="en-US" sz="1400" dirty="0">
              <a:latin typeface="Roboto" panose="02000000000000000000" pitchFamily="2" charset="0"/>
              <a:ea typeface="Roboto" panose="02000000000000000000" pitchFamily="2" charset="0"/>
            </a:endParaRPr>
          </a:p>
        </p:txBody>
      </p:sp>
      <p:sp>
        <p:nvSpPr>
          <p:cNvPr id="12" name="Rectangle 5">
            <a:extLst>
              <a:ext uri="{FF2B5EF4-FFF2-40B4-BE49-F238E27FC236}">
                <a16:creationId xmlns:a16="http://schemas.microsoft.com/office/drawing/2014/main" id="{6C0D4673-0DC6-5CE2-B500-02FD6C00A465}"/>
              </a:ext>
            </a:extLst>
          </p:cNvPr>
          <p:cNvSpPr>
            <a:spLocks noChangeArrowheads="1"/>
          </p:cNvSpPr>
          <p:nvPr/>
        </p:nvSpPr>
        <p:spPr bwMode="auto">
          <a:xfrm>
            <a:off x="900113" y="2808446"/>
            <a:ext cx="3239374" cy="1021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1438" tIns="36512" rIns="71438" bIns="36512">
            <a:spAutoFit/>
          </a:bodyPr>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SCRUB</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Cleaning floors, equipment, furniture in all areas of the workplace</a:t>
            </a:r>
          </a:p>
        </p:txBody>
      </p:sp>
      <p:grpSp>
        <p:nvGrpSpPr>
          <p:cNvPr id="13" name="Group 6">
            <a:extLst>
              <a:ext uri="{FF2B5EF4-FFF2-40B4-BE49-F238E27FC236}">
                <a16:creationId xmlns:a16="http://schemas.microsoft.com/office/drawing/2014/main" id="{105B75E2-DC6A-6393-4D85-32BE8453D729}"/>
              </a:ext>
            </a:extLst>
          </p:cNvPr>
          <p:cNvGrpSpPr>
            <a:grpSpLocks/>
          </p:cNvGrpSpPr>
          <p:nvPr/>
        </p:nvGrpSpPr>
        <p:grpSpPr bwMode="auto">
          <a:xfrm>
            <a:off x="838200" y="1962308"/>
            <a:ext cx="10777901" cy="625475"/>
            <a:chOff x="311" y="1012"/>
            <a:chExt cx="3908" cy="394"/>
          </a:xfrm>
        </p:grpSpPr>
        <p:sp>
          <p:nvSpPr>
            <p:cNvPr id="14" name="AutoShape 7">
              <a:extLst>
                <a:ext uri="{FF2B5EF4-FFF2-40B4-BE49-F238E27FC236}">
                  <a16:creationId xmlns:a16="http://schemas.microsoft.com/office/drawing/2014/main" id="{129DC9E6-6C48-FCC8-3A9B-914A29E7578A}"/>
                </a:ext>
              </a:extLst>
            </p:cNvPr>
            <p:cNvSpPr>
              <a:spLocks noChangeArrowheads="1"/>
            </p:cNvSpPr>
            <p:nvPr/>
          </p:nvSpPr>
          <p:spPr bwMode="auto">
            <a:xfrm>
              <a:off x="2694" y="1012"/>
              <a:ext cx="1525" cy="394"/>
            </a:xfrm>
            <a:prstGeom prst="homePlate">
              <a:avLst>
                <a:gd name="adj" fmla="val 57790"/>
              </a:avLst>
            </a:prstGeom>
            <a:solidFill>
              <a:schemeClr val="accent1"/>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Objective </a:t>
              </a:r>
              <a:br>
                <a:rPr lang="en-US" altLang="en-US" sz="1800" dirty="0">
                  <a:solidFill>
                    <a:schemeClr val="bg1"/>
                  </a:solidFill>
                  <a:latin typeface="Roboto" panose="02000000000000000000" pitchFamily="2" charset="0"/>
                  <a:ea typeface="Roboto" panose="02000000000000000000" pitchFamily="2" charset="0"/>
                </a:rPr>
              </a:br>
              <a:r>
                <a:rPr lang="en-US" altLang="en-US" sz="1800" dirty="0">
                  <a:solidFill>
                    <a:schemeClr val="bg1"/>
                  </a:solidFill>
                  <a:latin typeface="Roboto" panose="02000000000000000000" pitchFamily="2" charset="0"/>
                  <a:ea typeface="Roboto" panose="02000000000000000000" pitchFamily="2" charset="0"/>
                </a:rPr>
                <a:t>of 3S</a:t>
              </a:r>
            </a:p>
          </p:txBody>
        </p:sp>
        <p:sp>
          <p:nvSpPr>
            <p:cNvPr id="15" name="AutoShape 8">
              <a:extLst>
                <a:ext uri="{FF2B5EF4-FFF2-40B4-BE49-F238E27FC236}">
                  <a16:creationId xmlns:a16="http://schemas.microsoft.com/office/drawing/2014/main" id="{277A3B52-36CA-686D-6983-15D004C29E47}"/>
                </a:ext>
              </a:extLst>
            </p:cNvPr>
            <p:cNvSpPr>
              <a:spLocks noChangeArrowheads="1"/>
            </p:cNvSpPr>
            <p:nvPr/>
          </p:nvSpPr>
          <p:spPr bwMode="auto">
            <a:xfrm>
              <a:off x="1549" y="1012"/>
              <a:ext cx="1472" cy="394"/>
            </a:xfrm>
            <a:prstGeom prst="homePlate">
              <a:avLst>
                <a:gd name="adj" fmla="val 48586"/>
              </a:avLst>
            </a:prstGeom>
            <a:solidFill>
              <a:schemeClr val="accent1"/>
            </a:solidFill>
            <a:ln w="19050">
              <a:solidFill>
                <a:schemeClr val="bg1"/>
              </a:solidFill>
              <a:miter lim="800000"/>
              <a:headEnd/>
              <a:tailEnd/>
            </a:ln>
          </p:spPr>
          <p:txBody>
            <a:bodyPr lIns="45720" tIns="46038" rIns="45720" bIns="46038" anchor="ctr"/>
            <a:lstStyle>
              <a:lvl1pPr marL="17145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 Japanese: SEISO </a:t>
              </a:r>
            </a:p>
          </p:txBody>
        </p:sp>
        <p:sp>
          <p:nvSpPr>
            <p:cNvPr id="16" name="AutoShape 9">
              <a:extLst>
                <a:ext uri="{FF2B5EF4-FFF2-40B4-BE49-F238E27FC236}">
                  <a16:creationId xmlns:a16="http://schemas.microsoft.com/office/drawing/2014/main" id="{0F61DD03-FD3F-FBCF-67DD-E39974B5C6B0}"/>
                </a:ext>
              </a:extLst>
            </p:cNvPr>
            <p:cNvSpPr>
              <a:spLocks noChangeArrowheads="1"/>
            </p:cNvSpPr>
            <p:nvPr/>
          </p:nvSpPr>
          <p:spPr bwMode="auto">
            <a:xfrm>
              <a:off x="311" y="1012"/>
              <a:ext cx="1469" cy="394"/>
            </a:xfrm>
            <a:prstGeom prst="homePlate">
              <a:avLst>
                <a:gd name="adj" fmla="val 54200"/>
              </a:avLst>
            </a:prstGeom>
            <a:solidFill>
              <a:schemeClr val="accent1"/>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English: SCRUB</a:t>
              </a:r>
            </a:p>
          </p:txBody>
        </p:sp>
      </p:grpSp>
      <p:sp>
        <p:nvSpPr>
          <p:cNvPr id="17" name="AutoShape 10">
            <a:extLst>
              <a:ext uri="{FF2B5EF4-FFF2-40B4-BE49-F238E27FC236}">
                <a16:creationId xmlns:a16="http://schemas.microsoft.com/office/drawing/2014/main" id="{BD380F9A-F259-E8AA-00B4-6567920E9E99}"/>
              </a:ext>
            </a:extLst>
          </p:cNvPr>
          <p:cNvSpPr>
            <a:spLocks noChangeArrowheads="1"/>
          </p:cNvSpPr>
          <p:nvPr/>
        </p:nvSpPr>
        <p:spPr bwMode="auto">
          <a:xfrm>
            <a:off x="900113" y="5540828"/>
            <a:ext cx="10697177" cy="520700"/>
          </a:xfrm>
          <a:prstGeom prst="homePlate">
            <a:avLst>
              <a:gd name="adj" fmla="val 32169"/>
            </a:avLst>
          </a:prstGeom>
          <a:solidFill>
            <a:schemeClr val="tx2"/>
          </a:solidFill>
          <a:ln>
            <a:noFill/>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3S identifies and eliminates the source of uncleanliness</a:t>
            </a:r>
          </a:p>
        </p:txBody>
      </p:sp>
    </p:spTree>
    <p:extLst>
      <p:ext uri="{BB962C8B-B14F-4D97-AF65-F5344CB8AC3E}">
        <p14:creationId xmlns:p14="http://schemas.microsoft.com/office/powerpoint/2010/main" val="29479841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3600" dirty="0">
                <a:latin typeface="Roboto Medium"/>
                <a:ea typeface="Roboto Medium"/>
                <a:cs typeface="Roboto Medium"/>
              </a:rPr>
              <a:t>Exercise: 3S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52</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Analyze Case study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each team, carefully review the photos from the case study</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Answer “how would you implement “3S” in this office?”</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Discuss impact of first impressions on customers or visitors</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Answer “what are the benefits to 3S?”</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Record notes on chart paper for review with class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15 minutes</a:t>
            </a:r>
            <a:endPar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endParaRP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1210588"/>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One person from each group reports results of discussion to rest of class</a:t>
            </a:r>
          </a:p>
        </p:txBody>
      </p:sp>
      <p:sp>
        <p:nvSpPr>
          <p:cNvPr id="9" name="TextBox 8">
            <a:extLst>
              <a:ext uri="{FF2B5EF4-FFF2-40B4-BE49-F238E27FC236}">
                <a16:creationId xmlns:a16="http://schemas.microsoft.com/office/drawing/2014/main" id="{985AA00D-A29D-6544-7130-516B09E40D2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10" name="Group 9">
            <a:extLst>
              <a:ext uri="{FF2B5EF4-FFF2-40B4-BE49-F238E27FC236}">
                <a16:creationId xmlns:a16="http://schemas.microsoft.com/office/drawing/2014/main" id="{B624FD29-6362-899C-35BD-CD83F08220E5}"/>
              </a:ext>
            </a:extLst>
          </p:cNvPr>
          <p:cNvGrpSpPr/>
          <p:nvPr/>
        </p:nvGrpSpPr>
        <p:grpSpPr>
          <a:xfrm>
            <a:off x="940249" y="302538"/>
            <a:ext cx="1060167" cy="290657"/>
            <a:chOff x="940249" y="315206"/>
            <a:chExt cx="1060167" cy="265062"/>
          </a:xfrm>
        </p:grpSpPr>
        <p:sp>
          <p:nvSpPr>
            <p:cNvPr id="19" name="AutoShape 9">
              <a:extLst>
                <a:ext uri="{FF2B5EF4-FFF2-40B4-BE49-F238E27FC236}">
                  <a16:creationId xmlns:a16="http://schemas.microsoft.com/office/drawing/2014/main" id="{FDF31AEA-B9A3-8ED4-A650-A6E999D87FF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37DB9D66-3761-99F8-976C-54CBE50C471B}"/>
                </a:ext>
              </a:extLst>
            </p:cNvPr>
            <p:cNvGrpSpPr/>
            <p:nvPr/>
          </p:nvGrpSpPr>
          <p:grpSpPr>
            <a:xfrm>
              <a:off x="940249" y="315206"/>
              <a:ext cx="746492" cy="265062"/>
              <a:chOff x="940249" y="315206"/>
              <a:chExt cx="746492" cy="265062"/>
            </a:xfrm>
          </p:grpSpPr>
          <p:sp>
            <p:nvSpPr>
              <p:cNvPr id="21" name="AutoShape 11">
                <a:extLst>
                  <a:ext uri="{FF2B5EF4-FFF2-40B4-BE49-F238E27FC236}">
                    <a16:creationId xmlns:a16="http://schemas.microsoft.com/office/drawing/2014/main" id="{AD50B12C-C902-7D27-4E1C-060FF711BA72}"/>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0">
                <a:extLst>
                  <a:ext uri="{FF2B5EF4-FFF2-40B4-BE49-F238E27FC236}">
                    <a16:creationId xmlns:a16="http://schemas.microsoft.com/office/drawing/2014/main" id="{74EC2DCA-13CD-8D1B-5812-649364398B06}"/>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8296657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ea typeface="ＭＳ Ｐゴシック" panose="020B0600070205080204" pitchFamily="34" charset="-128"/>
              </a:rPr>
              <a:t>3S Strategy</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Get out the cleaning supplies!</a:t>
            </a:r>
          </a:p>
          <a:p>
            <a:r>
              <a:rPr lang="en-US" dirty="0"/>
              <a:t>Look for root causes of uncleanliness</a:t>
            </a:r>
          </a:p>
          <a:p>
            <a:pPr lvl="1"/>
            <a:r>
              <a:rPr lang="en-US" dirty="0"/>
              <a:t>Where does the “dirt” originate?</a:t>
            </a:r>
          </a:p>
          <a:p>
            <a:pPr lvl="1"/>
            <a:r>
              <a:rPr lang="en-US" dirty="0"/>
              <a:t>Why do you have to clean at all?</a:t>
            </a:r>
          </a:p>
          <a:p>
            <a:pPr lvl="1"/>
            <a:r>
              <a:rPr lang="en-US" dirty="0"/>
              <a:t>How can this “dirt” be prevented?</a:t>
            </a:r>
          </a:p>
          <a:p>
            <a:r>
              <a:rPr lang="en-US" dirty="0"/>
              <a:t>Review office furniture, lighting, equipment for repair</a:t>
            </a:r>
          </a:p>
          <a:p>
            <a:r>
              <a:rPr lang="en-US" dirty="0"/>
              <a:t>Eliminate any potential safety hazards (loose hardware, broken furniture, frayed electrical wiring, etc.)</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53</a:t>
            </a:fld>
            <a:endParaRPr lang="en-US"/>
          </a:p>
        </p:txBody>
      </p:sp>
      <p:sp>
        <p:nvSpPr>
          <p:cNvPr id="4" name="TextBox 3">
            <a:extLst>
              <a:ext uri="{FF2B5EF4-FFF2-40B4-BE49-F238E27FC236}">
                <a16:creationId xmlns:a16="http://schemas.microsoft.com/office/drawing/2014/main" id="{3FF89735-3E72-987A-C4E7-B1FDE47A50C3}"/>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6" name="Group 5">
            <a:extLst>
              <a:ext uri="{FF2B5EF4-FFF2-40B4-BE49-F238E27FC236}">
                <a16:creationId xmlns:a16="http://schemas.microsoft.com/office/drawing/2014/main" id="{895A1E22-3A20-5666-B4F3-71A547F45291}"/>
              </a:ext>
            </a:extLst>
          </p:cNvPr>
          <p:cNvGrpSpPr/>
          <p:nvPr/>
        </p:nvGrpSpPr>
        <p:grpSpPr>
          <a:xfrm>
            <a:off x="940249" y="302538"/>
            <a:ext cx="1060167" cy="290657"/>
            <a:chOff x="940249" y="315206"/>
            <a:chExt cx="1060167" cy="265062"/>
          </a:xfrm>
        </p:grpSpPr>
        <p:sp>
          <p:nvSpPr>
            <p:cNvPr id="7" name="AutoShape 9">
              <a:extLst>
                <a:ext uri="{FF2B5EF4-FFF2-40B4-BE49-F238E27FC236}">
                  <a16:creationId xmlns:a16="http://schemas.microsoft.com/office/drawing/2014/main" id="{5868EF84-EDCA-139B-E69B-434D0F25E7BF}"/>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1A934946-9220-B57F-4BCE-A0A7020FA0E6}"/>
                </a:ext>
              </a:extLst>
            </p:cNvPr>
            <p:cNvGrpSpPr/>
            <p:nvPr/>
          </p:nvGrpSpPr>
          <p:grpSpPr>
            <a:xfrm>
              <a:off x="940249" y="315206"/>
              <a:ext cx="746492" cy="265062"/>
              <a:chOff x="940249" y="315206"/>
              <a:chExt cx="746492" cy="265062"/>
            </a:xfrm>
          </p:grpSpPr>
          <p:sp>
            <p:nvSpPr>
              <p:cNvPr id="9" name="AutoShape 11">
                <a:extLst>
                  <a:ext uri="{FF2B5EF4-FFF2-40B4-BE49-F238E27FC236}">
                    <a16:creationId xmlns:a16="http://schemas.microsoft.com/office/drawing/2014/main" id="{24E034DB-D9B1-37D7-45F7-88DCE463D8AE}"/>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0">
                <a:extLst>
                  <a:ext uri="{FF2B5EF4-FFF2-40B4-BE49-F238E27FC236}">
                    <a16:creationId xmlns:a16="http://schemas.microsoft.com/office/drawing/2014/main" id="{C49C55FC-FBBC-96B1-3F24-F6144212C2C1}"/>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8951715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ea typeface="ＭＳ Ｐゴシック" panose="020B0600070205080204" pitchFamily="34" charset="-128"/>
              </a:rPr>
              <a:t>3S Strategy, continued</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Allows you to quickly identify “defects”</a:t>
            </a:r>
          </a:p>
          <a:p>
            <a:r>
              <a:rPr lang="en-US" dirty="0"/>
              <a:t>Eliminates idea of “spring cleaning”</a:t>
            </a:r>
          </a:p>
          <a:p>
            <a:r>
              <a:rPr lang="en-US" dirty="0"/>
              <a:t>Maintains discipline</a:t>
            </a:r>
          </a:p>
          <a:p>
            <a:r>
              <a:rPr lang="en-US" dirty="0"/>
              <a:t>Becomes a part of your regular, daily routine</a:t>
            </a:r>
          </a:p>
          <a:p>
            <a:r>
              <a:rPr lang="en-US" dirty="0"/>
              <a:t>Dedicate FIRST five minutes of each day to systemic cleaning</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54</a:t>
            </a:fld>
            <a:endParaRPr lang="en-US"/>
          </a:p>
        </p:txBody>
      </p:sp>
      <p:sp>
        <p:nvSpPr>
          <p:cNvPr id="4" name="TextBox 3">
            <a:extLst>
              <a:ext uri="{FF2B5EF4-FFF2-40B4-BE49-F238E27FC236}">
                <a16:creationId xmlns:a16="http://schemas.microsoft.com/office/drawing/2014/main" id="{3FF89735-3E72-987A-C4E7-B1FDE47A50C3}"/>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6" name="Group 5">
            <a:extLst>
              <a:ext uri="{FF2B5EF4-FFF2-40B4-BE49-F238E27FC236}">
                <a16:creationId xmlns:a16="http://schemas.microsoft.com/office/drawing/2014/main" id="{895A1E22-3A20-5666-B4F3-71A547F45291}"/>
              </a:ext>
            </a:extLst>
          </p:cNvPr>
          <p:cNvGrpSpPr/>
          <p:nvPr/>
        </p:nvGrpSpPr>
        <p:grpSpPr>
          <a:xfrm>
            <a:off x="940249" y="302538"/>
            <a:ext cx="1060167" cy="290657"/>
            <a:chOff x="940249" y="315206"/>
            <a:chExt cx="1060167" cy="265062"/>
          </a:xfrm>
        </p:grpSpPr>
        <p:sp>
          <p:nvSpPr>
            <p:cNvPr id="7" name="AutoShape 9">
              <a:extLst>
                <a:ext uri="{FF2B5EF4-FFF2-40B4-BE49-F238E27FC236}">
                  <a16:creationId xmlns:a16="http://schemas.microsoft.com/office/drawing/2014/main" id="{5868EF84-EDCA-139B-E69B-434D0F25E7BF}"/>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1A934946-9220-B57F-4BCE-A0A7020FA0E6}"/>
                </a:ext>
              </a:extLst>
            </p:cNvPr>
            <p:cNvGrpSpPr/>
            <p:nvPr/>
          </p:nvGrpSpPr>
          <p:grpSpPr>
            <a:xfrm>
              <a:off x="940249" y="315206"/>
              <a:ext cx="746492" cy="265062"/>
              <a:chOff x="940249" y="315206"/>
              <a:chExt cx="746492" cy="265062"/>
            </a:xfrm>
          </p:grpSpPr>
          <p:sp>
            <p:nvSpPr>
              <p:cNvPr id="9" name="AutoShape 11">
                <a:extLst>
                  <a:ext uri="{FF2B5EF4-FFF2-40B4-BE49-F238E27FC236}">
                    <a16:creationId xmlns:a16="http://schemas.microsoft.com/office/drawing/2014/main" id="{24E034DB-D9B1-37D7-45F7-88DCE463D8AE}"/>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0">
                <a:extLst>
                  <a:ext uri="{FF2B5EF4-FFF2-40B4-BE49-F238E27FC236}">
                    <a16:creationId xmlns:a16="http://schemas.microsoft.com/office/drawing/2014/main" id="{C49C55FC-FBBC-96B1-3F24-F6144212C2C1}"/>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32698902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3600" dirty="0">
                <a:latin typeface="Roboto Medium"/>
                <a:ea typeface="Roboto Medium"/>
                <a:cs typeface="Roboto Medium"/>
              </a:rPr>
              <a:t>Exercise: 3S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55</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3S for the business event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discuss approach to completing 3S.</a:t>
            </a:r>
          </a:p>
          <a:p>
            <a:pPr marL="0" marR="0" indent="0" algn="l"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Assign individual tasks.</a:t>
            </a:r>
          </a:p>
          <a:p>
            <a:pPr marL="0" marR="0" indent="0" algn="l"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time to accomplish 3S and review</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results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Provided by instructor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751555"/>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Completed 3S</a:t>
            </a:r>
          </a:p>
        </p:txBody>
      </p:sp>
      <p:sp>
        <p:nvSpPr>
          <p:cNvPr id="9" name="TextBox 8">
            <a:extLst>
              <a:ext uri="{FF2B5EF4-FFF2-40B4-BE49-F238E27FC236}">
                <a16:creationId xmlns:a16="http://schemas.microsoft.com/office/drawing/2014/main" id="{985AA00D-A29D-6544-7130-516B09E40D2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10" name="Group 9">
            <a:extLst>
              <a:ext uri="{FF2B5EF4-FFF2-40B4-BE49-F238E27FC236}">
                <a16:creationId xmlns:a16="http://schemas.microsoft.com/office/drawing/2014/main" id="{B624FD29-6362-899C-35BD-CD83F08220E5}"/>
              </a:ext>
            </a:extLst>
          </p:cNvPr>
          <p:cNvGrpSpPr/>
          <p:nvPr/>
        </p:nvGrpSpPr>
        <p:grpSpPr>
          <a:xfrm>
            <a:off x="940249" y="302538"/>
            <a:ext cx="1060167" cy="290657"/>
            <a:chOff x="940249" y="315206"/>
            <a:chExt cx="1060167" cy="265062"/>
          </a:xfrm>
        </p:grpSpPr>
        <p:sp>
          <p:nvSpPr>
            <p:cNvPr id="19" name="AutoShape 9">
              <a:extLst>
                <a:ext uri="{FF2B5EF4-FFF2-40B4-BE49-F238E27FC236}">
                  <a16:creationId xmlns:a16="http://schemas.microsoft.com/office/drawing/2014/main" id="{FDF31AEA-B9A3-8ED4-A650-A6E999D87FF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37DB9D66-3761-99F8-976C-54CBE50C471B}"/>
                </a:ext>
              </a:extLst>
            </p:cNvPr>
            <p:cNvGrpSpPr/>
            <p:nvPr/>
          </p:nvGrpSpPr>
          <p:grpSpPr>
            <a:xfrm>
              <a:off x="940249" y="315206"/>
              <a:ext cx="746492" cy="265062"/>
              <a:chOff x="940249" y="315206"/>
              <a:chExt cx="746492" cy="265062"/>
            </a:xfrm>
          </p:grpSpPr>
          <p:sp>
            <p:nvSpPr>
              <p:cNvPr id="21" name="AutoShape 11">
                <a:extLst>
                  <a:ext uri="{FF2B5EF4-FFF2-40B4-BE49-F238E27FC236}">
                    <a16:creationId xmlns:a16="http://schemas.microsoft.com/office/drawing/2014/main" id="{AD50B12C-C902-7D27-4E1C-060FF711BA72}"/>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0">
                <a:extLst>
                  <a:ext uri="{FF2B5EF4-FFF2-40B4-BE49-F238E27FC236}">
                    <a16:creationId xmlns:a16="http://schemas.microsoft.com/office/drawing/2014/main" id="{74EC2DCA-13CD-8D1B-5812-649364398B06}"/>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4809525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868D4041-D0F9-25FB-4F54-742F539993D0}"/>
              </a:ext>
            </a:extLst>
          </p:cNvPr>
          <p:cNvSpPr>
            <a:spLocks noGrp="1"/>
          </p:cNvSpPr>
          <p:nvPr>
            <p:ph type="title"/>
          </p:nvPr>
        </p:nvSpPr>
        <p:spPr/>
        <p:txBody>
          <a:bodyPr>
            <a:normAutofit/>
          </a:bodyPr>
          <a:lstStyle/>
          <a:p>
            <a:r>
              <a:rPr lang="en-US" sz="4000" dirty="0">
                <a:latin typeface="Roboto Medium"/>
                <a:ea typeface="Roboto Medium"/>
                <a:cs typeface="Roboto Medium"/>
              </a:rPr>
              <a:t>5S Process Steps</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56</a:t>
            </a:fld>
            <a:endParaRPr lang="en-US"/>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tx1"/>
              </a:solidFill>
            </a:endParaRPr>
          </a:p>
        </p:txBody>
      </p:sp>
      <p:sp>
        <p:nvSpPr>
          <p:cNvPr id="24" name="TextBox 23">
            <a:extLst>
              <a:ext uri="{FF2B5EF4-FFF2-40B4-BE49-F238E27FC236}">
                <a16:creationId xmlns:a16="http://schemas.microsoft.com/office/drawing/2014/main" id="{C5BDF42C-A61F-0C81-8AC6-8365C83CB3A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sp>
        <p:nvSpPr>
          <p:cNvPr id="10" name="Rectangle 9">
            <a:extLst>
              <a:ext uri="{FF2B5EF4-FFF2-40B4-BE49-F238E27FC236}">
                <a16:creationId xmlns:a16="http://schemas.microsoft.com/office/drawing/2014/main" id="{68230320-19C2-752A-1176-1BBB64EE0496}"/>
              </a:ext>
            </a:extLst>
          </p:cNvPr>
          <p:cNvSpPr>
            <a:spLocks/>
          </p:cNvSpPr>
          <p:nvPr/>
        </p:nvSpPr>
        <p:spPr>
          <a:xfrm>
            <a:off x="940249" y="2771056"/>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2S - Straighten</a:t>
            </a:r>
          </a:p>
        </p:txBody>
      </p:sp>
      <p:sp>
        <p:nvSpPr>
          <p:cNvPr id="17" name="Rectangle 16">
            <a:extLst>
              <a:ext uri="{FF2B5EF4-FFF2-40B4-BE49-F238E27FC236}">
                <a16:creationId xmlns:a16="http://schemas.microsoft.com/office/drawing/2014/main" id="{C482F546-04CD-6441-A9E4-982C043DC9B1}"/>
              </a:ext>
            </a:extLst>
          </p:cNvPr>
          <p:cNvSpPr>
            <a:spLocks/>
          </p:cNvSpPr>
          <p:nvPr/>
        </p:nvSpPr>
        <p:spPr>
          <a:xfrm>
            <a:off x="940249" y="1955700"/>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8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sym typeface="Roboto"/>
              </a:rPr>
              <a:t>1S - Sort</a:t>
            </a:r>
          </a:p>
        </p:txBody>
      </p:sp>
      <p:sp>
        <p:nvSpPr>
          <p:cNvPr id="18" name="Rectangle 17">
            <a:extLst>
              <a:ext uri="{FF2B5EF4-FFF2-40B4-BE49-F238E27FC236}">
                <a16:creationId xmlns:a16="http://schemas.microsoft.com/office/drawing/2014/main" id="{04166E1C-DE2E-5165-515B-6DCF41316AB8}"/>
              </a:ext>
            </a:extLst>
          </p:cNvPr>
          <p:cNvSpPr>
            <a:spLocks/>
          </p:cNvSpPr>
          <p:nvPr/>
        </p:nvSpPr>
        <p:spPr>
          <a:xfrm>
            <a:off x="940249" y="3586412"/>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3S - Scrub</a:t>
            </a:r>
          </a:p>
        </p:txBody>
      </p:sp>
      <p:sp>
        <p:nvSpPr>
          <p:cNvPr id="19" name="Rectangle 18">
            <a:extLst>
              <a:ext uri="{FF2B5EF4-FFF2-40B4-BE49-F238E27FC236}">
                <a16:creationId xmlns:a16="http://schemas.microsoft.com/office/drawing/2014/main" id="{4B602BE5-7414-9257-9501-3665A565B44C}"/>
              </a:ext>
            </a:extLst>
          </p:cNvPr>
          <p:cNvSpPr/>
          <p:nvPr/>
        </p:nvSpPr>
        <p:spPr>
          <a:xfrm>
            <a:off x="940249" y="4401768"/>
            <a:ext cx="5722970"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4S - Stabilize</a:t>
            </a:r>
          </a:p>
        </p:txBody>
      </p:sp>
      <p:sp>
        <p:nvSpPr>
          <p:cNvPr id="21" name="Rectangle 20">
            <a:extLst>
              <a:ext uri="{FF2B5EF4-FFF2-40B4-BE49-F238E27FC236}">
                <a16:creationId xmlns:a16="http://schemas.microsoft.com/office/drawing/2014/main" id="{0CC760C4-5A3C-A15B-3330-4EAF983076B7}"/>
              </a:ext>
            </a:extLst>
          </p:cNvPr>
          <p:cNvSpPr>
            <a:spLocks/>
          </p:cNvSpPr>
          <p:nvPr/>
        </p:nvSpPr>
        <p:spPr>
          <a:xfrm>
            <a:off x="940249" y="5217125"/>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5S - Sustain</a:t>
            </a:r>
          </a:p>
        </p:txBody>
      </p:sp>
      <p:grpSp>
        <p:nvGrpSpPr>
          <p:cNvPr id="3" name="Group 2">
            <a:extLst>
              <a:ext uri="{FF2B5EF4-FFF2-40B4-BE49-F238E27FC236}">
                <a16:creationId xmlns:a16="http://schemas.microsoft.com/office/drawing/2014/main" id="{34336E33-7DA4-D294-02BE-E48070ABC227}"/>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6C440E8D-7ED5-504D-B968-2837080BC84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138640DA-1229-3E1A-242D-D81D7014ED16}"/>
                </a:ext>
              </a:extLst>
            </p:cNvPr>
            <p:cNvGrpSpPr/>
            <p:nvPr/>
          </p:nvGrpSpPr>
          <p:grpSpPr>
            <a:xfrm>
              <a:off x="940249" y="315206"/>
              <a:ext cx="746492" cy="265062"/>
              <a:chOff x="940249" y="315206"/>
              <a:chExt cx="746492" cy="265062"/>
            </a:xfrm>
          </p:grpSpPr>
          <p:sp>
            <p:nvSpPr>
              <p:cNvPr id="12" name="AutoShape 11">
                <a:extLst>
                  <a:ext uri="{FF2B5EF4-FFF2-40B4-BE49-F238E27FC236}">
                    <a16:creationId xmlns:a16="http://schemas.microsoft.com/office/drawing/2014/main" id="{1591C2C8-E109-3601-9F61-5603F6D989FA}"/>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5E45C12B-E50E-E1C1-11F4-ECB0F83ECE28}"/>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3468325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4S Defined</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57</a:t>
            </a:fld>
            <a:endParaRPr lang="en-US"/>
          </a:p>
        </p:txBody>
      </p:sp>
      <p:sp>
        <p:nvSpPr>
          <p:cNvPr id="3" name="TextBox 2">
            <a:extLst>
              <a:ext uri="{FF2B5EF4-FFF2-40B4-BE49-F238E27FC236}">
                <a16:creationId xmlns:a16="http://schemas.microsoft.com/office/drawing/2014/main" id="{75296461-D27A-3C58-A14D-461C8B6B2E9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5" name="Group 4">
            <a:extLst>
              <a:ext uri="{FF2B5EF4-FFF2-40B4-BE49-F238E27FC236}">
                <a16:creationId xmlns:a16="http://schemas.microsoft.com/office/drawing/2014/main" id="{76D1D5F1-97EE-0F52-5D6D-83F8075EED16}"/>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7FEA9193-ACAB-1BEF-D945-4CFE87A51CC4}"/>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 name="Group 6">
              <a:extLst>
                <a:ext uri="{FF2B5EF4-FFF2-40B4-BE49-F238E27FC236}">
                  <a16:creationId xmlns:a16="http://schemas.microsoft.com/office/drawing/2014/main" id="{C856A577-5930-F4F8-32A3-39ABAB751BFE}"/>
                </a:ext>
              </a:extLst>
            </p:cNvPr>
            <p:cNvGrpSpPr/>
            <p:nvPr/>
          </p:nvGrpSpPr>
          <p:grpSpPr>
            <a:xfrm>
              <a:off x="940249" y="315206"/>
              <a:ext cx="746492" cy="265062"/>
              <a:chOff x="940249" y="315206"/>
              <a:chExt cx="746492" cy="265062"/>
            </a:xfrm>
          </p:grpSpPr>
          <p:sp>
            <p:nvSpPr>
              <p:cNvPr id="8" name="AutoShape 11">
                <a:extLst>
                  <a:ext uri="{FF2B5EF4-FFF2-40B4-BE49-F238E27FC236}">
                    <a16:creationId xmlns:a16="http://schemas.microsoft.com/office/drawing/2014/main" id="{3E656630-0CB9-DC5A-7782-532DE1F01157}"/>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0">
                <a:extLst>
                  <a:ext uri="{FF2B5EF4-FFF2-40B4-BE49-F238E27FC236}">
                    <a16:creationId xmlns:a16="http://schemas.microsoft.com/office/drawing/2014/main" id="{CDBAFF34-1A84-1872-51A9-FC0684245C51}"/>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0" name="Rectangle 3">
            <a:extLst>
              <a:ext uri="{FF2B5EF4-FFF2-40B4-BE49-F238E27FC236}">
                <a16:creationId xmlns:a16="http://schemas.microsoft.com/office/drawing/2014/main" id="{436AA8F3-5270-108F-7E1F-D18ADC75D8E9}"/>
              </a:ext>
            </a:extLst>
          </p:cNvPr>
          <p:cNvSpPr>
            <a:spLocks noChangeArrowheads="1"/>
          </p:cNvSpPr>
          <p:nvPr/>
        </p:nvSpPr>
        <p:spPr bwMode="auto">
          <a:xfrm>
            <a:off x="4700906" y="2808593"/>
            <a:ext cx="3251792"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SEIKETSU</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Standards. Allows for control and consistency. Basic housekeeping standards apply everywhere in the facility. Everyone knows exactly what his or her responsibilities are. Housekeeping duties are part of regular work routines. </a:t>
            </a:r>
          </a:p>
        </p:txBody>
      </p:sp>
      <p:sp>
        <p:nvSpPr>
          <p:cNvPr id="11" name="Rectangle 4">
            <a:extLst>
              <a:ext uri="{FF2B5EF4-FFF2-40B4-BE49-F238E27FC236}">
                <a16:creationId xmlns:a16="http://schemas.microsoft.com/office/drawing/2014/main" id="{D6A26AF8-AF73-E774-9AA5-80F2C8E80080}"/>
              </a:ext>
            </a:extLst>
          </p:cNvPr>
          <p:cNvSpPr>
            <a:spLocks noChangeArrowheads="1"/>
          </p:cNvSpPr>
          <p:nvPr/>
        </p:nvSpPr>
        <p:spPr bwMode="auto">
          <a:xfrm>
            <a:off x="7924449" y="2808593"/>
            <a:ext cx="3587115"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Maintain and improve the neat, organized workplace</a:t>
            </a:r>
          </a:p>
        </p:txBody>
      </p:sp>
      <p:sp>
        <p:nvSpPr>
          <p:cNvPr id="12" name="Rectangle 5">
            <a:extLst>
              <a:ext uri="{FF2B5EF4-FFF2-40B4-BE49-F238E27FC236}">
                <a16:creationId xmlns:a16="http://schemas.microsoft.com/office/drawing/2014/main" id="{6C0D4673-0DC6-5CE2-B500-02FD6C00A465}"/>
              </a:ext>
            </a:extLst>
          </p:cNvPr>
          <p:cNvSpPr>
            <a:spLocks noChangeArrowheads="1"/>
          </p:cNvSpPr>
          <p:nvPr/>
        </p:nvSpPr>
        <p:spPr bwMode="auto">
          <a:xfrm>
            <a:off x="900113" y="2808446"/>
            <a:ext cx="3239374" cy="806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1438" tIns="36512" rIns="71438" bIns="36512">
            <a:spAutoFit/>
          </a:bodyPr>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STABILIZE</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Maintaining and improving the standards of the first 3 S’s</a:t>
            </a:r>
          </a:p>
        </p:txBody>
      </p:sp>
      <p:grpSp>
        <p:nvGrpSpPr>
          <p:cNvPr id="13" name="Group 6">
            <a:extLst>
              <a:ext uri="{FF2B5EF4-FFF2-40B4-BE49-F238E27FC236}">
                <a16:creationId xmlns:a16="http://schemas.microsoft.com/office/drawing/2014/main" id="{105B75E2-DC6A-6393-4D85-32BE8453D729}"/>
              </a:ext>
            </a:extLst>
          </p:cNvPr>
          <p:cNvGrpSpPr>
            <a:grpSpLocks/>
          </p:cNvGrpSpPr>
          <p:nvPr/>
        </p:nvGrpSpPr>
        <p:grpSpPr bwMode="auto">
          <a:xfrm>
            <a:off x="838200" y="1962308"/>
            <a:ext cx="10777901" cy="625475"/>
            <a:chOff x="311" y="1012"/>
            <a:chExt cx="3908" cy="394"/>
          </a:xfrm>
        </p:grpSpPr>
        <p:sp>
          <p:nvSpPr>
            <p:cNvPr id="14" name="AutoShape 7">
              <a:extLst>
                <a:ext uri="{FF2B5EF4-FFF2-40B4-BE49-F238E27FC236}">
                  <a16:creationId xmlns:a16="http://schemas.microsoft.com/office/drawing/2014/main" id="{129DC9E6-6C48-FCC8-3A9B-914A29E7578A}"/>
                </a:ext>
              </a:extLst>
            </p:cNvPr>
            <p:cNvSpPr>
              <a:spLocks noChangeArrowheads="1"/>
            </p:cNvSpPr>
            <p:nvPr/>
          </p:nvSpPr>
          <p:spPr bwMode="auto">
            <a:xfrm>
              <a:off x="2694" y="1012"/>
              <a:ext cx="1525" cy="394"/>
            </a:xfrm>
            <a:prstGeom prst="homePlate">
              <a:avLst>
                <a:gd name="adj" fmla="val 57790"/>
              </a:avLst>
            </a:prstGeom>
            <a:solidFill>
              <a:schemeClr val="accent1"/>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Objective </a:t>
              </a:r>
              <a:br>
                <a:rPr lang="en-US" altLang="en-US" sz="1800" dirty="0">
                  <a:solidFill>
                    <a:schemeClr val="bg1"/>
                  </a:solidFill>
                  <a:latin typeface="Roboto" panose="02000000000000000000" pitchFamily="2" charset="0"/>
                  <a:ea typeface="Roboto" panose="02000000000000000000" pitchFamily="2" charset="0"/>
                </a:rPr>
              </a:br>
              <a:r>
                <a:rPr lang="en-US" altLang="en-US" sz="1800" dirty="0">
                  <a:solidFill>
                    <a:schemeClr val="bg1"/>
                  </a:solidFill>
                  <a:latin typeface="Roboto" panose="02000000000000000000" pitchFamily="2" charset="0"/>
                  <a:ea typeface="Roboto" panose="02000000000000000000" pitchFamily="2" charset="0"/>
                </a:rPr>
                <a:t>of 4S</a:t>
              </a:r>
            </a:p>
          </p:txBody>
        </p:sp>
        <p:sp>
          <p:nvSpPr>
            <p:cNvPr id="15" name="AutoShape 8">
              <a:extLst>
                <a:ext uri="{FF2B5EF4-FFF2-40B4-BE49-F238E27FC236}">
                  <a16:creationId xmlns:a16="http://schemas.microsoft.com/office/drawing/2014/main" id="{277A3B52-36CA-686D-6983-15D004C29E47}"/>
                </a:ext>
              </a:extLst>
            </p:cNvPr>
            <p:cNvSpPr>
              <a:spLocks noChangeArrowheads="1"/>
            </p:cNvSpPr>
            <p:nvPr/>
          </p:nvSpPr>
          <p:spPr bwMode="auto">
            <a:xfrm>
              <a:off x="1549" y="1012"/>
              <a:ext cx="1472" cy="394"/>
            </a:xfrm>
            <a:prstGeom prst="homePlate">
              <a:avLst>
                <a:gd name="adj" fmla="val 48586"/>
              </a:avLst>
            </a:prstGeom>
            <a:solidFill>
              <a:schemeClr val="accent1"/>
            </a:solidFill>
            <a:ln w="19050">
              <a:solidFill>
                <a:schemeClr val="bg1"/>
              </a:solidFill>
              <a:miter lim="800000"/>
              <a:headEnd/>
              <a:tailEnd/>
            </a:ln>
          </p:spPr>
          <p:txBody>
            <a:bodyPr lIns="45720" tIns="46038" rIns="45720" bIns="46038" anchor="ctr"/>
            <a:lstStyle>
              <a:lvl1pPr marL="17145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 Japanese: SEIKETSU </a:t>
              </a:r>
            </a:p>
          </p:txBody>
        </p:sp>
        <p:sp>
          <p:nvSpPr>
            <p:cNvPr id="16" name="AutoShape 9">
              <a:extLst>
                <a:ext uri="{FF2B5EF4-FFF2-40B4-BE49-F238E27FC236}">
                  <a16:creationId xmlns:a16="http://schemas.microsoft.com/office/drawing/2014/main" id="{0F61DD03-FD3F-FBCF-67DD-E39974B5C6B0}"/>
                </a:ext>
              </a:extLst>
            </p:cNvPr>
            <p:cNvSpPr>
              <a:spLocks noChangeArrowheads="1"/>
            </p:cNvSpPr>
            <p:nvPr/>
          </p:nvSpPr>
          <p:spPr bwMode="auto">
            <a:xfrm>
              <a:off x="311" y="1012"/>
              <a:ext cx="1469" cy="394"/>
            </a:xfrm>
            <a:prstGeom prst="homePlate">
              <a:avLst>
                <a:gd name="adj" fmla="val 54200"/>
              </a:avLst>
            </a:prstGeom>
            <a:solidFill>
              <a:schemeClr val="accent1"/>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English: STABILIZE</a:t>
              </a:r>
            </a:p>
          </p:txBody>
        </p:sp>
      </p:grpSp>
      <p:sp>
        <p:nvSpPr>
          <p:cNvPr id="17" name="AutoShape 10">
            <a:extLst>
              <a:ext uri="{FF2B5EF4-FFF2-40B4-BE49-F238E27FC236}">
                <a16:creationId xmlns:a16="http://schemas.microsoft.com/office/drawing/2014/main" id="{BD380F9A-F259-E8AA-00B4-6567920E9E99}"/>
              </a:ext>
            </a:extLst>
          </p:cNvPr>
          <p:cNvSpPr>
            <a:spLocks noChangeArrowheads="1"/>
          </p:cNvSpPr>
          <p:nvPr/>
        </p:nvSpPr>
        <p:spPr bwMode="auto">
          <a:xfrm>
            <a:off x="900113" y="5540828"/>
            <a:ext cx="10697177" cy="520700"/>
          </a:xfrm>
          <a:prstGeom prst="homePlate">
            <a:avLst>
              <a:gd name="adj" fmla="val 32169"/>
            </a:avLst>
          </a:prstGeom>
          <a:solidFill>
            <a:schemeClr val="tx2"/>
          </a:solidFill>
          <a:ln>
            <a:noFill/>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4S not only maintains, but </a:t>
            </a:r>
            <a:r>
              <a:rPr lang="en-US" altLang="en-US" sz="1800" i="1" dirty="0">
                <a:solidFill>
                  <a:schemeClr val="bg1"/>
                </a:solidFill>
                <a:latin typeface="Roboto" panose="02000000000000000000" pitchFamily="2" charset="0"/>
                <a:ea typeface="Roboto" panose="02000000000000000000" pitchFamily="2" charset="0"/>
              </a:rPr>
              <a:t>improves</a:t>
            </a:r>
            <a:r>
              <a:rPr lang="en-US" altLang="en-US" sz="1800" dirty="0">
                <a:solidFill>
                  <a:schemeClr val="bg1"/>
                </a:solidFill>
                <a:latin typeface="Roboto" panose="02000000000000000000" pitchFamily="2" charset="0"/>
                <a:ea typeface="Roboto" panose="02000000000000000000" pitchFamily="2" charset="0"/>
              </a:rPr>
              <a:t> what has been put in place</a:t>
            </a:r>
          </a:p>
        </p:txBody>
      </p:sp>
    </p:spTree>
    <p:extLst>
      <p:ext uri="{BB962C8B-B14F-4D97-AF65-F5344CB8AC3E}">
        <p14:creationId xmlns:p14="http://schemas.microsoft.com/office/powerpoint/2010/main" val="13650487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ea typeface="ＭＳ Ｐゴシック" panose="020B0600070205080204" pitchFamily="34" charset="-128"/>
              </a:rPr>
              <a:t>4S Strategy</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Eliminate excess storage areas and flat surfaces where items can accumulate</a:t>
            </a:r>
          </a:p>
          <a:p>
            <a:r>
              <a:rPr lang="en-US" dirty="0"/>
              <a:t>Make changes to layout/furniture that make it easy to maintain order and cleanliness</a:t>
            </a:r>
          </a:p>
          <a:p>
            <a:r>
              <a:rPr lang="en-US" dirty="0"/>
              <a:t>Use a checklist to establish daily organization and cleaning activities (use recurring calendar to schedule reminders)</a:t>
            </a:r>
          </a:p>
          <a:p>
            <a:r>
              <a:rPr lang="en-US" dirty="0"/>
              <a:t>Perform self-assessments</a:t>
            </a:r>
          </a:p>
          <a:p>
            <a:r>
              <a:rPr lang="en-US" dirty="0"/>
              <a:t>Determine ways to prevent backsliding</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58</a:t>
            </a:fld>
            <a:endParaRPr lang="en-US"/>
          </a:p>
        </p:txBody>
      </p:sp>
      <p:sp>
        <p:nvSpPr>
          <p:cNvPr id="4" name="TextBox 3">
            <a:extLst>
              <a:ext uri="{FF2B5EF4-FFF2-40B4-BE49-F238E27FC236}">
                <a16:creationId xmlns:a16="http://schemas.microsoft.com/office/drawing/2014/main" id="{3FF89735-3E72-987A-C4E7-B1FDE47A50C3}"/>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6" name="Group 5">
            <a:extLst>
              <a:ext uri="{FF2B5EF4-FFF2-40B4-BE49-F238E27FC236}">
                <a16:creationId xmlns:a16="http://schemas.microsoft.com/office/drawing/2014/main" id="{895A1E22-3A20-5666-B4F3-71A547F45291}"/>
              </a:ext>
            </a:extLst>
          </p:cNvPr>
          <p:cNvGrpSpPr/>
          <p:nvPr/>
        </p:nvGrpSpPr>
        <p:grpSpPr>
          <a:xfrm>
            <a:off x="940249" y="302538"/>
            <a:ext cx="1060167" cy="290657"/>
            <a:chOff x="940249" y="315206"/>
            <a:chExt cx="1060167" cy="265062"/>
          </a:xfrm>
        </p:grpSpPr>
        <p:sp>
          <p:nvSpPr>
            <p:cNvPr id="7" name="AutoShape 9">
              <a:extLst>
                <a:ext uri="{FF2B5EF4-FFF2-40B4-BE49-F238E27FC236}">
                  <a16:creationId xmlns:a16="http://schemas.microsoft.com/office/drawing/2014/main" id="{5868EF84-EDCA-139B-E69B-434D0F25E7BF}"/>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1A934946-9220-B57F-4BCE-A0A7020FA0E6}"/>
                </a:ext>
              </a:extLst>
            </p:cNvPr>
            <p:cNvGrpSpPr/>
            <p:nvPr/>
          </p:nvGrpSpPr>
          <p:grpSpPr>
            <a:xfrm>
              <a:off x="940249" y="315206"/>
              <a:ext cx="746492" cy="265062"/>
              <a:chOff x="940249" y="315206"/>
              <a:chExt cx="746492" cy="265062"/>
            </a:xfrm>
          </p:grpSpPr>
          <p:sp>
            <p:nvSpPr>
              <p:cNvPr id="9" name="AutoShape 11">
                <a:extLst>
                  <a:ext uri="{FF2B5EF4-FFF2-40B4-BE49-F238E27FC236}">
                    <a16:creationId xmlns:a16="http://schemas.microsoft.com/office/drawing/2014/main" id="{24E034DB-D9B1-37D7-45F7-88DCE463D8AE}"/>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0">
                <a:extLst>
                  <a:ext uri="{FF2B5EF4-FFF2-40B4-BE49-F238E27FC236}">
                    <a16:creationId xmlns:a16="http://schemas.microsoft.com/office/drawing/2014/main" id="{C49C55FC-FBBC-96B1-3F24-F6144212C2C1}"/>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0035773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ea typeface="ＭＳ Ｐゴシック" panose="020B0600070205080204" pitchFamily="34" charset="-128"/>
              </a:rPr>
              <a:t>4S Checklist Guidelines</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Post checklist in each area</a:t>
            </a:r>
          </a:p>
          <a:p>
            <a:r>
              <a:rPr lang="en-US" dirty="0"/>
              <a:t>Include “after” photos to show the standard</a:t>
            </a:r>
          </a:p>
          <a:p>
            <a:r>
              <a:rPr lang="en-US" dirty="0"/>
              <a:t>Ask co-workers to schedule surprise audits</a:t>
            </a:r>
          </a:p>
          <a:p>
            <a:r>
              <a:rPr lang="en-US" dirty="0"/>
              <a:t>Seek feedback and inputs often</a:t>
            </a:r>
          </a:p>
          <a:p>
            <a:r>
              <a:rPr lang="en-US" dirty="0"/>
              <a:t>Use checklist to record improvement opportunities and recommendations</a:t>
            </a:r>
          </a:p>
          <a:p>
            <a:r>
              <a:rPr lang="en-US" dirty="0"/>
              <a:t>Use the 5W1H process to determine root causes (5 Why’s and 1 How)</a:t>
            </a:r>
          </a:p>
          <a:p>
            <a:r>
              <a:rPr lang="en-US" dirty="0"/>
              <a:t>Implement corrective actions and improvements regularly</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59</a:t>
            </a:fld>
            <a:endParaRPr lang="en-US"/>
          </a:p>
        </p:txBody>
      </p:sp>
      <p:sp>
        <p:nvSpPr>
          <p:cNvPr id="4" name="TextBox 3">
            <a:extLst>
              <a:ext uri="{FF2B5EF4-FFF2-40B4-BE49-F238E27FC236}">
                <a16:creationId xmlns:a16="http://schemas.microsoft.com/office/drawing/2014/main" id="{3FF89735-3E72-987A-C4E7-B1FDE47A50C3}"/>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6" name="Group 5">
            <a:extLst>
              <a:ext uri="{FF2B5EF4-FFF2-40B4-BE49-F238E27FC236}">
                <a16:creationId xmlns:a16="http://schemas.microsoft.com/office/drawing/2014/main" id="{895A1E22-3A20-5666-B4F3-71A547F45291}"/>
              </a:ext>
            </a:extLst>
          </p:cNvPr>
          <p:cNvGrpSpPr/>
          <p:nvPr/>
        </p:nvGrpSpPr>
        <p:grpSpPr>
          <a:xfrm>
            <a:off x="940249" y="302538"/>
            <a:ext cx="1060167" cy="290657"/>
            <a:chOff x="940249" y="315206"/>
            <a:chExt cx="1060167" cy="265062"/>
          </a:xfrm>
        </p:grpSpPr>
        <p:sp>
          <p:nvSpPr>
            <p:cNvPr id="7" name="AutoShape 9">
              <a:extLst>
                <a:ext uri="{FF2B5EF4-FFF2-40B4-BE49-F238E27FC236}">
                  <a16:creationId xmlns:a16="http://schemas.microsoft.com/office/drawing/2014/main" id="{5868EF84-EDCA-139B-E69B-434D0F25E7BF}"/>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1A934946-9220-B57F-4BCE-A0A7020FA0E6}"/>
                </a:ext>
              </a:extLst>
            </p:cNvPr>
            <p:cNvGrpSpPr/>
            <p:nvPr/>
          </p:nvGrpSpPr>
          <p:grpSpPr>
            <a:xfrm>
              <a:off x="940249" y="315206"/>
              <a:ext cx="746492" cy="265062"/>
              <a:chOff x="940249" y="315206"/>
              <a:chExt cx="746492" cy="265062"/>
            </a:xfrm>
          </p:grpSpPr>
          <p:sp>
            <p:nvSpPr>
              <p:cNvPr id="9" name="AutoShape 11">
                <a:extLst>
                  <a:ext uri="{FF2B5EF4-FFF2-40B4-BE49-F238E27FC236}">
                    <a16:creationId xmlns:a16="http://schemas.microsoft.com/office/drawing/2014/main" id="{24E034DB-D9B1-37D7-45F7-88DCE463D8AE}"/>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0">
                <a:extLst>
                  <a:ext uri="{FF2B5EF4-FFF2-40B4-BE49-F238E27FC236}">
                    <a16:creationId xmlns:a16="http://schemas.microsoft.com/office/drawing/2014/main" id="{C49C55FC-FBBC-96B1-3F24-F6144212C2C1}"/>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71900914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A97DE-DEBC-9B03-4ECF-9BF7E737456E}"/>
              </a:ext>
            </a:extLst>
          </p:cNvPr>
          <p:cNvSpPr>
            <a:spLocks noGrp="1"/>
          </p:cNvSpPr>
          <p:nvPr>
            <p:ph type="title"/>
          </p:nvPr>
        </p:nvSpPr>
        <p:spPr/>
        <p:txBody>
          <a:bodyPr/>
          <a:lstStyle/>
          <a:p>
            <a:r>
              <a:rPr lang="en-US" dirty="0"/>
              <a:t>4S Checklist Example</a:t>
            </a:r>
          </a:p>
        </p:txBody>
      </p:sp>
      <p:sp>
        <p:nvSpPr>
          <p:cNvPr id="4" name="Content Placeholder 3">
            <a:extLst>
              <a:ext uri="{FF2B5EF4-FFF2-40B4-BE49-F238E27FC236}">
                <a16:creationId xmlns:a16="http://schemas.microsoft.com/office/drawing/2014/main" id="{B4257EAB-763A-82D1-4B89-BEC36DBD12C0}"/>
              </a:ext>
            </a:extLst>
          </p:cNvPr>
          <p:cNvSpPr>
            <a:spLocks noGrp="1"/>
          </p:cNvSpPr>
          <p:nvPr>
            <p:ph sz="half" idx="2"/>
          </p:nvPr>
        </p:nvSpPr>
        <p:spPr>
          <a:xfrm>
            <a:off x="6412230" y="2171701"/>
            <a:ext cx="4941570" cy="3851910"/>
          </a:xfrm>
        </p:spPr>
        <p:txBody>
          <a:bodyPr>
            <a:normAutofit/>
          </a:bodyPr>
          <a:lstStyle/>
          <a:p>
            <a:r>
              <a:rPr lang="en-US" dirty="0"/>
              <a:t>Establish daily, weekly and monthly tasks to maintain first 3S’s</a:t>
            </a:r>
          </a:p>
          <a:p>
            <a:r>
              <a:rPr lang="en-US" dirty="0"/>
              <a:t>Schedule tasks in calendar for reminders</a:t>
            </a:r>
          </a:p>
          <a:p>
            <a:r>
              <a:rPr lang="en-US" dirty="0"/>
              <a:t>Evaluate effectiveness of furniture and documentation methods</a:t>
            </a:r>
          </a:p>
        </p:txBody>
      </p:sp>
      <p:sp>
        <p:nvSpPr>
          <p:cNvPr id="12" name="TextBox 11">
            <a:extLst>
              <a:ext uri="{FF2B5EF4-FFF2-40B4-BE49-F238E27FC236}">
                <a16:creationId xmlns:a16="http://schemas.microsoft.com/office/drawing/2014/main" id="{6C24A373-D82F-85A1-F7D0-AF07721C755A}"/>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13" name="Group 12">
            <a:extLst>
              <a:ext uri="{FF2B5EF4-FFF2-40B4-BE49-F238E27FC236}">
                <a16:creationId xmlns:a16="http://schemas.microsoft.com/office/drawing/2014/main" id="{4840210A-9D13-8DCE-51FC-F3168F47EF7F}"/>
              </a:ext>
            </a:extLst>
          </p:cNvPr>
          <p:cNvGrpSpPr/>
          <p:nvPr/>
        </p:nvGrpSpPr>
        <p:grpSpPr>
          <a:xfrm>
            <a:off x="940249" y="302538"/>
            <a:ext cx="1060167" cy="290657"/>
            <a:chOff x="940249" y="315206"/>
            <a:chExt cx="1060167" cy="265062"/>
          </a:xfrm>
        </p:grpSpPr>
        <p:sp>
          <p:nvSpPr>
            <p:cNvPr id="14" name="AutoShape 9">
              <a:extLst>
                <a:ext uri="{FF2B5EF4-FFF2-40B4-BE49-F238E27FC236}">
                  <a16:creationId xmlns:a16="http://schemas.microsoft.com/office/drawing/2014/main" id="{3C44F90A-F55E-CE36-1121-EFB2B7EEFC49}"/>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5" name="Group 14">
              <a:extLst>
                <a:ext uri="{FF2B5EF4-FFF2-40B4-BE49-F238E27FC236}">
                  <a16:creationId xmlns:a16="http://schemas.microsoft.com/office/drawing/2014/main" id="{3FCB6E81-5C4C-737A-E71E-A9D587DBEE1B}"/>
                </a:ext>
              </a:extLst>
            </p:cNvPr>
            <p:cNvGrpSpPr/>
            <p:nvPr/>
          </p:nvGrpSpPr>
          <p:grpSpPr>
            <a:xfrm>
              <a:off x="940249" y="315206"/>
              <a:ext cx="746492" cy="265062"/>
              <a:chOff x="940249" y="315206"/>
              <a:chExt cx="746492" cy="265062"/>
            </a:xfrm>
          </p:grpSpPr>
          <p:sp>
            <p:nvSpPr>
              <p:cNvPr id="16" name="AutoShape 11">
                <a:extLst>
                  <a:ext uri="{FF2B5EF4-FFF2-40B4-BE49-F238E27FC236}">
                    <a16:creationId xmlns:a16="http://schemas.microsoft.com/office/drawing/2014/main" id="{71B99716-F637-A1D7-6EA5-D72DDE0BA793}"/>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7" name="AutoShape 10">
                <a:extLst>
                  <a:ext uri="{FF2B5EF4-FFF2-40B4-BE49-F238E27FC236}">
                    <a16:creationId xmlns:a16="http://schemas.microsoft.com/office/drawing/2014/main" id="{C8657337-3F1E-4C2A-F4E4-4910C2349135}"/>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pic>
        <p:nvPicPr>
          <p:cNvPr id="5" name="Picture 1">
            <a:extLst>
              <a:ext uri="{FF2B5EF4-FFF2-40B4-BE49-F238E27FC236}">
                <a16:creationId xmlns:a16="http://schemas.microsoft.com/office/drawing/2014/main" id="{D9E4D97E-0D0D-0C52-76F4-52F663AF8D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2277"/>
          <a:stretch>
            <a:fillRect/>
          </a:stretch>
        </p:blipFill>
        <p:spPr bwMode="auto">
          <a:xfrm>
            <a:off x="599759" y="1900237"/>
            <a:ext cx="5765790" cy="340328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sp>
        <p:nvSpPr>
          <p:cNvPr id="6" name="Rectangle 12">
            <a:extLst>
              <a:ext uri="{FF2B5EF4-FFF2-40B4-BE49-F238E27FC236}">
                <a16:creationId xmlns:a16="http://schemas.microsoft.com/office/drawing/2014/main" id="{8FE07149-03BC-89EF-873B-B887D062AE43}"/>
              </a:ext>
            </a:extLst>
          </p:cNvPr>
          <p:cNvSpPr>
            <a:spLocks noChangeArrowheads="1"/>
          </p:cNvSpPr>
          <p:nvPr/>
        </p:nvSpPr>
        <p:spPr bwMode="auto">
          <a:xfrm>
            <a:off x="1488963" y="5513069"/>
            <a:ext cx="3987381" cy="4699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90488" tIns="44450" rIns="90488" bIns="44450"/>
          <a:lstStyle/>
          <a:p>
            <a:pPr marL="228600" indent="-228600" algn="l">
              <a:spcBef>
                <a:spcPct val="50000"/>
              </a:spcBef>
              <a:spcAft>
                <a:spcPct val="50000"/>
              </a:spcAft>
              <a:buClr>
                <a:srgbClr val="006699"/>
              </a:buClr>
              <a:buSzPct val="90000"/>
              <a:buFont typeface="Wingdings" charset="0"/>
              <a:buNone/>
              <a:defRPr/>
            </a:pPr>
            <a:r>
              <a:rPr lang="en-US" dirty="0">
                <a:latin typeface="Roboto" panose="02000000000000000000" pitchFamily="2" charset="0"/>
                <a:ea typeface="Roboto" panose="02000000000000000000" pitchFamily="2" charset="0"/>
              </a:rPr>
              <a:t>Customize to fit your business needs</a:t>
            </a:r>
          </a:p>
        </p:txBody>
      </p:sp>
    </p:spTree>
    <p:extLst>
      <p:ext uri="{BB962C8B-B14F-4D97-AF65-F5344CB8AC3E}">
        <p14:creationId xmlns:p14="http://schemas.microsoft.com/office/powerpoint/2010/main" val="21937699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rmAutofit/>
          </a:bodyPr>
          <a:lstStyle/>
          <a:p>
            <a:r>
              <a:rPr lang="en-US" dirty="0"/>
              <a:t>5S Assessment</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lstStyle/>
          <a:p>
            <a:r>
              <a:rPr lang="en-US" dirty="0"/>
              <a:t>Develop a standard procedure for audits</a:t>
            </a:r>
          </a:p>
          <a:p>
            <a:r>
              <a:rPr lang="en-US" dirty="0"/>
              <a:t>Use form consistently to measure results of 5S in all areas</a:t>
            </a:r>
          </a:p>
          <a:p>
            <a:r>
              <a:rPr lang="en-US" dirty="0"/>
              <a:t>Include review of  electronic/digital processes</a:t>
            </a:r>
          </a:p>
          <a:p>
            <a:r>
              <a:rPr lang="en-US" dirty="0"/>
              <a:t>Use for self-assessments and internal audits</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61</a:t>
            </a:fld>
            <a:endParaRPr lang="en-US"/>
          </a:p>
        </p:txBody>
      </p:sp>
      <p:sp>
        <p:nvSpPr>
          <p:cNvPr id="7" name="AutoShape 5">
            <a:extLst>
              <a:ext uri="{FF2B5EF4-FFF2-40B4-BE49-F238E27FC236}">
                <a16:creationId xmlns:a16="http://schemas.microsoft.com/office/drawing/2014/main" id="{43BC6D50-8485-BB98-D519-DABF58C20A63}"/>
              </a:ext>
            </a:extLst>
          </p:cNvPr>
          <p:cNvSpPr>
            <a:spLocks noChangeArrowheads="1"/>
          </p:cNvSpPr>
          <p:nvPr/>
        </p:nvSpPr>
        <p:spPr bwMode="auto">
          <a:xfrm>
            <a:off x="5643245" y="2754312"/>
            <a:ext cx="285750" cy="2493963"/>
          </a:xfrm>
          <a:prstGeom prst="rightArrow">
            <a:avLst>
              <a:gd name="adj1" fmla="val 67278"/>
              <a:gd name="adj2" fmla="val 72222"/>
            </a:avLst>
          </a:prstGeom>
          <a:solidFill>
            <a:schemeClr val="tx2"/>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endParaRPr>
          </a:p>
        </p:txBody>
      </p:sp>
      <p:sp>
        <p:nvSpPr>
          <p:cNvPr id="14" name="TextBox 13">
            <a:extLst>
              <a:ext uri="{FF2B5EF4-FFF2-40B4-BE49-F238E27FC236}">
                <a16:creationId xmlns:a16="http://schemas.microsoft.com/office/drawing/2014/main" id="{C8E27D30-713D-7CA4-8B4B-46A7663B15B8}"/>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15" name="Group 14">
            <a:extLst>
              <a:ext uri="{FF2B5EF4-FFF2-40B4-BE49-F238E27FC236}">
                <a16:creationId xmlns:a16="http://schemas.microsoft.com/office/drawing/2014/main" id="{10A703E4-7CBC-C62D-0FE9-14815EA0F53A}"/>
              </a:ext>
            </a:extLst>
          </p:cNvPr>
          <p:cNvGrpSpPr/>
          <p:nvPr/>
        </p:nvGrpSpPr>
        <p:grpSpPr>
          <a:xfrm>
            <a:off x="940249" y="302538"/>
            <a:ext cx="1060167" cy="290657"/>
            <a:chOff x="940249" y="315206"/>
            <a:chExt cx="1060167" cy="265062"/>
          </a:xfrm>
        </p:grpSpPr>
        <p:sp>
          <p:nvSpPr>
            <p:cNvPr id="16" name="AutoShape 9">
              <a:extLst>
                <a:ext uri="{FF2B5EF4-FFF2-40B4-BE49-F238E27FC236}">
                  <a16:creationId xmlns:a16="http://schemas.microsoft.com/office/drawing/2014/main" id="{8DDF307C-F6FF-320E-F625-B397D5F3DEC7}"/>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7" name="Group 16">
              <a:extLst>
                <a:ext uri="{FF2B5EF4-FFF2-40B4-BE49-F238E27FC236}">
                  <a16:creationId xmlns:a16="http://schemas.microsoft.com/office/drawing/2014/main" id="{191C5909-F852-8FBF-2CE5-40399C0BAC12}"/>
                </a:ext>
              </a:extLst>
            </p:cNvPr>
            <p:cNvGrpSpPr/>
            <p:nvPr/>
          </p:nvGrpSpPr>
          <p:grpSpPr>
            <a:xfrm>
              <a:off x="940249" y="315206"/>
              <a:ext cx="746492" cy="265062"/>
              <a:chOff x="940249" y="315206"/>
              <a:chExt cx="746492" cy="265062"/>
            </a:xfrm>
          </p:grpSpPr>
          <p:sp>
            <p:nvSpPr>
              <p:cNvPr id="18" name="AutoShape 11">
                <a:extLst>
                  <a:ext uri="{FF2B5EF4-FFF2-40B4-BE49-F238E27FC236}">
                    <a16:creationId xmlns:a16="http://schemas.microsoft.com/office/drawing/2014/main" id="{65B9027B-7946-C52B-B8DA-6609C8961545}"/>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0">
                <a:extLst>
                  <a:ext uri="{FF2B5EF4-FFF2-40B4-BE49-F238E27FC236}">
                    <a16:creationId xmlns:a16="http://schemas.microsoft.com/office/drawing/2014/main" id="{B24F8E11-E39A-C4A8-1602-977ECDC36F96}"/>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graphicFrame>
        <p:nvGraphicFramePr>
          <p:cNvPr id="8" name="Object 21">
            <a:extLst>
              <a:ext uri="{FF2B5EF4-FFF2-40B4-BE49-F238E27FC236}">
                <a16:creationId xmlns:a16="http://schemas.microsoft.com/office/drawing/2014/main" id="{C7CC8AB0-A55C-A61F-F79E-7CD4706036BB}"/>
              </a:ext>
            </a:extLst>
          </p:cNvPr>
          <p:cNvGraphicFramePr>
            <a:graphicFrameLocks noGrp="1" noChangeAspect="1"/>
          </p:cNvGraphicFramePr>
          <p:nvPr>
            <p:ph sz="half" idx="1"/>
          </p:nvPr>
        </p:nvGraphicFramePr>
        <p:xfrm>
          <a:off x="1595437" y="2053431"/>
          <a:ext cx="3667125" cy="3895725"/>
        </p:xfrm>
        <a:graphic>
          <a:graphicData uri="http://schemas.openxmlformats.org/presentationml/2006/ole">
            <mc:AlternateContent xmlns:mc="http://schemas.openxmlformats.org/markup-compatibility/2006">
              <mc:Choice xmlns:v="urn:schemas-microsoft-com:vml" Requires="v">
                <p:oleObj name="Worksheet" r:id="rId3" imgW="3667461" imgH="3895937" progId="Excel.Sheet.8">
                  <p:embed/>
                </p:oleObj>
              </mc:Choice>
              <mc:Fallback>
                <p:oleObj name="Worksheet" r:id="rId3" imgW="3667461" imgH="3895937" progId="Excel.Sheet.8">
                  <p:embed/>
                  <p:pic>
                    <p:nvPicPr>
                      <p:cNvPr id="122884" name="Object 21">
                        <a:extLst>
                          <a:ext uri="{FF2B5EF4-FFF2-40B4-BE49-F238E27FC236}">
                            <a16:creationId xmlns:a16="http://schemas.microsoft.com/office/drawing/2014/main" id="{53838002-6C91-4C8C-A281-11AEB12745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95437" y="2053431"/>
                        <a:ext cx="3667125" cy="3895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198885757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2800" dirty="0">
                <a:latin typeface="Roboto Medium"/>
                <a:ea typeface="Roboto Medium"/>
                <a:cs typeface="Roboto Medium"/>
              </a:rPr>
              <a:t>Exercise: Identifying processes that need to be sustained</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62</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Generate list of processes that need to be sustained</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discuss which processes need to be</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sustained from THIS event.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751555"/>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Generated list on chart paper</a:t>
            </a:r>
          </a:p>
        </p:txBody>
      </p:sp>
      <p:sp>
        <p:nvSpPr>
          <p:cNvPr id="9" name="TextBox 8">
            <a:extLst>
              <a:ext uri="{FF2B5EF4-FFF2-40B4-BE49-F238E27FC236}">
                <a16:creationId xmlns:a16="http://schemas.microsoft.com/office/drawing/2014/main" id="{985AA00D-A29D-6544-7130-516B09E40D2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10" name="Group 9">
            <a:extLst>
              <a:ext uri="{FF2B5EF4-FFF2-40B4-BE49-F238E27FC236}">
                <a16:creationId xmlns:a16="http://schemas.microsoft.com/office/drawing/2014/main" id="{B624FD29-6362-899C-35BD-CD83F08220E5}"/>
              </a:ext>
            </a:extLst>
          </p:cNvPr>
          <p:cNvGrpSpPr/>
          <p:nvPr/>
        </p:nvGrpSpPr>
        <p:grpSpPr>
          <a:xfrm>
            <a:off x="940249" y="302538"/>
            <a:ext cx="1060167" cy="290657"/>
            <a:chOff x="940249" y="315206"/>
            <a:chExt cx="1060167" cy="265062"/>
          </a:xfrm>
        </p:grpSpPr>
        <p:sp>
          <p:nvSpPr>
            <p:cNvPr id="19" name="AutoShape 9">
              <a:extLst>
                <a:ext uri="{FF2B5EF4-FFF2-40B4-BE49-F238E27FC236}">
                  <a16:creationId xmlns:a16="http://schemas.microsoft.com/office/drawing/2014/main" id="{FDF31AEA-B9A3-8ED4-A650-A6E999D87FF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37DB9D66-3761-99F8-976C-54CBE50C471B}"/>
                </a:ext>
              </a:extLst>
            </p:cNvPr>
            <p:cNvGrpSpPr/>
            <p:nvPr/>
          </p:nvGrpSpPr>
          <p:grpSpPr>
            <a:xfrm>
              <a:off x="940249" y="315206"/>
              <a:ext cx="746492" cy="265062"/>
              <a:chOff x="940249" y="315206"/>
              <a:chExt cx="746492" cy="265062"/>
            </a:xfrm>
          </p:grpSpPr>
          <p:sp>
            <p:nvSpPr>
              <p:cNvPr id="21" name="AutoShape 11">
                <a:extLst>
                  <a:ext uri="{FF2B5EF4-FFF2-40B4-BE49-F238E27FC236}">
                    <a16:creationId xmlns:a16="http://schemas.microsoft.com/office/drawing/2014/main" id="{AD50B12C-C902-7D27-4E1C-060FF711BA72}"/>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0">
                <a:extLst>
                  <a:ext uri="{FF2B5EF4-FFF2-40B4-BE49-F238E27FC236}">
                    <a16:creationId xmlns:a16="http://schemas.microsoft.com/office/drawing/2014/main" id="{74EC2DCA-13CD-8D1B-5812-649364398B06}"/>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9993989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4000" dirty="0">
                <a:latin typeface="Roboto Medium"/>
                <a:ea typeface="Roboto Medium"/>
                <a:cs typeface="Roboto Medium"/>
              </a:rPr>
              <a:t>Exercise: 4S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63</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plan for 4S for the business event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develop specific plan/process to</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standardize and sustain the processes from the</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generated list for this event</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Assign owner(s)</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Schedule daily/weekly/monthly/annual recurring tasks in owner’s calendar</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Provided by instructor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751555"/>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Completed 4S plan</a:t>
            </a:r>
          </a:p>
        </p:txBody>
      </p:sp>
      <p:sp>
        <p:nvSpPr>
          <p:cNvPr id="9" name="TextBox 8">
            <a:extLst>
              <a:ext uri="{FF2B5EF4-FFF2-40B4-BE49-F238E27FC236}">
                <a16:creationId xmlns:a16="http://schemas.microsoft.com/office/drawing/2014/main" id="{985AA00D-A29D-6544-7130-516B09E40D2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10" name="Group 9">
            <a:extLst>
              <a:ext uri="{FF2B5EF4-FFF2-40B4-BE49-F238E27FC236}">
                <a16:creationId xmlns:a16="http://schemas.microsoft.com/office/drawing/2014/main" id="{B624FD29-6362-899C-35BD-CD83F08220E5}"/>
              </a:ext>
            </a:extLst>
          </p:cNvPr>
          <p:cNvGrpSpPr/>
          <p:nvPr/>
        </p:nvGrpSpPr>
        <p:grpSpPr>
          <a:xfrm>
            <a:off x="940249" y="302538"/>
            <a:ext cx="1060167" cy="290657"/>
            <a:chOff x="940249" y="315206"/>
            <a:chExt cx="1060167" cy="265062"/>
          </a:xfrm>
        </p:grpSpPr>
        <p:sp>
          <p:nvSpPr>
            <p:cNvPr id="19" name="AutoShape 9">
              <a:extLst>
                <a:ext uri="{FF2B5EF4-FFF2-40B4-BE49-F238E27FC236}">
                  <a16:creationId xmlns:a16="http://schemas.microsoft.com/office/drawing/2014/main" id="{FDF31AEA-B9A3-8ED4-A650-A6E999D87FF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37DB9D66-3761-99F8-976C-54CBE50C471B}"/>
                </a:ext>
              </a:extLst>
            </p:cNvPr>
            <p:cNvGrpSpPr/>
            <p:nvPr/>
          </p:nvGrpSpPr>
          <p:grpSpPr>
            <a:xfrm>
              <a:off x="940249" y="315206"/>
              <a:ext cx="746492" cy="265062"/>
              <a:chOff x="940249" y="315206"/>
              <a:chExt cx="746492" cy="265062"/>
            </a:xfrm>
          </p:grpSpPr>
          <p:sp>
            <p:nvSpPr>
              <p:cNvPr id="21" name="AutoShape 11">
                <a:extLst>
                  <a:ext uri="{FF2B5EF4-FFF2-40B4-BE49-F238E27FC236}">
                    <a16:creationId xmlns:a16="http://schemas.microsoft.com/office/drawing/2014/main" id="{AD50B12C-C902-7D27-4E1C-060FF711BA72}"/>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0">
                <a:extLst>
                  <a:ext uri="{FF2B5EF4-FFF2-40B4-BE49-F238E27FC236}">
                    <a16:creationId xmlns:a16="http://schemas.microsoft.com/office/drawing/2014/main" id="{74EC2DCA-13CD-8D1B-5812-649364398B06}"/>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81331434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868D4041-D0F9-25FB-4F54-742F539993D0}"/>
              </a:ext>
            </a:extLst>
          </p:cNvPr>
          <p:cNvSpPr>
            <a:spLocks noGrp="1"/>
          </p:cNvSpPr>
          <p:nvPr>
            <p:ph type="title"/>
          </p:nvPr>
        </p:nvSpPr>
        <p:spPr/>
        <p:txBody>
          <a:bodyPr>
            <a:normAutofit/>
          </a:bodyPr>
          <a:lstStyle/>
          <a:p>
            <a:r>
              <a:rPr lang="en-US" sz="4000" dirty="0">
                <a:latin typeface="Roboto Medium"/>
                <a:ea typeface="Roboto Medium"/>
                <a:cs typeface="Roboto Medium"/>
              </a:rPr>
              <a:t>5S Process Steps</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64</a:t>
            </a:fld>
            <a:endParaRPr lang="en-US"/>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tx1"/>
              </a:solidFill>
            </a:endParaRPr>
          </a:p>
        </p:txBody>
      </p:sp>
      <p:sp>
        <p:nvSpPr>
          <p:cNvPr id="24" name="TextBox 23">
            <a:extLst>
              <a:ext uri="{FF2B5EF4-FFF2-40B4-BE49-F238E27FC236}">
                <a16:creationId xmlns:a16="http://schemas.microsoft.com/office/drawing/2014/main" id="{C5BDF42C-A61F-0C81-8AC6-8365C83CB3A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sp>
        <p:nvSpPr>
          <p:cNvPr id="10" name="Rectangle 9">
            <a:extLst>
              <a:ext uri="{FF2B5EF4-FFF2-40B4-BE49-F238E27FC236}">
                <a16:creationId xmlns:a16="http://schemas.microsoft.com/office/drawing/2014/main" id="{68230320-19C2-752A-1176-1BBB64EE0496}"/>
              </a:ext>
            </a:extLst>
          </p:cNvPr>
          <p:cNvSpPr>
            <a:spLocks/>
          </p:cNvSpPr>
          <p:nvPr/>
        </p:nvSpPr>
        <p:spPr>
          <a:xfrm>
            <a:off x="940249" y="2771056"/>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2S - Straighten</a:t>
            </a:r>
          </a:p>
        </p:txBody>
      </p:sp>
      <p:sp>
        <p:nvSpPr>
          <p:cNvPr id="17" name="Rectangle 16">
            <a:extLst>
              <a:ext uri="{FF2B5EF4-FFF2-40B4-BE49-F238E27FC236}">
                <a16:creationId xmlns:a16="http://schemas.microsoft.com/office/drawing/2014/main" id="{C482F546-04CD-6441-A9E4-982C043DC9B1}"/>
              </a:ext>
            </a:extLst>
          </p:cNvPr>
          <p:cNvSpPr>
            <a:spLocks/>
          </p:cNvSpPr>
          <p:nvPr/>
        </p:nvSpPr>
        <p:spPr>
          <a:xfrm>
            <a:off x="940249" y="1955700"/>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8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sym typeface="Roboto"/>
              </a:rPr>
              <a:t>1S - Sort</a:t>
            </a:r>
          </a:p>
        </p:txBody>
      </p:sp>
      <p:sp>
        <p:nvSpPr>
          <p:cNvPr id="18" name="Rectangle 17">
            <a:extLst>
              <a:ext uri="{FF2B5EF4-FFF2-40B4-BE49-F238E27FC236}">
                <a16:creationId xmlns:a16="http://schemas.microsoft.com/office/drawing/2014/main" id="{04166E1C-DE2E-5165-515B-6DCF41316AB8}"/>
              </a:ext>
            </a:extLst>
          </p:cNvPr>
          <p:cNvSpPr>
            <a:spLocks/>
          </p:cNvSpPr>
          <p:nvPr/>
        </p:nvSpPr>
        <p:spPr>
          <a:xfrm>
            <a:off x="940249" y="3586412"/>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3S - Scrub</a:t>
            </a:r>
          </a:p>
        </p:txBody>
      </p:sp>
      <p:sp>
        <p:nvSpPr>
          <p:cNvPr id="19" name="Rectangle 18">
            <a:extLst>
              <a:ext uri="{FF2B5EF4-FFF2-40B4-BE49-F238E27FC236}">
                <a16:creationId xmlns:a16="http://schemas.microsoft.com/office/drawing/2014/main" id="{4B602BE5-7414-9257-9501-3665A565B44C}"/>
              </a:ext>
            </a:extLst>
          </p:cNvPr>
          <p:cNvSpPr/>
          <p:nvPr/>
        </p:nvSpPr>
        <p:spPr>
          <a:xfrm>
            <a:off x="940249" y="4401768"/>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4S - Stabilize</a:t>
            </a:r>
          </a:p>
        </p:txBody>
      </p:sp>
      <p:sp>
        <p:nvSpPr>
          <p:cNvPr id="21" name="Rectangle 20">
            <a:extLst>
              <a:ext uri="{FF2B5EF4-FFF2-40B4-BE49-F238E27FC236}">
                <a16:creationId xmlns:a16="http://schemas.microsoft.com/office/drawing/2014/main" id="{0CC760C4-5A3C-A15B-3330-4EAF983076B7}"/>
              </a:ext>
            </a:extLst>
          </p:cNvPr>
          <p:cNvSpPr>
            <a:spLocks/>
          </p:cNvSpPr>
          <p:nvPr/>
        </p:nvSpPr>
        <p:spPr>
          <a:xfrm>
            <a:off x="940249" y="5217125"/>
            <a:ext cx="5722970"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5S - Sustain</a:t>
            </a:r>
          </a:p>
        </p:txBody>
      </p:sp>
      <p:grpSp>
        <p:nvGrpSpPr>
          <p:cNvPr id="3" name="Group 2">
            <a:extLst>
              <a:ext uri="{FF2B5EF4-FFF2-40B4-BE49-F238E27FC236}">
                <a16:creationId xmlns:a16="http://schemas.microsoft.com/office/drawing/2014/main" id="{34336E33-7DA4-D294-02BE-E48070ABC227}"/>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6C440E8D-7ED5-504D-B968-2837080BC84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138640DA-1229-3E1A-242D-D81D7014ED16}"/>
                </a:ext>
              </a:extLst>
            </p:cNvPr>
            <p:cNvGrpSpPr/>
            <p:nvPr/>
          </p:nvGrpSpPr>
          <p:grpSpPr>
            <a:xfrm>
              <a:off x="940249" y="315206"/>
              <a:ext cx="746492" cy="265062"/>
              <a:chOff x="940249" y="315206"/>
              <a:chExt cx="746492" cy="265062"/>
            </a:xfrm>
          </p:grpSpPr>
          <p:sp>
            <p:nvSpPr>
              <p:cNvPr id="12" name="AutoShape 11">
                <a:extLst>
                  <a:ext uri="{FF2B5EF4-FFF2-40B4-BE49-F238E27FC236}">
                    <a16:creationId xmlns:a16="http://schemas.microsoft.com/office/drawing/2014/main" id="{1591C2C8-E109-3601-9F61-5603F6D989FA}"/>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5E45C12B-E50E-E1C1-11F4-ECB0F83ECE28}"/>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388625039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5S Defined</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65</a:t>
            </a:fld>
            <a:endParaRPr lang="en-US"/>
          </a:p>
        </p:txBody>
      </p:sp>
      <p:sp>
        <p:nvSpPr>
          <p:cNvPr id="3" name="TextBox 2">
            <a:extLst>
              <a:ext uri="{FF2B5EF4-FFF2-40B4-BE49-F238E27FC236}">
                <a16:creationId xmlns:a16="http://schemas.microsoft.com/office/drawing/2014/main" id="{75296461-D27A-3C58-A14D-461C8B6B2E9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5" name="Group 4">
            <a:extLst>
              <a:ext uri="{FF2B5EF4-FFF2-40B4-BE49-F238E27FC236}">
                <a16:creationId xmlns:a16="http://schemas.microsoft.com/office/drawing/2014/main" id="{76D1D5F1-97EE-0F52-5D6D-83F8075EED16}"/>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7FEA9193-ACAB-1BEF-D945-4CFE87A51CC4}"/>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 name="Group 6">
              <a:extLst>
                <a:ext uri="{FF2B5EF4-FFF2-40B4-BE49-F238E27FC236}">
                  <a16:creationId xmlns:a16="http://schemas.microsoft.com/office/drawing/2014/main" id="{C856A577-5930-F4F8-32A3-39ABAB751BFE}"/>
                </a:ext>
              </a:extLst>
            </p:cNvPr>
            <p:cNvGrpSpPr/>
            <p:nvPr/>
          </p:nvGrpSpPr>
          <p:grpSpPr>
            <a:xfrm>
              <a:off x="940249" y="315206"/>
              <a:ext cx="746492" cy="265062"/>
              <a:chOff x="940249" y="315206"/>
              <a:chExt cx="746492" cy="265062"/>
            </a:xfrm>
          </p:grpSpPr>
          <p:sp>
            <p:nvSpPr>
              <p:cNvPr id="8" name="AutoShape 11">
                <a:extLst>
                  <a:ext uri="{FF2B5EF4-FFF2-40B4-BE49-F238E27FC236}">
                    <a16:creationId xmlns:a16="http://schemas.microsoft.com/office/drawing/2014/main" id="{3E656630-0CB9-DC5A-7782-532DE1F01157}"/>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0">
                <a:extLst>
                  <a:ext uri="{FF2B5EF4-FFF2-40B4-BE49-F238E27FC236}">
                    <a16:creationId xmlns:a16="http://schemas.microsoft.com/office/drawing/2014/main" id="{CDBAFF34-1A84-1872-51A9-FC0684245C51}"/>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0" name="Rectangle 3">
            <a:extLst>
              <a:ext uri="{FF2B5EF4-FFF2-40B4-BE49-F238E27FC236}">
                <a16:creationId xmlns:a16="http://schemas.microsoft.com/office/drawing/2014/main" id="{436AA8F3-5270-108F-7E1F-D18ADC75D8E9}"/>
              </a:ext>
            </a:extLst>
          </p:cNvPr>
          <p:cNvSpPr>
            <a:spLocks noChangeArrowheads="1"/>
          </p:cNvSpPr>
          <p:nvPr/>
        </p:nvSpPr>
        <p:spPr bwMode="auto">
          <a:xfrm>
            <a:off x="4700906" y="2808593"/>
            <a:ext cx="3251792"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SHITUSKE</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Sustaining discipline. Refers to maintaining standards and keeping the facility in safe and efficient order day after day, year after year. </a:t>
            </a:r>
          </a:p>
        </p:txBody>
      </p:sp>
      <p:sp>
        <p:nvSpPr>
          <p:cNvPr id="11" name="Rectangle 4">
            <a:extLst>
              <a:ext uri="{FF2B5EF4-FFF2-40B4-BE49-F238E27FC236}">
                <a16:creationId xmlns:a16="http://schemas.microsoft.com/office/drawing/2014/main" id="{D6A26AF8-AF73-E774-9AA5-80F2C8E80080}"/>
              </a:ext>
            </a:extLst>
          </p:cNvPr>
          <p:cNvSpPr>
            <a:spLocks noChangeArrowheads="1"/>
          </p:cNvSpPr>
          <p:nvPr/>
        </p:nvSpPr>
        <p:spPr bwMode="auto">
          <a:xfrm>
            <a:off x="7924449" y="2808593"/>
            <a:ext cx="3587115"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Develop a habit of sorting, straightening, scrubbing, and stabilizing your workplace</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Everyone has to accept 5S as a personal goal</a:t>
            </a:r>
          </a:p>
        </p:txBody>
      </p:sp>
      <p:sp>
        <p:nvSpPr>
          <p:cNvPr id="12" name="Rectangle 5">
            <a:extLst>
              <a:ext uri="{FF2B5EF4-FFF2-40B4-BE49-F238E27FC236}">
                <a16:creationId xmlns:a16="http://schemas.microsoft.com/office/drawing/2014/main" id="{6C0D4673-0DC6-5CE2-B500-02FD6C00A465}"/>
              </a:ext>
            </a:extLst>
          </p:cNvPr>
          <p:cNvSpPr>
            <a:spLocks noChangeArrowheads="1"/>
          </p:cNvSpPr>
          <p:nvPr/>
        </p:nvSpPr>
        <p:spPr bwMode="auto">
          <a:xfrm>
            <a:off x="900113" y="2808446"/>
            <a:ext cx="3239374" cy="1021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1438" tIns="36512" rIns="71438" bIns="36512">
            <a:spAutoFit/>
          </a:bodyPr>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SUSTAIN</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Achieving the discipline or habit of properly maintaining the correct 5S procedures</a:t>
            </a:r>
          </a:p>
        </p:txBody>
      </p:sp>
      <p:grpSp>
        <p:nvGrpSpPr>
          <p:cNvPr id="13" name="Group 6">
            <a:extLst>
              <a:ext uri="{FF2B5EF4-FFF2-40B4-BE49-F238E27FC236}">
                <a16:creationId xmlns:a16="http://schemas.microsoft.com/office/drawing/2014/main" id="{105B75E2-DC6A-6393-4D85-32BE8453D729}"/>
              </a:ext>
            </a:extLst>
          </p:cNvPr>
          <p:cNvGrpSpPr>
            <a:grpSpLocks/>
          </p:cNvGrpSpPr>
          <p:nvPr/>
        </p:nvGrpSpPr>
        <p:grpSpPr bwMode="auto">
          <a:xfrm>
            <a:off x="838200" y="1962308"/>
            <a:ext cx="10777901" cy="625475"/>
            <a:chOff x="311" y="1012"/>
            <a:chExt cx="3908" cy="394"/>
          </a:xfrm>
        </p:grpSpPr>
        <p:sp>
          <p:nvSpPr>
            <p:cNvPr id="14" name="AutoShape 7">
              <a:extLst>
                <a:ext uri="{FF2B5EF4-FFF2-40B4-BE49-F238E27FC236}">
                  <a16:creationId xmlns:a16="http://schemas.microsoft.com/office/drawing/2014/main" id="{129DC9E6-6C48-FCC8-3A9B-914A29E7578A}"/>
                </a:ext>
              </a:extLst>
            </p:cNvPr>
            <p:cNvSpPr>
              <a:spLocks noChangeArrowheads="1"/>
            </p:cNvSpPr>
            <p:nvPr/>
          </p:nvSpPr>
          <p:spPr bwMode="auto">
            <a:xfrm>
              <a:off x="2694" y="1012"/>
              <a:ext cx="1525" cy="394"/>
            </a:xfrm>
            <a:prstGeom prst="homePlate">
              <a:avLst>
                <a:gd name="adj" fmla="val 57790"/>
              </a:avLst>
            </a:prstGeom>
            <a:solidFill>
              <a:schemeClr val="accent1"/>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Objective </a:t>
              </a:r>
              <a:br>
                <a:rPr lang="en-US" altLang="en-US" sz="1800" dirty="0">
                  <a:solidFill>
                    <a:schemeClr val="bg1"/>
                  </a:solidFill>
                  <a:latin typeface="Roboto" panose="02000000000000000000" pitchFamily="2" charset="0"/>
                  <a:ea typeface="Roboto" panose="02000000000000000000" pitchFamily="2" charset="0"/>
                </a:rPr>
              </a:br>
              <a:r>
                <a:rPr lang="en-US" altLang="en-US" sz="1800" dirty="0">
                  <a:solidFill>
                    <a:schemeClr val="bg1"/>
                  </a:solidFill>
                  <a:latin typeface="Roboto" panose="02000000000000000000" pitchFamily="2" charset="0"/>
                  <a:ea typeface="Roboto" panose="02000000000000000000" pitchFamily="2" charset="0"/>
                </a:rPr>
                <a:t>of 5S</a:t>
              </a:r>
            </a:p>
          </p:txBody>
        </p:sp>
        <p:sp>
          <p:nvSpPr>
            <p:cNvPr id="15" name="AutoShape 8">
              <a:extLst>
                <a:ext uri="{FF2B5EF4-FFF2-40B4-BE49-F238E27FC236}">
                  <a16:creationId xmlns:a16="http://schemas.microsoft.com/office/drawing/2014/main" id="{277A3B52-36CA-686D-6983-15D004C29E47}"/>
                </a:ext>
              </a:extLst>
            </p:cNvPr>
            <p:cNvSpPr>
              <a:spLocks noChangeArrowheads="1"/>
            </p:cNvSpPr>
            <p:nvPr/>
          </p:nvSpPr>
          <p:spPr bwMode="auto">
            <a:xfrm>
              <a:off x="1549" y="1012"/>
              <a:ext cx="1472" cy="394"/>
            </a:xfrm>
            <a:prstGeom prst="homePlate">
              <a:avLst>
                <a:gd name="adj" fmla="val 48586"/>
              </a:avLst>
            </a:prstGeom>
            <a:solidFill>
              <a:schemeClr val="accent1"/>
            </a:solidFill>
            <a:ln w="19050">
              <a:solidFill>
                <a:schemeClr val="bg1"/>
              </a:solidFill>
              <a:miter lim="800000"/>
              <a:headEnd/>
              <a:tailEnd/>
            </a:ln>
          </p:spPr>
          <p:txBody>
            <a:bodyPr lIns="45720" tIns="46038" rIns="45720" bIns="46038" anchor="ctr"/>
            <a:lstStyle>
              <a:lvl1pPr marL="17145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 Japanese: SHITSUKE </a:t>
              </a:r>
            </a:p>
          </p:txBody>
        </p:sp>
        <p:sp>
          <p:nvSpPr>
            <p:cNvPr id="16" name="AutoShape 9">
              <a:extLst>
                <a:ext uri="{FF2B5EF4-FFF2-40B4-BE49-F238E27FC236}">
                  <a16:creationId xmlns:a16="http://schemas.microsoft.com/office/drawing/2014/main" id="{0F61DD03-FD3F-FBCF-67DD-E39974B5C6B0}"/>
                </a:ext>
              </a:extLst>
            </p:cNvPr>
            <p:cNvSpPr>
              <a:spLocks noChangeArrowheads="1"/>
            </p:cNvSpPr>
            <p:nvPr/>
          </p:nvSpPr>
          <p:spPr bwMode="auto">
            <a:xfrm>
              <a:off x="311" y="1012"/>
              <a:ext cx="1469" cy="394"/>
            </a:xfrm>
            <a:prstGeom prst="homePlate">
              <a:avLst>
                <a:gd name="adj" fmla="val 54200"/>
              </a:avLst>
            </a:prstGeom>
            <a:solidFill>
              <a:schemeClr val="accent1"/>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English: SUSTAIN</a:t>
              </a:r>
            </a:p>
          </p:txBody>
        </p:sp>
      </p:grpSp>
      <p:sp>
        <p:nvSpPr>
          <p:cNvPr id="17" name="AutoShape 10">
            <a:extLst>
              <a:ext uri="{FF2B5EF4-FFF2-40B4-BE49-F238E27FC236}">
                <a16:creationId xmlns:a16="http://schemas.microsoft.com/office/drawing/2014/main" id="{BD380F9A-F259-E8AA-00B4-6567920E9E99}"/>
              </a:ext>
            </a:extLst>
          </p:cNvPr>
          <p:cNvSpPr>
            <a:spLocks noChangeArrowheads="1"/>
          </p:cNvSpPr>
          <p:nvPr/>
        </p:nvSpPr>
        <p:spPr bwMode="auto">
          <a:xfrm>
            <a:off x="900113" y="5540828"/>
            <a:ext cx="10697177" cy="520700"/>
          </a:xfrm>
          <a:prstGeom prst="homePlate">
            <a:avLst>
              <a:gd name="adj" fmla="val 32169"/>
            </a:avLst>
          </a:prstGeom>
          <a:solidFill>
            <a:schemeClr val="tx2"/>
          </a:solidFill>
          <a:ln>
            <a:noFill/>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5S is about changing the discipline of your culture</a:t>
            </a:r>
          </a:p>
        </p:txBody>
      </p:sp>
    </p:spTree>
    <p:extLst>
      <p:ext uri="{BB962C8B-B14F-4D97-AF65-F5344CB8AC3E}">
        <p14:creationId xmlns:p14="http://schemas.microsoft.com/office/powerpoint/2010/main" val="206498572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ea typeface="ＭＳ Ｐゴシック" panose="020B0600070205080204" pitchFamily="34" charset="-128"/>
              </a:rPr>
              <a:t>5S Strategy</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Discipline yourself to maintain 5S procedures</a:t>
            </a:r>
          </a:p>
          <a:p>
            <a:r>
              <a:rPr lang="en-US" dirty="0"/>
              <a:t>Proliferate 5S across entire business</a:t>
            </a:r>
          </a:p>
          <a:p>
            <a:r>
              <a:rPr lang="en-US" dirty="0"/>
              <a:t>Hold each other accountable for sustainability</a:t>
            </a:r>
          </a:p>
          <a:p>
            <a:r>
              <a:rPr lang="en-US" dirty="0"/>
              <a:t>Set high standards for yourself and good example for others</a:t>
            </a:r>
          </a:p>
          <a:p>
            <a:r>
              <a:rPr lang="en-US" dirty="0"/>
              <a:t>Management must lead the way</a:t>
            </a:r>
          </a:p>
          <a:p>
            <a:r>
              <a:rPr lang="en-US" dirty="0"/>
              <a:t>Set the standard to benchmark</a:t>
            </a:r>
          </a:p>
          <a:p>
            <a:r>
              <a:rPr lang="en-US" dirty="0"/>
              <a:t>Include 5S in performance reviews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66</a:t>
            </a:fld>
            <a:endParaRPr lang="en-US"/>
          </a:p>
        </p:txBody>
      </p:sp>
      <p:sp>
        <p:nvSpPr>
          <p:cNvPr id="4" name="TextBox 3">
            <a:extLst>
              <a:ext uri="{FF2B5EF4-FFF2-40B4-BE49-F238E27FC236}">
                <a16:creationId xmlns:a16="http://schemas.microsoft.com/office/drawing/2014/main" id="{3FF89735-3E72-987A-C4E7-B1FDE47A50C3}"/>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6" name="Group 5">
            <a:extLst>
              <a:ext uri="{FF2B5EF4-FFF2-40B4-BE49-F238E27FC236}">
                <a16:creationId xmlns:a16="http://schemas.microsoft.com/office/drawing/2014/main" id="{895A1E22-3A20-5666-B4F3-71A547F45291}"/>
              </a:ext>
            </a:extLst>
          </p:cNvPr>
          <p:cNvGrpSpPr/>
          <p:nvPr/>
        </p:nvGrpSpPr>
        <p:grpSpPr>
          <a:xfrm>
            <a:off x="940249" y="302538"/>
            <a:ext cx="1060167" cy="290657"/>
            <a:chOff x="940249" y="315206"/>
            <a:chExt cx="1060167" cy="265062"/>
          </a:xfrm>
        </p:grpSpPr>
        <p:sp>
          <p:nvSpPr>
            <p:cNvPr id="7" name="AutoShape 9">
              <a:extLst>
                <a:ext uri="{FF2B5EF4-FFF2-40B4-BE49-F238E27FC236}">
                  <a16:creationId xmlns:a16="http://schemas.microsoft.com/office/drawing/2014/main" id="{5868EF84-EDCA-139B-E69B-434D0F25E7BF}"/>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1A934946-9220-B57F-4BCE-A0A7020FA0E6}"/>
                </a:ext>
              </a:extLst>
            </p:cNvPr>
            <p:cNvGrpSpPr/>
            <p:nvPr/>
          </p:nvGrpSpPr>
          <p:grpSpPr>
            <a:xfrm>
              <a:off x="940249" y="315206"/>
              <a:ext cx="746492" cy="265062"/>
              <a:chOff x="940249" y="315206"/>
              <a:chExt cx="746492" cy="265062"/>
            </a:xfrm>
          </p:grpSpPr>
          <p:sp>
            <p:nvSpPr>
              <p:cNvPr id="9" name="AutoShape 11">
                <a:extLst>
                  <a:ext uri="{FF2B5EF4-FFF2-40B4-BE49-F238E27FC236}">
                    <a16:creationId xmlns:a16="http://schemas.microsoft.com/office/drawing/2014/main" id="{24E034DB-D9B1-37D7-45F7-88DCE463D8AE}"/>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0">
                <a:extLst>
                  <a:ext uri="{FF2B5EF4-FFF2-40B4-BE49-F238E27FC236}">
                    <a16:creationId xmlns:a16="http://schemas.microsoft.com/office/drawing/2014/main" id="{C49C55FC-FBBC-96B1-3F24-F6144212C2C1}"/>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67795316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ea typeface="ＭＳ Ｐゴシック" panose="020B0600070205080204" pitchFamily="34" charset="-128"/>
              </a:rPr>
              <a:t>5S Rules of Discipline</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Keep it simple</a:t>
            </a:r>
          </a:p>
          <a:p>
            <a:r>
              <a:rPr lang="en-US" dirty="0"/>
              <a:t>Make it visual</a:t>
            </a:r>
          </a:p>
          <a:p>
            <a:r>
              <a:rPr lang="en-US" dirty="0"/>
              <a:t>Accept feedback and give it constructively</a:t>
            </a:r>
          </a:p>
          <a:p>
            <a:r>
              <a:rPr lang="en-US" dirty="0"/>
              <a:t>Correct problems immediately</a:t>
            </a:r>
          </a:p>
          <a:p>
            <a:r>
              <a:rPr lang="en-US" dirty="0"/>
              <a:t>Use 5W1H to address source of disorder or dirt</a:t>
            </a:r>
          </a:p>
          <a:p>
            <a:r>
              <a:rPr lang="en-US" dirty="0"/>
              <a:t>Energize yourself!  Improvement requires effort and effort requires enthusiasm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67</a:t>
            </a:fld>
            <a:endParaRPr lang="en-US"/>
          </a:p>
        </p:txBody>
      </p:sp>
      <p:sp>
        <p:nvSpPr>
          <p:cNvPr id="4" name="TextBox 3">
            <a:extLst>
              <a:ext uri="{FF2B5EF4-FFF2-40B4-BE49-F238E27FC236}">
                <a16:creationId xmlns:a16="http://schemas.microsoft.com/office/drawing/2014/main" id="{3FF89735-3E72-987A-C4E7-B1FDE47A50C3}"/>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6" name="Group 5">
            <a:extLst>
              <a:ext uri="{FF2B5EF4-FFF2-40B4-BE49-F238E27FC236}">
                <a16:creationId xmlns:a16="http://schemas.microsoft.com/office/drawing/2014/main" id="{895A1E22-3A20-5666-B4F3-71A547F45291}"/>
              </a:ext>
            </a:extLst>
          </p:cNvPr>
          <p:cNvGrpSpPr/>
          <p:nvPr/>
        </p:nvGrpSpPr>
        <p:grpSpPr>
          <a:xfrm>
            <a:off x="940249" y="302538"/>
            <a:ext cx="1060167" cy="290657"/>
            <a:chOff x="940249" y="315206"/>
            <a:chExt cx="1060167" cy="265062"/>
          </a:xfrm>
        </p:grpSpPr>
        <p:sp>
          <p:nvSpPr>
            <p:cNvPr id="7" name="AutoShape 9">
              <a:extLst>
                <a:ext uri="{FF2B5EF4-FFF2-40B4-BE49-F238E27FC236}">
                  <a16:creationId xmlns:a16="http://schemas.microsoft.com/office/drawing/2014/main" id="{5868EF84-EDCA-139B-E69B-434D0F25E7BF}"/>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1A934946-9220-B57F-4BCE-A0A7020FA0E6}"/>
                </a:ext>
              </a:extLst>
            </p:cNvPr>
            <p:cNvGrpSpPr/>
            <p:nvPr/>
          </p:nvGrpSpPr>
          <p:grpSpPr>
            <a:xfrm>
              <a:off x="940249" y="315206"/>
              <a:ext cx="746492" cy="265062"/>
              <a:chOff x="940249" y="315206"/>
              <a:chExt cx="746492" cy="265062"/>
            </a:xfrm>
          </p:grpSpPr>
          <p:sp>
            <p:nvSpPr>
              <p:cNvPr id="9" name="AutoShape 11">
                <a:extLst>
                  <a:ext uri="{FF2B5EF4-FFF2-40B4-BE49-F238E27FC236}">
                    <a16:creationId xmlns:a16="http://schemas.microsoft.com/office/drawing/2014/main" id="{24E034DB-D9B1-37D7-45F7-88DCE463D8AE}"/>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0">
                <a:extLst>
                  <a:ext uri="{FF2B5EF4-FFF2-40B4-BE49-F238E27FC236}">
                    <a16:creationId xmlns:a16="http://schemas.microsoft.com/office/drawing/2014/main" id="{C49C55FC-FBBC-96B1-3F24-F6144212C2C1}"/>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4739465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4000" dirty="0">
                <a:latin typeface="Roboto Medium"/>
                <a:ea typeface="Roboto Medium"/>
                <a:cs typeface="Roboto Medium"/>
              </a:rPr>
              <a:t>Exercise: 5S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68</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Quantify benefits and perform audits of other teams’ areas.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review your list of wastes from 1S activity and quantify benefits of your event success (include estimated time savings, defect reduction, computer downtime, customer perceptions, pride and personal satisfaction).</a:t>
            </a:r>
          </a:p>
          <a:p>
            <a:pPr marL="0" marR="0" indent="0" algn="l" defTabSz="584200" rtl="0" fontAlgn="auto" latinLnBrk="0" hangingPunct="0">
              <a:lnSpc>
                <a:spcPct val="100000"/>
              </a:lnSpc>
              <a:spcBef>
                <a:spcPts val="0"/>
              </a:spcBef>
              <a:spcAft>
                <a:spcPts val="0"/>
              </a:spcAft>
              <a:buClrTx/>
              <a:buSzTx/>
              <a:buFontTx/>
              <a:buNone/>
              <a:tabLst/>
            </a:pPr>
            <a:b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Perform objective audit using the 5S Patrol Checklist of the other team’s areas, providing very specific feedback and ideas for improvement.</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60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1210588"/>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Measurable results obtained by event and thoughtful feedback for other teams</a:t>
            </a:r>
          </a:p>
        </p:txBody>
      </p:sp>
      <p:sp>
        <p:nvSpPr>
          <p:cNvPr id="9" name="TextBox 8">
            <a:extLst>
              <a:ext uri="{FF2B5EF4-FFF2-40B4-BE49-F238E27FC236}">
                <a16:creationId xmlns:a16="http://schemas.microsoft.com/office/drawing/2014/main" id="{985AA00D-A29D-6544-7130-516B09E40D2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10" name="Group 9">
            <a:extLst>
              <a:ext uri="{FF2B5EF4-FFF2-40B4-BE49-F238E27FC236}">
                <a16:creationId xmlns:a16="http://schemas.microsoft.com/office/drawing/2014/main" id="{B624FD29-6362-899C-35BD-CD83F08220E5}"/>
              </a:ext>
            </a:extLst>
          </p:cNvPr>
          <p:cNvGrpSpPr/>
          <p:nvPr/>
        </p:nvGrpSpPr>
        <p:grpSpPr>
          <a:xfrm>
            <a:off x="940249" y="302538"/>
            <a:ext cx="1060167" cy="290657"/>
            <a:chOff x="940249" y="315206"/>
            <a:chExt cx="1060167" cy="265062"/>
          </a:xfrm>
        </p:grpSpPr>
        <p:sp>
          <p:nvSpPr>
            <p:cNvPr id="19" name="AutoShape 9">
              <a:extLst>
                <a:ext uri="{FF2B5EF4-FFF2-40B4-BE49-F238E27FC236}">
                  <a16:creationId xmlns:a16="http://schemas.microsoft.com/office/drawing/2014/main" id="{FDF31AEA-B9A3-8ED4-A650-A6E999D87FF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37DB9D66-3761-99F8-976C-54CBE50C471B}"/>
                </a:ext>
              </a:extLst>
            </p:cNvPr>
            <p:cNvGrpSpPr/>
            <p:nvPr/>
          </p:nvGrpSpPr>
          <p:grpSpPr>
            <a:xfrm>
              <a:off x="940249" y="315206"/>
              <a:ext cx="746492" cy="265062"/>
              <a:chOff x="940249" y="315206"/>
              <a:chExt cx="746492" cy="265062"/>
            </a:xfrm>
          </p:grpSpPr>
          <p:sp>
            <p:nvSpPr>
              <p:cNvPr id="21" name="AutoShape 11">
                <a:extLst>
                  <a:ext uri="{FF2B5EF4-FFF2-40B4-BE49-F238E27FC236}">
                    <a16:creationId xmlns:a16="http://schemas.microsoft.com/office/drawing/2014/main" id="{AD50B12C-C902-7D27-4E1C-060FF711BA72}"/>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0">
                <a:extLst>
                  <a:ext uri="{FF2B5EF4-FFF2-40B4-BE49-F238E27FC236}">
                    <a16:creationId xmlns:a16="http://schemas.microsoft.com/office/drawing/2014/main" id="{74EC2DCA-13CD-8D1B-5812-649364398B06}"/>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61209363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5S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Review 5S Process</a:t>
            </a:r>
          </a:p>
          <a:p>
            <a:r>
              <a:rPr lang="en-US" sz="2400" dirty="0"/>
              <a:t>Define relationship of 5S to lean business system</a:t>
            </a:r>
          </a:p>
          <a:p>
            <a:r>
              <a:rPr lang="en-US" sz="2400" dirty="0"/>
              <a:t>Identify common pitfalls when implementing 5S</a:t>
            </a:r>
          </a:p>
          <a:p>
            <a:r>
              <a:rPr lang="en-US" sz="2400" dirty="0"/>
              <a:t>Discuss how to avoid 5S common pitfalls</a:t>
            </a:r>
          </a:p>
          <a:p>
            <a:r>
              <a:rPr lang="en-US" sz="2400" dirty="0"/>
              <a:t>Review key learnings</a:t>
            </a:r>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1157C199-7442-CD49-CE0F-E180C6F3CECC}"/>
              </a:ext>
            </a:extLst>
          </p:cNvPr>
          <p:cNvGrpSpPr/>
          <p:nvPr/>
        </p:nvGrpSpPr>
        <p:grpSpPr>
          <a:xfrm>
            <a:off x="699911" y="837133"/>
            <a:ext cx="4425950" cy="659879"/>
            <a:chOff x="5627530" y="641179"/>
            <a:chExt cx="6564470"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6"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5S Review</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5S Process</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5S Definition</a:t>
              </a:r>
            </a:p>
          </p:txBody>
        </p:sp>
      </p:grpSp>
    </p:spTree>
    <p:extLst>
      <p:ext uri="{BB962C8B-B14F-4D97-AF65-F5344CB8AC3E}">
        <p14:creationId xmlns:p14="http://schemas.microsoft.com/office/powerpoint/2010/main" val="257081103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Kaizen Results </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70</a:t>
            </a:fld>
            <a:endParaRPr lang="en-US"/>
          </a:p>
        </p:txBody>
      </p:sp>
      <p:pic>
        <p:nvPicPr>
          <p:cNvPr id="3" name="Picture 4" descr="Kaizen Results Form">
            <a:extLst>
              <a:ext uri="{FF2B5EF4-FFF2-40B4-BE49-F238E27FC236}">
                <a16:creationId xmlns:a16="http://schemas.microsoft.com/office/drawing/2014/main" id="{3AB5E2E7-7207-91DA-6CB8-48836AB5A99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9767"/>
          <a:stretch/>
        </p:blipFill>
        <p:spPr bwMode="auto">
          <a:xfrm>
            <a:off x="2691924" y="1745636"/>
            <a:ext cx="6808152" cy="4532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648E12D6-0072-CA1D-3FF0-D050BF47860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Review</a:t>
            </a:r>
          </a:p>
        </p:txBody>
      </p:sp>
      <p:grpSp>
        <p:nvGrpSpPr>
          <p:cNvPr id="6" name="Group 5">
            <a:extLst>
              <a:ext uri="{FF2B5EF4-FFF2-40B4-BE49-F238E27FC236}">
                <a16:creationId xmlns:a16="http://schemas.microsoft.com/office/drawing/2014/main" id="{5429DA8E-1F64-11D7-00CC-25521F68C519}"/>
              </a:ext>
            </a:extLst>
          </p:cNvPr>
          <p:cNvGrpSpPr/>
          <p:nvPr/>
        </p:nvGrpSpPr>
        <p:grpSpPr>
          <a:xfrm>
            <a:off x="940249" y="302538"/>
            <a:ext cx="1060167" cy="290657"/>
            <a:chOff x="940249" y="315206"/>
            <a:chExt cx="1060167" cy="265062"/>
          </a:xfrm>
        </p:grpSpPr>
        <p:sp>
          <p:nvSpPr>
            <p:cNvPr id="7" name="AutoShape 9">
              <a:extLst>
                <a:ext uri="{FF2B5EF4-FFF2-40B4-BE49-F238E27FC236}">
                  <a16:creationId xmlns:a16="http://schemas.microsoft.com/office/drawing/2014/main" id="{B46BEF4D-9C4F-EF4A-3B99-A8642D481E12}"/>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8" name="Group 7">
              <a:extLst>
                <a:ext uri="{FF2B5EF4-FFF2-40B4-BE49-F238E27FC236}">
                  <a16:creationId xmlns:a16="http://schemas.microsoft.com/office/drawing/2014/main" id="{784C9017-E5C0-4EF1-9DB0-92795FB5FF41}"/>
                </a:ext>
              </a:extLst>
            </p:cNvPr>
            <p:cNvGrpSpPr/>
            <p:nvPr/>
          </p:nvGrpSpPr>
          <p:grpSpPr>
            <a:xfrm>
              <a:off x="940249" y="315206"/>
              <a:ext cx="746492" cy="265062"/>
              <a:chOff x="940249" y="315206"/>
              <a:chExt cx="746492" cy="265062"/>
            </a:xfrm>
          </p:grpSpPr>
          <p:sp>
            <p:nvSpPr>
              <p:cNvPr id="9" name="AutoShape 11">
                <a:extLst>
                  <a:ext uri="{FF2B5EF4-FFF2-40B4-BE49-F238E27FC236}">
                    <a16:creationId xmlns:a16="http://schemas.microsoft.com/office/drawing/2014/main" id="{C475E3D6-144C-808F-54C2-FDBAD04E56A0}"/>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B13E0F70-23B4-F006-6207-564919EE147C}"/>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42865045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altLang="en-US" sz="3600" dirty="0">
                <a:ea typeface="ＭＳ Ｐゴシック" panose="020B0600070205080204" pitchFamily="34" charset="-128"/>
              </a:rPr>
              <a:t>Prepare for Final Report-Out to Management</a:t>
            </a:r>
            <a:endParaRPr lang="en-US" sz="3600"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r>
              <a:rPr lang="en-US" dirty="0"/>
              <a:t>All team members should contribute to the final report-out presentation to management</a:t>
            </a:r>
          </a:p>
          <a:p>
            <a:r>
              <a:rPr lang="en-US" dirty="0"/>
              <a:t>Report-out should include</a:t>
            </a:r>
          </a:p>
          <a:p>
            <a:pPr lvl="1"/>
            <a:r>
              <a:rPr lang="en-US" dirty="0"/>
              <a:t>Introduction of Team</a:t>
            </a:r>
          </a:p>
          <a:p>
            <a:pPr lvl="1"/>
            <a:r>
              <a:rPr lang="en-US" dirty="0"/>
              <a:t>Review of Event goals and objectives</a:t>
            </a:r>
          </a:p>
          <a:p>
            <a:pPr lvl="1"/>
            <a:r>
              <a:rPr lang="en-US" dirty="0"/>
              <a:t>Review of Former Process and Documentation Forms</a:t>
            </a:r>
          </a:p>
          <a:p>
            <a:pPr lvl="1"/>
            <a:r>
              <a:rPr lang="en-US" dirty="0"/>
              <a:t>Review of Improvement Opportunities Identified and Implemented</a:t>
            </a:r>
          </a:p>
          <a:p>
            <a:pPr lvl="1"/>
            <a:r>
              <a:rPr lang="en-US" dirty="0"/>
              <a:t>Review of Documentation and Kaizen Results Form</a:t>
            </a:r>
          </a:p>
          <a:p>
            <a:pPr lvl="1"/>
            <a:r>
              <a:rPr lang="en-US" dirty="0"/>
              <a:t>Review of Kaizen Newspaper</a:t>
            </a:r>
          </a:p>
          <a:p>
            <a:r>
              <a:rPr lang="en-US" dirty="0"/>
              <a:t>Typical Report-Out times are 15 minutes for presentation and 15 minutes for questions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71</a:t>
            </a:fld>
            <a:endParaRPr lang="en-US"/>
          </a:p>
        </p:txBody>
      </p:sp>
      <p:sp>
        <p:nvSpPr>
          <p:cNvPr id="11" name="TextBox 10">
            <a:extLst>
              <a:ext uri="{FF2B5EF4-FFF2-40B4-BE49-F238E27FC236}">
                <a16:creationId xmlns:a16="http://schemas.microsoft.com/office/drawing/2014/main" id="{54F94DFF-542B-1A3C-1AFF-9CF70B5D5648}"/>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Review</a:t>
            </a:r>
          </a:p>
        </p:txBody>
      </p:sp>
      <p:grpSp>
        <p:nvGrpSpPr>
          <p:cNvPr id="12" name="Group 11">
            <a:extLst>
              <a:ext uri="{FF2B5EF4-FFF2-40B4-BE49-F238E27FC236}">
                <a16:creationId xmlns:a16="http://schemas.microsoft.com/office/drawing/2014/main" id="{7A6F023B-5E31-03F5-9C34-C6F3DC7D6406}"/>
              </a:ext>
            </a:extLst>
          </p:cNvPr>
          <p:cNvGrpSpPr/>
          <p:nvPr/>
        </p:nvGrpSpPr>
        <p:grpSpPr>
          <a:xfrm>
            <a:off x="940249" y="302538"/>
            <a:ext cx="1060167" cy="290657"/>
            <a:chOff x="940249" y="315206"/>
            <a:chExt cx="1060167" cy="265062"/>
          </a:xfrm>
        </p:grpSpPr>
        <p:sp>
          <p:nvSpPr>
            <p:cNvPr id="13" name="AutoShape 9">
              <a:extLst>
                <a:ext uri="{FF2B5EF4-FFF2-40B4-BE49-F238E27FC236}">
                  <a16:creationId xmlns:a16="http://schemas.microsoft.com/office/drawing/2014/main" id="{F7F6D0E9-B307-F394-3297-F34C253E944A}"/>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4" name="Group 13">
              <a:extLst>
                <a:ext uri="{FF2B5EF4-FFF2-40B4-BE49-F238E27FC236}">
                  <a16:creationId xmlns:a16="http://schemas.microsoft.com/office/drawing/2014/main" id="{3F3ED864-DDF9-0475-5BE9-BAF091785AFA}"/>
                </a:ext>
              </a:extLst>
            </p:cNvPr>
            <p:cNvGrpSpPr/>
            <p:nvPr/>
          </p:nvGrpSpPr>
          <p:grpSpPr>
            <a:xfrm>
              <a:off x="940249" y="315206"/>
              <a:ext cx="746492" cy="265062"/>
              <a:chOff x="940249" y="315206"/>
              <a:chExt cx="746492" cy="265062"/>
            </a:xfrm>
          </p:grpSpPr>
          <p:sp>
            <p:nvSpPr>
              <p:cNvPr id="15" name="AutoShape 11">
                <a:extLst>
                  <a:ext uri="{FF2B5EF4-FFF2-40B4-BE49-F238E27FC236}">
                    <a16:creationId xmlns:a16="http://schemas.microsoft.com/office/drawing/2014/main" id="{93E04F85-210C-E794-2771-DB64C6AFF203}"/>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6" name="AutoShape 10">
                <a:extLst>
                  <a:ext uri="{FF2B5EF4-FFF2-40B4-BE49-F238E27FC236}">
                    <a16:creationId xmlns:a16="http://schemas.microsoft.com/office/drawing/2014/main" id="{DFA70FF8-60FF-AC16-87C2-9017CFCA1A14}"/>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53116785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Summary of 5S </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72</a:t>
            </a:fld>
            <a:endParaRPr lang="en-US"/>
          </a:p>
        </p:txBody>
      </p:sp>
      <p:sp>
        <p:nvSpPr>
          <p:cNvPr id="3" name="TextBox 2">
            <a:extLst>
              <a:ext uri="{FF2B5EF4-FFF2-40B4-BE49-F238E27FC236}">
                <a16:creationId xmlns:a16="http://schemas.microsoft.com/office/drawing/2014/main" id="{28548229-DB52-23FD-1EF5-6A96E6D3F10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Review</a:t>
            </a:r>
          </a:p>
        </p:txBody>
      </p:sp>
      <p:grpSp>
        <p:nvGrpSpPr>
          <p:cNvPr id="5" name="Group 4">
            <a:extLst>
              <a:ext uri="{FF2B5EF4-FFF2-40B4-BE49-F238E27FC236}">
                <a16:creationId xmlns:a16="http://schemas.microsoft.com/office/drawing/2014/main" id="{D8A4E04F-4B3E-13A3-6189-E4BDC6765984}"/>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37648AF1-C638-AE04-115D-FCAD6C5D30EE}"/>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F3FEFE9D-91FF-7A6E-7067-E1A13A81E26E}"/>
                </a:ext>
              </a:extLst>
            </p:cNvPr>
            <p:cNvGrpSpPr/>
            <p:nvPr/>
          </p:nvGrpSpPr>
          <p:grpSpPr>
            <a:xfrm>
              <a:off x="940249" y="315206"/>
              <a:ext cx="746492" cy="265062"/>
              <a:chOff x="940249" y="315206"/>
              <a:chExt cx="746492" cy="265062"/>
            </a:xfrm>
          </p:grpSpPr>
          <p:sp>
            <p:nvSpPr>
              <p:cNvPr id="8" name="AutoShape 11">
                <a:extLst>
                  <a:ext uri="{FF2B5EF4-FFF2-40B4-BE49-F238E27FC236}">
                    <a16:creationId xmlns:a16="http://schemas.microsoft.com/office/drawing/2014/main" id="{2A26297C-D73F-9D41-CC6A-8B2827D05BBA}"/>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10">
                <a:extLst>
                  <a:ext uri="{FF2B5EF4-FFF2-40B4-BE49-F238E27FC236}">
                    <a16:creationId xmlns:a16="http://schemas.microsoft.com/office/drawing/2014/main" id="{02FF5B7C-1556-3A75-43D0-DE48BCF4E9E9}"/>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5" name="Rectangle 3">
            <a:extLst>
              <a:ext uri="{FF2B5EF4-FFF2-40B4-BE49-F238E27FC236}">
                <a16:creationId xmlns:a16="http://schemas.microsoft.com/office/drawing/2014/main" id="{216337D0-643E-8329-F9D0-02C43C720B9A}"/>
              </a:ext>
            </a:extLst>
          </p:cNvPr>
          <p:cNvSpPr>
            <a:spLocks noChangeArrowheads="1"/>
          </p:cNvSpPr>
          <p:nvPr/>
        </p:nvSpPr>
        <p:spPr bwMode="auto">
          <a:xfrm>
            <a:off x="1675261" y="2398224"/>
            <a:ext cx="1908175" cy="568325"/>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Sort</a:t>
            </a:r>
          </a:p>
        </p:txBody>
      </p:sp>
      <p:sp>
        <p:nvSpPr>
          <p:cNvPr id="16" name="Rectangle 4">
            <a:extLst>
              <a:ext uri="{FF2B5EF4-FFF2-40B4-BE49-F238E27FC236}">
                <a16:creationId xmlns:a16="http://schemas.microsoft.com/office/drawing/2014/main" id="{0F171AA8-61CC-E1F6-2A18-0DE00C82690C}"/>
              </a:ext>
            </a:extLst>
          </p:cNvPr>
          <p:cNvSpPr>
            <a:spLocks noChangeArrowheads="1"/>
          </p:cNvSpPr>
          <p:nvPr/>
        </p:nvSpPr>
        <p:spPr bwMode="auto">
          <a:xfrm>
            <a:off x="1675261" y="3206262"/>
            <a:ext cx="1908175" cy="568325"/>
          </a:xfrm>
          <a:prstGeom prst="rect">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Straighten</a:t>
            </a:r>
          </a:p>
        </p:txBody>
      </p:sp>
      <p:sp>
        <p:nvSpPr>
          <p:cNvPr id="17" name="Rectangle 5">
            <a:extLst>
              <a:ext uri="{FF2B5EF4-FFF2-40B4-BE49-F238E27FC236}">
                <a16:creationId xmlns:a16="http://schemas.microsoft.com/office/drawing/2014/main" id="{9EF3043B-210F-BC90-D94F-91FC2B0301DE}"/>
              </a:ext>
            </a:extLst>
          </p:cNvPr>
          <p:cNvSpPr>
            <a:spLocks noChangeArrowheads="1"/>
          </p:cNvSpPr>
          <p:nvPr/>
        </p:nvSpPr>
        <p:spPr bwMode="auto">
          <a:xfrm>
            <a:off x="1675261" y="3971437"/>
            <a:ext cx="1908175" cy="568325"/>
          </a:xfrm>
          <a:prstGeom prst="rect">
            <a:avLst/>
          </a:prstGeom>
          <a:solidFill>
            <a:schemeClr val="accent4"/>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Scrub</a:t>
            </a:r>
          </a:p>
        </p:txBody>
      </p:sp>
      <p:sp>
        <p:nvSpPr>
          <p:cNvPr id="18" name="Rectangle 6">
            <a:extLst>
              <a:ext uri="{FF2B5EF4-FFF2-40B4-BE49-F238E27FC236}">
                <a16:creationId xmlns:a16="http://schemas.microsoft.com/office/drawing/2014/main" id="{FAA22436-1D3E-76CA-9574-F8D5423A2542}"/>
              </a:ext>
            </a:extLst>
          </p:cNvPr>
          <p:cNvSpPr>
            <a:spLocks noChangeArrowheads="1"/>
          </p:cNvSpPr>
          <p:nvPr/>
        </p:nvSpPr>
        <p:spPr bwMode="auto">
          <a:xfrm>
            <a:off x="1675261" y="4704862"/>
            <a:ext cx="1908175" cy="568325"/>
          </a:xfrm>
          <a:prstGeom prst="rect">
            <a:avLst/>
          </a:prstGeom>
          <a:solidFill>
            <a:schemeClr val="accent3"/>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Stabilize</a:t>
            </a:r>
          </a:p>
        </p:txBody>
      </p:sp>
      <p:sp>
        <p:nvSpPr>
          <p:cNvPr id="19" name="Line 7">
            <a:extLst>
              <a:ext uri="{FF2B5EF4-FFF2-40B4-BE49-F238E27FC236}">
                <a16:creationId xmlns:a16="http://schemas.microsoft.com/office/drawing/2014/main" id="{81D702B1-138F-17AC-90DA-1A9F184C0B9E}"/>
              </a:ext>
            </a:extLst>
          </p:cNvPr>
          <p:cNvSpPr>
            <a:spLocks noChangeShapeType="1"/>
          </p:cNvSpPr>
          <p:nvPr/>
        </p:nvSpPr>
        <p:spPr bwMode="auto">
          <a:xfrm>
            <a:off x="949774" y="3104662"/>
            <a:ext cx="825023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0" name="Line 8">
            <a:extLst>
              <a:ext uri="{FF2B5EF4-FFF2-40B4-BE49-F238E27FC236}">
                <a16:creationId xmlns:a16="http://schemas.microsoft.com/office/drawing/2014/main" id="{2F228833-447C-7375-6AAB-4D97D1203243}"/>
              </a:ext>
            </a:extLst>
          </p:cNvPr>
          <p:cNvSpPr>
            <a:spLocks noChangeShapeType="1"/>
          </p:cNvSpPr>
          <p:nvPr/>
        </p:nvSpPr>
        <p:spPr bwMode="auto">
          <a:xfrm>
            <a:off x="965649" y="3882537"/>
            <a:ext cx="820578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1" name="Line 9">
            <a:extLst>
              <a:ext uri="{FF2B5EF4-FFF2-40B4-BE49-F238E27FC236}">
                <a16:creationId xmlns:a16="http://schemas.microsoft.com/office/drawing/2014/main" id="{E00BC734-FF28-F831-1B2D-D3AC8F0F5E36}"/>
              </a:ext>
            </a:extLst>
          </p:cNvPr>
          <p:cNvSpPr>
            <a:spLocks noChangeShapeType="1"/>
          </p:cNvSpPr>
          <p:nvPr/>
        </p:nvSpPr>
        <p:spPr bwMode="auto">
          <a:xfrm>
            <a:off x="935486" y="4627074"/>
            <a:ext cx="8235950"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2" name="Line 10">
            <a:extLst>
              <a:ext uri="{FF2B5EF4-FFF2-40B4-BE49-F238E27FC236}">
                <a16:creationId xmlns:a16="http://schemas.microsoft.com/office/drawing/2014/main" id="{61CB5A9E-55B8-941C-0F1E-D473650DB7A8}"/>
              </a:ext>
            </a:extLst>
          </p:cNvPr>
          <p:cNvSpPr>
            <a:spLocks noChangeShapeType="1"/>
          </p:cNvSpPr>
          <p:nvPr/>
        </p:nvSpPr>
        <p:spPr bwMode="auto">
          <a:xfrm>
            <a:off x="951361" y="5416062"/>
            <a:ext cx="8220075"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3" name="Rectangle 11">
            <a:extLst>
              <a:ext uri="{FF2B5EF4-FFF2-40B4-BE49-F238E27FC236}">
                <a16:creationId xmlns:a16="http://schemas.microsoft.com/office/drawing/2014/main" id="{636B8CA2-B38B-A811-4561-CF3D47A0B9E9}"/>
              </a:ext>
            </a:extLst>
          </p:cNvPr>
          <p:cNvSpPr>
            <a:spLocks noChangeArrowheads="1"/>
          </p:cNvSpPr>
          <p:nvPr/>
        </p:nvSpPr>
        <p:spPr bwMode="auto">
          <a:xfrm>
            <a:off x="4116836" y="2380762"/>
            <a:ext cx="4970463" cy="289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accent1"/>
              </a:buClr>
              <a:buSzPct val="40000"/>
              <a:buFont typeface="Wingdings 2" panose="05020102010507070707" pitchFamily="18" charset="2"/>
              <a:buChar char="¢"/>
            </a:pPr>
            <a:r>
              <a:rPr lang="en-US" altLang="en-US" sz="1400">
                <a:latin typeface="Roboto" panose="02000000000000000000" pitchFamily="2" charset="0"/>
                <a:ea typeface="Roboto" panose="02000000000000000000" pitchFamily="2" charset="0"/>
              </a:rPr>
              <a:t>Define what is necessary and unnecessary </a:t>
            </a:r>
            <a:endParaRPr lang="en-US" altLang="en-US" sz="1400" b="0">
              <a:latin typeface="Roboto" panose="02000000000000000000" pitchFamily="2" charset="0"/>
              <a:ea typeface="Roboto" panose="02000000000000000000" pitchFamily="2" charset="0"/>
            </a:endParaRPr>
          </a:p>
        </p:txBody>
      </p:sp>
      <p:sp>
        <p:nvSpPr>
          <p:cNvPr id="24" name="Rectangle 12">
            <a:extLst>
              <a:ext uri="{FF2B5EF4-FFF2-40B4-BE49-F238E27FC236}">
                <a16:creationId xmlns:a16="http://schemas.microsoft.com/office/drawing/2014/main" id="{224A2E66-84DC-468F-C5FF-4F0225F7A789}"/>
              </a:ext>
            </a:extLst>
          </p:cNvPr>
          <p:cNvSpPr>
            <a:spLocks noChangeArrowheads="1"/>
          </p:cNvSpPr>
          <p:nvPr/>
        </p:nvSpPr>
        <p:spPr bwMode="auto">
          <a:xfrm>
            <a:off x="4120011" y="3211024"/>
            <a:ext cx="4981575" cy="289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accent1"/>
              </a:buClr>
              <a:buSzPct val="40000"/>
              <a:buFont typeface="Wingdings 2" panose="05020102010507070707" pitchFamily="18" charset="2"/>
              <a:buChar char="¢"/>
            </a:pPr>
            <a:r>
              <a:rPr lang="en-US" altLang="en-US" sz="1400">
                <a:latin typeface="Roboto" panose="02000000000000000000" pitchFamily="2" charset="0"/>
                <a:ea typeface="Roboto" panose="02000000000000000000" pitchFamily="2" charset="0"/>
              </a:rPr>
              <a:t>A place for everything and everything in its place </a:t>
            </a:r>
            <a:endParaRPr lang="en-US" altLang="en-US" sz="1400" b="0">
              <a:latin typeface="Roboto" panose="02000000000000000000" pitchFamily="2" charset="0"/>
              <a:ea typeface="Roboto" panose="02000000000000000000" pitchFamily="2" charset="0"/>
            </a:endParaRPr>
          </a:p>
        </p:txBody>
      </p:sp>
      <p:sp>
        <p:nvSpPr>
          <p:cNvPr id="25" name="Rectangle 13">
            <a:extLst>
              <a:ext uri="{FF2B5EF4-FFF2-40B4-BE49-F238E27FC236}">
                <a16:creationId xmlns:a16="http://schemas.microsoft.com/office/drawing/2014/main" id="{40343E21-6F0C-0B3C-0BFF-FBD76847D4AE}"/>
              </a:ext>
            </a:extLst>
          </p:cNvPr>
          <p:cNvSpPr>
            <a:spLocks noChangeArrowheads="1"/>
          </p:cNvSpPr>
          <p:nvPr/>
        </p:nvSpPr>
        <p:spPr bwMode="auto">
          <a:xfrm>
            <a:off x="4120011" y="3976199"/>
            <a:ext cx="4970463" cy="289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accent1"/>
              </a:buClr>
              <a:buSzPct val="40000"/>
              <a:buFont typeface="Wingdings 2" panose="05020102010507070707" pitchFamily="18" charset="2"/>
              <a:buChar char="¢"/>
            </a:pPr>
            <a:r>
              <a:rPr lang="en-US" altLang="en-US" sz="1400">
                <a:latin typeface="Roboto" panose="02000000000000000000" pitchFamily="2" charset="0"/>
                <a:ea typeface="Roboto" panose="02000000000000000000" pitchFamily="2" charset="0"/>
              </a:rPr>
              <a:t>Identify the sources of uncleanliness </a:t>
            </a:r>
            <a:endParaRPr lang="en-US" altLang="en-US" sz="1400" b="0">
              <a:latin typeface="Roboto" panose="02000000000000000000" pitchFamily="2" charset="0"/>
              <a:ea typeface="Roboto" panose="02000000000000000000" pitchFamily="2" charset="0"/>
            </a:endParaRPr>
          </a:p>
        </p:txBody>
      </p:sp>
      <p:sp>
        <p:nvSpPr>
          <p:cNvPr id="26" name="Rectangle 14">
            <a:extLst>
              <a:ext uri="{FF2B5EF4-FFF2-40B4-BE49-F238E27FC236}">
                <a16:creationId xmlns:a16="http://schemas.microsoft.com/office/drawing/2014/main" id="{043BA5CD-661F-D3ED-3533-3CC942F79F6A}"/>
              </a:ext>
            </a:extLst>
          </p:cNvPr>
          <p:cNvSpPr>
            <a:spLocks noChangeArrowheads="1"/>
          </p:cNvSpPr>
          <p:nvPr/>
        </p:nvSpPr>
        <p:spPr bwMode="auto">
          <a:xfrm>
            <a:off x="4120011" y="4711212"/>
            <a:ext cx="4970463" cy="504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accent1"/>
              </a:buClr>
            </a:pPr>
            <a:r>
              <a:rPr lang="en-US" altLang="en-US" sz="1400">
                <a:latin typeface="Roboto" panose="02000000000000000000" pitchFamily="2" charset="0"/>
                <a:ea typeface="Roboto" panose="02000000000000000000" pitchFamily="2" charset="0"/>
              </a:rPr>
              <a:t>Execute process to maintain/improve the standards of the first 3 S</a:t>
            </a:r>
            <a:r>
              <a:rPr lang="ja-JP" altLang="en-US" sz="1400">
                <a:latin typeface="Roboto" panose="02000000000000000000" pitchFamily="2" charset="0"/>
              </a:rPr>
              <a:t>’</a:t>
            </a:r>
            <a:r>
              <a:rPr lang="en-US" altLang="ja-JP" sz="1400">
                <a:latin typeface="Roboto" panose="02000000000000000000" pitchFamily="2" charset="0"/>
                <a:ea typeface="Roboto" panose="02000000000000000000" pitchFamily="2" charset="0"/>
              </a:rPr>
              <a:t>s</a:t>
            </a:r>
            <a:endParaRPr lang="en-US" altLang="en-US" sz="1400" b="0">
              <a:latin typeface="Roboto" panose="02000000000000000000" pitchFamily="2" charset="0"/>
              <a:ea typeface="Roboto" panose="02000000000000000000" pitchFamily="2" charset="0"/>
            </a:endParaRPr>
          </a:p>
        </p:txBody>
      </p:sp>
      <p:sp>
        <p:nvSpPr>
          <p:cNvPr id="27" name="Line 15">
            <a:extLst>
              <a:ext uri="{FF2B5EF4-FFF2-40B4-BE49-F238E27FC236}">
                <a16:creationId xmlns:a16="http://schemas.microsoft.com/office/drawing/2014/main" id="{F1110686-F9F8-FFD2-F8E0-B80D9FF0CF40}"/>
              </a:ext>
            </a:extLst>
          </p:cNvPr>
          <p:cNvSpPr>
            <a:spLocks noChangeShapeType="1"/>
          </p:cNvSpPr>
          <p:nvPr/>
        </p:nvSpPr>
        <p:spPr bwMode="auto">
          <a:xfrm flipV="1">
            <a:off x="940249" y="2250587"/>
            <a:ext cx="8250237" cy="15875"/>
          </a:xfrm>
          <a:prstGeom prst="line">
            <a:avLst/>
          </a:prstGeom>
          <a:noFill/>
          <a:ln w="38100">
            <a:solidFill>
              <a:srgbClr val="000066"/>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8" name="Text Box 16">
            <a:extLst>
              <a:ext uri="{FF2B5EF4-FFF2-40B4-BE49-F238E27FC236}">
                <a16:creationId xmlns:a16="http://schemas.microsoft.com/office/drawing/2014/main" id="{DF636EB9-529F-1E51-2F5A-5BFDA17B9FAA}"/>
              </a:ext>
            </a:extLst>
          </p:cNvPr>
          <p:cNvSpPr txBox="1">
            <a:spLocks noChangeArrowheads="1"/>
          </p:cNvSpPr>
          <p:nvPr/>
        </p:nvSpPr>
        <p:spPr bwMode="auto">
          <a:xfrm>
            <a:off x="949774" y="1963249"/>
            <a:ext cx="4608954" cy="316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5S		           	      Descriptions</a:t>
            </a:r>
          </a:p>
        </p:txBody>
      </p:sp>
      <p:sp>
        <p:nvSpPr>
          <p:cNvPr id="29" name="Oval 17">
            <a:extLst>
              <a:ext uri="{FF2B5EF4-FFF2-40B4-BE49-F238E27FC236}">
                <a16:creationId xmlns:a16="http://schemas.microsoft.com/office/drawing/2014/main" id="{B8F5A98F-4CC5-C36D-DE16-BCF4A048C463}"/>
              </a:ext>
            </a:extLst>
          </p:cNvPr>
          <p:cNvSpPr>
            <a:spLocks noChangeArrowheads="1"/>
          </p:cNvSpPr>
          <p:nvPr/>
        </p:nvSpPr>
        <p:spPr bwMode="auto">
          <a:xfrm>
            <a:off x="997399" y="2506174"/>
            <a:ext cx="400050" cy="366713"/>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1S</a:t>
            </a:r>
          </a:p>
        </p:txBody>
      </p:sp>
      <p:sp>
        <p:nvSpPr>
          <p:cNvPr id="30" name="Oval 18">
            <a:extLst>
              <a:ext uri="{FF2B5EF4-FFF2-40B4-BE49-F238E27FC236}">
                <a16:creationId xmlns:a16="http://schemas.microsoft.com/office/drawing/2014/main" id="{D100D597-9187-B179-6D83-4D676941A0EA}"/>
              </a:ext>
            </a:extLst>
          </p:cNvPr>
          <p:cNvSpPr>
            <a:spLocks noChangeArrowheads="1"/>
          </p:cNvSpPr>
          <p:nvPr/>
        </p:nvSpPr>
        <p:spPr bwMode="auto">
          <a:xfrm>
            <a:off x="997399" y="3317387"/>
            <a:ext cx="400050" cy="366712"/>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2S</a:t>
            </a:r>
          </a:p>
        </p:txBody>
      </p:sp>
      <p:sp>
        <p:nvSpPr>
          <p:cNvPr id="31" name="Oval 19">
            <a:extLst>
              <a:ext uri="{FF2B5EF4-FFF2-40B4-BE49-F238E27FC236}">
                <a16:creationId xmlns:a16="http://schemas.microsoft.com/office/drawing/2014/main" id="{0C7E242A-175B-E74A-4374-9C43D640598E}"/>
              </a:ext>
            </a:extLst>
          </p:cNvPr>
          <p:cNvSpPr>
            <a:spLocks noChangeArrowheads="1"/>
          </p:cNvSpPr>
          <p:nvPr/>
        </p:nvSpPr>
        <p:spPr bwMode="auto">
          <a:xfrm>
            <a:off x="997399" y="4079387"/>
            <a:ext cx="400050" cy="366712"/>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3S</a:t>
            </a:r>
          </a:p>
        </p:txBody>
      </p:sp>
      <p:sp>
        <p:nvSpPr>
          <p:cNvPr id="32" name="Oval 20">
            <a:extLst>
              <a:ext uri="{FF2B5EF4-FFF2-40B4-BE49-F238E27FC236}">
                <a16:creationId xmlns:a16="http://schemas.microsoft.com/office/drawing/2014/main" id="{9B77D4D5-67A7-4A2D-08D5-E2BC155D4AB3}"/>
              </a:ext>
            </a:extLst>
          </p:cNvPr>
          <p:cNvSpPr>
            <a:spLocks noChangeArrowheads="1"/>
          </p:cNvSpPr>
          <p:nvPr/>
        </p:nvSpPr>
        <p:spPr bwMode="auto">
          <a:xfrm>
            <a:off x="997399" y="4815987"/>
            <a:ext cx="400050" cy="366712"/>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4S</a:t>
            </a:r>
          </a:p>
        </p:txBody>
      </p:sp>
      <p:sp>
        <p:nvSpPr>
          <p:cNvPr id="33" name="Rectangle 21">
            <a:extLst>
              <a:ext uri="{FF2B5EF4-FFF2-40B4-BE49-F238E27FC236}">
                <a16:creationId xmlns:a16="http://schemas.microsoft.com/office/drawing/2014/main" id="{50DB16D9-E58E-C853-1F2C-8BB8A47641F1}"/>
              </a:ext>
            </a:extLst>
          </p:cNvPr>
          <p:cNvSpPr>
            <a:spLocks noChangeArrowheads="1"/>
          </p:cNvSpPr>
          <p:nvPr/>
        </p:nvSpPr>
        <p:spPr bwMode="auto">
          <a:xfrm>
            <a:off x="1675261" y="5492262"/>
            <a:ext cx="1908175" cy="568325"/>
          </a:xfrm>
          <a:prstGeom prst="rect">
            <a:avLst/>
          </a:prstGeom>
          <a:solidFill>
            <a:schemeClr val="tx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Sustain</a:t>
            </a:r>
          </a:p>
        </p:txBody>
      </p:sp>
      <p:sp>
        <p:nvSpPr>
          <p:cNvPr id="34" name="Line 22">
            <a:extLst>
              <a:ext uri="{FF2B5EF4-FFF2-40B4-BE49-F238E27FC236}">
                <a16:creationId xmlns:a16="http://schemas.microsoft.com/office/drawing/2014/main" id="{9276DC1E-2D5A-390C-8A4A-9840D18F3053}"/>
              </a:ext>
            </a:extLst>
          </p:cNvPr>
          <p:cNvSpPr>
            <a:spLocks noChangeShapeType="1"/>
          </p:cNvSpPr>
          <p:nvPr/>
        </p:nvSpPr>
        <p:spPr bwMode="auto">
          <a:xfrm>
            <a:off x="951361" y="6203462"/>
            <a:ext cx="8220075"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5" name="Rectangle 23">
            <a:extLst>
              <a:ext uri="{FF2B5EF4-FFF2-40B4-BE49-F238E27FC236}">
                <a16:creationId xmlns:a16="http://schemas.microsoft.com/office/drawing/2014/main" id="{6477CC5F-F0CA-63B6-BF2A-CF0071D22732}"/>
              </a:ext>
            </a:extLst>
          </p:cNvPr>
          <p:cNvSpPr>
            <a:spLocks noChangeArrowheads="1"/>
          </p:cNvSpPr>
          <p:nvPr/>
        </p:nvSpPr>
        <p:spPr bwMode="auto">
          <a:xfrm>
            <a:off x="4120011" y="5498612"/>
            <a:ext cx="4970463" cy="289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accent1"/>
              </a:buClr>
              <a:buSzPct val="40000"/>
              <a:buFont typeface="Wingdings 2" panose="05020102010507070707" pitchFamily="18" charset="2"/>
              <a:buChar char="¢"/>
            </a:pPr>
            <a:r>
              <a:rPr lang="en-US" altLang="en-US" sz="1400">
                <a:latin typeface="Roboto" panose="02000000000000000000" pitchFamily="2" charset="0"/>
                <a:ea typeface="Roboto" panose="02000000000000000000" pitchFamily="2" charset="0"/>
              </a:rPr>
              <a:t>A sustained, disciplined 5S culture in the workplace </a:t>
            </a:r>
            <a:endParaRPr lang="en-US" altLang="en-US" sz="1400" b="0">
              <a:latin typeface="Roboto" panose="02000000000000000000" pitchFamily="2" charset="0"/>
              <a:ea typeface="Roboto" panose="02000000000000000000" pitchFamily="2" charset="0"/>
            </a:endParaRPr>
          </a:p>
        </p:txBody>
      </p:sp>
      <p:sp>
        <p:nvSpPr>
          <p:cNvPr id="36" name="Oval 24">
            <a:extLst>
              <a:ext uri="{FF2B5EF4-FFF2-40B4-BE49-F238E27FC236}">
                <a16:creationId xmlns:a16="http://schemas.microsoft.com/office/drawing/2014/main" id="{792034B8-5DA4-9F53-E36B-4DEAB2A7D8B0}"/>
              </a:ext>
            </a:extLst>
          </p:cNvPr>
          <p:cNvSpPr>
            <a:spLocks noChangeArrowheads="1"/>
          </p:cNvSpPr>
          <p:nvPr/>
        </p:nvSpPr>
        <p:spPr bwMode="auto">
          <a:xfrm>
            <a:off x="997399" y="5603387"/>
            <a:ext cx="400050" cy="366712"/>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5S</a:t>
            </a:r>
          </a:p>
        </p:txBody>
      </p:sp>
    </p:spTree>
    <p:extLst>
      <p:ext uri="{BB962C8B-B14F-4D97-AF65-F5344CB8AC3E}">
        <p14:creationId xmlns:p14="http://schemas.microsoft.com/office/powerpoint/2010/main" val="57938327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5S is Key to a Lean Business System</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73</a:t>
            </a:fld>
            <a:endParaRPr lang="en-US"/>
          </a:p>
        </p:txBody>
      </p:sp>
      <p:sp>
        <p:nvSpPr>
          <p:cNvPr id="3" name="TextBox 2">
            <a:extLst>
              <a:ext uri="{FF2B5EF4-FFF2-40B4-BE49-F238E27FC236}">
                <a16:creationId xmlns:a16="http://schemas.microsoft.com/office/drawing/2014/main" id="{AECF8837-EAC4-18D6-8458-CA5FA0F1D1A6}"/>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Review</a:t>
            </a:r>
          </a:p>
        </p:txBody>
      </p:sp>
      <p:grpSp>
        <p:nvGrpSpPr>
          <p:cNvPr id="5" name="Group 4">
            <a:extLst>
              <a:ext uri="{FF2B5EF4-FFF2-40B4-BE49-F238E27FC236}">
                <a16:creationId xmlns:a16="http://schemas.microsoft.com/office/drawing/2014/main" id="{68B4708D-5AAB-3F34-BC4C-50A6516364D2}"/>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60FFE913-73E9-3134-80E2-9D06D3C3C98C}"/>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396D8B37-C6C3-CF97-3658-677A5A31EE66}"/>
                </a:ext>
              </a:extLst>
            </p:cNvPr>
            <p:cNvGrpSpPr/>
            <p:nvPr/>
          </p:nvGrpSpPr>
          <p:grpSpPr>
            <a:xfrm>
              <a:off x="940249" y="315206"/>
              <a:ext cx="746492" cy="265062"/>
              <a:chOff x="940249" y="315206"/>
              <a:chExt cx="746492" cy="265062"/>
            </a:xfrm>
          </p:grpSpPr>
          <p:sp>
            <p:nvSpPr>
              <p:cNvPr id="8" name="AutoShape 11">
                <a:extLst>
                  <a:ext uri="{FF2B5EF4-FFF2-40B4-BE49-F238E27FC236}">
                    <a16:creationId xmlns:a16="http://schemas.microsoft.com/office/drawing/2014/main" id="{978A2940-DACB-0A38-F7AC-C71B9EC94D60}"/>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10">
                <a:extLst>
                  <a:ext uri="{FF2B5EF4-FFF2-40B4-BE49-F238E27FC236}">
                    <a16:creationId xmlns:a16="http://schemas.microsoft.com/office/drawing/2014/main" id="{9F31856E-A02C-A8DF-8270-1B86382FA3BD}"/>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grpSp>
        <p:nvGrpSpPr>
          <p:cNvPr id="29" name="Group 2">
            <a:extLst>
              <a:ext uri="{FF2B5EF4-FFF2-40B4-BE49-F238E27FC236}">
                <a16:creationId xmlns:a16="http://schemas.microsoft.com/office/drawing/2014/main" id="{C672C91D-EFC7-5A3B-70A5-B4978DED3A17}"/>
              </a:ext>
            </a:extLst>
          </p:cNvPr>
          <p:cNvGrpSpPr>
            <a:grpSpLocks/>
          </p:cNvGrpSpPr>
          <p:nvPr/>
        </p:nvGrpSpPr>
        <p:grpSpPr bwMode="auto">
          <a:xfrm>
            <a:off x="3184525" y="4200552"/>
            <a:ext cx="5457825" cy="2071687"/>
            <a:chOff x="1094" y="2523"/>
            <a:chExt cx="3438" cy="1305"/>
          </a:xfrm>
        </p:grpSpPr>
        <p:sp>
          <p:nvSpPr>
            <p:cNvPr id="30" name="Rectangle 3">
              <a:extLst>
                <a:ext uri="{FF2B5EF4-FFF2-40B4-BE49-F238E27FC236}">
                  <a16:creationId xmlns:a16="http://schemas.microsoft.com/office/drawing/2014/main" id="{0B10808E-03C0-1AC9-03D8-DA361ADB61D0}"/>
                </a:ext>
              </a:extLst>
            </p:cNvPr>
            <p:cNvSpPr>
              <a:spLocks noChangeArrowheads="1"/>
            </p:cNvSpPr>
            <p:nvPr/>
          </p:nvSpPr>
          <p:spPr bwMode="auto">
            <a:xfrm>
              <a:off x="1094" y="2523"/>
              <a:ext cx="3438" cy="1290"/>
            </a:xfrm>
            <a:prstGeom prst="rect">
              <a:avLst/>
            </a:prstGeom>
            <a:noFill/>
            <a:ln w="2857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endParaRPr>
            </a:p>
          </p:txBody>
        </p:sp>
        <p:sp>
          <p:nvSpPr>
            <p:cNvPr id="31" name="Oval 4">
              <a:extLst>
                <a:ext uri="{FF2B5EF4-FFF2-40B4-BE49-F238E27FC236}">
                  <a16:creationId xmlns:a16="http://schemas.microsoft.com/office/drawing/2014/main" id="{B6C89592-2753-BDE9-7744-2C58DA7123CA}"/>
                </a:ext>
              </a:extLst>
            </p:cNvPr>
            <p:cNvSpPr>
              <a:spLocks noChangeArrowheads="1"/>
            </p:cNvSpPr>
            <p:nvPr/>
          </p:nvSpPr>
          <p:spPr bwMode="auto">
            <a:xfrm>
              <a:off x="2110" y="2558"/>
              <a:ext cx="1496" cy="403"/>
            </a:xfrm>
            <a:prstGeom prst="ellipse">
              <a:avLst/>
            </a:prstGeom>
            <a:solidFill>
              <a:schemeClr val="accent1"/>
            </a:solidFill>
            <a:ln w="12700" cap="sq">
              <a:solidFill>
                <a:schemeClr val="accent1"/>
              </a:solidFill>
              <a:round/>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30000"/>
                </a:spcBef>
                <a:spcAft>
                  <a:spcPct val="0"/>
                </a:spcAft>
                <a:buClrTx/>
                <a:buSzTx/>
                <a:buFontTx/>
                <a:buNone/>
              </a:pPr>
              <a:r>
                <a:rPr lang="en-US" altLang="en-US" sz="1400" dirty="0">
                  <a:solidFill>
                    <a:schemeClr val="bg1"/>
                  </a:solidFill>
                </a:rPr>
                <a:t>Value Stream Optimization</a:t>
              </a:r>
            </a:p>
          </p:txBody>
        </p:sp>
        <p:sp>
          <p:nvSpPr>
            <p:cNvPr id="32" name="Oval 5">
              <a:extLst>
                <a:ext uri="{FF2B5EF4-FFF2-40B4-BE49-F238E27FC236}">
                  <a16:creationId xmlns:a16="http://schemas.microsoft.com/office/drawing/2014/main" id="{23C76421-4F36-92DF-C6A2-6E3E03723569}"/>
                </a:ext>
              </a:extLst>
            </p:cNvPr>
            <p:cNvSpPr>
              <a:spLocks noChangeArrowheads="1"/>
            </p:cNvSpPr>
            <p:nvPr/>
          </p:nvSpPr>
          <p:spPr bwMode="auto">
            <a:xfrm>
              <a:off x="2927" y="3084"/>
              <a:ext cx="1496" cy="403"/>
            </a:xfrm>
            <a:prstGeom prst="ellipse">
              <a:avLst/>
            </a:prstGeom>
            <a:solidFill>
              <a:schemeClr val="accent1"/>
            </a:solidFill>
            <a:ln w="12700" cap="sq">
              <a:solidFill>
                <a:schemeClr val="accent1"/>
              </a:solidFill>
              <a:round/>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30000"/>
                </a:spcBef>
                <a:spcAft>
                  <a:spcPct val="0"/>
                </a:spcAft>
                <a:buClrTx/>
                <a:buSzTx/>
                <a:buFontTx/>
                <a:buNone/>
              </a:pPr>
              <a:r>
                <a:rPr lang="en-US" altLang="en-US" sz="1400">
                  <a:solidFill>
                    <a:schemeClr val="bg1"/>
                  </a:solidFill>
                </a:rPr>
                <a:t>Waste Elimination Tools</a:t>
              </a:r>
            </a:p>
          </p:txBody>
        </p:sp>
        <p:sp>
          <p:nvSpPr>
            <p:cNvPr id="33" name="Oval 6">
              <a:extLst>
                <a:ext uri="{FF2B5EF4-FFF2-40B4-BE49-F238E27FC236}">
                  <a16:creationId xmlns:a16="http://schemas.microsoft.com/office/drawing/2014/main" id="{3AE10E13-0D86-5477-5B58-6AF7C8AFF0F3}"/>
                </a:ext>
              </a:extLst>
            </p:cNvPr>
            <p:cNvSpPr>
              <a:spLocks noChangeArrowheads="1"/>
            </p:cNvSpPr>
            <p:nvPr/>
          </p:nvSpPr>
          <p:spPr bwMode="auto">
            <a:xfrm>
              <a:off x="1283" y="3074"/>
              <a:ext cx="1496" cy="403"/>
            </a:xfrm>
            <a:prstGeom prst="ellipse">
              <a:avLst/>
            </a:prstGeom>
            <a:solidFill>
              <a:schemeClr val="accent1"/>
            </a:solidFill>
            <a:ln w="12700" cap="sq">
              <a:solidFill>
                <a:schemeClr val="tx1"/>
              </a:solidFill>
              <a:round/>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30000"/>
                </a:spcBef>
                <a:spcAft>
                  <a:spcPct val="0"/>
                </a:spcAft>
                <a:buClrTx/>
                <a:buSzTx/>
                <a:buFontTx/>
                <a:buNone/>
              </a:pPr>
              <a:r>
                <a:rPr lang="en-US" altLang="en-US" sz="1400">
                  <a:solidFill>
                    <a:schemeClr val="bg1"/>
                  </a:solidFill>
                </a:rPr>
                <a:t>Lean Fundamentals</a:t>
              </a:r>
            </a:p>
          </p:txBody>
        </p:sp>
        <p:sp>
          <p:nvSpPr>
            <p:cNvPr id="34" name="Text Box 7">
              <a:extLst>
                <a:ext uri="{FF2B5EF4-FFF2-40B4-BE49-F238E27FC236}">
                  <a16:creationId xmlns:a16="http://schemas.microsoft.com/office/drawing/2014/main" id="{8E2B5949-31DD-7E47-8249-7A74C932D09A}"/>
                </a:ext>
              </a:extLst>
            </p:cNvPr>
            <p:cNvSpPr txBox="1">
              <a:spLocks noChangeArrowheads="1"/>
            </p:cNvSpPr>
            <p:nvPr/>
          </p:nvSpPr>
          <p:spPr bwMode="auto">
            <a:xfrm>
              <a:off x="1403" y="3655"/>
              <a:ext cx="2961" cy="173"/>
            </a:xfrm>
            <a:prstGeom prst="rect">
              <a:avLst/>
            </a:prstGeom>
            <a:solidFill>
              <a:schemeClr val="accent2"/>
            </a:solidFill>
            <a:ln w="12700" cap="sq">
              <a:solidFill>
                <a:schemeClr val="tx1"/>
              </a:solidFill>
              <a:miter lim="800000"/>
              <a:headEnd/>
              <a:tailEnd/>
            </a:ln>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t>Lean Infrastructure</a:t>
              </a:r>
            </a:p>
          </p:txBody>
        </p:sp>
      </p:grpSp>
      <p:sp>
        <p:nvSpPr>
          <p:cNvPr id="35" name="Oval 8">
            <a:extLst>
              <a:ext uri="{FF2B5EF4-FFF2-40B4-BE49-F238E27FC236}">
                <a16:creationId xmlns:a16="http://schemas.microsoft.com/office/drawing/2014/main" id="{A4FE47F5-6FD8-80A0-1B08-A530E7BDD8B3}"/>
              </a:ext>
            </a:extLst>
          </p:cNvPr>
          <p:cNvSpPr>
            <a:spLocks noChangeArrowheads="1"/>
          </p:cNvSpPr>
          <p:nvPr/>
        </p:nvSpPr>
        <p:spPr bwMode="auto">
          <a:xfrm>
            <a:off x="4843258" y="3443950"/>
            <a:ext cx="2374900" cy="640080"/>
          </a:xfrm>
          <a:prstGeom prst="ellipse">
            <a:avLst/>
          </a:prstGeom>
          <a:solidFill>
            <a:schemeClr val="accent1"/>
          </a:solidFill>
          <a:ln w="12700" cap="sq">
            <a:solidFill>
              <a:schemeClr val="accent1"/>
            </a:solidFill>
            <a:round/>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30000"/>
              </a:spcBef>
              <a:spcAft>
                <a:spcPct val="0"/>
              </a:spcAft>
              <a:buClrTx/>
              <a:buSzTx/>
              <a:buFontTx/>
              <a:buNone/>
            </a:pPr>
            <a:r>
              <a:rPr lang="en-US" altLang="en-US" sz="1400">
                <a:solidFill>
                  <a:schemeClr val="bg1"/>
                </a:solidFill>
              </a:rPr>
              <a:t>Enterprise Optimization</a:t>
            </a:r>
          </a:p>
        </p:txBody>
      </p:sp>
      <p:sp>
        <p:nvSpPr>
          <p:cNvPr id="36" name="Oval 9">
            <a:extLst>
              <a:ext uri="{FF2B5EF4-FFF2-40B4-BE49-F238E27FC236}">
                <a16:creationId xmlns:a16="http://schemas.microsoft.com/office/drawing/2014/main" id="{2CFE13EE-E569-8A68-7D03-93BA762A5102}"/>
              </a:ext>
            </a:extLst>
          </p:cNvPr>
          <p:cNvSpPr>
            <a:spLocks noChangeArrowheads="1"/>
          </p:cNvSpPr>
          <p:nvPr/>
        </p:nvSpPr>
        <p:spPr bwMode="auto">
          <a:xfrm>
            <a:off x="4838132" y="1807210"/>
            <a:ext cx="2374900" cy="640080"/>
          </a:xfrm>
          <a:prstGeom prst="ellipse">
            <a:avLst/>
          </a:prstGeom>
          <a:solidFill>
            <a:schemeClr val="accent1"/>
          </a:solidFill>
          <a:ln w="12700" cap="sq">
            <a:solidFill>
              <a:schemeClr val="accent1"/>
            </a:solidFill>
            <a:round/>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30000"/>
              </a:spcBef>
              <a:spcAft>
                <a:spcPct val="0"/>
              </a:spcAft>
              <a:buClrTx/>
              <a:buSzTx/>
              <a:buFontTx/>
              <a:buNone/>
            </a:pPr>
            <a:r>
              <a:rPr lang="en-US" altLang="en-US" sz="1400" dirty="0">
                <a:solidFill>
                  <a:schemeClr val="bg1"/>
                </a:solidFill>
              </a:rPr>
              <a:t>Develop Strategic</a:t>
            </a:r>
            <a:br>
              <a:rPr lang="en-US" altLang="en-US" sz="1400" dirty="0">
                <a:solidFill>
                  <a:schemeClr val="bg1"/>
                </a:solidFill>
              </a:rPr>
            </a:br>
            <a:r>
              <a:rPr lang="en-US" altLang="en-US" sz="1400" dirty="0">
                <a:solidFill>
                  <a:schemeClr val="bg1"/>
                </a:solidFill>
              </a:rPr>
              <a:t>Business Imperatives</a:t>
            </a:r>
          </a:p>
        </p:txBody>
      </p:sp>
      <p:sp>
        <p:nvSpPr>
          <p:cNvPr id="37" name="Oval 11">
            <a:extLst>
              <a:ext uri="{FF2B5EF4-FFF2-40B4-BE49-F238E27FC236}">
                <a16:creationId xmlns:a16="http://schemas.microsoft.com/office/drawing/2014/main" id="{97A2EB6C-2458-6C52-D504-DF3F2604DD98}"/>
              </a:ext>
            </a:extLst>
          </p:cNvPr>
          <p:cNvSpPr>
            <a:spLocks noChangeArrowheads="1"/>
          </p:cNvSpPr>
          <p:nvPr/>
        </p:nvSpPr>
        <p:spPr bwMode="auto">
          <a:xfrm>
            <a:off x="4848384" y="2625580"/>
            <a:ext cx="2374900" cy="640080"/>
          </a:xfrm>
          <a:prstGeom prst="ellipse">
            <a:avLst/>
          </a:prstGeom>
          <a:solidFill>
            <a:schemeClr val="accent1"/>
          </a:solidFill>
          <a:ln w="12700" cap="sq">
            <a:solidFill>
              <a:schemeClr val="accent1"/>
            </a:solidFill>
            <a:round/>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30000"/>
              </a:spcBef>
              <a:spcAft>
                <a:spcPct val="0"/>
              </a:spcAft>
              <a:buClrTx/>
              <a:buSzTx/>
              <a:buFontTx/>
              <a:buNone/>
            </a:pPr>
            <a:r>
              <a:rPr lang="en-US" altLang="en-US" sz="1400">
                <a:solidFill>
                  <a:schemeClr val="bg1"/>
                </a:solidFill>
              </a:rPr>
              <a:t>Profitable Growth</a:t>
            </a:r>
          </a:p>
        </p:txBody>
      </p:sp>
      <p:sp>
        <p:nvSpPr>
          <p:cNvPr id="38" name="AutoShape 12">
            <a:extLst>
              <a:ext uri="{FF2B5EF4-FFF2-40B4-BE49-F238E27FC236}">
                <a16:creationId xmlns:a16="http://schemas.microsoft.com/office/drawing/2014/main" id="{DA7EC2BE-B1D6-9A16-2786-1CB95155A4C4}"/>
              </a:ext>
            </a:extLst>
          </p:cNvPr>
          <p:cNvSpPr>
            <a:spLocks noChangeArrowheads="1"/>
          </p:cNvSpPr>
          <p:nvPr/>
        </p:nvSpPr>
        <p:spPr bwMode="auto">
          <a:xfrm>
            <a:off x="2350453" y="1794669"/>
            <a:ext cx="1450975" cy="4456112"/>
          </a:xfrm>
          <a:prstGeom prst="curvedRightArrow">
            <a:avLst>
              <a:gd name="adj1" fmla="val 50986"/>
              <a:gd name="adj2" fmla="val 112409"/>
              <a:gd name="adj3" fmla="val 71333"/>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endParaRPr>
          </a:p>
        </p:txBody>
      </p:sp>
      <p:sp>
        <p:nvSpPr>
          <p:cNvPr id="39" name="AutoShape 13">
            <a:extLst>
              <a:ext uri="{FF2B5EF4-FFF2-40B4-BE49-F238E27FC236}">
                <a16:creationId xmlns:a16="http://schemas.microsoft.com/office/drawing/2014/main" id="{FA5A7EB4-93F6-6985-A3F7-19C60D7BC139}"/>
              </a:ext>
            </a:extLst>
          </p:cNvPr>
          <p:cNvSpPr>
            <a:spLocks noChangeArrowheads="1"/>
          </p:cNvSpPr>
          <p:nvPr/>
        </p:nvSpPr>
        <p:spPr bwMode="auto">
          <a:xfrm rot="21066101" flipH="1" flipV="1">
            <a:off x="8160703" y="1200944"/>
            <a:ext cx="1450975" cy="4456112"/>
          </a:xfrm>
          <a:prstGeom prst="curvedRightArrow">
            <a:avLst>
              <a:gd name="adj1" fmla="val 50986"/>
              <a:gd name="adj2" fmla="val 112409"/>
              <a:gd name="adj3" fmla="val 71333"/>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endParaRPr>
          </a:p>
        </p:txBody>
      </p:sp>
      <p:sp>
        <p:nvSpPr>
          <p:cNvPr id="40" name="Text Box 27">
            <a:extLst>
              <a:ext uri="{FF2B5EF4-FFF2-40B4-BE49-F238E27FC236}">
                <a16:creationId xmlns:a16="http://schemas.microsoft.com/office/drawing/2014/main" id="{01CE90F9-B21A-C101-6F96-53474B2F0662}"/>
              </a:ext>
            </a:extLst>
          </p:cNvPr>
          <p:cNvSpPr txBox="1">
            <a:spLocks noChangeArrowheads="1"/>
          </p:cNvSpPr>
          <p:nvPr/>
        </p:nvSpPr>
        <p:spPr bwMode="auto">
          <a:xfrm>
            <a:off x="4052253" y="4374356"/>
            <a:ext cx="463550" cy="314325"/>
          </a:xfrm>
          <a:prstGeom prst="rect">
            <a:avLst/>
          </a:prstGeom>
          <a:solidFill>
            <a:schemeClr val="accent2"/>
          </a:solidFill>
          <a:ln>
            <a:noFill/>
          </a:ln>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800" dirty="0"/>
              <a:t>5S</a:t>
            </a:r>
          </a:p>
        </p:txBody>
      </p:sp>
      <p:sp>
        <p:nvSpPr>
          <p:cNvPr id="41" name="Text Box 28">
            <a:extLst>
              <a:ext uri="{FF2B5EF4-FFF2-40B4-BE49-F238E27FC236}">
                <a16:creationId xmlns:a16="http://schemas.microsoft.com/office/drawing/2014/main" id="{325B3AB1-380E-1A4C-9E35-7F73D109EEE4}"/>
              </a:ext>
            </a:extLst>
          </p:cNvPr>
          <p:cNvSpPr txBox="1">
            <a:spLocks noChangeArrowheads="1"/>
          </p:cNvSpPr>
          <p:nvPr/>
        </p:nvSpPr>
        <p:spPr bwMode="auto">
          <a:xfrm>
            <a:off x="7506653" y="4425156"/>
            <a:ext cx="466725" cy="314325"/>
          </a:xfrm>
          <a:prstGeom prst="rect">
            <a:avLst/>
          </a:prstGeom>
          <a:solidFill>
            <a:schemeClr val="accent2"/>
          </a:solidFill>
          <a:ln>
            <a:noFill/>
          </a:ln>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800"/>
              <a:t>5S</a:t>
            </a:r>
          </a:p>
        </p:txBody>
      </p:sp>
      <p:sp>
        <p:nvSpPr>
          <p:cNvPr id="42" name="Text Box 29">
            <a:extLst>
              <a:ext uri="{FF2B5EF4-FFF2-40B4-BE49-F238E27FC236}">
                <a16:creationId xmlns:a16="http://schemas.microsoft.com/office/drawing/2014/main" id="{AFA8AC17-FCFC-8E4C-434F-0FFDA2E60310}"/>
              </a:ext>
            </a:extLst>
          </p:cNvPr>
          <p:cNvSpPr txBox="1">
            <a:spLocks noChangeArrowheads="1"/>
          </p:cNvSpPr>
          <p:nvPr/>
        </p:nvSpPr>
        <p:spPr bwMode="auto">
          <a:xfrm>
            <a:off x="5779453" y="5606256"/>
            <a:ext cx="466725" cy="314325"/>
          </a:xfrm>
          <a:prstGeom prst="rect">
            <a:avLst/>
          </a:prstGeom>
          <a:solidFill>
            <a:schemeClr val="accent2"/>
          </a:solidFill>
          <a:ln>
            <a:noFill/>
          </a:ln>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800"/>
              <a:t>5S</a:t>
            </a:r>
          </a:p>
        </p:txBody>
      </p:sp>
      <p:cxnSp>
        <p:nvCxnSpPr>
          <p:cNvPr id="43" name="AutoShape 32">
            <a:extLst>
              <a:ext uri="{FF2B5EF4-FFF2-40B4-BE49-F238E27FC236}">
                <a16:creationId xmlns:a16="http://schemas.microsoft.com/office/drawing/2014/main" id="{166EE3EE-82EB-802E-48EB-08C8C5658253}"/>
              </a:ext>
            </a:extLst>
          </p:cNvPr>
          <p:cNvCxnSpPr>
            <a:cxnSpLocks noChangeShapeType="1"/>
            <a:stCxn id="33" idx="1"/>
            <a:endCxn id="40" idx="1"/>
          </p:cNvCxnSpPr>
          <p:nvPr/>
        </p:nvCxnSpPr>
        <p:spPr bwMode="auto">
          <a:xfrm rot="5400000" flipH="1" flipV="1">
            <a:off x="3623588" y="4740290"/>
            <a:ext cx="637436" cy="219894"/>
          </a:xfrm>
          <a:prstGeom prst="curvedConnector2">
            <a:avLst/>
          </a:prstGeom>
          <a:noFill/>
          <a:ln w="952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cxnSp>
      <p:cxnSp>
        <p:nvCxnSpPr>
          <p:cNvPr id="44" name="AutoShape 33">
            <a:extLst>
              <a:ext uri="{FF2B5EF4-FFF2-40B4-BE49-F238E27FC236}">
                <a16:creationId xmlns:a16="http://schemas.microsoft.com/office/drawing/2014/main" id="{9C24D11F-E2F1-B2C0-BAF2-4BDCF9BA0B87}"/>
              </a:ext>
            </a:extLst>
          </p:cNvPr>
          <p:cNvCxnSpPr>
            <a:cxnSpLocks noChangeShapeType="1"/>
            <a:stCxn id="40" idx="3"/>
            <a:endCxn id="31" idx="1"/>
          </p:cNvCxnSpPr>
          <p:nvPr/>
        </p:nvCxnSpPr>
        <p:spPr bwMode="auto">
          <a:xfrm flipV="1">
            <a:off x="4515803" y="4349805"/>
            <a:ext cx="629418" cy="181714"/>
          </a:xfrm>
          <a:prstGeom prst="curvedConnector4">
            <a:avLst>
              <a:gd name="adj1" fmla="val 22372"/>
              <a:gd name="adj2" fmla="val 277362"/>
            </a:avLst>
          </a:prstGeom>
          <a:noFill/>
          <a:ln w="952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cxnSp>
      <p:cxnSp>
        <p:nvCxnSpPr>
          <p:cNvPr id="45" name="AutoShape 34">
            <a:extLst>
              <a:ext uri="{FF2B5EF4-FFF2-40B4-BE49-F238E27FC236}">
                <a16:creationId xmlns:a16="http://schemas.microsoft.com/office/drawing/2014/main" id="{97C84DC0-17EF-85FB-25B1-C6DB2552D4C0}"/>
              </a:ext>
            </a:extLst>
          </p:cNvPr>
          <p:cNvCxnSpPr>
            <a:cxnSpLocks noChangeShapeType="1"/>
            <a:stCxn id="31" idx="7"/>
            <a:endCxn id="41" idx="1"/>
          </p:cNvCxnSpPr>
          <p:nvPr/>
        </p:nvCxnSpPr>
        <p:spPr bwMode="auto">
          <a:xfrm rot="16200000" flipH="1">
            <a:off x="7049334" y="4125000"/>
            <a:ext cx="232514" cy="682124"/>
          </a:xfrm>
          <a:prstGeom prst="curvedConnector4">
            <a:avLst>
              <a:gd name="adj1" fmla="val -98317"/>
              <a:gd name="adj2" fmla="val 75494"/>
            </a:avLst>
          </a:prstGeom>
          <a:noFill/>
          <a:ln w="952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cxnSp>
      <p:cxnSp>
        <p:nvCxnSpPr>
          <p:cNvPr id="46" name="AutoShape 36">
            <a:extLst>
              <a:ext uri="{FF2B5EF4-FFF2-40B4-BE49-F238E27FC236}">
                <a16:creationId xmlns:a16="http://schemas.microsoft.com/office/drawing/2014/main" id="{D5DF0670-864D-252F-8905-704F912F7B06}"/>
              </a:ext>
            </a:extLst>
          </p:cNvPr>
          <p:cNvCxnSpPr>
            <a:cxnSpLocks noChangeShapeType="1"/>
            <a:stCxn id="41" idx="3"/>
            <a:endCxn id="32" idx="7"/>
          </p:cNvCxnSpPr>
          <p:nvPr/>
        </p:nvCxnSpPr>
        <p:spPr bwMode="auto">
          <a:xfrm>
            <a:off x="7973378" y="4582319"/>
            <a:ext cx="148139" cy="602511"/>
          </a:xfrm>
          <a:prstGeom prst="curvedConnector2">
            <a:avLst/>
          </a:prstGeom>
          <a:noFill/>
          <a:ln w="952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cxnSp>
      <p:cxnSp>
        <p:nvCxnSpPr>
          <p:cNvPr id="47" name="AutoShape 37">
            <a:extLst>
              <a:ext uri="{FF2B5EF4-FFF2-40B4-BE49-F238E27FC236}">
                <a16:creationId xmlns:a16="http://schemas.microsoft.com/office/drawing/2014/main" id="{D3943810-232C-3403-6FCF-3C37ACCAFE5C}"/>
              </a:ext>
            </a:extLst>
          </p:cNvPr>
          <p:cNvCxnSpPr>
            <a:cxnSpLocks noChangeShapeType="1"/>
            <a:stCxn id="33" idx="5"/>
            <a:endCxn id="42" idx="1"/>
          </p:cNvCxnSpPr>
          <p:nvPr/>
        </p:nvCxnSpPr>
        <p:spPr bwMode="auto">
          <a:xfrm rot="16200000" flipH="1">
            <a:off x="5574518" y="5558484"/>
            <a:ext cx="142084" cy="267786"/>
          </a:xfrm>
          <a:prstGeom prst="curvedConnector2">
            <a:avLst/>
          </a:prstGeom>
          <a:noFill/>
          <a:ln w="952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cxnSp>
      <p:cxnSp>
        <p:nvCxnSpPr>
          <p:cNvPr id="48" name="AutoShape 38">
            <a:extLst>
              <a:ext uri="{FF2B5EF4-FFF2-40B4-BE49-F238E27FC236}">
                <a16:creationId xmlns:a16="http://schemas.microsoft.com/office/drawing/2014/main" id="{7159CD3D-FE22-E3B8-65C5-E1EAA4772ABD}"/>
              </a:ext>
            </a:extLst>
          </p:cNvPr>
          <p:cNvCxnSpPr>
            <a:cxnSpLocks noChangeShapeType="1"/>
            <a:endCxn id="32" idx="3"/>
          </p:cNvCxnSpPr>
          <p:nvPr/>
        </p:nvCxnSpPr>
        <p:spPr bwMode="auto">
          <a:xfrm flipV="1">
            <a:off x="6238240" y="5637210"/>
            <a:ext cx="203969" cy="134146"/>
          </a:xfrm>
          <a:prstGeom prst="curvedConnector2">
            <a:avLst/>
          </a:prstGeom>
          <a:noFill/>
          <a:ln w="952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6881526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altLang="en-US" sz="4000" dirty="0">
                <a:ea typeface="ＭＳ Ｐゴシック" panose="020B0600070205080204" pitchFamily="34" charset="-128"/>
              </a:rPr>
              <a:t>Common pitfalls to sustaining 5S</a:t>
            </a:r>
            <a:endParaRPr lang="en-US" sz="4000"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Lack of assessment procedures</a:t>
            </a:r>
          </a:p>
          <a:p>
            <a:r>
              <a:rPr lang="en-US" dirty="0"/>
              <a:t>Perception is that 5S is about “cleaning”</a:t>
            </a:r>
          </a:p>
          <a:p>
            <a:r>
              <a:rPr lang="en-US" dirty="0"/>
              <a:t>Perception that this is a 1-time event… not a continuous process</a:t>
            </a:r>
          </a:p>
          <a:p>
            <a:r>
              <a:rPr lang="en-US" dirty="0"/>
              <a:t>5S not seen as a management tool</a:t>
            </a:r>
          </a:p>
          <a:p>
            <a:r>
              <a:rPr lang="en-US" dirty="0"/>
              <a:t>5S viewed as somebody else’s responsibility</a:t>
            </a:r>
          </a:p>
          <a:p>
            <a:r>
              <a:rPr lang="en-US" dirty="0"/>
              <a:t>5S viewed as “simple” and that everyone “knows how to do it”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74</a:t>
            </a:fld>
            <a:endParaRPr lang="en-US"/>
          </a:p>
        </p:txBody>
      </p:sp>
      <p:sp>
        <p:nvSpPr>
          <p:cNvPr id="11" name="TextBox 10">
            <a:extLst>
              <a:ext uri="{FF2B5EF4-FFF2-40B4-BE49-F238E27FC236}">
                <a16:creationId xmlns:a16="http://schemas.microsoft.com/office/drawing/2014/main" id="{54F94DFF-542B-1A3C-1AFF-9CF70B5D5648}"/>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Review</a:t>
            </a:r>
          </a:p>
        </p:txBody>
      </p:sp>
      <p:grpSp>
        <p:nvGrpSpPr>
          <p:cNvPr id="12" name="Group 11">
            <a:extLst>
              <a:ext uri="{FF2B5EF4-FFF2-40B4-BE49-F238E27FC236}">
                <a16:creationId xmlns:a16="http://schemas.microsoft.com/office/drawing/2014/main" id="{7A6F023B-5E31-03F5-9C34-C6F3DC7D6406}"/>
              </a:ext>
            </a:extLst>
          </p:cNvPr>
          <p:cNvGrpSpPr/>
          <p:nvPr/>
        </p:nvGrpSpPr>
        <p:grpSpPr>
          <a:xfrm>
            <a:off x="940249" y="302538"/>
            <a:ext cx="1060167" cy="290657"/>
            <a:chOff x="940249" y="315206"/>
            <a:chExt cx="1060167" cy="265062"/>
          </a:xfrm>
        </p:grpSpPr>
        <p:sp>
          <p:nvSpPr>
            <p:cNvPr id="13" name="AutoShape 9">
              <a:extLst>
                <a:ext uri="{FF2B5EF4-FFF2-40B4-BE49-F238E27FC236}">
                  <a16:creationId xmlns:a16="http://schemas.microsoft.com/office/drawing/2014/main" id="{F7F6D0E9-B307-F394-3297-F34C253E944A}"/>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4" name="Group 13">
              <a:extLst>
                <a:ext uri="{FF2B5EF4-FFF2-40B4-BE49-F238E27FC236}">
                  <a16:creationId xmlns:a16="http://schemas.microsoft.com/office/drawing/2014/main" id="{3F3ED864-DDF9-0475-5BE9-BAF091785AFA}"/>
                </a:ext>
              </a:extLst>
            </p:cNvPr>
            <p:cNvGrpSpPr/>
            <p:nvPr/>
          </p:nvGrpSpPr>
          <p:grpSpPr>
            <a:xfrm>
              <a:off x="940249" y="315206"/>
              <a:ext cx="746492" cy="265062"/>
              <a:chOff x="940249" y="315206"/>
              <a:chExt cx="746492" cy="265062"/>
            </a:xfrm>
          </p:grpSpPr>
          <p:sp>
            <p:nvSpPr>
              <p:cNvPr id="15" name="AutoShape 11">
                <a:extLst>
                  <a:ext uri="{FF2B5EF4-FFF2-40B4-BE49-F238E27FC236}">
                    <a16:creationId xmlns:a16="http://schemas.microsoft.com/office/drawing/2014/main" id="{93E04F85-210C-E794-2771-DB64C6AFF203}"/>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6" name="AutoShape 10">
                <a:extLst>
                  <a:ext uri="{FF2B5EF4-FFF2-40B4-BE49-F238E27FC236}">
                    <a16:creationId xmlns:a16="http://schemas.microsoft.com/office/drawing/2014/main" id="{DFA70FF8-60FF-AC16-87C2-9017CFCA1A14}"/>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24245514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4000" dirty="0">
                <a:latin typeface="Roboto Medium"/>
                <a:ea typeface="Roboto Medium"/>
                <a:cs typeface="Roboto Medium"/>
              </a:rPr>
              <a:t>Exercise: How to avoid common pitfalls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75</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Discuss methods to avoid the common 5S pitfalls</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small groups, list all areas in your personal life where you </a:t>
            </a:r>
            <a:r>
              <a:rPr kumimoji="0" lang="en-US" sz="1600" b="0" i="0" u="sng"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excel</a:t>
            </a: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at 5S (car, boat, home, teeth, garage, etc.) and how you overcome barriers to sustaining these areas of your life.</a:t>
            </a:r>
          </a:p>
          <a:p>
            <a:pPr marL="0" marR="0" indent="0" algn="l"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Apply these same concepts to this event and determine what actions could be taken or what</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must be done to overcome barriers at work</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Chart ideas on chart paper.</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20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80441"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Report-out on ideas for avoiding pitfalls</a:t>
            </a:r>
          </a:p>
        </p:txBody>
      </p:sp>
      <p:sp>
        <p:nvSpPr>
          <p:cNvPr id="3" name="TextBox 2">
            <a:extLst>
              <a:ext uri="{FF2B5EF4-FFF2-40B4-BE49-F238E27FC236}">
                <a16:creationId xmlns:a16="http://schemas.microsoft.com/office/drawing/2014/main" id="{CE0579B4-E28D-701F-560C-ACDB03E31A62}"/>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Review</a:t>
            </a:r>
          </a:p>
        </p:txBody>
      </p:sp>
      <p:grpSp>
        <p:nvGrpSpPr>
          <p:cNvPr id="4" name="Group 3">
            <a:extLst>
              <a:ext uri="{FF2B5EF4-FFF2-40B4-BE49-F238E27FC236}">
                <a16:creationId xmlns:a16="http://schemas.microsoft.com/office/drawing/2014/main" id="{72354D01-5A7F-3939-958E-B74484D10AFF}"/>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C09F086C-85BF-C9AE-8ED9-78F1B3CC5208}"/>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D69D82AE-FA47-C4C3-75E8-F5B8CBDA50F7}"/>
                </a:ext>
              </a:extLst>
            </p:cNvPr>
            <p:cNvGrpSpPr/>
            <p:nvPr/>
          </p:nvGrpSpPr>
          <p:grpSpPr>
            <a:xfrm>
              <a:off x="940249" y="315206"/>
              <a:ext cx="746492" cy="265062"/>
              <a:chOff x="940249" y="315206"/>
              <a:chExt cx="746492" cy="265062"/>
            </a:xfrm>
          </p:grpSpPr>
          <p:sp>
            <p:nvSpPr>
              <p:cNvPr id="8" name="AutoShape 11">
                <a:extLst>
                  <a:ext uri="{FF2B5EF4-FFF2-40B4-BE49-F238E27FC236}">
                    <a16:creationId xmlns:a16="http://schemas.microsoft.com/office/drawing/2014/main" id="{C97B0014-FF3A-2759-D508-A527F4DA7DBF}"/>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F69B1D5D-EFCC-3FD7-FA72-815363418082}"/>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34773752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altLang="en-US" sz="3600" dirty="0">
                <a:ea typeface="ＭＳ Ｐゴシック" panose="020B0600070205080204" pitchFamily="34" charset="-128"/>
              </a:rPr>
              <a:t>Summary of 5S</a:t>
            </a:r>
            <a:endParaRPr lang="en-US" sz="3600"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5S is a foundation for improvement</a:t>
            </a:r>
          </a:p>
          <a:p>
            <a:r>
              <a:rPr lang="en-US" dirty="0"/>
              <a:t>Visual management is the ultimate goal</a:t>
            </a:r>
          </a:p>
          <a:p>
            <a:r>
              <a:rPr lang="en-US" dirty="0"/>
              <a:t>It is up to each and every one of us to make 5S a personal goal</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76</a:t>
            </a:fld>
            <a:endParaRPr lang="en-US"/>
          </a:p>
        </p:txBody>
      </p:sp>
      <p:sp>
        <p:nvSpPr>
          <p:cNvPr id="11" name="TextBox 10">
            <a:extLst>
              <a:ext uri="{FF2B5EF4-FFF2-40B4-BE49-F238E27FC236}">
                <a16:creationId xmlns:a16="http://schemas.microsoft.com/office/drawing/2014/main" id="{54F94DFF-542B-1A3C-1AFF-9CF70B5D5648}"/>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Review</a:t>
            </a:r>
          </a:p>
        </p:txBody>
      </p:sp>
      <p:grpSp>
        <p:nvGrpSpPr>
          <p:cNvPr id="12" name="Group 11">
            <a:extLst>
              <a:ext uri="{FF2B5EF4-FFF2-40B4-BE49-F238E27FC236}">
                <a16:creationId xmlns:a16="http://schemas.microsoft.com/office/drawing/2014/main" id="{7A6F023B-5E31-03F5-9C34-C6F3DC7D6406}"/>
              </a:ext>
            </a:extLst>
          </p:cNvPr>
          <p:cNvGrpSpPr/>
          <p:nvPr/>
        </p:nvGrpSpPr>
        <p:grpSpPr>
          <a:xfrm>
            <a:off x="940249" y="302538"/>
            <a:ext cx="1060167" cy="290657"/>
            <a:chOff x="940249" y="315206"/>
            <a:chExt cx="1060167" cy="265062"/>
          </a:xfrm>
        </p:grpSpPr>
        <p:sp>
          <p:nvSpPr>
            <p:cNvPr id="13" name="AutoShape 9">
              <a:extLst>
                <a:ext uri="{FF2B5EF4-FFF2-40B4-BE49-F238E27FC236}">
                  <a16:creationId xmlns:a16="http://schemas.microsoft.com/office/drawing/2014/main" id="{F7F6D0E9-B307-F394-3297-F34C253E944A}"/>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4" name="Group 13">
              <a:extLst>
                <a:ext uri="{FF2B5EF4-FFF2-40B4-BE49-F238E27FC236}">
                  <a16:creationId xmlns:a16="http://schemas.microsoft.com/office/drawing/2014/main" id="{3F3ED864-DDF9-0475-5BE9-BAF091785AFA}"/>
                </a:ext>
              </a:extLst>
            </p:cNvPr>
            <p:cNvGrpSpPr/>
            <p:nvPr/>
          </p:nvGrpSpPr>
          <p:grpSpPr>
            <a:xfrm>
              <a:off x="940249" y="315206"/>
              <a:ext cx="746492" cy="265062"/>
              <a:chOff x="940249" y="315206"/>
              <a:chExt cx="746492" cy="265062"/>
            </a:xfrm>
          </p:grpSpPr>
          <p:sp>
            <p:nvSpPr>
              <p:cNvPr id="15" name="AutoShape 11">
                <a:extLst>
                  <a:ext uri="{FF2B5EF4-FFF2-40B4-BE49-F238E27FC236}">
                    <a16:creationId xmlns:a16="http://schemas.microsoft.com/office/drawing/2014/main" id="{93E04F85-210C-E794-2771-DB64C6AFF203}"/>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6" name="AutoShape 10">
                <a:extLst>
                  <a:ext uri="{FF2B5EF4-FFF2-40B4-BE49-F238E27FC236}">
                    <a16:creationId xmlns:a16="http://schemas.microsoft.com/office/drawing/2014/main" id="{DFA70FF8-60FF-AC16-87C2-9017CFCA1A14}"/>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91334081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4000" dirty="0">
                <a:latin typeface="Roboto Medium"/>
                <a:ea typeface="Roboto Medium"/>
                <a:cs typeface="Roboto Medium"/>
              </a:rPr>
              <a:t>Exercise: 5S Event Wrap-Up</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77</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Document event results and record lessons learned.</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Each team photograph all “after” areas</a:t>
            </a:r>
          </a:p>
          <a:p>
            <a:pPr marL="0" marR="0" indent="0" algn="l"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Post 4S Checklist and 5S Audit Sheet in area</a:t>
            </a:r>
          </a:p>
          <a:p>
            <a:pPr marL="0" marR="0" indent="0" algn="l"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Record top 3-5 lessons learned on chart paper</a:t>
            </a:r>
          </a:p>
          <a:p>
            <a:pPr marL="0" marR="0" indent="0" algn="l"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Celebrate!</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60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80441"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Invite others for report-out of results and a tour of “new” areas</a:t>
            </a:r>
          </a:p>
        </p:txBody>
      </p:sp>
      <p:sp>
        <p:nvSpPr>
          <p:cNvPr id="3" name="TextBox 2">
            <a:extLst>
              <a:ext uri="{FF2B5EF4-FFF2-40B4-BE49-F238E27FC236}">
                <a16:creationId xmlns:a16="http://schemas.microsoft.com/office/drawing/2014/main" id="{CE0579B4-E28D-701F-560C-ACDB03E31A62}"/>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Review</a:t>
            </a:r>
          </a:p>
        </p:txBody>
      </p:sp>
      <p:grpSp>
        <p:nvGrpSpPr>
          <p:cNvPr id="4" name="Group 3">
            <a:extLst>
              <a:ext uri="{FF2B5EF4-FFF2-40B4-BE49-F238E27FC236}">
                <a16:creationId xmlns:a16="http://schemas.microsoft.com/office/drawing/2014/main" id="{72354D01-5A7F-3939-958E-B74484D10AFF}"/>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C09F086C-85BF-C9AE-8ED9-78F1B3CC5208}"/>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D69D82AE-FA47-C4C3-75E8-F5B8CBDA50F7}"/>
                </a:ext>
              </a:extLst>
            </p:cNvPr>
            <p:cNvGrpSpPr/>
            <p:nvPr/>
          </p:nvGrpSpPr>
          <p:grpSpPr>
            <a:xfrm>
              <a:off x="940249" y="315206"/>
              <a:ext cx="746492" cy="265062"/>
              <a:chOff x="940249" y="315206"/>
              <a:chExt cx="746492" cy="265062"/>
            </a:xfrm>
          </p:grpSpPr>
          <p:sp>
            <p:nvSpPr>
              <p:cNvPr id="8" name="AutoShape 11">
                <a:extLst>
                  <a:ext uri="{FF2B5EF4-FFF2-40B4-BE49-F238E27FC236}">
                    <a16:creationId xmlns:a16="http://schemas.microsoft.com/office/drawing/2014/main" id="{C97B0014-FF3A-2759-D508-A527F4DA7DBF}"/>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F69B1D5D-EFCC-3FD7-FA72-815363418082}"/>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311407341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78</a:t>
            </a:fld>
            <a:endParaRPr lang="en-US" dirty="0"/>
          </a:p>
        </p:txBody>
      </p:sp>
    </p:spTree>
    <p:extLst>
      <p:ext uri="{BB962C8B-B14F-4D97-AF65-F5344CB8AC3E}">
        <p14:creationId xmlns:p14="http://schemas.microsoft.com/office/powerpoint/2010/main" val="174728991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APPENDIX: Visual Management</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79</a:t>
            </a:fld>
            <a:endParaRPr lang="en-US"/>
          </a:p>
        </p:txBody>
      </p:sp>
      <p:graphicFrame>
        <p:nvGraphicFramePr>
          <p:cNvPr id="10" name="Group 42">
            <a:extLst>
              <a:ext uri="{FF2B5EF4-FFF2-40B4-BE49-F238E27FC236}">
                <a16:creationId xmlns:a16="http://schemas.microsoft.com/office/drawing/2014/main" id="{87C9985A-616C-529F-8FA1-FD1E449976EF}"/>
              </a:ext>
            </a:extLst>
          </p:cNvPr>
          <p:cNvGraphicFramePr>
            <a:graphicFrameLocks noGrp="1"/>
          </p:cNvGraphicFramePr>
          <p:nvPr>
            <p:extLst>
              <p:ext uri="{D42A27DB-BD31-4B8C-83A1-F6EECF244321}">
                <p14:modId xmlns:p14="http://schemas.microsoft.com/office/powerpoint/2010/main" val="782304994"/>
              </p:ext>
            </p:extLst>
          </p:nvPr>
        </p:nvGraphicFramePr>
        <p:xfrm>
          <a:off x="450850" y="1552574"/>
          <a:ext cx="10201910" cy="4780575"/>
        </p:xfrm>
        <a:graphic>
          <a:graphicData uri="http://schemas.openxmlformats.org/drawingml/2006/table">
            <a:tbl>
              <a:tblPr/>
              <a:tblGrid>
                <a:gridCol w="2407038">
                  <a:extLst>
                    <a:ext uri="{9D8B030D-6E8A-4147-A177-3AD203B41FA5}">
                      <a16:colId xmlns:a16="http://schemas.microsoft.com/office/drawing/2014/main" val="20000"/>
                    </a:ext>
                  </a:extLst>
                </a:gridCol>
                <a:gridCol w="2910059">
                  <a:extLst>
                    <a:ext uri="{9D8B030D-6E8A-4147-A177-3AD203B41FA5}">
                      <a16:colId xmlns:a16="http://schemas.microsoft.com/office/drawing/2014/main" val="20001"/>
                    </a:ext>
                  </a:extLst>
                </a:gridCol>
                <a:gridCol w="4884813">
                  <a:extLst>
                    <a:ext uri="{9D8B030D-6E8A-4147-A177-3AD203B41FA5}">
                      <a16:colId xmlns:a16="http://schemas.microsoft.com/office/drawing/2014/main" val="20002"/>
                    </a:ext>
                  </a:extLst>
                </a:gridCol>
              </a:tblGrid>
              <a:tr h="462867">
                <a:tc gridSpan="3">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8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Standard Color Guide</a:t>
                      </a:r>
                    </a:p>
                  </a:txBody>
                  <a:tcPr marT="45714" marB="45714" anchor="b" horzOverflow="overflow">
                    <a:lnL cap="flat">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881238">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4" marB="45714"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Safety </a:t>
                      </a:r>
                    </a:p>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International Green</a:t>
                      </a:r>
                    </a:p>
                  </a:txBody>
                  <a:tcPr marT="45714" marB="45714"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Char char="§"/>
                        <a:tabLst/>
                      </a:pPr>
                      <a:r>
                        <a:rPr kumimoji="0" lang="en-US" sz="1400" b="1" i="0" u="none" strike="noStrike" cap="none" normalizeH="0" baseline="0">
                          <a:ln>
                            <a:noFill/>
                          </a:ln>
                          <a:solidFill>
                            <a:schemeClr val="tx1"/>
                          </a:solidFill>
                          <a:effectLst/>
                          <a:latin typeface="Roboto" panose="02000000000000000000" pitchFamily="2" charset="0"/>
                          <a:ea typeface="Roboto" panose="02000000000000000000" pitchFamily="2" charset="0"/>
                        </a:rPr>
                        <a:t>Safety Equipment, First Aid, Safety Posters, Notices</a:t>
                      </a:r>
                    </a:p>
                  </a:txBody>
                  <a:tcPr marT="45714" marB="45714"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57763">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4" marB="45714"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0513" marR="0" lvl="0" indent="-290513" algn="l" defTabSz="914400" rtl="0" eaLnBrk="0" fontAlgn="base" latinLnBrk="0" hangingPunct="0">
                        <a:lnSpc>
                          <a:spcPct val="100000"/>
                        </a:lnSpc>
                        <a:spcBef>
                          <a:spcPct val="20000"/>
                        </a:spcBef>
                        <a:spcAft>
                          <a:spcPct val="20000"/>
                        </a:spcAft>
                        <a:buClr>
                          <a:srgbClr val="006699"/>
                        </a:buClr>
                        <a:buSzPct val="90000"/>
                        <a:buFont typeface="Wingdings" pitchFamily="2" charset="2"/>
                        <a:buNone/>
                        <a:tabLst/>
                      </a:pPr>
                      <a:r>
                        <a:rPr kumimoji="0" lang="en-US" sz="1400" b="1" i="0" u="none" strike="noStrike" cap="none" normalizeH="0" baseline="0">
                          <a:ln>
                            <a:noFill/>
                          </a:ln>
                          <a:solidFill>
                            <a:schemeClr val="tx1"/>
                          </a:solidFill>
                          <a:effectLst/>
                          <a:latin typeface="Roboto" panose="02000000000000000000" pitchFamily="2" charset="0"/>
                          <a:ea typeface="Roboto" panose="02000000000000000000" pitchFamily="2" charset="0"/>
                        </a:rPr>
                        <a:t>Quality</a:t>
                      </a:r>
                    </a:p>
                    <a:p>
                      <a:pPr marL="290513" marR="0" lvl="0" indent="-290513" algn="l" defTabSz="914400" rtl="0" eaLnBrk="0" fontAlgn="base" latinLnBrk="0" hangingPunct="0">
                        <a:lnSpc>
                          <a:spcPct val="100000"/>
                        </a:lnSpc>
                        <a:spcBef>
                          <a:spcPct val="20000"/>
                        </a:spcBef>
                        <a:spcAft>
                          <a:spcPct val="20000"/>
                        </a:spcAft>
                        <a:buClr>
                          <a:srgbClr val="006699"/>
                        </a:buClr>
                        <a:buSzPct val="90000"/>
                        <a:buFont typeface="Wingdings" pitchFamily="2" charset="2"/>
                        <a:buNone/>
                        <a:tabLst/>
                      </a:pPr>
                      <a:r>
                        <a:rPr kumimoji="0" lang="en-US" sz="1400" b="1" i="0" u="none" strike="noStrike" cap="none" normalizeH="0" baseline="0">
                          <a:ln>
                            <a:noFill/>
                          </a:ln>
                          <a:solidFill>
                            <a:schemeClr val="tx1"/>
                          </a:solidFill>
                          <a:effectLst/>
                          <a:latin typeface="Roboto" panose="02000000000000000000" pitchFamily="2" charset="0"/>
                          <a:ea typeface="Roboto" panose="02000000000000000000" pitchFamily="2" charset="0"/>
                        </a:rPr>
                        <a:t>International Blue</a:t>
                      </a:r>
                    </a:p>
                  </a:txBody>
                  <a:tcPr marT="45714" marB="45714"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Char char="§"/>
                        <a:tabLst/>
                      </a:pPr>
                      <a:r>
                        <a:rPr kumimoji="0" lang="en-US" sz="1400" b="1" i="0" u="none" strike="noStrike" cap="none" normalizeH="0" baseline="0">
                          <a:ln>
                            <a:noFill/>
                          </a:ln>
                          <a:solidFill>
                            <a:schemeClr val="tx1"/>
                          </a:solidFill>
                          <a:effectLst/>
                          <a:latin typeface="Roboto" panose="02000000000000000000" pitchFamily="2" charset="0"/>
                          <a:ea typeface="Roboto" panose="02000000000000000000" pitchFamily="2" charset="0"/>
                        </a:rPr>
                        <a:t>Inspection Points, Quality Notices and Instructions, Gauging</a:t>
                      </a:r>
                    </a:p>
                  </a:txBody>
                  <a:tcPr marT="45714" marB="45714"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59569">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4" marB="45714"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0513" marR="0" lvl="0" indent="-290513" algn="l" defTabSz="914400" rtl="0" eaLnBrk="0" fontAlgn="base" latinLnBrk="0" hangingPunct="0">
                        <a:lnSpc>
                          <a:spcPct val="100000"/>
                        </a:lnSpc>
                        <a:spcBef>
                          <a:spcPct val="20000"/>
                        </a:spcBef>
                        <a:spcAft>
                          <a:spcPct val="20000"/>
                        </a:spcAft>
                        <a:buClr>
                          <a:srgbClr val="006699"/>
                        </a:buClr>
                        <a:buSzPct val="90000"/>
                        <a:buFont typeface="Wingdings" pitchFamily="2" charset="2"/>
                        <a:buNone/>
                        <a:tabLst/>
                      </a:pPr>
                      <a:r>
                        <a:rPr kumimoji="0" lang="en-US" sz="1400" b="1" i="0" u="none" strike="noStrike" cap="none" normalizeH="0" baseline="0">
                          <a:ln>
                            <a:noFill/>
                          </a:ln>
                          <a:solidFill>
                            <a:schemeClr val="tx1"/>
                          </a:solidFill>
                          <a:effectLst/>
                          <a:latin typeface="Roboto" panose="02000000000000000000" pitchFamily="2" charset="0"/>
                          <a:ea typeface="Roboto" panose="02000000000000000000" pitchFamily="2" charset="0"/>
                        </a:rPr>
                        <a:t>Standards</a:t>
                      </a:r>
                    </a:p>
                    <a:p>
                      <a:pPr marL="290513" marR="0" lvl="0" indent="-290513" algn="l" defTabSz="914400" rtl="0" eaLnBrk="0" fontAlgn="base" latinLnBrk="0" hangingPunct="0">
                        <a:lnSpc>
                          <a:spcPct val="100000"/>
                        </a:lnSpc>
                        <a:spcBef>
                          <a:spcPct val="20000"/>
                        </a:spcBef>
                        <a:spcAft>
                          <a:spcPct val="20000"/>
                        </a:spcAft>
                        <a:buClr>
                          <a:srgbClr val="006699"/>
                        </a:buClr>
                        <a:buSzPct val="90000"/>
                        <a:buFont typeface="Wingdings" pitchFamily="2" charset="2"/>
                        <a:buNone/>
                        <a:tabLst/>
                      </a:pPr>
                      <a:r>
                        <a:rPr kumimoji="0" lang="en-US" sz="1400" b="1" i="0" u="none" strike="noStrike" cap="none" normalizeH="0" baseline="0">
                          <a:ln>
                            <a:noFill/>
                          </a:ln>
                          <a:solidFill>
                            <a:schemeClr val="tx1"/>
                          </a:solidFill>
                          <a:effectLst/>
                          <a:latin typeface="Roboto" panose="02000000000000000000" pitchFamily="2" charset="0"/>
                          <a:ea typeface="Roboto" panose="02000000000000000000" pitchFamily="2" charset="0"/>
                        </a:rPr>
                        <a:t>Federal Safety Yellow</a:t>
                      </a:r>
                    </a:p>
                  </a:txBody>
                  <a:tcPr marT="45714" marB="45714"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Char char="§"/>
                        <a:tabLst/>
                      </a:pPr>
                      <a:r>
                        <a:rPr kumimoji="0" lang="en-US" sz="1400" b="1" i="0" u="none" strike="noStrike" cap="none" normalizeH="0" baseline="0">
                          <a:ln>
                            <a:noFill/>
                          </a:ln>
                          <a:solidFill>
                            <a:schemeClr val="tx1"/>
                          </a:solidFill>
                          <a:effectLst/>
                          <a:latin typeface="Roboto" panose="02000000000000000000" pitchFamily="2" charset="0"/>
                          <a:ea typeface="Roboto" panose="02000000000000000000" pitchFamily="2" charset="0"/>
                        </a:rPr>
                        <a:t>Operations Standards, Location Marks, New Tooling, Good Part Storage</a:t>
                      </a:r>
                    </a:p>
                  </a:txBody>
                  <a:tcPr marT="45714" marB="45714"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59569">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endPar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endParaRPr>
                    </a:p>
                  </a:txBody>
                  <a:tcPr marT="45714" marB="45714"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Defects</a:t>
                      </a:r>
                    </a:p>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Federal Safety Red</a:t>
                      </a:r>
                    </a:p>
                  </a:txBody>
                  <a:tcPr marT="45714" marB="45714"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Char char="§"/>
                        <a:tabLst/>
                      </a:pPr>
                      <a:r>
                        <a:rPr kumimoji="0" lang="en-US" sz="1400" b="1" i="0" u="none" strike="noStrike" cap="none" normalizeH="0" baseline="0">
                          <a:ln>
                            <a:noFill/>
                          </a:ln>
                          <a:solidFill>
                            <a:schemeClr val="tx1"/>
                          </a:solidFill>
                          <a:effectLst/>
                          <a:latin typeface="Roboto" panose="02000000000000000000" pitchFamily="2" charset="0"/>
                          <a:ea typeface="Roboto" panose="02000000000000000000" pitchFamily="2" charset="0"/>
                        </a:rPr>
                        <a:t>Scrap, Bad Parts, Warranty Materials, Dull Tools</a:t>
                      </a:r>
                    </a:p>
                  </a:txBody>
                  <a:tcPr marT="45714" marB="45714"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859569">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4" marB="45714"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None/>
                        <a:tabLst/>
                      </a:pPr>
                      <a:r>
                        <a:rPr kumimoji="0" lang="en-US" sz="1400" b="1" i="0" u="none" strike="noStrike" cap="none" normalizeH="0" baseline="0">
                          <a:ln>
                            <a:noFill/>
                          </a:ln>
                          <a:solidFill>
                            <a:schemeClr val="tx1"/>
                          </a:solidFill>
                          <a:effectLst/>
                          <a:latin typeface="Roboto" panose="02000000000000000000" pitchFamily="2" charset="0"/>
                          <a:ea typeface="Roboto" panose="02000000000000000000" pitchFamily="2" charset="0"/>
                        </a:rPr>
                        <a:t>Maintenance</a:t>
                      </a:r>
                    </a:p>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None/>
                        <a:tabLst/>
                      </a:pPr>
                      <a:r>
                        <a:rPr kumimoji="0" lang="en-US" sz="1400" b="1" i="0" u="none" strike="noStrike" cap="none" normalizeH="0" baseline="0">
                          <a:ln>
                            <a:noFill/>
                          </a:ln>
                          <a:solidFill>
                            <a:schemeClr val="tx1"/>
                          </a:solidFill>
                          <a:effectLst/>
                          <a:latin typeface="Roboto" panose="02000000000000000000" pitchFamily="2" charset="0"/>
                          <a:ea typeface="Roboto" panose="02000000000000000000" pitchFamily="2" charset="0"/>
                        </a:rPr>
                        <a:t>Pure White</a:t>
                      </a:r>
                    </a:p>
                  </a:txBody>
                  <a:tcPr marT="45714" marB="45714"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Char char="§"/>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Repair Tools, TPM Materials, Machinery, Cleanliness</a:t>
                      </a:r>
                    </a:p>
                  </a:txBody>
                  <a:tcPr marT="45714" marB="45714"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1" name="Rectangle 43">
            <a:extLst>
              <a:ext uri="{FF2B5EF4-FFF2-40B4-BE49-F238E27FC236}">
                <a16:creationId xmlns:a16="http://schemas.microsoft.com/office/drawing/2014/main" id="{1165FC1C-C2F5-A0EB-3B61-592714400046}"/>
              </a:ext>
            </a:extLst>
          </p:cNvPr>
          <p:cNvSpPr>
            <a:spLocks noChangeArrowheads="1"/>
          </p:cNvSpPr>
          <p:nvPr/>
        </p:nvSpPr>
        <p:spPr bwMode="auto">
          <a:xfrm>
            <a:off x="679979" y="2119538"/>
            <a:ext cx="1414749" cy="606827"/>
          </a:xfrm>
          <a:prstGeom prst="rect">
            <a:avLst/>
          </a:prstGeom>
          <a:solidFill>
            <a:srgbClr val="009900"/>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endParaRPr>
          </a:p>
        </p:txBody>
      </p:sp>
      <p:sp>
        <p:nvSpPr>
          <p:cNvPr id="12" name="Rectangle 44">
            <a:extLst>
              <a:ext uri="{FF2B5EF4-FFF2-40B4-BE49-F238E27FC236}">
                <a16:creationId xmlns:a16="http://schemas.microsoft.com/office/drawing/2014/main" id="{266C3F2E-66AC-51A0-C7B5-3135F9D4082A}"/>
              </a:ext>
            </a:extLst>
          </p:cNvPr>
          <p:cNvSpPr>
            <a:spLocks noChangeArrowheads="1"/>
          </p:cNvSpPr>
          <p:nvPr/>
        </p:nvSpPr>
        <p:spPr bwMode="auto">
          <a:xfrm>
            <a:off x="679979" y="2974072"/>
            <a:ext cx="1414749" cy="606827"/>
          </a:xfrm>
          <a:prstGeom prst="rect">
            <a:avLst/>
          </a:prstGeom>
          <a:solidFill>
            <a:srgbClr val="006699"/>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endParaRPr>
          </a:p>
        </p:txBody>
      </p:sp>
      <p:sp>
        <p:nvSpPr>
          <p:cNvPr id="13" name="Rectangle 45">
            <a:extLst>
              <a:ext uri="{FF2B5EF4-FFF2-40B4-BE49-F238E27FC236}">
                <a16:creationId xmlns:a16="http://schemas.microsoft.com/office/drawing/2014/main" id="{4BF88433-8271-B767-5F32-B80FEC95A365}"/>
              </a:ext>
            </a:extLst>
          </p:cNvPr>
          <p:cNvSpPr>
            <a:spLocks noChangeArrowheads="1"/>
          </p:cNvSpPr>
          <p:nvPr/>
        </p:nvSpPr>
        <p:spPr bwMode="auto">
          <a:xfrm>
            <a:off x="665691" y="3828606"/>
            <a:ext cx="1414749" cy="606827"/>
          </a:xfrm>
          <a:prstGeom prst="rect">
            <a:avLst/>
          </a:prstGeom>
          <a:solidFill>
            <a:srgbClr val="FFFF00"/>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endParaRPr>
          </a:p>
        </p:txBody>
      </p:sp>
      <p:sp>
        <p:nvSpPr>
          <p:cNvPr id="14" name="Rectangle 46">
            <a:extLst>
              <a:ext uri="{FF2B5EF4-FFF2-40B4-BE49-F238E27FC236}">
                <a16:creationId xmlns:a16="http://schemas.microsoft.com/office/drawing/2014/main" id="{1BF2CFCC-24AA-072D-A228-80828D575940}"/>
              </a:ext>
            </a:extLst>
          </p:cNvPr>
          <p:cNvSpPr>
            <a:spLocks noChangeArrowheads="1"/>
          </p:cNvSpPr>
          <p:nvPr/>
        </p:nvSpPr>
        <p:spPr bwMode="auto">
          <a:xfrm>
            <a:off x="679979" y="4683140"/>
            <a:ext cx="1414749" cy="606827"/>
          </a:xfrm>
          <a:prstGeom prst="rect">
            <a:avLst/>
          </a:prstGeom>
          <a:solidFill>
            <a:srgbClr val="FF0000"/>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endParaRPr>
          </a:p>
        </p:txBody>
      </p:sp>
      <p:sp>
        <p:nvSpPr>
          <p:cNvPr id="15" name="Rectangle 47">
            <a:extLst>
              <a:ext uri="{FF2B5EF4-FFF2-40B4-BE49-F238E27FC236}">
                <a16:creationId xmlns:a16="http://schemas.microsoft.com/office/drawing/2014/main" id="{13DD3854-308F-8839-6128-FB9A4422D70C}"/>
              </a:ext>
            </a:extLst>
          </p:cNvPr>
          <p:cNvSpPr>
            <a:spLocks noChangeArrowheads="1"/>
          </p:cNvSpPr>
          <p:nvPr/>
        </p:nvSpPr>
        <p:spPr bwMode="auto">
          <a:xfrm>
            <a:off x="665691" y="5537675"/>
            <a:ext cx="1414749" cy="606827"/>
          </a:xfrm>
          <a:prstGeom prst="rect">
            <a:avLst/>
          </a:prstGeom>
          <a:solidFill>
            <a:schemeClr val="bg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endParaRPr>
          </a:p>
        </p:txBody>
      </p:sp>
    </p:spTree>
    <p:extLst>
      <p:ext uri="{BB962C8B-B14F-4D97-AF65-F5344CB8AC3E}">
        <p14:creationId xmlns:p14="http://schemas.microsoft.com/office/powerpoint/2010/main" val="427731092"/>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14242</TotalTime>
  <Words>8046</Words>
  <Application>Microsoft Office PowerPoint</Application>
  <PresentationFormat>Widescreen</PresentationFormat>
  <Paragraphs>1018</Paragraphs>
  <Slides>79</Slides>
  <Notes>79</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79</vt:i4>
      </vt:variant>
    </vt:vector>
  </HeadingPairs>
  <TitlesOfParts>
    <vt:vector size="88" baseType="lpstr">
      <vt:lpstr>Arial</vt:lpstr>
      <vt:lpstr>Baskerville</vt:lpstr>
      <vt:lpstr>Calibri</vt:lpstr>
      <vt:lpstr>Roboto</vt:lpstr>
      <vt:lpstr>Roboto Medium</vt:lpstr>
      <vt:lpstr>Wingdings</vt:lpstr>
      <vt:lpstr>Wingdings 2</vt:lpstr>
      <vt:lpstr>Office Theme</vt:lpstr>
      <vt:lpstr>Worksheet</vt:lpstr>
      <vt:lpstr>PowerPoint Presentation</vt:lpstr>
      <vt:lpstr>PowerPoint Presentation</vt:lpstr>
      <vt:lpstr>PowerPoint Presentation</vt:lpstr>
      <vt:lpstr>Ground Rules for Event</vt:lpstr>
      <vt:lpstr>Goal of 5S Module</vt:lpstr>
      <vt:lpstr>5S</vt:lpstr>
      <vt:lpstr>Goal of 5S</vt:lpstr>
      <vt:lpstr>What is 5S?</vt:lpstr>
      <vt:lpstr>5S – Original Japanese Terminology</vt:lpstr>
      <vt:lpstr>5S – Original Japanese Terminology, Continued</vt:lpstr>
      <vt:lpstr>5S – English Translations </vt:lpstr>
      <vt:lpstr>Step 1 - Sort</vt:lpstr>
      <vt:lpstr>Step 2 – Set in Order</vt:lpstr>
      <vt:lpstr>Step 3 - Shine</vt:lpstr>
      <vt:lpstr>Step 4 - Standardize</vt:lpstr>
      <vt:lpstr>Step 5 - Sustain</vt:lpstr>
      <vt:lpstr>Exercise: 5S Discussion</vt:lpstr>
      <vt:lpstr>5S Implementation Roadmap</vt:lpstr>
      <vt:lpstr>Exercise: 5S Charter Review</vt:lpstr>
      <vt:lpstr>5S</vt:lpstr>
      <vt:lpstr>5S Opportunities in the Office</vt:lpstr>
      <vt:lpstr>5S Process Steps</vt:lpstr>
      <vt:lpstr>5S Process Steps</vt:lpstr>
      <vt:lpstr>1S Defined</vt:lpstr>
      <vt:lpstr>1S Sort Strategy</vt:lpstr>
      <vt:lpstr>1S Sort Strategy, continued</vt:lpstr>
      <vt:lpstr>1S Sort Strategy, continued</vt:lpstr>
      <vt:lpstr>1S Sort Strategy, continued</vt:lpstr>
      <vt:lpstr>Red-Tagging Process</vt:lpstr>
      <vt:lpstr>Red-Tagging Procedures</vt:lpstr>
      <vt:lpstr>1S NON-Example</vt:lpstr>
      <vt:lpstr>Exercise: 1S</vt:lpstr>
      <vt:lpstr>1S Example</vt:lpstr>
      <vt:lpstr>1S Example</vt:lpstr>
      <vt:lpstr>1S Example</vt:lpstr>
      <vt:lpstr>Exercise: 1S</vt:lpstr>
      <vt:lpstr>5S Process Steps</vt:lpstr>
      <vt:lpstr>2S Defined</vt:lpstr>
      <vt:lpstr>2S Strategy</vt:lpstr>
      <vt:lpstr>2S Strategy, continued</vt:lpstr>
      <vt:lpstr>2S Strategy, continued</vt:lpstr>
      <vt:lpstr>2S NON-Example</vt:lpstr>
      <vt:lpstr>2S NON-Example</vt:lpstr>
      <vt:lpstr>Exercise: 2S</vt:lpstr>
      <vt:lpstr>2S Example</vt:lpstr>
      <vt:lpstr>2S Example</vt:lpstr>
      <vt:lpstr>2S Example</vt:lpstr>
      <vt:lpstr>2S Example</vt:lpstr>
      <vt:lpstr>Exercise: 2S</vt:lpstr>
      <vt:lpstr>5S Process Steps</vt:lpstr>
      <vt:lpstr>3S Defined</vt:lpstr>
      <vt:lpstr>Exercise: 3S</vt:lpstr>
      <vt:lpstr>3S Strategy</vt:lpstr>
      <vt:lpstr>3S Strategy, continued</vt:lpstr>
      <vt:lpstr>Exercise: 3S</vt:lpstr>
      <vt:lpstr>5S Process Steps</vt:lpstr>
      <vt:lpstr>4S Defined</vt:lpstr>
      <vt:lpstr>4S Strategy</vt:lpstr>
      <vt:lpstr>4S Checklist Guidelines</vt:lpstr>
      <vt:lpstr>4S Checklist Example</vt:lpstr>
      <vt:lpstr>5S Assessment</vt:lpstr>
      <vt:lpstr>Exercise: Identifying processes that need to be sustained</vt:lpstr>
      <vt:lpstr>Exercise: 4S</vt:lpstr>
      <vt:lpstr>5S Process Steps</vt:lpstr>
      <vt:lpstr>5S Defined</vt:lpstr>
      <vt:lpstr>5S Strategy</vt:lpstr>
      <vt:lpstr>5S Rules of Discipline</vt:lpstr>
      <vt:lpstr>Exercise: 5S</vt:lpstr>
      <vt:lpstr>5S</vt:lpstr>
      <vt:lpstr>Kaizen Results </vt:lpstr>
      <vt:lpstr>Prepare for Final Report-Out to Management</vt:lpstr>
      <vt:lpstr>Summary of 5S </vt:lpstr>
      <vt:lpstr>5S is Key to a Lean Business System</vt:lpstr>
      <vt:lpstr>Common pitfalls to sustaining 5S</vt:lpstr>
      <vt:lpstr>Exercise: How to avoid common pitfalls</vt:lpstr>
      <vt:lpstr>Summary of 5S</vt:lpstr>
      <vt:lpstr>Exercise: 5S Event Wrap-Up</vt:lpstr>
      <vt:lpstr>PowerPoint Presentation</vt:lpstr>
      <vt:lpstr>APPENDIX: Visual Management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Scott DeLuzio</cp:lastModifiedBy>
  <cp:revision>399</cp:revision>
  <dcterms:created xsi:type="dcterms:W3CDTF">2023-02-08T22:10:20Z</dcterms:created>
  <dcterms:modified xsi:type="dcterms:W3CDTF">2023-09-29T19:27:24Z</dcterms:modified>
</cp:coreProperties>
</file>